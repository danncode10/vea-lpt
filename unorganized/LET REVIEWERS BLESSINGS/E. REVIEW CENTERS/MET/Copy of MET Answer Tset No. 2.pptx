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303"/>
  </p:handoutMasterIdLst>
  <p:sldIdLst>
    <p:sldId id="256" r:id="rId2"/>
    <p:sldId id="257" r:id="rId3"/>
    <p:sldId id="258" r:id="rId4"/>
    <p:sldId id="259" r:id="rId5"/>
    <p:sldId id="261" r:id="rId6"/>
    <p:sldId id="262" r:id="rId7"/>
    <p:sldId id="260" r:id="rId8"/>
    <p:sldId id="263" r:id="rId9"/>
    <p:sldId id="264" r:id="rId10"/>
    <p:sldId id="265" r:id="rId11"/>
    <p:sldId id="266" r:id="rId12"/>
    <p:sldId id="267" r:id="rId13"/>
    <p:sldId id="268" r:id="rId14"/>
    <p:sldId id="270" r:id="rId15"/>
    <p:sldId id="269" r:id="rId16"/>
    <p:sldId id="271" r:id="rId17"/>
    <p:sldId id="272" r:id="rId18"/>
    <p:sldId id="273" r:id="rId19"/>
    <p:sldId id="436" r:id="rId20"/>
    <p:sldId id="274" r:id="rId21"/>
    <p:sldId id="275" r:id="rId22"/>
    <p:sldId id="276" r:id="rId23"/>
    <p:sldId id="277" r:id="rId24"/>
    <p:sldId id="278" r:id="rId25"/>
    <p:sldId id="279" r:id="rId26"/>
    <p:sldId id="280" r:id="rId27"/>
    <p:sldId id="422" r:id="rId28"/>
    <p:sldId id="281" r:id="rId29"/>
    <p:sldId id="423" r:id="rId30"/>
    <p:sldId id="282" r:id="rId31"/>
    <p:sldId id="424" r:id="rId32"/>
    <p:sldId id="283" r:id="rId33"/>
    <p:sldId id="425" r:id="rId34"/>
    <p:sldId id="284" r:id="rId35"/>
    <p:sldId id="426" r:id="rId36"/>
    <p:sldId id="285" r:id="rId37"/>
    <p:sldId id="427" r:id="rId38"/>
    <p:sldId id="286" r:id="rId39"/>
    <p:sldId id="428" r:id="rId40"/>
    <p:sldId id="288" r:id="rId41"/>
    <p:sldId id="429" r:id="rId42"/>
    <p:sldId id="289" r:id="rId43"/>
    <p:sldId id="430" r:id="rId44"/>
    <p:sldId id="287" r:id="rId45"/>
    <p:sldId id="431" r:id="rId46"/>
    <p:sldId id="291" r:id="rId47"/>
    <p:sldId id="432" r:id="rId48"/>
    <p:sldId id="292" r:id="rId49"/>
    <p:sldId id="433" r:id="rId50"/>
    <p:sldId id="293" r:id="rId51"/>
    <p:sldId id="434" r:id="rId52"/>
    <p:sldId id="294" r:id="rId53"/>
    <p:sldId id="435" r:id="rId54"/>
    <p:sldId id="295" r:id="rId55"/>
    <p:sldId id="437" r:id="rId56"/>
    <p:sldId id="296" r:id="rId57"/>
    <p:sldId id="438" r:id="rId58"/>
    <p:sldId id="297" r:id="rId59"/>
    <p:sldId id="439" r:id="rId60"/>
    <p:sldId id="298" r:id="rId61"/>
    <p:sldId id="440" r:id="rId62"/>
    <p:sldId id="299" r:id="rId63"/>
    <p:sldId id="441" r:id="rId64"/>
    <p:sldId id="300" r:id="rId65"/>
    <p:sldId id="442" r:id="rId66"/>
    <p:sldId id="305" r:id="rId67"/>
    <p:sldId id="443" r:id="rId68"/>
    <p:sldId id="304" r:id="rId69"/>
    <p:sldId id="444" r:id="rId70"/>
    <p:sldId id="303" r:id="rId71"/>
    <p:sldId id="445" r:id="rId72"/>
    <p:sldId id="302" r:id="rId73"/>
    <p:sldId id="446" r:id="rId74"/>
    <p:sldId id="301" r:id="rId75"/>
    <p:sldId id="447" r:id="rId76"/>
    <p:sldId id="306" r:id="rId77"/>
    <p:sldId id="448" r:id="rId78"/>
    <p:sldId id="308" r:id="rId79"/>
    <p:sldId id="449" r:id="rId80"/>
    <p:sldId id="309" r:id="rId81"/>
    <p:sldId id="450" r:id="rId82"/>
    <p:sldId id="310" r:id="rId83"/>
    <p:sldId id="451" r:id="rId84"/>
    <p:sldId id="313" r:id="rId85"/>
    <p:sldId id="452" r:id="rId86"/>
    <p:sldId id="312" r:id="rId87"/>
    <p:sldId id="453" r:id="rId88"/>
    <p:sldId id="315" r:id="rId89"/>
    <p:sldId id="454" r:id="rId90"/>
    <p:sldId id="317" r:id="rId91"/>
    <p:sldId id="455" r:id="rId92"/>
    <p:sldId id="320" r:id="rId93"/>
    <p:sldId id="456" r:id="rId94"/>
    <p:sldId id="323" r:id="rId95"/>
    <p:sldId id="457" r:id="rId96"/>
    <p:sldId id="325" r:id="rId97"/>
    <p:sldId id="458" r:id="rId98"/>
    <p:sldId id="327" r:id="rId99"/>
    <p:sldId id="459" r:id="rId100"/>
    <p:sldId id="329" r:id="rId101"/>
    <p:sldId id="460" r:id="rId102"/>
    <p:sldId id="331" r:id="rId103"/>
    <p:sldId id="461" r:id="rId104"/>
    <p:sldId id="334" r:id="rId105"/>
    <p:sldId id="462" r:id="rId106"/>
    <p:sldId id="337" r:id="rId107"/>
    <p:sldId id="463" r:id="rId108"/>
    <p:sldId id="340" r:id="rId109"/>
    <p:sldId id="464" r:id="rId110"/>
    <p:sldId id="343" r:id="rId111"/>
    <p:sldId id="465" r:id="rId112"/>
    <p:sldId id="344" r:id="rId113"/>
    <p:sldId id="466" r:id="rId114"/>
    <p:sldId id="347" r:id="rId115"/>
    <p:sldId id="467" r:id="rId116"/>
    <p:sldId id="351" r:id="rId117"/>
    <p:sldId id="468" r:id="rId118"/>
    <p:sldId id="354" r:id="rId119"/>
    <p:sldId id="469" r:id="rId120"/>
    <p:sldId id="356" r:id="rId121"/>
    <p:sldId id="470" r:id="rId122"/>
    <p:sldId id="358" r:id="rId123"/>
    <p:sldId id="471" r:id="rId124"/>
    <p:sldId id="359" r:id="rId125"/>
    <p:sldId id="472" r:id="rId126"/>
    <p:sldId id="362" r:id="rId127"/>
    <p:sldId id="473" r:id="rId128"/>
    <p:sldId id="363" r:id="rId129"/>
    <p:sldId id="474" r:id="rId130"/>
    <p:sldId id="365" r:id="rId131"/>
    <p:sldId id="475" r:id="rId132"/>
    <p:sldId id="367" r:id="rId133"/>
    <p:sldId id="476" r:id="rId134"/>
    <p:sldId id="369" r:id="rId135"/>
    <p:sldId id="477" r:id="rId136"/>
    <p:sldId id="371" r:id="rId137"/>
    <p:sldId id="478" r:id="rId138"/>
    <p:sldId id="373" r:id="rId139"/>
    <p:sldId id="479" r:id="rId140"/>
    <p:sldId id="375" r:id="rId141"/>
    <p:sldId id="480" r:id="rId142"/>
    <p:sldId id="374" r:id="rId143"/>
    <p:sldId id="481" r:id="rId144"/>
    <p:sldId id="379" r:id="rId145"/>
    <p:sldId id="482" r:id="rId146"/>
    <p:sldId id="381" r:id="rId147"/>
    <p:sldId id="483" r:id="rId148"/>
    <p:sldId id="383" r:id="rId149"/>
    <p:sldId id="484" r:id="rId150"/>
    <p:sldId id="385" r:id="rId151"/>
    <p:sldId id="485" r:id="rId152"/>
    <p:sldId id="387" r:id="rId153"/>
    <p:sldId id="486" r:id="rId154"/>
    <p:sldId id="388" r:id="rId155"/>
    <p:sldId id="487" r:id="rId156"/>
    <p:sldId id="390" r:id="rId157"/>
    <p:sldId id="488" r:id="rId158"/>
    <p:sldId id="394" r:id="rId159"/>
    <p:sldId id="489" r:id="rId160"/>
    <p:sldId id="393" r:id="rId161"/>
    <p:sldId id="490" r:id="rId162"/>
    <p:sldId id="397" r:id="rId163"/>
    <p:sldId id="491" r:id="rId164"/>
    <p:sldId id="399" r:id="rId165"/>
    <p:sldId id="492" r:id="rId166"/>
    <p:sldId id="400" r:id="rId167"/>
    <p:sldId id="493" r:id="rId168"/>
    <p:sldId id="398" r:id="rId169"/>
    <p:sldId id="494" r:id="rId170"/>
    <p:sldId id="396" r:id="rId171"/>
    <p:sldId id="495" r:id="rId172"/>
    <p:sldId id="402" r:id="rId173"/>
    <p:sldId id="496" r:id="rId174"/>
    <p:sldId id="403" r:id="rId175"/>
    <p:sldId id="497" r:id="rId176"/>
    <p:sldId id="404" r:id="rId177"/>
    <p:sldId id="498" r:id="rId178"/>
    <p:sldId id="406" r:id="rId179"/>
    <p:sldId id="499" r:id="rId180"/>
    <p:sldId id="407" r:id="rId181"/>
    <p:sldId id="500" r:id="rId182"/>
    <p:sldId id="401" r:id="rId183"/>
    <p:sldId id="501" r:id="rId184"/>
    <p:sldId id="395" r:id="rId185"/>
    <p:sldId id="502" r:id="rId186"/>
    <p:sldId id="408" r:id="rId187"/>
    <p:sldId id="503" r:id="rId188"/>
    <p:sldId id="409" r:id="rId189"/>
    <p:sldId id="504" r:id="rId190"/>
    <p:sldId id="391" r:id="rId191"/>
    <p:sldId id="505" r:id="rId192"/>
    <p:sldId id="389" r:id="rId193"/>
    <p:sldId id="506" r:id="rId194"/>
    <p:sldId id="386" r:id="rId195"/>
    <p:sldId id="507" r:id="rId196"/>
    <p:sldId id="410" r:id="rId197"/>
    <p:sldId id="508" r:id="rId198"/>
    <p:sldId id="384" r:id="rId199"/>
    <p:sldId id="509" r:id="rId200"/>
    <p:sldId id="382" r:id="rId201"/>
    <p:sldId id="510" r:id="rId202"/>
    <p:sldId id="380" r:id="rId203"/>
    <p:sldId id="511" r:id="rId204"/>
    <p:sldId id="378" r:id="rId205"/>
    <p:sldId id="512" r:id="rId206"/>
    <p:sldId id="377" r:id="rId207"/>
    <p:sldId id="513" r:id="rId208"/>
    <p:sldId id="376" r:id="rId209"/>
    <p:sldId id="514" r:id="rId210"/>
    <p:sldId id="372" r:id="rId211"/>
    <p:sldId id="515" r:id="rId212"/>
    <p:sldId id="370" r:id="rId213"/>
    <p:sldId id="516" r:id="rId214"/>
    <p:sldId id="368" r:id="rId215"/>
    <p:sldId id="517" r:id="rId216"/>
    <p:sldId id="366" r:id="rId217"/>
    <p:sldId id="518" r:id="rId218"/>
    <p:sldId id="364" r:id="rId219"/>
    <p:sldId id="519" r:id="rId220"/>
    <p:sldId id="361" r:id="rId221"/>
    <p:sldId id="520" r:id="rId222"/>
    <p:sldId id="360" r:id="rId223"/>
    <p:sldId id="521" r:id="rId224"/>
    <p:sldId id="357" r:id="rId225"/>
    <p:sldId id="522" r:id="rId226"/>
    <p:sldId id="355" r:id="rId227"/>
    <p:sldId id="523" r:id="rId228"/>
    <p:sldId id="353" r:id="rId229"/>
    <p:sldId id="524" r:id="rId230"/>
    <p:sldId id="352" r:id="rId231"/>
    <p:sldId id="525" r:id="rId232"/>
    <p:sldId id="350" r:id="rId233"/>
    <p:sldId id="526" r:id="rId234"/>
    <p:sldId id="349" r:id="rId235"/>
    <p:sldId id="527" r:id="rId236"/>
    <p:sldId id="348" r:id="rId237"/>
    <p:sldId id="528" r:id="rId238"/>
    <p:sldId id="346" r:id="rId239"/>
    <p:sldId id="529" r:id="rId240"/>
    <p:sldId id="345" r:id="rId241"/>
    <p:sldId id="530" r:id="rId242"/>
    <p:sldId id="342" r:id="rId243"/>
    <p:sldId id="531" r:id="rId244"/>
    <p:sldId id="341" r:id="rId245"/>
    <p:sldId id="532" r:id="rId246"/>
    <p:sldId id="339" r:id="rId247"/>
    <p:sldId id="533" r:id="rId248"/>
    <p:sldId id="338" r:id="rId249"/>
    <p:sldId id="534" r:id="rId250"/>
    <p:sldId id="336" r:id="rId251"/>
    <p:sldId id="535" r:id="rId252"/>
    <p:sldId id="335" r:id="rId253"/>
    <p:sldId id="536" r:id="rId254"/>
    <p:sldId id="333" r:id="rId255"/>
    <p:sldId id="537" r:id="rId256"/>
    <p:sldId id="332" r:id="rId257"/>
    <p:sldId id="538" r:id="rId258"/>
    <p:sldId id="330" r:id="rId259"/>
    <p:sldId id="539" r:id="rId260"/>
    <p:sldId id="328" r:id="rId261"/>
    <p:sldId id="540" r:id="rId262"/>
    <p:sldId id="326" r:id="rId263"/>
    <p:sldId id="541" r:id="rId264"/>
    <p:sldId id="324" r:id="rId265"/>
    <p:sldId id="542" r:id="rId266"/>
    <p:sldId id="322" r:id="rId267"/>
    <p:sldId id="543" r:id="rId268"/>
    <p:sldId id="321" r:id="rId269"/>
    <p:sldId id="544" r:id="rId270"/>
    <p:sldId id="319" r:id="rId271"/>
    <p:sldId id="545" r:id="rId272"/>
    <p:sldId id="318" r:id="rId273"/>
    <p:sldId id="548" r:id="rId274"/>
    <p:sldId id="547" r:id="rId275"/>
    <p:sldId id="546" r:id="rId276"/>
    <p:sldId id="316" r:id="rId277"/>
    <p:sldId id="549" r:id="rId278"/>
    <p:sldId id="314" r:id="rId279"/>
    <p:sldId id="550" r:id="rId280"/>
    <p:sldId id="307" r:id="rId281"/>
    <p:sldId id="551" r:id="rId282"/>
    <p:sldId id="421" r:id="rId283"/>
    <p:sldId id="552" r:id="rId284"/>
    <p:sldId id="420" r:id="rId285"/>
    <p:sldId id="553" r:id="rId286"/>
    <p:sldId id="419" r:id="rId287"/>
    <p:sldId id="554" r:id="rId288"/>
    <p:sldId id="418" r:id="rId289"/>
    <p:sldId id="555" r:id="rId290"/>
    <p:sldId id="417" r:id="rId291"/>
    <p:sldId id="556" r:id="rId292"/>
    <p:sldId id="416" r:id="rId293"/>
    <p:sldId id="557" r:id="rId294"/>
    <p:sldId id="415" r:id="rId295"/>
    <p:sldId id="558" r:id="rId296"/>
    <p:sldId id="414" r:id="rId297"/>
    <p:sldId id="559" r:id="rId298"/>
    <p:sldId id="413" r:id="rId299"/>
    <p:sldId id="560" r:id="rId300"/>
    <p:sldId id="412" r:id="rId301"/>
    <p:sldId id="561" r:id="rId30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56" autoAdjust="0"/>
    <p:restoredTop sz="94660"/>
  </p:normalViewPr>
  <p:slideViewPr>
    <p:cSldViewPr snapToGrid="0">
      <p:cViewPr varScale="1">
        <p:scale>
          <a:sx n="78" d="100"/>
          <a:sy n="78" d="100"/>
        </p:scale>
        <p:origin x="378" y="84"/>
      </p:cViewPr>
      <p:guideLst/>
    </p:cSldViewPr>
  </p:slideViewPr>
  <p:notesTextViewPr>
    <p:cViewPr>
      <p:scale>
        <a:sx n="1" d="1"/>
        <a:sy n="1" d="1"/>
      </p:scale>
      <p:origin x="0" y="0"/>
    </p:cViewPr>
  </p:notesTextViewPr>
  <p:notesViewPr>
    <p:cSldViewPr snapToGrid="0">
      <p:cViewPr varScale="1">
        <p:scale>
          <a:sx n="59" d="100"/>
          <a:sy n="59" d="100"/>
        </p:scale>
        <p:origin x="2790" y="8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presProps" Target="presProps.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viewProps" Target="viewProps.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theme" Target="theme/theme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tableStyles" Target="tableStyle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handoutMaster" Target="handoutMasters/handoutMaster1.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9C695E-21E7-41B8-9BE3-A5D42D628F9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a:extLst>
              <a:ext uri="{FF2B5EF4-FFF2-40B4-BE49-F238E27FC236}">
                <a16:creationId xmlns:a16="http://schemas.microsoft.com/office/drawing/2014/main" id="{C22D5CA5-7595-47B9-8403-B9E976ED72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0A7A97-9990-4D11-9F9A-3032C6D2013B}" type="datetimeFigureOut">
              <a:rPr lang="en-PH" smtClean="0"/>
              <a:t>25/04/2020</a:t>
            </a:fld>
            <a:endParaRPr lang="en-PH"/>
          </a:p>
        </p:txBody>
      </p:sp>
      <p:sp>
        <p:nvSpPr>
          <p:cNvPr id="4" name="Footer Placeholder 3">
            <a:extLst>
              <a:ext uri="{FF2B5EF4-FFF2-40B4-BE49-F238E27FC236}">
                <a16:creationId xmlns:a16="http://schemas.microsoft.com/office/drawing/2014/main" id="{924978DE-2E0E-476D-BD81-D21760DBB7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a:extLst>
              <a:ext uri="{FF2B5EF4-FFF2-40B4-BE49-F238E27FC236}">
                <a16:creationId xmlns:a16="http://schemas.microsoft.com/office/drawing/2014/main" id="{19365805-5935-4C64-9EFB-A0336E34A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622462-C792-48DB-A8D5-1AF9FABEF4D1}" type="slidenum">
              <a:rPr lang="en-PH" smtClean="0"/>
              <a:t>‹#›</a:t>
            </a:fld>
            <a:endParaRPr lang="en-PH"/>
          </a:p>
        </p:txBody>
      </p:sp>
    </p:spTree>
    <p:extLst>
      <p:ext uri="{BB962C8B-B14F-4D97-AF65-F5344CB8AC3E}">
        <p14:creationId xmlns:p14="http://schemas.microsoft.com/office/powerpoint/2010/main" val="55162498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024D1-C7A1-49F6-A286-85356763B9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F29E0C4F-3394-473B-AE1B-5EF2802841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A8D757DA-2D18-4AD5-9734-45C708F4739E}"/>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5" name="Footer Placeholder 4">
            <a:extLst>
              <a:ext uri="{FF2B5EF4-FFF2-40B4-BE49-F238E27FC236}">
                <a16:creationId xmlns:a16="http://schemas.microsoft.com/office/drawing/2014/main" id="{FB1A2238-7BBF-4940-AC4F-5071B145013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BAB80D8-0535-4D6D-8E9A-D5E4FFF83021}"/>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2124145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0F3D0-5956-4493-868D-7DF5CE2AAD2E}"/>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DE2C3C3E-F29B-47E9-88EC-4AF889EC7D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A9CFB6C-E09F-43C5-AAF5-7221DBFDA3F7}"/>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5" name="Footer Placeholder 4">
            <a:extLst>
              <a:ext uri="{FF2B5EF4-FFF2-40B4-BE49-F238E27FC236}">
                <a16:creationId xmlns:a16="http://schemas.microsoft.com/office/drawing/2014/main" id="{15C50637-85E7-4C24-A41D-6D087C38041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F5536076-FB0C-4543-BC41-0C57C2F26B51}"/>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102289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559D0-1574-4491-9F89-DFBCA5A559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5ED85267-F1BF-4A64-9A1D-011C834600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AF83B6-8A93-4C4D-801A-09C80209F9D5}"/>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5" name="Footer Placeholder 4">
            <a:extLst>
              <a:ext uri="{FF2B5EF4-FFF2-40B4-BE49-F238E27FC236}">
                <a16:creationId xmlns:a16="http://schemas.microsoft.com/office/drawing/2014/main" id="{255B2B3D-CEB5-44C5-9C34-D81408B21FA6}"/>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A75A55B2-9ED1-4326-B1FD-D6602162951B}"/>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2157693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E23B7-1A73-4261-A003-F18A33A8C1DD}"/>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4ABCB15-D94F-485E-90F1-24B39CF0DE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6132585B-19F7-48A1-A180-A0FE13B647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19CBE2EA-3C98-4FAB-BE32-2ADA2B547473}"/>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6" name="Footer Placeholder 5">
            <a:extLst>
              <a:ext uri="{FF2B5EF4-FFF2-40B4-BE49-F238E27FC236}">
                <a16:creationId xmlns:a16="http://schemas.microsoft.com/office/drawing/2014/main" id="{4AB8E5A4-A041-4AFE-BCC9-F7D28A0A7CE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6573E6D6-DE07-4FE0-9338-EAE05031E6B3}"/>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1868406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CE3E2-C413-4C76-9AF4-51C359BB9B09}"/>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30A29707-C824-4ACC-9D21-F756EF72D7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2FEEA-0D9F-4694-8592-EE3FF9C5B1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469055F2-7411-4503-A174-4CABF410A3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77A9B-7C4F-4C9C-A2D8-C5F41C9CCC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23E70935-AA86-4DFF-BB27-BA867A71C1CB}"/>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8" name="Footer Placeholder 7">
            <a:extLst>
              <a:ext uri="{FF2B5EF4-FFF2-40B4-BE49-F238E27FC236}">
                <a16:creationId xmlns:a16="http://schemas.microsoft.com/office/drawing/2014/main" id="{54FD58C4-D91D-4366-8F59-6D7AFC32DE89}"/>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7FA3CEB4-DC4C-4DC5-B011-B0A08A6D4453}"/>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2949902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75F8F-0C1B-47A2-A599-4FC9D7550546}"/>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E12B17FB-18E6-4B98-8F51-C19C66E957B1}"/>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4" name="Footer Placeholder 3">
            <a:extLst>
              <a:ext uri="{FF2B5EF4-FFF2-40B4-BE49-F238E27FC236}">
                <a16:creationId xmlns:a16="http://schemas.microsoft.com/office/drawing/2014/main" id="{37E8158B-1D66-43B1-A51C-DE56A3FE8FEF}"/>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F5EA4CF3-33C6-4F21-BE03-CABC9334F482}"/>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1854574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9F2D5C-C104-41EE-B966-6924A12A153A}"/>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3" name="Footer Placeholder 2">
            <a:extLst>
              <a:ext uri="{FF2B5EF4-FFF2-40B4-BE49-F238E27FC236}">
                <a16:creationId xmlns:a16="http://schemas.microsoft.com/office/drawing/2014/main" id="{C5EBBD2F-F8A1-4345-BB94-48F2FC77577E}"/>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609011D9-A2DC-4925-9EDF-989F5E252E07}"/>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3159977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46BEB-9FBA-4ECC-91E9-281E39F5B2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C7DF4A0A-B9D5-4046-AF0F-019CB806C3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B1ED633C-C5E7-4962-8708-0E19795A4A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C77FC4-6061-466A-B8E0-ADABF741509B}"/>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6" name="Footer Placeholder 5">
            <a:extLst>
              <a:ext uri="{FF2B5EF4-FFF2-40B4-BE49-F238E27FC236}">
                <a16:creationId xmlns:a16="http://schemas.microsoft.com/office/drawing/2014/main" id="{8FFADC29-3D24-4FBF-BC0C-85B5907EA125}"/>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32B9EF27-39CD-4F22-A080-46B280689C54}"/>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3600226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C3DC7-CF55-4C58-80CF-4CF088E50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EC81E32A-452A-4A91-A826-7152DB2F9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BB5A3DD6-828C-4ACE-B2EC-B67D210EC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5991D7-704B-4358-B276-7583C6AA24FB}"/>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6" name="Footer Placeholder 5">
            <a:extLst>
              <a:ext uri="{FF2B5EF4-FFF2-40B4-BE49-F238E27FC236}">
                <a16:creationId xmlns:a16="http://schemas.microsoft.com/office/drawing/2014/main" id="{9D46211F-9850-43EF-8430-FFA22EB5141D}"/>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6355D1D9-40DA-4819-B337-981EF1ED9130}"/>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3840889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280D4-444F-4806-B7AB-C82E4418CD07}"/>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7119AC3-178D-4033-A887-3F4F91E34C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777AD5E6-D35D-4058-B21E-835940965354}"/>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5" name="Footer Placeholder 4">
            <a:extLst>
              <a:ext uri="{FF2B5EF4-FFF2-40B4-BE49-F238E27FC236}">
                <a16:creationId xmlns:a16="http://schemas.microsoft.com/office/drawing/2014/main" id="{20DCEE53-48CC-40A9-98A4-5B6232D26489}"/>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F6A9DA7-7DFA-460F-A777-BD7146801821}"/>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2584220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80C5FE-4A37-4AC9-8DF4-06845957D6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C4ECDEDA-7F0D-4E2A-9780-5F08648491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6BD4DE2-5720-4C1E-B69C-2FDED764539C}"/>
              </a:ext>
            </a:extLst>
          </p:cNvPr>
          <p:cNvSpPr>
            <a:spLocks noGrp="1"/>
          </p:cNvSpPr>
          <p:nvPr>
            <p:ph type="dt" sz="half" idx="10"/>
          </p:nvPr>
        </p:nvSpPr>
        <p:spPr/>
        <p:txBody>
          <a:bodyPr/>
          <a:lstStyle/>
          <a:p>
            <a:fld id="{DF80CBE1-F0DA-4C66-A98B-5BDB9FB9B66B}" type="datetimeFigureOut">
              <a:rPr lang="en-PH" smtClean="0"/>
              <a:t>25/04/2020</a:t>
            </a:fld>
            <a:endParaRPr lang="en-PH"/>
          </a:p>
        </p:txBody>
      </p:sp>
      <p:sp>
        <p:nvSpPr>
          <p:cNvPr id="5" name="Footer Placeholder 4">
            <a:extLst>
              <a:ext uri="{FF2B5EF4-FFF2-40B4-BE49-F238E27FC236}">
                <a16:creationId xmlns:a16="http://schemas.microsoft.com/office/drawing/2014/main" id="{73326706-D635-4276-B3C6-7149DF18D27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F909B86-7231-430B-BC83-1660080165F8}"/>
              </a:ext>
            </a:extLst>
          </p:cNvPr>
          <p:cNvSpPr>
            <a:spLocks noGrp="1"/>
          </p:cNvSpPr>
          <p:nvPr>
            <p:ph type="sldNum" sz="quarter" idx="12"/>
          </p:nvPr>
        </p:nvSpPr>
        <p:spPr/>
        <p:txBody>
          <a:bodyPr/>
          <a:lstStyle/>
          <a:p>
            <a:fld id="{92B2446F-0858-4F91-8DC1-C09FEF959B9E}" type="slidenum">
              <a:rPr lang="en-PH" smtClean="0"/>
              <a:t>‹#›</a:t>
            </a:fld>
            <a:endParaRPr lang="en-PH"/>
          </a:p>
        </p:txBody>
      </p:sp>
    </p:spTree>
    <p:extLst>
      <p:ext uri="{BB962C8B-B14F-4D97-AF65-F5344CB8AC3E}">
        <p14:creationId xmlns:p14="http://schemas.microsoft.com/office/powerpoint/2010/main" val="1491434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9B1088-7636-4ED9-9F9E-7904E4455A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2271DF37-5505-4C15-A518-17BA9A0EE5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097B35B-BCB8-44D3-AB54-F87AAC5AF4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80CBE1-F0DA-4C66-A98B-5BDB9FB9B66B}" type="datetimeFigureOut">
              <a:rPr lang="en-PH" smtClean="0"/>
              <a:t>25/04/2020</a:t>
            </a:fld>
            <a:endParaRPr lang="en-PH"/>
          </a:p>
        </p:txBody>
      </p:sp>
      <p:sp>
        <p:nvSpPr>
          <p:cNvPr id="5" name="Footer Placeholder 4">
            <a:extLst>
              <a:ext uri="{FF2B5EF4-FFF2-40B4-BE49-F238E27FC236}">
                <a16:creationId xmlns:a16="http://schemas.microsoft.com/office/drawing/2014/main" id="{8CC1A08E-3A2E-4814-9B9C-740ECD96FC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C94BD8DC-095E-4CCA-BDDC-F63E93035B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B2446F-0858-4F91-8DC1-C09FEF959B9E}" type="slidenum">
              <a:rPr lang="en-PH" smtClean="0"/>
              <a:t>‹#›</a:t>
            </a:fld>
            <a:endParaRPr lang="en-PH"/>
          </a:p>
        </p:txBody>
      </p:sp>
    </p:spTree>
    <p:extLst>
      <p:ext uri="{BB962C8B-B14F-4D97-AF65-F5344CB8AC3E}">
        <p14:creationId xmlns:p14="http://schemas.microsoft.com/office/powerpoint/2010/main" val="602639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42F78-8E8B-4391-85B4-FD845C70D6E2}"/>
              </a:ext>
            </a:extLst>
          </p:cNvPr>
          <p:cNvSpPr>
            <a:spLocks noGrp="1"/>
          </p:cNvSpPr>
          <p:nvPr>
            <p:ph type="ctrTitle"/>
          </p:nvPr>
        </p:nvSpPr>
        <p:spPr/>
        <p:txBody>
          <a:bodyPr/>
          <a:lstStyle/>
          <a:p>
            <a:r>
              <a:rPr lang="en-PH" dirty="0"/>
              <a:t>MET REVIEWER </a:t>
            </a:r>
          </a:p>
        </p:txBody>
      </p:sp>
      <p:sp>
        <p:nvSpPr>
          <p:cNvPr id="3" name="Subtitle 2">
            <a:extLst>
              <a:ext uri="{FF2B5EF4-FFF2-40B4-BE49-F238E27FC236}">
                <a16:creationId xmlns:a16="http://schemas.microsoft.com/office/drawing/2014/main" id="{1AF2B73B-8428-49AF-A005-71B7190A823B}"/>
              </a:ext>
            </a:extLst>
          </p:cNvPr>
          <p:cNvSpPr>
            <a:spLocks noGrp="1"/>
          </p:cNvSpPr>
          <p:nvPr>
            <p:ph type="subTitle" idx="1"/>
          </p:nvPr>
        </p:nvSpPr>
        <p:spPr>
          <a:xfrm>
            <a:off x="1524000" y="3602038"/>
            <a:ext cx="9144000" cy="1655762"/>
          </a:xfrm>
        </p:spPr>
        <p:txBody>
          <a:bodyPr/>
          <a:lstStyle/>
          <a:p>
            <a:r>
              <a:rPr lang="en-PH" dirty="0"/>
              <a:t>Answer Test No. 2</a:t>
            </a:r>
          </a:p>
        </p:txBody>
      </p:sp>
      <p:sp>
        <p:nvSpPr>
          <p:cNvPr id="4" name="Subtitle 2">
            <a:extLst>
              <a:ext uri="{FF2B5EF4-FFF2-40B4-BE49-F238E27FC236}">
                <a16:creationId xmlns:a16="http://schemas.microsoft.com/office/drawing/2014/main" id="{DACAD73D-E969-4C7D-BCBB-622DC4248277}"/>
              </a:ext>
            </a:extLst>
          </p:cNvPr>
          <p:cNvSpPr txBox="1">
            <a:spLocks/>
          </p:cNvSpPr>
          <p:nvPr/>
        </p:nvSpPr>
        <p:spPr>
          <a:xfrm>
            <a:off x="9270999" y="6463273"/>
            <a:ext cx="4999345" cy="394727"/>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PH" dirty="0"/>
              <a:t>VMB</a:t>
            </a:r>
          </a:p>
        </p:txBody>
      </p:sp>
    </p:spTree>
    <p:extLst>
      <p:ext uri="{BB962C8B-B14F-4D97-AF65-F5344CB8AC3E}">
        <p14:creationId xmlns:p14="http://schemas.microsoft.com/office/powerpoint/2010/main" val="3200280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p:txBody>
          <a:bodyPr>
            <a:noAutofit/>
          </a:bodyPr>
          <a:lstStyle/>
          <a:p>
            <a:pPr algn="just"/>
            <a:r>
              <a:rPr lang="en-PH" sz="5000" dirty="0"/>
              <a:t>1. Which is the statement is true of Mindanao?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p:txBody>
          <a:bodyPr>
            <a:normAutofit/>
          </a:bodyPr>
          <a:lstStyle/>
          <a:p>
            <a:pPr marL="514350" indent="-514350">
              <a:buAutoNum type="alphaUcPeriod"/>
            </a:pPr>
            <a:r>
              <a:rPr lang="en-PH" sz="3600" dirty="0"/>
              <a:t>Is the second biggest island in the country</a:t>
            </a:r>
          </a:p>
          <a:p>
            <a:pPr marL="514350" indent="-514350">
              <a:buAutoNum type="alphaUcPeriod"/>
            </a:pPr>
            <a:r>
              <a:rPr lang="en-PH" sz="3600" dirty="0"/>
              <a:t>It is the third largest island in the country</a:t>
            </a:r>
          </a:p>
          <a:p>
            <a:pPr marL="514350" indent="-514350">
              <a:buAutoNum type="alphaUcPeriod"/>
            </a:pPr>
            <a:r>
              <a:rPr lang="en-PH" sz="3600" dirty="0"/>
              <a:t>It is the biggest island in the country</a:t>
            </a:r>
          </a:p>
          <a:p>
            <a:pPr marL="514350" indent="-514350">
              <a:buAutoNum type="alphaUcPeriod"/>
            </a:pPr>
            <a:r>
              <a:rPr lang="en-PH" sz="3600" dirty="0"/>
              <a:t>It is where the smallest deer found</a:t>
            </a:r>
          </a:p>
        </p:txBody>
      </p:sp>
    </p:spTree>
    <p:extLst>
      <p:ext uri="{BB962C8B-B14F-4D97-AF65-F5344CB8AC3E}">
        <p14:creationId xmlns:p14="http://schemas.microsoft.com/office/powerpoint/2010/main" val="2499303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p:txBody>
          <a:bodyPr>
            <a:noAutofit/>
          </a:bodyPr>
          <a:lstStyle/>
          <a:p>
            <a:pPr algn="just"/>
            <a:r>
              <a:rPr lang="en-PH" sz="5000" dirty="0"/>
              <a:t>1. Which is the statement is true of Mindanao?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p:txBody>
          <a:bodyPr>
            <a:normAutofit/>
          </a:bodyPr>
          <a:lstStyle/>
          <a:p>
            <a:pPr marL="514350" indent="-514350">
              <a:buAutoNum type="alphaUcPeriod"/>
            </a:pPr>
            <a:r>
              <a:rPr lang="en-PH" sz="3600" dirty="0">
                <a:solidFill>
                  <a:srgbClr val="FF0000"/>
                </a:solidFill>
              </a:rPr>
              <a:t>Is the second biggest island in the country</a:t>
            </a:r>
          </a:p>
          <a:p>
            <a:pPr marL="514350" indent="-514350">
              <a:buAutoNum type="alphaUcPeriod"/>
            </a:pPr>
            <a:r>
              <a:rPr lang="en-PH" sz="3600" dirty="0"/>
              <a:t>It is the third largest island in the country</a:t>
            </a:r>
          </a:p>
          <a:p>
            <a:pPr marL="514350" indent="-514350">
              <a:buAutoNum type="alphaUcPeriod"/>
            </a:pPr>
            <a:r>
              <a:rPr lang="en-PH" sz="3600" dirty="0"/>
              <a:t>It is the biggest island in the country</a:t>
            </a:r>
          </a:p>
          <a:p>
            <a:pPr marL="514350" indent="-514350">
              <a:buAutoNum type="alphaUcPeriod"/>
            </a:pPr>
            <a:r>
              <a:rPr lang="en-PH" sz="3600" dirty="0"/>
              <a:t>It is where the smallest deer found</a:t>
            </a:r>
          </a:p>
        </p:txBody>
      </p:sp>
    </p:spTree>
    <p:extLst>
      <p:ext uri="{BB962C8B-B14F-4D97-AF65-F5344CB8AC3E}">
        <p14:creationId xmlns:p14="http://schemas.microsoft.com/office/powerpoint/2010/main" val="3162914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p:txBody>
          <a:bodyPr>
            <a:noAutofit/>
          </a:bodyPr>
          <a:lstStyle/>
          <a:p>
            <a:pPr algn="just"/>
            <a:r>
              <a:rPr lang="en-PH" sz="5000" dirty="0"/>
              <a:t>2. What is the primary governing law on agrarian reform at present?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p:txBody>
          <a:bodyPr>
            <a:normAutofit/>
          </a:bodyPr>
          <a:lstStyle/>
          <a:p>
            <a:pPr marL="514350" indent="-514350">
              <a:buAutoNum type="alphaUcPeriod"/>
            </a:pPr>
            <a:r>
              <a:rPr lang="en-PH" sz="3600" dirty="0"/>
              <a:t>Presidential Decree No. 27</a:t>
            </a:r>
          </a:p>
          <a:p>
            <a:pPr marL="514350" indent="-514350">
              <a:buAutoNum type="alphaUcPeriod"/>
            </a:pPr>
            <a:r>
              <a:rPr lang="en-PH" sz="3600" dirty="0"/>
              <a:t>Agricultural Land Reform Code</a:t>
            </a:r>
          </a:p>
          <a:p>
            <a:pPr marL="514350" indent="-514350">
              <a:buAutoNum type="alphaUcPeriod"/>
            </a:pPr>
            <a:r>
              <a:rPr lang="en-PH" sz="3600" dirty="0"/>
              <a:t>Agricultural Tenancy Act</a:t>
            </a:r>
          </a:p>
          <a:p>
            <a:pPr marL="514350" indent="-514350">
              <a:buAutoNum type="alphaUcPeriod"/>
            </a:pPr>
            <a:r>
              <a:rPr lang="en-PH" sz="3600" dirty="0"/>
              <a:t>Comprehensive Agrarian Reform Law</a:t>
            </a:r>
          </a:p>
        </p:txBody>
      </p:sp>
    </p:spTree>
    <p:extLst>
      <p:ext uri="{BB962C8B-B14F-4D97-AF65-F5344CB8AC3E}">
        <p14:creationId xmlns:p14="http://schemas.microsoft.com/office/powerpoint/2010/main" val="3856634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p:txBody>
          <a:bodyPr>
            <a:noAutofit/>
          </a:bodyPr>
          <a:lstStyle/>
          <a:p>
            <a:pPr algn="just"/>
            <a:r>
              <a:rPr lang="en-PH" sz="5000" dirty="0"/>
              <a:t>2. What is the primary governing law on agrarian reform at present?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p:txBody>
          <a:bodyPr>
            <a:normAutofit/>
          </a:bodyPr>
          <a:lstStyle/>
          <a:p>
            <a:pPr marL="514350" indent="-514350">
              <a:buAutoNum type="alphaUcPeriod"/>
            </a:pPr>
            <a:r>
              <a:rPr lang="en-PH" sz="3600" dirty="0"/>
              <a:t>Presidential Decree No. 27</a:t>
            </a:r>
          </a:p>
          <a:p>
            <a:pPr marL="514350" indent="-514350">
              <a:buAutoNum type="alphaUcPeriod"/>
            </a:pPr>
            <a:r>
              <a:rPr lang="en-PH" sz="3600" dirty="0"/>
              <a:t>Agricultural Land Reform Code</a:t>
            </a:r>
          </a:p>
          <a:p>
            <a:pPr marL="514350" indent="-514350">
              <a:buAutoNum type="alphaUcPeriod"/>
            </a:pPr>
            <a:r>
              <a:rPr lang="en-PH" sz="3600" dirty="0"/>
              <a:t>Agricultural Tenancy Act</a:t>
            </a:r>
          </a:p>
          <a:p>
            <a:pPr marL="514350" indent="-514350">
              <a:buAutoNum type="alphaUcPeriod"/>
            </a:pPr>
            <a:r>
              <a:rPr lang="en-PH" sz="3600" dirty="0">
                <a:solidFill>
                  <a:srgbClr val="FF0000"/>
                </a:solidFill>
              </a:rPr>
              <a:t>Comprehensive Agrarian Reform Law</a:t>
            </a:r>
          </a:p>
        </p:txBody>
      </p:sp>
    </p:spTree>
    <p:extLst>
      <p:ext uri="{BB962C8B-B14F-4D97-AF65-F5344CB8AC3E}">
        <p14:creationId xmlns:p14="http://schemas.microsoft.com/office/powerpoint/2010/main" val="61677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58246"/>
            <a:ext cx="10515600" cy="1325563"/>
          </a:xfrm>
        </p:spPr>
        <p:txBody>
          <a:bodyPr>
            <a:noAutofit/>
          </a:bodyPr>
          <a:lstStyle/>
          <a:p>
            <a:pPr algn="just"/>
            <a:r>
              <a:rPr lang="en-PH" sz="5000" dirty="0"/>
              <a:t>3. Which terms refers to the period of transition from the use of human and animal power to the use of machine in producing and distributing goods?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987163"/>
            <a:ext cx="10515600" cy="4351338"/>
          </a:xfrm>
        </p:spPr>
        <p:txBody>
          <a:bodyPr>
            <a:normAutofit/>
          </a:bodyPr>
          <a:lstStyle/>
          <a:p>
            <a:pPr marL="514350" indent="-514350">
              <a:buAutoNum type="alphaUcPeriod"/>
            </a:pPr>
            <a:r>
              <a:rPr lang="en-PH" sz="3600" dirty="0"/>
              <a:t>Nuclear Revolution</a:t>
            </a:r>
          </a:p>
          <a:p>
            <a:pPr marL="514350" indent="-514350">
              <a:buAutoNum type="alphaUcPeriod"/>
            </a:pPr>
            <a:r>
              <a:rPr lang="en-PH" sz="3600" dirty="0"/>
              <a:t>Agricultural Revolution</a:t>
            </a:r>
          </a:p>
          <a:p>
            <a:pPr marL="514350" indent="-514350">
              <a:buAutoNum type="alphaUcPeriod"/>
            </a:pPr>
            <a:r>
              <a:rPr lang="en-PH" sz="3600" dirty="0"/>
              <a:t>Industrial Revolution</a:t>
            </a:r>
          </a:p>
          <a:p>
            <a:pPr marL="514350" indent="-514350">
              <a:buAutoNum type="alphaUcPeriod"/>
            </a:pPr>
            <a:r>
              <a:rPr lang="en-PH" sz="3600" dirty="0"/>
              <a:t>Information Revolution</a:t>
            </a:r>
          </a:p>
          <a:p>
            <a:pPr marL="0" indent="0">
              <a:buNone/>
            </a:pPr>
            <a:endParaRPr lang="en-PH" sz="3600" dirty="0"/>
          </a:p>
        </p:txBody>
      </p:sp>
    </p:spTree>
    <p:extLst>
      <p:ext uri="{BB962C8B-B14F-4D97-AF65-F5344CB8AC3E}">
        <p14:creationId xmlns:p14="http://schemas.microsoft.com/office/powerpoint/2010/main" val="3195907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58246"/>
            <a:ext cx="10515600" cy="1325563"/>
          </a:xfrm>
        </p:spPr>
        <p:txBody>
          <a:bodyPr>
            <a:noAutofit/>
          </a:bodyPr>
          <a:lstStyle/>
          <a:p>
            <a:pPr algn="just"/>
            <a:r>
              <a:rPr lang="en-PH" sz="5000" dirty="0"/>
              <a:t>3. Which terms refers to the period of transition from the use of human and animal power to the use of machine in producing and distributing goods?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987163"/>
            <a:ext cx="10515600" cy="4351338"/>
          </a:xfrm>
        </p:spPr>
        <p:txBody>
          <a:bodyPr>
            <a:normAutofit/>
          </a:bodyPr>
          <a:lstStyle/>
          <a:p>
            <a:pPr marL="514350" indent="-514350">
              <a:buAutoNum type="alphaUcPeriod"/>
            </a:pPr>
            <a:r>
              <a:rPr lang="en-PH" sz="3600" dirty="0"/>
              <a:t>Nuclear Revolution</a:t>
            </a:r>
          </a:p>
          <a:p>
            <a:pPr marL="514350" indent="-514350">
              <a:buAutoNum type="alphaUcPeriod"/>
            </a:pPr>
            <a:r>
              <a:rPr lang="en-PH" sz="3600" dirty="0"/>
              <a:t>Agricultural Revolution</a:t>
            </a:r>
          </a:p>
          <a:p>
            <a:pPr marL="514350" indent="-514350">
              <a:buAutoNum type="alphaUcPeriod"/>
            </a:pPr>
            <a:r>
              <a:rPr lang="en-PH" sz="3600" dirty="0">
                <a:solidFill>
                  <a:srgbClr val="FF0000"/>
                </a:solidFill>
              </a:rPr>
              <a:t>Industrial Revolution</a:t>
            </a:r>
          </a:p>
          <a:p>
            <a:pPr marL="514350" indent="-514350">
              <a:buAutoNum type="alphaUcPeriod"/>
            </a:pPr>
            <a:r>
              <a:rPr lang="en-PH" sz="3600" dirty="0"/>
              <a:t>Information Revolution</a:t>
            </a:r>
          </a:p>
          <a:p>
            <a:pPr marL="0" indent="0">
              <a:buNone/>
            </a:pPr>
            <a:endParaRPr lang="en-PH" sz="3600" dirty="0"/>
          </a:p>
        </p:txBody>
      </p:sp>
    </p:spTree>
    <p:extLst>
      <p:ext uri="{BB962C8B-B14F-4D97-AF65-F5344CB8AC3E}">
        <p14:creationId xmlns:p14="http://schemas.microsoft.com/office/powerpoint/2010/main" val="210404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02190"/>
            <a:ext cx="10515600" cy="1325563"/>
          </a:xfrm>
        </p:spPr>
        <p:txBody>
          <a:bodyPr>
            <a:noAutofit/>
          </a:bodyPr>
          <a:lstStyle/>
          <a:p>
            <a:pPr algn="just"/>
            <a:r>
              <a:rPr lang="en-PH" sz="5000" dirty="0"/>
              <a:t>4. Which among the following are examples of material culture?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37982"/>
            <a:ext cx="10515600" cy="4351338"/>
          </a:xfrm>
        </p:spPr>
        <p:txBody>
          <a:bodyPr>
            <a:normAutofit/>
          </a:bodyPr>
          <a:lstStyle/>
          <a:p>
            <a:pPr marL="514350" indent="-514350">
              <a:buAutoNum type="alphaUcPeriod"/>
            </a:pPr>
            <a:r>
              <a:rPr lang="en-PH" sz="3600" dirty="0"/>
              <a:t>Mores</a:t>
            </a:r>
          </a:p>
          <a:p>
            <a:pPr marL="514350" indent="-514350">
              <a:buAutoNum type="alphaUcPeriod"/>
            </a:pPr>
            <a:r>
              <a:rPr lang="en-PH" sz="3600" dirty="0"/>
              <a:t>Clothing </a:t>
            </a:r>
          </a:p>
          <a:p>
            <a:pPr marL="514350" indent="-514350">
              <a:buAutoNum type="alphaUcPeriod"/>
            </a:pPr>
            <a:r>
              <a:rPr lang="en-PH" sz="3600" dirty="0"/>
              <a:t>Sentiments</a:t>
            </a:r>
          </a:p>
          <a:p>
            <a:pPr marL="514350" indent="-514350">
              <a:buAutoNum type="alphaUcPeriod"/>
            </a:pPr>
            <a:r>
              <a:rPr lang="en-PH" sz="3600" dirty="0"/>
              <a:t>Folkways</a:t>
            </a:r>
          </a:p>
          <a:p>
            <a:pPr marL="0" indent="0">
              <a:buNone/>
            </a:pPr>
            <a:endParaRPr lang="en-PH" sz="3600" dirty="0"/>
          </a:p>
          <a:p>
            <a:pPr marL="0" indent="0">
              <a:buNone/>
            </a:pPr>
            <a:endParaRPr lang="en-PH" sz="3600" dirty="0"/>
          </a:p>
        </p:txBody>
      </p:sp>
    </p:spTree>
    <p:extLst>
      <p:ext uri="{BB962C8B-B14F-4D97-AF65-F5344CB8AC3E}">
        <p14:creationId xmlns:p14="http://schemas.microsoft.com/office/powerpoint/2010/main" val="32409194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02190"/>
            <a:ext cx="10515600" cy="1325563"/>
          </a:xfrm>
        </p:spPr>
        <p:txBody>
          <a:bodyPr>
            <a:noAutofit/>
          </a:bodyPr>
          <a:lstStyle/>
          <a:p>
            <a:pPr algn="just"/>
            <a:r>
              <a:rPr lang="en-PH" sz="5000" dirty="0"/>
              <a:t>4. Which among the following are examples of material culture?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37982"/>
            <a:ext cx="10515600" cy="4351338"/>
          </a:xfrm>
        </p:spPr>
        <p:txBody>
          <a:bodyPr>
            <a:normAutofit/>
          </a:bodyPr>
          <a:lstStyle/>
          <a:p>
            <a:pPr marL="514350" indent="-514350">
              <a:buAutoNum type="alphaUcPeriod"/>
            </a:pPr>
            <a:r>
              <a:rPr lang="en-PH" sz="3600" dirty="0"/>
              <a:t>Mores</a:t>
            </a:r>
          </a:p>
          <a:p>
            <a:pPr marL="514350" indent="-514350">
              <a:buAutoNum type="alphaUcPeriod"/>
            </a:pPr>
            <a:r>
              <a:rPr lang="en-PH" sz="3600" dirty="0">
                <a:solidFill>
                  <a:srgbClr val="FF0000"/>
                </a:solidFill>
              </a:rPr>
              <a:t>Clothing </a:t>
            </a:r>
          </a:p>
          <a:p>
            <a:pPr marL="514350" indent="-514350">
              <a:buAutoNum type="alphaUcPeriod"/>
            </a:pPr>
            <a:r>
              <a:rPr lang="en-PH" sz="3600" dirty="0"/>
              <a:t>Sentiments</a:t>
            </a:r>
          </a:p>
          <a:p>
            <a:pPr marL="514350" indent="-514350">
              <a:buAutoNum type="alphaUcPeriod"/>
            </a:pPr>
            <a:r>
              <a:rPr lang="en-PH" sz="3600" dirty="0"/>
              <a:t>Folkways</a:t>
            </a:r>
          </a:p>
          <a:p>
            <a:pPr marL="0" indent="0">
              <a:buNone/>
            </a:pPr>
            <a:endParaRPr lang="en-PH" sz="3600" dirty="0"/>
          </a:p>
          <a:p>
            <a:pPr marL="0" indent="0">
              <a:buNone/>
            </a:pPr>
            <a:endParaRPr lang="en-PH" sz="3600" dirty="0"/>
          </a:p>
        </p:txBody>
      </p:sp>
    </p:spTree>
    <p:extLst>
      <p:ext uri="{BB962C8B-B14F-4D97-AF65-F5344CB8AC3E}">
        <p14:creationId xmlns:p14="http://schemas.microsoft.com/office/powerpoint/2010/main" val="3745217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390730"/>
            <a:ext cx="10515600" cy="1325563"/>
          </a:xfrm>
        </p:spPr>
        <p:txBody>
          <a:bodyPr>
            <a:noAutofit/>
          </a:bodyPr>
          <a:lstStyle/>
          <a:p>
            <a:pPr algn="just"/>
            <a:r>
              <a:rPr lang="en-PH" dirty="0"/>
              <a:t>5. Who is the capitalist thinker who said this: “ the combination of self-interest, private property, and competition among sellers in markets will lead producers as by an ‘invisible hand’ to an end that they did NOT intend, namely, the well-being of society.”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901567"/>
            <a:ext cx="10515600" cy="4351338"/>
          </a:xfrm>
        </p:spPr>
        <p:txBody>
          <a:bodyPr>
            <a:normAutofit/>
          </a:bodyPr>
          <a:lstStyle/>
          <a:p>
            <a:pPr marL="742950" indent="-742950">
              <a:buAutoNum type="alphaUcPeriod"/>
            </a:pPr>
            <a:r>
              <a:rPr lang="en-PH" sz="3600" dirty="0"/>
              <a:t>Thomas Malthus</a:t>
            </a:r>
          </a:p>
          <a:p>
            <a:pPr marL="742950" indent="-742950">
              <a:buAutoNum type="alphaUcPeriod"/>
            </a:pPr>
            <a:r>
              <a:rPr lang="en-PH" sz="3600" dirty="0"/>
              <a:t>Karl Marx</a:t>
            </a:r>
          </a:p>
          <a:p>
            <a:pPr marL="742950" indent="-742950">
              <a:buAutoNum type="alphaUcPeriod"/>
            </a:pPr>
            <a:r>
              <a:rPr lang="en-PH" sz="3600" dirty="0"/>
              <a:t>Adam Smith</a:t>
            </a:r>
          </a:p>
          <a:p>
            <a:pPr marL="742950" indent="-742950">
              <a:buAutoNum type="alphaUcPeriod"/>
            </a:pPr>
            <a:r>
              <a:rPr lang="en-PH" sz="3600" dirty="0"/>
              <a:t>Vladimir Lenin</a:t>
            </a:r>
          </a:p>
          <a:p>
            <a:pPr marL="0" indent="0">
              <a:buNone/>
            </a:pPr>
            <a:endParaRPr lang="en-PH" sz="3600" dirty="0"/>
          </a:p>
        </p:txBody>
      </p:sp>
    </p:spTree>
    <p:extLst>
      <p:ext uri="{BB962C8B-B14F-4D97-AF65-F5344CB8AC3E}">
        <p14:creationId xmlns:p14="http://schemas.microsoft.com/office/powerpoint/2010/main" val="2797682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390730"/>
            <a:ext cx="10515600" cy="1325563"/>
          </a:xfrm>
        </p:spPr>
        <p:txBody>
          <a:bodyPr>
            <a:noAutofit/>
          </a:bodyPr>
          <a:lstStyle/>
          <a:p>
            <a:pPr algn="just"/>
            <a:r>
              <a:rPr lang="en-PH" dirty="0"/>
              <a:t>5. Who is the capitalist thinker who said this: “ the combination of self-interest, private property, and competition among sellers in markets will lead producers as by an ‘invisible hand’ to an end that they did NOT intend, namely, the well-being of society.”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901567"/>
            <a:ext cx="10515600" cy="4351338"/>
          </a:xfrm>
        </p:spPr>
        <p:txBody>
          <a:bodyPr>
            <a:normAutofit/>
          </a:bodyPr>
          <a:lstStyle/>
          <a:p>
            <a:pPr marL="742950" indent="-742950">
              <a:buAutoNum type="alphaUcPeriod"/>
            </a:pPr>
            <a:r>
              <a:rPr lang="en-PH" sz="3600" dirty="0">
                <a:solidFill>
                  <a:srgbClr val="FF0000"/>
                </a:solidFill>
              </a:rPr>
              <a:t>Thomas Malthus</a:t>
            </a:r>
          </a:p>
          <a:p>
            <a:pPr marL="742950" indent="-742950">
              <a:buAutoNum type="alphaUcPeriod"/>
            </a:pPr>
            <a:r>
              <a:rPr lang="en-PH" sz="3600" dirty="0"/>
              <a:t>Karl Marx</a:t>
            </a:r>
          </a:p>
          <a:p>
            <a:pPr marL="742950" indent="-742950">
              <a:buAutoNum type="alphaUcPeriod"/>
            </a:pPr>
            <a:r>
              <a:rPr lang="en-PH" sz="3600" dirty="0"/>
              <a:t>Adam Smith</a:t>
            </a:r>
          </a:p>
          <a:p>
            <a:pPr marL="742950" indent="-742950">
              <a:buAutoNum type="alphaUcPeriod"/>
            </a:pPr>
            <a:r>
              <a:rPr lang="en-PH" sz="3600" dirty="0"/>
              <a:t>Vladimir Lenin</a:t>
            </a:r>
          </a:p>
          <a:p>
            <a:pPr marL="0" indent="0">
              <a:buNone/>
            </a:pPr>
            <a:endParaRPr lang="en-PH" sz="3600" dirty="0"/>
          </a:p>
        </p:txBody>
      </p:sp>
    </p:spTree>
    <p:extLst>
      <p:ext uri="{BB962C8B-B14F-4D97-AF65-F5344CB8AC3E}">
        <p14:creationId xmlns:p14="http://schemas.microsoft.com/office/powerpoint/2010/main" val="2356773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41554"/>
            <a:ext cx="10515600" cy="1325563"/>
          </a:xfrm>
        </p:spPr>
        <p:txBody>
          <a:bodyPr>
            <a:noAutofit/>
          </a:bodyPr>
          <a:lstStyle/>
          <a:p>
            <a:pPr algn="just"/>
            <a:r>
              <a:rPr lang="en-PH" sz="5000" dirty="0"/>
              <a:t>6. With which group are you if you for the rival of the classics?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627913"/>
            <a:ext cx="10515600" cy="4351338"/>
          </a:xfrm>
        </p:spPr>
        <p:txBody>
          <a:bodyPr>
            <a:normAutofit/>
          </a:bodyPr>
          <a:lstStyle/>
          <a:p>
            <a:pPr marL="742950" indent="-742950">
              <a:buAutoNum type="alphaUcPeriod"/>
            </a:pPr>
            <a:r>
              <a:rPr lang="en-PH" sz="3600" dirty="0"/>
              <a:t>The rationalist</a:t>
            </a:r>
          </a:p>
          <a:p>
            <a:pPr marL="742950" indent="-742950">
              <a:buAutoNum type="alphaUcPeriod"/>
            </a:pPr>
            <a:r>
              <a:rPr lang="en-PH" sz="3600" dirty="0"/>
              <a:t>The humanist</a:t>
            </a:r>
          </a:p>
          <a:p>
            <a:pPr marL="742950" indent="-742950">
              <a:buAutoNum type="alphaUcPeriod"/>
            </a:pPr>
            <a:r>
              <a:rPr lang="en-PH" sz="3600" dirty="0"/>
              <a:t>The positivists</a:t>
            </a:r>
          </a:p>
          <a:p>
            <a:pPr marL="742950" indent="-742950">
              <a:buAutoNum type="alphaUcPeriod"/>
            </a:pPr>
            <a:r>
              <a:rPr lang="en-PH" sz="3600" dirty="0"/>
              <a:t>The reformist</a:t>
            </a:r>
          </a:p>
        </p:txBody>
      </p:sp>
    </p:spTree>
    <p:extLst>
      <p:ext uri="{BB962C8B-B14F-4D97-AF65-F5344CB8AC3E}">
        <p14:creationId xmlns:p14="http://schemas.microsoft.com/office/powerpoint/2010/main" val="1890008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41554"/>
            <a:ext cx="10515600" cy="1325563"/>
          </a:xfrm>
        </p:spPr>
        <p:txBody>
          <a:bodyPr>
            <a:noAutofit/>
          </a:bodyPr>
          <a:lstStyle/>
          <a:p>
            <a:pPr algn="just"/>
            <a:r>
              <a:rPr lang="en-PH" sz="5000" dirty="0"/>
              <a:t>6. With which group are you if you for the rival of the classics?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627913"/>
            <a:ext cx="10515600" cy="4351338"/>
          </a:xfrm>
        </p:spPr>
        <p:txBody>
          <a:bodyPr>
            <a:normAutofit/>
          </a:bodyPr>
          <a:lstStyle/>
          <a:p>
            <a:pPr marL="742950" indent="-742950">
              <a:buAutoNum type="alphaUcPeriod"/>
            </a:pPr>
            <a:r>
              <a:rPr lang="en-PH" sz="3600" dirty="0"/>
              <a:t>The rationalist</a:t>
            </a:r>
          </a:p>
          <a:p>
            <a:pPr marL="742950" indent="-742950">
              <a:buAutoNum type="alphaUcPeriod"/>
            </a:pPr>
            <a:r>
              <a:rPr lang="en-PH" sz="3600" dirty="0">
                <a:solidFill>
                  <a:srgbClr val="FF0000"/>
                </a:solidFill>
              </a:rPr>
              <a:t>The humanist</a:t>
            </a:r>
          </a:p>
          <a:p>
            <a:pPr marL="742950" indent="-742950">
              <a:buAutoNum type="alphaUcPeriod"/>
            </a:pPr>
            <a:r>
              <a:rPr lang="en-PH" sz="3600" dirty="0"/>
              <a:t>The positivists</a:t>
            </a:r>
          </a:p>
          <a:p>
            <a:pPr marL="742950" indent="-742950">
              <a:buAutoNum type="alphaUcPeriod"/>
            </a:pPr>
            <a:r>
              <a:rPr lang="en-PH" sz="3600" dirty="0"/>
              <a:t>The reformist</a:t>
            </a:r>
          </a:p>
        </p:txBody>
      </p:sp>
    </p:spTree>
    <p:extLst>
      <p:ext uri="{BB962C8B-B14F-4D97-AF65-F5344CB8AC3E}">
        <p14:creationId xmlns:p14="http://schemas.microsoft.com/office/powerpoint/2010/main" val="3782907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7. Under what form of government does the commonwealth Government of the Philippines fall?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lnSpcReduction="10000"/>
          </a:bodyPr>
          <a:lstStyle/>
          <a:p>
            <a:pPr marL="742950" indent="-742950" algn="just">
              <a:buAutoNum type="alphaUcPeriod"/>
            </a:pPr>
            <a:r>
              <a:rPr lang="en-PH" sz="3600" dirty="0"/>
              <a:t>Republican democracy in the form under the parliamentary type</a:t>
            </a:r>
          </a:p>
          <a:p>
            <a:pPr marL="742950" indent="-742950" algn="just">
              <a:buAutoNum type="alphaUcPeriod"/>
            </a:pPr>
            <a:r>
              <a:rPr lang="en-PH" sz="3600" dirty="0"/>
              <a:t>Republican democracy in form under the presidential type</a:t>
            </a:r>
          </a:p>
          <a:p>
            <a:pPr marL="742950" indent="-742950" algn="just">
              <a:buAutoNum type="alphaUcPeriod"/>
            </a:pPr>
            <a:r>
              <a:rPr lang="en-PH" sz="3600" dirty="0"/>
              <a:t>Direct democracy in form under the presidential type</a:t>
            </a:r>
          </a:p>
          <a:p>
            <a:pPr marL="742950" indent="-742950" algn="just">
              <a:buAutoNum type="alphaUcPeriod"/>
            </a:pPr>
            <a:r>
              <a:rPr lang="en-PH" sz="3600" dirty="0"/>
              <a:t>Direct democracy in form under the parliamentary type.</a:t>
            </a:r>
          </a:p>
        </p:txBody>
      </p:sp>
    </p:spTree>
    <p:extLst>
      <p:ext uri="{BB962C8B-B14F-4D97-AF65-F5344CB8AC3E}">
        <p14:creationId xmlns:p14="http://schemas.microsoft.com/office/powerpoint/2010/main" val="3094894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7. Under what form of government does the commonwealth Government of the Philippines fall?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lnSpcReduction="10000"/>
          </a:bodyPr>
          <a:lstStyle/>
          <a:p>
            <a:pPr marL="742950" indent="-742950" algn="just">
              <a:buAutoNum type="alphaUcPeriod"/>
            </a:pPr>
            <a:r>
              <a:rPr lang="en-PH" sz="3600" dirty="0"/>
              <a:t>Republican democracy in the form under the parliamentary type</a:t>
            </a:r>
          </a:p>
          <a:p>
            <a:pPr marL="742950" indent="-742950" algn="just">
              <a:buAutoNum type="alphaUcPeriod"/>
            </a:pPr>
            <a:r>
              <a:rPr lang="en-PH" sz="3600" dirty="0">
                <a:solidFill>
                  <a:srgbClr val="FF0000"/>
                </a:solidFill>
              </a:rPr>
              <a:t>Republican democracy in form under the presidential type</a:t>
            </a:r>
          </a:p>
          <a:p>
            <a:pPr marL="742950" indent="-742950" algn="just">
              <a:buAutoNum type="alphaUcPeriod"/>
            </a:pPr>
            <a:r>
              <a:rPr lang="en-PH" sz="3600" dirty="0"/>
              <a:t>Direct democracy in form under the presidential type</a:t>
            </a:r>
          </a:p>
          <a:p>
            <a:pPr marL="742950" indent="-742950" algn="just">
              <a:buAutoNum type="alphaUcPeriod"/>
            </a:pPr>
            <a:r>
              <a:rPr lang="en-PH" sz="3600" dirty="0"/>
              <a:t>Direct democracy in form under the parliamentary type.</a:t>
            </a:r>
          </a:p>
        </p:txBody>
      </p:sp>
    </p:spTree>
    <p:extLst>
      <p:ext uri="{BB962C8B-B14F-4D97-AF65-F5344CB8AC3E}">
        <p14:creationId xmlns:p14="http://schemas.microsoft.com/office/powerpoint/2010/main" val="3529892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8. Which event explains why sociologist F. </a:t>
            </a:r>
            <a:r>
              <a:rPr lang="en-PH" sz="5000" dirty="0" err="1"/>
              <a:t>Landa</a:t>
            </a:r>
            <a:r>
              <a:rPr lang="en-PH" sz="5000" dirty="0"/>
              <a:t> </a:t>
            </a:r>
            <a:r>
              <a:rPr lang="en-PH" sz="5000" dirty="0" err="1"/>
              <a:t>Jocano</a:t>
            </a:r>
            <a:r>
              <a:rPr lang="en-PH" sz="5000" dirty="0"/>
              <a:t> debunked the theory that Malays we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a:bodyPr>
          <a:lstStyle/>
          <a:p>
            <a:pPr marL="742950" indent="-742950" algn="just">
              <a:buAutoNum type="alphaUcPeriod"/>
            </a:pPr>
            <a:r>
              <a:rPr lang="en-PH" sz="3600" dirty="0"/>
              <a:t>The discovery of fossil relics in Pangasinan and Cagayan Valley</a:t>
            </a:r>
          </a:p>
          <a:p>
            <a:pPr marL="742950" indent="-742950" algn="just">
              <a:buAutoNum type="alphaUcPeriod"/>
            </a:pPr>
            <a:r>
              <a:rPr lang="en-PH" sz="3600" dirty="0"/>
              <a:t>The formation of land bridges during the Ice Age</a:t>
            </a:r>
          </a:p>
          <a:p>
            <a:pPr marL="742950" indent="-742950" algn="just">
              <a:buAutoNum type="alphaUcPeriod"/>
            </a:pPr>
            <a:r>
              <a:rPr lang="en-PH" sz="3600" dirty="0"/>
              <a:t>The ice melting submerging land bridges some 25,000 years ago</a:t>
            </a:r>
          </a:p>
          <a:p>
            <a:pPr marL="742950" indent="-742950" algn="just">
              <a:buAutoNum type="alphaUcPeriod"/>
            </a:pPr>
            <a:r>
              <a:rPr lang="en-PH" sz="3600" dirty="0"/>
              <a:t>The unearthing of the human fossils of the </a:t>
            </a:r>
            <a:r>
              <a:rPr lang="en-PH" sz="3600" dirty="0" err="1"/>
              <a:t>Tabon</a:t>
            </a:r>
            <a:r>
              <a:rPr lang="en-PH" sz="3600" dirty="0"/>
              <a:t> Man</a:t>
            </a:r>
          </a:p>
        </p:txBody>
      </p:sp>
    </p:spTree>
    <p:extLst>
      <p:ext uri="{BB962C8B-B14F-4D97-AF65-F5344CB8AC3E}">
        <p14:creationId xmlns:p14="http://schemas.microsoft.com/office/powerpoint/2010/main" val="2662258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8. Which event explains why sociologist F. </a:t>
            </a:r>
            <a:r>
              <a:rPr lang="en-PH" sz="5000" dirty="0" err="1"/>
              <a:t>Landa</a:t>
            </a:r>
            <a:r>
              <a:rPr lang="en-PH" sz="5000" dirty="0"/>
              <a:t> </a:t>
            </a:r>
            <a:r>
              <a:rPr lang="en-PH" sz="5000" dirty="0" err="1"/>
              <a:t>Jocano</a:t>
            </a:r>
            <a:r>
              <a:rPr lang="en-PH" sz="5000" dirty="0"/>
              <a:t> debunked the theory that Malays we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a:bodyPr>
          <a:lstStyle/>
          <a:p>
            <a:pPr marL="742950" indent="-742950" algn="just">
              <a:buAutoNum type="alphaUcPeriod"/>
            </a:pPr>
            <a:r>
              <a:rPr lang="en-PH" sz="3600" dirty="0"/>
              <a:t>The discovery of fossil relics in Pangasinan and Cagayan Valley</a:t>
            </a:r>
          </a:p>
          <a:p>
            <a:pPr marL="742950" indent="-742950" algn="just">
              <a:buAutoNum type="alphaUcPeriod"/>
            </a:pPr>
            <a:r>
              <a:rPr lang="en-PH" sz="3600" dirty="0"/>
              <a:t>The formation of land bridges during the Ice Age</a:t>
            </a:r>
          </a:p>
          <a:p>
            <a:pPr marL="742950" indent="-742950" algn="just">
              <a:buAutoNum type="alphaUcPeriod"/>
            </a:pPr>
            <a:r>
              <a:rPr lang="en-PH" sz="3600" dirty="0"/>
              <a:t>The ice melting submerging land bridges some 25,000 years ago</a:t>
            </a:r>
          </a:p>
          <a:p>
            <a:pPr marL="742950" indent="-742950" algn="just">
              <a:buAutoNum type="alphaUcPeriod"/>
            </a:pPr>
            <a:r>
              <a:rPr lang="en-PH" sz="3600" dirty="0">
                <a:solidFill>
                  <a:srgbClr val="FF0000"/>
                </a:solidFill>
              </a:rPr>
              <a:t>The unearthing of the human fossils of the </a:t>
            </a:r>
            <a:r>
              <a:rPr lang="en-PH" sz="3600" dirty="0" err="1">
                <a:solidFill>
                  <a:srgbClr val="FF0000"/>
                </a:solidFill>
              </a:rPr>
              <a:t>Tabon</a:t>
            </a:r>
            <a:r>
              <a:rPr lang="en-PH" sz="3600" dirty="0">
                <a:solidFill>
                  <a:srgbClr val="FF0000"/>
                </a:solidFill>
              </a:rPr>
              <a:t> Man</a:t>
            </a:r>
          </a:p>
        </p:txBody>
      </p:sp>
    </p:spTree>
    <p:extLst>
      <p:ext uri="{BB962C8B-B14F-4D97-AF65-F5344CB8AC3E}">
        <p14:creationId xmlns:p14="http://schemas.microsoft.com/office/powerpoint/2010/main" val="2369538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9. The Philippines is a member of the Association of Southeast Asian Nation. Which are the other members?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a:bodyPr>
          <a:lstStyle/>
          <a:p>
            <a:pPr marL="742950" indent="-742950" algn="just">
              <a:buAutoNum type="alphaUcPeriod"/>
            </a:pPr>
            <a:r>
              <a:rPr lang="en-PH" sz="3600" dirty="0"/>
              <a:t>Brunei, Indonesia, Malaysia, Singapore, China</a:t>
            </a:r>
          </a:p>
          <a:p>
            <a:pPr marL="742950" indent="-742950" algn="just">
              <a:buAutoNum type="alphaUcPeriod"/>
            </a:pPr>
            <a:r>
              <a:rPr lang="en-PH" sz="3600" dirty="0"/>
              <a:t>Brunei, Indonesia, Malaysia, Thailand, Japan</a:t>
            </a:r>
          </a:p>
          <a:p>
            <a:pPr marL="742950" indent="-742950" algn="just">
              <a:buAutoNum type="alphaUcPeriod"/>
            </a:pPr>
            <a:r>
              <a:rPr lang="en-PH" sz="3600" dirty="0"/>
              <a:t>Brunei, Indonesia, Malaysia, Singapore, Thailand</a:t>
            </a:r>
          </a:p>
          <a:p>
            <a:pPr marL="742950" indent="-742950" algn="just">
              <a:buAutoNum type="alphaUcPeriod"/>
            </a:pPr>
            <a:r>
              <a:rPr lang="en-PH" sz="3600" dirty="0"/>
              <a:t>Brunei, Cambodia, Indonesia, Laos, Myanmar</a:t>
            </a:r>
          </a:p>
        </p:txBody>
      </p:sp>
    </p:spTree>
    <p:extLst>
      <p:ext uri="{BB962C8B-B14F-4D97-AF65-F5344CB8AC3E}">
        <p14:creationId xmlns:p14="http://schemas.microsoft.com/office/powerpoint/2010/main" val="2816754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9. The Philippines is a member of the Association of Southeast Asian Nation. Which are the other members?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a:bodyPr>
          <a:lstStyle/>
          <a:p>
            <a:pPr marL="742950" indent="-742950">
              <a:buAutoNum type="alphaUcPeriod"/>
            </a:pPr>
            <a:r>
              <a:rPr lang="en-PH" sz="3600" dirty="0"/>
              <a:t>Brunei, Indonesia, Malaysia, Singapore, China</a:t>
            </a:r>
          </a:p>
          <a:p>
            <a:pPr marL="742950" indent="-742950">
              <a:buAutoNum type="alphaUcPeriod"/>
            </a:pPr>
            <a:r>
              <a:rPr lang="en-PH" sz="3600" dirty="0"/>
              <a:t>Brunei, Indonesia, Malaysia, Thailand, Japan</a:t>
            </a:r>
          </a:p>
          <a:p>
            <a:pPr marL="742950" indent="-742950">
              <a:buAutoNum type="alphaUcPeriod"/>
            </a:pPr>
            <a:r>
              <a:rPr lang="en-PH" sz="3600" dirty="0"/>
              <a:t>Brunei, Indonesia, Malaysia, Singapore, Thailand</a:t>
            </a:r>
          </a:p>
          <a:p>
            <a:pPr marL="742950" indent="-742950">
              <a:buAutoNum type="alphaUcPeriod"/>
            </a:pPr>
            <a:r>
              <a:rPr lang="en-PH" sz="3600" dirty="0">
                <a:solidFill>
                  <a:srgbClr val="FF0000"/>
                </a:solidFill>
              </a:rPr>
              <a:t>Brunei, Cambodia, Indonesia, Laos, Myanmar</a:t>
            </a:r>
          </a:p>
        </p:txBody>
      </p:sp>
    </p:spTree>
    <p:extLst>
      <p:ext uri="{BB962C8B-B14F-4D97-AF65-F5344CB8AC3E}">
        <p14:creationId xmlns:p14="http://schemas.microsoft.com/office/powerpoint/2010/main" val="2242965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10. Which is the statement about cartel is WRONG?</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a:bodyPr>
          <a:lstStyle/>
          <a:p>
            <a:pPr marL="742950" indent="-742950">
              <a:buAutoNum type="alphaUcPeriod"/>
            </a:pPr>
            <a:r>
              <a:rPr lang="en-PH" sz="3600" dirty="0"/>
              <a:t>Cartels restrict available supply</a:t>
            </a:r>
          </a:p>
          <a:p>
            <a:pPr marL="742950" indent="-742950">
              <a:buAutoNum type="alphaUcPeriod"/>
            </a:pPr>
            <a:r>
              <a:rPr lang="en-PH" sz="3600" dirty="0"/>
              <a:t>Cartels bring down the selling price of the product</a:t>
            </a:r>
          </a:p>
          <a:p>
            <a:pPr marL="742950" indent="-742950">
              <a:buAutoNum type="alphaUcPeriod"/>
            </a:pPr>
            <a:r>
              <a:rPr lang="en-PH" sz="3600" dirty="0"/>
              <a:t>Cartels raise the selling price of their product</a:t>
            </a:r>
          </a:p>
          <a:p>
            <a:pPr marL="742950" indent="-742950">
              <a:buAutoNum type="alphaUcPeriod"/>
            </a:pPr>
            <a:r>
              <a:rPr lang="en-PH" sz="3600" dirty="0"/>
              <a:t>Cartels have a monopoly on their product</a:t>
            </a:r>
          </a:p>
        </p:txBody>
      </p:sp>
    </p:spTree>
    <p:extLst>
      <p:ext uri="{BB962C8B-B14F-4D97-AF65-F5344CB8AC3E}">
        <p14:creationId xmlns:p14="http://schemas.microsoft.com/office/powerpoint/2010/main" val="1978329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10. Which is the statement about cartel is WRONG?</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a:bodyPr>
          <a:lstStyle/>
          <a:p>
            <a:pPr marL="742950" indent="-742950">
              <a:buAutoNum type="alphaUcPeriod"/>
            </a:pPr>
            <a:r>
              <a:rPr lang="en-PH" sz="3600" dirty="0"/>
              <a:t>Cartels restrict available supply</a:t>
            </a:r>
          </a:p>
          <a:p>
            <a:pPr marL="742950" indent="-742950">
              <a:buAutoNum type="alphaUcPeriod"/>
            </a:pPr>
            <a:r>
              <a:rPr lang="en-PH" sz="3600" dirty="0">
                <a:solidFill>
                  <a:srgbClr val="FF0000"/>
                </a:solidFill>
              </a:rPr>
              <a:t>Cartels bring down the selling price of the product</a:t>
            </a:r>
          </a:p>
          <a:p>
            <a:pPr marL="742950" indent="-742950">
              <a:buAutoNum type="alphaUcPeriod"/>
            </a:pPr>
            <a:r>
              <a:rPr lang="en-PH" sz="3600" dirty="0"/>
              <a:t>Cartels raise the selling price of their product</a:t>
            </a:r>
          </a:p>
          <a:p>
            <a:pPr marL="742950" indent="-742950">
              <a:buAutoNum type="alphaUcPeriod"/>
            </a:pPr>
            <a:r>
              <a:rPr lang="en-PH" sz="3600" dirty="0"/>
              <a:t>Cartels have a monopoly on their product</a:t>
            </a:r>
          </a:p>
        </p:txBody>
      </p:sp>
    </p:spTree>
    <p:extLst>
      <p:ext uri="{BB962C8B-B14F-4D97-AF65-F5344CB8AC3E}">
        <p14:creationId xmlns:p14="http://schemas.microsoft.com/office/powerpoint/2010/main" val="1719016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11. Which is said to be the largest Philippine bird?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a:bodyPr>
          <a:lstStyle/>
          <a:p>
            <a:pPr marL="742950" indent="-742950">
              <a:buAutoNum type="alphaUcPeriod"/>
            </a:pPr>
            <a:r>
              <a:rPr lang="en-PH" sz="3600" dirty="0"/>
              <a:t>The </a:t>
            </a:r>
            <a:r>
              <a:rPr lang="en-PH" sz="3600" dirty="0" err="1"/>
              <a:t>kalaw</a:t>
            </a:r>
            <a:endParaRPr lang="en-PH" sz="3600" dirty="0"/>
          </a:p>
          <a:p>
            <a:pPr marL="742950" indent="-742950">
              <a:buAutoNum type="alphaUcPeriod"/>
            </a:pPr>
            <a:r>
              <a:rPr lang="en-PH" sz="3600" dirty="0"/>
              <a:t>The owl</a:t>
            </a:r>
          </a:p>
          <a:p>
            <a:pPr marL="742950" indent="-742950">
              <a:buAutoNum type="alphaUcPeriod"/>
            </a:pPr>
            <a:r>
              <a:rPr lang="en-PH" sz="3600" dirty="0"/>
              <a:t>The </a:t>
            </a:r>
            <a:r>
              <a:rPr lang="en-PH" sz="3600" dirty="0" err="1"/>
              <a:t>tipol</a:t>
            </a:r>
            <a:endParaRPr lang="en-PH" sz="3600" dirty="0"/>
          </a:p>
          <a:p>
            <a:pPr marL="742950" indent="-742950">
              <a:buAutoNum type="alphaUcPeriod"/>
            </a:pPr>
            <a:r>
              <a:rPr lang="en-PH" sz="3600" dirty="0"/>
              <a:t>The </a:t>
            </a:r>
            <a:r>
              <a:rPr lang="en-PH" sz="3600" dirty="0" err="1"/>
              <a:t>katala</a:t>
            </a:r>
            <a:endParaRPr lang="en-PH" sz="3600" dirty="0"/>
          </a:p>
          <a:p>
            <a:pPr marL="0" indent="0">
              <a:buNone/>
            </a:pPr>
            <a:endParaRPr lang="en-PH" sz="3600" dirty="0"/>
          </a:p>
        </p:txBody>
      </p:sp>
    </p:spTree>
    <p:extLst>
      <p:ext uri="{BB962C8B-B14F-4D97-AF65-F5344CB8AC3E}">
        <p14:creationId xmlns:p14="http://schemas.microsoft.com/office/powerpoint/2010/main" val="1987158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76336"/>
            <a:ext cx="10515600" cy="1325563"/>
          </a:xfrm>
        </p:spPr>
        <p:txBody>
          <a:bodyPr>
            <a:noAutofit/>
          </a:bodyPr>
          <a:lstStyle/>
          <a:p>
            <a:pPr algn="just"/>
            <a:r>
              <a:rPr lang="en-PH" sz="5000" dirty="0"/>
              <a:t>11. Which is said to be the largest Philippine bird?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07538"/>
            <a:ext cx="10515600" cy="4351338"/>
          </a:xfrm>
        </p:spPr>
        <p:txBody>
          <a:bodyPr>
            <a:normAutofit/>
          </a:bodyPr>
          <a:lstStyle/>
          <a:p>
            <a:pPr marL="742950" indent="-742950">
              <a:buAutoNum type="alphaUcPeriod"/>
            </a:pPr>
            <a:r>
              <a:rPr lang="en-PH" sz="3600" dirty="0"/>
              <a:t>The </a:t>
            </a:r>
            <a:r>
              <a:rPr lang="en-PH" sz="3600" dirty="0" err="1"/>
              <a:t>kalaw</a:t>
            </a:r>
            <a:endParaRPr lang="en-PH" sz="3600" dirty="0"/>
          </a:p>
          <a:p>
            <a:pPr marL="742950" indent="-742950">
              <a:buAutoNum type="alphaUcPeriod"/>
            </a:pPr>
            <a:r>
              <a:rPr lang="en-PH" sz="3600" dirty="0"/>
              <a:t>The owl</a:t>
            </a:r>
          </a:p>
          <a:p>
            <a:pPr marL="742950" indent="-742950">
              <a:buAutoNum type="alphaUcPeriod"/>
            </a:pPr>
            <a:r>
              <a:rPr lang="en-PH" sz="3600" dirty="0">
                <a:solidFill>
                  <a:srgbClr val="FF0000"/>
                </a:solidFill>
              </a:rPr>
              <a:t>The </a:t>
            </a:r>
            <a:r>
              <a:rPr lang="en-PH" sz="3600" dirty="0" err="1">
                <a:solidFill>
                  <a:srgbClr val="FF0000"/>
                </a:solidFill>
              </a:rPr>
              <a:t>tipol</a:t>
            </a:r>
            <a:endParaRPr lang="en-PH" sz="3600" dirty="0">
              <a:solidFill>
                <a:srgbClr val="FF0000"/>
              </a:solidFill>
            </a:endParaRPr>
          </a:p>
          <a:p>
            <a:pPr marL="742950" indent="-742950">
              <a:buAutoNum type="alphaUcPeriod"/>
            </a:pPr>
            <a:r>
              <a:rPr lang="en-PH" sz="3600" dirty="0"/>
              <a:t>The </a:t>
            </a:r>
            <a:r>
              <a:rPr lang="en-PH" sz="3600" dirty="0" err="1"/>
              <a:t>katala</a:t>
            </a:r>
            <a:endParaRPr lang="en-PH" sz="3600" dirty="0"/>
          </a:p>
          <a:p>
            <a:pPr marL="0" indent="0">
              <a:buNone/>
            </a:pPr>
            <a:endParaRPr lang="en-PH" sz="3600" dirty="0"/>
          </a:p>
        </p:txBody>
      </p:sp>
    </p:spTree>
    <p:extLst>
      <p:ext uri="{BB962C8B-B14F-4D97-AF65-F5344CB8AC3E}">
        <p14:creationId xmlns:p14="http://schemas.microsoft.com/office/powerpoint/2010/main" val="1279463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63"/>
            <a:ext cx="10515600" cy="1325563"/>
          </a:xfrm>
        </p:spPr>
        <p:txBody>
          <a:bodyPr>
            <a:noAutofit/>
          </a:bodyPr>
          <a:lstStyle/>
          <a:p>
            <a:pPr algn="just"/>
            <a:r>
              <a:rPr lang="en-PH" sz="5000" dirty="0"/>
              <a:t>12. The Philippines has abundant sunshine all year round. Because of this Filipino has the tendency 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69323"/>
            <a:ext cx="10515600" cy="4351338"/>
          </a:xfrm>
        </p:spPr>
        <p:txBody>
          <a:bodyPr>
            <a:normAutofit/>
          </a:bodyPr>
          <a:lstStyle/>
          <a:p>
            <a:pPr marL="742950" indent="-742950">
              <a:buAutoNum type="alphaUcPeriod"/>
            </a:pPr>
            <a:r>
              <a:rPr lang="en-PH" sz="3600" dirty="0"/>
              <a:t>To work very hard</a:t>
            </a:r>
          </a:p>
          <a:p>
            <a:pPr marL="742950" indent="-742950">
              <a:buAutoNum type="alphaUcPeriod"/>
            </a:pPr>
            <a:r>
              <a:rPr lang="en-PH" sz="3600" dirty="0"/>
              <a:t>Plan for his life</a:t>
            </a:r>
          </a:p>
          <a:p>
            <a:pPr marL="742950" indent="-742950">
              <a:buAutoNum type="alphaUcPeriod"/>
            </a:pPr>
            <a:r>
              <a:rPr lang="en-PH" sz="3600" dirty="0"/>
              <a:t>To have prolonged rest from work</a:t>
            </a:r>
          </a:p>
          <a:p>
            <a:pPr marL="742950" indent="-742950">
              <a:buAutoNum type="alphaUcPeriod"/>
            </a:pPr>
            <a:r>
              <a:rPr lang="en-PH" sz="3600" dirty="0"/>
              <a:t>To save for tomorrow</a:t>
            </a:r>
          </a:p>
        </p:txBody>
      </p:sp>
    </p:spTree>
    <p:extLst>
      <p:ext uri="{BB962C8B-B14F-4D97-AF65-F5344CB8AC3E}">
        <p14:creationId xmlns:p14="http://schemas.microsoft.com/office/powerpoint/2010/main" val="3933123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63"/>
            <a:ext cx="10515600" cy="1325563"/>
          </a:xfrm>
        </p:spPr>
        <p:txBody>
          <a:bodyPr>
            <a:noAutofit/>
          </a:bodyPr>
          <a:lstStyle/>
          <a:p>
            <a:pPr algn="just"/>
            <a:r>
              <a:rPr lang="en-PH" sz="5000" dirty="0"/>
              <a:t>12. The Philippines has abundant sunshine all year round. Because of this Filipino has the tendency 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69323"/>
            <a:ext cx="10515600" cy="4351338"/>
          </a:xfrm>
        </p:spPr>
        <p:txBody>
          <a:bodyPr>
            <a:normAutofit/>
          </a:bodyPr>
          <a:lstStyle/>
          <a:p>
            <a:pPr marL="742950" indent="-742950">
              <a:buAutoNum type="alphaUcPeriod"/>
            </a:pPr>
            <a:r>
              <a:rPr lang="en-PH" sz="3600" dirty="0"/>
              <a:t>To work very hard</a:t>
            </a:r>
          </a:p>
          <a:p>
            <a:pPr marL="742950" indent="-742950">
              <a:buAutoNum type="alphaUcPeriod"/>
            </a:pPr>
            <a:r>
              <a:rPr lang="en-PH" sz="3600" dirty="0"/>
              <a:t>Plan for his life</a:t>
            </a:r>
          </a:p>
          <a:p>
            <a:pPr marL="742950" indent="-742950">
              <a:buAutoNum type="alphaUcPeriod"/>
            </a:pPr>
            <a:r>
              <a:rPr lang="en-PH" sz="3600" dirty="0">
                <a:solidFill>
                  <a:srgbClr val="FF0000"/>
                </a:solidFill>
              </a:rPr>
              <a:t>To have prolonged rest from work</a:t>
            </a:r>
          </a:p>
          <a:p>
            <a:pPr marL="742950" indent="-742950">
              <a:buAutoNum type="alphaUcPeriod"/>
            </a:pPr>
            <a:r>
              <a:rPr lang="en-PH" sz="3600" dirty="0"/>
              <a:t>To save for tomorrow</a:t>
            </a:r>
          </a:p>
        </p:txBody>
      </p:sp>
    </p:spTree>
    <p:extLst>
      <p:ext uri="{BB962C8B-B14F-4D97-AF65-F5344CB8AC3E}">
        <p14:creationId xmlns:p14="http://schemas.microsoft.com/office/powerpoint/2010/main" val="1078050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63"/>
            <a:ext cx="10515600" cy="1325563"/>
          </a:xfrm>
        </p:spPr>
        <p:txBody>
          <a:bodyPr>
            <a:noAutofit/>
          </a:bodyPr>
          <a:lstStyle/>
          <a:p>
            <a:pPr algn="just"/>
            <a:r>
              <a:rPr lang="en-PH" sz="5000" dirty="0"/>
              <a:t>13. Which theory states that human society develops gradually from lower to higher forms?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69323"/>
            <a:ext cx="10515600" cy="4351338"/>
          </a:xfrm>
        </p:spPr>
        <p:txBody>
          <a:bodyPr>
            <a:normAutofit/>
          </a:bodyPr>
          <a:lstStyle/>
          <a:p>
            <a:pPr marL="742950" indent="-742950">
              <a:buAutoNum type="alphaUcPeriod"/>
            </a:pPr>
            <a:r>
              <a:rPr lang="en-PH" sz="3600" dirty="0"/>
              <a:t>Survival of the fittest</a:t>
            </a:r>
          </a:p>
          <a:p>
            <a:pPr marL="742950" indent="-742950">
              <a:buAutoNum type="alphaUcPeriod"/>
            </a:pPr>
            <a:r>
              <a:rPr lang="en-PH" sz="3600" dirty="0"/>
              <a:t>Social Evolution</a:t>
            </a:r>
          </a:p>
          <a:p>
            <a:pPr marL="742950" indent="-742950">
              <a:buAutoNum type="alphaUcPeriod"/>
            </a:pPr>
            <a:r>
              <a:rPr lang="en-PH" sz="3600" dirty="0"/>
              <a:t>Functionalism</a:t>
            </a:r>
          </a:p>
          <a:p>
            <a:pPr marL="742950" indent="-742950">
              <a:buAutoNum type="alphaUcPeriod"/>
            </a:pPr>
            <a:r>
              <a:rPr lang="en-PH" sz="3600" dirty="0"/>
              <a:t>Biological evolution</a:t>
            </a:r>
          </a:p>
          <a:p>
            <a:pPr marL="0" indent="0">
              <a:buNone/>
            </a:pPr>
            <a:endParaRPr lang="en-PH" sz="3600" dirty="0"/>
          </a:p>
        </p:txBody>
      </p:sp>
    </p:spTree>
    <p:extLst>
      <p:ext uri="{BB962C8B-B14F-4D97-AF65-F5344CB8AC3E}">
        <p14:creationId xmlns:p14="http://schemas.microsoft.com/office/powerpoint/2010/main" val="8672598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63"/>
            <a:ext cx="10515600" cy="1325563"/>
          </a:xfrm>
        </p:spPr>
        <p:txBody>
          <a:bodyPr>
            <a:noAutofit/>
          </a:bodyPr>
          <a:lstStyle/>
          <a:p>
            <a:pPr algn="just"/>
            <a:r>
              <a:rPr lang="en-PH" sz="5000" dirty="0"/>
              <a:t>13. Which theory states that human society develops gradually from lower to higher forms?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69323"/>
            <a:ext cx="10515600" cy="4351338"/>
          </a:xfrm>
        </p:spPr>
        <p:txBody>
          <a:bodyPr>
            <a:normAutofit/>
          </a:bodyPr>
          <a:lstStyle/>
          <a:p>
            <a:pPr marL="742950" indent="-742950">
              <a:buAutoNum type="alphaUcPeriod"/>
            </a:pPr>
            <a:r>
              <a:rPr lang="en-PH" sz="3600" dirty="0"/>
              <a:t>Survival of the fittest</a:t>
            </a:r>
          </a:p>
          <a:p>
            <a:pPr marL="742950" indent="-742950">
              <a:buAutoNum type="alphaUcPeriod"/>
            </a:pPr>
            <a:r>
              <a:rPr lang="en-PH" sz="3600" dirty="0">
                <a:solidFill>
                  <a:srgbClr val="FF0000"/>
                </a:solidFill>
              </a:rPr>
              <a:t>Social Evolution</a:t>
            </a:r>
          </a:p>
          <a:p>
            <a:pPr marL="742950" indent="-742950">
              <a:buAutoNum type="alphaUcPeriod"/>
            </a:pPr>
            <a:r>
              <a:rPr lang="en-PH" sz="3600" dirty="0"/>
              <a:t>Functionalism</a:t>
            </a:r>
          </a:p>
          <a:p>
            <a:pPr marL="742950" indent="-742950">
              <a:buAutoNum type="alphaUcPeriod"/>
            </a:pPr>
            <a:r>
              <a:rPr lang="en-PH" sz="3600" dirty="0"/>
              <a:t>Biological evolution</a:t>
            </a:r>
          </a:p>
          <a:p>
            <a:pPr marL="0" indent="0">
              <a:buNone/>
            </a:pPr>
            <a:endParaRPr lang="en-PH" sz="3600" dirty="0"/>
          </a:p>
        </p:txBody>
      </p:sp>
    </p:spTree>
    <p:extLst>
      <p:ext uri="{BB962C8B-B14F-4D97-AF65-F5344CB8AC3E}">
        <p14:creationId xmlns:p14="http://schemas.microsoft.com/office/powerpoint/2010/main" val="4280883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63"/>
            <a:ext cx="10515600" cy="1325563"/>
          </a:xfrm>
        </p:spPr>
        <p:txBody>
          <a:bodyPr>
            <a:noAutofit/>
          </a:bodyPr>
          <a:lstStyle/>
          <a:p>
            <a:pPr algn="just"/>
            <a:r>
              <a:rPr lang="en-PH" sz="5000" dirty="0"/>
              <a:t>14. Which is South Asia’s largest country?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69323"/>
            <a:ext cx="10515600" cy="4351338"/>
          </a:xfrm>
        </p:spPr>
        <p:txBody>
          <a:bodyPr>
            <a:normAutofit/>
          </a:bodyPr>
          <a:lstStyle/>
          <a:p>
            <a:pPr marL="742950" indent="-742950">
              <a:buAutoNum type="alphaUcPeriod"/>
            </a:pPr>
            <a:r>
              <a:rPr lang="en-PH" sz="3600" dirty="0"/>
              <a:t>China</a:t>
            </a:r>
          </a:p>
          <a:p>
            <a:pPr marL="742950" indent="-742950">
              <a:buAutoNum type="alphaUcPeriod"/>
            </a:pPr>
            <a:r>
              <a:rPr lang="en-PH" sz="3600" dirty="0"/>
              <a:t>Thailand</a:t>
            </a:r>
          </a:p>
          <a:p>
            <a:pPr marL="742950" indent="-742950">
              <a:buAutoNum type="alphaUcPeriod"/>
            </a:pPr>
            <a:r>
              <a:rPr lang="en-PH" sz="3600" dirty="0"/>
              <a:t>India</a:t>
            </a:r>
          </a:p>
          <a:p>
            <a:pPr marL="742950" indent="-742950">
              <a:buAutoNum type="alphaUcPeriod"/>
            </a:pPr>
            <a:r>
              <a:rPr lang="en-PH" sz="3600" dirty="0"/>
              <a:t>Burma</a:t>
            </a:r>
          </a:p>
          <a:p>
            <a:pPr marL="0" indent="0">
              <a:buNone/>
            </a:pPr>
            <a:endParaRPr lang="en-PH" sz="3600" dirty="0"/>
          </a:p>
        </p:txBody>
      </p:sp>
    </p:spTree>
    <p:extLst>
      <p:ext uri="{BB962C8B-B14F-4D97-AF65-F5344CB8AC3E}">
        <p14:creationId xmlns:p14="http://schemas.microsoft.com/office/powerpoint/2010/main" val="4002468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63"/>
            <a:ext cx="10515600" cy="1325563"/>
          </a:xfrm>
        </p:spPr>
        <p:txBody>
          <a:bodyPr>
            <a:noAutofit/>
          </a:bodyPr>
          <a:lstStyle/>
          <a:p>
            <a:pPr algn="just"/>
            <a:r>
              <a:rPr lang="en-PH" sz="5000" dirty="0"/>
              <a:t>14. Which is South Asia’s largest country?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69323"/>
            <a:ext cx="10515600" cy="4351338"/>
          </a:xfrm>
        </p:spPr>
        <p:txBody>
          <a:bodyPr>
            <a:normAutofit/>
          </a:bodyPr>
          <a:lstStyle/>
          <a:p>
            <a:pPr marL="742950" indent="-742950">
              <a:buAutoNum type="alphaUcPeriod"/>
            </a:pPr>
            <a:r>
              <a:rPr lang="en-PH" sz="3600" dirty="0"/>
              <a:t>China</a:t>
            </a:r>
          </a:p>
          <a:p>
            <a:pPr marL="742950" indent="-742950">
              <a:buAutoNum type="alphaUcPeriod"/>
            </a:pPr>
            <a:r>
              <a:rPr lang="en-PH" sz="3600" dirty="0"/>
              <a:t>Thailand</a:t>
            </a:r>
          </a:p>
          <a:p>
            <a:pPr marL="742950" indent="-742950">
              <a:buAutoNum type="alphaUcPeriod"/>
            </a:pPr>
            <a:r>
              <a:rPr lang="en-PH" sz="3600" dirty="0">
                <a:solidFill>
                  <a:srgbClr val="FF0000"/>
                </a:solidFill>
              </a:rPr>
              <a:t>India</a:t>
            </a:r>
          </a:p>
          <a:p>
            <a:pPr marL="742950" indent="-742950">
              <a:buAutoNum type="alphaUcPeriod"/>
            </a:pPr>
            <a:r>
              <a:rPr lang="en-PH" sz="3600" dirty="0"/>
              <a:t>Burma</a:t>
            </a:r>
          </a:p>
          <a:p>
            <a:pPr marL="0" indent="0">
              <a:buNone/>
            </a:pPr>
            <a:endParaRPr lang="en-PH" sz="3600" dirty="0"/>
          </a:p>
        </p:txBody>
      </p:sp>
    </p:spTree>
    <p:extLst>
      <p:ext uri="{BB962C8B-B14F-4D97-AF65-F5344CB8AC3E}">
        <p14:creationId xmlns:p14="http://schemas.microsoft.com/office/powerpoint/2010/main" val="1550247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896471"/>
            <a:ext cx="10515600" cy="1325563"/>
          </a:xfrm>
        </p:spPr>
        <p:txBody>
          <a:bodyPr>
            <a:noAutofit/>
          </a:bodyPr>
          <a:lstStyle/>
          <a:p>
            <a:pPr algn="just"/>
            <a:r>
              <a:rPr lang="en-PH" sz="5000" dirty="0"/>
              <a:t>15. When you judge by results, regardless of your relation to the people involved, which Filipino trait do you counteract?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826529"/>
            <a:ext cx="10515600" cy="4351338"/>
          </a:xfrm>
        </p:spPr>
        <p:txBody>
          <a:bodyPr>
            <a:normAutofit/>
          </a:bodyPr>
          <a:lstStyle/>
          <a:p>
            <a:pPr marL="742950" indent="-742950">
              <a:buAutoNum type="alphaUcPeriod"/>
            </a:pPr>
            <a:r>
              <a:rPr lang="en-PH" sz="3600" dirty="0"/>
              <a:t>Particularism</a:t>
            </a:r>
          </a:p>
          <a:p>
            <a:pPr marL="742950" indent="-742950">
              <a:buAutoNum type="alphaUcPeriod"/>
            </a:pPr>
            <a:r>
              <a:rPr lang="en-PH" sz="3600" dirty="0"/>
              <a:t>Personalism</a:t>
            </a:r>
          </a:p>
          <a:p>
            <a:pPr marL="742950" indent="-742950">
              <a:buAutoNum type="alphaUcPeriod"/>
            </a:pPr>
            <a:r>
              <a:rPr lang="en-PH" sz="3600" dirty="0"/>
              <a:t>Non-rationalism</a:t>
            </a:r>
          </a:p>
          <a:p>
            <a:pPr marL="742950" indent="-742950">
              <a:buAutoNum type="alphaUcPeriod"/>
            </a:pPr>
            <a:r>
              <a:rPr lang="en-PH" sz="3600" dirty="0" err="1"/>
              <a:t>Supermaturalism</a:t>
            </a:r>
            <a:endParaRPr lang="en-PH" sz="3600" dirty="0"/>
          </a:p>
          <a:p>
            <a:pPr marL="0" indent="0">
              <a:buNone/>
            </a:pPr>
            <a:endParaRPr lang="en-PH" sz="3600" dirty="0"/>
          </a:p>
        </p:txBody>
      </p:sp>
    </p:spTree>
    <p:extLst>
      <p:ext uri="{BB962C8B-B14F-4D97-AF65-F5344CB8AC3E}">
        <p14:creationId xmlns:p14="http://schemas.microsoft.com/office/powerpoint/2010/main" val="22244723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896471"/>
            <a:ext cx="10515600" cy="1325563"/>
          </a:xfrm>
        </p:spPr>
        <p:txBody>
          <a:bodyPr>
            <a:noAutofit/>
          </a:bodyPr>
          <a:lstStyle/>
          <a:p>
            <a:pPr algn="just"/>
            <a:r>
              <a:rPr lang="en-PH" sz="5000" dirty="0"/>
              <a:t>15. When you judge by results, regardless of your relation to the people involved, which Filipino trait do you counteract?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826529"/>
            <a:ext cx="10515600" cy="4351338"/>
          </a:xfrm>
        </p:spPr>
        <p:txBody>
          <a:bodyPr>
            <a:normAutofit/>
          </a:bodyPr>
          <a:lstStyle/>
          <a:p>
            <a:pPr marL="742950" indent="-742950">
              <a:buAutoNum type="alphaUcPeriod"/>
            </a:pPr>
            <a:r>
              <a:rPr lang="en-PH" sz="3600" dirty="0"/>
              <a:t>Particularism</a:t>
            </a:r>
          </a:p>
          <a:p>
            <a:pPr marL="742950" indent="-742950">
              <a:buAutoNum type="alphaUcPeriod"/>
            </a:pPr>
            <a:r>
              <a:rPr lang="en-PH" sz="3600" dirty="0">
                <a:solidFill>
                  <a:srgbClr val="FF0000"/>
                </a:solidFill>
              </a:rPr>
              <a:t>Personalism</a:t>
            </a:r>
          </a:p>
          <a:p>
            <a:pPr marL="742950" indent="-742950">
              <a:buAutoNum type="alphaUcPeriod"/>
            </a:pPr>
            <a:r>
              <a:rPr lang="en-PH" sz="3600" dirty="0"/>
              <a:t>Non-rationalism</a:t>
            </a:r>
          </a:p>
          <a:p>
            <a:pPr marL="742950" indent="-742950">
              <a:buAutoNum type="alphaUcPeriod"/>
            </a:pPr>
            <a:r>
              <a:rPr lang="en-PH" sz="3600" dirty="0" err="1"/>
              <a:t>Supermaturalism</a:t>
            </a:r>
            <a:endParaRPr lang="en-PH" sz="3600" dirty="0"/>
          </a:p>
          <a:p>
            <a:pPr marL="0" indent="0">
              <a:buNone/>
            </a:pPr>
            <a:endParaRPr lang="en-PH" sz="3600" dirty="0"/>
          </a:p>
        </p:txBody>
      </p:sp>
    </p:spTree>
    <p:extLst>
      <p:ext uri="{BB962C8B-B14F-4D97-AF65-F5344CB8AC3E}">
        <p14:creationId xmlns:p14="http://schemas.microsoft.com/office/powerpoint/2010/main" val="4154859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63"/>
            <a:ext cx="10515600" cy="1325563"/>
          </a:xfrm>
        </p:spPr>
        <p:txBody>
          <a:bodyPr>
            <a:noAutofit/>
          </a:bodyPr>
          <a:lstStyle/>
          <a:p>
            <a:pPr algn="just"/>
            <a:r>
              <a:rPr lang="en-PH" sz="5000" dirty="0"/>
              <a:t>16. According to Montesquieu, which continent is said to be “ the intellectual center of the world”?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69323"/>
            <a:ext cx="10515600" cy="4351338"/>
          </a:xfrm>
        </p:spPr>
        <p:txBody>
          <a:bodyPr>
            <a:normAutofit/>
          </a:bodyPr>
          <a:lstStyle/>
          <a:p>
            <a:pPr marL="742950" indent="-742950">
              <a:buAutoNum type="alphaUcPeriod"/>
            </a:pPr>
            <a:r>
              <a:rPr lang="en-PH" sz="3600" dirty="0" err="1"/>
              <a:t>Noth</a:t>
            </a:r>
            <a:r>
              <a:rPr lang="en-PH" sz="3600" dirty="0"/>
              <a:t> America</a:t>
            </a:r>
          </a:p>
          <a:p>
            <a:pPr marL="742950" indent="-742950">
              <a:buAutoNum type="alphaUcPeriod"/>
            </a:pPr>
            <a:r>
              <a:rPr lang="en-PH" sz="3600" dirty="0" err="1"/>
              <a:t>Austrilia</a:t>
            </a:r>
            <a:endParaRPr lang="en-PH" sz="3600" dirty="0"/>
          </a:p>
          <a:p>
            <a:pPr marL="742950" indent="-742950">
              <a:buAutoNum type="alphaUcPeriod"/>
            </a:pPr>
            <a:r>
              <a:rPr lang="en-PH" sz="3600" dirty="0"/>
              <a:t>Europe</a:t>
            </a:r>
          </a:p>
          <a:p>
            <a:pPr marL="742950" indent="-742950">
              <a:buAutoNum type="alphaUcPeriod"/>
            </a:pPr>
            <a:r>
              <a:rPr lang="en-PH" sz="3600" dirty="0"/>
              <a:t>Asia</a:t>
            </a:r>
          </a:p>
          <a:p>
            <a:pPr marL="0" indent="0">
              <a:buNone/>
            </a:pPr>
            <a:endParaRPr lang="en-PH" sz="3600" dirty="0"/>
          </a:p>
        </p:txBody>
      </p:sp>
    </p:spTree>
    <p:extLst>
      <p:ext uri="{BB962C8B-B14F-4D97-AF65-F5344CB8AC3E}">
        <p14:creationId xmlns:p14="http://schemas.microsoft.com/office/powerpoint/2010/main" val="1974307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63"/>
            <a:ext cx="10515600" cy="1325563"/>
          </a:xfrm>
        </p:spPr>
        <p:txBody>
          <a:bodyPr>
            <a:noAutofit/>
          </a:bodyPr>
          <a:lstStyle/>
          <a:p>
            <a:pPr algn="just"/>
            <a:r>
              <a:rPr lang="en-PH" sz="5000" dirty="0"/>
              <a:t>16. According to Montesquieu, which continent is said to be “ the intellectual center of the world”?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369323"/>
            <a:ext cx="10515600" cy="4351338"/>
          </a:xfrm>
        </p:spPr>
        <p:txBody>
          <a:bodyPr>
            <a:normAutofit/>
          </a:bodyPr>
          <a:lstStyle/>
          <a:p>
            <a:pPr marL="742950" indent="-742950">
              <a:buAutoNum type="alphaUcPeriod"/>
            </a:pPr>
            <a:r>
              <a:rPr lang="en-PH" sz="3600" dirty="0"/>
              <a:t>North America</a:t>
            </a:r>
          </a:p>
          <a:p>
            <a:pPr marL="742950" indent="-742950">
              <a:buAutoNum type="alphaUcPeriod"/>
            </a:pPr>
            <a:r>
              <a:rPr lang="en-PH" sz="3600" dirty="0"/>
              <a:t>Australia</a:t>
            </a:r>
          </a:p>
          <a:p>
            <a:pPr marL="742950" indent="-742950">
              <a:buAutoNum type="alphaUcPeriod"/>
            </a:pPr>
            <a:r>
              <a:rPr lang="en-PH" sz="3600" dirty="0">
                <a:solidFill>
                  <a:srgbClr val="FF0000"/>
                </a:solidFill>
              </a:rPr>
              <a:t>Europe</a:t>
            </a:r>
          </a:p>
          <a:p>
            <a:pPr marL="742950" indent="-742950">
              <a:buAutoNum type="alphaUcPeriod"/>
            </a:pPr>
            <a:r>
              <a:rPr lang="en-PH" sz="3600" dirty="0"/>
              <a:t>Asia</a:t>
            </a:r>
          </a:p>
          <a:p>
            <a:pPr marL="0" indent="0">
              <a:buNone/>
            </a:pPr>
            <a:endParaRPr lang="en-PH" sz="3600" dirty="0"/>
          </a:p>
        </p:txBody>
      </p:sp>
    </p:spTree>
    <p:extLst>
      <p:ext uri="{BB962C8B-B14F-4D97-AF65-F5344CB8AC3E}">
        <p14:creationId xmlns:p14="http://schemas.microsoft.com/office/powerpoint/2010/main" val="250699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82960"/>
            <a:ext cx="10515600" cy="1325563"/>
          </a:xfrm>
        </p:spPr>
        <p:txBody>
          <a:bodyPr>
            <a:noAutofit/>
          </a:bodyPr>
          <a:lstStyle/>
          <a:p>
            <a:pPr algn="just"/>
            <a:r>
              <a:rPr lang="en-PH" dirty="0"/>
              <a:t>17. Napoleon Rama once wrote of Filipinos overstaying in Taipei charged and deported. It was fellow Filipinos who kept reporting to the Chinese police. To what Filipino trait does this behavior point?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10731"/>
            <a:ext cx="10515600" cy="4351338"/>
          </a:xfrm>
        </p:spPr>
        <p:txBody>
          <a:bodyPr>
            <a:normAutofit/>
          </a:bodyPr>
          <a:lstStyle/>
          <a:p>
            <a:pPr marL="742950" indent="-742950">
              <a:buAutoNum type="alphaUcPeriod"/>
            </a:pPr>
            <a:r>
              <a:rPr lang="en-PH" sz="3600" dirty="0"/>
              <a:t>Lack of unity</a:t>
            </a:r>
          </a:p>
          <a:p>
            <a:pPr marL="742950" indent="-742950">
              <a:buAutoNum type="alphaUcPeriod"/>
            </a:pPr>
            <a:r>
              <a:rPr lang="en-PH" sz="3600" dirty="0"/>
              <a:t>Apathy</a:t>
            </a:r>
          </a:p>
          <a:p>
            <a:pPr marL="742950" indent="-742950">
              <a:buAutoNum type="alphaUcPeriod"/>
            </a:pPr>
            <a:r>
              <a:rPr lang="en-PH" sz="3600" dirty="0"/>
              <a:t>Heroism</a:t>
            </a:r>
          </a:p>
          <a:p>
            <a:pPr marL="742950" indent="-742950">
              <a:buAutoNum type="alphaUcPeriod"/>
            </a:pPr>
            <a:r>
              <a:rPr lang="en-PH" sz="3600" dirty="0"/>
              <a:t>Pride</a:t>
            </a:r>
          </a:p>
        </p:txBody>
      </p:sp>
    </p:spTree>
    <p:extLst>
      <p:ext uri="{BB962C8B-B14F-4D97-AF65-F5344CB8AC3E}">
        <p14:creationId xmlns:p14="http://schemas.microsoft.com/office/powerpoint/2010/main" val="3245323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82960"/>
            <a:ext cx="10515600" cy="1325563"/>
          </a:xfrm>
        </p:spPr>
        <p:txBody>
          <a:bodyPr>
            <a:noAutofit/>
          </a:bodyPr>
          <a:lstStyle/>
          <a:p>
            <a:pPr algn="just"/>
            <a:r>
              <a:rPr lang="en-PH" dirty="0"/>
              <a:t>17. Napoleon Rama once wrote of Filipinos overstaying in Taipei charged and deported. It was fellow Filipinos who kept reporting to the Chinese police. To what Filipino trait does this behavior point?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10731"/>
            <a:ext cx="10515600" cy="4351338"/>
          </a:xfrm>
        </p:spPr>
        <p:txBody>
          <a:bodyPr>
            <a:normAutofit/>
          </a:bodyPr>
          <a:lstStyle/>
          <a:p>
            <a:pPr marL="742950" indent="-742950">
              <a:buAutoNum type="alphaUcPeriod"/>
            </a:pPr>
            <a:r>
              <a:rPr lang="en-PH" sz="3600" dirty="0"/>
              <a:t>Lack of unity</a:t>
            </a:r>
          </a:p>
          <a:p>
            <a:pPr marL="742950" indent="-742950">
              <a:buAutoNum type="alphaUcPeriod"/>
            </a:pPr>
            <a:r>
              <a:rPr lang="en-PH" sz="3600" dirty="0">
                <a:solidFill>
                  <a:srgbClr val="FF0000"/>
                </a:solidFill>
              </a:rPr>
              <a:t>Apathy</a:t>
            </a:r>
          </a:p>
          <a:p>
            <a:pPr marL="742950" indent="-742950">
              <a:buAutoNum type="alphaUcPeriod"/>
            </a:pPr>
            <a:r>
              <a:rPr lang="en-PH" sz="3600" dirty="0"/>
              <a:t>Heroism</a:t>
            </a:r>
          </a:p>
          <a:p>
            <a:pPr marL="742950" indent="-742950">
              <a:buAutoNum type="alphaUcPeriod"/>
            </a:pPr>
            <a:r>
              <a:rPr lang="en-PH" sz="3600" dirty="0"/>
              <a:t>Pride</a:t>
            </a:r>
          </a:p>
        </p:txBody>
      </p:sp>
    </p:spTree>
    <p:extLst>
      <p:ext uri="{BB962C8B-B14F-4D97-AF65-F5344CB8AC3E}">
        <p14:creationId xmlns:p14="http://schemas.microsoft.com/office/powerpoint/2010/main" val="3145008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340406"/>
            <a:ext cx="10515600" cy="1325563"/>
          </a:xfrm>
        </p:spPr>
        <p:txBody>
          <a:bodyPr>
            <a:noAutofit/>
          </a:bodyPr>
          <a:lstStyle/>
          <a:p>
            <a:pPr algn="just"/>
            <a:r>
              <a:rPr lang="en-PH" sz="5000" dirty="0"/>
              <a:t>18. Which is the statement about Rizal is  FALSE?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714416"/>
            <a:ext cx="10515600" cy="4351338"/>
          </a:xfrm>
        </p:spPr>
        <p:txBody>
          <a:bodyPr>
            <a:normAutofit lnSpcReduction="10000"/>
          </a:bodyPr>
          <a:lstStyle/>
          <a:p>
            <a:pPr marL="742950" indent="-742950" algn="just">
              <a:buAutoNum type="alphaUcPeriod"/>
            </a:pPr>
            <a:r>
              <a:rPr lang="en-PH" sz="3600" dirty="0"/>
              <a:t>In Spain, Rizal’s ant-clericalism increased.</a:t>
            </a:r>
          </a:p>
          <a:p>
            <a:pPr marL="742950" indent="-742950" algn="just">
              <a:buAutoNum type="alphaUcPeriod"/>
            </a:pPr>
            <a:r>
              <a:rPr lang="en-PH" sz="3600" dirty="0"/>
              <a:t>His advice of no gambling to his countrymen in Spain fell on deaf ears.</a:t>
            </a:r>
          </a:p>
          <a:p>
            <a:pPr marL="742950" indent="-742950" algn="just">
              <a:buAutoNum type="alphaUcPeriod"/>
            </a:pPr>
            <a:r>
              <a:rPr lang="en-PH" sz="3600" dirty="0"/>
              <a:t>Writing to his brother </a:t>
            </a:r>
            <a:r>
              <a:rPr lang="en-PH" sz="3600" dirty="0" err="1"/>
              <a:t>Paciano</a:t>
            </a:r>
            <a:r>
              <a:rPr lang="en-PH" sz="3600" dirty="0"/>
              <a:t>, Rizal dared to criticize his mother’s religious devotions</a:t>
            </a:r>
          </a:p>
          <a:p>
            <a:pPr marL="742950" indent="-742950" algn="just">
              <a:buAutoNum type="alphaUcPeriod"/>
            </a:pPr>
            <a:r>
              <a:rPr lang="en-PH" sz="3600" dirty="0"/>
              <a:t>Despite his increasing anti-clericalism in Spain, he </a:t>
            </a:r>
            <a:r>
              <a:rPr lang="en-PH" sz="3600" dirty="0" err="1"/>
              <a:t>sticked</a:t>
            </a:r>
            <a:r>
              <a:rPr lang="en-PH" sz="3600" dirty="0"/>
              <a:t> to the external practices of his childhood faith</a:t>
            </a:r>
          </a:p>
        </p:txBody>
      </p:sp>
    </p:spTree>
    <p:extLst>
      <p:ext uri="{BB962C8B-B14F-4D97-AF65-F5344CB8AC3E}">
        <p14:creationId xmlns:p14="http://schemas.microsoft.com/office/powerpoint/2010/main" val="2872151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340406"/>
            <a:ext cx="10515600" cy="1325563"/>
          </a:xfrm>
        </p:spPr>
        <p:txBody>
          <a:bodyPr>
            <a:noAutofit/>
          </a:bodyPr>
          <a:lstStyle/>
          <a:p>
            <a:pPr algn="just"/>
            <a:r>
              <a:rPr lang="en-PH" sz="5000" dirty="0"/>
              <a:t>18. Which is the statement about Rizal is  FALSE?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714416"/>
            <a:ext cx="10515600" cy="4351338"/>
          </a:xfrm>
        </p:spPr>
        <p:txBody>
          <a:bodyPr>
            <a:normAutofit lnSpcReduction="10000"/>
          </a:bodyPr>
          <a:lstStyle/>
          <a:p>
            <a:pPr marL="742950" indent="-742950" algn="just">
              <a:buAutoNum type="alphaUcPeriod"/>
            </a:pPr>
            <a:r>
              <a:rPr lang="en-PH" sz="3600" dirty="0"/>
              <a:t>In Spain, Rizal’s ant-clericalism increased.</a:t>
            </a:r>
          </a:p>
          <a:p>
            <a:pPr marL="742950" indent="-742950" algn="just">
              <a:buAutoNum type="alphaUcPeriod"/>
            </a:pPr>
            <a:r>
              <a:rPr lang="en-PH" sz="3600" dirty="0"/>
              <a:t>His advice of no gambling to his countrymen in Spain fell on deaf ears.</a:t>
            </a:r>
          </a:p>
          <a:p>
            <a:pPr marL="742950" indent="-742950" algn="just">
              <a:buAutoNum type="alphaUcPeriod"/>
            </a:pPr>
            <a:r>
              <a:rPr lang="en-PH" sz="3600" dirty="0">
                <a:solidFill>
                  <a:srgbClr val="FF0000"/>
                </a:solidFill>
              </a:rPr>
              <a:t>Writing to his brother </a:t>
            </a:r>
            <a:r>
              <a:rPr lang="en-PH" sz="3600" dirty="0" err="1">
                <a:solidFill>
                  <a:srgbClr val="FF0000"/>
                </a:solidFill>
              </a:rPr>
              <a:t>Paciano</a:t>
            </a:r>
            <a:r>
              <a:rPr lang="en-PH" sz="3600" dirty="0">
                <a:solidFill>
                  <a:srgbClr val="FF0000"/>
                </a:solidFill>
              </a:rPr>
              <a:t>, Rizal dared to criticize his mother’s religious devotions</a:t>
            </a:r>
          </a:p>
          <a:p>
            <a:pPr marL="742950" indent="-742950" algn="just">
              <a:buAutoNum type="alphaUcPeriod"/>
            </a:pPr>
            <a:r>
              <a:rPr lang="en-PH" sz="3600" dirty="0"/>
              <a:t>Despite his increasing anti-clericalism in Spain, he </a:t>
            </a:r>
            <a:r>
              <a:rPr lang="en-PH" sz="3600" dirty="0" err="1"/>
              <a:t>sticked</a:t>
            </a:r>
            <a:r>
              <a:rPr lang="en-PH" sz="3600" dirty="0"/>
              <a:t> to the external practices of his childhood faith</a:t>
            </a:r>
          </a:p>
        </p:txBody>
      </p:sp>
    </p:spTree>
    <p:extLst>
      <p:ext uri="{BB962C8B-B14F-4D97-AF65-F5344CB8AC3E}">
        <p14:creationId xmlns:p14="http://schemas.microsoft.com/office/powerpoint/2010/main" val="13361086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51615"/>
            <a:ext cx="10515600" cy="1325563"/>
          </a:xfrm>
        </p:spPr>
        <p:txBody>
          <a:bodyPr>
            <a:noAutofit/>
          </a:bodyPr>
          <a:lstStyle/>
          <a:p>
            <a:pPr algn="just"/>
            <a:r>
              <a:rPr lang="en-PH" dirty="0"/>
              <a:t>19. Four main elements make it possible for a nation’s economy to grow. They are natural resources, capital, labor for and 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72760"/>
            <a:ext cx="10515600" cy="4351338"/>
          </a:xfrm>
        </p:spPr>
        <p:txBody>
          <a:bodyPr>
            <a:normAutofit/>
          </a:bodyPr>
          <a:lstStyle/>
          <a:p>
            <a:pPr marL="742950" indent="-742950">
              <a:buAutoNum type="alphaUcPeriod"/>
            </a:pPr>
            <a:r>
              <a:rPr lang="en-PH" sz="3600" dirty="0"/>
              <a:t>Technology</a:t>
            </a:r>
          </a:p>
          <a:p>
            <a:pPr marL="742950" indent="-742950">
              <a:buAutoNum type="alphaUcPeriod"/>
            </a:pPr>
            <a:r>
              <a:rPr lang="en-PH" sz="3600" dirty="0"/>
              <a:t>Productive resources</a:t>
            </a:r>
          </a:p>
          <a:p>
            <a:pPr marL="742950" indent="-742950">
              <a:buAutoNum type="alphaUcPeriod"/>
            </a:pPr>
            <a:r>
              <a:rPr lang="en-PH" sz="3600" dirty="0"/>
              <a:t>Gross domestic product</a:t>
            </a:r>
          </a:p>
          <a:p>
            <a:pPr marL="742950" indent="-742950">
              <a:buAutoNum type="alphaUcPeriod"/>
            </a:pPr>
            <a:r>
              <a:rPr lang="en-PH" sz="3600" dirty="0"/>
              <a:t>Gross national product</a:t>
            </a:r>
          </a:p>
        </p:txBody>
      </p:sp>
    </p:spTree>
    <p:extLst>
      <p:ext uri="{BB962C8B-B14F-4D97-AF65-F5344CB8AC3E}">
        <p14:creationId xmlns:p14="http://schemas.microsoft.com/office/powerpoint/2010/main" val="39331396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451615"/>
            <a:ext cx="10515600" cy="1325563"/>
          </a:xfrm>
        </p:spPr>
        <p:txBody>
          <a:bodyPr>
            <a:noAutofit/>
          </a:bodyPr>
          <a:lstStyle/>
          <a:p>
            <a:pPr algn="just"/>
            <a:r>
              <a:rPr lang="en-PH" dirty="0"/>
              <a:t>19. Four main elements make it possible for a nation’s economy to grow. They are natural resources, capital, labor for and 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72760"/>
            <a:ext cx="10515600" cy="4351338"/>
          </a:xfrm>
        </p:spPr>
        <p:txBody>
          <a:bodyPr>
            <a:normAutofit/>
          </a:bodyPr>
          <a:lstStyle/>
          <a:p>
            <a:pPr marL="742950" indent="-742950">
              <a:buAutoNum type="alphaUcPeriod"/>
            </a:pPr>
            <a:r>
              <a:rPr lang="en-PH" sz="3600" dirty="0">
                <a:solidFill>
                  <a:srgbClr val="FF0000"/>
                </a:solidFill>
              </a:rPr>
              <a:t>Technology</a:t>
            </a:r>
          </a:p>
          <a:p>
            <a:pPr marL="742950" indent="-742950">
              <a:buAutoNum type="alphaUcPeriod"/>
            </a:pPr>
            <a:r>
              <a:rPr lang="en-PH" sz="3600" dirty="0"/>
              <a:t>Productive resources</a:t>
            </a:r>
          </a:p>
          <a:p>
            <a:pPr marL="742950" indent="-742950">
              <a:buAutoNum type="alphaUcPeriod"/>
            </a:pPr>
            <a:r>
              <a:rPr lang="en-PH" sz="3600" dirty="0"/>
              <a:t>Gross domestic product</a:t>
            </a:r>
          </a:p>
          <a:p>
            <a:pPr marL="742950" indent="-742950">
              <a:buAutoNum type="alphaUcPeriod"/>
            </a:pPr>
            <a:r>
              <a:rPr lang="en-PH" sz="3600" dirty="0"/>
              <a:t>Gross national product</a:t>
            </a:r>
          </a:p>
        </p:txBody>
      </p:sp>
    </p:spTree>
    <p:extLst>
      <p:ext uri="{BB962C8B-B14F-4D97-AF65-F5344CB8AC3E}">
        <p14:creationId xmlns:p14="http://schemas.microsoft.com/office/powerpoint/2010/main" val="634350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41549"/>
            <a:ext cx="10515600" cy="1325563"/>
          </a:xfrm>
        </p:spPr>
        <p:txBody>
          <a:bodyPr>
            <a:noAutofit/>
          </a:bodyPr>
          <a:lstStyle/>
          <a:p>
            <a:pPr algn="just"/>
            <a:r>
              <a:rPr lang="en-PH" dirty="0"/>
              <a:t>20. Who said: “ there are no tyrants where there are no slaves.”?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664990"/>
            <a:ext cx="10515600" cy="4351338"/>
          </a:xfrm>
        </p:spPr>
        <p:txBody>
          <a:bodyPr>
            <a:normAutofit/>
          </a:bodyPr>
          <a:lstStyle/>
          <a:p>
            <a:pPr marL="742950" indent="-742950">
              <a:buAutoNum type="alphaUcPeriod"/>
            </a:pPr>
            <a:r>
              <a:rPr lang="en-PH" sz="3600" dirty="0"/>
              <a:t>Jose Rizal</a:t>
            </a:r>
          </a:p>
          <a:p>
            <a:pPr marL="742950" indent="-742950">
              <a:buAutoNum type="alphaUcPeriod"/>
            </a:pPr>
            <a:r>
              <a:rPr lang="en-PH" sz="3600" dirty="0"/>
              <a:t>Apolinario Mabini</a:t>
            </a:r>
          </a:p>
          <a:p>
            <a:pPr marL="742950" indent="-742950">
              <a:buAutoNum type="alphaUcPeriod"/>
            </a:pPr>
            <a:r>
              <a:rPr lang="en-PH" sz="3600" dirty="0" err="1"/>
              <a:t>Andress</a:t>
            </a:r>
            <a:r>
              <a:rPr lang="en-PH" sz="3600" dirty="0"/>
              <a:t> Bonifacio</a:t>
            </a:r>
          </a:p>
          <a:p>
            <a:pPr marL="742950" indent="-742950">
              <a:buAutoNum type="alphaUcPeriod"/>
            </a:pPr>
            <a:r>
              <a:rPr lang="en-PH" sz="3600" dirty="0"/>
              <a:t>Marcelo H. Del Pilar</a:t>
            </a:r>
          </a:p>
        </p:txBody>
      </p:sp>
    </p:spTree>
    <p:extLst>
      <p:ext uri="{BB962C8B-B14F-4D97-AF65-F5344CB8AC3E}">
        <p14:creationId xmlns:p14="http://schemas.microsoft.com/office/powerpoint/2010/main" val="42005248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41549"/>
            <a:ext cx="10515600" cy="1325563"/>
          </a:xfrm>
        </p:spPr>
        <p:txBody>
          <a:bodyPr>
            <a:noAutofit/>
          </a:bodyPr>
          <a:lstStyle/>
          <a:p>
            <a:pPr algn="just"/>
            <a:r>
              <a:rPr lang="en-PH" dirty="0"/>
              <a:t>20. Who said: “ there are no tyrants where there are no slaves.”?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664990"/>
            <a:ext cx="10515600" cy="4351338"/>
          </a:xfrm>
        </p:spPr>
        <p:txBody>
          <a:bodyPr>
            <a:normAutofit/>
          </a:bodyPr>
          <a:lstStyle/>
          <a:p>
            <a:pPr marL="742950" indent="-742950">
              <a:buAutoNum type="alphaUcPeriod"/>
            </a:pPr>
            <a:r>
              <a:rPr lang="en-PH" sz="3600" dirty="0">
                <a:solidFill>
                  <a:srgbClr val="FF0000"/>
                </a:solidFill>
              </a:rPr>
              <a:t>Jose Rizal</a:t>
            </a:r>
          </a:p>
          <a:p>
            <a:pPr marL="742950" indent="-742950">
              <a:buAutoNum type="alphaUcPeriod"/>
            </a:pPr>
            <a:r>
              <a:rPr lang="en-PH" sz="3600" dirty="0"/>
              <a:t>Apolinario Mabini</a:t>
            </a:r>
          </a:p>
          <a:p>
            <a:pPr marL="742950" indent="-742950">
              <a:buAutoNum type="alphaUcPeriod"/>
            </a:pPr>
            <a:r>
              <a:rPr lang="en-PH" sz="3600" dirty="0" err="1"/>
              <a:t>Andress</a:t>
            </a:r>
            <a:r>
              <a:rPr lang="en-PH" sz="3600" dirty="0"/>
              <a:t> Bonifacio</a:t>
            </a:r>
          </a:p>
          <a:p>
            <a:pPr marL="742950" indent="-742950">
              <a:buAutoNum type="alphaUcPeriod"/>
            </a:pPr>
            <a:r>
              <a:rPr lang="en-PH" sz="3600" dirty="0"/>
              <a:t>Marcelo H. Del Pilar</a:t>
            </a:r>
          </a:p>
        </p:txBody>
      </p:sp>
    </p:spTree>
    <p:extLst>
      <p:ext uri="{BB962C8B-B14F-4D97-AF65-F5344CB8AC3E}">
        <p14:creationId xmlns:p14="http://schemas.microsoft.com/office/powerpoint/2010/main" val="41989965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352763"/>
            <a:ext cx="10515600" cy="1325563"/>
          </a:xfrm>
        </p:spPr>
        <p:txBody>
          <a:bodyPr>
            <a:noAutofit/>
          </a:bodyPr>
          <a:lstStyle/>
          <a:p>
            <a:pPr algn="just"/>
            <a:r>
              <a:rPr lang="en-PH" dirty="0"/>
              <a:t>21. What powers were common to the </a:t>
            </a:r>
            <a:r>
              <a:rPr lang="en-PH" dirty="0" err="1"/>
              <a:t>datu</a:t>
            </a:r>
            <a:r>
              <a:rPr lang="en-PH" dirty="0"/>
              <a:t> of the pre-Spanish period and the Governor-General of the Spanish colonial era?</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23335"/>
            <a:ext cx="10515600" cy="4351338"/>
          </a:xfrm>
        </p:spPr>
        <p:txBody>
          <a:bodyPr>
            <a:normAutofit/>
          </a:bodyPr>
          <a:lstStyle/>
          <a:p>
            <a:pPr marL="742950" indent="-742950">
              <a:buAutoNum type="alphaUcPeriod"/>
            </a:pPr>
            <a:r>
              <a:rPr lang="en-PH" sz="3600" dirty="0"/>
              <a:t>Executive, judicial, military</a:t>
            </a:r>
          </a:p>
          <a:p>
            <a:pPr marL="742950" indent="-742950">
              <a:buAutoNum type="alphaUcPeriod"/>
            </a:pPr>
            <a:r>
              <a:rPr lang="en-PH" sz="3600" dirty="0"/>
              <a:t>Executive, legislative, military</a:t>
            </a:r>
          </a:p>
          <a:p>
            <a:pPr marL="742950" indent="-742950">
              <a:buAutoNum type="alphaUcPeriod"/>
            </a:pPr>
            <a:r>
              <a:rPr lang="en-PH" sz="3600" dirty="0"/>
              <a:t>Executive, legislative, judicial</a:t>
            </a:r>
          </a:p>
          <a:p>
            <a:pPr marL="742950" indent="-742950">
              <a:buAutoNum type="alphaUcPeriod"/>
            </a:pPr>
            <a:r>
              <a:rPr lang="en-PH" sz="3600" dirty="0"/>
              <a:t>Executive, legislative</a:t>
            </a:r>
          </a:p>
        </p:txBody>
      </p:sp>
    </p:spTree>
    <p:extLst>
      <p:ext uri="{BB962C8B-B14F-4D97-AF65-F5344CB8AC3E}">
        <p14:creationId xmlns:p14="http://schemas.microsoft.com/office/powerpoint/2010/main" val="1210628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352763"/>
            <a:ext cx="10515600" cy="1325563"/>
          </a:xfrm>
        </p:spPr>
        <p:txBody>
          <a:bodyPr>
            <a:noAutofit/>
          </a:bodyPr>
          <a:lstStyle/>
          <a:p>
            <a:pPr algn="just"/>
            <a:r>
              <a:rPr lang="en-PH" dirty="0"/>
              <a:t>21. What powers were common to the </a:t>
            </a:r>
            <a:r>
              <a:rPr lang="en-PH" dirty="0" err="1"/>
              <a:t>datu</a:t>
            </a:r>
            <a:r>
              <a:rPr lang="en-PH" dirty="0"/>
              <a:t> of the pre-Spanish period and the Governor-General of the Spanish colonial era?</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23335"/>
            <a:ext cx="10515600" cy="4351338"/>
          </a:xfrm>
        </p:spPr>
        <p:txBody>
          <a:bodyPr>
            <a:normAutofit/>
          </a:bodyPr>
          <a:lstStyle/>
          <a:p>
            <a:pPr marL="742950" indent="-742950">
              <a:buAutoNum type="alphaUcPeriod"/>
            </a:pPr>
            <a:r>
              <a:rPr lang="en-PH" sz="3600" dirty="0"/>
              <a:t>Executive, judicial, military</a:t>
            </a:r>
          </a:p>
          <a:p>
            <a:pPr marL="742950" indent="-742950">
              <a:buAutoNum type="alphaUcPeriod"/>
            </a:pPr>
            <a:r>
              <a:rPr lang="en-PH" sz="3600" dirty="0"/>
              <a:t>Executive, legislative, military</a:t>
            </a:r>
          </a:p>
          <a:p>
            <a:pPr marL="742950" indent="-742950">
              <a:buAutoNum type="alphaUcPeriod"/>
            </a:pPr>
            <a:r>
              <a:rPr lang="en-PH" sz="3600" dirty="0">
                <a:solidFill>
                  <a:srgbClr val="FF0000"/>
                </a:solidFill>
              </a:rPr>
              <a:t>Executive, legislative, judicial</a:t>
            </a:r>
          </a:p>
          <a:p>
            <a:pPr marL="742950" indent="-742950">
              <a:buAutoNum type="alphaUcPeriod"/>
            </a:pPr>
            <a:r>
              <a:rPr lang="en-PH" sz="3600" dirty="0"/>
              <a:t>Executive, legislative</a:t>
            </a:r>
          </a:p>
        </p:txBody>
      </p:sp>
    </p:spTree>
    <p:extLst>
      <p:ext uri="{BB962C8B-B14F-4D97-AF65-F5344CB8AC3E}">
        <p14:creationId xmlns:p14="http://schemas.microsoft.com/office/powerpoint/2010/main" val="2863998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16838"/>
            <a:ext cx="10515600" cy="1325563"/>
          </a:xfrm>
        </p:spPr>
        <p:txBody>
          <a:bodyPr>
            <a:noAutofit/>
          </a:bodyPr>
          <a:lstStyle/>
          <a:p>
            <a:pPr algn="just"/>
            <a:r>
              <a:rPr lang="en-PH" dirty="0"/>
              <a:t>22. Under whose leadership was Philippine independence proclaimed on June 12, 1898?</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53775"/>
            <a:ext cx="10515600" cy="4351338"/>
          </a:xfrm>
        </p:spPr>
        <p:txBody>
          <a:bodyPr>
            <a:normAutofit/>
          </a:bodyPr>
          <a:lstStyle/>
          <a:p>
            <a:pPr marL="742950" indent="-742950">
              <a:buAutoNum type="alphaUcPeriod"/>
            </a:pPr>
            <a:r>
              <a:rPr lang="en-PH" sz="3600" dirty="0"/>
              <a:t>Andres Bonifacio</a:t>
            </a:r>
          </a:p>
          <a:p>
            <a:pPr marL="742950" indent="-742950">
              <a:buAutoNum type="alphaUcPeriod"/>
            </a:pPr>
            <a:r>
              <a:rPr lang="en-PH" sz="3600" dirty="0"/>
              <a:t>Emilio Jacinto</a:t>
            </a:r>
          </a:p>
          <a:p>
            <a:pPr marL="742950" indent="-742950">
              <a:buAutoNum type="alphaUcPeriod"/>
            </a:pPr>
            <a:r>
              <a:rPr lang="en-PH" sz="3600" dirty="0"/>
              <a:t>Jose Rizal </a:t>
            </a:r>
          </a:p>
          <a:p>
            <a:pPr marL="742950" indent="-742950">
              <a:buAutoNum type="alphaUcPeriod"/>
            </a:pPr>
            <a:r>
              <a:rPr lang="en-PH" sz="3600" dirty="0"/>
              <a:t>Emilio Aguinaldo</a:t>
            </a:r>
          </a:p>
          <a:p>
            <a:pPr marL="0" indent="0">
              <a:buNone/>
            </a:pPr>
            <a:endParaRPr lang="en-PH" sz="3600" dirty="0"/>
          </a:p>
        </p:txBody>
      </p:sp>
    </p:spTree>
    <p:extLst>
      <p:ext uri="{BB962C8B-B14F-4D97-AF65-F5344CB8AC3E}">
        <p14:creationId xmlns:p14="http://schemas.microsoft.com/office/powerpoint/2010/main" val="3151473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16838"/>
            <a:ext cx="10515600" cy="1325563"/>
          </a:xfrm>
        </p:spPr>
        <p:txBody>
          <a:bodyPr>
            <a:noAutofit/>
          </a:bodyPr>
          <a:lstStyle/>
          <a:p>
            <a:pPr algn="just"/>
            <a:r>
              <a:rPr lang="en-PH" dirty="0"/>
              <a:t>22. Under whose leadership was Philippine independence proclaimed on June 12, 1898?</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53775"/>
            <a:ext cx="10515600" cy="4351338"/>
          </a:xfrm>
        </p:spPr>
        <p:txBody>
          <a:bodyPr>
            <a:normAutofit/>
          </a:bodyPr>
          <a:lstStyle/>
          <a:p>
            <a:pPr marL="742950" indent="-742950">
              <a:buAutoNum type="alphaUcPeriod"/>
            </a:pPr>
            <a:r>
              <a:rPr lang="en-PH" sz="3600" dirty="0"/>
              <a:t>Andres Bonifacio</a:t>
            </a:r>
          </a:p>
          <a:p>
            <a:pPr marL="742950" indent="-742950">
              <a:buAutoNum type="alphaUcPeriod"/>
            </a:pPr>
            <a:r>
              <a:rPr lang="en-PH" sz="3600" dirty="0"/>
              <a:t>Emilio Jacinto</a:t>
            </a:r>
          </a:p>
          <a:p>
            <a:pPr marL="742950" indent="-742950">
              <a:buAutoNum type="alphaUcPeriod"/>
            </a:pPr>
            <a:r>
              <a:rPr lang="en-PH" sz="3600" dirty="0"/>
              <a:t>Jose Rizal </a:t>
            </a:r>
          </a:p>
          <a:p>
            <a:pPr marL="742950" indent="-742950">
              <a:buAutoNum type="alphaUcPeriod"/>
            </a:pPr>
            <a:r>
              <a:rPr lang="en-PH" sz="3600" dirty="0">
                <a:solidFill>
                  <a:srgbClr val="FF0000"/>
                </a:solidFill>
              </a:rPr>
              <a:t>Emilio Aguinaldo</a:t>
            </a:r>
          </a:p>
          <a:p>
            <a:pPr marL="0" indent="0">
              <a:buNone/>
            </a:pPr>
            <a:endParaRPr lang="en-PH" sz="3600" dirty="0"/>
          </a:p>
        </p:txBody>
      </p:sp>
    </p:spTree>
    <p:extLst>
      <p:ext uri="{BB962C8B-B14F-4D97-AF65-F5344CB8AC3E}">
        <p14:creationId xmlns:p14="http://schemas.microsoft.com/office/powerpoint/2010/main" val="3070013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36969"/>
            <a:ext cx="10515600" cy="1325563"/>
          </a:xfrm>
        </p:spPr>
        <p:txBody>
          <a:bodyPr>
            <a:noAutofit/>
          </a:bodyPr>
          <a:lstStyle/>
          <a:p>
            <a:pPr algn="just"/>
            <a:r>
              <a:rPr lang="en-PH" dirty="0"/>
              <a:t>23. Which refers to the power of the courts to interpret the Constitution to declare any legislative or executive act invalid because it is in conflict with the fundamental law?</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29961"/>
            <a:ext cx="10515600" cy="4351338"/>
          </a:xfrm>
        </p:spPr>
        <p:txBody>
          <a:bodyPr>
            <a:normAutofit/>
          </a:bodyPr>
          <a:lstStyle/>
          <a:p>
            <a:pPr marL="742950" indent="-742950">
              <a:buAutoNum type="alphaUcPeriod"/>
            </a:pPr>
            <a:r>
              <a:rPr lang="en-PH" sz="3600" dirty="0"/>
              <a:t>Power of judicial review</a:t>
            </a:r>
          </a:p>
          <a:p>
            <a:pPr marL="742950" indent="-742950">
              <a:buAutoNum type="alphaUcPeriod"/>
            </a:pPr>
            <a:r>
              <a:rPr lang="en-PH" sz="3600" dirty="0"/>
              <a:t>Rule-making power</a:t>
            </a:r>
          </a:p>
          <a:p>
            <a:pPr marL="742950" indent="-742950">
              <a:buAutoNum type="alphaUcPeriod"/>
            </a:pPr>
            <a:r>
              <a:rPr lang="en-PH" sz="3600" dirty="0"/>
              <a:t>Power of administrative supervision</a:t>
            </a:r>
          </a:p>
          <a:p>
            <a:pPr marL="742950" indent="-742950">
              <a:buAutoNum type="alphaUcPeriod"/>
            </a:pPr>
            <a:r>
              <a:rPr lang="en-PH" sz="3600" dirty="0"/>
              <a:t>Quasi-judicial power</a:t>
            </a:r>
          </a:p>
        </p:txBody>
      </p:sp>
    </p:spTree>
    <p:extLst>
      <p:ext uri="{BB962C8B-B14F-4D97-AF65-F5344CB8AC3E}">
        <p14:creationId xmlns:p14="http://schemas.microsoft.com/office/powerpoint/2010/main" val="8140337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36969"/>
            <a:ext cx="10515600" cy="1325563"/>
          </a:xfrm>
        </p:spPr>
        <p:txBody>
          <a:bodyPr>
            <a:noAutofit/>
          </a:bodyPr>
          <a:lstStyle/>
          <a:p>
            <a:pPr algn="just"/>
            <a:r>
              <a:rPr lang="en-PH" dirty="0"/>
              <a:t>23. Which refers to the power of the courts to interpret the Constitution to declare any legislative or executive act invalid because it is in conflict with the fundamental law?</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29961"/>
            <a:ext cx="10515600" cy="4351338"/>
          </a:xfrm>
        </p:spPr>
        <p:txBody>
          <a:bodyPr>
            <a:normAutofit/>
          </a:bodyPr>
          <a:lstStyle/>
          <a:p>
            <a:pPr marL="742950" indent="-742950">
              <a:buAutoNum type="alphaUcPeriod"/>
            </a:pPr>
            <a:r>
              <a:rPr lang="en-PH" sz="3600" dirty="0">
                <a:solidFill>
                  <a:srgbClr val="FF0000"/>
                </a:solidFill>
              </a:rPr>
              <a:t>Power of judicial review</a:t>
            </a:r>
          </a:p>
          <a:p>
            <a:pPr marL="742950" indent="-742950">
              <a:buAutoNum type="alphaUcPeriod"/>
            </a:pPr>
            <a:r>
              <a:rPr lang="en-PH" sz="3600" dirty="0"/>
              <a:t>Rule-making power</a:t>
            </a:r>
          </a:p>
          <a:p>
            <a:pPr marL="742950" indent="-742950">
              <a:buAutoNum type="alphaUcPeriod"/>
            </a:pPr>
            <a:r>
              <a:rPr lang="en-PH" sz="3600" dirty="0"/>
              <a:t>Power of administrative supervision</a:t>
            </a:r>
          </a:p>
          <a:p>
            <a:pPr marL="742950" indent="-742950">
              <a:buAutoNum type="alphaUcPeriod"/>
            </a:pPr>
            <a:r>
              <a:rPr lang="en-PH" sz="3600" dirty="0"/>
              <a:t>Quasi-judicial power</a:t>
            </a:r>
          </a:p>
        </p:txBody>
      </p:sp>
    </p:spTree>
    <p:extLst>
      <p:ext uri="{BB962C8B-B14F-4D97-AF65-F5344CB8AC3E}">
        <p14:creationId xmlns:p14="http://schemas.microsoft.com/office/powerpoint/2010/main" val="29109076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36967"/>
            <a:ext cx="10515600" cy="1325563"/>
          </a:xfrm>
        </p:spPr>
        <p:txBody>
          <a:bodyPr>
            <a:noAutofit/>
          </a:bodyPr>
          <a:lstStyle/>
          <a:p>
            <a:pPr algn="just"/>
            <a:r>
              <a:rPr lang="en-PH" dirty="0"/>
              <a:t>24. The 1987 Phil Constitution created a body with the power to confirm major appointments of the President. What is this body called?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17606"/>
            <a:ext cx="10515600" cy="4351338"/>
          </a:xfrm>
        </p:spPr>
        <p:txBody>
          <a:bodyPr>
            <a:normAutofit/>
          </a:bodyPr>
          <a:lstStyle/>
          <a:p>
            <a:pPr marL="742950" indent="-742950">
              <a:buAutoNum type="alphaUcPeriod"/>
            </a:pPr>
            <a:r>
              <a:rPr lang="en-PH" sz="3600" dirty="0"/>
              <a:t>Commission on Appointments</a:t>
            </a:r>
          </a:p>
          <a:p>
            <a:pPr marL="742950" indent="-742950">
              <a:buAutoNum type="alphaUcPeriod"/>
            </a:pPr>
            <a:r>
              <a:rPr lang="en-PH" sz="3600" dirty="0"/>
              <a:t>Blue Ribbon Committee</a:t>
            </a:r>
          </a:p>
          <a:p>
            <a:pPr marL="742950" indent="-742950">
              <a:buAutoNum type="alphaUcPeriod"/>
            </a:pPr>
            <a:r>
              <a:rPr lang="en-PH" sz="3600" dirty="0"/>
              <a:t>Civil Service Commission</a:t>
            </a:r>
          </a:p>
          <a:p>
            <a:pPr marL="742950" indent="-742950">
              <a:buAutoNum type="alphaUcPeriod"/>
            </a:pPr>
            <a:r>
              <a:rPr lang="en-PH" sz="3600" dirty="0"/>
              <a:t>Electoral Tribunal</a:t>
            </a:r>
          </a:p>
        </p:txBody>
      </p:sp>
    </p:spTree>
    <p:extLst>
      <p:ext uri="{BB962C8B-B14F-4D97-AF65-F5344CB8AC3E}">
        <p14:creationId xmlns:p14="http://schemas.microsoft.com/office/powerpoint/2010/main" val="2460358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36967"/>
            <a:ext cx="10515600" cy="1325563"/>
          </a:xfrm>
        </p:spPr>
        <p:txBody>
          <a:bodyPr>
            <a:noAutofit/>
          </a:bodyPr>
          <a:lstStyle/>
          <a:p>
            <a:pPr algn="just"/>
            <a:r>
              <a:rPr lang="en-PH" dirty="0"/>
              <a:t>24. The 1987 Phil Constitution created a body with the power to confirm major appointments of the President. What is this body called?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17606"/>
            <a:ext cx="10515600" cy="4351338"/>
          </a:xfrm>
        </p:spPr>
        <p:txBody>
          <a:bodyPr>
            <a:normAutofit/>
          </a:bodyPr>
          <a:lstStyle/>
          <a:p>
            <a:pPr marL="742950" indent="-742950">
              <a:buAutoNum type="alphaUcPeriod"/>
            </a:pPr>
            <a:r>
              <a:rPr lang="en-PH" sz="3600" dirty="0">
                <a:solidFill>
                  <a:srgbClr val="FF0000"/>
                </a:solidFill>
              </a:rPr>
              <a:t>Commission on Appointments</a:t>
            </a:r>
          </a:p>
          <a:p>
            <a:pPr marL="742950" indent="-742950">
              <a:buAutoNum type="alphaUcPeriod"/>
            </a:pPr>
            <a:r>
              <a:rPr lang="en-PH" sz="3600" dirty="0"/>
              <a:t>Blue Ribbon Committee</a:t>
            </a:r>
          </a:p>
          <a:p>
            <a:pPr marL="742950" indent="-742950">
              <a:buAutoNum type="alphaUcPeriod"/>
            </a:pPr>
            <a:r>
              <a:rPr lang="en-PH" sz="3600" dirty="0"/>
              <a:t>Civil Service Commission</a:t>
            </a:r>
          </a:p>
          <a:p>
            <a:pPr marL="742950" indent="-742950">
              <a:buAutoNum type="alphaUcPeriod"/>
            </a:pPr>
            <a:r>
              <a:rPr lang="en-PH" sz="3600" dirty="0"/>
              <a:t>Electoral Tribunal</a:t>
            </a:r>
          </a:p>
        </p:txBody>
      </p:sp>
    </p:spTree>
    <p:extLst>
      <p:ext uri="{BB962C8B-B14F-4D97-AF65-F5344CB8AC3E}">
        <p14:creationId xmlns:p14="http://schemas.microsoft.com/office/powerpoint/2010/main" val="1902108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25. The family into which one is born is the called the_________.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627916"/>
            <a:ext cx="10515600" cy="4351338"/>
          </a:xfrm>
        </p:spPr>
        <p:txBody>
          <a:bodyPr>
            <a:normAutofit/>
          </a:bodyPr>
          <a:lstStyle/>
          <a:p>
            <a:pPr marL="742950" indent="-742950">
              <a:buAutoNum type="alphaUcPeriod"/>
            </a:pPr>
            <a:r>
              <a:rPr lang="en-PH" sz="3600" dirty="0"/>
              <a:t>Family orientation</a:t>
            </a:r>
          </a:p>
          <a:p>
            <a:pPr marL="742950" indent="-742950">
              <a:buAutoNum type="alphaUcPeriod"/>
            </a:pPr>
            <a:r>
              <a:rPr lang="en-PH" sz="3600" dirty="0"/>
              <a:t>Family of procreation</a:t>
            </a:r>
          </a:p>
          <a:p>
            <a:pPr marL="742950" indent="-742950">
              <a:buAutoNum type="alphaUcPeriod"/>
            </a:pPr>
            <a:r>
              <a:rPr lang="en-PH" sz="3600" dirty="0"/>
              <a:t>Nuclear family</a:t>
            </a:r>
          </a:p>
          <a:p>
            <a:pPr marL="742950" indent="-742950">
              <a:buAutoNum type="alphaUcPeriod"/>
            </a:pPr>
            <a:r>
              <a:rPr lang="en-PH" sz="3600" dirty="0"/>
              <a:t>Extended family</a:t>
            </a:r>
          </a:p>
          <a:p>
            <a:pPr marL="0" indent="0">
              <a:buNone/>
            </a:pPr>
            <a:endParaRPr lang="en-PH" sz="3600" dirty="0"/>
          </a:p>
        </p:txBody>
      </p:sp>
    </p:spTree>
    <p:extLst>
      <p:ext uri="{BB962C8B-B14F-4D97-AF65-F5344CB8AC3E}">
        <p14:creationId xmlns:p14="http://schemas.microsoft.com/office/powerpoint/2010/main" val="6049644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25. The family into which one is born is the called the_________.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640273"/>
            <a:ext cx="10515600" cy="4351338"/>
          </a:xfrm>
        </p:spPr>
        <p:txBody>
          <a:bodyPr>
            <a:normAutofit/>
          </a:bodyPr>
          <a:lstStyle/>
          <a:p>
            <a:pPr marL="742950" indent="-742950">
              <a:buAutoNum type="alphaUcPeriod"/>
            </a:pPr>
            <a:r>
              <a:rPr lang="en-PH" sz="3600" dirty="0">
                <a:solidFill>
                  <a:srgbClr val="FF0000"/>
                </a:solidFill>
              </a:rPr>
              <a:t>Family orientation</a:t>
            </a:r>
          </a:p>
          <a:p>
            <a:pPr marL="742950" indent="-742950">
              <a:buAutoNum type="alphaUcPeriod"/>
            </a:pPr>
            <a:r>
              <a:rPr lang="en-PH" sz="3600" dirty="0"/>
              <a:t>Family of procreation</a:t>
            </a:r>
          </a:p>
          <a:p>
            <a:pPr marL="742950" indent="-742950">
              <a:buAutoNum type="alphaUcPeriod"/>
            </a:pPr>
            <a:r>
              <a:rPr lang="en-PH" sz="3600" dirty="0"/>
              <a:t>Nuclear family</a:t>
            </a:r>
          </a:p>
          <a:p>
            <a:pPr marL="742950" indent="-742950">
              <a:buAutoNum type="alphaUcPeriod"/>
            </a:pPr>
            <a:r>
              <a:rPr lang="en-PH" sz="3600" dirty="0"/>
              <a:t>Extended family</a:t>
            </a:r>
          </a:p>
          <a:p>
            <a:pPr marL="0" indent="0">
              <a:buNone/>
            </a:pPr>
            <a:endParaRPr lang="en-PH" sz="3600" dirty="0"/>
          </a:p>
        </p:txBody>
      </p:sp>
    </p:spTree>
    <p:extLst>
      <p:ext uri="{BB962C8B-B14F-4D97-AF65-F5344CB8AC3E}">
        <p14:creationId xmlns:p14="http://schemas.microsoft.com/office/powerpoint/2010/main" val="36539998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315687"/>
            <a:ext cx="10515600" cy="1325563"/>
          </a:xfrm>
        </p:spPr>
        <p:txBody>
          <a:bodyPr>
            <a:noAutofit/>
          </a:bodyPr>
          <a:lstStyle/>
          <a:p>
            <a:pPr algn="just"/>
            <a:r>
              <a:rPr lang="en-PH" dirty="0"/>
              <a:t>26. In classical Athens, who emphasized the individual’s attainment of excellence through rhetoric, grammar, music, and mathematics?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36839"/>
            <a:ext cx="10515600" cy="4351338"/>
          </a:xfrm>
        </p:spPr>
        <p:txBody>
          <a:bodyPr>
            <a:normAutofit/>
          </a:bodyPr>
          <a:lstStyle/>
          <a:p>
            <a:pPr marL="742950" indent="-742950">
              <a:buAutoNum type="alphaUcPeriod"/>
            </a:pPr>
            <a:r>
              <a:rPr lang="en-PH" sz="3600" dirty="0"/>
              <a:t>Plato</a:t>
            </a:r>
          </a:p>
          <a:p>
            <a:pPr marL="742950" indent="-742950">
              <a:buAutoNum type="alphaUcPeriod"/>
            </a:pPr>
            <a:r>
              <a:rPr lang="en-PH" sz="3600" dirty="0"/>
              <a:t>Socrates</a:t>
            </a:r>
          </a:p>
          <a:p>
            <a:pPr marL="742950" indent="-742950">
              <a:buAutoNum type="alphaUcPeriod"/>
            </a:pPr>
            <a:r>
              <a:rPr lang="en-PH" sz="3600" dirty="0"/>
              <a:t>The sophists</a:t>
            </a:r>
          </a:p>
          <a:p>
            <a:pPr marL="742950" indent="-742950">
              <a:buAutoNum type="alphaUcPeriod"/>
            </a:pPr>
            <a:r>
              <a:rPr lang="en-PH" sz="3600" dirty="0" err="1"/>
              <a:t>aristotle</a:t>
            </a:r>
            <a:endParaRPr lang="en-PH" sz="3600" dirty="0"/>
          </a:p>
        </p:txBody>
      </p:sp>
    </p:spTree>
    <p:extLst>
      <p:ext uri="{BB962C8B-B14F-4D97-AF65-F5344CB8AC3E}">
        <p14:creationId xmlns:p14="http://schemas.microsoft.com/office/powerpoint/2010/main" val="23782315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315687"/>
            <a:ext cx="10515600" cy="1325563"/>
          </a:xfrm>
        </p:spPr>
        <p:txBody>
          <a:bodyPr>
            <a:noAutofit/>
          </a:bodyPr>
          <a:lstStyle/>
          <a:p>
            <a:pPr algn="just"/>
            <a:r>
              <a:rPr lang="en-PH" dirty="0"/>
              <a:t>26. In classical Athens, who emphasized the individual’s attainment of excellence through rhetoric, grammar, music, and mathematics?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36839"/>
            <a:ext cx="10515600" cy="4351338"/>
          </a:xfrm>
        </p:spPr>
        <p:txBody>
          <a:bodyPr>
            <a:normAutofit/>
          </a:bodyPr>
          <a:lstStyle/>
          <a:p>
            <a:pPr marL="742950" indent="-742950">
              <a:buAutoNum type="alphaUcPeriod"/>
            </a:pPr>
            <a:r>
              <a:rPr lang="en-PH" sz="3600" dirty="0"/>
              <a:t>Plato</a:t>
            </a:r>
          </a:p>
          <a:p>
            <a:pPr marL="742950" indent="-742950">
              <a:buAutoNum type="alphaUcPeriod"/>
            </a:pPr>
            <a:r>
              <a:rPr lang="en-PH" sz="3600" dirty="0"/>
              <a:t>Socrates</a:t>
            </a:r>
          </a:p>
          <a:p>
            <a:pPr marL="742950" indent="-742950">
              <a:buAutoNum type="alphaUcPeriod"/>
            </a:pPr>
            <a:r>
              <a:rPr lang="en-PH" sz="3600" dirty="0">
                <a:solidFill>
                  <a:srgbClr val="FF0000"/>
                </a:solidFill>
              </a:rPr>
              <a:t>The sophists</a:t>
            </a:r>
          </a:p>
          <a:p>
            <a:pPr marL="742950" indent="-742950">
              <a:buAutoNum type="alphaUcPeriod"/>
            </a:pPr>
            <a:r>
              <a:rPr lang="en-PH" sz="3600" dirty="0" err="1"/>
              <a:t>aristotle</a:t>
            </a:r>
            <a:endParaRPr lang="en-PH" sz="3600" dirty="0"/>
          </a:p>
        </p:txBody>
      </p:sp>
    </p:spTree>
    <p:extLst>
      <p:ext uri="{BB962C8B-B14F-4D97-AF65-F5344CB8AC3E}">
        <p14:creationId xmlns:p14="http://schemas.microsoft.com/office/powerpoint/2010/main" val="24203009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27. Which statement on Filipino revolts against Spain is CORRECT?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lgn="just">
              <a:buAutoNum type="alphaUcPeriod"/>
            </a:pPr>
            <a:r>
              <a:rPr lang="en-PH" sz="3600" dirty="0"/>
              <a:t>No revolt was suppressed by the Spaniards</a:t>
            </a:r>
          </a:p>
          <a:p>
            <a:pPr marL="742950" indent="-742950" algn="just">
              <a:buAutoNum type="alphaUcPeriod"/>
            </a:pPr>
            <a:r>
              <a:rPr lang="en-PH" sz="3600" dirty="0"/>
              <a:t>Some revolts were cause by personal reasons</a:t>
            </a:r>
          </a:p>
          <a:p>
            <a:pPr marL="742950" indent="-742950" algn="just">
              <a:buAutoNum type="alphaUcPeriod"/>
            </a:pPr>
            <a:r>
              <a:rPr lang="en-PH" sz="3600" dirty="0"/>
              <a:t>There was only one reason for the revolts, that oppressive taxation</a:t>
            </a:r>
          </a:p>
          <a:p>
            <a:pPr marL="742950" indent="-742950" algn="just">
              <a:buAutoNum type="alphaUcPeriod"/>
            </a:pPr>
            <a:r>
              <a:rPr lang="en-PH" sz="3600" dirty="0"/>
              <a:t>The Spaniards without assistance from the natives quelled these revolts</a:t>
            </a:r>
          </a:p>
        </p:txBody>
      </p:sp>
    </p:spTree>
    <p:extLst>
      <p:ext uri="{BB962C8B-B14F-4D97-AF65-F5344CB8AC3E}">
        <p14:creationId xmlns:p14="http://schemas.microsoft.com/office/powerpoint/2010/main" val="21853226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27. Which statement on Filipino revolts against Spain is CORRECT?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lgn="just">
              <a:buAutoNum type="alphaUcPeriod"/>
            </a:pPr>
            <a:r>
              <a:rPr lang="en-PH" sz="3600" dirty="0"/>
              <a:t>No revolt was suppressed by the Spaniards</a:t>
            </a:r>
          </a:p>
          <a:p>
            <a:pPr marL="742950" indent="-742950" algn="just">
              <a:buAutoNum type="alphaUcPeriod"/>
            </a:pPr>
            <a:r>
              <a:rPr lang="en-PH" sz="3600" dirty="0">
                <a:solidFill>
                  <a:srgbClr val="FF0000"/>
                </a:solidFill>
              </a:rPr>
              <a:t>Some revolts were cause by personal reasons</a:t>
            </a:r>
          </a:p>
          <a:p>
            <a:pPr marL="742950" indent="-742950" algn="just">
              <a:buAutoNum type="alphaUcPeriod"/>
            </a:pPr>
            <a:r>
              <a:rPr lang="en-PH" sz="3600" dirty="0"/>
              <a:t>There was only one reason for the revolts, that oppressive taxation</a:t>
            </a:r>
          </a:p>
          <a:p>
            <a:pPr marL="742950" indent="-742950" algn="just">
              <a:buAutoNum type="alphaUcPeriod"/>
            </a:pPr>
            <a:r>
              <a:rPr lang="en-PH" sz="3600" dirty="0"/>
              <a:t>The Spaniards without assistance from the natives quelled these revolts</a:t>
            </a:r>
          </a:p>
        </p:txBody>
      </p:sp>
    </p:spTree>
    <p:extLst>
      <p:ext uri="{BB962C8B-B14F-4D97-AF65-F5344CB8AC3E}">
        <p14:creationId xmlns:p14="http://schemas.microsoft.com/office/powerpoint/2010/main" val="75778410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28. Which one does NOT happen during a recession or a depression?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buAutoNum type="alphaUcPeriod"/>
            </a:pPr>
            <a:r>
              <a:rPr lang="en-PH" sz="3600" dirty="0"/>
              <a:t>Production slows down</a:t>
            </a:r>
          </a:p>
          <a:p>
            <a:pPr marL="742950" indent="-742950">
              <a:buAutoNum type="alphaUcPeriod"/>
            </a:pPr>
            <a:r>
              <a:rPr lang="en-PH" sz="3600" dirty="0"/>
              <a:t>Total spending drops</a:t>
            </a:r>
          </a:p>
          <a:p>
            <a:pPr marL="742950" indent="-742950">
              <a:buAutoNum type="alphaUcPeriod"/>
            </a:pPr>
            <a:r>
              <a:rPr lang="en-PH" sz="3600" dirty="0"/>
              <a:t>People keep their jobs</a:t>
            </a:r>
          </a:p>
          <a:p>
            <a:pPr marL="742950" indent="-742950">
              <a:buAutoNum type="alphaUcPeriod"/>
            </a:pPr>
            <a:r>
              <a:rPr lang="en-PH" sz="3600" dirty="0"/>
              <a:t>Business rake bigger profits</a:t>
            </a:r>
          </a:p>
        </p:txBody>
      </p:sp>
    </p:spTree>
    <p:extLst>
      <p:ext uri="{BB962C8B-B14F-4D97-AF65-F5344CB8AC3E}">
        <p14:creationId xmlns:p14="http://schemas.microsoft.com/office/powerpoint/2010/main" val="3305669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28. Which one does NOT happen during a recession or a depression?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buAutoNum type="alphaUcPeriod"/>
            </a:pPr>
            <a:r>
              <a:rPr lang="en-PH" sz="3600" dirty="0"/>
              <a:t>Production slows down</a:t>
            </a:r>
          </a:p>
          <a:p>
            <a:pPr marL="742950" indent="-742950">
              <a:buAutoNum type="alphaUcPeriod"/>
            </a:pPr>
            <a:r>
              <a:rPr lang="en-PH" sz="3600" dirty="0"/>
              <a:t>Total spending drops</a:t>
            </a:r>
          </a:p>
          <a:p>
            <a:pPr marL="742950" indent="-742950">
              <a:buAutoNum type="alphaUcPeriod"/>
            </a:pPr>
            <a:r>
              <a:rPr lang="en-PH" sz="3600" dirty="0"/>
              <a:t>People keep their jobs</a:t>
            </a:r>
          </a:p>
          <a:p>
            <a:pPr marL="742950" indent="-742950">
              <a:buAutoNum type="alphaUcPeriod"/>
            </a:pPr>
            <a:r>
              <a:rPr lang="en-PH" sz="3600" dirty="0">
                <a:solidFill>
                  <a:srgbClr val="FF0000"/>
                </a:solidFill>
              </a:rPr>
              <a:t>Business rake bigger profits</a:t>
            </a:r>
          </a:p>
        </p:txBody>
      </p:sp>
    </p:spTree>
    <p:extLst>
      <p:ext uri="{BB962C8B-B14F-4D97-AF65-F5344CB8AC3E}">
        <p14:creationId xmlns:p14="http://schemas.microsoft.com/office/powerpoint/2010/main" val="25756775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29.  Which Philippine forest resource is known as the “Republic Tree”?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buAutoNum type="alphaUcPeriod"/>
            </a:pPr>
            <a:r>
              <a:rPr lang="en-PH" sz="3600" dirty="0" err="1"/>
              <a:t>Narra</a:t>
            </a:r>
            <a:endParaRPr lang="en-PH" sz="3600" dirty="0"/>
          </a:p>
          <a:p>
            <a:pPr marL="742950" indent="-742950">
              <a:buAutoNum type="alphaUcPeriod"/>
            </a:pPr>
            <a:r>
              <a:rPr lang="en-PH" sz="3600" dirty="0"/>
              <a:t>Mahogany</a:t>
            </a:r>
          </a:p>
          <a:p>
            <a:pPr marL="742950" indent="-742950">
              <a:buAutoNum type="alphaUcPeriod"/>
            </a:pPr>
            <a:r>
              <a:rPr lang="en-PH" sz="3600" dirty="0"/>
              <a:t>Ipil-</a:t>
            </a:r>
            <a:r>
              <a:rPr lang="en-PH" sz="3600" dirty="0" err="1"/>
              <a:t>ipil</a:t>
            </a:r>
            <a:endParaRPr lang="en-PH" sz="3600" dirty="0"/>
          </a:p>
          <a:p>
            <a:pPr marL="742950" indent="-742950">
              <a:buAutoNum type="alphaUcPeriod"/>
            </a:pPr>
            <a:r>
              <a:rPr lang="en-PH" sz="3600" dirty="0" err="1"/>
              <a:t>Yakal</a:t>
            </a:r>
            <a:endParaRPr lang="en-PH" sz="3600" dirty="0"/>
          </a:p>
        </p:txBody>
      </p:sp>
    </p:spTree>
    <p:extLst>
      <p:ext uri="{BB962C8B-B14F-4D97-AF65-F5344CB8AC3E}">
        <p14:creationId xmlns:p14="http://schemas.microsoft.com/office/powerpoint/2010/main" val="8978913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29.  Which Philippine forest resource is known as the “Republic Tree”?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buAutoNum type="alphaUcPeriod"/>
            </a:pPr>
            <a:r>
              <a:rPr lang="en-PH" sz="3600" dirty="0" err="1"/>
              <a:t>Narra</a:t>
            </a:r>
            <a:endParaRPr lang="en-PH" sz="3600" dirty="0"/>
          </a:p>
          <a:p>
            <a:pPr marL="742950" indent="-742950">
              <a:buAutoNum type="alphaUcPeriod"/>
            </a:pPr>
            <a:r>
              <a:rPr lang="en-PH" sz="3600" dirty="0">
                <a:solidFill>
                  <a:srgbClr val="FF0000"/>
                </a:solidFill>
              </a:rPr>
              <a:t>Mahogany</a:t>
            </a:r>
          </a:p>
          <a:p>
            <a:pPr marL="742950" indent="-742950">
              <a:buAutoNum type="alphaUcPeriod"/>
            </a:pPr>
            <a:r>
              <a:rPr lang="en-PH" sz="3600" dirty="0"/>
              <a:t>Ipil-</a:t>
            </a:r>
            <a:r>
              <a:rPr lang="en-PH" sz="3600" dirty="0" err="1"/>
              <a:t>ipil</a:t>
            </a:r>
            <a:endParaRPr lang="en-PH" sz="3600" dirty="0"/>
          </a:p>
          <a:p>
            <a:pPr marL="742950" indent="-742950">
              <a:buAutoNum type="alphaUcPeriod"/>
            </a:pPr>
            <a:r>
              <a:rPr lang="en-PH" sz="3600" dirty="0" err="1"/>
              <a:t>Yakal</a:t>
            </a:r>
            <a:endParaRPr lang="en-PH" sz="3600" dirty="0"/>
          </a:p>
        </p:txBody>
      </p:sp>
    </p:spTree>
    <p:extLst>
      <p:ext uri="{BB962C8B-B14F-4D97-AF65-F5344CB8AC3E}">
        <p14:creationId xmlns:p14="http://schemas.microsoft.com/office/powerpoint/2010/main" val="31599491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30. Which does NOT held true to Philippine society in Rizal’s time?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lgn="just">
              <a:buAutoNum type="alphaUcPeriod"/>
            </a:pPr>
            <a:r>
              <a:rPr lang="en-PH" sz="3600" dirty="0"/>
              <a:t>The nation was drafted for manual labor</a:t>
            </a:r>
          </a:p>
          <a:p>
            <a:pPr marL="742950" indent="-742950" algn="just">
              <a:buAutoNum type="alphaUcPeriod"/>
            </a:pPr>
            <a:r>
              <a:rPr lang="en-PH" sz="3600" dirty="0"/>
              <a:t>Elite class exploited the masses</a:t>
            </a:r>
          </a:p>
          <a:p>
            <a:pPr marL="742950" indent="-742950" algn="just">
              <a:buAutoNum type="alphaUcPeriod"/>
            </a:pPr>
            <a:r>
              <a:rPr lang="en-PH" sz="3600" dirty="0"/>
              <a:t>The indies earned the respect of the Spaniards</a:t>
            </a:r>
          </a:p>
          <a:p>
            <a:pPr marL="742950" indent="-742950" algn="just">
              <a:buAutoNum type="alphaUcPeriod"/>
            </a:pPr>
            <a:r>
              <a:rPr lang="en-PH" sz="3600" dirty="0"/>
              <a:t>Spaniards exacted all forms of taxes and tributes</a:t>
            </a:r>
          </a:p>
        </p:txBody>
      </p:sp>
    </p:spTree>
    <p:extLst>
      <p:ext uri="{BB962C8B-B14F-4D97-AF65-F5344CB8AC3E}">
        <p14:creationId xmlns:p14="http://schemas.microsoft.com/office/powerpoint/2010/main" val="26205937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30. Which does NOT held true to Philippine society in Rizal’s time?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lgn="just">
              <a:buAutoNum type="alphaUcPeriod"/>
            </a:pPr>
            <a:r>
              <a:rPr lang="en-PH" sz="3600" dirty="0"/>
              <a:t>The nation was drafted for manual labor</a:t>
            </a:r>
          </a:p>
          <a:p>
            <a:pPr marL="742950" indent="-742950" algn="just">
              <a:buAutoNum type="alphaUcPeriod"/>
            </a:pPr>
            <a:r>
              <a:rPr lang="en-PH" sz="3600" dirty="0"/>
              <a:t>Elite class exploited the masses</a:t>
            </a:r>
          </a:p>
          <a:p>
            <a:pPr marL="742950" indent="-742950" algn="just">
              <a:buAutoNum type="alphaUcPeriod"/>
            </a:pPr>
            <a:r>
              <a:rPr lang="en-PH" sz="3600" dirty="0">
                <a:solidFill>
                  <a:srgbClr val="FF0000"/>
                </a:solidFill>
              </a:rPr>
              <a:t>The indies earned the respect of the Spaniards</a:t>
            </a:r>
          </a:p>
          <a:p>
            <a:pPr marL="742950" indent="-742950" algn="just">
              <a:buAutoNum type="alphaUcPeriod"/>
            </a:pPr>
            <a:r>
              <a:rPr lang="en-PH" sz="3600" dirty="0"/>
              <a:t>Spaniards exacted all forms of taxes and tributes</a:t>
            </a:r>
          </a:p>
        </p:txBody>
      </p:sp>
    </p:spTree>
    <p:extLst>
      <p:ext uri="{BB962C8B-B14F-4D97-AF65-F5344CB8AC3E}">
        <p14:creationId xmlns:p14="http://schemas.microsoft.com/office/powerpoint/2010/main" val="10337329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31. In what way does the executive of the nation have a legislative power?</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buAutoNum type="alphaUcPeriod"/>
            </a:pPr>
            <a:r>
              <a:rPr lang="en-PH" sz="3600" dirty="0"/>
              <a:t>Global solidarity</a:t>
            </a:r>
          </a:p>
          <a:p>
            <a:pPr marL="742950" indent="-742950">
              <a:buAutoNum type="alphaUcPeriod"/>
            </a:pPr>
            <a:r>
              <a:rPr lang="en-PH" sz="3600" dirty="0"/>
              <a:t>Ethical relativism</a:t>
            </a:r>
          </a:p>
          <a:p>
            <a:pPr marL="742950" indent="-742950">
              <a:buAutoNum type="alphaUcPeriod"/>
            </a:pPr>
            <a:r>
              <a:rPr lang="en-PH" sz="3600" dirty="0"/>
              <a:t>Cultural relativism</a:t>
            </a:r>
          </a:p>
          <a:p>
            <a:pPr marL="742950" indent="-742950">
              <a:buAutoNum type="alphaUcPeriod"/>
            </a:pPr>
            <a:r>
              <a:rPr lang="en-PH" sz="3600" dirty="0"/>
              <a:t>acculturation</a:t>
            </a:r>
          </a:p>
        </p:txBody>
      </p:sp>
    </p:spTree>
    <p:extLst>
      <p:ext uri="{BB962C8B-B14F-4D97-AF65-F5344CB8AC3E}">
        <p14:creationId xmlns:p14="http://schemas.microsoft.com/office/powerpoint/2010/main" val="31001892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31. In what way does the executive of the nation have a legislative power?</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buAutoNum type="alphaUcPeriod"/>
            </a:pPr>
            <a:r>
              <a:rPr lang="en-PH" sz="3600" dirty="0"/>
              <a:t>Global solidarity</a:t>
            </a:r>
          </a:p>
          <a:p>
            <a:pPr marL="742950" indent="-742950">
              <a:buAutoNum type="alphaUcPeriod"/>
            </a:pPr>
            <a:r>
              <a:rPr lang="en-PH" sz="3600" dirty="0"/>
              <a:t>Ethical relativism</a:t>
            </a:r>
          </a:p>
          <a:p>
            <a:pPr marL="742950" indent="-742950">
              <a:buAutoNum type="alphaUcPeriod"/>
            </a:pPr>
            <a:r>
              <a:rPr lang="en-PH" sz="3600" dirty="0">
                <a:solidFill>
                  <a:srgbClr val="FF0000"/>
                </a:solidFill>
              </a:rPr>
              <a:t>Cultural relativism</a:t>
            </a:r>
          </a:p>
          <a:p>
            <a:pPr marL="742950" indent="-742950">
              <a:buAutoNum type="alphaUcPeriod"/>
            </a:pPr>
            <a:r>
              <a:rPr lang="en-PH" sz="3600" dirty="0"/>
              <a:t>acculturation</a:t>
            </a:r>
          </a:p>
        </p:txBody>
      </p:sp>
    </p:spTree>
    <p:extLst>
      <p:ext uri="{BB962C8B-B14F-4D97-AF65-F5344CB8AC3E}">
        <p14:creationId xmlns:p14="http://schemas.microsoft.com/office/powerpoint/2010/main" val="1937532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45876"/>
            <a:ext cx="10515600" cy="1325563"/>
          </a:xfrm>
        </p:spPr>
        <p:txBody>
          <a:bodyPr>
            <a:noAutofit/>
          </a:bodyPr>
          <a:lstStyle/>
          <a:p>
            <a:pPr algn="just"/>
            <a:r>
              <a:rPr lang="en-PH" dirty="0"/>
              <a:t>32. Social justice, the ‘centerpiece’ of the 1986 Constitution, demands he reduction of the widening gap between the rich and the poor. This effort leads to the building of 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47801"/>
            <a:ext cx="10515600" cy="4351338"/>
          </a:xfrm>
        </p:spPr>
        <p:txBody>
          <a:bodyPr>
            <a:normAutofit/>
          </a:bodyPr>
          <a:lstStyle/>
          <a:p>
            <a:pPr marL="742950" indent="-742950">
              <a:buAutoNum type="alphaUcPeriod"/>
            </a:pPr>
            <a:r>
              <a:rPr lang="en-PH" sz="3600" dirty="0"/>
              <a:t>A modern society</a:t>
            </a:r>
          </a:p>
          <a:p>
            <a:pPr marL="742950" indent="-742950">
              <a:buAutoNum type="alphaUcPeriod"/>
            </a:pPr>
            <a:r>
              <a:rPr lang="en-PH" sz="3600" dirty="0"/>
              <a:t>An egalitarian society</a:t>
            </a:r>
          </a:p>
          <a:p>
            <a:pPr marL="742950" indent="-742950">
              <a:buAutoNum type="alphaUcPeriod"/>
            </a:pPr>
            <a:r>
              <a:rPr lang="en-PH" sz="3600" dirty="0"/>
              <a:t>A classless society</a:t>
            </a:r>
          </a:p>
          <a:p>
            <a:pPr marL="742950" indent="-742950">
              <a:buAutoNum type="alphaUcPeriod"/>
            </a:pPr>
            <a:r>
              <a:rPr lang="en-PH" sz="3600" dirty="0"/>
              <a:t>A society of equals</a:t>
            </a:r>
          </a:p>
        </p:txBody>
      </p:sp>
    </p:spTree>
    <p:extLst>
      <p:ext uri="{BB962C8B-B14F-4D97-AF65-F5344CB8AC3E}">
        <p14:creationId xmlns:p14="http://schemas.microsoft.com/office/powerpoint/2010/main" val="41052525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45876"/>
            <a:ext cx="10515600" cy="1325563"/>
          </a:xfrm>
        </p:spPr>
        <p:txBody>
          <a:bodyPr>
            <a:noAutofit/>
          </a:bodyPr>
          <a:lstStyle/>
          <a:p>
            <a:pPr algn="just"/>
            <a:r>
              <a:rPr lang="en-PH" dirty="0"/>
              <a:t>32. Social justice, the ‘centerpiece’ of the 1986 Constitution, demands he reduction of the widening gap between the rich and the poor. This effort leads to the building of 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47801"/>
            <a:ext cx="10515600" cy="4351338"/>
          </a:xfrm>
        </p:spPr>
        <p:txBody>
          <a:bodyPr>
            <a:normAutofit/>
          </a:bodyPr>
          <a:lstStyle/>
          <a:p>
            <a:pPr marL="742950" indent="-742950">
              <a:buAutoNum type="alphaUcPeriod"/>
            </a:pPr>
            <a:r>
              <a:rPr lang="en-PH" sz="3600" dirty="0"/>
              <a:t>A modern society</a:t>
            </a:r>
          </a:p>
          <a:p>
            <a:pPr marL="742950" indent="-742950">
              <a:buAutoNum type="alphaUcPeriod"/>
            </a:pPr>
            <a:r>
              <a:rPr lang="en-PH" sz="3600" dirty="0"/>
              <a:t>An egalitarian society</a:t>
            </a:r>
          </a:p>
          <a:p>
            <a:pPr marL="742950" indent="-742950">
              <a:buAutoNum type="alphaUcPeriod"/>
            </a:pPr>
            <a:r>
              <a:rPr lang="en-PH" sz="3600" dirty="0"/>
              <a:t>A classless society</a:t>
            </a:r>
          </a:p>
          <a:p>
            <a:pPr marL="742950" indent="-742950">
              <a:buAutoNum type="alphaUcPeriod"/>
            </a:pPr>
            <a:r>
              <a:rPr lang="en-PH" sz="3600" dirty="0">
                <a:solidFill>
                  <a:srgbClr val="FF0000"/>
                </a:solidFill>
              </a:rPr>
              <a:t>A society of equals</a:t>
            </a:r>
          </a:p>
        </p:txBody>
      </p:sp>
    </p:spTree>
    <p:extLst>
      <p:ext uri="{BB962C8B-B14F-4D97-AF65-F5344CB8AC3E}">
        <p14:creationId xmlns:p14="http://schemas.microsoft.com/office/powerpoint/2010/main" val="36118158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33. In what way does the executive of the nation have a legislative power?</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lgn="just">
              <a:buAutoNum type="alphaUcPeriod"/>
            </a:pPr>
            <a:r>
              <a:rPr lang="en-PH" sz="3600" dirty="0"/>
              <a:t>Enforces the laws</a:t>
            </a:r>
          </a:p>
          <a:p>
            <a:pPr marL="742950" indent="-742950" algn="just">
              <a:buAutoNum type="alphaUcPeriod"/>
            </a:pPr>
            <a:r>
              <a:rPr lang="en-PH" sz="3600" dirty="0"/>
              <a:t>Exercises general provision over all municipal, provincial, and city governments</a:t>
            </a:r>
          </a:p>
          <a:p>
            <a:pPr marL="742950" indent="-742950" algn="just">
              <a:buAutoNum type="alphaUcPeriod"/>
            </a:pPr>
            <a:r>
              <a:rPr lang="en-PH" sz="3600" dirty="0"/>
              <a:t>Approves or vetoes the bill passed by Congress</a:t>
            </a:r>
          </a:p>
          <a:p>
            <a:pPr marL="742950" indent="-742950" algn="just">
              <a:buAutoNum type="alphaUcPeriod"/>
            </a:pPr>
            <a:r>
              <a:rPr lang="en-PH" sz="3600" dirty="0"/>
              <a:t>Prepares annual budget of government</a:t>
            </a:r>
          </a:p>
        </p:txBody>
      </p:sp>
    </p:spTree>
    <p:extLst>
      <p:ext uri="{BB962C8B-B14F-4D97-AF65-F5344CB8AC3E}">
        <p14:creationId xmlns:p14="http://schemas.microsoft.com/office/powerpoint/2010/main" val="29691333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33. In what way does the executive of the nation have a legislative power?</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lgn="just">
              <a:buAutoNum type="alphaUcPeriod"/>
            </a:pPr>
            <a:r>
              <a:rPr lang="en-PH" sz="3600" dirty="0"/>
              <a:t>Enforces the laws</a:t>
            </a:r>
          </a:p>
          <a:p>
            <a:pPr marL="742950" indent="-742950" algn="just">
              <a:buAutoNum type="alphaUcPeriod"/>
            </a:pPr>
            <a:r>
              <a:rPr lang="en-PH" sz="3600" dirty="0"/>
              <a:t>Exercises general provision over all municipal, provincial, and city governments</a:t>
            </a:r>
          </a:p>
          <a:p>
            <a:pPr marL="742950" indent="-742950" algn="just">
              <a:buAutoNum type="alphaUcPeriod"/>
            </a:pPr>
            <a:r>
              <a:rPr lang="en-PH" sz="3600" dirty="0">
                <a:solidFill>
                  <a:srgbClr val="FF0000"/>
                </a:solidFill>
              </a:rPr>
              <a:t>Approves or vetoes the bill passed by Congress</a:t>
            </a:r>
          </a:p>
          <a:p>
            <a:pPr marL="742950" indent="-742950" algn="just">
              <a:buAutoNum type="alphaUcPeriod"/>
            </a:pPr>
            <a:r>
              <a:rPr lang="en-PH" sz="3600" dirty="0"/>
              <a:t>Prepares annual budget of government</a:t>
            </a:r>
          </a:p>
        </p:txBody>
      </p:sp>
    </p:spTree>
    <p:extLst>
      <p:ext uri="{BB962C8B-B14F-4D97-AF65-F5344CB8AC3E}">
        <p14:creationId xmlns:p14="http://schemas.microsoft.com/office/powerpoint/2010/main" val="38854485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78616"/>
            <a:ext cx="10515600" cy="1325563"/>
          </a:xfrm>
        </p:spPr>
        <p:txBody>
          <a:bodyPr>
            <a:noAutofit/>
          </a:bodyPr>
          <a:lstStyle/>
          <a:p>
            <a:pPr algn="just"/>
            <a:r>
              <a:rPr lang="en-PH" dirty="0"/>
              <a:t>34. Which river is claimed to be a commercially important artery flowing through Manila?</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50342"/>
            <a:ext cx="10515600" cy="4351338"/>
          </a:xfrm>
        </p:spPr>
        <p:txBody>
          <a:bodyPr>
            <a:normAutofit/>
          </a:bodyPr>
          <a:lstStyle/>
          <a:p>
            <a:pPr marL="742950" indent="-742950">
              <a:buAutoNum type="alphaUcPeriod"/>
            </a:pPr>
            <a:r>
              <a:rPr lang="en-PH" sz="3600" dirty="0" err="1"/>
              <a:t>Apalit</a:t>
            </a:r>
            <a:r>
              <a:rPr lang="en-PH" sz="3600" dirty="0"/>
              <a:t> River</a:t>
            </a:r>
          </a:p>
          <a:p>
            <a:pPr marL="742950" indent="-742950">
              <a:buAutoNum type="alphaUcPeriod"/>
            </a:pPr>
            <a:r>
              <a:rPr lang="en-PH" sz="3600" dirty="0"/>
              <a:t>Pasig River</a:t>
            </a:r>
          </a:p>
          <a:p>
            <a:pPr marL="742950" indent="-742950">
              <a:buAutoNum type="alphaUcPeriod"/>
            </a:pPr>
            <a:r>
              <a:rPr lang="en-PH" sz="3600" dirty="0"/>
              <a:t>Agno River</a:t>
            </a:r>
          </a:p>
          <a:p>
            <a:pPr marL="742950" indent="-742950">
              <a:buAutoNum type="alphaUcPeriod"/>
            </a:pPr>
            <a:r>
              <a:rPr lang="en-PH" sz="3600" dirty="0"/>
              <a:t>Marikina River</a:t>
            </a:r>
          </a:p>
        </p:txBody>
      </p:sp>
    </p:spTree>
    <p:extLst>
      <p:ext uri="{BB962C8B-B14F-4D97-AF65-F5344CB8AC3E}">
        <p14:creationId xmlns:p14="http://schemas.microsoft.com/office/powerpoint/2010/main" val="15165554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78616"/>
            <a:ext cx="10515600" cy="1325563"/>
          </a:xfrm>
        </p:spPr>
        <p:txBody>
          <a:bodyPr>
            <a:noAutofit/>
          </a:bodyPr>
          <a:lstStyle/>
          <a:p>
            <a:pPr algn="just"/>
            <a:r>
              <a:rPr lang="en-PH" dirty="0"/>
              <a:t>34. Which river is claimed to be a commercially important artery flowing through Manila?</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50342"/>
            <a:ext cx="10515600" cy="4351338"/>
          </a:xfrm>
        </p:spPr>
        <p:txBody>
          <a:bodyPr>
            <a:normAutofit/>
          </a:bodyPr>
          <a:lstStyle/>
          <a:p>
            <a:pPr marL="742950" indent="-742950">
              <a:buAutoNum type="alphaUcPeriod"/>
            </a:pPr>
            <a:r>
              <a:rPr lang="en-PH" sz="3600" dirty="0" err="1"/>
              <a:t>Apalit</a:t>
            </a:r>
            <a:r>
              <a:rPr lang="en-PH" sz="3600" dirty="0"/>
              <a:t> River</a:t>
            </a:r>
          </a:p>
          <a:p>
            <a:pPr marL="742950" indent="-742950">
              <a:buAutoNum type="alphaUcPeriod"/>
            </a:pPr>
            <a:r>
              <a:rPr lang="en-PH" sz="3600" dirty="0">
                <a:solidFill>
                  <a:srgbClr val="FF0000"/>
                </a:solidFill>
              </a:rPr>
              <a:t>Pasig River</a:t>
            </a:r>
          </a:p>
          <a:p>
            <a:pPr marL="742950" indent="-742950">
              <a:buAutoNum type="alphaUcPeriod"/>
            </a:pPr>
            <a:r>
              <a:rPr lang="en-PH" sz="3600" dirty="0"/>
              <a:t>Agno River</a:t>
            </a:r>
          </a:p>
          <a:p>
            <a:pPr marL="742950" indent="-742950">
              <a:buAutoNum type="alphaUcPeriod"/>
            </a:pPr>
            <a:r>
              <a:rPr lang="en-PH" sz="3600" dirty="0"/>
              <a:t>Marikina River</a:t>
            </a:r>
          </a:p>
        </p:txBody>
      </p:sp>
    </p:spTree>
    <p:extLst>
      <p:ext uri="{BB962C8B-B14F-4D97-AF65-F5344CB8AC3E}">
        <p14:creationId xmlns:p14="http://schemas.microsoft.com/office/powerpoint/2010/main" val="29251298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35. What was Pres. Magsaysay’s “Liberty Wells” campaign?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lgn="just">
              <a:buAutoNum type="alphaUcPeriod"/>
            </a:pPr>
            <a:r>
              <a:rPr lang="en-PH" sz="3600" dirty="0"/>
              <a:t>The provision  of wells to localities with local government counter part</a:t>
            </a:r>
          </a:p>
          <a:p>
            <a:pPr marL="742950" indent="-742950" algn="just">
              <a:buAutoNum type="alphaUcPeriod"/>
            </a:pPr>
            <a:r>
              <a:rPr lang="en-PH" sz="3600" dirty="0"/>
              <a:t>The provision of uncontaminated water supply for a thousand localities through private initiative </a:t>
            </a:r>
          </a:p>
          <a:p>
            <a:pPr marL="742950" indent="-742950" algn="just">
              <a:buAutoNum type="alphaUcPeriod"/>
            </a:pPr>
            <a:r>
              <a:rPr lang="en-PH" sz="3600" dirty="0"/>
              <a:t>The provision of wells for schools free of charge</a:t>
            </a:r>
          </a:p>
          <a:p>
            <a:pPr marL="742950" indent="-742950" algn="just">
              <a:buAutoNum type="alphaUcPeriod"/>
            </a:pPr>
            <a:r>
              <a:rPr lang="en-PH" sz="3600" dirty="0"/>
              <a:t>The provision of wells in schools with the assistance of parents</a:t>
            </a:r>
          </a:p>
        </p:txBody>
      </p:sp>
    </p:spTree>
    <p:extLst>
      <p:ext uri="{BB962C8B-B14F-4D97-AF65-F5344CB8AC3E}">
        <p14:creationId xmlns:p14="http://schemas.microsoft.com/office/powerpoint/2010/main" val="17139243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53902"/>
            <a:ext cx="10515600" cy="1325563"/>
          </a:xfrm>
        </p:spPr>
        <p:txBody>
          <a:bodyPr>
            <a:noAutofit/>
          </a:bodyPr>
          <a:lstStyle/>
          <a:p>
            <a:pPr algn="just"/>
            <a:r>
              <a:rPr lang="en-PH" dirty="0"/>
              <a:t>35. What was Pres. Magsaysay’s “Liberty Wells” campaign?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590845"/>
            <a:ext cx="10515600" cy="4351338"/>
          </a:xfrm>
        </p:spPr>
        <p:txBody>
          <a:bodyPr>
            <a:normAutofit/>
          </a:bodyPr>
          <a:lstStyle/>
          <a:p>
            <a:pPr marL="742950" indent="-742950" algn="just">
              <a:buAutoNum type="alphaUcPeriod"/>
            </a:pPr>
            <a:r>
              <a:rPr lang="en-PH" sz="3600" dirty="0">
                <a:solidFill>
                  <a:srgbClr val="FF0000"/>
                </a:solidFill>
              </a:rPr>
              <a:t>The provision  of wells to localities with local government counter part</a:t>
            </a:r>
          </a:p>
          <a:p>
            <a:pPr marL="742950" indent="-742950" algn="just">
              <a:buAutoNum type="alphaUcPeriod"/>
            </a:pPr>
            <a:r>
              <a:rPr lang="en-PH" sz="3600" dirty="0"/>
              <a:t>The provision of uncontaminated water supply for a thousand localities through private initiative </a:t>
            </a:r>
          </a:p>
          <a:p>
            <a:pPr marL="742950" indent="-742950" algn="just">
              <a:buAutoNum type="alphaUcPeriod"/>
            </a:pPr>
            <a:r>
              <a:rPr lang="en-PH" sz="3600" dirty="0"/>
              <a:t>The provision of wells for schools free of charge</a:t>
            </a:r>
          </a:p>
          <a:p>
            <a:pPr marL="742950" indent="-742950" algn="just">
              <a:buAutoNum type="alphaUcPeriod"/>
            </a:pPr>
            <a:r>
              <a:rPr lang="en-PH" sz="3600" dirty="0"/>
              <a:t>The provision of wells in schools with the assistance of parents</a:t>
            </a:r>
          </a:p>
        </p:txBody>
      </p:sp>
    </p:spTree>
    <p:extLst>
      <p:ext uri="{BB962C8B-B14F-4D97-AF65-F5344CB8AC3E}">
        <p14:creationId xmlns:p14="http://schemas.microsoft.com/office/powerpoint/2010/main" val="9155512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303330"/>
            <a:ext cx="10515600" cy="1325563"/>
          </a:xfrm>
        </p:spPr>
        <p:txBody>
          <a:bodyPr>
            <a:noAutofit/>
          </a:bodyPr>
          <a:lstStyle/>
          <a:p>
            <a:pPr algn="just"/>
            <a:r>
              <a:rPr lang="en-PH" dirty="0"/>
              <a:t>36. Which term refers to life zones – all plants, animals, other organisms, and the physical environment in a particular area?</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36836"/>
            <a:ext cx="10515600" cy="4351338"/>
          </a:xfrm>
        </p:spPr>
        <p:txBody>
          <a:bodyPr>
            <a:normAutofit/>
          </a:bodyPr>
          <a:lstStyle/>
          <a:p>
            <a:pPr marL="742950" indent="-742950">
              <a:buAutoNum type="alphaUcPeriod"/>
            </a:pPr>
            <a:r>
              <a:rPr lang="en-PH" sz="3600" dirty="0" err="1"/>
              <a:t>Tundras</a:t>
            </a:r>
            <a:endParaRPr lang="en-PH" sz="3600" dirty="0"/>
          </a:p>
          <a:p>
            <a:pPr marL="742950" indent="-742950">
              <a:buAutoNum type="alphaUcPeriod"/>
            </a:pPr>
            <a:r>
              <a:rPr lang="en-PH" sz="3600" dirty="0"/>
              <a:t>Savannas</a:t>
            </a:r>
          </a:p>
          <a:p>
            <a:pPr marL="742950" indent="-742950">
              <a:buAutoNum type="alphaUcPeriod"/>
            </a:pPr>
            <a:r>
              <a:rPr lang="en-PH" sz="3600" dirty="0"/>
              <a:t>Biomes</a:t>
            </a:r>
          </a:p>
          <a:p>
            <a:pPr marL="742950" indent="-742950">
              <a:buAutoNum type="alphaUcPeriod"/>
            </a:pPr>
            <a:r>
              <a:rPr lang="en-PH" sz="3600" dirty="0"/>
              <a:t>ecosystems</a:t>
            </a:r>
          </a:p>
        </p:txBody>
      </p:sp>
    </p:spTree>
    <p:extLst>
      <p:ext uri="{BB962C8B-B14F-4D97-AF65-F5344CB8AC3E}">
        <p14:creationId xmlns:p14="http://schemas.microsoft.com/office/powerpoint/2010/main" val="21739082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303330"/>
            <a:ext cx="10515600" cy="1325563"/>
          </a:xfrm>
        </p:spPr>
        <p:txBody>
          <a:bodyPr>
            <a:noAutofit/>
          </a:bodyPr>
          <a:lstStyle/>
          <a:p>
            <a:pPr algn="just"/>
            <a:r>
              <a:rPr lang="en-PH" dirty="0"/>
              <a:t>36. Which term refers to life zones – all plants, animals, other organisms, and the physical environment in a particular area?</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36836"/>
            <a:ext cx="10515600" cy="4351338"/>
          </a:xfrm>
        </p:spPr>
        <p:txBody>
          <a:bodyPr>
            <a:normAutofit/>
          </a:bodyPr>
          <a:lstStyle/>
          <a:p>
            <a:pPr marL="742950" indent="-742950">
              <a:buAutoNum type="alphaUcPeriod"/>
            </a:pPr>
            <a:r>
              <a:rPr lang="en-PH" sz="3600" dirty="0" err="1"/>
              <a:t>Tundras</a:t>
            </a:r>
            <a:endParaRPr lang="en-PH" sz="3600" dirty="0"/>
          </a:p>
          <a:p>
            <a:pPr marL="742950" indent="-742950">
              <a:buAutoNum type="alphaUcPeriod"/>
            </a:pPr>
            <a:r>
              <a:rPr lang="en-PH" sz="3600" dirty="0"/>
              <a:t>Savannas</a:t>
            </a:r>
          </a:p>
          <a:p>
            <a:pPr marL="742950" indent="-742950">
              <a:buAutoNum type="alphaUcPeriod"/>
            </a:pPr>
            <a:r>
              <a:rPr lang="en-PH" sz="3600" dirty="0"/>
              <a:t>Biomes</a:t>
            </a:r>
          </a:p>
          <a:p>
            <a:pPr marL="742950" indent="-742950">
              <a:buAutoNum type="alphaUcPeriod"/>
            </a:pPr>
            <a:r>
              <a:rPr lang="en-PH" sz="3600" dirty="0">
                <a:solidFill>
                  <a:srgbClr val="FF0000"/>
                </a:solidFill>
              </a:rPr>
              <a:t>ecosystems</a:t>
            </a:r>
          </a:p>
        </p:txBody>
      </p:sp>
    </p:spTree>
    <p:extLst>
      <p:ext uri="{BB962C8B-B14F-4D97-AF65-F5344CB8AC3E}">
        <p14:creationId xmlns:p14="http://schemas.microsoft.com/office/powerpoint/2010/main" val="15251483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37. What is a culturally and politically fragmented region shaped by the collisions of stronger aggressive external powers?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99766"/>
            <a:ext cx="10515600" cy="4351338"/>
          </a:xfrm>
        </p:spPr>
        <p:txBody>
          <a:bodyPr>
            <a:normAutofit/>
          </a:bodyPr>
          <a:lstStyle/>
          <a:p>
            <a:pPr marL="742950" indent="-742950">
              <a:buAutoNum type="alphaUcPeriod"/>
            </a:pPr>
            <a:r>
              <a:rPr lang="en-PH" sz="3600" dirty="0"/>
              <a:t>Southeast Asia</a:t>
            </a:r>
          </a:p>
          <a:p>
            <a:pPr marL="742950" indent="-742950">
              <a:buAutoNum type="alphaUcPeriod"/>
            </a:pPr>
            <a:r>
              <a:rPr lang="en-PH" sz="3600" dirty="0" err="1"/>
              <a:t>Spratlys</a:t>
            </a:r>
            <a:endParaRPr lang="en-PH" sz="3600" dirty="0"/>
          </a:p>
          <a:p>
            <a:pPr marL="742950" indent="-742950">
              <a:buAutoNum type="alphaUcPeriod"/>
            </a:pPr>
            <a:r>
              <a:rPr lang="en-PH" sz="3600" dirty="0" err="1"/>
              <a:t>Shatterbelt</a:t>
            </a:r>
            <a:endParaRPr lang="en-PH" sz="3600" dirty="0"/>
          </a:p>
          <a:p>
            <a:pPr marL="742950" indent="-742950">
              <a:buAutoNum type="alphaUcPeriod"/>
            </a:pPr>
            <a:r>
              <a:rPr lang="en-PH" sz="3600" dirty="0"/>
              <a:t>Buffer Zone</a:t>
            </a:r>
          </a:p>
        </p:txBody>
      </p:sp>
    </p:spTree>
    <p:extLst>
      <p:ext uri="{BB962C8B-B14F-4D97-AF65-F5344CB8AC3E}">
        <p14:creationId xmlns:p14="http://schemas.microsoft.com/office/powerpoint/2010/main" val="358037433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37. What is a culturally and politically fragmented region shaped by the collisions of stronger aggressive external powers?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99766"/>
            <a:ext cx="10515600" cy="4351338"/>
          </a:xfrm>
        </p:spPr>
        <p:txBody>
          <a:bodyPr>
            <a:normAutofit/>
          </a:bodyPr>
          <a:lstStyle/>
          <a:p>
            <a:pPr marL="742950" indent="-742950">
              <a:buAutoNum type="alphaUcPeriod"/>
            </a:pPr>
            <a:r>
              <a:rPr lang="en-PH" sz="3600" dirty="0"/>
              <a:t>Southeast Asia</a:t>
            </a:r>
          </a:p>
          <a:p>
            <a:pPr marL="742950" indent="-742950">
              <a:buAutoNum type="alphaUcPeriod"/>
            </a:pPr>
            <a:r>
              <a:rPr lang="en-PH" sz="3600" dirty="0" err="1"/>
              <a:t>Spratlys</a:t>
            </a:r>
            <a:endParaRPr lang="en-PH" sz="3600" dirty="0"/>
          </a:p>
          <a:p>
            <a:pPr marL="742950" indent="-742950">
              <a:buAutoNum type="alphaUcPeriod"/>
            </a:pPr>
            <a:r>
              <a:rPr lang="en-PH" sz="3600" dirty="0" err="1"/>
              <a:t>Shatterbelt</a:t>
            </a:r>
            <a:endParaRPr lang="en-PH" sz="3600" dirty="0"/>
          </a:p>
          <a:p>
            <a:pPr marL="742950" indent="-742950">
              <a:buAutoNum type="alphaUcPeriod"/>
            </a:pPr>
            <a:r>
              <a:rPr lang="en-PH" sz="3600" dirty="0">
                <a:solidFill>
                  <a:srgbClr val="FF0000"/>
                </a:solidFill>
              </a:rPr>
              <a:t>Buffer Zone</a:t>
            </a:r>
          </a:p>
        </p:txBody>
      </p:sp>
    </p:spTree>
    <p:extLst>
      <p:ext uri="{BB962C8B-B14F-4D97-AF65-F5344CB8AC3E}">
        <p14:creationId xmlns:p14="http://schemas.microsoft.com/office/powerpoint/2010/main" val="28458846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38. Which era in the Philippine history is characterized by a political and economic liberalism?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75052"/>
            <a:ext cx="10515600" cy="4351338"/>
          </a:xfrm>
        </p:spPr>
        <p:txBody>
          <a:bodyPr>
            <a:normAutofit/>
          </a:bodyPr>
          <a:lstStyle/>
          <a:p>
            <a:pPr marL="742950" indent="-742950">
              <a:buAutoNum type="alphaUcPeriod"/>
            </a:pPr>
            <a:r>
              <a:rPr lang="en-PH" sz="3600" dirty="0"/>
              <a:t>Japanese</a:t>
            </a:r>
          </a:p>
          <a:p>
            <a:pPr marL="742950" indent="-742950">
              <a:buAutoNum type="alphaUcPeriod"/>
            </a:pPr>
            <a:r>
              <a:rPr lang="en-PH" sz="3600" dirty="0"/>
              <a:t>American</a:t>
            </a:r>
          </a:p>
          <a:p>
            <a:pPr marL="742950" indent="-742950">
              <a:buAutoNum type="alphaUcPeriod"/>
            </a:pPr>
            <a:r>
              <a:rPr lang="en-PH" sz="3600" dirty="0"/>
              <a:t>Spanish</a:t>
            </a:r>
          </a:p>
          <a:p>
            <a:pPr marL="742950" indent="-742950">
              <a:buAutoNum type="alphaUcPeriod"/>
            </a:pPr>
            <a:r>
              <a:rPr lang="en-PH" sz="3600" dirty="0"/>
              <a:t>Pre-</a:t>
            </a:r>
            <a:r>
              <a:rPr lang="en-PH" sz="3600" dirty="0" err="1"/>
              <a:t>spanish</a:t>
            </a:r>
            <a:endParaRPr lang="en-PH" sz="3600" dirty="0"/>
          </a:p>
        </p:txBody>
      </p:sp>
    </p:spTree>
    <p:extLst>
      <p:ext uri="{BB962C8B-B14F-4D97-AF65-F5344CB8AC3E}">
        <p14:creationId xmlns:p14="http://schemas.microsoft.com/office/powerpoint/2010/main" val="41200396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38. Which era in the Philippine history is characterized by a political and economic liberalism?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75052"/>
            <a:ext cx="10515600" cy="4351338"/>
          </a:xfrm>
        </p:spPr>
        <p:txBody>
          <a:bodyPr>
            <a:normAutofit/>
          </a:bodyPr>
          <a:lstStyle/>
          <a:p>
            <a:pPr marL="742950" indent="-742950">
              <a:buAutoNum type="alphaUcPeriod"/>
            </a:pPr>
            <a:r>
              <a:rPr lang="en-PH" sz="3600" dirty="0"/>
              <a:t>Japanese</a:t>
            </a:r>
          </a:p>
          <a:p>
            <a:pPr marL="742950" indent="-742950">
              <a:buAutoNum type="alphaUcPeriod"/>
            </a:pPr>
            <a:r>
              <a:rPr lang="en-PH" sz="3600" dirty="0"/>
              <a:t>American</a:t>
            </a:r>
          </a:p>
          <a:p>
            <a:pPr marL="742950" indent="-742950">
              <a:buAutoNum type="alphaUcPeriod"/>
            </a:pPr>
            <a:r>
              <a:rPr lang="en-PH" sz="3600" dirty="0"/>
              <a:t>Spanish</a:t>
            </a:r>
          </a:p>
          <a:p>
            <a:pPr marL="742950" indent="-742950">
              <a:buAutoNum type="alphaUcPeriod"/>
            </a:pPr>
            <a:r>
              <a:rPr lang="en-PH" sz="3600" dirty="0">
                <a:solidFill>
                  <a:srgbClr val="FF0000"/>
                </a:solidFill>
              </a:rPr>
              <a:t>Pre-</a:t>
            </a:r>
            <a:r>
              <a:rPr lang="en-PH" sz="3600" dirty="0" err="1">
                <a:solidFill>
                  <a:srgbClr val="FF0000"/>
                </a:solidFill>
              </a:rPr>
              <a:t>spanish</a:t>
            </a:r>
            <a:endParaRPr lang="en-PH" sz="3600" dirty="0">
              <a:solidFill>
                <a:srgbClr val="FF0000"/>
              </a:solidFill>
            </a:endParaRPr>
          </a:p>
        </p:txBody>
      </p:sp>
    </p:spTree>
    <p:extLst>
      <p:ext uri="{BB962C8B-B14F-4D97-AF65-F5344CB8AC3E}">
        <p14:creationId xmlns:p14="http://schemas.microsoft.com/office/powerpoint/2010/main" val="22102472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39. On what ground was the election of Andres Bonifacio as Director of the Interior protested?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50338"/>
            <a:ext cx="10515600" cy="4351338"/>
          </a:xfrm>
        </p:spPr>
        <p:txBody>
          <a:bodyPr>
            <a:normAutofit/>
          </a:bodyPr>
          <a:lstStyle/>
          <a:p>
            <a:pPr marL="742950" indent="-742950">
              <a:buAutoNum type="alphaUcPeriod"/>
            </a:pPr>
            <a:r>
              <a:rPr lang="en-PH" sz="3600" dirty="0"/>
              <a:t>Age</a:t>
            </a:r>
          </a:p>
          <a:p>
            <a:pPr marL="742950" indent="-742950">
              <a:buAutoNum type="alphaUcPeriod"/>
            </a:pPr>
            <a:r>
              <a:rPr lang="en-PH" sz="3600" dirty="0"/>
              <a:t>Lack of qualification</a:t>
            </a:r>
          </a:p>
          <a:p>
            <a:pPr marL="742950" indent="-742950">
              <a:buAutoNum type="alphaUcPeriod"/>
            </a:pPr>
            <a:r>
              <a:rPr lang="en-PH" sz="3600" dirty="0"/>
              <a:t>Civil status</a:t>
            </a:r>
          </a:p>
          <a:p>
            <a:pPr marL="742950" indent="-742950">
              <a:buAutoNum type="alphaUcPeriod"/>
            </a:pPr>
            <a:r>
              <a:rPr lang="en-PH" sz="3600" dirty="0"/>
              <a:t>Residence</a:t>
            </a:r>
          </a:p>
        </p:txBody>
      </p:sp>
    </p:spTree>
    <p:extLst>
      <p:ext uri="{BB962C8B-B14F-4D97-AF65-F5344CB8AC3E}">
        <p14:creationId xmlns:p14="http://schemas.microsoft.com/office/powerpoint/2010/main" val="7498377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39. On what ground was the election of Andres Bonifacio as Director of the Interior protested?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50338"/>
            <a:ext cx="10515600" cy="4351338"/>
          </a:xfrm>
        </p:spPr>
        <p:txBody>
          <a:bodyPr>
            <a:normAutofit/>
          </a:bodyPr>
          <a:lstStyle/>
          <a:p>
            <a:pPr marL="742950" indent="-742950">
              <a:buAutoNum type="alphaUcPeriod"/>
            </a:pPr>
            <a:r>
              <a:rPr lang="en-PH" sz="3600" dirty="0"/>
              <a:t>Age</a:t>
            </a:r>
          </a:p>
          <a:p>
            <a:pPr marL="742950" indent="-742950">
              <a:buAutoNum type="alphaUcPeriod"/>
            </a:pPr>
            <a:r>
              <a:rPr lang="en-PH" sz="3600" dirty="0">
                <a:solidFill>
                  <a:srgbClr val="FF0000"/>
                </a:solidFill>
              </a:rPr>
              <a:t>Lack of qualification</a:t>
            </a:r>
          </a:p>
          <a:p>
            <a:pPr marL="742950" indent="-742950">
              <a:buAutoNum type="alphaUcPeriod"/>
            </a:pPr>
            <a:r>
              <a:rPr lang="en-PH" sz="3600" dirty="0"/>
              <a:t>Civil status</a:t>
            </a:r>
          </a:p>
          <a:p>
            <a:pPr marL="742950" indent="-742950">
              <a:buAutoNum type="alphaUcPeriod"/>
            </a:pPr>
            <a:r>
              <a:rPr lang="en-PH" sz="3600" dirty="0"/>
              <a:t>Residence</a:t>
            </a:r>
          </a:p>
        </p:txBody>
      </p:sp>
    </p:spTree>
    <p:extLst>
      <p:ext uri="{BB962C8B-B14F-4D97-AF65-F5344CB8AC3E}">
        <p14:creationId xmlns:p14="http://schemas.microsoft.com/office/powerpoint/2010/main" val="41743924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40. Homo erectus developed form the 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Homo habilis</a:t>
            </a:r>
          </a:p>
          <a:p>
            <a:pPr marL="742950" indent="-742950">
              <a:buAutoNum type="alphaUcPeriod"/>
            </a:pPr>
            <a:r>
              <a:rPr lang="en-PH" sz="3600" dirty="0"/>
              <a:t>Homo sapiens </a:t>
            </a:r>
            <a:r>
              <a:rPr lang="en-PH" sz="3600" dirty="0" err="1"/>
              <a:t>sapiens</a:t>
            </a:r>
            <a:endParaRPr lang="en-PH" sz="3600" dirty="0"/>
          </a:p>
          <a:p>
            <a:pPr marL="742950" indent="-742950">
              <a:buAutoNum type="alphaUcPeriod"/>
            </a:pPr>
            <a:r>
              <a:rPr lang="en-PH" sz="3600" dirty="0"/>
              <a:t>Homo sapiens</a:t>
            </a:r>
          </a:p>
          <a:p>
            <a:pPr marL="742950" indent="-742950">
              <a:buAutoNum type="alphaUcPeriod"/>
            </a:pPr>
            <a:r>
              <a:rPr lang="en-PH" sz="3600" dirty="0" err="1"/>
              <a:t>austrolopithecine</a:t>
            </a:r>
            <a:endParaRPr lang="en-PH" sz="3600" dirty="0"/>
          </a:p>
        </p:txBody>
      </p:sp>
    </p:spTree>
    <p:extLst>
      <p:ext uri="{BB962C8B-B14F-4D97-AF65-F5344CB8AC3E}">
        <p14:creationId xmlns:p14="http://schemas.microsoft.com/office/powerpoint/2010/main" val="4984564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40. Homo erectus developed form the 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Homo habilis</a:t>
            </a:r>
          </a:p>
          <a:p>
            <a:pPr marL="742950" indent="-742950">
              <a:buAutoNum type="alphaUcPeriod"/>
            </a:pPr>
            <a:r>
              <a:rPr lang="en-PH" sz="3600" dirty="0"/>
              <a:t>Homo sapiens </a:t>
            </a:r>
            <a:r>
              <a:rPr lang="en-PH" sz="3600" dirty="0" err="1"/>
              <a:t>sapiens</a:t>
            </a:r>
            <a:endParaRPr lang="en-PH" sz="3600" dirty="0"/>
          </a:p>
          <a:p>
            <a:pPr marL="742950" indent="-742950">
              <a:buAutoNum type="alphaUcPeriod"/>
            </a:pPr>
            <a:r>
              <a:rPr lang="en-PH" sz="3600" dirty="0"/>
              <a:t>Homo sapiens</a:t>
            </a:r>
          </a:p>
          <a:p>
            <a:pPr marL="742950" indent="-742950">
              <a:buAutoNum type="alphaUcPeriod"/>
            </a:pPr>
            <a:r>
              <a:rPr lang="en-PH" sz="3600" dirty="0" err="1"/>
              <a:t>austrolopithecine</a:t>
            </a:r>
            <a:endParaRPr lang="en-PH" sz="3600" dirty="0"/>
          </a:p>
        </p:txBody>
      </p:sp>
    </p:spTree>
    <p:extLst>
      <p:ext uri="{BB962C8B-B14F-4D97-AF65-F5344CB8AC3E}">
        <p14:creationId xmlns:p14="http://schemas.microsoft.com/office/powerpoint/2010/main" val="15674473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41. Which of the following events was first to occur?</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The execution of Rizal at Bagumbayan</a:t>
            </a:r>
          </a:p>
          <a:p>
            <a:pPr marL="742950" indent="-742950" algn="just">
              <a:buAutoNum type="alphaUcPeriod"/>
            </a:pPr>
            <a:r>
              <a:rPr lang="en-PH" sz="3600" dirty="0"/>
              <a:t>The Cry of Balintawak</a:t>
            </a:r>
          </a:p>
          <a:p>
            <a:pPr marL="742950" indent="-742950" algn="just">
              <a:buAutoNum type="alphaUcPeriod"/>
            </a:pPr>
            <a:r>
              <a:rPr lang="en-PH" sz="3600" dirty="0"/>
              <a:t>The trial and execution of Bonifacio</a:t>
            </a:r>
          </a:p>
          <a:p>
            <a:pPr marL="742950" indent="-742950" algn="just">
              <a:buAutoNum type="alphaUcPeriod"/>
            </a:pPr>
            <a:r>
              <a:rPr lang="en-PH" sz="3600" dirty="0"/>
              <a:t>The proclamation of Philippine Independence at </a:t>
            </a:r>
            <a:r>
              <a:rPr lang="en-PH" sz="3600" dirty="0" err="1"/>
              <a:t>Kawit</a:t>
            </a:r>
            <a:r>
              <a:rPr lang="en-PH" sz="3600" dirty="0"/>
              <a:t>, Cavite</a:t>
            </a:r>
          </a:p>
        </p:txBody>
      </p:sp>
    </p:spTree>
    <p:extLst>
      <p:ext uri="{BB962C8B-B14F-4D97-AF65-F5344CB8AC3E}">
        <p14:creationId xmlns:p14="http://schemas.microsoft.com/office/powerpoint/2010/main" val="42431606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41. Which of the following events was first to occur?</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The execution of Rizal at Bagumbayan</a:t>
            </a:r>
          </a:p>
          <a:p>
            <a:pPr marL="742950" indent="-742950" algn="just">
              <a:buAutoNum type="alphaUcPeriod"/>
            </a:pPr>
            <a:r>
              <a:rPr lang="en-PH" sz="3600" dirty="0">
                <a:solidFill>
                  <a:srgbClr val="FF0000"/>
                </a:solidFill>
              </a:rPr>
              <a:t>The Cry of Balintawak</a:t>
            </a:r>
          </a:p>
          <a:p>
            <a:pPr marL="742950" indent="-742950" algn="just">
              <a:buAutoNum type="alphaUcPeriod"/>
            </a:pPr>
            <a:r>
              <a:rPr lang="en-PH" sz="3600" dirty="0"/>
              <a:t>The trial and execution of Bonifacio</a:t>
            </a:r>
          </a:p>
          <a:p>
            <a:pPr marL="742950" indent="-742950" algn="just">
              <a:buAutoNum type="alphaUcPeriod"/>
            </a:pPr>
            <a:r>
              <a:rPr lang="en-PH" sz="3600" dirty="0"/>
              <a:t>The proclamation of Philippine Independence at </a:t>
            </a:r>
            <a:r>
              <a:rPr lang="en-PH" sz="3600" dirty="0" err="1"/>
              <a:t>Kawit</a:t>
            </a:r>
            <a:r>
              <a:rPr lang="en-PH" sz="3600" dirty="0"/>
              <a:t>, Cavite</a:t>
            </a:r>
          </a:p>
        </p:txBody>
      </p:sp>
    </p:spTree>
    <p:extLst>
      <p:ext uri="{BB962C8B-B14F-4D97-AF65-F5344CB8AC3E}">
        <p14:creationId xmlns:p14="http://schemas.microsoft.com/office/powerpoint/2010/main" val="14659311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42. Which term refers to the reduction of the sentence imposed to a lesser punishment?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Commutation</a:t>
            </a:r>
          </a:p>
          <a:p>
            <a:pPr marL="742950" indent="-742950">
              <a:buAutoNum type="alphaUcPeriod"/>
            </a:pPr>
            <a:r>
              <a:rPr lang="en-PH" sz="3600" dirty="0"/>
              <a:t>Pardon</a:t>
            </a:r>
          </a:p>
          <a:p>
            <a:pPr marL="742950" indent="-742950">
              <a:buAutoNum type="alphaUcPeriod"/>
            </a:pPr>
            <a:r>
              <a:rPr lang="en-PH" sz="3600" dirty="0"/>
              <a:t>Suspension</a:t>
            </a:r>
          </a:p>
          <a:p>
            <a:pPr marL="742950" indent="-742950">
              <a:buAutoNum type="alphaUcPeriod"/>
            </a:pPr>
            <a:r>
              <a:rPr lang="en-PH" sz="3600" dirty="0"/>
              <a:t>Reprieve</a:t>
            </a:r>
          </a:p>
          <a:p>
            <a:pPr marL="0" indent="0">
              <a:buNone/>
            </a:pPr>
            <a:endParaRPr lang="en-PH" sz="3600" dirty="0"/>
          </a:p>
        </p:txBody>
      </p:sp>
    </p:spTree>
    <p:extLst>
      <p:ext uri="{BB962C8B-B14F-4D97-AF65-F5344CB8AC3E}">
        <p14:creationId xmlns:p14="http://schemas.microsoft.com/office/powerpoint/2010/main" val="40477467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42. Which term refers to the reduction of the sentence imposed to a lesser punishment?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Commutation</a:t>
            </a:r>
          </a:p>
          <a:p>
            <a:pPr marL="742950" indent="-742950">
              <a:buAutoNum type="alphaUcPeriod"/>
            </a:pPr>
            <a:r>
              <a:rPr lang="en-PH" sz="3600" dirty="0"/>
              <a:t>Pardon</a:t>
            </a:r>
          </a:p>
          <a:p>
            <a:pPr marL="742950" indent="-742950">
              <a:buAutoNum type="alphaUcPeriod"/>
            </a:pPr>
            <a:r>
              <a:rPr lang="en-PH" sz="3600" dirty="0"/>
              <a:t>Suspension</a:t>
            </a:r>
          </a:p>
          <a:p>
            <a:pPr marL="742950" indent="-742950">
              <a:buAutoNum type="alphaUcPeriod"/>
            </a:pPr>
            <a:r>
              <a:rPr lang="en-PH" sz="3600" dirty="0"/>
              <a:t>Reprieve</a:t>
            </a:r>
          </a:p>
          <a:p>
            <a:pPr marL="0" indent="0">
              <a:buNone/>
            </a:pPr>
            <a:endParaRPr lang="en-PH" sz="3600" dirty="0"/>
          </a:p>
        </p:txBody>
      </p:sp>
    </p:spTree>
    <p:extLst>
      <p:ext uri="{BB962C8B-B14F-4D97-AF65-F5344CB8AC3E}">
        <p14:creationId xmlns:p14="http://schemas.microsoft.com/office/powerpoint/2010/main" val="3980137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43. “There are no tyrants where there are no slaves”, said Rizal during the Spanish period. What message did Rizal want to put across?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23334"/>
            <a:ext cx="10515600" cy="4351338"/>
          </a:xfrm>
        </p:spPr>
        <p:txBody>
          <a:bodyPr>
            <a:normAutofit/>
          </a:bodyPr>
          <a:lstStyle/>
          <a:p>
            <a:pPr marL="742950" indent="-742950">
              <a:buAutoNum type="alphaUcPeriod"/>
            </a:pPr>
            <a:r>
              <a:rPr lang="en-PH" sz="3600" dirty="0"/>
              <a:t>The Filipinos needed to reform themselves</a:t>
            </a:r>
          </a:p>
          <a:p>
            <a:pPr marL="742950" indent="-742950">
              <a:buAutoNum type="alphaUcPeriod"/>
            </a:pPr>
            <a:r>
              <a:rPr lang="en-PH" sz="3600" dirty="0"/>
              <a:t>There will always be tyrants</a:t>
            </a:r>
          </a:p>
          <a:p>
            <a:pPr marL="742950" indent="-742950">
              <a:buAutoNum type="alphaUcPeriod"/>
            </a:pPr>
            <a:r>
              <a:rPr lang="en-PH" sz="3600" dirty="0"/>
              <a:t>The slaves preferred slavery to freedom</a:t>
            </a:r>
          </a:p>
          <a:p>
            <a:pPr marL="742950" indent="-742950">
              <a:buAutoNum type="alphaUcPeriod"/>
            </a:pPr>
            <a:r>
              <a:rPr lang="en-PH" sz="3600" dirty="0"/>
              <a:t>There will be slaves</a:t>
            </a:r>
          </a:p>
        </p:txBody>
      </p:sp>
    </p:spTree>
    <p:extLst>
      <p:ext uri="{BB962C8B-B14F-4D97-AF65-F5344CB8AC3E}">
        <p14:creationId xmlns:p14="http://schemas.microsoft.com/office/powerpoint/2010/main" val="38527276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43. “There are no tyrants where there are no slaves”, said Rizal during the Spanish period. What message did Rizal want to put across?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23334"/>
            <a:ext cx="10515600" cy="4351338"/>
          </a:xfrm>
        </p:spPr>
        <p:txBody>
          <a:bodyPr>
            <a:normAutofit/>
          </a:bodyPr>
          <a:lstStyle/>
          <a:p>
            <a:pPr marL="742950" indent="-742950">
              <a:buAutoNum type="alphaUcPeriod"/>
            </a:pPr>
            <a:r>
              <a:rPr lang="en-PH" sz="3600" dirty="0">
                <a:solidFill>
                  <a:srgbClr val="FF0000"/>
                </a:solidFill>
              </a:rPr>
              <a:t>The Filipinos needed to reform themselves</a:t>
            </a:r>
          </a:p>
          <a:p>
            <a:pPr marL="742950" indent="-742950">
              <a:buAutoNum type="alphaUcPeriod"/>
            </a:pPr>
            <a:r>
              <a:rPr lang="en-PH" sz="3600" dirty="0"/>
              <a:t>There will always be tyrants</a:t>
            </a:r>
          </a:p>
          <a:p>
            <a:pPr marL="742950" indent="-742950">
              <a:buAutoNum type="alphaUcPeriod"/>
            </a:pPr>
            <a:r>
              <a:rPr lang="en-PH" sz="3600" dirty="0"/>
              <a:t>The slaves preferred slavery to freedom</a:t>
            </a:r>
          </a:p>
          <a:p>
            <a:pPr marL="742950" indent="-742950">
              <a:buAutoNum type="alphaUcPeriod"/>
            </a:pPr>
            <a:r>
              <a:rPr lang="en-PH" sz="3600" dirty="0"/>
              <a:t>There will be slaves</a:t>
            </a:r>
          </a:p>
        </p:txBody>
      </p:sp>
    </p:spTree>
    <p:extLst>
      <p:ext uri="{BB962C8B-B14F-4D97-AF65-F5344CB8AC3E}">
        <p14:creationId xmlns:p14="http://schemas.microsoft.com/office/powerpoint/2010/main" val="11839966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44. Which of the following taxes is imposed by local government?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Real property tax</a:t>
            </a:r>
          </a:p>
          <a:p>
            <a:pPr marL="742950" indent="-742950">
              <a:buAutoNum type="alphaUcPeriod"/>
            </a:pPr>
            <a:r>
              <a:rPr lang="en-PH" sz="3600" dirty="0"/>
              <a:t>Service cooperative</a:t>
            </a:r>
          </a:p>
          <a:p>
            <a:pPr marL="742950" indent="-742950">
              <a:buAutoNum type="alphaUcPeriod"/>
            </a:pPr>
            <a:r>
              <a:rPr lang="en-PH" sz="3600" dirty="0"/>
              <a:t>Documentary stamp tax</a:t>
            </a:r>
          </a:p>
          <a:p>
            <a:pPr marL="742950" indent="-742950">
              <a:buAutoNum type="alphaUcPeriod"/>
            </a:pPr>
            <a:r>
              <a:rPr lang="en-PH" sz="3600" dirty="0"/>
              <a:t>Income tax</a:t>
            </a:r>
          </a:p>
        </p:txBody>
      </p:sp>
    </p:spTree>
    <p:extLst>
      <p:ext uri="{BB962C8B-B14F-4D97-AF65-F5344CB8AC3E}">
        <p14:creationId xmlns:p14="http://schemas.microsoft.com/office/powerpoint/2010/main" val="14530759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44. Which of the following taxes is imposed by local government?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Real property tax</a:t>
            </a:r>
          </a:p>
          <a:p>
            <a:pPr marL="742950" indent="-742950">
              <a:buAutoNum type="alphaUcPeriod"/>
            </a:pPr>
            <a:r>
              <a:rPr lang="en-PH" sz="3600" dirty="0"/>
              <a:t>Service cooperative</a:t>
            </a:r>
          </a:p>
          <a:p>
            <a:pPr marL="742950" indent="-742950">
              <a:buAutoNum type="alphaUcPeriod"/>
            </a:pPr>
            <a:r>
              <a:rPr lang="en-PH" sz="3600" dirty="0"/>
              <a:t>Documentary stamp tax</a:t>
            </a:r>
          </a:p>
          <a:p>
            <a:pPr marL="742950" indent="-742950">
              <a:buAutoNum type="alphaUcPeriod"/>
            </a:pPr>
            <a:r>
              <a:rPr lang="en-PH" sz="3600" dirty="0"/>
              <a:t>Income tax</a:t>
            </a:r>
          </a:p>
        </p:txBody>
      </p:sp>
    </p:spTree>
    <p:extLst>
      <p:ext uri="{BB962C8B-B14F-4D97-AF65-F5344CB8AC3E}">
        <p14:creationId xmlns:p14="http://schemas.microsoft.com/office/powerpoint/2010/main" val="33357343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21169"/>
            <a:ext cx="10515600" cy="1325563"/>
          </a:xfrm>
        </p:spPr>
        <p:txBody>
          <a:bodyPr>
            <a:noAutofit/>
          </a:bodyPr>
          <a:lstStyle/>
          <a:p>
            <a:pPr algn="just"/>
            <a:r>
              <a:rPr lang="en-PH" dirty="0"/>
              <a:t>45. Most of the parents in your school are farmers. For agricultural supplies they are provided by a cooperative which sells their farm produce at the same time. Of which type of a cooperative are they members?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23090"/>
            <a:ext cx="10515600" cy="4351338"/>
          </a:xfrm>
        </p:spPr>
        <p:txBody>
          <a:bodyPr>
            <a:normAutofit/>
          </a:bodyPr>
          <a:lstStyle/>
          <a:p>
            <a:pPr marL="742950" indent="-742950">
              <a:buAutoNum type="alphaUcPeriod"/>
            </a:pPr>
            <a:r>
              <a:rPr lang="en-PH" sz="3600" dirty="0"/>
              <a:t>Marketing cooperative</a:t>
            </a:r>
          </a:p>
          <a:p>
            <a:pPr marL="742950" indent="-742950">
              <a:buAutoNum type="alphaUcPeriod"/>
            </a:pPr>
            <a:r>
              <a:rPr lang="en-PH" sz="3600" dirty="0"/>
              <a:t>Service cooperative</a:t>
            </a:r>
          </a:p>
          <a:p>
            <a:pPr marL="742950" indent="-742950">
              <a:buAutoNum type="alphaUcPeriod"/>
            </a:pPr>
            <a:r>
              <a:rPr lang="en-PH" sz="3600" dirty="0"/>
              <a:t>Multi-purpose cooperative</a:t>
            </a:r>
          </a:p>
          <a:p>
            <a:pPr marL="742950" indent="-742950">
              <a:buAutoNum type="alphaUcPeriod"/>
            </a:pPr>
            <a:r>
              <a:rPr lang="en-PH" sz="3600" dirty="0"/>
              <a:t>Producers cooperative</a:t>
            </a:r>
          </a:p>
        </p:txBody>
      </p:sp>
    </p:spTree>
    <p:extLst>
      <p:ext uri="{BB962C8B-B14F-4D97-AF65-F5344CB8AC3E}">
        <p14:creationId xmlns:p14="http://schemas.microsoft.com/office/powerpoint/2010/main" val="323573763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21169"/>
            <a:ext cx="10515600" cy="1325563"/>
          </a:xfrm>
        </p:spPr>
        <p:txBody>
          <a:bodyPr>
            <a:noAutofit/>
          </a:bodyPr>
          <a:lstStyle/>
          <a:p>
            <a:pPr algn="just"/>
            <a:r>
              <a:rPr lang="en-PH" dirty="0"/>
              <a:t>45. Most of the parents in your school are farmers. For agricultural supplies they are provided by a cooperative which sells their farm produce at the same time. Of which type of a cooperative are they members?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23090"/>
            <a:ext cx="10515600" cy="4351338"/>
          </a:xfrm>
        </p:spPr>
        <p:txBody>
          <a:bodyPr>
            <a:normAutofit/>
          </a:bodyPr>
          <a:lstStyle/>
          <a:p>
            <a:pPr marL="742950" indent="-742950">
              <a:buAutoNum type="alphaUcPeriod"/>
            </a:pPr>
            <a:r>
              <a:rPr lang="en-PH" sz="3600" dirty="0"/>
              <a:t>Marketing cooperative</a:t>
            </a:r>
          </a:p>
          <a:p>
            <a:pPr marL="742950" indent="-742950">
              <a:buAutoNum type="alphaUcPeriod"/>
            </a:pPr>
            <a:r>
              <a:rPr lang="en-PH" sz="3600" dirty="0"/>
              <a:t>Service cooperative</a:t>
            </a:r>
          </a:p>
          <a:p>
            <a:pPr marL="742950" indent="-742950">
              <a:buAutoNum type="alphaUcPeriod"/>
            </a:pPr>
            <a:r>
              <a:rPr lang="en-PH" sz="3600" dirty="0"/>
              <a:t>Multi-purpose cooperative</a:t>
            </a:r>
          </a:p>
          <a:p>
            <a:pPr marL="742950" indent="-742950">
              <a:buAutoNum type="alphaUcPeriod"/>
            </a:pPr>
            <a:r>
              <a:rPr lang="en-PH" sz="3600" dirty="0">
                <a:solidFill>
                  <a:srgbClr val="FF0000"/>
                </a:solidFill>
              </a:rPr>
              <a:t>Producers cooperative</a:t>
            </a:r>
          </a:p>
        </p:txBody>
      </p:sp>
    </p:spTree>
    <p:extLst>
      <p:ext uri="{BB962C8B-B14F-4D97-AF65-F5344CB8AC3E}">
        <p14:creationId xmlns:p14="http://schemas.microsoft.com/office/powerpoint/2010/main" val="122602500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46. The time orientation of the Filipino is _______ rather than mathematical.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Situational</a:t>
            </a:r>
          </a:p>
          <a:p>
            <a:pPr marL="742950" indent="-742950">
              <a:buAutoNum type="alphaUcPeriod"/>
            </a:pPr>
            <a:r>
              <a:rPr lang="en-PH" sz="3600" dirty="0"/>
              <a:t>Personal</a:t>
            </a:r>
          </a:p>
          <a:p>
            <a:pPr marL="742950" indent="-742950">
              <a:buAutoNum type="alphaUcPeriod"/>
            </a:pPr>
            <a:r>
              <a:rPr lang="en-PH" sz="3600" dirty="0"/>
              <a:t>Psychological</a:t>
            </a:r>
          </a:p>
          <a:p>
            <a:pPr marL="742950" indent="-742950">
              <a:buAutoNum type="alphaUcPeriod"/>
            </a:pPr>
            <a:r>
              <a:rPr lang="en-PH" sz="3600" dirty="0"/>
              <a:t>Natural</a:t>
            </a:r>
          </a:p>
          <a:p>
            <a:pPr marL="0" indent="0">
              <a:buNone/>
            </a:pPr>
            <a:endParaRPr lang="en-PH" sz="3600" dirty="0"/>
          </a:p>
        </p:txBody>
      </p:sp>
    </p:spTree>
    <p:extLst>
      <p:ext uri="{BB962C8B-B14F-4D97-AF65-F5344CB8AC3E}">
        <p14:creationId xmlns:p14="http://schemas.microsoft.com/office/powerpoint/2010/main" val="76847516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46. The time orientation of the Filipino is _______ rather than mathematical.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Situational</a:t>
            </a:r>
          </a:p>
          <a:p>
            <a:pPr marL="742950" indent="-742950">
              <a:buAutoNum type="alphaUcPeriod"/>
            </a:pPr>
            <a:r>
              <a:rPr lang="en-PH" sz="3600" dirty="0"/>
              <a:t>Personal</a:t>
            </a:r>
          </a:p>
          <a:p>
            <a:pPr marL="742950" indent="-742950">
              <a:buAutoNum type="alphaUcPeriod"/>
            </a:pPr>
            <a:r>
              <a:rPr lang="en-PH" sz="3600" dirty="0"/>
              <a:t>Psychological</a:t>
            </a:r>
          </a:p>
          <a:p>
            <a:pPr marL="742950" indent="-742950">
              <a:buAutoNum type="alphaUcPeriod"/>
            </a:pPr>
            <a:r>
              <a:rPr lang="en-PH" sz="3600" dirty="0"/>
              <a:t>Natural</a:t>
            </a:r>
          </a:p>
          <a:p>
            <a:pPr marL="0" indent="0">
              <a:buNone/>
            </a:pPr>
            <a:endParaRPr lang="en-PH" sz="3600" dirty="0"/>
          </a:p>
        </p:txBody>
      </p:sp>
    </p:spTree>
    <p:extLst>
      <p:ext uri="{BB962C8B-B14F-4D97-AF65-F5344CB8AC3E}">
        <p14:creationId xmlns:p14="http://schemas.microsoft.com/office/powerpoint/2010/main" val="19266557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47. In World War I, which was NOT among the Central Powers?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Italy</a:t>
            </a:r>
          </a:p>
          <a:p>
            <a:pPr marL="742950" indent="-742950">
              <a:buAutoNum type="alphaUcPeriod"/>
            </a:pPr>
            <a:r>
              <a:rPr lang="en-PH" sz="3600" dirty="0"/>
              <a:t>Austria</a:t>
            </a:r>
          </a:p>
          <a:p>
            <a:pPr marL="742950" indent="-742950">
              <a:buAutoNum type="alphaUcPeriod"/>
            </a:pPr>
            <a:r>
              <a:rPr lang="en-PH" sz="3600" dirty="0"/>
              <a:t>Germany</a:t>
            </a:r>
          </a:p>
          <a:p>
            <a:pPr marL="742950" indent="-742950">
              <a:buAutoNum type="alphaUcPeriod"/>
            </a:pPr>
            <a:r>
              <a:rPr lang="en-PH" sz="3600" dirty="0"/>
              <a:t>Hungary</a:t>
            </a:r>
          </a:p>
        </p:txBody>
      </p:sp>
    </p:spTree>
    <p:extLst>
      <p:ext uri="{BB962C8B-B14F-4D97-AF65-F5344CB8AC3E}">
        <p14:creationId xmlns:p14="http://schemas.microsoft.com/office/powerpoint/2010/main" val="17683760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47. In World War I, which was NOT among the Central Powers?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Italy</a:t>
            </a:r>
          </a:p>
          <a:p>
            <a:pPr marL="742950" indent="-742950">
              <a:buAutoNum type="alphaUcPeriod"/>
            </a:pPr>
            <a:r>
              <a:rPr lang="en-PH" sz="3600" dirty="0"/>
              <a:t>Austria</a:t>
            </a:r>
          </a:p>
          <a:p>
            <a:pPr marL="742950" indent="-742950">
              <a:buAutoNum type="alphaUcPeriod"/>
            </a:pPr>
            <a:r>
              <a:rPr lang="en-PH" sz="3600" dirty="0"/>
              <a:t>Germany</a:t>
            </a:r>
          </a:p>
          <a:p>
            <a:pPr marL="742950" indent="-742950">
              <a:buAutoNum type="alphaUcPeriod"/>
            </a:pPr>
            <a:r>
              <a:rPr lang="en-PH" sz="3600" dirty="0"/>
              <a:t>Hungary</a:t>
            </a:r>
          </a:p>
        </p:txBody>
      </p:sp>
    </p:spTree>
    <p:extLst>
      <p:ext uri="{BB962C8B-B14F-4D97-AF65-F5344CB8AC3E}">
        <p14:creationId xmlns:p14="http://schemas.microsoft.com/office/powerpoint/2010/main" val="37985382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712000"/>
            <a:ext cx="10515600" cy="1325563"/>
          </a:xfrm>
        </p:spPr>
        <p:txBody>
          <a:bodyPr>
            <a:noAutofit/>
          </a:bodyPr>
          <a:lstStyle/>
          <a:p>
            <a:pPr algn="just"/>
            <a:r>
              <a:rPr lang="en-PH" sz="3600" dirty="0"/>
              <a:t>48. The state is likened to a human body which consists of three important parts: the head, seat of reason and wisdom; the chest, seat of the will and courage; and abdomen, seat of appetite and temperance. Just as the human body is healthy when its three parts function in harmony, so will a state be good if all its members function in accordance with the three components. The rulers, auxiliaries and workers. Whose teaching was this?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50557" y="4642972"/>
            <a:ext cx="10515600" cy="4351338"/>
          </a:xfrm>
        </p:spPr>
        <p:txBody>
          <a:bodyPr>
            <a:normAutofit/>
          </a:bodyPr>
          <a:lstStyle/>
          <a:p>
            <a:pPr marL="742950" indent="-742950">
              <a:buAutoNum type="alphaUcPeriod"/>
            </a:pPr>
            <a:r>
              <a:rPr lang="en-PH" sz="3600" dirty="0"/>
              <a:t>Jesus Christ			B. 	Socrates</a:t>
            </a:r>
          </a:p>
          <a:p>
            <a:pPr marL="0" indent="0">
              <a:buNone/>
            </a:pPr>
            <a:r>
              <a:rPr lang="en-PH" sz="3600" dirty="0"/>
              <a:t>C.    Plato					D.    Aristotle	</a:t>
            </a:r>
          </a:p>
        </p:txBody>
      </p:sp>
    </p:spTree>
    <p:extLst>
      <p:ext uri="{BB962C8B-B14F-4D97-AF65-F5344CB8AC3E}">
        <p14:creationId xmlns:p14="http://schemas.microsoft.com/office/powerpoint/2010/main" val="416765693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712000"/>
            <a:ext cx="10515600" cy="1325563"/>
          </a:xfrm>
        </p:spPr>
        <p:txBody>
          <a:bodyPr>
            <a:noAutofit/>
          </a:bodyPr>
          <a:lstStyle/>
          <a:p>
            <a:pPr algn="just"/>
            <a:r>
              <a:rPr lang="en-PH" sz="3600" dirty="0"/>
              <a:t>48. The state is likened to a human body which consists of three important parts: the head, seat of reason and wisdom; the chest, seat of the will and courage; and abdomen, seat of appetite and temperance. Just as the human body is healthy when its three parts function in harmony, so will a state be good if all its members function in accordance with the three components. The rulers, auxiliaries and workers. Whose teaching was this?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50557" y="4642972"/>
            <a:ext cx="10515600" cy="4351338"/>
          </a:xfrm>
        </p:spPr>
        <p:txBody>
          <a:bodyPr>
            <a:normAutofit/>
          </a:bodyPr>
          <a:lstStyle/>
          <a:p>
            <a:pPr marL="742950" indent="-742950">
              <a:buAutoNum type="alphaUcPeriod"/>
            </a:pPr>
            <a:r>
              <a:rPr lang="en-PH" sz="3600" dirty="0"/>
              <a:t>Jesus Christ	</a:t>
            </a:r>
            <a:r>
              <a:rPr lang="en-PH" sz="3600" dirty="0">
                <a:solidFill>
                  <a:srgbClr val="FF0000"/>
                </a:solidFill>
              </a:rPr>
              <a:t>		B. 	Socrates</a:t>
            </a:r>
          </a:p>
          <a:p>
            <a:pPr marL="0" indent="0">
              <a:buNone/>
            </a:pPr>
            <a:r>
              <a:rPr lang="en-PH" sz="3600" dirty="0"/>
              <a:t>C.    Plato					D.    Aristotle	</a:t>
            </a:r>
          </a:p>
        </p:txBody>
      </p:sp>
    </p:spTree>
    <p:extLst>
      <p:ext uri="{BB962C8B-B14F-4D97-AF65-F5344CB8AC3E}">
        <p14:creationId xmlns:p14="http://schemas.microsoft.com/office/powerpoint/2010/main" val="242404026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49. Which assumption underlines the Comprehensive Agrarian Reform Program?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Land ownership stimulates investments and greater productivity</a:t>
            </a:r>
          </a:p>
          <a:p>
            <a:pPr marL="742950" indent="-742950" algn="just">
              <a:buAutoNum type="alphaUcPeriod"/>
            </a:pPr>
            <a:r>
              <a:rPr lang="en-PH" sz="3600" dirty="0"/>
              <a:t>Land as a natural resource should not be owned privately</a:t>
            </a:r>
          </a:p>
          <a:p>
            <a:pPr marL="742950" indent="-742950" algn="just">
              <a:buAutoNum type="alphaUcPeriod"/>
            </a:pPr>
            <a:r>
              <a:rPr lang="en-PH" sz="3600" dirty="0"/>
              <a:t>There are many idle lands in the country</a:t>
            </a:r>
          </a:p>
          <a:p>
            <a:pPr marL="742950" indent="-742950" algn="just">
              <a:buAutoNum type="alphaUcPeriod"/>
            </a:pPr>
            <a:r>
              <a:rPr lang="en-PH" sz="3600" dirty="0"/>
              <a:t>Share tenancy contributes to high morale of farmers more than lease tenancy</a:t>
            </a:r>
          </a:p>
        </p:txBody>
      </p:sp>
    </p:spTree>
    <p:extLst>
      <p:ext uri="{BB962C8B-B14F-4D97-AF65-F5344CB8AC3E}">
        <p14:creationId xmlns:p14="http://schemas.microsoft.com/office/powerpoint/2010/main" val="19354596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49. Which assumption underlines the Comprehensive Agrarian Reform Program?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solidFill>
                  <a:srgbClr val="FF0000"/>
                </a:solidFill>
              </a:rPr>
              <a:t>Land ownership stimulates investments and greater productivity</a:t>
            </a:r>
          </a:p>
          <a:p>
            <a:pPr marL="742950" indent="-742950" algn="just">
              <a:buAutoNum type="alphaUcPeriod"/>
            </a:pPr>
            <a:r>
              <a:rPr lang="en-PH" sz="3600" dirty="0"/>
              <a:t>Land as a natural resource should not be owned privately</a:t>
            </a:r>
          </a:p>
          <a:p>
            <a:pPr marL="742950" indent="-742950" algn="just">
              <a:buAutoNum type="alphaUcPeriod"/>
            </a:pPr>
            <a:r>
              <a:rPr lang="en-PH" sz="3600" dirty="0"/>
              <a:t>There are many idle lands in the country</a:t>
            </a:r>
          </a:p>
          <a:p>
            <a:pPr marL="742950" indent="-742950" algn="just">
              <a:buAutoNum type="alphaUcPeriod"/>
            </a:pPr>
            <a:r>
              <a:rPr lang="en-PH" sz="3600" dirty="0"/>
              <a:t>Share tenancy contributes to high morale of farmers more than lease tenancy</a:t>
            </a:r>
          </a:p>
        </p:txBody>
      </p:sp>
    </p:spTree>
    <p:extLst>
      <p:ext uri="{BB962C8B-B14F-4D97-AF65-F5344CB8AC3E}">
        <p14:creationId xmlns:p14="http://schemas.microsoft.com/office/powerpoint/2010/main" val="21271198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50. The following describe membership in a cooperative EXCEPT _____________.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Open</a:t>
            </a:r>
          </a:p>
          <a:p>
            <a:pPr marL="742950" indent="-742950">
              <a:buAutoNum type="alphaUcPeriod"/>
            </a:pPr>
            <a:r>
              <a:rPr lang="en-PH" sz="3600" dirty="0"/>
              <a:t>Exclusive</a:t>
            </a:r>
          </a:p>
          <a:p>
            <a:pPr marL="742950" indent="-742950">
              <a:buAutoNum type="alphaUcPeriod"/>
            </a:pPr>
            <a:r>
              <a:rPr lang="en-PH" sz="3600" dirty="0"/>
              <a:t>Inclusive</a:t>
            </a:r>
          </a:p>
          <a:p>
            <a:pPr marL="742950" indent="-742950">
              <a:buAutoNum type="alphaUcPeriod"/>
            </a:pPr>
            <a:r>
              <a:rPr lang="en-PH" sz="3600" dirty="0"/>
              <a:t>Voluntary</a:t>
            </a:r>
          </a:p>
        </p:txBody>
      </p:sp>
    </p:spTree>
    <p:extLst>
      <p:ext uri="{BB962C8B-B14F-4D97-AF65-F5344CB8AC3E}">
        <p14:creationId xmlns:p14="http://schemas.microsoft.com/office/powerpoint/2010/main" val="115960566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50. The following describe membership in a cooperative EXCEPT _____________.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Open</a:t>
            </a:r>
          </a:p>
          <a:p>
            <a:pPr marL="742950" indent="-742950">
              <a:buAutoNum type="alphaUcPeriod"/>
            </a:pPr>
            <a:r>
              <a:rPr lang="en-PH" sz="3600" dirty="0">
                <a:solidFill>
                  <a:srgbClr val="FF0000"/>
                </a:solidFill>
              </a:rPr>
              <a:t>Exclusive</a:t>
            </a:r>
          </a:p>
          <a:p>
            <a:pPr marL="742950" indent="-742950">
              <a:buAutoNum type="alphaUcPeriod"/>
            </a:pPr>
            <a:r>
              <a:rPr lang="en-PH" sz="3600" dirty="0"/>
              <a:t>Inclusive</a:t>
            </a:r>
          </a:p>
          <a:p>
            <a:pPr marL="742950" indent="-742950">
              <a:buAutoNum type="alphaUcPeriod"/>
            </a:pPr>
            <a:r>
              <a:rPr lang="en-PH" sz="3600" dirty="0"/>
              <a:t>Voluntary</a:t>
            </a:r>
          </a:p>
        </p:txBody>
      </p:sp>
    </p:spTree>
    <p:extLst>
      <p:ext uri="{BB962C8B-B14F-4D97-AF65-F5344CB8AC3E}">
        <p14:creationId xmlns:p14="http://schemas.microsoft.com/office/powerpoint/2010/main" val="12810184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51. With which group of foreigners did our ancestors trade extensively before the coming of Magellan?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23334"/>
            <a:ext cx="10515600" cy="4351338"/>
          </a:xfrm>
        </p:spPr>
        <p:txBody>
          <a:bodyPr>
            <a:normAutofit/>
          </a:bodyPr>
          <a:lstStyle/>
          <a:p>
            <a:pPr marL="742950" indent="-742950">
              <a:buAutoNum type="alphaUcPeriod"/>
            </a:pPr>
            <a:r>
              <a:rPr lang="en-PH" sz="3600" dirty="0"/>
              <a:t>The Spaniards</a:t>
            </a:r>
          </a:p>
          <a:p>
            <a:pPr marL="742950" indent="-742950">
              <a:buAutoNum type="alphaUcPeriod"/>
            </a:pPr>
            <a:r>
              <a:rPr lang="en-PH" sz="3600" dirty="0"/>
              <a:t>The </a:t>
            </a:r>
            <a:r>
              <a:rPr lang="en-PH" sz="3600" dirty="0" err="1"/>
              <a:t>Nigritos</a:t>
            </a:r>
            <a:endParaRPr lang="en-PH" sz="3600" dirty="0"/>
          </a:p>
          <a:p>
            <a:pPr marL="742950" indent="-742950">
              <a:buAutoNum type="alphaUcPeriod"/>
            </a:pPr>
            <a:r>
              <a:rPr lang="en-PH" sz="3600" dirty="0"/>
              <a:t>The Mexicans</a:t>
            </a:r>
          </a:p>
          <a:p>
            <a:pPr marL="742950" indent="-742950">
              <a:buAutoNum type="alphaUcPeriod"/>
            </a:pPr>
            <a:r>
              <a:rPr lang="en-PH" sz="3600" dirty="0"/>
              <a:t>The Chinese</a:t>
            </a:r>
          </a:p>
        </p:txBody>
      </p:sp>
    </p:spTree>
    <p:extLst>
      <p:ext uri="{BB962C8B-B14F-4D97-AF65-F5344CB8AC3E}">
        <p14:creationId xmlns:p14="http://schemas.microsoft.com/office/powerpoint/2010/main" val="15660130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51. With which group of foreigners did our ancestors trade extensively before the coming of Magellan?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23334"/>
            <a:ext cx="10515600" cy="4351338"/>
          </a:xfrm>
        </p:spPr>
        <p:txBody>
          <a:bodyPr>
            <a:normAutofit/>
          </a:bodyPr>
          <a:lstStyle/>
          <a:p>
            <a:pPr marL="742950" indent="-742950">
              <a:buAutoNum type="alphaUcPeriod"/>
            </a:pPr>
            <a:r>
              <a:rPr lang="en-PH" sz="3600" dirty="0"/>
              <a:t>The Spaniards</a:t>
            </a:r>
          </a:p>
          <a:p>
            <a:pPr marL="742950" indent="-742950">
              <a:buAutoNum type="alphaUcPeriod"/>
            </a:pPr>
            <a:r>
              <a:rPr lang="en-PH" sz="3600" dirty="0"/>
              <a:t>The </a:t>
            </a:r>
            <a:r>
              <a:rPr lang="en-PH" sz="3600" dirty="0" err="1"/>
              <a:t>Nigritos</a:t>
            </a:r>
            <a:endParaRPr lang="en-PH" sz="3600" dirty="0"/>
          </a:p>
          <a:p>
            <a:pPr marL="742950" indent="-742950">
              <a:buAutoNum type="alphaUcPeriod"/>
            </a:pPr>
            <a:r>
              <a:rPr lang="en-PH" sz="3600" dirty="0"/>
              <a:t>The Mexicans</a:t>
            </a:r>
          </a:p>
          <a:p>
            <a:pPr marL="742950" indent="-742950">
              <a:buAutoNum type="alphaUcPeriod"/>
            </a:pPr>
            <a:r>
              <a:rPr lang="en-PH" sz="3600" dirty="0">
                <a:solidFill>
                  <a:srgbClr val="FF0000"/>
                </a:solidFill>
              </a:rPr>
              <a:t>The Chinese</a:t>
            </a:r>
          </a:p>
        </p:txBody>
      </p:sp>
    </p:spTree>
    <p:extLst>
      <p:ext uri="{BB962C8B-B14F-4D97-AF65-F5344CB8AC3E}">
        <p14:creationId xmlns:p14="http://schemas.microsoft.com/office/powerpoint/2010/main" val="40527748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52.  Which reform was introduces in the 1987 Constitution?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lnSpcReduction="10000"/>
          </a:bodyPr>
          <a:lstStyle/>
          <a:p>
            <a:pPr marL="742950" indent="-742950" algn="just">
              <a:buAutoNum type="alphaUcPeriod"/>
            </a:pPr>
            <a:r>
              <a:rPr lang="en-PH" sz="3600" dirty="0"/>
              <a:t>The establishment of a parliamentary form of government</a:t>
            </a:r>
          </a:p>
          <a:p>
            <a:pPr marL="742950" indent="-742950" algn="just">
              <a:buAutoNum type="alphaUcPeriod"/>
            </a:pPr>
            <a:r>
              <a:rPr lang="en-PH" sz="3600" dirty="0"/>
              <a:t>The extension of the term of Senators to three</a:t>
            </a:r>
          </a:p>
          <a:p>
            <a:pPr marL="742950" indent="-742950" algn="just">
              <a:buAutoNum type="alphaUcPeriod"/>
            </a:pPr>
            <a:r>
              <a:rPr lang="en-PH" sz="3600" dirty="0"/>
              <a:t>The issuance of search warrants also by responsible officers as may be authorized by law</a:t>
            </a:r>
          </a:p>
          <a:p>
            <a:pPr marL="742950" indent="-742950" algn="just">
              <a:buAutoNum type="alphaUcPeriod"/>
            </a:pPr>
            <a:r>
              <a:rPr lang="en-PH" sz="3600" dirty="0"/>
              <a:t>The recognition of the right of government employees to form associations, unions or societies for purpose contrary to law</a:t>
            </a:r>
          </a:p>
        </p:txBody>
      </p:sp>
    </p:spTree>
    <p:extLst>
      <p:ext uri="{BB962C8B-B14F-4D97-AF65-F5344CB8AC3E}">
        <p14:creationId xmlns:p14="http://schemas.microsoft.com/office/powerpoint/2010/main" val="247874379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52.  Which reform was introduces in the 1987 Constitution?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lnSpcReduction="10000"/>
          </a:bodyPr>
          <a:lstStyle/>
          <a:p>
            <a:pPr marL="742950" indent="-742950" algn="just">
              <a:buAutoNum type="alphaUcPeriod"/>
            </a:pPr>
            <a:r>
              <a:rPr lang="en-PH" sz="3600" dirty="0"/>
              <a:t>The establishment of a parliamentary form of government</a:t>
            </a:r>
          </a:p>
          <a:p>
            <a:pPr marL="742950" indent="-742950" algn="just">
              <a:buAutoNum type="alphaUcPeriod"/>
            </a:pPr>
            <a:r>
              <a:rPr lang="en-PH" sz="3600" dirty="0"/>
              <a:t>The extension of the term of Senators to three</a:t>
            </a:r>
          </a:p>
          <a:p>
            <a:pPr marL="742950" indent="-742950" algn="just">
              <a:buAutoNum type="alphaUcPeriod"/>
            </a:pPr>
            <a:r>
              <a:rPr lang="en-PH" sz="3600" dirty="0"/>
              <a:t>The issuance of search warrants also by responsible officers as may be authorized by law</a:t>
            </a:r>
          </a:p>
          <a:p>
            <a:pPr marL="742950" indent="-742950" algn="just">
              <a:buAutoNum type="alphaUcPeriod"/>
            </a:pPr>
            <a:r>
              <a:rPr lang="en-PH" sz="3600" dirty="0">
                <a:solidFill>
                  <a:srgbClr val="FF0000"/>
                </a:solidFill>
              </a:rPr>
              <a:t>The recognition of the right of government employees to form associations, unions or societies for purpose contrary to law</a:t>
            </a:r>
          </a:p>
        </p:txBody>
      </p:sp>
    </p:spTree>
    <p:extLst>
      <p:ext uri="{BB962C8B-B14F-4D97-AF65-F5344CB8AC3E}">
        <p14:creationId xmlns:p14="http://schemas.microsoft.com/office/powerpoint/2010/main" val="303331482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53. Which describes the phenomenon of “hurried children”?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Retaining kids in kindergarten who are not ready to advance to first grade</a:t>
            </a:r>
          </a:p>
          <a:p>
            <a:pPr marL="742950" indent="-742950" algn="just">
              <a:buAutoNum type="alphaUcPeriod"/>
            </a:pPr>
            <a:r>
              <a:rPr lang="en-PH" sz="3600" dirty="0"/>
              <a:t>Raising the age for enrolling in kindergarten</a:t>
            </a:r>
          </a:p>
          <a:p>
            <a:pPr marL="742950" indent="-742950" algn="just">
              <a:buAutoNum type="alphaUcPeriod"/>
            </a:pPr>
            <a:r>
              <a:rPr lang="en-PH" sz="3600" dirty="0"/>
              <a:t>Too much pressure to excel at an early age</a:t>
            </a:r>
          </a:p>
          <a:p>
            <a:pPr marL="742950" indent="-742950" algn="just">
              <a:buAutoNum type="alphaUcPeriod"/>
            </a:pPr>
            <a:r>
              <a:rPr lang="en-PH" sz="3600" dirty="0"/>
              <a:t>Enrolling children at Day Care Centers</a:t>
            </a:r>
          </a:p>
        </p:txBody>
      </p:sp>
    </p:spTree>
    <p:extLst>
      <p:ext uri="{BB962C8B-B14F-4D97-AF65-F5344CB8AC3E}">
        <p14:creationId xmlns:p14="http://schemas.microsoft.com/office/powerpoint/2010/main" val="7766850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53. Which describes the phenomenon of “hurried children”?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Retaining kids in kindergarten who are not ready to advance to first grade</a:t>
            </a:r>
          </a:p>
          <a:p>
            <a:pPr marL="742950" indent="-742950" algn="just">
              <a:buAutoNum type="alphaUcPeriod"/>
            </a:pPr>
            <a:r>
              <a:rPr lang="en-PH" sz="3600" dirty="0"/>
              <a:t>Raising the age for enrolling in kindergarten</a:t>
            </a:r>
          </a:p>
          <a:p>
            <a:pPr marL="742950" indent="-742950" algn="just">
              <a:buAutoNum type="alphaUcPeriod"/>
            </a:pPr>
            <a:r>
              <a:rPr lang="en-PH" sz="3600" dirty="0">
                <a:solidFill>
                  <a:srgbClr val="FF0000"/>
                </a:solidFill>
              </a:rPr>
              <a:t>Too much pressure to excel at an early age</a:t>
            </a:r>
          </a:p>
          <a:p>
            <a:pPr marL="742950" indent="-742950" algn="just">
              <a:buAutoNum type="alphaUcPeriod"/>
            </a:pPr>
            <a:r>
              <a:rPr lang="en-PH" sz="3600" dirty="0"/>
              <a:t>Enrolling children at Day Care Centers</a:t>
            </a:r>
          </a:p>
        </p:txBody>
      </p:sp>
    </p:spTree>
    <p:extLst>
      <p:ext uri="{BB962C8B-B14F-4D97-AF65-F5344CB8AC3E}">
        <p14:creationId xmlns:p14="http://schemas.microsoft.com/office/powerpoint/2010/main" val="394031944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54. Through the galleon trade (1565 – 1815), the Philippines extended historical contracts with ____________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24480"/>
            <a:ext cx="10515600" cy="4351338"/>
          </a:xfrm>
        </p:spPr>
        <p:txBody>
          <a:bodyPr>
            <a:normAutofit/>
          </a:bodyPr>
          <a:lstStyle/>
          <a:p>
            <a:pPr marL="742950" indent="-742950">
              <a:buAutoNum type="alphaUcPeriod"/>
            </a:pPr>
            <a:r>
              <a:rPr lang="en-PH" sz="3600" dirty="0"/>
              <a:t>Portugal</a:t>
            </a:r>
          </a:p>
          <a:p>
            <a:pPr marL="742950" indent="-742950">
              <a:buAutoNum type="alphaUcPeriod"/>
            </a:pPr>
            <a:r>
              <a:rPr lang="en-PH" sz="3600" dirty="0"/>
              <a:t>India</a:t>
            </a:r>
          </a:p>
          <a:p>
            <a:pPr marL="742950" indent="-742950">
              <a:buAutoNum type="alphaUcPeriod"/>
            </a:pPr>
            <a:r>
              <a:rPr lang="en-PH" sz="3600" dirty="0"/>
              <a:t>Mexico</a:t>
            </a:r>
          </a:p>
          <a:p>
            <a:pPr marL="742950" indent="-742950">
              <a:buAutoNum type="alphaUcPeriod"/>
            </a:pPr>
            <a:r>
              <a:rPr lang="en-PH" sz="3600" dirty="0"/>
              <a:t>China</a:t>
            </a:r>
          </a:p>
        </p:txBody>
      </p:sp>
    </p:spTree>
    <p:extLst>
      <p:ext uri="{BB962C8B-B14F-4D97-AF65-F5344CB8AC3E}">
        <p14:creationId xmlns:p14="http://schemas.microsoft.com/office/powerpoint/2010/main" val="142382142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54. Through the galleon trade (1565 – 1815), the Philippines extended historical contracts with ____________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24480"/>
            <a:ext cx="10515600" cy="4351338"/>
          </a:xfrm>
        </p:spPr>
        <p:txBody>
          <a:bodyPr>
            <a:normAutofit/>
          </a:bodyPr>
          <a:lstStyle/>
          <a:p>
            <a:pPr marL="742950" indent="-742950">
              <a:buAutoNum type="alphaUcPeriod"/>
            </a:pPr>
            <a:r>
              <a:rPr lang="en-PH" sz="3600" dirty="0"/>
              <a:t>Portugal</a:t>
            </a:r>
          </a:p>
          <a:p>
            <a:pPr marL="742950" indent="-742950">
              <a:buAutoNum type="alphaUcPeriod"/>
            </a:pPr>
            <a:r>
              <a:rPr lang="en-PH" sz="3600" dirty="0"/>
              <a:t>India</a:t>
            </a:r>
          </a:p>
          <a:p>
            <a:pPr marL="742950" indent="-742950">
              <a:buAutoNum type="alphaUcPeriod"/>
            </a:pPr>
            <a:r>
              <a:rPr lang="en-PH" sz="3600" dirty="0">
                <a:solidFill>
                  <a:srgbClr val="FF0000"/>
                </a:solidFill>
              </a:rPr>
              <a:t>Mexico</a:t>
            </a:r>
          </a:p>
          <a:p>
            <a:pPr marL="742950" indent="-742950">
              <a:buAutoNum type="alphaUcPeriod"/>
            </a:pPr>
            <a:r>
              <a:rPr lang="en-PH" sz="3600" dirty="0"/>
              <a:t>China</a:t>
            </a:r>
          </a:p>
        </p:txBody>
      </p:sp>
    </p:spTree>
    <p:extLst>
      <p:ext uri="{BB962C8B-B14F-4D97-AF65-F5344CB8AC3E}">
        <p14:creationId xmlns:p14="http://schemas.microsoft.com/office/powerpoint/2010/main" val="22896347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55. Which island was the scene of the first landing of US troops when they recaptured the Philippines from the Japanese.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buAutoNum type="alphaUcPeriod"/>
            </a:pPr>
            <a:r>
              <a:rPr lang="en-PH" sz="3600" dirty="0"/>
              <a:t>Cebu</a:t>
            </a:r>
          </a:p>
          <a:p>
            <a:pPr marL="742950" indent="-742950">
              <a:buAutoNum type="alphaUcPeriod"/>
            </a:pPr>
            <a:r>
              <a:rPr lang="en-PH" sz="3600" dirty="0"/>
              <a:t>Samar</a:t>
            </a:r>
          </a:p>
          <a:p>
            <a:pPr marL="742950" indent="-742950">
              <a:buAutoNum type="alphaUcPeriod"/>
            </a:pPr>
            <a:r>
              <a:rPr lang="en-PH" sz="3600" dirty="0"/>
              <a:t>Leyte</a:t>
            </a:r>
          </a:p>
          <a:p>
            <a:pPr marL="742950" indent="-742950">
              <a:buAutoNum type="alphaUcPeriod"/>
            </a:pPr>
            <a:r>
              <a:rPr lang="en-PH" sz="3600" dirty="0"/>
              <a:t>Mindoro</a:t>
            </a:r>
          </a:p>
        </p:txBody>
      </p:sp>
    </p:spTree>
    <p:extLst>
      <p:ext uri="{BB962C8B-B14F-4D97-AF65-F5344CB8AC3E}">
        <p14:creationId xmlns:p14="http://schemas.microsoft.com/office/powerpoint/2010/main" val="389547118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55. Which island was the scene of the first landing of US troops when they recaptured the Philippines from the Japanese.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buAutoNum type="alphaUcPeriod"/>
            </a:pPr>
            <a:r>
              <a:rPr lang="en-PH" sz="3600" dirty="0"/>
              <a:t>Cebu</a:t>
            </a:r>
          </a:p>
          <a:p>
            <a:pPr marL="742950" indent="-742950">
              <a:buAutoNum type="alphaUcPeriod"/>
            </a:pPr>
            <a:r>
              <a:rPr lang="en-PH" sz="3600" dirty="0"/>
              <a:t>Samar</a:t>
            </a:r>
          </a:p>
          <a:p>
            <a:pPr marL="742950" indent="-742950">
              <a:buAutoNum type="alphaUcPeriod"/>
            </a:pPr>
            <a:r>
              <a:rPr lang="en-PH" sz="3600" dirty="0">
                <a:solidFill>
                  <a:srgbClr val="FF0000"/>
                </a:solidFill>
              </a:rPr>
              <a:t>Leyte</a:t>
            </a:r>
          </a:p>
          <a:p>
            <a:pPr marL="742950" indent="-742950">
              <a:buAutoNum type="alphaUcPeriod"/>
            </a:pPr>
            <a:r>
              <a:rPr lang="en-PH" sz="3600" dirty="0"/>
              <a:t>Mindoro</a:t>
            </a:r>
          </a:p>
        </p:txBody>
      </p:sp>
    </p:spTree>
    <p:extLst>
      <p:ext uri="{BB962C8B-B14F-4D97-AF65-F5344CB8AC3E}">
        <p14:creationId xmlns:p14="http://schemas.microsoft.com/office/powerpoint/2010/main" val="14641277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56. Social justice is a mandate imposed by the 1987 Constitution. Which measure does NOT promote it?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62695"/>
            <a:ext cx="10515600" cy="4351338"/>
          </a:xfrm>
        </p:spPr>
        <p:txBody>
          <a:bodyPr>
            <a:normAutofit/>
          </a:bodyPr>
          <a:lstStyle/>
          <a:p>
            <a:pPr marL="742950" indent="-742950" algn="just">
              <a:buAutoNum type="alphaUcPeriod"/>
            </a:pPr>
            <a:r>
              <a:rPr lang="en-PH" sz="3600" dirty="0"/>
              <a:t>Equitable distribution of wealth and political power</a:t>
            </a:r>
          </a:p>
          <a:p>
            <a:pPr marL="742950" indent="-742950" algn="just">
              <a:buAutoNum type="alphaUcPeriod"/>
            </a:pPr>
            <a:r>
              <a:rPr lang="en-PH" sz="3600" dirty="0"/>
              <a:t>Development of a sense of dependency on dole outs of individual citizens</a:t>
            </a:r>
          </a:p>
          <a:p>
            <a:pPr marL="742950" indent="-742950" algn="just">
              <a:buAutoNum type="alphaUcPeriod"/>
            </a:pPr>
            <a:r>
              <a:rPr lang="en-PH" sz="3600" dirty="0"/>
              <a:t>Creation of economic opportunities for all citizens</a:t>
            </a:r>
          </a:p>
          <a:p>
            <a:pPr marL="742950" indent="-742950" algn="just">
              <a:buAutoNum type="alphaUcPeriod"/>
            </a:pPr>
            <a:r>
              <a:rPr lang="en-PH" sz="3600" dirty="0"/>
              <a:t>Elimination of cultural inequalities</a:t>
            </a:r>
          </a:p>
        </p:txBody>
      </p:sp>
    </p:spTree>
    <p:extLst>
      <p:ext uri="{BB962C8B-B14F-4D97-AF65-F5344CB8AC3E}">
        <p14:creationId xmlns:p14="http://schemas.microsoft.com/office/powerpoint/2010/main" val="34486860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56. Social justice is a mandate imposed by the 1987 Constitution. Which measure does NOT promote it?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62695"/>
            <a:ext cx="10515600" cy="4351338"/>
          </a:xfrm>
        </p:spPr>
        <p:txBody>
          <a:bodyPr>
            <a:normAutofit/>
          </a:bodyPr>
          <a:lstStyle/>
          <a:p>
            <a:pPr marL="742950" indent="-742950" algn="just">
              <a:buAutoNum type="alphaUcPeriod"/>
            </a:pPr>
            <a:r>
              <a:rPr lang="en-PH" sz="3600" dirty="0"/>
              <a:t>Equitable distribution of wealth and political power</a:t>
            </a:r>
          </a:p>
          <a:p>
            <a:pPr marL="742950" indent="-742950" algn="just">
              <a:buAutoNum type="alphaUcPeriod"/>
            </a:pPr>
            <a:r>
              <a:rPr lang="en-PH" sz="3600" dirty="0">
                <a:solidFill>
                  <a:srgbClr val="FF0000"/>
                </a:solidFill>
              </a:rPr>
              <a:t>Development of a sense of dependency on dole outs of individual citizens</a:t>
            </a:r>
          </a:p>
          <a:p>
            <a:pPr marL="742950" indent="-742950" algn="just">
              <a:buAutoNum type="alphaUcPeriod"/>
            </a:pPr>
            <a:r>
              <a:rPr lang="en-PH" sz="3600" dirty="0"/>
              <a:t>Creation of economic opportunities for all citizens</a:t>
            </a:r>
          </a:p>
          <a:p>
            <a:pPr marL="742950" indent="-742950" algn="just">
              <a:buAutoNum type="alphaUcPeriod"/>
            </a:pPr>
            <a:r>
              <a:rPr lang="en-PH" sz="3600" dirty="0"/>
              <a:t>Elimination of cultural inequalities</a:t>
            </a:r>
          </a:p>
        </p:txBody>
      </p:sp>
    </p:spTree>
    <p:extLst>
      <p:ext uri="{BB962C8B-B14F-4D97-AF65-F5344CB8AC3E}">
        <p14:creationId xmlns:p14="http://schemas.microsoft.com/office/powerpoint/2010/main" val="207228223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57. Which is the longest flowing river in the Philippines?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Amburayan</a:t>
            </a:r>
            <a:r>
              <a:rPr lang="en-PH" sz="3600" dirty="0"/>
              <a:t> River</a:t>
            </a:r>
          </a:p>
          <a:p>
            <a:pPr marL="742950" indent="-742950">
              <a:buAutoNum type="alphaUcPeriod"/>
            </a:pPr>
            <a:r>
              <a:rPr lang="en-PH" sz="3600" dirty="0"/>
              <a:t>Chico River</a:t>
            </a:r>
          </a:p>
          <a:p>
            <a:pPr marL="742950" indent="-742950">
              <a:buAutoNum type="alphaUcPeriod"/>
            </a:pPr>
            <a:r>
              <a:rPr lang="en-PH" sz="3600" dirty="0"/>
              <a:t>Rio Grande River</a:t>
            </a:r>
          </a:p>
          <a:p>
            <a:pPr marL="742950" indent="-742950">
              <a:buAutoNum type="alphaUcPeriod"/>
            </a:pPr>
            <a:r>
              <a:rPr lang="en-PH" sz="3600" dirty="0"/>
              <a:t>Cagayan River</a:t>
            </a:r>
          </a:p>
        </p:txBody>
      </p:sp>
    </p:spTree>
    <p:extLst>
      <p:ext uri="{BB962C8B-B14F-4D97-AF65-F5344CB8AC3E}">
        <p14:creationId xmlns:p14="http://schemas.microsoft.com/office/powerpoint/2010/main" val="34286827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57. Which is the longest flowing river in the Philippines?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Amburayan</a:t>
            </a:r>
            <a:r>
              <a:rPr lang="en-PH" sz="3600" dirty="0"/>
              <a:t> River</a:t>
            </a:r>
          </a:p>
          <a:p>
            <a:pPr marL="742950" indent="-742950">
              <a:buAutoNum type="alphaUcPeriod"/>
            </a:pPr>
            <a:r>
              <a:rPr lang="en-PH" sz="3600" dirty="0"/>
              <a:t>Chico River</a:t>
            </a:r>
          </a:p>
          <a:p>
            <a:pPr marL="742950" indent="-742950">
              <a:buAutoNum type="alphaUcPeriod"/>
            </a:pPr>
            <a:r>
              <a:rPr lang="en-PH" sz="3600" dirty="0"/>
              <a:t>Rio Grande River</a:t>
            </a:r>
          </a:p>
          <a:p>
            <a:pPr marL="742950" indent="-742950">
              <a:buAutoNum type="alphaUcPeriod"/>
            </a:pPr>
            <a:r>
              <a:rPr lang="en-PH" sz="3600" dirty="0">
                <a:solidFill>
                  <a:srgbClr val="FF0000"/>
                </a:solidFill>
              </a:rPr>
              <a:t>Cagayan River</a:t>
            </a:r>
          </a:p>
        </p:txBody>
      </p:sp>
    </p:spTree>
    <p:extLst>
      <p:ext uri="{BB962C8B-B14F-4D97-AF65-F5344CB8AC3E}">
        <p14:creationId xmlns:p14="http://schemas.microsoft.com/office/powerpoint/2010/main" val="344253937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58. Which is the Royal </a:t>
            </a:r>
            <a:r>
              <a:rPr lang="en-PH" dirty="0" err="1"/>
              <a:t>Audencia</a:t>
            </a:r>
            <a:r>
              <a:rPr lang="en-PH" dirty="0"/>
              <a:t> in our time?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Supreme court</a:t>
            </a:r>
          </a:p>
          <a:p>
            <a:pPr marL="742950" indent="-742950">
              <a:buAutoNum type="alphaUcPeriod"/>
            </a:pPr>
            <a:r>
              <a:rPr lang="en-PH" sz="3600" dirty="0" err="1"/>
              <a:t>Sandigan</a:t>
            </a:r>
            <a:r>
              <a:rPr lang="en-PH" sz="3600" dirty="0"/>
              <a:t> bayan</a:t>
            </a:r>
          </a:p>
          <a:p>
            <a:pPr marL="742950" indent="-742950">
              <a:buAutoNum type="alphaUcPeriod"/>
            </a:pPr>
            <a:r>
              <a:rPr lang="en-PH" sz="3600" dirty="0"/>
              <a:t>Court of appeals</a:t>
            </a:r>
          </a:p>
          <a:p>
            <a:pPr marL="742950" indent="-742950">
              <a:buAutoNum type="alphaUcPeriod"/>
            </a:pPr>
            <a:r>
              <a:rPr lang="en-PH" sz="3600" dirty="0"/>
              <a:t>Regional trial courts</a:t>
            </a:r>
          </a:p>
          <a:p>
            <a:pPr marL="0" indent="0">
              <a:buNone/>
            </a:pPr>
            <a:endParaRPr lang="en-PH" sz="3600" dirty="0"/>
          </a:p>
        </p:txBody>
      </p:sp>
    </p:spTree>
    <p:extLst>
      <p:ext uri="{BB962C8B-B14F-4D97-AF65-F5344CB8AC3E}">
        <p14:creationId xmlns:p14="http://schemas.microsoft.com/office/powerpoint/2010/main" val="116481949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58. Which is the Royal </a:t>
            </a:r>
            <a:r>
              <a:rPr lang="en-PH" dirty="0" err="1"/>
              <a:t>Audencia</a:t>
            </a:r>
            <a:r>
              <a:rPr lang="en-PH" dirty="0"/>
              <a:t> in our time?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Supreme court</a:t>
            </a:r>
          </a:p>
          <a:p>
            <a:pPr marL="742950" indent="-742950">
              <a:buAutoNum type="alphaUcPeriod"/>
            </a:pPr>
            <a:r>
              <a:rPr lang="en-PH" sz="3600" dirty="0" err="1"/>
              <a:t>Sandigan</a:t>
            </a:r>
            <a:r>
              <a:rPr lang="en-PH" sz="3600" dirty="0"/>
              <a:t> bayan</a:t>
            </a:r>
          </a:p>
          <a:p>
            <a:pPr marL="742950" indent="-742950">
              <a:buAutoNum type="alphaUcPeriod"/>
            </a:pPr>
            <a:r>
              <a:rPr lang="en-PH" sz="3600" dirty="0"/>
              <a:t>Court of appeals</a:t>
            </a:r>
          </a:p>
          <a:p>
            <a:pPr marL="742950" indent="-742950">
              <a:buAutoNum type="alphaUcPeriod"/>
            </a:pPr>
            <a:r>
              <a:rPr lang="en-PH" sz="3600" dirty="0"/>
              <a:t>Regional trial courts</a:t>
            </a:r>
          </a:p>
          <a:p>
            <a:pPr marL="0" indent="0">
              <a:buNone/>
            </a:pPr>
            <a:endParaRPr lang="en-PH" sz="3600" dirty="0"/>
          </a:p>
        </p:txBody>
      </p:sp>
    </p:spTree>
    <p:extLst>
      <p:ext uri="{BB962C8B-B14F-4D97-AF65-F5344CB8AC3E}">
        <p14:creationId xmlns:p14="http://schemas.microsoft.com/office/powerpoint/2010/main" val="94529876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59. Which is/are the basic principle/s that underline/s the new Constitution?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865899"/>
            <a:ext cx="10515600" cy="2547252"/>
          </a:xfrm>
        </p:spPr>
        <p:txBody>
          <a:bodyPr>
            <a:normAutofit/>
          </a:bodyPr>
          <a:lstStyle/>
          <a:p>
            <a:pPr marL="742950" indent="-742950">
              <a:buAutoNum type="alphaUcPeriod"/>
            </a:pPr>
            <a:r>
              <a:rPr lang="en-PH" sz="3600" dirty="0"/>
              <a:t>II-III</a:t>
            </a:r>
          </a:p>
          <a:p>
            <a:pPr marL="742950" indent="-742950">
              <a:buAutoNum type="alphaUcPeriod"/>
            </a:pPr>
            <a:r>
              <a:rPr lang="en-PH" sz="3600" dirty="0"/>
              <a:t>III</a:t>
            </a:r>
          </a:p>
          <a:p>
            <a:pPr marL="742950" indent="-742950">
              <a:buAutoNum type="alphaUcPeriod"/>
            </a:pPr>
            <a:r>
              <a:rPr lang="en-PH" sz="3600" dirty="0"/>
              <a:t>I-III</a:t>
            </a:r>
          </a:p>
          <a:p>
            <a:pPr marL="742950" indent="-742950">
              <a:buAutoNum type="alphaUcPeriod"/>
            </a:pPr>
            <a:r>
              <a:rPr lang="en-PH" sz="3600" dirty="0"/>
              <a:t>I-II</a:t>
            </a:r>
          </a:p>
        </p:txBody>
      </p:sp>
      <p:sp>
        <p:nvSpPr>
          <p:cNvPr id="4" name="Content Placeholder 2">
            <a:extLst>
              <a:ext uri="{FF2B5EF4-FFF2-40B4-BE49-F238E27FC236}">
                <a16:creationId xmlns:a16="http://schemas.microsoft.com/office/drawing/2014/main" id="{3B41967E-5173-4DD3-9DA1-CBA2FE99DDB8}"/>
              </a:ext>
            </a:extLst>
          </p:cNvPr>
          <p:cNvSpPr txBox="1">
            <a:spLocks/>
          </p:cNvSpPr>
          <p:nvPr/>
        </p:nvSpPr>
        <p:spPr>
          <a:xfrm>
            <a:off x="838200" y="161653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Arial" panose="020B0604020202020204" pitchFamily="34" charset="0"/>
              <a:buAutoNum type="alphaUcPeriod"/>
            </a:pPr>
            <a:endParaRPr lang="en-PH" sz="3600" dirty="0"/>
          </a:p>
        </p:txBody>
      </p:sp>
      <p:sp>
        <p:nvSpPr>
          <p:cNvPr id="5" name="Content Placeholder 2">
            <a:extLst>
              <a:ext uri="{FF2B5EF4-FFF2-40B4-BE49-F238E27FC236}">
                <a16:creationId xmlns:a16="http://schemas.microsoft.com/office/drawing/2014/main" id="{5CA3DDD3-DEB1-41C4-8120-DBB7900BA8AC}"/>
              </a:ext>
            </a:extLst>
          </p:cNvPr>
          <p:cNvSpPr txBox="1">
            <a:spLocks/>
          </p:cNvSpPr>
          <p:nvPr/>
        </p:nvSpPr>
        <p:spPr>
          <a:xfrm>
            <a:off x="838200" y="1668473"/>
            <a:ext cx="10515600" cy="25472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0" indent="-857250">
              <a:buAutoNum type="romanUcPeriod"/>
            </a:pPr>
            <a:r>
              <a:rPr lang="en-PH" sz="3600" dirty="0"/>
              <a:t>Sovereignty of the people</a:t>
            </a:r>
          </a:p>
          <a:p>
            <a:pPr marL="857250" indent="-857250">
              <a:buAutoNum type="romanUcPeriod"/>
            </a:pPr>
            <a:r>
              <a:rPr lang="en-PH" sz="3600" dirty="0"/>
              <a:t>Recognition of the aid of the Almighty God</a:t>
            </a:r>
          </a:p>
          <a:p>
            <a:pPr marL="857250" indent="-857250">
              <a:buAutoNum type="romanUcPeriod"/>
            </a:pPr>
            <a:r>
              <a:rPr lang="en-PH" sz="3600" dirty="0"/>
              <a:t>Union of Church and State</a:t>
            </a:r>
          </a:p>
        </p:txBody>
      </p:sp>
    </p:spTree>
    <p:extLst>
      <p:ext uri="{BB962C8B-B14F-4D97-AF65-F5344CB8AC3E}">
        <p14:creationId xmlns:p14="http://schemas.microsoft.com/office/powerpoint/2010/main" val="11826946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59. Which is/are the basic principle/s that underline/s the new Constitution?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865899"/>
            <a:ext cx="10515600" cy="2547252"/>
          </a:xfrm>
        </p:spPr>
        <p:txBody>
          <a:bodyPr>
            <a:normAutofit/>
          </a:bodyPr>
          <a:lstStyle/>
          <a:p>
            <a:pPr marL="742950" indent="-742950">
              <a:buAutoNum type="alphaUcPeriod"/>
            </a:pPr>
            <a:r>
              <a:rPr lang="en-PH" sz="3600" dirty="0"/>
              <a:t>II-III</a:t>
            </a:r>
          </a:p>
          <a:p>
            <a:pPr marL="742950" indent="-742950">
              <a:buAutoNum type="alphaUcPeriod"/>
            </a:pPr>
            <a:r>
              <a:rPr lang="en-PH" sz="3600" dirty="0"/>
              <a:t>III</a:t>
            </a:r>
          </a:p>
          <a:p>
            <a:pPr marL="742950" indent="-742950">
              <a:buAutoNum type="alphaUcPeriod"/>
            </a:pPr>
            <a:r>
              <a:rPr lang="en-PH" sz="3600" dirty="0"/>
              <a:t>I-III</a:t>
            </a:r>
          </a:p>
          <a:p>
            <a:pPr marL="742950" indent="-742950">
              <a:buAutoNum type="alphaUcPeriod"/>
            </a:pPr>
            <a:r>
              <a:rPr lang="en-PH" sz="3600" dirty="0">
                <a:solidFill>
                  <a:srgbClr val="FF0000"/>
                </a:solidFill>
              </a:rPr>
              <a:t>I-II</a:t>
            </a:r>
          </a:p>
        </p:txBody>
      </p:sp>
      <p:sp>
        <p:nvSpPr>
          <p:cNvPr id="4" name="Content Placeholder 2">
            <a:extLst>
              <a:ext uri="{FF2B5EF4-FFF2-40B4-BE49-F238E27FC236}">
                <a16:creationId xmlns:a16="http://schemas.microsoft.com/office/drawing/2014/main" id="{3B41967E-5173-4DD3-9DA1-CBA2FE99DDB8}"/>
              </a:ext>
            </a:extLst>
          </p:cNvPr>
          <p:cNvSpPr txBox="1">
            <a:spLocks/>
          </p:cNvSpPr>
          <p:nvPr/>
        </p:nvSpPr>
        <p:spPr>
          <a:xfrm>
            <a:off x="838200" y="161653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Arial" panose="020B0604020202020204" pitchFamily="34" charset="0"/>
              <a:buAutoNum type="alphaUcPeriod"/>
            </a:pPr>
            <a:endParaRPr lang="en-PH" sz="3600" dirty="0"/>
          </a:p>
        </p:txBody>
      </p:sp>
      <p:sp>
        <p:nvSpPr>
          <p:cNvPr id="5" name="Content Placeholder 2">
            <a:extLst>
              <a:ext uri="{FF2B5EF4-FFF2-40B4-BE49-F238E27FC236}">
                <a16:creationId xmlns:a16="http://schemas.microsoft.com/office/drawing/2014/main" id="{5CA3DDD3-DEB1-41C4-8120-DBB7900BA8AC}"/>
              </a:ext>
            </a:extLst>
          </p:cNvPr>
          <p:cNvSpPr txBox="1">
            <a:spLocks/>
          </p:cNvSpPr>
          <p:nvPr/>
        </p:nvSpPr>
        <p:spPr>
          <a:xfrm>
            <a:off x="838200" y="1668473"/>
            <a:ext cx="10515600" cy="25472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0" indent="-857250">
              <a:buAutoNum type="romanUcPeriod"/>
            </a:pPr>
            <a:r>
              <a:rPr lang="en-PH" sz="3600" dirty="0"/>
              <a:t>Sovereignty of the people</a:t>
            </a:r>
          </a:p>
          <a:p>
            <a:pPr marL="857250" indent="-857250">
              <a:buAutoNum type="romanUcPeriod"/>
            </a:pPr>
            <a:r>
              <a:rPr lang="en-PH" sz="3600" dirty="0"/>
              <a:t>Recognition of the aid of the Almighty God</a:t>
            </a:r>
          </a:p>
          <a:p>
            <a:pPr marL="857250" indent="-857250">
              <a:buAutoNum type="romanUcPeriod"/>
            </a:pPr>
            <a:r>
              <a:rPr lang="en-PH" sz="3600" dirty="0"/>
              <a:t>Union of Church and State</a:t>
            </a:r>
          </a:p>
        </p:txBody>
      </p:sp>
    </p:spTree>
    <p:extLst>
      <p:ext uri="{BB962C8B-B14F-4D97-AF65-F5344CB8AC3E}">
        <p14:creationId xmlns:p14="http://schemas.microsoft.com/office/powerpoint/2010/main" val="117085658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60. The “President” during the pre-Spanish period is the 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Gobernadorcillo</a:t>
            </a:r>
            <a:endParaRPr lang="en-PH" sz="3600" dirty="0"/>
          </a:p>
          <a:p>
            <a:pPr marL="742950" indent="-742950">
              <a:buAutoNum type="alphaUcPeriod"/>
            </a:pPr>
            <a:r>
              <a:rPr lang="en-PH" sz="3600" dirty="0"/>
              <a:t>Alcalde</a:t>
            </a:r>
          </a:p>
          <a:p>
            <a:pPr marL="742950" indent="-742950">
              <a:buAutoNum type="alphaUcPeriod"/>
            </a:pPr>
            <a:r>
              <a:rPr lang="en-PH" sz="3600" dirty="0" err="1"/>
              <a:t>Datu</a:t>
            </a:r>
            <a:endParaRPr lang="en-PH" sz="3600" dirty="0"/>
          </a:p>
          <a:p>
            <a:pPr marL="742950" indent="-742950">
              <a:buAutoNum type="alphaUcPeriod"/>
            </a:pPr>
            <a:r>
              <a:rPr lang="en-PH" sz="3600" dirty="0"/>
              <a:t>Barangay Captain</a:t>
            </a:r>
          </a:p>
        </p:txBody>
      </p:sp>
    </p:spTree>
    <p:extLst>
      <p:ext uri="{BB962C8B-B14F-4D97-AF65-F5344CB8AC3E}">
        <p14:creationId xmlns:p14="http://schemas.microsoft.com/office/powerpoint/2010/main" val="402122039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60. The “President” during the pre-Spanish period is the 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Gobernadorcillo</a:t>
            </a:r>
            <a:endParaRPr lang="en-PH" sz="3600" dirty="0"/>
          </a:p>
          <a:p>
            <a:pPr marL="742950" indent="-742950">
              <a:buAutoNum type="alphaUcPeriod"/>
            </a:pPr>
            <a:r>
              <a:rPr lang="en-PH" sz="3600" dirty="0"/>
              <a:t>Alcalde</a:t>
            </a:r>
          </a:p>
          <a:p>
            <a:pPr marL="742950" indent="-742950">
              <a:buAutoNum type="alphaUcPeriod"/>
            </a:pPr>
            <a:r>
              <a:rPr lang="en-PH" sz="3600" dirty="0" err="1">
                <a:solidFill>
                  <a:srgbClr val="FF0000"/>
                </a:solidFill>
              </a:rPr>
              <a:t>Datu</a:t>
            </a:r>
            <a:endParaRPr lang="en-PH" sz="3600" dirty="0">
              <a:solidFill>
                <a:srgbClr val="FF0000"/>
              </a:solidFill>
            </a:endParaRPr>
          </a:p>
          <a:p>
            <a:pPr marL="742950" indent="-742950">
              <a:buAutoNum type="alphaUcPeriod"/>
            </a:pPr>
            <a:r>
              <a:rPr lang="en-PH" sz="3600" dirty="0"/>
              <a:t>Barangay Captain</a:t>
            </a:r>
          </a:p>
        </p:txBody>
      </p:sp>
    </p:spTree>
    <p:extLst>
      <p:ext uri="{BB962C8B-B14F-4D97-AF65-F5344CB8AC3E}">
        <p14:creationId xmlns:p14="http://schemas.microsoft.com/office/powerpoint/2010/main" val="266390621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61. Who ordained and promulgated the 1986 Philippine Constitution as gleaned from the Preamble?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buAutoNum type="alphaUcPeriod"/>
            </a:pPr>
            <a:r>
              <a:rPr lang="en-PH" sz="3600" dirty="0"/>
              <a:t>The Almighty God</a:t>
            </a:r>
          </a:p>
          <a:p>
            <a:pPr marL="742950" indent="-742950">
              <a:buAutoNum type="alphaUcPeriod"/>
            </a:pPr>
            <a:r>
              <a:rPr lang="en-PH" sz="3600" dirty="0"/>
              <a:t>The Constitutional Convention delegates</a:t>
            </a:r>
          </a:p>
          <a:p>
            <a:pPr marL="742950" indent="-742950">
              <a:buAutoNum type="alphaUcPeriod"/>
            </a:pPr>
            <a:r>
              <a:rPr lang="en-PH" sz="3600" dirty="0"/>
              <a:t>The sovereign Filipino people</a:t>
            </a:r>
          </a:p>
          <a:p>
            <a:pPr marL="742950" indent="-742950">
              <a:buAutoNum type="alphaUcPeriod"/>
            </a:pPr>
            <a:r>
              <a:rPr lang="en-PH" sz="3600" dirty="0"/>
              <a:t>The Philippine Government</a:t>
            </a:r>
          </a:p>
        </p:txBody>
      </p:sp>
    </p:spTree>
    <p:extLst>
      <p:ext uri="{BB962C8B-B14F-4D97-AF65-F5344CB8AC3E}">
        <p14:creationId xmlns:p14="http://schemas.microsoft.com/office/powerpoint/2010/main" val="232385741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61. Who ordained and promulgated the 1986 Philippine Constitution as gleaned from the Preamble?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buAutoNum type="alphaUcPeriod"/>
            </a:pPr>
            <a:r>
              <a:rPr lang="en-PH" sz="3600" dirty="0"/>
              <a:t>The Almighty God</a:t>
            </a:r>
          </a:p>
          <a:p>
            <a:pPr marL="742950" indent="-742950">
              <a:buAutoNum type="alphaUcPeriod"/>
            </a:pPr>
            <a:r>
              <a:rPr lang="en-PH" sz="3600" dirty="0"/>
              <a:t>The Constitutional Convention delegates</a:t>
            </a:r>
          </a:p>
          <a:p>
            <a:pPr marL="742950" indent="-742950">
              <a:buAutoNum type="alphaUcPeriod"/>
            </a:pPr>
            <a:r>
              <a:rPr lang="en-PH" sz="3600" dirty="0">
                <a:solidFill>
                  <a:srgbClr val="FF0000"/>
                </a:solidFill>
              </a:rPr>
              <a:t>The sovereign Filipino people</a:t>
            </a:r>
          </a:p>
          <a:p>
            <a:pPr marL="742950" indent="-742950">
              <a:buAutoNum type="alphaUcPeriod"/>
            </a:pPr>
            <a:r>
              <a:rPr lang="en-PH" sz="3600" dirty="0"/>
              <a:t>The Philippine Government</a:t>
            </a:r>
          </a:p>
        </p:txBody>
      </p:sp>
    </p:spTree>
    <p:extLst>
      <p:ext uri="{BB962C8B-B14F-4D97-AF65-F5344CB8AC3E}">
        <p14:creationId xmlns:p14="http://schemas.microsoft.com/office/powerpoint/2010/main" val="424390558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62. Which statement WRONGLY tells something about the history of Korea?</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After Japan’s defeat in World War II Soviet troops occupied Northern Korea while the United States Military occupied the South</a:t>
            </a:r>
          </a:p>
          <a:p>
            <a:pPr marL="742950" indent="-742950" algn="just">
              <a:buAutoNum type="alphaUcPeriod"/>
            </a:pPr>
            <a:r>
              <a:rPr lang="en-PH" sz="3600" dirty="0"/>
              <a:t>In 1948 two separate governments were found</a:t>
            </a:r>
          </a:p>
          <a:p>
            <a:pPr marL="742950" indent="-742950" algn="just">
              <a:buAutoNum type="alphaUcPeriod"/>
            </a:pPr>
            <a:r>
              <a:rPr lang="en-PH" sz="3600" dirty="0"/>
              <a:t>China annexed Korea for many centuries</a:t>
            </a:r>
          </a:p>
          <a:p>
            <a:pPr marL="742950" indent="-742950" algn="just">
              <a:buAutoNum type="alphaUcPeriod"/>
            </a:pPr>
            <a:r>
              <a:rPr lang="en-PH" sz="3600" dirty="0"/>
              <a:t>After several border clashes, North Korea invaded South Korea in 1950</a:t>
            </a:r>
          </a:p>
        </p:txBody>
      </p:sp>
    </p:spTree>
    <p:extLst>
      <p:ext uri="{BB962C8B-B14F-4D97-AF65-F5344CB8AC3E}">
        <p14:creationId xmlns:p14="http://schemas.microsoft.com/office/powerpoint/2010/main" val="271120567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62. Which statement WRONGLY tells something about the history of Korea?</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After Japan’s defeat in World War II Soviet troops occupied Northern Korea while the United States Military occupied the South</a:t>
            </a:r>
          </a:p>
          <a:p>
            <a:pPr marL="742950" indent="-742950" algn="just">
              <a:buAutoNum type="alphaUcPeriod"/>
            </a:pPr>
            <a:r>
              <a:rPr lang="en-PH" sz="3600" dirty="0"/>
              <a:t>In 1948 two separate governments were found</a:t>
            </a:r>
          </a:p>
          <a:p>
            <a:pPr marL="742950" indent="-742950" algn="just">
              <a:buAutoNum type="alphaUcPeriod"/>
            </a:pPr>
            <a:r>
              <a:rPr lang="en-PH" sz="3600" dirty="0">
                <a:solidFill>
                  <a:srgbClr val="FF0000"/>
                </a:solidFill>
              </a:rPr>
              <a:t>China annexed Korea for many centuries</a:t>
            </a:r>
          </a:p>
          <a:p>
            <a:pPr marL="742950" indent="-742950" algn="just">
              <a:buAutoNum type="alphaUcPeriod"/>
            </a:pPr>
            <a:r>
              <a:rPr lang="en-PH" sz="3600" dirty="0"/>
              <a:t>After several border clashes, North Korea invaded South Korea in 1950</a:t>
            </a:r>
          </a:p>
        </p:txBody>
      </p:sp>
    </p:spTree>
    <p:extLst>
      <p:ext uri="{BB962C8B-B14F-4D97-AF65-F5344CB8AC3E}">
        <p14:creationId xmlns:p14="http://schemas.microsoft.com/office/powerpoint/2010/main" val="61218973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63. Other than Cordilleras, which group said to have not been subjugated by the Spaniards?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75052"/>
            <a:ext cx="10515600" cy="4351338"/>
          </a:xfrm>
        </p:spPr>
        <p:txBody>
          <a:bodyPr>
            <a:normAutofit/>
          </a:bodyPr>
          <a:lstStyle/>
          <a:p>
            <a:pPr marL="742950" indent="-742950">
              <a:buAutoNum type="alphaUcPeriod"/>
            </a:pPr>
            <a:r>
              <a:rPr lang="en-PH" sz="3600" dirty="0"/>
              <a:t>The Tagalogs</a:t>
            </a:r>
          </a:p>
          <a:p>
            <a:pPr marL="742950" indent="-742950">
              <a:buAutoNum type="alphaUcPeriod"/>
            </a:pPr>
            <a:r>
              <a:rPr lang="en-PH" sz="3600" dirty="0"/>
              <a:t>The Visayans</a:t>
            </a:r>
          </a:p>
          <a:p>
            <a:pPr marL="742950" indent="-742950">
              <a:buAutoNum type="alphaUcPeriod"/>
            </a:pPr>
            <a:r>
              <a:rPr lang="en-PH" sz="3600" dirty="0"/>
              <a:t>The Ilocanos</a:t>
            </a:r>
          </a:p>
          <a:p>
            <a:pPr marL="742950" indent="-742950">
              <a:buAutoNum type="alphaUcPeriod"/>
            </a:pPr>
            <a:r>
              <a:rPr lang="en-PH" sz="3600" dirty="0"/>
              <a:t>The Muslims</a:t>
            </a:r>
          </a:p>
        </p:txBody>
      </p:sp>
    </p:spTree>
    <p:extLst>
      <p:ext uri="{BB962C8B-B14F-4D97-AF65-F5344CB8AC3E}">
        <p14:creationId xmlns:p14="http://schemas.microsoft.com/office/powerpoint/2010/main" val="201277439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63. Other than Cordilleras, which group said to have not been subjugated by the Spaniards?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75052"/>
            <a:ext cx="10515600" cy="4351338"/>
          </a:xfrm>
        </p:spPr>
        <p:txBody>
          <a:bodyPr>
            <a:normAutofit/>
          </a:bodyPr>
          <a:lstStyle/>
          <a:p>
            <a:pPr marL="742950" indent="-742950">
              <a:buAutoNum type="alphaUcPeriod"/>
            </a:pPr>
            <a:r>
              <a:rPr lang="en-PH" sz="3600" dirty="0"/>
              <a:t>The Tagalogs</a:t>
            </a:r>
          </a:p>
          <a:p>
            <a:pPr marL="742950" indent="-742950">
              <a:buAutoNum type="alphaUcPeriod"/>
            </a:pPr>
            <a:r>
              <a:rPr lang="en-PH" sz="3600" dirty="0"/>
              <a:t>The Visayans</a:t>
            </a:r>
          </a:p>
          <a:p>
            <a:pPr marL="742950" indent="-742950">
              <a:buAutoNum type="alphaUcPeriod"/>
            </a:pPr>
            <a:r>
              <a:rPr lang="en-PH" sz="3600" dirty="0"/>
              <a:t>The Ilocanos</a:t>
            </a:r>
          </a:p>
          <a:p>
            <a:pPr marL="742950" indent="-742950">
              <a:buAutoNum type="alphaUcPeriod"/>
            </a:pPr>
            <a:r>
              <a:rPr lang="en-PH" sz="3600" dirty="0">
                <a:solidFill>
                  <a:srgbClr val="FF0000"/>
                </a:solidFill>
              </a:rPr>
              <a:t>The Muslims</a:t>
            </a:r>
          </a:p>
        </p:txBody>
      </p:sp>
    </p:spTree>
    <p:extLst>
      <p:ext uri="{BB962C8B-B14F-4D97-AF65-F5344CB8AC3E}">
        <p14:creationId xmlns:p14="http://schemas.microsoft.com/office/powerpoint/2010/main" val="166163180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87538"/>
            <a:ext cx="10515600" cy="1325563"/>
          </a:xfrm>
        </p:spPr>
        <p:txBody>
          <a:bodyPr>
            <a:noAutofit/>
          </a:bodyPr>
          <a:lstStyle/>
          <a:p>
            <a:pPr algn="just"/>
            <a:r>
              <a:rPr lang="en-PH" dirty="0"/>
              <a:t>64. If Soliman heroically fought to death the Spaniards in Manila, who readily welcomes the Spanish conquerors because he thought it was futile to resists a superior foe?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55820"/>
            <a:ext cx="10515600" cy="4351338"/>
          </a:xfrm>
        </p:spPr>
        <p:txBody>
          <a:bodyPr>
            <a:normAutofit/>
          </a:bodyPr>
          <a:lstStyle/>
          <a:p>
            <a:pPr marL="742950" indent="-742950">
              <a:buAutoNum type="alphaUcPeriod"/>
            </a:pPr>
            <a:r>
              <a:rPr lang="en-PH" sz="3600" dirty="0"/>
              <a:t>King </a:t>
            </a:r>
            <a:r>
              <a:rPr lang="en-PH" sz="3600" dirty="0" err="1"/>
              <a:t>Tupas</a:t>
            </a:r>
            <a:endParaRPr lang="en-PH" sz="3600" dirty="0"/>
          </a:p>
          <a:p>
            <a:pPr marL="742950" indent="-742950">
              <a:buAutoNum type="alphaUcPeriod"/>
            </a:pPr>
            <a:r>
              <a:rPr lang="en-PH" sz="3600" dirty="0" err="1"/>
              <a:t>Datu</a:t>
            </a:r>
            <a:r>
              <a:rPr lang="en-PH" sz="3600" dirty="0"/>
              <a:t> </a:t>
            </a:r>
            <a:r>
              <a:rPr lang="en-PH" sz="3600" dirty="0" err="1"/>
              <a:t>Sumakwel</a:t>
            </a:r>
            <a:endParaRPr lang="en-PH" sz="3600" dirty="0"/>
          </a:p>
          <a:p>
            <a:pPr marL="742950" indent="-742950">
              <a:buAutoNum type="alphaUcPeriod"/>
            </a:pPr>
            <a:r>
              <a:rPr lang="en-PH" sz="3600" dirty="0" err="1"/>
              <a:t>Datu</a:t>
            </a:r>
            <a:r>
              <a:rPr lang="en-PH" sz="3600" dirty="0"/>
              <a:t> </a:t>
            </a:r>
            <a:r>
              <a:rPr lang="en-PH" sz="3600" dirty="0" err="1"/>
              <a:t>Puti</a:t>
            </a:r>
            <a:endParaRPr lang="en-PH" sz="3600" dirty="0"/>
          </a:p>
          <a:p>
            <a:pPr marL="742950" indent="-742950">
              <a:buAutoNum type="alphaUcPeriod"/>
            </a:pPr>
            <a:r>
              <a:rPr lang="en-PH" sz="3600" dirty="0" err="1"/>
              <a:t>Lakandula</a:t>
            </a:r>
            <a:endParaRPr lang="en-PH" sz="3600" dirty="0"/>
          </a:p>
        </p:txBody>
      </p:sp>
    </p:spTree>
    <p:extLst>
      <p:ext uri="{BB962C8B-B14F-4D97-AF65-F5344CB8AC3E}">
        <p14:creationId xmlns:p14="http://schemas.microsoft.com/office/powerpoint/2010/main" val="36883023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87538"/>
            <a:ext cx="10515600" cy="1325563"/>
          </a:xfrm>
        </p:spPr>
        <p:txBody>
          <a:bodyPr>
            <a:noAutofit/>
          </a:bodyPr>
          <a:lstStyle/>
          <a:p>
            <a:pPr algn="just"/>
            <a:r>
              <a:rPr lang="en-PH" dirty="0"/>
              <a:t>64. If Soliman heroically fought to death the Spaniards in Manila, who readily welcomes the Spanish conquerors because he thought it was futile to resists a superior foe?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55820"/>
            <a:ext cx="10515600" cy="4351338"/>
          </a:xfrm>
        </p:spPr>
        <p:txBody>
          <a:bodyPr>
            <a:normAutofit/>
          </a:bodyPr>
          <a:lstStyle/>
          <a:p>
            <a:pPr marL="742950" indent="-742950">
              <a:buAutoNum type="alphaUcPeriod"/>
            </a:pPr>
            <a:r>
              <a:rPr lang="en-PH" sz="3600" dirty="0">
                <a:solidFill>
                  <a:srgbClr val="FF0000"/>
                </a:solidFill>
              </a:rPr>
              <a:t>King </a:t>
            </a:r>
            <a:r>
              <a:rPr lang="en-PH" sz="3600" dirty="0" err="1">
                <a:solidFill>
                  <a:srgbClr val="FF0000"/>
                </a:solidFill>
              </a:rPr>
              <a:t>Tupas</a:t>
            </a:r>
            <a:endParaRPr lang="en-PH" sz="3600" dirty="0">
              <a:solidFill>
                <a:srgbClr val="FF0000"/>
              </a:solidFill>
            </a:endParaRPr>
          </a:p>
          <a:p>
            <a:pPr marL="742950" indent="-742950">
              <a:buAutoNum type="alphaUcPeriod"/>
            </a:pPr>
            <a:r>
              <a:rPr lang="en-PH" sz="3600" dirty="0" err="1"/>
              <a:t>Datu</a:t>
            </a:r>
            <a:r>
              <a:rPr lang="en-PH" sz="3600" dirty="0"/>
              <a:t> </a:t>
            </a:r>
            <a:r>
              <a:rPr lang="en-PH" sz="3600" dirty="0" err="1"/>
              <a:t>Sumakwel</a:t>
            </a:r>
            <a:endParaRPr lang="en-PH" sz="3600" dirty="0"/>
          </a:p>
          <a:p>
            <a:pPr marL="742950" indent="-742950">
              <a:buAutoNum type="alphaUcPeriod"/>
            </a:pPr>
            <a:r>
              <a:rPr lang="en-PH" sz="3600" dirty="0" err="1"/>
              <a:t>Datu</a:t>
            </a:r>
            <a:r>
              <a:rPr lang="en-PH" sz="3600" dirty="0"/>
              <a:t> </a:t>
            </a:r>
            <a:r>
              <a:rPr lang="en-PH" sz="3600" dirty="0" err="1"/>
              <a:t>Puti</a:t>
            </a:r>
            <a:endParaRPr lang="en-PH" sz="3600" dirty="0"/>
          </a:p>
          <a:p>
            <a:pPr marL="742950" indent="-742950">
              <a:buAutoNum type="alphaUcPeriod"/>
            </a:pPr>
            <a:r>
              <a:rPr lang="en-PH" sz="3600" dirty="0" err="1"/>
              <a:t>Lakandula</a:t>
            </a:r>
            <a:endParaRPr lang="en-PH" sz="3600" dirty="0"/>
          </a:p>
        </p:txBody>
      </p:sp>
    </p:spTree>
    <p:extLst>
      <p:ext uri="{BB962C8B-B14F-4D97-AF65-F5344CB8AC3E}">
        <p14:creationId xmlns:p14="http://schemas.microsoft.com/office/powerpoint/2010/main" val="112311742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65. What happens to the peso when there is inflation?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573514"/>
            <a:ext cx="10515600" cy="2486884"/>
          </a:xfrm>
        </p:spPr>
        <p:txBody>
          <a:bodyPr>
            <a:normAutofit/>
          </a:bodyPr>
          <a:lstStyle/>
          <a:p>
            <a:pPr marL="742950" indent="-742950">
              <a:buAutoNum type="alphaUcPeriod"/>
            </a:pPr>
            <a:r>
              <a:rPr lang="en-PH" sz="3600" dirty="0"/>
              <a:t>I-II</a:t>
            </a:r>
          </a:p>
          <a:p>
            <a:pPr marL="742950" indent="-742950">
              <a:buAutoNum type="alphaUcPeriod"/>
            </a:pPr>
            <a:r>
              <a:rPr lang="en-PH" sz="3600" dirty="0"/>
              <a:t>II</a:t>
            </a:r>
          </a:p>
          <a:p>
            <a:pPr marL="742950" indent="-742950">
              <a:buAutoNum type="alphaUcPeriod"/>
            </a:pPr>
            <a:r>
              <a:rPr lang="en-PH" sz="3600" dirty="0"/>
              <a:t>III</a:t>
            </a:r>
          </a:p>
          <a:p>
            <a:pPr marL="742950" indent="-742950">
              <a:buAutoNum type="alphaUcPeriod"/>
            </a:pPr>
            <a:r>
              <a:rPr lang="en-PH" sz="3600" dirty="0"/>
              <a:t>I</a:t>
            </a:r>
          </a:p>
        </p:txBody>
      </p:sp>
      <p:sp>
        <p:nvSpPr>
          <p:cNvPr id="4" name="Content Placeholder 2">
            <a:extLst>
              <a:ext uri="{FF2B5EF4-FFF2-40B4-BE49-F238E27FC236}">
                <a16:creationId xmlns:a16="http://schemas.microsoft.com/office/drawing/2014/main" id="{363DEF43-2C94-4781-AB7F-1B22E3A61EA6}"/>
              </a:ext>
            </a:extLst>
          </p:cNvPr>
          <p:cNvSpPr txBox="1">
            <a:spLocks/>
          </p:cNvSpPr>
          <p:nvPr/>
        </p:nvSpPr>
        <p:spPr>
          <a:xfrm>
            <a:off x="838200" y="1534415"/>
            <a:ext cx="10515600" cy="2486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0" indent="-857250">
              <a:buAutoNum type="romanUcPeriod"/>
            </a:pPr>
            <a:r>
              <a:rPr lang="en-PH" sz="3600" dirty="0"/>
              <a:t>The purchasing power of the peso decreases</a:t>
            </a:r>
          </a:p>
          <a:p>
            <a:pPr marL="857250" indent="-857250">
              <a:buAutoNum type="romanUcPeriod"/>
            </a:pPr>
            <a:r>
              <a:rPr lang="en-PH" sz="3600" dirty="0"/>
              <a:t>The purchasing power of the peso increases</a:t>
            </a:r>
          </a:p>
          <a:p>
            <a:pPr marL="857250" indent="-857250">
              <a:buAutoNum type="romanUcPeriod"/>
            </a:pPr>
            <a:r>
              <a:rPr lang="en-PH" sz="3600" dirty="0"/>
              <a:t>The peso gets devalued</a:t>
            </a:r>
          </a:p>
          <a:p>
            <a:pPr marL="0" indent="0">
              <a:buNone/>
            </a:pPr>
            <a:endParaRPr lang="en-PH" sz="3600" dirty="0"/>
          </a:p>
        </p:txBody>
      </p:sp>
    </p:spTree>
    <p:extLst>
      <p:ext uri="{BB962C8B-B14F-4D97-AF65-F5344CB8AC3E}">
        <p14:creationId xmlns:p14="http://schemas.microsoft.com/office/powerpoint/2010/main" val="321756250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65. What happens to the peso when there is inflation?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573514"/>
            <a:ext cx="10515600" cy="2486884"/>
          </a:xfrm>
        </p:spPr>
        <p:txBody>
          <a:bodyPr>
            <a:normAutofit/>
          </a:bodyPr>
          <a:lstStyle/>
          <a:p>
            <a:pPr marL="742950" indent="-742950">
              <a:buAutoNum type="alphaUcPeriod"/>
            </a:pPr>
            <a:r>
              <a:rPr lang="en-PH" sz="3600" dirty="0">
                <a:solidFill>
                  <a:srgbClr val="FF0000"/>
                </a:solidFill>
              </a:rPr>
              <a:t>I-II</a:t>
            </a:r>
          </a:p>
          <a:p>
            <a:pPr marL="742950" indent="-742950">
              <a:buAutoNum type="alphaUcPeriod"/>
            </a:pPr>
            <a:r>
              <a:rPr lang="en-PH" sz="3600" dirty="0"/>
              <a:t>II</a:t>
            </a:r>
          </a:p>
          <a:p>
            <a:pPr marL="742950" indent="-742950">
              <a:buAutoNum type="alphaUcPeriod"/>
            </a:pPr>
            <a:r>
              <a:rPr lang="en-PH" sz="3600" dirty="0"/>
              <a:t>III</a:t>
            </a:r>
          </a:p>
          <a:p>
            <a:pPr marL="742950" indent="-742950">
              <a:buAutoNum type="alphaUcPeriod"/>
            </a:pPr>
            <a:r>
              <a:rPr lang="en-PH" sz="3600" dirty="0"/>
              <a:t>I</a:t>
            </a:r>
          </a:p>
        </p:txBody>
      </p:sp>
      <p:sp>
        <p:nvSpPr>
          <p:cNvPr id="4" name="Content Placeholder 2">
            <a:extLst>
              <a:ext uri="{FF2B5EF4-FFF2-40B4-BE49-F238E27FC236}">
                <a16:creationId xmlns:a16="http://schemas.microsoft.com/office/drawing/2014/main" id="{363DEF43-2C94-4781-AB7F-1B22E3A61EA6}"/>
              </a:ext>
            </a:extLst>
          </p:cNvPr>
          <p:cNvSpPr txBox="1">
            <a:spLocks/>
          </p:cNvSpPr>
          <p:nvPr/>
        </p:nvSpPr>
        <p:spPr>
          <a:xfrm>
            <a:off x="838200" y="1534415"/>
            <a:ext cx="10515600" cy="24868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0" indent="-857250">
              <a:buAutoNum type="romanUcPeriod"/>
            </a:pPr>
            <a:r>
              <a:rPr lang="en-PH" sz="3600" dirty="0"/>
              <a:t>The purchasing power of the peso decreases</a:t>
            </a:r>
          </a:p>
          <a:p>
            <a:pPr marL="857250" indent="-857250">
              <a:buAutoNum type="romanUcPeriod"/>
            </a:pPr>
            <a:r>
              <a:rPr lang="en-PH" sz="3600" dirty="0"/>
              <a:t>The purchasing power of the peso increases</a:t>
            </a:r>
          </a:p>
          <a:p>
            <a:pPr marL="857250" indent="-857250">
              <a:buAutoNum type="romanUcPeriod"/>
            </a:pPr>
            <a:r>
              <a:rPr lang="en-PH" sz="3600" dirty="0"/>
              <a:t>The peso gets devalued</a:t>
            </a:r>
          </a:p>
          <a:p>
            <a:pPr marL="0" indent="0">
              <a:buNone/>
            </a:pPr>
            <a:endParaRPr lang="en-PH" sz="3600" dirty="0"/>
          </a:p>
        </p:txBody>
      </p:sp>
    </p:spTree>
    <p:extLst>
      <p:ext uri="{BB962C8B-B14F-4D97-AF65-F5344CB8AC3E}">
        <p14:creationId xmlns:p14="http://schemas.microsoft.com/office/powerpoint/2010/main" val="178172498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66. Which type(s) of resolution is/are ratified in the same manner as a bill?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Simple</a:t>
            </a:r>
          </a:p>
          <a:p>
            <a:pPr marL="742950" indent="-742950">
              <a:buAutoNum type="alphaUcPeriod"/>
            </a:pPr>
            <a:r>
              <a:rPr lang="en-PH" sz="3600" dirty="0"/>
              <a:t>Concurrent</a:t>
            </a:r>
          </a:p>
          <a:p>
            <a:pPr marL="742950" indent="-742950">
              <a:buAutoNum type="alphaUcPeriod"/>
            </a:pPr>
            <a:r>
              <a:rPr lang="en-PH" sz="3600" dirty="0"/>
              <a:t>Joint and Simple</a:t>
            </a:r>
          </a:p>
          <a:p>
            <a:pPr marL="742950" indent="-742950">
              <a:buAutoNum type="alphaUcPeriod"/>
            </a:pPr>
            <a:r>
              <a:rPr lang="en-PH" sz="3600" dirty="0"/>
              <a:t>Joint</a:t>
            </a:r>
          </a:p>
        </p:txBody>
      </p:sp>
    </p:spTree>
    <p:extLst>
      <p:ext uri="{BB962C8B-B14F-4D97-AF65-F5344CB8AC3E}">
        <p14:creationId xmlns:p14="http://schemas.microsoft.com/office/powerpoint/2010/main" val="187494112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66. Which type(s) of resolution is/are ratified in the same manner as a bill?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Simple</a:t>
            </a:r>
          </a:p>
          <a:p>
            <a:pPr marL="742950" indent="-742950">
              <a:buAutoNum type="alphaUcPeriod"/>
            </a:pPr>
            <a:r>
              <a:rPr lang="en-PH" sz="3600" dirty="0"/>
              <a:t>Concurrent</a:t>
            </a:r>
          </a:p>
          <a:p>
            <a:pPr marL="742950" indent="-742950">
              <a:buAutoNum type="alphaUcPeriod"/>
            </a:pPr>
            <a:r>
              <a:rPr lang="en-PH" sz="3600" dirty="0">
                <a:solidFill>
                  <a:srgbClr val="FF0000"/>
                </a:solidFill>
              </a:rPr>
              <a:t>Joint and Simple</a:t>
            </a:r>
          </a:p>
          <a:p>
            <a:pPr marL="742950" indent="-742950">
              <a:buAutoNum type="alphaUcPeriod"/>
            </a:pPr>
            <a:r>
              <a:rPr lang="en-PH" sz="3600" dirty="0"/>
              <a:t>Joint</a:t>
            </a:r>
          </a:p>
        </p:txBody>
      </p:sp>
    </p:spTree>
    <p:extLst>
      <p:ext uri="{BB962C8B-B14F-4D97-AF65-F5344CB8AC3E}">
        <p14:creationId xmlns:p14="http://schemas.microsoft.com/office/powerpoint/2010/main" val="342414006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67. When compared with other countries in size in the Philippines is smaller than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Indonesia</a:t>
            </a:r>
          </a:p>
          <a:p>
            <a:pPr marL="742950" indent="-742950">
              <a:buAutoNum type="alphaUcPeriod"/>
            </a:pPr>
            <a:r>
              <a:rPr lang="en-PH" sz="3600" dirty="0"/>
              <a:t>Vietnam</a:t>
            </a:r>
          </a:p>
          <a:p>
            <a:pPr marL="742950" indent="-742950">
              <a:buAutoNum type="alphaUcPeriod"/>
            </a:pPr>
            <a:r>
              <a:rPr lang="en-PH" sz="3600" dirty="0"/>
              <a:t>South Korea</a:t>
            </a:r>
          </a:p>
          <a:p>
            <a:pPr marL="742950" indent="-742950">
              <a:buAutoNum type="alphaUcPeriod"/>
            </a:pPr>
            <a:r>
              <a:rPr lang="en-PH" sz="3600" dirty="0"/>
              <a:t>Thailand</a:t>
            </a:r>
          </a:p>
          <a:p>
            <a:pPr marL="0" indent="0">
              <a:buNone/>
            </a:pPr>
            <a:endParaRPr lang="en-PH" sz="3600" dirty="0"/>
          </a:p>
        </p:txBody>
      </p:sp>
    </p:spTree>
    <p:extLst>
      <p:ext uri="{BB962C8B-B14F-4D97-AF65-F5344CB8AC3E}">
        <p14:creationId xmlns:p14="http://schemas.microsoft.com/office/powerpoint/2010/main" val="54852946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67. When compared with other countries in size in the Philippines is smaller than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Indonesia</a:t>
            </a:r>
          </a:p>
          <a:p>
            <a:pPr marL="742950" indent="-742950">
              <a:buAutoNum type="alphaUcPeriod"/>
            </a:pPr>
            <a:r>
              <a:rPr lang="en-PH" sz="3600" dirty="0"/>
              <a:t>Vietnam</a:t>
            </a:r>
          </a:p>
          <a:p>
            <a:pPr marL="742950" indent="-742950">
              <a:buAutoNum type="alphaUcPeriod"/>
            </a:pPr>
            <a:r>
              <a:rPr lang="en-PH" sz="3600" dirty="0"/>
              <a:t>South Korea</a:t>
            </a:r>
          </a:p>
          <a:p>
            <a:pPr marL="742950" indent="-742950">
              <a:buAutoNum type="alphaUcPeriod"/>
            </a:pPr>
            <a:r>
              <a:rPr lang="en-PH" sz="3600" dirty="0"/>
              <a:t>Thailand</a:t>
            </a:r>
          </a:p>
          <a:p>
            <a:pPr marL="0" indent="0">
              <a:buNone/>
            </a:pPr>
            <a:endParaRPr lang="en-PH" sz="3600" dirty="0"/>
          </a:p>
        </p:txBody>
      </p:sp>
    </p:spTree>
    <p:extLst>
      <p:ext uri="{BB962C8B-B14F-4D97-AF65-F5344CB8AC3E}">
        <p14:creationId xmlns:p14="http://schemas.microsoft.com/office/powerpoint/2010/main" val="222332553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68. The collapse of the World economy in the 1930’s is referred to as 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The Cold War</a:t>
            </a:r>
          </a:p>
          <a:p>
            <a:pPr marL="742950" indent="-742950">
              <a:buAutoNum type="alphaUcPeriod"/>
            </a:pPr>
            <a:r>
              <a:rPr lang="en-PH" sz="3600" dirty="0"/>
              <a:t>Great Depression</a:t>
            </a:r>
          </a:p>
          <a:p>
            <a:pPr marL="742950" indent="-742950">
              <a:buAutoNum type="alphaUcPeriod"/>
            </a:pPr>
            <a:r>
              <a:rPr lang="en-PH" sz="3600" dirty="0"/>
              <a:t>Black Death</a:t>
            </a:r>
          </a:p>
          <a:p>
            <a:pPr marL="742950" indent="-742950">
              <a:buAutoNum type="alphaUcPeriod"/>
            </a:pPr>
            <a:r>
              <a:rPr lang="en-PH" sz="3600" dirty="0"/>
              <a:t>Bubonic Plaque</a:t>
            </a:r>
          </a:p>
        </p:txBody>
      </p:sp>
    </p:spTree>
    <p:extLst>
      <p:ext uri="{BB962C8B-B14F-4D97-AF65-F5344CB8AC3E}">
        <p14:creationId xmlns:p14="http://schemas.microsoft.com/office/powerpoint/2010/main" val="306208719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68. The collapse of the World economy in the 1930’s is referred to as 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The Cold War</a:t>
            </a:r>
          </a:p>
          <a:p>
            <a:pPr marL="742950" indent="-742950">
              <a:buAutoNum type="alphaUcPeriod"/>
            </a:pPr>
            <a:r>
              <a:rPr lang="en-PH" sz="3600" dirty="0">
                <a:solidFill>
                  <a:srgbClr val="FF0000"/>
                </a:solidFill>
              </a:rPr>
              <a:t>Great Depression</a:t>
            </a:r>
          </a:p>
          <a:p>
            <a:pPr marL="742950" indent="-742950">
              <a:buAutoNum type="alphaUcPeriod"/>
            </a:pPr>
            <a:r>
              <a:rPr lang="en-PH" sz="3600" dirty="0"/>
              <a:t>Black Death</a:t>
            </a:r>
          </a:p>
          <a:p>
            <a:pPr marL="742950" indent="-742950">
              <a:buAutoNum type="alphaUcPeriod"/>
            </a:pPr>
            <a:r>
              <a:rPr lang="en-PH" sz="3600" dirty="0"/>
              <a:t>Bubonic Plaque</a:t>
            </a:r>
          </a:p>
        </p:txBody>
      </p:sp>
    </p:spTree>
    <p:extLst>
      <p:ext uri="{BB962C8B-B14F-4D97-AF65-F5344CB8AC3E}">
        <p14:creationId xmlns:p14="http://schemas.microsoft.com/office/powerpoint/2010/main" val="171015921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69. Where was the First Filipino Republic inaugurated?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Kawit</a:t>
            </a:r>
            <a:endParaRPr lang="en-PH" sz="3600" dirty="0"/>
          </a:p>
          <a:p>
            <a:pPr marL="742950" indent="-742950">
              <a:buAutoNum type="alphaUcPeriod"/>
            </a:pPr>
            <a:r>
              <a:rPr lang="en-PH" sz="3600" dirty="0" err="1"/>
              <a:t>Biyak-na-Bato</a:t>
            </a:r>
            <a:endParaRPr lang="en-PH" sz="3600" dirty="0"/>
          </a:p>
          <a:p>
            <a:pPr marL="742950" indent="-742950">
              <a:buAutoNum type="alphaUcPeriod"/>
            </a:pPr>
            <a:r>
              <a:rPr lang="en-PH" sz="3600" dirty="0"/>
              <a:t>Malolos</a:t>
            </a:r>
          </a:p>
          <a:p>
            <a:pPr marL="742950" indent="-742950">
              <a:buAutoNum type="alphaUcPeriod"/>
            </a:pPr>
            <a:r>
              <a:rPr lang="en-PH" sz="3600" dirty="0" err="1"/>
              <a:t>Tejeros</a:t>
            </a:r>
            <a:endParaRPr lang="en-PH" sz="3600" dirty="0"/>
          </a:p>
        </p:txBody>
      </p:sp>
    </p:spTree>
    <p:extLst>
      <p:ext uri="{BB962C8B-B14F-4D97-AF65-F5344CB8AC3E}">
        <p14:creationId xmlns:p14="http://schemas.microsoft.com/office/powerpoint/2010/main" val="21780082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69. Where was the First Filipino Republic inaugurated?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Kawit</a:t>
            </a:r>
            <a:endParaRPr lang="en-PH" sz="3600" dirty="0"/>
          </a:p>
          <a:p>
            <a:pPr marL="742950" indent="-742950">
              <a:buAutoNum type="alphaUcPeriod"/>
            </a:pPr>
            <a:r>
              <a:rPr lang="en-PH" sz="3600" dirty="0" err="1"/>
              <a:t>Biyak-na-Bato</a:t>
            </a:r>
            <a:endParaRPr lang="en-PH" sz="3600" dirty="0"/>
          </a:p>
          <a:p>
            <a:pPr marL="742950" indent="-742950">
              <a:buAutoNum type="alphaUcPeriod"/>
            </a:pPr>
            <a:r>
              <a:rPr lang="en-PH" sz="3600" dirty="0">
                <a:solidFill>
                  <a:srgbClr val="FF0000"/>
                </a:solidFill>
              </a:rPr>
              <a:t>Malolos</a:t>
            </a:r>
          </a:p>
          <a:p>
            <a:pPr marL="742950" indent="-742950">
              <a:buAutoNum type="alphaUcPeriod"/>
            </a:pPr>
            <a:r>
              <a:rPr lang="en-PH" sz="3600" dirty="0" err="1"/>
              <a:t>Tejeros</a:t>
            </a:r>
            <a:endParaRPr lang="en-PH" sz="3600" dirty="0"/>
          </a:p>
        </p:txBody>
      </p:sp>
    </p:spTree>
    <p:extLst>
      <p:ext uri="{BB962C8B-B14F-4D97-AF65-F5344CB8AC3E}">
        <p14:creationId xmlns:p14="http://schemas.microsoft.com/office/powerpoint/2010/main" val="338846173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70. Who was all together the lawmaker, chief executive,  and judge of pre-Hispanic barangays?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62695"/>
            <a:ext cx="10515600" cy="4351338"/>
          </a:xfrm>
        </p:spPr>
        <p:txBody>
          <a:bodyPr>
            <a:normAutofit/>
          </a:bodyPr>
          <a:lstStyle/>
          <a:p>
            <a:pPr marL="742950" indent="-742950">
              <a:buAutoNum type="alphaUcPeriod"/>
            </a:pPr>
            <a:r>
              <a:rPr lang="en-PH" sz="3600" dirty="0" err="1"/>
              <a:t>Datu</a:t>
            </a:r>
            <a:endParaRPr lang="en-PH" sz="3600" dirty="0"/>
          </a:p>
          <a:p>
            <a:pPr marL="742950" indent="-742950">
              <a:buAutoNum type="alphaUcPeriod"/>
            </a:pPr>
            <a:r>
              <a:rPr lang="en-PH" sz="3600" dirty="0" err="1"/>
              <a:t>Bathala</a:t>
            </a:r>
            <a:endParaRPr lang="en-PH" sz="3600" dirty="0"/>
          </a:p>
          <a:p>
            <a:pPr marL="742950" indent="-742950">
              <a:buAutoNum type="alphaUcPeriod"/>
            </a:pPr>
            <a:r>
              <a:rPr lang="en-PH" sz="3600" dirty="0" err="1"/>
              <a:t>Teniete</a:t>
            </a:r>
            <a:r>
              <a:rPr lang="en-PH" sz="3600" dirty="0"/>
              <a:t> del barrio</a:t>
            </a:r>
          </a:p>
          <a:p>
            <a:pPr marL="742950" indent="-742950">
              <a:buAutoNum type="alphaUcPeriod"/>
            </a:pPr>
            <a:r>
              <a:rPr lang="en-PH" sz="3600" dirty="0"/>
              <a:t>Maharlika</a:t>
            </a:r>
          </a:p>
        </p:txBody>
      </p:sp>
    </p:spTree>
    <p:extLst>
      <p:ext uri="{BB962C8B-B14F-4D97-AF65-F5344CB8AC3E}">
        <p14:creationId xmlns:p14="http://schemas.microsoft.com/office/powerpoint/2010/main" val="110322293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70. Who was all together the lawmaker, chief executive,  and judge of pre-Hispanic barangays?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62695"/>
            <a:ext cx="10515600" cy="4351338"/>
          </a:xfrm>
        </p:spPr>
        <p:txBody>
          <a:bodyPr>
            <a:normAutofit/>
          </a:bodyPr>
          <a:lstStyle/>
          <a:p>
            <a:pPr marL="742950" indent="-742950">
              <a:buAutoNum type="alphaUcPeriod"/>
            </a:pPr>
            <a:r>
              <a:rPr lang="en-PH" sz="3600" dirty="0" err="1">
                <a:solidFill>
                  <a:srgbClr val="FF0000"/>
                </a:solidFill>
              </a:rPr>
              <a:t>Datu</a:t>
            </a:r>
            <a:endParaRPr lang="en-PH" sz="3600" dirty="0">
              <a:solidFill>
                <a:srgbClr val="FF0000"/>
              </a:solidFill>
            </a:endParaRPr>
          </a:p>
          <a:p>
            <a:pPr marL="742950" indent="-742950">
              <a:buAutoNum type="alphaUcPeriod"/>
            </a:pPr>
            <a:r>
              <a:rPr lang="en-PH" sz="3600" dirty="0" err="1"/>
              <a:t>Bathala</a:t>
            </a:r>
            <a:endParaRPr lang="en-PH" sz="3600" dirty="0"/>
          </a:p>
          <a:p>
            <a:pPr marL="742950" indent="-742950">
              <a:buAutoNum type="alphaUcPeriod"/>
            </a:pPr>
            <a:r>
              <a:rPr lang="en-PH" sz="3600" dirty="0" err="1"/>
              <a:t>Teniete</a:t>
            </a:r>
            <a:r>
              <a:rPr lang="en-PH" sz="3600" dirty="0"/>
              <a:t> del barrio</a:t>
            </a:r>
          </a:p>
          <a:p>
            <a:pPr marL="742950" indent="-742950">
              <a:buAutoNum type="alphaUcPeriod"/>
            </a:pPr>
            <a:r>
              <a:rPr lang="en-PH" sz="3600" dirty="0"/>
              <a:t>Maharlika</a:t>
            </a:r>
          </a:p>
        </p:txBody>
      </p:sp>
    </p:spTree>
    <p:extLst>
      <p:ext uri="{BB962C8B-B14F-4D97-AF65-F5344CB8AC3E}">
        <p14:creationId xmlns:p14="http://schemas.microsoft.com/office/powerpoint/2010/main" val="284677011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71. A new invention replaces many workers. It takes time for these workers to learn new skills and find other jobs. This is referred to as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35691"/>
            <a:ext cx="10515600" cy="4351338"/>
          </a:xfrm>
        </p:spPr>
        <p:txBody>
          <a:bodyPr>
            <a:normAutofit/>
          </a:bodyPr>
          <a:lstStyle/>
          <a:p>
            <a:pPr marL="742950" indent="-742950">
              <a:buAutoNum type="alphaUcPeriod"/>
            </a:pPr>
            <a:r>
              <a:rPr lang="en-PH" sz="3600" dirty="0"/>
              <a:t>Cultural deprivation</a:t>
            </a:r>
          </a:p>
          <a:p>
            <a:pPr marL="742950" indent="-742950">
              <a:buAutoNum type="alphaUcPeriod"/>
            </a:pPr>
            <a:r>
              <a:rPr lang="en-PH" sz="3600" dirty="0"/>
              <a:t>Cultural lag</a:t>
            </a:r>
          </a:p>
          <a:p>
            <a:pPr marL="742950" indent="-742950">
              <a:buAutoNum type="alphaUcPeriod"/>
            </a:pPr>
            <a:r>
              <a:rPr lang="en-PH" sz="3600" dirty="0"/>
              <a:t>Cultural revolution</a:t>
            </a:r>
          </a:p>
          <a:p>
            <a:pPr marL="742950" indent="-742950">
              <a:buAutoNum type="alphaUcPeriod"/>
            </a:pPr>
            <a:r>
              <a:rPr lang="en-PH" sz="3600" dirty="0"/>
              <a:t>Diffusion</a:t>
            </a:r>
          </a:p>
          <a:p>
            <a:pPr marL="0" indent="0">
              <a:buNone/>
            </a:pPr>
            <a:endParaRPr lang="en-PH" sz="3600" dirty="0"/>
          </a:p>
        </p:txBody>
      </p:sp>
    </p:spTree>
    <p:extLst>
      <p:ext uri="{BB962C8B-B14F-4D97-AF65-F5344CB8AC3E}">
        <p14:creationId xmlns:p14="http://schemas.microsoft.com/office/powerpoint/2010/main" val="310732486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71. A new invention replaces many workers. It takes time for these workers to learn new skills and find other jobs. This is referred to as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035691"/>
            <a:ext cx="10515600" cy="4351338"/>
          </a:xfrm>
        </p:spPr>
        <p:txBody>
          <a:bodyPr>
            <a:normAutofit/>
          </a:bodyPr>
          <a:lstStyle/>
          <a:p>
            <a:pPr marL="742950" indent="-742950">
              <a:buAutoNum type="alphaUcPeriod"/>
            </a:pPr>
            <a:r>
              <a:rPr lang="en-PH" sz="3600" dirty="0"/>
              <a:t>Cultural deprivation</a:t>
            </a:r>
          </a:p>
          <a:p>
            <a:pPr marL="742950" indent="-742950">
              <a:buAutoNum type="alphaUcPeriod"/>
            </a:pPr>
            <a:r>
              <a:rPr lang="en-PH" sz="3600" dirty="0"/>
              <a:t>Cultural lag</a:t>
            </a:r>
          </a:p>
          <a:p>
            <a:pPr marL="742950" indent="-742950">
              <a:buAutoNum type="alphaUcPeriod"/>
            </a:pPr>
            <a:r>
              <a:rPr lang="en-PH" sz="3600" dirty="0"/>
              <a:t>Cultural revolution</a:t>
            </a:r>
          </a:p>
          <a:p>
            <a:pPr marL="742950" indent="-742950">
              <a:buAutoNum type="alphaUcPeriod"/>
            </a:pPr>
            <a:r>
              <a:rPr lang="en-PH" sz="3600" dirty="0">
                <a:solidFill>
                  <a:srgbClr val="FF0000"/>
                </a:solidFill>
              </a:rPr>
              <a:t>Diffusion</a:t>
            </a:r>
          </a:p>
          <a:p>
            <a:pPr marL="0" indent="0">
              <a:buNone/>
            </a:pPr>
            <a:endParaRPr lang="en-PH" sz="3600" dirty="0"/>
          </a:p>
        </p:txBody>
      </p:sp>
    </p:spTree>
    <p:extLst>
      <p:ext uri="{BB962C8B-B14F-4D97-AF65-F5344CB8AC3E}">
        <p14:creationId xmlns:p14="http://schemas.microsoft.com/office/powerpoint/2010/main" val="47969626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72. The </a:t>
            </a:r>
            <a:r>
              <a:rPr lang="en-PH" dirty="0" err="1"/>
              <a:t>datu</a:t>
            </a:r>
            <a:r>
              <a:rPr lang="en-PH" dirty="0"/>
              <a:t> is for the pre-Spanish period as _______is for the Spanish period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King</a:t>
            </a:r>
          </a:p>
          <a:p>
            <a:pPr marL="742950" indent="-742950">
              <a:buAutoNum type="alphaUcPeriod"/>
            </a:pPr>
            <a:r>
              <a:rPr lang="en-PH" sz="3600" dirty="0"/>
              <a:t>Royal Audiencia</a:t>
            </a:r>
          </a:p>
          <a:p>
            <a:pPr marL="742950" indent="-742950">
              <a:buAutoNum type="alphaUcPeriod"/>
            </a:pPr>
            <a:r>
              <a:rPr lang="en-PH" sz="3600" dirty="0"/>
              <a:t>Queen</a:t>
            </a:r>
          </a:p>
          <a:p>
            <a:pPr marL="742950" indent="-742950">
              <a:buAutoNum type="alphaUcPeriod"/>
            </a:pPr>
            <a:r>
              <a:rPr lang="en-PH" sz="3600" dirty="0"/>
              <a:t>Governor-General</a:t>
            </a:r>
          </a:p>
        </p:txBody>
      </p:sp>
    </p:spTree>
    <p:extLst>
      <p:ext uri="{BB962C8B-B14F-4D97-AF65-F5344CB8AC3E}">
        <p14:creationId xmlns:p14="http://schemas.microsoft.com/office/powerpoint/2010/main" val="106085496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72. The </a:t>
            </a:r>
            <a:r>
              <a:rPr lang="en-PH" dirty="0" err="1"/>
              <a:t>datu</a:t>
            </a:r>
            <a:r>
              <a:rPr lang="en-PH" dirty="0"/>
              <a:t> is for the pre-Spanish period as _______is for the Spanish period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King</a:t>
            </a:r>
          </a:p>
          <a:p>
            <a:pPr marL="742950" indent="-742950">
              <a:buAutoNum type="alphaUcPeriod"/>
            </a:pPr>
            <a:r>
              <a:rPr lang="en-PH" sz="3600" dirty="0"/>
              <a:t>Royal Audiencia</a:t>
            </a:r>
          </a:p>
          <a:p>
            <a:pPr marL="742950" indent="-742950">
              <a:buAutoNum type="alphaUcPeriod"/>
            </a:pPr>
            <a:r>
              <a:rPr lang="en-PH" sz="3600" dirty="0"/>
              <a:t>Queen</a:t>
            </a:r>
          </a:p>
          <a:p>
            <a:pPr marL="742950" indent="-742950">
              <a:buAutoNum type="alphaUcPeriod"/>
            </a:pPr>
            <a:r>
              <a:rPr lang="en-PH" sz="3600" dirty="0"/>
              <a:t>Governor-General</a:t>
            </a:r>
          </a:p>
        </p:txBody>
      </p:sp>
    </p:spTree>
    <p:extLst>
      <p:ext uri="{BB962C8B-B14F-4D97-AF65-F5344CB8AC3E}">
        <p14:creationId xmlns:p14="http://schemas.microsoft.com/office/powerpoint/2010/main" val="142391417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73. Which constitute a quorum in each House of Congress?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One-third of the members of each House</a:t>
            </a:r>
          </a:p>
          <a:p>
            <a:pPr marL="742950" indent="-742950">
              <a:buAutoNum type="alphaUcPeriod"/>
            </a:pPr>
            <a:r>
              <a:rPr lang="en-PH" sz="3600" dirty="0"/>
              <a:t>Two-thirds of the members of each House</a:t>
            </a:r>
          </a:p>
          <a:p>
            <a:pPr marL="742950" indent="-742950">
              <a:buAutoNum type="alphaUcPeriod"/>
            </a:pPr>
            <a:r>
              <a:rPr lang="en-PH" sz="3600" dirty="0"/>
              <a:t>A majority of each House</a:t>
            </a:r>
          </a:p>
          <a:p>
            <a:pPr marL="742950" indent="-742950">
              <a:buAutoNum type="alphaUcPeriod"/>
            </a:pPr>
            <a:r>
              <a:rPr lang="en-PH" sz="3600" dirty="0"/>
              <a:t>Three-fourths of the members of each House</a:t>
            </a:r>
          </a:p>
        </p:txBody>
      </p:sp>
    </p:spTree>
    <p:extLst>
      <p:ext uri="{BB962C8B-B14F-4D97-AF65-F5344CB8AC3E}">
        <p14:creationId xmlns:p14="http://schemas.microsoft.com/office/powerpoint/2010/main" val="290845042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73. Which constitute a quorum in each House of Congress?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One-third of the members of each House</a:t>
            </a:r>
          </a:p>
          <a:p>
            <a:pPr marL="742950" indent="-742950">
              <a:buAutoNum type="alphaUcPeriod"/>
            </a:pPr>
            <a:r>
              <a:rPr lang="en-PH" sz="3600" dirty="0"/>
              <a:t>Two-thirds of the members of each House</a:t>
            </a:r>
          </a:p>
          <a:p>
            <a:pPr marL="742950" indent="-742950">
              <a:buAutoNum type="alphaUcPeriod"/>
            </a:pPr>
            <a:r>
              <a:rPr lang="en-PH" sz="3600" dirty="0">
                <a:solidFill>
                  <a:srgbClr val="FF0000"/>
                </a:solidFill>
              </a:rPr>
              <a:t>A majority of each House</a:t>
            </a:r>
          </a:p>
          <a:p>
            <a:pPr marL="742950" indent="-742950">
              <a:buAutoNum type="alphaUcPeriod"/>
            </a:pPr>
            <a:r>
              <a:rPr lang="en-PH" sz="3600" dirty="0"/>
              <a:t>Three-fourths of the members of each House</a:t>
            </a:r>
          </a:p>
        </p:txBody>
      </p:sp>
    </p:spTree>
    <p:extLst>
      <p:ext uri="{BB962C8B-B14F-4D97-AF65-F5344CB8AC3E}">
        <p14:creationId xmlns:p14="http://schemas.microsoft.com/office/powerpoint/2010/main" val="383508612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74. Because of its natural resources, the Philippines is basically a/an ______ country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Agricultural</a:t>
            </a:r>
          </a:p>
          <a:p>
            <a:pPr marL="742950" indent="-742950">
              <a:buAutoNum type="alphaUcPeriod"/>
            </a:pPr>
            <a:r>
              <a:rPr lang="en-PH" sz="3600" dirty="0"/>
              <a:t>Commercial</a:t>
            </a:r>
          </a:p>
          <a:p>
            <a:pPr marL="742950" indent="-742950">
              <a:buAutoNum type="alphaUcPeriod"/>
            </a:pPr>
            <a:r>
              <a:rPr lang="en-PH" sz="3600" dirty="0"/>
              <a:t>Industrial</a:t>
            </a:r>
          </a:p>
          <a:p>
            <a:pPr marL="742950" indent="-742950">
              <a:buAutoNum type="alphaUcPeriod"/>
            </a:pPr>
            <a:r>
              <a:rPr lang="en-PH" sz="3600" dirty="0"/>
              <a:t>Mining</a:t>
            </a:r>
          </a:p>
        </p:txBody>
      </p:sp>
    </p:spTree>
    <p:extLst>
      <p:ext uri="{BB962C8B-B14F-4D97-AF65-F5344CB8AC3E}">
        <p14:creationId xmlns:p14="http://schemas.microsoft.com/office/powerpoint/2010/main" val="24587686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74. Because of its natural resources, the Philippines is basically a/an ______ country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Agricultural</a:t>
            </a:r>
          </a:p>
          <a:p>
            <a:pPr marL="742950" indent="-742950">
              <a:buAutoNum type="alphaUcPeriod"/>
            </a:pPr>
            <a:r>
              <a:rPr lang="en-PH" sz="3600" dirty="0"/>
              <a:t>Commercial</a:t>
            </a:r>
          </a:p>
          <a:p>
            <a:pPr marL="742950" indent="-742950">
              <a:buAutoNum type="alphaUcPeriod"/>
            </a:pPr>
            <a:r>
              <a:rPr lang="en-PH" sz="3600" dirty="0"/>
              <a:t>Industrial</a:t>
            </a:r>
          </a:p>
          <a:p>
            <a:pPr marL="742950" indent="-742950">
              <a:buAutoNum type="alphaUcPeriod"/>
            </a:pPr>
            <a:r>
              <a:rPr lang="en-PH" sz="3600" dirty="0"/>
              <a:t>Mining</a:t>
            </a:r>
          </a:p>
        </p:txBody>
      </p:sp>
    </p:spTree>
    <p:extLst>
      <p:ext uri="{BB962C8B-B14F-4D97-AF65-F5344CB8AC3E}">
        <p14:creationId xmlns:p14="http://schemas.microsoft.com/office/powerpoint/2010/main" val="42111741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75. Which type of family is claimed to tend to encourage the development of overdependence on others?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12123"/>
            <a:ext cx="10515600" cy="4351338"/>
          </a:xfrm>
        </p:spPr>
        <p:txBody>
          <a:bodyPr>
            <a:normAutofit/>
          </a:bodyPr>
          <a:lstStyle/>
          <a:p>
            <a:pPr marL="742950" indent="-742950">
              <a:buAutoNum type="alphaUcPeriod"/>
            </a:pPr>
            <a:r>
              <a:rPr lang="en-PH" sz="3600" dirty="0"/>
              <a:t>Consanguinial</a:t>
            </a:r>
          </a:p>
          <a:p>
            <a:pPr marL="742950" indent="-742950">
              <a:buAutoNum type="alphaUcPeriod"/>
            </a:pPr>
            <a:r>
              <a:rPr lang="en-PH" sz="3600" dirty="0"/>
              <a:t>Nuclear</a:t>
            </a:r>
          </a:p>
          <a:p>
            <a:pPr marL="742950" indent="-742950">
              <a:buAutoNum type="alphaUcPeriod"/>
            </a:pPr>
            <a:r>
              <a:rPr lang="en-PH" sz="3600" dirty="0"/>
              <a:t>Conjugal</a:t>
            </a:r>
          </a:p>
          <a:p>
            <a:pPr marL="742950" indent="-742950">
              <a:buAutoNum type="alphaUcPeriod"/>
            </a:pPr>
            <a:r>
              <a:rPr lang="en-PH" sz="3600" dirty="0"/>
              <a:t>Extended</a:t>
            </a:r>
          </a:p>
        </p:txBody>
      </p:sp>
    </p:spTree>
    <p:extLst>
      <p:ext uri="{BB962C8B-B14F-4D97-AF65-F5344CB8AC3E}">
        <p14:creationId xmlns:p14="http://schemas.microsoft.com/office/powerpoint/2010/main" val="300846789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75. Which type of family is claimed to tend to encourage the development of overdependence on others?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12123"/>
            <a:ext cx="10515600" cy="4351338"/>
          </a:xfrm>
        </p:spPr>
        <p:txBody>
          <a:bodyPr>
            <a:normAutofit/>
          </a:bodyPr>
          <a:lstStyle/>
          <a:p>
            <a:pPr marL="742950" indent="-742950">
              <a:buAutoNum type="alphaUcPeriod"/>
            </a:pPr>
            <a:r>
              <a:rPr lang="en-PH" sz="3600" dirty="0"/>
              <a:t>Consanguinial</a:t>
            </a:r>
          </a:p>
          <a:p>
            <a:pPr marL="742950" indent="-742950">
              <a:buAutoNum type="alphaUcPeriod"/>
            </a:pPr>
            <a:r>
              <a:rPr lang="en-PH" sz="3600" dirty="0"/>
              <a:t>Nuclear</a:t>
            </a:r>
          </a:p>
          <a:p>
            <a:pPr marL="742950" indent="-742950">
              <a:buAutoNum type="alphaUcPeriod"/>
            </a:pPr>
            <a:r>
              <a:rPr lang="en-PH" sz="3600" dirty="0"/>
              <a:t>Conjugal</a:t>
            </a:r>
          </a:p>
          <a:p>
            <a:pPr marL="742950" indent="-742950">
              <a:buAutoNum type="alphaUcPeriod"/>
            </a:pPr>
            <a:r>
              <a:rPr lang="en-PH" sz="3600" dirty="0">
                <a:solidFill>
                  <a:srgbClr val="FF0000"/>
                </a:solidFill>
              </a:rPr>
              <a:t>Extended</a:t>
            </a:r>
          </a:p>
        </p:txBody>
      </p:sp>
    </p:spTree>
    <p:extLst>
      <p:ext uri="{BB962C8B-B14F-4D97-AF65-F5344CB8AC3E}">
        <p14:creationId xmlns:p14="http://schemas.microsoft.com/office/powerpoint/2010/main" val="360494670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205375"/>
            <a:ext cx="10515600" cy="1325563"/>
          </a:xfrm>
        </p:spPr>
        <p:txBody>
          <a:bodyPr>
            <a:noAutofit/>
          </a:bodyPr>
          <a:lstStyle/>
          <a:p>
            <a:pPr algn="just"/>
            <a:r>
              <a:rPr lang="en-PH" dirty="0"/>
              <a:t>76. He had the men of </a:t>
            </a:r>
            <a:r>
              <a:rPr lang="en-PH" dirty="0" err="1"/>
              <a:t>Macabebe</a:t>
            </a:r>
            <a:r>
              <a:rPr lang="en-PH" dirty="0"/>
              <a:t> who stood up against the whole Spanish army their bolos and spears against the long riffles of Spain. He was a admired by the Americans to be real man. He died in the water of </a:t>
            </a:r>
            <a:r>
              <a:rPr lang="en-PH" dirty="0" err="1"/>
              <a:t>Bankusay</a:t>
            </a:r>
            <a:r>
              <a:rPr lang="en-PH" dirty="0"/>
              <a:t>. Who is he?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636412"/>
            <a:ext cx="10515600" cy="4351338"/>
          </a:xfrm>
        </p:spPr>
        <p:txBody>
          <a:bodyPr>
            <a:normAutofit/>
          </a:bodyPr>
          <a:lstStyle/>
          <a:p>
            <a:pPr marL="742950" indent="-742950">
              <a:buAutoNum type="alphaUcPeriod"/>
            </a:pPr>
            <a:r>
              <a:rPr lang="en-PH" sz="3600" dirty="0"/>
              <a:t>Rajah </a:t>
            </a:r>
            <a:r>
              <a:rPr lang="en-PH" sz="3600" dirty="0" err="1"/>
              <a:t>Sikatuna</a:t>
            </a:r>
            <a:endParaRPr lang="en-PH" sz="3600" dirty="0"/>
          </a:p>
          <a:p>
            <a:pPr marL="742950" indent="-742950">
              <a:buAutoNum type="alphaUcPeriod"/>
            </a:pPr>
            <a:r>
              <a:rPr lang="en-PH" sz="3600" dirty="0"/>
              <a:t>Rajah </a:t>
            </a:r>
            <a:r>
              <a:rPr lang="en-PH" sz="3600" dirty="0" err="1"/>
              <a:t>Humabon</a:t>
            </a:r>
            <a:endParaRPr lang="en-PH" sz="3600" dirty="0"/>
          </a:p>
          <a:p>
            <a:pPr marL="742950" indent="-742950">
              <a:buAutoNum type="alphaUcPeriod"/>
            </a:pPr>
            <a:r>
              <a:rPr lang="en-PH" sz="3600" dirty="0" err="1"/>
              <a:t>Lapulapu</a:t>
            </a:r>
            <a:endParaRPr lang="en-PH" sz="3600" dirty="0"/>
          </a:p>
          <a:p>
            <a:pPr marL="742950" indent="-742950">
              <a:buAutoNum type="alphaUcPeriod"/>
            </a:pPr>
            <a:r>
              <a:rPr lang="en-PH" sz="3600" dirty="0"/>
              <a:t>Rajah Soliman</a:t>
            </a:r>
          </a:p>
        </p:txBody>
      </p:sp>
    </p:spTree>
    <p:extLst>
      <p:ext uri="{BB962C8B-B14F-4D97-AF65-F5344CB8AC3E}">
        <p14:creationId xmlns:p14="http://schemas.microsoft.com/office/powerpoint/2010/main" val="160582808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205375"/>
            <a:ext cx="10515600" cy="1325563"/>
          </a:xfrm>
        </p:spPr>
        <p:txBody>
          <a:bodyPr>
            <a:noAutofit/>
          </a:bodyPr>
          <a:lstStyle/>
          <a:p>
            <a:pPr algn="just"/>
            <a:r>
              <a:rPr lang="en-PH" dirty="0"/>
              <a:t>76. He had the men of </a:t>
            </a:r>
            <a:r>
              <a:rPr lang="en-PH" dirty="0" err="1"/>
              <a:t>Macabebe</a:t>
            </a:r>
            <a:r>
              <a:rPr lang="en-PH" dirty="0"/>
              <a:t> who stood up against the whole Spanish army their bolos and spears against the long riffles of Spain. He was a admired by the Americans to be real man. He died in the water of </a:t>
            </a:r>
            <a:r>
              <a:rPr lang="en-PH" dirty="0" err="1"/>
              <a:t>Bankusay</a:t>
            </a:r>
            <a:r>
              <a:rPr lang="en-PH" dirty="0"/>
              <a:t>. Who is he?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636412"/>
            <a:ext cx="10515600" cy="4351338"/>
          </a:xfrm>
        </p:spPr>
        <p:txBody>
          <a:bodyPr>
            <a:normAutofit/>
          </a:bodyPr>
          <a:lstStyle/>
          <a:p>
            <a:pPr marL="742950" indent="-742950">
              <a:buAutoNum type="alphaUcPeriod"/>
            </a:pPr>
            <a:r>
              <a:rPr lang="en-PH" sz="3600" dirty="0"/>
              <a:t>Rajah </a:t>
            </a:r>
            <a:r>
              <a:rPr lang="en-PH" sz="3600" dirty="0" err="1"/>
              <a:t>Sikatuna</a:t>
            </a:r>
            <a:endParaRPr lang="en-PH" sz="3600" dirty="0"/>
          </a:p>
          <a:p>
            <a:pPr marL="742950" indent="-742950">
              <a:buAutoNum type="alphaUcPeriod"/>
            </a:pPr>
            <a:r>
              <a:rPr lang="en-PH" sz="3600" dirty="0"/>
              <a:t>Rajah </a:t>
            </a:r>
            <a:r>
              <a:rPr lang="en-PH" sz="3600" dirty="0" err="1"/>
              <a:t>Humabon</a:t>
            </a:r>
            <a:endParaRPr lang="en-PH" sz="3600" dirty="0"/>
          </a:p>
          <a:p>
            <a:pPr marL="742950" indent="-742950">
              <a:buAutoNum type="alphaUcPeriod"/>
            </a:pPr>
            <a:r>
              <a:rPr lang="en-PH" sz="3600" dirty="0" err="1"/>
              <a:t>Lapulapu</a:t>
            </a:r>
            <a:endParaRPr lang="en-PH" sz="3600" dirty="0"/>
          </a:p>
          <a:p>
            <a:pPr marL="742950" indent="-742950">
              <a:buAutoNum type="alphaUcPeriod"/>
            </a:pPr>
            <a:r>
              <a:rPr lang="en-PH" sz="3600" dirty="0">
                <a:solidFill>
                  <a:srgbClr val="FF0000"/>
                </a:solidFill>
              </a:rPr>
              <a:t>Rajah Soliman</a:t>
            </a:r>
          </a:p>
        </p:txBody>
      </p:sp>
    </p:spTree>
    <p:extLst>
      <p:ext uri="{BB962C8B-B14F-4D97-AF65-F5344CB8AC3E}">
        <p14:creationId xmlns:p14="http://schemas.microsoft.com/office/powerpoint/2010/main" val="293106122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95306"/>
            <a:ext cx="10515600" cy="1325563"/>
          </a:xfrm>
        </p:spPr>
        <p:txBody>
          <a:bodyPr>
            <a:noAutofit/>
          </a:bodyPr>
          <a:lstStyle/>
          <a:p>
            <a:pPr algn="just"/>
            <a:r>
              <a:rPr lang="en-PH" dirty="0"/>
              <a:t>77. The principle of checks and balances is intended to maintain balance among executive, legislative and judicial departments of the government. Which one is a check on the executive department by the judiciary?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72513"/>
            <a:ext cx="10515600" cy="4351338"/>
          </a:xfrm>
        </p:spPr>
        <p:txBody>
          <a:bodyPr>
            <a:normAutofit/>
          </a:bodyPr>
          <a:lstStyle/>
          <a:p>
            <a:pPr marL="742950" indent="-742950" algn="just">
              <a:buAutoNum type="alphaUcPeriod"/>
            </a:pPr>
            <a:r>
              <a:rPr lang="en-PH" sz="3600" dirty="0"/>
              <a:t>Determining the salaries of the President and Vice President</a:t>
            </a:r>
          </a:p>
          <a:p>
            <a:pPr marL="742950" indent="-742950" algn="just">
              <a:buAutoNum type="alphaUcPeriod"/>
            </a:pPr>
            <a:r>
              <a:rPr lang="en-PH" sz="3600" dirty="0"/>
              <a:t>Declaring a legislative measure unconstitutional</a:t>
            </a:r>
          </a:p>
          <a:p>
            <a:pPr marL="742950" indent="-742950" algn="just">
              <a:buAutoNum type="alphaUcPeriod"/>
            </a:pPr>
            <a:r>
              <a:rPr lang="en-PH" sz="3600" dirty="0"/>
              <a:t>Declaring an act of the president unconstitutional</a:t>
            </a:r>
          </a:p>
          <a:p>
            <a:pPr marL="742950" indent="-742950" algn="just">
              <a:buAutoNum type="alphaUcPeriod"/>
            </a:pPr>
            <a:r>
              <a:rPr lang="en-PH" sz="3600" dirty="0"/>
              <a:t>Impeaching the President</a:t>
            </a:r>
          </a:p>
        </p:txBody>
      </p:sp>
    </p:spTree>
    <p:extLst>
      <p:ext uri="{BB962C8B-B14F-4D97-AF65-F5344CB8AC3E}">
        <p14:creationId xmlns:p14="http://schemas.microsoft.com/office/powerpoint/2010/main" val="337511098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95306"/>
            <a:ext cx="10515600" cy="1325563"/>
          </a:xfrm>
        </p:spPr>
        <p:txBody>
          <a:bodyPr>
            <a:noAutofit/>
          </a:bodyPr>
          <a:lstStyle/>
          <a:p>
            <a:pPr algn="just"/>
            <a:r>
              <a:rPr lang="en-PH" dirty="0"/>
              <a:t>77. The principle of checks and balances is intended to maintain balance among executive, legislative and judicial departments of the government. Which one is a check on the executive department by the judiciary?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72513"/>
            <a:ext cx="10515600" cy="4351338"/>
          </a:xfrm>
        </p:spPr>
        <p:txBody>
          <a:bodyPr>
            <a:normAutofit/>
          </a:bodyPr>
          <a:lstStyle/>
          <a:p>
            <a:pPr marL="742950" indent="-742950" algn="just">
              <a:buAutoNum type="alphaUcPeriod"/>
            </a:pPr>
            <a:r>
              <a:rPr lang="en-PH" sz="3600" dirty="0"/>
              <a:t>Determining the salaries of the President and Vice President</a:t>
            </a:r>
          </a:p>
          <a:p>
            <a:pPr marL="742950" indent="-742950" algn="just">
              <a:buAutoNum type="alphaUcPeriod"/>
            </a:pPr>
            <a:r>
              <a:rPr lang="en-PH" sz="3600" dirty="0"/>
              <a:t>Declaring a legislative measure unconstitutional</a:t>
            </a:r>
          </a:p>
          <a:p>
            <a:pPr marL="742950" indent="-742950" algn="just">
              <a:buAutoNum type="alphaUcPeriod"/>
            </a:pPr>
            <a:r>
              <a:rPr lang="en-PH" sz="3600" dirty="0">
                <a:solidFill>
                  <a:srgbClr val="FF0000"/>
                </a:solidFill>
              </a:rPr>
              <a:t>Declaring an act of the president unconstitutional</a:t>
            </a:r>
          </a:p>
          <a:p>
            <a:pPr marL="742950" indent="-742950" algn="just">
              <a:buAutoNum type="alphaUcPeriod"/>
            </a:pPr>
            <a:r>
              <a:rPr lang="en-PH" sz="3600" dirty="0"/>
              <a:t>Impeaching the President</a:t>
            </a:r>
          </a:p>
        </p:txBody>
      </p:sp>
    </p:spTree>
    <p:extLst>
      <p:ext uri="{BB962C8B-B14F-4D97-AF65-F5344CB8AC3E}">
        <p14:creationId xmlns:p14="http://schemas.microsoft.com/office/powerpoint/2010/main" val="159039663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78. The function by which schools help children to participate effectively in larger society is called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99766"/>
            <a:ext cx="10515600" cy="4351338"/>
          </a:xfrm>
        </p:spPr>
        <p:txBody>
          <a:bodyPr>
            <a:normAutofit/>
          </a:bodyPr>
          <a:lstStyle/>
          <a:p>
            <a:pPr marL="742950" indent="-742950">
              <a:buAutoNum type="alphaUcPeriod"/>
            </a:pPr>
            <a:r>
              <a:rPr lang="en-PH" sz="3600" dirty="0"/>
              <a:t>Socialization</a:t>
            </a:r>
          </a:p>
          <a:p>
            <a:pPr marL="742950" indent="-742950">
              <a:buAutoNum type="alphaUcPeriod"/>
            </a:pPr>
            <a:r>
              <a:rPr lang="en-PH" sz="3600" dirty="0"/>
              <a:t>Education</a:t>
            </a:r>
          </a:p>
          <a:p>
            <a:pPr marL="742950" indent="-742950">
              <a:buAutoNum type="alphaUcPeriod"/>
            </a:pPr>
            <a:r>
              <a:rPr lang="en-PH" sz="3600" dirty="0"/>
              <a:t>Enculturation</a:t>
            </a:r>
          </a:p>
          <a:p>
            <a:pPr marL="742950" indent="-742950">
              <a:buAutoNum type="alphaUcPeriod"/>
            </a:pPr>
            <a:r>
              <a:rPr lang="en-PH" sz="3600" dirty="0"/>
              <a:t>Acculturation</a:t>
            </a:r>
          </a:p>
          <a:p>
            <a:pPr marL="0" indent="0">
              <a:buNone/>
            </a:pPr>
            <a:endParaRPr lang="en-PH" sz="3600" dirty="0"/>
          </a:p>
        </p:txBody>
      </p:sp>
    </p:spTree>
    <p:extLst>
      <p:ext uri="{BB962C8B-B14F-4D97-AF65-F5344CB8AC3E}">
        <p14:creationId xmlns:p14="http://schemas.microsoft.com/office/powerpoint/2010/main" val="235757038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78. The function by which schools help children to participate effectively in larger society is called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99766"/>
            <a:ext cx="10515600" cy="4351338"/>
          </a:xfrm>
        </p:spPr>
        <p:txBody>
          <a:bodyPr>
            <a:normAutofit/>
          </a:bodyPr>
          <a:lstStyle/>
          <a:p>
            <a:pPr marL="742950" indent="-742950">
              <a:buAutoNum type="alphaUcPeriod"/>
            </a:pPr>
            <a:r>
              <a:rPr lang="en-PH" sz="3600" dirty="0">
                <a:solidFill>
                  <a:srgbClr val="FF0000"/>
                </a:solidFill>
              </a:rPr>
              <a:t>Socialization</a:t>
            </a:r>
          </a:p>
          <a:p>
            <a:pPr marL="742950" indent="-742950">
              <a:buAutoNum type="alphaUcPeriod"/>
            </a:pPr>
            <a:r>
              <a:rPr lang="en-PH" sz="3600" dirty="0"/>
              <a:t>Education</a:t>
            </a:r>
          </a:p>
          <a:p>
            <a:pPr marL="742950" indent="-742950">
              <a:buAutoNum type="alphaUcPeriod"/>
            </a:pPr>
            <a:r>
              <a:rPr lang="en-PH" sz="3600" dirty="0"/>
              <a:t>Enculturation</a:t>
            </a:r>
          </a:p>
          <a:p>
            <a:pPr marL="742950" indent="-742950">
              <a:buAutoNum type="alphaUcPeriod"/>
            </a:pPr>
            <a:r>
              <a:rPr lang="en-PH" sz="3600" dirty="0"/>
              <a:t>Acculturation</a:t>
            </a:r>
          </a:p>
          <a:p>
            <a:pPr marL="0" indent="0">
              <a:buNone/>
            </a:pPr>
            <a:endParaRPr lang="en-PH" sz="3600" dirty="0"/>
          </a:p>
        </p:txBody>
      </p:sp>
    </p:spTree>
    <p:extLst>
      <p:ext uri="{BB962C8B-B14F-4D97-AF65-F5344CB8AC3E}">
        <p14:creationId xmlns:p14="http://schemas.microsoft.com/office/powerpoint/2010/main" val="267399630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75181"/>
            <a:ext cx="10515600" cy="1325563"/>
          </a:xfrm>
        </p:spPr>
        <p:txBody>
          <a:bodyPr>
            <a:noAutofit/>
          </a:bodyPr>
          <a:lstStyle/>
          <a:p>
            <a:pPr algn="just"/>
            <a:r>
              <a:rPr lang="en-PH" dirty="0"/>
              <a:t>79. Which work of Rizal is said to be an angry man’s personal debate on weather or not a violent revolution would solve the Philippine crisis through the Spanish period?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92893"/>
            <a:ext cx="10515600" cy="4351338"/>
          </a:xfrm>
        </p:spPr>
        <p:txBody>
          <a:bodyPr>
            <a:normAutofit/>
          </a:bodyPr>
          <a:lstStyle/>
          <a:p>
            <a:pPr marL="742950" indent="-742950">
              <a:buAutoNum type="alphaUcPeriod"/>
            </a:pPr>
            <a:r>
              <a:rPr lang="en-PH" sz="3600" dirty="0"/>
              <a:t>Junto Al Pasig</a:t>
            </a:r>
          </a:p>
          <a:p>
            <a:pPr marL="742950" indent="-742950">
              <a:buAutoNum type="alphaUcPeriod"/>
            </a:pPr>
            <a:r>
              <a:rPr lang="en-PH" sz="3600" dirty="0"/>
              <a:t>El </a:t>
            </a:r>
            <a:r>
              <a:rPr lang="en-PH" sz="3600" dirty="0" err="1"/>
              <a:t>Consejo</a:t>
            </a:r>
            <a:r>
              <a:rPr lang="en-PH" sz="3600" dirty="0"/>
              <a:t> de los Dioses</a:t>
            </a:r>
          </a:p>
          <a:p>
            <a:pPr marL="742950" indent="-742950">
              <a:buAutoNum type="alphaUcPeriod"/>
            </a:pPr>
            <a:r>
              <a:rPr lang="en-PH" sz="3600" dirty="0"/>
              <a:t>El </a:t>
            </a:r>
            <a:r>
              <a:rPr lang="en-PH" sz="3600" dirty="0" err="1"/>
              <a:t>Filibusterismo</a:t>
            </a:r>
            <a:endParaRPr lang="en-PH" sz="3600" dirty="0"/>
          </a:p>
          <a:p>
            <a:pPr marL="742950" indent="-742950">
              <a:buAutoNum type="alphaUcPeriod"/>
            </a:pPr>
            <a:r>
              <a:rPr lang="en-PH" sz="3600" dirty="0" err="1"/>
              <a:t>Noli</a:t>
            </a:r>
            <a:r>
              <a:rPr lang="en-PH" sz="3600" dirty="0"/>
              <a:t> Me Tangere</a:t>
            </a:r>
          </a:p>
        </p:txBody>
      </p:sp>
    </p:spTree>
    <p:extLst>
      <p:ext uri="{BB962C8B-B14F-4D97-AF65-F5344CB8AC3E}">
        <p14:creationId xmlns:p14="http://schemas.microsoft.com/office/powerpoint/2010/main" val="157444292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75181"/>
            <a:ext cx="10515600" cy="1325563"/>
          </a:xfrm>
        </p:spPr>
        <p:txBody>
          <a:bodyPr>
            <a:noAutofit/>
          </a:bodyPr>
          <a:lstStyle/>
          <a:p>
            <a:pPr algn="just"/>
            <a:r>
              <a:rPr lang="en-PH" dirty="0"/>
              <a:t>79. Which work of Rizal is said to be an angry man’s personal debate on weather or not a violent revolution would solve the Philippine crisis through the Spanish period?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92893"/>
            <a:ext cx="10515600" cy="4351338"/>
          </a:xfrm>
        </p:spPr>
        <p:txBody>
          <a:bodyPr>
            <a:normAutofit/>
          </a:bodyPr>
          <a:lstStyle/>
          <a:p>
            <a:pPr marL="742950" indent="-742950">
              <a:buAutoNum type="alphaUcPeriod"/>
            </a:pPr>
            <a:r>
              <a:rPr lang="en-PH" sz="3600" dirty="0"/>
              <a:t>Junto Al Pasig</a:t>
            </a:r>
          </a:p>
          <a:p>
            <a:pPr marL="742950" indent="-742950">
              <a:buAutoNum type="alphaUcPeriod"/>
            </a:pPr>
            <a:r>
              <a:rPr lang="en-PH" sz="3600" dirty="0"/>
              <a:t>El </a:t>
            </a:r>
            <a:r>
              <a:rPr lang="en-PH" sz="3600" dirty="0" err="1"/>
              <a:t>Consejo</a:t>
            </a:r>
            <a:r>
              <a:rPr lang="en-PH" sz="3600" dirty="0"/>
              <a:t> de los Dioses</a:t>
            </a:r>
          </a:p>
          <a:p>
            <a:pPr marL="742950" indent="-742950">
              <a:buAutoNum type="alphaUcPeriod"/>
            </a:pPr>
            <a:r>
              <a:rPr lang="en-PH" sz="3600" dirty="0">
                <a:solidFill>
                  <a:srgbClr val="FF0000"/>
                </a:solidFill>
              </a:rPr>
              <a:t>El </a:t>
            </a:r>
            <a:r>
              <a:rPr lang="en-PH" sz="3600" dirty="0" err="1">
                <a:solidFill>
                  <a:srgbClr val="FF0000"/>
                </a:solidFill>
              </a:rPr>
              <a:t>Filibusterismo</a:t>
            </a:r>
            <a:endParaRPr lang="en-PH" sz="3600" dirty="0">
              <a:solidFill>
                <a:srgbClr val="FF0000"/>
              </a:solidFill>
            </a:endParaRPr>
          </a:p>
          <a:p>
            <a:pPr marL="742950" indent="-742950">
              <a:buAutoNum type="alphaUcPeriod"/>
            </a:pPr>
            <a:r>
              <a:rPr lang="en-PH" sz="3600" dirty="0" err="1"/>
              <a:t>Noli</a:t>
            </a:r>
            <a:r>
              <a:rPr lang="en-PH" sz="3600" dirty="0"/>
              <a:t> Me Tangere</a:t>
            </a:r>
          </a:p>
        </p:txBody>
      </p:sp>
    </p:spTree>
    <p:extLst>
      <p:ext uri="{BB962C8B-B14F-4D97-AF65-F5344CB8AC3E}">
        <p14:creationId xmlns:p14="http://schemas.microsoft.com/office/powerpoint/2010/main" val="425694766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80. Pro-poor programs of the Philippines government are meant to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Eliminate poverty</a:t>
            </a:r>
          </a:p>
          <a:p>
            <a:pPr marL="742950" indent="-742950">
              <a:buAutoNum type="alphaUcPeriod"/>
            </a:pPr>
            <a:r>
              <a:rPr lang="en-PH" sz="3600" dirty="0"/>
              <a:t>Reduce the disparity between the rich and the poor</a:t>
            </a:r>
          </a:p>
          <a:p>
            <a:pPr marL="742950" indent="-742950">
              <a:buAutoNum type="alphaUcPeriod"/>
            </a:pPr>
            <a:r>
              <a:rPr lang="en-PH" sz="3600" dirty="0"/>
              <a:t>Make everyone equal</a:t>
            </a:r>
          </a:p>
          <a:p>
            <a:pPr marL="742950" indent="-742950">
              <a:buAutoNum type="alphaUcPeriod"/>
            </a:pPr>
            <a:r>
              <a:rPr lang="en-PH" sz="3600" dirty="0"/>
              <a:t>Make everyone live in affluence</a:t>
            </a:r>
          </a:p>
        </p:txBody>
      </p:sp>
    </p:spTree>
    <p:extLst>
      <p:ext uri="{BB962C8B-B14F-4D97-AF65-F5344CB8AC3E}">
        <p14:creationId xmlns:p14="http://schemas.microsoft.com/office/powerpoint/2010/main" val="366602244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80. Pro-poor programs of the Philippines government are meant to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Eliminate poverty</a:t>
            </a:r>
          </a:p>
          <a:p>
            <a:pPr marL="742950" indent="-742950">
              <a:buAutoNum type="alphaUcPeriod"/>
            </a:pPr>
            <a:r>
              <a:rPr lang="en-PH" sz="3600" dirty="0">
                <a:solidFill>
                  <a:srgbClr val="FF0000"/>
                </a:solidFill>
              </a:rPr>
              <a:t>Reduce the disparity between the rich and the poor</a:t>
            </a:r>
          </a:p>
          <a:p>
            <a:pPr marL="742950" indent="-742950">
              <a:buAutoNum type="alphaUcPeriod"/>
            </a:pPr>
            <a:r>
              <a:rPr lang="en-PH" sz="3600" dirty="0"/>
              <a:t>Make everyone equal</a:t>
            </a:r>
          </a:p>
          <a:p>
            <a:pPr marL="742950" indent="-742950">
              <a:buAutoNum type="alphaUcPeriod"/>
            </a:pPr>
            <a:r>
              <a:rPr lang="en-PH" sz="3600" dirty="0"/>
              <a:t>Make everyone live in affluence</a:t>
            </a:r>
          </a:p>
        </p:txBody>
      </p:sp>
    </p:spTree>
    <p:extLst>
      <p:ext uri="{BB962C8B-B14F-4D97-AF65-F5344CB8AC3E}">
        <p14:creationId xmlns:p14="http://schemas.microsoft.com/office/powerpoint/2010/main" val="410687597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58240"/>
            <a:ext cx="10515600" cy="1325563"/>
          </a:xfrm>
        </p:spPr>
        <p:txBody>
          <a:bodyPr>
            <a:noAutofit/>
          </a:bodyPr>
          <a:lstStyle/>
          <a:p>
            <a:pPr algn="just"/>
            <a:r>
              <a:rPr lang="en-PH" dirty="0"/>
              <a:t>81. After World War II, which country was occupied and administered by the United States with the emperor assuming a primarily symbolic role as the head of the monarchial state?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086018"/>
            <a:ext cx="10515600" cy="4351338"/>
          </a:xfrm>
        </p:spPr>
        <p:txBody>
          <a:bodyPr>
            <a:normAutofit/>
          </a:bodyPr>
          <a:lstStyle/>
          <a:p>
            <a:pPr marL="742950" indent="-742950">
              <a:buAutoNum type="alphaUcPeriod"/>
            </a:pPr>
            <a:r>
              <a:rPr lang="en-PH" sz="3600" dirty="0"/>
              <a:t>Thailand</a:t>
            </a:r>
          </a:p>
          <a:p>
            <a:pPr marL="742950" indent="-742950">
              <a:buAutoNum type="alphaUcPeriod"/>
            </a:pPr>
            <a:r>
              <a:rPr lang="en-PH" sz="3600" dirty="0"/>
              <a:t>Cambodia</a:t>
            </a:r>
          </a:p>
          <a:p>
            <a:pPr marL="742950" indent="-742950">
              <a:buAutoNum type="alphaUcPeriod"/>
            </a:pPr>
            <a:r>
              <a:rPr lang="en-PH" sz="3600" dirty="0"/>
              <a:t>Korean</a:t>
            </a:r>
          </a:p>
          <a:p>
            <a:pPr marL="742950" indent="-742950">
              <a:buAutoNum type="alphaUcPeriod"/>
            </a:pPr>
            <a:r>
              <a:rPr lang="en-PH" sz="3600" dirty="0"/>
              <a:t>Japan</a:t>
            </a:r>
          </a:p>
          <a:p>
            <a:pPr marL="0" indent="0">
              <a:buNone/>
            </a:pPr>
            <a:endParaRPr lang="en-PH" sz="3600" dirty="0"/>
          </a:p>
        </p:txBody>
      </p:sp>
    </p:spTree>
    <p:extLst>
      <p:ext uri="{BB962C8B-B14F-4D97-AF65-F5344CB8AC3E}">
        <p14:creationId xmlns:p14="http://schemas.microsoft.com/office/powerpoint/2010/main" val="239248418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58240"/>
            <a:ext cx="10515600" cy="1325563"/>
          </a:xfrm>
        </p:spPr>
        <p:txBody>
          <a:bodyPr>
            <a:noAutofit/>
          </a:bodyPr>
          <a:lstStyle/>
          <a:p>
            <a:pPr algn="just"/>
            <a:r>
              <a:rPr lang="en-PH" dirty="0"/>
              <a:t>81. After World War II, which country was occupied and administered by the United States with the emperor assuming a primarily symbolic role as the head of the monarchial state?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086018"/>
            <a:ext cx="10515600" cy="4351338"/>
          </a:xfrm>
        </p:spPr>
        <p:txBody>
          <a:bodyPr>
            <a:normAutofit/>
          </a:bodyPr>
          <a:lstStyle/>
          <a:p>
            <a:pPr marL="742950" indent="-742950">
              <a:buAutoNum type="alphaUcPeriod"/>
            </a:pPr>
            <a:r>
              <a:rPr lang="en-PH" sz="3600" dirty="0"/>
              <a:t>Thailand</a:t>
            </a:r>
          </a:p>
          <a:p>
            <a:pPr marL="742950" indent="-742950">
              <a:buAutoNum type="alphaUcPeriod"/>
            </a:pPr>
            <a:r>
              <a:rPr lang="en-PH" sz="3600" dirty="0"/>
              <a:t>Cambodia</a:t>
            </a:r>
          </a:p>
          <a:p>
            <a:pPr marL="742950" indent="-742950">
              <a:buAutoNum type="alphaUcPeriod"/>
            </a:pPr>
            <a:r>
              <a:rPr lang="en-PH" sz="3600" dirty="0"/>
              <a:t>Korean</a:t>
            </a:r>
          </a:p>
          <a:p>
            <a:pPr marL="742950" indent="-742950">
              <a:buAutoNum type="alphaUcPeriod"/>
            </a:pPr>
            <a:r>
              <a:rPr lang="en-PH" sz="3600" dirty="0">
                <a:solidFill>
                  <a:srgbClr val="FF0000"/>
                </a:solidFill>
              </a:rPr>
              <a:t>Japan</a:t>
            </a:r>
          </a:p>
          <a:p>
            <a:pPr marL="0" indent="0">
              <a:buNone/>
            </a:pPr>
            <a:endParaRPr lang="en-PH" sz="3600" dirty="0"/>
          </a:p>
        </p:txBody>
      </p:sp>
    </p:spTree>
    <p:extLst>
      <p:ext uri="{BB962C8B-B14F-4D97-AF65-F5344CB8AC3E}">
        <p14:creationId xmlns:p14="http://schemas.microsoft.com/office/powerpoint/2010/main" val="87791305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82. The following are cooperative principles EXCEPT ____________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Democratic control</a:t>
            </a:r>
          </a:p>
          <a:p>
            <a:pPr marL="742950" indent="-742950">
              <a:buAutoNum type="alphaUcPeriod"/>
            </a:pPr>
            <a:r>
              <a:rPr lang="en-PH" sz="3600" dirty="0"/>
              <a:t>Unlimited interest on capital</a:t>
            </a:r>
          </a:p>
          <a:p>
            <a:pPr marL="742950" indent="-742950">
              <a:buAutoNum type="alphaUcPeriod"/>
            </a:pPr>
            <a:r>
              <a:rPr lang="en-PH" sz="3600" dirty="0"/>
              <a:t>Cooperative education</a:t>
            </a:r>
          </a:p>
          <a:p>
            <a:pPr marL="742950" indent="-742950">
              <a:buAutoNum type="alphaUcPeriod"/>
            </a:pPr>
            <a:r>
              <a:rPr lang="en-PH" sz="3600" dirty="0"/>
              <a:t>Open and voluntary membership</a:t>
            </a:r>
          </a:p>
        </p:txBody>
      </p:sp>
    </p:spTree>
    <p:extLst>
      <p:ext uri="{BB962C8B-B14F-4D97-AF65-F5344CB8AC3E}">
        <p14:creationId xmlns:p14="http://schemas.microsoft.com/office/powerpoint/2010/main" val="142669927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82. The following are cooperative principles EXCEPT ____________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Democratic control</a:t>
            </a:r>
          </a:p>
          <a:p>
            <a:pPr marL="742950" indent="-742950">
              <a:buAutoNum type="alphaUcPeriod"/>
            </a:pPr>
            <a:r>
              <a:rPr lang="en-PH" sz="3600" dirty="0">
                <a:solidFill>
                  <a:srgbClr val="FF0000"/>
                </a:solidFill>
              </a:rPr>
              <a:t>Unlimited interest on capital</a:t>
            </a:r>
          </a:p>
          <a:p>
            <a:pPr marL="742950" indent="-742950">
              <a:buAutoNum type="alphaUcPeriod"/>
            </a:pPr>
            <a:r>
              <a:rPr lang="en-PH" sz="3600" dirty="0"/>
              <a:t>Cooperative education</a:t>
            </a:r>
          </a:p>
          <a:p>
            <a:pPr marL="742950" indent="-742950">
              <a:buAutoNum type="alphaUcPeriod"/>
            </a:pPr>
            <a:r>
              <a:rPr lang="en-PH" sz="3600" dirty="0"/>
              <a:t>Open and voluntary membership</a:t>
            </a:r>
          </a:p>
        </p:txBody>
      </p:sp>
    </p:spTree>
    <p:extLst>
      <p:ext uri="{BB962C8B-B14F-4D97-AF65-F5344CB8AC3E}">
        <p14:creationId xmlns:p14="http://schemas.microsoft.com/office/powerpoint/2010/main" val="20210229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83. Which does NOT belong to Region XI?</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442560"/>
            <a:ext cx="10515600" cy="4351338"/>
          </a:xfrm>
        </p:spPr>
        <p:txBody>
          <a:bodyPr>
            <a:normAutofit/>
          </a:bodyPr>
          <a:lstStyle/>
          <a:p>
            <a:pPr marL="742950" indent="-742950">
              <a:buAutoNum type="alphaUcPeriod"/>
            </a:pPr>
            <a:r>
              <a:rPr lang="en-PH" sz="3600" dirty="0"/>
              <a:t>South Cotabato</a:t>
            </a:r>
          </a:p>
          <a:p>
            <a:pPr marL="742950" indent="-742950">
              <a:buAutoNum type="alphaUcPeriod"/>
            </a:pPr>
            <a:r>
              <a:rPr lang="en-PH" sz="3600" dirty="0"/>
              <a:t>Davao City</a:t>
            </a:r>
          </a:p>
          <a:p>
            <a:pPr marL="742950" indent="-742950">
              <a:buAutoNum type="alphaUcPeriod"/>
            </a:pPr>
            <a:r>
              <a:rPr lang="en-PH" sz="3600" dirty="0" err="1"/>
              <a:t>Agusan</a:t>
            </a:r>
            <a:r>
              <a:rPr lang="en-PH" sz="3600" dirty="0"/>
              <a:t> del Sur</a:t>
            </a:r>
          </a:p>
          <a:p>
            <a:pPr marL="742950" indent="-742950">
              <a:buAutoNum type="alphaUcPeriod"/>
            </a:pPr>
            <a:r>
              <a:rPr lang="en-PH" sz="3600" dirty="0"/>
              <a:t>Surigao del Sur</a:t>
            </a:r>
          </a:p>
        </p:txBody>
      </p:sp>
    </p:spTree>
    <p:extLst>
      <p:ext uri="{BB962C8B-B14F-4D97-AF65-F5344CB8AC3E}">
        <p14:creationId xmlns:p14="http://schemas.microsoft.com/office/powerpoint/2010/main" val="67323519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83. Which does NOT belong to Region XI?</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442560"/>
            <a:ext cx="10515600" cy="4351338"/>
          </a:xfrm>
        </p:spPr>
        <p:txBody>
          <a:bodyPr>
            <a:normAutofit/>
          </a:bodyPr>
          <a:lstStyle/>
          <a:p>
            <a:pPr marL="742950" indent="-742950">
              <a:buAutoNum type="alphaUcPeriod"/>
            </a:pPr>
            <a:r>
              <a:rPr lang="en-PH" sz="3600" dirty="0"/>
              <a:t>South Cotabato</a:t>
            </a:r>
          </a:p>
          <a:p>
            <a:pPr marL="742950" indent="-742950">
              <a:buAutoNum type="alphaUcPeriod"/>
            </a:pPr>
            <a:r>
              <a:rPr lang="en-PH" sz="3600" dirty="0">
                <a:solidFill>
                  <a:srgbClr val="FF0000"/>
                </a:solidFill>
              </a:rPr>
              <a:t>Davao City</a:t>
            </a:r>
          </a:p>
          <a:p>
            <a:pPr marL="742950" indent="-742950">
              <a:buAutoNum type="alphaUcPeriod"/>
            </a:pPr>
            <a:r>
              <a:rPr lang="en-PH" sz="3600" dirty="0" err="1"/>
              <a:t>Agusan</a:t>
            </a:r>
            <a:r>
              <a:rPr lang="en-PH" sz="3600" dirty="0"/>
              <a:t> del Sur</a:t>
            </a:r>
          </a:p>
          <a:p>
            <a:pPr marL="742950" indent="-742950">
              <a:buAutoNum type="alphaUcPeriod"/>
            </a:pPr>
            <a:r>
              <a:rPr lang="en-PH" sz="3600" dirty="0"/>
              <a:t>Surigao del Sur</a:t>
            </a:r>
          </a:p>
        </p:txBody>
      </p:sp>
    </p:spTree>
    <p:extLst>
      <p:ext uri="{BB962C8B-B14F-4D97-AF65-F5344CB8AC3E}">
        <p14:creationId xmlns:p14="http://schemas.microsoft.com/office/powerpoint/2010/main" val="52490993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99898"/>
            <a:ext cx="10515600" cy="1325563"/>
          </a:xfrm>
        </p:spPr>
        <p:txBody>
          <a:bodyPr>
            <a:noAutofit/>
          </a:bodyPr>
          <a:lstStyle/>
          <a:p>
            <a:pPr algn="just"/>
            <a:r>
              <a:rPr lang="en-PH" dirty="0"/>
              <a:t>84. Some police officers wiretapped some phones without lawful order of the court or for a cause prescribed by law. What constitutional right may have been violated?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29965"/>
            <a:ext cx="10515600" cy="4351338"/>
          </a:xfrm>
        </p:spPr>
        <p:txBody>
          <a:bodyPr>
            <a:normAutofit/>
          </a:bodyPr>
          <a:lstStyle/>
          <a:p>
            <a:pPr marL="742950" indent="-742950">
              <a:buAutoNum type="alphaUcPeriod"/>
            </a:pPr>
            <a:r>
              <a:rPr lang="en-PH" sz="3600" dirty="0"/>
              <a:t>Right against illegal search</a:t>
            </a:r>
          </a:p>
          <a:p>
            <a:pPr marL="742950" indent="-742950">
              <a:buAutoNum type="alphaUcPeriod"/>
            </a:pPr>
            <a:r>
              <a:rPr lang="en-PH" sz="3600" dirty="0"/>
              <a:t>Right to privacy of communication</a:t>
            </a:r>
          </a:p>
          <a:p>
            <a:pPr marL="742950" indent="-742950">
              <a:buAutoNum type="alphaUcPeriod"/>
            </a:pPr>
            <a:r>
              <a:rPr lang="en-PH" sz="3600" dirty="0"/>
              <a:t>Right to due process of law</a:t>
            </a:r>
          </a:p>
          <a:p>
            <a:pPr marL="742950" indent="-742950">
              <a:buAutoNum type="alphaUcPeriod"/>
            </a:pPr>
            <a:r>
              <a:rPr lang="en-PH" sz="3600" dirty="0"/>
              <a:t>Freedom of speech</a:t>
            </a:r>
          </a:p>
        </p:txBody>
      </p:sp>
    </p:spTree>
    <p:extLst>
      <p:ext uri="{BB962C8B-B14F-4D97-AF65-F5344CB8AC3E}">
        <p14:creationId xmlns:p14="http://schemas.microsoft.com/office/powerpoint/2010/main" val="312501480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99898"/>
            <a:ext cx="10515600" cy="1325563"/>
          </a:xfrm>
        </p:spPr>
        <p:txBody>
          <a:bodyPr>
            <a:noAutofit/>
          </a:bodyPr>
          <a:lstStyle/>
          <a:p>
            <a:pPr algn="just"/>
            <a:r>
              <a:rPr lang="en-PH" dirty="0"/>
              <a:t>84. Some police officers wiretapped some phones without lawful order of the court or for a cause prescribed by law. What constitutional right may have been violated?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29965"/>
            <a:ext cx="10515600" cy="4351338"/>
          </a:xfrm>
        </p:spPr>
        <p:txBody>
          <a:bodyPr>
            <a:normAutofit/>
          </a:bodyPr>
          <a:lstStyle/>
          <a:p>
            <a:pPr marL="742950" indent="-742950">
              <a:buAutoNum type="alphaUcPeriod"/>
            </a:pPr>
            <a:r>
              <a:rPr lang="en-PH" sz="3600" dirty="0"/>
              <a:t>Right against illegal search</a:t>
            </a:r>
          </a:p>
          <a:p>
            <a:pPr marL="742950" indent="-742950">
              <a:buAutoNum type="alphaUcPeriod"/>
            </a:pPr>
            <a:r>
              <a:rPr lang="en-PH" sz="3600" dirty="0">
                <a:solidFill>
                  <a:srgbClr val="FF0000"/>
                </a:solidFill>
              </a:rPr>
              <a:t>Right to privacy of communication</a:t>
            </a:r>
          </a:p>
          <a:p>
            <a:pPr marL="742950" indent="-742950">
              <a:buAutoNum type="alphaUcPeriod"/>
            </a:pPr>
            <a:r>
              <a:rPr lang="en-PH" sz="3600" dirty="0"/>
              <a:t>Right to due process of law</a:t>
            </a:r>
          </a:p>
          <a:p>
            <a:pPr marL="742950" indent="-742950">
              <a:buAutoNum type="alphaUcPeriod"/>
            </a:pPr>
            <a:r>
              <a:rPr lang="en-PH" sz="3600" dirty="0"/>
              <a:t>Freedom of speech</a:t>
            </a:r>
          </a:p>
        </p:txBody>
      </p:sp>
    </p:spTree>
    <p:extLst>
      <p:ext uri="{BB962C8B-B14F-4D97-AF65-F5344CB8AC3E}">
        <p14:creationId xmlns:p14="http://schemas.microsoft.com/office/powerpoint/2010/main" val="436963424"/>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55"/>
            <a:ext cx="10515600" cy="1325563"/>
          </a:xfrm>
        </p:spPr>
        <p:txBody>
          <a:bodyPr>
            <a:noAutofit/>
          </a:bodyPr>
          <a:lstStyle/>
          <a:p>
            <a:pPr algn="just"/>
            <a:r>
              <a:rPr lang="en-PH" dirty="0"/>
              <a:t>85. The Chinese minority group in the Philippines adopts the language, history, and manners of man stream Filipino culture as its own. What pattern of interaction occurs?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05250"/>
            <a:ext cx="10515600" cy="4351338"/>
          </a:xfrm>
        </p:spPr>
        <p:txBody>
          <a:bodyPr>
            <a:normAutofit/>
          </a:bodyPr>
          <a:lstStyle/>
          <a:p>
            <a:pPr marL="742950" indent="-742950">
              <a:buAutoNum type="alphaUcPeriod"/>
            </a:pPr>
            <a:r>
              <a:rPr lang="en-PH" sz="3600" dirty="0"/>
              <a:t>Acculturation</a:t>
            </a:r>
          </a:p>
          <a:p>
            <a:pPr marL="742950" indent="-742950">
              <a:buAutoNum type="alphaUcPeriod"/>
            </a:pPr>
            <a:r>
              <a:rPr lang="en-PH" sz="3600" dirty="0"/>
              <a:t>Alienation</a:t>
            </a:r>
          </a:p>
          <a:p>
            <a:pPr marL="742950" indent="-742950">
              <a:buAutoNum type="alphaUcPeriod"/>
            </a:pPr>
            <a:r>
              <a:rPr lang="en-PH" sz="3600" dirty="0"/>
              <a:t>Amalgamation</a:t>
            </a:r>
          </a:p>
          <a:p>
            <a:pPr marL="742950" indent="-742950">
              <a:buAutoNum type="alphaUcPeriod"/>
            </a:pPr>
            <a:r>
              <a:rPr lang="en-PH" sz="3600" dirty="0"/>
              <a:t>Accommodation</a:t>
            </a:r>
          </a:p>
          <a:p>
            <a:pPr marL="0" indent="0">
              <a:buNone/>
            </a:pPr>
            <a:endParaRPr lang="en-PH" sz="3600" dirty="0"/>
          </a:p>
        </p:txBody>
      </p:sp>
    </p:spTree>
    <p:extLst>
      <p:ext uri="{BB962C8B-B14F-4D97-AF65-F5344CB8AC3E}">
        <p14:creationId xmlns:p14="http://schemas.microsoft.com/office/powerpoint/2010/main" val="117836451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55"/>
            <a:ext cx="10515600" cy="1325563"/>
          </a:xfrm>
        </p:spPr>
        <p:txBody>
          <a:bodyPr>
            <a:noAutofit/>
          </a:bodyPr>
          <a:lstStyle/>
          <a:p>
            <a:pPr algn="just"/>
            <a:r>
              <a:rPr lang="en-PH" dirty="0"/>
              <a:t>85. The Chinese minority group in the Philippines adopts the language, history, and manners of man stream Filipino culture as its own. What pattern of interaction occurs?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05250"/>
            <a:ext cx="10515600" cy="4351338"/>
          </a:xfrm>
        </p:spPr>
        <p:txBody>
          <a:bodyPr>
            <a:normAutofit/>
          </a:bodyPr>
          <a:lstStyle/>
          <a:p>
            <a:pPr marL="742950" indent="-742950">
              <a:buAutoNum type="alphaUcPeriod"/>
            </a:pPr>
            <a:r>
              <a:rPr lang="en-PH" sz="3600" dirty="0">
                <a:solidFill>
                  <a:srgbClr val="FF0000"/>
                </a:solidFill>
              </a:rPr>
              <a:t>Acculturation</a:t>
            </a:r>
          </a:p>
          <a:p>
            <a:pPr marL="742950" indent="-742950">
              <a:buAutoNum type="alphaUcPeriod"/>
            </a:pPr>
            <a:r>
              <a:rPr lang="en-PH" sz="3600" dirty="0"/>
              <a:t>Alienation</a:t>
            </a:r>
          </a:p>
          <a:p>
            <a:pPr marL="742950" indent="-742950">
              <a:buAutoNum type="alphaUcPeriod"/>
            </a:pPr>
            <a:r>
              <a:rPr lang="en-PH" sz="3600" dirty="0"/>
              <a:t>Amalgamation</a:t>
            </a:r>
          </a:p>
          <a:p>
            <a:pPr marL="742950" indent="-742950">
              <a:buAutoNum type="alphaUcPeriod"/>
            </a:pPr>
            <a:r>
              <a:rPr lang="en-PH" sz="3600" dirty="0"/>
              <a:t>Accommodation</a:t>
            </a:r>
          </a:p>
          <a:p>
            <a:pPr marL="0" indent="0">
              <a:buNone/>
            </a:pPr>
            <a:endParaRPr lang="en-PH" sz="3600" dirty="0"/>
          </a:p>
        </p:txBody>
      </p:sp>
    </p:spTree>
    <p:extLst>
      <p:ext uri="{BB962C8B-B14F-4D97-AF65-F5344CB8AC3E}">
        <p14:creationId xmlns:p14="http://schemas.microsoft.com/office/powerpoint/2010/main" val="184806190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86. Siquijor was formerly a sub-province of</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Easter Samar</a:t>
            </a:r>
          </a:p>
          <a:p>
            <a:pPr marL="742950" indent="-742950">
              <a:buAutoNum type="alphaUcPeriod"/>
            </a:pPr>
            <a:r>
              <a:rPr lang="en-PH" sz="3600" dirty="0" err="1"/>
              <a:t>Guimaras</a:t>
            </a:r>
            <a:endParaRPr lang="en-PH" sz="3600" dirty="0"/>
          </a:p>
          <a:p>
            <a:pPr marL="742950" indent="-742950">
              <a:buAutoNum type="alphaUcPeriod"/>
            </a:pPr>
            <a:r>
              <a:rPr lang="en-PH" sz="3600" dirty="0"/>
              <a:t>Negros Oriental</a:t>
            </a:r>
          </a:p>
          <a:p>
            <a:pPr marL="742950" indent="-742950">
              <a:buAutoNum type="alphaUcPeriod"/>
            </a:pPr>
            <a:r>
              <a:rPr lang="en-PH" sz="3600" dirty="0"/>
              <a:t>Negros Occidental</a:t>
            </a:r>
          </a:p>
        </p:txBody>
      </p:sp>
    </p:spTree>
    <p:extLst>
      <p:ext uri="{BB962C8B-B14F-4D97-AF65-F5344CB8AC3E}">
        <p14:creationId xmlns:p14="http://schemas.microsoft.com/office/powerpoint/2010/main" val="48767161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86. Siquijor was formerly a sub-province of</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Easter Samar</a:t>
            </a:r>
          </a:p>
          <a:p>
            <a:pPr marL="742950" indent="-742950">
              <a:buAutoNum type="alphaUcPeriod"/>
            </a:pPr>
            <a:r>
              <a:rPr lang="en-PH" sz="3600" dirty="0" err="1">
                <a:solidFill>
                  <a:srgbClr val="FF0000"/>
                </a:solidFill>
              </a:rPr>
              <a:t>Guimaras</a:t>
            </a:r>
            <a:endParaRPr lang="en-PH" sz="3600" dirty="0">
              <a:solidFill>
                <a:srgbClr val="FF0000"/>
              </a:solidFill>
            </a:endParaRPr>
          </a:p>
          <a:p>
            <a:pPr marL="742950" indent="-742950">
              <a:buAutoNum type="alphaUcPeriod"/>
            </a:pPr>
            <a:r>
              <a:rPr lang="en-PH" sz="3600" dirty="0"/>
              <a:t>Negros Oriental</a:t>
            </a:r>
          </a:p>
          <a:p>
            <a:pPr marL="742950" indent="-742950">
              <a:buAutoNum type="alphaUcPeriod"/>
            </a:pPr>
            <a:r>
              <a:rPr lang="en-PH" sz="3600" dirty="0"/>
              <a:t>Negros Occidental</a:t>
            </a:r>
          </a:p>
        </p:txBody>
      </p:sp>
    </p:spTree>
    <p:extLst>
      <p:ext uri="{BB962C8B-B14F-4D97-AF65-F5344CB8AC3E}">
        <p14:creationId xmlns:p14="http://schemas.microsoft.com/office/powerpoint/2010/main" val="416899755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82950"/>
            <a:ext cx="10515600" cy="1325563"/>
          </a:xfrm>
        </p:spPr>
        <p:txBody>
          <a:bodyPr>
            <a:noAutofit/>
          </a:bodyPr>
          <a:lstStyle/>
          <a:p>
            <a:pPr algn="just"/>
            <a:r>
              <a:rPr lang="en-PH" dirty="0"/>
              <a:t>87. The Spaniards organized the many independent barangays under one government so that they could impose their rule much more easily. For the Filipinos, this opened the opportunity to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72517"/>
            <a:ext cx="10515600" cy="4351338"/>
          </a:xfrm>
        </p:spPr>
        <p:txBody>
          <a:bodyPr>
            <a:normAutofit/>
          </a:bodyPr>
          <a:lstStyle/>
          <a:p>
            <a:pPr marL="742950" indent="-742950" algn="just">
              <a:buAutoNum type="alphaUcPeriod"/>
            </a:pPr>
            <a:r>
              <a:rPr lang="en-PH" sz="3600" dirty="0"/>
              <a:t>Enjoy freedom under the Spaniards</a:t>
            </a:r>
          </a:p>
          <a:p>
            <a:pPr marL="742950" indent="-742950" algn="just">
              <a:buAutoNum type="alphaUcPeriod"/>
            </a:pPr>
            <a:r>
              <a:rPr lang="en-PH" sz="3600" dirty="0"/>
              <a:t>Participate in running the government</a:t>
            </a:r>
          </a:p>
          <a:p>
            <a:pPr marL="742950" indent="-742950" algn="just">
              <a:buAutoNum type="alphaUcPeriod"/>
            </a:pPr>
            <a:r>
              <a:rPr lang="en-PH" sz="3600" dirty="0"/>
              <a:t>Be united in thoughts and feelings as one nation</a:t>
            </a:r>
          </a:p>
          <a:p>
            <a:pPr marL="742950" indent="-742950" algn="just">
              <a:buAutoNum type="alphaUcPeriod"/>
            </a:pPr>
            <a:r>
              <a:rPr lang="en-PH" sz="3600" dirty="0"/>
              <a:t>Become partners toward progress with the Spaniards</a:t>
            </a:r>
          </a:p>
        </p:txBody>
      </p:sp>
    </p:spTree>
    <p:extLst>
      <p:ext uri="{BB962C8B-B14F-4D97-AF65-F5344CB8AC3E}">
        <p14:creationId xmlns:p14="http://schemas.microsoft.com/office/powerpoint/2010/main" val="320387315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82950"/>
            <a:ext cx="10515600" cy="1325563"/>
          </a:xfrm>
        </p:spPr>
        <p:txBody>
          <a:bodyPr>
            <a:noAutofit/>
          </a:bodyPr>
          <a:lstStyle/>
          <a:p>
            <a:pPr algn="just"/>
            <a:r>
              <a:rPr lang="en-PH" dirty="0"/>
              <a:t>87. The Spaniards organized the many independent barangays under one government so that they could impose their rule much more easily. For the Filipinos, this opened the opportunity to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72517"/>
            <a:ext cx="10515600" cy="4351338"/>
          </a:xfrm>
        </p:spPr>
        <p:txBody>
          <a:bodyPr>
            <a:normAutofit/>
          </a:bodyPr>
          <a:lstStyle/>
          <a:p>
            <a:pPr marL="742950" indent="-742950" algn="just">
              <a:buAutoNum type="alphaUcPeriod"/>
            </a:pPr>
            <a:r>
              <a:rPr lang="en-PH" sz="3600" dirty="0"/>
              <a:t>Enjoy freedom under the Spaniards</a:t>
            </a:r>
          </a:p>
          <a:p>
            <a:pPr marL="742950" indent="-742950" algn="just">
              <a:buAutoNum type="alphaUcPeriod"/>
            </a:pPr>
            <a:r>
              <a:rPr lang="en-PH" sz="3600" dirty="0"/>
              <a:t>Participate in running the government</a:t>
            </a:r>
          </a:p>
          <a:p>
            <a:pPr marL="742950" indent="-742950" algn="just">
              <a:buAutoNum type="alphaUcPeriod"/>
            </a:pPr>
            <a:r>
              <a:rPr lang="en-PH" sz="3600" dirty="0">
                <a:solidFill>
                  <a:srgbClr val="FF0000"/>
                </a:solidFill>
              </a:rPr>
              <a:t>Be united in thoughts and feelings as one nation</a:t>
            </a:r>
          </a:p>
          <a:p>
            <a:pPr marL="742950" indent="-742950" algn="just">
              <a:buAutoNum type="alphaUcPeriod"/>
            </a:pPr>
            <a:r>
              <a:rPr lang="en-PH" sz="3600" dirty="0"/>
              <a:t>Become partners toward progress with the Spaniards</a:t>
            </a:r>
          </a:p>
        </p:txBody>
      </p:sp>
    </p:spTree>
    <p:extLst>
      <p:ext uri="{BB962C8B-B14F-4D97-AF65-F5344CB8AC3E}">
        <p14:creationId xmlns:p14="http://schemas.microsoft.com/office/powerpoint/2010/main" val="243193350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88. In which instance/s is/are the exemption/s of certain entitles and properties from taxation correctly applied?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8"/>
            <a:ext cx="10515600" cy="4679619"/>
          </a:xfrm>
        </p:spPr>
        <p:txBody>
          <a:bodyPr>
            <a:normAutofit fontScale="92500"/>
          </a:bodyPr>
          <a:lstStyle/>
          <a:p>
            <a:pPr marL="742950" indent="-742950" algn="just">
              <a:buAutoNum type="alphaUcPeriod"/>
            </a:pPr>
            <a:r>
              <a:rPr lang="en-PH" sz="3600" dirty="0"/>
              <a:t>A property leased by the owner to another who uses it exclusively for charitable purposes is exempt from property tax</a:t>
            </a:r>
          </a:p>
          <a:p>
            <a:pPr marL="742950" indent="-742950" algn="just">
              <a:buAutoNum type="alphaUcPeriod"/>
            </a:pPr>
            <a:r>
              <a:rPr lang="en-PH" sz="3600" dirty="0"/>
              <a:t>A property owner uses his income for religious exclusively for charitable purpose is exempt from income tax</a:t>
            </a:r>
          </a:p>
          <a:p>
            <a:pPr marL="742950" indent="-742950" algn="just">
              <a:buAutoNum type="alphaUcPeriod"/>
            </a:pPr>
            <a:r>
              <a:rPr lang="en-PH" sz="3600" dirty="0"/>
              <a:t>The owner of a property leased to another exclusively for charitable purpose is exempt from income tax</a:t>
            </a:r>
          </a:p>
          <a:p>
            <a:pPr marL="742950" indent="-742950" algn="just">
              <a:buAutoNum type="alphaUcPeriod"/>
            </a:pPr>
            <a:r>
              <a:rPr lang="en-PH" sz="3600" dirty="0"/>
              <a:t>A&amp;B</a:t>
            </a:r>
          </a:p>
          <a:p>
            <a:pPr marL="742950" indent="-742950" algn="just">
              <a:buAutoNum type="alphaUcPeriod"/>
            </a:pPr>
            <a:endParaRPr lang="en-PH" sz="3600" dirty="0"/>
          </a:p>
        </p:txBody>
      </p:sp>
    </p:spTree>
    <p:extLst>
      <p:ext uri="{BB962C8B-B14F-4D97-AF65-F5344CB8AC3E}">
        <p14:creationId xmlns:p14="http://schemas.microsoft.com/office/powerpoint/2010/main" val="169021369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88. In which instance/s is/are the exemption/s of certain entitles and properties from taxation correctly applied?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8"/>
            <a:ext cx="10515600" cy="4679619"/>
          </a:xfrm>
        </p:spPr>
        <p:txBody>
          <a:bodyPr>
            <a:normAutofit fontScale="92500"/>
          </a:bodyPr>
          <a:lstStyle/>
          <a:p>
            <a:pPr marL="742950" indent="-742950" algn="just">
              <a:buAutoNum type="alphaUcPeriod"/>
            </a:pPr>
            <a:r>
              <a:rPr lang="en-PH" sz="3600" dirty="0"/>
              <a:t>A property leased by the owner to another who uses it exclusively for charitable purposes is exempt from property tax</a:t>
            </a:r>
          </a:p>
          <a:p>
            <a:pPr marL="742950" indent="-742950" algn="just">
              <a:buAutoNum type="alphaUcPeriod"/>
            </a:pPr>
            <a:r>
              <a:rPr lang="en-PH" sz="3600" dirty="0"/>
              <a:t>A property owner uses his income for religious exclusively for charitable purpose is exempt from income tax</a:t>
            </a:r>
          </a:p>
          <a:p>
            <a:pPr marL="742950" indent="-742950" algn="just">
              <a:buAutoNum type="alphaUcPeriod"/>
            </a:pPr>
            <a:r>
              <a:rPr lang="en-PH" sz="3600" dirty="0"/>
              <a:t>The owner of a property leased to another exclusively for charitable purpose is exempt from income tax</a:t>
            </a:r>
          </a:p>
          <a:p>
            <a:pPr marL="742950" indent="-742950" algn="just">
              <a:buAutoNum type="alphaUcPeriod"/>
            </a:pPr>
            <a:r>
              <a:rPr lang="en-PH" sz="3600" dirty="0">
                <a:solidFill>
                  <a:srgbClr val="FF0000"/>
                </a:solidFill>
              </a:rPr>
              <a:t>A&amp;B</a:t>
            </a:r>
          </a:p>
          <a:p>
            <a:pPr marL="742950" indent="-742950" algn="just">
              <a:buAutoNum type="alphaUcPeriod"/>
            </a:pPr>
            <a:endParaRPr lang="en-PH" sz="3600" dirty="0"/>
          </a:p>
        </p:txBody>
      </p:sp>
    </p:spTree>
    <p:extLst>
      <p:ext uri="{BB962C8B-B14F-4D97-AF65-F5344CB8AC3E}">
        <p14:creationId xmlns:p14="http://schemas.microsoft.com/office/powerpoint/2010/main" val="344706463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89. Which is NOT a principle of cooperatives?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Exclusive membership</a:t>
            </a:r>
          </a:p>
          <a:p>
            <a:pPr marL="742950" indent="-742950">
              <a:buAutoNum type="alphaUcPeriod"/>
            </a:pPr>
            <a:r>
              <a:rPr lang="en-PH" sz="3600" dirty="0"/>
              <a:t>Cooperative education</a:t>
            </a:r>
          </a:p>
          <a:p>
            <a:pPr marL="742950" indent="-742950">
              <a:buAutoNum type="alphaUcPeriod"/>
            </a:pPr>
            <a:r>
              <a:rPr lang="en-PH" sz="3600" dirty="0"/>
              <a:t>Democratic control</a:t>
            </a:r>
          </a:p>
          <a:p>
            <a:pPr marL="742950" indent="-742950">
              <a:buAutoNum type="alphaUcPeriod"/>
            </a:pPr>
            <a:r>
              <a:rPr lang="en-PH" sz="3600" dirty="0"/>
              <a:t>Limited income on capital</a:t>
            </a:r>
          </a:p>
        </p:txBody>
      </p:sp>
    </p:spTree>
    <p:extLst>
      <p:ext uri="{BB962C8B-B14F-4D97-AF65-F5344CB8AC3E}">
        <p14:creationId xmlns:p14="http://schemas.microsoft.com/office/powerpoint/2010/main" val="38582207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89. Which is NOT a principle of cooperatives?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Exclusive membership</a:t>
            </a:r>
          </a:p>
          <a:p>
            <a:pPr marL="742950" indent="-742950">
              <a:buAutoNum type="alphaUcPeriod"/>
            </a:pPr>
            <a:r>
              <a:rPr lang="en-PH" sz="3600" dirty="0"/>
              <a:t>Cooperative education</a:t>
            </a:r>
          </a:p>
          <a:p>
            <a:pPr marL="742950" indent="-742950">
              <a:buAutoNum type="alphaUcPeriod"/>
            </a:pPr>
            <a:r>
              <a:rPr lang="en-PH" sz="3600" dirty="0"/>
              <a:t>Democratic control</a:t>
            </a:r>
          </a:p>
          <a:p>
            <a:pPr marL="742950" indent="-742950">
              <a:buAutoNum type="alphaUcPeriod"/>
            </a:pPr>
            <a:r>
              <a:rPr lang="en-PH" sz="3600" dirty="0"/>
              <a:t>Limited income on capital</a:t>
            </a:r>
          </a:p>
        </p:txBody>
      </p:sp>
    </p:spTree>
    <p:extLst>
      <p:ext uri="{BB962C8B-B14F-4D97-AF65-F5344CB8AC3E}">
        <p14:creationId xmlns:p14="http://schemas.microsoft.com/office/powerpoint/2010/main" val="63189384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90. Which is given the sole power to declare the existence of a state of war?</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Senate</a:t>
            </a:r>
          </a:p>
          <a:p>
            <a:pPr marL="742950" indent="-742950">
              <a:buAutoNum type="alphaUcPeriod"/>
            </a:pPr>
            <a:r>
              <a:rPr lang="en-PH" sz="3600" dirty="0"/>
              <a:t>Congress</a:t>
            </a:r>
          </a:p>
          <a:p>
            <a:pPr marL="742950" indent="-742950">
              <a:buAutoNum type="alphaUcPeriod"/>
            </a:pPr>
            <a:r>
              <a:rPr lang="en-PH" sz="3600" dirty="0"/>
              <a:t>House of Representative</a:t>
            </a:r>
          </a:p>
          <a:p>
            <a:pPr marL="742950" indent="-742950">
              <a:buAutoNum type="alphaUcPeriod"/>
            </a:pPr>
            <a:r>
              <a:rPr lang="en-PH" sz="3600" dirty="0"/>
              <a:t>The President</a:t>
            </a:r>
          </a:p>
        </p:txBody>
      </p:sp>
    </p:spTree>
    <p:extLst>
      <p:ext uri="{BB962C8B-B14F-4D97-AF65-F5344CB8AC3E}">
        <p14:creationId xmlns:p14="http://schemas.microsoft.com/office/powerpoint/2010/main" val="52877912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90. Which is given the sole power to declare the existence of a state of war?</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Senate</a:t>
            </a:r>
          </a:p>
          <a:p>
            <a:pPr marL="742950" indent="-742950">
              <a:buAutoNum type="alphaUcPeriod"/>
            </a:pPr>
            <a:r>
              <a:rPr lang="en-PH" sz="3600" dirty="0">
                <a:solidFill>
                  <a:srgbClr val="FF0000"/>
                </a:solidFill>
              </a:rPr>
              <a:t>Congress</a:t>
            </a:r>
          </a:p>
          <a:p>
            <a:pPr marL="742950" indent="-742950">
              <a:buAutoNum type="alphaUcPeriod"/>
            </a:pPr>
            <a:r>
              <a:rPr lang="en-PH" sz="3600" dirty="0"/>
              <a:t>House of Representative</a:t>
            </a:r>
          </a:p>
          <a:p>
            <a:pPr marL="742950" indent="-742950">
              <a:buAutoNum type="alphaUcPeriod"/>
            </a:pPr>
            <a:r>
              <a:rPr lang="en-PH" sz="3600" dirty="0"/>
              <a:t>The President</a:t>
            </a:r>
          </a:p>
        </p:txBody>
      </p:sp>
    </p:spTree>
    <p:extLst>
      <p:ext uri="{BB962C8B-B14F-4D97-AF65-F5344CB8AC3E}">
        <p14:creationId xmlns:p14="http://schemas.microsoft.com/office/powerpoint/2010/main" val="124555122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91. “We are a society of lawyers but not of law” claims one author. Which Filipino trait is referred to?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12123"/>
            <a:ext cx="10515600" cy="4351338"/>
          </a:xfrm>
        </p:spPr>
        <p:txBody>
          <a:bodyPr>
            <a:normAutofit/>
          </a:bodyPr>
          <a:lstStyle/>
          <a:p>
            <a:pPr marL="742950" indent="-742950">
              <a:buAutoNum type="alphaUcPeriod"/>
            </a:pPr>
            <a:r>
              <a:rPr lang="en-PH" sz="3600" dirty="0"/>
              <a:t>Small-group centeredness</a:t>
            </a:r>
          </a:p>
          <a:p>
            <a:pPr marL="742950" indent="-742950">
              <a:buAutoNum type="alphaUcPeriod"/>
            </a:pPr>
            <a:r>
              <a:rPr lang="en-PH" sz="3600" dirty="0"/>
              <a:t>Colonial mentality</a:t>
            </a:r>
          </a:p>
          <a:p>
            <a:pPr marL="742950" indent="-742950">
              <a:buAutoNum type="alphaUcPeriod"/>
            </a:pPr>
            <a:r>
              <a:rPr lang="en-PH" sz="3600" dirty="0"/>
              <a:t>Extreme personalism</a:t>
            </a:r>
          </a:p>
          <a:p>
            <a:pPr marL="742950" indent="-742950">
              <a:buAutoNum type="alphaUcPeriod"/>
            </a:pPr>
            <a:r>
              <a:rPr lang="en-PH" sz="3600" dirty="0"/>
              <a:t>Utang </a:t>
            </a:r>
            <a:r>
              <a:rPr lang="en-PH" sz="3600" dirty="0" err="1"/>
              <a:t>na</a:t>
            </a:r>
            <a:r>
              <a:rPr lang="en-PH" sz="3600" dirty="0"/>
              <a:t> </a:t>
            </a:r>
            <a:r>
              <a:rPr lang="en-PH" sz="3600" dirty="0" err="1"/>
              <a:t>loob</a:t>
            </a:r>
            <a:endParaRPr lang="en-PH" sz="3600" dirty="0"/>
          </a:p>
        </p:txBody>
      </p:sp>
    </p:spTree>
    <p:extLst>
      <p:ext uri="{BB962C8B-B14F-4D97-AF65-F5344CB8AC3E}">
        <p14:creationId xmlns:p14="http://schemas.microsoft.com/office/powerpoint/2010/main" val="303847823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91. “We are a society of lawyers but not of law” claims one author. Which Filipino trait is referred to?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12123"/>
            <a:ext cx="10515600" cy="4351338"/>
          </a:xfrm>
        </p:spPr>
        <p:txBody>
          <a:bodyPr>
            <a:normAutofit/>
          </a:bodyPr>
          <a:lstStyle/>
          <a:p>
            <a:pPr marL="742950" indent="-742950">
              <a:buAutoNum type="alphaUcPeriod"/>
            </a:pPr>
            <a:r>
              <a:rPr lang="en-PH" sz="3600" dirty="0">
                <a:solidFill>
                  <a:srgbClr val="FF0000"/>
                </a:solidFill>
              </a:rPr>
              <a:t>Small-group centeredness</a:t>
            </a:r>
          </a:p>
          <a:p>
            <a:pPr marL="742950" indent="-742950">
              <a:buAutoNum type="alphaUcPeriod"/>
            </a:pPr>
            <a:r>
              <a:rPr lang="en-PH" sz="3600" dirty="0"/>
              <a:t>Colonial mentality</a:t>
            </a:r>
          </a:p>
          <a:p>
            <a:pPr marL="742950" indent="-742950">
              <a:buAutoNum type="alphaUcPeriod"/>
            </a:pPr>
            <a:r>
              <a:rPr lang="en-PH" sz="3600" dirty="0"/>
              <a:t>Extreme personalism</a:t>
            </a:r>
          </a:p>
          <a:p>
            <a:pPr marL="742950" indent="-742950">
              <a:buAutoNum type="alphaUcPeriod"/>
            </a:pPr>
            <a:r>
              <a:rPr lang="en-PH" sz="3600" dirty="0"/>
              <a:t>Utang </a:t>
            </a:r>
            <a:r>
              <a:rPr lang="en-PH" sz="3600" dirty="0" err="1"/>
              <a:t>na</a:t>
            </a:r>
            <a:r>
              <a:rPr lang="en-PH" sz="3600" dirty="0"/>
              <a:t> </a:t>
            </a:r>
            <a:r>
              <a:rPr lang="en-PH" sz="3600" dirty="0" err="1"/>
              <a:t>loob</a:t>
            </a:r>
            <a:endParaRPr lang="en-PH" sz="3600" dirty="0"/>
          </a:p>
        </p:txBody>
      </p:sp>
    </p:spTree>
    <p:extLst>
      <p:ext uri="{BB962C8B-B14F-4D97-AF65-F5344CB8AC3E}">
        <p14:creationId xmlns:p14="http://schemas.microsoft.com/office/powerpoint/2010/main" val="258335817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92. Which is the leading mineral export in the Philippines?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Chromite </a:t>
            </a:r>
          </a:p>
          <a:p>
            <a:pPr marL="742950" indent="-742950">
              <a:buAutoNum type="alphaUcPeriod"/>
            </a:pPr>
            <a:r>
              <a:rPr lang="en-PH" sz="3600" dirty="0"/>
              <a:t>Iron</a:t>
            </a:r>
          </a:p>
          <a:p>
            <a:pPr marL="742950" indent="-742950">
              <a:buAutoNum type="alphaUcPeriod"/>
            </a:pPr>
            <a:r>
              <a:rPr lang="en-PH" sz="3600" dirty="0"/>
              <a:t>Copper</a:t>
            </a:r>
          </a:p>
          <a:p>
            <a:pPr marL="742950" indent="-742950">
              <a:buAutoNum type="alphaUcPeriod"/>
            </a:pPr>
            <a:r>
              <a:rPr lang="en-PH" sz="3600" dirty="0"/>
              <a:t>Coal </a:t>
            </a:r>
          </a:p>
        </p:txBody>
      </p:sp>
    </p:spTree>
    <p:extLst>
      <p:ext uri="{BB962C8B-B14F-4D97-AF65-F5344CB8AC3E}">
        <p14:creationId xmlns:p14="http://schemas.microsoft.com/office/powerpoint/2010/main" val="288321159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92. Which is the leading mineral export in the Philippines?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Chromite </a:t>
            </a:r>
          </a:p>
          <a:p>
            <a:pPr marL="742950" indent="-742950">
              <a:buAutoNum type="alphaUcPeriod"/>
            </a:pPr>
            <a:r>
              <a:rPr lang="en-PH" sz="3600" dirty="0"/>
              <a:t>Iron</a:t>
            </a:r>
          </a:p>
          <a:p>
            <a:pPr marL="742950" indent="-742950">
              <a:buAutoNum type="alphaUcPeriod"/>
            </a:pPr>
            <a:r>
              <a:rPr lang="en-PH" sz="3600" dirty="0">
                <a:solidFill>
                  <a:srgbClr val="FF0000"/>
                </a:solidFill>
              </a:rPr>
              <a:t>Copper</a:t>
            </a:r>
          </a:p>
          <a:p>
            <a:pPr marL="742950" indent="-742950">
              <a:buAutoNum type="alphaUcPeriod"/>
            </a:pPr>
            <a:r>
              <a:rPr lang="en-PH" sz="3600" dirty="0"/>
              <a:t>Coal </a:t>
            </a:r>
          </a:p>
        </p:txBody>
      </p:sp>
    </p:spTree>
    <p:extLst>
      <p:ext uri="{BB962C8B-B14F-4D97-AF65-F5344CB8AC3E}">
        <p14:creationId xmlns:p14="http://schemas.microsoft.com/office/powerpoint/2010/main" val="395364671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87537"/>
            <a:ext cx="10515600" cy="1325563"/>
          </a:xfrm>
        </p:spPr>
        <p:txBody>
          <a:bodyPr>
            <a:noAutofit/>
          </a:bodyPr>
          <a:lstStyle/>
          <a:p>
            <a:pPr algn="just"/>
            <a:r>
              <a:rPr lang="en-PH" dirty="0"/>
              <a:t>93. A UN report states “We could prevent desertification which costs 5.6 billion dollars, an amount that the world spends on armaments in 2 days.” what does this imply?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80534"/>
            <a:ext cx="10515600" cy="4351338"/>
          </a:xfrm>
        </p:spPr>
        <p:txBody>
          <a:bodyPr>
            <a:normAutofit/>
          </a:bodyPr>
          <a:lstStyle/>
          <a:p>
            <a:pPr marL="742950" indent="-742950" algn="just">
              <a:buAutoNum type="alphaUcPeriod"/>
            </a:pPr>
            <a:r>
              <a:rPr lang="en-PH" sz="3600" dirty="0"/>
              <a:t>Armaments are less expensive than desertification</a:t>
            </a:r>
          </a:p>
          <a:p>
            <a:pPr marL="742950" indent="-742950" algn="just">
              <a:buAutoNum type="alphaUcPeriod"/>
            </a:pPr>
            <a:r>
              <a:rPr lang="en-PH" sz="3600" dirty="0"/>
              <a:t>Desertification is more expensive than armaments used in 2 days</a:t>
            </a:r>
          </a:p>
          <a:p>
            <a:pPr marL="742950" indent="-742950" algn="just">
              <a:buAutoNum type="alphaUcPeriod"/>
            </a:pPr>
            <a:r>
              <a:rPr lang="en-PH" sz="3600" dirty="0"/>
              <a:t>If the world disarmed, we could prevent desertification</a:t>
            </a:r>
          </a:p>
          <a:p>
            <a:pPr marL="742950" indent="-742950" algn="just">
              <a:buAutoNum type="alphaUcPeriod"/>
            </a:pPr>
            <a:r>
              <a:rPr lang="en-PH" sz="3600" dirty="0"/>
              <a:t>Armaments help a nation develop into a world power</a:t>
            </a:r>
          </a:p>
        </p:txBody>
      </p:sp>
    </p:spTree>
    <p:extLst>
      <p:ext uri="{BB962C8B-B14F-4D97-AF65-F5344CB8AC3E}">
        <p14:creationId xmlns:p14="http://schemas.microsoft.com/office/powerpoint/2010/main" val="425077088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87537"/>
            <a:ext cx="10515600" cy="1325563"/>
          </a:xfrm>
        </p:spPr>
        <p:txBody>
          <a:bodyPr>
            <a:noAutofit/>
          </a:bodyPr>
          <a:lstStyle/>
          <a:p>
            <a:pPr algn="just"/>
            <a:r>
              <a:rPr lang="en-PH" dirty="0"/>
              <a:t>93. A UN report states “We could prevent desertification which costs 5.6 billion dollars, an amount that the world spends on armaments in 2 days.” what does this imply?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80534"/>
            <a:ext cx="10515600" cy="4351338"/>
          </a:xfrm>
        </p:spPr>
        <p:txBody>
          <a:bodyPr>
            <a:normAutofit/>
          </a:bodyPr>
          <a:lstStyle/>
          <a:p>
            <a:pPr marL="742950" indent="-742950" algn="just">
              <a:buAutoNum type="alphaUcPeriod"/>
            </a:pPr>
            <a:r>
              <a:rPr lang="en-PH" sz="3600" dirty="0"/>
              <a:t>Armaments are less expensive than desertification</a:t>
            </a:r>
          </a:p>
          <a:p>
            <a:pPr marL="742950" indent="-742950" algn="just">
              <a:buAutoNum type="alphaUcPeriod"/>
            </a:pPr>
            <a:r>
              <a:rPr lang="en-PH" sz="3600" dirty="0"/>
              <a:t>Desertification is more expensive than armaments used in 2 days</a:t>
            </a:r>
          </a:p>
          <a:p>
            <a:pPr marL="742950" indent="-742950" algn="just">
              <a:buAutoNum type="alphaUcPeriod"/>
            </a:pPr>
            <a:r>
              <a:rPr lang="en-PH" sz="3600" dirty="0">
                <a:solidFill>
                  <a:srgbClr val="FF0000"/>
                </a:solidFill>
              </a:rPr>
              <a:t>If the world disarmed, we could prevent desertification</a:t>
            </a:r>
          </a:p>
          <a:p>
            <a:pPr marL="742950" indent="-742950" algn="just">
              <a:buAutoNum type="alphaUcPeriod"/>
            </a:pPr>
            <a:r>
              <a:rPr lang="en-PH" sz="3600" dirty="0"/>
              <a:t>Armaments help a nation develop into a world power</a:t>
            </a:r>
          </a:p>
        </p:txBody>
      </p:sp>
    </p:spTree>
    <p:extLst>
      <p:ext uri="{BB962C8B-B14F-4D97-AF65-F5344CB8AC3E}">
        <p14:creationId xmlns:p14="http://schemas.microsoft.com/office/powerpoint/2010/main" val="4039497585"/>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54"/>
            <a:ext cx="10515600" cy="1325563"/>
          </a:xfrm>
        </p:spPr>
        <p:txBody>
          <a:bodyPr>
            <a:noAutofit/>
          </a:bodyPr>
          <a:lstStyle/>
          <a:p>
            <a:pPr algn="just"/>
            <a:r>
              <a:rPr lang="en-PH" dirty="0"/>
              <a:t>94. Which islands in the Pacific did Spain claim to be hers and later sold to Portugal when she needed money for her various wars?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31109"/>
            <a:ext cx="10515600" cy="4351338"/>
          </a:xfrm>
        </p:spPr>
        <p:txBody>
          <a:bodyPr>
            <a:normAutofit/>
          </a:bodyPr>
          <a:lstStyle/>
          <a:p>
            <a:pPr marL="742950" indent="-742950">
              <a:buAutoNum type="alphaUcPeriod"/>
            </a:pPr>
            <a:r>
              <a:rPr lang="en-PH" sz="3600" dirty="0"/>
              <a:t>Urdaneta</a:t>
            </a:r>
          </a:p>
          <a:p>
            <a:pPr marL="742950" indent="-742950">
              <a:buAutoNum type="alphaUcPeriod"/>
            </a:pPr>
            <a:r>
              <a:rPr lang="en-PH" sz="3600" dirty="0"/>
              <a:t>Moluccas</a:t>
            </a:r>
          </a:p>
          <a:p>
            <a:pPr marL="742950" indent="-742950">
              <a:buAutoNum type="alphaUcPeriod"/>
            </a:pPr>
            <a:r>
              <a:rPr lang="en-PH" sz="3600" dirty="0"/>
              <a:t>Hawaii</a:t>
            </a:r>
          </a:p>
          <a:p>
            <a:pPr marL="742950" indent="-742950">
              <a:buAutoNum type="alphaUcPeriod"/>
            </a:pPr>
            <a:r>
              <a:rPr lang="en-PH" sz="3600" dirty="0"/>
              <a:t>Philippines</a:t>
            </a:r>
          </a:p>
        </p:txBody>
      </p:sp>
    </p:spTree>
    <p:extLst>
      <p:ext uri="{BB962C8B-B14F-4D97-AF65-F5344CB8AC3E}">
        <p14:creationId xmlns:p14="http://schemas.microsoft.com/office/powerpoint/2010/main" val="273577513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54"/>
            <a:ext cx="10515600" cy="1325563"/>
          </a:xfrm>
        </p:spPr>
        <p:txBody>
          <a:bodyPr>
            <a:noAutofit/>
          </a:bodyPr>
          <a:lstStyle/>
          <a:p>
            <a:pPr algn="just"/>
            <a:r>
              <a:rPr lang="en-PH" dirty="0"/>
              <a:t>94. Which islands in the Pacific did Spain claim to be hers and later sold to Portugal when she needed money for her various wars?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31109"/>
            <a:ext cx="10515600" cy="4351338"/>
          </a:xfrm>
        </p:spPr>
        <p:txBody>
          <a:bodyPr>
            <a:normAutofit/>
          </a:bodyPr>
          <a:lstStyle/>
          <a:p>
            <a:pPr marL="742950" indent="-742950">
              <a:buAutoNum type="alphaUcPeriod"/>
            </a:pPr>
            <a:r>
              <a:rPr lang="en-PH" sz="3600" dirty="0"/>
              <a:t>Urdaneta</a:t>
            </a:r>
          </a:p>
          <a:p>
            <a:pPr marL="742950" indent="-742950">
              <a:buAutoNum type="alphaUcPeriod"/>
            </a:pPr>
            <a:r>
              <a:rPr lang="en-PH" sz="3600" dirty="0">
                <a:solidFill>
                  <a:srgbClr val="FF0000"/>
                </a:solidFill>
              </a:rPr>
              <a:t>Moluccas</a:t>
            </a:r>
          </a:p>
          <a:p>
            <a:pPr marL="742950" indent="-742950">
              <a:buAutoNum type="alphaUcPeriod"/>
            </a:pPr>
            <a:r>
              <a:rPr lang="en-PH" sz="3600" dirty="0"/>
              <a:t>Hawaii</a:t>
            </a:r>
          </a:p>
          <a:p>
            <a:pPr marL="742950" indent="-742950">
              <a:buAutoNum type="alphaUcPeriod"/>
            </a:pPr>
            <a:r>
              <a:rPr lang="en-PH" sz="3600" dirty="0"/>
              <a:t>Philippines</a:t>
            </a:r>
          </a:p>
        </p:txBody>
      </p:sp>
    </p:spTree>
    <p:extLst>
      <p:ext uri="{BB962C8B-B14F-4D97-AF65-F5344CB8AC3E}">
        <p14:creationId xmlns:p14="http://schemas.microsoft.com/office/powerpoint/2010/main" val="303287159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95. Where did the Spaniards establish their first permanent settlement?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Cebu</a:t>
            </a:r>
          </a:p>
          <a:p>
            <a:pPr marL="742950" indent="-742950">
              <a:buAutoNum type="alphaUcPeriod"/>
            </a:pPr>
            <a:r>
              <a:rPr lang="en-PH" sz="3600" dirty="0"/>
              <a:t>Vigan</a:t>
            </a:r>
          </a:p>
          <a:p>
            <a:pPr marL="742950" indent="-742950">
              <a:buAutoNum type="alphaUcPeriod"/>
            </a:pPr>
            <a:r>
              <a:rPr lang="en-PH" sz="3600" dirty="0"/>
              <a:t>Panay</a:t>
            </a:r>
          </a:p>
          <a:p>
            <a:pPr marL="742950" indent="-742950">
              <a:buAutoNum type="alphaUcPeriod"/>
            </a:pPr>
            <a:r>
              <a:rPr lang="en-PH" sz="3600" dirty="0"/>
              <a:t>Manila</a:t>
            </a:r>
          </a:p>
          <a:p>
            <a:pPr marL="0" indent="0">
              <a:buNone/>
            </a:pPr>
            <a:endParaRPr lang="en-PH" sz="3600" dirty="0"/>
          </a:p>
        </p:txBody>
      </p:sp>
    </p:spTree>
    <p:extLst>
      <p:ext uri="{BB962C8B-B14F-4D97-AF65-F5344CB8AC3E}">
        <p14:creationId xmlns:p14="http://schemas.microsoft.com/office/powerpoint/2010/main" val="146176270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95. Where did the Spaniards establish their first permanent settlement?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Cebu</a:t>
            </a:r>
          </a:p>
          <a:p>
            <a:pPr marL="742950" indent="-742950">
              <a:buAutoNum type="alphaUcPeriod"/>
            </a:pPr>
            <a:r>
              <a:rPr lang="en-PH" sz="3600" dirty="0"/>
              <a:t>Vigan</a:t>
            </a:r>
          </a:p>
          <a:p>
            <a:pPr marL="742950" indent="-742950">
              <a:buAutoNum type="alphaUcPeriod"/>
            </a:pPr>
            <a:r>
              <a:rPr lang="en-PH" sz="3600" dirty="0"/>
              <a:t>Panay</a:t>
            </a:r>
          </a:p>
          <a:p>
            <a:pPr marL="742950" indent="-742950">
              <a:buAutoNum type="alphaUcPeriod"/>
            </a:pPr>
            <a:r>
              <a:rPr lang="en-PH" sz="3600" dirty="0"/>
              <a:t>Manila</a:t>
            </a:r>
          </a:p>
          <a:p>
            <a:pPr marL="0" indent="0">
              <a:buNone/>
            </a:pPr>
            <a:endParaRPr lang="en-PH" sz="3600" dirty="0"/>
          </a:p>
        </p:txBody>
      </p:sp>
    </p:spTree>
    <p:extLst>
      <p:ext uri="{BB962C8B-B14F-4D97-AF65-F5344CB8AC3E}">
        <p14:creationId xmlns:p14="http://schemas.microsoft.com/office/powerpoint/2010/main" val="421157361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96. What percent of the earth’s surface do the four oceans and numerous seas cover? </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80%</a:t>
            </a:r>
          </a:p>
          <a:p>
            <a:pPr marL="742950" indent="-742950">
              <a:buAutoNum type="alphaUcPeriod"/>
            </a:pPr>
            <a:r>
              <a:rPr lang="en-PH" sz="3600" dirty="0"/>
              <a:t>65%</a:t>
            </a:r>
          </a:p>
          <a:p>
            <a:pPr marL="742950" indent="-742950">
              <a:buAutoNum type="alphaUcPeriod"/>
            </a:pPr>
            <a:r>
              <a:rPr lang="en-PH" sz="3600" dirty="0"/>
              <a:t>71%</a:t>
            </a:r>
          </a:p>
          <a:p>
            <a:pPr marL="742950" indent="-742950">
              <a:buAutoNum type="alphaUcPeriod"/>
            </a:pPr>
            <a:r>
              <a:rPr lang="en-PH" sz="3600" dirty="0"/>
              <a:t>75%</a:t>
            </a:r>
          </a:p>
        </p:txBody>
      </p:sp>
    </p:spTree>
    <p:extLst>
      <p:ext uri="{BB962C8B-B14F-4D97-AF65-F5344CB8AC3E}">
        <p14:creationId xmlns:p14="http://schemas.microsoft.com/office/powerpoint/2010/main" val="103859133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96. What percent of the earth’s surface do the four oceans and numerous seas cover? </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80%</a:t>
            </a:r>
          </a:p>
          <a:p>
            <a:pPr marL="742950" indent="-742950">
              <a:buAutoNum type="alphaUcPeriod"/>
            </a:pPr>
            <a:r>
              <a:rPr lang="en-PH" sz="3600" dirty="0"/>
              <a:t>65%</a:t>
            </a:r>
          </a:p>
          <a:p>
            <a:pPr marL="742950" indent="-742950">
              <a:buAutoNum type="alphaUcPeriod"/>
            </a:pPr>
            <a:r>
              <a:rPr lang="en-PH" sz="3600" dirty="0">
                <a:solidFill>
                  <a:srgbClr val="FF0000"/>
                </a:solidFill>
              </a:rPr>
              <a:t>71%</a:t>
            </a:r>
          </a:p>
          <a:p>
            <a:pPr marL="742950" indent="-742950">
              <a:buAutoNum type="alphaUcPeriod"/>
            </a:pPr>
            <a:r>
              <a:rPr lang="en-PH" sz="3600" dirty="0"/>
              <a:t>75%</a:t>
            </a:r>
          </a:p>
        </p:txBody>
      </p:sp>
    </p:spTree>
    <p:extLst>
      <p:ext uri="{BB962C8B-B14F-4D97-AF65-F5344CB8AC3E}">
        <p14:creationId xmlns:p14="http://schemas.microsoft.com/office/powerpoint/2010/main" val="277142632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97. Where were the first sundials built in the Philippines?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Tagudin</a:t>
            </a:r>
            <a:r>
              <a:rPr lang="en-PH" sz="3600" dirty="0"/>
              <a:t>, </a:t>
            </a:r>
            <a:r>
              <a:rPr lang="en-PH" sz="3600" dirty="0" err="1"/>
              <a:t>Ilocos</a:t>
            </a:r>
            <a:r>
              <a:rPr lang="en-PH" sz="3600" dirty="0"/>
              <a:t> Sur</a:t>
            </a:r>
          </a:p>
          <a:p>
            <a:pPr marL="742950" indent="-742950">
              <a:buAutoNum type="alphaUcPeriod"/>
            </a:pPr>
            <a:r>
              <a:rPr lang="en-PH" sz="3600" dirty="0"/>
              <a:t>Baler, Quezon</a:t>
            </a:r>
          </a:p>
          <a:p>
            <a:pPr marL="742950" indent="-742950">
              <a:buAutoNum type="alphaUcPeriod"/>
            </a:pPr>
            <a:r>
              <a:rPr lang="en-PH" sz="3600" dirty="0"/>
              <a:t>Naga City</a:t>
            </a:r>
          </a:p>
          <a:p>
            <a:pPr marL="742950" indent="-742950">
              <a:buAutoNum type="alphaUcPeriod"/>
            </a:pPr>
            <a:r>
              <a:rPr lang="en-PH" sz="3600" dirty="0"/>
              <a:t>Zamboanga City</a:t>
            </a:r>
          </a:p>
        </p:txBody>
      </p:sp>
    </p:spTree>
    <p:extLst>
      <p:ext uri="{BB962C8B-B14F-4D97-AF65-F5344CB8AC3E}">
        <p14:creationId xmlns:p14="http://schemas.microsoft.com/office/powerpoint/2010/main" val="186565103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97. Where were the first sundials built in the Philippines?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Tagudin</a:t>
            </a:r>
            <a:r>
              <a:rPr lang="en-PH" sz="3600" dirty="0"/>
              <a:t>, </a:t>
            </a:r>
            <a:r>
              <a:rPr lang="en-PH" sz="3600" dirty="0" err="1"/>
              <a:t>Ilocos</a:t>
            </a:r>
            <a:r>
              <a:rPr lang="en-PH" sz="3600" dirty="0"/>
              <a:t> Sur</a:t>
            </a:r>
          </a:p>
          <a:p>
            <a:pPr marL="742950" indent="-742950">
              <a:buAutoNum type="alphaUcPeriod"/>
            </a:pPr>
            <a:r>
              <a:rPr lang="en-PH" sz="3600" dirty="0">
                <a:solidFill>
                  <a:srgbClr val="FF0000"/>
                </a:solidFill>
              </a:rPr>
              <a:t>Baler, Quezon</a:t>
            </a:r>
          </a:p>
          <a:p>
            <a:pPr marL="742950" indent="-742950">
              <a:buAutoNum type="alphaUcPeriod"/>
            </a:pPr>
            <a:r>
              <a:rPr lang="en-PH" sz="3600" dirty="0"/>
              <a:t>Naga City</a:t>
            </a:r>
          </a:p>
          <a:p>
            <a:pPr marL="742950" indent="-742950">
              <a:buAutoNum type="alphaUcPeriod"/>
            </a:pPr>
            <a:r>
              <a:rPr lang="en-PH" sz="3600" dirty="0"/>
              <a:t>Zamboanga City</a:t>
            </a:r>
          </a:p>
        </p:txBody>
      </p:sp>
    </p:spTree>
    <p:extLst>
      <p:ext uri="{BB962C8B-B14F-4D97-AF65-F5344CB8AC3E}">
        <p14:creationId xmlns:p14="http://schemas.microsoft.com/office/powerpoint/2010/main" val="21810396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98. With whom Rizal differ in personality and opinion? Their differences let to the end of the propaganda movement in Spain?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24480"/>
            <a:ext cx="10515600" cy="4351338"/>
          </a:xfrm>
        </p:spPr>
        <p:txBody>
          <a:bodyPr>
            <a:normAutofit/>
          </a:bodyPr>
          <a:lstStyle/>
          <a:p>
            <a:pPr marL="742950" indent="-742950">
              <a:buAutoNum type="alphaUcPeriod"/>
            </a:pPr>
            <a:r>
              <a:rPr lang="en-PH" sz="3600" dirty="0"/>
              <a:t>Graciano Lopez-</a:t>
            </a:r>
            <a:r>
              <a:rPr lang="en-PH" sz="3600" dirty="0" err="1"/>
              <a:t>Jaena</a:t>
            </a:r>
            <a:endParaRPr lang="en-PH" sz="3600" dirty="0"/>
          </a:p>
          <a:p>
            <a:pPr marL="742950" indent="-742950">
              <a:buAutoNum type="alphaUcPeriod"/>
            </a:pPr>
            <a:r>
              <a:rPr lang="en-PH" sz="3600" dirty="0"/>
              <a:t>Gregorio del Pilar</a:t>
            </a:r>
          </a:p>
          <a:p>
            <a:pPr marL="742950" indent="-742950">
              <a:buAutoNum type="alphaUcPeriod"/>
            </a:pPr>
            <a:r>
              <a:rPr lang="en-PH" sz="3600" dirty="0"/>
              <a:t>Andres Bonifacio</a:t>
            </a:r>
          </a:p>
          <a:p>
            <a:pPr marL="742950" indent="-742950">
              <a:buAutoNum type="alphaUcPeriod"/>
            </a:pPr>
            <a:r>
              <a:rPr lang="en-PH" sz="3600" dirty="0"/>
              <a:t>Marcelo H. del Pilar</a:t>
            </a:r>
          </a:p>
        </p:txBody>
      </p:sp>
    </p:spTree>
    <p:extLst>
      <p:ext uri="{BB962C8B-B14F-4D97-AF65-F5344CB8AC3E}">
        <p14:creationId xmlns:p14="http://schemas.microsoft.com/office/powerpoint/2010/main" val="98609437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98. With whom Rizal differ in personality and opinion? Their differences let to the end of the propaganda movement in Spain?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24480"/>
            <a:ext cx="10515600" cy="4351338"/>
          </a:xfrm>
        </p:spPr>
        <p:txBody>
          <a:bodyPr>
            <a:normAutofit/>
          </a:bodyPr>
          <a:lstStyle/>
          <a:p>
            <a:pPr marL="742950" indent="-742950">
              <a:buAutoNum type="alphaUcPeriod"/>
            </a:pPr>
            <a:r>
              <a:rPr lang="en-PH" sz="3600" dirty="0"/>
              <a:t>Graciano Lopez-</a:t>
            </a:r>
            <a:r>
              <a:rPr lang="en-PH" sz="3600" dirty="0" err="1"/>
              <a:t>Jaena</a:t>
            </a:r>
            <a:endParaRPr lang="en-PH" sz="3600" dirty="0"/>
          </a:p>
          <a:p>
            <a:pPr marL="742950" indent="-742950">
              <a:buAutoNum type="alphaUcPeriod"/>
            </a:pPr>
            <a:r>
              <a:rPr lang="en-PH" sz="3600" dirty="0"/>
              <a:t>Gregorio del Pilar</a:t>
            </a:r>
          </a:p>
          <a:p>
            <a:pPr marL="742950" indent="-742950">
              <a:buAutoNum type="alphaUcPeriod"/>
            </a:pPr>
            <a:r>
              <a:rPr lang="en-PH" sz="3600" dirty="0"/>
              <a:t>Andres Bonifacio</a:t>
            </a:r>
          </a:p>
          <a:p>
            <a:pPr marL="742950" indent="-742950">
              <a:buAutoNum type="alphaUcPeriod"/>
            </a:pPr>
            <a:r>
              <a:rPr lang="en-PH" sz="3600" dirty="0">
                <a:solidFill>
                  <a:srgbClr val="FF0000"/>
                </a:solidFill>
              </a:rPr>
              <a:t>Marcelo H. del Pilar</a:t>
            </a:r>
          </a:p>
        </p:txBody>
      </p:sp>
    </p:spTree>
    <p:extLst>
      <p:ext uri="{BB962C8B-B14F-4D97-AF65-F5344CB8AC3E}">
        <p14:creationId xmlns:p14="http://schemas.microsoft.com/office/powerpoint/2010/main" val="337033396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99. In which area of the globe is the sun low in the sky with its rays slanted?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North pole</a:t>
            </a:r>
          </a:p>
          <a:p>
            <a:pPr marL="742950" indent="-742950">
              <a:buAutoNum type="alphaUcPeriod"/>
            </a:pPr>
            <a:r>
              <a:rPr lang="en-PH" sz="3600" dirty="0"/>
              <a:t>Middle latitude</a:t>
            </a:r>
          </a:p>
          <a:p>
            <a:pPr marL="742950" indent="-742950">
              <a:buAutoNum type="alphaUcPeriod"/>
            </a:pPr>
            <a:r>
              <a:rPr lang="en-PH" sz="3600" dirty="0"/>
              <a:t>Equator</a:t>
            </a:r>
          </a:p>
          <a:p>
            <a:pPr marL="742950" indent="-742950">
              <a:buAutoNum type="alphaUcPeriod"/>
            </a:pPr>
            <a:r>
              <a:rPr lang="en-PH" sz="3600" dirty="0"/>
              <a:t>South pole </a:t>
            </a:r>
          </a:p>
        </p:txBody>
      </p:sp>
    </p:spTree>
    <p:extLst>
      <p:ext uri="{BB962C8B-B14F-4D97-AF65-F5344CB8AC3E}">
        <p14:creationId xmlns:p14="http://schemas.microsoft.com/office/powerpoint/2010/main" val="2023345118"/>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99. In which area of the globe is the sun low in the sky with its rays slanted?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North pole</a:t>
            </a:r>
          </a:p>
          <a:p>
            <a:pPr marL="742950" indent="-742950">
              <a:buAutoNum type="alphaUcPeriod"/>
            </a:pPr>
            <a:r>
              <a:rPr lang="en-PH" sz="3600" dirty="0"/>
              <a:t>Middle latitude</a:t>
            </a:r>
          </a:p>
          <a:p>
            <a:pPr marL="742950" indent="-742950">
              <a:buAutoNum type="alphaUcPeriod"/>
            </a:pPr>
            <a:r>
              <a:rPr lang="en-PH" sz="3600" dirty="0">
                <a:solidFill>
                  <a:srgbClr val="FF0000"/>
                </a:solidFill>
              </a:rPr>
              <a:t>Equator</a:t>
            </a:r>
          </a:p>
          <a:p>
            <a:pPr marL="742950" indent="-742950">
              <a:buAutoNum type="alphaUcPeriod"/>
            </a:pPr>
            <a:r>
              <a:rPr lang="en-PH" sz="3600" dirty="0"/>
              <a:t>South pole </a:t>
            </a:r>
          </a:p>
        </p:txBody>
      </p:sp>
    </p:spTree>
    <p:extLst>
      <p:ext uri="{BB962C8B-B14F-4D97-AF65-F5344CB8AC3E}">
        <p14:creationId xmlns:p14="http://schemas.microsoft.com/office/powerpoint/2010/main" val="732651523"/>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100. Which assumption underlines the Comprehensive Agrarian Reform Program?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Filipinos’ dependence on landlords is a cultural fact</a:t>
            </a:r>
          </a:p>
          <a:p>
            <a:pPr marL="742950" indent="-742950" algn="just">
              <a:buAutoNum type="alphaUcPeriod"/>
            </a:pPr>
            <a:r>
              <a:rPr lang="en-PH" sz="3600" dirty="0"/>
              <a:t>Land as a natural resource is a public property</a:t>
            </a:r>
          </a:p>
          <a:p>
            <a:pPr marL="742950" indent="-742950" algn="just">
              <a:buAutoNum type="alphaUcPeriod"/>
            </a:pPr>
            <a:r>
              <a:rPr lang="en-PH" sz="3600" dirty="0"/>
              <a:t>It is a sin to be rich and a virtue to be poor</a:t>
            </a:r>
          </a:p>
          <a:p>
            <a:pPr marL="742950" indent="-742950" algn="just">
              <a:buAutoNum type="alphaUcPeriod"/>
            </a:pPr>
            <a:r>
              <a:rPr lang="en-PH" sz="3600" dirty="0"/>
              <a:t>Men always work harder when they work on that which is their own</a:t>
            </a:r>
          </a:p>
        </p:txBody>
      </p:sp>
    </p:spTree>
    <p:extLst>
      <p:ext uri="{BB962C8B-B14F-4D97-AF65-F5344CB8AC3E}">
        <p14:creationId xmlns:p14="http://schemas.microsoft.com/office/powerpoint/2010/main" val="330128407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100. Which assumption underlines the Comprehensive Agrarian Reform Program?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Filipinos’ dependence on landlords is a cultural fact</a:t>
            </a:r>
          </a:p>
          <a:p>
            <a:pPr marL="742950" indent="-742950" algn="just">
              <a:buAutoNum type="alphaUcPeriod"/>
            </a:pPr>
            <a:r>
              <a:rPr lang="en-PH" sz="3600" dirty="0"/>
              <a:t>Land as a natural resource is a public property</a:t>
            </a:r>
          </a:p>
          <a:p>
            <a:pPr marL="742950" indent="-742950" algn="just">
              <a:buAutoNum type="alphaUcPeriod"/>
            </a:pPr>
            <a:r>
              <a:rPr lang="en-PH" sz="3600" dirty="0"/>
              <a:t>It is a sin to be rich and a virtue to be poor</a:t>
            </a:r>
          </a:p>
          <a:p>
            <a:pPr marL="742950" indent="-742950" algn="just">
              <a:buAutoNum type="alphaUcPeriod"/>
            </a:pPr>
            <a:r>
              <a:rPr lang="en-PH" sz="3600" dirty="0">
                <a:solidFill>
                  <a:srgbClr val="FF0000"/>
                </a:solidFill>
              </a:rPr>
              <a:t>Men always work harder when they work on that which is their own</a:t>
            </a:r>
          </a:p>
        </p:txBody>
      </p:sp>
    </p:spTree>
    <p:extLst>
      <p:ext uri="{BB962C8B-B14F-4D97-AF65-F5344CB8AC3E}">
        <p14:creationId xmlns:p14="http://schemas.microsoft.com/office/powerpoint/2010/main" val="30332799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101. Which is true to the members of the 1987 constitutional Commission? They were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Elected people</a:t>
            </a:r>
          </a:p>
          <a:p>
            <a:pPr marL="742950" indent="-742950" algn="just">
              <a:buAutoNum type="alphaUcPeriod"/>
            </a:pPr>
            <a:r>
              <a:rPr lang="en-PH" sz="3600" dirty="0"/>
              <a:t>Appointed by the Commission on Appointment</a:t>
            </a:r>
          </a:p>
          <a:p>
            <a:pPr marL="742950" indent="-742950" algn="just">
              <a:buAutoNum type="alphaUcPeriod"/>
            </a:pPr>
            <a:r>
              <a:rPr lang="en-PH" sz="3600" dirty="0"/>
              <a:t>Nominated by the people and appointed by the President</a:t>
            </a:r>
          </a:p>
          <a:p>
            <a:pPr marL="742950" indent="-742950" algn="just">
              <a:buAutoNum type="alphaUcPeriod"/>
            </a:pPr>
            <a:r>
              <a:rPr lang="en-PH" sz="3600" dirty="0"/>
              <a:t>Appointed by President Corazon Aquino</a:t>
            </a:r>
          </a:p>
        </p:txBody>
      </p:sp>
    </p:spTree>
    <p:extLst>
      <p:ext uri="{BB962C8B-B14F-4D97-AF65-F5344CB8AC3E}">
        <p14:creationId xmlns:p14="http://schemas.microsoft.com/office/powerpoint/2010/main" val="3722797543"/>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101. Which is true to the members of the 1987 constitutional Commission? They were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solidFill>
                  <a:srgbClr val="FF0000"/>
                </a:solidFill>
              </a:rPr>
              <a:t>Elected people</a:t>
            </a:r>
          </a:p>
          <a:p>
            <a:pPr marL="742950" indent="-742950" algn="just">
              <a:buAutoNum type="alphaUcPeriod"/>
            </a:pPr>
            <a:r>
              <a:rPr lang="en-PH" sz="3600" dirty="0"/>
              <a:t>Appointed by the Commission on Appointment</a:t>
            </a:r>
          </a:p>
          <a:p>
            <a:pPr marL="742950" indent="-742950" algn="just">
              <a:buAutoNum type="alphaUcPeriod"/>
            </a:pPr>
            <a:r>
              <a:rPr lang="en-PH" sz="3600" dirty="0"/>
              <a:t>Nominated by the people and appointed by the President</a:t>
            </a:r>
          </a:p>
          <a:p>
            <a:pPr marL="742950" indent="-742950" algn="just">
              <a:buAutoNum type="alphaUcPeriod"/>
            </a:pPr>
            <a:r>
              <a:rPr lang="en-PH" sz="3600" dirty="0"/>
              <a:t>Appointed by President Corazon Aquino</a:t>
            </a:r>
          </a:p>
        </p:txBody>
      </p:sp>
    </p:spTree>
    <p:extLst>
      <p:ext uri="{BB962C8B-B14F-4D97-AF65-F5344CB8AC3E}">
        <p14:creationId xmlns:p14="http://schemas.microsoft.com/office/powerpoint/2010/main" val="108765610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102. Gleaned from the 1987 Constitution, what is the new development philosophy? </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fontScale="92500"/>
          </a:bodyPr>
          <a:lstStyle/>
          <a:p>
            <a:pPr marL="742950" indent="-742950" algn="just">
              <a:buAutoNum type="alphaUcPeriod"/>
            </a:pPr>
            <a:r>
              <a:rPr lang="en-PH" sz="3600" dirty="0"/>
              <a:t>Development programs must be initiated from the top rather than from below</a:t>
            </a:r>
          </a:p>
          <a:p>
            <a:pPr marL="742950" indent="-742950" algn="just">
              <a:buAutoNum type="alphaUcPeriod"/>
            </a:pPr>
            <a:r>
              <a:rPr lang="en-PH" sz="3600" dirty="0"/>
              <a:t>Development is not an exclusive concern of government but more importantly of the people</a:t>
            </a:r>
          </a:p>
          <a:p>
            <a:pPr marL="742950" indent="-742950" algn="just">
              <a:buAutoNum type="alphaUcPeriod"/>
            </a:pPr>
            <a:r>
              <a:rPr lang="en-PH" sz="3600" dirty="0"/>
              <a:t>Development is an exclusive concern of government because it exist primarily for the people</a:t>
            </a:r>
          </a:p>
          <a:p>
            <a:pPr marL="742950" indent="-742950" algn="just">
              <a:buAutoNum type="alphaUcPeriod"/>
            </a:pPr>
            <a:r>
              <a:rPr lang="en-PH" sz="3600" dirty="0"/>
              <a:t>Development programs must be initiated by the technocrats of government</a:t>
            </a:r>
          </a:p>
        </p:txBody>
      </p:sp>
    </p:spTree>
    <p:extLst>
      <p:ext uri="{BB962C8B-B14F-4D97-AF65-F5344CB8AC3E}">
        <p14:creationId xmlns:p14="http://schemas.microsoft.com/office/powerpoint/2010/main" val="404498318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102. Gleaned from the 1987 Constitution, what is the new development philosophy? </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fontScale="92500"/>
          </a:bodyPr>
          <a:lstStyle/>
          <a:p>
            <a:pPr marL="742950" indent="-742950" algn="just">
              <a:buAutoNum type="alphaUcPeriod"/>
            </a:pPr>
            <a:r>
              <a:rPr lang="en-PH" sz="3600" dirty="0"/>
              <a:t>Development programs must be initiated from the top rather than from below</a:t>
            </a:r>
          </a:p>
          <a:p>
            <a:pPr marL="742950" indent="-742950" algn="just">
              <a:buAutoNum type="alphaUcPeriod"/>
            </a:pPr>
            <a:r>
              <a:rPr lang="en-PH" sz="3600" dirty="0">
                <a:solidFill>
                  <a:srgbClr val="FF0000"/>
                </a:solidFill>
              </a:rPr>
              <a:t>Development is not an exclusive concern of government but more importantly of the people</a:t>
            </a:r>
          </a:p>
          <a:p>
            <a:pPr marL="742950" indent="-742950" algn="just">
              <a:buAutoNum type="alphaUcPeriod"/>
            </a:pPr>
            <a:r>
              <a:rPr lang="en-PH" sz="3600" dirty="0"/>
              <a:t>Development is an exclusive concern of government because it exist primarily for the people</a:t>
            </a:r>
          </a:p>
          <a:p>
            <a:pPr marL="742950" indent="-742950" algn="just">
              <a:buAutoNum type="alphaUcPeriod"/>
            </a:pPr>
            <a:r>
              <a:rPr lang="en-PH" sz="3600" dirty="0"/>
              <a:t>Development programs must be initiated by the technocrats of government</a:t>
            </a:r>
          </a:p>
        </p:txBody>
      </p:sp>
    </p:spTree>
    <p:extLst>
      <p:ext uri="{BB962C8B-B14F-4D97-AF65-F5344CB8AC3E}">
        <p14:creationId xmlns:p14="http://schemas.microsoft.com/office/powerpoint/2010/main" val="336245412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103. Which is one of the successful cartels that controls the world market for oil?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World Trade Organization</a:t>
            </a:r>
          </a:p>
          <a:p>
            <a:pPr marL="742950" indent="-742950">
              <a:buAutoNum type="alphaUcPeriod"/>
            </a:pPr>
            <a:r>
              <a:rPr lang="en-PH" sz="3600" dirty="0"/>
              <a:t>Organizing of Petroleum Exporting Countries</a:t>
            </a:r>
          </a:p>
          <a:p>
            <a:pPr marL="742950" indent="-742950">
              <a:buAutoNum type="alphaUcPeriod"/>
            </a:pPr>
            <a:r>
              <a:rPr lang="en-PH" sz="3600" dirty="0"/>
              <a:t>Association of Southeast Asian Nations</a:t>
            </a:r>
          </a:p>
          <a:p>
            <a:pPr marL="742950" indent="-742950">
              <a:buAutoNum type="alphaUcPeriod"/>
            </a:pPr>
            <a:r>
              <a:rPr lang="en-PH" sz="3600" dirty="0"/>
              <a:t>North Atlantic Treaty Organization</a:t>
            </a:r>
          </a:p>
        </p:txBody>
      </p:sp>
    </p:spTree>
    <p:extLst>
      <p:ext uri="{BB962C8B-B14F-4D97-AF65-F5344CB8AC3E}">
        <p14:creationId xmlns:p14="http://schemas.microsoft.com/office/powerpoint/2010/main" val="66296682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103. Which is one of the successful cartels that controls the world market for oil?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World Trade Organization</a:t>
            </a:r>
          </a:p>
          <a:p>
            <a:pPr marL="742950" indent="-742950">
              <a:buAutoNum type="alphaUcPeriod"/>
            </a:pPr>
            <a:r>
              <a:rPr lang="en-PH" sz="3600" dirty="0">
                <a:solidFill>
                  <a:srgbClr val="FF0000"/>
                </a:solidFill>
              </a:rPr>
              <a:t>Organizing of Petroleum Exporting Countries</a:t>
            </a:r>
          </a:p>
          <a:p>
            <a:pPr marL="742950" indent="-742950">
              <a:buAutoNum type="alphaUcPeriod"/>
            </a:pPr>
            <a:r>
              <a:rPr lang="en-PH" sz="3600" dirty="0"/>
              <a:t>Association of Southeast Asian Nations</a:t>
            </a:r>
          </a:p>
          <a:p>
            <a:pPr marL="742950" indent="-742950">
              <a:buAutoNum type="alphaUcPeriod"/>
            </a:pPr>
            <a:r>
              <a:rPr lang="en-PH" sz="3600" dirty="0"/>
              <a:t>North Atlantic Treaty Organization</a:t>
            </a:r>
          </a:p>
        </p:txBody>
      </p:sp>
    </p:spTree>
    <p:extLst>
      <p:ext uri="{BB962C8B-B14F-4D97-AF65-F5344CB8AC3E}">
        <p14:creationId xmlns:p14="http://schemas.microsoft.com/office/powerpoint/2010/main" val="64393508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044730"/>
            <a:ext cx="10515600" cy="1325563"/>
          </a:xfrm>
        </p:spPr>
        <p:txBody>
          <a:bodyPr>
            <a:noAutofit/>
          </a:bodyPr>
          <a:lstStyle/>
          <a:p>
            <a:pPr algn="just"/>
            <a:r>
              <a:rPr lang="en-PH" sz="3600" dirty="0"/>
              <a:t>104. Father Reuter wrote: “In a survey in Asia, they discovered that the happiest people in Asia are the Filipinos. The most miserable are the Japanese. The Japanese have money. We don’t have money, but we have smile, the warn embrace, the song, the laughter, the joy of living. “what does this prove?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382582"/>
            <a:ext cx="10515600" cy="4351338"/>
          </a:xfrm>
        </p:spPr>
        <p:txBody>
          <a:bodyPr>
            <a:normAutofit/>
          </a:bodyPr>
          <a:lstStyle/>
          <a:p>
            <a:pPr marL="742950" indent="-742950" algn="just">
              <a:buAutoNum type="alphaUcPeriod"/>
            </a:pPr>
            <a:r>
              <a:rPr lang="en-PH" sz="3600" dirty="0"/>
              <a:t>That the Filipinos are rich in the treasure of the spirit</a:t>
            </a:r>
          </a:p>
          <a:p>
            <a:pPr marL="742950" indent="-742950" algn="just">
              <a:buAutoNum type="alphaUcPeriod"/>
            </a:pPr>
            <a:r>
              <a:rPr lang="en-PH" sz="3600" dirty="0"/>
              <a:t>That the Filipinos are a healthy and happy people</a:t>
            </a:r>
          </a:p>
          <a:p>
            <a:pPr marL="742950" indent="-742950" algn="just">
              <a:buAutoNum type="alphaUcPeriod"/>
            </a:pPr>
            <a:r>
              <a:rPr lang="en-PH" sz="3600" dirty="0"/>
              <a:t>That the Filipinos don’t care about material wealth</a:t>
            </a:r>
          </a:p>
          <a:p>
            <a:pPr marL="742950" indent="-742950" algn="just">
              <a:buAutoNum type="alphaUcPeriod"/>
            </a:pPr>
            <a:r>
              <a:rPr lang="en-PH" sz="3600" dirty="0"/>
              <a:t>That the Filipinos are happy-go-lucky people</a:t>
            </a:r>
          </a:p>
        </p:txBody>
      </p:sp>
    </p:spTree>
    <p:extLst>
      <p:ext uri="{BB962C8B-B14F-4D97-AF65-F5344CB8AC3E}">
        <p14:creationId xmlns:p14="http://schemas.microsoft.com/office/powerpoint/2010/main" val="119234511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044730"/>
            <a:ext cx="10515600" cy="1325563"/>
          </a:xfrm>
        </p:spPr>
        <p:txBody>
          <a:bodyPr>
            <a:noAutofit/>
          </a:bodyPr>
          <a:lstStyle/>
          <a:p>
            <a:pPr algn="just"/>
            <a:r>
              <a:rPr lang="en-PH" sz="3600" dirty="0"/>
              <a:t>104. Father Reuter wrote: “In a survey in Asia, they discovered that the happiest people in Asia are the Filipinos. The most miserable are the Japanese. The Japanese have money. We don’t have money, but we have smile, the warn embrace, the song, the laughter, the joy of living. “what does this prove?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382582"/>
            <a:ext cx="10515600" cy="4351338"/>
          </a:xfrm>
        </p:spPr>
        <p:txBody>
          <a:bodyPr>
            <a:normAutofit/>
          </a:bodyPr>
          <a:lstStyle/>
          <a:p>
            <a:pPr marL="742950" indent="-742950" algn="just">
              <a:buAutoNum type="alphaUcPeriod"/>
            </a:pPr>
            <a:r>
              <a:rPr lang="en-PH" sz="3600" dirty="0">
                <a:solidFill>
                  <a:srgbClr val="FF0000"/>
                </a:solidFill>
              </a:rPr>
              <a:t>That the Filipinos are rich in the treasure of the spirit</a:t>
            </a:r>
          </a:p>
          <a:p>
            <a:pPr marL="742950" indent="-742950" algn="just">
              <a:buAutoNum type="alphaUcPeriod"/>
            </a:pPr>
            <a:r>
              <a:rPr lang="en-PH" sz="3600" dirty="0"/>
              <a:t>That the Filipinos are a healthy and happy people</a:t>
            </a:r>
          </a:p>
          <a:p>
            <a:pPr marL="742950" indent="-742950" algn="just">
              <a:buAutoNum type="alphaUcPeriod"/>
            </a:pPr>
            <a:r>
              <a:rPr lang="en-PH" sz="3600" dirty="0"/>
              <a:t>That the Filipinos don’t care about material wealth</a:t>
            </a:r>
          </a:p>
          <a:p>
            <a:pPr marL="742950" indent="-742950" algn="just">
              <a:buAutoNum type="alphaUcPeriod"/>
            </a:pPr>
            <a:r>
              <a:rPr lang="en-PH" sz="3600" dirty="0"/>
              <a:t>That the Filipinos are happy-go-lucky people</a:t>
            </a:r>
          </a:p>
        </p:txBody>
      </p:sp>
    </p:spTree>
    <p:extLst>
      <p:ext uri="{BB962C8B-B14F-4D97-AF65-F5344CB8AC3E}">
        <p14:creationId xmlns:p14="http://schemas.microsoft.com/office/powerpoint/2010/main" val="268848582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105. Which statement is TRUE about the Philippine relations?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lnSpcReduction="10000"/>
          </a:bodyPr>
          <a:lstStyle/>
          <a:p>
            <a:pPr marL="742950" indent="-742950" algn="just">
              <a:buAutoNum type="alphaUcPeriod"/>
            </a:pPr>
            <a:r>
              <a:rPr lang="en-PH" sz="3600" dirty="0"/>
              <a:t>It is used to be a member of the United Nations Organization, but now no more</a:t>
            </a:r>
          </a:p>
          <a:p>
            <a:pPr marL="742950" indent="-742950" algn="just">
              <a:buAutoNum type="alphaUcPeriod"/>
            </a:pPr>
            <a:r>
              <a:rPr lang="en-PH" sz="3600" dirty="0"/>
              <a:t>It is a temporary member of the United Nations Organization</a:t>
            </a:r>
          </a:p>
          <a:p>
            <a:pPr marL="742950" indent="-742950" algn="just">
              <a:buAutoNum type="alphaUcPeriod"/>
            </a:pPr>
            <a:r>
              <a:rPr lang="en-PH" sz="3600" dirty="0"/>
              <a:t>It was admitted to the United Nations Organization in 1971</a:t>
            </a:r>
          </a:p>
          <a:p>
            <a:pPr marL="742950" indent="-742950" algn="just">
              <a:buAutoNum type="alphaUcPeriod"/>
            </a:pPr>
            <a:r>
              <a:rPr lang="en-PH" sz="3600" dirty="0"/>
              <a:t>It is a charter member of the United Nations Organization</a:t>
            </a:r>
          </a:p>
        </p:txBody>
      </p:sp>
    </p:spTree>
    <p:extLst>
      <p:ext uri="{BB962C8B-B14F-4D97-AF65-F5344CB8AC3E}">
        <p14:creationId xmlns:p14="http://schemas.microsoft.com/office/powerpoint/2010/main" val="271787964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105. Which statement is TRUE about the Philippine relations?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lnSpcReduction="10000"/>
          </a:bodyPr>
          <a:lstStyle/>
          <a:p>
            <a:pPr marL="742950" indent="-742950" algn="just">
              <a:buAutoNum type="alphaUcPeriod"/>
            </a:pPr>
            <a:r>
              <a:rPr lang="en-PH" sz="3600" dirty="0"/>
              <a:t>It is used to be a member of the United Nations Organization, but now no more</a:t>
            </a:r>
          </a:p>
          <a:p>
            <a:pPr marL="742950" indent="-742950" algn="just">
              <a:buAutoNum type="alphaUcPeriod"/>
            </a:pPr>
            <a:r>
              <a:rPr lang="en-PH" sz="3600" dirty="0"/>
              <a:t>It is a temporary member of the United Nations Organization</a:t>
            </a:r>
          </a:p>
          <a:p>
            <a:pPr marL="742950" indent="-742950" algn="just">
              <a:buAutoNum type="alphaUcPeriod"/>
            </a:pPr>
            <a:r>
              <a:rPr lang="en-PH" sz="3600" dirty="0"/>
              <a:t>It was admitted to the United Nations Organization in 1971</a:t>
            </a:r>
          </a:p>
          <a:p>
            <a:pPr marL="742950" indent="-742950" algn="just">
              <a:buAutoNum type="alphaUcPeriod"/>
            </a:pPr>
            <a:r>
              <a:rPr lang="en-PH" sz="3600" dirty="0">
                <a:solidFill>
                  <a:srgbClr val="FF0000"/>
                </a:solidFill>
              </a:rPr>
              <a:t>It is a charter member of the United Nations Organization</a:t>
            </a:r>
          </a:p>
        </p:txBody>
      </p:sp>
    </p:spTree>
    <p:extLst>
      <p:ext uri="{BB962C8B-B14F-4D97-AF65-F5344CB8AC3E}">
        <p14:creationId xmlns:p14="http://schemas.microsoft.com/office/powerpoint/2010/main" val="194403950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106. Some floods are cause indirectly by seismic sea waves also known as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Flash Floods</a:t>
            </a:r>
          </a:p>
          <a:p>
            <a:pPr marL="742950" indent="-742950">
              <a:buAutoNum type="alphaUcPeriod"/>
            </a:pPr>
            <a:r>
              <a:rPr lang="en-PH" sz="3600" dirty="0"/>
              <a:t>Tsunamis</a:t>
            </a:r>
          </a:p>
          <a:p>
            <a:pPr marL="742950" indent="-742950">
              <a:buAutoNum type="alphaUcPeriod"/>
            </a:pPr>
            <a:r>
              <a:rPr lang="en-PH" sz="3600" dirty="0"/>
              <a:t>Tropical cyclones</a:t>
            </a:r>
          </a:p>
          <a:p>
            <a:pPr marL="742950" indent="-742950">
              <a:buAutoNum type="alphaUcPeriod"/>
            </a:pPr>
            <a:r>
              <a:rPr lang="en-PH" sz="3600" dirty="0"/>
              <a:t>Monsoons</a:t>
            </a:r>
          </a:p>
        </p:txBody>
      </p:sp>
    </p:spTree>
    <p:extLst>
      <p:ext uri="{BB962C8B-B14F-4D97-AF65-F5344CB8AC3E}">
        <p14:creationId xmlns:p14="http://schemas.microsoft.com/office/powerpoint/2010/main" val="247468203"/>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106. Some floods are cause indirectly by seismic sea waves also known as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Flash Floods</a:t>
            </a:r>
          </a:p>
          <a:p>
            <a:pPr marL="742950" indent="-742950">
              <a:buAutoNum type="alphaUcPeriod"/>
            </a:pPr>
            <a:r>
              <a:rPr lang="en-PH" sz="3600" dirty="0">
                <a:solidFill>
                  <a:srgbClr val="FF0000"/>
                </a:solidFill>
              </a:rPr>
              <a:t>Tsunamis</a:t>
            </a:r>
          </a:p>
          <a:p>
            <a:pPr marL="742950" indent="-742950">
              <a:buAutoNum type="alphaUcPeriod"/>
            </a:pPr>
            <a:r>
              <a:rPr lang="en-PH" sz="3600" dirty="0"/>
              <a:t>Tropical cyclones</a:t>
            </a:r>
          </a:p>
          <a:p>
            <a:pPr marL="742950" indent="-742950">
              <a:buAutoNum type="alphaUcPeriod"/>
            </a:pPr>
            <a:r>
              <a:rPr lang="en-PH" sz="3600" dirty="0"/>
              <a:t>Monsoons</a:t>
            </a:r>
          </a:p>
        </p:txBody>
      </p:sp>
    </p:spTree>
    <p:extLst>
      <p:ext uri="{BB962C8B-B14F-4D97-AF65-F5344CB8AC3E}">
        <p14:creationId xmlns:p14="http://schemas.microsoft.com/office/powerpoint/2010/main" val="324963650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107. What exist when we have a surplus of exports over imports?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Budget deficit</a:t>
            </a:r>
          </a:p>
          <a:p>
            <a:pPr marL="742950" indent="-742950">
              <a:buAutoNum type="alphaUcPeriod"/>
            </a:pPr>
            <a:r>
              <a:rPr lang="en-PH" sz="3600" dirty="0"/>
              <a:t>Mercantilism</a:t>
            </a:r>
          </a:p>
          <a:p>
            <a:pPr marL="742950" indent="-742950">
              <a:buAutoNum type="alphaUcPeriod"/>
            </a:pPr>
            <a:r>
              <a:rPr lang="en-PH" sz="3600" dirty="0"/>
              <a:t>Inflation</a:t>
            </a:r>
          </a:p>
          <a:p>
            <a:pPr marL="742950" indent="-742950">
              <a:buAutoNum type="alphaUcPeriod"/>
            </a:pPr>
            <a:r>
              <a:rPr lang="en-PH" sz="3600" dirty="0"/>
              <a:t>Favorable trade of balance</a:t>
            </a:r>
          </a:p>
        </p:txBody>
      </p:sp>
    </p:spTree>
    <p:extLst>
      <p:ext uri="{BB962C8B-B14F-4D97-AF65-F5344CB8AC3E}">
        <p14:creationId xmlns:p14="http://schemas.microsoft.com/office/powerpoint/2010/main" val="1242938532"/>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107. What exist when we have a surplus of exports over imports?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Budget deficit</a:t>
            </a:r>
          </a:p>
          <a:p>
            <a:pPr marL="742950" indent="-742950">
              <a:buAutoNum type="alphaUcPeriod"/>
            </a:pPr>
            <a:r>
              <a:rPr lang="en-PH" sz="3600" dirty="0"/>
              <a:t>Mercantilism</a:t>
            </a:r>
          </a:p>
          <a:p>
            <a:pPr marL="742950" indent="-742950">
              <a:buAutoNum type="alphaUcPeriod"/>
            </a:pPr>
            <a:r>
              <a:rPr lang="en-PH" sz="3600" dirty="0"/>
              <a:t>Inflation</a:t>
            </a:r>
          </a:p>
          <a:p>
            <a:pPr marL="742950" indent="-742950">
              <a:buAutoNum type="alphaUcPeriod"/>
            </a:pPr>
            <a:r>
              <a:rPr lang="en-PH" sz="3600" dirty="0">
                <a:solidFill>
                  <a:srgbClr val="FF0000"/>
                </a:solidFill>
              </a:rPr>
              <a:t>Favorable trade of balance</a:t>
            </a:r>
          </a:p>
        </p:txBody>
      </p:sp>
    </p:spTree>
    <p:extLst>
      <p:ext uri="{BB962C8B-B14F-4D97-AF65-F5344CB8AC3E}">
        <p14:creationId xmlns:p14="http://schemas.microsoft.com/office/powerpoint/2010/main" val="395330621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108. Which basic principle was introduced by Spain to the Philippines?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Union of Church and State</a:t>
            </a:r>
          </a:p>
          <a:p>
            <a:pPr marL="742950" indent="-742950">
              <a:buAutoNum type="alphaUcPeriod"/>
            </a:pPr>
            <a:r>
              <a:rPr lang="en-PH" sz="3600" dirty="0"/>
              <a:t>Separation of Church and State</a:t>
            </a:r>
          </a:p>
          <a:p>
            <a:pPr marL="742950" indent="-742950">
              <a:buAutoNum type="alphaUcPeriod"/>
            </a:pPr>
            <a:r>
              <a:rPr lang="en-PH" sz="3600" dirty="0"/>
              <a:t>Separation of power</a:t>
            </a:r>
          </a:p>
          <a:p>
            <a:pPr marL="742950" indent="-742950">
              <a:buAutoNum type="alphaUcPeriod"/>
            </a:pPr>
            <a:r>
              <a:rPr lang="en-PH" sz="3600" dirty="0"/>
              <a:t>Slavery</a:t>
            </a:r>
          </a:p>
        </p:txBody>
      </p:sp>
    </p:spTree>
    <p:extLst>
      <p:ext uri="{BB962C8B-B14F-4D97-AF65-F5344CB8AC3E}">
        <p14:creationId xmlns:p14="http://schemas.microsoft.com/office/powerpoint/2010/main" val="61126994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108. Which basic principle was introduced by Spain to the Philippines?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Union of Church and State</a:t>
            </a:r>
          </a:p>
          <a:p>
            <a:pPr marL="742950" indent="-742950">
              <a:buAutoNum type="alphaUcPeriod"/>
            </a:pPr>
            <a:r>
              <a:rPr lang="en-PH" sz="3600" dirty="0"/>
              <a:t>Separation of Church and State</a:t>
            </a:r>
          </a:p>
          <a:p>
            <a:pPr marL="742950" indent="-742950">
              <a:buAutoNum type="alphaUcPeriod"/>
            </a:pPr>
            <a:r>
              <a:rPr lang="en-PH" sz="3600" dirty="0"/>
              <a:t>Separation of power</a:t>
            </a:r>
          </a:p>
          <a:p>
            <a:pPr marL="742950" indent="-742950">
              <a:buAutoNum type="alphaUcPeriod"/>
            </a:pPr>
            <a:r>
              <a:rPr lang="en-PH" sz="3600" dirty="0"/>
              <a:t>Slavery</a:t>
            </a:r>
          </a:p>
        </p:txBody>
      </p:sp>
    </p:spTree>
    <p:extLst>
      <p:ext uri="{BB962C8B-B14F-4D97-AF65-F5344CB8AC3E}">
        <p14:creationId xmlns:p14="http://schemas.microsoft.com/office/powerpoint/2010/main" val="407453363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109. Which explains Spencer’s theory of progressive evolution of human societies?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Societies have to compete to survive</a:t>
            </a:r>
          </a:p>
          <a:p>
            <a:pPr marL="742950" indent="-742950">
              <a:buAutoNum type="alphaUcPeriod"/>
            </a:pPr>
            <a:r>
              <a:rPr lang="en-PH" sz="3600" dirty="0"/>
              <a:t>Societies inevitably progresses</a:t>
            </a:r>
          </a:p>
          <a:p>
            <a:pPr marL="742950" indent="-742950">
              <a:buAutoNum type="alphaUcPeriod"/>
            </a:pPr>
            <a:r>
              <a:rPr lang="en-PH" sz="3600" dirty="0"/>
              <a:t>Human individuals adapt but NOT human societies</a:t>
            </a:r>
          </a:p>
          <a:p>
            <a:pPr marL="742950" indent="-742950">
              <a:buAutoNum type="alphaUcPeriod"/>
            </a:pPr>
            <a:r>
              <a:rPr lang="en-PH" sz="3600" dirty="0"/>
              <a:t>Societies have to adopt to survive or else perish</a:t>
            </a:r>
          </a:p>
          <a:p>
            <a:pPr marL="0" indent="0">
              <a:buNone/>
            </a:pPr>
            <a:endParaRPr lang="en-PH" sz="3600" dirty="0"/>
          </a:p>
        </p:txBody>
      </p:sp>
    </p:spTree>
    <p:extLst>
      <p:ext uri="{BB962C8B-B14F-4D97-AF65-F5344CB8AC3E}">
        <p14:creationId xmlns:p14="http://schemas.microsoft.com/office/powerpoint/2010/main" val="405172192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109. Which explains Spencer’s theory of progressive evolution of human societies?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Societies have to compete to survive</a:t>
            </a:r>
          </a:p>
          <a:p>
            <a:pPr marL="742950" indent="-742950">
              <a:buAutoNum type="alphaUcPeriod"/>
            </a:pPr>
            <a:r>
              <a:rPr lang="en-PH" sz="3600" dirty="0">
                <a:solidFill>
                  <a:srgbClr val="FF0000"/>
                </a:solidFill>
              </a:rPr>
              <a:t>Societies inevitably progresses</a:t>
            </a:r>
          </a:p>
          <a:p>
            <a:pPr marL="742950" indent="-742950">
              <a:buAutoNum type="alphaUcPeriod"/>
            </a:pPr>
            <a:r>
              <a:rPr lang="en-PH" sz="3600" dirty="0"/>
              <a:t>Human individuals adapt but NOT human societies</a:t>
            </a:r>
          </a:p>
          <a:p>
            <a:pPr marL="742950" indent="-742950">
              <a:buAutoNum type="alphaUcPeriod"/>
            </a:pPr>
            <a:r>
              <a:rPr lang="en-PH" sz="3600" dirty="0"/>
              <a:t>Societies have to adopt to survive or else perish</a:t>
            </a:r>
          </a:p>
          <a:p>
            <a:pPr marL="0" indent="0">
              <a:buNone/>
            </a:pPr>
            <a:endParaRPr lang="en-PH" sz="3600" dirty="0"/>
          </a:p>
        </p:txBody>
      </p:sp>
    </p:spTree>
    <p:extLst>
      <p:ext uri="{BB962C8B-B14F-4D97-AF65-F5344CB8AC3E}">
        <p14:creationId xmlns:p14="http://schemas.microsoft.com/office/powerpoint/2010/main" val="185037227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110.Which one demonstrates that there is interconnectedness between social and environmental injustices?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73908"/>
            <a:ext cx="10515600" cy="4351338"/>
          </a:xfrm>
        </p:spPr>
        <p:txBody>
          <a:bodyPr>
            <a:normAutofit fontScale="92500" lnSpcReduction="10000"/>
          </a:bodyPr>
          <a:lstStyle/>
          <a:p>
            <a:pPr marL="742950" indent="-742950" algn="just">
              <a:buAutoNum type="alphaUcPeriod"/>
            </a:pPr>
            <a:r>
              <a:rPr lang="en-PH" sz="3600" dirty="0"/>
              <a:t>Emissions from fossil fuels have increased almost 400% since 1950</a:t>
            </a:r>
          </a:p>
          <a:p>
            <a:pPr marL="742950" indent="-742950" algn="just">
              <a:buAutoNum type="alphaUcPeriod"/>
            </a:pPr>
            <a:r>
              <a:rPr lang="en-PH" sz="3600" dirty="0"/>
              <a:t>Atmospheric warming increases the temperature of the ocean. Its change will lead to rise in the sea level</a:t>
            </a:r>
          </a:p>
          <a:p>
            <a:pPr marL="742950" indent="-742950" algn="just">
              <a:buAutoNum type="alphaUcPeriod"/>
            </a:pPr>
            <a:r>
              <a:rPr lang="en-PH" sz="3600" dirty="0"/>
              <a:t>The release of CFCs into the atmosphere is thinning the ozone layer</a:t>
            </a:r>
          </a:p>
          <a:p>
            <a:pPr marL="742950" indent="-742950" algn="just">
              <a:buAutoNum type="alphaUcPeriod"/>
            </a:pPr>
            <a:r>
              <a:rPr lang="en-PH" sz="3600" dirty="0"/>
              <a:t>Industry continuous to produce 2 ½ billion tons of toxic waste each year and disposes of it in the poorer countries</a:t>
            </a:r>
          </a:p>
        </p:txBody>
      </p:sp>
    </p:spTree>
    <p:extLst>
      <p:ext uri="{BB962C8B-B14F-4D97-AF65-F5344CB8AC3E}">
        <p14:creationId xmlns:p14="http://schemas.microsoft.com/office/powerpoint/2010/main" val="76997208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110.Which one demonstrates that there is interconnectedness between social and environmental injustices?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73908"/>
            <a:ext cx="10515600" cy="4351338"/>
          </a:xfrm>
        </p:spPr>
        <p:txBody>
          <a:bodyPr>
            <a:normAutofit fontScale="92500" lnSpcReduction="10000"/>
          </a:bodyPr>
          <a:lstStyle/>
          <a:p>
            <a:pPr marL="742950" indent="-742950" algn="just">
              <a:buAutoNum type="alphaUcPeriod"/>
            </a:pPr>
            <a:r>
              <a:rPr lang="en-PH" sz="3600" dirty="0"/>
              <a:t>Emissions from fossil fuels have increased almost 400% since 1950</a:t>
            </a:r>
          </a:p>
          <a:p>
            <a:pPr marL="742950" indent="-742950" algn="just">
              <a:buAutoNum type="alphaUcPeriod"/>
            </a:pPr>
            <a:r>
              <a:rPr lang="en-PH" sz="3600" dirty="0"/>
              <a:t>Atmospheric warming increases the temperature of the ocean. Its change will lead to rise in the sea level</a:t>
            </a:r>
          </a:p>
          <a:p>
            <a:pPr marL="742950" indent="-742950" algn="just">
              <a:buAutoNum type="alphaUcPeriod"/>
            </a:pPr>
            <a:r>
              <a:rPr lang="en-PH" sz="3600" dirty="0"/>
              <a:t>The release of CFCs into the atmosphere is thinning the ozone layer</a:t>
            </a:r>
          </a:p>
          <a:p>
            <a:pPr marL="742950" indent="-742950" algn="just">
              <a:buAutoNum type="alphaUcPeriod"/>
            </a:pPr>
            <a:r>
              <a:rPr lang="en-PH" sz="3600" dirty="0">
                <a:solidFill>
                  <a:srgbClr val="FF0000"/>
                </a:solidFill>
              </a:rPr>
              <a:t>Industry continuous to produce 2 ½ billion tons of toxic waste each year and disposes of it in the poorer countries</a:t>
            </a:r>
          </a:p>
        </p:txBody>
      </p:sp>
    </p:spTree>
    <p:extLst>
      <p:ext uri="{BB962C8B-B14F-4D97-AF65-F5344CB8AC3E}">
        <p14:creationId xmlns:p14="http://schemas.microsoft.com/office/powerpoint/2010/main" val="405429756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111. Which is considered the most active volcano in the Philippines because it erupted many times since 1915?</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99766"/>
            <a:ext cx="10515600" cy="4351338"/>
          </a:xfrm>
        </p:spPr>
        <p:txBody>
          <a:bodyPr>
            <a:normAutofit/>
          </a:bodyPr>
          <a:lstStyle/>
          <a:p>
            <a:pPr marL="742950" indent="-742950">
              <a:buAutoNum type="alphaUcPeriod"/>
            </a:pPr>
            <a:r>
              <a:rPr lang="en-PH" sz="3600" dirty="0" err="1"/>
              <a:t>Mayon</a:t>
            </a:r>
            <a:r>
              <a:rPr lang="en-PH" sz="3600" dirty="0"/>
              <a:t> Volcano</a:t>
            </a:r>
          </a:p>
          <a:p>
            <a:pPr marL="742950" indent="-742950">
              <a:buAutoNum type="alphaUcPeriod"/>
            </a:pPr>
            <a:r>
              <a:rPr lang="en-PH" sz="3600" dirty="0" err="1"/>
              <a:t>Hibok-hibok</a:t>
            </a:r>
            <a:r>
              <a:rPr lang="en-PH" sz="3600" dirty="0"/>
              <a:t> Volcano</a:t>
            </a:r>
          </a:p>
          <a:p>
            <a:pPr marL="742950" indent="-742950">
              <a:buAutoNum type="alphaUcPeriod"/>
            </a:pPr>
            <a:r>
              <a:rPr lang="en-PH" sz="3600" dirty="0" err="1"/>
              <a:t>Banahaw</a:t>
            </a:r>
            <a:endParaRPr lang="en-PH" sz="3600" dirty="0"/>
          </a:p>
          <a:p>
            <a:pPr marL="742950" indent="-742950">
              <a:buAutoNum type="alphaUcPeriod"/>
            </a:pPr>
            <a:r>
              <a:rPr lang="en-PH" sz="3600" dirty="0" err="1"/>
              <a:t>Taal</a:t>
            </a:r>
            <a:r>
              <a:rPr lang="en-PH" sz="3600" dirty="0"/>
              <a:t> Volcano</a:t>
            </a:r>
          </a:p>
        </p:txBody>
      </p:sp>
    </p:spTree>
    <p:extLst>
      <p:ext uri="{BB962C8B-B14F-4D97-AF65-F5344CB8AC3E}">
        <p14:creationId xmlns:p14="http://schemas.microsoft.com/office/powerpoint/2010/main" val="1400412106"/>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111. Which is considered the most active volcano in the Philippines because it erupted many times since 1915?</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99766"/>
            <a:ext cx="10515600" cy="4351338"/>
          </a:xfrm>
        </p:spPr>
        <p:txBody>
          <a:bodyPr>
            <a:normAutofit/>
          </a:bodyPr>
          <a:lstStyle/>
          <a:p>
            <a:pPr marL="742950" indent="-742950">
              <a:buAutoNum type="alphaUcPeriod"/>
            </a:pPr>
            <a:r>
              <a:rPr lang="en-PH" sz="3600" dirty="0" err="1">
                <a:solidFill>
                  <a:srgbClr val="FF0000"/>
                </a:solidFill>
              </a:rPr>
              <a:t>Mayon</a:t>
            </a:r>
            <a:r>
              <a:rPr lang="en-PH" sz="3600" dirty="0">
                <a:solidFill>
                  <a:srgbClr val="FF0000"/>
                </a:solidFill>
              </a:rPr>
              <a:t> Volcano</a:t>
            </a:r>
          </a:p>
          <a:p>
            <a:pPr marL="742950" indent="-742950">
              <a:buAutoNum type="alphaUcPeriod"/>
            </a:pPr>
            <a:r>
              <a:rPr lang="en-PH" sz="3600" dirty="0" err="1"/>
              <a:t>Hibok-hibok</a:t>
            </a:r>
            <a:r>
              <a:rPr lang="en-PH" sz="3600" dirty="0"/>
              <a:t> Volcano</a:t>
            </a:r>
          </a:p>
          <a:p>
            <a:pPr marL="742950" indent="-742950">
              <a:buAutoNum type="alphaUcPeriod"/>
            </a:pPr>
            <a:r>
              <a:rPr lang="en-PH" sz="3600" dirty="0" err="1"/>
              <a:t>Banahaw</a:t>
            </a:r>
            <a:endParaRPr lang="en-PH" sz="3600" dirty="0"/>
          </a:p>
          <a:p>
            <a:pPr marL="742950" indent="-742950">
              <a:buAutoNum type="alphaUcPeriod"/>
            </a:pPr>
            <a:r>
              <a:rPr lang="en-PH" sz="3600" dirty="0" err="1"/>
              <a:t>Taal</a:t>
            </a:r>
            <a:r>
              <a:rPr lang="en-PH" sz="3600" dirty="0"/>
              <a:t> Volcano</a:t>
            </a:r>
          </a:p>
        </p:txBody>
      </p:sp>
    </p:spTree>
    <p:extLst>
      <p:ext uri="{BB962C8B-B14F-4D97-AF65-F5344CB8AC3E}">
        <p14:creationId xmlns:p14="http://schemas.microsoft.com/office/powerpoint/2010/main" val="195352257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99895"/>
            <a:ext cx="10515600" cy="1325563"/>
          </a:xfrm>
        </p:spPr>
        <p:txBody>
          <a:bodyPr>
            <a:noAutofit/>
          </a:bodyPr>
          <a:lstStyle/>
          <a:p>
            <a:pPr algn="just"/>
            <a:r>
              <a:rPr lang="en-PH" dirty="0"/>
              <a:t>112. King </a:t>
            </a:r>
            <a:r>
              <a:rPr lang="en-PH" dirty="0" err="1"/>
              <a:t>Tupa’s</a:t>
            </a:r>
            <a:r>
              <a:rPr lang="en-PH" dirty="0"/>
              <a:t> brother offered himself as a captive of the King of Spain in place of his daughter who was made captive. What does this show of Cebuano pre-Hispanic society?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29964"/>
            <a:ext cx="10515600" cy="4351338"/>
          </a:xfrm>
        </p:spPr>
        <p:txBody>
          <a:bodyPr>
            <a:normAutofit/>
          </a:bodyPr>
          <a:lstStyle/>
          <a:p>
            <a:pPr marL="742950" indent="-742950">
              <a:buAutoNum type="alphaUcPeriod"/>
            </a:pPr>
            <a:r>
              <a:rPr lang="en-PH" sz="3600" dirty="0"/>
              <a:t>Cebuano’s piety and religiosity</a:t>
            </a:r>
          </a:p>
          <a:p>
            <a:pPr marL="742950" indent="-742950">
              <a:buAutoNum type="alphaUcPeriod"/>
            </a:pPr>
            <a:r>
              <a:rPr lang="en-PH" sz="3600" dirty="0"/>
              <a:t>Cebuano’s longing for independence</a:t>
            </a:r>
          </a:p>
          <a:p>
            <a:pPr marL="742950" indent="-742950">
              <a:buAutoNum type="alphaUcPeriod"/>
            </a:pPr>
            <a:r>
              <a:rPr lang="en-PH" sz="3600" dirty="0"/>
              <a:t>Strong personal and family ties</a:t>
            </a:r>
          </a:p>
          <a:p>
            <a:pPr marL="742950" indent="-742950">
              <a:buAutoNum type="alphaUcPeriod"/>
            </a:pPr>
            <a:r>
              <a:rPr lang="en-PH" sz="3600" dirty="0"/>
              <a:t>Cebuano’s friendliness</a:t>
            </a:r>
          </a:p>
        </p:txBody>
      </p:sp>
    </p:spTree>
    <p:extLst>
      <p:ext uri="{BB962C8B-B14F-4D97-AF65-F5344CB8AC3E}">
        <p14:creationId xmlns:p14="http://schemas.microsoft.com/office/powerpoint/2010/main" val="3105474590"/>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599895"/>
            <a:ext cx="10515600" cy="1325563"/>
          </a:xfrm>
        </p:spPr>
        <p:txBody>
          <a:bodyPr>
            <a:noAutofit/>
          </a:bodyPr>
          <a:lstStyle/>
          <a:p>
            <a:pPr algn="just"/>
            <a:r>
              <a:rPr lang="en-PH" dirty="0"/>
              <a:t>112. King </a:t>
            </a:r>
            <a:r>
              <a:rPr lang="en-PH" dirty="0" err="1"/>
              <a:t>Tupa’s</a:t>
            </a:r>
            <a:r>
              <a:rPr lang="en-PH" dirty="0"/>
              <a:t> brother offered himself as a captive of the King of Spain in place of his daughter who was made captive. What does this show of Cebuano pre-Hispanic society?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29964"/>
            <a:ext cx="10515600" cy="4351338"/>
          </a:xfrm>
        </p:spPr>
        <p:txBody>
          <a:bodyPr>
            <a:normAutofit/>
          </a:bodyPr>
          <a:lstStyle/>
          <a:p>
            <a:pPr marL="742950" indent="-742950">
              <a:buAutoNum type="alphaUcPeriod"/>
            </a:pPr>
            <a:r>
              <a:rPr lang="en-PH" sz="3600" dirty="0"/>
              <a:t>Cebuano’s piety and religiosity</a:t>
            </a:r>
          </a:p>
          <a:p>
            <a:pPr marL="742950" indent="-742950">
              <a:buAutoNum type="alphaUcPeriod"/>
            </a:pPr>
            <a:r>
              <a:rPr lang="en-PH" sz="3600" dirty="0"/>
              <a:t>Cebuano’s longing for independence</a:t>
            </a:r>
          </a:p>
          <a:p>
            <a:pPr marL="742950" indent="-742950">
              <a:buAutoNum type="alphaUcPeriod"/>
            </a:pPr>
            <a:r>
              <a:rPr lang="en-PH" sz="3600" dirty="0">
                <a:solidFill>
                  <a:srgbClr val="FF0000"/>
                </a:solidFill>
              </a:rPr>
              <a:t>Strong personal and family ties</a:t>
            </a:r>
          </a:p>
          <a:p>
            <a:pPr marL="742950" indent="-742950">
              <a:buAutoNum type="alphaUcPeriod"/>
            </a:pPr>
            <a:r>
              <a:rPr lang="en-PH" sz="3600" dirty="0"/>
              <a:t>Cebuano’s friendliness</a:t>
            </a:r>
          </a:p>
        </p:txBody>
      </p:sp>
    </p:spTree>
    <p:extLst>
      <p:ext uri="{BB962C8B-B14F-4D97-AF65-F5344CB8AC3E}">
        <p14:creationId xmlns:p14="http://schemas.microsoft.com/office/powerpoint/2010/main" val="245204440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044730"/>
            <a:ext cx="10515600" cy="1325563"/>
          </a:xfrm>
        </p:spPr>
        <p:txBody>
          <a:bodyPr>
            <a:noAutofit/>
          </a:bodyPr>
          <a:lstStyle/>
          <a:p>
            <a:pPr algn="just"/>
            <a:r>
              <a:rPr lang="en-PH" sz="4000" dirty="0"/>
              <a:t>113. After the Ice Age ended, the climate in now Nevada and Utah became drier and warmer. Because large game became scarce, the Indians in those areas became </a:t>
            </a:r>
            <a:r>
              <a:rPr lang="en-PH" sz="4000" dirty="0" err="1"/>
              <a:t>desertlike</a:t>
            </a:r>
            <a:r>
              <a:rPr lang="en-PH" sz="4000" dirty="0"/>
              <a:t> and the Indians began to roam in small bands in search for food. What does this prove?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345514"/>
            <a:ext cx="10515600" cy="4351338"/>
          </a:xfrm>
        </p:spPr>
        <p:txBody>
          <a:bodyPr>
            <a:normAutofit/>
          </a:bodyPr>
          <a:lstStyle/>
          <a:p>
            <a:pPr marL="742950" indent="-742950" algn="just">
              <a:buAutoNum type="alphaUcPeriod"/>
            </a:pPr>
            <a:r>
              <a:rPr lang="en-PH" sz="3200" dirty="0"/>
              <a:t>Any change in the environment of a group results in a change or changes in the group culture </a:t>
            </a:r>
          </a:p>
          <a:p>
            <a:pPr marL="742950" indent="-742950" algn="just">
              <a:buAutoNum type="alphaUcPeriod"/>
            </a:pPr>
            <a:r>
              <a:rPr lang="en-PH" sz="3200" dirty="0"/>
              <a:t>A group of people’s behavior can change a fertile land into a desert</a:t>
            </a:r>
          </a:p>
          <a:p>
            <a:pPr marL="742950" indent="-742950" algn="just">
              <a:buAutoNum type="alphaUcPeriod"/>
            </a:pPr>
            <a:r>
              <a:rPr lang="en-PH" sz="3200" dirty="0"/>
              <a:t>A group of people when they live together will survive</a:t>
            </a:r>
          </a:p>
          <a:p>
            <a:pPr marL="742950" indent="-742950" algn="just">
              <a:buAutoNum type="alphaUcPeriod"/>
            </a:pPr>
            <a:r>
              <a:rPr lang="en-PH" sz="3200" dirty="0"/>
              <a:t>A group of people is so powerful that it can control changes in the environment</a:t>
            </a:r>
          </a:p>
        </p:txBody>
      </p:sp>
    </p:spTree>
    <p:extLst>
      <p:ext uri="{BB962C8B-B14F-4D97-AF65-F5344CB8AC3E}">
        <p14:creationId xmlns:p14="http://schemas.microsoft.com/office/powerpoint/2010/main" val="409284283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1044730"/>
            <a:ext cx="10515600" cy="1325563"/>
          </a:xfrm>
        </p:spPr>
        <p:txBody>
          <a:bodyPr>
            <a:noAutofit/>
          </a:bodyPr>
          <a:lstStyle/>
          <a:p>
            <a:pPr algn="just"/>
            <a:r>
              <a:rPr lang="en-PH" sz="4000" dirty="0"/>
              <a:t>113. After the Ice Age ended, the climate in now Nevada and Utah became drier and warmer. Because large game became scarce, the Indians in those areas became </a:t>
            </a:r>
            <a:r>
              <a:rPr lang="en-PH" sz="4000" dirty="0" err="1"/>
              <a:t>desertlike</a:t>
            </a:r>
            <a:r>
              <a:rPr lang="en-PH" sz="4000" dirty="0"/>
              <a:t> and the Indians began to roam in small bands in search for food. What does this prove?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345514"/>
            <a:ext cx="10515600" cy="4351338"/>
          </a:xfrm>
        </p:spPr>
        <p:txBody>
          <a:bodyPr>
            <a:normAutofit/>
          </a:bodyPr>
          <a:lstStyle/>
          <a:p>
            <a:pPr marL="742950" indent="-742950" algn="just">
              <a:buAutoNum type="alphaUcPeriod"/>
            </a:pPr>
            <a:r>
              <a:rPr lang="en-PH" sz="3200" dirty="0">
                <a:solidFill>
                  <a:srgbClr val="FF0000"/>
                </a:solidFill>
              </a:rPr>
              <a:t>Any change in the environment of a group results in a change or changes in the group culture </a:t>
            </a:r>
          </a:p>
          <a:p>
            <a:pPr marL="742950" indent="-742950" algn="just">
              <a:buAutoNum type="alphaUcPeriod"/>
            </a:pPr>
            <a:r>
              <a:rPr lang="en-PH" sz="3200" dirty="0"/>
              <a:t>A group of people’s behavior can change a fertile land into a desert</a:t>
            </a:r>
          </a:p>
          <a:p>
            <a:pPr marL="742950" indent="-742950" algn="just">
              <a:buAutoNum type="alphaUcPeriod"/>
            </a:pPr>
            <a:r>
              <a:rPr lang="en-PH" sz="3200" dirty="0"/>
              <a:t>A group of people when they live together will survive</a:t>
            </a:r>
          </a:p>
          <a:p>
            <a:pPr marL="742950" indent="-742950" algn="just">
              <a:buAutoNum type="alphaUcPeriod"/>
            </a:pPr>
            <a:r>
              <a:rPr lang="en-PH" sz="3200" dirty="0"/>
              <a:t>A group of people is so powerful that it can control changes in the environment</a:t>
            </a:r>
          </a:p>
        </p:txBody>
      </p:sp>
    </p:spTree>
    <p:extLst>
      <p:ext uri="{BB962C8B-B14F-4D97-AF65-F5344CB8AC3E}">
        <p14:creationId xmlns:p14="http://schemas.microsoft.com/office/powerpoint/2010/main" val="424869578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114. Which may have contributed to the Filipino “kami-mentality”?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Indolence</a:t>
            </a:r>
          </a:p>
          <a:p>
            <a:pPr marL="742950" indent="-742950">
              <a:buAutoNum type="alphaUcPeriod"/>
            </a:pPr>
            <a:r>
              <a:rPr lang="en-PH" sz="3600" dirty="0"/>
              <a:t>Our colonial history</a:t>
            </a:r>
          </a:p>
          <a:p>
            <a:pPr marL="742950" indent="-742950">
              <a:buAutoNum type="alphaUcPeriod"/>
            </a:pPr>
            <a:r>
              <a:rPr lang="en-PH" sz="3600" dirty="0"/>
              <a:t>Our rich natural resources</a:t>
            </a:r>
          </a:p>
          <a:p>
            <a:pPr marL="742950" indent="-742950">
              <a:buAutoNum type="alphaUcPeriod"/>
            </a:pPr>
            <a:r>
              <a:rPr lang="en-PH" sz="3600" dirty="0"/>
              <a:t>Island character of our geography</a:t>
            </a:r>
          </a:p>
        </p:txBody>
      </p:sp>
    </p:spTree>
    <p:extLst>
      <p:ext uri="{BB962C8B-B14F-4D97-AF65-F5344CB8AC3E}">
        <p14:creationId xmlns:p14="http://schemas.microsoft.com/office/powerpoint/2010/main" val="2039078458"/>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114. Which may have contributed to the Filipino “kami-mentality”?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Indolence</a:t>
            </a:r>
          </a:p>
          <a:p>
            <a:pPr marL="742950" indent="-742950">
              <a:buAutoNum type="alphaUcPeriod"/>
            </a:pPr>
            <a:r>
              <a:rPr lang="en-PH" sz="3600" dirty="0"/>
              <a:t>Our colonial history</a:t>
            </a:r>
          </a:p>
          <a:p>
            <a:pPr marL="742950" indent="-742950">
              <a:buAutoNum type="alphaUcPeriod"/>
            </a:pPr>
            <a:r>
              <a:rPr lang="en-PH" sz="3600" dirty="0"/>
              <a:t>Our rich natural resources</a:t>
            </a:r>
          </a:p>
          <a:p>
            <a:pPr marL="742950" indent="-742950">
              <a:buAutoNum type="alphaUcPeriod"/>
            </a:pPr>
            <a:r>
              <a:rPr lang="en-PH" sz="3600" dirty="0">
                <a:solidFill>
                  <a:srgbClr val="FF0000"/>
                </a:solidFill>
              </a:rPr>
              <a:t>Island character of our geography</a:t>
            </a:r>
          </a:p>
        </p:txBody>
      </p:sp>
    </p:spTree>
    <p:extLst>
      <p:ext uri="{BB962C8B-B14F-4D97-AF65-F5344CB8AC3E}">
        <p14:creationId xmlns:p14="http://schemas.microsoft.com/office/powerpoint/2010/main" val="742371162"/>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115. In what famous scared river India do thousands of people gather every morning to take a bathe?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Indus</a:t>
            </a:r>
          </a:p>
          <a:p>
            <a:pPr marL="742950" indent="-742950">
              <a:buAutoNum type="alphaUcPeriod"/>
            </a:pPr>
            <a:r>
              <a:rPr lang="en-PH" sz="3600" dirty="0"/>
              <a:t>Bengali</a:t>
            </a:r>
          </a:p>
          <a:p>
            <a:pPr marL="742950" indent="-742950">
              <a:buAutoNum type="alphaUcPeriod"/>
            </a:pPr>
            <a:r>
              <a:rPr lang="en-PH" sz="3600" dirty="0"/>
              <a:t>Hindu</a:t>
            </a:r>
          </a:p>
          <a:p>
            <a:pPr marL="742950" indent="-742950">
              <a:buAutoNum type="alphaUcPeriod"/>
            </a:pPr>
            <a:r>
              <a:rPr lang="en-PH" sz="3600" dirty="0"/>
              <a:t>Ganges </a:t>
            </a:r>
          </a:p>
        </p:txBody>
      </p:sp>
    </p:spTree>
    <p:extLst>
      <p:ext uri="{BB962C8B-B14F-4D97-AF65-F5344CB8AC3E}">
        <p14:creationId xmlns:p14="http://schemas.microsoft.com/office/powerpoint/2010/main" val="95885835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115. In what famous scared river India do thousands of people gather every morning to take a bathe?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Indus</a:t>
            </a:r>
          </a:p>
          <a:p>
            <a:pPr marL="742950" indent="-742950">
              <a:buAutoNum type="alphaUcPeriod"/>
            </a:pPr>
            <a:r>
              <a:rPr lang="en-PH" sz="3600" dirty="0"/>
              <a:t>Bengali</a:t>
            </a:r>
          </a:p>
          <a:p>
            <a:pPr marL="742950" indent="-742950">
              <a:buAutoNum type="alphaUcPeriod"/>
            </a:pPr>
            <a:r>
              <a:rPr lang="en-PH" sz="3600" dirty="0"/>
              <a:t>Hindu</a:t>
            </a:r>
          </a:p>
          <a:p>
            <a:pPr marL="742950" indent="-742950">
              <a:buAutoNum type="alphaUcPeriod"/>
            </a:pPr>
            <a:r>
              <a:rPr lang="en-PH" sz="3600" dirty="0"/>
              <a:t>Ganges </a:t>
            </a:r>
          </a:p>
        </p:txBody>
      </p:sp>
    </p:spTree>
    <p:extLst>
      <p:ext uri="{BB962C8B-B14F-4D97-AF65-F5344CB8AC3E}">
        <p14:creationId xmlns:p14="http://schemas.microsoft.com/office/powerpoint/2010/main" val="101431065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116.  With the violation of the Pack of Biak-</a:t>
            </a:r>
            <a:r>
              <a:rPr lang="en-PH" dirty="0" err="1"/>
              <a:t>na</a:t>
            </a:r>
            <a:r>
              <a:rPr lang="en-PH" dirty="0"/>
              <a:t>-</a:t>
            </a:r>
            <a:r>
              <a:rPr lang="en-PH" dirty="0" err="1"/>
              <a:t>Bato</a:t>
            </a:r>
            <a:r>
              <a:rPr lang="en-PH" dirty="0"/>
              <a:t> and with Aguinaldo in Hongkong, who served as leader of the Katipunan?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73908"/>
            <a:ext cx="10515600" cy="4351338"/>
          </a:xfrm>
        </p:spPr>
        <p:txBody>
          <a:bodyPr>
            <a:normAutofit/>
          </a:bodyPr>
          <a:lstStyle/>
          <a:p>
            <a:pPr marL="742950" indent="-742950">
              <a:buAutoNum type="alphaUcPeriod"/>
            </a:pPr>
            <a:r>
              <a:rPr lang="en-PH" sz="3600" dirty="0"/>
              <a:t>Pio Valenzuela</a:t>
            </a:r>
          </a:p>
          <a:p>
            <a:pPr marL="742950" indent="-742950">
              <a:buAutoNum type="alphaUcPeriod"/>
            </a:pPr>
            <a:r>
              <a:rPr lang="en-PH" sz="3600" dirty="0"/>
              <a:t>Emilio Jacinto</a:t>
            </a:r>
          </a:p>
          <a:p>
            <a:pPr marL="742950" indent="-742950">
              <a:buAutoNum type="alphaUcPeriod"/>
            </a:pPr>
            <a:r>
              <a:rPr lang="en-PH" sz="3600" dirty="0"/>
              <a:t>Francisco </a:t>
            </a:r>
            <a:r>
              <a:rPr lang="en-PH" sz="3600" dirty="0" err="1"/>
              <a:t>Makabulos</a:t>
            </a:r>
            <a:endParaRPr lang="en-PH" sz="3600" dirty="0"/>
          </a:p>
          <a:p>
            <a:pPr marL="742950" indent="-742950">
              <a:buAutoNum type="alphaUcPeriod"/>
            </a:pPr>
            <a:r>
              <a:rPr lang="en-PH" sz="3600" dirty="0"/>
              <a:t>Andres Bonifacio</a:t>
            </a:r>
          </a:p>
        </p:txBody>
      </p:sp>
    </p:spTree>
    <p:extLst>
      <p:ext uri="{BB962C8B-B14F-4D97-AF65-F5344CB8AC3E}">
        <p14:creationId xmlns:p14="http://schemas.microsoft.com/office/powerpoint/2010/main" val="411091336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116.  With the violation of the Pack of Biak-</a:t>
            </a:r>
            <a:r>
              <a:rPr lang="en-PH" dirty="0" err="1"/>
              <a:t>na</a:t>
            </a:r>
            <a:r>
              <a:rPr lang="en-PH" dirty="0"/>
              <a:t>-</a:t>
            </a:r>
            <a:r>
              <a:rPr lang="en-PH" dirty="0" err="1"/>
              <a:t>Bato</a:t>
            </a:r>
            <a:r>
              <a:rPr lang="en-PH" dirty="0"/>
              <a:t> and with Aguinaldo in Hongkong, who served as leader of the Katipunan?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73908"/>
            <a:ext cx="10515600" cy="4351338"/>
          </a:xfrm>
        </p:spPr>
        <p:txBody>
          <a:bodyPr>
            <a:normAutofit/>
          </a:bodyPr>
          <a:lstStyle/>
          <a:p>
            <a:pPr marL="742950" indent="-742950">
              <a:buAutoNum type="alphaUcPeriod"/>
            </a:pPr>
            <a:r>
              <a:rPr lang="en-PH" sz="3600" dirty="0"/>
              <a:t>Pio Valenzuela</a:t>
            </a:r>
          </a:p>
          <a:p>
            <a:pPr marL="742950" indent="-742950">
              <a:buAutoNum type="alphaUcPeriod"/>
            </a:pPr>
            <a:r>
              <a:rPr lang="en-PH" sz="3600" dirty="0"/>
              <a:t>Emilio Jacinto</a:t>
            </a:r>
          </a:p>
          <a:p>
            <a:pPr marL="742950" indent="-742950">
              <a:buAutoNum type="alphaUcPeriod"/>
            </a:pPr>
            <a:r>
              <a:rPr lang="en-PH" sz="3600" dirty="0">
                <a:solidFill>
                  <a:srgbClr val="FF0000"/>
                </a:solidFill>
              </a:rPr>
              <a:t>Francisco </a:t>
            </a:r>
            <a:r>
              <a:rPr lang="en-PH" sz="3600" dirty="0" err="1">
                <a:solidFill>
                  <a:srgbClr val="FF0000"/>
                </a:solidFill>
              </a:rPr>
              <a:t>Makabulos</a:t>
            </a:r>
            <a:endParaRPr lang="en-PH" sz="3600" dirty="0">
              <a:solidFill>
                <a:srgbClr val="FF0000"/>
              </a:solidFill>
            </a:endParaRPr>
          </a:p>
          <a:p>
            <a:pPr marL="742950" indent="-742950">
              <a:buAutoNum type="alphaUcPeriod"/>
            </a:pPr>
            <a:r>
              <a:rPr lang="en-PH" sz="3600" dirty="0"/>
              <a:t>Andres Bonifacio</a:t>
            </a:r>
          </a:p>
        </p:txBody>
      </p:sp>
    </p:spTree>
    <p:extLst>
      <p:ext uri="{BB962C8B-B14F-4D97-AF65-F5344CB8AC3E}">
        <p14:creationId xmlns:p14="http://schemas.microsoft.com/office/powerpoint/2010/main" val="58198022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24609"/>
            <a:ext cx="10515600" cy="1325563"/>
          </a:xfrm>
        </p:spPr>
        <p:txBody>
          <a:bodyPr>
            <a:noAutofit/>
          </a:bodyPr>
          <a:lstStyle/>
          <a:p>
            <a:pPr algn="just"/>
            <a:r>
              <a:rPr lang="en-PH" dirty="0"/>
              <a:t>117. Among the following local government positions during the Spanish period, which is claimed by historians to be the most corrupt in the history of official corruption?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17602"/>
            <a:ext cx="10515600" cy="4351338"/>
          </a:xfrm>
        </p:spPr>
        <p:txBody>
          <a:bodyPr>
            <a:normAutofit/>
          </a:bodyPr>
          <a:lstStyle/>
          <a:p>
            <a:pPr marL="742950" indent="-742950">
              <a:buAutoNum type="alphaUcPeriod"/>
            </a:pPr>
            <a:r>
              <a:rPr lang="en-PH" sz="3600" dirty="0"/>
              <a:t>Alcalde mayor</a:t>
            </a:r>
          </a:p>
          <a:p>
            <a:pPr marL="742950" indent="-742950">
              <a:buAutoNum type="alphaUcPeriod"/>
            </a:pPr>
            <a:r>
              <a:rPr lang="en-PH" sz="3600" dirty="0"/>
              <a:t>Corregidor</a:t>
            </a:r>
          </a:p>
          <a:p>
            <a:pPr marL="742950" indent="-742950">
              <a:buAutoNum type="alphaUcPeriod"/>
            </a:pPr>
            <a:r>
              <a:rPr lang="en-PH" sz="3600" dirty="0"/>
              <a:t>Cabeza de barangay</a:t>
            </a:r>
          </a:p>
          <a:p>
            <a:pPr marL="742950" indent="-742950">
              <a:buAutoNum type="alphaUcPeriod"/>
            </a:pPr>
            <a:r>
              <a:rPr lang="en-PH" sz="3600" dirty="0" err="1"/>
              <a:t>Gobernadorcillo</a:t>
            </a:r>
            <a:endParaRPr lang="en-PH" sz="3600" dirty="0"/>
          </a:p>
          <a:p>
            <a:pPr marL="0" indent="0">
              <a:buNone/>
            </a:pPr>
            <a:endParaRPr lang="en-PH" sz="3600" dirty="0"/>
          </a:p>
        </p:txBody>
      </p:sp>
    </p:spTree>
    <p:extLst>
      <p:ext uri="{BB962C8B-B14F-4D97-AF65-F5344CB8AC3E}">
        <p14:creationId xmlns:p14="http://schemas.microsoft.com/office/powerpoint/2010/main" val="281407845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24609"/>
            <a:ext cx="10515600" cy="1325563"/>
          </a:xfrm>
        </p:spPr>
        <p:txBody>
          <a:bodyPr>
            <a:noAutofit/>
          </a:bodyPr>
          <a:lstStyle/>
          <a:p>
            <a:pPr algn="just"/>
            <a:r>
              <a:rPr lang="en-PH" dirty="0"/>
              <a:t>117. Among the following local government positions during the Spanish period, which is claimed by historians to be the most corrupt in the history of official corruption?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17602"/>
            <a:ext cx="10515600" cy="4351338"/>
          </a:xfrm>
        </p:spPr>
        <p:txBody>
          <a:bodyPr>
            <a:normAutofit/>
          </a:bodyPr>
          <a:lstStyle/>
          <a:p>
            <a:pPr marL="742950" indent="-742950">
              <a:buAutoNum type="alphaUcPeriod"/>
            </a:pPr>
            <a:r>
              <a:rPr lang="en-PH" sz="3600" dirty="0"/>
              <a:t>Alcalde mayor</a:t>
            </a:r>
          </a:p>
          <a:p>
            <a:pPr marL="742950" indent="-742950">
              <a:buAutoNum type="alphaUcPeriod"/>
            </a:pPr>
            <a:r>
              <a:rPr lang="en-PH" sz="3600" dirty="0"/>
              <a:t>Corregidor</a:t>
            </a:r>
          </a:p>
          <a:p>
            <a:pPr marL="742950" indent="-742950">
              <a:buAutoNum type="alphaUcPeriod"/>
            </a:pPr>
            <a:r>
              <a:rPr lang="en-PH" sz="3600" dirty="0">
                <a:solidFill>
                  <a:srgbClr val="FF0000"/>
                </a:solidFill>
              </a:rPr>
              <a:t>Cabeza de barangay</a:t>
            </a:r>
          </a:p>
          <a:p>
            <a:pPr marL="742950" indent="-742950">
              <a:buAutoNum type="alphaUcPeriod"/>
            </a:pPr>
            <a:r>
              <a:rPr lang="en-PH" sz="3600" dirty="0" err="1"/>
              <a:t>Gobernadorcillo</a:t>
            </a:r>
            <a:endParaRPr lang="en-PH" sz="3600" dirty="0"/>
          </a:p>
          <a:p>
            <a:pPr marL="0" indent="0">
              <a:buNone/>
            </a:pPr>
            <a:endParaRPr lang="en-PH" sz="3600" dirty="0"/>
          </a:p>
        </p:txBody>
      </p:sp>
    </p:spTree>
    <p:extLst>
      <p:ext uri="{BB962C8B-B14F-4D97-AF65-F5344CB8AC3E}">
        <p14:creationId xmlns:p14="http://schemas.microsoft.com/office/powerpoint/2010/main" val="1096922145"/>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118. To whom did Rizal dedicate his second novel, El </a:t>
            </a:r>
            <a:r>
              <a:rPr lang="en-PH" dirty="0" err="1"/>
              <a:t>Filibusterismo</a:t>
            </a:r>
            <a:r>
              <a:rPr lang="en-PH" dirty="0"/>
              <a: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His brother, </a:t>
            </a:r>
            <a:r>
              <a:rPr lang="en-PH" sz="3600" dirty="0" err="1"/>
              <a:t>Paciano</a:t>
            </a:r>
            <a:endParaRPr lang="en-PH" sz="3600" dirty="0"/>
          </a:p>
          <a:p>
            <a:pPr marL="742950" indent="-742950">
              <a:buAutoNum type="alphaUcPeriod"/>
            </a:pPr>
            <a:r>
              <a:rPr lang="en-PH" sz="3600" dirty="0"/>
              <a:t>His Parents</a:t>
            </a:r>
          </a:p>
          <a:p>
            <a:pPr marL="742950" indent="-742950">
              <a:buAutoNum type="alphaUcPeriod"/>
            </a:pPr>
            <a:r>
              <a:rPr lang="en-PH" sz="3600" dirty="0"/>
              <a:t>Father Gomez, Burgos, and Zamora</a:t>
            </a:r>
          </a:p>
          <a:p>
            <a:pPr marL="742950" indent="-742950">
              <a:buAutoNum type="alphaUcPeriod"/>
            </a:pPr>
            <a:r>
              <a:rPr lang="en-PH" sz="3600" dirty="0"/>
              <a:t>His sisters</a:t>
            </a:r>
          </a:p>
          <a:p>
            <a:pPr marL="0" indent="0">
              <a:buNone/>
            </a:pPr>
            <a:endParaRPr lang="en-PH" sz="3600" dirty="0"/>
          </a:p>
        </p:txBody>
      </p:sp>
    </p:spTree>
    <p:extLst>
      <p:ext uri="{BB962C8B-B14F-4D97-AF65-F5344CB8AC3E}">
        <p14:creationId xmlns:p14="http://schemas.microsoft.com/office/powerpoint/2010/main" val="375996844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118. To whom did Rizal dedicate his second novel, El </a:t>
            </a:r>
            <a:r>
              <a:rPr lang="en-PH" dirty="0" err="1"/>
              <a:t>Filibusterismo</a:t>
            </a:r>
            <a:r>
              <a:rPr lang="en-PH" dirty="0"/>
              <a: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His brother, </a:t>
            </a:r>
            <a:r>
              <a:rPr lang="en-PH" sz="3600" dirty="0" err="1"/>
              <a:t>Paciano</a:t>
            </a:r>
            <a:endParaRPr lang="en-PH" sz="3600" dirty="0"/>
          </a:p>
          <a:p>
            <a:pPr marL="742950" indent="-742950">
              <a:buAutoNum type="alphaUcPeriod"/>
            </a:pPr>
            <a:r>
              <a:rPr lang="en-PH" sz="3600" dirty="0"/>
              <a:t>His Parents</a:t>
            </a:r>
          </a:p>
          <a:p>
            <a:pPr marL="742950" indent="-742950">
              <a:buAutoNum type="alphaUcPeriod"/>
            </a:pPr>
            <a:r>
              <a:rPr lang="en-PH" sz="3600" dirty="0">
                <a:solidFill>
                  <a:srgbClr val="FF0000"/>
                </a:solidFill>
              </a:rPr>
              <a:t>Father Gomez, Burgos, and Zamora</a:t>
            </a:r>
          </a:p>
          <a:p>
            <a:pPr marL="742950" indent="-742950">
              <a:buAutoNum type="alphaUcPeriod"/>
            </a:pPr>
            <a:r>
              <a:rPr lang="en-PH" sz="3600" dirty="0"/>
              <a:t>His sisters</a:t>
            </a:r>
          </a:p>
          <a:p>
            <a:pPr marL="0" indent="0">
              <a:buNone/>
            </a:pPr>
            <a:endParaRPr lang="en-PH" sz="3600" dirty="0"/>
          </a:p>
        </p:txBody>
      </p:sp>
    </p:spTree>
    <p:extLst>
      <p:ext uri="{BB962C8B-B14F-4D97-AF65-F5344CB8AC3E}">
        <p14:creationId xmlns:p14="http://schemas.microsoft.com/office/powerpoint/2010/main" val="3073980739"/>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119. Which of the following statements is in accordance with the rules of logic?</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lnSpcReduction="10000"/>
          </a:bodyPr>
          <a:lstStyle/>
          <a:p>
            <a:pPr marL="742950" indent="-742950" algn="just">
              <a:buAutoNum type="alphaUcPeriod"/>
            </a:pPr>
            <a:r>
              <a:rPr lang="en-PH" sz="3600" dirty="0"/>
              <a:t>If “all teachers are honest” is true then, “some teachers are honest” is true</a:t>
            </a:r>
          </a:p>
          <a:p>
            <a:pPr marL="742950" indent="-742950" algn="just">
              <a:buAutoNum type="alphaUcPeriod"/>
            </a:pPr>
            <a:r>
              <a:rPr lang="en-PH" sz="3600" dirty="0"/>
              <a:t>If “all teachers are honest” is false then, “some teachers are liars” is false</a:t>
            </a:r>
          </a:p>
          <a:p>
            <a:pPr marL="742950" indent="-742950" algn="just">
              <a:buAutoNum type="alphaUcPeriod"/>
            </a:pPr>
            <a:r>
              <a:rPr lang="en-PH" sz="3600" dirty="0"/>
              <a:t>If “all teachers are honest” is true, then, “no teacher is honest” is false</a:t>
            </a:r>
          </a:p>
          <a:p>
            <a:pPr marL="742950" indent="-742950" algn="just">
              <a:buAutoNum type="alphaUcPeriod"/>
            </a:pPr>
            <a:r>
              <a:rPr lang="en-PH" sz="3600" dirty="0"/>
              <a:t>If “some teachers are honest” is true then, “some teachers are liars” is false</a:t>
            </a:r>
          </a:p>
        </p:txBody>
      </p:sp>
    </p:spTree>
    <p:extLst>
      <p:ext uri="{BB962C8B-B14F-4D97-AF65-F5344CB8AC3E}">
        <p14:creationId xmlns:p14="http://schemas.microsoft.com/office/powerpoint/2010/main" val="295692698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119. Which of the following statements is in accordance with the rules of logic?</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lnSpcReduction="10000"/>
          </a:bodyPr>
          <a:lstStyle/>
          <a:p>
            <a:pPr marL="742950" indent="-742950" algn="just">
              <a:buAutoNum type="alphaUcPeriod"/>
            </a:pPr>
            <a:r>
              <a:rPr lang="en-PH" sz="3600" dirty="0"/>
              <a:t>If “all teachers are honest” is true then, “some teachers are honest” is true</a:t>
            </a:r>
          </a:p>
          <a:p>
            <a:pPr marL="742950" indent="-742950" algn="just">
              <a:buAutoNum type="alphaUcPeriod"/>
            </a:pPr>
            <a:r>
              <a:rPr lang="en-PH" sz="3600" dirty="0">
                <a:solidFill>
                  <a:srgbClr val="FF0000"/>
                </a:solidFill>
              </a:rPr>
              <a:t>If “all teachers are honest” is false then, “some teachers are liars” is false</a:t>
            </a:r>
          </a:p>
          <a:p>
            <a:pPr marL="742950" indent="-742950" algn="just">
              <a:buAutoNum type="alphaUcPeriod"/>
            </a:pPr>
            <a:r>
              <a:rPr lang="en-PH" sz="3600" dirty="0"/>
              <a:t>If “all teachers are honest” is true, then, “no teacher is honest” is false</a:t>
            </a:r>
          </a:p>
          <a:p>
            <a:pPr marL="742950" indent="-742950" algn="just">
              <a:buAutoNum type="alphaUcPeriod"/>
            </a:pPr>
            <a:r>
              <a:rPr lang="en-PH" sz="3600" dirty="0"/>
              <a:t>If “some teachers are honest” is true then, “some teachers are liars” is false</a:t>
            </a:r>
          </a:p>
        </p:txBody>
      </p:sp>
    </p:spTree>
    <p:extLst>
      <p:ext uri="{BB962C8B-B14F-4D97-AF65-F5344CB8AC3E}">
        <p14:creationId xmlns:p14="http://schemas.microsoft.com/office/powerpoint/2010/main" val="301629474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120. What holds true in a progressive system of taxation?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The rate of tax increases as the income base or income bracket increases</a:t>
            </a:r>
          </a:p>
          <a:p>
            <a:pPr marL="742950" indent="-742950" algn="just">
              <a:buAutoNum type="alphaUcPeriod"/>
            </a:pPr>
            <a:r>
              <a:rPr lang="en-PH" sz="3600" dirty="0"/>
              <a:t>The rate of tax increases as the income base decreases</a:t>
            </a:r>
          </a:p>
          <a:p>
            <a:pPr marL="742950" indent="-742950" algn="just">
              <a:buAutoNum type="alphaUcPeriod"/>
            </a:pPr>
            <a:r>
              <a:rPr lang="en-PH" sz="3600" dirty="0"/>
              <a:t>The rate of tax increase as the income base decrease</a:t>
            </a:r>
          </a:p>
          <a:p>
            <a:pPr marL="742950" indent="-742950" algn="just">
              <a:buAutoNum type="alphaUcPeriod"/>
            </a:pPr>
            <a:r>
              <a:rPr lang="en-PH" sz="3600" dirty="0"/>
              <a:t>The tax is equal regardless of class and place</a:t>
            </a:r>
          </a:p>
        </p:txBody>
      </p:sp>
    </p:spTree>
    <p:extLst>
      <p:ext uri="{BB962C8B-B14F-4D97-AF65-F5344CB8AC3E}">
        <p14:creationId xmlns:p14="http://schemas.microsoft.com/office/powerpoint/2010/main" val="322360955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120. What holds true in a progressive system of taxation?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solidFill>
                  <a:srgbClr val="FF0000"/>
                </a:solidFill>
              </a:rPr>
              <a:t>The rate of tax increases as the income base or income bracket increases</a:t>
            </a:r>
          </a:p>
          <a:p>
            <a:pPr marL="742950" indent="-742950" algn="just">
              <a:buAutoNum type="alphaUcPeriod"/>
            </a:pPr>
            <a:r>
              <a:rPr lang="en-PH" sz="3600" dirty="0"/>
              <a:t>The rate of tax increases as the income base decreases</a:t>
            </a:r>
          </a:p>
          <a:p>
            <a:pPr marL="742950" indent="-742950" algn="just">
              <a:buAutoNum type="alphaUcPeriod"/>
            </a:pPr>
            <a:r>
              <a:rPr lang="en-PH" sz="3600" dirty="0"/>
              <a:t>The rate of tax increase as the income base decrease</a:t>
            </a:r>
          </a:p>
          <a:p>
            <a:pPr marL="742950" indent="-742950" algn="just">
              <a:buAutoNum type="alphaUcPeriod"/>
            </a:pPr>
            <a:r>
              <a:rPr lang="en-PH" sz="3600" dirty="0"/>
              <a:t>The tax is equal regardless of class and place</a:t>
            </a:r>
          </a:p>
        </p:txBody>
      </p:sp>
    </p:spTree>
    <p:extLst>
      <p:ext uri="{BB962C8B-B14F-4D97-AF65-F5344CB8AC3E}">
        <p14:creationId xmlns:p14="http://schemas.microsoft.com/office/powerpoint/2010/main" val="164827667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121. The process by which dominant societies can shape the culture of less powerful societies is called _____________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buAutoNum type="alphaUcPeriod"/>
            </a:pPr>
            <a:r>
              <a:rPr lang="en-PH" sz="3600" dirty="0"/>
              <a:t>Acculturation</a:t>
            </a:r>
          </a:p>
          <a:p>
            <a:pPr marL="742950" indent="-742950">
              <a:buAutoNum type="alphaUcPeriod"/>
            </a:pPr>
            <a:r>
              <a:rPr lang="en-PH" sz="3600" dirty="0"/>
              <a:t>Enculturation</a:t>
            </a:r>
          </a:p>
          <a:p>
            <a:pPr marL="742950" indent="-742950">
              <a:buAutoNum type="alphaUcPeriod"/>
            </a:pPr>
            <a:r>
              <a:rPr lang="en-PH" sz="3600" dirty="0"/>
              <a:t>Cultural hegemony</a:t>
            </a:r>
          </a:p>
          <a:p>
            <a:pPr marL="742950" indent="-742950">
              <a:buAutoNum type="alphaUcPeriod"/>
            </a:pPr>
            <a:r>
              <a:rPr lang="en-PH" sz="3600" dirty="0"/>
              <a:t>Multiculturalism </a:t>
            </a:r>
          </a:p>
        </p:txBody>
      </p:sp>
    </p:spTree>
    <p:extLst>
      <p:ext uri="{BB962C8B-B14F-4D97-AF65-F5344CB8AC3E}">
        <p14:creationId xmlns:p14="http://schemas.microsoft.com/office/powerpoint/2010/main" val="297739543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121. The process by which dominant societies can shape the culture of less powerful societies is called _____________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buAutoNum type="alphaUcPeriod"/>
            </a:pPr>
            <a:r>
              <a:rPr lang="en-PH" sz="3600" dirty="0"/>
              <a:t>Acculturation</a:t>
            </a:r>
          </a:p>
          <a:p>
            <a:pPr marL="742950" indent="-742950">
              <a:buAutoNum type="alphaUcPeriod"/>
            </a:pPr>
            <a:r>
              <a:rPr lang="en-PH" sz="3600" dirty="0">
                <a:solidFill>
                  <a:srgbClr val="FF0000"/>
                </a:solidFill>
              </a:rPr>
              <a:t>Enculturation</a:t>
            </a:r>
          </a:p>
          <a:p>
            <a:pPr marL="742950" indent="-742950">
              <a:buAutoNum type="alphaUcPeriod"/>
            </a:pPr>
            <a:r>
              <a:rPr lang="en-PH" sz="3600" dirty="0"/>
              <a:t>Cultural hegemony</a:t>
            </a:r>
          </a:p>
          <a:p>
            <a:pPr marL="742950" indent="-742950">
              <a:buAutoNum type="alphaUcPeriod"/>
            </a:pPr>
            <a:r>
              <a:rPr lang="en-PH" sz="3600" dirty="0"/>
              <a:t>Multiculturalism </a:t>
            </a:r>
          </a:p>
        </p:txBody>
      </p:sp>
    </p:spTree>
    <p:extLst>
      <p:ext uri="{BB962C8B-B14F-4D97-AF65-F5344CB8AC3E}">
        <p14:creationId xmlns:p14="http://schemas.microsoft.com/office/powerpoint/2010/main" val="33698397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122. Which part of Asia does the Arabian Peninsula occupy?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Southeast</a:t>
            </a:r>
          </a:p>
          <a:p>
            <a:pPr marL="742950" indent="-742950">
              <a:buAutoNum type="alphaUcPeriod"/>
            </a:pPr>
            <a:r>
              <a:rPr lang="en-PH" sz="3600" dirty="0"/>
              <a:t>Northwest</a:t>
            </a:r>
          </a:p>
          <a:p>
            <a:pPr marL="742950" indent="-742950">
              <a:buAutoNum type="alphaUcPeriod"/>
            </a:pPr>
            <a:r>
              <a:rPr lang="en-PH" sz="3600" dirty="0"/>
              <a:t>Northeast</a:t>
            </a:r>
          </a:p>
          <a:p>
            <a:pPr marL="742950" indent="-742950">
              <a:buAutoNum type="alphaUcPeriod"/>
            </a:pPr>
            <a:r>
              <a:rPr lang="en-PH" sz="3600" dirty="0"/>
              <a:t>Southwest</a:t>
            </a:r>
          </a:p>
          <a:p>
            <a:pPr marL="0" indent="0">
              <a:buNone/>
            </a:pPr>
            <a:endParaRPr lang="en-PH" sz="3600" dirty="0"/>
          </a:p>
        </p:txBody>
      </p:sp>
    </p:spTree>
    <p:extLst>
      <p:ext uri="{BB962C8B-B14F-4D97-AF65-F5344CB8AC3E}">
        <p14:creationId xmlns:p14="http://schemas.microsoft.com/office/powerpoint/2010/main" val="2137083282"/>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122. Which part of Asia does the Arabian Peninsula occupy?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Southeast</a:t>
            </a:r>
          </a:p>
          <a:p>
            <a:pPr marL="742950" indent="-742950">
              <a:buAutoNum type="alphaUcPeriod"/>
            </a:pPr>
            <a:r>
              <a:rPr lang="en-PH" sz="3600" dirty="0"/>
              <a:t>Northwest</a:t>
            </a:r>
          </a:p>
          <a:p>
            <a:pPr marL="742950" indent="-742950">
              <a:buAutoNum type="alphaUcPeriod"/>
            </a:pPr>
            <a:r>
              <a:rPr lang="en-PH" sz="3600" dirty="0"/>
              <a:t>Northeast</a:t>
            </a:r>
          </a:p>
          <a:p>
            <a:pPr marL="742950" indent="-742950">
              <a:buAutoNum type="alphaUcPeriod"/>
            </a:pPr>
            <a:r>
              <a:rPr lang="en-PH" sz="3600" dirty="0">
                <a:solidFill>
                  <a:srgbClr val="FF0000"/>
                </a:solidFill>
              </a:rPr>
              <a:t>Southwest</a:t>
            </a:r>
          </a:p>
          <a:p>
            <a:pPr marL="0" indent="0">
              <a:buNone/>
            </a:pPr>
            <a:endParaRPr lang="en-PH" sz="3600" dirty="0"/>
          </a:p>
        </p:txBody>
      </p:sp>
    </p:spTree>
    <p:extLst>
      <p:ext uri="{BB962C8B-B14F-4D97-AF65-F5344CB8AC3E}">
        <p14:creationId xmlns:p14="http://schemas.microsoft.com/office/powerpoint/2010/main" val="3320362023"/>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123. In the construct of “smooth interpersonal relations” (SIR) proposed by Lynch how is SIR acquired?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4099267"/>
            <a:ext cx="10515600" cy="4351338"/>
          </a:xfrm>
        </p:spPr>
        <p:txBody>
          <a:bodyPr>
            <a:normAutofit/>
          </a:bodyPr>
          <a:lstStyle/>
          <a:p>
            <a:pPr marL="742950" indent="-742950">
              <a:buAutoNum type="alphaUcPeriod"/>
            </a:pPr>
            <a:r>
              <a:rPr lang="en-PH" sz="3600" dirty="0"/>
              <a:t>III</a:t>
            </a:r>
          </a:p>
          <a:p>
            <a:pPr marL="742950" indent="-742950">
              <a:buAutoNum type="alphaUcPeriod"/>
            </a:pPr>
            <a:r>
              <a:rPr lang="en-PH" sz="3600" dirty="0"/>
              <a:t>I-II-III</a:t>
            </a:r>
          </a:p>
          <a:p>
            <a:pPr marL="742950" indent="-742950">
              <a:buAutoNum type="alphaUcPeriod"/>
            </a:pPr>
            <a:r>
              <a:rPr lang="en-PH" sz="3600" dirty="0"/>
              <a:t>I-II</a:t>
            </a:r>
          </a:p>
          <a:p>
            <a:pPr marL="742950" indent="-742950">
              <a:buAutoNum type="alphaUcPeriod"/>
            </a:pPr>
            <a:r>
              <a:rPr lang="en-PH" sz="3600" dirty="0"/>
              <a:t>II-III</a:t>
            </a:r>
          </a:p>
        </p:txBody>
      </p:sp>
      <p:sp>
        <p:nvSpPr>
          <p:cNvPr id="4" name="Content Placeholder 2">
            <a:extLst>
              <a:ext uri="{FF2B5EF4-FFF2-40B4-BE49-F238E27FC236}">
                <a16:creationId xmlns:a16="http://schemas.microsoft.com/office/drawing/2014/main" id="{18BAB0E7-3411-43D2-AC15-35163B24C4BE}"/>
              </a:ext>
            </a:extLst>
          </p:cNvPr>
          <p:cNvSpPr txBox="1">
            <a:spLocks/>
          </p:cNvSpPr>
          <p:nvPr/>
        </p:nvSpPr>
        <p:spPr>
          <a:xfrm>
            <a:off x="838200" y="192359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0" indent="-857250">
              <a:buAutoNum type="romanUcPeriod"/>
            </a:pPr>
            <a:r>
              <a:rPr lang="en-PH" sz="3600" dirty="0" err="1"/>
              <a:t>Pakikisama</a:t>
            </a:r>
            <a:endParaRPr lang="en-PH" sz="3600" dirty="0"/>
          </a:p>
          <a:p>
            <a:pPr marL="857250" indent="-857250">
              <a:buAutoNum type="romanUcPeriod"/>
            </a:pPr>
            <a:r>
              <a:rPr lang="en-PH" sz="3600" dirty="0"/>
              <a:t>Euphemism</a:t>
            </a:r>
          </a:p>
          <a:p>
            <a:pPr marL="857250" indent="-857250">
              <a:buAutoNum type="romanUcPeriod"/>
            </a:pPr>
            <a:r>
              <a:rPr lang="en-PH" sz="3600" dirty="0"/>
              <a:t>Use of a go-between</a:t>
            </a:r>
          </a:p>
        </p:txBody>
      </p:sp>
    </p:spTree>
    <p:extLst>
      <p:ext uri="{BB962C8B-B14F-4D97-AF65-F5344CB8AC3E}">
        <p14:creationId xmlns:p14="http://schemas.microsoft.com/office/powerpoint/2010/main" val="277676393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123. In the construct of “smooth interpersonal relations” (SIR) proposed by Lynch how is SIR acquired?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4099267"/>
            <a:ext cx="10515600" cy="4351338"/>
          </a:xfrm>
        </p:spPr>
        <p:txBody>
          <a:bodyPr>
            <a:normAutofit/>
          </a:bodyPr>
          <a:lstStyle/>
          <a:p>
            <a:pPr marL="742950" indent="-742950">
              <a:buAutoNum type="alphaUcPeriod"/>
            </a:pPr>
            <a:r>
              <a:rPr lang="en-PH" sz="3600" dirty="0"/>
              <a:t>III</a:t>
            </a:r>
          </a:p>
          <a:p>
            <a:pPr marL="742950" indent="-742950">
              <a:buAutoNum type="alphaUcPeriod"/>
            </a:pPr>
            <a:r>
              <a:rPr lang="en-PH" sz="3600" dirty="0"/>
              <a:t>I-II-III</a:t>
            </a:r>
          </a:p>
          <a:p>
            <a:pPr marL="742950" indent="-742950">
              <a:buAutoNum type="alphaUcPeriod"/>
            </a:pPr>
            <a:r>
              <a:rPr lang="en-PH" sz="3600" dirty="0">
                <a:solidFill>
                  <a:srgbClr val="FF0000"/>
                </a:solidFill>
              </a:rPr>
              <a:t>I-II</a:t>
            </a:r>
          </a:p>
          <a:p>
            <a:pPr marL="742950" indent="-742950">
              <a:buAutoNum type="alphaUcPeriod"/>
            </a:pPr>
            <a:r>
              <a:rPr lang="en-PH" sz="3600" dirty="0"/>
              <a:t>II-III</a:t>
            </a:r>
          </a:p>
        </p:txBody>
      </p:sp>
      <p:sp>
        <p:nvSpPr>
          <p:cNvPr id="4" name="Content Placeholder 2">
            <a:extLst>
              <a:ext uri="{FF2B5EF4-FFF2-40B4-BE49-F238E27FC236}">
                <a16:creationId xmlns:a16="http://schemas.microsoft.com/office/drawing/2014/main" id="{18BAB0E7-3411-43D2-AC15-35163B24C4BE}"/>
              </a:ext>
            </a:extLst>
          </p:cNvPr>
          <p:cNvSpPr txBox="1">
            <a:spLocks/>
          </p:cNvSpPr>
          <p:nvPr/>
        </p:nvSpPr>
        <p:spPr>
          <a:xfrm>
            <a:off x="838200" y="192359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250" indent="-857250">
              <a:buAutoNum type="romanUcPeriod"/>
            </a:pPr>
            <a:r>
              <a:rPr lang="en-PH" sz="3600" dirty="0" err="1"/>
              <a:t>Pakikisama</a:t>
            </a:r>
            <a:endParaRPr lang="en-PH" sz="3600" dirty="0"/>
          </a:p>
          <a:p>
            <a:pPr marL="857250" indent="-857250">
              <a:buAutoNum type="romanUcPeriod"/>
            </a:pPr>
            <a:r>
              <a:rPr lang="en-PH" sz="3600" dirty="0"/>
              <a:t>Euphemism</a:t>
            </a:r>
          </a:p>
          <a:p>
            <a:pPr marL="857250" indent="-857250">
              <a:buAutoNum type="romanUcPeriod"/>
            </a:pPr>
            <a:r>
              <a:rPr lang="en-PH" sz="3600" dirty="0"/>
              <a:t>Use of a go-between</a:t>
            </a:r>
          </a:p>
        </p:txBody>
      </p:sp>
    </p:spTree>
    <p:extLst>
      <p:ext uri="{BB962C8B-B14F-4D97-AF65-F5344CB8AC3E}">
        <p14:creationId xmlns:p14="http://schemas.microsoft.com/office/powerpoint/2010/main" val="289967142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124. While Rizal was in exile he made his love for his countrymen visible. Which one did NOT do?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He devoted a part of his time at farming and taught his pupils better methods of agriculture</a:t>
            </a:r>
          </a:p>
          <a:p>
            <a:pPr marL="742950" indent="-742950" algn="just">
              <a:buAutoNum type="alphaUcPeriod"/>
            </a:pPr>
            <a:r>
              <a:rPr lang="en-PH" sz="3600" dirty="0"/>
              <a:t>He built a clinic where he attended to his patients</a:t>
            </a:r>
          </a:p>
          <a:p>
            <a:pPr marL="742950" indent="-742950" algn="just">
              <a:buAutoNum type="alphaUcPeriod"/>
            </a:pPr>
            <a:r>
              <a:rPr lang="en-PH" sz="3600" dirty="0"/>
              <a:t>He built a school where he held academic sessions with his pupils</a:t>
            </a:r>
          </a:p>
          <a:p>
            <a:pPr marL="742950" indent="-742950" algn="just">
              <a:buAutoNum type="alphaUcPeriod"/>
            </a:pPr>
            <a:r>
              <a:rPr lang="en-PH" sz="3600" dirty="0"/>
              <a:t>He rendered free medical services to his poor and wealthy patients</a:t>
            </a:r>
          </a:p>
          <a:p>
            <a:pPr marL="0" indent="0" algn="just">
              <a:buNone/>
            </a:pPr>
            <a:endParaRPr lang="en-PH" sz="3600" dirty="0"/>
          </a:p>
        </p:txBody>
      </p:sp>
    </p:spTree>
    <p:extLst>
      <p:ext uri="{BB962C8B-B14F-4D97-AF65-F5344CB8AC3E}">
        <p14:creationId xmlns:p14="http://schemas.microsoft.com/office/powerpoint/2010/main" val="462221050"/>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124. While Rizal was in exile he made his love for his countrymen visible. Which one did NOT do?</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He devoted a part of his time at farming and taught his pupils better methods of agriculture</a:t>
            </a:r>
          </a:p>
          <a:p>
            <a:pPr marL="742950" indent="-742950" algn="just">
              <a:buAutoNum type="alphaUcPeriod"/>
            </a:pPr>
            <a:r>
              <a:rPr lang="en-PH" sz="3600" dirty="0">
                <a:solidFill>
                  <a:srgbClr val="FF0000"/>
                </a:solidFill>
              </a:rPr>
              <a:t>He built a clinic where he attended to his patients</a:t>
            </a:r>
          </a:p>
          <a:p>
            <a:pPr marL="742950" indent="-742950" algn="just">
              <a:buAutoNum type="alphaUcPeriod"/>
            </a:pPr>
            <a:r>
              <a:rPr lang="en-PH" sz="3600" dirty="0"/>
              <a:t>He built a school where he held academic sessions with his pupils</a:t>
            </a:r>
          </a:p>
          <a:p>
            <a:pPr marL="742950" indent="-742950" algn="just">
              <a:buAutoNum type="alphaUcPeriod"/>
            </a:pPr>
            <a:r>
              <a:rPr lang="en-PH" sz="3600" dirty="0"/>
              <a:t>He rendered free medical services to his poor and wealthy patients</a:t>
            </a:r>
          </a:p>
          <a:p>
            <a:pPr marL="0" indent="0" algn="just">
              <a:buNone/>
            </a:pPr>
            <a:endParaRPr lang="en-PH" sz="3600" dirty="0"/>
          </a:p>
        </p:txBody>
      </p:sp>
    </p:spTree>
    <p:extLst>
      <p:ext uri="{BB962C8B-B14F-4D97-AF65-F5344CB8AC3E}">
        <p14:creationId xmlns:p14="http://schemas.microsoft.com/office/powerpoint/2010/main" val="4242499430"/>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125. Which is form of mixed economies?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Capitalism</a:t>
            </a:r>
          </a:p>
          <a:p>
            <a:pPr marL="742950" indent="-742950">
              <a:buAutoNum type="alphaUcPeriod"/>
            </a:pPr>
            <a:r>
              <a:rPr lang="en-PH" sz="3600" dirty="0"/>
              <a:t>Socialism</a:t>
            </a:r>
          </a:p>
          <a:p>
            <a:pPr marL="742950" indent="-742950">
              <a:buAutoNum type="alphaUcPeriod"/>
            </a:pPr>
            <a:r>
              <a:rPr lang="en-PH" sz="3600" dirty="0"/>
              <a:t>Communism</a:t>
            </a:r>
          </a:p>
          <a:p>
            <a:pPr marL="742950" indent="-742950">
              <a:buAutoNum type="alphaUcPeriod"/>
            </a:pPr>
            <a:r>
              <a:rPr lang="en-PH" sz="3600" dirty="0"/>
              <a:t>Free enterprise</a:t>
            </a:r>
          </a:p>
        </p:txBody>
      </p:sp>
    </p:spTree>
    <p:extLst>
      <p:ext uri="{BB962C8B-B14F-4D97-AF65-F5344CB8AC3E}">
        <p14:creationId xmlns:p14="http://schemas.microsoft.com/office/powerpoint/2010/main" val="3324303941"/>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125. Which is form of mixed economies?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Capitalism</a:t>
            </a:r>
          </a:p>
          <a:p>
            <a:pPr marL="742950" indent="-742950">
              <a:buAutoNum type="alphaUcPeriod"/>
            </a:pPr>
            <a:r>
              <a:rPr lang="en-PH" sz="3600" dirty="0"/>
              <a:t>Socialism</a:t>
            </a:r>
          </a:p>
          <a:p>
            <a:pPr marL="742950" indent="-742950">
              <a:buAutoNum type="alphaUcPeriod"/>
            </a:pPr>
            <a:r>
              <a:rPr lang="en-PH" sz="3600" dirty="0"/>
              <a:t>Communism</a:t>
            </a:r>
          </a:p>
          <a:p>
            <a:pPr marL="742950" indent="-742950">
              <a:buAutoNum type="alphaUcPeriod"/>
            </a:pPr>
            <a:r>
              <a:rPr lang="en-PH" sz="3600" dirty="0">
                <a:solidFill>
                  <a:srgbClr val="FF0000"/>
                </a:solidFill>
              </a:rPr>
              <a:t>Free enterprise</a:t>
            </a:r>
          </a:p>
        </p:txBody>
      </p:sp>
    </p:spTree>
    <p:extLst>
      <p:ext uri="{BB962C8B-B14F-4D97-AF65-F5344CB8AC3E}">
        <p14:creationId xmlns:p14="http://schemas.microsoft.com/office/powerpoint/2010/main" val="294554234"/>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126. The right to form a family is an example of a/an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Imperfect right</a:t>
            </a:r>
          </a:p>
          <a:p>
            <a:pPr marL="742950" indent="-742950">
              <a:buAutoNum type="alphaUcPeriod"/>
            </a:pPr>
            <a:r>
              <a:rPr lang="en-PH" sz="3600" dirty="0"/>
              <a:t>Alienable right</a:t>
            </a:r>
          </a:p>
          <a:p>
            <a:pPr marL="742950" indent="-742950">
              <a:buAutoNum type="alphaUcPeriod"/>
            </a:pPr>
            <a:r>
              <a:rPr lang="en-PH" sz="3600" dirty="0"/>
              <a:t>Inalienable right</a:t>
            </a:r>
          </a:p>
          <a:p>
            <a:pPr marL="742950" indent="-742950">
              <a:buAutoNum type="alphaUcPeriod"/>
            </a:pPr>
            <a:r>
              <a:rPr lang="en-PH" sz="3600" dirty="0"/>
              <a:t>Perfect right</a:t>
            </a:r>
          </a:p>
        </p:txBody>
      </p:sp>
    </p:spTree>
    <p:extLst>
      <p:ext uri="{BB962C8B-B14F-4D97-AF65-F5344CB8AC3E}">
        <p14:creationId xmlns:p14="http://schemas.microsoft.com/office/powerpoint/2010/main" val="2504949423"/>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126. The right to form a family is an example of a/an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Imperfect right</a:t>
            </a:r>
          </a:p>
          <a:p>
            <a:pPr marL="742950" indent="-742950">
              <a:buAutoNum type="alphaUcPeriod"/>
            </a:pPr>
            <a:r>
              <a:rPr lang="en-PH" sz="3600" dirty="0"/>
              <a:t>Alienable right</a:t>
            </a:r>
          </a:p>
          <a:p>
            <a:pPr marL="742950" indent="-742950">
              <a:buAutoNum type="alphaUcPeriod"/>
            </a:pPr>
            <a:r>
              <a:rPr lang="en-PH" sz="3600" dirty="0">
                <a:solidFill>
                  <a:srgbClr val="FF0000"/>
                </a:solidFill>
              </a:rPr>
              <a:t>Inalienable right</a:t>
            </a:r>
          </a:p>
          <a:p>
            <a:pPr marL="742950" indent="-742950">
              <a:buAutoNum type="alphaUcPeriod"/>
            </a:pPr>
            <a:r>
              <a:rPr lang="en-PH" sz="3600" dirty="0"/>
              <a:t>Perfect right</a:t>
            </a:r>
          </a:p>
        </p:txBody>
      </p:sp>
    </p:spTree>
    <p:extLst>
      <p:ext uri="{BB962C8B-B14F-4D97-AF65-F5344CB8AC3E}">
        <p14:creationId xmlns:p14="http://schemas.microsoft.com/office/powerpoint/2010/main" val="395008418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127. Which region is considered the center of cultural and commercial life in the country?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National Capital Region</a:t>
            </a:r>
          </a:p>
          <a:p>
            <a:pPr marL="742950" indent="-742950">
              <a:buAutoNum type="alphaUcPeriod"/>
            </a:pPr>
            <a:r>
              <a:rPr lang="en-PH" sz="3600" dirty="0"/>
              <a:t>Bicol Region</a:t>
            </a:r>
          </a:p>
          <a:p>
            <a:pPr marL="742950" indent="-742950">
              <a:buAutoNum type="alphaUcPeriod"/>
            </a:pPr>
            <a:r>
              <a:rPr lang="en-PH" sz="3600" dirty="0"/>
              <a:t>Mindanao Region</a:t>
            </a:r>
          </a:p>
          <a:p>
            <a:pPr marL="742950" indent="-742950">
              <a:buAutoNum type="alphaUcPeriod"/>
            </a:pPr>
            <a:r>
              <a:rPr lang="en-PH" sz="3600" dirty="0"/>
              <a:t>Visayan Region</a:t>
            </a:r>
          </a:p>
        </p:txBody>
      </p:sp>
    </p:spTree>
    <p:extLst>
      <p:ext uri="{BB962C8B-B14F-4D97-AF65-F5344CB8AC3E}">
        <p14:creationId xmlns:p14="http://schemas.microsoft.com/office/powerpoint/2010/main" val="5818126"/>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127. Which region is considered the center of cultural and commercial life in the country?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National Capital Region</a:t>
            </a:r>
          </a:p>
          <a:p>
            <a:pPr marL="742950" indent="-742950">
              <a:buAutoNum type="alphaUcPeriod"/>
            </a:pPr>
            <a:r>
              <a:rPr lang="en-PH" sz="3600" dirty="0"/>
              <a:t>Bicol Region</a:t>
            </a:r>
          </a:p>
          <a:p>
            <a:pPr marL="742950" indent="-742950">
              <a:buAutoNum type="alphaUcPeriod"/>
            </a:pPr>
            <a:r>
              <a:rPr lang="en-PH" sz="3600" dirty="0"/>
              <a:t>Mindanao Region</a:t>
            </a:r>
          </a:p>
          <a:p>
            <a:pPr marL="742950" indent="-742950">
              <a:buAutoNum type="alphaUcPeriod"/>
            </a:pPr>
            <a:r>
              <a:rPr lang="en-PH" sz="3600" dirty="0"/>
              <a:t>Visayan Region</a:t>
            </a:r>
          </a:p>
        </p:txBody>
      </p:sp>
    </p:spTree>
    <p:extLst>
      <p:ext uri="{BB962C8B-B14F-4D97-AF65-F5344CB8AC3E}">
        <p14:creationId xmlns:p14="http://schemas.microsoft.com/office/powerpoint/2010/main" val="3628840598"/>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128. Against which one has the world declared war, with U.S.A. leading?</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Against Ebola</a:t>
            </a:r>
          </a:p>
          <a:p>
            <a:pPr marL="742950" indent="-742950">
              <a:buAutoNum type="alphaUcPeriod"/>
            </a:pPr>
            <a:r>
              <a:rPr lang="en-PH" sz="3600" dirty="0"/>
              <a:t>Against Aids</a:t>
            </a:r>
          </a:p>
          <a:p>
            <a:pPr marL="742950" indent="-742950">
              <a:buAutoNum type="alphaUcPeriod"/>
            </a:pPr>
            <a:r>
              <a:rPr lang="en-PH" sz="3600" dirty="0"/>
              <a:t>Against terrorism</a:t>
            </a:r>
          </a:p>
          <a:p>
            <a:pPr marL="742950" indent="-742950">
              <a:buAutoNum type="alphaUcPeriod"/>
            </a:pPr>
            <a:r>
              <a:rPr lang="en-PH" sz="3600" dirty="0"/>
              <a:t>Against SA</a:t>
            </a:r>
          </a:p>
        </p:txBody>
      </p:sp>
    </p:spTree>
    <p:extLst>
      <p:ext uri="{BB962C8B-B14F-4D97-AF65-F5344CB8AC3E}">
        <p14:creationId xmlns:p14="http://schemas.microsoft.com/office/powerpoint/2010/main" val="3737299813"/>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128. Against which one has the world declared war, with U.S.A. leading?</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Against Ebola</a:t>
            </a:r>
          </a:p>
          <a:p>
            <a:pPr marL="742950" indent="-742950">
              <a:buAutoNum type="alphaUcPeriod"/>
            </a:pPr>
            <a:r>
              <a:rPr lang="en-PH" sz="3600" dirty="0"/>
              <a:t>Against Aids</a:t>
            </a:r>
          </a:p>
          <a:p>
            <a:pPr marL="742950" indent="-742950">
              <a:buAutoNum type="alphaUcPeriod"/>
            </a:pPr>
            <a:r>
              <a:rPr lang="en-PH" sz="3600" dirty="0">
                <a:solidFill>
                  <a:srgbClr val="FF0000"/>
                </a:solidFill>
              </a:rPr>
              <a:t>Against terrorism</a:t>
            </a:r>
          </a:p>
          <a:p>
            <a:pPr marL="742950" indent="-742950">
              <a:buAutoNum type="alphaUcPeriod"/>
            </a:pPr>
            <a:r>
              <a:rPr lang="en-PH" sz="3600" dirty="0"/>
              <a:t>Against SA</a:t>
            </a:r>
          </a:p>
        </p:txBody>
      </p:sp>
    </p:spTree>
    <p:extLst>
      <p:ext uri="{BB962C8B-B14F-4D97-AF65-F5344CB8AC3E}">
        <p14:creationId xmlns:p14="http://schemas.microsoft.com/office/powerpoint/2010/main" val="306334916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129. Which is the overriding aim of the constitutional mandate on social justice?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To work for social equality</a:t>
            </a:r>
          </a:p>
          <a:p>
            <a:pPr marL="742950" indent="-742950" algn="just">
              <a:buAutoNum type="alphaUcPeriod"/>
            </a:pPr>
            <a:r>
              <a:rPr lang="en-PH" sz="3600" dirty="0"/>
              <a:t>To authorize the taking of what is in excess of one’s personal needs and the giving it to another</a:t>
            </a:r>
          </a:p>
          <a:p>
            <a:pPr marL="742950" indent="-742950" algn="just">
              <a:buAutoNum type="alphaUcPeriod"/>
            </a:pPr>
            <a:r>
              <a:rPr lang="en-PH" sz="3600" dirty="0"/>
              <a:t>To bridge the gap between rich and poor</a:t>
            </a:r>
          </a:p>
          <a:p>
            <a:pPr marL="742950" indent="-742950" algn="just">
              <a:buAutoNum type="alphaUcPeriod"/>
            </a:pPr>
            <a:r>
              <a:rPr lang="en-PH" sz="3600" dirty="0"/>
              <a:t>To protect a squatter in the possession of the premises occupied by him because he is poor</a:t>
            </a:r>
          </a:p>
        </p:txBody>
      </p:sp>
    </p:spTree>
    <p:extLst>
      <p:ext uri="{BB962C8B-B14F-4D97-AF65-F5344CB8AC3E}">
        <p14:creationId xmlns:p14="http://schemas.microsoft.com/office/powerpoint/2010/main" val="2281869305"/>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129. Which is the overriding aim of the constitutional mandate on social justice?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solidFill>
                  <a:srgbClr val="FF0000"/>
                </a:solidFill>
              </a:rPr>
              <a:t>To work for social equality</a:t>
            </a:r>
          </a:p>
          <a:p>
            <a:pPr marL="742950" indent="-742950" algn="just">
              <a:buAutoNum type="alphaUcPeriod"/>
            </a:pPr>
            <a:r>
              <a:rPr lang="en-PH" sz="3600" dirty="0"/>
              <a:t>To authorize the taking of what is in excess of one’s personal needs and the giving it to another</a:t>
            </a:r>
          </a:p>
          <a:p>
            <a:pPr marL="742950" indent="-742950" algn="just">
              <a:buAutoNum type="alphaUcPeriod"/>
            </a:pPr>
            <a:r>
              <a:rPr lang="en-PH" sz="3600" dirty="0"/>
              <a:t>To bridge the gap between rich and poor</a:t>
            </a:r>
          </a:p>
          <a:p>
            <a:pPr marL="742950" indent="-742950" algn="just">
              <a:buAutoNum type="alphaUcPeriod"/>
            </a:pPr>
            <a:r>
              <a:rPr lang="en-PH" sz="3600" dirty="0"/>
              <a:t>To protect a squatter in the possession of the premises occupied by him because he is poor</a:t>
            </a:r>
          </a:p>
        </p:txBody>
      </p:sp>
    </p:spTree>
    <p:extLst>
      <p:ext uri="{BB962C8B-B14F-4D97-AF65-F5344CB8AC3E}">
        <p14:creationId xmlns:p14="http://schemas.microsoft.com/office/powerpoint/2010/main" val="1115068683"/>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130. According to a statistical study of tsunamis, which area is most prone to tsunami?</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buAutoNum type="alphaUcPeriod"/>
            </a:pPr>
            <a:r>
              <a:rPr lang="en-PH" sz="3600" dirty="0"/>
              <a:t>The Manila Bay area</a:t>
            </a:r>
          </a:p>
          <a:p>
            <a:pPr marL="742950" indent="-742950">
              <a:buAutoNum type="alphaUcPeriod"/>
            </a:pPr>
            <a:r>
              <a:rPr lang="en-PH" sz="3600" dirty="0"/>
              <a:t>The Babuyan Islands area</a:t>
            </a:r>
          </a:p>
          <a:p>
            <a:pPr marL="742950" indent="-742950">
              <a:buAutoNum type="alphaUcPeriod"/>
            </a:pPr>
            <a:r>
              <a:rPr lang="en-PH" sz="3600" dirty="0"/>
              <a:t>The Moro Gulf area</a:t>
            </a:r>
          </a:p>
          <a:p>
            <a:pPr marL="742950" indent="-742950">
              <a:buAutoNum type="alphaUcPeriod"/>
            </a:pPr>
            <a:r>
              <a:rPr lang="en-PH" sz="3600" dirty="0"/>
              <a:t>The Lingayen Gulf area</a:t>
            </a:r>
          </a:p>
        </p:txBody>
      </p:sp>
    </p:spTree>
    <p:extLst>
      <p:ext uri="{BB962C8B-B14F-4D97-AF65-F5344CB8AC3E}">
        <p14:creationId xmlns:p14="http://schemas.microsoft.com/office/powerpoint/2010/main" val="209110310"/>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130. According to a statistical study of tsunamis, which area is most prone to tsunami?</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buAutoNum type="alphaUcPeriod"/>
            </a:pPr>
            <a:r>
              <a:rPr lang="en-PH" sz="3600" dirty="0"/>
              <a:t>The Manila Bay area</a:t>
            </a:r>
          </a:p>
          <a:p>
            <a:pPr marL="742950" indent="-742950">
              <a:buAutoNum type="alphaUcPeriod"/>
            </a:pPr>
            <a:r>
              <a:rPr lang="en-PH" sz="3600" dirty="0"/>
              <a:t>The Babuyan Islands area</a:t>
            </a:r>
          </a:p>
          <a:p>
            <a:pPr marL="742950" indent="-742950">
              <a:buAutoNum type="alphaUcPeriod"/>
            </a:pPr>
            <a:r>
              <a:rPr lang="en-PH" sz="3600" dirty="0">
                <a:solidFill>
                  <a:srgbClr val="FF0000"/>
                </a:solidFill>
              </a:rPr>
              <a:t>The Moro Gulf area</a:t>
            </a:r>
          </a:p>
          <a:p>
            <a:pPr marL="742950" indent="-742950">
              <a:buAutoNum type="alphaUcPeriod"/>
            </a:pPr>
            <a:r>
              <a:rPr lang="en-PH" sz="3600" dirty="0"/>
              <a:t>The Lingayen Gulf area</a:t>
            </a:r>
          </a:p>
        </p:txBody>
      </p:sp>
    </p:spTree>
    <p:extLst>
      <p:ext uri="{BB962C8B-B14F-4D97-AF65-F5344CB8AC3E}">
        <p14:creationId xmlns:p14="http://schemas.microsoft.com/office/powerpoint/2010/main" val="259886820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131. Which has administrative supervision over all courts and the court personnel?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The Supreme Court</a:t>
            </a:r>
          </a:p>
          <a:p>
            <a:pPr marL="742950" indent="-742950">
              <a:buAutoNum type="alphaUcPeriod"/>
            </a:pPr>
            <a:r>
              <a:rPr lang="en-PH" sz="3600" dirty="0"/>
              <a:t>The Judicial and Bar Council</a:t>
            </a:r>
          </a:p>
          <a:p>
            <a:pPr marL="742950" indent="-742950">
              <a:buAutoNum type="alphaUcPeriod"/>
            </a:pPr>
            <a:r>
              <a:rPr lang="en-PH" sz="3600" dirty="0"/>
              <a:t>The department of Justice</a:t>
            </a:r>
          </a:p>
          <a:p>
            <a:pPr marL="742950" indent="-742950">
              <a:buAutoNum type="alphaUcPeriod"/>
            </a:pPr>
            <a:r>
              <a:rPr lang="en-PH" sz="3600" dirty="0"/>
              <a:t>The Office of the President</a:t>
            </a:r>
          </a:p>
        </p:txBody>
      </p:sp>
    </p:spTree>
    <p:extLst>
      <p:ext uri="{BB962C8B-B14F-4D97-AF65-F5344CB8AC3E}">
        <p14:creationId xmlns:p14="http://schemas.microsoft.com/office/powerpoint/2010/main" val="2716080369"/>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131. Which has administrative supervision over all courts and the court personnel?</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The Supreme Court</a:t>
            </a:r>
          </a:p>
          <a:p>
            <a:pPr marL="742950" indent="-742950">
              <a:buAutoNum type="alphaUcPeriod"/>
            </a:pPr>
            <a:r>
              <a:rPr lang="en-PH" sz="3600" dirty="0"/>
              <a:t>The Judicial and Bar Council</a:t>
            </a:r>
          </a:p>
          <a:p>
            <a:pPr marL="742950" indent="-742950">
              <a:buAutoNum type="alphaUcPeriod"/>
            </a:pPr>
            <a:r>
              <a:rPr lang="en-PH" sz="3600" dirty="0"/>
              <a:t>The department of Justice</a:t>
            </a:r>
          </a:p>
          <a:p>
            <a:pPr marL="742950" indent="-742950">
              <a:buAutoNum type="alphaUcPeriod"/>
            </a:pPr>
            <a:r>
              <a:rPr lang="en-PH" sz="3600" dirty="0"/>
              <a:t>The Office of the President</a:t>
            </a:r>
          </a:p>
        </p:txBody>
      </p:sp>
    </p:spTree>
    <p:extLst>
      <p:ext uri="{BB962C8B-B14F-4D97-AF65-F5344CB8AC3E}">
        <p14:creationId xmlns:p14="http://schemas.microsoft.com/office/powerpoint/2010/main" val="420952003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132. The Philippine Deep is found in the east coasts of</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Panay</a:t>
            </a:r>
          </a:p>
          <a:p>
            <a:pPr marL="742950" indent="-742950">
              <a:buAutoNum type="alphaUcPeriod"/>
            </a:pPr>
            <a:r>
              <a:rPr lang="en-PH" sz="3600" dirty="0"/>
              <a:t>Negros</a:t>
            </a:r>
          </a:p>
          <a:p>
            <a:pPr marL="742950" indent="-742950">
              <a:buAutoNum type="alphaUcPeriod"/>
            </a:pPr>
            <a:r>
              <a:rPr lang="en-PH" sz="3600" dirty="0"/>
              <a:t>Mindanao</a:t>
            </a:r>
          </a:p>
          <a:p>
            <a:pPr marL="742950" indent="-742950">
              <a:buAutoNum type="alphaUcPeriod"/>
            </a:pPr>
            <a:r>
              <a:rPr lang="en-PH" sz="3600" dirty="0"/>
              <a:t>Cebu</a:t>
            </a:r>
          </a:p>
          <a:p>
            <a:pPr marL="0" indent="0">
              <a:buNone/>
            </a:pPr>
            <a:endParaRPr lang="en-PH" sz="3600" dirty="0"/>
          </a:p>
        </p:txBody>
      </p:sp>
    </p:spTree>
    <p:extLst>
      <p:ext uri="{BB962C8B-B14F-4D97-AF65-F5344CB8AC3E}">
        <p14:creationId xmlns:p14="http://schemas.microsoft.com/office/powerpoint/2010/main" val="1426011871"/>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132. The Philippine Deep is found in the east coasts of</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Panay</a:t>
            </a:r>
          </a:p>
          <a:p>
            <a:pPr marL="742950" indent="-742950">
              <a:buAutoNum type="alphaUcPeriod"/>
            </a:pPr>
            <a:r>
              <a:rPr lang="en-PH" sz="3600" dirty="0"/>
              <a:t>Negros</a:t>
            </a:r>
          </a:p>
          <a:p>
            <a:pPr marL="742950" indent="-742950">
              <a:buAutoNum type="alphaUcPeriod"/>
            </a:pPr>
            <a:r>
              <a:rPr lang="en-PH" sz="3600" dirty="0">
                <a:solidFill>
                  <a:srgbClr val="FF0000"/>
                </a:solidFill>
              </a:rPr>
              <a:t>Mindanao</a:t>
            </a:r>
          </a:p>
          <a:p>
            <a:pPr marL="742950" indent="-742950">
              <a:buAutoNum type="alphaUcPeriod"/>
            </a:pPr>
            <a:r>
              <a:rPr lang="en-PH" sz="3600" dirty="0"/>
              <a:t>Cebu</a:t>
            </a:r>
          </a:p>
          <a:p>
            <a:pPr marL="0" indent="0">
              <a:buNone/>
            </a:pPr>
            <a:endParaRPr lang="en-PH" sz="3600" dirty="0"/>
          </a:p>
        </p:txBody>
      </p:sp>
    </p:spTree>
    <p:extLst>
      <p:ext uri="{BB962C8B-B14F-4D97-AF65-F5344CB8AC3E}">
        <p14:creationId xmlns:p14="http://schemas.microsoft.com/office/powerpoint/2010/main" val="238949906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48"/>
            <a:ext cx="10515600" cy="1325563"/>
          </a:xfrm>
        </p:spPr>
        <p:txBody>
          <a:bodyPr>
            <a:noAutofit/>
          </a:bodyPr>
          <a:lstStyle/>
          <a:p>
            <a:pPr algn="just"/>
            <a:r>
              <a:rPr lang="en-PH" dirty="0"/>
              <a:t>133. Who among the following pioneered in the fight for clerical equality and the secularization of the perishes during the Spanish period?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68180"/>
            <a:ext cx="10515600" cy="4351338"/>
          </a:xfrm>
        </p:spPr>
        <p:txBody>
          <a:bodyPr>
            <a:normAutofit/>
          </a:bodyPr>
          <a:lstStyle/>
          <a:p>
            <a:pPr marL="742950" indent="-742950">
              <a:buAutoNum type="alphaUcPeriod"/>
            </a:pPr>
            <a:r>
              <a:rPr lang="en-PH" sz="3600" dirty="0"/>
              <a:t>Father Pedro </a:t>
            </a:r>
            <a:r>
              <a:rPr lang="en-PH" sz="3600" dirty="0" err="1"/>
              <a:t>Pelaez</a:t>
            </a:r>
            <a:endParaRPr lang="en-PH" sz="3600" dirty="0"/>
          </a:p>
          <a:p>
            <a:pPr marL="742950" indent="-742950">
              <a:buAutoNum type="alphaUcPeriod"/>
            </a:pPr>
            <a:r>
              <a:rPr lang="en-PH" sz="3600" dirty="0"/>
              <a:t>Father Mariano Gomez</a:t>
            </a:r>
          </a:p>
          <a:p>
            <a:pPr marL="742950" indent="-742950">
              <a:buAutoNum type="alphaUcPeriod"/>
            </a:pPr>
            <a:r>
              <a:rPr lang="en-PH" sz="3600" dirty="0"/>
              <a:t>Father Jacinto Zamora</a:t>
            </a:r>
          </a:p>
          <a:p>
            <a:pPr marL="742950" indent="-742950">
              <a:buAutoNum type="alphaUcPeriod"/>
            </a:pPr>
            <a:r>
              <a:rPr lang="en-PH" sz="3600" dirty="0"/>
              <a:t>Father Jose Burgos</a:t>
            </a:r>
          </a:p>
        </p:txBody>
      </p:sp>
    </p:spTree>
    <p:extLst>
      <p:ext uri="{BB962C8B-B14F-4D97-AF65-F5344CB8AC3E}">
        <p14:creationId xmlns:p14="http://schemas.microsoft.com/office/powerpoint/2010/main" val="3775602183"/>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12248"/>
            <a:ext cx="10515600" cy="1325563"/>
          </a:xfrm>
        </p:spPr>
        <p:txBody>
          <a:bodyPr>
            <a:noAutofit/>
          </a:bodyPr>
          <a:lstStyle/>
          <a:p>
            <a:pPr algn="just"/>
            <a:r>
              <a:rPr lang="en-PH" dirty="0"/>
              <a:t>133. Who among the following pioneered in the fight for clerical equality and the secularization of the perishes during the Spanish period?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468180"/>
            <a:ext cx="10515600" cy="4351338"/>
          </a:xfrm>
        </p:spPr>
        <p:txBody>
          <a:bodyPr>
            <a:normAutofit/>
          </a:bodyPr>
          <a:lstStyle/>
          <a:p>
            <a:pPr marL="742950" indent="-742950">
              <a:buAutoNum type="alphaUcPeriod"/>
            </a:pPr>
            <a:r>
              <a:rPr lang="en-PH" sz="3600" dirty="0">
                <a:solidFill>
                  <a:srgbClr val="FF0000"/>
                </a:solidFill>
              </a:rPr>
              <a:t>Father Pedro </a:t>
            </a:r>
            <a:r>
              <a:rPr lang="en-PH" sz="3600" dirty="0" err="1">
                <a:solidFill>
                  <a:srgbClr val="FF0000"/>
                </a:solidFill>
              </a:rPr>
              <a:t>Pelaez</a:t>
            </a:r>
            <a:endParaRPr lang="en-PH" sz="3600" dirty="0">
              <a:solidFill>
                <a:srgbClr val="FF0000"/>
              </a:solidFill>
            </a:endParaRPr>
          </a:p>
          <a:p>
            <a:pPr marL="742950" indent="-742950">
              <a:buAutoNum type="alphaUcPeriod"/>
            </a:pPr>
            <a:r>
              <a:rPr lang="en-PH" sz="3600" dirty="0"/>
              <a:t>Father Mariano Gomez</a:t>
            </a:r>
          </a:p>
          <a:p>
            <a:pPr marL="742950" indent="-742950">
              <a:buAutoNum type="alphaUcPeriod"/>
            </a:pPr>
            <a:r>
              <a:rPr lang="en-PH" sz="3600" dirty="0"/>
              <a:t>Father Jacinto Zamora</a:t>
            </a:r>
          </a:p>
          <a:p>
            <a:pPr marL="742950" indent="-742950">
              <a:buAutoNum type="alphaUcPeriod"/>
            </a:pPr>
            <a:r>
              <a:rPr lang="en-PH" sz="3600" dirty="0"/>
              <a:t>Father Jose Burgos</a:t>
            </a:r>
          </a:p>
        </p:txBody>
      </p:sp>
    </p:spTree>
    <p:extLst>
      <p:ext uri="{BB962C8B-B14F-4D97-AF65-F5344CB8AC3E}">
        <p14:creationId xmlns:p14="http://schemas.microsoft.com/office/powerpoint/2010/main" val="3644356565"/>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134. “The lighting war” that Hitler introduced in World War II is called________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Blitzkrieg</a:t>
            </a:r>
          </a:p>
          <a:p>
            <a:pPr marL="742950" indent="-742950">
              <a:buAutoNum type="alphaUcPeriod"/>
            </a:pPr>
            <a:r>
              <a:rPr lang="en-PH" sz="3600" dirty="0" err="1"/>
              <a:t>Schamhorst</a:t>
            </a:r>
            <a:endParaRPr lang="en-PH" sz="3600" dirty="0"/>
          </a:p>
          <a:p>
            <a:pPr marL="742950" indent="-742950">
              <a:buAutoNum type="alphaUcPeriod"/>
            </a:pPr>
            <a:r>
              <a:rPr lang="en-PH" sz="3600" dirty="0"/>
              <a:t>The Great War</a:t>
            </a:r>
          </a:p>
          <a:p>
            <a:pPr marL="742950" indent="-742950">
              <a:buAutoNum type="alphaUcPeriod"/>
            </a:pPr>
            <a:r>
              <a:rPr lang="en-PH" sz="3600" dirty="0"/>
              <a:t>Lebensraum </a:t>
            </a:r>
          </a:p>
        </p:txBody>
      </p:sp>
    </p:spTree>
    <p:extLst>
      <p:ext uri="{BB962C8B-B14F-4D97-AF65-F5344CB8AC3E}">
        <p14:creationId xmlns:p14="http://schemas.microsoft.com/office/powerpoint/2010/main" val="3228218195"/>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134. “The lighting war” that Hitler introduced in World War II is called________</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Blitzkrieg</a:t>
            </a:r>
          </a:p>
          <a:p>
            <a:pPr marL="742950" indent="-742950">
              <a:buAutoNum type="alphaUcPeriod"/>
            </a:pPr>
            <a:r>
              <a:rPr lang="en-PH" sz="3600" dirty="0" err="1"/>
              <a:t>Schamhorst</a:t>
            </a:r>
            <a:endParaRPr lang="en-PH" sz="3600" dirty="0"/>
          </a:p>
          <a:p>
            <a:pPr marL="742950" indent="-742950">
              <a:buAutoNum type="alphaUcPeriod"/>
            </a:pPr>
            <a:r>
              <a:rPr lang="en-PH" sz="3600" dirty="0"/>
              <a:t>The Great War</a:t>
            </a:r>
          </a:p>
          <a:p>
            <a:pPr marL="742950" indent="-742950">
              <a:buAutoNum type="alphaUcPeriod"/>
            </a:pPr>
            <a:r>
              <a:rPr lang="en-PH" sz="3600" dirty="0"/>
              <a:t>Lebensraum </a:t>
            </a:r>
          </a:p>
        </p:txBody>
      </p:sp>
    </p:spTree>
    <p:extLst>
      <p:ext uri="{BB962C8B-B14F-4D97-AF65-F5344CB8AC3E}">
        <p14:creationId xmlns:p14="http://schemas.microsoft.com/office/powerpoint/2010/main" val="1959052241"/>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135. To which factors did the Spaniards attribute the economic stagnation of the Philippines during their reign?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12123"/>
            <a:ext cx="10515600" cy="4351338"/>
          </a:xfrm>
        </p:spPr>
        <p:txBody>
          <a:bodyPr>
            <a:normAutofit lnSpcReduction="10000"/>
          </a:bodyPr>
          <a:lstStyle/>
          <a:p>
            <a:pPr marL="742950" indent="-742950" algn="just">
              <a:buAutoNum type="alphaUcPeriod"/>
            </a:pPr>
            <a:r>
              <a:rPr lang="en-PH" sz="3600" dirty="0"/>
              <a:t>To the lack of unity among Filipinos and their of cooperation with Spanish officials</a:t>
            </a:r>
          </a:p>
          <a:p>
            <a:pPr marL="742950" indent="-742950" algn="just">
              <a:buAutoNum type="alphaUcPeriod"/>
            </a:pPr>
            <a:r>
              <a:rPr lang="en-PH" sz="3600" dirty="0"/>
              <a:t>To the corrupt Filipino officials and the collaboration of the Filipino elite</a:t>
            </a:r>
          </a:p>
          <a:p>
            <a:pPr marL="742950" indent="-742950" algn="just">
              <a:buAutoNum type="alphaUcPeriod"/>
            </a:pPr>
            <a:r>
              <a:rPr lang="en-PH" sz="3600" dirty="0"/>
              <a:t>To the corrupt Spanish officials and the in subornation of the Filipino natives</a:t>
            </a:r>
          </a:p>
          <a:p>
            <a:pPr marL="742950" indent="-742950" algn="just">
              <a:buAutoNum type="alphaUcPeriod"/>
            </a:pPr>
            <a:r>
              <a:rPr lang="en-PH" sz="3600" dirty="0"/>
              <a:t>To the indolence of the Filipinos and their incapacity for learning</a:t>
            </a:r>
          </a:p>
        </p:txBody>
      </p:sp>
    </p:spTree>
    <p:extLst>
      <p:ext uri="{BB962C8B-B14F-4D97-AF65-F5344CB8AC3E}">
        <p14:creationId xmlns:p14="http://schemas.microsoft.com/office/powerpoint/2010/main" val="7972004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135. To which factors did the Spaniards attribute the economic stagnation of the Philippines during their reign?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12123"/>
            <a:ext cx="10515600" cy="4351338"/>
          </a:xfrm>
        </p:spPr>
        <p:txBody>
          <a:bodyPr>
            <a:normAutofit lnSpcReduction="10000"/>
          </a:bodyPr>
          <a:lstStyle/>
          <a:p>
            <a:pPr marL="742950" indent="-742950" algn="just">
              <a:buAutoNum type="alphaUcPeriod"/>
            </a:pPr>
            <a:r>
              <a:rPr lang="en-PH" sz="3600" dirty="0"/>
              <a:t>To the lack of unity among Filipinos and their of cooperation with Spanish officials</a:t>
            </a:r>
          </a:p>
          <a:p>
            <a:pPr marL="742950" indent="-742950" algn="just">
              <a:buAutoNum type="alphaUcPeriod"/>
            </a:pPr>
            <a:r>
              <a:rPr lang="en-PH" sz="3600" dirty="0"/>
              <a:t>To the corrupt Filipino officials and the collaboration of the Filipino elite</a:t>
            </a:r>
          </a:p>
          <a:p>
            <a:pPr marL="742950" indent="-742950" algn="just">
              <a:buAutoNum type="alphaUcPeriod"/>
            </a:pPr>
            <a:r>
              <a:rPr lang="en-PH" sz="3600" dirty="0"/>
              <a:t>To the corrupt Spanish officials and the in subornation of the Filipino natives</a:t>
            </a:r>
          </a:p>
          <a:p>
            <a:pPr marL="742950" indent="-742950" algn="just">
              <a:buAutoNum type="alphaUcPeriod"/>
            </a:pPr>
            <a:r>
              <a:rPr lang="en-PH" sz="3600" dirty="0">
                <a:solidFill>
                  <a:srgbClr val="FF0000"/>
                </a:solidFill>
              </a:rPr>
              <a:t>To the indolence of the Filipinos and their incapacity for learning</a:t>
            </a:r>
          </a:p>
        </p:txBody>
      </p:sp>
    </p:spTree>
    <p:extLst>
      <p:ext uri="{BB962C8B-B14F-4D97-AF65-F5344CB8AC3E}">
        <p14:creationId xmlns:p14="http://schemas.microsoft.com/office/powerpoint/2010/main" val="4051587799"/>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136. Who was claimed to be the most loved Governor-General of the Philippines who was known  for his liberalism?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86265"/>
            <a:ext cx="10515600" cy="4351338"/>
          </a:xfrm>
        </p:spPr>
        <p:txBody>
          <a:bodyPr>
            <a:normAutofit/>
          </a:bodyPr>
          <a:lstStyle/>
          <a:p>
            <a:pPr marL="742950" indent="-742950">
              <a:buAutoNum type="alphaUcPeriod"/>
            </a:pPr>
            <a:r>
              <a:rPr lang="en-PH" sz="3600" dirty="0"/>
              <a:t>Jose </a:t>
            </a:r>
            <a:r>
              <a:rPr lang="en-PH" sz="3600" dirty="0" err="1"/>
              <a:t>Basco’y</a:t>
            </a:r>
            <a:r>
              <a:rPr lang="en-PH" sz="3600" dirty="0"/>
              <a:t> Vargas</a:t>
            </a:r>
          </a:p>
          <a:p>
            <a:pPr marL="742950" indent="-742950">
              <a:buAutoNum type="alphaUcPeriod"/>
            </a:pPr>
            <a:r>
              <a:rPr lang="en-PH" sz="3600" dirty="0"/>
              <a:t>Carlos Maria de la Torre</a:t>
            </a:r>
          </a:p>
          <a:p>
            <a:pPr marL="742950" indent="-742950">
              <a:buAutoNum type="alphaUcPeriod"/>
            </a:pPr>
            <a:r>
              <a:rPr lang="en-PH" sz="3600" dirty="0"/>
              <a:t>Rafael de </a:t>
            </a:r>
            <a:r>
              <a:rPr lang="en-PH" sz="3600" dirty="0" err="1"/>
              <a:t>Izquierdo</a:t>
            </a:r>
            <a:endParaRPr lang="en-PH" sz="3600" dirty="0"/>
          </a:p>
          <a:p>
            <a:pPr marL="742950" indent="-742950">
              <a:buAutoNum type="alphaUcPeriod"/>
            </a:pPr>
            <a:r>
              <a:rPr lang="en-PH" sz="3600" dirty="0"/>
              <a:t>Simon de </a:t>
            </a:r>
            <a:r>
              <a:rPr lang="en-PH" sz="3600" dirty="0" err="1"/>
              <a:t>Anda’y</a:t>
            </a:r>
            <a:r>
              <a:rPr lang="en-PH" sz="3600" dirty="0"/>
              <a:t> Salazar</a:t>
            </a:r>
          </a:p>
        </p:txBody>
      </p:sp>
    </p:spTree>
    <p:extLst>
      <p:ext uri="{BB962C8B-B14F-4D97-AF65-F5344CB8AC3E}">
        <p14:creationId xmlns:p14="http://schemas.microsoft.com/office/powerpoint/2010/main" val="1042837592"/>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136. Who was claimed to be the most loved Governor-General of the Philippines who was known  for his liberalism?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86265"/>
            <a:ext cx="10515600" cy="4351338"/>
          </a:xfrm>
        </p:spPr>
        <p:txBody>
          <a:bodyPr>
            <a:normAutofit/>
          </a:bodyPr>
          <a:lstStyle/>
          <a:p>
            <a:pPr marL="742950" indent="-742950">
              <a:buAutoNum type="alphaUcPeriod"/>
            </a:pPr>
            <a:r>
              <a:rPr lang="en-PH" sz="3600" dirty="0"/>
              <a:t>Jose </a:t>
            </a:r>
            <a:r>
              <a:rPr lang="en-PH" sz="3600" dirty="0" err="1"/>
              <a:t>Basco’y</a:t>
            </a:r>
            <a:r>
              <a:rPr lang="en-PH" sz="3600" dirty="0"/>
              <a:t> Vargas</a:t>
            </a:r>
          </a:p>
          <a:p>
            <a:pPr marL="742950" indent="-742950">
              <a:buAutoNum type="alphaUcPeriod"/>
            </a:pPr>
            <a:r>
              <a:rPr lang="en-PH" sz="3600" dirty="0">
                <a:solidFill>
                  <a:srgbClr val="FF0000"/>
                </a:solidFill>
              </a:rPr>
              <a:t>Carlos Maria de la Torre</a:t>
            </a:r>
          </a:p>
          <a:p>
            <a:pPr marL="742950" indent="-742950">
              <a:buAutoNum type="alphaUcPeriod"/>
            </a:pPr>
            <a:r>
              <a:rPr lang="en-PH" sz="3600" dirty="0"/>
              <a:t>Rafael de </a:t>
            </a:r>
            <a:r>
              <a:rPr lang="en-PH" sz="3600" dirty="0" err="1"/>
              <a:t>Izquierdo</a:t>
            </a:r>
            <a:endParaRPr lang="en-PH" sz="3600" dirty="0"/>
          </a:p>
          <a:p>
            <a:pPr marL="742950" indent="-742950">
              <a:buAutoNum type="alphaUcPeriod"/>
            </a:pPr>
            <a:r>
              <a:rPr lang="en-PH" sz="3600" dirty="0"/>
              <a:t>Simon de </a:t>
            </a:r>
            <a:r>
              <a:rPr lang="en-PH" sz="3600" dirty="0" err="1"/>
              <a:t>Anda’y</a:t>
            </a:r>
            <a:r>
              <a:rPr lang="en-PH" sz="3600" dirty="0"/>
              <a:t> Salazar</a:t>
            </a:r>
          </a:p>
        </p:txBody>
      </p:sp>
    </p:spTree>
    <p:extLst>
      <p:ext uri="{BB962C8B-B14F-4D97-AF65-F5344CB8AC3E}">
        <p14:creationId xmlns:p14="http://schemas.microsoft.com/office/powerpoint/2010/main" val="2058228632"/>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137. Considering the Filipino values that were displayed in EDSA 1986, which does not belong to the group?</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86265"/>
            <a:ext cx="10515600" cy="4351338"/>
          </a:xfrm>
        </p:spPr>
        <p:txBody>
          <a:bodyPr>
            <a:normAutofit/>
          </a:bodyPr>
          <a:lstStyle/>
          <a:p>
            <a:pPr marL="742950" indent="-742950">
              <a:buAutoNum type="alphaUcPeriod"/>
            </a:pPr>
            <a:r>
              <a:rPr lang="en-PH" sz="3600" dirty="0"/>
              <a:t>PAGKAKAISA</a:t>
            </a:r>
          </a:p>
          <a:p>
            <a:pPr marL="742950" indent="-742950">
              <a:buAutoNum type="alphaUcPeriod"/>
            </a:pPr>
            <a:r>
              <a:rPr lang="en-PH" sz="3600" dirty="0"/>
              <a:t>TAYO-TAYO mentality</a:t>
            </a:r>
          </a:p>
          <a:p>
            <a:pPr marL="742950" indent="-742950">
              <a:buAutoNum type="alphaUcPeriod"/>
            </a:pPr>
            <a:r>
              <a:rPr lang="en-PH" sz="3600" dirty="0"/>
              <a:t>PAGKABAYANI</a:t>
            </a:r>
          </a:p>
          <a:p>
            <a:pPr marL="742950" indent="-742950">
              <a:buAutoNum type="alphaUcPeriod"/>
            </a:pPr>
            <a:r>
              <a:rPr lang="en-PH" sz="3600" dirty="0"/>
              <a:t>PAGSASARILI</a:t>
            </a:r>
          </a:p>
        </p:txBody>
      </p:sp>
    </p:spTree>
    <p:extLst>
      <p:ext uri="{BB962C8B-B14F-4D97-AF65-F5344CB8AC3E}">
        <p14:creationId xmlns:p14="http://schemas.microsoft.com/office/powerpoint/2010/main" val="1210220630"/>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137. Considering the Filipino values that were displayed in EDSA 1986, which does not belong to the group?</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86265"/>
            <a:ext cx="10515600" cy="4351338"/>
          </a:xfrm>
        </p:spPr>
        <p:txBody>
          <a:bodyPr>
            <a:normAutofit/>
          </a:bodyPr>
          <a:lstStyle/>
          <a:p>
            <a:pPr marL="742950" indent="-742950">
              <a:buAutoNum type="alphaUcPeriod"/>
            </a:pPr>
            <a:r>
              <a:rPr lang="en-PH" sz="3600" dirty="0"/>
              <a:t>PAGKAKAISA</a:t>
            </a:r>
          </a:p>
          <a:p>
            <a:pPr marL="742950" indent="-742950">
              <a:buAutoNum type="alphaUcPeriod"/>
            </a:pPr>
            <a:r>
              <a:rPr lang="en-PH" sz="3600" dirty="0"/>
              <a:t>TAYO-TAYO mentality</a:t>
            </a:r>
          </a:p>
          <a:p>
            <a:pPr marL="742950" indent="-742950">
              <a:buAutoNum type="alphaUcPeriod"/>
            </a:pPr>
            <a:r>
              <a:rPr lang="en-PH" sz="3600" dirty="0"/>
              <a:t>PAGKABAYANI</a:t>
            </a:r>
          </a:p>
          <a:p>
            <a:pPr marL="742950" indent="-742950">
              <a:buAutoNum type="alphaUcPeriod"/>
            </a:pPr>
            <a:r>
              <a:rPr lang="en-PH" sz="3600" dirty="0">
                <a:solidFill>
                  <a:srgbClr val="FF0000"/>
                </a:solidFill>
              </a:rPr>
              <a:t>PAGSASARILI</a:t>
            </a:r>
          </a:p>
        </p:txBody>
      </p:sp>
    </p:spTree>
    <p:extLst>
      <p:ext uri="{BB962C8B-B14F-4D97-AF65-F5344CB8AC3E}">
        <p14:creationId xmlns:p14="http://schemas.microsoft.com/office/powerpoint/2010/main" val="438989011"/>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138. What are the possible consequences of warmer temperatures?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728564"/>
            <a:ext cx="10515600" cy="4351338"/>
          </a:xfrm>
        </p:spPr>
        <p:txBody>
          <a:bodyPr>
            <a:normAutofit/>
          </a:bodyPr>
          <a:lstStyle/>
          <a:p>
            <a:pPr marL="742950" indent="-742950">
              <a:buAutoNum type="alphaUcPeriod"/>
            </a:pPr>
            <a:r>
              <a:rPr lang="en-PH" sz="3600" dirty="0"/>
              <a:t>I-III</a:t>
            </a:r>
          </a:p>
          <a:p>
            <a:pPr marL="742950" indent="-742950">
              <a:buAutoNum type="alphaUcPeriod"/>
            </a:pPr>
            <a:r>
              <a:rPr lang="en-PH" sz="3600" dirty="0"/>
              <a:t>II-III</a:t>
            </a:r>
          </a:p>
          <a:p>
            <a:pPr marL="742950" indent="-742950">
              <a:buAutoNum type="alphaUcPeriod"/>
            </a:pPr>
            <a:r>
              <a:rPr lang="en-PH" sz="3600" dirty="0"/>
              <a:t>I-II-III</a:t>
            </a:r>
          </a:p>
          <a:p>
            <a:pPr marL="742950" indent="-742950">
              <a:buAutoNum type="alphaUcPeriod"/>
            </a:pPr>
            <a:r>
              <a:rPr lang="en-PH" sz="3600" dirty="0"/>
              <a:t>I-II</a:t>
            </a:r>
          </a:p>
        </p:txBody>
      </p:sp>
      <p:sp>
        <p:nvSpPr>
          <p:cNvPr id="4" name="Content Placeholder 2">
            <a:extLst>
              <a:ext uri="{FF2B5EF4-FFF2-40B4-BE49-F238E27FC236}">
                <a16:creationId xmlns:a16="http://schemas.microsoft.com/office/drawing/2014/main" id="{C1A586F4-6316-4ADD-ABEF-999E9CE70FE5}"/>
              </a:ext>
            </a:extLst>
          </p:cNvPr>
          <p:cNvSpPr txBox="1">
            <a:spLocks/>
          </p:cNvSpPr>
          <p:nvPr/>
        </p:nvSpPr>
        <p:spPr>
          <a:xfrm>
            <a:off x="825845" y="155289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sz="3600" dirty="0"/>
              <a:t>I. 	Intense droughts in some regions</a:t>
            </a:r>
          </a:p>
          <a:p>
            <a:pPr marL="0" indent="0">
              <a:buNone/>
            </a:pPr>
            <a:r>
              <a:rPr lang="en-PH" sz="3600" dirty="0"/>
              <a:t>II. 	Destabilization of ecosystems</a:t>
            </a:r>
          </a:p>
          <a:p>
            <a:pPr marL="0" indent="0">
              <a:buNone/>
            </a:pPr>
            <a:r>
              <a:rPr lang="en-PH" sz="3600" dirty="0"/>
              <a:t>III.	Decline or extinction of some species</a:t>
            </a:r>
          </a:p>
          <a:p>
            <a:pPr marL="0" indent="0">
              <a:buNone/>
            </a:pPr>
            <a:endParaRPr lang="en-PH" sz="3600" dirty="0"/>
          </a:p>
        </p:txBody>
      </p:sp>
    </p:spTree>
    <p:extLst>
      <p:ext uri="{BB962C8B-B14F-4D97-AF65-F5344CB8AC3E}">
        <p14:creationId xmlns:p14="http://schemas.microsoft.com/office/powerpoint/2010/main" val="1220191254"/>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138. What are the possible consequences of warmer temperatures?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728564"/>
            <a:ext cx="10515600" cy="4351338"/>
          </a:xfrm>
        </p:spPr>
        <p:txBody>
          <a:bodyPr>
            <a:normAutofit/>
          </a:bodyPr>
          <a:lstStyle/>
          <a:p>
            <a:pPr marL="742950" indent="-742950">
              <a:buAutoNum type="alphaUcPeriod"/>
            </a:pPr>
            <a:r>
              <a:rPr lang="en-PH" sz="3600" dirty="0"/>
              <a:t>I-III</a:t>
            </a:r>
          </a:p>
          <a:p>
            <a:pPr marL="742950" indent="-742950">
              <a:buAutoNum type="alphaUcPeriod"/>
            </a:pPr>
            <a:r>
              <a:rPr lang="en-PH" sz="3600" dirty="0"/>
              <a:t>II-III</a:t>
            </a:r>
          </a:p>
          <a:p>
            <a:pPr marL="742950" indent="-742950">
              <a:buAutoNum type="alphaUcPeriod"/>
            </a:pPr>
            <a:r>
              <a:rPr lang="en-PH" sz="3600" dirty="0">
                <a:solidFill>
                  <a:srgbClr val="FF0000"/>
                </a:solidFill>
              </a:rPr>
              <a:t>I-II-III</a:t>
            </a:r>
          </a:p>
          <a:p>
            <a:pPr marL="742950" indent="-742950">
              <a:buAutoNum type="alphaUcPeriod"/>
            </a:pPr>
            <a:r>
              <a:rPr lang="en-PH" sz="3600" dirty="0"/>
              <a:t>I-II</a:t>
            </a:r>
          </a:p>
        </p:txBody>
      </p:sp>
      <p:sp>
        <p:nvSpPr>
          <p:cNvPr id="4" name="Content Placeholder 2">
            <a:extLst>
              <a:ext uri="{FF2B5EF4-FFF2-40B4-BE49-F238E27FC236}">
                <a16:creationId xmlns:a16="http://schemas.microsoft.com/office/drawing/2014/main" id="{C1A586F4-6316-4ADD-ABEF-999E9CE70FE5}"/>
              </a:ext>
            </a:extLst>
          </p:cNvPr>
          <p:cNvSpPr txBox="1">
            <a:spLocks/>
          </p:cNvSpPr>
          <p:nvPr/>
        </p:nvSpPr>
        <p:spPr>
          <a:xfrm>
            <a:off x="825845" y="155289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PH" sz="3600" dirty="0"/>
              <a:t>I. 	Intense droughts in some regions</a:t>
            </a:r>
          </a:p>
          <a:p>
            <a:pPr marL="0" indent="0">
              <a:buNone/>
            </a:pPr>
            <a:r>
              <a:rPr lang="en-PH" sz="3600" dirty="0"/>
              <a:t>II. 	Destabilization of ecosystems</a:t>
            </a:r>
          </a:p>
          <a:p>
            <a:pPr marL="0" indent="0">
              <a:buNone/>
            </a:pPr>
            <a:r>
              <a:rPr lang="en-PH" sz="3600" dirty="0"/>
              <a:t>III.	Decline or extinction of some species</a:t>
            </a:r>
          </a:p>
          <a:p>
            <a:pPr marL="0" indent="0">
              <a:buNone/>
            </a:pPr>
            <a:endParaRPr lang="en-PH" sz="3600" dirty="0"/>
          </a:p>
        </p:txBody>
      </p:sp>
    </p:spTree>
    <p:extLst>
      <p:ext uri="{BB962C8B-B14F-4D97-AF65-F5344CB8AC3E}">
        <p14:creationId xmlns:p14="http://schemas.microsoft.com/office/powerpoint/2010/main" val="3730131121"/>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139. Like the </a:t>
            </a:r>
            <a:r>
              <a:rPr lang="en-PH" dirty="0" err="1"/>
              <a:t>Datu</a:t>
            </a:r>
            <a:r>
              <a:rPr lang="en-PH" dirty="0"/>
              <a:t> in the pre-Spanish time, the governor-general exercised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Executive, administrative, legislative, judicial and religious powers</a:t>
            </a:r>
          </a:p>
          <a:p>
            <a:pPr marL="742950" indent="-742950" algn="just">
              <a:buAutoNum type="alphaUcPeriod"/>
            </a:pPr>
            <a:r>
              <a:rPr lang="en-PH" sz="3600" dirty="0"/>
              <a:t>Only executive and administrative powers</a:t>
            </a:r>
          </a:p>
          <a:p>
            <a:pPr marL="742950" indent="-742950" algn="just">
              <a:buAutoNum type="alphaUcPeriod"/>
            </a:pPr>
            <a:r>
              <a:rPr lang="en-PH" sz="3600" dirty="0"/>
              <a:t>Executive, administrative and legislative powers</a:t>
            </a:r>
          </a:p>
          <a:p>
            <a:pPr marL="742950" indent="-742950" algn="just">
              <a:buAutoNum type="alphaUcPeriod"/>
            </a:pPr>
            <a:r>
              <a:rPr lang="en-PH" sz="3600" dirty="0"/>
              <a:t>Executive, administrative, legislative and judicial powers</a:t>
            </a:r>
          </a:p>
        </p:txBody>
      </p:sp>
    </p:spTree>
    <p:extLst>
      <p:ext uri="{BB962C8B-B14F-4D97-AF65-F5344CB8AC3E}">
        <p14:creationId xmlns:p14="http://schemas.microsoft.com/office/powerpoint/2010/main" val="868068554"/>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139. Like the </a:t>
            </a:r>
            <a:r>
              <a:rPr lang="en-PH" dirty="0" err="1"/>
              <a:t>Datu</a:t>
            </a:r>
            <a:r>
              <a:rPr lang="en-PH" dirty="0"/>
              <a:t> in the pre-Spanish time, the governor-general exercised</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Executive, administrative, legislative, judicial and religious powers</a:t>
            </a:r>
          </a:p>
          <a:p>
            <a:pPr marL="742950" indent="-742950" algn="just">
              <a:buAutoNum type="alphaUcPeriod"/>
            </a:pPr>
            <a:r>
              <a:rPr lang="en-PH" sz="3600" dirty="0"/>
              <a:t>Only executive and administrative powers</a:t>
            </a:r>
          </a:p>
          <a:p>
            <a:pPr marL="742950" indent="-742950" algn="just">
              <a:buAutoNum type="alphaUcPeriod"/>
            </a:pPr>
            <a:r>
              <a:rPr lang="en-PH" sz="3600" dirty="0"/>
              <a:t>Executive, administrative and legislative powers</a:t>
            </a:r>
          </a:p>
          <a:p>
            <a:pPr marL="742950" indent="-742950" algn="just">
              <a:buAutoNum type="alphaUcPeriod"/>
            </a:pPr>
            <a:r>
              <a:rPr lang="en-PH" sz="3600" dirty="0">
                <a:solidFill>
                  <a:srgbClr val="FF0000"/>
                </a:solidFill>
              </a:rPr>
              <a:t>Executive, administrative, legislative and judicial powers</a:t>
            </a:r>
          </a:p>
        </p:txBody>
      </p:sp>
    </p:spTree>
    <p:extLst>
      <p:ext uri="{BB962C8B-B14F-4D97-AF65-F5344CB8AC3E}">
        <p14:creationId xmlns:p14="http://schemas.microsoft.com/office/powerpoint/2010/main" val="1114648594"/>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86391"/>
            <a:ext cx="10515600" cy="1325563"/>
          </a:xfrm>
        </p:spPr>
        <p:txBody>
          <a:bodyPr>
            <a:noAutofit/>
          </a:bodyPr>
          <a:lstStyle/>
          <a:p>
            <a:pPr algn="just"/>
            <a:r>
              <a:rPr lang="en-PH" dirty="0"/>
              <a:t>140. Acts of treason, rebellion, sedition, or similar acts show the actor’s disregard of their duty and obligation as Filipino citizen, most specially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42322"/>
            <a:ext cx="10515600" cy="4351338"/>
          </a:xfrm>
        </p:spPr>
        <p:txBody>
          <a:bodyPr>
            <a:normAutofit/>
          </a:bodyPr>
          <a:lstStyle/>
          <a:p>
            <a:pPr marL="742950" indent="-742950">
              <a:buAutoNum type="alphaUcPeriod"/>
            </a:pPr>
            <a:r>
              <a:rPr lang="en-PH" sz="3600" dirty="0"/>
              <a:t>To register and vote</a:t>
            </a:r>
          </a:p>
          <a:p>
            <a:pPr marL="742950" indent="-742950">
              <a:buAutoNum type="alphaUcPeriod"/>
            </a:pPr>
            <a:r>
              <a:rPr lang="en-PH" sz="3600" dirty="0"/>
              <a:t>To defend the State</a:t>
            </a:r>
          </a:p>
          <a:p>
            <a:pPr marL="742950" indent="-742950">
              <a:buAutoNum type="alphaUcPeriod"/>
            </a:pPr>
            <a:r>
              <a:rPr lang="en-PH" sz="3600" dirty="0"/>
              <a:t>Be proud of the Strong Republic</a:t>
            </a:r>
          </a:p>
          <a:p>
            <a:pPr marL="742950" indent="-742950">
              <a:buAutoNum type="alphaUcPeriod"/>
            </a:pPr>
            <a:r>
              <a:rPr lang="en-PH" sz="3600" dirty="0"/>
              <a:t>To be loyal to the Republic</a:t>
            </a:r>
          </a:p>
        </p:txBody>
      </p:sp>
    </p:spTree>
    <p:extLst>
      <p:ext uri="{BB962C8B-B14F-4D97-AF65-F5344CB8AC3E}">
        <p14:creationId xmlns:p14="http://schemas.microsoft.com/office/powerpoint/2010/main" val="2959651671"/>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686391"/>
            <a:ext cx="10515600" cy="1325563"/>
          </a:xfrm>
        </p:spPr>
        <p:txBody>
          <a:bodyPr>
            <a:noAutofit/>
          </a:bodyPr>
          <a:lstStyle/>
          <a:p>
            <a:pPr algn="just"/>
            <a:r>
              <a:rPr lang="en-PH" dirty="0"/>
              <a:t>140. Acts of treason, rebellion, sedition, or similar acts show the actor’s disregard of their duty and obligation as Filipino citizen, most specially</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2542322"/>
            <a:ext cx="10515600" cy="4351338"/>
          </a:xfrm>
        </p:spPr>
        <p:txBody>
          <a:bodyPr>
            <a:normAutofit/>
          </a:bodyPr>
          <a:lstStyle/>
          <a:p>
            <a:pPr marL="742950" indent="-742950">
              <a:buAutoNum type="alphaUcPeriod"/>
            </a:pPr>
            <a:r>
              <a:rPr lang="en-PH" sz="3600" dirty="0"/>
              <a:t>To register and vote</a:t>
            </a:r>
          </a:p>
          <a:p>
            <a:pPr marL="742950" indent="-742950">
              <a:buAutoNum type="alphaUcPeriod"/>
            </a:pPr>
            <a:r>
              <a:rPr lang="en-PH" sz="3600" dirty="0">
                <a:solidFill>
                  <a:srgbClr val="FF0000"/>
                </a:solidFill>
              </a:rPr>
              <a:t>To defend the State</a:t>
            </a:r>
          </a:p>
          <a:p>
            <a:pPr marL="742950" indent="-742950">
              <a:buAutoNum type="alphaUcPeriod"/>
            </a:pPr>
            <a:r>
              <a:rPr lang="en-PH" sz="3600" dirty="0"/>
              <a:t>Be proud of the Strong Republic</a:t>
            </a:r>
          </a:p>
          <a:p>
            <a:pPr marL="742950" indent="-742950">
              <a:buAutoNum type="alphaUcPeriod"/>
            </a:pPr>
            <a:r>
              <a:rPr lang="en-PH" sz="3600" dirty="0"/>
              <a:t>To be loyal to the Republic</a:t>
            </a:r>
          </a:p>
        </p:txBody>
      </p:sp>
    </p:spTree>
    <p:extLst>
      <p:ext uri="{BB962C8B-B14F-4D97-AF65-F5344CB8AC3E}">
        <p14:creationId xmlns:p14="http://schemas.microsoft.com/office/powerpoint/2010/main" val="3793188297"/>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141. Which is the ultimate objective of the Comprehensive Agrarian Reform Program?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The establishment of owner – cultivated farm</a:t>
            </a:r>
          </a:p>
          <a:p>
            <a:pPr marL="742950" indent="-742950" algn="just">
              <a:buAutoNum type="alphaUcPeriod"/>
            </a:pPr>
            <a:r>
              <a:rPr lang="en-PH" sz="3600" dirty="0"/>
              <a:t>The cultivation of all idle lands</a:t>
            </a:r>
          </a:p>
          <a:p>
            <a:pPr marL="742950" indent="-742950" algn="just">
              <a:buAutoNum type="alphaUcPeriod"/>
            </a:pPr>
            <a:r>
              <a:rPr lang="en-PH" sz="3600" dirty="0"/>
              <a:t>The abolition of shared tenancy in favor of lease tenancy</a:t>
            </a:r>
          </a:p>
          <a:p>
            <a:pPr marL="742950" indent="-742950" algn="just">
              <a:buAutoNum type="alphaUcPeriod"/>
            </a:pPr>
            <a:r>
              <a:rPr lang="en-PH" sz="3600" dirty="0"/>
              <a:t>The distribution of arable lands in the country</a:t>
            </a:r>
          </a:p>
        </p:txBody>
      </p:sp>
    </p:spTree>
    <p:extLst>
      <p:ext uri="{BB962C8B-B14F-4D97-AF65-F5344CB8AC3E}">
        <p14:creationId xmlns:p14="http://schemas.microsoft.com/office/powerpoint/2010/main" val="3588640449"/>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141. Which is the ultimate objective of the Comprehensive Agrarian Reform Program?</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The establishment of owner – cultivated farm</a:t>
            </a:r>
          </a:p>
          <a:p>
            <a:pPr marL="742950" indent="-742950" algn="just">
              <a:buAutoNum type="alphaUcPeriod"/>
            </a:pPr>
            <a:r>
              <a:rPr lang="en-PH" sz="3600" dirty="0"/>
              <a:t>The cultivation of all idle lands</a:t>
            </a:r>
          </a:p>
          <a:p>
            <a:pPr marL="742950" indent="-742950" algn="just">
              <a:buAutoNum type="alphaUcPeriod"/>
            </a:pPr>
            <a:r>
              <a:rPr lang="en-PH" sz="3600" dirty="0"/>
              <a:t>The abolition of shared tenancy in favor of lease tenancy</a:t>
            </a:r>
          </a:p>
          <a:p>
            <a:pPr marL="742950" indent="-742950" algn="just">
              <a:buAutoNum type="alphaUcPeriod"/>
            </a:pPr>
            <a:r>
              <a:rPr lang="en-PH" sz="3600" dirty="0">
                <a:solidFill>
                  <a:srgbClr val="FF0000"/>
                </a:solidFill>
              </a:rPr>
              <a:t>The distribution of arable lands in the country</a:t>
            </a:r>
          </a:p>
        </p:txBody>
      </p:sp>
    </p:spTree>
    <p:extLst>
      <p:ext uri="{BB962C8B-B14F-4D97-AF65-F5344CB8AC3E}">
        <p14:creationId xmlns:p14="http://schemas.microsoft.com/office/powerpoint/2010/main" val="1470929048"/>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142. In the passage of a bill, which takes place in the third reading?</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Only the title of the bill is read</a:t>
            </a:r>
          </a:p>
          <a:p>
            <a:pPr marL="742950" indent="-742950">
              <a:buAutoNum type="alphaUcPeriod"/>
            </a:pPr>
            <a:r>
              <a:rPr lang="en-PH" sz="3600" dirty="0"/>
              <a:t>The author’s names are read</a:t>
            </a:r>
          </a:p>
          <a:p>
            <a:pPr marL="742950" indent="-742950">
              <a:buAutoNum type="alphaUcPeriod"/>
            </a:pPr>
            <a:r>
              <a:rPr lang="en-PH" sz="3600" dirty="0"/>
              <a:t>The number and title of the bill are read</a:t>
            </a:r>
          </a:p>
          <a:p>
            <a:pPr marL="742950" indent="-742950">
              <a:buAutoNum type="alphaUcPeriod"/>
            </a:pPr>
            <a:r>
              <a:rPr lang="en-PH" sz="3600" dirty="0"/>
              <a:t>Amendments are included</a:t>
            </a:r>
          </a:p>
        </p:txBody>
      </p:sp>
    </p:spTree>
    <p:extLst>
      <p:ext uri="{BB962C8B-B14F-4D97-AF65-F5344CB8AC3E}">
        <p14:creationId xmlns:p14="http://schemas.microsoft.com/office/powerpoint/2010/main" val="2824913619"/>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142. In the passage of a bill, which takes place in the third reading?</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Only the title of the bill is read</a:t>
            </a:r>
          </a:p>
          <a:p>
            <a:pPr marL="742950" indent="-742950">
              <a:buAutoNum type="alphaUcPeriod"/>
            </a:pPr>
            <a:r>
              <a:rPr lang="en-PH" sz="3600" dirty="0"/>
              <a:t>The author’s names are read</a:t>
            </a:r>
          </a:p>
          <a:p>
            <a:pPr marL="742950" indent="-742950">
              <a:buAutoNum type="alphaUcPeriod"/>
            </a:pPr>
            <a:r>
              <a:rPr lang="en-PH" sz="3600" dirty="0"/>
              <a:t>The number and title of the bill are read</a:t>
            </a:r>
          </a:p>
          <a:p>
            <a:pPr marL="742950" indent="-742950">
              <a:buAutoNum type="alphaUcPeriod"/>
            </a:pPr>
            <a:r>
              <a:rPr lang="en-PH" sz="3600" dirty="0">
                <a:solidFill>
                  <a:srgbClr val="FF0000"/>
                </a:solidFill>
              </a:rPr>
              <a:t>Amendments are included</a:t>
            </a:r>
          </a:p>
        </p:txBody>
      </p:sp>
    </p:spTree>
    <p:extLst>
      <p:ext uri="{BB962C8B-B14F-4D97-AF65-F5344CB8AC3E}">
        <p14:creationId xmlns:p14="http://schemas.microsoft.com/office/powerpoint/2010/main" val="3036674226"/>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143. Which is also known as the Philippine Independence Act?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Cooper Law</a:t>
            </a:r>
          </a:p>
          <a:p>
            <a:pPr marL="742950" indent="-742950">
              <a:buAutoNum type="alphaUcPeriod"/>
            </a:pPr>
            <a:r>
              <a:rPr lang="en-PH" sz="3600" dirty="0"/>
              <a:t>Hare-Haws-Cutting Law</a:t>
            </a:r>
          </a:p>
          <a:p>
            <a:pPr marL="742950" indent="-742950">
              <a:buAutoNum type="alphaUcPeriod"/>
            </a:pPr>
            <a:r>
              <a:rPr lang="en-PH" sz="3600" dirty="0" err="1"/>
              <a:t>Tydings</a:t>
            </a:r>
            <a:r>
              <a:rPr lang="en-PH" sz="3600" dirty="0"/>
              <a:t>-McDuffie Law</a:t>
            </a:r>
          </a:p>
          <a:p>
            <a:pPr marL="742950" indent="-742950">
              <a:buAutoNum type="alphaUcPeriod"/>
            </a:pPr>
            <a:r>
              <a:rPr lang="en-PH" sz="3600" dirty="0"/>
              <a:t>Jones Law</a:t>
            </a:r>
          </a:p>
        </p:txBody>
      </p:sp>
    </p:spTree>
    <p:extLst>
      <p:ext uri="{BB962C8B-B14F-4D97-AF65-F5344CB8AC3E}">
        <p14:creationId xmlns:p14="http://schemas.microsoft.com/office/powerpoint/2010/main" val="4140332798"/>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143. Which is also known as the Philippine Independence Act?</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Cooper Law</a:t>
            </a:r>
          </a:p>
          <a:p>
            <a:pPr marL="742950" indent="-742950">
              <a:buAutoNum type="alphaUcPeriod"/>
            </a:pPr>
            <a:r>
              <a:rPr lang="en-PH" sz="3600" dirty="0"/>
              <a:t>Hare-Haws-Cutting Law</a:t>
            </a:r>
          </a:p>
          <a:p>
            <a:pPr marL="742950" indent="-742950">
              <a:buAutoNum type="alphaUcPeriod"/>
            </a:pPr>
            <a:r>
              <a:rPr lang="en-PH" sz="3600" dirty="0" err="1"/>
              <a:t>Tydings</a:t>
            </a:r>
            <a:r>
              <a:rPr lang="en-PH" sz="3600" dirty="0"/>
              <a:t>-McDuffie Law</a:t>
            </a:r>
          </a:p>
          <a:p>
            <a:pPr marL="742950" indent="-742950">
              <a:buAutoNum type="alphaUcPeriod"/>
            </a:pPr>
            <a:r>
              <a:rPr lang="en-PH" sz="3600" dirty="0">
                <a:solidFill>
                  <a:srgbClr val="FF0000"/>
                </a:solidFill>
              </a:rPr>
              <a:t>Jones Law</a:t>
            </a:r>
          </a:p>
        </p:txBody>
      </p:sp>
    </p:spTree>
    <p:extLst>
      <p:ext uri="{BB962C8B-B14F-4D97-AF65-F5344CB8AC3E}">
        <p14:creationId xmlns:p14="http://schemas.microsoft.com/office/powerpoint/2010/main" val="4226859007"/>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144. Which Law specifies the minimum are required of candidate for municipal mayors and councilors?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12123"/>
            <a:ext cx="10515600" cy="4351338"/>
          </a:xfrm>
        </p:spPr>
        <p:txBody>
          <a:bodyPr>
            <a:normAutofit/>
          </a:bodyPr>
          <a:lstStyle/>
          <a:p>
            <a:pPr marL="742950" indent="-742950">
              <a:buAutoNum type="alphaUcPeriod"/>
            </a:pPr>
            <a:r>
              <a:rPr lang="en-PH" sz="3600" dirty="0"/>
              <a:t>Labor Code</a:t>
            </a:r>
          </a:p>
          <a:p>
            <a:pPr marL="742950" indent="-742950">
              <a:buAutoNum type="alphaUcPeriod"/>
            </a:pPr>
            <a:r>
              <a:rPr lang="en-PH" sz="3600" dirty="0"/>
              <a:t>Local Government Code</a:t>
            </a:r>
          </a:p>
          <a:p>
            <a:pPr marL="742950" indent="-742950">
              <a:buAutoNum type="alphaUcPeriod"/>
            </a:pPr>
            <a:r>
              <a:rPr lang="en-PH" sz="3600" dirty="0"/>
              <a:t>Election Code</a:t>
            </a:r>
          </a:p>
          <a:p>
            <a:pPr marL="742950" indent="-742950">
              <a:buAutoNum type="alphaUcPeriod"/>
            </a:pPr>
            <a:r>
              <a:rPr lang="en-PH" sz="3600" dirty="0"/>
              <a:t>Civil Service Law</a:t>
            </a:r>
          </a:p>
        </p:txBody>
      </p:sp>
    </p:spTree>
    <p:extLst>
      <p:ext uri="{BB962C8B-B14F-4D97-AF65-F5344CB8AC3E}">
        <p14:creationId xmlns:p14="http://schemas.microsoft.com/office/powerpoint/2010/main" val="3195944237"/>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144. Which Law specifies the minimum are required of candidate for municipal mayors and councilors?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12123"/>
            <a:ext cx="10515600" cy="4351338"/>
          </a:xfrm>
        </p:spPr>
        <p:txBody>
          <a:bodyPr>
            <a:normAutofit/>
          </a:bodyPr>
          <a:lstStyle/>
          <a:p>
            <a:pPr marL="742950" indent="-742950">
              <a:buAutoNum type="alphaUcPeriod"/>
            </a:pPr>
            <a:r>
              <a:rPr lang="en-PH" sz="3600" dirty="0"/>
              <a:t>Labor Code</a:t>
            </a:r>
          </a:p>
          <a:p>
            <a:pPr marL="742950" indent="-742950">
              <a:buAutoNum type="alphaUcPeriod"/>
            </a:pPr>
            <a:r>
              <a:rPr lang="en-PH" sz="3600" dirty="0">
                <a:solidFill>
                  <a:srgbClr val="FF0000"/>
                </a:solidFill>
              </a:rPr>
              <a:t>Local Government Code</a:t>
            </a:r>
          </a:p>
          <a:p>
            <a:pPr marL="742950" indent="-742950">
              <a:buAutoNum type="alphaUcPeriod"/>
            </a:pPr>
            <a:r>
              <a:rPr lang="en-PH" sz="3600" dirty="0"/>
              <a:t>Election Code</a:t>
            </a:r>
          </a:p>
          <a:p>
            <a:pPr marL="742950" indent="-742950">
              <a:buAutoNum type="alphaUcPeriod"/>
            </a:pPr>
            <a:r>
              <a:rPr lang="en-PH" sz="3600" dirty="0"/>
              <a:t>Civil Service Law</a:t>
            </a:r>
          </a:p>
        </p:txBody>
      </p:sp>
    </p:spTree>
    <p:extLst>
      <p:ext uri="{BB962C8B-B14F-4D97-AF65-F5344CB8AC3E}">
        <p14:creationId xmlns:p14="http://schemas.microsoft.com/office/powerpoint/2010/main" val="210840844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145. Which is considered as or favorable consequence of tough competition?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t>Achievement is stimulated</a:t>
            </a:r>
          </a:p>
          <a:p>
            <a:pPr marL="742950" indent="-742950">
              <a:buAutoNum type="alphaUcPeriod"/>
            </a:pPr>
            <a:r>
              <a:rPr lang="en-PH" sz="3600" dirty="0"/>
              <a:t>Social inequalities exist</a:t>
            </a:r>
          </a:p>
          <a:p>
            <a:pPr marL="742950" indent="-742950">
              <a:buAutoNum type="alphaUcPeriod"/>
            </a:pPr>
            <a:r>
              <a:rPr lang="en-PH" sz="3600" dirty="0"/>
              <a:t>Cooperation is reduced</a:t>
            </a:r>
          </a:p>
          <a:p>
            <a:pPr marL="742950" indent="-742950">
              <a:buAutoNum type="alphaUcPeriod"/>
            </a:pPr>
            <a:r>
              <a:rPr lang="en-PH" sz="3600" dirty="0"/>
              <a:t>Personal stress is heightened</a:t>
            </a:r>
          </a:p>
          <a:p>
            <a:pPr marL="0" indent="0">
              <a:buNone/>
            </a:pPr>
            <a:endParaRPr lang="en-PH" sz="3600" dirty="0"/>
          </a:p>
        </p:txBody>
      </p:sp>
    </p:spTree>
    <p:extLst>
      <p:ext uri="{BB962C8B-B14F-4D97-AF65-F5344CB8AC3E}">
        <p14:creationId xmlns:p14="http://schemas.microsoft.com/office/powerpoint/2010/main" val="125144878"/>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145. Which is considered as or favorable consequence of tough competition?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a:solidFill>
                  <a:srgbClr val="FF0000"/>
                </a:solidFill>
              </a:rPr>
              <a:t>Achievement is stimulated</a:t>
            </a:r>
          </a:p>
          <a:p>
            <a:pPr marL="742950" indent="-742950">
              <a:buAutoNum type="alphaUcPeriod"/>
            </a:pPr>
            <a:r>
              <a:rPr lang="en-PH" sz="3600" dirty="0"/>
              <a:t>Social inequalities exist</a:t>
            </a:r>
          </a:p>
          <a:p>
            <a:pPr marL="742950" indent="-742950">
              <a:buAutoNum type="alphaUcPeriod"/>
            </a:pPr>
            <a:r>
              <a:rPr lang="en-PH" sz="3600" dirty="0"/>
              <a:t>Cooperation is reduced</a:t>
            </a:r>
          </a:p>
          <a:p>
            <a:pPr marL="742950" indent="-742950">
              <a:buAutoNum type="alphaUcPeriod"/>
            </a:pPr>
            <a:r>
              <a:rPr lang="en-PH" sz="3600" dirty="0"/>
              <a:t>Personal stress is heightened</a:t>
            </a:r>
          </a:p>
          <a:p>
            <a:pPr marL="0" indent="0">
              <a:buNone/>
            </a:pPr>
            <a:endParaRPr lang="en-PH" sz="3600" dirty="0"/>
          </a:p>
        </p:txBody>
      </p:sp>
    </p:spTree>
    <p:extLst>
      <p:ext uri="{BB962C8B-B14F-4D97-AF65-F5344CB8AC3E}">
        <p14:creationId xmlns:p14="http://schemas.microsoft.com/office/powerpoint/2010/main" val="2708158525"/>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08811"/>
            <a:ext cx="10515600" cy="1325563"/>
          </a:xfrm>
        </p:spPr>
        <p:txBody>
          <a:bodyPr>
            <a:noAutofit/>
          </a:bodyPr>
          <a:lstStyle/>
          <a:p>
            <a:pPr algn="just"/>
            <a:r>
              <a:rPr lang="en-PH" dirty="0"/>
              <a:t>146. Emile Durkheim believed that a major cause of suicide in industrializing nations was the situation where the norms of society are unclear or no longer applicable to current conditions. He called this situation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72514"/>
            <a:ext cx="10515600" cy="4351338"/>
          </a:xfrm>
        </p:spPr>
        <p:txBody>
          <a:bodyPr>
            <a:normAutofit/>
          </a:bodyPr>
          <a:lstStyle/>
          <a:p>
            <a:pPr marL="742950" indent="-742950">
              <a:buAutoNum type="alphaUcPeriod"/>
            </a:pPr>
            <a:r>
              <a:rPr lang="en-PH" sz="3600" dirty="0" err="1"/>
              <a:t>Tecnicway</a:t>
            </a:r>
            <a:endParaRPr lang="en-PH" sz="3600" dirty="0"/>
          </a:p>
          <a:p>
            <a:pPr marL="742950" indent="-742950">
              <a:buAutoNum type="alphaUcPeriod"/>
            </a:pPr>
            <a:r>
              <a:rPr lang="en-PH" sz="3600" dirty="0"/>
              <a:t>Anomie</a:t>
            </a:r>
          </a:p>
          <a:p>
            <a:pPr marL="742950" indent="-742950">
              <a:buAutoNum type="alphaUcPeriod"/>
            </a:pPr>
            <a:r>
              <a:rPr lang="en-PH" sz="3600" dirty="0"/>
              <a:t>Taboo</a:t>
            </a:r>
          </a:p>
          <a:p>
            <a:pPr marL="742950" indent="-742950">
              <a:buAutoNum type="alphaUcPeriod"/>
            </a:pPr>
            <a:r>
              <a:rPr lang="en-PH" sz="3600" dirty="0"/>
              <a:t>Deviance</a:t>
            </a:r>
          </a:p>
          <a:p>
            <a:pPr marL="0" indent="0">
              <a:buNone/>
            </a:pPr>
            <a:endParaRPr lang="en-PH" sz="3600" dirty="0"/>
          </a:p>
        </p:txBody>
      </p:sp>
    </p:spTree>
    <p:extLst>
      <p:ext uri="{BB962C8B-B14F-4D97-AF65-F5344CB8AC3E}">
        <p14:creationId xmlns:p14="http://schemas.microsoft.com/office/powerpoint/2010/main" val="84502837"/>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908811"/>
            <a:ext cx="10515600" cy="1325563"/>
          </a:xfrm>
        </p:spPr>
        <p:txBody>
          <a:bodyPr>
            <a:noAutofit/>
          </a:bodyPr>
          <a:lstStyle/>
          <a:p>
            <a:pPr algn="just"/>
            <a:r>
              <a:rPr lang="en-PH" dirty="0"/>
              <a:t>146. Emile Durkheim believed that a major cause of suicide in industrializing nations was the situation where the norms of society are unclear or no longer applicable to current conditions. He called this situation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3172514"/>
            <a:ext cx="10515600" cy="4351338"/>
          </a:xfrm>
        </p:spPr>
        <p:txBody>
          <a:bodyPr>
            <a:normAutofit/>
          </a:bodyPr>
          <a:lstStyle/>
          <a:p>
            <a:pPr marL="742950" indent="-742950">
              <a:buAutoNum type="alphaUcPeriod"/>
            </a:pPr>
            <a:r>
              <a:rPr lang="en-PH" sz="3600" dirty="0" err="1"/>
              <a:t>Tecnicway</a:t>
            </a:r>
            <a:endParaRPr lang="en-PH" sz="3600" dirty="0"/>
          </a:p>
          <a:p>
            <a:pPr marL="742950" indent="-742950">
              <a:buAutoNum type="alphaUcPeriod"/>
            </a:pPr>
            <a:r>
              <a:rPr lang="en-PH" sz="3600" dirty="0">
                <a:solidFill>
                  <a:srgbClr val="FF0000"/>
                </a:solidFill>
              </a:rPr>
              <a:t>Anomie</a:t>
            </a:r>
          </a:p>
          <a:p>
            <a:pPr marL="742950" indent="-742950">
              <a:buAutoNum type="alphaUcPeriod"/>
            </a:pPr>
            <a:r>
              <a:rPr lang="en-PH" sz="3600" dirty="0"/>
              <a:t>Taboo</a:t>
            </a:r>
          </a:p>
          <a:p>
            <a:pPr marL="742950" indent="-742950">
              <a:buAutoNum type="alphaUcPeriod"/>
            </a:pPr>
            <a:r>
              <a:rPr lang="en-PH" sz="3600" dirty="0"/>
              <a:t>Deviance</a:t>
            </a:r>
          </a:p>
          <a:p>
            <a:pPr marL="0" indent="0">
              <a:buNone/>
            </a:pPr>
            <a:endParaRPr lang="en-PH" sz="3600" dirty="0"/>
          </a:p>
        </p:txBody>
      </p:sp>
    </p:spTree>
    <p:extLst>
      <p:ext uri="{BB962C8B-B14F-4D97-AF65-F5344CB8AC3E}">
        <p14:creationId xmlns:p14="http://schemas.microsoft.com/office/powerpoint/2010/main" val="2803201776"/>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147. Meritocracy is not yet fully operative in our systems. Which is a possible consequence?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73908"/>
            <a:ext cx="10515600" cy="4351338"/>
          </a:xfrm>
        </p:spPr>
        <p:txBody>
          <a:bodyPr>
            <a:normAutofit/>
          </a:bodyPr>
          <a:lstStyle/>
          <a:p>
            <a:pPr marL="742950" indent="-742950">
              <a:buAutoNum type="alphaUcPeriod"/>
            </a:pPr>
            <a:r>
              <a:rPr lang="en-PH" sz="3600" dirty="0"/>
              <a:t>Kami mentality</a:t>
            </a:r>
          </a:p>
          <a:p>
            <a:pPr marL="742950" indent="-742950">
              <a:buAutoNum type="alphaUcPeriod"/>
            </a:pPr>
            <a:r>
              <a:rPr lang="en-PH" sz="3600" dirty="0"/>
              <a:t>Pursuit of excellence</a:t>
            </a:r>
          </a:p>
          <a:p>
            <a:pPr marL="742950" indent="-742950">
              <a:buAutoNum type="alphaUcPeriod"/>
            </a:pPr>
            <a:r>
              <a:rPr lang="en-PH" sz="3600" dirty="0"/>
              <a:t>Adherence to “</a:t>
            </a:r>
            <a:r>
              <a:rPr lang="en-PH" sz="3600" dirty="0" err="1"/>
              <a:t>pwede</a:t>
            </a:r>
            <a:r>
              <a:rPr lang="en-PH" sz="3600" dirty="0"/>
              <a:t> </a:t>
            </a:r>
            <a:r>
              <a:rPr lang="en-PH" sz="3600" dirty="0" err="1"/>
              <a:t>na</a:t>
            </a:r>
            <a:r>
              <a:rPr lang="en-PH" sz="3600" dirty="0"/>
              <a:t>” mentality</a:t>
            </a:r>
          </a:p>
          <a:p>
            <a:pPr marL="742950" indent="-742950">
              <a:buAutoNum type="alphaUcPeriod"/>
            </a:pPr>
            <a:r>
              <a:rPr lang="en-PH" sz="3600" dirty="0" err="1"/>
              <a:t>Talangka</a:t>
            </a:r>
            <a:r>
              <a:rPr lang="en-PH" sz="3600" dirty="0"/>
              <a:t> mentality</a:t>
            </a:r>
          </a:p>
        </p:txBody>
      </p:sp>
    </p:spTree>
    <p:extLst>
      <p:ext uri="{BB962C8B-B14F-4D97-AF65-F5344CB8AC3E}">
        <p14:creationId xmlns:p14="http://schemas.microsoft.com/office/powerpoint/2010/main" val="1391152109"/>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147. Meritocracy is not yet fully operative in our systems. Which is a possible consequence?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973908"/>
            <a:ext cx="10515600" cy="4351338"/>
          </a:xfrm>
        </p:spPr>
        <p:txBody>
          <a:bodyPr>
            <a:normAutofit/>
          </a:bodyPr>
          <a:lstStyle/>
          <a:p>
            <a:pPr marL="742950" indent="-742950">
              <a:buAutoNum type="alphaUcPeriod"/>
            </a:pPr>
            <a:r>
              <a:rPr lang="en-PH" sz="3600" dirty="0"/>
              <a:t>Kami mentality</a:t>
            </a:r>
          </a:p>
          <a:p>
            <a:pPr marL="742950" indent="-742950">
              <a:buAutoNum type="alphaUcPeriod"/>
            </a:pPr>
            <a:r>
              <a:rPr lang="en-PH" sz="3600" dirty="0"/>
              <a:t>Pursuit of excellence</a:t>
            </a:r>
          </a:p>
          <a:p>
            <a:pPr marL="742950" indent="-742950">
              <a:buAutoNum type="alphaUcPeriod"/>
            </a:pPr>
            <a:r>
              <a:rPr lang="en-PH" sz="3600" dirty="0">
                <a:solidFill>
                  <a:srgbClr val="FF0000"/>
                </a:solidFill>
              </a:rPr>
              <a:t>Adherence to “</a:t>
            </a:r>
            <a:r>
              <a:rPr lang="en-PH" sz="3600" dirty="0" err="1">
                <a:solidFill>
                  <a:srgbClr val="FF0000"/>
                </a:solidFill>
              </a:rPr>
              <a:t>pwede</a:t>
            </a:r>
            <a:r>
              <a:rPr lang="en-PH" sz="3600" dirty="0">
                <a:solidFill>
                  <a:srgbClr val="FF0000"/>
                </a:solidFill>
              </a:rPr>
              <a:t> </a:t>
            </a:r>
            <a:r>
              <a:rPr lang="en-PH" sz="3600" dirty="0" err="1">
                <a:solidFill>
                  <a:srgbClr val="FF0000"/>
                </a:solidFill>
              </a:rPr>
              <a:t>na</a:t>
            </a:r>
            <a:r>
              <a:rPr lang="en-PH" sz="3600" dirty="0">
                <a:solidFill>
                  <a:srgbClr val="FF0000"/>
                </a:solidFill>
              </a:rPr>
              <a:t>” mentality</a:t>
            </a:r>
          </a:p>
          <a:p>
            <a:pPr marL="742950" indent="-742950">
              <a:buAutoNum type="alphaUcPeriod"/>
            </a:pPr>
            <a:r>
              <a:rPr lang="en-PH" sz="3600" dirty="0" err="1"/>
              <a:t>Talangka</a:t>
            </a:r>
            <a:r>
              <a:rPr lang="en-PH" sz="3600" dirty="0"/>
              <a:t> mentality</a:t>
            </a:r>
          </a:p>
        </p:txBody>
      </p:sp>
    </p:spTree>
    <p:extLst>
      <p:ext uri="{BB962C8B-B14F-4D97-AF65-F5344CB8AC3E}">
        <p14:creationId xmlns:p14="http://schemas.microsoft.com/office/powerpoint/2010/main" val="2157859554"/>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148. The Philippines adopts and pursues a policy of freedom from nuclear weapons in its territory. Which is therefore is forbidden?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lgn="just">
              <a:buAutoNum type="alphaUcPeriod"/>
            </a:pPr>
            <a:r>
              <a:rPr lang="en-PH" sz="3600" dirty="0"/>
              <a:t>Welcoming the establishment of foreign bases</a:t>
            </a:r>
          </a:p>
          <a:p>
            <a:pPr marL="742950" indent="-742950" algn="just">
              <a:buAutoNum type="alphaUcPeriod"/>
            </a:pPr>
            <a:r>
              <a:rPr lang="en-PH" sz="3600" dirty="0"/>
              <a:t>The use of nuclear energy for medicine, agriculture and other beneficial services</a:t>
            </a:r>
          </a:p>
          <a:p>
            <a:pPr marL="742950" indent="-742950" algn="just">
              <a:buAutoNum type="alphaUcPeriod"/>
            </a:pPr>
            <a:r>
              <a:rPr lang="en-PH" sz="3600" dirty="0"/>
              <a:t>The making, storing, manufacture and dumping of nuclear weapons or devices in the country</a:t>
            </a:r>
          </a:p>
          <a:p>
            <a:pPr marL="742950" indent="-742950" algn="just">
              <a:buAutoNum type="alphaUcPeriod"/>
            </a:pPr>
            <a:r>
              <a:rPr lang="en-PH" sz="3600" dirty="0"/>
              <a:t>Establishment of ties with nuclear countries</a:t>
            </a:r>
          </a:p>
        </p:txBody>
      </p:sp>
    </p:spTree>
    <p:extLst>
      <p:ext uri="{BB962C8B-B14F-4D97-AF65-F5344CB8AC3E}">
        <p14:creationId xmlns:p14="http://schemas.microsoft.com/office/powerpoint/2010/main" val="4112069649"/>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148. The Philippines adopts and pursues a policy of freedom from nuclear weapons in its territory. Which is therefore is forbidden?</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87409"/>
            <a:ext cx="10515600" cy="4351338"/>
          </a:xfrm>
        </p:spPr>
        <p:txBody>
          <a:bodyPr>
            <a:normAutofit/>
          </a:bodyPr>
          <a:lstStyle/>
          <a:p>
            <a:pPr marL="742950" indent="-742950" algn="just">
              <a:buAutoNum type="alphaUcPeriod"/>
            </a:pPr>
            <a:r>
              <a:rPr lang="en-PH" sz="3600" dirty="0"/>
              <a:t>Welcoming the establishment of foreign bases</a:t>
            </a:r>
          </a:p>
          <a:p>
            <a:pPr marL="742950" indent="-742950" algn="just">
              <a:buAutoNum type="alphaUcPeriod"/>
            </a:pPr>
            <a:r>
              <a:rPr lang="en-PH" sz="3600" dirty="0"/>
              <a:t>The use of nuclear energy for medicine, agriculture and other beneficial services</a:t>
            </a:r>
          </a:p>
          <a:p>
            <a:pPr marL="742950" indent="-742950" algn="just">
              <a:buAutoNum type="alphaUcPeriod"/>
            </a:pPr>
            <a:r>
              <a:rPr lang="en-PH" sz="3600" dirty="0">
                <a:solidFill>
                  <a:srgbClr val="FF0000"/>
                </a:solidFill>
              </a:rPr>
              <a:t>The making, storing, manufacture and dumping of nuclear weapons or devices in the country</a:t>
            </a:r>
          </a:p>
          <a:p>
            <a:pPr marL="742950" indent="-742950" algn="just">
              <a:buAutoNum type="alphaUcPeriod"/>
            </a:pPr>
            <a:r>
              <a:rPr lang="en-PH" sz="3600" dirty="0"/>
              <a:t>Establishment of ties with nuclear countries</a:t>
            </a:r>
          </a:p>
        </p:txBody>
      </p:sp>
    </p:spTree>
    <p:extLst>
      <p:ext uri="{BB962C8B-B14F-4D97-AF65-F5344CB8AC3E}">
        <p14:creationId xmlns:p14="http://schemas.microsoft.com/office/powerpoint/2010/main" val="2759295800"/>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149. Which of the following Rizal’s work was believed to be the germ of </a:t>
            </a:r>
            <a:r>
              <a:rPr lang="en-PH" dirty="0" err="1"/>
              <a:t>Noli</a:t>
            </a:r>
            <a:r>
              <a:rPr lang="en-PH" dirty="0"/>
              <a:t> Me Tangere?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Revista</a:t>
            </a:r>
            <a:r>
              <a:rPr lang="en-PH" sz="3600" dirty="0"/>
              <a:t> del </a:t>
            </a:r>
            <a:r>
              <a:rPr lang="en-PH" sz="3600" dirty="0" err="1"/>
              <a:t>Circulo</a:t>
            </a:r>
            <a:r>
              <a:rPr lang="en-PH" sz="3600" dirty="0"/>
              <a:t> Hispano-Filipino</a:t>
            </a:r>
          </a:p>
          <a:p>
            <a:pPr marL="742950" indent="-742950">
              <a:buAutoNum type="alphaUcPeriod"/>
            </a:pPr>
            <a:r>
              <a:rPr lang="en-PH" sz="3600" dirty="0"/>
              <a:t>A Filipino’s Thoughts</a:t>
            </a:r>
          </a:p>
          <a:p>
            <a:pPr marL="742950" indent="-742950">
              <a:buAutoNum type="alphaUcPeriod"/>
            </a:pPr>
            <a:r>
              <a:rPr lang="en-PH" sz="3600" dirty="0"/>
              <a:t>Junto Al Pasig</a:t>
            </a:r>
          </a:p>
          <a:p>
            <a:pPr marL="742950" indent="-742950">
              <a:buAutoNum type="alphaUcPeriod"/>
            </a:pPr>
            <a:r>
              <a:rPr lang="en-PH" sz="3600" dirty="0"/>
              <a:t>El </a:t>
            </a:r>
            <a:r>
              <a:rPr lang="en-PH" sz="3600" dirty="0" err="1"/>
              <a:t>Progreso</a:t>
            </a:r>
            <a:endParaRPr lang="en-PH" sz="3600" dirty="0"/>
          </a:p>
        </p:txBody>
      </p:sp>
    </p:spTree>
    <p:extLst>
      <p:ext uri="{BB962C8B-B14F-4D97-AF65-F5344CB8AC3E}">
        <p14:creationId xmlns:p14="http://schemas.microsoft.com/office/powerpoint/2010/main" val="3876584556"/>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149. Which of the following Rizal’s work was believed to be the germ of </a:t>
            </a:r>
            <a:r>
              <a:rPr lang="en-PH" dirty="0" err="1"/>
              <a:t>Noli</a:t>
            </a:r>
            <a:r>
              <a:rPr lang="en-PH" dirty="0"/>
              <a:t> Me Tangere?</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buAutoNum type="alphaUcPeriod"/>
            </a:pPr>
            <a:r>
              <a:rPr lang="en-PH" sz="3600" dirty="0" err="1"/>
              <a:t>Revista</a:t>
            </a:r>
            <a:r>
              <a:rPr lang="en-PH" sz="3600" dirty="0"/>
              <a:t> del </a:t>
            </a:r>
            <a:r>
              <a:rPr lang="en-PH" sz="3600" dirty="0" err="1"/>
              <a:t>Circulo</a:t>
            </a:r>
            <a:r>
              <a:rPr lang="en-PH" sz="3600" dirty="0"/>
              <a:t> Hispano-Filipino</a:t>
            </a:r>
          </a:p>
          <a:p>
            <a:pPr marL="742950" indent="-742950">
              <a:buAutoNum type="alphaUcPeriod"/>
            </a:pPr>
            <a:r>
              <a:rPr lang="en-PH" sz="3600" dirty="0"/>
              <a:t>A Filipino’s Thoughts</a:t>
            </a:r>
          </a:p>
          <a:p>
            <a:pPr marL="742950" indent="-742950">
              <a:buAutoNum type="alphaUcPeriod"/>
            </a:pPr>
            <a:r>
              <a:rPr lang="en-PH" sz="3600" dirty="0">
                <a:solidFill>
                  <a:srgbClr val="FF0000"/>
                </a:solidFill>
              </a:rPr>
              <a:t>Junto Al Pasig</a:t>
            </a:r>
          </a:p>
          <a:p>
            <a:pPr marL="742950" indent="-742950">
              <a:buAutoNum type="alphaUcPeriod"/>
            </a:pPr>
            <a:r>
              <a:rPr lang="en-PH" sz="3600" dirty="0"/>
              <a:t>El </a:t>
            </a:r>
            <a:r>
              <a:rPr lang="en-PH" sz="3600" dirty="0" err="1"/>
              <a:t>Progreso</a:t>
            </a:r>
            <a:endParaRPr lang="en-PH" sz="3600" dirty="0"/>
          </a:p>
        </p:txBody>
      </p:sp>
    </p:spTree>
    <p:extLst>
      <p:ext uri="{BB962C8B-B14F-4D97-AF65-F5344CB8AC3E}">
        <p14:creationId xmlns:p14="http://schemas.microsoft.com/office/powerpoint/2010/main" val="3176130213"/>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150. Which is a Constitutional response to the worsening rural-urban disparities?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Local governments have a share in the national wealth taxes</a:t>
            </a:r>
          </a:p>
          <a:p>
            <a:pPr marL="742950" indent="-742950" algn="just">
              <a:buAutoNum type="alphaUcPeriod"/>
            </a:pPr>
            <a:r>
              <a:rPr lang="en-PH" sz="3600" dirty="0"/>
              <a:t>Privatization of industry</a:t>
            </a:r>
          </a:p>
          <a:p>
            <a:pPr marL="742950" indent="-742950" algn="just">
              <a:buAutoNum type="alphaUcPeriod"/>
            </a:pPr>
            <a:r>
              <a:rPr lang="en-PH" sz="3600" dirty="0"/>
              <a:t>Observance of Filipino-first policy</a:t>
            </a:r>
          </a:p>
          <a:p>
            <a:pPr marL="742950" indent="-742950" algn="just">
              <a:buAutoNum type="alphaUcPeriod"/>
            </a:pPr>
            <a:r>
              <a:rPr lang="en-PH" sz="3600" dirty="0"/>
              <a:t>Immigration to the cities</a:t>
            </a:r>
          </a:p>
        </p:txBody>
      </p:sp>
    </p:spTree>
    <p:extLst>
      <p:ext uri="{BB962C8B-B14F-4D97-AF65-F5344CB8AC3E}">
        <p14:creationId xmlns:p14="http://schemas.microsoft.com/office/powerpoint/2010/main" val="3343146954"/>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C2F6E-49CC-428C-908D-98693D1B14AE}"/>
              </a:ext>
            </a:extLst>
          </p:cNvPr>
          <p:cNvSpPr>
            <a:spLocks noGrp="1"/>
          </p:cNvSpPr>
          <p:nvPr>
            <p:ph type="title"/>
          </p:nvPr>
        </p:nvSpPr>
        <p:spPr>
          <a:xfrm>
            <a:off x="838200" y="290973"/>
            <a:ext cx="10515600" cy="1325563"/>
          </a:xfrm>
        </p:spPr>
        <p:txBody>
          <a:bodyPr>
            <a:noAutofit/>
          </a:bodyPr>
          <a:lstStyle/>
          <a:p>
            <a:pPr algn="just"/>
            <a:r>
              <a:rPr lang="en-PH" dirty="0"/>
              <a:t>150. Which is a Constitutional response to the worsening rural-urban disparities?</a:t>
            </a:r>
          </a:p>
        </p:txBody>
      </p:sp>
      <p:sp>
        <p:nvSpPr>
          <p:cNvPr id="3" name="Content Placeholder 2">
            <a:extLst>
              <a:ext uri="{FF2B5EF4-FFF2-40B4-BE49-F238E27FC236}">
                <a16:creationId xmlns:a16="http://schemas.microsoft.com/office/drawing/2014/main" id="{C41DD1FD-AC93-4081-BF45-D86D868AD211}"/>
              </a:ext>
            </a:extLst>
          </p:cNvPr>
          <p:cNvSpPr>
            <a:spLocks noGrp="1"/>
          </p:cNvSpPr>
          <p:nvPr>
            <p:ph idx="1"/>
          </p:nvPr>
        </p:nvSpPr>
        <p:spPr>
          <a:xfrm>
            <a:off x="838200" y="1825624"/>
            <a:ext cx="10515600" cy="4351338"/>
          </a:xfrm>
        </p:spPr>
        <p:txBody>
          <a:bodyPr>
            <a:normAutofit/>
          </a:bodyPr>
          <a:lstStyle/>
          <a:p>
            <a:pPr marL="742950" indent="-742950" algn="just">
              <a:buAutoNum type="alphaUcPeriod"/>
            </a:pPr>
            <a:r>
              <a:rPr lang="en-PH" sz="3600" dirty="0"/>
              <a:t>Local governments have a share in the national wealth taxes</a:t>
            </a:r>
          </a:p>
          <a:p>
            <a:pPr marL="742950" indent="-742950" algn="just">
              <a:buAutoNum type="alphaUcPeriod"/>
            </a:pPr>
            <a:r>
              <a:rPr lang="en-PH" sz="3600" dirty="0">
                <a:solidFill>
                  <a:srgbClr val="FF0000"/>
                </a:solidFill>
              </a:rPr>
              <a:t>Privatization of industry</a:t>
            </a:r>
          </a:p>
          <a:p>
            <a:pPr marL="742950" indent="-742950" algn="just">
              <a:buAutoNum type="alphaUcPeriod"/>
            </a:pPr>
            <a:r>
              <a:rPr lang="en-PH" sz="3600" dirty="0"/>
              <a:t>Observance of Filipino-first policy</a:t>
            </a:r>
          </a:p>
          <a:p>
            <a:pPr marL="742950" indent="-742950" algn="just">
              <a:buAutoNum type="alphaUcPeriod"/>
            </a:pPr>
            <a:r>
              <a:rPr lang="en-PH" sz="3600" dirty="0"/>
              <a:t>Immigration to the cities</a:t>
            </a:r>
          </a:p>
        </p:txBody>
      </p:sp>
    </p:spTree>
    <p:extLst>
      <p:ext uri="{BB962C8B-B14F-4D97-AF65-F5344CB8AC3E}">
        <p14:creationId xmlns:p14="http://schemas.microsoft.com/office/powerpoint/2010/main" val="531575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791</TotalTime>
  <Words>10850</Words>
  <Application>Microsoft Office PowerPoint</Application>
  <PresentationFormat>Widescreen</PresentationFormat>
  <Paragraphs>1523</Paragraphs>
  <Slides>301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301</vt:i4>
      </vt:variant>
    </vt:vector>
  </HeadingPairs>
  <TitlesOfParts>
    <vt:vector size="305" baseType="lpstr">
      <vt:lpstr>Arial</vt:lpstr>
      <vt:lpstr>Calibri</vt:lpstr>
      <vt:lpstr>Calibri Light</vt:lpstr>
      <vt:lpstr>Office Theme</vt:lpstr>
      <vt:lpstr>MET REVIEWER </vt:lpstr>
      <vt:lpstr>1. Which is the statement is true of Mindanao?</vt:lpstr>
      <vt:lpstr>1. Which is the statement is true of Mindanao?</vt:lpstr>
      <vt:lpstr>2. What is the primary governing law on agrarian reform at present?</vt:lpstr>
      <vt:lpstr>2. What is the primary governing law on agrarian reform at present?</vt:lpstr>
      <vt:lpstr>3. Which terms refers to the period of transition from the use of human and animal power to the use of machine in producing and distributing goods?</vt:lpstr>
      <vt:lpstr>3. Which terms refers to the period of transition from the use of human and animal power to the use of machine in producing and distributing goods?</vt:lpstr>
      <vt:lpstr>4. Which among the following are examples of material culture?</vt:lpstr>
      <vt:lpstr>4. Which among the following are examples of material culture?</vt:lpstr>
      <vt:lpstr>5. Who is the capitalist thinker who said this: “ the combination of self-interest, private property, and competition among sellers in markets will lead producers as by an ‘invisible hand’ to an end that they did NOT intend, namely, the well-being of society.”</vt:lpstr>
      <vt:lpstr>5. Who is the capitalist thinker who said this: “ the combination of self-interest, private property, and competition among sellers in markets will lead producers as by an ‘invisible hand’ to an end that they did NOT intend, namely, the well-being of society.”</vt:lpstr>
      <vt:lpstr>6. With which group are you if you for the rival of the classics?</vt:lpstr>
      <vt:lpstr>6. With which group are you if you for the rival of the classics?</vt:lpstr>
      <vt:lpstr>7. Under what form of government does the commonwealth Government of the Philippines fall?</vt:lpstr>
      <vt:lpstr>7. Under what form of government does the commonwealth Government of the Philippines fall?</vt:lpstr>
      <vt:lpstr>8. Which event explains why sociologist F. Landa Jocano debunked the theory that Malays we</vt:lpstr>
      <vt:lpstr>8. Which event explains why sociologist F. Landa Jocano debunked the theory that Malays we</vt:lpstr>
      <vt:lpstr>9. The Philippines is a member of the Association of Southeast Asian Nation. Which are the other members?</vt:lpstr>
      <vt:lpstr>9. The Philippines is a member of the Association of Southeast Asian Nation. Which are the other members?</vt:lpstr>
      <vt:lpstr>10. Which is the statement about cartel is WRONG?</vt:lpstr>
      <vt:lpstr>10. Which is the statement about cartel is WRONG?</vt:lpstr>
      <vt:lpstr>11. Which is said to be the largest Philippine bird?</vt:lpstr>
      <vt:lpstr>11. Which is said to be the largest Philippine bird?</vt:lpstr>
      <vt:lpstr>12. The Philippines has abundant sunshine all year round. Because of this Filipino has the tendency _________.</vt:lpstr>
      <vt:lpstr>12. The Philippines has abundant sunshine all year round. Because of this Filipino has the tendency _________.</vt:lpstr>
      <vt:lpstr>13. Which theory states that human society develops gradually from lower to higher forms?</vt:lpstr>
      <vt:lpstr>13. Which theory states that human society develops gradually from lower to higher forms?</vt:lpstr>
      <vt:lpstr>14. Which is South Asia’s largest country?</vt:lpstr>
      <vt:lpstr>14. Which is South Asia’s largest country?</vt:lpstr>
      <vt:lpstr>15. When you judge by results, regardless of your relation to the people involved, which Filipino trait do you counteract?</vt:lpstr>
      <vt:lpstr>15. When you judge by results, regardless of your relation to the people involved, which Filipino trait do you counteract?</vt:lpstr>
      <vt:lpstr>16. According to Montesquieu, which continent is said to be “ the intellectual center of the world”?</vt:lpstr>
      <vt:lpstr>16. According to Montesquieu, which continent is said to be “ the intellectual center of the world”?</vt:lpstr>
      <vt:lpstr>17. Napoleon Rama once wrote of Filipinos overstaying in Taipei charged and deported. It was fellow Filipinos who kept reporting to the Chinese police. To what Filipino trait does this behavior point?</vt:lpstr>
      <vt:lpstr>17. Napoleon Rama once wrote of Filipinos overstaying in Taipei charged and deported. It was fellow Filipinos who kept reporting to the Chinese police. To what Filipino trait does this behavior point?</vt:lpstr>
      <vt:lpstr>18. Which is the statement about Rizal is  FALSE?</vt:lpstr>
      <vt:lpstr>18. Which is the statement about Rizal is  FALSE?</vt:lpstr>
      <vt:lpstr>19. Four main elements make it possible for a nation’s economy to grow. They are natural resources, capital, labor for and __________.</vt:lpstr>
      <vt:lpstr>19. Four main elements make it possible for a nation’s economy to grow. They are natural resources, capital, labor for and __________.</vt:lpstr>
      <vt:lpstr>20. Who said: “ there are no tyrants where there are no slaves.”?</vt:lpstr>
      <vt:lpstr>20. Who said: “ there are no tyrants where there are no slaves.”?</vt:lpstr>
      <vt:lpstr>21. What powers were common to the datu of the pre-Spanish period and the Governor-General of the Spanish colonial era?</vt:lpstr>
      <vt:lpstr>21. What powers were common to the datu of the pre-Spanish period and the Governor-General of the Spanish colonial era?</vt:lpstr>
      <vt:lpstr>22. Under whose leadership was Philippine independence proclaimed on June 12, 1898?</vt:lpstr>
      <vt:lpstr>22. Under whose leadership was Philippine independence proclaimed on June 12, 1898?</vt:lpstr>
      <vt:lpstr>23. Which refers to the power of the courts to interpret the Constitution to declare any legislative or executive act invalid because it is in conflict with the fundamental law?</vt:lpstr>
      <vt:lpstr>23. Which refers to the power of the courts to interpret the Constitution to declare any legislative or executive act invalid because it is in conflict with the fundamental law?</vt:lpstr>
      <vt:lpstr>24. The 1987 Phil Constitution created a body with the power to confirm major appointments of the President. What is this body called?</vt:lpstr>
      <vt:lpstr>24. The 1987 Phil Constitution created a body with the power to confirm major appointments of the President. What is this body called?</vt:lpstr>
      <vt:lpstr>25. The family into which one is born is the called the_________.</vt:lpstr>
      <vt:lpstr>25. The family into which one is born is the called the_________.</vt:lpstr>
      <vt:lpstr>26. In classical Athens, who emphasized the individual’s attainment of excellence through rhetoric, grammar, music, and mathematics?</vt:lpstr>
      <vt:lpstr>26. In classical Athens, who emphasized the individual’s attainment of excellence through rhetoric, grammar, music, and mathematics?</vt:lpstr>
      <vt:lpstr>27. Which statement on Filipino revolts against Spain is CORRECT?</vt:lpstr>
      <vt:lpstr>27. Which statement on Filipino revolts against Spain is CORRECT?</vt:lpstr>
      <vt:lpstr>28. Which one does NOT happen during a recession or a depression?</vt:lpstr>
      <vt:lpstr>28. Which one does NOT happen during a recession or a depression?</vt:lpstr>
      <vt:lpstr>29.  Which Philippine forest resource is known as the “Republic Tree”?</vt:lpstr>
      <vt:lpstr>29.  Which Philippine forest resource is known as the “Republic Tree”?</vt:lpstr>
      <vt:lpstr>30. Which does NOT held true to Philippine society in Rizal’s time?</vt:lpstr>
      <vt:lpstr>30. Which does NOT held true to Philippine society in Rizal’s time?</vt:lpstr>
      <vt:lpstr>31. In what way does the executive of the nation have a legislative power?</vt:lpstr>
      <vt:lpstr>31. In what way does the executive of the nation have a legislative power?</vt:lpstr>
      <vt:lpstr>32. Social justice, the ‘centerpiece’ of the 1986 Constitution, demands he reduction of the widening gap between the rich and the poor. This effort leads to the building of ________.</vt:lpstr>
      <vt:lpstr>32. Social justice, the ‘centerpiece’ of the 1986 Constitution, demands he reduction of the widening gap between the rich and the poor. This effort leads to the building of ________.</vt:lpstr>
      <vt:lpstr>33. In what way does the executive of the nation have a legislative power?</vt:lpstr>
      <vt:lpstr>33. In what way does the executive of the nation have a legislative power?</vt:lpstr>
      <vt:lpstr>34. Which river is claimed to be a commercially important artery flowing through Manila?</vt:lpstr>
      <vt:lpstr>34. Which river is claimed to be a commercially important artery flowing through Manila?</vt:lpstr>
      <vt:lpstr>35. What was Pres. Magsaysay’s “Liberty Wells” campaign?</vt:lpstr>
      <vt:lpstr>35. What was Pres. Magsaysay’s “Liberty Wells” campaign?</vt:lpstr>
      <vt:lpstr>36. Which term refers to life zones – all plants, animals, other organisms, and the physical environment in a particular area?</vt:lpstr>
      <vt:lpstr>36. Which term refers to life zones – all plants, animals, other organisms, and the physical environment in a particular area?</vt:lpstr>
      <vt:lpstr>37. What is a culturally and politically fragmented region shaped by the collisions of stronger aggressive external powers?</vt:lpstr>
      <vt:lpstr>37. What is a culturally and politically fragmented region shaped by the collisions of stronger aggressive external powers?</vt:lpstr>
      <vt:lpstr>38. Which era in the Philippine history is characterized by a political and economic liberalism?</vt:lpstr>
      <vt:lpstr>38. Which era in the Philippine history is characterized by a political and economic liberalism?</vt:lpstr>
      <vt:lpstr>39. On what ground was the election of Andres Bonifacio as Director of the Interior protested?</vt:lpstr>
      <vt:lpstr>39. On what ground was the election of Andres Bonifacio as Director of the Interior protested?</vt:lpstr>
      <vt:lpstr>40. Homo erectus developed form the _______</vt:lpstr>
      <vt:lpstr>40. Homo erectus developed form the _______</vt:lpstr>
      <vt:lpstr>41. Which of the following events was first to occur?</vt:lpstr>
      <vt:lpstr>41. Which of the following events was first to occur?</vt:lpstr>
      <vt:lpstr>42. Which term refers to the reduction of the sentence imposed to a lesser punishment?</vt:lpstr>
      <vt:lpstr>42. Which term refers to the reduction of the sentence imposed to a lesser punishment?</vt:lpstr>
      <vt:lpstr>43. “There are no tyrants where there are no slaves”, said Rizal during the Spanish period. What message did Rizal want to put across?</vt:lpstr>
      <vt:lpstr>43. “There are no tyrants where there are no slaves”, said Rizal during the Spanish period. What message did Rizal want to put across?</vt:lpstr>
      <vt:lpstr>44. Which of the following taxes is imposed by local government?</vt:lpstr>
      <vt:lpstr>44. Which of the following taxes is imposed by local government?</vt:lpstr>
      <vt:lpstr>45. Most of the parents in your school are farmers. For agricultural supplies they are provided by a cooperative which sells their farm produce at the same time. Of which type of a cooperative are they members?</vt:lpstr>
      <vt:lpstr>45. Most of the parents in your school are farmers. For agricultural supplies they are provided by a cooperative which sells their farm produce at the same time. Of which type of a cooperative are they members?</vt:lpstr>
      <vt:lpstr>46. The time orientation of the Filipino is _______ rather than mathematical.</vt:lpstr>
      <vt:lpstr>46. The time orientation of the Filipino is _______ rather than mathematical.</vt:lpstr>
      <vt:lpstr>47. In World War I, which was NOT among the Central Powers?</vt:lpstr>
      <vt:lpstr>47. In World War I, which was NOT among the Central Powers?</vt:lpstr>
      <vt:lpstr>48. The state is likened to a human body which consists of three important parts: the head, seat of reason and wisdom; the chest, seat of the will and courage; and abdomen, seat of appetite and temperance. Just as the human body is healthy when its three parts function in harmony, so will a state be good if all its members function in accordance with the three components. The rulers, auxiliaries and workers. Whose teaching was this?</vt:lpstr>
      <vt:lpstr>48. The state is likened to a human body which consists of three important parts: the head, seat of reason and wisdom; the chest, seat of the will and courage; and abdomen, seat of appetite and temperance. Just as the human body is healthy when its three parts function in harmony, so will a state be good if all its members function in accordance with the three components. The rulers, auxiliaries and workers. Whose teaching was this?</vt:lpstr>
      <vt:lpstr>49. Which assumption underlines the Comprehensive Agrarian Reform Program?</vt:lpstr>
      <vt:lpstr>49. Which assumption underlines the Comprehensive Agrarian Reform Program?</vt:lpstr>
      <vt:lpstr>50. The following describe membership in a cooperative EXCEPT _____________.</vt:lpstr>
      <vt:lpstr>50. The following describe membership in a cooperative EXCEPT _____________.</vt:lpstr>
      <vt:lpstr>51. With which group of foreigners did our ancestors trade extensively before the coming of Magellan?</vt:lpstr>
      <vt:lpstr>51. With which group of foreigners did our ancestors trade extensively before the coming of Magellan?</vt:lpstr>
      <vt:lpstr>52.  Which reform was introduces in the 1987 Constitution?</vt:lpstr>
      <vt:lpstr>52.  Which reform was introduces in the 1987 Constitution?</vt:lpstr>
      <vt:lpstr>53. Which describes the phenomenon of “hurried children”?</vt:lpstr>
      <vt:lpstr>53. Which describes the phenomenon of “hurried children”?</vt:lpstr>
      <vt:lpstr>54. Through the galleon trade (1565 – 1815), the Philippines extended historical contracts with ____________</vt:lpstr>
      <vt:lpstr>54. Through the galleon trade (1565 – 1815), the Philippines extended historical contracts with ____________</vt:lpstr>
      <vt:lpstr>55. Which island was the scene of the first landing of US troops when they recaptured the Philippines from the Japanese.</vt:lpstr>
      <vt:lpstr>55. Which island was the scene of the first landing of US troops when they recaptured the Philippines from the Japanese.</vt:lpstr>
      <vt:lpstr>56. Social justice is a mandate imposed by the 1987 Constitution. Which measure does NOT promote it?</vt:lpstr>
      <vt:lpstr>56. Social justice is a mandate imposed by the 1987 Constitution. Which measure does NOT promote it?</vt:lpstr>
      <vt:lpstr>57. Which is the longest flowing river in the Philippines?</vt:lpstr>
      <vt:lpstr>57. Which is the longest flowing river in the Philippines?</vt:lpstr>
      <vt:lpstr>58. Which is the Royal Audencia in our time?</vt:lpstr>
      <vt:lpstr>58. Which is the Royal Audencia in our time?</vt:lpstr>
      <vt:lpstr>59. Which is/are the basic principle/s that underline/s the new Constitution?</vt:lpstr>
      <vt:lpstr>59. Which is/are the basic principle/s that underline/s the new Constitution?</vt:lpstr>
      <vt:lpstr>60. The “President” during the pre-Spanish period is the __________</vt:lpstr>
      <vt:lpstr>60. The “President” during the pre-Spanish period is the __________</vt:lpstr>
      <vt:lpstr>61. Who ordained and promulgated the 1986 Philippine Constitution as gleaned from the Preamble?</vt:lpstr>
      <vt:lpstr>61. Who ordained and promulgated the 1986 Philippine Constitution as gleaned from the Preamble?</vt:lpstr>
      <vt:lpstr>62. Which statement WRONGLY tells something about the history of Korea?</vt:lpstr>
      <vt:lpstr>62. Which statement WRONGLY tells something about the history of Korea?</vt:lpstr>
      <vt:lpstr>63. Other than Cordilleras, which group said to have not been subjugated by the Spaniards?</vt:lpstr>
      <vt:lpstr>63. Other than Cordilleras, which group said to have not been subjugated by the Spaniards?</vt:lpstr>
      <vt:lpstr>64. If Soliman heroically fought to death the Spaniards in Manila, who readily welcomes the Spanish conquerors because he thought it was futile to resists a superior foe?</vt:lpstr>
      <vt:lpstr>64. If Soliman heroically fought to death the Spaniards in Manila, who readily welcomes the Spanish conquerors because he thought it was futile to resists a superior foe?</vt:lpstr>
      <vt:lpstr>65. What happens to the peso when there is inflation?</vt:lpstr>
      <vt:lpstr>65. What happens to the peso when there is inflation?</vt:lpstr>
      <vt:lpstr>66. Which type(s) of resolution is/are ratified in the same manner as a bill?</vt:lpstr>
      <vt:lpstr>66. Which type(s) of resolution is/are ratified in the same manner as a bill?</vt:lpstr>
      <vt:lpstr>67. When compared with other countries in size in the Philippines is smaller than</vt:lpstr>
      <vt:lpstr>67. When compared with other countries in size in the Philippines is smaller than</vt:lpstr>
      <vt:lpstr>68. The collapse of the World economy in the 1930’s is referred to as ___________</vt:lpstr>
      <vt:lpstr>68. The collapse of the World economy in the 1930’s is referred to as ___________</vt:lpstr>
      <vt:lpstr>69. Where was the First Filipino Republic inaugurated?</vt:lpstr>
      <vt:lpstr>69. Where was the First Filipino Republic inaugurated?</vt:lpstr>
      <vt:lpstr>70. Who was all together the lawmaker, chief executive,  and judge of pre-Hispanic barangays?</vt:lpstr>
      <vt:lpstr>70. Who was all together the lawmaker, chief executive,  and judge of pre-Hispanic barangays?</vt:lpstr>
      <vt:lpstr>71. A new invention replaces many workers. It takes time for these workers to learn new skills and find other jobs. This is referred to as</vt:lpstr>
      <vt:lpstr>71. A new invention replaces many workers. It takes time for these workers to learn new skills and find other jobs. This is referred to as</vt:lpstr>
      <vt:lpstr>72. The datu is for the pre-Spanish period as _______is for the Spanish period</vt:lpstr>
      <vt:lpstr>72. The datu is for the pre-Spanish period as _______is for the Spanish period</vt:lpstr>
      <vt:lpstr>73. Which constitute a quorum in each House of Congress?</vt:lpstr>
      <vt:lpstr>73. Which constitute a quorum in each House of Congress?</vt:lpstr>
      <vt:lpstr>74. Because of its natural resources, the Philippines is basically a/an ______ country</vt:lpstr>
      <vt:lpstr>74. Because of its natural resources, the Philippines is basically a/an ______ country</vt:lpstr>
      <vt:lpstr>75. Which type of family is claimed to tend to encourage the development of overdependence on others?</vt:lpstr>
      <vt:lpstr>75. Which type of family is claimed to tend to encourage the development of overdependence on others?</vt:lpstr>
      <vt:lpstr>76. He had the men of Macabebe who stood up against the whole Spanish army their bolos and spears against the long riffles of Spain. He was a admired by the Americans to be real man. He died in the water of Bankusay. Who is he?</vt:lpstr>
      <vt:lpstr>76. He had the men of Macabebe who stood up against the whole Spanish army their bolos and spears against the long riffles of Spain. He was a admired by the Americans to be real man. He died in the water of Bankusay. Who is he?</vt:lpstr>
      <vt:lpstr>77. The principle of checks and balances is intended to maintain balance among executive, legislative and judicial departments of the government. Which one is a check on the executive department by the judiciary?</vt:lpstr>
      <vt:lpstr>77. The principle of checks and balances is intended to maintain balance among executive, legislative and judicial departments of the government. Which one is a check on the executive department by the judiciary?</vt:lpstr>
      <vt:lpstr>78. The function by which schools help children to participate effectively in larger society is called</vt:lpstr>
      <vt:lpstr>78. The function by which schools help children to participate effectively in larger society is called</vt:lpstr>
      <vt:lpstr>79. Which work of Rizal is said to be an angry man’s personal debate on weather or not a violent revolution would solve the Philippine crisis through the Spanish period?</vt:lpstr>
      <vt:lpstr>79. Which work of Rizal is said to be an angry man’s personal debate on weather or not a violent revolution would solve the Philippine crisis through the Spanish period?</vt:lpstr>
      <vt:lpstr>80. Pro-poor programs of the Philippines government are meant to</vt:lpstr>
      <vt:lpstr>80. Pro-poor programs of the Philippines government are meant to</vt:lpstr>
      <vt:lpstr>81. After World War II, which country was occupied and administered by the United States with the emperor assuming a primarily symbolic role as the head of the monarchial state?</vt:lpstr>
      <vt:lpstr>81. After World War II, which country was occupied and administered by the United States with the emperor assuming a primarily symbolic role as the head of the monarchial state?</vt:lpstr>
      <vt:lpstr>82. The following are cooperative principles EXCEPT ____________</vt:lpstr>
      <vt:lpstr>82. The following are cooperative principles EXCEPT ____________</vt:lpstr>
      <vt:lpstr>83. Which does NOT belong to Region XI?</vt:lpstr>
      <vt:lpstr>83. Which does NOT belong to Region XI?</vt:lpstr>
      <vt:lpstr>84. Some police officers wiretapped some phones without lawful order of the court or for a cause prescribed by law. What constitutional right may have been violated?</vt:lpstr>
      <vt:lpstr>84. Some police officers wiretapped some phones without lawful order of the court or for a cause prescribed by law. What constitutional right may have been violated?</vt:lpstr>
      <vt:lpstr>85. The Chinese minority group in the Philippines adopts the language, history, and manners of man stream Filipino culture as its own. What pattern of interaction occurs?</vt:lpstr>
      <vt:lpstr>85. The Chinese minority group in the Philippines adopts the language, history, and manners of man stream Filipino culture as its own. What pattern of interaction occurs?</vt:lpstr>
      <vt:lpstr>86. Siquijor was formerly a sub-province of</vt:lpstr>
      <vt:lpstr>86. Siquijor was formerly a sub-province of</vt:lpstr>
      <vt:lpstr>87. The Spaniards organized the many independent barangays under one government so that they could impose their rule much more easily. For the Filipinos, this opened the opportunity to</vt:lpstr>
      <vt:lpstr>87. The Spaniards organized the many independent barangays under one government so that they could impose their rule much more easily. For the Filipinos, this opened the opportunity to</vt:lpstr>
      <vt:lpstr>88. In which instance/s is/are the exemption/s of certain entitles and properties from taxation correctly applied?</vt:lpstr>
      <vt:lpstr>88. In which instance/s is/are the exemption/s of certain entitles and properties from taxation correctly applied?</vt:lpstr>
      <vt:lpstr>89. Which is NOT a principle of cooperatives?</vt:lpstr>
      <vt:lpstr>89. Which is NOT a principle of cooperatives?</vt:lpstr>
      <vt:lpstr>90. Which is given the sole power to declare the existence of a state of war?</vt:lpstr>
      <vt:lpstr>90. Which is given the sole power to declare the existence of a state of war?</vt:lpstr>
      <vt:lpstr>91. “We are a society of lawyers but not of law” claims one author. Which Filipino trait is referred to?</vt:lpstr>
      <vt:lpstr>91. “We are a society of lawyers but not of law” claims one author. Which Filipino trait is referred to?</vt:lpstr>
      <vt:lpstr>92. Which is the leading mineral export in the Philippines?</vt:lpstr>
      <vt:lpstr>92. Which is the leading mineral export in the Philippines?</vt:lpstr>
      <vt:lpstr>93. A UN report states “We could prevent desertification which costs 5.6 billion dollars, an amount that the world spends on armaments in 2 days.” what does this imply?</vt:lpstr>
      <vt:lpstr>93. A UN report states “We could prevent desertification which costs 5.6 billion dollars, an amount that the world spends on armaments in 2 days.” what does this imply?</vt:lpstr>
      <vt:lpstr>94. Which islands in the Pacific did Spain claim to be hers and later sold to Portugal when she needed money for her various wars?</vt:lpstr>
      <vt:lpstr>94. Which islands in the Pacific did Spain claim to be hers and later sold to Portugal when she needed money for her various wars?</vt:lpstr>
      <vt:lpstr>95. Where did the Spaniards establish their first permanent settlement?</vt:lpstr>
      <vt:lpstr>95. Where did the Spaniards establish their first permanent settlement?</vt:lpstr>
      <vt:lpstr>96. What percent of the earth’s surface do the four oceans and numerous seas cover? </vt:lpstr>
      <vt:lpstr>96. What percent of the earth’s surface do the four oceans and numerous seas cover? </vt:lpstr>
      <vt:lpstr>97. Where were the first sundials built in the Philippines?</vt:lpstr>
      <vt:lpstr>97. Where were the first sundials built in the Philippines?</vt:lpstr>
      <vt:lpstr>98. With whom Rizal differ in personality and opinion? Their differences let to the end of the propaganda movement in Spain?</vt:lpstr>
      <vt:lpstr>98. With whom Rizal differ in personality and opinion? Their differences let to the end of the propaganda movement in Spain?</vt:lpstr>
      <vt:lpstr>99. In which area of the globe is the sun low in the sky with its rays slanted?</vt:lpstr>
      <vt:lpstr>99. In which area of the globe is the sun low in the sky with its rays slanted?</vt:lpstr>
      <vt:lpstr>100. Which assumption underlines the Comprehensive Agrarian Reform Program?</vt:lpstr>
      <vt:lpstr>100. Which assumption underlines the Comprehensive Agrarian Reform Program?</vt:lpstr>
      <vt:lpstr>101. Which is true to the members of the 1987 constitutional Commission? They were</vt:lpstr>
      <vt:lpstr>101. Which is true to the members of the 1987 constitutional Commission? They were</vt:lpstr>
      <vt:lpstr>102. Gleaned from the 1987 Constitution, what is the new development philosophy? </vt:lpstr>
      <vt:lpstr>102. Gleaned from the 1987 Constitution, what is the new development philosophy? </vt:lpstr>
      <vt:lpstr>103. Which is one of the successful cartels that controls the world market for oil?</vt:lpstr>
      <vt:lpstr>103. Which is one of the successful cartels that controls the world market for oil?</vt:lpstr>
      <vt:lpstr>104. Father Reuter wrote: “In a survey in Asia, they discovered that the happiest people in Asia are the Filipinos. The most miserable are the Japanese. The Japanese have money. We don’t have money, but we have smile, the warn embrace, the song, the laughter, the joy of living. “what does this prove?</vt:lpstr>
      <vt:lpstr>104. Father Reuter wrote: “In a survey in Asia, they discovered that the happiest people in Asia are the Filipinos. The most miserable are the Japanese. The Japanese have money. We don’t have money, but we have smile, the warn embrace, the song, the laughter, the joy of living. “what does this prove?</vt:lpstr>
      <vt:lpstr>105. Which statement is TRUE about the Philippine relations?</vt:lpstr>
      <vt:lpstr>105. Which statement is TRUE about the Philippine relations?</vt:lpstr>
      <vt:lpstr>106. Some floods are cause indirectly by seismic sea waves also known as</vt:lpstr>
      <vt:lpstr>106. Some floods are cause indirectly by seismic sea waves also known as</vt:lpstr>
      <vt:lpstr>107. What exist when we have a surplus of exports over imports?</vt:lpstr>
      <vt:lpstr>107. What exist when we have a surplus of exports over imports?</vt:lpstr>
      <vt:lpstr>108. Which basic principle was introduced by Spain to the Philippines?</vt:lpstr>
      <vt:lpstr>108. Which basic principle was introduced by Spain to the Philippines?</vt:lpstr>
      <vt:lpstr>109. Which explains Spencer’s theory of progressive evolution of human societies?</vt:lpstr>
      <vt:lpstr>109. Which explains Spencer’s theory of progressive evolution of human societies?</vt:lpstr>
      <vt:lpstr>110.Which one demonstrates that there is interconnectedness between social and environmental injustices?</vt:lpstr>
      <vt:lpstr>110.Which one demonstrates that there is interconnectedness between social and environmental injustices?</vt:lpstr>
      <vt:lpstr>111. Which is considered the most active volcano in the Philippines because it erupted many times since 1915?</vt:lpstr>
      <vt:lpstr>111. Which is considered the most active volcano in the Philippines because it erupted many times since 1915?</vt:lpstr>
      <vt:lpstr>112. King Tupa’s brother offered himself as a captive of the King of Spain in place of his daughter who was made captive. What does this show of Cebuano pre-Hispanic society?</vt:lpstr>
      <vt:lpstr>112. King Tupa’s brother offered himself as a captive of the King of Spain in place of his daughter who was made captive. What does this show of Cebuano pre-Hispanic society?</vt:lpstr>
      <vt:lpstr>113. After the Ice Age ended, the climate in now Nevada and Utah became drier and warmer. Because large game became scarce, the Indians in those areas became desertlike and the Indians began to roam in small bands in search for food. What does this prove?</vt:lpstr>
      <vt:lpstr>113. After the Ice Age ended, the climate in now Nevada and Utah became drier and warmer. Because large game became scarce, the Indians in those areas became desertlike and the Indians began to roam in small bands in search for food. What does this prove?</vt:lpstr>
      <vt:lpstr>114. Which may have contributed to the Filipino “kami-mentality”?</vt:lpstr>
      <vt:lpstr>114. Which may have contributed to the Filipino “kami-mentality”?</vt:lpstr>
      <vt:lpstr>115. In what famous scared river India do thousands of people gather every morning to take a bathe?</vt:lpstr>
      <vt:lpstr>115. In what famous scared river India do thousands of people gather every morning to take a bathe?</vt:lpstr>
      <vt:lpstr>116.  With the violation of the Pack of Biak-na-Bato and with Aguinaldo in Hongkong, who served as leader of the Katipunan?</vt:lpstr>
      <vt:lpstr>116.  With the violation of the Pack of Biak-na-Bato and with Aguinaldo in Hongkong, who served as leader of the Katipunan?</vt:lpstr>
      <vt:lpstr>117. Among the following local government positions during the Spanish period, which is claimed by historians to be the most corrupt in the history of official corruption?</vt:lpstr>
      <vt:lpstr>117. Among the following local government positions during the Spanish period, which is claimed by historians to be the most corrupt in the history of official corruption?</vt:lpstr>
      <vt:lpstr>118. To whom did Rizal dedicate his second novel, El Filibusterismo?</vt:lpstr>
      <vt:lpstr>118. To whom did Rizal dedicate his second novel, El Filibusterismo?</vt:lpstr>
      <vt:lpstr>119. Which of the following statements is in accordance with the rules of logic?</vt:lpstr>
      <vt:lpstr>119. Which of the following statements is in accordance with the rules of logic?</vt:lpstr>
      <vt:lpstr>120. What holds true in a progressive system of taxation?</vt:lpstr>
      <vt:lpstr>120. What holds true in a progressive system of taxation?</vt:lpstr>
      <vt:lpstr>121. The process by which dominant societies can shape the culture of less powerful societies is called _____________</vt:lpstr>
      <vt:lpstr>121. The process by which dominant societies can shape the culture of less powerful societies is called _____________</vt:lpstr>
      <vt:lpstr>122. Which part of Asia does the Arabian Peninsula occupy?</vt:lpstr>
      <vt:lpstr>122. Which part of Asia does the Arabian Peninsula occupy?</vt:lpstr>
      <vt:lpstr>123. In the construct of “smooth interpersonal relations” (SIR) proposed by Lynch how is SIR acquired?</vt:lpstr>
      <vt:lpstr>123. In the construct of “smooth interpersonal relations” (SIR) proposed by Lynch how is SIR acquired?</vt:lpstr>
      <vt:lpstr>124. While Rizal was in exile he made his love for his countrymen visible. Which one did NOT do?</vt:lpstr>
      <vt:lpstr>124. While Rizal was in exile he made his love for his countrymen visible. Which one did NOT do?</vt:lpstr>
      <vt:lpstr>125. Which is form of mixed economies?</vt:lpstr>
      <vt:lpstr>125. Which is form of mixed economies?</vt:lpstr>
      <vt:lpstr>126. The right to form a family is an example of a/an</vt:lpstr>
      <vt:lpstr>126. The right to form a family is an example of a/an</vt:lpstr>
      <vt:lpstr>127. Which region is considered the center of cultural and commercial life in the country?</vt:lpstr>
      <vt:lpstr>127. Which region is considered the center of cultural and commercial life in the country?</vt:lpstr>
      <vt:lpstr>128. Against which one has the world declared war, with U.S.A. leading?</vt:lpstr>
      <vt:lpstr>128. Against which one has the world declared war, with U.S.A. leading?</vt:lpstr>
      <vt:lpstr>129. Which is the overriding aim of the constitutional mandate on social justice?</vt:lpstr>
      <vt:lpstr>129. Which is the overriding aim of the constitutional mandate on social justice?</vt:lpstr>
      <vt:lpstr>130. According to a statistical study of tsunamis, which area is most prone to tsunami?</vt:lpstr>
      <vt:lpstr>130. According to a statistical study of tsunamis, which area is most prone to tsunami?</vt:lpstr>
      <vt:lpstr>131. Which has administrative supervision over all courts and the court personnel?</vt:lpstr>
      <vt:lpstr>131. Which has administrative supervision over all courts and the court personnel?</vt:lpstr>
      <vt:lpstr>132. The Philippine Deep is found in the east coasts of</vt:lpstr>
      <vt:lpstr>132. The Philippine Deep is found in the east coasts of</vt:lpstr>
      <vt:lpstr>133. Who among the following pioneered in the fight for clerical equality and the secularization of the perishes during the Spanish period?</vt:lpstr>
      <vt:lpstr>133. Who among the following pioneered in the fight for clerical equality and the secularization of the perishes during the Spanish period?</vt:lpstr>
      <vt:lpstr>134. “The lighting war” that Hitler introduced in World War II is called________</vt:lpstr>
      <vt:lpstr>134. “The lighting war” that Hitler introduced in World War II is called________</vt:lpstr>
      <vt:lpstr>135. To which factors did the Spaniards attribute the economic stagnation of the Philippines during their reign?</vt:lpstr>
      <vt:lpstr>135. To which factors did the Spaniards attribute the economic stagnation of the Philippines during their reign?</vt:lpstr>
      <vt:lpstr>136. Who was claimed to be the most loved Governor-General of the Philippines who was known  for his liberalism?</vt:lpstr>
      <vt:lpstr>136. Who was claimed to be the most loved Governor-General of the Philippines who was known  for his liberalism?</vt:lpstr>
      <vt:lpstr>137. Considering the Filipino values that were displayed in EDSA 1986, which does not belong to the group?</vt:lpstr>
      <vt:lpstr>137. Considering the Filipino values that were displayed in EDSA 1986, which does not belong to the group?</vt:lpstr>
      <vt:lpstr>138. What are the possible consequences of warmer temperatures?</vt:lpstr>
      <vt:lpstr>138. What are the possible consequences of warmer temperatures?</vt:lpstr>
      <vt:lpstr>139. Like the Datu in the pre-Spanish time, the governor-general exercised</vt:lpstr>
      <vt:lpstr>139. Like the Datu in the pre-Spanish time, the governor-general exercised</vt:lpstr>
      <vt:lpstr>140. Acts of treason, rebellion, sedition, or similar acts show the actor’s disregard of their duty and obligation as Filipino citizen, most specially</vt:lpstr>
      <vt:lpstr>140. Acts of treason, rebellion, sedition, or similar acts show the actor’s disregard of their duty and obligation as Filipino citizen, most specially</vt:lpstr>
      <vt:lpstr>141. Which is the ultimate objective of the Comprehensive Agrarian Reform Program?</vt:lpstr>
      <vt:lpstr>141. Which is the ultimate objective of the Comprehensive Agrarian Reform Program?</vt:lpstr>
      <vt:lpstr>142. In the passage of a bill, which takes place in the third reading?</vt:lpstr>
      <vt:lpstr>142. In the passage of a bill, which takes place in the third reading?</vt:lpstr>
      <vt:lpstr>143. Which is also known as the Philippine Independence Act?</vt:lpstr>
      <vt:lpstr>143. Which is also known as the Philippine Independence Act?</vt:lpstr>
      <vt:lpstr>144. Which Law specifies the minimum are required of candidate for municipal mayors and councilors?</vt:lpstr>
      <vt:lpstr>144. Which Law specifies the minimum are required of candidate for municipal mayors and councilors?</vt:lpstr>
      <vt:lpstr>145. Which is considered as or favorable consequence of tough competition?</vt:lpstr>
      <vt:lpstr>145. Which is considered as or favorable consequence of tough competition?</vt:lpstr>
      <vt:lpstr>146. Emile Durkheim believed that a major cause of suicide in industrializing nations was the situation where the norms of society are unclear or no longer applicable to current conditions. He called this situation</vt:lpstr>
      <vt:lpstr>146. Emile Durkheim believed that a major cause of suicide in industrializing nations was the situation where the norms of society are unclear or no longer applicable to current conditions. He called this situation</vt:lpstr>
      <vt:lpstr>147. Meritocracy is not yet fully operative in our systems. Which is a possible consequence?</vt:lpstr>
      <vt:lpstr>147. Meritocracy is not yet fully operative in our systems. Which is a possible consequence?</vt:lpstr>
      <vt:lpstr>148. The Philippines adopts and pursues a policy of freedom from nuclear weapons in its territory. Which is therefore is forbidden?</vt:lpstr>
      <vt:lpstr>148. The Philippines adopts and pursues a policy of freedom from nuclear weapons in its territory. Which is therefore is forbidden?</vt:lpstr>
      <vt:lpstr>149. Which of the following Rizal’s work was believed to be the germ of Noli Me Tangere?</vt:lpstr>
      <vt:lpstr>149. Which of the following Rizal’s work was believed to be the germ of Noli Me Tangere?</vt:lpstr>
      <vt:lpstr>150. Which is a Constitutional response to the worsening rural-urban disparities?</vt:lpstr>
      <vt:lpstr>150. Which is a Constitutional response to the worsening rural-urban disparities?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 REVIEW</dc:title>
  <dc:creator>VANEZA MAE KIM</dc:creator>
  <cp:lastModifiedBy>VANEZA MAE KIM</cp:lastModifiedBy>
  <cp:revision>152</cp:revision>
  <dcterms:created xsi:type="dcterms:W3CDTF">2020-03-26T09:08:20Z</dcterms:created>
  <dcterms:modified xsi:type="dcterms:W3CDTF">2020-04-25T12:21:33Z</dcterms:modified>
</cp:coreProperties>
</file>