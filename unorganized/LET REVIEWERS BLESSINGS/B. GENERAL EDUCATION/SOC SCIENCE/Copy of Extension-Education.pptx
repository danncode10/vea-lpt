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75"/>
  </p:notesMasterIdLst>
  <p:sldIdLst>
    <p:sldId id="525" r:id="rId2"/>
    <p:sldId id="526" r:id="rId3"/>
    <p:sldId id="527" r:id="rId4"/>
    <p:sldId id="528" r:id="rId5"/>
    <p:sldId id="529" r:id="rId6"/>
    <p:sldId id="530" r:id="rId7"/>
    <p:sldId id="531" r:id="rId8"/>
    <p:sldId id="532" r:id="rId9"/>
    <p:sldId id="533" r:id="rId10"/>
    <p:sldId id="534" r:id="rId11"/>
    <p:sldId id="535" r:id="rId12"/>
    <p:sldId id="536" r:id="rId13"/>
    <p:sldId id="537" r:id="rId14"/>
    <p:sldId id="538" r:id="rId15"/>
    <p:sldId id="539" r:id="rId16"/>
    <p:sldId id="540" r:id="rId17"/>
    <p:sldId id="541" r:id="rId18"/>
    <p:sldId id="542" r:id="rId19"/>
    <p:sldId id="543" r:id="rId20"/>
    <p:sldId id="544" r:id="rId21"/>
    <p:sldId id="545" r:id="rId22"/>
    <p:sldId id="546" r:id="rId23"/>
    <p:sldId id="547" r:id="rId24"/>
    <p:sldId id="548" r:id="rId25"/>
    <p:sldId id="549" r:id="rId26"/>
    <p:sldId id="550" r:id="rId27"/>
    <p:sldId id="551" r:id="rId28"/>
    <p:sldId id="256" r:id="rId29"/>
    <p:sldId id="552" r:id="rId30"/>
    <p:sldId id="553" r:id="rId31"/>
    <p:sldId id="560" r:id="rId32"/>
    <p:sldId id="554" r:id="rId33"/>
    <p:sldId id="555" r:id="rId34"/>
    <p:sldId id="556" r:id="rId35"/>
    <p:sldId id="557" r:id="rId36"/>
    <p:sldId id="558" r:id="rId37"/>
    <p:sldId id="559" r:id="rId38"/>
    <p:sldId id="561" r:id="rId39"/>
    <p:sldId id="257" r:id="rId40"/>
    <p:sldId id="568" r:id="rId41"/>
    <p:sldId id="258" r:id="rId42"/>
    <p:sldId id="259" r:id="rId43"/>
    <p:sldId id="260" r:id="rId44"/>
    <p:sldId id="418" r:id="rId45"/>
    <p:sldId id="419" r:id="rId46"/>
    <p:sldId id="570" r:id="rId47"/>
    <p:sldId id="420" r:id="rId48"/>
    <p:sldId id="571" r:id="rId49"/>
    <p:sldId id="421" r:id="rId50"/>
    <p:sldId id="572" r:id="rId51"/>
    <p:sldId id="422" r:id="rId52"/>
    <p:sldId id="423" r:id="rId53"/>
    <p:sldId id="424" r:id="rId54"/>
    <p:sldId id="425" r:id="rId55"/>
    <p:sldId id="573" r:id="rId56"/>
    <p:sldId id="426" r:id="rId57"/>
    <p:sldId id="427" r:id="rId58"/>
    <p:sldId id="428" r:id="rId59"/>
    <p:sldId id="429" r:id="rId60"/>
    <p:sldId id="430" r:id="rId61"/>
    <p:sldId id="431" r:id="rId62"/>
    <p:sldId id="432" r:id="rId63"/>
    <p:sldId id="433"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47" r:id="rId78"/>
    <p:sldId id="448" r:id="rId79"/>
    <p:sldId id="449" r:id="rId80"/>
    <p:sldId id="450" r:id="rId81"/>
    <p:sldId id="453" r:id="rId82"/>
    <p:sldId id="454" r:id="rId83"/>
    <p:sldId id="451" r:id="rId84"/>
    <p:sldId id="452" r:id="rId85"/>
    <p:sldId id="270" r:id="rId86"/>
    <p:sldId id="575" r:id="rId87"/>
    <p:sldId id="271" r:id="rId88"/>
    <p:sldId id="272" r:id="rId89"/>
    <p:sldId id="562" r:id="rId90"/>
    <p:sldId id="574" r:id="rId91"/>
    <p:sldId id="274" r:id="rId92"/>
    <p:sldId id="273" r:id="rId93"/>
    <p:sldId id="275" r:id="rId94"/>
    <p:sldId id="276" r:id="rId95"/>
    <p:sldId id="277" r:id="rId96"/>
    <p:sldId id="278" r:id="rId97"/>
    <p:sldId id="280" r:id="rId98"/>
    <p:sldId id="281" r:id="rId99"/>
    <p:sldId id="282" r:id="rId100"/>
    <p:sldId id="283" r:id="rId101"/>
    <p:sldId id="284" r:id="rId102"/>
    <p:sldId id="285" r:id="rId103"/>
    <p:sldId id="287" r:id="rId104"/>
    <p:sldId id="288" r:id="rId105"/>
    <p:sldId id="290" r:id="rId106"/>
    <p:sldId id="291" r:id="rId107"/>
    <p:sldId id="292" r:id="rId108"/>
    <p:sldId id="293" r:id="rId109"/>
    <p:sldId id="301" r:id="rId110"/>
    <p:sldId id="302" r:id="rId111"/>
    <p:sldId id="303" r:id="rId112"/>
    <p:sldId id="324" r:id="rId113"/>
    <p:sldId id="325" r:id="rId114"/>
    <p:sldId id="327" r:id="rId115"/>
    <p:sldId id="576" r:id="rId116"/>
    <p:sldId id="329" r:id="rId117"/>
    <p:sldId id="330" r:id="rId118"/>
    <p:sldId id="331" r:id="rId119"/>
    <p:sldId id="332" r:id="rId120"/>
    <p:sldId id="333" r:id="rId121"/>
    <p:sldId id="334" r:id="rId122"/>
    <p:sldId id="335" r:id="rId123"/>
    <p:sldId id="336" r:id="rId124"/>
    <p:sldId id="337" r:id="rId125"/>
    <p:sldId id="338" r:id="rId126"/>
    <p:sldId id="342" r:id="rId127"/>
    <p:sldId id="343" r:id="rId128"/>
    <p:sldId id="344" r:id="rId129"/>
    <p:sldId id="567" r:id="rId130"/>
    <p:sldId id="339" r:id="rId131"/>
    <p:sldId id="340" r:id="rId132"/>
    <p:sldId id="564" r:id="rId133"/>
    <p:sldId id="565" r:id="rId134"/>
    <p:sldId id="341" r:id="rId135"/>
    <p:sldId id="566" r:id="rId136"/>
    <p:sldId id="577" r:id="rId137"/>
    <p:sldId id="455" r:id="rId138"/>
    <p:sldId id="578" r:id="rId139"/>
    <p:sldId id="459" r:id="rId140"/>
    <p:sldId id="569" r:id="rId141"/>
    <p:sldId id="458" r:id="rId142"/>
    <p:sldId id="346" r:id="rId143"/>
    <p:sldId id="360" r:id="rId144"/>
    <p:sldId id="361" r:id="rId145"/>
    <p:sldId id="362" r:id="rId146"/>
    <p:sldId id="363" r:id="rId147"/>
    <p:sldId id="364" r:id="rId148"/>
    <p:sldId id="347" r:id="rId149"/>
    <p:sldId id="348" r:id="rId150"/>
    <p:sldId id="349" r:id="rId151"/>
    <p:sldId id="350" r:id="rId152"/>
    <p:sldId id="354" r:id="rId153"/>
    <p:sldId id="355" r:id="rId154"/>
    <p:sldId id="357" r:id="rId155"/>
    <p:sldId id="461" r:id="rId156"/>
    <p:sldId id="462" r:id="rId157"/>
    <p:sldId id="463" r:id="rId158"/>
    <p:sldId id="464" r:id="rId159"/>
    <p:sldId id="465" r:id="rId160"/>
    <p:sldId id="466" r:id="rId161"/>
    <p:sldId id="467" r:id="rId162"/>
    <p:sldId id="468" r:id="rId163"/>
    <p:sldId id="469" r:id="rId164"/>
    <p:sldId id="470" r:id="rId165"/>
    <p:sldId id="471" r:id="rId166"/>
    <p:sldId id="472" r:id="rId167"/>
    <p:sldId id="473" r:id="rId168"/>
    <p:sldId id="474" r:id="rId169"/>
    <p:sldId id="475" r:id="rId170"/>
    <p:sldId id="476" r:id="rId171"/>
    <p:sldId id="477" r:id="rId172"/>
    <p:sldId id="478" r:id="rId173"/>
    <p:sldId id="479" r:id="rId174"/>
    <p:sldId id="480" r:id="rId175"/>
    <p:sldId id="481" r:id="rId176"/>
    <p:sldId id="482" r:id="rId177"/>
    <p:sldId id="483" r:id="rId178"/>
    <p:sldId id="384" r:id="rId179"/>
    <p:sldId id="385" r:id="rId180"/>
    <p:sldId id="386" r:id="rId181"/>
    <p:sldId id="387" r:id="rId182"/>
    <p:sldId id="388" r:id="rId183"/>
    <p:sldId id="389" r:id="rId184"/>
    <p:sldId id="390" r:id="rId185"/>
    <p:sldId id="391" r:id="rId186"/>
    <p:sldId id="392" r:id="rId187"/>
    <p:sldId id="393" r:id="rId188"/>
    <p:sldId id="394" r:id="rId189"/>
    <p:sldId id="395" r:id="rId190"/>
    <p:sldId id="396" r:id="rId191"/>
    <p:sldId id="397" r:id="rId192"/>
    <p:sldId id="398" r:id="rId193"/>
    <p:sldId id="399" r:id="rId194"/>
    <p:sldId id="400" r:id="rId195"/>
    <p:sldId id="401" r:id="rId196"/>
    <p:sldId id="402" r:id="rId197"/>
    <p:sldId id="403" r:id="rId198"/>
    <p:sldId id="404" r:id="rId199"/>
    <p:sldId id="405" r:id="rId200"/>
    <p:sldId id="406" r:id="rId201"/>
    <p:sldId id="407" r:id="rId202"/>
    <p:sldId id="408" r:id="rId203"/>
    <p:sldId id="409" r:id="rId204"/>
    <p:sldId id="410" r:id="rId205"/>
    <p:sldId id="411" r:id="rId206"/>
    <p:sldId id="412" r:id="rId207"/>
    <p:sldId id="359" r:id="rId208"/>
    <p:sldId id="377" r:id="rId209"/>
    <p:sldId id="378" r:id="rId210"/>
    <p:sldId id="379" r:id="rId211"/>
    <p:sldId id="605" r:id="rId212"/>
    <p:sldId id="606" r:id="rId213"/>
    <p:sldId id="485" r:id="rId214"/>
    <p:sldId id="486" r:id="rId215"/>
    <p:sldId id="487" r:id="rId216"/>
    <p:sldId id="488" r:id="rId217"/>
    <p:sldId id="490" r:id="rId218"/>
    <p:sldId id="592" r:id="rId219"/>
    <p:sldId id="599" r:id="rId220"/>
    <p:sldId id="602" r:id="rId221"/>
    <p:sldId id="603" r:id="rId222"/>
    <p:sldId id="593" r:id="rId223"/>
    <p:sldId id="594" r:id="rId224"/>
    <p:sldId id="595" r:id="rId225"/>
    <p:sldId id="596" r:id="rId226"/>
    <p:sldId id="597" r:id="rId227"/>
    <p:sldId id="604" r:id="rId228"/>
    <p:sldId id="381" r:id="rId229"/>
    <p:sldId id="382" r:id="rId230"/>
    <p:sldId id="383" r:id="rId231"/>
    <p:sldId id="491" r:id="rId232"/>
    <p:sldId id="492" r:id="rId233"/>
    <p:sldId id="493" r:id="rId234"/>
    <p:sldId id="494" r:id="rId235"/>
    <p:sldId id="413" r:id="rId236"/>
    <p:sldId id="495" r:id="rId237"/>
    <p:sldId id="496" r:id="rId238"/>
    <p:sldId id="497" r:id="rId239"/>
    <p:sldId id="498" r:id="rId240"/>
    <p:sldId id="499" r:id="rId241"/>
    <p:sldId id="501" r:id="rId242"/>
    <p:sldId id="502" r:id="rId243"/>
    <p:sldId id="503" r:id="rId244"/>
    <p:sldId id="504" r:id="rId245"/>
    <p:sldId id="505" r:id="rId246"/>
    <p:sldId id="506" r:id="rId247"/>
    <p:sldId id="414" r:id="rId248"/>
    <p:sldId id="507" r:id="rId249"/>
    <p:sldId id="508" r:id="rId250"/>
    <p:sldId id="509" r:id="rId251"/>
    <p:sldId id="510" r:id="rId252"/>
    <p:sldId id="511" r:id="rId253"/>
    <p:sldId id="512" r:id="rId254"/>
    <p:sldId id="416" r:id="rId255"/>
    <p:sldId id="513" r:id="rId256"/>
    <p:sldId id="514" r:id="rId257"/>
    <p:sldId id="417" r:id="rId258"/>
    <p:sldId id="415" r:id="rId259"/>
    <p:sldId id="516" r:id="rId260"/>
    <p:sldId id="517" r:id="rId261"/>
    <p:sldId id="515" r:id="rId262"/>
    <p:sldId id="518" r:id="rId263"/>
    <p:sldId id="519" r:id="rId264"/>
    <p:sldId id="520" r:id="rId265"/>
    <p:sldId id="521" r:id="rId266"/>
    <p:sldId id="522" r:id="rId267"/>
    <p:sldId id="608" r:id="rId268"/>
    <p:sldId id="609" r:id="rId269"/>
    <p:sldId id="610" r:id="rId270"/>
    <p:sldId id="611" r:id="rId271"/>
    <p:sldId id="612" r:id="rId272"/>
    <p:sldId id="613" r:id="rId273"/>
    <p:sldId id="523" r:id="rId2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presProps" Target="presProp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theme" Target="theme/theme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notesMaster" Target="notesMasters/notesMaster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6D56-9619-40CD-B440-5703869E6DBE}" type="datetimeFigureOut">
              <a:rPr lang="en-PH" smtClean="0"/>
              <a:t>17/11/2017</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4B516-2C76-4E44-9E1B-3880C63EEE25}" type="slidenum">
              <a:rPr lang="en-PH" smtClean="0"/>
              <a:t>‹#›</a:t>
            </a:fld>
            <a:endParaRPr lang="en-PH"/>
          </a:p>
        </p:txBody>
      </p:sp>
    </p:spTree>
    <p:extLst>
      <p:ext uri="{BB962C8B-B14F-4D97-AF65-F5344CB8AC3E}">
        <p14:creationId xmlns:p14="http://schemas.microsoft.com/office/powerpoint/2010/main" val="687568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9A35DB3-4C47-47DF-830E-6FA1F4ABAF1A}" type="slidenum">
              <a:rPr lang="en-US" smtClean="0">
                <a:latin typeface="Arial" panose="020B0604020202020204" pitchFamily="34" charset="0"/>
              </a:rPr>
              <a:pPr/>
              <a:t>2</a:t>
            </a:fld>
            <a:endParaRPr lang="en-US"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111804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085AB81-322E-4A91-9B8B-8C7B5E435DA6}" type="slidenum">
              <a:rPr lang="en-US" smtClean="0">
                <a:latin typeface="Arial" panose="020B0604020202020204" pitchFamily="34" charset="0"/>
              </a:rPr>
              <a:pPr/>
              <a:t>3</a:t>
            </a:fld>
            <a:endParaRPr lang="en-US" smtClean="0">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365275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95892060-D5B1-41B4-BD92-F50D7F0D1C67}" type="slidenum">
              <a:rPr lang="en-US" smtClean="0">
                <a:latin typeface="Arial" panose="020B0604020202020204" pitchFamily="34" charset="0"/>
              </a:rPr>
              <a:pPr/>
              <a:t>4</a:t>
            </a:fld>
            <a:endParaRPr lang="en-US" smtClean="0">
              <a:latin typeface="Arial" panose="020B060402020202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1909474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FBB1AEB-015A-42F7-B55A-89B47FE044A7}" type="slidenum">
              <a:rPr lang="en-US" smtClean="0">
                <a:latin typeface="Arial" panose="020B0604020202020204" pitchFamily="34" charset="0"/>
              </a:rPr>
              <a:pPr/>
              <a:t>5</a:t>
            </a:fld>
            <a:endParaRPr lang="en-US" smtClean="0">
              <a:latin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605832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293B721-7821-44D9-90C8-560059C11305}" type="slidenum">
              <a:rPr lang="en-US" smtClean="0">
                <a:latin typeface="Arial" panose="020B0604020202020204" pitchFamily="34" charset="0"/>
              </a:rPr>
              <a:pPr/>
              <a:t>6</a:t>
            </a:fld>
            <a:endParaRPr lang="en-US" smtClean="0">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2227636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3E4F0648-7D48-4098-B8F2-4123C12057C1}" type="slidenum">
              <a:rPr lang="en-US" smtClean="0">
                <a:latin typeface="Arial" panose="020B0604020202020204" pitchFamily="34" charset="0"/>
              </a:rPr>
              <a:pPr/>
              <a:t>7</a:t>
            </a:fld>
            <a:endParaRPr lang="en-US" smtClean="0">
              <a:latin typeface="Arial"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3408541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309F807-4D7C-4CD4-8D6B-8BF3941141BA}" type="slidenum">
              <a:rPr lang="en-US" smtClean="0">
                <a:latin typeface="Arial" panose="020B0604020202020204" pitchFamily="34" charset="0"/>
              </a:rPr>
              <a:pPr/>
              <a:t>8</a:t>
            </a:fld>
            <a:endParaRPr lang="en-US" smtClean="0">
              <a:latin typeface="Arial" panose="020B060402020202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2103935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89A3026-DFAC-4C1D-A8FD-0EC2BA14B856}" type="slidenum">
              <a:rPr lang="en-US" smtClean="0">
                <a:latin typeface="Arial" panose="020B0604020202020204" pitchFamily="34" charset="0"/>
              </a:rPr>
              <a:pPr/>
              <a:t>9</a:t>
            </a:fld>
            <a:endParaRPr lang="en-US" smtClean="0">
              <a:latin typeface="Arial"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2108208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5BDB30C-E0EB-4645-9DDC-03E3FC08D1CF}" type="slidenum">
              <a:rPr lang="en-US" smtClean="0">
                <a:latin typeface="Arial" panose="020B0604020202020204" pitchFamily="34" charset="0"/>
              </a:rPr>
              <a:pPr/>
              <a:t>10</a:t>
            </a:fld>
            <a:endParaRPr lang="en-US" smtClean="0">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41238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203738B3-D56C-4814-8E47-C52B60316C69}" type="slidenum">
              <a:rPr lang="en-US" smtClean="0">
                <a:latin typeface="Arial" panose="020B0604020202020204" pitchFamily="34" charset="0"/>
              </a:rPr>
              <a:pPr/>
              <a:t>11</a:t>
            </a:fld>
            <a:endParaRPr lang="en-US" smtClean="0">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4074173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3691580-F296-4C1F-9D3B-05D29D4D22DB}" type="slidenum">
              <a:rPr lang="en-US" smtClean="0">
                <a:latin typeface="Arial" panose="020B0604020202020204" pitchFamily="34" charset="0"/>
              </a:rPr>
              <a:pPr/>
              <a:t>12</a:t>
            </a:fld>
            <a:endParaRPr lang="en-US" smtClean="0">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726825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050B3F81-A160-4C50-9A67-F64C373B24D4}" type="slidenum">
              <a:rPr lang="en-US" smtClean="0">
                <a:latin typeface="Arial" panose="020B0604020202020204" pitchFamily="34" charset="0"/>
              </a:rPr>
              <a:pPr/>
              <a:t>13</a:t>
            </a:fld>
            <a:endParaRPr lang="en-US" smtClean="0">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3960494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B74CD83-86E9-44D3-8B2A-BEB7343D33C9}" type="slidenum">
              <a:rPr lang="en-US" smtClean="0">
                <a:latin typeface="Arial" panose="020B0604020202020204" pitchFamily="34" charset="0"/>
              </a:rPr>
              <a:pPr/>
              <a:t>14</a:t>
            </a:fld>
            <a:endParaRPr lang="en-US" smtClean="0">
              <a:latin typeface="Arial" panose="020B060402020202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4034936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C1570BB-5A85-41B9-A46B-D247676E44B5}" type="slidenum">
              <a:rPr lang="en-US" smtClean="0">
                <a:latin typeface="Arial" panose="020B0604020202020204" pitchFamily="34" charset="0"/>
              </a:rPr>
              <a:pPr/>
              <a:t>15</a:t>
            </a:fld>
            <a:endParaRPr lang="en-US" smtClean="0">
              <a:latin typeface="Arial" panose="020B060402020202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3680319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6428D5A-A4C2-4E18-96CC-2A720E55F6C4}" type="slidenum">
              <a:rPr lang="en-US" smtClean="0">
                <a:latin typeface="Arial" panose="020B0604020202020204" pitchFamily="34" charset="0"/>
              </a:rPr>
              <a:pPr/>
              <a:t>16</a:t>
            </a:fld>
            <a:endParaRPr lang="en-US" smtClean="0">
              <a:latin typeface="Arial" panose="020B0604020202020204" pitchFamily="34"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594957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5512C81B-57CD-439D-BC7E-781E7A4B228F}" type="slidenum">
              <a:rPr lang="en-US" smtClean="0">
                <a:latin typeface="Arial" panose="020B0604020202020204" pitchFamily="34" charset="0"/>
              </a:rPr>
              <a:pPr/>
              <a:t>17</a:t>
            </a:fld>
            <a:endParaRPr lang="en-US" smtClean="0">
              <a:latin typeface="Arial" panose="020B060402020202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620047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E156272-562A-4A94-91E5-93007C190CC9}" type="slidenum">
              <a:rPr lang="en-US" smtClean="0">
                <a:latin typeface="Arial" panose="020B0604020202020204" pitchFamily="34" charset="0"/>
              </a:rPr>
              <a:pPr/>
              <a:t>18</a:t>
            </a:fld>
            <a:endParaRPr lang="en-US" smtClean="0">
              <a:latin typeface="Arial" panose="020B0604020202020204"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22980741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26977BB-A514-431B-AF77-59E04E248FFE}" type="slidenum">
              <a:rPr lang="en-US" smtClean="0">
                <a:latin typeface="Arial" panose="020B0604020202020204" pitchFamily="34" charset="0"/>
              </a:rPr>
              <a:pPr/>
              <a:t>19</a:t>
            </a:fld>
            <a:endParaRPr lang="en-US" smtClean="0">
              <a:latin typeface="Arial" panose="020B0604020202020204"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anose="020B0604020202020204" pitchFamily="34" charset="0"/>
              </a:rPr>
              <a:t>Heto </a:t>
            </a:r>
          </a:p>
        </p:txBody>
      </p:sp>
    </p:spTree>
    <p:extLst>
      <p:ext uri="{BB962C8B-B14F-4D97-AF65-F5344CB8AC3E}">
        <p14:creationId xmlns:p14="http://schemas.microsoft.com/office/powerpoint/2010/main" val="1720484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a:spcBef>
                <a:spcPct val="30000"/>
              </a:spcBef>
              <a:defRPr sz="1200">
                <a:solidFill>
                  <a:schemeClr val="tx1"/>
                </a:solidFill>
                <a:latin typeface="Calibri" panose="020F0502020204030204" pitchFamily="34" charset="0"/>
              </a:defRPr>
            </a:lvl1pPr>
            <a:lvl2pPr marL="742950" indent="-285750" defTabSz="898525">
              <a:spcBef>
                <a:spcPct val="30000"/>
              </a:spcBef>
              <a:defRPr sz="1200">
                <a:solidFill>
                  <a:schemeClr val="tx1"/>
                </a:solidFill>
                <a:latin typeface="Calibri" panose="020F0502020204030204" pitchFamily="34" charset="0"/>
              </a:defRPr>
            </a:lvl2pPr>
            <a:lvl3pPr marL="1143000" indent="-228600" defTabSz="898525">
              <a:spcBef>
                <a:spcPct val="30000"/>
              </a:spcBef>
              <a:defRPr sz="1200">
                <a:solidFill>
                  <a:schemeClr val="tx1"/>
                </a:solidFill>
                <a:latin typeface="Calibri" panose="020F0502020204030204" pitchFamily="34" charset="0"/>
              </a:defRPr>
            </a:lvl3pPr>
            <a:lvl4pPr marL="1600200" indent="-228600" defTabSz="898525">
              <a:spcBef>
                <a:spcPct val="30000"/>
              </a:spcBef>
              <a:defRPr sz="1200">
                <a:solidFill>
                  <a:schemeClr val="tx1"/>
                </a:solidFill>
                <a:latin typeface="Calibri" panose="020F0502020204030204" pitchFamily="34" charset="0"/>
              </a:defRPr>
            </a:lvl4pPr>
            <a:lvl5pPr marL="2057400" indent="-228600" defTabSz="898525">
              <a:spcBef>
                <a:spcPct val="30000"/>
              </a:spcBef>
              <a:defRPr sz="1200">
                <a:solidFill>
                  <a:schemeClr val="tx1"/>
                </a:solidFill>
                <a:latin typeface="Calibri" panose="020F0502020204030204" pitchFamily="34" charset="0"/>
              </a:defRPr>
            </a:lvl5pPr>
            <a:lvl6pPr marL="2514600" indent="-228600" defTabSz="89852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89852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89852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89852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3A39E74-0FEB-467F-9709-AB00DFB37380}" type="slidenum">
              <a:rPr lang="en-US" smtClean="0">
                <a:latin typeface="Times New Roman" panose="02020603050405020304" pitchFamily="18" charset="0"/>
                <a:cs typeface="Arial" panose="020B0604020202020204" pitchFamily="34" charset="0"/>
              </a:rPr>
              <a:pPr>
                <a:spcBef>
                  <a:spcPct val="0"/>
                </a:spcBef>
              </a:pPr>
              <a:t>213</a:t>
            </a:fld>
            <a:endParaRPr lang="en-US" smtClean="0">
              <a:latin typeface="Times New Roman" panose="02020603050405020304" pitchFamily="18" charset="0"/>
              <a:cs typeface="Arial" panose="020B0604020202020204" pitchFamily="34" charset="0"/>
            </a:endParaRPr>
          </a:p>
        </p:txBody>
      </p:sp>
      <p:sp>
        <p:nvSpPr>
          <p:cNvPr id="2652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52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pPr>
            <a:r>
              <a:rPr lang="en-US" smtClean="0">
                <a:latin typeface="Trebuchet MS" panose="020B0603020202020204" pitchFamily="34" charset="0"/>
                <a:cs typeface="Arial" panose="020B0604020202020204" pitchFamily="34" charset="0"/>
              </a:rPr>
              <a:t>FRIENDS, LADIES AND GENTLEMEN:  GOOD MORNING:</a:t>
            </a:r>
          </a:p>
          <a:p>
            <a:pPr eaLnBrk="1" hangingPunct="1">
              <a:lnSpc>
                <a:spcPct val="150000"/>
              </a:lnSpc>
            </a:pPr>
            <a:r>
              <a:rPr lang="en-US" smtClean="0">
                <a:latin typeface="Trebuchet MS" panose="020B0603020202020204" pitchFamily="34" charset="0"/>
                <a:cs typeface="Arial" panose="020B0604020202020204" pitchFamily="34" charset="0"/>
              </a:rPr>
              <a:t>MY PRESENTATION DWELLS ON THE  PLANS AND PROGRAMS  RELATIVE TO      THE STRATEGIC DIRECTIONS, POLICY THRUSTS AND STRATEGIC ACTIONS OF THE ENERGY SECTOR CONCERNING THE:</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ALTERNATIVE FUELS &amp; ENERGY TECHNOLOGIES SECTOR;</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ENERGY EFFICIENCY AND CONSERVATION SECTOR; AND</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RENEWABLE ENERGY SETOR.</a:t>
            </a:r>
          </a:p>
        </p:txBody>
      </p:sp>
    </p:spTree>
    <p:extLst>
      <p:ext uri="{BB962C8B-B14F-4D97-AF65-F5344CB8AC3E}">
        <p14:creationId xmlns:p14="http://schemas.microsoft.com/office/powerpoint/2010/main" val="2912772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a:spcBef>
                <a:spcPct val="30000"/>
              </a:spcBef>
              <a:defRPr sz="1200">
                <a:solidFill>
                  <a:schemeClr val="tx1"/>
                </a:solidFill>
                <a:latin typeface="Calibri" panose="020F0502020204030204" pitchFamily="34" charset="0"/>
              </a:defRPr>
            </a:lvl1pPr>
            <a:lvl2pPr marL="742950" indent="-285750" defTabSz="898525">
              <a:spcBef>
                <a:spcPct val="30000"/>
              </a:spcBef>
              <a:defRPr sz="1200">
                <a:solidFill>
                  <a:schemeClr val="tx1"/>
                </a:solidFill>
                <a:latin typeface="Calibri" panose="020F0502020204030204" pitchFamily="34" charset="0"/>
              </a:defRPr>
            </a:lvl2pPr>
            <a:lvl3pPr marL="1143000" indent="-228600" defTabSz="898525">
              <a:spcBef>
                <a:spcPct val="30000"/>
              </a:spcBef>
              <a:defRPr sz="1200">
                <a:solidFill>
                  <a:schemeClr val="tx1"/>
                </a:solidFill>
                <a:latin typeface="Calibri" panose="020F0502020204030204" pitchFamily="34" charset="0"/>
              </a:defRPr>
            </a:lvl3pPr>
            <a:lvl4pPr marL="1600200" indent="-228600" defTabSz="898525">
              <a:spcBef>
                <a:spcPct val="30000"/>
              </a:spcBef>
              <a:defRPr sz="1200">
                <a:solidFill>
                  <a:schemeClr val="tx1"/>
                </a:solidFill>
                <a:latin typeface="Calibri" panose="020F0502020204030204" pitchFamily="34" charset="0"/>
              </a:defRPr>
            </a:lvl4pPr>
            <a:lvl5pPr marL="2057400" indent="-228600" defTabSz="898525">
              <a:spcBef>
                <a:spcPct val="30000"/>
              </a:spcBef>
              <a:defRPr sz="1200">
                <a:solidFill>
                  <a:schemeClr val="tx1"/>
                </a:solidFill>
                <a:latin typeface="Calibri" panose="020F0502020204030204" pitchFamily="34" charset="0"/>
              </a:defRPr>
            </a:lvl5pPr>
            <a:lvl6pPr marL="2514600" indent="-228600" defTabSz="89852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89852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89852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89852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29D9550-D12A-49AB-AF46-5878F6899593}" type="slidenum">
              <a:rPr lang="en-US" smtClean="0">
                <a:latin typeface="Times New Roman" panose="02020603050405020304" pitchFamily="18" charset="0"/>
                <a:cs typeface="Arial" panose="020B0604020202020204" pitchFamily="34" charset="0"/>
              </a:rPr>
              <a:pPr>
                <a:spcBef>
                  <a:spcPct val="0"/>
                </a:spcBef>
              </a:pPr>
              <a:t>214</a:t>
            </a:fld>
            <a:endParaRPr lang="en-US" smtClean="0">
              <a:latin typeface="Times New Roman" panose="02020603050405020304" pitchFamily="18" charset="0"/>
              <a:cs typeface="Arial" panose="020B0604020202020204" pitchFamily="34" charset="0"/>
            </a:endParaRPr>
          </a:p>
        </p:txBody>
      </p:sp>
      <p:sp>
        <p:nvSpPr>
          <p:cNvPr id="2672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72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pPr>
            <a:r>
              <a:rPr lang="en-US" smtClean="0">
                <a:latin typeface="Trebuchet MS" panose="020B0603020202020204" pitchFamily="34" charset="0"/>
                <a:cs typeface="Arial" panose="020B0604020202020204" pitchFamily="34" charset="0"/>
              </a:rPr>
              <a:t>FRIENDS, LADIES AND GENTLEMEN:  GOOD MORNING:</a:t>
            </a:r>
          </a:p>
          <a:p>
            <a:pPr eaLnBrk="1" hangingPunct="1">
              <a:lnSpc>
                <a:spcPct val="150000"/>
              </a:lnSpc>
            </a:pPr>
            <a:r>
              <a:rPr lang="en-US" smtClean="0">
                <a:latin typeface="Trebuchet MS" panose="020B0603020202020204" pitchFamily="34" charset="0"/>
                <a:cs typeface="Arial" panose="020B0604020202020204" pitchFamily="34" charset="0"/>
              </a:rPr>
              <a:t>MY PRESENTATION DWELLS ON THE  PLANS AND PROGRAMS  RELATIVE TO      THE STRATEGIC DIRECTIONS, POLICY THRUSTS AND STRATEGIC ACTIONS OF THE ENERGY SECTOR CONCERNING THE:</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ALTERNATIVE FUELS &amp; ENERGY TECHNOLOGIES SECTOR;</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ENERGY EFFICIENCY AND CONSERVATION SECTOR; AND</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RENEWABLE ENERGY SETOR.</a:t>
            </a:r>
          </a:p>
        </p:txBody>
      </p:sp>
    </p:spTree>
    <p:extLst>
      <p:ext uri="{BB962C8B-B14F-4D97-AF65-F5344CB8AC3E}">
        <p14:creationId xmlns:p14="http://schemas.microsoft.com/office/powerpoint/2010/main" val="277920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a:spcBef>
                <a:spcPct val="30000"/>
              </a:spcBef>
              <a:defRPr sz="1200">
                <a:solidFill>
                  <a:schemeClr val="tx1"/>
                </a:solidFill>
                <a:latin typeface="Calibri" panose="020F0502020204030204" pitchFamily="34" charset="0"/>
              </a:defRPr>
            </a:lvl1pPr>
            <a:lvl2pPr marL="742950" indent="-285750" defTabSz="898525">
              <a:spcBef>
                <a:spcPct val="30000"/>
              </a:spcBef>
              <a:defRPr sz="1200">
                <a:solidFill>
                  <a:schemeClr val="tx1"/>
                </a:solidFill>
                <a:latin typeface="Calibri" panose="020F0502020204030204" pitchFamily="34" charset="0"/>
              </a:defRPr>
            </a:lvl2pPr>
            <a:lvl3pPr marL="1143000" indent="-228600" defTabSz="898525">
              <a:spcBef>
                <a:spcPct val="30000"/>
              </a:spcBef>
              <a:defRPr sz="1200">
                <a:solidFill>
                  <a:schemeClr val="tx1"/>
                </a:solidFill>
                <a:latin typeface="Calibri" panose="020F0502020204030204" pitchFamily="34" charset="0"/>
              </a:defRPr>
            </a:lvl3pPr>
            <a:lvl4pPr marL="1600200" indent="-228600" defTabSz="898525">
              <a:spcBef>
                <a:spcPct val="30000"/>
              </a:spcBef>
              <a:defRPr sz="1200">
                <a:solidFill>
                  <a:schemeClr val="tx1"/>
                </a:solidFill>
                <a:latin typeface="Calibri" panose="020F0502020204030204" pitchFamily="34" charset="0"/>
              </a:defRPr>
            </a:lvl4pPr>
            <a:lvl5pPr marL="2057400" indent="-228600" defTabSz="898525">
              <a:spcBef>
                <a:spcPct val="30000"/>
              </a:spcBef>
              <a:defRPr sz="1200">
                <a:solidFill>
                  <a:schemeClr val="tx1"/>
                </a:solidFill>
                <a:latin typeface="Calibri" panose="020F0502020204030204" pitchFamily="34" charset="0"/>
              </a:defRPr>
            </a:lvl5pPr>
            <a:lvl6pPr marL="2514600" indent="-228600" defTabSz="89852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89852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89852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89852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26EB27E-4B5C-451C-B168-E5093EF7BF08}" type="slidenum">
              <a:rPr lang="en-US" smtClean="0">
                <a:latin typeface="Times New Roman" panose="02020603050405020304" pitchFamily="18" charset="0"/>
                <a:cs typeface="Arial" panose="020B0604020202020204" pitchFamily="34" charset="0"/>
              </a:rPr>
              <a:pPr>
                <a:spcBef>
                  <a:spcPct val="0"/>
                </a:spcBef>
              </a:pPr>
              <a:t>215</a:t>
            </a:fld>
            <a:endParaRPr lang="en-US" smtClean="0">
              <a:latin typeface="Times New Roman" panose="02020603050405020304" pitchFamily="18" charset="0"/>
              <a:cs typeface="Arial" panose="020B0604020202020204" pitchFamily="34" charset="0"/>
            </a:endParaRPr>
          </a:p>
        </p:txBody>
      </p:sp>
      <p:sp>
        <p:nvSpPr>
          <p:cNvPr id="269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9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pPr>
            <a:r>
              <a:rPr lang="en-US" smtClean="0">
                <a:latin typeface="Trebuchet MS" panose="020B0603020202020204" pitchFamily="34" charset="0"/>
                <a:cs typeface="Arial" panose="020B0604020202020204" pitchFamily="34" charset="0"/>
              </a:rPr>
              <a:t>FRIENDS, LADIES AND GENTLEMEN:  GOOD MORNING:</a:t>
            </a:r>
          </a:p>
          <a:p>
            <a:pPr eaLnBrk="1" hangingPunct="1">
              <a:lnSpc>
                <a:spcPct val="150000"/>
              </a:lnSpc>
            </a:pPr>
            <a:r>
              <a:rPr lang="en-US" smtClean="0">
                <a:latin typeface="Trebuchet MS" panose="020B0603020202020204" pitchFamily="34" charset="0"/>
                <a:cs typeface="Arial" panose="020B0604020202020204" pitchFamily="34" charset="0"/>
              </a:rPr>
              <a:t>MY PRESENTATION DWELLS ON THE  PLANS AND PROGRAMS  RELATIVE TO      THE STRATEGIC DIRECTIONS, POLICY THRUSTS AND STRATEGIC ACTIONS OF THE ENERGY SECTOR CONCERNING THE:</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ALTERNATIVE FUELS &amp; ENERGY TECHNOLOGIES SECTOR;</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ENERGY EFFICIENCY AND CONSERVATION SECTOR; AND</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RENEWABLE ENERGY SETOR.</a:t>
            </a:r>
          </a:p>
        </p:txBody>
      </p:sp>
    </p:spTree>
    <p:extLst>
      <p:ext uri="{BB962C8B-B14F-4D97-AF65-F5344CB8AC3E}">
        <p14:creationId xmlns:p14="http://schemas.microsoft.com/office/powerpoint/2010/main" val="28184918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a:spcBef>
                <a:spcPct val="30000"/>
              </a:spcBef>
              <a:defRPr sz="1200">
                <a:solidFill>
                  <a:schemeClr val="tx1"/>
                </a:solidFill>
                <a:latin typeface="Calibri" panose="020F0502020204030204" pitchFamily="34" charset="0"/>
              </a:defRPr>
            </a:lvl1pPr>
            <a:lvl2pPr marL="742950" indent="-285750" defTabSz="898525">
              <a:spcBef>
                <a:spcPct val="30000"/>
              </a:spcBef>
              <a:defRPr sz="1200">
                <a:solidFill>
                  <a:schemeClr val="tx1"/>
                </a:solidFill>
                <a:latin typeface="Calibri" panose="020F0502020204030204" pitchFamily="34" charset="0"/>
              </a:defRPr>
            </a:lvl2pPr>
            <a:lvl3pPr marL="1143000" indent="-228600" defTabSz="898525">
              <a:spcBef>
                <a:spcPct val="30000"/>
              </a:spcBef>
              <a:defRPr sz="1200">
                <a:solidFill>
                  <a:schemeClr val="tx1"/>
                </a:solidFill>
                <a:latin typeface="Calibri" panose="020F0502020204030204" pitchFamily="34" charset="0"/>
              </a:defRPr>
            </a:lvl3pPr>
            <a:lvl4pPr marL="1600200" indent="-228600" defTabSz="898525">
              <a:spcBef>
                <a:spcPct val="30000"/>
              </a:spcBef>
              <a:defRPr sz="1200">
                <a:solidFill>
                  <a:schemeClr val="tx1"/>
                </a:solidFill>
                <a:latin typeface="Calibri" panose="020F0502020204030204" pitchFamily="34" charset="0"/>
              </a:defRPr>
            </a:lvl4pPr>
            <a:lvl5pPr marL="2057400" indent="-228600" defTabSz="898525">
              <a:spcBef>
                <a:spcPct val="30000"/>
              </a:spcBef>
              <a:defRPr sz="1200">
                <a:solidFill>
                  <a:schemeClr val="tx1"/>
                </a:solidFill>
                <a:latin typeface="Calibri" panose="020F0502020204030204" pitchFamily="34" charset="0"/>
              </a:defRPr>
            </a:lvl5pPr>
            <a:lvl6pPr marL="2514600" indent="-228600" defTabSz="89852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89852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89852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89852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AE69693-69C4-4D76-8EF3-BA55D54EF676}" type="slidenum">
              <a:rPr lang="en-US" smtClean="0">
                <a:latin typeface="Times New Roman" panose="02020603050405020304" pitchFamily="18" charset="0"/>
                <a:cs typeface="Arial" panose="020B0604020202020204" pitchFamily="34" charset="0"/>
              </a:rPr>
              <a:pPr>
                <a:spcBef>
                  <a:spcPct val="0"/>
                </a:spcBef>
              </a:pPr>
              <a:t>216</a:t>
            </a:fld>
            <a:endParaRPr lang="en-US" smtClean="0">
              <a:latin typeface="Times New Roman" panose="02020603050405020304" pitchFamily="18" charset="0"/>
              <a:cs typeface="Arial" panose="020B0604020202020204" pitchFamily="34" charset="0"/>
            </a:endParaRPr>
          </a:p>
        </p:txBody>
      </p:sp>
      <p:sp>
        <p:nvSpPr>
          <p:cNvPr id="2713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13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pPr>
            <a:r>
              <a:rPr lang="en-US" smtClean="0">
                <a:latin typeface="Trebuchet MS" panose="020B0603020202020204" pitchFamily="34" charset="0"/>
                <a:cs typeface="Arial" panose="020B0604020202020204" pitchFamily="34" charset="0"/>
              </a:rPr>
              <a:t>FRIENDS, LADIES AND GENTLEMEN:  GOOD MORNING:</a:t>
            </a:r>
          </a:p>
          <a:p>
            <a:pPr eaLnBrk="1" hangingPunct="1">
              <a:lnSpc>
                <a:spcPct val="150000"/>
              </a:lnSpc>
            </a:pPr>
            <a:r>
              <a:rPr lang="en-US" smtClean="0">
                <a:latin typeface="Trebuchet MS" panose="020B0603020202020204" pitchFamily="34" charset="0"/>
                <a:cs typeface="Arial" panose="020B0604020202020204" pitchFamily="34" charset="0"/>
              </a:rPr>
              <a:t>MY PRESENTATION DWELLS ON THE  PLANS AND PROGRAMS  RELATIVE TO      THE STRATEGIC DIRECTIONS, POLICY THRUSTS AND STRATEGIC ACTIONS OF THE ENERGY SECTOR CONCERNING THE:</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ALTERNATIVE FUELS &amp; ENERGY TECHNOLOGIES SECTOR;</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ENERGY EFFICIENCY AND CONSERVATION SECTOR; AND</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RENEWABLE ENERGY SETOR.</a:t>
            </a:r>
          </a:p>
        </p:txBody>
      </p:sp>
    </p:spTree>
    <p:extLst>
      <p:ext uri="{BB962C8B-B14F-4D97-AF65-F5344CB8AC3E}">
        <p14:creationId xmlns:p14="http://schemas.microsoft.com/office/powerpoint/2010/main" val="412320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a:spcBef>
                <a:spcPct val="30000"/>
              </a:spcBef>
              <a:defRPr sz="1200">
                <a:solidFill>
                  <a:schemeClr val="tx1"/>
                </a:solidFill>
                <a:latin typeface="Calibri" panose="020F0502020204030204" pitchFamily="34" charset="0"/>
              </a:defRPr>
            </a:lvl1pPr>
            <a:lvl2pPr marL="742950" indent="-285750" defTabSz="898525">
              <a:spcBef>
                <a:spcPct val="30000"/>
              </a:spcBef>
              <a:defRPr sz="1200">
                <a:solidFill>
                  <a:schemeClr val="tx1"/>
                </a:solidFill>
                <a:latin typeface="Calibri" panose="020F0502020204030204" pitchFamily="34" charset="0"/>
              </a:defRPr>
            </a:lvl2pPr>
            <a:lvl3pPr marL="1143000" indent="-228600" defTabSz="898525">
              <a:spcBef>
                <a:spcPct val="30000"/>
              </a:spcBef>
              <a:defRPr sz="1200">
                <a:solidFill>
                  <a:schemeClr val="tx1"/>
                </a:solidFill>
                <a:latin typeface="Calibri" panose="020F0502020204030204" pitchFamily="34" charset="0"/>
              </a:defRPr>
            </a:lvl3pPr>
            <a:lvl4pPr marL="1600200" indent="-228600" defTabSz="898525">
              <a:spcBef>
                <a:spcPct val="30000"/>
              </a:spcBef>
              <a:defRPr sz="1200">
                <a:solidFill>
                  <a:schemeClr val="tx1"/>
                </a:solidFill>
                <a:latin typeface="Calibri" panose="020F0502020204030204" pitchFamily="34" charset="0"/>
              </a:defRPr>
            </a:lvl4pPr>
            <a:lvl5pPr marL="2057400" indent="-228600" defTabSz="898525">
              <a:spcBef>
                <a:spcPct val="30000"/>
              </a:spcBef>
              <a:defRPr sz="1200">
                <a:solidFill>
                  <a:schemeClr val="tx1"/>
                </a:solidFill>
                <a:latin typeface="Calibri" panose="020F0502020204030204" pitchFamily="34" charset="0"/>
              </a:defRPr>
            </a:lvl5pPr>
            <a:lvl6pPr marL="2514600" indent="-228600" defTabSz="89852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89852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89852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89852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3C5430E-A4CB-47C9-B495-D68B95960E55}" type="slidenum">
              <a:rPr lang="en-US" smtClean="0">
                <a:latin typeface="Times New Roman" panose="02020603050405020304" pitchFamily="18" charset="0"/>
                <a:cs typeface="Arial" panose="020B0604020202020204" pitchFamily="34" charset="0"/>
              </a:rPr>
              <a:pPr>
                <a:spcBef>
                  <a:spcPct val="0"/>
                </a:spcBef>
              </a:pPr>
              <a:t>217</a:t>
            </a:fld>
            <a:endParaRPr lang="en-US" smtClean="0">
              <a:latin typeface="Times New Roman" panose="02020603050405020304" pitchFamily="18" charset="0"/>
              <a:cs typeface="Arial" panose="020B0604020202020204" pitchFamily="34" charset="0"/>
            </a:endParaRPr>
          </a:p>
        </p:txBody>
      </p:sp>
      <p:sp>
        <p:nvSpPr>
          <p:cNvPr id="2754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54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pPr>
            <a:r>
              <a:rPr lang="en-US" smtClean="0">
                <a:latin typeface="Trebuchet MS" panose="020B0603020202020204" pitchFamily="34" charset="0"/>
                <a:cs typeface="Arial" panose="020B0604020202020204" pitchFamily="34" charset="0"/>
              </a:rPr>
              <a:t>FRIENDS, LADIES AND GENTLEMEN:  GOOD MORNING:</a:t>
            </a:r>
          </a:p>
          <a:p>
            <a:pPr eaLnBrk="1" hangingPunct="1">
              <a:lnSpc>
                <a:spcPct val="150000"/>
              </a:lnSpc>
            </a:pPr>
            <a:r>
              <a:rPr lang="en-US" smtClean="0">
                <a:latin typeface="Trebuchet MS" panose="020B0603020202020204" pitchFamily="34" charset="0"/>
                <a:cs typeface="Arial" panose="020B0604020202020204" pitchFamily="34" charset="0"/>
              </a:rPr>
              <a:t>MY PRESENTATION DWELLS ON THE  PLANS AND PROGRAMS  RELATIVE TO      THE STRATEGIC DIRECTIONS, POLICY THRUSTS AND STRATEGIC ACTIONS OF THE ENERGY SECTOR CONCERNING THE:</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ALTERNATIVE FUELS &amp; ENERGY TECHNOLOGIES SECTOR;</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ENERGY EFFICIENCY AND CONSERVATION SECTOR; AND</a:t>
            </a:r>
          </a:p>
          <a:p>
            <a:pPr eaLnBrk="1" hangingPunct="1">
              <a:lnSpc>
                <a:spcPct val="150000"/>
              </a:lnSpc>
              <a:buFontTx/>
              <a:buChar char="•"/>
            </a:pPr>
            <a:r>
              <a:rPr lang="en-US" smtClean="0">
                <a:latin typeface="Trebuchet MS" panose="020B0603020202020204" pitchFamily="34" charset="0"/>
                <a:cs typeface="Arial" panose="020B0604020202020204" pitchFamily="34" charset="0"/>
              </a:rPr>
              <a:t> RENEWABLE ENERGY SETOR.</a:t>
            </a:r>
          </a:p>
        </p:txBody>
      </p:sp>
    </p:spTree>
    <p:extLst>
      <p:ext uri="{BB962C8B-B14F-4D97-AF65-F5344CB8AC3E}">
        <p14:creationId xmlns:p14="http://schemas.microsoft.com/office/powerpoint/2010/main" val="439425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333710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88949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338767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3063784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8" name="Footer Placeholder 7"/>
          <p:cNvSpPr>
            <a:spLocks noGrp="1"/>
          </p:cNvSpPr>
          <p:nvPr>
            <p:ph type="ftr" sz="quarter" idx="11"/>
          </p:nvPr>
        </p:nvSpPr>
        <p:spPr/>
        <p:txBody>
          <a:bodyPr/>
          <a:lstStyle/>
          <a:p>
            <a:endParaRPr lang="en-PH" dirty="0"/>
          </a:p>
        </p:txBody>
      </p:sp>
      <p:sp>
        <p:nvSpPr>
          <p:cNvPr id="9" name="Slide Number Placeholder 8"/>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358955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3"/>
          <p:cNvSpPr>
            <a:spLocks noGrp="1"/>
          </p:cNvSpPr>
          <p:nvPr>
            <p:ph type="ftr" sz="quarter" idx="11"/>
          </p:nvPr>
        </p:nvSpPr>
        <p:spPr/>
        <p:txBody>
          <a:bodyPr/>
          <a:lstStyle/>
          <a:p>
            <a:endParaRPr lang="en-PH" dirty="0"/>
          </a:p>
        </p:txBody>
      </p:sp>
      <p:sp>
        <p:nvSpPr>
          <p:cNvPr id="6" name="Slide Number Placeholder 4"/>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919855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2"/>
          <p:cNvSpPr>
            <a:spLocks noGrp="1"/>
          </p:cNvSpPr>
          <p:nvPr>
            <p:ph type="ftr" sz="quarter" idx="11"/>
          </p:nvPr>
        </p:nvSpPr>
        <p:spPr/>
        <p:txBody>
          <a:bodyPr/>
          <a:lstStyle/>
          <a:p>
            <a:endParaRPr lang="en-PH" dirty="0"/>
          </a:p>
        </p:txBody>
      </p:sp>
      <p:sp>
        <p:nvSpPr>
          <p:cNvPr id="6" name="Slide Number Placeholder 3"/>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56259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5"/>
          <p:cNvSpPr>
            <a:spLocks noGrp="1"/>
          </p:cNvSpPr>
          <p:nvPr>
            <p:ph type="ftr" sz="quarter" idx="11"/>
          </p:nvPr>
        </p:nvSpPr>
        <p:spPr/>
        <p:txBody>
          <a:bodyPr/>
          <a:lstStyle/>
          <a:p>
            <a:endParaRPr lang="en-PH" dirty="0"/>
          </a:p>
        </p:txBody>
      </p:sp>
      <p:sp>
        <p:nvSpPr>
          <p:cNvPr id="6" name="Slide Number Placeholder 6"/>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947252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83142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2300243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403574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4082708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195638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4"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3707713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4"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2409639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2006887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E51284-BFEB-42C6-889F-AFCD5E1DC2DA}" type="datetimeFigureOut">
              <a:rPr lang="en-PH" smtClean="0"/>
              <a:t>17/11/2017</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B917C3C3-DC4F-4E95-9D00-91B2431C550D}" type="slidenum">
              <a:rPr lang="en-PH" smtClean="0"/>
              <a:t>‹#›</a:t>
            </a:fld>
            <a:endParaRPr lang="en-PH" dirty="0"/>
          </a:p>
        </p:txBody>
      </p:sp>
    </p:spTree>
    <p:extLst>
      <p:ext uri="{BB962C8B-B14F-4D97-AF65-F5344CB8AC3E}">
        <p14:creationId xmlns:p14="http://schemas.microsoft.com/office/powerpoint/2010/main" val="6523473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3365116"/>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BE51284-BFEB-42C6-889F-AFCD5E1DC2DA}" type="datetimeFigureOut">
              <a:rPr lang="en-PH" smtClean="0"/>
              <a:t>17/11/2017</a:t>
            </a:fld>
            <a:endParaRPr lang="en-PH"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PH"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17C3C3-DC4F-4E95-9D00-91B2431C550D}" type="slidenum">
              <a:rPr lang="en-PH" smtClean="0"/>
              <a:t>‹#›</a:t>
            </a:fld>
            <a:endParaRPr lang="en-PH" dirty="0"/>
          </a:p>
        </p:txBody>
      </p:sp>
    </p:spTree>
    <p:extLst>
      <p:ext uri="{BB962C8B-B14F-4D97-AF65-F5344CB8AC3E}">
        <p14:creationId xmlns:p14="http://schemas.microsoft.com/office/powerpoint/2010/main" val="145824279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0194" y="879700"/>
            <a:ext cx="9404723" cy="3964537"/>
          </a:xfrm>
        </p:spPr>
        <p:txBody>
          <a:bodyPr/>
          <a:lstStyle/>
          <a:p>
            <a:pPr algn="ctr"/>
            <a:r>
              <a:rPr lang="en-PH" sz="6000" dirty="0" smtClean="0">
                <a:solidFill>
                  <a:schemeClr val="bg1"/>
                </a:solidFill>
                <a:latin typeface="Stencil" panose="040409050D0802020404" pitchFamily="82" charset="0"/>
              </a:rPr>
              <a:t>HISTORY </a:t>
            </a:r>
            <a:br>
              <a:rPr lang="en-PH" sz="6000" dirty="0" smtClean="0">
                <a:solidFill>
                  <a:schemeClr val="bg1"/>
                </a:solidFill>
                <a:latin typeface="Stencil" panose="040409050D0802020404" pitchFamily="82" charset="0"/>
              </a:rPr>
            </a:br>
            <a:r>
              <a:rPr lang="en-PH" sz="6000" dirty="0" smtClean="0">
                <a:solidFill>
                  <a:schemeClr val="bg1"/>
                </a:solidFill>
                <a:latin typeface="Stencil" panose="040409050D0802020404" pitchFamily="82" charset="0"/>
              </a:rPr>
              <a:t>OF EXTENSION</a:t>
            </a:r>
            <a:r>
              <a:rPr lang="en-PH" sz="6000" dirty="0">
                <a:solidFill>
                  <a:schemeClr val="bg1"/>
                </a:solidFill>
                <a:latin typeface="Stencil" panose="040409050D0802020404" pitchFamily="82" charset="0"/>
              </a:rPr>
              <a:t> </a:t>
            </a:r>
            <a:r>
              <a:rPr lang="en-PH" sz="6000" dirty="0" smtClean="0">
                <a:solidFill>
                  <a:schemeClr val="bg1"/>
                </a:solidFill>
                <a:latin typeface="Stencil" panose="040409050D0802020404" pitchFamily="82" charset="0"/>
              </a:rPr>
              <a:t>IN THE </a:t>
            </a:r>
            <a:br>
              <a:rPr lang="en-PH" sz="6000" dirty="0" smtClean="0">
                <a:solidFill>
                  <a:schemeClr val="bg1"/>
                </a:solidFill>
                <a:latin typeface="Stencil" panose="040409050D0802020404" pitchFamily="82" charset="0"/>
              </a:rPr>
            </a:br>
            <a:r>
              <a:rPr lang="en-PH" sz="6000" dirty="0">
                <a:solidFill>
                  <a:schemeClr val="bg1"/>
                </a:solidFill>
                <a:latin typeface="Stencil" panose="040409050D0802020404" pitchFamily="82" charset="0"/>
              </a:rPr>
              <a:t/>
            </a:r>
            <a:br>
              <a:rPr lang="en-PH" sz="6000" dirty="0">
                <a:solidFill>
                  <a:schemeClr val="bg1"/>
                </a:solidFill>
                <a:latin typeface="Stencil" panose="040409050D0802020404" pitchFamily="82" charset="0"/>
              </a:rPr>
            </a:br>
            <a:r>
              <a:rPr lang="en-PH" sz="6000" spc="600" dirty="0" smtClean="0">
                <a:solidFill>
                  <a:schemeClr val="bg1"/>
                </a:solidFill>
                <a:latin typeface="Stencil" panose="040409050D0802020404" pitchFamily="82" charset="0"/>
              </a:rPr>
              <a:t>PHILIPPINES</a:t>
            </a:r>
            <a:endParaRPr lang="en-PH" sz="6000" spc="600" dirty="0">
              <a:solidFill>
                <a:schemeClr val="bg1"/>
              </a:solidFill>
              <a:latin typeface="Stencil" panose="040409050D0802020404" pitchFamily="82" charset="0"/>
            </a:endParaRPr>
          </a:p>
        </p:txBody>
      </p:sp>
    </p:spTree>
    <p:extLst>
      <p:ext uri="{BB962C8B-B14F-4D97-AF65-F5344CB8AC3E}">
        <p14:creationId xmlns:p14="http://schemas.microsoft.com/office/powerpoint/2010/main" val="9745237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219" name="Group 51"/>
          <p:cNvGraphicFramePr>
            <a:graphicFrameLocks noGrp="1"/>
          </p:cNvGraphicFramePr>
          <p:nvPr>
            <p:extLst>
              <p:ext uri="{D42A27DB-BD31-4B8C-83A1-F6EECF244321}">
                <p14:modId xmlns:p14="http://schemas.microsoft.com/office/powerpoint/2010/main" val="2129789389"/>
              </p:ext>
            </p:extLst>
          </p:nvPr>
        </p:nvGraphicFramePr>
        <p:xfrm>
          <a:off x="689317" y="457200"/>
          <a:ext cx="9597683" cy="6256338"/>
        </p:xfrm>
        <a:graphic>
          <a:graphicData uri="http://schemas.openxmlformats.org/drawingml/2006/table">
            <a:tbl>
              <a:tblPr/>
              <a:tblGrid>
                <a:gridCol w="2932625"/>
                <a:gridCol w="6665058"/>
              </a:tblGrid>
              <a:tr h="190519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Extension during Spanish Era, 1565 </a:t>
                      </a:r>
                    </a:p>
                  </a:txBody>
                  <a:tcPr marT="45725" marB="45725"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Extension work in the Philippines started in 1565 through the establishment of “</a:t>
                      </a:r>
                      <a:r>
                        <a:rPr kumimoji="0" lang="en-US" sz="2400" b="0" i="0" u="none" strike="noStrike" cap="none" normalizeH="0" baseline="0" dirty="0" err="1" smtClean="0">
                          <a:ln>
                            <a:noFill/>
                          </a:ln>
                          <a:solidFill>
                            <a:schemeClr val="bg1"/>
                          </a:solidFill>
                          <a:effectLst/>
                          <a:latin typeface="Arial" charset="0"/>
                        </a:rPr>
                        <a:t>granja</a:t>
                      </a:r>
                      <a:r>
                        <a:rPr kumimoji="0" lang="en-US" sz="2400" b="0" i="0" u="none" strike="noStrike" cap="none" normalizeH="0" baseline="0" dirty="0" smtClean="0">
                          <a:ln>
                            <a:noFill/>
                          </a:ln>
                          <a:solidFill>
                            <a:schemeClr val="bg1"/>
                          </a:solidFill>
                          <a:effectLst/>
                          <a:latin typeface="Arial" charset="0"/>
                        </a:rPr>
                        <a:t> </a:t>
                      </a:r>
                      <a:r>
                        <a:rPr kumimoji="0" lang="en-US" sz="2400" b="0" i="0" u="none" strike="noStrike" cap="none" normalizeH="0" baseline="0" dirty="0" err="1" smtClean="0">
                          <a:ln>
                            <a:noFill/>
                          </a:ln>
                          <a:solidFill>
                            <a:schemeClr val="bg1"/>
                          </a:solidFill>
                          <a:effectLst/>
                          <a:latin typeface="Arial" charset="0"/>
                        </a:rPr>
                        <a:t>modelos</a:t>
                      </a:r>
                      <a:r>
                        <a:rPr kumimoji="0" lang="en-US" sz="2400" b="0" i="0" u="none" strike="noStrike" cap="none" normalizeH="0" baseline="0" dirty="0" smtClean="0">
                          <a:ln>
                            <a:noFill/>
                          </a:ln>
                          <a:solidFill>
                            <a:schemeClr val="bg1"/>
                          </a:solidFill>
                          <a:effectLst/>
                          <a:latin typeface="Arial" charset="0"/>
                        </a:rPr>
                        <a:t>” or model farms by the Spaniards. </a:t>
                      </a:r>
                    </a:p>
                  </a:txBody>
                  <a:tcPr marT="45725" marB="45725" horzOverflow="overflow">
                    <a:lnL>
                      <a:noFill/>
                    </a:lnL>
                    <a:lnR cap="flat">
                      <a:noFill/>
                    </a:lnR>
                    <a:lnT cap="flat">
                      <a:noFill/>
                    </a:lnT>
                    <a:lnB>
                      <a:noFill/>
                    </a:lnB>
                    <a:lnTlToBr>
                      <a:noFill/>
                    </a:lnTlToBr>
                    <a:lnBlToTr>
                      <a:noFill/>
                    </a:lnBlToTr>
                    <a:noFill/>
                  </a:tcPr>
                </a:tc>
              </a:tr>
              <a:tr h="19734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Extension during the American Regime, 1901</a:t>
                      </a:r>
                    </a:p>
                  </a:txBody>
                  <a:tcPr marT="45725" marB="45725"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A more serious attempt to extend agricultural services in the Philippines. </a:t>
                      </a:r>
                    </a:p>
                  </a:txBody>
                  <a:tcPr marT="45725" marB="45725" horzOverflow="overflow">
                    <a:lnL>
                      <a:noFill/>
                    </a:lnL>
                    <a:lnR cap="flat">
                      <a:noFill/>
                    </a:lnR>
                    <a:lnT>
                      <a:noFill/>
                    </a:lnT>
                    <a:lnB>
                      <a:noFill/>
                    </a:lnB>
                    <a:lnTlToBr>
                      <a:noFill/>
                    </a:lnTlToBr>
                    <a:lnBlToTr>
                      <a:noFill/>
                    </a:lnBlToTr>
                    <a:noFill/>
                  </a:tcPr>
                </a:tc>
              </a:tr>
              <a:tr h="11888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October 8, 1901 </a:t>
                      </a:r>
                    </a:p>
                  </a:txBody>
                  <a:tcPr marT="45725" marB="45725"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Extension work during the American regime started but there was no definite plan followed.</a:t>
                      </a:r>
                    </a:p>
                  </a:txBody>
                  <a:tcPr marT="45725" marB="45725" horzOverflow="overflow">
                    <a:lnL>
                      <a:noFill/>
                    </a:lnL>
                    <a:lnR cap="flat">
                      <a:noFill/>
                    </a:lnR>
                    <a:lnT>
                      <a:noFill/>
                    </a:lnT>
                    <a:lnB>
                      <a:noFill/>
                    </a:lnB>
                    <a:lnTlToBr>
                      <a:noFill/>
                    </a:lnTlToBr>
                    <a:lnBlToTr>
                      <a:noFill/>
                    </a:lnBlToTr>
                    <a:noFill/>
                  </a:tcPr>
                </a:tc>
              </a:tr>
              <a:tr h="11888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April 30, 1902 </a:t>
                      </a:r>
                    </a:p>
                  </a:txBody>
                  <a:tcPr marT="45725" marB="45725"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Bureau of Agriculture under the Department of Interior was organized to give a boost to extension work</a:t>
                      </a:r>
                    </a:p>
                  </a:txBody>
                  <a:tcPr marT="45725" marB="45725"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53066362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288" name="Group 24"/>
          <p:cNvGraphicFramePr>
            <a:graphicFrameLocks noGrp="1"/>
          </p:cNvGraphicFramePr>
          <p:nvPr>
            <p:extLst>
              <p:ext uri="{D42A27DB-BD31-4B8C-83A1-F6EECF244321}">
                <p14:modId xmlns:p14="http://schemas.microsoft.com/office/powerpoint/2010/main" val="4242783626"/>
              </p:ext>
            </p:extLst>
          </p:nvPr>
        </p:nvGraphicFramePr>
        <p:xfrm>
          <a:off x="562708" y="457201"/>
          <a:ext cx="9724292" cy="6232381"/>
        </p:xfrm>
        <a:graphic>
          <a:graphicData uri="http://schemas.openxmlformats.org/drawingml/2006/table">
            <a:tbl>
              <a:tblPr/>
              <a:tblGrid>
                <a:gridCol w="2971311"/>
                <a:gridCol w="6752981"/>
              </a:tblGrid>
              <a:tr h="248294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July 1910 </a:t>
                      </a:r>
                    </a:p>
                  </a:txBody>
                  <a:tcPr marT="45725" marB="45725"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Demonstration and Extension Division was created in the Bureau of Agriculture making it the first formally organized department implementing extension and research programs (</a:t>
                      </a:r>
                      <a:r>
                        <a:rPr kumimoji="0" lang="en-US" sz="2400" b="0" i="0" u="none" strike="noStrike" cap="none" normalizeH="0" baseline="0" dirty="0" err="1"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Mabutas</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and </a:t>
                      </a:r>
                      <a:r>
                        <a:rPr kumimoji="0" lang="en-US" sz="2400" b="0" i="0" u="none" strike="noStrike" cap="none" normalizeH="0" baseline="0" dirty="0" err="1"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Paguingan</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1978)</a:t>
                      </a:r>
                      <a:r>
                        <a:rPr kumimoji="0" lang="en-US" sz="2400" b="1"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p>
                  </a:txBody>
                  <a:tcPr marT="45725" marB="45725" horzOverflow="overflow">
                    <a:lnL>
                      <a:noFill/>
                    </a:lnL>
                    <a:lnR cap="flat">
                      <a:noFill/>
                    </a:lnR>
                    <a:lnT cap="flat">
                      <a:noFill/>
                    </a:lnT>
                    <a:lnB>
                      <a:noFill/>
                    </a:lnB>
                    <a:lnTlToBr>
                      <a:noFill/>
                    </a:lnTlToBr>
                    <a:lnBlToTr>
                      <a:noFill/>
                    </a:lnBlToTr>
                    <a:noFill/>
                  </a:tcPr>
                </a:tc>
              </a:tr>
              <a:tr h="3749434">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July 10, 1919 </a:t>
                      </a:r>
                    </a:p>
                  </a:txBody>
                  <a:tcPr marT="45725" marB="45725"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extensions service organization  of the Philippines was made a separate unit of the Bureau of Agriculture. Since then the </a:t>
                      </a:r>
                      <a:r>
                        <a:rPr kumimoji="0" lang="en-US" sz="2400" b="0" i="0" u="none" strike="noStrike" cap="none" normalizeH="0" baseline="0" dirty="0" err="1"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Demostration</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and Extension Division expanded its activity to include farmer’s cooperatives, organizations, rural credit, marketing and animal science. People engaged in this work were called farm advisers. </a:t>
                      </a:r>
                    </a:p>
                  </a:txBody>
                  <a:tcPr marT="45725" marB="45725"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48720795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1342" name="Group 30"/>
          <p:cNvGraphicFramePr>
            <a:graphicFrameLocks noGrp="1"/>
          </p:cNvGraphicFramePr>
          <p:nvPr>
            <p:extLst>
              <p:ext uri="{D42A27DB-BD31-4B8C-83A1-F6EECF244321}">
                <p14:modId xmlns:p14="http://schemas.microsoft.com/office/powerpoint/2010/main" val="1980916855"/>
              </p:ext>
            </p:extLst>
          </p:nvPr>
        </p:nvGraphicFramePr>
        <p:xfrm>
          <a:off x="281354" y="152401"/>
          <a:ext cx="10005646" cy="6705620"/>
        </p:xfrm>
        <a:graphic>
          <a:graphicData uri="http://schemas.openxmlformats.org/drawingml/2006/table">
            <a:tbl>
              <a:tblPr/>
              <a:tblGrid>
                <a:gridCol w="1574963"/>
                <a:gridCol w="8430683"/>
              </a:tblGrid>
              <a:tr h="228596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1923 </a:t>
                      </a:r>
                    </a:p>
                  </a:txBody>
                  <a:tcPr marT="45716" marB="45716"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name of Demonstration and Extension Division was changed to Agricultural Extension Service. Ms. Maria Y. </a:t>
                      </a:r>
                      <a:r>
                        <a:rPr kumimoji="0" lang="en-US" sz="2400" b="0" i="0" u="none" strike="noStrike" cap="none" normalizeH="0" baseline="0" dirty="0" err="1"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Orosa</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founded the home extension service also in 1923, starting as a unit under the Organic Chemistry Division of the Bureau of Science.</a:t>
                      </a:r>
                      <a:r>
                        <a:rPr kumimoji="0" lang="en-US" sz="2400" b="1"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 </a:t>
                      </a:r>
                    </a:p>
                  </a:txBody>
                  <a:tcPr marT="45716" marB="45716" horzOverflow="overflow">
                    <a:lnL>
                      <a:noFill/>
                    </a:lnL>
                    <a:lnR cap="flat">
                      <a:noFill/>
                    </a:lnR>
                    <a:lnT cap="flat">
                      <a:noFill/>
                    </a:lnT>
                    <a:lnB>
                      <a:noFill/>
                    </a:lnB>
                    <a:lnTlToBr>
                      <a:noFill/>
                    </a:lnTlToBr>
                    <a:lnBlToTr>
                      <a:noFill/>
                    </a:lnBlToTr>
                    <a:noFill/>
                  </a:tcPr>
                </a:tc>
              </a:tr>
              <a:tr h="155445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1925 </a:t>
                      </a:r>
                    </a:p>
                  </a:txBody>
                  <a:tcPr marT="45716" marB="45716"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Food Preservation Section of the Organic Chemistry Division was organized. Its activities included food preparation, food preservation, home management, and demonstration work.</a:t>
                      </a:r>
                    </a:p>
                  </a:txBody>
                  <a:tcPr marT="45716" marB="45716" horzOverflow="overflow">
                    <a:lnL>
                      <a:noFill/>
                    </a:lnL>
                    <a:lnR cap="flat">
                      <a:noFill/>
                    </a:lnR>
                    <a:lnT>
                      <a:noFill/>
                    </a:lnT>
                    <a:lnB>
                      <a:noFill/>
                    </a:lnB>
                    <a:lnTlToBr>
                      <a:noFill/>
                    </a:lnTlToBr>
                    <a:lnBlToTr>
                      <a:noFill/>
                    </a:lnBlToTr>
                    <a:noFill/>
                  </a:tcPr>
                </a:tc>
              </a:tr>
              <a:tr h="8920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1932 </a:t>
                      </a:r>
                    </a:p>
                  </a:txBody>
                  <a:tcPr marT="45716" marB="45716"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Demonstration and Extension Division was renamed the Agricultural Division.</a:t>
                      </a:r>
                    </a:p>
                  </a:txBody>
                  <a:tcPr marT="45716" marB="45716" horzOverflow="overflow">
                    <a:lnL>
                      <a:noFill/>
                    </a:lnL>
                    <a:lnR cap="flat">
                      <a:noFill/>
                    </a:lnR>
                    <a:lnT>
                      <a:noFill/>
                    </a:lnT>
                    <a:lnB>
                      <a:noFill/>
                    </a:lnB>
                    <a:lnTlToBr>
                      <a:noFill/>
                    </a:lnTlToBr>
                    <a:lnBlToTr>
                      <a:noFill/>
                    </a:lnBlToTr>
                    <a:noFill/>
                  </a:tcPr>
                </a:tc>
              </a:tr>
              <a:tr h="197309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1933</a:t>
                      </a:r>
                    </a:p>
                  </a:txBody>
                  <a:tcPr marT="45716" marB="45716"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The Fiber Standardization Board was abolished and the Fiber Inspection Service was returned to the Department of Agriculture and Commence, at the same time transferring the educational fiber inspector to BPI.</a:t>
                      </a:r>
                    </a:p>
                  </a:txBody>
                  <a:tcPr marT="45716" marB="45716"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34828857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04" name="Group 44"/>
          <p:cNvGraphicFramePr>
            <a:graphicFrameLocks noGrp="1"/>
          </p:cNvGraphicFramePr>
          <p:nvPr>
            <p:extLst>
              <p:ext uri="{D42A27DB-BD31-4B8C-83A1-F6EECF244321}">
                <p14:modId xmlns:p14="http://schemas.microsoft.com/office/powerpoint/2010/main" val="3909448376"/>
              </p:ext>
            </p:extLst>
          </p:nvPr>
        </p:nvGraphicFramePr>
        <p:xfrm>
          <a:off x="526367" y="152400"/>
          <a:ext cx="9760633" cy="1295400"/>
        </p:xfrm>
        <a:graphic>
          <a:graphicData uri="http://schemas.openxmlformats.org/drawingml/2006/table">
            <a:tbl>
              <a:tblPr/>
              <a:tblGrid>
                <a:gridCol w="1355643"/>
                <a:gridCol w="8404990"/>
              </a:tblGrid>
              <a:tr h="12954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1936</a:t>
                      </a: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Division of Home Economics was transferred to the Bureau of Plant Industry and merged with the Utilization Division of the said Bureau. </a:t>
                      </a:r>
                    </a:p>
                  </a:txBody>
                  <a:tcPr horzOverflow="overflow">
                    <a:lnL>
                      <a:noFill/>
                    </a:lnL>
                    <a:lnR cap="flat">
                      <a:noFill/>
                    </a:lnR>
                    <a:lnT cap="flat">
                      <a:noFill/>
                    </a:lnT>
                    <a:lnB cap="flat">
                      <a:noFill/>
                    </a:lnB>
                    <a:lnTlToBr>
                      <a:noFill/>
                    </a:lnTlToBr>
                    <a:lnBlToTr>
                      <a:noFill/>
                    </a:lnBlToTr>
                    <a:noFill/>
                  </a:tcPr>
                </a:tc>
              </a:tr>
            </a:tbl>
          </a:graphicData>
        </a:graphic>
      </p:graphicFrame>
      <p:sp>
        <p:nvSpPr>
          <p:cNvPr id="59397" name="Text Box 23"/>
          <p:cNvSpPr txBox="1">
            <a:spLocks noChangeArrowheads="1"/>
          </p:cNvSpPr>
          <p:nvPr/>
        </p:nvSpPr>
        <p:spPr bwMode="auto">
          <a:xfrm>
            <a:off x="301284" y="154649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sz="2800" dirty="0">
                <a:solidFill>
                  <a:schemeClr val="bg1"/>
                </a:solidFill>
                <a:latin typeface="Arial" panose="020B0604020202020204" pitchFamily="34" charset="0"/>
              </a:rPr>
              <a:t>Commonwealth Period</a:t>
            </a:r>
          </a:p>
        </p:txBody>
      </p:sp>
      <p:graphicFrame>
        <p:nvGraphicFramePr>
          <p:cNvPr id="143405" name="Group 45"/>
          <p:cNvGraphicFramePr>
            <a:graphicFrameLocks noGrp="1"/>
          </p:cNvGraphicFramePr>
          <p:nvPr>
            <p:extLst>
              <p:ext uri="{D42A27DB-BD31-4B8C-83A1-F6EECF244321}">
                <p14:modId xmlns:p14="http://schemas.microsoft.com/office/powerpoint/2010/main" val="3185544238"/>
              </p:ext>
            </p:extLst>
          </p:nvPr>
        </p:nvGraphicFramePr>
        <p:xfrm>
          <a:off x="1068945" y="2209800"/>
          <a:ext cx="10367493" cy="4511674"/>
        </p:xfrm>
        <a:graphic>
          <a:graphicData uri="http://schemas.openxmlformats.org/drawingml/2006/table">
            <a:tbl>
              <a:tblPr/>
              <a:tblGrid>
                <a:gridCol w="1343723"/>
                <a:gridCol w="9023770"/>
              </a:tblGrid>
              <a:tr h="129558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1936</a:t>
                      </a: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marT="45726" marB="45726"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passage of Commonwealth Act No. 85 created the position of provincial agriculturist which allowed for a wider field of coverage.</a:t>
                      </a:r>
                    </a:p>
                  </a:txBody>
                  <a:tcPr marT="45726" marB="45726" horzOverflow="overflow">
                    <a:lnL>
                      <a:noFill/>
                    </a:lnL>
                    <a:lnR cap="flat">
                      <a:noFill/>
                    </a:lnR>
                    <a:lnT cap="flat">
                      <a:noFill/>
                    </a:lnT>
                    <a:lnB>
                      <a:noFill/>
                    </a:lnB>
                    <a:lnTlToBr>
                      <a:noFill/>
                    </a:lnTlToBr>
                    <a:lnBlToTr>
                      <a:noFill/>
                    </a:lnBlToTr>
                    <a:noFill/>
                  </a:tcPr>
                </a:tc>
              </a:tr>
              <a:tr h="129558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1937</a:t>
                      </a:r>
                    </a:p>
                  </a:txBody>
                  <a:tcPr marT="45726" marB="45726"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Commonwealth Act 85 authorized each province to employ a few home demonstrators to show home extension work.</a:t>
                      </a:r>
                    </a:p>
                  </a:txBody>
                  <a:tcPr marT="45726" marB="45726" horzOverflow="overflow">
                    <a:lnL>
                      <a:noFill/>
                    </a:lnL>
                    <a:lnR cap="flat">
                      <a:noFill/>
                    </a:lnR>
                    <a:lnT>
                      <a:noFill/>
                    </a:lnT>
                    <a:lnB>
                      <a:noFill/>
                    </a:lnB>
                    <a:lnTlToBr>
                      <a:noFill/>
                    </a:lnTlToBr>
                    <a:lnBlToTr>
                      <a:noFill/>
                    </a:lnBlToTr>
                    <a:noFill/>
                  </a:tcPr>
                </a:tc>
              </a:tr>
              <a:tr h="192051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1938</a:t>
                      </a:r>
                    </a:p>
                  </a:txBody>
                  <a:tcPr marT="45726" marB="45726"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Bureau of Animal Industry also recognized its own extension activities by establishing a Livestock Extension Division, charged with the responsibility of demonstrating and disseminating information materials on livestock and poultry production.</a:t>
                      </a:r>
                    </a:p>
                  </a:txBody>
                  <a:tcPr marT="45726" marB="45726"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45858208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11"/>
          <p:cNvSpPr txBox="1">
            <a:spLocks noChangeArrowheads="1"/>
          </p:cNvSpPr>
          <p:nvPr/>
        </p:nvSpPr>
        <p:spPr bwMode="auto">
          <a:xfrm>
            <a:off x="1570892" y="880404"/>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sz="2800" dirty="0">
                <a:solidFill>
                  <a:schemeClr val="bg1"/>
                </a:solidFill>
                <a:latin typeface="Arial" panose="020B0604020202020204" pitchFamily="34" charset="0"/>
              </a:rPr>
              <a:t>Commonwealth Period</a:t>
            </a:r>
          </a:p>
        </p:txBody>
      </p:sp>
      <p:graphicFrame>
        <p:nvGraphicFramePr>
          <p:cNvPr id="145435" name="Group 27"/>
          <p:cNvGraphicFramePr>
            <a:graphicFrameLocks noGrp="1"/>
          </p:cNvGraphicFramePr>
          <p:nvPr>
            <p:extLst>
              <p:ext uri="{D42A27DB-BD31-4B8C-83A1-F6EECF244321}">
                <p14:modId xmlns:p14="http://schemas.microsoft.com/office/powerpoint/2010/main" val="1682743057"/>
              </p:ext>
            </p:extLst>
          </p:nvPr>
        </p:nvGraphicFramePr>
        <p:xfrm>
          <a:off x="1448972" y="1585914"/>
          <a:ext cx="8685628" cy="2578123"/>
        </p:xfrm>
        <a:graphic>
          <a:graphicData uri="http://schemas.openxmlformats.org/drawingml/2006/table">
            <a:tbl>
              <a:tblPr/>
              <a:tblGrid>
                <a:gridCol w="1125341"/>
                <a:gridCol w="7560287"/>
              </a:tblGrid>
              <a:tr h="25781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outerShdw blurRad="38100" dist="38100" dir="2700000" algn="tl">
                              <a:srgbClr val="000000"/>
                            </a:outerShdw>
                          </a:effectLst>
                          <a:latin typeface="Tahoma" panose="020B0604030504040204" pitchFamily="34" charset="0"/>
                          <a:ea typeface="Tahoma" panose="020B0604030504040204" pitchFamily="34" charset="0"/>
                          <a:cs typeface="Tahoma" panose="020B0604030504040204" pitchFamily="34" charset="0"/>
                        </a:rPr>
                        <a:t>1941 </a:t>
                      </a:r>
                    </a:p>
                  </a:txBody>
                  <a:tcPr marT="45735" marB="45735"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Tahoma" panose="020B0604030504040204" pitchFamily="34" charset="0"/>
                          <a:ea typeface="Tahoma" panose="020B0604030504040204" pitchFamily="34" charset="0"/>
                          <a:cs typeface="Tahoma" panose="020B0604030504040204" pitchFamily="34" charset="0"/>
                        </a:rPr>
                        <a:t>At first, the BPI’s extension service covered mainly the cultivation of fruit trees, vegetables and ornamental plants. In 1941, greater attention was directed to the improvement of rice, corn, tobacco, and other major crops.</a:t>
                      </a:r>
                    </a:p>
                  </a:txBody>
                  <a:tcPr marT="45735" marB="45735"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422599611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706901" y="284872"/>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sz="2800" dirty="0">
                <a:solidFill>
                  <a:schemeClr val="bg1"/>
                </a:solidFill>
                <a:latin typeface="Arial" panose="020B0604020202020204" pitchFamily="34" charset="0"/>
              </a:rPr>
              <a:t>Post - War Period</a:t>
            </a:r>
          </a:p>
        </p:txBody>
      </p:sp>
      <p:graphicFrame>
        <p:nvGraphicFramePr>
          <p:cNvPr id="147480" name="Group 24"/>
          <p:cNvGraphicFramePr>
            <a:graphicFrameLocks noGrp="1"/>
          </p:cNvGraphicFramePr>
          <p:nvPr>
            <p:extLst>
              <p:ext uri="{D42A27DB-BD31-4B8C-83A1-F6EECF244321}">
                <p14:modId xmlns:p14="http://schemas.microsoft.com/office/powerpoint/2010/main" val="162100046"/>
              </p:ext>
            </p:extLst>
          </p:nvPr>
        </p:nvGraphicFramePr>
        <p:xfrm>
          <a:off x="576775" y="976313"/>
          <a:ext cx="9973994" cy="5954521"/>
        </p:xfrm>
        <a:graphic>
          <a:graphicData uri="http://schemas.openxmlformats.org/drawingml/2006/table">
            <a:tbl>
              <a:tblPr/>
              <a:tblGrid>
                <a:gridCol w="1292266"/>
                <a:gridCol w="8681728"/>
              </a:tblGrid>
              <a:tr h="176688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1947</a:t>
                      </a: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marT="45710" marB="45710"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home extension unit of the Plant Utilization Division of the Bureau of Plant Industry was fused with the Agricultural Extension of the Bureau.</a:t>
                      </a:r>
                    </a:p>
                  </a:txBody>
                  <a:tcPr marT="45710" marB="45710" horzOverflow="overflow">
                    <a:lnL>
                      <a:noFill/>
                    </a:lnL>
                    <a:lnR cap="flat">
                      <a:noFill/>
                    </a:lnR>
                    <a:lnT cap="flat">
                      <a:noFill/>
                    </a:lnT>
                    <a:lnB>
                      <a:noFill/>
                    </a:lnB>
                    <a:lnTlToBr>
                      <a:noFill/>
                    </a:lnTlToBr>
                    <a:lnBlToTr>
                      <a:noFill/>
                    </a:lnBlToTr>
                    <a:noFill/>
                  </a:tcPr>
                </a:tc>
              </a:tr>
              <a:tr h="4187634">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1949</a:t>
                      </a:r>
                    </a:p>
                  </a:txBody>
                  <a:tcPr marT="45710" marB="45710"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Philippine Government requested the US Government to send an Economic Survey Mission to the Philippines to look over the post-war situation with the end in view of making suggestions for improvement.</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bg1"/>
                          </a:solidFill>
                          <a:effectLst/>
                          <a:latin typeface="Arial" charset="0"/>
                        </a:rPr>
                        <a:t>            The Bell Report, named after the chief of the mission, Daniel W. Bell recommended among other things that the agricultural extension services of the government be consolidated under one administration for the sake of efficiency</a:t>
                      </a:r>
                    </a:p>
                  </a:txBody>
                  <a:tcPr marT="45710" marB="45710"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40077607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1576" name="Group 24"/>
          <p:cNvGraphicFramePr>
            <a:graphicFrameLocks noGrp="1"/>
          </p:cNvGraphicFramePr>
          <p:nvPr>
            <p:extLst/>
          </p:nvPr>
        </p:nvGraphicFramePr>
        <p:xfrm>
          <a:off x="309489" y="304801"/>
          <a:ext cx="9748911" cy="6486525"/>
        </p:xfrm>
        <a:graphic>
          <a:graphicData uri="http://schemas.openxmlformats.org/drawingml/2006/table">
            <a:tbl>
              <a:tblPr/>
              <a:tblGrid>
                <a:gridCol w="1263104"/>
                <a:gridCol w="8485807"/>
              </a:tblGrid>
              <a:tr h="389557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1952</a:t>
                      </a: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marT="45723" marB="45723"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Republic Act No. 680 was signed creating the Bureau of Agricultural Extension (BAE)</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BAE was charged with the consolidation, coordination and expansion of agricultural extension undertaken by other agencies </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BAE was responsible for undertaking a three – phase program of farm improvement, home management and youth development in order to increase farm income and improve family life.</a:t>
                      </a:r>
                    </a:p>
                  </a:txBody>
                  <a:tcPr marT="45723" marB="45723" horzOverflow="overflow">
                    <a:lnL>
                      <a:noFill/>
                    </a:lnL>
                    <a:lnR cap="flat">
                      <a:noFill/>
                    </a:lnR>
                    <a:lnT cap="flat">
                      <a:noFill/>
                    </a:lnT>
                    <a:lnB>
                      <a:noFill/>
                    </a:lnB>
                    <a:lnTlToBr>
                      <a:noFill/>
                    </a:lnTlToBr>
                    <a:lnBlToTr>
                      <a:noFill/>
                    </a:lnBlToTr>
                    <a:noFill/>
                  </a:tcPr>
                </a:tc>
              </a:tr>
              <a:tr h="12954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1954</a:t>
                      </a:r>
                    </a:p>
                  </a:txBody>
                  <a:tcPr marT="45723" marB="45723"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Executive Order No. 57 was signed creating the Community Development Council (CDC)</a:t>
                      </a:r>
                    </a:p>
                  </a:txBody>
                  <a:tcPr marT="45723" marB="45723" horzOverflow="overflow">
                    <a:lnL>
                      <a:noFill/>
                    </a:lnL>
                    <a:lnR cap="flat">
                      <a:noFill/>
                    </a:lnR>
                    <a:lnT>
                      <a:noFill/>
                    </a:lnT>
                    <a:lnB>
                      <a:noFill/>
                    </a:lnB>
                    <a:lnTlToBr>
                      <a:noFill/>
                    </a:lnTlToBr>
                    <a:lnBlToTr>
                      <a:noFill/>
                    </a:lnBlToTr>
                    <a:noFill/>
                  </a:tcPr>
                </a:tc>
              </a:tr>
              <a:tr h="12954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1956</a:t>
                      </a:r>
                    </a:p>
                  </a:txBody>
                  <a:tcPr marT="45723" marB="45723"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Executive Order No. 156 was issued to create the office of the Presidential Assistant for Community Development (PACD).</a:t>
                      </a:r>
                    </a:p>
                  </a:txBody>
                  <a:tcPr marT="45723" marB="45723"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45257915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19" name="Group 19"/>
          <p:cNvGraphicFramePr>
            <a:graphicFrameLocks noGrp="1"/>
          </p:cNvGraphicFramePr>
          <p:nvPr>
            <p:extLst/>
          </p:nvPr>
        </p:nvGraphicFramePr>
        <p:xfrm>
          <a:off x="2057400" y="1219201"/>
          <a:ext cx="8001000" cy="4386263"/>
        </p:xfrm>
        <a:graphic>
          <a:graphicData uri="http://schemas.openxmlformats.org/drawingml/2006/table">
            <a:tbl>
              <a:tblPr/>
              <a:tblGrid>
                <a:gridCol w="1036638"/>
                <a:gridCol w="6964362"/>
              </a:tblGrid>
              <a:tr h="309080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800" b="0" i="0" u="none" strike="noStrike" cap="none" normalizeH="0" baseline="0" dirty="0" smtClean="0">
                        <a:ln>
                          <a:noFill/>
                        </a:ln>
                        <a:solidFill>
                          <a:schemeClr val="folHlink"/>
                        </a:solidFill>
                        <a:effectLst>
                          <a:outerShdw blurRad="38100" dist="38100" dir="2700000" algn="tl">
                            <a:srgbClr val="000000"/>
                          </a:outerShdw>
                        </a:effectLst>
                        <a:latin typeface="Garamond" pitchFamily="18" charset="0"/>
                      </a:endParaRPr>
                    </a:p>
                  </a:txBody>
                  <a:tcPr marT="45722" marB="45722"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PACD was assigned to plan and implement the Philippine National Community Development Program, coordinate and integrate the activities of all and each department of government engaged in community development.</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ultimate objective was to increase their effectiveness, achieve maximum benefits and avoid overlapping and duplication of activities.</a:t>
                      </a:r>
                    </a:p>
                  </a:txBody>
                  <a:tcPr marT="45722" marB="45722" horzOverflow="overflow">
                    <a:lnL>
                      <a:noFill/>
                    </a:lnL>
                    <a:lnR cap="flat">
                      <a:noFill/>
                    </a:lnR>
                    <a:lnT cap="flat">
                      <a:noFill/>
                    </a:lnT>
                    <a:lnB>
                      <a:noFill/>
                    </a:lnB>
                    <a:lnTlToBr>
                      <a:noFill/>
                    </a:lnTlToBr>
                    <a:lnBlToTr>
                      <a:noFill/>
                    </a:lnBlToTr>
                    <a:noFill/>
                  </a:tcPr>
                </a:tc>
              </a:tr>
              <a:tr h="129545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1957</a:t>
                      </a:r>
                    </a:p>
                  </a:txBody>
                  <a:tcPr marT="45722" marB="45722"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thrust of PACD programs were changed in 1957. It reduced its agricultural extension work.</a:t>
                      </a:r>
                    </a:p>
                  </a:txBody>
                  <a:tcPr marT="45722" marB="45722" horzOverflow="overflow">
                    <a:lnL>
                      <a:noFill/>
                    </a:lnL>
                    <a:lnR cap="flat">
                      <a:noFill/>
                    </a:lnR>
                    <a:lnT>
                      <a:noFill/>
                    </a:lnT>
                    <a:lnB>
                      <a:noFill/>
                    </a:lnB>
                    <a:lnTlToBr>
                      <a:noFill/>
                    </a:lnTlToBr>
                    <a:lnBlToTr>
                      <a:noFill/>
                    </a:lnBlToTr>
                    <a:noFill/>
                  </a:tcPr>
                </a:tc>
              </a:tr>
            </a:tbl>
          </a:graphicData>
        </a:graphic>
      </p:graphicFrame>
    </p:spTree>
    <p:extLst>
      <p:ext uri="{BB962C8B-B14F-4D97-AF65-F5344CB8AC3E}">
        <p14:creationId xmlns:p14="http://schemas.microsoft.com/office/powerpoint/2010/main" val="114726886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669" name="Group 21"/>
          <p:cNvGraphicFramePr>
            <a:graphicFrameLocks noGrp="1"/>
          </p:cNvGraphicFramePr>
          <p:nvPr>
            <p:extLst/>
          </p:nvPr>
        </p:nvGraphicFramePr>
        <p:xfrm>
          <a:off x="337625" y="573089"/>
          <a:ext cx="10044332" cy="5710237"/>
        </p:xfrm>
        <a:graphic>
          <a:graphicData uri="http://schemas.openxmlformats.org/drawingml/2006/table">
            <a:tbl>
              <a:tblPr/>
              <a:tblGrid>
                <a:gridCol w="1301379"/>
                <a:gridCol w="8742953"/>
              </a:tblGrid>
              <a:tr h="192034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1958</a:t>
                      </a:r>
                    </a:p>
                  </a:txBody>
                  <a:tcPr marT="45723" marB="45723"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smtClean="0">
                          <a:ln>
                            <a:noFill/>
                          </a:ln>
                          <a:solidFill>
                            <a:schemeClr val="bg1"/>
                          </a:solidFill>
                          <a:effectLst/>
                          <a:latin typeface="Arial" charset="0"/>
                        </a:rPr>
                        <a:t>The Rice and Corn Production Coordinating  Council (RCPCC) which was organized as the highest governing body to exercise direct control and management over the Rice and Corn Production Program.</a:t>
                      </a:r>
                    </a:p>
                  </a:txBody>
                  <a:tcPr marT="45723" marB="45723" horzOverflow="overflow">
                    <a:lnL>
                      <a:noFill/>
                    </a:lnL>
                    <a:lnR cap="flat">
                      <a:noFill/>
                    </a:lnR>
                    <a:lnT cap="flat">
                      <a:noFill/>
                    </a:lnT>
                    <a:lnB>
                      <a:noFill/>
                    </a:lnB>
                    <a:lnTlToBr>
                      <a:noFill/>
                    </a:lnTlToBr>
                    <a:lnBlToTr>
                      <a:noFill/>
                    </a:lnBlToTr>
                    <a:noFill/>
                  </a:tcPr>
                </a:tc>
              </a:tr>
              <a:tr h="93985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1959</a:t>
                      </a:r>
                    </a:p>
                  </a:txBody>
                  <a:tcPr marT="45723" marB="45723"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RCPCC was organized in 1959 as the highest policy making and coordinating body.</a:t>
                      </a:r>
                    </a:p>
                  </a:txBody>
                  <a:tcPr marT="45723" marB="45723" horzOverflow="overflow">
                    <a:lnL>
                      <a:noFill/>
                    </a:lnL>
                    <a:lnR cap="flat">
                      <a:noFill/>
                    </a:lnR>
                    <a:lnT>
                      <a:noFill/>
                    </a:lnT>
                    <a:lnB>
                      <a:noFill/>
                    </a:lnB>
                    <a:lnTlToBr>
                      <a:noFill/>
                    </a:lnTlToBr>
                    <a:lnBlToTr>
                      <a:noFill/>
                    </a:lnBlToTr>
                    <a:noFill/>
                  </a:tcPr>
                </a:tc>
              </a:tr>
              <a:tr h="155456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1963</a:t>
                      </a:r>
                    </a:p>
                  </a:txBody>
                  <a:tcPr marT="45723" marB="45723"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On August 8, 1963, the focus of BAE was shifted. BAE was changed into Agricultural Productivity Commission (APC) under the office of the President.</a:t>
                      </a:r>
                    </a:p>
                  </a:txBody>
                  <a:tcPr marT="45723" marB="45723" horzOverflow="overflow">
                    <a:lnL>
                      <a:noFill/>
                    </a:lnL>
                    <a:lnR cap="flat">
                      <a:noFill/>
                    </a:lnR>
                    <a:lnT>
                      <a:noFill/>
                    </a:lnT>
                    <a:lnB>
                      <a:noFill/>
                    </a:lnB>
                    <a:lnTlToBr>
                      <a:noFill/>
                    </a:lnTlToBr>
                    <a:lnBlToTr>
                      <a:noFill/>
                    </a:lnBlToTr>
                    <a:noFill/>
                  </a:tcPr>
                </a:tc>
              </a:tr>
              <a:tr h="129547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1964</a:t>
                      </a:r>
                    </a:p>
                  </a:txBody>
                  <a:tcPr marT="45723" marB="45723"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Executive Order No. 62 was promulgated creating the Rice and Corn Authority (RCA) which replaced the RCPCC.</a:t>
                      </a:r>
                    </a:p>
                  </a:txBody>
                  <a:tcPr marT="45723" marB="45723"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27542895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7724" name="Group 28"/>
          <p:cNvGraphicFramePr>
            <a:graphicFrameLocks noGrp="1"/>
          </p:cNvGraphicFramePr>
          <p:nvPr>
            <p:extLst/>
          </p:nvPr>
        </p:nvGraphicFramePr>
        <p:xfrm>
          <a:off x="253218" y="230189"/>
          <a:ext cx="9957582" cy="6565901"/>
        </p:xfrm>
        <a:graphic>
          <a:graphicData uri="http://schemas.openxmlformats.org/drawingml/2006/table">
            <a:tbl>
              <a:tblPr/>
              <a:tblGrid>
                <a:gridCol w="1290375"/>
                <a:gridCol w="8667207"/>
              </a:tblGrid>
              <a:tr h="19203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1966</a:t>
                      </a:r>
                    </a:p>
                  </a:txBody>
                  <a:tcPr marT="45724" marB="45724"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smtClean="0">
                          <a:ln>
                            <a:noFill/>
                          </a:ln>
                          <a:solidFill>
                            <a:schemeClr val="bg1"/>
                          </a:solidFill>
                          <a:effectLst/>
                          <a:latin typeface="Arial" charset="0"/>
                        </a:rPr>
                        <a:t>Executive Order No. 38 changed the Presidential Assistant for Community Development to Presidential Arm for Community Development and at the same time elevating the PACD to cabinet rank </a:t>
                      </a:r>
                    </a:p>
                  </a:txBody>
                  <a:tcPr marT="45724" marB="45724" horzOverflow="overflow">
                    <a:lnL>
                      <a:noFill/>
                    </a:lnL>
                    <a:lnR cap="flat">
                      <a:noFill/>
                    </a:lnR>
                    <a:lnT cap="flat">
                      <a:noFill/>
                    </a:lnT>
                    <a:lnB>
                      <a:noFill/>
                    </a:lnB>
                    <a:lnTlToBr>
                      <a:noFill/>
                    </a:lnTlToBr>
                    <a:lnBlToTr>
                      <a:noFill/>
                    </a:lnBlToTr>
                    <a:noFill/>
                  </a:tcPr>
                </a:tc>
              </a:tr>
              <a:tr h="19203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1966</a:t>
                      </a:r>
                    </a:p>
                  </a:txBody>
                  <a:tcPr marT="45724" marB="45724"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Executive Order No. 64 was revoked while Executive Order No. 50 was issued to restore the power and responsibility for the implementation of the Rice and Corn Productivity Program to the RCPCC.</a:t>
                      </a:r>
                    </a:p>
                  </a:txBody>
                  <a:tcPr marT="45724" marB="45724" horzOverflow="overflow">
                    <a:lnL>
                      <a:noFill/>
                    </a:lnL>
                    <a:lnR cap="flat">
                      <a:noFill/>
                    </a:lnR>
                    <a:lnT>
                      <a:noFill/>
                    </a:lnT>
                    <a:lnB>
                      <a:noFill/>
                    </a:lnB>
                    <a:lnTlToBr>
                      <a:noFill/>
                    </a:lnTlToBr>
                    <a:lnBlToTr>
                      <a:noFill/>
                    </a:lnBlToTr>
                    <a:noFill/>
                  </a:tcPr>
                </a:tc>
              </a:tr>
              <a:tr h="27251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1969</a:t>
                      </a:r>
                    </a:p>
                  </a:txBody>
                  <a:tcPr marT="45724" marB="45724"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By the virtue of Executive Order No. 183, the National Food and Agriculture Council was created in place of RCPCC.</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NFAC performed the functions of RCPCC with the additional responsibility of the coordination, administration and implementation of the national program of self-sufficiency in foodstuffs.</a:t>
                      </a:r>
                    </a:p>
                  </a:txBody>
                  <a:tcPr marT="45724" marB="45724"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100816627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9772" name="Group 28"/>
          <p:cNvGraphicFramePr>
            <a:graphicFrameLocks noGrp="1"/>
          </p:cNvGraphicFramePr>
          <p:nvPr>
            <p:extLst/>
          </p:nvPr>
        </p:nvGraphicFramePr>
        <p:xfrm>
          <a:off x="168812" y="230188"/>
          <a:ext cx="10452296" cy="6931043"/>
        </p:xfrm>
        <a:graphic>
          <a:graphicData uri="http://schemas.openxmlformats.org/drawingml/2006/table">
            <a:tbl>
              <a:tblPr/>
              <a:tblGrid>
                <a:gridCol w="1354484"/>
                <a:gridCol w="9097812"/>
              </a:tblGrid>
              <a:tr h="265171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rPr>
                        <a:t>1972</a:t>
                      </a:r>
                    </a:p>
                  </a:txBody>
                  <a:tcPr marT="45717" marB="45717"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Several organizational changes affecting agricultural extension took place with the declaration of Martial Law in 1972. Presidential Letter of Instruction dated November 1, 1972 reverted the Agricultural Productivity Commission to its original name, Bureau of Agricultural Extension.</a:t>
                      </a:r>
                    </a:p>
                  </a:txBody>
                  <a:tcPr marT="45717" marB="45717" horzOverflow="overflow">
                    <a:lnL>
                      <a:noFill/>
                    </a:lnL>
                    <a:lnR cap="flat">
                      <a:noFill/>
                    </a:lnR>
                    <a:lnT cap="flat">
                      <a:noFill/>
                    </a:lnT>
                    <a:lnB>
                      <a:noFill/>
                    </a:lnB>
                    <a:lnTlToBr>
                      <a:noFill/>
                    </a:lnTlToBr>
                    <a:lnBlToTr>
                      <a:noFill/>
                    </a:lnBlToTr>
                    <a:noFill/>
                  </a:tcPr>
                </a:tc>
              </a:tr>
              <a:tr h="118869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1973</a:t>
                      </a:r>
                    </a:p>
                  </a:txBody>
                  <a:tcPr marT="45717" marB="45717"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It was on July 1, 1973 when the Bureau of Agricultural Extension was placed again under the Department of Agriculture.</a:t>
                      </a:r>
                    </a:p>
                  </a:txBody>
                  <a:tcPr marT="45717" marB="45717" horzOverflow="overflow">
                    <a:lnL>
                      <a:noFill/>
                    </a:lnL>
                    <a:lnR cap="flat">
                      <a:noFill/>
                    </a:lnR>
                    <a:lnT>
                      <a:noFill/>
                    </a:lnT>
                    <a:lnB>
                      <a:noFill/>
                    </a:lnB>
                    <a:lnTlToBr>
                      <a:noFill/>
                    </a:lnTlToBr>
                    <a:lnBlToTr>
                      <a:noFill/>
                    </a:lnBlToTr>
                    <a:noFill/>
                  </a:tcPr>
                </a:tc>
              </a:tr>
              <a:tr h="309061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1977</a:t>
                      </a:r>
                    </a:p>
                  </a:txBody>
                  <a:tcPr marT="45717" marB="45717"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Upon the request of the Philippine Government, the World Bank Mission appraised the Philippine agricultural extension service. The proposal for the National Extension Project (NEP) was appraised by the World Bank Mission from February to March 1978. The World Bank approved a loan of US $ 35 million.</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400" b="0" i="0" u="none" strike="noStrike" cap="none" normalizeH="0" baseline="0" dirty="0" smtClean="0">
                        <a:ln>
                          <a:noFill/>
                        </a:ln>
                        <a:solidFill>
                          <a:schemeClr val="bg1"/>
                        </a:solidFill>
                        <a:effectLst/>
                        <a:latin typeface="Arial" charset="0"/>
                      </a:endParaRPr>
                    </a:p>
                  </a:txBody>
                  <a:tcPr marT="45717" marB="45717"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42457643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818" name="Group 26"/>
          <p:cNvGraphicFramePr>
            <a:graphicFrameLocks noGrp="1"/>
          </p:cNvGraphicFramePr>
          <p:nvPr>
            <p:extLst/>
          </p:nvPr>
        </p:nvGraphicFramePr>
        <p:xfrm>
          <a:off x="309489" y="436563"/>
          <a:ext cx="9901311" cy="5211762"/>
        </p:xfrm>
        <a:graphic>
          <a:graphicData uri="http://schemas.openxmlformats.org/drawingml/2006/table">
            <a:tbl>
              <a:tblPr/>
              <a:tblGrid>
                <a:gridCol w="1283083"/>
                <a:gridCol w="8618228"/>
              </a:tblGrid>
              <a:tr h="52117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800" b="0" i="0" u="none" strike="noStrike" cap="none" normalizeH="0" baseline="0" dirty="0" smtClean="0">
                        <a:ln>
                          <a:noFill/>
                        </a:ln>
                        <a:solidFill>
                          <a:schemeClr val="bg1"/>
                        </a:solidFill>
                        <a:effectLst/>
                        <a:latin typeface="Arial" charset="0"/>
                      </a:endParaRPr>
                    </a:p>
                  </a:txBody>
                  <a:tcPr marT="45711" marB="45711"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NEP became fully operational on March 27, 1979. The T and V System Philippine Model evolved into the complementation program “a development strategy designed to improve the quality of life of farm families through the resource pool of Marketing Assistance Centers (MAC). Technology Packaging (Tech Pack), Cooperative Development (Coop </a:t>
                      </a:r>
                      <a:r>
                        <a:rPr kumimoji="0" lang="en-US" sz="2400" b="0" i="0" u="none" strike="noStrike" cap="none" normalizeH="0" baseline="0" dirty="0" err="1" smtClean="0">
                          <a:ln>
                            <a:noFill/>
                          </a:ln>
                          <a:solidFill>
                            <a:schemeClr val="bg1"/>
                          </a:solidFill>
                          <a:effectLst/>
                          <a:latin typeface="Arial" charset="0"/>
                        </a:rPr>
                        <a:t>Dev</a:t>
                      </a:r>
                      <a:r>
                        <a:rPr kumimoji="0" lang="en-US" sz="2400" b="0" i="0" u="none" strike="noStrike" cap="none" normalizeH="0" baseline="0" dirty="0" smtClean="0">
                          <a:ln>
                            <a:noFill/>
                          </a:ln>
                          <a:solidFill>
                            <a:schemeClr val="bg1"/>
                          </a:solidFill>
                          <a:effectLst/>
                          <a:latin typeface="Arial" charset="0"/>
                        </a:rPr>
                        <a:t>), with Extension Delivery System (EDS). It derived its name from the recognition that “complementation is imperative among the resource pool component if the model is to be operational and effective in addressing the multi-dimensional problems of the small farm families”.</a:t>
                      </a:r>
                    </a:p>
                  </a:txBody>
                  <a:tcPr marT="45711" marB="45711"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196149903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1125415" y="76200"/>
            <a:ext cx="885678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sz="2800" dirty="0">
                <a:solidFill>
                  <a:schemeClr val="bg1"/>
                </a:solidFill>
                <a:latin typeface="Arial" panose="020B0604020202020204" pitchFamily="34" charset="0"/>
              </a:rPr>
              <a:t>The Bureau of Agricultural Extension Becomes a Staff Bureau</a:t>
            </a:r>
          </a:p>
        </p:txBody>
      </p:sp>
      <p:graphicFrame>
        <p:nvGraphicFramePr>
          <p:cNvPr id="165912" name="Group 24"/>
          <p:cNvGraphicFramePr>
            <a:graphicFrameLocks noGrp="1"/>
          </p:cNvGraphicFramePr>
          <p:nvPr>
            <p:extLst/>
          </p:nvPr>
        </p:nvGraphicFramePr>
        <p:xfrm>
          <a:off x="267286" y="1066800"/>
          <a:ext cx="10705514" cy="5668963"/>
        </p:xfrm>
        <a:graphic>
          <a:graphicData uri="http://schemas.openxmlformats.org/drawingml/2006/table">
            <a:tbl>
              <a:tblPr/>
              <a:tblGrid>
                <a:gridCol w="1387973"/>
                <a:gridCol w="9317541"/>
              </a:tblGrid>
              <a:tr h="265161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1978</a:t>
                      </a: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marT="45713" marB="45713"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In 1978, ministry-wide regional offices were created in the Ministry of Agriculture by virtue of Presidential Decree No. 1579 Local Government and Community Development in the 1972 reorganization, was likewise placed under the supervision and control of the Ministry of Agriculture.</a:t>
                      </a:r>
                    </a:p>
                  </a:txBody>
                  <a:tcPr marT="45713" marB="45713" horzOverflow="overflow">
                    <a:lnL>
                      <a:noFill/>
                    </a:lnL>
                    <a:lnR cap="flat">
                      <a:noFill/>
                    </a:lnR>
                    <a:lnT cap="flat">
                      <a:noFill/>
                    </a:lnT>
                    <a:lnB>
                      <a:noFill/>
                    </a:lnB>
                    <a:lnTlToBr>
                      <a:noFill/>
                    </a:lnTlToBr>
                    <a:lnBlToTr>
                      <a:noFill/>
                    </a:lnBlToTr>
                    <a:noFill/>
                  </a:tcPr>
                </a:tc>
              </a:tr>
              <a:tr h="301735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1980</a:t>
                      </a:r>
                    </a:p>
                  </a:txBody>
                  <a:tcPr marT="45713" marB="45713"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structural set-up of the Ministry of Agriculture was streamlined for a more unified extension service with the reorganization under Presidential Decree No. 1579 and Letter of Instruction No. 595. Under the new organizational set-up, the Bureau of Cooperatives Development and the Bureau of Fisheries and Aquatic Resources which used to be line agencies, became staff bureau.</a:t>
                      </a:r>
                    </a:p>
                  </a:txBody>
                  <a:tcPr marT="45713" marB="45713"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81277963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7954" name="Group 18"/>
          <p:cNvGraphicFramePr>
            <a:graphicFrameLocks noGrp="1"/>
          </p:cNvGraphicFramePr>
          <p:nvPr>
            <p:extLst/>
          </p:nvPr>
        </p:nvGraphicFramePr>
        <p:xfrm>
          <a:off x="1752600" y="1131889"/>
          <a:ext cx="8534400" cy="3292475"/>
        </p:xfrm>
        <a:graphic>
          <a:graphicData uri="http://schemas.openxmlformats.org/drawingml/2006/table">
            <a:tbl>
              <a:tblPr/>
              <a:tblGrid>
                <a:gridCol w="1106488"/>
                <a:gridCol w="7427912"/>
              </a:tblGrid>
              <a:tr h="137186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rPr>
                        <a:t> </a:t>
                      </a:r>
                    </a:p>
                  </a:txBody>
                  <a:tcPr marT="45729" marB="45729"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smtClean="0">
                          <a:ln>
                            <a:noFill/>
                          </a:ln>
                          <a:solidFill>
                            <a:schemeClr val="bg1"/>
                          </a:solidFill>
                          <a:effectLst/>
                          <a:latin typeface="Arial" charset="0"/>
                        </a:rPr>
                        <a:t>Matters that have to be communicated to the extension fieldworks from the Central Office must pass through the Regional Directors.</a:t>
                      </a:r>
                    </a:p>
                  </a:txBody>
                  <a:tcPr marT="45729" marB="45729" horzOverflow="overflow">
                    <a:lnL>
                      <a:noFill/>
                    </a:lnL>
                    <a:lnR cap="flat">
                      <a:noFill/>
                    </a:lnR>
                    <a:lnT cap="flat">
                      <a:noFill/>
                    </a:lnT>
                    <a:lnB>
                      <a:noFill/>
                    </a:lnB>
                    <a:lnTlToBr>
                      <a:noFill/>
                    </a:lnTlToBr>
                    <a:lnBlToTr>
                      <a:noFill/>
                    </a:lnBlToTr>
                    <a:noFill/>
                  </a:tcPr>
                </a:tc>
              </a:tr>
              <a:tr h="192061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smtClean="0">
                          <a:ln>
                            <a:noFill/>
                          </a:ln>
                          <a:solidFill>
                            <a:schemeClr val="bg1"/>
                          </a:solidFill>
                          <a:effectLst/>
                          <a:latin typeface="Arial" charset="0"/>
                        </a:rPr>
                        <a:t>1982</a:t>
                      </a:r>
                    </a:p>
                  </a:txBody>
                  <a:tcPr marT="45729" marB="45729"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In 1982, Executive Order 803 established an integrated management system for agricultural services for the unification of government efforts at providing adequate and timely agricultural services and inputs.</a:t>
                      </a:r>
                    </a:p>
                  </a:txBody>
                  <a:tcPr marT="45729" marB="45729"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423182801"/>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905000" y="615951"/>
            <a:ext cx="822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sz="2800" dirty="0">
                <a:solidFill>
                  <a:schemeClr val="bg1"/>
                </a:solidFill>
                <a:latin typeface="Arial" panose="020B0604020202020204" pitchFamily="34" charset="0"/>
              </a:rPr>
              <a:t>The Creation of Agricultural Training Institute (ATI)</a:t>
            </a:r>
          </a:p>
        </p:txBody>
      </p:sp>
      <p:graphicFrame>
        <p:nvGraphicFramePr>
          <p:cNvPr id="170005" name="Group 21"/>
          <p:cNvGraphicFramePr>
            <a:graphicFrameLocks noGrp="1"/>
          </p:cNvGraphicFramePr>
          <p:nvPr>
            <p:extLst/>
          </p:nvPr>
        </p:nvGraphicFramePr>
        <p:xfrm>
          <a:off x="773723" y="1516064"/>
          <a:ext cx="9284677" cy="3749675"/>
        </p:xfrm>
        <a:graphic>
          <a:graphicData uri="http://schemas.openxmlformats.org/drawingml/2006/table">
            <a:tbl>
              <a:tblPr/>
              <a:tblGrid>
                <a:gridCol w="1203971"/>
                <a:gridCol w="8080706"/>
              </a:tblGrid>
              <a:tr h="37496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1987</a:t>
                      </a:r>
                      <a:endPar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endParaRPr>
                    </a:p>
                  </a:txBody>
                  <a:tcPr marT="45728" marB="45728"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Agricultural Training Institute (ATI) was born. The ATI is responsible for the training of all agricultural extension workers and their clientele, who are mostly farmers and other agricultural workers; ensure that training programs address the real needs of the agricultural sector; ensure that the research results are then communicated to the farmers through the appropriate training and extension activities.</a:t>
                      </a:r>
                    </a:p>
                  </a:txBody>
                  <a:tcPr marT="45728" marB="45728"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410249073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1905000" y="61595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sz="2800" dirty="0">
                <a:solidFill>
                  <a:schemeClr val="bg1"/>
                </a:solidFill>
                <a:latin typeface="Arial" panose="020B0604020202020204" pitchFamily="34" charset="0"/>
              </a:rPr>
              <a:t>The Agriculture and Fisheries Modernization Act of 1997 </a:t>
            </a:r>
          </a:p>
        </p:txBody>
      </p:sp>
      <p:graphicFrame>
        <p:nvGraphicFramePr>
          <p:cNvPr id="172051" name="Group 19"/>
          <p:cNvGraphicFramePr>
            <a:graphicFrameLocks noGrp="1"/>
          </p:cNvGraphicFramePr>
          <p:nvPr>
            <p:extLst/>
          </p:nvPr>
        </p:nvGraphicFramePr>
        <p:xfrm>
          <a:off x="633046" y="1668463"/>
          <a:ext cx="9425354" cy="3383280"/>
        </p:xfrm>
        <a:graphic>
          <a:graphicData uri="http://schemas.openxmlformats.org/drawingml/2006/table">
            <a:tbl>
              <a:tblPr/>
              <a:tblGrid>
                <a:gridCol w="1222213"/>
                <a:gridCol w="8203141"/>
              </a:tblGrid>
              <a:tr h="15509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0" i="0" u="none" strike="noStrike" cap="none" normalizeH="0" baseline="0" dirty="0" smtClean="0">
                          <a:ln>
                            <a:noFill/>
                          </a:ln>
                          <a:solidFill>
                            <a:schemeClr val="bg1"/>
                          </a:solidFill>
                          <a:effectLst/>
                          <a:latin typeface="Arial" charset="0"/>
                          <a:ea typeface="Times New Roman" pitchFamily="18" charset="0"/>
                          <a:cs typeface="Arial" charset="0"/>
                        </a:rPr>
                        <a:t>1997</a:t>
                      </a:r>
                      <a:endPar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endParaRPr>
                    </a:p>
                  </a:txBody>
                  <a:tcPr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RA 8435 created the AFMA Law of 1997. This is an act prescribing urgent related measures to modernize the agriculture and fisheries sectors of the country to enhance their profitability, and prepare said sectors for the challenges of globalization through an adequate, focused and national delivery of necessary support services, appropriating funds therefore and for other purposes. Otherwise known as the “The Agriculture and Fisheries Modernization Act of 1997”.</a:t>
                      </a:r>
                    </a:p>
                  </a:txBody>
                  <a:tcPr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49311897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17" name="Group 37"/>
          <p:cNvGraphicFramePr>
            <a:graphicFrameLocks noGrp="1"/>
          </p:cNvGraphicFramePr>
          <p:nvPr>
            <p:extLst/>
          </p:nvPr>
        </p:nvGraphicFramePr>
        <p:xfrm>
          <a:off x="112542" y="76200"/>
          <a:ext cx="10250658" cy="4552950"/>
        </p:xfrm>
        <a:graphic>
          <a:graphicData uri="http://schemas.openxmlformats.org/drawingml/2006/table">
            <a:tbl>
              <a:tblPr/>
              <a:tblGrid>
                <a:gridCol w="1329554"/>
                <a:gridCol w="8921104"/>
              </a:tblGrid>
              <a:tr h="4552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endParaRPr>
                    </a:p>
                  </a:txBody>
                  <a:tcPr marT="45698" marB="45698"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Rule 85.1 of the IPR includes the following that pertains to extension: “The results of all research conducted by offices and institutions within the NARDSAF shall be reported at regular intervals and integrated into the NIN. For this purpose, all institutions under the NARDSAF are required to submit reports in formats consistent with standards and schedules issued by the Department of CERDAF”.</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Section 87 on Extension Services states that Agriculture and Fisheries extension services shall cover the following major services to the farming and fishing community.</a:t>
                      </a:r>
                    </a:p>
                  </a:txBody>
                  <a:tcPr marT="45698" marB="45698" horzOverflow="overflow">
                    <a:lnL>
                      <a:noFill/>
                    </a:lnL>
                    <a:lnR cap="flat">
                      <a:noFill/>
                    </a:lnR>
                    <a:lnT cap="flat">
                      <a:noFill/>
                    </a:lnT>
                    <a:lnB cap="flat">
                      <a:noFill/>
                    </a:lnB>
                    <a:lnTlToBr>
                      <a:noFill/>
                    </a:lnTlToBr>
                    <a:lnBlToTr>
                      <a:noFill/>
                    </a:lnBlToTr>
                    <a:noFill/>
                  </a:tcPr>
                </a:tc>
              </a:tr>
            </a:tbl>
          </a:graphicData>
        </a:graphic>
      </p:graphicFrame>
      <p:graphicFrame>
        <p:nvGraphicFramePr>
          <p:cNvPr id="174116" name="Group 36"/>
          <p:cNvGraphicFramePr>
            <a:graphicFrameLocks noGrp="1"/>
          </p:cNvGraphicFramePr>
          <p:nvPr>
            <p:extLst/>
          </p:nvPr>
        </p:nvGraphicFramePr>
        <p:xfrm>
          <a:off x="253219" y="4226169"/>
          <a:ext cx="9333914" cy="2139950"/>
        </p:xfrm>
        <a:graphic>
          <a:graphicData uri="http://schemas.openxmlformats.org/drawingml/2006/table">
            <a:tbl>
              <a:tblPr/>
              <a:tblGrid>
                <a:gridCol w="1210356"/>
                <a:gridCol w="8123558"/>
              </a:tblGrid>
              <a:tr h="2139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endParaRPr>
                    </a:p>
                  </a:txBody>
                  <a:tcPr marT="45725" marB="45725"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Ø"/>
                        <a:tabLst/>
                      </a:pPr>
                      <a:r>
                        <a:rPr kumimoji="0" lang="en-US" sz="2400" b="0" i="0" u="none" strike="noStrike" cap="none" normalizeH="0" baseline="0" dirty="0" smtClean="0">
                          <a:ln>
                            <a:noFill/>
                          </a:ln>
                          <a:solidFill>
                            <a:schemeClr val="bg1"/>
                          </a:solidFill>
                          <a:effectLst/>
                          <a:latin typeface="Arial" charset="0"/>
                        </a:rPr>
                        <a:t>Training services;</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Ø"/>
                        <a:tabLst/>
                      </a:pPr>
                      <a:r>
                        <a:rPr kumimoji="0" lang="en-US" sz="2400" b="0" i="0" u="none" strike="noStrike" cap="none" normalizeH="0" baseline="0" dirty="0" smtClean="0">
                          <a:ln>
                            <a:noFill/>
                          </a:ln>
                          <a:solidFill>
                            <a:schemeClr val="bg1"/>
                          </a:solidFill>
                          <a:effectLst/>
                          <a:latin typeface="Arial" charset="0"/>
                        </a:rPr>
                        <a:t>Farm or business advisory services;</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Ø"/>
                        <a:tabLst/>
                      </a:pPr>
                      <a:r>
                        <a:rPr kumimoji="0" lang="en-US" sz="2400" b="0" i="0" u="none" strike="noStrike" cap="none" normalizeH="0" baseline="0" dirty="0" smtClean="0">
                          <a:ln>
                            <a:noFill/>
                          </a:ln>
                          <a:solidFill>
                            <a:schemeClr val="bg1"/>
                          </a:solidFill>
                          <a:effectLst/>
                          <a:latin typeface="Arial" charset="0"/>
                        </a:rPr>
                        <a:t>Demonstration services; and</a:t>
                      </a:r>
                    </a:p>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Ø"/>
                        <a:tabLst/>
                      </a:pPr>
                      <a:r>
                        <a:rPr kumimoji="0" lang="en-US" sz="2400" b="0" i="0" u="none" strike="noStrike" cap="none" normalizeH="0" baseline="0" dirty="0" smtClean="0">
                          <a:ln>
                            <a:noFill/>
                          </a:ln>
                          <a:solidFill>
                            <a:schemeClr val="bg1"/>
                          </a:solidFill>
                          <a:effectLst/>
                          <a:latin typeface="Arial" charset="0"/>
                        </a:rPr>
                        <a:t>Information and communication support services through tri-media</a:t>
                      </a:r>
                    </a:p>
                  </a:txBody>
                  <a:tcPr marT="45725" marB="45725"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87965756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6153" name="Group 25"/>
          <p:cNvGraphicFramePr>
            <a:graphicFrameLocks noGrp="1"/>
          </p:cNvGraphicFramePr>
          <p:nvPr>
            <p:extLst/>
          </p:nvPr>
        </p:nvGraphicFramePr>
        <p:xfrm>
          <a:off x="1167618" y="1143000"/>
          <a:ext cx="8814582" cy="3017838"/>
        </p:xfrm>
        <a:graphic>
          <a:graphicData uri="http://schemas.openxmlformats.org/drawingml/2006/table">
            <a:tbl>
              <a:tblPr/>
              <a:tblGrid>
                <a:gridCol w="1142417"/>
                <a:gridCol w="7672165"/>
              </a:tblGrid>
              <a:tr h="30178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endParaRPr kumimoji="0" lang="en-US" sz="2800" b="0" i="0" u="none" strike="noStrike" cap="none" normalizeH="0" baseline="0" dirty="0" smtClean="0">
                        <a:ln>
                          <a:noFill/>
                        </a:ln>
                        <a:solidFill>
                          <a:schemeClr val="bg1"/>
                        </a:solidFill>
                        <a:effectLst/>
                        <a:latin typeface="Garamond" pitchFamily="18" charset="0"/>
                        <a:ea typeface="Times New Roman" pitchFamily="18" charset="0"/>
                        <a:cs typeface="Arial" charset="0"/>
                      </a:endParaRPr>
                    </a:p>
                  </a:txBody>
                  <a:tcPr marT="45725" marB="45725" horzOverflow="overflow">
                    <a:lnL cap="flat">
                      <a:noFill/>
                    </a:lnL>
                    <a:lnR>
                      <a:noFill/>
                    </a:lnR>
                    <a:lnT cap="fla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20000"/>
                        </a:spcBef>
                        <a:spcAft>
                          <a:spcPct val="0"/>
                        </a:spcAft>
                        <a:buClr>
                          <a:schemeClr val="hlink"/>
                        </a:buClr>
                        <a:buSzPct val="70000"/>
                        <a:buFont typeface="Wingdings" pitchFamily="2" charset="2"/>
                        <a:buChar char="n"/>
                        <a:tabLst/>
                      </a:pPr>
                      <a:r>
                        <a:rPr kumimoji="0" lang="en-US" sz="2400" b="0" i="0" u="none" strike="noStrike" cap="none" normalizeH="0" baseline="0" dirty="0" smtClean="0">
                          <a:ln>
                            <a:noFill/>
                          </a:ln>
                          <a:solidFill>
                            <a:schemeClr val="bg1"/>
                          </a:solidFill>
                          <a:effectLst/>
                          <a:latin typeface="Arial" charset="0"/>
                        </a:rPr>
                        <a:t>The term extension education was first introduced in 1973 by Cambridge University in England to describe a particular innovation. This was to take the educational advantages of the universities to the ordinary people, where they live and work. The term “extension” was first coined in England.</a:t>
                      </a:r>
                    </a:p>
                  </a:txBody>
                  <a:tcPr marT="45725" marB="45725" horzOverflow="overflow">
                    <a:lnL>
                      <a:noFill/>
                    </a:lnL>
                    <a:lnR cap="flat">
                      <a:noFill/>
                    </a:lnR>
                    <a:lnT cap="fla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427415566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480" y="1381186"/>
            <a:ext cx="9404723" cy="1400530"/>
          </a:xfrm>
        </p:spPr>
        <p:txBody>
          <a:bodyPr/>
          <a:lstStyle/>
          <a:p>
            <a:pPr algn="ctr"/>
            <a:r>
              <a:rPr lang="en-PH" sz="6000"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PRESIDENTS OF THE PHILIPPINE REPUBLIC</a:t>
            </a:r>
            <a:endParaRPr lang="en-PH" sz="6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Tree>
    <p:extLst>
      <p:ext uri="{BB962C8B-B14F-4D97-AF65-F5344CB8AC3E}">
        <p14:creationId xmlns:p14="http://schemas.microsoft.com/office/powerpoint/2010/main" val="3328167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1. Pres. Manuel L. Quezon (1936)</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46111" y="1236372"/>
            <a:ext cx="8946541" cy="1153921"/>
          </a:xfrm>
        </p:spPr>
        <p:txBody>
          <a:bodyPr>
            <a:normAutofit/>
          </a:bodyPr>
          <a:lstStyle/>
          <a:p>
            <a:pPr>
              <a:buFont typeface="Wingdings" panose="05000000000000000000" pitchFamily="2" charset="2"/>
              <a:buChar char="q"/>
            </a:pPr>
            <a:r>
              <a:rPr lang="en-PH" sz="3200" b="1" dirty="0" smtClean="0">
                <a:solidFill>
                  <a:schemeClr val="bg1"/>
                </a:solidFill>
                <a:latin typeface="Candara" panose="020E0502030303020204" pitchFamily="34" charset="0"/>
              </a:rPr>
              <a:t>Division of Soil Survey </a:t>
            </a:r>
            <a:r>
              <a:rPr lang="en-PH" sz="3200" dirty="0" smtClean="0">
                <a:solidFill>
                  <a:schemeClr val="bg1"/>
                </a:solidFill>
                <a:latin typeface="Candara" panose="020E0502030303020204" pitchFamily="34" charset="0"/>
              </a:rPr>
              <a:t>was created-soil survey and agronomical survey undertaken</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646111" y="280740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646111" y="2974831"/>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2. Pres. Jose P. Laurel</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646111" y="3758485"/>
            <a:ext cx="8946541" cy="115392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dirty="0" smtClean="0">
                <a:solidFill>
                  <a:schemeClr val="bg1"/>
                </a:solidFill>
                <a:latin typeface="Candara" panose="020E0502030303020204" pitchFamily="34" charset="0"/>
              </a:rPr>
              <a:t>“Rude Awakening” –realized that Philippines was not self-sufficient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4825231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0" y="246846"/>
            <a:ext cx="9404723" cy="783654"/>
          </a:xfrm>
        </p:spPr>
        <p:txBody>
          <a:bodyPr/>
          <a:lstStyle/>
          <a:p>
            <a:r>
              <a:rPr lang="en-PH" dirty="0" smtClean="0">
                <a:solidFill>
                  <a:schemeClr val="accent1">
                    <a:lumMod val="50000"/>
                  </a:schemeClr>
                </a:solidFill>
                <a:latin typeface="Britannic Bold" panose="020B0903060703020204" pitchFamily="34" charset="0"/>
              </a:rPr>
              <a:t>3. Pres. Manuel A. </a:t>
            </a:r>
            <a:r>
              <a:rPr lang="en-PH" dirty="0" err="1" smtClean="0">
                <a:solidFill>
                  <a:schemeClr val="accent1">
                    <a:lumMod val="50000"/>
                  </a:schemeClr>
                </a:solidFill>
                <a:latin typeface="Britannic Bold" panose="020B0903060703020204" pitchFamily="34" charset="0"/>
              </a:rPr>
              <a:t>Roxas</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46111" y="968348"/>
            <a:ext cx="10197900" cy="2511380"/>
          </a:xfrm>
        </p:spPr>
        <p:txBody>
          <a:bodyPr>
            <a:noAutofit/>
          </a:bodyPr>
          <a:lstStyle/>
          <a:p>
            <a:pPr>
              <a:buFont typeface="Wingdings" panose="05000000000000000000" pitchFamily="2" charset="2"/>
              <a:buChar char="q"/>
            </a:pPr>
            <a:r>
              <a:rPr lang="en-PH" sz="2800" b="1" dirty="0" smtClean="0">
                <a:solidFill>
                  <a:schemeClr val="bg1"/>
                </a:solidFill>
                <a:latin typeface="Candara" panose="020E0502030303020204" pitchFamily="34" charset="0"/>
              </a:rPr>
              <a:t>Parity Right to the Americans- </a:t>
            </a:r>
            <a:r>
              <a:rPr lang="en-PH" sz="2800" dirty="0" smtClean="0">
                <a:solidFill>
                  <a:schemeClr val="bg1"/>
                </a:solidFill>
                <a:latin typeface="Candara" panose="020E0502030303020204" pitchFamily="34" charset="0"/>
              </a:rPr>
              <a:t>the disposition, exploitation, development, and utilization of all agriculture timber/mineral of the public domain.</a:t>
            </a:r>
          </a:p>
          <a:p>
            <a:pPr>
              <a:buFont typeface="Wingdings" panose="05000000000000000000" pitchFamily="2" charset="2"/>
              <a:buChar char="q"/>
            </a:pPr>
            <a:r>
              <a:rPr lang="en-PH" sz="2800" b="1" dirty="0" smtClean="0">
                <a:solidFill>
                  <a:schemeClr val="bg1"/>
                </a:solidFill>
                <a:latin typeface="Candara" panose="020E0502030303020204" pitchFamily="34" charset="0"/>
              </a:rPr>
              <a:t>Rehabilitation Finance Corporation </a:t>
            </a:r>
            <a:r>
              <a:rPr lang="en-PH" sz="2800" i="1" dirty="0" smtClean="0">
                <a:solidFill>
                  <a:schemeClr val="bg1"/>
                </a:solidFill>
                <a:latin typeface="Candara" panose="020E0502030303020204" pitchFamily="34" charset="0"/>
              </a:rPr>
              <a:t>now known as </a:t>
            </a:r>
            <a:r>
              <a:rPr lang="en-PH" sz="2800" b="1" dirty="0" smtClean="0">
                <a:solidFill>
                  <a:schemeClr val="bg1"/>
                </a:solidFill>
                <a:latin typeface="Candara" panose="020E0502030303020204" pitchFamily="34" charset="0"/>
              </a:rPr>
              <a:t>Development Bank of the Philippines</a:t>
            </a:r>
            <a:endParaRPr lang="en-PH" sz="2800" b="1" dirty="0">
              <a:solidFill>
                <a:schemeClr val="bg1"/>
              </a:solidFill>
              <a:latin typeface="Candara" panose="020E0502030303020204" pitchFamily="34" charset="0"/>
            </a:endParaRPr>
          </a:p>
        </p:txBody>
      </p:sp>
      <p:sp>
        <p:nvSpPr>
          <p:cNvPr id="4" name="Title 1"/>
          <p:cNvSpPr txBox="1">
            <a:spLocks/>
          </p:cNvSpPr>
          <p:nvPr/>
        </p:nvSpPr>
        <p:spPr>
          <a:xfrm>
            <a:off x="646111" y="280740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749142" y="3591060"/>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4. Pres. </a:t>
            </a:r>
            <a:r>
              <a:rPr lang="en-PH" dirty="0" err="1" smtClean="0">
                <a:solidFill>
                  <a:schemeClr val="accent1">
                    <a:lumMod val="50000"/>
                  </a:schemeClr>
                </a:solidFill>
                <a:latin typeface="Britannic Bold" panose="020B0903060703020204" pitchFamily="34" charset="0"/>
              </a:rPr>
              <a:t>Elpidio</a:t>
            </a:r>
            <a:r>
              <a:rPr lang="en-PH" dirty="0" smtClean="0">
                <a:solidFill>
                  <a:schemeClr val="accent1">
                    <a:lumMod val="50000"/>
                  </a:schemeClr>
                </a:solidFill>
                <a:latin typeface="Britannic Bold" panose="020B0903060703020204" pitchFamily="34" charset="0"/>
              </a:rPr>
              <a:t> </a:t>
            </a:r>
            <a:r>
              <a:rPr lang="en-PH" dirty="0" err="1" smtClean="0">
                <a:solidFill>
                  <a:schemeClr val="accent1">
                    <a:lumMod val="50000"/>
                  </a:schemeClr>
                </a:solidFill>
                <a:latin typeface="Britannic Bold" panose="020B0903060703020204" pitchFamily="34" charset="0"/>
              </a:rPr>
              <a:t>Quirino</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4374714"/>
            <a:ext cx="10094869" cy="2232148"/>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b="1" dirty="0" smtClean="0">
                <a:solidFill>
                  <a:schemeClr val="bg1"/>
                </a:solidFill>
                <a:latin typeface="Candara" panose="020E0502030303020204" pitchFamily="34" charset="0"/>
              </a:rPr>
              <a:t>Bureau of Agriculture Extension (</a:t>
            </a:r>
            <a:r>
              <a:rPr lang="en-PH" sz="3200" b="1" dirty="0" err="1" smtClean="0">
                <a:solidFill>
                  <a:schemeClr val="bg1"/>
                </a:solidFill>
                <a:latin typeface="Candara" panose="020E0502030303020204" pitchFamily="34" charset="0"/>
              </a:rPr>
              <a:t>BaEx</a:t>
            </a:r>
            <a:r>
              <a:rPr lang="en-PH" sz="3200" b="1" dirty="0" smtClean="0">
                <a:solidFill>
                  <a:schemeClr val="bg1"/>
                </a:solidFill>
                <a:latin typeface="Candara" panose="020E0502030303020204" pitchFamily="34" charset="0"/>
              </a:rPr>
              <a:t>)</a:t>
            </a:r>
          </a:p>
          <a:p>
            <a:pPr>
              <a:buFont typeface="Wingdings" panose="05000000000000000000" pitchFamily="2" charset="2"/>
              <a:buChar char="q"/>
            </a:pPr>
            <a:r>
              <a:rPr lang="en-PH" sz="3200" b="1" dirty="0" smtClean="0">
                <a:solidFill>
                  <a:schemeClr val="bg1"/>
                </a:solidFill>
                <a:latin typeface="Candara" panose="020E0502030303020204" pitchFamily="34" charset="0"/>
              </a:rPr>
              <a:t>Made rice industry the first commodity sector to have in integrated national planning</a:t>
            </a:r>
          </a:p>
          <a:p>
            <a:pPr>
              <a:buFont typeface="Wingdings" panose="05000000000000000000" pitchFamily="2" charset="2"/>
              <a:buChar char="q"/>
            </a:pPr>
            <a:r>
              <a:rPr lang="en-PH" sz="3200" b="1" dirty="0" smtClean="0">
                <a:solidFill>
                  <a:schemeClr val="bg1"/>
                </a:solidFill>
                <a:latin typeface="Candara" panose="020E0502030303020204" pitchFamily="34" charset="0"/>
              </a:rPr>
              <a:t>Rural Bank Act</a:t>
            </a:r>
          </a:p>
          <a:p>
            <a:pPr>
              <a:buFont typeface="Wingdings" panose="05000000000000000000" pitchFamily="2" charset="2"/>
              <a:buChar char="q"/>
            </a:pPr>
            <a:r>
              <a:rPr lang="en-PH" sz="3200" b="1" dirty="0" smtClean="0">
                <a:solidFill>
                  <a:schemeClr val="bg1"/>
                </a:solidFill>
                <a:latin typeface="Candara" panose="020E0502030303020204" pitchFamily="34" charset="0"/>
              </a:rPr>
              <a:t>ACCFA authorized to organize the FACOMAS</a:t>
            </a:r>
            <a:endParaRPr lang="en-PH" sz="32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13068619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5. Pres. Ramon Magsaysay</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46111" y="1236372"/>
            <a:ext cx="10197900" cy="2511380"/>
          </a:xfrm>
        </p:spPr>
        <p:txBody>
          <a:bodyPr>
            <a:noAutofit/>
          </a:bodyPr>
          <a:lstStyle/>
          <a:p>
            <a:pPr>
              <a:buFont typeface="Wingdings" panose="05000000000000000000" pitchFamily="2" charset="2"/>
              <a:buChar char="q"/>
            </a:pPr>
            <a:r>
              <a:rPr lang="en-PH" sz="2800" b="1" dirty="0" smtClean="0">
                <a:solidFill>
                  <a:schemeClr val="bg1"/>
                </a:solidFill>
                <a:latin typeface="Candara" panose="020E0502030303020204" pitchFamily="34" charset="0"/>
              </a:rPr>
              <a:t>National Rice and Corn Program</a:t>
            </a:r>
          </a:p>
          <a:p>
            <a:pPr>
              <a:buFont typeface="Wingdings" panose="05000000000000000000" pitchFamily="2" charset="2"/>
              <a:buChar char="q"/>
            </a:pPr>
            <a:r>
              <a:rPr lang="en-PH" sz="2800" b="1" dirty="0" smtClean="0">
                <a:solidFill>
                  <a:schemeClr val="bg1"/>
                </a:solidFill>
                <a:latin typeface="Candara" panose="020E0502030303020204" pitchFamily="34" charset="0"/>
              </a:rPr>
              <a:t>Rice ad Corn Coordinating Council- </a:t>
            </a:r>
            <a:r>
              <a:rPr lang="en-PH" sz="2800" dirty="0" smtClean="0">
                <a:solidFill>
                  <a:schemeClr val="bg1"/>
                </a:solidFill>
                <a:latin typeface="Candara" panose="020E0502030303020204" pitchFamily="34" charset="0"/>
              </a:rPr>
              <a:t>the forerunner of the National Food and Agriculture Council now National Agriculture and Fishery Council</a:t>
            </a:r>
            <a:endParaRPr lang="en-PH" sz="2800" dirty="0">
              <a:solidFill>
                <a:schemeClr val="bg1"/>
              </a:solidFill>
              <a:latin typeface="Candara" panose="020E0502030303020204" pitchFamily="34" charset="0"/>
            </a:endParaRPr>
          </a:p>
        </p:txBody>
      </p:sp>
      <p:sp>
        <p:nvSpPr>
          <p:cNvPr id="4" name="Title 1"/>
          <p:cNvSpPr txBox="1">
            <a:spLocks/>
          </p:cNvSpPr>
          <p:nvPr/>
        </p:nvSpPr>
        <p:spPr>
          <a:xfrm>
            <a:off x="646111" y="280740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749142" y="3355925"/>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6. Pres. Carlos P. Garcia</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4165336"/>
            <a:ext cx="10094869" cy="1637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b="1" dirty="0" err="1" smtClean="0">
                <a:solidFill>
                  <a:schemeClr val="bg1"/>
                </a:solidFill>
                <a:latin typeface="Candara" panose="020E0502030303020204" pitchFamily="34" charset="0"/>
              </a:rPr>
              <a:t>Austery</a:t>
            </a:r>
            <a:r>
              <a:rPr lang="en-PH" sz="3200" b="1" dirty="0" smtClean="0">
                <a:solidFill>
                  <a:schemeClr val="bg1"/>
                </a:solidFill>
                <a:latin typeface="Candara" panose="020E0502030303020204" pitchFamily="34" charset="0"/>
              </a:rPr>
              <a:t> Program</a:t>
            </a:r>
            <a:r>
              <a:rPr lang="en-PH" sz="3200" dirty="0" smtClean="0">
                <a:solidFill>
                  <a:schemeClr val="bg1"/>
                </a:solidFill>
                <a:latin typeface="Candara" panose="020E0502030303020204" pitchFamily="34" charset="0"/>
              </a:rPr>
              <a:t>- simple living</a:t>
            </a:r>
            <a:endParaRPr lang="en-PH" sz="3200" b="1" dirty="0" smtClean="0">
              <a:solidFill>
                <a:schemeClr val="bg1"/>
              </a:solidFill>
              <a:latin typeface="Candara" panose="020E0502030303020204" pitchFamily="34" charset="0"/>
            </a:endParaRPr>
          </a:p>
          <a:p>
            <a:pPr>
              <a:buFont typeface="Wingdings" panose="05000000000000000000" pitchFamily="2" charset="2"/>
              <a:buChar char="q"/>
            </a:pPr>
            <a:r>
              <a:rPr lang="en-PH" sz="3200" b="1" dirty="0" smtClean="0">
                <a:solidFill>
                  <a:schemeClr val="bg1"/>
                </a:solidFill>
                <a:latin typeface="Candara" panose="020E0502030303020204" pitchFamily="34" charset="0"/>
              </a:rPr>
              <a:t>Filipino First Policy</a:t>
            </a:r>
            <a:endParaRPr lang="en-PH" sz="32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33628470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7. Pres. </a:t>
            </a:r>
            <a:r>
              <a:rPr lang="en-PH" dirty="0" err="1" smtClean="0">
                <a:solidFill>
                  <a:schemeClr val="accent1">
                    <a:lumMod val="50000"/>
                  </a:schemeClr>
                </a:solidFill>
                <a:latin typeface="Britannic Bold" panose="020B0903060703020204" pitchFamily="34" charset="0"/>
              </a:rPr>
              <a:t>Diosdado</a:t>
            </a:r>
            <a:r>
              <a:rPr lang="en-PH" dirty="0" smtClean="0">
                <a:solidFill>
                  <a:schemeClr val="accent1">
                    <a:lumMod val="50000"/>
                  </a:schemeClr>
                </a:solidFill>
                <a:latin typeface="Britannic Bold" panose="020B0903060703020204" pitchFamily="34" charset="0"/>
              </a:rPr>
              <a:t> </a:t>
            </a:r>
            <a:r>
              <a:rPr lang="en-PH" dirty="0" err="1" smtClean="0">
                <a:solidFill>
                  <a:schemeClr val="accent1">
                    <a:lumMod val="50000"/>
                  </a:schemeClr>
                </a:solidFill>
                <a:latin typeface="Britannic Bold" panose="020B0903060703020204" pitchFamily="34" charset="0"/>
              </a:rPr>
              <a:t>Macapagal</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97626" y="1372673"/>
            <a:ext cx="10197900" cy="1365160"/>
          </a:xfrm>
        </p:spPr>
        <p:txBody>
          <a:bodyPr>
            <a:noAutofit/>
          </a:bodyPr>
          <a:lstStyle/>
          <a:p>
            <a:pPr>
              <a:buFont typeface="Wingdings" panose="05000000000000000000" pitchFamily="2" charset="2"/>
              <a:buChar char="q"/>
            </a:pPr>
            <a:r>
              <a:rPr lang="en-PH" sz="3200" b="1" dirty="0" smtClean="0">
                <a:solidFill>
                  <a:schemeClr val="bg1"/>
                </a:solidFill>
                <a:latin typeface="Candara" panose="020E0502030303020204" pitchFamily="34" charset="0"/>
              </a:rPr>
              <a:t>International Rice Research Institute</a:t>
            </a:r>
            <a:r>
              <a:rPr lang="en-PH" sz="3200" dirty="0" smtClean="0">
                <a:solidFill>
                  <a:schemeClr val="bg1"/>
                </a:solidFill>
                <a:latin typeface="Candara" panose="020E0502030303020204" pitchFamily="34" charset="0"/>
              </a:rPr>
              <a:t> in UPLB</a:t>
            </a:r>
          </a:p>
          <a:p>
            <a:pPr>
              <a:buFont typeface="Wingdings" panose="05000000000000000000" pitchFamily="2" charset="2"/>
              <a:buChar char="q"/>
            </a:pPr>
            <a:r>
              <a:rPr lang="en-PH" sz="3200" dirty="0" smtClean="0">
                <a:solidFill>
                  <a:schemeClr val="bg1"/>
                </a:solidFill>
                <a:latin typeface="Candara" panose="020E0502030303020204" pitchFamily="34" charset="0"/>
              </a:rPr>
              <a:t>Focus solve the problem of the </a:t>
            </a:r>
            <a:r>
              <a:rPr lang="en-PH" sz="3200" b="1" dirty="0" smtClean="0">
                <a:solidFill>
                  <a:schemeClr val="bg1"/>
                </a:solidFill>
                <a:latin typeface="Candara" panose="020E0502030303020204" pitchFamily="34" charset="0"/>
              </a:rPr>
              <a:t>sugar industry.</a:t>
            </a:r>
            <a:endParaRPr lang="en-PH" sz="3200" b="1" dirty="0">
              <a:solidFill>
                <a:schemeClr val="bg1"/>
              </a:solidFill>
              <a:latin typeface="Candara" panose="020E0502030303020204" pitchFamily="34" charset="0"/>
            </a:endParaRPr>
          </a:p>
        </p:txBody>
      </p:sp>
      <p:sp>
        <p:nvSpPr>
          <p:cNvPr id="4" name="Title 1"/>
          <p:cNvSpPr txBox="1">
            <a:spLocks/>
          </p:cNvSpPr>
          <p:nvPr/>
        </p:nvSpPr>
        <p:spPr>
          <a:xfrm>
            <a:off x="646110" y="310352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749142" y="2907612"/>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8. Pres. Ferdinand Marcos</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3591060"/>
            <a:ext cx="10094869" cy="1637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PH" sz="3200" b="1" dirty="0">
              <a:solidFill>
                <a:schemeClr val="bg1"/>
              </a:solidFill>
              <a:latin typeface="Candara" panose="020E0502030303020204" pitchFamily="34" charset="0"/>
            </a:endParaRPr>
          </a:p>
        </p:txBody>
      </p:sp>
      <p:sp>
        <p:nvSpPr>
          <p:cNvPr id="8" name="Content Placeholder 2"/>
          <p:cNvSpPr txBox="1">
            <a:spLocks/>
          </p:cNvSpPr>
          <p:nvPr/>
        </p:nvSpPr>
        <p:spPr>
          <a:xfrm>
            <a:off x="749143" y="3570292"/>
            <a:ext cx="10197900" cy="253429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b="1" dirty="0" smtClean="0">
                <a:solidFill>
                  <a:schemeClr val="bg1"/>
                </a:solidFill>
                <a:latin typeface="Candara" panose="020E0502030303020204" pitchFamily="34" charset="0"/>
              </a:rPr>
              <a:t>RA 6389- Tenancy Act</a:t>
            </a:r>
          </a:p>
          <a:p>
            <a:pPr>
              <a:buFont typeface="Wingdings" panose="05000000000000000000" pitchFamily="2" charset="2"/>
              <a:buChar char="q"/>
            </a:pPr>
            <a:r>
              <a:rPr lang="en-PH" sz="3200" b="1" dirty="0" err="1" smtClean="0">
                <a:solidFill>
                  <a:schemeClr val="bg1"/>
                </a:solidFill>
                <a:latin typeface="Candara" panose="020E0502030303020204" pitchFamily="34" charset="0"/>
              </a:rPr>
              <a:t>Masagana</a:t>
            </a:r>
            <a:r>
              <a:rPr lang="en-PH" sz="3200" b="1" dirty="0" smtClean="0">
                <a:solidFill>
                  <a:schemeClr val="bg1"/>
                </a:solidFill>
                <a:latin typeface="Candara" panose="020E0502030303020204" pitchFamily="34" charset="0"/>
              </a:rPr>
              <a:t> 99 or the “Golden Harvest”- </a:t>
            </a:r>
            <a:r>
              <a:rPr lang="en-PH" sz="3200" dirty="0" smtClean="0">
                <a:solidFill>
                  <a:schemeClr val="bg1"/>
                </a:solidFill>
                <a:latin typeface="Candara" panose="020E0502030303020204" pitchFamily="34" charset="0"/>
              </a:rPr>
              <a:t>massive dispersal of modern package of technology, fertilizer, other agricultural inputs.</a:t>
            </a:r>
            <a:r>
              <a:rPr lang="en-PH" sz="3200" b="1" dirty="0" smtClean="0">
                <a:solidFill>
                  <a:schemeClr val="bg1"/>
                </a:solidFill>
                <a:latin typeface="Candara" panose="020E0502030303020204" pitchFamily="34" charset="0"/>
              </a:rPr>
              <a:t> </a:t>
            </a:r>
          </a:p>
          <a:p>
            <a:pPr>
              <a:buFont typeface="Wingdings" panose="05000000000000000000" pitchFamily="2" charset="2"/>
              <a:buChar char="q"/>
            </a:pPr>
            <a:r>
              <a:rPr lang="en-PH" sz="3200" b="1" dirty="0" smtClean="0">
                <a:solidFill>
                  <a:schemeClr val="bg1"/>
                </a:solidFill>
                <a:latin typeface="Candara" panose="020E0502030303020204" pitchFamily="34" charset="0"/>
              </a:rPr>
              <a:t>Replanting program </a:t>
            </a:r>
            <a:r>
              <a:rPr lang="en-PH" sz="3200" b="1" smtClean="0">
                <a:solidFill>
                  <a:schemeClr val="bg1"/>
                </a:solidFill>
                <a:latin typeface="Candara" panose="020E0502030303020204" pitchFamily="34" charset="0"/>
              </a:rPr>
              <a:t>of coconut.</a:t>
            </a:r>
            <a:endParaRPr lang="en-PH" sz="32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36341938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9. Pres. Corazon Aquino</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97626" y="1372673"/>
            <a:ext cx="10197900" cy="659177"/>
          </a:xfrm>
        </p:spPr>
        <p:txBody>
          <a:bodyPr>
            <a:noAutofit/>
          </a:bodyPr>
          <a:lstStyle/>
          <a:p>
            <a:pPr>
              <a:buFont typeface="Wingdings" panose="05000000000000000000" pitchFamily="2" charset="2"/>
              <a:buChar char="q"/>
            </a:pPr>
            <a:r>
              <a:rPr lang="en-PH" sz="3200" b="1" dirty="0" smtClean="0">
                <a:solidFill>
                  <a:schemeClr val="bg1"/>
                </a:solidFill>
                <a:latin typeface="Candara" panose="020E0502030303020204" pitchFamily="34" charset="0"/>
              </a:rPr>
              <a:t>Comprehensive Agrarian Reform Program</a:t>
            </a:r>
            <a:r>
              <a:rPr lang="en-PH" sz="3200" b="1" dirty="0">
                <a:solidFill>
                  <a:schemeClr val="bg1"/>
                </a:solidFill>
                <a:latin typeface="Candara" panose="020E0502030303020204" pitchFamily="34" charset="0"/>
              </a:rPr>
              <a:t> </a:t>
            </a:r>
            <a:r>
              <a:rPr lang="en-PH" sz="3200" b="1" dirty="0" smtClean="0">
                <a:solidFill>
                  <a:schemeClr val="bg1"/>
                </a:solidFill>
                <a:latin typeface="Candara" panose="020E0502030303020204" pitchFamily="34" charset="0"/>
              </a:rPr>
              <a:t>(CARP)</a:t>
            </a:r>
          </a:p>
        </p:txBody>
      </p:sp>
      <p:sp>
        <p:nvSpPr>
          <p:cNvPr id="4" name="Title 1"/>
          <p:cNvSpPr txBox="1">
            <a:spLocks/>
          </p:cNvSpPr>
          <p:nvPr/>
        </p:nvSpPr>
        <p:spPr>
          <a:xfrm>
            <a:off x="646110" y="310352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646109" y="2223752"/>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10. Pres. Fidel V. Ramos</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3591060"/>
            <a:ext cx="10094869" cy="1637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PH" sz="3200" b="1" dirty="0">
              <a:solidFill>
                <a:schemeClr val="bg1"/>
              </a:solidFill>
              <a:latin typeface="Candara" panose="020E0502030303020204" pitchFamily="34" charset="0"/>
            </a:endParaRPr>
          </a:p>
        </p:txBody>
      </p:sp>
      <p:sp>
        <p:nvSpPr>
          <p:cNvPr id="8" name="Content Placeholder 2"/>
          <p:cNvSpPr txBox="1">
            <a:spLocks/>
          </p:cNvSpPr>
          <p:nvPr/>
        </p:nvSpPr>
        <p:spPr>
          <a:xfrm>
            <a:off x="697626" y="2973948"/>
            <a:ext cx="11292603" cy="38840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b="1" dirty="0" smtClean="0">
                <a:solidFill>
                  <a:schemeClr val="bg1"/>
                </a:solidFill>
                <a:latin typeface="Candara" panose="020E0502030303020204" pitchFamily="34" charset="0"/>
              </a:rPr>
              <a:t>Medium Term Agricultural Development Program (MTDP)</a:t>
            </a:r>
          </a:p>
          <a:p>
            <a:pPr>
              <a:buFont typeface="Wingdings" panose="05000000000000000000" pitchFamily="2" charset="2"/>
              <a:buChar char="q"/>
            </a:pPr>
            <a:r>
              <a:rPr lang="en-PH" sz="3200" b="1" dirty="0" smtClean="0">
                <a:solidFill>
                  <a:schemeClr val="bg1"/>
                </a:solidFill>
                <a:latin typeface="Candara" panose="020E0502030303020204" pitchFamily="34" charset="0"/>
              </a:rPr>
              <a:t>Grains Production Enhancement Program (GPEP)</a:t>
            </a:r>
          </a:p>
          <a:p>
            <a:pPr>
              <a:buFont typeface="Wingdings" panose="05000000000000000000" pitchFamily="2" charset="2"/>
              <a:buChar char="q"/>
            </a:pPr>
            <a:r>
              <a:rPr lang="en-PH" sz="3200" b="1" dirty="0" smtClean="0">
                <a:solidFill>
                  <a:schemeClr val="bg1"/>
                </a:solidFill>
                <a:latin typeface="Candara" panose="020E0502030303020204" pitchFamily="34" charset="0"/>
              </a:rPr>
              <a:t>Key Commercial Crops Development Program (KCCDP)</a:t>
            </a:r>
          </a:p>
          <a:p>
            <a:pPr>
              <a:buFont typeface="Wingdings" panose="05000000000000000000" pitchFamily="2" charset="2"/>
              <a:buChar char="q"/>
            </a:pPr>
            <a:r>
              <a:rPr lang="en-PH" sz="3200" b="1" dirty="0" smtClean="0">
                <a:solidFill>
                  <a:schemeClr val="bg1"/>
                </a:solidFill>
                <a:latin typeface="Candara" panose="020E0502030303020204" pitchFamily="34" charset="0"/>
              </a:rPr>
              <a:t>Medium Term Livestock Development Program (MTLDP)</a:t>
            </a:r>
          </a:p>
          <a:p>
            <a:pPr>
              <a:buFont typeface="Wingdings" panose="05000000000000000000" pitchFamily="2" charset="2"/>
              <a:buChar char="q"/>
            </a:pPr>
            <a:r>
              <a:rPr lang="en-PH" sz="3200" b="1" dirty="0" smtClean="0">
                <a:solidFill>
                  <a:schemeClr val="bg1"/>
                </a:solidFill>
                <a:latin typeface="Candara" panose="020E0502030303020204" pitchFamily="34" charset="0"/>
              </a:rPr>
              <a:t>Medium Term Fisheries Management Development Program</a:t>
            </a:r>
          </a:p>
          <a:p>
            <a:pPr>
              <a:buFont typeface="Wingdings" panose="05000000000000000000" pitchFamily="2" charset="2"/>
              <a:buChar char="q"/>
            </a:pPr>
            <a:r>
              <a:rPr lang="en-PH" sz="3200" b="1" dirty="0" smtClean="0">
                <a:solidFill>
                  <a:schemeClr val="bg1"/>
                </a:solidFill>
                <a:latin typeface="Candara" panose="020E0502030303020204" pitchFamily="34" charset="0"/>
              </a:rPr>
              <a:t>GATT Safety Measures was adopted</a:t>
            </a:r>
            <a:endParaRPr lang="en-PH" sz="32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413747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11. Pres. Joseph E. Estrada</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97626" y="1372673"/>
            <a:ext cx="10197900" cy="2218387"/>
          </a:xfrm>
        </p:spPr>
        <p:txBody>
          <a:bodyPr>
            <a:noAutofit/>
          </a:bodyPr>
          <a:lstStyle/>
          <a:p>
            <a:pPr>
              <a:buFont typeface="Wingdings" panose="05000000000000000000" pitchFamily="2" charset="2"/>
              <a:buChar char="q"/>
            </a:pPr>
            <a:r>
              <a:rPr lang="en-PH" sz="3200" b="1" dirty="0" smtClean="0">
                <a:solidFill>
                  <a:schemeClr val="bg1"/>
                </a:solidFill>
                <a:latin typeface="Candara" panose="020E0502030303020204" pitchFamily="34" charset="0"/>
              </a:rPr>
              <a:t>Constitutional Development for Development</a:t>
            </a:r>
          </a:p>
          <a:p>
            <a:pPr>
              <a:buFont typeface="Wingdings" panose="05000000000000000000" pitchFamily="2" charset="2"/>
              <a:buChar char="q"/>
            </a:pPr>
            <a:r>
              <a:rPr lang="en-PH" sz="3200" b="1" dirty="0" err="1" smtClean="0">
                <a:solidFill>
                  <a:schemeClr val="bg1"/>
                </a:solidFill>
                <a:latin typeface="Candara" panose="020E0502030303020204" pitchFamily="34" charset="0"/>
              </a:rPr>
              <a:t>Agrikulturang</a:t>
            </a:r>
            <a:r>
              <a:rPr lang="en-PH" sz="3200" b="1" dirty="0" smtClean="0">
                <a:solidFill>
                  <a:schemeClr val="bg1"/>
                </a:solidFill>
                <a:latin typeface="Candara" panose="020E0502030303020204" pitchFamily="34" charset="0"/>
              </a:rPr>
              <a:t> </a:t>
            </a:r>
            <a:r>
              <a:rPr lang="en-PH" sz="3200" b="1" dirty="0" err="1" smtClean="0">
                <a:solidFill>
                  <a:schemeClr val="bg1"/>
                </a:solidFill>
                <a:latin typeface="Candara" panose="020E0502030303020204" pitchFamily="34" charset="0"/>
              </a:rPr>
              <a:t>Makamasa</a:t>
            </a:r>
            <a:endParaRPr lang="en-PH" sz="3200" b="1" dirty="0" smtClean="0">
              <a:solidFill>
                <a:schemeClr val="bg1"/>
              </a:solidFill>
              <a:latin typeface="Candara" panose="020E0502030303020204" pitchFamily="34" charset="0"/>
            </a:endParaRPr>
          </a:p>
          <a:p>
            <a:pPr>
              <a:buFont typeface="Wingdings" panose="05000000000000000000" pitchFamily="2" charset="2"/>
              <a:buChar char="q"/>
            </a:pPr>
            <a:r>
              <a:rPr lang="en-PH" sz="3200" b="1" dirty="0" smtClean="0">
                <a:solidFill>
                  <a:schemeClr val="bg1"/>
                </a:solidFill>
                <a:latin typeface="Candara" panose="020E0502030303020204" pitchFamily="34" charset="0"/>
              </a:rPr>
              <a:t>Biotechnology was approved in the Philippines</a:t>
            </a:r>
          </a:p>
          <a:p>
            <a:pPr>
              <a:buFont typeface="Wingdings" panose="05000000000000000000" pitchFamily="2" charset="2"/>
              <a:buChar char="q"/>
            </a:pPr>
            <a:endParaRPr lang="en-PH" sz="3200" b="1" dirty="0" smtClean="0">
              <a:solidFill>
                <a:schemeClr val="bg1"/>
              </a:solidFill>
              <a:latin typeface="Candara" panose="020E0502030303020204" pitchFamily="34" charset="0"/>
            </a:endParaRPr>
          </a:p>
        </p:txBody>
      </p:sp>
      <p:sp>
        <p:nvSpPr>
          <p:cNvPr id="4" name="Title 1"/>
          <p:cNvSpPr txBox="1">
            <a:spLocks/>
          </p:cNvSpPr>
          <p:nvPr/>
        </p:nvSpPr>
        <p:spPr>
          <a:xfrm>
            <a:off x="646110" y="310352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5" name="Title 1"/>
          <p:cNvSpPr txBox="1">
            <a:spLocks/>
          </p:cNvSpPr>
          <p:nvPr/>
        </p:nvSpPr>
        <p:spPr>
          <a:xfrm>
            <a:off x="594595" y="3429830"/>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ritannic Bold" panose="020B0903060703020204" pitchFamily="34" charset="0"/>
              </a:rPr>
              <a:t>12. Gloria M. Arroyo</a:t>
            </a:r>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3591060"/>
            <a:ext cx="10094869" cy="1637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PH" sz="3200" b="1" dirty="0">
              <a:solidFill>
                <a:schemeClr val="bg1"/>
              </a:solidFill>
              <a:latin typeface="Candara" panose="020E0502030303020204" pitchFamily="34" charset="0"/>
            </a:endParaRPr>
          </a:p>
        </p:txBody>
      </p:sp>
      <p:sp>
        <p:nvSpPr>
          <p:cNvPr id="8" name="Content Placeholder 2"/>
          <p:cNvSpPr txBox="1">
            <a:spLocks/>
          </p:cNvSpPr>
          <p:nvPr/>
        </p:nvSpPr>
        <p:spPr>
          <a:xfrm>
            <a:off x="150274" y="4539787"/>
            <a:ext cx="11292603" cy="22548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endParaRPr lang="en-PH" sz="3200" b="1" dirty="0">
              <a:solidFill>
                <a:schemeClr val="bg1"/>
              </a:solidFill>
              <a:latin typeface="Candara" panose="020E0502030303020204" pitchFamily="34" charset="0"/>
            </a:endParaRPr>
          </a:p>
        </p:txBody>
      </p:sp>
      <p:sp>
        <p:nvSpPr>
          <p:cNvPr id="9" name="Content Placeholder 2"/>
          <p:cNvSpPr txBox="1">
            <a:spLocks/>
          </p:cNvSpPr>
          <p:nvPr/>
        </p:nvSpPr>
        <p:spPr>
          <a:xfrm>
            <a:off x="749142" y="4119629"/>
            <a:ext cx="10197900" cy="221838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PH" sz="3200" b="1" dirty="0" err="1" smtClean="0">
                <a:solidFill>
                  <a:schemeClr val="bg1"/>
                </a:solidFill>
                <a:latin typeface="Candara" panose="020E0502030303020204" pitchFamily="34" charset="0"/>
              </a:rPr>
              <a:t>Ginintuang</a:t>
            </a:r>
            <a:r>
              <a:rPr lang="en-PH" sz="3200" b="1" dirty="0" smtClean="0">
                <a:solidFill>
                  <a:schemeClr val="bg1"/>
                </a:solidFill>
                <a:latin typeface="Candara" panose="020E0502030303020204" pitchFamily="34" charset="0"/>
              </a:rPr>
              <a:t> </a:t>
            </a:r>
            <a:r>
              <a:rPr lang="en-PH" sz="3200" b="1" dirty="0" err="1" smtClean="0">
                <a:solidFill>
                  <a:schemeClr val="bg1"/>
                </a:solidFill>
                <a:latin typeface="Candara" panose="020E0502030303020204" pitchFamily="34" charset="0"/>
              </a:rPr>
              <a:t>Masaganang</a:t>
            </a:r>
            <a:r>
              <a:rPr lang="en-PH" sz="3200" b="1" dirty="0" smtClean="0">
                <a:solidFill>
                  <a:schemeClr val="bg1"/>
                </a:solidFill>
                <a:latin typeface="Candara" panose="020E0502030303020204" pitchFamily="34" charset="0"/>
              </a:rPr>
              <a:t> </a:t>
            </a:r>
            <a:r>
              <a:rPr lang="en-PH" sz="3200" b="1" dirty="0" err="1" smtClean="0">
                <a:solidFill>
                  <a:schemeClr val="bg1"/>
                </a:solidFill>
                <a:latin typeface="Candara" panose="020E0502030303020204" pitchFamily="34" charset="0"/>
              </a:rPr>
              <a:t>Ani</a:t>
            </a:r>
            <a:r>
              <a:rPr lang="en-PH" sz="3200" b="1" dirty="0" smtClean="0">
                <a:solidFill>
                  <a:schemeClr val="bg1"/>
                </a:solidFill>
                <a:latin typeface="Candara" panose="020E0502030303020204" pitchFamily="34" charset="0"/>
              </a:rPr>
              <a:t> (GMA)- </a:t>
            </a:r>
            <a:r>
              <a:rPr lang="en-PH" sz="3200" dirty="0" smtClean="0">
                <a:solidFill>
                  <a:schemeClr val="bg1"/>
                </a:solidFill>
                <a:latin typeface="Candara" panose="020E0502030303020204" pitchFamily="34" charset="0"/>
              </a:rPr>
              <a:t>country wide assistance for rural employment and services</a:t>
            </a:r>
          </a:p>
          <a:p>
            <a:pPr>
              <a:buFont typeface="Wingdings" panose="05000000000000000000" pitchFamily="2" charset="2"/>
              <a:buChar char="q"/>
            </a:pPr>
            <a:r>
              <a:rPr lang="en-PH" sz="3200" b="1" dirty="0" smtClean="0">
                <a:solidFill>
                  <a:schemeClr val="bg1"/>
                </a:solidFill>
                <a:latin typeface="Candara" panose="020E0502030303020204" pitchFamily="34" charset="0"/>
              </a:rPr>
              <a:t>Hybrid Rice Commercialization Program</a:t>
            </a:r>
          </a:p>
        </p:txBody>
      </p:sp>
    </p:spTree>
    <p:extLst>
      <p:ext uri="{BB962C8B-B14F-4D97-AF65-F5344CB8AC3E}">
        <p14:creationId xmlns:p14="http://schemas.microsoft.com/office/powerpoint/2010/main" val="27880412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3654"/>
          </a:xfrm>
        </p:spPr>
        <p:txBody>
          <a:bodyPr/>
          <a:lstStyle/>
          <a:p>
            <a:r>
              <a:rPr lang="en-PH" dirty="0" smtClean="0">
                <a:solidFill>
                  <a:schemeClr val="accent1">
                    <a:lumMod val="50000"/>
                  </a:schemeClr>
                </a:solidFill>
                <a:latin typeface="Britannic Bold" panose="020B0903060703020204" pitchFamily="34" charset="0"/>
              </a:rPr>
              <a:t>13. Pres. </a:t>
            </a:r>
            <a:r>
              <a:rPr lang="en-PH" dirty="0" err="1" smtClean="0">
                <a:solidFill>
                  <a:schemeClr val="accent1">
                    <a:lumMod val="50000"/>
                  </a:schemeClr>
                </a:solidFill>
                <a:latin typeface="Britannic Bold" panose="020B0903060703020204" pitchFamily="34" charset="0"/>
              </a:rPr>
              <a:t>Benigno</a:t>
            </a:r>
            <a:r>
              <a:rPr lang="en-PH" dirty="0" smtClean="0">
                <a:solidFill>
                  <a:schemeClr val="accent1">
                    <a:lumMod val="50000"/>
                  </a:schemeClr>
                </a:solidFill>
                <a:latin typeface="Britannic Bold" panose="020B0903060703020204" pitchFamily="34" charset="0"/>
              </a:rPr>
              <a:t> Simeon Aquino III</a:t>
            </a:r>
            <a:endParaRPr lang="en-PH" dirty="0">
              <a:solidFill>
                <a:schemeClr val="accent1">
                  <a:lumMod val="50000"/>
                </a:schemeClr>
              </a:solidFill>
              <a:latin typeface="Britannic Bold" panose="020B0903060703020204" pitchFamily="34" charset="0"/>
            </a:endParaRPr>
          </a:p>
        </p:txBody>
      </p:sp>
      <p:sp>
        <p:nvSpPr>
          <p:cNvPr id="3" name="Content Placeholder 2"/>
          <p:cNvSpPr>
            <a:spLocks noGrp="1"/>
          </p:cNvSpPr>
          <p:nvPr>
            <p:ph idx="1"/>
          </p:nvPr>
        </p:nvSpPr>
        <p:spPr>
          <a:xfrm>
            <a:off x="697625" y="1372673"/>
            <a:ext cx="10745251" cy="5066764"/>
          </a:xfrm>
        </p:spPr>
        <p:txBody>
          <a:bodyPr>
            <a:noAutofit/>
          </a:bodyPr>
          <a:lstStyle/>
          <a:p>
            <a:pPr>
              <a:buFont typeface="Wingdings" panose="05000000000000000000" pitchFamily="2" charset="2"/>
              <a:buChar char="q"/>
            </a:pPr>
            <a:r>
              <a:rPr lang="en-PH" sz="3200" b="1" dirty="0" err="1" smtClean="0">
                <a:solidFill>
                  <a:schemeClr val="bg1"/>
                </a:solidFill>
                <a:latin typeface="Candara" panose="020E0502030303020204" pitchFamily="34" charset="0"/>
              </a:rPr>
              <a:t>Agri-Pinoy</a:t>
            </a:r>
            <a:r>
              <a:rPr lang="en-PH" sz="3200" b="1" dirty="0" smtClean="0">
                <a:solidFill>
                  <a:schemeClr val="bg1"/>
                </a:solidFill>
                <a:latin typeface="Candara" panose="020E0502030303020204" pitchFamily="34" charset="0"/>
              </a:rPr>
              <a:t> Program- </a:t>
            </a:r>
            <a:r>
              <a:rPr lang="en-PH" sz="3200" dirty="0" smtClean="0">
                <a:solidFill>
                  <a:schemeClr val="bg1"/>
                </a:solidFill>
                <a:latin typeface="Candara" panose="020E0502030303020204" pitchFamily="34" charset="0"/>
              </a:rPr>
              <a:t>blueprint of the 4 Banner Programs of DA namely; </a:t>
            </a:r>
            <a:r>
              <a:rPr lang="en-PH" sz="3200" u="sng" dirty="0" smtClean="0">
                <a:solidFill>
                  <a:schemeClr val="bg1"/>
                </a:solidFill>
                <a:latin typeface="Candara" panose="020E0502030303020204" pitchFamily="34" charset="0"/>
              </a:rPr>
              <a:t>Rice</a:t>
            </a:r>
            <a:r>
              <a:rPr lang="en-PH" sz="3200" dirty="0" smtClean="0">
                <a:solidFill>
                  <a:schemeClr val="bg1"/>
                </a:solidFill>
                <a:latin typeface="Candara" panose="020E0502030303020204" pitchFamily="34" charset="0"/>
              </a:rPr>
              <a:t>, </a:t>
            </a:r>
            <a:r>
              <a:rPr lang="en-PH" sz="3200" u="sng" dirty="0" smtClean="0">
                <a:solidFill>
                  <a:schemeClr val="bg1"/>
                </a:solidFill>
                <a:latin typeface="Candara" panose="020E0502030303020204" pitchFamily="34" charset="0"/>
              </a:rPr>
              <a:t>Corn &amp; Cassava</a:t>
            </a:r>
            <a:r>
              <a:rPr lang="en-PH" sz="3200" dirty="0" smtClean="0">
                <a:solidFill>
                  <a:schemeClr val="bg1"/>
                </a:solidFill>
                <a:latin typeface="Candara" panose="020E0502030303020204" pitchFamily="34" charset="0"/>
              </a:rPr>
              <a:t>, </a:t>
            </a:r>
            <a:r>
              <a:rPr lang="en-PH" sz="3200" u="sng" dirty="0" smtClean="0">
                <a:solidFill>
                  <a:schemeClr val="bg1"/>
                </a:solidFill>
                <a:latin typeface="Candara" panose="020E0502030303020204" pitchFamily="34" charset="0"/>
              </a:rPr>
              <a:t>Livestock</a:t>
            </a:r>
            <a:r>
              <a:rPr lang="en-PH" sz="3200" dirty="0" smtClean="0">
                <a:solidFill>
                  <a:schemeClr val="bg1"/>
                </a:solidFill>
                <a:latin typeface="Candara" panose="020E0502030303020204" pitchFamily="34" charset="0"/>
              </a:rPr>
              <a:t>, </a:t>
            </a:r>
            <a:r>
              <a:rPr lang="en-PH" sz="3200" u="sng" dirty="0" smtClean="0">
                <a:solidFill>
                  <a:schemeClr val="bg1"/>
                </a:solidFill>
                <a:latin typeface="Candara" panose="020E0502030303020204" pitchFamily="34" charset="0"/>
              </a:rPr>
              <a:t>HVCDP</a:t>
            </a:r>
          </a:p>
          <a:p>
            <a:r>
              <a:rPr lang="en-PH" sz="2800" b="1" dirty="0" smtClean="0">
                <a:solidFill>
                  <a:schemeClr val="bg1"/>
                </a:solidFill>
                <a:latin typeface="Candara" panose="020E0502030303020204" pitchFamily="34" charset="0"/>
              </a:rPr>
              <a:t>HVCDP</a:t>
            </a:r>
            <a:r>
              <a:rPr lang="en-PH" sz="3200" dirty="0" smtClean="0">
                <a:solidFill>
                  <a:schemeClr val="bg1"/>
                </a:solidFill>
                <a:latin typeface="Candara" panose="020E0502030303020204" pitchFamily="34" charset="0"/>
              </a:rPr>
              <a:t> </a:t>
            </a:r>
            <a:r>
              <a:rPr lang="en-PH" sz="3200" i="1" dirty="0" smtClean="0">
                <a:solidFill>
                  <a:schemeClr val="bg1"/>
                </a:solidFill>
                <a:latin typeface="Candara" panose="020E0502030303020204" pitchFamily="34" charset="0"/>
              </a:rPr>
              <a:t>(High Valued Crop Development Program)</a:t>
            </a:r>
          </a:p>
          <a:p>
            <a:pPr marL="0" indent="0">
              <a:buNone/>
            </a:pPr>
            <a:r>
              <a:rPr lang="en-PH" sz="2800" i="1" dirty="0" smtClean="0">
                <a:solidFill>
                  <a:schemeClr val="bg1"/>
                </a:solidFill>
                <a:latin typeface="Candara" panose="020E0502030303020204" pitchFamily="34" charset="0"/>
              </a:rPr>
              <a:t>	20 HVCDP-</a:t>
            </a:r>
            <a:r>
              <a:rPr lang="en-PH" sz="3200" i="1" dirty="0" smtClean="0">
                <a:solidFill>
                  <a:schemeClr val="bg1"/>
                </a:solidFill>
                <a:latin typeface="Candara" panose="020E0502030303020204" pitchFamily="34" charset="0"/>
              </a:rPr>
              <a:t>------</a:t>
            </a:r>
          </a:p>
          <a:p>
            <a:r>
              <a:rPr lang="en-PH" sz="2800" b="1" dirty="0" smtClean="0">
                <a:solidFill>
                  <a:schemeClr val="bg1"/>
                </a:solidFill>
                <a:latin typeface="Candara" panose="020E0502030303020204" pitchFamily="34" charset="0"/>
              </a:rPr>
              <a:t>RICE</a:t>
            </a:r>
            <a:r>
              <a:rPr lang="en-PH" sz="3200" b="1" dirty="0" smtClean="0">
                <a:solidFill>
                  <a:schemeClr val="bg1"/>
                </a:solidFill>
                <a:latin typeface="Candara" panose="020E0502030303020204" pitchFamily="34" charset="0"/>
              </a:rPr>
              <a:t>----- </a:t>
            </a:r>
            <a:r>
              <a:rPr lang="en-PH" sz="3200" dirty="0" smtClean="0">
                <a:solidFill>
                  <a:schemeClr val="bg1"/>
                </a:solidFill>
                <a:latin typeface="Candara" panose="020E0502030303020204" pitchFamily="34" charset="0"/>
              </a:rPr>
              <a:t>inbred, hybrid </a:t>
            </a:r>
            <a:r>
              <a:rPr lang="en-PH" sz="3200" i="1" dirty="0" smtClean="0">
                <a:solidFill>
                  <a:schemeClr val="bg1"/>
                </a:solidFill>
                <a:latin typeface="Candara" panose="020E0502030303020204" pitchFamily="34" charset="0"/>
              </a:rPr>
              <a:t>(rain fed, irrigated), </a:t>
            </a:r>
            <a:r>
              <a:rPr lang="en-PH" sz="3200" dirty="0" smtClean="0">
                <a:solidFill>
                  <a:schemeClr val="bg1"/>
                </a:solidFill>
                <a:latin typeface="Candara" panose="020E0502030303020204" pitchFamily="34" charset="0"/>
              </a:rPr>
              <a:t>heirloom rice</a:t>
            </a:r>
          </a:p>
          <a:p>
            <a:r>
              <a:rPr lang="en-PH" sz="2800" b="1" dirty="0" smtClean="0">
                <a:solidFill>
                  <a:schemeClr val="bg1"/>
                </a:solidFill>
                <a:latin typeface="Candara" panose="020E0502030303020204" pitchFamily="34" charset="0"/>
              </a:rPr>
              <a:t>CORN &amp; CASSAVA-</a:t>
            </a:r>
            <a:r>
              <a:rPr lang="en-PH" sz="3200" b="1" dirty="0" smtClean="0">
                <a:solidFill>
                  <a:schemeClr val="bg1"/>
                </a:solidFill>
                <a:latin typeface="Candara" panose="020E0502030303020204" pitchFamily="34" charset="0"/>
              </a:rPr>
              <a:t>--- </a:t>
            </a:r>
            <a:r>
              <a:rPr lang="en-PH" sz="3200" dirty="0" smtClean="0">
                <a:solidFill>
                  <a:schemeClr val="bg1"/>
                </a:solidFill>
                <a:latin typeface="Candara" panose="020E0502030303020204" pitchFamily="34" charset="0"/>
              </a:rPr>
              <a:t>Yellow &amp; white corn </a:t>
            </a:r>
            <a:r>
              <a:rPr lang="en-PH" sz="3200" i="1" dirty="0" smtClean="0">
                <a:solidFill>
                  <a:schemeClr val="bg1"/>
                </a:solidFill>
                <a:latin typeface="Candara" panose="020E0502030303020204" pitchFamily="34" charset="0"/>
              </a:rPr>
              <a:t>(GMO, open-pollinated, hybrid)</a:t>
            </a:r>
          </a:p>
          <a:p>
            <a:r>
              <a:rPr lang="en-PH" sz="2800" b="1" dirty="0" smtClean="0">
                <a:solidFill>
                  <a:schemeClr val="bg1"/>
                </a:solidFill>
                <a:latin typeface="Candara" panose="020E0502030303020204" pitchFamily="34" charset="0"/>
              </a:rPr>
              <a:t>LIVESTOCK</a:t>
            </a:r>
          </a:p>
        </p:txBody>
      </p:sp>
      <p:sp>
        <p:nvSpPr>
          <p:cNvPr id="4" name="Title 1"/>
          <p:cNvSpPr txBox="1">
            <a:spLocks/>
          </p:cNvSpPr>
          <p:nvPr/>
        </p:nvSpPr>
        <p:spPr>
          <a:xfrm>
            <a:off x="646110" y="3103526"/>
            <a:ext cx="9404723" cy="78365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dirty="0">
              <a:solidFill>
                <a:schemeClr val="accent1">
                  <a:lumMod val="50000"/>
                </a:schemeClr>
              </a:solidFill>
              <a:latin typeface="Britannic Bold" panose="020B0903060703020204" pitchFamily="34" charset="0"/>
            </a:endParaRPr>
          </a:p>
        </p:txBody>
      </p:sp>
      <p:sp>
        <p:nvSpPr>
          <p:cNvPr id="7" name="Content Placeholder 2"/>
          <p:cNvSpPr txBox="1">
            <a:spLocks/>
          </p:cNvSpPr>
          <p:nvPr/>
        </p:nvSpPr>
        <p:spPr>
          <a:xfrm>
            <a:off x="749142" y="3591060"/>
            <a:ext cx="10094869" cy="1637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PH" sz="3200" b="1" dirty="0">
              <a:solidFill>
                <a:schemeClr val="bg1"/>
              </a:solidFill>
              <a:latin typeface="Candara" panose="020E0502030303020204" pitchFamily="34" charset="0"/>
            </a:endParaRPr>
          </a:p>
        </p:txBody>
      </p:sp>
      <p:sp>
        <p:nvSpPr>
          <p:cNvPr id="8" name="Content Placeholder 2"/>
          <p:cNvSpPr txBox="1">
            <a:spLocks/>
          </p:cNvSpPr>
          <p:nvPr/>
        </p:nvSpPr>
        <p:spPr>
          <a:xfrm>
            <a:off x="150274" y="4539787"/>
            <a:ext cx="11292603" cy="22548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endParaRPr lang="en-PH" sz="32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1687039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7679" y="-409442"/>
            <a:ext cx="11174963" cy="5303413"/>
          </a:xfrm>
        </p:spPr>
        <p:txBody>
          <a:bodyPr/>
          <a:lstStyle/>
          <a:p>
            <a:pPr algn="ctr"/>
            <a:r>
              <a:rPr lang="en-PH" u="sng" dirty="0" smtClean="0">
                <a:solidFill>
                  <a:schemeClr val="accent2">
                    <a:lumMod val="50000"/>
                  </a:schemeClr>
                </a:solidFill>
                <a:latin typeface="Bernard MT Condensed" panose="02050806060905020404" pitchFamily="18" charset="0"/>
              </a:rPr>
              <a:t>Extension Education</a:t>
            </a:r>
            <a:r>
              <a:rPr lang="en-PH" sz="4800" dirty="0" smtClean="0">
                <a:latin typeface="Bernard MT Condensed" panose="02050806060905020404" pitchFamily="18" charset="0"/>
              </a:rPr>
              <a:t/>
            </a:r>
            <a:br>
              <a:rPr lang="en-PH" sz="4800" dirty="0" smtClean="0">
                <a:latin typeface="Bernard MT Condensed" panose="02050806060905020404" pitchFamily="18" charset="0"/>
              </a:rPr>
            </a:br>
            <a:r>
              <a:rPr lang="en-PH" sz="4800" dirty="0" smtClean="0">
                <a:latin typeface="Bernard MT Condensed" panose="02050806060905020404" pitchFamily="18" charset="0"/>
              </a:rPr>
              <a:t/>
            </a:r>
            <a:br>
              <a:rPr lang="en-PH" sz="4800" dirty="0" smtClean="0">
                <a:latin typeface="Bernard MT Condensed" panose="02050806060905020404" pitchFamily="18" charset="0"/>
              </a:rPr>
            </a:br>
            <a:r>
              <a:rPr lang="en-PH" sz="6000" dirty="0" smtClean="0">
                <a:solidFill>
                  <a:schemeClr val="bg1"/>
                </a:solidFill>
                <a:latin typeface="Bernard MT Condensed" panose="02050806060905020404" pitchFamily="18" charset="0"/>
              </a:rPr>
              <a:t>Concepts, </a:t>
            </a:r>
            <a:r>
              <a:rPr lang="en-PH" sz="6000" dirty="0" smtClean="0">
                <a:solidFill>
                  <a:srgbClr val="0070C0"/>
                </a:solidFill>
                <a:latin typeface="Bernard MT Condensed" panose="02050806060905020404" pitchFamily="18" charset="0"/>
              </a:rPr>
              <a:t>Philosophy, </a:t>
            </a:r>
            <a:br>
              <a:rPr lang="en-PH" sz="6000" dirty="0" smtClean="0">
                <a:solidFill>
                  <a:srgbClr val="0070C0"/>
                </a:solidFill>
                <a:latin typeface="Bernard MT Condensed" panose="02050806060905020404" pitchFamily="18" charset="0"/>
              </a:rPr>
            </a:br>
            <a:r>
              <a:rPr lang="en-PH" sz="6000" dirty="0" smtClean="0">
                <a:solidFill>
                  <a:schemeClr val="accent4">
                    <a:lumMod val="75000"/>
                  </a:schemeClr>
                </a:solidFill>
                <a:latin typeface="Bernard MT Condensed" panose="02050806060905020404" pitchFamily="18" charset="0"/>
              </a:rPr>
              <a:t>Principles</a:t>
            </a:r>
            <a:r>
              <a:rPr lang="en-PH" sz="6000" dirty="0" smtClean="0">
                <a:latin typeface="Bernard MT Condensed" panose="02050806060905020404" pitchFamily="18" charset="0"/>
              </a:rPr>
              <a:t> </a:t>
            </a:r>
            <a:r>
              <a:rPr lang="en-PH" sz="6000" i="1" dirty="0" smtClean="0">
                <a:solidFill>
                  <a:srgbClr val="92D050"/>
                </a:solidFill>
                <a:latin typeface="Bernard MT Condensed" panose="02050806060905020404" pitchFamily="18" charset="0"/>
              </a:rPr>
              <a:t>and </a:t>
            </a:r>
            <a:r>
              <a:rPr lang="en-PH" sz="6000" dirty="0" smtClean="0">
                <a:solidFill>
                  <a:schemeClr val="accent6">
                    <a:lumMod val="50000"/>
                  </a:schemeClr>
                </a:solidFill>
                <a:latin typeface="Bernard MT Condensed" panose="02050806060905020404" pitchFamily="18" charset="0"/>
              </a:rPr>
              <a:t>Objective </a:t>
            </a:r>
            <a:r>
              <a:rPr lang="en-PH" sz="4800" dirty="0" smtClean="0">
                <a:latin typeface="Bernard MT Condensed" panose="02050806060905020404" pitchFamily="18" charset="0"/>
              </a:rPr>
              <a:t/>
            </a:r>
            <a:br>
              <a:rPr lang="en-PH" sz="4800" dirty="0" smtClean="0">
                <a:latin typeface="Bernard MT Condensed" panose="02050806060905020404" pitchFamily="18" charset="0"/>
              </a:rPr>
            </a:br>
            <a:endParaRPr lang="en-PH" sz="4800" dirty="0">
              <a:latin typeface="Bernard MT Condensed" panose="02050806060905020404" pitchFamily="18" charset="0"/>
            </a:endParaRPr>
          </a:p>
        </p:txBody>
      </p:sp>
      <p:sp>
        <p:nvSpPr>
          <p:cNvPr id="3" name="Block Arc 2"/>
          <p:cNvSpPr/>
          <p:nvPr/>
        </p:nvSpPr>
        <p:spPr>
          <a:xfrm rot="10800000">
            <a:off x="831943" y="3387144"/>
            <a:ext cx="10586434" cy="2144330"/>
          </a:xfrm>
          <a:prstGeom prst="blockArc">
            <a:avLst>
              <a:gd name="adj1" fmla="val 10711343"/>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Tree>
    <p:extLst>
      <p:ext uri="{BB962C8B-B14F-4D97-AF65-F5344CB8AC3E}">
        <p14:creationId xmlns:p14="http://schemas.microsoft.com/office/powerpoint/2010/main" val="33856795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3085" y="723900"/>
            <a:ext cx="11174963" cy="5059094"/>
          </a:xfrm>
        </p:spPr>
        <p:txBody>
          <a:bodyPr/>
          <a:lstStyle/>
          <a:p>
            <a:pPr algn="ctr"/>
            <a:r>
              <a:rPr lang="en-PH" dirty="0" smtClean="0">
                <a:solidFill>
                  <a:schemeClr val="accent2">
                    <a:lumMod val="50000"/>
                  </a:schemeClr>
                </a:solidFill>
                <a:latin typeface="Showcard Gothic" panose="04020904020102020604" pitchFamily="82" charset="0"/>
              </a:rPr>
              <a:t>CONCEPT </a:t>
            </a:r>
            <a:br>
              <a:rPr lang="en-PH" dirty="0" smtClean="0">
                <a:solidFill>
                  <a:schemeClr val="accent2">
                    <a:lumMod val="50000"/>
                  </a:schemeClr>
                </a:solidFill>
                <a:latin typeface="Showcard Gothic" panose="04020904020102020604" pitchFamily="82" charset="0"/>
              </a:rPr>
            </a:br>
            <a:r>
              <a:rPr lang="en-PH" dirty="0" smtClean="0">
                <a:solidFill>
                  <a:schemeClr val="accent2">
                    <a:lumMod val="50000"/>
                  </a:schemeClr>
                </a:solidFill>
                <a:latin typeface="Showcard Gothic" panose="04020904020102020604" pitchFamily="82" charset="0"/>
              </a:rPr>
              <a:t>OF </a:t>
            </a:r>
            <a:br>
              <a:rPr lang="en-PH" dirty="0" smtClean="0">
                <a:solidFill>
                  <a:schemeClr val="accent2">
                    <a:lumMod val="50000"/>
                  </a:schemeClr>
                </a:solidFill>
                <a:latin typeface="Showcard Gothic" panose="04020904020102020604" pitchFamily="82" charset="0"/>
              </a:rPr>
            </a:br>
            <a:r>
              <a:rPr lang="en-PH" dirty="0" smtClean="0">
                <a:solidFill>
                  <a:schemeClr val="accent2">
                    <a:lumMod val="50000"/>
                  </a:schemeClr>
                </a:solidFill>
                <a:latin typeface="Showcard Gothic" panose="04020904020102020604" pitchFamily="82" charset="0"/>
              </a:rPr>
              <a:t>Extension</a:t>
            </a:r>
            <a:r>
              <a:rPr lang="en-PH" sz="4800" dirty="0" smtClean="0">
                <a:latin typeface="Showcard Gothic" panose="04020904020102020604" pitchFamily="82" charset="0"/>
              </a:rPr>
              <a:t/>
            </a:r>
            <a:br>
              <a:rPr lang="en-PH" sz="4800" dirty="0" smtClean="0">
                <a:latin typeface="Showcard Gothic" panose="04020904020102020604" pitchFamily="82" charset="0"/>
              </a:rPr>
            </a:br>
            <a:r>
              <a:rPr lang="en-PH" sz="4800" dirty="0" smtClean="0">
                <a:latin typeface="Showcard Gothic" panose="04020904020102020604" pitchFamily="82" charset="0"/>
              </a:rPr>
              <a:t/>
            </a:r>
            <a:br>
              <a:rPr lang="en-PH" sz="4800" dirty="0" smtClean="0">
                <a:latin typeface="Showcard Gothic" panose="04020904020102020604" pitchFamily="82" charset="0"/>
              </a:rPr>
            </a:br>
            <a:endParaRPr lang="en-PH" sz="4800" dirty="0">
              <a:latin typeface="Showcard Gothic" panose="04020904020102020604" pitchFamily="82" charset="0"/>
            </a:endParaRPr>
          </a:p>
        </p:txBody>
      </p:sp>
      <p:sp>
        <p:nvSpPr>
          <p:cNvPr id="7" name="Half Frame 6"/>
          <p:cNvSpPr/>
          <p:nvPr/>
        </p:nvSpPr>
        <p:spPr>
          <a:xfrm rot="10800000">
            <a:off x="1154954" y="5472331"/>
            <a:ext cx="11037045" cy="1334087"/>
          </a:xfrm>
          <a:prstGeom prst="halfFrame">
            <a:avLst>
              <a:gd name="adj1" fmla="val 21734"/>
              <a:gd name="adj2" fmla="val 34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Tree>
    <p:extLst>
      <p:ext uri="{BB962C8B-B14F-4D97-AF65-F5344CB8AC3E}">
        <p14:creationId xmlns:p14="http://schemas.microsoft.com/office/powerpoint/2010/main" val="6314787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Candara" panose="020E0502030303020204" pitchFamily="34" charset="0"/>
              </a:rPr>
              <a:t>Extension means:</a:t>
            </a:r>
            <a:endParaRPr lang="en-PH"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864162" y="1012874"/>
            <a:ext cx="10994903" cy="4195481"/>
          </a:xfrm>
        </p:spPr>
        <p:txBody>
          <a:bodyPr>
            <a:noAutofit/>
          </a:bodyPr>
          <a:lstStyle/>
          <a:p>
            <a:r>
              <a:rPr lang="en-PH" sz="3600" dirty="0" smtClean="0">
                <a:solidFill>
                  <a:schemeClr val="bg1"/>
                </a:solidFill>
                <a:latin typeface="Candara" panose="020E0502030303020204" pitchFamily="34" charset="0"/>
              </a:rPr>
              <a:t>To extend, to spread or to disseminate useful information and ideas to rural people outside the schools and classrooms</a:t>
            </a:r>
          </a:p>
          <a:p>
            <a:r>
              <a:rPr lang="en-PH" sz="3600" dirty="0" smtClean="0">
                <a:solidFill>
                  <a:schemeClr val="bg1"/>
                </a:solidFill>
                <a:latin typeface="Candara" panose="020E0502030303020204" pitchFamily="34" charset="0"/>
              </a:rPr>
              <a:t>Extending of service, or system that extends educational advantage of an educational institution to persons unable to avail of a formal education.</a:t>
            </a:r>
          </a:p>
        </p:txBody>
      </p:sp>
    </p:spTree>
    <p:extLst>
      <p:ext uri="{BB962C8B-B14F-4D97-AF65-F5344CB8AC3E}">
        <p14:creationId xmlns:p14="http://schemas.microsoft.com/office/powerpoint/2010/main" val="11481176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69645"/>
          </a:xfrm>
        </p:spPr>
        <p:txBody>
          <a:bodyPr/>
          <a:lstStyle/>
          <a:p>
            <a:pPr algn="ctr"/>
            <a:r>
              <a:rPr lang="en-PH" sz="4800" dirty="0" smtClean="0">
                <a:solidFill>
                  <a:schemeClr val="accent1">
                    <a:lumMod val="75000"/>
                  </a:schemeClr>
                </a:solidFill>
                <a:latin typeface="Candara" panose="020E0502030303020204" pitchFamily="34" charset="0"/>
              </a:rPr>
              <a:t>Extension Service</a:t>
            </a:r>
            <a:endParaRPr lang="en-PH" sz="4800"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1104293" y="1518345"/>
            <a:ext cx="10051387" cy="4195481"/>
          </a:xfrm>
        </p:spPr>
        <p:txBody>
          <a:bodyPr>
            <a:normAutofit/>
          </a:bodyPr>
          <a:lstStyle/>
          <a:p>
            <a:r>
              <a:rPr lang="en-PH" sz="3200" dirty="0">
                <a:solidFill>
                  <a:schemeClr val="bg1"/>
                </a:solidFill>
                <a:latin typeface="Candara" panose="020E0502030303020204" pitchFamily="34" charset="0"/>
              </a:rPr>
              <a:t>r</a:t>
            </a:r>
            <a:r>
              <a:rPr lang="en-PH" sz="3200" dirty="0" smtClean="0">
                <a:solidFill>
                  <a:schemeClr val="bg1"/>
                </a:solidFill>
                <a:latin typeface="Candara" panose="020E0502030303020204" pitchFamily="34" charset="0"/>
              </a:rPr>
              <a:t>efers to the provision of training, information, and support services by the government and non-government organizations to the agriculture and fisheries to improve the technical, business and social capabilities of farmers and fishers folks.</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585084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668" y="1011197"/>
            <a:ext cx="9904658" cy="1400530"/>
          </a:xfrm>
        </p:spPr>
        <p:txBody>
          <a:bodyPr/>
          <a:lstStyle/>
          <a:p>
            <a:pPr algn="ctr"/>
            <a:r>
              <a:rPr lang="en-PH" sz="3600" dirty="0">
                <a:solidFill>
                  <a:schemeClr val="bg1"/>
                </a:solidFill>
                <a:latin typeface="Candara" panose="020E0502030303020204" pitchFamily="34" charset="0"/>
              </a:rPr>
              <a:t>THE ROLE OF EXTENSION IS TO BRIDGE THE GAP BETWEEN THE RESEARCH SYSTEM AND THE CLIENT SYSTEM.</a:t>
            </a:r>
            <a:br>
              <a:rPr lang="en-PH" sz="3600" dirty="0">
                <a:solidFill>
                  <a:schemeClr val="bg1"/>
                </a:solidFill>
                <a:latin typeface="Candara" panose="020E0502030303020204" pitchFamily="34" charset="0"/>
              </a:rPr>
            </a:br>
            <a:endParaRPr lang="en-PH" sz="3600" dirty="0">
              <a:latin typeface="Candara" panose="020E0502030303020204" pitchFamily="34" charset="0"/>
            </a:endParaRPr>
          </a:p>
        </p:txBody>
      </p:sp>
      <p:sp>
        <p:nvSpPr>
          <p:cNvPr id="4" name="Rounded Rectangle 3"/>
          <p:cNvSpPr/>
          <p:nvPr/>
        </p:nvSpPr>
        <p:spPr>
          <a:xfrm>
            <a:off x="969668" y="3593810"/>
            <a:ext cx="2282983" cy="1281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dirty="0" smtClean="0">
                <a:latin typeface="Candara" panose="020E0502030303020204" pitchFamily="34" charset="0"/>
              </a:rPr>
              <a:t>RESEARCH SYSTEM</a:t>
            </a:r>
            <a:endParaRPr lang="en-PH" sz="2800" dirty="0">
              <a:latin typeface="Candara" panose="020E0502030303020204" pitchFamily="34" charset="0"/>
            </a:endParaRPr>
          </a:p>
        </p:txBody>
      </p:sp>
      <p:sp>
        <p:nvSpPr>
          <p:cNvPr id="5" name="Rounded Rectangle 4"/>
          <p:cNvSpPr/>
          <p:nvPr/>
        </p:nvSpPr>
        <p:spPr>
          <a:xfrm>
            <a:off x="4951677" y="3593810"/>
            <a:ext cx="2687080" cy="1281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400" dirty="0" smtClean="0">
                <a:latin typeface="Candara" panose="020E0502030303020204" pitchFamily="34" charset="0"/>
              </a:rPr>
              <a:t>EXTENSION DELIVERY SYSTEM</a:t>
            </a:r>
            <a:endParaRPr lang="en-PH" sz="2400" dirty="0">
              <a:latin typeface="Candara" panose="020E0502030303020204" pitchFamily="34" charset="0"/>
            </a:endParaRPr>
          </a:p>
        </p:txBody>
      </p:sp>
      <p:sp>
        <p:nvSpPr>
          <p:cNvPr id="6" name="Rounded Rectangle 5"/>
          <p:cNvSpPr/>
          <p:nvPr/>
        </p:nvSpPr>
        <p:spPr>
          <a:xfrm>
            <a:off x="9337783" y="3593809"/>
            <a:ext cx="1827298" cy="1281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dirty="0" smtClean="0">
                <a:latin typeface="Candara" panose="020E0502030303020204" pitchFamily="34" charset="0"/>
              </a:rPr>
              <a:t>CLIENT SYSTEM</a:t>
            </a:r>
            <a:endParaRPr lang="en-PH" sz="2800" dirty="0">
              <a:latin typeface="Candara" panose="020E0502030303020204" pitchFamily="34" charset="0"/>
            </a:endParaRPr>
          </a:p>
        </p:txBody>
      </p:sp>
      <p:sp>
        <p:nvSpPr>
          <p:cNvPr id="9" name="Right Arrow 8"/>
          <p:cNvSpPr/>
          <p:nvPr/>
        </p:nvSpPr>
        <p:spPr>
          <a:xfrm>
            <a:off x="3407319" y="4375052"/>
            <a:ext cx="1389687" cy="2672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Candara" panose="020E0502030303020204" pitchFamily="34" charset="0"/>
            </a:endParaRPr>
          </a:p>
        </p:txBody>
      </p:sp>
      <p:sp>
        <p:nvSpPr>
          <p:cNvPr id="10" name="Right Arrow 9"/>
          <p:cNvSpPr/>
          <p:nvPr/>
        </p:nvSpPr>
        <p:spPr>
          <a:xfrm rot="10800000">
            <a:off x="3407319" y="3847514"/>
            <a:ext cx="1389687" cy="26728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solidFill>
                <a:srgbClr val="FFFF00"/>
              </a:solidFill>
              <a:latin typeface="Candara" panose="020E0502030303020204" pitchFamily="34" charset="0"/>
            </a:endParaRPr>
          </a:p>
        </p:txBody>
      </p:sp>
      <p:sp>
        <p:nvSpPr>
          <p:cNvPr id="11" name="Right Arrow 10"/>
          <p:cNvSpPr/>
          <p:nvPr/>
        </p:nvSpPr>
        <p:spPr>
          <a:xfrm>
            <a:off x="7793426" y="4368018"/>
            <a:ext cx="1389687" cy="2672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Candara" panose="020E0502030303020204" pitchFamily="34" charset="0"/>
            </a:endParaRPr>
          </a:p>
        </p:txBody>
      </p:sp>
      <p:sp>
        <p:nvSpPr>
          <p:cNvPr id="12" name="Right Arrow 11"/>
          <p:cNvSpPr/>
          <p:nvPr/>
        </p:nvSpPr>
        <p:spPr>
          <a:xfrm rot="10800000">
            <a:off x="7793426" y="3847514"/>
            <a:ext cx="1389687" cy="26728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Candara" panose="020E0502030303020204" pitchFamily="34" charset="0"/>
            </a:endParaRPr>
          </a:p>
        </p:txBody>
      </p:sp>
    </p:spTree>
    <p:extLst>
      <p:ext uri="{BB962C8B-B14F-4D97-AF65-F5344CB8AC3E}">
        <p14:creationId xmlns:p14="http://schemas.microsoft.com/office/powerpoint/2010/main" val="12259975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12 Meanings of Extension </a:t>
            </a:r>
            <a:endParaRPr lang="en-PH"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33046" y="1012874"/>
            <a:ext cx="11226019" cy="5845126"/>
          </a:xfrm>
        </p:spPr>
        <p:txBody>
          <a:bodyPr>
            <a:noAutofit/>
          </a:bodyPr>
          <a:lstStyle/>
          <a:p>
            <a:pPr marL="0" indent="0">
              <a:buNone/>
            </a:pP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1.  Extension </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is education for all people</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3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2. Extension is changing attitude, </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behavior, knowledge </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and skills of </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all </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people</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3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3. Extension is working with men and women, young </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	people</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 boys and girls, to answer their needs and their </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	wants</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3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endParaRPr lang="en-PH" sz="36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2621217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12 Meanings of Extension </a:t>
            </a:r>
            <a:endParaRPr lang="en-PH"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33046" y="1012874"/>
            <a:ext cx="11226019" cy="5845126"/>
          </a:xfrm>
        </p:spPr>
        <p:txBody>
          <a:bodyPr>
            <a:noAutofit/>
          </a:bodyPr>
          <a:lstStyle/>
          <a:p>
            <a:pPr marL="0" indent="0">
              <a:buNone/>
            </a:pP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4</a:t>
            </a: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 Extension is “helping people help themselves</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5. Extension is “ learning by doing” and seeing 	is believing</a:t>
            </a:r>
            <a:r>
              <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36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6. Extension is teaching people what to want, 	as well as 	how to work out ways of 	satisfying these wants and 	inspiring them 	to achieve their desires.</a:t>
            </a:r>
          </a:p>
          <a:p>
            <a:pPr marL="0" indent="0">
              <a:buNone/>
            </a:pPr>
            <a:endParaRPr lang="en-US" sz="3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3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endParaRPr lang="en-PH" sz="36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57830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Candara" panose="020E0502030303020204" pitchFamily="34" charset="0"/>
              </a:rPr>
              <a:t>12 Meanings of Extension </a:t>
            </a:r>
            <a:endParaRPr lang="en-PH"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864162" y="1012874"/>
            <a:ext cx="10994903" cy="4195481"/>
          </a:xfrm>
        </p:spPr>
        <p:txBody>
          <a:bodyPr>
            <a:noAutofit/>
          </a:bodyPr>
          <a:lstStyle/>
          <a:p>
            <a:pPr marL="0" indent="0">
              <a:buNone/>
              <a:defRPr/>
            </a:pPr>
            <a:r>
              <a:rPr lang="en-US" sz="3600" dirty="0" smtClean="0">
                <a:solidFill>
                  <a:schemeClr val="bg1"/>
                </a:solidFill>
                <a:latin typeface="Candara" panose="020E0502030303020204" pitchFamily="34" charset="0"/>
              </a:rPr>
              <a:t>7</a:t>
            </a:r>
            <a:r>
              <a:rPr lang="en-US" sz="3600" dirty="0">
                <a:solidFill>
                  <a:schemeClr val="bg1"/>
                </a:solidFill>
                <a:latin typeface="Candara" panose="020E0502030303020204" pitchFamily="34" charset="0"/>
              </a:rPr>
              <a:t>. Extension is the development of individuals 	in their </a:t>
            </a:r>
            <a:r>
              <a:rPr lang="en-US" sz="3600" dirty="0" smtClean="0">
                <a:solidFill>
                  <a:schemeClr val="bg1"/>
                </a:solidFill>
                <a:latin typeface="Candara" panose="020E0502030303020204" pitchFamily="34" charset="0"/>
              </a:rPr>
              <a:t>	day-to-day </a:t>
            </a:r>
            <a:r>
              <a:rPr lang="en-US" sz="3600" dirty="0">
                <a:solidFill>
                  <a:schemeClr val="bg1"/>
                </a:solidFill>
                <a:latin typeface="Candara" panose="020E0502030303020204" pitchFamily="34" charset="0"/>
              </a:rPr>
              <a:t>living, development 	of their leaders, their </a:t>
            </a:r>
            <a:r>
              <a:rPr lang="en-US" sz="3600" dirty="0" smtClean="0">
                <a:solidFill>
                  <a:schemeClr val="bg1"/>
                </a:solidFill>
                <a:latin typeface="Candara" panose="020E0502030303020204" pitchFamily="34" charset="0"/>
              </a:rPr>
              <a:t>	society </a:t>
            </a:r>
            <a:r>
              <a:rPr lang="en-US" sz="3600" dirty="0">
                <a:solidFill>
                  <a:schemeClr val="bg1"/>
                </a:solidFill>
                <a:latin typeface="Candara" panose="020E0502030303020204" pitchFamily="34" charset="0"/>
              </a:rPr>
              <a:t>and their 	world as a whole</a:t>
            </a:r>
            <a:r>
              <a:rPr lang="en-US" sz="3600" dirty="0" smtClean="0">
                <a:solidFill>
                  <a:schemeClr val="bg1"/>
                </a:solidFill>
                <a:latin typeface="Candara" panose="020E0502030303020204" pitchFamily="34" charset="0"/>
              </a:rPr>
              <a:t>.</a:t>
            </a:r>
          </a:p>
          <a:p>
            <a:pPr marL="0" indent="0">
              <a:buNone/>
              <a:defRPr/>
            </a:pPr>
            <a:endParaRPr lang="en-US" sz="3600" dirty="0" smtClean="0">
              <a:solidFill>
                <a:schemeClr val="bg1"/>
              </a:solidFill>
              <a:latin typeface="Candara" panose="020E0502030303020204" pitchFamily="34" charset="0"/>
            </a:endParaRPr>
          </a:p>
          <a:p>
            <a:pPr marL="0" indent="0">
              <a:buNone/>
              <a:defRPr/>
            </a:pPr>
            <a:r>
              <a:rPr lang="en-US" sz="3600" dirty="0">
                <a:solidFill>
                  <a:schemeClr val="bg1"/>
                </a:solidFill>
                <a:latin typeface="Candara" panose="020E0502030303020204" pitchFamily="34" charset="0"/>
              </a:rPr>
              <a:t>8. Extension is working together to expand the 	welfare </a:t>
            </a:r>
            <a:r>
              <a:rPr lang="en-US" sz="3600" dirty="0" smtClean="0">
                <a:solidFill>
                  <a:schemeClr val="bg1"/>
                </a:solidFill>
                <a:latin typeface="Candara" panose="020E0502030303020204" pitchFamily="34" charset="0"/>
              </a:rPr>
              <a:t>	and </a:t>
            </a:r>
            <a:r>
              <a:rPr lang="en-US" sz="3600" dirty="0">
                <a:solidFill>
                  <a:schemeClr val="bg1"/>
                </a:solidFill>
                <a:latin typeface="Candara" panose="020E0502030303020204" pitchFamily="34" charset="0"/>
              </a:rPr>
              <a:t>happiness of the people with their 	own families, </a:t>
            </a:r>
            <a:r>
              <a:rPr lang="en-US" sz="3600" dirty="0" smtClean="0">
                <a:solidFill>
                  <a:schemeClr val="bg1"/>
                </a:solidFill>
                <a:latin typeface="Candara" panose="020E0502030303020204" pitchFamily="34" charset="0"/>
              </a:rPr>
              <a:t>	with </a:t>
            </a:r>
            <a:r>
              <a:rPr lang="en-US" sz="3600" dirty="0">
                <a:solidFill>
                  <a:schemeClr val="bg1"/>
                </a:solidFill>
                <a:latin typeface="Candara" panose="020E0502030303020204" pitchFamily="34" charset="0"/>
              </a:rPr>
              <a:t>their own villages, their own 	country and the </a:t>
            </a:r>
            <a:r>
              <a:rPr lang="en-US" sz="3600" dirty="0" smtClean="0">
                <a:solidFill>
                  <a:schemeClr val="bg1"/>
                </a:solidFill>
                <a:latin typeface="Candara" panose="020E0502030303020204" pitchFamily="34" charset="0"/>
              </a:rPr>
              <a:t>	world</a:t>
            </a:r>
            <a:r>
              <a:rPr lang="en-US" sz="3600" dirty="0">
                <a:solidFill>
                  <a:schemeClr val="bg1"/>
                </a:solidFill>
                <a:latin typeface="Candara" panose="020E0502030303020204" pitchFamily="34" charset="0"/>
              </a:rPr>
              <a:t>.</a:t>
            </a:r>
          </a:p>
          <a:p>
            <a:pPr marL="0" indent="0">
              <a:buNone/>
              <a:defRPr/>
            </a:pPr>
            <a:endParaRPr lang="en-US" sz="3600" dirty="0" smtClean="0">
              <a:solidFill>
                <a:schemeClr val="bg1"/>
              </a:solidFill>
              <a:latin typeface="Candara" panose="020E0502030303020204" pitchFamily="34" charset="0"/>
            </a:endParaRPr>
          </a:p>
          <a:p>
            <a:pPr marL="0" indent="0">
              <a:buNone/>
              <a:defRPr/>
            </a:pPr>
            <a:endParaRPr lang="en-US" sz="3600" dirty="0">
              <a:solidFill>
                <a:schemeClr val="bg1"/>
              </a:solidFill>
              <a:latin typeface="Candara" panose="020E0502030303020204" pitchFamily="34" charset="0"/>
            </a:endParaRPr>
          </a:p>
          <a:p>
            <a:endParaRPr lang="en-PH" sz="36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7303822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Candara" panose="020E0502030303020204" pitchFamily="34" charset="0"/>
              </a:rPr>
              <a:t>12 Meanings of Extension </a:t>
            </a:r>
            <a:endParaRPr lang="en-PH"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864162" y="1012874"/>
            <a:ext cx="10994903" cy="4195481"/>
          </a:xfrm>
        </p:spPr>
        <p:txBody>
          <a:bodyPr>
            <a:noAutofit/>
          </a:bodyPr>
          <a:lstStyle/>
          <a:p>
            <a:pPr marL="0" indent="0">
              <a:buNone/>
              <a:defRPr/>
            </a:pPr>
            <a:r>
              <a:rPr lang="en-US" sz="3600" dirty="0" smtClean="0">
                <a:solidFill>
                  <a:schemeClr val="bg1"/>
                </a:solidFill>
                <a:latin typeface="Candara" panose="020E0502030303020204" pitchFamily="34" charset="0"/>
              </a:rPr>
              <a:t>9. Extension is working harmony with the culture of 	the 	people.</a:t>
            </a:r>
          </a:p>
          <a:p>
            <a:pPr marL="0" indent="0">
              <a:buNone/>
              <a:defRPr/>
            </a:pPr>
            <a:endParaRPr lang="en-US" sz="3600" dirty="0" smtClean="0">
              <a:solidFill>
                <a:schemeClr val="bg1"/>
              </a:solidFill>
              <a:latin typeface="Candara" panose="020E0502030303020204" pitchFamily="34" charset="0"/>
            </a:endParaRPr>
          </a:p>
          <a:p>
            <a:pPr marL="0" indent="0">
              <a:buNone/>
              <a:defRPr/>
            </a:pPr>
            <a:r>
              <a:rPr lang="en-US" sz="3600" dirty="0" smtClean="0">
                <a:solidFill>
                  <a:schemeClr val="bg1"/>
                </a:solidFill>
                <a:latin typeface="Candara" panose="020E0502030303020204" pitchFamily="34" charset="0"/>
              </a:rPr>
              <a:t>10</a:t>
            </a:r>
            <a:r>
              <a:rPr lang="en-US" sz="3600" dirty="0">
                <a:solidFill>
                  <a:schemeClr val="bg1"/>
                </a:solidFill>
                <a:latin typeface="Candara" panose="020E0502030303020204" pitchFamily="34" charset="0"/>
              </a:rPr>
              <a:t>. Extension is a living relationship between the 	village </a:t>
            </a:r>
            <a:r>
              <a:rPr lang="en-US" sz="3600" dirty="0" smtClean="0">
                <a:solidFill>
                  <a:schemeClr val="bg1"/>
                </a:solidFill>
                <a:latin typeface="Candara" panose="020E0502030303020204" pitchFamily="34" charset="0"/>
              </a:rPr>
              <a:t>	workers </a:t>
            </a:r>
            <a:r>
              <a:rPr lang="en-US" sz="3600" dirty="0">
                <a:solidFill>
                  <a:schemeClr val="bg1"/>
                </a:solidFill>
                <a:latin typeface="Candara" panose="020E0502030303020204" pitchFamily="34" charset="0"/>
              </a:rPr>
              <a:t>and the village people. Respect 	and trust for </a:t>
            </a:r>
            <a:r>
              <a:rPr lang="en-US" sz="3600" dirty="0" smtClean="0">
                <a:solidFill>
                  <a:schemeClr val="bg1"/>
                </a:solidFill>
                <a:latin typeface="Candara" panose="020E0502030303020204" pitchFamily="34" charset="0"/>
              </a:rPr>
              <a:t>	each </a:t>
            </a:r>
            <a:r>
              <a:rPr lang="en-US" sz="3600" dirty="0">
                <a:solidFill>
                  <a:schemeClr val="bg1"/>
                </a:solidFill>
                <a:latin typeface="Candara" panose="020E0502030303020204" pitchFamily="34" charset="0"/>
              </a:rPr>
              <a:t>other, sharing of joys and 	sorrows, results in </a:t>
            </a:r>
            <a:r>
              <a:rPr lang="en-US" sz="3600" dirty="0" smtClean="0">
                <a:solidFill>
                  <a:schemeClr val="bg1"/>
                </a:solidFill>
                <a:latin typeface="Candara" panose="020E0502030303020204" pitchFamily="34" charset="0"/>
              </a:rPr>
              <a:t>	friendship </a:t>
            </a:r>
            <a:r>
              <a:rPr lang="en-US" sz="3600" dirty="0">
                <a:solidFill>
                  <a:schemeClr val="bg1"/>
                </a:solidFill>
                <a:latin typeface="Candara" panose="020E0502030303020204" pitchFamily="34" charset="0"/>
              </a:rPr>
              <a:t>thru which village 	extension work continues.</a:t>
            </a:r>
          </a:p>
          <a:p>
            <a:endParaRPr lang="en-PH" sz="36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19440721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361" y="143229"/>
            <a:ext cx="9404723" cy="869645"/>
          </a:xfrm>
        </p:spPr>
        <p:txBody>
          <a:bodyPr/>
          <a:lstStyle/>
          <a:p>
            <a:pPr algn="ctr"/>
            <a:r>
              <a:rPr lang="en-PH" dirty="0" smtClean="0">
                <a:solidFill>
                  <a:schemeClr val="accent1">
                    <a:lumMod val="75000"/>
                  </a:schemeClr>
                </a:solidFill>
                <a:latin typeface="Candara" panose="020E0502030303020204" pitchFamily="34" charset="0"/>
              </a:rPr>
              <a:t>12 Meanings of Extension </a:t>
            </a:r>
            <a:endParaRPr lang="en-PH"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864162" y="1012874"/>
            <a:ext cx="10994903" cy="4195481"/>
          </a:xfrm>
        </p:spPr>
        <p:txBody>
          <a:bodyPr>
            <a:noAutofit/>
          </a:bodyPr>
          <a:lstStyle/>
          <a:p>
            <a:pPr marL="0" indent="0">
              <a:buNone/>
            </a:pPr>
            <a:r>
              <a:rPr lang="en-US" sz="3600" dirty="0" smtClean="0">
                <a:solidFill>
                  <a:schemeClr val="bg1"/>
                </a:solidFill>
                <a:latin typeface="Candara" panose="020E0502030303020204" pitchFamily="34" charset="0"/>
              </a:rPr>
              <a:t>11. Extension is a two-way channel – it brings 	scientific 	information to the village people and it also takes the 	problems of the 	village people to the scientific 	institutes for solutions.</a:t>
            </a:r>
          </a:p>
          <a:p>
            <a:pPr marL="0" indent="0">
              <a:buNone/>
            </a:pPr>
            <a:endParaRPr lang="en-US" sz="3600" dirty="0" smtClean="0">
              <a:solidFill>
                <a:schemeClr val="bg1"/>
              </a:solidFill>
              <a:latin typeface="Candara" panose="020E0502030303020204" pitchFamily="34" charset="0"/>
            </a:endParaRPr>
          </a:p>
          <a:p>
            <a:pPr marL="0" indent="0">
              <a:buNone/>
            </a:pPr>
            <a:r>
              <a:rPr lang="en-US" sz="3600" dirty="0" smtClean="0">
                <a:solidFill>
                  <a:schemeClr val="bg1"/>
                </a:solidFill>
                <a:latin typeface="Candara" panose="020E0502030303020204" pitchFamily="34" charset="0"/>
              </a:rPr>
              <a:t>12. Extension is a continuous educational 	process which 	both learners and teacher 	contribute and receive.</a:t>
            </a:r>
          </a:p>
          <a:p>
            <a:endParaRPr lang="en-PH" sz="36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967187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0578" y="140677"/>
            <a:ext cx="9404723" cy="783654"/>
          </a:xfrm>
        </p:spPr>
        <p:txBody>
          <a:bodyPr/>
          <a:lstStyle/>
          <a:p>
            <a:r>
              <a:rPr lang="en-PH" dirty="0" smtClean="0">
                <a:solidFill>
                  <a:schemeClr val="bg1"/>
                </a:solidFill>
                <a:latin typeface="Candara" panose="020E0502030303020204" pitchFamily="34" charset="0"/>
              </a:rPr>
              <a:t>Meaning of Extension in Other </a:t>
            </a:r>
            <a:r>
              <a:rPr lang="en-PH" dirty="0">
                <a:solidFill>
                  <a:schemeClr val="bg1"/>
                </a:solidFill>
                <a:latin typeface="Candara" panose="020E0502030303020204" pitchFamily="34" charset="0"/>
              </a:rPr>
              <a:t>C</a:t>
            </a:r>
            <a:r>
              <a:rPr lang="en-PH" dirty="0" smtClean="0">
                <a:solidFill>
                  <a:schemeClr val="bg1"/>
                </a:solidFill>
                <a:latin typeface="Candara" panose="020E0502030303020204" pitchFamily="34" charset="0"/>
              </a:rPr>
              <a:t>ountries</a:t>
            </a:r>
            <a:endParaRPr lang="en-PH" dirty="0">
              <a:solidFill>
                <a:schemeClr val="bg1"/>
              </a:solidFill>
              <a:latin typeface="Candara" panose="020E0502030303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68225646"/>
              </p:ext>
            </p:extLst>
          </p:nvPr>
        </p:nvGraphicFramePr>
        <p:xfrm>
          <a:off x="401857" y="1092747"/>
          <a:ext cx="10970189" cy="5339080"/>
        </p:xfrm>
        <a:graphic>
          <a:graphicData uri="http://schemas.openxmlformats.org/drawingml/2006/table">
            <a:tbl>
              <a:tblPr firstRow="1" bandRow="1">
                <a:tableStyleId>{073A0DAA-6AF3-43AB-8588-CEC1D06C72B9}</a:tableStyleId>
              </a:tblPr>
              <a:tblGrid>
                <a:gridCol w="2820906"/>
                <a:gridCol w="1671209"/>
                <a:gridCol w="6478074"/>
              </a:tblGrid>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TERM </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COUNTRY</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MEANING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VOORLICHTING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Netherlands</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Lighting the path ahead to help people find their way</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PENYULUHAN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Indonesia</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Lighting ahead the way with a torch</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PERKEMBANGAN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Malaysia</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Education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BERATUNG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Germany</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Advisory work</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AUFKLARUNG</a:t>
                      </a: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r>
                        <a:rPr lang="en-PH" sz="1800" dirty="0" smtClean="0">
                          <a:latin typeface="Tahoma" panose="020B0604030504040204" pitchFamily="34" charset="0"/>
                          <a:ea typeface="Tahoma" panose="020B0604030504040204" pitchFamily="34" charset="0"/>
                          <a:cs typeface="Tahoma" panose="020B0604030504040204" pitchFamily="34" charset="0"/>
                        </a:rPr>
                        <a:t>ERZEIHUNG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Germany</a:t>
                      </a: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endParaRPr lang="en-PH" sz="1800" dirty="0" smtClean="0">
                        <a:latin typeface="Tahoma" panose="020B0604030504040204" pitchFamily="34" charset="0"/>
                        <a:ea typeface="Tahoma" panose="020B0604030504040204" pitchFamily="34" charset="0"/>
                        <a:cs typeface="Tahoma" panose="020B0604030504040204" pitchFamily="34" charset="0"/>
                      </a:endParaRPr>
                    </a:p>
                    <a:p>
                      <a:pPr algn="ctr"/>
                      <a:r>
                        <a:rPr lang="en-PH" sz="1800" dirty="0" smtClean="0">
                          <a:latin typeface="Tahoma" panose="020B0604030504040204" pitchFamily="34" charset="0"/>
                          <a:ea typeface="Tahoma" panose="020B0604030504040204" pitchFamily="34" charset="0"/>
                          <a:cs typeface="Tahoma" panose="020B0604030504040204" pitchFamily="34" charset="0"/>
                        </a:rPr>
                        <a:t>Germany </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Enlightenment so that one knows</a:t>
                      </a:r>
                      <a:r>
                        <a:rPr lang="en-PH" sz="1800" baseline="0" dirty="0" smtClean="0">
                          <a:latin typeface="Tahoma" panose="020B0604030504040204" pitchFamily="34" charset="0"/>
                          <a:ea typeface="Tahoma" panose="020B0604030504040204" pitchFamily="34" charset="0"/>
                          <a:cs typeface="Tahoma" panose="020B0604030504040204" pitchFamily="34" charset="0"/>
                        </a:rPr>
                        <a:t> clearly where he/she is going</a:t>
                      </a:r>
                    </a:p>
                    <a:p>
                      <a:endParaRPr lang="en-PH" sz="1800" baseline="0" dirty="0" smtClean="0">
                        <a:latin typeface="Tahoma" panose="020B0604030504040204" pitchFamily="34" charset="0"/>
                        <a:ea typeface="Tahoma" panose="020B0604030504040204" pitchFamily="34" charset="0"/>
                        <a:cs typeface="Tahoma" panose="020B0604030504040204" pitchFamily="34" charset="0"/>
                      </a:endParaRPr>
                    </a:p>
                    <a:p>
                      <a:r>
                        <a:rPr lang="en-PH" sz="1800" baseline="0" dirty="0" smtClean="0">
                          <a:latin typeface="Tahoma" panose="020B0604030504040204" pitchFamily="34" charset="0"/>
                          <a:ea typeface="Tahoma" panose="020B0604030504040204" pitchFamily="34" charset="0"/>
                          <a:cs typeface="Tahoma" panose="020B0604030504040204" pitchFamily="34" charset="0"/>
                        </a:rPr>
                        <a:t>Education, to teach people to solve their problems themselves.</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CAPACITACION</a:t>
                      </a:r>
                      <a:r>
                        <a:rPr lang="en-PH" sz="1800" baseline="0" dirty="0" smtClean="0">
                          <a:latin typeface="Tahoma" panose="020B0604030504040204" pitchFamily="34" charset="0"/>
                          <a:ea typeface="Tahoma" panose="020B0604030504040204" pitchFamily="34" charset="0"/>
                          <a:cs typeface="Tahoma" panose="020B0604030504040204" pitchFamily="34" charset="0"/>
                        </a:rPr>
                        <a:t> CONSULTACION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Spain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Capacitate</a:t>
                      </a:r>
                      <a:r>
                        <a:rPr lang="en-PH" sz="1800" baseline="0" dirty="0" smtClean="0">
                          <a:latin typeface="Tahoma" panose="020B0604030504040204" pitchFamily="34" charset="0"/>
                          <a:ea typeface="Tahoma" panose="020B0604030504040204" pitchFamily="34" charset="0"/>
                          <a:cs typeface="Tahoma" panose="020B0604030504040204" pitchFamily="34" charset="0"/>
                        </a:rPr>
                        <a:t> people’s ability through training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FORDERUNG</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Austria</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Furthering or stimulating one to go in a desirable direction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VULGARISATION ANIMATION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France</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Simplification of the message for the common man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r h="370840">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EXTENSION</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en-PH" sz="1800" dirty="0" smtClean="0">
                          <a:latin typeface="Tahoma" panose="020B0604030504040204" pitchFamily="34" charset="0"/>
                          <a:ea typeface="Tahoma" panose="020B0604030504040204" pitchFamily="34" charset="0"/>
                          <a:cs typeface="Tahoma" panose="020B0604030504040204" pitchFamily="34" charset="0"/>
                        </a:rPr>
                        <a:t>USA</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r>
                        <a:rPr lang="en-PH" sz="1800" dirty="0" smtClean="0">
                          <a:latin typeface="Tahoma" panose="020B0604030504040204" pitchFamily="34" charset="0"/>
                          <a:ea typeface="Tahoma" panose="020B0604030504040204" pitchFamily="34" charset="0"/>
                          <a:cs typeface="Tahoma" panose="020B0604030504040204" pitchFamily="34" charset="0"/>
                        </a:rPr>
                        <a:t>Education, influencing</a:t>
                      </a:r>
                      <a:r>
                        <a:rPr lang="en-PH" sz="1800" baseline="0" dirty="0" smtClean="0">
                          <a:latin typeface="Tahoma" panose="020B0604030504040204" pitchFamily="34" charset="0"/>
                          <a:ea typeface="Tahoma" panose="020B0604030504040204" pitchFamily="34" charset="0"/>
                          <a:cs typeface="Tahoma" panose="020B0604030504040204" pitchFamily="34" charset="0"/>
                        </a:rPr>
                        <a:t> people to change their behaviour.</a:t>
                      </a:r>
                      <a:endParaRPr lang="en-PH" sz="1800" dirty="0">
                        <a:latin typeface="Tahoma" panose="020B0604030504040204" pitchFamily="34" charset="0"/>
                        <a:ea typeface="Tahoma" panose="020B0604030504040204" pitchFamily="34" charset="0"/>
                        <a:cs typeface="Tahoma" panose="020B0604030504040204" pitchFamily="34" charset="0"/>
                      </a:endParaRPr>
                    </a:p>
                  </a:txBody>
                  <a:tcPr/>
                </a:tc>
              </a:tr>
            </a:tbl>
          </a:graphicData>
        </a:graphic>
      </p:graphicFrame>
    </p:spTree>
    <p:extLst>
      <p:ext uri="{BB962C8B-B14F-4D97-AF65-F5344CB8AC3E}">
        <p14:creationId xmlns:p14="http://schemas.microsoft.com/office/powerpoint/2010/main" val="13044658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4502" y="342976"/>
            <a:ext cx="9404723" cy="992489"/>
          </a:xfrm>
        </p:spPr>
        <p:txBody>
          <a:bodyPr/>
          <a:lstStyle/>
          <a:p>
            <a:pPr algn="ctr"/>
            <a:r>
              <a:rPr lang="en-PH" sz="5400" b="1" dirty="0" smtClean="0">
                <a:solidFill>
                  <a:schemeClr val="accent1">
                    <a:lumMod val="75000"/>
                  </a:schemeClr>
                </a:solidFill>
                <a:latin typeface="Candara" panose="020E0502030303020204" pitchFamily="34" charset="0"/>
              </a:rPr>
              <a:t>Education Concepts</a:t>
            </a:r>
            <a:endParaRPr lang="en-PH" sz="5400" b="1" dirty="0">
              <a:solidFill>
                <a:schemeClr val="accent1">
                  <a:lumMod val="75000"/>
                </a:schemeClr>
              </a:solidFill>
              <a:latin typeface="Candara" panose="020E0502030303020204" pitchFamily="34" charset="0"/>
            </a:endParaRPr>
          </a:p>
        </p:txBody>
      </p:sp>
      <p:sp>
        <p:nvSpPr>
          <p:cNvPr id="3" name="Content Placeholder 2"/>
          <p:cNvSpPr>
            <a:spLocks noGrp="1"/>
          </p:cNvSpPr>
          <p:nvPr>
            <p:ph idx="1"/>
          </p:nvPr>
        </p:nvSpPr>
        <p:spPr>
          <a:xfrm>
            <a:off x="807165" y="1580164"/>
            <a:ext cx="11037106" cy="4195481"/>
          </a:xfrm>
        </p:spPr>
        <p:txBody>
          <a:bodyPr>
            <a:normAutofit/>
          </a:bodyPr>
          <a:lstStyle/>
          <a:p>
            <a:r>
              <a:rPr lang="en-PH" sz="4000" dirty="0" smtClean="0">
                <a:solidFill>
                  <a:schemeClr val="bg1"/>
                </a:solidFill>
                <a:latin typeface="Candara" panose="020E0502030303020204" pitchFamily="34" charset="0"/>
              </a:rPr>
              <a:t>Is conceived as a </a:t>
            </a:r>
            <a:r>
              <a:rPr lang="en-PH" sz="4000" i="1" dirty="0" smtClean="0">
                <a:solidFill>
                  <a:srgbClr val="0070C0"/>
                </a:solidFill>
                <a:latin typeface="Candara" panose="020E0502030303020204" pitchFamily="34" charset="0"/>
              </a:rPr>
              <a:t>lifelong process of learning.</a:t>
            </a:r>
          </a:p>
          <a:p>
            <a:r>
              <a:rPr lang="en-PH" sz="4000" dirty="0" smtClean="0">
                <a:solidFill>
                  <a:schemeClr val="bg1"/>
                </a:solidFill>
                <a:latin typeface="Candara" panose="020E0502030303020204" pitchFamily="34" charset="0"/>
              </a:rPr>
              <a:t>A continuing process of bringing about </a:t>
            </a:r>
            <a:r>
              <a:rPr lang="en-PH" sz="4000" i="1" dirty="0" smtClean="0">
                <a:solidFill>
                  <a:srgbClr val="0070C0"/>
                </a:solidFill>
                <a:latin typeface="Candara" panose="020E0502030303020204" pitchFamily="34" charset="0"/>
              </a:rPr>
              <a:t>desirable changes in the behaviour</a:t>
            </a:r>
            <a:r>
              <a:rPr lang="en-PH" sz="4000" i="1" dirty="0" smtClean="0">
                <a:latin typeface="Candara" panose="020E0502030303020204" pitchFamily="34" charset="0"/>
              </a:rPr>
              <a:t> </a:t>
            </a:r>
            <a:r>
              <a:rPr lang="en-PH" sz="4000" dirty="0" smtClean="0">
                <a:solidFill>
                  <a:schemeClr val="bg1"/>
                </a:solidFill>
                <a:latin typeface="Candara" panose="020E0502030303020204" pitchFamily="34" charset="0"/>
              </a:rPr>
              <a:t>of  people include increased knowledge, new skills or better attitudes.</a:t>
            </a:r>
          </a:p>
          <a:p>
            <a:r>
              <a:rPr lang="en-PH" sz="4000" dirty="0" smtClean="0">
                <a:solidFill>
                  <a:schemeClr val="bg1"/>
                </a:solidFill>
                <a:latin typeface="Candara" panose="020E0502030303020204" pitchFamily="34" charset="0"/>
              </a:rPr>
              <a:t>It involves a variety of </a:t>
            </a:r>
            <a:r>
              <a:rPr lang="en-PH" sz="4000" i="1" dirty="0" smtClean="0">
                <a:solidFill>
                  <a:srgbClr val="0070C0"/>
                </a:solidFill>
                <a:latin typeface="Candara" panose="020E0502030303020204" pitchFamily="34" charset="0"/>
              </a:rPr>
              <a:t>methods and sources.</a:t>
            </a:r>
          </a:p>
          <a:p>
            <a:pPr marL="0" indent="0">
              <a:buNone/>
            </a:pPr>
            <a:endParaRPr lang="en-PH" sz="4000" dirty="0">
              <a:latin typeface="Candara" panose="020E0502030303020204" pitchFamily="34" charset="0"/>
            </a:endParaRPr>
          </a:p>
        </p:txBody>
      </p:sp>
    </p:spTree>
    <p:extLst>
      <p:ext uri="{BB962C8B-B14F-4D97-AF65-F5344CB8AC3E}">
        <p14:creationId xmlns:p14="http://schemas.microsoft.com/office/powerpoint/2010/main" val="5494083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2" y="213567"/>
            <a:ext cx="9404723" cy="785239"/>
          </a:xfrm>
        </p:spPr>
        <p:txBody>
          <a:bodyPr/>
          <a:lstStyle/>
          <a:p>
            <a:r>
              <a:rPr lang="en-PH" dirty="0" smtClean="0">
                <a:solidFill>
                  <a:schemeClr val="bg1">
                    <a:lumMod val="95000"/>
                    <a:lumOff val="5000"/>
                  </a:schemeClr>
                </a:solidFill>
                <a:latin typeface="Candara" panose="020E0502030303020204" pitchFamily="34" charset="0"/>
              </a:rPr>
              <a:t>Different Behavioural Change to a Client</a:t>
            </a:r>
            <a:endParaRPr lang="en-PH" dirty="0">
              <a:solidFill>
                <a:schemeClr val="bg1">
                  <a:lumMod val="95000"/>
                  <a:lumOff val="5000"/>
                </a:schemeClr>
              </a:solidFill>
              <a:latin typeface="Candara" panose="020E0502030303020204" pitchFamily="34" charset="0"/>
            </a:endParaRPr>
          </a:p>
        </p:txBody>
      </p:sp>
      <p:sp>
        <p:nvSpPr>
          <p:cNvPr id="3" name="Content Placeholder 2"/>
          <p:cNvSpPr>
            <a:spLocks noGrp="1"/>
          </p:cNvSpPr>
          <p:nvPr>
            <p:ph idx="1"/>
          </p:nvPr>
        </p:nvSpPr>
        <p:spPr>
          <a:xfrm>
            <a:off x="737551" y="1441938"/>
            <a:ext cx="10586941" cy="5401994"/>
          </a:xfrm>
        </p:spPr>
        <p:txBody>
          <a:bodyPr>
            <a:normAutofit/>
          </a:bodyPr>
          <a:lstStyle/>
          <a:p>
            <a:pPr marL="0" indent="0">
              <a:buNone/>
            </a:pPr>
            <a:r>
              <a:rPr lang="en-PH" sz="3200" b="1" dirty="0" smtClean="0">
                <a:solidFill>
                  <a:schemeClr val="bg1">
                    <a:lumMod val="95000"/>
                    <a:lumOff val="5000"/>
                  </a:schemeClr>
                </a:solidFill>
                <a:latin typeface="Candara" panose="020E0502030303020204" pitchFamily="34" charset="0"/>
              </a:rPr>
              <a:t>AFFECTIVE SKILL- </a:t>
            </a:r>
            <a:r>
              <a:rPr lang="en-PH" sz="3200" dirty="0" smtClean="0">
                <a:solidFill>
                  <a:schemeClr val="bg1">
                    <a:lumMod val="95000"/>
                    <a:lumOff val="5000"/>
                  </a:schemeClr>
                </a:solidFill>
                <a:latin typeface="Candara" panose="020E0502030303020204" pitchFamily="34" charset="0"/>
              </a:rPr>
              <a:t>influencing feelings or emotions</a:t>
            </a:r>
            <a:endParaRPr lang="en-PH" sz="3200" dirty="0">
              <a:solidFill>
                <a:schemeClr val="bg1">
                  <a:lumMod val="95000"/>
                  <a:lumOff val="5000"/>
                </a:schemeClr>
              </a:solidFill>
              <a:latin typeface="Candara" panose="020E0502030303020204" pitchFamily="34" charset="0"/>
            </a:endParaRPr>
          </a:p>
          <a:p>
            <a:pPr marL="0" indent="0">
              <a:buNone/>
            </a:pPr>
            <a:r>
              <a:rPr lang="en-PH" sz="3200" b="1" dirty="0" smtClean="0">
                <a:solidFill>
                  <a:schemeClr val="bg1">
                    <a:lumMod val="95000"/>
                    <a:lumOff val="5000"/>
                  </a:schemeClr>
                </a:solidFill>
                <a:latin typeface="Candara" panose="020E0502030303020204" pitchFamily="34" charset="0"/>
              </a:rPr>
              <a:t>PSYCHOMOTOR SKILL- </a:t>
            </a:r>
            <a:r>
              <a:rPr lang="en-PH" sz="3200" dirty="0" smtClean="0">
                <a:solidFill>
                  <a:schemeClr val="bg1">
                    <a:lumMod val="95000"/>
                    <a:lumOff val="5000"/>
                  </a:schemeClr>
                </a:solidFill>
                <a:latin typeface="Candara" panose="020E0502030303020204" pitchFamily="34" charset="0"/>
              </a:rPr>
              <a:t>motor action directly proceeding 	from mental activity</a:t>
            </a:r>
          </a:p>
          <a:p>
            <a:pPr marL="0" indent="0">
              <a:buNone/>
            </a:pPr>
            <a:r>
              <a:rPr lang="en-PH" sz="3200" b="1" dirty="0" smtClean="0">
                <a:solidFill>
                  <a:schemeClr val="bg1">
                    <a:lumMod val="95000"/>
                    <a:lumOff val="5000"/>
                  </a:schemeClr>
                </a:solidFill>
                <a:latin typeface="Candara" panose="020E0502030303020204" pitchFamily="34" charset="0"/>
              </a:rPr>
              <a:t>COGNITIVE SKILL</a:t>
            </a:r>
            <a:r>
              <a:rPr lang="en-PH" sz="3200" dirty="0" smtClean="0">
                <a:solidFill>
                  <a:schemeClr val="bg1">
                    <a:lumMod val="95000"/>
                    <a:lumOff val="5000"/>
                  </a:schemeClr>
                </a:solidFill>
                <a:latin typeface="Candara" panose="020E0502030303020204" pitchFamily="34" charset="0"/>
              </a:rPr>
              <a:t>- involving conscious mental activities such 	as thinking, understanding, learning and remembering</a:t>
            </a:r>
          </a:p>
          <a:p>
            <a:pPr marL="0" indent="0">
              <a:buNone/>
            </a:pPr>
            <a:r>
              <a:rPr lang="en-PH" sz="3200" b="1" dirty="0" smtClean="0">
                <a:solidFill>
                  <a:schemeClr val="bg1">
                    <a:lumMod val="95000"/>
                    <a:lumOff val="5000"/>
                  </a:schemeClr>
                </a:solidFill>
                <a:latin typeface="Candara" panose="020E0502030303020204" pitchFamily="34" charset="0"/>
              </a:rPr>
              <a:t>INTELLECTUAL SKILLS- </a:t>
            </a:r>
            <a:r>
              <a:rPr lang="en-PH" sz="3200" dirty="0" smtClean="0">
                <a:solidFill>
                  <a:schemeClr val="bg1">
                    <a:lumMod val="95000"/>
                    <a:lumOff val="5000"/>
                  </a:schemeClr>
                </a:solidFill>
                <a:latin typeface="Candara" panose="020E0502030303020204" pitchFamily="34" charset="0"/>
              </a:rPr>
              <a:t>rational thinking, or ability to think in 	a logical way</a:t>
            </a:r>
            <a:endParaRPr lang="en-PH" sz="3200" dirty="0">
              <a:solidFill>
                <a:schemeClr val="bg1">
                  <a:lumMod val="95000"/>
                  <a:lumOff val="5000"/>
                </a:schemeClr>
              </a:solidFill>
              <a:latin typeface="Candara" panose="020E0502030303020204" pitchFamily="34" charset="0"/>
            </a:endParaRPr>
          </a:p>
        </p:txBody>
      </p:sp>
    </p:spTree>
    <p:extLst>
      <p:ext uri="{BB962C8B-B14F-4D97-AF65-F5344CB8AC3E}">
        <p14:creationId xmlns:p14="http://schemas.microsoft.com/office/powerpoint/2010/main" val="3046041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610"/>
            <a:ext cx="9404723" cy="658629"/>
          </a:xfrm>
        </p:spPr>
        <p:txBody>
          <a:bodyPr/>
          <a:lstStyle/>
          <a:p>
            <a:r>
              <a:rPr lang="en-PH" sz="3200" i="1" dirty="0" smtClean="0">
                <a:solidFill>
                  <a:schemeClr val="tx1"/>
                </a:solidFill>
                <a:latin typeface="Candara" panose="020E0502030303020204" pitchFamily="34" charset="0"/>
              </a:rPr>
              <a:t>Education Concepts</a:t>
            </a:r>
            <a:endParaRPr lang="en-PH" sz="3200" i="1" dirty="0">
              <a:solidFill>
                <a:schemeClr val="tx1"/>
              </a:solidFill>
              <a:latin typeface="Candara" panose="020E0502030303020204" pitchFamily="34" charset="0"/>
            </a:endParaRPr>
          </a:p>
        </p:txBody>
      </p:sp>
      <p:sp>
        <p:nvSpPr>
          <p:cNvPr id="4" name="Title 1"/>
          <p:cNvSpPr>
            <a:spLocks noGrp="1"/>
          </p:cNvSpPr>
          <p:nvPr>
            <p:ph idx="1"/>
          </p:nvPr>
        </p:nvSpPr>
        <p:spPr>
          <a:xfrm>
            <a:off x="1477670" y="653019"/>
            <a:ext cx="9030895" cy="1239300"/>
          </a:xfrm>
        </p:spPr>
        <p:txBody>
          <a:bodyPr>
            <a:normAutofit/>
          </a:bodyPr>
          <a:lstStyle/>
          <a:p>
            <a:pPr marL="0" indent="0" algn="ctr">
              <a:buNone/>
            </a:pPr>
            <a:r>
              <a:rPr lang="en-PH" sz="4400" dirty="0" smtClean="0">
                <a:solidFill>
                  <a:schemeClr val="bg1"/>
                </a:solidFill>
                <a:latin typeface="Candara" panose="020E0502030303020204" pitchFamily="34" charset="0"/>
              </a:rPr>
              <a:t>Three Modes of Education</a:t>
            </a:r>
            <a:endParaRPr lang="en-PH" sz="4400" dirty="0">
              <a:solidFill>
                <a:schemeClr val="bg1"/>
              </a:solidFill>
              <a:latin typeface="Candara" panose="020E0502030303020204" pitchFamily="34" charset="0"/>
            </a:endParaRPr>
          </a:p>
        </p:txBody>
      </p:sp>
      <p:sp>
        <p:nvSpPr>
          <p:cNvPr id="5" name="Content Placeholder 2"/>
          <p:cNvSpPr txBox="1">
            <a:spLocks/>
          </p:cNvSpPr>
          <p:nvPr/>
        </p:nvSpPr>
        <p:spPr>
          <a:xfrm>
            <a:off x="807890" y="1644955"/>
            <a:ext cx="11163716"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PH" sz="3200" b="1" dirty="0" smtClean="0">
                <a:solidFill>
                  <a:schemeClr val="accent1">
                    <a:lumMod val="75000"/>
                  </a:schemeClr>
                </a:solidFill>
                <a:latin typeface="Candara" panose="020E0502030303020204" pitchFamily="34" charset="0"/>
              </a:rPr>
              <a:t>Informal Education</a:t>
            </a:r>
          </a:p>
          <a:p>
            <a:r>
              <a:rPr lang="en-PH" sz="3200" dirty="0" smtClean="0">
                <a:solidFill>
                  <a:schemeClr val="bg1"/>
                </a:solidFill>
                <a:latin typeface="Candara" panose="020E0502030303020204" pitchFamily="34" charset="0"/>
              </a:rPr>
              <a:t>a lifelong process by which every person acquires and accumulate knowledge, skills, attitudes and insights from daily experiences and exposure to the environment….at home, at work, at play, etc…</a:t>
            </a:r>
          </a:p>
          <a:p>
            <a:r>
              <a:rPr lang="en-PH" sz="3200" dirty="0" smtClean="0">
                <a:solidFill>
                  <a:schemeClr val="bg1"/>
                </a:solidFill>
                <a:latin typeface="Candara" panose="020E0502030303020204" pitchFamily="34" charset="0"/>
              </a:rPr>
              <a:t>unorganized and often unsystematic, yet it accounts for the great bulk of any person’s total lifetime learning</a:t>
            </a:r>
          </a:p>
        </p:txBody>
      </p:sp>
    </p:spTree>
    <p:extLst>
      <p:ext uri="{BB962C8B-B14F-4D97-AF65-F5344CB8AC3E}">
        <p14:creationId xmlns:p14="http://schemas.microsoft.com/office/powerpoint/2010/main" val="35723510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610"/>
            <a:ext cx="9404723" cy="658629"/>
          </a:xfrm>
        </p:spPr>
        <p:txBody>
          <a:bodyPr/>
          <a:lstStyle/>
          <a:p>
            <a:r>
              <a:rPr lang="en-PH" sz="3200" i="1" dirty="0" smtClean="0">
                <a:solidFill>
                  <a:schemeClr val="tx1"/>
                </a:solidFill>
                <a:latin typeface="Candara" panose="020E0502030303020204" pitchFamily="34" charset="0"/>
              </a:rPr>
              <a:t>Education Concepts</a:t>
            </a:r>
            <a:endParaRPr lang="en-PH" sz="3200" i="1" dirty="0">
              <a:solidFill>
                <a:schemeClr val="tx1"/>
              </a:solidFill>
              <a:latin typeface="Candara" panose="020E0502030303020204" pitchFamily="34" charset="0"/>
            </a:endParaRPr>
          </a:p>
        </p:txBody>
      </p:sp>
      <p:sp>
        <p:nvSpPr>
          <p:cNvPr id="4" name="Title 1"/>
          <p:cNvSpPr>
            <a:spLocks noGrp="1"/>
          </p:cNvSpPr>
          <p:nvPr>
            <p:ph idx="1"/>
          </p:nvPr>
        </p:nvSpPr>
        <p:spPr>
          <a:xfrm>
            <a:off x="1477670" y="653019"/>
            <a:ext cx="9030895" cy="1239300"/>
          </a:xfrm>
        </p:spPr>
        <p:txBody>
          <a:bodyPr>
            <a:normAutofit/>
          </a:bodyPr>
          <a:lstStyle/>
          <a:p>
            <a:pPr marL="0" indent="0" algn="ctr">
              <a:buNone/>
            </a:pPr>
            <a:r>
              <a:rPr lang="en-PH" sz="4400" dirty="0" smtClean="0">
                <a:solidFill>
                  <a:schemeClr val="bg1"/>
                </a:solidFill>
                <a:latin typeface="Candara" panose="020E0502030303020204" pitchFamily="34" charset="0"/>
              </a:rPr>
              <a:t>Three Modes of Education</a:t>
            </a:r>
            <a:endParaRPr lang="en-PH" sz="4400" dirty="0">
              <a:solidFill>
                <a:schemeClr val="bg1"/>
              </a:solidFill>
              <a:latin typeface="Candara" panose="020E0502030303020204" pitchFamily="34" charset="0"/>
            </a:endParaRPr>
          </a:p>
        </p:txBody>
      </p:sp>
      <p:sp>
        <p:nvSpPr>
          <p:cNvPr id="5" name="Content Placeholder 2"/>
          <p:cNvSpPr txBox="1">
            <a:spLocks/>
          </p:cNvSpPr>
          <p:nvPr/>
        </p:nvSpPr>
        <p:spPr>
          <a:xfrm>
            <a:off x="667213" y="1433940"/>
            <a:ext cx="11163716" cy="50512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PH" sz="3200" b="1" dirty="0" smtClean="0">
                <a:solidFill>
                  <a:schemeClr val="accent1">
                    <a:lumMod val="75000"/>
                  </a:schemeClr>
                </a:solidFill>
                <a:latin typeface="Candara" panose="020E0502030303020204" pitchFamily="34" charset="0"/>
              </a:rPr>
              <a:t>Formal Education</a:t>
            </a:r>
          </a:p>
          <a:p>
            <a:r>
              <a:rPr lang="en-PH" sz="3200" dirty="0" smtClean="0">
                <a:solidFill>
                  <a:schemeClr val="bg1"/>
                </a:solidFill>
                <a:latin typeface="Candara" panose="020E0502030303020204" pitchFamily="34" charset="0"/>
              </a:rPr>
              <a:t>Highly institutionalized, chronologically graded and hierarchically structured “Education system” starting from primary and reaching the university education</a:t>
            </a:r>
          </a:p>
          <a:p>
            <a:pPr marL="0" indent="0">
              <a:buNone/>
            </a:pPr>
            <a:r>
              <a:rPr lang="en-PH" sz="3200" b="1" dirty="0" smtClean="0">
                <a:solidFill>
                  <a:schemeClr val="accent1">
                    <a:lumMod val="75000"/>
                  </a:schemeClr>
                </a:solidFill>
                <a:latin typeface="Candara" panose="020E0502030303020204" pitchFamily="34" charset="0"/>
              </a:rPr>
              <a:t>Non-Formal Education</a:t>
            </a:r>
          </a:p>
          <a:p>
            <a:r>
              <a:rPr lang="en-PH" sz="3200" dirty="0" smtClean="0">
                <a:solidFill>
                  <a:schemeClr val="bg1"/>
                </a:solidFill>
                <a:latin typeface="Candara" panose="020E0502030303020204" pitchFamily="34" charset="0"/>
              </a:rPr>
              <a:t>Any organized, systematic, educational activity carried on outside the framework of the formal system.</a:t>
            </a:r>
          </a:p>
          <a:p>
            <a:r>
              <a:rPr lang="en-PH" sz="3200" dirty="0" smtClean="0">
                <a:solidFill>
                  <a:schemeClr val="bg1"/>
                </a:solidFill>
                <a:latin typeface="Candara" panose="020E0502030303020204" pitchFamily="34" charset="0"/>
              </a:rPr>
              <a:t>Example is agriculture extension and farmers training program ad various community program of instruction </a:t>
            </a:r>
          </a:p>
          <a:p>
            <a:endParaRPr lang="en-PH" sz="3200" dirty="0" smtClean="0">
              <a:solidFill>
                <a:schemeClr val="bg1"/>
              </a:solidFill>
              <a:latin typeface="Candara" panose="020E0502030303020204" pitchFamily="34" charset="0"/>
            </a:endParaRPr>
          </a:p>
          <a:p>
            <a:endParaRPr lang="en-PH" sz="32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712467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610"/>
            <a:ext cx="9404723" cy="658629"/>
          </a:xfrm>
        </p:spPr>
        <p:txBody>
          <a:bodyPr/>
          <a:lstStyle/>
          <a:p>
            <a:r>
              <a:rPr lang="en-PH" sz="3200" i="1" dirty="0" smtClean="0">
                <a:solidFill>
                  <a:schemeClr val="tx1"/>
                </a:solidFill>
                <a:latin typeface="Baskerville Old Face" panose="02020602080505020303" pitchFamily="18" charset="0"/>
              </a:rPr>
              <a:t>Education Concepts</a:t>
            </a:r>
            <a:endParaRPr lang="en-PH" sz="3200" i="1" dirty="0">
              <a:solidFill>
                <a:schemeClr val="tx1"/>
              </a:solidFill>
              <a:latin typeface="Baskerville Old Face" panose="02020602080505020303" pitchFamily="18" charset="0"/>
            </a:endParaRPr>
          </a:p>
        </p:txBody>
      </p:sp>
      <p:sp>
        <p:nvSpPr>
          <p:cNvPr id="5" name="Content Placeholder 2"/>
          <p:cNvSpPr txBox="1">
            <a:spLocks/>
          </p:cNvSpPr>
          <p:nvPr/>
        </p:nvSpPr>
        <p:spPr>
          <a:xfrm>
            <a:off x="667213" y="1433940"/>
            <a:ext cx="11163716" cy="50512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endParaRPr lang="en-PH" sz="3200" dirty="0" smtClean="0">
              <a:solidFill>
                <a:schemeClr val="bg1"/>
              </a:solidFill>
              <a:latin typeface="Berlin Sans FB" panose="020E0602020502020306" pitchFamily="34" charset="0"/>
            </a:endParaRPr>
          </a:p>
        </p:txBody>
      </p:sp>
      <p:graphicFrame>
        <p:nvGraphicFramePr>
          <p:cNvPr id="6" name="Content Placeholder 3"/>
          <p:cNvGraphicFramePr>
            <a:graphicFrameLocks noGrp="1"/>
          </p:cNvGraphicFramePr>
          <p:nvPr>
            <p:ph idx="1"/>
            <p:extLst>
              <p:ext uri="{D42A27DB-BD31-4B8C-83A1-F6EECF244321}">
                <p14:modId xmlns:p14="http://schemas.microsoft.com/office/powerpoint/2010/main" val="704479775"/>
              </p:ext>
            </p:extLst>
          </p:nvPr>
        </p:nvGraphicFramePr>
        <p:xfrm>
          <a:off x="667213" y="887797"/>
          <a:ext cx="10535847" cy="5821461"/>
        </p:xfrm>
        <a:graphic>
          <a:graphicData uri="http://schemas.openxmlformats.org/drawingml/2006/table">
            <a:tbl>
              <a:tblPr firstRow="1" bandRow="1">
                <a:tableStyleId>{5C22544A-7EE6-4342-B048-85BDC9FD1C3A}</a:tableStyleId>
              </a:tblPr>
              <a:tblGrid>
                <a:gridCol w="3511949"/>
                <a:gridCol w="3511949"/>
                <a:gridCol w="3511949"/>
              </a:tblGrid>
              <a:tr h="483747">
                <a:tc>
                  <a:txBody>
                    <a:bodyPr/>
                    <a:lstStyle/>
                    <a:p>
                      <a:pPr algn="ctr"/>
                      <a:r>
                        <a:rPr lang="en-PH" sz="2400" b="0" dirty="0" smtClean="0">
                          <a:latin typeface="Berlin Sans FB" panose="020E0602020502020306" pitchFamily="34" charset="0"/>
                        </a:rPr>
                        <a:t>Basis of Comparison</a:t>
                      </a:r>
                      <a:endParaRPr lang="en-PH" sz="2400" b="0" dirty="0">
                        <a:latin typeface="Berlin Sans FB" panose="020E0602020502020306" pitchFamily="34" charset="0"/>
                      </a:endParaRPr>
                    </a:p>
                  </a:txBody>
                  <a:tcPr marT="45727" marB="45727"/>
                </a:tc>
                <a:tc>
                  <a:txBody>
                    <a:bodyPr/>
                    <a:lstStyle/>
                    <a:p>
                      <a:pPr algn="ctr"/>
                      <a:r>
                        <a:rPr lang="en-PH" sz="2400" dirty="0" smtClean="0">
                          <a:latin typeface="Berlin Sans FB" panose="020E0602020502020306" pitchFamily="34" charset="0"/>
                        </a:rPr>
                        <a:t>FORMAL</a:t>
                      </a:r>
                      <a:endParaRPr lang="en-PH" sz="2400" dirty="0">
                        <a:latin typeface="Berlin Sans FB" panose="020E0602020502020306" pitchFamily="34" charset="0"/>
                      </a:endParaRPr>
                    </a:p>
                  </a:txBody>
                  <a:tcPr marT="45727" marB="45727"/>
                </a:tc>
                <a:tc>
                  <a:txBody>
                    <a:bodyPr/>
                    <a:lstStyle/>
                    <a:p>
                      <a:pPr algn="ctr"/>
                      <a:r>
                        <a:rPr lang="en-PH" sz="2400" dirty="0" smtClean="0">
                          <a:latin typeface="Berlin Sans FB" panose="020E0602020502020306" pitchFamily="34" charset="0"/>
                        </a:rPr>
                        <a:t>NON-FORMAL</a:t>
                      </a:r>
                      <a:endParaRPr lang="en-PH" sz="2400" dirty="0">
                        <a:latin typeface="Berlin Sans FB" panose="020E0602020502020306" pitchFamily="34" charset="0"/>
                      </a:endParaRPr>
                    </a:p>
                  </a:txBody>
                  <a:tcPr marT="45727" marB="45727"/>
                </a:tc>
              </a:tr>
              <a:tr h="1405752">
                <a:tc>
                  <a:txBody>
                    <a:bodyPr/>
                    <a:lstStyle/>
                    <a:p>
                      <a:r>
                        <a:rPr lang="en-PH" sz="2400" dirty="0" smtClean="0">
                          <a:latin typeface="Berlin Sans FB" panose="020E0602020502020306" pitchFamily="34" charset="0"/>
                        </a:rPr>
                        <a:t>Educational objective</a:t>
                      </a:r>
                      <a:endParaRPr lang="en-PH" sz="2400" dirty="0">
                        <a:latin typeface="Berlin Sans FB" panose="020E0602020502020306" pitchFamily="34" charset="0"/>
                      </a:endParaRPr>
                    </a:p>
                  </a:txBody>
                  <a:tcPr marT="45727" marB="45727"/>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2400" dirty="0" smtClean="0">
                          <a:latin typeface="Berlin Sans FB" panose="020E0602020502020306" pitchFamily="34" charset="0"/>
                        </a:rPr>
                        <a:t>For future application/preparation for life</a:t>
                      </a:r>
                    </a:p>
                  </a:txBody>
                  <a:tcPr marT="45727" marB="45727"/>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2400" dirty="0" smtClean="0">
                          <a:latin typeface="Berlin Sans FB" panose="020E0602020502020306" pitchFamily="34" charset="0"/>
                        </a:rPr>
                        <a:t>Immediate application</a:t>
                      </a:r>
                    </a:p>
                    <a:p>
                      <a:endParaRPr lang="en-PH" sz="2400" dirty="0">
                        <a:latin typeface="Berlin Sans FB" panose="020E0602020502020306" pitchFamily="34" charset="0"/>
                      </a:endParaRPr>
                    </a:p>
                  </a:txBody>
                  <a:tcPr marT="45727" marB="45727"/>
                </a:tc>
              </a:tr>
              <a:tr h="751913">
                <a:tc>
                  <a:txBody>
                    <a:bodyPr/>
                    <a:lstStyle/>
                    <a:p>
                      <a:r>
                        <a:rPr lang="en-PH" sz="2400" dirty="0" smtClean="0">
                          <a:latin typeface="Berlin Sans FB" panose="020E0602020502020306" pitchFamily="34" charset="0"/>
                        </a:rPr>
                        <a:t>Audience</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Generally young</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youth</a:t>
                      </a:r>
                      <a:r>
                        <a:rPr lang="en-PH" sz="2400" baseline="0" dirty="0" smtClean="0">
                          <a:latin typeface="Berlin Sans FB" panose="020E0602020502020306" pitchFamily="34" charset="0"/>
                        </a:rPr>
                        <a:t> and adults, heterogeneous</a:t>
                      </a:r>
                      <a:endParaRPr lang="en-PH" sz="2400" dirty="0">
                        <a:latin typeface="Berlin Sans FB" panose="020E0602020502020306" pitchFamily="34" charset="0"/>
                      </a:endParaRPr>
                    </a:p>
                  </a:txBody>
                  <a:tcPr marT="45727" marB="45727"/>
                </a:tc>
              </a:tr>
              <a:tr h="1078833">
                <a:tc>
                  <a:txBody>
                    <a:bodyPr/>
                    <a:lstStyle/>
                    <a:p>
                      <a:r>
                        <a:rPr lang="en-PH" sz="2400" dirty="0" smtClean="0">
                          <a:latin typeface="Berlin Sans FB" panose="020E0602020502020306" pitchFamily="34" charset="0"/>
                        </a:rPr>
                        <a:t>Venue</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Classroom</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Where the people are, anywhere in the community</a:t>
                      </a:r>
                      <a:endParaRPr lang="en-PH" sz="2400" dirty="0">
                        <a:latin typeface="Berlin Sans FB" panose="020E0602020502020306" pitchFamily="34" charset="0"/>
                      </a:endParaRPr>
                    </a:p>
                  </a:txBody>
                  <a:tcPr marT="45727" marB="45727"/>
                </a:tc>
              </a:tr>
              <a:tr h="1732671">
                <a:tc>
                  <a:txBody>
                    <a:bodyPr/>
                    <a:lstStyle/>
                    <a:p>
                      <a:r>
                        <a:rPr lang="en-PH" sz="2400" dirty="0" smtClean="0">
                          <a:latin typeface="Berlin Sans FB" panose="020E0602020502020306" pitchFamily="34" charset="0"/>
                        </a:rPr>
                        <a:t>Sponsorship</a:t>
                      </a:r>
                    </a:p>
                    <a:p>
                      <a:endParaRPr lang="en-PH" sz="2400" dirty="0" smtClean="0">
                        <a:latin typeface="Berlin Sans FB" panose="020E0602020502020306" pitchFamily="34" charset="0"/>
                      </a:endParaRPr>
                    </a:p>
                    <a:p>
                      <a:endParaRPr lang="en-PH" sz="2400" dirty="0" smtClean="0">
                        <a:latin typeface="Berlin Sans FB" panose="020E0602020502020306" pitchFamily="34" charset="0"/>
                      </a:endParaRPr>
                    </a:p>
                    <a:p>
                      <a:r>
                        <a:rPr lang="en-PH" sz="2400" dirty="0" smtClean="0">
                          <a:latin typeface="Berlin Sans FB" panose="020E0602020502020306" pitchFamily="34" charset="0"/>
                        </a:rPr>
                        <a:t>Certification</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National government and other sources</a:t>
                      </a:r>
                    </a:p>
                    <a:p>
                      <a:endParaRPr lang="en-PH" sz="2400" dirty="0" smtClean="0">
                        <a:latin typeface="Berlin Sans FB" panose="020E0602020502020306" pitchFamily="34" charset="0"/>
                      </a:endParaRPr>
                    </a:p>
                    <a:p>
                      <a:r>
                        <a:rPr lang="en-PH" sz="2400" dirty="0" smtClean="0">
                          <a:latin typeface="Berlin Sans FB" panose="020E0602020502020306" pitchFamily="34" charset="0"/>
                        </a:rPr>
                        <a:t>Confers degree</a:t>
                      </a:r>
                      <a:r>
                        <a:rPr lang="en-PH" sz="2400" baseline="0" dirty="0" smtClean="0">
                          <a:latin typeface="Berlin Sans FB" panose="020E0602020502020306" pitchFamily="34" charset="0"/>
                        </a:rPr>
                        <a:t> and diploma</a:t>
                      </a:r>
                      <a:endParaRPr lang="en-PH" sz="2400" dirty="0">
                        <a:latin typeface="Berlin Sans FB" panose="020E0602020502020306" pitchFamily="34" charset="0"/>
                      </a:endParaRPr>
                    </a:p>
                  </a:txBody>
                  <a:tcPr marT="45727" marB="45727"/>
                </a:tc>
                <a:tc>
                  <a:txBody>
                    <a:bodyPr/>
                    <a:lstStyle/>
                    <a:p>
                      <a:r>
                        <a:rPr lang="en-PH" sz="2400" dirty="0" smtClean="0">
                          <a:latin typeface="Berlin Sans FB" panose="020E0602020502020306" pitchFamily="34" charset="0"/>
                        </a:rPr>
                        <a:t>National government and other</a:t>
                      </a:r>
                      <a:r>
                        <a:rPr lang="en-PH" sz="2400" baseline="0" dirty="0" smtClean="0">
                          <a:latin typeface="Berlin Sans FB" panose="020E0602020502020306" pitchFamily="34" charset="0"/>
                        </a:rPr>
                        <a:t> sources</a:t>
                      </a:r>
                    </a:p>
                    <a:p>
                      <a:endParaRPr lang="en-PH" sz="2400" baseline="0" dirty="0" smtClean="0">
                        <a:latin typeface="Berlin Sans FB" panose="020E0602020502020306" pitchFamily="34" charset="0"/>
                      </a:endParaRPr>
                    </a:p>
                    <a:p>
                      <a:r>
                        <a:rPr lang="en-PH" sz="2400" baseline="0" dirty="0" smtClean="0">
                          <a:latin typeface="Berlin Sans FB" panose="020E0602020502020306" pitchFamily="34" charset="0"/>
                        </a:rPr>
                        <a:t>Gives certificate</a:t>
                      </a:r>
                      <a:endParaRPr lang="en-PH" sz="2400" dirty="0">
                        <a:latin typeface="Berlin Sans FB" panose="020E0602020502020306" pitchFamily="34" charset="0"/>
                      </a:endParaRPr>
                    </a:p>
                  </a:txBody>
                  <a:tcPr marT="45727" marB="45727"/>
                </a:tc>
              </a:tr>
            </a:tbl>
          </a:graphicData>
        </a:graphic>
      </p:graphicFrame>
    </p:spTree>
    <p:extLst>
      <p:ext uri="{BB962C8B-B14F-4D97-AF65-F5344CB8AC3E}">
        <p14:creationId xmlns:p14="http://schemas.microsoft.com/office/powerpoint/2010/main" val="14944961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67" y="323929"/>
            <a:ext cx="9404723" cy="1400530"/>
          </a:xfrm>
        </p:spPr>
        <p:txBody>
          <a:bodyPr/>
          <a:lstStyle/>
          <a:p>
            <a:pPr algn="ctr"/>
            <a:r>
              <a:rPr lang="en-PH" sz="4400" b="1" dirty="0" smtClean="0">
                <a:solidFill>
                  <a:schemeClr val="bg1"/>
                </a:solidFill>
                <a:latin typeface="Candara" panose="020E0502030303020204" pitchFamily="34" charset="0"/>
              </a:rPr>
              <a:t>The guiding principle in the integration of community organizer is</a:t>
            </a:r>
            <a:endParaRPr lang="en-PH" sz="44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5"/>
            <a:ext cx="8946541" cy="4195481"/>
          </a:xfrm>
        </p:spPr>
        <p:txBody>
          <a:bodyPr>
            <a:normAutofit/>
          </a:bodyPr>
          <a:lstStyle/>
          <a:p>
            <a:r>
              <a:rPr lang="en-PH" sz="4000" dirty="0" smtClean="0">
                <a:solidFill>
                  <a:schemeClr val="accent1">
                    <a:lumMod val="50000"/>
                  </a:schemeClr>
                </a:solidFill>
                <a:latin typeface="Candara" panose="020E0502030303020204" pitchFamily="34" charset="0"/>
              </a:rPr>
              <a:t>Rapport Building</a:t>
            </a:r>
          </a:p>
          <a:p>
            <a:r>
              <a:rPr lang="en-PH" sz="4000" dirty="0" smtClean="0">
                <a:solidFill>
                  <a:schemeClr val="accent1">
                    <a:lumMod val="50000"/>
                  </a:schemeClr>
                </a:solidFill>
                <a:latin typeface="Candara" panose="020E0502030303020204" pitchFamily="34" charset="0"/>
              </a:rPr>
              <a:t>Team Building</a:t>
            </a:r>
          </a:p>
          <a:p>
            <a:r>
              <a:rPr lang="en-PH" sz="4000" dirty="0" smtClean="0">
                <a:solidFill>
                  <a:schemeClr val="accent1">
                    <a:lumMod val="50000"/>
                  </a:schemeClr>
                </a:solidFill>
                <a:latin typeface="Candara" panose="020E0502030303020204" pitchFamily="34" charset="0"/>
              </a:rPr>
              <a:t>Unification</a:t>
            </a:r>
          </a:p>
          <a:p>
            <a:r>
              <a:rPr lang="en-PH" sz="4000" dirty="0" smtClean="0">
                <a:solidFill>
                  <a:schemeClr val="accent1">
                    <a:lumMod val="50000"/>
                  </a:schemeClr>
                </a:solidFill>
                <a:latin typeface="Candara" panose="020E0502030303020204" pitchFamily="34" charset="0"/>
              </a:rPr>
              <a:t>Team work</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Rapport Building</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99558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67" y="323929"/>
            <a:ext cx="9404723" cy="1400530"/>
          </a:xfrm>
        </p:spPr>
        <p:txBody>
          <a:bodyPr/>
          <a:lstStyle/>
          <a:p>
            <a:pPr algn="ctr"/>
            <a:r>
              <a:rPr lang="en-PH" sz="4400" b="1" dirty="0" smtClean="0">
                <a:solidFill>
                  <a:schemeClr val="bg1"/>
                </a:solidFill>
                <a:latin typeface="Candara" panose="020E0502030303020204" pitchFamily="34" charset="0"/>
              </a:rPr>
              <a:t>Which is the meaning of complementation?</a:t>
            </a:r>
            <a:endParaRPr lang="en-PH" sz="44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Consortium</a:t>
            </a:r>
          </a:p>
          <a:p>
            <a:r>
              <a:rPr lang="en-PH" sz="4000" dirty="0" smtClean="0">
                <a:solidFill>
                  <a:schemeClr val="accent1">
                    <a:lumMod val="50000"/>
                  </a:schemeClr>
                </a:solidFill>
                <a:latin typeface="Candara" panose="020E0502030303020204" pitchFamily="34" charset="0"/>
              </a:rPr>
              <a:t>Partnership</a:t>
            </a:r>
          </a:p>
          <a:p>
            <a:r>
              <a:rPr lang="en-PH" sz="4000" dirty="0" smtClean="0">
                <a:solidFill>
                  <a:schemeClr val="accent1">
                    <a:lumMod val="50000"/>
                  </a:schemeClr>
                </a:solidFill>
                <a:latin typeface="Candara" panose="020E0502030303020204" pitchFamily="34" charset="0"/>
              </a:rPr>
              <a:t>Networking</a:t>
            </a:r>
          </a:p>
          <a:p>
            <a:r>
              <a:rPr lang="en-PH" sz="4000" dirty="0" smtClean="0">
                <a:solidFill>
                  <a:schemeClr val="accent1">
                    <a:lumMod val="50000"/>
                  </a:schemeClr>
                </a:solidFill>
                <a:latin typeface="Candara" panose="020E0502030303020204" pitchFamily="34" charset="0"/>
              </a:rPr>
              <a:t>Linkage</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Partnership</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58337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9825" y="687758"/>
            <a:ext cx="9817972" cy="5506980"/>
          </a:xfrm>
        </p:spPr>
        <p:txBody>
          <a:bodyPr>
            <a:normAutofit/>
          </a:bodyPr>
          <a:lstStyle/>
          <a:p>
            <a:r>
              <a:rPr lang="en-PH" sz="2800" b="1" dirty="0" smtClean="0">
                <a:solidFill>
                  <a:schemeClr val="bg1"/>
                </a:solidFill>
                <a:latin typeface="Candara" panose="020E0502030303020204" pitchFamily="34" charset="0"/>
                <a:ea typeface="Tahoma" panose="020B0604030504040204" pitchFamily="34" charset="0"/>
                <a:cs typeface="Tahoma" panose="020B0604030504040204" pitchFamily="34" charset="0"/>
              </a:rPr>
              <a:t>Consortium </a:t>
            </a:r>
            <a:r>
              <a:rPr lang="en-PH" sz="2800" i="1" dirty="0" smtClean="0">
                <a:solidFill>
                  <a:schemeClr val="bg1"/>
                </a:solidFill>
                <a:latin typeface="Candara" panose="020E0502030303020204" pitchFamily="34" charset="0"/>
                <a:ea typeface="Tahoma" panose="020B0604030504040204" pitchFamily="34" charset="0"/>
                <a:cs typeface="Tahoma" panose="020B0604030504040204" pitchFamily="34" charset="0"/>
              </a:rPr>
              <a:t>(Association)- </a:t>
            </a:r>
            <a:r>
              <a:rPr lang="en-PH" sz="2800" dirty="0" smtClean="0">
                <a:solidFill>
                  <a:schemeClr val="bg1"/>
                </a:solidFill>
                <a:latin typeface="Candara" panose="020E0502030303020204" pitchFamily="34" charset="0"/>
                <a:ea typeface="Tahoma" panose="020B0604030504040204" pitchFamily="34" charset="0"/>
                <a:cs typeface="Tahoma" panose="020B0604030504040204" pitchFamily="34" charset="0"/>
              </a:rPr>
              <a:t>an organization of people having a common interest</a:t>
            </a:r>
          </a:p>
          <a:p>
            <a:r>
              <a:rPr lang="en-PH" sz="2800" b="1" dirty="0" smtClean="0">
                <a:solidFill>
                  <a:schemeClr val="bg1"/>
                </a:solidFill>
                <a:latin typeface="Candara" panose="020E0502030303020204" pitchFamily="34" charset="0"/>
                <a:ea typeface="Tahoma" panose="020B0604030504040204" pitchFamily="34" charset="0"/>
                <a:cs typeface="Tahoma" panose="020B0604030504040204" pitchFamily="34" charset="0"/>
              </a:rPr>
              <a:t>Partnership-</a:t>
            </a:r>
            <a:r>
              <a:rPr lang="en-PH" sz="2800" dirty="0" smtClean="0">
                <a:solidFill>
                  <a:schemeClr val="bg1"/>
                </a:solidFill>
                <a:latin typeface="Candara" panose="020E0502030303020204" pitchFamily="34" charset="0"/>
                <a:ea typeface="Tahoma" panose="020B0604030504040204" pitchFamily="34" charset="0"/>
                <a:cs typeface="Tahoma" panose="020B0604030504040204" pitchFamily="34" charset="0"/>
              </a:rPr>
              <a:t> a relationship resembling a legal partnership and usually involving close cooperation between parties having specified and joint right and responsibilities</a:t>
            </a:r>
          </a:p>
          <a:p>
            <a:r>
              <a:rPr lang="en-PH" sz="2800" b="1" dirty="0" smtClean="0">
                <a:solidFill>
                  <a:schemeClr val="bg1"/>
                </a:solidFill>
                <a:latin typeface="Candara" panose="020E0502030303020204" pitchFamily="34" charset="0"/>
                <a:ea typeface="Tahoma" panose="020B0604030504040204" pitchFamily="34" charset="0"/>
                <a:cs typeface="Tahoma" panose="020B0604030504040204" pitchFamily="34" charset="0"/>
              </a:rPr>
              <a:t>Networking-</a:t>
            </a:r>
            <a:r>
              <a:rPr lang="en-PH" sz="2800" dirty="0" smtClean="0">
                <a:solidFill>
                  <a:schemeClr val="bg1"/>
                </a:solidFill>
                <a:latin typeface="Candara" panose="020E0502030303020204" pitchFamily="34" charset="0"/>
                <a:ea typeface="Tahoma" panose="020B0604030504040204" pitchFamily="34" charset="0"/>
                <a:cs typeface="Tahoma" panose="020B0604030504040204" pitchFamily="34" charset="0"/>
              </a:rPr>
              <a:t> an interconnected or interrelated chain, group, or system</a:t>
            </a:r>
          </a:p>
          <a:p>
            <a:r>
              <a:rPr lang="en-PH" sz="2800" b="1" dirty="0" smtClean="0">
                <a:solidFill>
                  <a:schemeClr val="bg1"/>
                </a:solidFill>
                <a:latin typeface="Candara" panose="020E0502030303020204" pitchFamily="34" charset="0"/>
                <a:ea typeface="Tahoma" panose="020B0604030504040204" pitchFamily="34" charset="0"/>
                <a:cs typeface="Tahoma" panose="020B0604030504040204" pitchFamily="34" charset="0"/>
              </a:rPr>
              <a:t>Linkage-</a:t>
            </a:r>
            <a:r>
              <a:rPr lang="en-PH" sz="2800" dirty="0" smtClean="0">
                <a:solidFill>
                  <a:schemeClr val="bg1"/>
                </a:solidFill>
                <a:latin typeface="Candara" panose="020E0502030303020204" pitchFamily="34" charset="0"/>
                <a:ea typeface="Tahoma" panose="020B0604030504040204" pitchFamily="34" charset="0"/>
                <a:cs typeface="Tahoma" panose="020B0604030504040204" pitchFamily="34" charset="0"/>
              </a:rPr>
              <a:t> the state of being linked or connected.</a:t>
            </a:r>
          </a:p>
          <a:p>
            <a:pPr marL="0" indent="0">
              <a:buNone/>
            </a:pPr>
            <a:r>
              <a:rPr lang="en-PH" sz="2800" dirty="0">
                <a:solidFill>
                  <a:schemeClr val="bg1"/>
                </a:solidFill>
                <a:latin typeface="Candara" panose="020E0502030303020204" pitchFamily="34" charset="0"/>
                <a:ea typeface="Tahoma" panose="020B0604030504040204" pitchFamily="34" charset="0"/>
                <a:cs typeface="Tahoma" panose="020B0604030504040204" pitchFamily="34" charset="0"/>
              </a:rPr>
              <a:t>	</a:t>
            </a:r>
            <a:r>
              <a:rPr lang="en-PH" sz="2800" dirty="0" smtClean="0">
                <a:solidFill>
                  <a:schemeClr val="bg1"/>
                </a:solidFill>
                <a:latin typeface="Candara" panose="020E0502030303020204" pitchFamily="34" charset="0"/>
                <a:ea typeface="Tahoma" panose="020B0604030504040204" pitchFamily="34" charset="0"/>
                <a:cs typeface="Tahoma" panose="020B0604030504040204" pitchFamily="34" charset="0"/>
              </a:rPr>
              <a:t>		-a tactic in diplomatic negotiations of linking often 					unrelated issues so that progress in one area is 						dependent on agreement in another.</a:t>
            </a:r>
          </a:p>
          <a:p>
            <a:endParaRPr lang="en-PH" sz="2800" dirty="0">
              <a:solidFill>
                <a:schemeClr val="bg1"/>
              </a:solidFill>
              <a:latin typeface="Candara" panose="020E050203030302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626211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67" y="323929"/>
            <a:ext cx="9404723" cy="1400530"/>
          </a:xfrm>
        </p:spPr>
        <p:txBody>
          <a:bodyPr/>
          <a:lstStyle/>
          <a:p>
            <a:pPr algn="ctr"/>
            <a:r>
              <a:rPr lang="en-PH" sz="4400" b="1" dirty="0" smtClean="0">
                <a:solidFill>
                  <a:schemeClr val="bg1"/>
                </a:solidFill>
                <a:latin typeface="Candara" panose="020E0502030303020204" pitchFamily="34" charset="0"/>
              </a:rPr>
              <a:t>Extension is a type of intervention which focuses on</a:t>
            </a:r>
            <a:endParaRPr lang="en-PH" sz="44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Education</a:t>
            </a:r>
          </a:p>
          <a:p>
            <a:r>
              <a:rPr lang="en-PH" sz="4000" dirty="0" smtClean="0">
                <a:solidFill>
                  <a:schemeClr val="accent1">
                    <a:lumMod val="50000"/>
                  </a:schemeClr>
                </a:solidFill>
                <a:latin typeface="Candara" panose="020E0502030303020204" pitchFamily="34" charset="0"/>
              </a:rPr>
              <a:t>Training</a:t>
            </a:r>
          </a:p>
          <a:p>
            <a:r>
              <a:rPr lang="en-PH" sz="4000" dirty="0" smtClean="0">
                <a:solidFill>
                  <a:schemeClr val="accent1">
                    <a:lumMod val="50000"/>
                  </a:schemeClr>
                </a:solidFill>
                <a:latin typeface="Candara" panose="020E0502030303020204" pitchFamily="34" charset="0"/>
              </a:rPr>
              <a:t>Education and training</a:t>
            </a:r>
          </a:p>
          <a:p>
            <a:r>
              <a:rPr lang="en-PH" sz="4000" dirty="0" smtClean="0">
                <a:solidFill>
                  <a:schemeClr val="accent1">
                    <a:lumMod val="50000"/>
                  </a:schemeClr>
                </a:solidFill>
                <a:latin typeface="Candara" panose="020E0502030303020204" pitchFamily="34" charset="0"/>
              </a:rPr>
              <a:t>Information and support service</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Education and Training</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8401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1103312" y="1339404"/>
            <a:ext cx="9830851" cy="4908996"/>
          </a:xfrm>
        </p:spPr>
        <p:txBody>
          <a:bodyPr>
            <a:normAutofit/>
          </a:bodyPr>
          <a:lstStyle/>
          <a:p>
            <a:r>
              <a:rPr lang="en-PH" sz="3600" dirty="0" smtClean="0">
                <a:solidFill>
                  <a:schemeClr val="bg1"/>
                </a:solidFill>
                <a:latin typeface="Candara" panose="020E0502030303020204" pitchFamily="34" charset="0"/>
              </a:rPr>
              <a:t>Intervention to become involved in something in order have an influence on what happens </a:t>
            </a:r>
            <a:endParaRPr lang="en-PH" sz="3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6624286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556" y="195141"/>
            <a:ext cx="9404723" cy="1400530"/>
          </a:xfrm>
        </p:spPr>
        <p:txBody>
          <a:bodyPr/>
          <a:lstStyle/>
          <a:p>
            <a:r>
              <a:rPr lang="en-PH" sz="3600" b="1" dirty="0" smtClean="0">
                <a:solidFill>
                  <a:schemeClr val="bg1"/>
                </a:solidFill>
                <a:latin typeface="Candara" panose="020E0502030303020204" pitchFamily="34" charset="0"/>
              </a:rPr>
              <a:t>It promotes sustainable agriculture development in a corn-based farming system in upland and lowland communities</a:t>
            </a:r>
            <a:endParaRPr lang="en-PH" sz="36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Integrated Pest Management</a:t>
            </a:r>
          </a:p>
          <a:p>
            <a:r>
              <a:rPr lang="en-PH" sz="4000" dirty="0" smtClean="0">
                <a:solidFill>
                  <a:schemeClr val="accent1">
                    <a:lumMod val="50000"/>
                  </a:schemeClr>
                </a:solidFill>
                <a:latin typeface="Candara" panose="020E0502030303020204" pitchFamily="34" charset="0"/>
              </a:rPr>
              <a:t>Farmer’s Field School</a:t>
            </a:r>
          </a:p>
          <a:p>
            <a:r>
              <a:rPr lang="en-PH" sz="4000" dirty="0" smtClean="0">
                <a:solidFill>
                  <a:schemeClr val="accent1">
                    <a:lumMod val="50000"/>
                  </a:schemeClr>
                </a:solidFill>
                <a:latin typeface="Candara" panose="020E0502030303020204" pitchFamily="34" charset="0"/>
              </a:rPr>
              <a:t>Organic Farming</a:t>
            </a:r>
          </a:p>
          <a:p>
            <a:r>
              <a:rPr lang="en-PH" sz="4000" dirty="0" smtClean="0">
                <a:solidFill>
                  <a:schemeClr val="accent1">
                    <a:lumMod val="50000"/>
                  </a:schemeClr>
                </a:solidFill>
                <a:latin typeface="Candara" panose="020E0502030303020204" pitchFamily="34" charset="0"/>
              </a:rPr>
              <a:t>Farmer Scientist Training Program</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Farmer Scientist Training Program</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4862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611" y="649121"/>
            <a:ext cx="9521758" cy="4195481"/>
          </a:xfrm>
        </p:spPr>
        <p:txBody>
          <a:bodyPr>
            <a:noAutofit/>
          </a:bodyPr>
          <a:lstStyle/>
          <a:p>
            <a:r>
              <a:rPr lang="en-PH" sz="2800" dirty="0" smtClean="0">
                <a:solidFill>
                  <a:schemeClr val="bg1"/>
                </a:solidFill>
                <a:latin typeface="Candara" panose="020E0502030303020204" pitchFamily="34" charset="0"/>
              </a:rPr>
              <a:t>Farmer’s Field School &amp; School-on-Air- are extension methods implemented to build and transfer technical skills. It also provide venues for community integration.</a:t>
            </a:r>
          </a:p>
          <a:p>
            <a:r>
              <a:rPr lang="en-PH" sz="2800" dirty="0" smtClean="0">
                <a:solidFill>
                  <a:schemeClr val="bg1"/>
                </a:solidFill>
                <a:latin typeface="Candara" panose="020E0502030303020204" pitchFamily="34" charset="0"/>
              </a:rPr>
              <a:t>SOA- is conducted over the radio especially to far flunked areas from Mon., wed., Fri. </a:t>
            </a:r>
          </a:p>
          <a:p>
            <a:r>
              <a:rPr lang="en-PH" sz="2800" dirty="0" smtClean="0">
                <a:solidFill>
                  <a:schemeClr val="bg1"/>
                </a:solidFill>
                <a:latin typeface="Candara" panose="020E0502030303020204" pitchFamily="34" charset="0"/>
              </a:rPr>
              <a:t>FFS &amp; SOA are extension methods used by CHARM2 project of DA.</a:t>
            </a:r>
          </a:p>
          <a:p>
            <a:endParaRPr lang="en-PH" sz="2800" dirty="0" smtClean="0">
              <a:solidFill>
                <a:schemeClr val="bg1"/>
              </a:solidFill>
              <a:latin typeface="Candara" panose="020E0502030303020204" pitchFamily="34" charset="0"/>
            </a:endParaRPr>
          </a:p>
          <a:p>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682239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556" y="195141"/>
            <a:ext cx="9404723" cy="1400530"/>
          </a:xfrm>
        </p:spPr>
        <p:txBody>
          <a:bodyPr/>
          <a:lstStyle/>
          <a:p>
            <a:r>
              <a:rPr lang="en-PH" sz="3600" b="1" dirty="0" smtClean="0">
                <a:solidFill>
                  <a:schemeClr val="bg1"/>
                </a:solidFill>
                <a:latin typeface="Candara" panose="020E0502030303020204" pitchFamily="34" charset="0"/>
              </a:rPr>
              <a:t>This is considered as the lifelong process of learning</a:t>
            </a:r>
            <a:endParaRPr lang="en-PH" sz="36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Education</a:t>
            </a:r>
          </a:p>
          <a:p>
            <a:r>
              <a:rPr lang="en-PH" sz="4000" dirty="0" smtClean="0">
                <a:solidFill>
                  <a:schemeClr val="accent1">
                    <a:lumMod val="50000"/>
                  </a:schemeClr>
                </a:solidFill>
                <a:latin typeface="Candara" panose="020E0502030303020204" pitchFamily="34" charset="0"/>
              </a:rPr>
              <a:t>Administration</a:t>
            </a:r>
          </a:p>
          <a:p>
            <a:r>
              <a:rPr lang="en-PH" sz="4000" dirty="0" smtClean="0">
                <a:solidFill>
                  <a:schemeClr val="accent1">
                    <a:lumMod val="50000"/>
                  </a:schemeClr>
                </a:solidFill>
                <a:latin typeface="Candara" panose="020E0502030303020204" pitchFamily="34" charset="0"/>
              </a:rPr>
              <a:t>Extension</a:t>
            </a:r>
          </a:p>
          <a:p>
            <a:r>
              <a:rPr lang="en-PH" sz="4000" dirty="0" smtClean="0">
                <a:solidFill>
                  <a:schemeClr val="accent1">
                    <a:lumMod val="50000"/>
                  </a:schemeClr>
                </a:solidFill>
                <a:latin typeface="Candara" panose="020E0502030303020204" pitchFamily="34" charset="0"/>
              </a:rPr>
              <a:t>Management</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Education</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24029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556" y="195141"/>
            <a:ext cx="9404723" cy="1400530"/>
          </a:xfrm>
        </p:spPr>
        <p:txBody>
          <a:bodyPr/>
          <a:lstStyle/>
          <a:p>
            <a:r>
              <a:rPr lang="en-PH" sz="3600" b="1" dirty="0" smtClean="0">
                <a:solidFill>
                  <a:schemeClr val="bg1"/>
                </a:solidFill>
                <a:latin typeface="Candara" panose="020E0502030303020204" pitchFamily="34" charset="0"/>
              </a:rPr>
              <a:t>Extension classes are examples of this type of education</a:t>
            </a:r>
            <a:endParaRPr lang="en-PH" sz="36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Formal</a:t>
            </a:r>
          </a:p>
          <a:p>
            <a:r>
              <a:rPr lang="en-PH" sz="4000" dirty="0" smtClean="0">
                <a:solidFill>
                  <a:schemeClr val="accent1">
                    <a:lumMod val="50000"/>
                  </a:schemeClr>
                </a:solidFill>
                <a:latin typeface="Candara" panose="020E0502030303020204" pitchFamily="34" charset="0"/>
              </a:rPr>
              <a:t>Informal</a:t>
            </a:r>
          </a:p>
          <a:p>
            <a:r>
              <a:rPr lang="en-PH" sz="4000" dirty="0" smtClean="0">
                <a:solidFill>
                  <a:schemeClr val="accent1">
                    <a:lumMod val="50000"/>
                  </a:schemeClr>
                </a:solidFill>
                <a:latin typeface="Candara" panose="020E0502030303020204" pitchFamily="34" charset="0"/>
              </a:rPr>
              <a:t>Non-formal</a:t>
            </a:r>
          </a:p>
          <a:p>
            <a:r>
              <a:rPr lang="en-PH" sz="4000" dirty="0" smtClean="0">
                <a:solidFill>
                  <a:schemeClr val="accent1">
                    <a:lumMod val="50000"/>
                  </a:schemeClr>
                </a:solidFill>
                <a:latin typeface="Candara" panose="020E0502030303020204" pitchFamily="34" charset="0"/>
              </a:rPr>
              <a:t>Basic</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Non-formal</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20323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556" y="195141"/>
            <a:ext cx="9404723" cy="1400530"/>
          </a:xfrm>
        </p:spPr>
        <p:txBody>
          <a:bodyPr/>
          <a:lstStyle/>
          <a:p>
            <a:r>
              <a:rPr lang="en-PH" sz="3600" b="1" dirty="0" smtClean="0">
                <a:solidFill>
                  <a:schemeClr val="bg1"/>
                </a:solidFill>
                <a:latin typeface="Candara" panose="020E0502030303020204" pitchFamily="34" charset="0"/>
              </a:rPr>
              <a:t>First and foremost an extension worker must be </a:t>
            </a:r>
            <a:endParaRPr lang="en-PH" sz="36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Self-centered</a:t>
            </a:r>
          </a:p>
          <a:p>
            <a:r>
              <a:rPr lang="en-PH" sz="4000" dirty="0" smtClean="0">
                <a:solidFill>
                  <a:schemeClr val="accent1">
                    <a:lumMod val="50000"/>
                  </a:schemeClr>
                </a:solidFill>
                <a:latin typeface="Candara" panose="020E0502030303020204" pitchFamily="34" charset="0"/>
              </a:rPr>
              <a:t>Client centered</a:t>
            </a:r>
          </a:p>
          <a:p>
            <a:r>
              <a:rPr lang="en-PH" sz="4000" dirty="0" smtClean="0">
                <a:solidFill>
                  <a:schemeClr val="accent1">
                    <a:lumMod val="50000"/>
                  </a:schemeClr>
                </a:solidFill>
                <a:latin typeface="Candara" panose="020E0502030303020204" pitchFamily="34" charset="0"/>
              </a:rPr>
              <a:t>Reward centered</a:t>
            </a:r>
          </a:p>
          <a:p>
            <a:r>
              <a:rPr lang="en-PH" sz="4000" dirty="0" smtClean="0">
                <a:solidFill>
                  <a:schemeClr val="accent1">
                    <a:lumMod val="50000"/>
                  </a:schemeClr>
                </a:solidFill>
                <a:latin typeface="Candara" panose="020E0502030303020204" pitchFamily="34" charset="0"/>
              </a:rPr>
              <a:t>Innovation centered</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Client centered</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531562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556" y="195141"/>
            <a:ext cx="9404723" cy="1400530"/>
          </a:xfrm>
        </p:spPr>
        <p:txBody>
          <a:bodyPr/>
          <a:lstStyle/>
          <a:p>
            <a:r>
              <a:rPr lang="en-PH" sz="3600" b="1" dirty="0" smtClean="0">
                <a:solidFill>
                  <a:schemeClr val="bg1"/>
                </a:solidFill>
                <a:latin typeface="Candara" panose="020E0502030303020204" pitchFamily="34" charset="0"/>
              </a:rPr>
              <a:t>The type of agriculture where the production of plants and animals is for the use of family and not for market</a:t>
            </a:r>
            <a:endParaRPr lang="en-PH" sz="36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2210895" y="1975646"/>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Sustainable Agriculture</a:t>
            </a:r>
          </a:p>
          <a:p>
            <a:r>
              <a:rPr lang="en-PH" sz="4000" dirty="0" smtClean="0">
                <a:solidFill>
                  <a:schemeClr val="accent1">
                    <a:lumMod val="50000"/>
                  </a:schemeClr>
                </a:solidFill>
                <a:latin typeface="Candara" panose="020E0502030303020204" pitchFamily="34" charset="0"/>
              </a:rPr>
              <a:t>Traditional Agriculture</a:t>
            </a:r>
          </a:p>
          <a:p>
            <a:r>
              <a:rPr lang="en-PH" sz="4000" dirty="0" smtClean="0">
                <a:solidFill>
                  <a:schemeClr val="accent1">
                    <a:lumMod val="50000"/>
                  </a:schemeClr>
                </a:solidFill>
                <a:latin typeface="Candara" panose="020E0502030303020204" pitchFamily="34" charset="0"/>
              </a:rPr>
              <a:t>Extractive Agriculture</a:t>
            </a:r>
          </a:p>
          <a:p>
            <a:r>
              <a:rPr lang="en-PH" sz="4000" dirty="0" smtClean="0">
                <a:solidFill>
                  <a:schemeClr val="accent1">
                    <a:lumMod val="50000"/>
                  </a:schemeClr>
                </a:solidFill>
                <a:latin typeface="Candara" panose="020E0502030303020204" pitchFamily="34" charset="0"/>
              </a:rPr>
              <a:t>Modern Agriculture</a:t>
            </a: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40890" y="520208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Traditional Agriculture</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34865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1103312" y="824248"/>
            <a:ext cx="8946541" cy="5424151"/>
          </a:xfrm>
        </p:spPr>
        <p:txBody>
          <a:bodyPr>
            <a:normAutofit/>
          </a:bodyPr>
          <a:lstStyle/>
          <a:p>
            <a:r>
              <a:rPr lang="en-PH" sz="3200" dirty="0" smtClean="0">
                <a:solidFill>
                  <a:schemeClr val="bg1"/>
                </a:solidFill>
                <a:latin typeface="Candara" panose="020E0502030303020204" pitchFamily="34" charset="0"/>
              </a:rPr>
              <a:t>Extractive Agriculture-withdrawal of natural resources by extraction with no provision for replenishment</a:t>
            </a:r>
          </a:p>
          <a:p>
            <a:r>
              <a:rPr lang="en-PH" sz="3200" dirty="0" smtClean="0">
                <a:solidFill>
                  <a:schemeClr val="bg1"/>
                </a:solidFill>
                <a:latin typeface="Candara" panose="020E0502030303020204" pitchFamily="34" charset="0"/>
              </a:rPr>
              <a:t>Sustainable Agriculture</a:t>
            </a:r>
          </a:p>
          <a:p>
            <a:r>
              <a:rPr lang="en-PH" sz="3200" dirty="0" smtClean="0">
                <a:solidFill>
                  <a:schemeClr val="bg1"/>
                </a:solidFill>
                <a:latin typeface="Candara" panose="020E0502030303020204" pitchFamily="34" charset="0"/>
              </a:rPr>
              <a:t>Traditional or Conventional </a:t>
            </a:r>
          </a:p>
          <a:p>
            <a:r>
              <a:rPr lang="en-PH" sz="3200" dirty="0" smtClean="0">
                <a:solidFill>
                  <a:schemeClr val="bg1"/>
                </a:solidFill>
                <a:latin typeface="Candara" panose="020E0502030303020204" pitchFamily="34" charset="0"/>
              </a:rPr>
              <a:t>Modern or Non-conventional</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370122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000" b="1" dirty="0" smtClean="0">
                <a:solidFill>
                  <a:schemeClr val="bg1"/>
                </a:solidFill>
                <a:latin typeface="Candara" panose="020E0502030303020204" pitchFamily="34" charset="0"/>
              </a:rPr>
              <a:t>The function of the university that provides pre-service and in-service trainings, backstopping by subject matter specialist and release farm, home and fishery information</a:t>
            </a:r>
            <a:endParaRPr lang="en-PH" sz="3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860435" y="2042035"/>
            <a:ext cx="8946541" cy="3047116"/>
          </a:xfrm>
        </p:spPr>
        <p:txBody>
          <a:bodyPr>
            <a:normAutofit/>
          </a:bodyPr>
          <a:lstStyle/>
          <a:p>
            <a:r>
              <a:rPr lang="en-PH" sz="4000" dirty="0" smtClean="0">
                <a:solidFill>
                  <a:schemeClr val="accent1">
                    <a:lumMod val="50000"/>
                  </a:schemeClr>
                </a:solidFill>
                <a:latin typeface="Candara" panose="020E0502030303020204" pitchFamily="34" charset="0"/>
              </a:rPr>
              <a:t>Education</a:t>
            </a:r>
          </a:p>
          <a:p>
            <a:r>
              <a:rPr lang="en-PH" sz="4000" dirty="0" smtClean="0">
                <a:solidFill>
                  <a:schemeClr val="accent1">
                    <a:lumMod val="50000"/>
                  </a:schemeClr>
                </a:solidFill>
                <a:latin typeface="Candara" panose="020E0502030303020204" pitchFamily="34" charset="0"/>
              </a:rPr>
              <a:t>Extension</a:t>
            </a:r>
          </a:p>
          <a:p>
            <a:r>
              <a:rPr lang="en-PH" sz="4000" dirty="0" smtClean="0">
                <a:solidFill>
                  <a:schemeClr val="accent1">
                    <a:lumMod val="50000"/>
                  </a:schemeClr>
                </a:solidFill>
                <a:latin typeface="Candara" panose="020E0502030303020204" pitchFamily="34" charset="0"/>
              </a:rPr>
              <a:t>Instruction</a:t>
            </a:r>
          </a:p>
          <a:p>
            <a:r>
              <a:rPr lang="en-PH" sz="4000" dirty="0" smtClean="0">
                <a:solidFill>
                  <a:schemeClr val="accent1">
                    <a:lumMod val="50000"/>
                  </a:schemeClr>
                </a:solidFill>
                <a:latin typeface="Candara" panose="020E0502030303020204" pitchFamily="34" charset="0"/>
              </a:rPr>
              <a:t>Research</a:t>
            </a:r>
          </a:p>
          <a:p>
            <a:pPr marL="0" indent="0">
              <a:buNone/>
            </a:pPr>
            <a:endParaRPr lang="en-PH" sz="40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402253" y="5432484"/>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4400" b="1" dirty="0" smtClean="0">
                <a:solidFill>
                  <a:srgbClr val="FF0000"/>
                </a:solidFill>
                <a:latin typeface="Candara" panose="020E0502030303020204" pitchFamily="34" charset="0"/>
              </a:rPr>
              <a:t>Extension</a:t>
            </a:r>
            <a:endParaRPr lang="en-PH" sz="44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54947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Philippines is increasingly using ICT to enhance extension services in the country . ICT stands for;</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Information, Communication and Transportation</a:t>
            </a:r>
          </a:p>
          <a:p>
            <a:r>
              <a:rPr lang="en-PH" sz="3200" dirty="0" smtClean="0">
                <a:solidFill>
                  <a:schemeClr val="accent1">
                    <a:lumMod val="50000"/>
                  </a:schemeClr>
                </a:solidFill>
                <a:latin typeface="Candara" panose="020E0502030303020204" pitchFamily="34" charset="0"/>
              </a:rPr>
              <a:t>Instruction and Communication Technique</a:t>
            </a:r>
          </a:p>
          <a:p>
            <a:r>
              <a:rPr lang="en-PH" sz="3200" dirty="0" smtClean="0">
                <a:solidFill>
                  <a:schemeClr val="accent1">
                    <a:lumMod val="50000"/>
                  </a:schemeClr>
                </a:solidFill>
                <a:latin typeface="Candara" panose="020E0502030303020204" pitchFamily="34" charset="0"/>
              </a:rPr>
              <a:t>Information, Communication and Training</a:t>
            </a:r>
          </a:p>
          <a:p>
            <a:r>
              <a:rPr lang="en-PH" sz="3200" dirty="0" smtClean="0">
                <a:solidFill>
                  <a:schemeClr val="accent1">
                    <a:lumMod val="50000"/>
                  </a:schemeClr>
                </a:solidFill>
                <a:latin typeface="Candara" panose="020E0502030303020204" pitchFamily="34" charset="0"/>
              </a:rPr>
              <a:t>Information and Communication Technology</a:t>
            </a:r>
          </a:p>
          <a:p>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Information and Communication Technology</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414426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clientele of extension education are generally</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Youth</a:t>
            </a:r>
          </a:p>
          <a:p>
            <a:r>
              <a:rPr lang="en-PH" sz="3200" dirty="0" smtClean="0">
                <a:solidFill>
                  <a:schemeClr val="accent1">
                    <a:lumMod val="50000"/>
                  </a:schemeClr>
                </a:solidFill>
                <a:latin typeface="Candara" panose="020E0502030303020204" pitchFamily="34" charset="0"/>
              </a:rPr>
              <a:t>Farmers</a:t>
            </a:r>
          </a:p>
          <a:p>
            <a:r>
              <a:rPr lang="en-PH" sz="3200" dirty="0" smtClean="0">
                <a:solidFill>
                  <a:schemeClr val="accent1">
                    <a:lumMod val="50000"/>
                  </a:schemeClr>
                </a:solidFill>
                <a:latin typeface="Candara" panose="020E0502030303020204" pitchFamily="34" charset="0"/>
              </a:rPr>
              <a:t>Youths and Clients</a:t>
            </a:r>
          </a:p>
          <a:p>
            <a:r>
              <a:rPr lang="en-PH" sz="3200" dirty="0" smtClean="0">
                <a:solidFill>
                  <a:schemeClr val="accent1">
                    <a:lumMod val="50000"/>
                  </a:schemeClr>
                </a:solidFill>
                <a:latin typeface="Candara" panose="020E0502030303020204" pitchFamily="34" charset="0"/>
              </a:rPr>
              <a:t>Adults</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Adults</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56802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This is the important role of extension in sustainable development</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Walk the learning path</a:t>
            </a:r>
          </a:p>
          <a:p>
            <a:r>
              <a:rPr lang="en-PH" sz="3200" dirty="0" smtClean="0">
                <a:solidFill>
                  <a:schemeClr val="accent1">
                    <a:lumMod val="50000"/>
                  </a:schemeClr>
                </a:solidFill>
                <a:latin typeface="Candara" panose="020E0502030303020204" pitchFamily="34" charset="0"/>
              </a:rPr>
              <a:t>Transfer of technology</a:t>
            </a:r>
          </a:p>
          <a:p>
            <a:r>
              <a:rPr lang="en-PH" sz="3200" dirty="0" smtClean="0">
                <a:solidFill>
                  <a:schemeClr val="accent1">
                    <a:lumMod val="50000"/>
                  </a:schemeClr>
                </a:solidFill>
                <a:latin typeface="Candara" panose="020E0502030303020204" pitchFamily="34" charset="0"/>
              </a:rPr>
              <a:t>Promotes the use of external inputs</a:t>
            </a:r>
          </a:p>
          <a:p>
            <a:r>
              <a:rPr lang="en-PH" sz="3200" dirty="0" smtClean="0">
                <a:solidFill>
                  <a:schemeClr val="accent1">
                    <a:lumMod val="50000"/>
                  </a:schemeClr>
                </a:solidFill>
                <a:latin typeface="Candara" panose="020E0502030303020204" pitchFamily="34" charset="0"/>
              </a:rPr>
              <a:t>Define an incentive system</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Walk the learning path</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09708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field of extension is described as continuing process of ___ technologies in order o satisfy human needs</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Generating</a:t>
            </a:r>
          </a:p>
          <a:p>
            <a:r>
              <a:rPr lang="en-PH" sz="3200" dirty="0" smtClean="0">
                <a:solidFill>
                  <a:schemeClr val="accent1">
                    <a:lumMod val="50000"/>
                  </a:schemeClr>
                </a:solidFill>
                <a:latin typeface="Candara" panose="020E0502030303020204" pitchFamily="34" charset="0"/>
              </a:rPr>
              <a:t>Selling</a:t>
            </a:r>
          </a:p>
          <a:p>
            <a:r>
              <a:rPr lang="en-PH" sz="3200" dirty="0" smtClean="0">
                <a:solidFill>
                  <a:schemeClr val="accent1">
                    <a:lumMod val="50000"/>
                  </a:schemeClr>
                </a:solidFill>
                <a:latin typeface="Candara" panose="020E0502030303020204" pitchFamily="34" charset="0"/>
              </a:rPr>
              <a:t>Disseminating</a:t>
            </a:r>
          </a:p>
          <a:p>
            <a:r>
              <a:rPr lang="en-PH" sz="3200" dirty="0" err="1" smtClean="0">
                <a:solidFill>
                  <a:schemeClr val="accent1">
                    <a:lumMod val="50000"/>
                  </a:schemeClr>
                </a:solidFill>
                <a:latin typeface="Candara" panose="020E0502030303020204" pitchFamily="34" charset="0"/>
              </a:rPr>
              <a:t>Analyzing</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Disseminating</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3769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2800" b="1" dirty="0" smtClean="0">
                <a:solidFill>
                  <a:schemeClr val="bg1"/>
                </a:solidFill>
                <a:latin typeface="Candara" panose="020E0502030303020204" pitchFamily="34" charset="0"/>
              </a:rPr>
              <a:t>The various government and non-government research </a:t>
            </a:r>
            <a:r>
              <a:rPr lang="en-PH" sz="2800" b="1" dirty="0" err="1" smtClean="0">
                <a:solidFill>
                  <a:schemeClr val="bg1"/>
                </a:solidFill>
                <a:latin typeface="Candara" panose="020E0502030303020204" pitchFamily="34" charset="0"/>
              </a:rPr>
              <a:t>centers</a:t>
            </a:r>
            <a:r>
              <a:rPr lang="en-PH" sz="2800" b="1" dirty="0" smtClean="0">
                <a:solidFill>
                  <a:schemeClr val="bg1"/>
                </a:solidFill>
                <a:latin typeface="Candara" panose="020E0502030303020204" pitchFamily="34" charset="0"/>
              </a:rPr>
              <a:t> in the country are continuously generating _____ in livestock, </a:t>
            </a:r>
            <a:r>
              <a:rPr lang="en-PH" sz="2800" b="1" dirty="0" err="1" smtClean="0">
                <a:solidFill>
                  <a:schemeClr val="bg1"/>
                </a:solidFill>
                <a:latin typeface="Candara" panose="020E0502030303020204" pitchFamily="34" charset="0"/>
              </a:rPr>
              <a:t>crops,fisheries,forestry</a:t>
            </a:r>
            <a:r>
              <a:rPr lang="en-PH" sz="2800" b="1" dirty="0" smtClean="0">
                <a:solidFill>
                  <a:schemeClr val="bg1"/>
                </a:solidFill>
                <a:latin typeface="Candara" panose="020E0502030303020204" pitchFamily="34" charset="0"/>
              </a:rPr>
              <a:t> and natural resources</a:t>
            </a:r>
            <a:endParaRPr lang="en-PH" sz="2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Natural resources</a:t>
            </a:r>
          </a:p>
          <a:p>
            <a:r>
              <a:rPr lang="en-PH" sz="3200" dirty="0" smtClean="0">
                <a:solidFill>
                  <a:schemeClr val="accent1">
                    <a:lumMod val="50000"/>
                  </a:schemeClr>
                </a:solidFill>
                <a:latin typeface="Candara" panose="020E0502030303020204" pitchFamily="34" charset="0"/>
              </a:rPr>
              <a:t>Breeder seed</a:t>
            </a:r>
          </a:p>
          <a:p>
            <a:r>
              <a:rPr lang="en-PH" sz="3200" dirty="0">
                <a:solidFill>
                  <a:schemeClr val="accent1">
                    <a:lumMod val="50000"/>
                  </a:schemeClr>
                </a:solidFill>
                <a:latin typeface="Candara" panose="020E0502030303020204" pitchFamily="34" charset="0"/>
              </a:rPr>
              <a:t> </a:t>
            </a:r>
            <a:r>
              <a:rPr lang="en-PH" sz="3200" dirty="0" smtClean="0">
                <a:solidFill>
                  <a:schemeClr val="accent1">
                    <a:lumMod val="50000"/>
                  </a:schemeClr>
                </a:solidFill>
                <a:latin typeface="Candara" panose="020E0502030303020204" pitchFamily="34" charset="0"/>
              </a:rPr>
              <a:t>Infrastructure</a:t>
            </a:r>
          </a:p>
          <a:p>
            <a:r>
              <a:rPr lang="en-PH" sz="3200" dirty="0" smtClean="0">
                <a:solidFill>
                  <a:schemeClr val="accent1">
                    <a:lumMod val="50000"/>
                  </a:schemeClr>
                </a:solidFill>
                <a:latin typeface="Candara" panose="020E0502030303020204" pitchFamily="34" charset="0"/>
              </a:rPr>
              <a:t>Technologies</a:t>
            </a:r>
          </a:p>
          <a:p>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Technologies</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95675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Which of the following describe extension</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42035"/>
            <a:ext cx="10303097" cy="3047116"/>
          </a:xfrm>
        </p:spPr>
        <p:txBody>
          <a:bodyPr>
            <a:normAutofit/>
          </a:bodyPr>
          <a:lstStyle/>
          <a:p>
            <a:r>
              <a:rPr lang="en-PH" sz="3200" dirty="0" smtClean="0">
                <a:solidFill>
                  <a:schemeClr val="accent1">
                    <a:lumMod val="50000"/>
                  </a:schemeClr>
                </a:solidFill>
                <a:latin typeface="Candara" panose="020E0502030303020204" pitchFamily="34" charset="0"/>
              </a:rPr>
              <a:t>Demonstration process</a:t>
            </a:r>
          </a:p>
          <a:p>
            <a:r>
              <a:rPr lang="en-PH" sz="3200" dirty="0" smtClean="0">
                <a:solidFill>
                  <a:schemeClr val="accent1">
                    <a:lumMod val="50000"/>
                  </a:schemeClr>
                </a:solidFill>
                <a:latin typeface="Candara" panose="020E0502030303020204" pitchFamily="34" charset="0"/>
              </a:rPr>
              <a:t>Automatic process</a:t>
            </a:r>
          </a:p>
          <a:p>
            <a:r>
              <a:rPr lang="en-PH" sz="3200" dirty="0" smtClean="0">
                <a:solidFill>
                  <a:schemeClr val="accent1">
                    <a:lumMod val="50000"/>
                  </a:schemeClr>
                </a:solidFill>
                <a:latin typeface="Candara" panose="020E0502030303020204" pitchFamily="34" charset="0"/>
              </a:rPr>
              <a:t>Educational process</a:t>
            </a:r>
          </a:p>
          <a:p>
            <a:r>
              <a:rPr lang="en-PH" sz="3200" dirty="0" smtClean="0">
                <a:solidFill>
                  <a:schemeClr val="accent1">
                    <a:lumMod val="50000"/>
                  </a:schemeClr>
                </a:solidFill>
                <a:latin typeface="Candara" panose="020E0502030303020204" pitchFamily="34" charset="0"/>
              </a:rPr>
              <a:t>None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Demonstration process</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80891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Which of the following best describe what extension is all about</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1698701"/>
            <a:ext cx="10303097" cy="3414211"/>
          </a:xfrm>
        </p:spPr>
        <p:txBody>
          <a:bodyPr>
            <a:normAutofit fontScale="92500" lnSpcReduction="10000"/>
          </a:bodyPr>
          <a:lstStyle/>
          <a:p>
            <a:pPr marL="0" indent="0">
              <a:buNone/>
            </a:pPr>
            <a:r>
              <a:rPr lang="en-PH" sz="3200" dirty="0" smtClean="0">
                <a:solidFill>
                  <a:schemeClr val="accent2">
                    <a:lumMod val="75000"/>
                  </a:schemeClr>
                </a:solidFill>
                <a:latin typeface="Candara" panose="020E0502030303020204" pitchFamily="34" charset="0"/>
              </a:rPr>
              <a:t>A. </a:t>
            </a:r>
            <a:r>
              <a:rPr lang="en-PH" sz="3200" dirty="0" smtClean="0">
                <a:solidFill>
                  <a:schemeClr val="accent1">
                    <a:lumMod val="50000"/>
                  </a:schemeClr>
                </a:solidFill>
                <a:latin typeface="Candara" panose="020E0502030303020204" pitchFamily="34" charset="0"/>
              </a:rPr>
              <a:t>Service or a system that extends the educational benefits to 	people unable to avail formal education’</a:t>
            </a:r>
          </a:p>
          <a:p>
            <a:pPr marL="0" indent="0">
              <a:buNone/>
            </a:pPr>
            <a:r>
              <a:rPr lang="en-PH" sz="3200" dirty="0" smtClean="0">
                <a:solidFill>
                  <a:schemeClr val="accent2">
                    <a:lumMod val="75000"/>
                  </a:schemeClr>
                </a:solidFill>
                <a:latin typeface="Candara" panose="020E0502030303020204" pitchFamily="34" charset="0"/>
              </a:rPr>
              <a:t>B. </a:t>
            </a:r>
            <a:r>
              <a:rPr lang="en-PH" sz="3200" dirty="0" smtClean="0">
                <a:solidFill>
                  <a:schemeClr val="accent1">
                    <a:lumMod val="50000"/>
                  </a:schemeClr>
                </a:solidFill>
                <a:latin typeface="Candara" panose="020E0502030303020204" pitchFamily="34" charset="0"/>
              </a:rPr>
              <a:t>Lifelong process of acquiring and accumulating knowledge, 	skills, attitudes from experiences and exposure to 	environment</a:t>
            </a:r>
          </a:p>
          <a:p>
            <a:pPr marL="0" indent="0">
              <a:buNone/>
            </a:pPr>
            <a:r>
              <a:rPr lang="en-PH" sz="3200" dirty="0" smtClean="0">
                <a:solidFill>
                  <a:schemeClr val="accent2">
                    <a:lumMod val="75000"/>
                  </a:schemeClr>
                </a:solidFill>
                <a:latin typeface="Candara" panose="020E0502030303020204" pitchFamily="34" charset="0"/>
              </a:rPr>
              <a:t>C. </a:t>
            </a:r>
            <a:r>
              <a:rPr lang="en-PH" sz="3200" dirty="0" smtClean="0">
                <a:solidFill>
                  <a:schemeClr val="accent1">
                    <a:lumMod val="50000"/>
                  </a:schemeClr>
                </a:solidFill>
                <a:latin typeface="Candara" panose="020E0502030303020204" pitchFamily="34" charset="0"/>
              </a:rPr>
              <a:t>Continuing process of bringing desirable changes in people 	behaviour</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091559" y="527793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A</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243790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following are definitions of agricultural extension except;</a:t>
            </a:r>
            <a:br>
              <a:rPr lang="en-PH" sz="3200" b="1" dirty="0" smtClean="0">
                <a:solidFill>
                  <a:schemeClr val="bg1"/>
                </a:solidFill>
                <a:latin typeface="Candara" panose="020E0502030303020204" pitchFamily="34" charset="0"/>
              </a:rPr>
            </a:b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1698702"/>
            <a:ext cx="10303097" cy="3390449"/>
          </a:xfrm>
        </p:spPr>
        <p:txBody>
          <a:bodyPr>
            <a:normAutofit fontScale="92500" lnSpcReduction="10000"/>
          </a:bodyPr>
          <a:lstStyle/>
          <a:p>
            <a:pPr marL="514350" indent="-514350">
              <a:buAutoNum type="alphaUcPeriod"/>
            </a:pPr>
            <a:r>
              <a:rPr lang="en-PH" sz="3200" dirty="0" smtClean="0">
                <a:solidFill>
                  <a:schemeClr val="accent1">
                    <a:lumMod val="50000"/>
                  </a:schemeClr>
                </a:solidFill>
                <a:latin typeface="Candara" panose="020E0502030303020204" pitchFamily="34" charset="0"/>
              </a:rPr>
              <a:t>Non-formal system of education which is organize to provide rural people useful and practical knowledge</a:t>
            </a:r>
          </a:p>
          <a:p>
            <a:pPr marL="514350" indent="-514350">
              <a:buAutoNum type="alphaUcPeriod"/>
            </a:pPr>
            <a:r>
              <a:rPr lang="en-PH" sz="3200" dirty="0" smtClean="0">
                <a:solidFill>
                  <a:schemeClr val="accent1">
                    <a:lumMod val="50000"/>
                  </a:schemeClr>
                </a:solidFill>
                <a:latin typeface="Candara" panose="020E0502030303020204" pitchFamily="34" charset="0"/>
              </a:rPr>
              <a:t>Teaching and influencing process</a:t>
            </a:r>
          </a:p>
          <a:p>
            <a:pPr marL="514350" indent="-514350">
              <a:buAutoNum type="alphaUcPeriod"/>
            </a:pPr>
            <a:r>
              <a:rPr lang="en-PH" sz="3200" dirty="0" smtClean="0">
                <a:solidFill>
                  <a:schemeClr val="accent1">
                    <a:lumMod val="50000"/>
                  </a:schemeClr>
                </a:solidFill>
                <a:latin typeface="Candara" panose="020E0502030303020204" pitchFamily="34" charset="0"/>
              </a:rPr>
              <a:t>The introduction of technical-know-how to the farming population to increase agricultural production and thereby raise the standard of living</a:t>
            </a:r>
          </a:p>
          <a:p>
            <a:pPr marL="514350" indent="-514350">
              <a:buAutoNum type="alphaUcPeriod"/>
            </a:pPr>
            <a:r>
              <a:rPr lang="en-PH" sz="3200" dirty="0" smtClean="0">
                <a:solidFill>
                  <a:schemeClr val="accent1">
                    <a:lumMod val="50000"/>
                  </a:schemeClr>
                </a:solidFill>
                <a:latin typeface="Candara" panose="020E0502030303020204" pitchFamily="34" charset="0"/>
              </a:rPr>
              <a:t>Technology utilization</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509758"/>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a:solidFill>
                  <a:srgbClr val="FF0000"/>
                </a:solidFill>
                <a:latin typeface="Candara" panose="020E0502030303020204" pitchFamily="34" charset="0"/>
              </a:rPr>
              <a:t>D</a:t>
            </a:r>
          </a:p>
        </p:txBody>
      </p:sp>
    </p:spTree>
    <p:extLst>
      <p:ext uri="{BB962C8B-B14F-4D97-AF65-F5344CB8AC3E}">
        <p14:creationId xmlns:p14="http://schemas.microsoft.com/office/powerpoint/2010/main" val="86690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It is considered as the center of all development efforts in extension</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1698702"/>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Technology</a:t>
            </a:r>
          </a:p>
          <a:p>
            <a:r>
              <a:rPr lang="en-PH" sz="3200" dirty="0" smtClean="0">
                <a:solidFill>
                  <a:schemeClr val="accent1">
                    <a:lumMod val="50000"/>
                  </a:schemeClr>
                </a:solidFill>
                <a:latin typeface="Candara" panose="020E0502030303020204" pitchFamily="34" charset="0"/>
              </a:rPr>
              <a:t>Environment</a:t>
            </a:r>
          </a:p>
          <a:p>
            <a:r>
              <a:rPr lang="en-PH" sz="3200" dirty="0" smtClean="0">
                <a:solidFill>
                  <a:schemeClr val="accent1">
                    <a:lumMod val="50000"/>
                  </a:schemeClr>
                </a:solidFill>
                <a:latin typeface="Candara" panose="020E0502030303020204" pitchFamily="34" charset="0"/>
              </a:rPr>
              <a:t>Finance</a:t>
            </a:r>
          </a:p>
          <a:p>
            <a:r>
              <a:rPr lang="en-PH" sz="3200" dirty="0" smtClean="0">
                <a:solidFill>
                  <a:schemeClr val="accent1">
                    <a:lumMod val="50000"/>
                  </a:schemeClr>
                </a:solidFill>
                <a:latin typeface="Candara" panose="020E0502030303020204" pitchFamily="34" charset="0"/>
              </a:rPr>
              <a:t>People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4994603"/>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People</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338039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basic requisite of agricultural development</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1698702"/>
            <a:ext cx="10303097" cy="3390449"/>
          </a:xfrm>
        </p:spPr>
        <p:txBody>
          <a:bodyPr>
            <a:normAutofit lnSpcReduction="10000"/>
          </a:bodyPr>
          <a:lstStyle/>
          <a:p>
            <a:r>
              <a:rPr lang="en-PH" sz="3200" dirty="0" smtClean="0">
                <a:solidFill>
                  <a:schemeClr val="accent1">
                    <a:lumMod val="50000"/>
                  </a:schemeClr>
                </a:solidFill>
                <a:latin typeface="Candara" panose="020E0502030303020204" pitchFamily="34" charset="0"/>
              </a:rPr>
              <a:t>Agriculture resources to be more fully and rationally utilized</a:t>
            </a:r>
          </a:p>
          <a:p>
            <a:r>
              <a:rPr lang="en-PH" sz="3200" dirty="0" smtClean="0">
                <a:solidFill>
                  <a:schemeClr val="accent1">
                    <a:lumMod val="50000"/>
                  </a:schemeClr>
                </a:solidFill>
                <a:latin typeface="Candara" panose="020E0502030303020204" pitchFamily="34" charset="0"/>
              </a:rPr>
              <a:t>The agriculture sector to be at par with those in the industrial and  other sectors</a:t>
            </a:r>
          </a:p>
          <a:p>
            <a:r>
              <a:rPr lang="en-PH" sz="3200" dirty="0" smtClean="0">
                <a:solidFill>
                  <a:schemeClr val="accent1">
                    <a:lumMod val="50000"/>
                  </a:schemeClr>
                </a:solidFill>
                <a:latin typeface="Candara" panose="020E0502030303020204" pitchFamily="34" charset="0"/>
              </a:rPr>
              <a:t>The country to become globally competitive</a:t>
            </a:r>
          </a:p>
          <a:p>
            <a:r>
              <a:rPr lang="en-PH" sz="3200" dirty="0" smtClean="0">
                <a:solidFill>
                  <a:schemeClr val="accent1">
                    <a:lumMod val="50000"/>
                  </a:schemeClr>
                </a:solidFill>
                <a:latin typeface="Candara" panose="020E0502030303020204" pitchFamily="34" charset="0"/>
              </a:rPr>
              <a:t>The improvement of agriculture productivity </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Agriculture resources to be……….</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86534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role of extension is to bridge the gap </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1698702"/>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Between academe and industry</a:t>
            </a:r>
          </a:p>
          <a:p>
            <a:r>
              <a:rPr lang="en-PH" sz="3200" dirty="0" smtClean="0">
                <a:solidFill>
                  <a:schemeClr val="accent1">
                    <a:lumMod val="50000"/>
                  </a:schemeClr>
                </a:solidFill>
                <a:latin typeface="Candara" panose="020E0502030303020204" pitchFamily="34" charset="0"/>
              </a:rPr>
              <a:t>Between community leaders and farmers</a:t>
            </a:r>
          </a:p>
          <a:p>
            <a:r>
              <a:rPr lang="en-PH" sz="3200" dirty="0" smtClean="0">
                <a:solidFill>
                  <a:schemeClr val="accent1">
                    <a:lumMod val="50000"/>
                  </a:schemeClr>
                </a:solidFill>
                <a:latin typeface="Candara" panose="020E0502030303020204" pitchFamily="34" charset="0"/>
              </a:rPr>
              <a:t>Between research and client system</a:t>
            </a:r>
          </a:p>
          <a:p>
            <a:r>
              <a:rPr lang="en-PH" sz="3200" dirty="0" smtClean="0">
                <a:solidFill>
                  <a:schemeClr val="accent1">
                    <a:lumMod val="50000"/>
                  </a:schemeClr>
                </a:solidFill>
                <a:latin typeface="Candara" panose="020E0502030303020204" pitchFamily="34" charset="0"/>
              </a:rPr>
              <a:t>Between market system and consumer system</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Between research and client system</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21868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In the AFMA Act of 1997, the extension services that need to be provided to improve the status of farmers and </a:t>
            </a:r>
            <a:r>
              <a:rPr lang="en-PH" sz="3200" b="1" dirty="0" err="1" smtClean="0">
                <a:solidFill>
                  <a:schemeClr val="bg1"/>
                </a:solidFill>
                <a:latin typeface="Candara" panose="020E0502030303020204" pitchFamily="34" charset="0"/>
              </a:rPr>
              <a:t>fisherfolks</a:t>
            </a:r>
            <a:r>
              <a:rPr lang="en-PH" sz="3200" b="1" dirty="0" smtClean="0">
                <a:solidFill>
                  <a:schemeClr val="bg1"/>
                </a:solidFill>
                <a:latin typeface="Candara" panose="020E0502030303020204" pitchFamily="34" charset="0"/>
              </a:rPr>
              <a:t> include</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Training</a:t>
            </a:r>
          </a:p>
          <a:p>
            <a:r>
              <a:rPr lang="en-PH" sz="3200" dirty="0" smtClean="0">
                <a:solidFill>
                  <a:schemeClr val="accent1">
                    <a:lumMod val="50000"/>
                  </a:schemeClr>
                </a:solidFill>
                <a:latin typeface="Candara" panose="020E0502030303020204" pitchFamily="34" charset="0"/>
              </a:rPr>
              <a:t>Information</a:t>
            </a:r>
          </a:p>
          <a:p>
            <a:r>
              <a:rPr lang="en-PH" sz="3200" dirty="0" smtClean="0">
                <a:solidFill>
                  <a:schemeClr val="accent1">
                    <a:lumMod val="50000"/>
                  </a:schemeClr>
                </a:solidFill>
                <a:latin typeface="Candara" panose="020E0502030303020204" pitchFamily="34" charset="0"/>
              </a:rPr>
              <a:t>Support service</a:t>
            </a:r>
          </a:p>
          <a:p>
            <a:r>
              <a:rPr lang="en-PH" sz="3200" dirty="0" smtClean="0">
                <a:solidFill>
                  <a:schemeClr val="accent1">
                    <a:lumMod val="50000"/>
                  </a:schemeClr>
                </a:solidFill>
                <a:latin typeface="Candara" panose="020E0502030303020204" pitchFamily="34" charset="0"/>
              </a:rPr>
              <a:t>All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All of the above</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51176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Extension may be defined in terms of</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Service</a:t>
            </a:r>
          </a:p>
          <a:p>
            <a:r>
              <a:rPr lang="en-PH" sz="3200" dirty="0" smtClean="0">
                <a:solidFill>
                  <a:schemeClr val="accent1">
                    <a:lumMod val="50000"/>
                  </a:schemeClr>
                </a:solidFill>
                <a:latin typeface="Candara" panose="020E0502030303020204" pitchFamily="34" charset="0"/>
              </a:rPr>
              <a:t>Technology</a:t>
            </a:r>
          </a:p>
          <a:p>
            <a:r>
              <a:rPr lang="en-PH" sz="3200" dirty="0" smtClean="0">
                <a:solidFill>
                  <a:schemeClr val="accent1">
                    <a:lumMod val="50000"/>
                  </a:schemeClr>
                </a:solidFill>
                <a:latin typeface="Candara" panose="020E0502030303020204" pitchFamily="34" charset="0"/>
              </a:rPr>
              <a:t>Out-of-school education</a:t>
            </a:r>
          </a:p>
          <a:p>
            <a:r>
              <a:rPr lang="en-PH" sz="3200" dirty="0" smtClean="0">
                <a:solidFill>
                  <a:schemeClr val="accent1">
                    <a:lumMod val="50000"/>
                  </a:schemeClr>
                </a:solidFill>
                <a:latin typeface="Candara" panose="020E0502030303020204" pitchFamily="34" charset="0"/>
              </a:rPr>
              <a:t>All of these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All of these</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3024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A statement of a desired or ideal future</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Philosophy</a:t>
            </a:r>
          </a:p>
          <a:p>
            <a:r>
              <a:rPr lang="en-PH" sz="3200" dirty="0" smtClean="0">
                <a:solidFill>
                  <a:schemeClr val="accent1">
                    <a:lumMod val="50000"/>
                  </a:schemeClr>
                </a:solidFill>
                <a:latin typeface="Candara" panose="020E0502030303020204" pitchFamily="34" charset="0"/>
              </a:rPr>
              <a:t>Principles</a:t>
            </a:r>
          </a:p>
          <a:p>
            <a:r>
              <a:rPr lang="en-PH" sz="3200" dirty="0" smtClean="0">
                <a:solidFill>
                  <a:schemeClr val="accent1">
                    <a:lumMod val="50000"/>
                  </a:schemeClr>
                </a:solidFill>
                <a:latin typeface="Candara" panose="020E0502030303020204" pitchFamily="34" charset="0"/>
              </a:rPr>
              <a:t>Vision</a:t>
            </a:r>
          </a:p>
          <a:p>
            <a:r>
              <a:rPr lang="en-PH" sz="3200" dirty="0" smtClean="0">
                <a:solidFill>
                  <a:schemeClr val="accent1">
                    <a:lumMod val="50000"/>
                  </a:schemeClr>
                </a:solidFill>
                <a:latin typeface="Candara" panose="020E0502030303020204" pitchFamily="34" charset="0"/>
              </a:rPr>
              <a:t>Mission</a:t>
            </a:r>
          </a:p>
          <a:p>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Vision</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26070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Which of the following is not typical of a non-formal mode of education</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Setting demonstration plots</a:t>
            </a:r>
          </a:p>
          <a:p>
            <a:r>
              <a:rPr lang="en-PH" sz="3200" dirty="0" smtClean="0">
                <a:solidFill>
                  <a:schemeClr val="accent1">
                    <a:lumMod val="50000"/>
                  </a:schemeClr>
                </a:solidFill>
                <a:latin typeface="Candara" panose="020E0502030303020204" pitchFamily="34" charset="0"/>
              </a:rPr>
              <a:t>Farmers class</a:t>
            </a:r>
          </a:p>
          <a:p>
            <a:r>
              <a:rPr lang="en-PH" sz="3200" dirty="0" smtClean="0">
                <a:solidFill>
                  <a:schemeClr val="accent1">
                    <a:lumMod val="50000"/>
                  </a:schemeClr>
                </a:solidFill>
                <a:latin typeface="Candara" panose="020E0502030303020204" pitchFamily="34" charset="0"/>
              </a:rPr>
              <a:t>Field day</a:t>
            </a:r>
          </a:p>
          <a:p>
            <a:r>
              <a:rPr lang="en-PH" sz="3200" dirty="0" smtClean="0">
                <a:solidFill>
                  <a:schemeClr val="accent1">
                    <a:lumMod val="50000"/>
                  </a:schemeClr>
                </a:solidFill>
                <a:latin typeface="Candara" panose="020E0502030303020204" pitchFamily="34" charset="0"/>
              </a:rPr>
              <a:t>Making assignment</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Making </a:t>
            </a:r>
            <a:r>
              <a:rPr lang="en-PH" sz="3600" b="1" dirty="0" err="1" smtClean="0">
                <a:solidFill>
                  <a:srgbClr val="FF0000"/>
                </a:solidFill>
                <a:latin typeface="Candara" panose="020E0502030303020204" pitchFamily="34" charset="0"/>
              </a:rPr>
              <a:t>assignmnet</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98113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In non-formal mode of education, the clients include</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Farmers/ </a:t>
            </a:r>
            <a:r>
              <a:rPr lang="en-PH" sz="3200" dirty="0" err="1" smtClean="0">
                <a:solidFill>
                  <a:schemeClr val="accent1">
                    <a:lumMod val="50000"/>
                  </a:schemeClr>
                </a:solidFill>
                <a:latin typeface="Candara" panose="020E0502030303020204" pitchFamily="34" charset="0"/>
              </a:rPr>
              <a:t>fisherfolks</a:t>
            </a:r>
            <a:r>
              <a:rPr lang="en-PH" sz="3200" dirty="0" smtClean="0">
                <a:solidFill>
                  <a:schemeClr val="accent1">
                    <a:lumMod val="50000"/>
                  </a:schemeClr>
                </a:solidFill>
                <a:latin typeface="Candara" panose="020E0502030303020204" pitchFamily="34" charset="0"/>
              </a:rPr>
              <a:t>, housewives, out-of-school youth</a:t>
            </a:r>
          </a:p>
          <a:p>
            <a:r>
              <a:rPr lang="en-PH" sz="3200" dirty="0" smtClean="0">
                <a:solidFill>
                  <a:schemeClr val="accent1">
                    <a:lumMod val="50000"/>
                  </a:schemeClr>
                </a:solidFill>
                <a:latin typeface="Candara" panose="020E0502030303020204" pitchFamily="34" charset="0"/>
              </a:rPr>
              <a:t>Farmers only</a:t>
            </a:r>
          </a:p>
          <a:p>
            <a:r>
              <a:rPr lang="en-PH" sz="3200" dirty="0" smtClean="0">
                <a:solidFill>
                  <a:schemeClr val="accent1">
                    <a:lumMod val="50000"/>
                  </a:schemeClr>
                </a:solidFill>
                <a:latin typeface="Candara" panose="020E0502030303020204" pitchFamily="34" charset="0"/>
              </a:rPr>
              <a:t>Farmers and </a:t>
            </a:r>
            <a:r>
              <a:rPr lang="en-PH" sz="3200" dirty="0" err="1" smtClean="0">
                <a:solidFill>
                  <a:schemeClr val="accent1">
                    <a:lumMod val="50000"/>
                  </a:schemeClr>
                </a:solidFill>
                <a:latin typeface="Candara" panose="020E0502030303020204" pitchFamily="34" charset="0"/>
              </a:rPr>
              <a:t>fisherfolks</a:t>
            </a:r>
            <a:endParaRPr lang="en-PH" sz="3200" dirty="0" smtClean="0">
              <a:solidFill>
                <a:schemeClr val="accent1">
                  <a:lumMod val="50000"/>
                </a:schemeClr>
              </a:solidFill>
              <a:latin typeface="Candara" panose="020E0502030303020204" pitchFamily="34" charset="0"/>
            </a:endParaRPr>
          </a:p>
          <a:p>
            <a:r>
              <a:rPr lang="en-PH" sz="3200" dirty="0" smtClean="0">
                <a:solidFill>
                  <a:schemeClr val="accent1">
                    <a:lumMod val="50000"/>
                  </a:schemeClr>
                </a:solidFill>
                <a:latin typeface="Candara" panose="020E0502030303020204" pitchFamily="34" charset="0"/>
              </a:rPr>
              <a:t>None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Farmers/</a:t>
            </a:r>
            <a:r>
              <a:rPr lang="en-PH" sz="3600" b="1" dirty="0" err="1" smtClean="0">
                <a:solidFill>
                  <a:srgbClr val="FF0000"/>
                </a:solidFill>
                <a:latin typeface="Candara" panose="020E0502030303020204" pitchFamily="34" charset="0"/>
              </a:rPr>
              <a:t>fisherfolks</a:t>
            </a:r>
            <a:r>
              <a:rPr lang="en-PH" sz="3600" b="1" dirty="0" smtClean="0">
                <a:solidFill>
                  <a:srgbClr val="FF0000"/>
                </a:solidFill>
                <a:latin typeface="Candara" panose="020E0502030303020204" pitchFamily="34" charset="0"/>
              </a:rPr>
              <a:t>, housewives……..</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99840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type of development means making progress without sacrificing the welfare of the generations yet to come.</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46220" y="2014969"/>
            <a:ext cx="10303097" cy="3390449"/>
          </a:xfrm>
        </p:spPr>
        <p:txBody>
          <a:bodyPr>
            <a:normAutofit/>
          </a:bodyPr>
          <a:lstStyle/>
          <a:p>
            <a:r>
              <a:rPr lang="en-PH" sz="3200" dirty="0" smtClean="0">
                <a:solidFill>
                  <a:schemeClr val="accent1">
                    <a:lumMod val="50000"/>
                  </a:schemeClr>
                </a:solidFill>
                <a:latin typeface="Candara" panose="020E0502030303020204" pitchFamily="34" charset="0"/>
              </a:rPr>
              <a:t>Sustainable development</a:t>
            </a:r>
          </a:p>
          <a:p>
            <a:r>
              <a:rPr lang="en-PH" sz="3200" dirty="0" smtClean="0">
                <a:solidFill>
                  <a:schemeClr val="accent1">
                    <a:lumMod val="50000"/>
                  </a:schemeClr>
                </a:solidFill>
                <a:latin typeface="Candara" panose="020E0502030303020204" pitchFamily="34" charset="0"/>
              </a:rPr>
              <a:t>Rural development</a:t>
            </a:r>
          </a:p>
          <a:p>
            <a:r>
              <a:rPr lang="en-PH" sz="3200" dirty="0" smtClean="0">
                <a:solidFill>
                  <a:schemeClr val="accent1">
                    <a:lumMod val="50000"/>
                  </a:schemeClr>
                </a:solidFill>
                <a:latin typeface="Candara" panose="020E0502030303020204" pitchFamily="34" charset="0"/>
              </a:rPr>
              <a:t>Community development</a:t>
            </a:r>
          </a:p>
          <a:p>
            <a:r>
              <a:rPr lang="en-PH" sz="3200" dirty="0" smtClean="0">
                <a:solidFill>
                  <a:schemeClr val="accent1">
                    <a:lumMod val="50000"/>
                  </a:schemeClr>
                </a:solidFill>
                <a:latin typeface="Candara" panose="020E0502030303020204" pitchFamily="34" charset="0"/>
              </a:rPr>
              <a:t>None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Sustainable development</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35894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Empowerment means</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991673" y="1499814"/>
            <a:ext cx="10303097" cy="3390449"/>
          </a:xfrm>
        </p:spPr>
        <p:txBody>
          <a:bodyPr>
            <a:normAutofit/>
          </a:bodyPr>
          <a:lstStyle/>
          <a:p>
            <a:pPr marL="514350" indent="-514350">
              <a:buAutoNum type="alphaUcPeriod"/>
            </a:pPr>
            <a:r>
              <a:rPr lang="en-PH" sz="3200" dirty="0" smtClean="0">
                <a:solidFill>
                  <a:schemeClr val="accent1">
                    <a:lumMod val="50000"/>
                  </a:schemeClr>
                </a:solidFill>
                <a:latin typeface="Candara" panose="020E0502030303020204" pitchFamily="34" charset="0"/>
              </a:rPr>
              <a:t>Providing people with knowledge and skills for knowledge sake</a:t>
            </a:r>
          </a:p>
          <a:p>
            <a:pPr marL="514350" indent="-514350">
              <a:buAutoNum type="alphaUcPeriod"/>
            </a:pPr>
            <a:r>
              <a:rPr lang="en-PH" sz="3200" dirty="0" smtClean="0">
                <a:solidFill>
                  <a:schemeClr val="accent1">
                    <a:lumMod val="50000"/>
                  </a:schemeClr>
                </a:solidFill>
                <a:latin typeface="Candara" panose="020E0502030303020204" pitchFamily="34" charset="0"/>
              </a:rPr>
              <a:t>Providing people with knowledge and skills to capacitate them so they can respond to their needs and problems</a:t>
            </a:r>
          </a:p>
          <a:p>
            <a:pPr marL="514350" indent="-514350">
              <a:buAutoNum type="alphaUcPeriod"/>
            </a:pPr>
            <a:r>
              <a:rPr lang="en-PH" sz="3200" dirty="0" smtClean="0">
                <a:solidFill>
                  <a:schemeClr val="accent1">
                    <a:lumMod val="50000"/>
                  </a:schemeClr>
                </a:solidFill>
                <a:latin typeface="Candara" panose="020E0502030303020204" pitchFamily="34" charset="0"/>
              </a:rPr>
              <a:t>Providing opportunity to exploit others</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a:solidFill>
                  <a:srgbClr val="FF0000"/>
                </a:solidFill>
                <a:latin typeface="Candara" panose="020E0502030303020204" pitchFamily="34" charset="0"/>
              </a:rPr>
              <a:t>B</a:t>
            </a:r>
          </a:p>
        </p:txBody>
      </p:sp>
    </p:spTree>
    <p:extLst>
      <p:ext uri="{BB962C8B-B14F-4D97-AF65-F5344CB8AC3E}">
        <p14:creationId xmlns:p14="http://schemas.microsoft.com/office/powerpoint/2010/main" val="20853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term means using land, </a:t>
            </a:r>
            <a:r>
              <a:rPr lang="en-PH" sz="3200" b="1" dirty="0" err="1" smtClean="0">
                <a:solidFill>
                  <a:schemeClr val="bg1"/>
                </a:solidFill>
                <a:latin typeface="Candara" panose="020E0502030303020204" pitchFamily="34" charset="0"/>
              </a:rPr>
              <a:t>labor</a:t>
            </a:r>
            <a:r>
              <a:rPr lang="en-PH" sz="3200" b="1" dirty="0" smtClean="0">
                <a:solidFill>
                  <a:schemeClr val="bg1"/>
                </a:solidFill>
                <a:latin typeface="Candara" panose="020E0502030303020204" pitchFamily="34" charset="0"/>
              </a:rPr>
              <a:t>, capital and managerial ability in the best possible combination to produce marketable product with the least cost</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266682"/>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Managerial ability</a:t>
            </a:r>
          </a:p>
          <a:p>
            <a:r>
              <a:rPr lang="en-PH" sz="3200" dirty="0" smtClean="0">
                <a:solidFill>
                  <a:schemeClr val="accent1">
                    <a:lumMod val="50000"/>
                  </a:schemeClr>
                </a:solidFill>
                <a:latin typeface="Candara" panose="020E0502030303020204" pitchFamily="34" charset="0"/>
              </a:rPr>
              <a:t>Efficiency</a:t>
            </a:r>
          </a:p>
          <a:p>
            <a:r>
              <a:rPr lang="en-PH" sz="3200" dirty="0" smtClean="0">
                <a:solidFill>
                  <a:schemeClr val="accent1">
                    <a:lumMod val="50000"/>
                  </a:schemeClr>
                </a:solidFill>
                <a:latin typeface="Candara" panose="020E0502030303020204" pitchFamily="34" charset="0"/>
              </a:rPr>
              <a:t>Effectiveness</a:t>
            </a:r>
          </a:p>
          <a:p>
            <a:r>
              <a:rPr lang="en-PH" sz="3200" dirty="0" smtClean="0">
                <a:solidFill>
                  <a:schemeClr val="accent1">
                    <a:lumMod val="50000"/>
                  </a:schemeClr>
                </a:solidFill>
                <a:latin typeface="Candara" panose="020E0502030303020204" pitchFamily="34" charset="0"/>
              </a:rPr>
              <a:t>None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Efficiency</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76631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This term has been defined as the ability to make decisions that achieve goals in the most efficient manner</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266682"/>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Managerial ability</a:t>
            </a:r>
          </a:p>
          <a:p>
            <a:r>
              <a:rPr lang="en-PH" sz="3200" dirty="0" smtClean="0">
                <a:solidFill>
                  <a:schemeClr val="accent1">
                    <a:lumMod val="50000"/>
                  </a:schemeClr>
                </a:solidFill>
                <a:latin typeface="Candara" panose="020E0502030303020204" pitchFamily="34" charset="0"/>
              </a:rPr>
              <a:t>Efficiency</a:t>
            </a:r>
          </a:p>
          <a:p>
            <a:r>
              <a:rPr lang="en-PH" sz="3200" dirty="0" smtClean="0">
                <a:solidFill>
                  <a:schemeClr val="accent1">
                    <a:lumMod val="50000"/>
                  </a:schemeClr>
                </a:solidFill>
                <a:latin typeface="Candara" panose="020E0502030303020204" pitchFamily="34" charset="0"/>
              </a:rPr>
              <a:t>Effectiveness</a:t>
            </a:r>
          </a:p>
          <a:p>
            <a:r>
              <a:rPr lang="en-PH" sz="3200" dirty="0" smtClean="0">
                <a:solidFill>
                  <a:schemeClr val="accent1">
                    <a:lumMod val="50000"/>
                  </a:schemeClr>
                </a:solidFill>
                <a:latin typeface="Candara" panose="020E0502030303020204" pitchFamily="34" charset="0"/>
              </a:rPr>
              <a:t>None of the above</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Managerial Ability</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58978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The term means partnership among different organizations involved in extension</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065306"/>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Cooperation</a:t>
            </a:r>
          </a:p>
          <a:p>
            <a:r>
              <a:rPr lang="en-PH" sz="3200" dirty="0" smtClean="0">
                <a:solidFill>
                  <a:schemeClr val="accent1">
                    <a:lumMod val="50000"/>
                  </a:schemeClr>
                </a:solidFill>
                <a:latin typeface="Candara" panose="020E0502030303020204" pitchFamily="34" charset="0"/>
              </a:rPr>
              <a:t>Complementation</a:t>
            </a:r>
          </a:p>
          <a:p>
            <a:r>
              <a:rPr lang="en-PH" sz="3200" dirty="0" smtClean="0">
                <a:solidFill>
                  <a:schemeClr val="accent1">
                    <a:lumMod val="50000"/>
                  </a:schemeClr>
                </a:solidFill>
                <a:latin typeface="Candara" panose="020E0502030303020204" pitchFamily="34" charset="0"/>
              </a:rPr>
              <a:t>Coordination</a:t>
            </a:r>
          </a:p>
          <a:p>
            <a:r>
              <a:rPr lang="en-PH" sz="3200" dirty="0" smtClean="0">
                <a:solidFill>
                  <a:schemeClr val="accent1">
                    <a:lumMod val="50000"/>
                  </a:schemeClr>
                </a:solidFill>
                <a:latin typeface="Candara" panose="020E0502030303020204" pitchFamily="34" charset="0"/>
              </a:rPr>
              <a:t>Commitment</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Complementation</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408746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298172"/>
            <a:ext cx="9647819" cy="1400530"/>
          </a:xfrm>
        </p:spPr>
        <p:txBody>
          <a:bodyPr/>
          <a:lstStyle/>
          <a:p>
            <a:r>
              <a:rPr lang="en-PH" sz="3200" b="1" dirty="0" smtClean="0">
                <a:solidFill>
                  <a:schemeClr val="bg1"/>
                </a:solidFill>
                <a:latin typeface="Candara" panose="020E0502030303020204" pitchFamily="34" charset="0"/>
              </a:rPr>
              <a:t>This concept means the harmonized and unified effort of organizations to avoid wasteful duplication </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065306"/>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Cooperation</a:t>
            </a:r>
          </a:p>
          <a:p>
            <a:r>
              <a:rPr lang="en-PH" sz="3200" dirty="0" smtClean="0">
                <a:solidFill>
                  <a:schemeClr val="accent1">
                    <a:lumMod val="50000"/>
                  </a:schemeClr>
                </a:solidFill>
                <a:latin typeface="Candara" panose="020E0502030303020204" pitchFamily="34" charset="0"/>
              </a:rPr>
              <a:t>Collaboration</a:t>
            </a:r>
          </a:p>
          <a:p>
            <a:r>
              <a:rPr lang="en-PH" sz="3200" dirty="0" smtClean="0">
                <a:solidFill>
                  <a:schemeClr val="accent1">
                    <a:lumMod val="50000"/>
                  </a:schemeClr>
                </a:solidFill>
                <a:latin typeface="Candara" panose="020E0502030303020204" pitchFamily="34" charset="0"/>
              </a:rPr>
              <a:t>Coordination</a:t>
            </a:r>
          </a:p>
          <a:p>
            <a:r>
              <a:rPr lang="en-PH" sz="3200" dirty="0" smtClean="0">
                <a:solidFill>
                  <a:schemeClr val="accent1">
                    <a:lumMod val="50000"/>
                  </a:schemeClr>
                </a:solidFill>
                <a:latin typeface="Candara" panose="020E0502030303020204" pitchFamily="34" charset="0"/>
              </a:rPr>
              <a:t>Commitment</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Cooperation</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420853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481474"/>
            <a:ext cx="9647819" cy="1400530"/>
          </a:xfrm>
        </p:spPr>
        <p:txBody>
          <a:bodyPr/>
          <a:lstStyle/>
          <a:p>
            <a:r>
              <a:rPr lang="en-PH" sz="3200" b="1" dirty="0" smtClean="0">
                <a:solidFill>
                  <a:schemeClr val="bg1"/>
                </a:solidFill>
                <a:latin typeface="Candara" panose="020E0502030303020204" pitchFamily="34" charset="0"/>
              </a:rPr>
              <a:t>This means giving the best of oneself in helping others</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065306"/>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Cooperation</a:t>
            </a:r>
          </a:p>
          <a:p>
            <a:r>
              <a:rPr lang="en-PH" sz="3200" dirty="0" smtClean="0">
                <a:solidFill>
                  <a:schemeClr val="accent1">
                    <a:lumMod val="50000"/>
                  </a:schemeClr>
                </a:solidFill>
                <a:latin typeface="Candara" panose="020E0502030303020204" pitchFamily="34" charset="0"/>
              </a:rPr>
              <a:t>Collaboration</a:t>
            </a:r>
          </a:p>
          <a:p>
            <a:r>
              <a:rPr lang="en-PH" sz="3200" dirty="0" smtClean="0">
                <a:solidFill>
                  <a:schemeClr val="accent1">
                    <a:lumMod val="50000"/>
                  </a:schemeClr>
                </a:solidFill>
                <a:latin typeface="Candara" panose="020E0502030303020204" pitchFamily="34" charset="0"/>
              </a:rPr>
              <a:t>Coordination</a:t>
            </a:r>
          </a:p>
          <a:p>
            <a:r>
              <a:rPr lang="en-PH" sz="3200" dirty="0" smtClean="0">
                <a:solidFill>
                  <a:schemeClr val="accent1">
                    <a:lumMod val="50000"/>
                  </a:schemeClr>
                </a:solidFill>
                <a:latin typeface="Candara" panose="020E0502030303020204" pitchFamily="34" charset="0"/>
              </a:rPr>
              <a:t>Commitment</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Commitment</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41452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653" y="520332"/>
            <a:ext cx="9610930" cy="4195481"/>
          </a:xfrm>
        </p:spPr>
        <p:txBody>
          <a:bodyPr>
            <a:normAutofit/>
          </a:bodyPr>
          <a:lstStyle/>
          <a:p>
            <a:pPr marL="0" indent="0">
              <a:buNone/>
            </a:pPr>
            <a:r>
              <a:rPr lang="en-PH" sz="2800" b="1" dirty="0" smtClean="0">
                <a:solidFill>
                  <a:schemeClr val="bg1"/>
                </a:solidFill>
                <a:latin typeface="Candara" panose="020E0502030303020204" pitchFamily="34" charset="0"/>
              </a:rPr>
              <a:t>Managerial ability- </a:t>
            </a:r>
            <a:r>
              <a:rPr lang="en-PH" sz="2800" dirty="0" smtClean="0">
                <a:solidFill>
                  <a:schemeClr val="bg1"/>
                </a:solidFill>
                <a:latin typeface="Candara" panose="020E0502030303020204" pitchFamily="34" charset="0"/>
              </a:rPr>
              <a:t>the ability to manage or direct</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Coordination- </a:t>
            </a:r>
            <a:r>
              <a:rPr lang="en-PH" sz="2800" dirty="0" smtClean="0">
                <a:solidFill>
                  <a:schemeClr val="bg1"/>
                </a:solidFill>
                <a:latin typeface="Candara" panose="020E0502030303020204" pitchFamily="34" charset="0"/>
              </a:rPr>
              <a:t>to make arrangements so that two or more 	people or groups of people can work together properly and 	well</a:t>
            </a:r>
          </a:p>
          <a:p>
            <a:pPr marL="0" indent="0">
              <a:buNone/>
            </a:pPr>
            <a:r>
              <a:rPr lang="en-PH" sz="2800" b="1" dirty="0" smtClean="0">
                <a:solidFill>
                  <a:schemeClr val="bg1"/>
                </a:solidFill>
                <a:latin typeface="Candara" panose="020E0502030303020204" pitchFamily="34" charset="0"/>
              </a:rPr>
              <a:t>Collaboration- </a:t>
            </a:r>
            <a:r>
              <a:rPr lang="en-PH" sz="2800" dirty="0" smtClean="0">
                <a:solidFill>
                  <a:schemeClr val="bg1"/>
                </a:solidFill>
                <a:latin typeface="Candara" panose="020E0502030303020204" pitchFamily="34" charset="0"/>
              </a:rPr>
              <a:t>to work jointly with others or together 	especially in intellectual endeavours</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87086678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517" y="1029493"/>
            <a:ext cx="10045335" cy="1400530"/>
          </a:xfrm>
        </p:spPr>
        <p:txBody>
          <a:bodyPr/>
          <a:lstStyle/>
          <a:p>
            <a:pPr algn="ctr"/>
            <a:r>
              <a:rPr lang="en-PH" sz="4800" u="sng" dirty="0" smtClean="0">
                <a:solidFill>
                  <a:schemeClr val="bg1"/>
                </a:solidFill>
                <a:latin typeface="Candara" panose="020E0502030303020204" pitchFamily="34" charset="0"/>
              </a:rPr>
              <a:t>Commitment</a:t>
            </a:r>
            <a:r>
              <a:rPr lang="en-PH" sz="4800" dirty="0" smtClean="0">
                <a:solidFill>
                  <a:schemeClr val="bg1"/>
                </a:solidFill>
                <a:latin typeface="Candara" panose="020E0502030303020204" pitchFamily="34" charset="0"/>
              </a:rPr>
              <a:t>, </a:t>
            </a:r>
            <a:r>
              <a:rPr lang="en-PH" sz="4800" u="sng" dirty="0" smtClean="0">
                <a:solidFill>
                  <a:schemeClr val="bg1"/>
                </a:solidFill>
                <a:latin typeface="Candara" panose="020E0502030303020204" pitchFamily="34" charset="0"/>
              </a:rPr>
              <a:t>cooperation</a:t>
            </a:r>
            <a:r>
              <a:rPr lang="en-PH" sz="4800" dirty="0" smtClean="0">
                <a:solidFill>
                  <a:schemeClr val="bg1"/>
                </a:solidFill>
                <a:latin typeface="Candara" panose="020E0502030303020204" pitchFamily="34" charset="0"/>
              </a:rPr>
              <a:t>, </a:t>
            </a:r>
            <a:r>
              <a:rPr lang="en-PH" sz="4800" u="sng" dirty="0" smtClean="0">
                <a:solidFill>
                  <a:schemeClr val="bg1"/>
                </a:solidFill>
                <a:latin typeface="Candara" panose="020E0502030303020204" pitchFamily="34" charset="0"/>
              </a:rPr>
              <a:t>coordination </a:t>
            </a:r>
            <a:r>
              <a:rPr lang="en-PH" sz="4800" dirty="0" smtClean="0">
                <a:solidFill>
                  <a:schemeClr val="bg1"/>
                </a:solidFill>
                <a:latin typeface="Candara" panose="020E0502030303020204" pitchFamily="34" charset="0"/>
              </a:rPr>
              <a:t>and </a:t>
            </a:r>
            <a:r>
              <a:rPr lang="en-PH" sz="4800" u="sng" dirty="0" smtClean="0">
                <a:solidFill>
                  <a:schemeClr val="bg1"/>
                </a:solidFill>
                <a:latin typeface="Candara" panose="020E0502030303020204" pitchFamily="34" charset="0"/>
              </a:rPr>
              <a:t>complementation </a:t>
            </a:r>
            <a:r>
              <a:rPr lang="en-PH" sz="4800" dirty="0" smtClean="0">
                <a:solidFill>
                  <a:schemeClr val="bg1"/>
                </a:solidFill>
                <a:latin typeface="Candara" panose="020E0502030303020204" pitchFamily="34" charset="0"/>
              </a:rPr>
              <a:t>are key values and strategies to remember for the sake of our fellowmen.</a:t>
            </a:r>
            <a:endParaRPr lang="en-PH" sz="4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421763843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258" y="2000165"/>
            <a:ext cx="11033399" cy="1400530"/>
          </a:xfrm>
        </p:spPr>
        <p:txBody>
          <a:bodyPr/>
          <a:lstStyle/>
          <a:p>
            <a:r>
              <a:rPr lang="en-PH" sz="3600" dirty="0" smtClean="0">
                <a:solidFill>
                  <a:schemeClr val="accent1">
                    <a:lumMod val="50000"/>
                  </a:schemeClr>
                </a:solidFill>
                <a:latin typeface="Candara" panose="020E0502030303020204" pitchFamily="34" charset="0"/>
              </a:rPr>
              <a:t>Cooperation</a:t>
            </a:r>
            <a:r>
              <a:rPr lang="en-PH" sz="3600" dirty="0" smtClean="0">
                <a:solidFill>
                  <a:schemeClr val="bg1"/>
                </a:solidFill>
                <a:latin typeface="Candara" panose="020E0502030303020204" pitchFamily="34" charset="0"/>
              </a:rPr>
              <a:t>- harmonized and unified efforts of 					organizations and people while complementation 		connotes providing the needed support lacking in 		one organization.</a:t>
            </a:r>
            <a:br>
              <a:rPr lang="en-PH" sz="3600" dirty="0" smtClean="0">
                <a:solidFill>
                  <a:schemeClr val="bg1"/>
                </a:solidFill>
                <a:latin typeface="Candara" panose="020E0502030303020204" pitchFamily="34" charset="0"/>
              </a:rPr>
            </a:br>
            <a:r>
              <a:rPr lang="en-PH" sz="3600" dirty="0" smtClean="0">
                <a:solidFill>
                  <a:schemeClr val="bg1"/>
                </a:solidFill>
                <a:latin typeface="Candara" panose="020E0502030303020204" pitchFamily="34" charset="0"/>
              </a:rPr>
              <a:t/>
            </a:r>
            <a:br>
              <a:rPr lang="en-PH" sz="3600" dirty="0" smtClean="0">
                <a:solidFill>
                  <a:schemeClr val="bg1"/>
                </a:solidFill>
                <a:latin typeface="Candara" panose="020E0502030303020204" pitchFamily="34" charset="0"/>
              </a:rPr>
            </a:br>
            <a:r>
              <a:rPr lang="en-PH" sz="3600" dirty="0" smtClean="0">
                <a:solidFill>
                  <a:schemeClr val="accent1">
                    <a:lumMod val="50000"/>
                  </a:schemeClr>
                </a:solidFill>
                <a:latin typeface="Candara" panose="020E0502030303020204" pitchFamily="34" charset="0"/>
              </a:rPr>
              <a:t>Complementation</a:t>
            </a:r>
            <a:r>
              <a:rPr lang="en-PH" sz="3600" dirty="0" smtClean="0">
                <a:solidFill>
                  <a:schemeClr val="bg1"/>
                </a:solidFill>
                <a:latin typeface="Candara" panose="020E0502030303020204" pitchFamily="34" charset="0"/>
              </a:rPr>
              <a:t>- </a:t>
            </a:r>
            <a:r>
              <a:rPr lang="en-PH" sz="3600" dirty="0">
                <a:solidFill>
                  <a:schemeClr val="bg1"/>
                </a:solidFill>
                <a:latin typeface="Candara" panose="020E0502030303020204" pitchFamily="34" charset="0"/>
              </a:rPr>
              <a:t>mean partnership 	</a:t>
            </a:r>
            <a:r>
              <a:rPr lang="en-PH" sz="3600" dirty="0" smtClean="0">
                <a:solidFill>
                  <a:schemeClr val="bg1"/>
                </a:solidFill>
                <a:latin typeface="Candara" panose="020E0502030303020204" pitchFamily="34" charset="0"/>
              </a:rPr>
              <a:t>among </a:t>
            </a:r>
            <a:r>
              <a:rPr lang="en-PH" sz="3600" dirty="0">
                <a:solidFill>
                  <a:schemeClr val="bg1"/>
                </a:solidFill>
                <a:latin typeface="Candara" panose="020E0502030303020204" pitchFamily="34" charset="0"/>
              </a:rPr>
              <a:t>the </a:t>
            </a:r>
            <a:r>
              <a:rPr lang="en-PH" sz="3600" dirty="0" smtClean="0">
                <a:solidFill>
                  <a:schemeClr val="bg1"/>
                </a:solidFill>
                <a:latin typeface="Candara" panose="020E0502030303020204" pitchFamily="34" charset="0"/>
              </a:rPr>
              <a:t>					different </a:t>
            </a:r>
            <a:r>
              <a:rPr lang="en-PH" sz="3600" dirty="0">
                <a:solidFill>
                  <a:schemeClr val="bg1"/>
                </a:solidFill>
                <a:latin typeface="Candara" panose="020E0502030303020204" pitchFamily="34" charset="0"/>
              </a:rPr>
              <a:t>organizations</a:t>
            </a:r>
          </a:p>
        </p:txBody>
      </p:sp>
      <p:sp>
        <p:nvSpPr>
          <p:cNvPr id="4" name="Title 1"/>
          <p:cNvSpPr txBox="1">
            <a:spLocks/>
          </p:cNvSpPr>
          <p:nvPr/>
        </p:nvSpPr>
        <p:spPr>
          <a:xfrm>
            <a:off x="459906" y="394103"/>
            <a:ext cx="9779030"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PH" sz="4000" dirty="0" smtClean="0">
                <a:solidFill>
                  <a:schemeClr val="accent1">
                    <a:lumMod val="50000"/>
                  </a:schemeClr>
                </a:solidFill>
                <a:latin typeface="Candara" panose="020E0502030303020204" pitchFamily="34" charset="0"/>
              </a:rPr>
              <a:t>Commitment</a:t>
            </a:r>
            <a:r>
              <a:rPr lang="en-PH" sz="4000" dirty="0" smtClean="0">
                <a:solidFill>
                  <a:schemeClr val="bg1"/>
                </a:solidFill>
                <a:latin typeface="Candara" panose="020E0502030303020204" pitchFamily="34" charset="0"/>
              </a:rPr>
              <a:t>- giving the best of oneself in helping others.</a:t>
            </a:r>
            <a:endParaRPr lang="en-PH" sz="40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3130047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481474"/>
            <a:ext cx="9647819" cy="1038233"/>
          </a:xfrm>
        </p:spPr>
        <p:txBody>
          <a:bodyPr/>
          <a:lstStyle/>
          <a:p>
            <a:r>
              <a:rPr lang="en-PH" sz="3200" b="1" dirty="0" smtClean="0">
                <a:solidFill>
                  <a:schemeClr val="bg1"/>
                </a:solidFill>
                <a:latin typeface="Candara" panose="020E0502030303020204" pitchFamily="34" charset="0"/>
              </a:rPr>
              <a:t>Which of the following is not typical in extension?</a:t>
            </a:r>
            <a:br>
              <a:rPr lang="en-PH" sz="3200" b="1" dirty="0" smtClean="0">
                <a:solidFill>
                  <a:schemeClr val="bg1"/>
                </a:solidFill>
                <a:latin typeface="Candara" panose="020E0502030303020204" pitchFamily="34" charset="0"/>
              </a:rPr>
            </a:b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065306"/>
            <a:ext cx="10303097" cy="2987696"/>
          </a:xfrm>
        </p:spPr>
        <p:txBody>
          <a:bodyPr>
            <a:normAutofit/>
          </a:bodyPr>
          <a:lstStyle/>
          <a:p>
            <a:pPr marL="514350" indent="-514350">
              <a:buAutoNum type="alphaUcPeriod"/>
            </a:pPr>
            <a:r>
              <a:rPr lang="en-PH" sz="3200" dirty="0" smtClean="0">
                <a:solidFill>
                  <a:schemeClr val="accent1">
                    <a:lumMod val="50000"/>
                  </a:schemeClr>
                </a:solidFill>
                <a:latin typeface="Candara" panose="020E0502030303020204" pitchFamily="34" charset="0"/>
              </a:rPr>
              <a:t>Programs are based on peoples problems and needs</a:t>
            </a:r>
          </a:p>
          <a:p>
            <a:pPr marL="514350" indent="-514350">
              <a:buAutoNum type="alphaUcPeriod"/>
            </a:pPr>
            <a:r>
              <a:rPr lang="en-PH" sz="3200" dirty="0" smtClean="0">
                <a:solidFill>
                  <a:schemeClr val="accent1">
                    <a:lumMod val="50000"/>
                  </a:schemeClr>
                </a:solidFill>
                <a:latin typeface="Candara" panose="020E0502030303020204" pitchFamily="34" charset="0"/>
              </a:rPr>
              <a:t>Participation is compulsory</a:t>
            </a:r>
          </a:p>
          <a:p>
            <a:pPr marL="514350" indent="-514350">
              <a:buAutoNum type="alphaUcPeriod"/>
            </a:pPr>
            <a:r>
              <a:rPr lang="en-PH" sz="3200" dirty="0" smtClean="0">
                <a:solidFill>
                  <a:schemeClr val="accent1">
                    <a:lumMod val="50000"/>
                  </a:schemeClr>
                </a:solidFill>
                <a:latin typeface="Candara" panose="020E0502030303020204" pitchFamily="34" charset="0"/>
              </a:rPr>
              <a:t>People differ in their culture</a:t>
            </a:r>
          </a:p>
          <a:p>
            <a:pPr marL="514350" indent="-514350">
              <a:buAutoNum type="alphaUcPeriod"/>
            </a:pPr>
            <a:r>
              <a:rPr lang="en-PH" sz="3200" dirty="0" smtClean="0">
                <a:solidFill>
                  <a:schemeClr val="accent1">
                    <a:lumMod val="50000"/>
                  </a:schemeClr>
                </a:solidFill>
                <a:latin typeface="Candara" panose="020E0502030303020204" pitchFamily="34" charset="0"/>
              </a:rPr>
              <a:t>Local leaders </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a:solidFill>
                  <a:srgbClr val="FF0000"/>
                </a:solidFill>
                <a:latin typeface="Candara" panose="020E0502030303020204" pitchFamily="34" charset="0"/>
              </a:rPr>
              <a:t>B</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113109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63" y="481474"/>
            <a:ext cx="9647819" cy="1038233"/>
          </a:xfrm>
        </p:spPr>
        <p:txBody>
          <a:bodyPr/>
          <a:lstStyle/>
          <a:p>
            <a:r>
              <a:rPr lang="en-PH" sz="3200" b="1" dirty="0" smtClean="0">
                <a:solidFill>
                  <a:schemeClr val="bg1"/>
                </a:solidFill>
                <a:latin typeface="Candara" panose="020E0502030303020204" pitchFamily="34" charset="0"/>
              </a:rPr>
              <a:t>Extension provide educational opportunities basically through;</a:t>
            </a:r>
            <a:endParaRPr lang="en-PH" sz="32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848463" y="2065306"/>
            <a:ext cx="10303097" cy="2987696"/>
          </a:xfrm>
        </p:spPr>
        <p:txBody>
          <a:bodyPr>
            <a:normAutofit/>
          </a:bodyPr>
          <a:lstStyle/>
          <a:p>
            <a:r>
              <a:rPr lang="en-PH" sz="3200" dirty="0" smtClean="0">
                <a:solidFill>
                  <a:schemeClr val="accent1">
                    <a:lumMod val="50000"/>
                  </a:schemeClr>
                </a:solidFill>
                <a:latin typeface="Candara" panose="020E0502030303020204" pitchFamily="34" charset="0"/>
              </a:rPr>
              <a:t>Coercion</a:t>
            </a:r>
          </a:p>
          <a:p>
            <a:r>
              <a:rPr lang="en-PH" sz="3200" dirty="0" smtClean="0">
                <a:solidFill>
                  <a:schemeClr val="accent1">
                    <a:lumMod val="50000"/>
                  </a:schemeClr>
                </a:solidFill>
                <a:latin typeface="Candara" panose="020E0502030303020204" pitchFamily="34" charset="0"/>
              </a:rPr>
              <a:t>Compulsion</a:t>
            </a:r>
          </a:p>
          <a:p>
            <a:r>
              <a:rPr lang="en-PH" sz="3200" dirty="0" smtClean="0">
                <a:solidFill>
                  <a:schemeClr val="accent1">
                    <a:lumMod val="50000"/>
                  </a:schemeClr>
                </a:solidFill>
                <a:latin typeface="Candara" panose="020E0502030303020204" pitchFamily="34" charset="0"/>
              </a:rPr>
              <a:t>Leadership</a:t>
            </a:r>
          </a:p>
          <a:p>
            <a:r>
              <a:rPr lang="en-PH" sz="3200" dirty="0" smtClean="0">
                <a:solidFill>
                  <a:schemeClr val="accent1">
                    <a:lumMod val="50000"/>
                  </a:schemeClr>
                </a:solidFill>
                <a:latin typeface="Candara" panose="020E0502030303020204" pitchFamily="34" charset="0"/>
              </a:rPr>
              <a:t>Voluntary participation</a:t>
            </a:r>
            <a:endParaRPr lang="en-PH" sz="3200" dirty="0">
              <a:solidFill>
                <a:schemeClr val="accent1">
                  <a:lumMod val="50000"/>
                </a:schemeClr>
              </a:solidFill>
              <a:latin typeface="Candara" panose="020E0502030303020204" pitchFamily="34" charset="0"/>
            </a:endParaRPr>
          </a:p>
        </p:txBody>
      </p:sp>
      <p:sp>
        <p:nvSpPr>
          <p:cNvPr id="4" name="Title 1"/>
          <p:cNvSpPr txBox="1">
            <a:spLocks/>
          </p:cNvSpPr>
          <p:nvPr/>
        </p:nvSpPr>
        <p:spPr>
          <a:xfrm>
            <a:off x="1146220" y="5419606"/>
            <a:ext cx="9404723" cy="657801"/>
          </a:xfrm>
          <a:prstGeom prst="rect">
            <a:avLst/>
          </a:prstGeom>
          <a:ln>
            <a:solidFill>
              <a:schemeClr val="accent2"/>
            </a:solidFill>
          </a:ln>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600" b="1" dirty="0" smtClean="0">
                <a:solidFill>
                  <a:srgbClr val="FF0000"/>
                </a:solidFill>
                <a:latin typeface="Candara" panose="020E0502030303020204" pitchFamily="34" charset="0"/>
              </a:rPr>
              <a:t>Voluntary participation</a:t>
            </a:r>
            <a:endParaRPr lang="en-PH" sz="3600" b="1" dirty="0">
              <a:solidFill>
                <a:srgbClr val="FF0000"/>
              </a:solidFill>
              <a:latin typeface="Candara" panose="020E0502030303020204" pitchFamily="34" charset="0"/>
            </a:endParaRPr>
          </a:p>
        </p:txBody>
      </p:sp>
    </p:spTree>
    <p:extLst>
      <p:ext uri="{BB962C8B-B14F-4D97-AF65-F5344CB8AC3E}">
        <p14:creationId xmlns:p14="http://schemas.microsoft.com/office/powerpoint/2010/main" val="358872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5288" y="1638300"/>
            <a:ext cx="11174963" cy="2975903"/>
          </a:xfrm>
        </p:spPr>
        <p:txBody>
          <a:bodyPr/>
          <a:lstStyle/>
          <a:p>
            <a:pPr algn="ct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PHYLOSOPHY </a:t>
            </a:r>
            <a:b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b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OF </a:t>
            </a:r>
            <a:b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b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EXTENSION </a:t>
            </a:r>
            <a:endParaRPr lang="en-PH"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 name="Half Frame 6"/>
          <p:cNvSpPr/>
          <p:nvPr/>
        </p:nvSpPr>
        <p:spPr>
          <a:xfrm rot="10800000">
            <a:off x="1154954" y="5472331"/>
            <a:ext cx="11037045" cy="1334087"/>
          </a:xfrm>
          <a:prstGeom prst="halfFrame">
            <a:avLst>
              <a:gd name="adj1" fmla="val 21734"/>
              <a:gd name="adj2" fmla="val 34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Tree>
    <p:extLst>
      <p:ext uri="{BB962C8B-B14F-4D97-AF65-F5344CB8AC3E}">
        <p14:creationId xmlns:p14="http://schemas.microsoft.com/office/powerpoint/2010/main" val="400575308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1036" y="674879"/>
            <a:ext cx="10011156" cy="5584253"/>
          </a:xfrm>
        </p:spPr>
        <p:txBody>
          <a:bodyPr>
            <a:noAutofit/>
          </a:bodyPr>
          <a:lstStyle/>
          <a:p>
            <a:pPr marL="0" indent="0">
              <a:buNone/>
            </a:pPr>
            <a:r>
              <a:rPr lang="en-PH" sz="2800" u="sng" dirty="0" smtClean="0">
                <a:solidFill>
                  <a:schemeClr val="bg1"/>
                </a:solidFill>
                <a:latin typeface="Candara" panose="020E0502030303020204" pitchFamily="34" charset="0"/>
              </a:rPr>
              <a:t>Structure of Philosophy:</a:t>
            </a:r>
            <a:endParaRPr lang="en-PH" sz="2800" u="sng" dirty="0">
              <a:solidFill>
                <a:schemeClr val="bg1"/>
              </a:solidFill>
              <a:latin typeface="Candara" panose="020E0502030303020204" pitchFamily="34" charset="0"/>
            </a:endParaRPr>
          </a:p>
          <a:p>
            <a:pPr marL="0" indent="0">
              <a:buNone/>
            </a:pPr>
            <a:endParaRPr lang="en-PH" sz="2800" b="1" dirty="0" smtClean="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BELIEFS</a:t>
            </a:r>
            <a:r>
              <a:rPr lang="en-PH" sz="2800" dirty="0" smtClean="0">
                <a:solidFill>
                  <a:schemeClr val="bg1"/>
                </a:solidFill>
                <a:latin typeface="Candara" panose="020E0502030303020204" pitchFamily="34" charset="0"/>
              </a:rPr>
              <a:t>- one’s mental convictions, view of the world, or acceptance of something</a:t>
            </a:r>
          </a:p>
          <a:p>
            <a:pPr marL="0" indent="0">
              <a:buNone/>
            </a:pPr>
            <a:endParaRPr lang="en-PH" sz="2800" dirty="0" smtClean="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ETHICS-</a:t>
            </a:r>
            <a:r>
              <a:rPr lang="en-PH" sz="2800" dirty="0" smtClean="0">
                <a:solidFill>
                  <a:schemeClr val="bg1"/>
                </a:solidFill>
                <a:latin typeface="Candara" panose="020E0502030303020204" pitchFamily="34" charset="0"/>
              </a:rPr>
              <a:t> the basic principle of right actions/ conduct as defined by profession, society and nation. The ideal of conduct.</a:t>
            </a:r>
          </a:p>
          <a:p>
            <a:pPr marL="0" indent="0">
              <a:buNone/>
            </a:pPr>
            <a:endParaRPr lang="en-PH" sz="2800" dirty="0" smtClean="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VALUES-</a:t>
            </a:r>
            <a:r>
              <a:rPr lang="en-PH" sz="2800" dirty="0" smtClean="0">
                <a:solidFill>
                  <a:schemeClr val="bg1"/>
                </a:solidFill>
                <a:latin typeface="Candara" panose="020E0502030303020204" pitchFamily="34" charset="0"/>
              </a:rPr>
              <a:t> something regarded as desirable, worthy or right. The intensity or degree of valuing something may change in time.</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6693939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109" y="1156103"/>
            <a:ext cx="9996097" cy="1400530"/>
          </a:xfrm>
        </p:spPr>
        <p:txBody>
          <a:bodyPr/>
          <a:lstStyle/>
          <a:p>
            <a:r>
              <a:rPr lang="en-PH" dirty="0" smtClean="0">
                <a:solidFill>
                  <a:schemeClr val="bg1"/>
                </a:solidFill>
                <a:latin typeface="Candara" panose="020E0502030303020204" pitchFamily="34" charset="0"/>
              </a:rPr>
              <a:t>	Philosophy is </a:t>
            </a:r>
            <a:r>
              <a:rPr lang="en-PH" dirty="0" smtClean="0">
                <a:solidFill>
                  <a:schemeClr val="bg1"/>
                </a:solidFill>
                <a:latin typeface="Candara" panose="020E0502030303020204" pitchFamily="34" charset="0"/>
              </a:rPr>
              <a:t>a </a:t>
            </a:r>
            <a:r>
              <a:rPr lang="en-PH" dirty="0" smtClean="0">
                <a:solidFill>
                  <a:schemeClr val="bg1"/>
                </a:solidFill>
                <a:latin typeface="Candara" panose="020E0502030303020204" pitchFamily="34" charset="0"/>
              </a:rPr>
              <a:t>body </a:t>
            </a:r>
            <a:r>
              <a:rPr lang="en-PH" dirty="0" smtClean="0">
                <a:solidFill>
                  <a:schemeClr val="bg1"/>
                </a:solidFill>
                <a:latin typeface="Candara" panose="020E0502030303020204" pitchFamily="34" charset="0"/>
              </a:rPr>
              <a:t>of principles that governs the conduct of human activity.</a:t>
            </a:r>
            <a:endParaRPr lang="en-PH" dirty="0">
              <a:solidFill>
                <a:schemeClr val="bg1"/>
              </a:solidFill>
              <a:latin typeface="Candara" panose="020E0502030303020204" pitchFamily="34" charset="0"/>
            </a:endParaRPr>
          </a:p>
        </p:txBody>
      </p:sp>
      <p:sp>
        <p:nvSpPr>
          <p:cNvPr id="4" name="Title 1"/>
          <p:cNvSpPr txBox="1">
            <a:spLocks/>
          </p:cNvSpPr>
          <p:nvPr/>
        </p:nvSpPr>
        <p:spPr>
          <a:xfrm>
            <a:off x="1061109" y="3221708"/>
            <a:ext cx="10122706" cy="241943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bg1"/>
                </a:solidFill>
                <a:latin typeface="Candara" panose="020E0502030303020204" pitchFamily="34" charset="0"/>
              </a:rPr>
              <a:t>	There are some philosophical qualities of education that apply to extension which we may adopt, believe and practice.</a:t>
            </a:r>
            <a:endParaRPr lang="en-PH" dirty="0">
              <a:solidFill>
                <a:schemeClr val="bg1"/>
              </a:solidFill>
              <a:latin typeface="Candara" panose="020E0502030303020204" pitchFamily="34" charset="0"/>
            </a:endParaRPr>
          </a:p>
        </p:txBody>
      </p:sp>
    </p:spTree>
    <p:extLst>
      <p:ext uri="{BB962C8B-B14F-4D97-AF65-F5344CB8AC3E}">
        <p14:creationId xmlns:p14="http://schemas.microsoft.com/office/powerpoint/2010/main" val="177578815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535" y="801858"/>
            <a:ext cx="11135581" cy="4391465"/>
          </a:xfrm>
        </p:spPr>
        <p:txBody>
          <a:bodyPr>
            <a:noAutofit/>
          </a:bodyPr>
          <a:lstStyle/>
          <a:p>
            <a:pPr marL="0" indent="0">
              <a:buNone/>
            </a:pPr>
            <a:r>
              <a:rPr lang="en-PH" sz="3600" dirty="0" smtClean="0">
                <a:solidFill>
                  <a:schemeClr val="bg1"/>
                </a:solidFill>
                <a:latin typeface="Candara" panose="020E0502030303020204" pitchFamily="34" charset="0"/>
              </a:rPr>
              <a:t>1. That education is the most permanent way trough which to bring about change; extension is fundamentally education.</a:t>
            </a:r>
          </a:p>
          <a:p>
            <a:pPr marL="0" indent="0">
              <a:buNone/>
            </a:pPr>
            <a:endParaRPr lang="en-PH" sz="3600" dirty="0" smtClean="0">
              <a:solidFill>
                <a:schemeClr val="bg1"/>
              </a:solidFill>
              <a:latin typeface="Candara" panose="020E0502030303020204" pitchFamily="34" charset="0"/>
            </a:endParaRPr>
          </a:p>
          <a:p>
            <a:pPr marL="0" indent="0">
              <a:buNone/>
            </a:pPr>
            <a:r>
              <a:rPr lang="en-PH" sz="3600" dirty="0" smtClean="0">
                <a:solidFill>
                  <a:schemeClr val="bg1"/>
                </a:solidFill>
                <a:latin typeface="Candara" panose="020E0502030303020204" pitchFamily="34" charset="0"/>
              </a:rPr>
              <a:t>2. Effective extension education is voluntary participation.</a:t>
            </a:r>
          </a:p>
          <a:p>
            <a:pPr marL="0" indent="0">
              <a:buNone/>
            </a:pPr>
            <a:endParaRPr lang="en-PH" sz="3600" dirty="0" smtClean="0">
              <a:solidFill>
                <a:schemeClr val="bg1"/>
              </a:solidFill>
              <a:latin typeface="Candara" panose="020E0502030303020204" pitchFamily="34" charset="0"/>
            </a:endParaRPr>
          </a:p>
          <a:p>
            <a:pPr marL="0" indent="0">
              <a:buNone/>
            </a:pPr>
            <a:r>
              <a:rPr lang="en-PH" sz="3600" dirty="0" smtClean="0">
                <a:solidFill>
                  <a:schemeClr val="bg1"/>
                </a:solidFill>
                <a:latin typeface="Candara" panose="020E0502030303020204" pitchFamily="34" charset="0"/>
              </a:rPr>
              <a:t>3. Teaches people to do things, not a system of doing things for people.</a:t>
            </a:r>
          </a:p>
          <a:p>
            <a:pPr marL="0" indent="0">
              <a:buNone/>
            </a:pPr>
            <a:endParaRPr lang="en-PH" sz="3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28193364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535" y="801858"/>
            <a:ext cx="11135581" cy="4391465"/>
          </a:xfrm>
        </p:spPr>
        <p:txBody>
          <a:bodyPr>
            <a:noAutofit/>
          </a:bodyPr>
          <a:lstStyle/>
          <a:p>
            <a:pPr marL="0" indent="0">
              <a:buNone/>
            </a:pPr>
            <a:r>
              <a:rPr lang="en-PH" sz="3200" dirty="0" smtClean="0">
                <a:solidFill>
                  <a:schemeClr val="bg1"/>
                </a:solidFill>
                <a:latin typeface="Candara" panose="020E0502030303020204" pitchFamily="34" charset="0"/>
              </a:rPr>
              <a:t>4. That idea must be put to work for the betterment of the human race. Like knowledge must be put to work.</a:t>
            </a:r>
          </a:p>
          <a:p>
            <a:pPr marL="0" indent="0">
              <a:buNone/>
            </a:pPr>
            <a:endParaRPr lang="en-PH" sz="3200" dirty="0" smtClean="0">
              <a:solidFill>
                <a:schemeClr val="bg1"/>
              </a:solidFill>
              <a:latin typeface="Candara" panose="020E0502030303020204" pitchFamily="34" charset="0"/>
            </a:endParaRPr>
          </a:p>
          <a:p>
            <a:pPr marL="0" indent="0">
              <a:buNone/>
            </a:pPr>
            <a:r>
              <a:rPr lang="en-PH" sz="3200" dirty="0" smtClean="0">
                <a:solidFill>
                  <a:schemeClr val="bg1"/>
                </a:solidFill>
                <a:latin typeface="Candara" panose="020E0502030303020204" pitchFamily="34" charset="0"/>
              </a:rPr>
              <a:t>5. That knowledge can only be transferred through a process of “man helping his fellowman”</a:t>
            </a:r>
          </a:p>
          <a:p>
            <a:pPr marL="0" indent="0">
              <a:buNone/>
            </a:pPr>
            <a:endParaRPr lang="en-PH" sz="3200" dirty="0" smtClean="0">
              <a:solidFill>
                <a:schemeClr val="bg1"/>
              </a:solidFill>
              <a:latin typeface="Candara" panose="020E0502030303020204" pitchFamily="34" charset="0"/>
            </a:endParaRPr>
          </a:p>
          <a:p>
            <a:pPr marL="0" indent="0">
              <a:buNone/>
            </a:pPr>
            <a:r>
              <a:rPr lang="en-PH" sz="3200" dirty="0" smtClean="0">
                <a:solidFill>
                  <a:schemeClr val="bg1"/>
                </a:solidFill>
                <a:latin typeface="Candara" panose="020E0502030303020204" pitchFamily="34" charset="0"/>
              </a:rPr>
              <a:t>6. That there is no fundamental difference in the intellectual abilities of any race or sex, if given chance to acquire education and if helped in the application of knowledge.</a:t>
            </a:r>
          </a:p>
          <a:p>
            <a:pPr>
              <a:buFont typeface="Wingdings" panose="05000000000000000000" pitchFamily="2" charset="2"/>
              <a:buChar char="q"/>
            </a:pP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33730918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77" y="208020"/>
            <a:ext cx="3346340" cy="732138"/>
          </a:xfrm>
        </p:spPr>
        <p:txBody>
          <a:bodyPr/>
          <a:lstStyle/>
          <a:p>
            <a:r>
              <a:rPr lang="en-PH" sz="3600" i="1" dirty="0" smtClean="0">
                <a:solidFill>
                  <a:schemeClr val="bg1"/>
                </a:solidFill>
                <a:latin typeface="Candara" panose="020E0502030303020204" pitchFamily="34" charset="0"/>
              </a:rPr>
              <a:t>Summarization:</a:t>
            </a:r>
            <a:endParaRPr lang="en-PH" sz="3600"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575277" y="958213"/>
            <a:ext cx="10886920" cy="4195481"/>
          </a:xfrm>
        </p:spPr>
        <p:txBody>
          <a:bodyPr>
            <a:noAutofit/>
          </a:bodyPr>
          <a:lstStyle/>
          <a:p>
            <a:pPr marL="457200" indent="-457200">
              <a:buAutoNum type="arabicPeriod"/>
            </a:pPr>
            <a:r>
              <a:rPr lang="en-PH" sz="2800" dirty="0" smtClean="0">
                <a:solidFill>
                  <a:schemeClr val="bg1"/>
                </a:solidFill>
                <a:latin typeface="Candara" panose="020E0502030303020204" pitchFamily="34" charset="0"/>
              </a:rPr>
              <a:t>An extension program starts where the people are, with what they have and improvement can begin from there.</a:t>
            </a:r>
          </a:p>
          <a:p>
            <a:pPr marL="457200" indent="-457200">
              <a:buAutoNum type="arabicPeriod"/>
            </a:pPr>
            <a:r>
              <a:rPr lang="en-PH" sz="2800" dirty="0" smtClean="0">
                <a:solidFill>
                  <a:schemeClr val="bg1"/>
                </a:solidFill>
                <a:latin typeface="Candara" panose="020E0502030303020204" pitchFamily="34" charset="0"/>
              </a:rPr>
              <a:t>The classroom is where the people are, in their farm, in their homes and even in their barangays.</a:t>
            </a:r>
          </a:p>
          <a:p>
            <a:pPr marL="457200" indent="-457200">
              <a:buAutoNum type="arabicPeriod"/>
            </a:pPr>
            <a:r>
              <a:rPr lang="en-PH" sz="2800" dirty="0" smtClean="0">
                <a:solidFill>
                  <a:schemeClr val="bg1"/>
                </a:solidFill>
                <a:latin typeface="Candara" panose="020E0502030303020204" pitchFamily="34" charset="0"/>
              </a:rPr>
              <a:t>Extension programs are based on peoples needs and decided by them.</a:t>
            </a:r>
          </a:p>
          <a:p>
            <a:pPr marL="457200" indent="-457200">
              <a:buAutoNum type="arabicPeriod"/>
            </a:pPr>
            <a:r>
              <a:rPr lang="en-PH" sz="2800" dirty="0" smtClean="0">
                <a:solidFill>
                  <a:schemeClr val="bg1"/>
                </a:solidFill>
                <a:latin typeface="Candara" panose="020E0502030303020204" pitchFamily="34" charset="0"/>
              </a:rPr>
              <a:t>People learn to do by doing.</a:t>
            </a:r>
          </a:p>
          <a:p>
            <a:pPr marL="457200" indent="-457200">
              <a:buAutoNum type="arabicPeriod"/>
            </a:pPr>
            <a:r>
              <a:rPr lang="en-PH" sz="2800" dirty="0" smtClean="0">
                <a:solidFill>
                  <a:schemeClr val="bg1"/>
                </a:solidFill>
                <a:latin typeface="Candara" panose="020E0502030303020204" pitchFamily="34" charset="0"/>
              </a:rPr>
              <a:t>Education is carried on with groups or with individuals.</a:t>
            </a:r>
          </a:p>
          <a:p>
            <a:pPr marL="457200" indent="-457200">
              <a:buAutoNum type="arabicPeriod"/>
            </a:pPr>
            <a:r>
              <a:rPr lang="en-PH" sz="2800" dirty="0" smtClean="0">
                <a:solidFill>
                  <a:schemeClr val="bg1"/>
                </a:solidFill>
                <a:latin typeface="Candara" panose="020E0502030303020204" pitchFamily="34" charset="0"/>
              </a:rPr>
              <a:t>Extension works with and through people.</a:t>
            </a:r>
          </a:p>
          <a:p>
            <a:pPr marL="457200" indent="-457200">
              <a:buAutoNum type="arabicPeriod"/>
            </a:pPr>
            <a:r>
              <a:rPr lang="en-PH" sz="2800" dirty="0" smtClean="0">
                <a:solidFill>
                  <a:schemeClr val="bg1"/>
                </a:solidFill>
                <a:latin typeface="Candara" panose="020E0502030303020204" pitchFamily="34" charset="0"/>
              </a:rPr>
              <a:t>The spirit of self-help is essential in a democratic living.</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9765387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814" y="1447800"/>
            <a:ext cx="11174963" cy="2975903"/>
          </a:xfrm>
        </p:spPr>
        <p:txBody>
          <a:bodyPr/>
          <a:lstStyle/>
          <a:p>
            <a:pPr algn="ct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PRINCIPLES </a:t>
            </a:r>
            <a:b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b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OF </a:t>
            </a:r>
            <a:b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br>
            <a:r>
              <a:rPr lang="en-PH"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EXTENSION</a:t>
            </a:r>
            <a:endParaRPr lang="en-PH"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
        <p:nvSpPr>
          <p:cNvPr id="7" name="Half Frame 6"/>
          <p:cNvSpPr/>
          <p:nvPr/>
        </p:nvSpPr>
        <p:spPr>
          <a:xfrm rot="10800000">
            <a:off x="1154954" y="5472331"/>
            <a:ext cx="11037045" cy="1334087"/>
          </a:xfrm>
          <a:prstGeom prst="halfFrame">
            <a:avLst>
              <a:gd name="adj1" fmla="val 21734"/>
              <a:gd name="adj2" fmla="val 34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Tree>
    <p:extLst>
      <p:ext uri="{BB962C8B-B14F-4D97-AF65-F5344CB8AC3E}">
        <p14:creationId xmlns:p14="http://schemas.microsoft.com/office/powerpoint/2010/main" val="231100823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1275" y="283904"/>
            <a:ext cx="9404723" cy="1080661"/>
          </a:xfrm>
        </p:spPr>
        <p:txBody>
          <a:bodyPr/>
          <a:lstStyle/>
          <a:p>
            <a:r>
              <a:rPr lang="en-PH" sz="3200" dirty="0" smtClean="0">
                <a:solidFill>
                  <a:schemeClr val="bg1"/>
                </a:solidFill>
                <a:latin typeface="Candara" panose="020E0502030303020204" pitchFamily="34" charset="0"/>
              </a:rPr>
              <a:t>The following principles can serve as guides for effective extension work:</a:t>
            </a:r>
            <a:endParaRPr lang="en-PH" sz="3200"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03312" y="1645921"/>
            <a:ext cx="10840159" cy="4447734"/>
          </a:xfrm>
        </p:spPr>
        <p:txBody>
          <a:bodyPr numCol="2">
            <a:noAutofit/>
          </a:bodyPr>
          <a:lstStyle/>
          <a:p>
            <a:pPr>
              <a:buFont typeface="Wingdings" panose="05000000000000000000" pitchFamily="2" charset="2"/>
              <a:buChar char="q"/>
            </a:pPr>
            <a:r>
              <a:rPr lang="en-US" sz="2800" dirty="0">
                <a:solidFill>
                  <a:schemeClr val="bg1"/>
                </a:solidFill>
                <a:latin typeface="Candara" panose="020E0502030303020204" pitchFamily="34" charset="0"/>
              </a:rPr>
              <a:t>Principle of Cultural Difference</a:t>
            </a:r>
          </a:p>
          <a:p>
            <a:pPr>
              <a:buFont typeface="Wingdings" panose="05000000000000000000" pitchFamily="2" charset="2"/>
              <a:buChar char="q"/>
            </a:pPr>
            <a:r>
              <a:rPr lang="en-US" sz="2800" dirty="0">
                <a:solidFill>
                  <a:schemeClr val="bg1"/>
                </a:solidFill>
                <a:latin typeface="Candara" panose="020E0502030303020204" pitchFamily="34" charset="0"/>
              </a:rPr>
              <a:t>Principle of Cultural Change</a:t>
            </a:r>
          </a:p>
          <a:p>
            <a:pPr>
              <a:buFont typeface="Wingdings" panose="05000000000000000000" pitchFamily="2" charset="2"/>
              <a:buChar char="q"/>
            </a:pPr>
            <a:r>
              <a:rPr lang="en-US" sz="2800" dirty="0">
                <a:solidFill>
                  <a:schemeClr val="bg1"/>
                </a:solidFill>
                <a:latin typeface="Candara" panose="020E0502030303020204" pitchFamily="34" charset="0"/>
              </a:rPr>
              <a:t>Principle of Interest and Needs</a:t>
            </a:r>
          </a:p>
          <a:p>
            <a:pPr>
              <a:buFont typeface="Wingdings" panose="05000000000000000000" pitchFamily="2" charset="2"/>
              <a:buChar char="q"/>
            </a:pPr>
            <a:r>
              <a:rPr lang="en-US" sz="2800" dirty="0">
                <a:solidFill>
                  <a:schemeClr val="bg1"/>
                </a:solidFill>
                <a:latin typeface="Candara" panose="020E0502030303020204" pitchFamily="34" charset="0"/>
              </a:rPr>
              <a:t>Principle of Grass root Approach</a:t>
            </a:r>
          </a:p>
          <a:p>
            <a:pPr>
              <a:buFont typeface="Wingdings" panose="05000000000000000000" pitchFamily="2" charset="2"/>
              <a:buChar char="q"/>
            </a:pPr>
            <a:r>
              <a:rPr lang="en-US" sz="2800" dirty="0">
                <a:solidFill>
                  <a:schemeClr val="bg1"/>
                </a:solidFill>
                <a:latin typeface="Candara" panose="020E0502030303020204" pitchFamily="34" charset="0"/>
              </a:rPr>
              <a:t>Principle of Cooperation</a:t>
            </a:r>
          </a:p>
          <a:p>
            <a:pPr>
              <a:buFont typeface="Wingdings" panose="05000000000000000000" pitchFamily="2" charset="2"/>
              <a:buChar char="q"/>
            </a:pPr>
            <a:r>
              <a:rPr lang="en-US" sz="2800" dirty="0">
                <a:solidFill>
                  <a:schemeClr val="bg1"/>
                </a:solidFill>
                <a:latin typeface="Candara" panose="020E0502030303020204" pitchFamily="34" charset="0"/>
              </a:rPr>
              <a:t>Principle of Participation</a:t>
            </a:r>
          </a:p>
          <a:p>
            <a:pPr>
              <a:buFont typeface="Wingdings" panose="05000000000000000000" pitchFamily="2" charset="2"/>
              <a:buChar char="q"/>
            </a:pPr>
            <a:r>
              <a:rPr lang="en-US" sz="2800" dirty="0">
                <a:solidFill>
                  <a:schemeClr val="bg1"/>
                </a:solidFill>
                <a:latin typeface="Candara" panose="020E0502030303020204" pitchFamily="34" charset="0"/>
              </a:rPr>
              <a:t>Principle of the Use of Extension Teaching Methods</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Principle of Leadership</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Principle of Voluntary Education</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Principle of Satisfaction</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Principle of Trained Specialist</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Principle of Whole Family Approach</a:t>
            </a:r>
          </a:p>
          <a:p>
            <a:pPr>
              <a:buClr>
                <a:schemeClr val="tx1"/>
              </a:buClr>
              <a:buFont typeface="Wingdings" panose="05000000000000000000" pitchFamily="2" charset="2"/>
              <a:buChar char="q"/>
            </a:pPr>
            <a:r>
              <a:rPr lang="en-US" sz="2800" dirty="0">
                <a:solidFill>
                  <a:schemeClr val="bg1"/>
                </a:solidFill>
                <a:latin typeface="Candara" panose="020E0502030303020204" pitchFamily="34" charset="0"/>
              </a:rPr>
              <a:t>Use of Extension Tools</a:t>
            </a:r>
          </a:p>
          <a:p>
            <a:pPr>
              <a:buFont typeface="Wingdings" panose="05000000000000000000" pitchFamily="2" charset="2"/>
              <a:buChar char="q"/>
            </a:pPr>
            <a:endParaRPr lang="en-US" sz="2800" dirty="0">
              <a:solidFill>
                <a:schemeClr val="bg1"/>
              </a:solidFill>
              <a:latin typeface="Candara" panose="020E0502030303020204" pitchFamily="34" charset="0"/>
            </a:endParaRPr>
          </a:p>
          <a:p>
            <a:pPr>
              <a:buFont typeface="Wingdings" panose="05000000000000000000" pitchFamily="2" charset="2"/>
              <a:buChar char="q"/>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8714533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6993627" cy="743036"/>
          </a:xfrm>
        </p:spPr>
        <p:txBody>
          <a:bodyPr/>
          <a:lstStyle/>
          <a:p>
            <a:r>
              <a:rPr lang="en-PH" dirty="0" smtClean="0">
                <a:solidFill>
                  <a:schemeClr val="accent1">
                    <a:lumMod val="50000"/>
                  </a:schemeClr>
                </a:solidFill>
                <a:latin typeface="Berlin Sans FB" panose="020E0602020502020306" pitchFamily="34" charset="0"/>
              </a:rPr>
              <a:t>Principle of Cultural Difference</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People differ in their culture. An extension worker must know and should be able to adjust to the culture of the people. </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0" y="2489018"/>
            <a:ext cx="6993627"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Cultural Change</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2" y="3270742"/>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The culture of the people changes with extension if they could feel and see the outcomes and impacts of the efforts of the extension workers.</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45204571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6993627" cy="743036"/>
          </a:xfrm>
        </p:spPr>
        <p:txBody>
          <a:bodyPr/>
          <a:lstStyle/>
          <a:p>
            <a:r>
              <a:rPr lang="en-PH" dirty="0" smtClean="0">
                <a:solidFill>
                  <a:schemeClr val="accent1">
                    <a:lumMod val="50000"/>
                  </a:schemeClr>
                </a:solidFill>
                <a:latin typeface="Berlin Sans FB" panose="020E0602020502020306" pitchFamily="34" charset="0"/>
              </a:rPr>
              <a:t>Principle of Interest and Needs</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People are likely to support extension programs based on their needs and interests. The people will certainly support the implementation of the extension program wherein they are involved in the planning process</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1" y="3361214"/>
            <a:ext cx="8322041"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Grassroots Approach</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1" y="4283616"/>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Starts where the people are and with what resources they have. The differences in educational attainment, culture of the people, their economic and social status and types of farming should be carefully considered.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62261381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6993627" cy="743036"/>
          </a:xfrm>
        </p:spPr>
        <p:txBody>
          <a:bodyPr/>
          <a:lstStyle/>
          <a:p>
            <a:r>
              <a:rPr lang="en-PH" dirty="0" smtClean="0">
                <a:solidFill>
                  <a:schemeClr val="accent1">
                    <a:lumMod val="50000"/>
                  </a:schemeClr>
                </a:solidFill>
                <a:latin typeface="Berlin Sans FB" panose="020E0602020502020306" pitchFamily="34" charset="0"/>
              </a:rPr>
              <a:t>Principle of Cooperation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Rural people and the extension worker should cooperate with each other for the development of the community. It is the role of the people to cooperate in the proper </a:t>
            </a:r>
            <a:r>
              <a:rPr lang="en-PH" sz="3200" dirty="0">
                <a:solidFill>
                  <a:schemeClr val="bg1"/>
                </a:solidFill>
                <a:latin typeface="Candara" panose="020E0502030303020204" pitchFamily="34" charset="0"/>
              </a:rPr>
              <a:t>i</a:t>
            </a:r>
            <a:r>
              <a:rPr lang="en-PH" sz="3200" dirty="0" smtClean="0">
                <a:solidFill>
                  <a:schemeClr val="bg1"/>
                </a:solidFill>
                <a:latin typeface="Candara" panose="020E0502030303020204" pitchFamily="34" charset="0"/>
              </a:rPr>
              <a:t>mplementation of the program to be successful.</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1" y="3361214"/>
            <a:ext cx="8322041"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Participation</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1" y="4283616"/>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Participation means to have or take a share with others in an activity. In extension, the rural people learn by doing.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98220137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10657278" cy="743036"/>
          </a:xfrm>
        </p:spPr>
        <p:txBody>
          <a:bodyPr/>
          <a:lstStyle/>
          <a:p>
            <a:r>
              <a:rPr lang="en-PH" sz="3600" dirty="0" smtClean="0">
                <a:solidFill>
                  <a:schemeClr val="accent1">
                    <a:lumMod val="50000"/>
                  </a:schemeClr>
                </a:solidFill>
                <a:latin typeface="Berlin Sans FB" panose="020E0602020502020306" pitchFamily="34" charset="0"/>
              </a:rPr>
              <a:t>Principle of the use of Extension Teaching Methods</a:t>
            </a:r>
            <a:endParaRPr lang="en-PH" sz="3600"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Extension workers works with individuals, groups of people and organizations. This requires different extension teaching methods to be effective</a:t>
            </a:r>
            <a:r>
              <a:rPr lang="en-PH" sz="3200" dirty="0" smtClean="0">
                <a:solidFill>
                  <a:schemeClr val="bg1"/>
                </a:solidFill>
                <a:latin typeface="Candara" panose="020E0502030303020204" pitchFamily="34" charset="0"/>
              </a:rPr>
              <a:t>. EW serves as communicator and educator.</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1" y="3361214"/>
            <a:ext cx="8322041"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Leadership</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1" y="4283616"/>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Local leaders must be trained and encouraged to help in extension work since they are more familiar with their characteristics and idiosyncrasies.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4017631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10657278" cy="743036"/>
          </a:xfrm>
        </p:spPr>
        <p:txBody>
          <a:bodyPr/>
          <a:lstStyle/>
          <a:p>
            <a:r>
              <a:rPr lang="en-PH" sz="4400" dirty="0" smtClean="0">
                <a:solidFill>
                  <a:schemeClr val="accent1">
                    <a:lumMod val="50000"/>
                  </a:schemeClr>
                </a:solidFill>
                <a:latin typeface="Berlin Sans FB" panose="020E0602020502020306" pitchFamily="34" charset="0"/>
              </a:rPr>
              <a:t>Principle of Voluntary Education</a:t>
            </a:r>
            <a:endParaRPr lang="en-PH" sz="4400"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Extension is a non-formal education which provides education opportunities without coercion and compulsion. This is a voluntary and free-willing participation on the part of the clientele.</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1" y="3361214"/>
            <a:ext cx="8322041"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Satisfaction</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1" y="4283616"/>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Words of praises, recognition and appreciation encourage voluntary participation and even leadership in the extension program.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13576877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891" y="396447"/>
            <a:ext cx="10657278" cy="743036"/>
          </a:xfrm>
        </p:spPr>
        <p:txBody>
          <a:bodyPr/>
          <a:lstStyle/>
          <a:p>
            <a:r>
              <a:rPr lang="en-PH" sz="4400" dirty="0" smtClean="0">
                <a:solidFill>
                  <a:schemeClr val="accent1">
                    <a:lumMod val="50000"/>
                  </a:schemeClr>
                </a:solidFill>
                <a:latin typeface="Berlin Sans FB" panose="020E0602020502020306" pitchFamily="34" charset="0"/>
              </a:rPr>
              <a:t>Principle of Trained Specialist</a:t>
            </a:r>
            <a:endParaRPr lang="en-PH" sz="4400"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215852" y="1251060"/>
            <a:ext cx="10812023" cy="1126381"/>
          </a:xfrm>
        </p:spPr>
        <p:txBody>
          <a:bodyPr>
            <a:noAutofit/>
          </a:bodyPr>
          <a:lstStyle/>
          <a:p>
            <a:pPr marL="0" indent="0">
              <a:buNone/>
            </a:pPr>
            <a:r>
              <a:rPr lang="en-PH" sz="3200" dirty="0" smtClean="0">
                <a:solidFill>
                  <a:schemeClr val="bg1"/>
                </a:solidFill>
                <a:latin typeface="Candara" panose="020E0502030303020204" pitchFamily="34" charset="0"/>
              </a:rPr>
              <a:t>Specialists in agriculture share their research finding to the farmers through the extension worker. </a:t>
            </a:r>
            <a:endParaRPr lang="en-PH" sz="3200" dirty="0">
              <a:solidFill>
                <a:schemeClr val="bg1"/>
              </a:solidFill>
              <a:latin typeface="Candara" panose="020E0502030303020204" pitchFamily="34" charset="0"/>
            </a:endParaRPr>
          </a:p>
        </p:txBody>
      </p:sp>
      <p:sp>
        <p:nvSpPr>
          <p:cNvPr id="4" name="Title 1"/>
          <p:cNvSpPr txBox="1">
            <a:spLocks/>
          </p:cNvSpPr>
          <p:nvPr/>
        </p:nvSpPr>
        <p:spPr>
          <a:xfrm>
            <a:off x="807891" y="3361214"/>
            <a:ext cx="8322041" cy="74303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dirty="0" smtClean="0">
                <a:solidFill>
                  <a:schemeClr val="accent1">
                    <a:lumMod val="50000"/>
                  </a:schemeClr>
                </a:solidFill>
                <a:latin typeface="Berlin Sans FB" panose="020E0602020502020306" pitchFamily="34" charset="0"/>
              </a:rPr>
              <a:t>Principle of Whole Family Approach</a:t>
            </a:r>
            <a:endParaRPr lang="en-PH" dirty="0">
              <a:solidFill>
                <a:schemeClr val="accent1">
                  <a:lumMod val="50000"/>
                </a:schemeClr>
              </a:solidFill>
              <a:latin typeface="Berlin Sans FB" panose="020E0602020502020306" pitchFamily="34" charset="0"/>
            </a:endParaRPr>
          </a:p>
        </p:txBody>
      </p:sp>
      <p:sp>
        <p:nvSpPr>
          <p:cNvPr id="5" name="Content Placeholder 2"/>
          <p:cNvSpPr txBox="1">
            <a:spLocks/>
          </p:cNvSpPr>
          <p:nvPr/>
        </p:nvSpPr>
        <p:spPr>
          <a:xfrm>
            <a:off x="1215851" y="4283616"/>
            <a:ext cx="10812023" cy="11263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PH" sz="3200" dirty="0" smtClean="0">
                <a:solidFill>
                  <a:schemeClr val="bg1"/>
                </a:solidFill>
                <a:latin typeface="Candara" panose="020E0502030303020204" pitchFamily="34" charset="0"/>
              </a:rPr>
              <a:t>Extension should consider all the members of the family in introducing development projects.  Every member of the family is important in making decision s in terms of technology adoption.</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48644151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2" y="593395"/>
            <a:ext cx="5290455" cy="757104"/>
          </a:xfrm>
        </p:spPr>
        <p:txBody>
          <a:bodyPr/>
          <a:lstStyle/>
          <a:p>
            <a:pPr algn="ctr"/>
            <a:r>
              <a:rPr lang="en-PH" dirty="0" smtClean="0">
                <a:solidFill>
                  <a:schemeClr val="accent1">
                    <a:lumMod val="50000"/>
                  </a:schemeClr>
                </a:solidFill>
                <a:latin typeface="Berlin Sans FB" panose="020E0602020502020306" pitchFamily="34" charset="0"/>
              </a:rPr>
              <a:t>Objective of Extension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103312" y="1927275"/>
            <a:ext cx="8867335" cy="4686885"/>
          </a:xfrm>
        </p:spPr>
        <p:txBody>
          <a:bodyPr>
            <a:noAutofit/>
          </a:bodyPr>
          <a:lstStyle/>
          <a:p>
            <a:pPr marL="0" indent="0">
              <a:buNone/>
            </a:pPr>
            <a:r>
              <a:rPr lang="en-PH" sz="3200" dirty="0" smtClean="0">
                <a:solidFill>
                  <a:schemeClr val="bg1"/>
                </a:solidFill>
                <a:latin typeface="Candara" panose="020E0502030303020204" pitchFamily="34" charset="0"/>
              </a:rPr>
              <a:t>Ultimate Objective:</a:t>
            </a:r>
          </a:p>
          <a:p>
            <a:pPr marL="0" indent="0">
              <a:buNone/>
            </a:pPr>
            <a:r>
              <a:rPr lang="en-PH" sz="3200" dirty="0">
                <a:solidFill>
                  <a:schemeClr val="bg1"/>
                </a:solidFill>
                <a:latin typeface="Candara" panose="020E0502030303020204" pitchFamily="34" charset="0"/>
              </a:rPr>
              <a:t>	</a:t>
            </a:r>
            <a:r>
              <a:rPr lang="en-PH" sz="3200" dirty="0" smtClean="0">
                <a:solidFill>
                  <a:schemeClr val="bg1"/>
                </a:solidFill>
                <a:latin typeface="Candara" panose="020E0502030303020204" pitchFamily="34" charset="0"/>
              </a:rPr>
              <a:t>Extension is the development of people, so that 	they can do things 	for themselves.</a:t>
            </a:r>
            <a:endParaRPr lang="en-PH" sz="3200" dirty="0">
              <a:solidFill>
                <a:schemeClr val="bg1"/>
              </a:solidFill>
              <a:latin typeface="Candara" panose="020E0502030303020204" pitchFamily="34" charset="0"/>
            </a:endParaRPr>
          </a:p>
          <a:p>
            <a:pPr marL="0" indent="0">
              <a:buNone/>
            </a:pPr>
            <a:endParaRPr lang="en-PH" sz="3200" dirty="0" smtClean="0">
              <a:solidFill>
                <a:schemeClr val="bg1"/>
              </a:solidFill>
              <a:latin typeface="Candara" panose="020E0502030303020204" pitchFamily="34" charset="0"/>
            </a:endParaRPr>
          </a:p>
          <a:p>
            <a:pPr marL="0" indent="0">
              <a:buNone/>
            </a:pP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32587986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34" y="368311"/>
            <a:ext cx="5290455" cy="757104"/>
          </a:xfrm>
        </p:spPr>
        <p:txBody>
          <a:bodyPr/>
          <a:lstStyle/>
          <a:p>
            <a:pPr algn="ctr"/>
            <a:r>
              <a:rPr lang="en-PH" dirty="0" smtClean="0">
                <a:solidFill>
                  <a:schemeClr val="accent1">
                    <a:lumMod val="50000"/>
                  </a:schemeClr>
                </a:solidFill>
                <a:latin typeface="Berlin Sans FB" panose="020E0602020502020306" pitchFamily="34" charset="0"/>
              </a:rPr>
              <a:t>Objective of Extension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769034" y="1406770"/>
            <a:ext cx="10949353" cy="4686885"/>
          </a:xfrm>
        </p:spPr>
        <p:txBody>
          <a:bodyPr>
            <a:noAutofit/>
          </a:bodyPr>
          <a:lstStyle/>
          <a:p>
            <a:pPr marL="0" indent="0">
              <a:buNone/>
            </a:pPr>
            <a:r>
              <a:rPr lang="en-PH" sz="2800" dirty="0" smtClean="0">
                <a:solidFill>
                  <a:schemeClr val="bg1"/>
                </a:solidFill>
                <a:latin typeface="Candara" panose="020E0502030303020204" pitchFamily="34" charset="0"/>
              </a:rPr>
              <a:t>Specific Objective:</a:t>
            </a:r>
          </a:p>
          <a:p>
            <a:pPr marL="609600" indent="-609600">
              <a:buFontTx/>
              <a:buAutoNum type="arabicPeriod"/>
            </a:pPr>
            <a:r>
              <a:rPr lang="en-US" sz="2800" dirty="0" smtClean="0">
                <a:solidFill>
                  <a:schemeClr val="bg1"/>
                </a:solidFill>
                <a:latin typeface="Candara" panose="020E0502030303020204" pitchFamily="34" charset="0"/>
              </a:rPr>
              <a:t>To </a:t>
            </a:r>
            <a:r>
              <a:rPr lang="en-US" sz="2800" dirty="0">
                <a:solidFill>
                  <a:schemeClr val="bg1"/>
                </a:solidFill>
                <a:latin typeface="Candara" panose="020E0502030303020204" pitchFamily="34" charset="0"/>
              </a:rPr>
              <a:t>bring to farmers the knowledge that would enable them to farm more efficiently</a:t>
            </a:r>
          </a:p>
          <a:p>
            <a:pPr marL="609600" indent="-609600">
              <a:buFontTx/>
              <a:buAutoNum type="arabicPeriod"/>
            </a:pPr>
            <a:r>
              <a:rPr lang="en-US" sz="2800" dirty="0">
                <a:solidFill>
                  <a:schemeClr val="bg1"/>
                </a:solidFill>
                <a:latin typeface="Candara" panose="020E0502030303020204" pitchFamily="34" charset="0"/>
              </a:rPr>
              <a:t>To improve the rural conditions and make the farm and home attractive and desirable</a:t>
            </a:r>
          </a:p>
          <a:p>
            <a:pPr marL="609600" indent="-609600">
              <a:buFontTx/>
              <a:buAutoNum type="arabicPeriod"/>
            </a:pPr>
            <a:r>
              <a:rPr lang="en-US" sz="2800" dirty="0">
                <a:solidFill>
                  <a:schemeClr val="bg1"/>
                </a:solidFill>
                <a:latin typeface="Candara" panose="020E0502030303020204" pitchFamily="34" charset="0"/>
              </a:rPr>
              <a:t>To place an opportunity before the rural people whereby they may develop their native talents.</a:t>
            </a:r>
          </a:p>
          <a:p>
            <a:pPr marL="609600" indent="-609600">
              <a:buFontTx/>
              <a:buAutoNum type="arabicPeriod"/>
            </a:pPr>
            <a:r>
              <a:rPr lang="en-US" sz="2800" dirty="0">
                <a:solidFill>
                  <a:schemeClr val="bg1"/>
                </a:solidFill>
                <a:latin typeface="Candara" panose="020E0502030303020204" pitchFamily="34" charset="0"/>
              </a:rPr>
              <a:t>To build a rural citizenry proud of its occupation independent of its thinking, constructive in its outlook capable, efficient and self reliant</a:t>
            </a: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79675724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481" y="1043561"/>
            <a:ext cx="9404723" cy="1400530"/>
          </a:xfrm>
        </p:spPr>
        <p:txBody>
          <a:bodyPr/>
          <a:lstStyle/>
          <a:p>
            <a:pPr algn="ctr"/>
            <a:r>
              <a:rPr lang="en-PH" sz="6600" dirty="0" smtClean="0">
                <a:solidFill>
                  <a:schemeClr val="bg1"/>
                </a:solidFill>
                <a:latin typeface="Arial Black" panose="020B0A04020102020204" pitchFamily="34" charset="0"/>
              </a:rPr>
              <a:t>SCOPE </a:t>
            </a:r>
            <a:br>
              <a:rPr lang="en-PH" sz="6600" dirty="0" smtClean="0">
                <a:solidFill>
                  <a:schemeClr val="bg1"/>
                </a:solidFill>
                <a:latin typeface="Arial Black" panose="020B0A04020102020204" pitchFamily="34" charset="0"/>
              </a:rPr>
            </a:br>
            <a:r>
              <a:rPr lang="en-PH" sz="6600" dirty="0" smtClean="0">
                <a:solidFill>
                  <a:schemeClr val="bg1"/>
                </a:solidFill>
                <a:latin typeface="Arial Black" panose="020B0A04020102020204" pitchFamily="34" charset="0"/>
              </a:rPr>
              <a:t>OF </a:t>
            </a:r>
            <a:br>
              <a:rPr lang="en-PH" sz="6600" dirty="0" smtClean="0">
                <a:solidFill>
                  <a:schemeClr val="bg1"/>
                </a:solidFill>
                <a:latin typeface="Arial Black" panose="020B0A04020102020204" pitchFamily="34" charset="0"/>
              </a:rPr>
            </a:br>
            <a:r>
              <a:rPr lang="en-PH" sz="6600" dirty="0" smtClean="0">
                <a:solidFill>
                  <a:schemeClr val="bg1"/>
                </a:solidFill>
                <a:latin typeface="Arial Black" panose="020B0A04020102020204" pitchFamily="34" charset="0"/>
              </a:rPr>
              <a:t>EXTENSION</a:t>
            </a:r>
            <a:endParaRPr lang="en-PH" sz="66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90495032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2" y="438650"/>
            <a:ext cx="9404723" cy="869645"/>
          </a:xfrm>
        </p:spPr>
        <p:txBody>
          <a:bodyPr/>
          <a:lstStyle/>
          <a:p>
            <a:pPr marL="571500" indent="-571500">
              <a:buFont typeface="Wingdings" panose="05000000000000000000" pitchFamily="2" charset="2"/>
              <a:buChar char="Ø"/>
            </a:pPr>
            <a:r>
              <a:rPr lang="en-PH" dirty="0" smtClean="0">
                <a:solidFill>
                  <a:schemeClr val="bg1"/>
                </a:solidFill>
                <a:latin typeface="Candara" panose="020E0502030303020204" pitchFamily="34" charset="0"/>
              </a:rPr>
              <a:t>Agricultural Production</a:t>
            </a:r>
            <a:endParaRPr lang="en-PH" dirty="0">
              <a:solidFill>
                <a:schemeClr val="bg1"/>
              </a:solidFill>
              <a:latin typeface="Candara" panose="020E0502030303020204" pitchFamily="34" charset="0"/>
            </a:endParaRPr>
          </a:p>
        </p:txBody>
      </p:sp>
      <p:sp>
        <p:nvSpPr>
          <p:cNvPr id="3" name="Content Placeholder 2"/>
          <p:cNvSpPr>
            <a:spLocks noGrp="1"/>
          </p:cNvSpPr>
          <p:nvPr>
            <p:ph idx="1"/>
          </p:nvPr>
        </p:nvSpPr>
        <p:spPr>
          <a:xfrm>
            <a:off x="1103312" y="1630887"/>
            <a:ext cx="9953894" cy="4195481"/>
          </a:xfrm>
        </p:spPr>
        <p:txBody>
          <a:bodyPr>
            <a:normAutofit/>
          </a:bodyPr>
          <a:lstStyle/>
          <a:p>
            <a:pPr marL="0" indent="0">
              <a:buNone/>
            </a:pPr>
            <a:r>
              <a:rPr lang="en-PH" sz="2800" dirty="0" smtClean="0">
                <a:solidFill>
                  <a:schemeClr val="bg1"/>
                </a:solidFill>
                <a:latin typeface="Candara" panose="020E0502030303020204" pitchFamily="34" charset="0"/>
              </a:rPr>
              <a:t>Majority if the Filipino population live in the rural areas and are engaged in agriculture. Agriculture production contributes to economic productivity only if farming can be made efficient.</a:t>
            </a:r>
          </a:p>
          <a:p>
            <a:pPr marL="0" indent="0">
              <a:buNone/>
            </a:pPr>
            <a:endParaRPr lang="en-PH" sz="2800" dirty="0" smtClean="0">
              <a:solidFill>
                <a:schemeClr val="bg1"/>
              </a:solidFill>
              <a:latin typeface="Candara" panose="020E0502030303020204" pitchFamily="34" charset="0"/>
            </a:endParaRPr>
          </a:p>
          <a:p>
            <a:pPr marL="0" indent="0">
              <a:buNone/>
            </a:pPr>
            <a:r>
              <a:rPr lang="en-PH" sz="3200" dirty="0" smtClean="0">
                <a:solidFill>
                  <a:schemeClr val="bg1"/>
                </a:solidFill>
                <a:latin typeface="Candara" panose="020E0502030303020204" pitchFamily="34" charset="0"/>
              </a:rPr>
              <a:t>Efficiency-</a:t>
            </a:r>
            <a:r>
              <a:rPr lang="en-PH" sz="2800" dirty="0" smtClean="0">
                <a:solidFill>
                  <a:schemeClr val="bg1"/>
                </a:solidFill>
                <a:latin typeface="Candara" panose="020E0502030303020204" pitchFamily="34" charset="0"/>
              </a:rPr>
              <a:t> means using land, </a:t>
            </a:r>
            <a:r>
              <a:rPr lang="en-PH" sz="2800" dirty="0" err="1" smtClean="0">
                <a:solidFill>
                  <a:schemeClr val="bg1"/>
                </a:solidFill>
                <a:latin typeface="Candara" panose="020E0502030303020204" pitchFamily="34" charset="0"/>
              </a:rPr>
              <a:t>labor</a:t>
            </a:r>
            <a:r>
              <a:rPr lang="en-PH" sz="2800" dirty="0" smtClean="0">
                <a:solidFill>
                  <a:schemeClr val="bg1"/>
                </a:solidFill>
                <a:latin typeface="Candara" panose="020E0502030303020204" pitchFamily="34" charset="0"/>
              </a:rPr>
              <a:t>, capital and managerial ability in the best possible combination to produce marketable product with the lest expenditure of productive resources and human  efforts.</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3105319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5712" y="2112705"/>
            <a:ext cx="9404723" cy="869645"/>
          </a:xfrm>
        </p:spPr>
        <p:txBody>
          <a:bodyPr/>
          <a:lstStyle/>
          <a:p>
            <a:pPr marL="571500" indent="-571500">
              <a:buFont typeface="Wingdings" panose="05000000000000000000" pitchFamily="2" charset="2"/>
              <a:buChar char="Ø"/>
            </a:pPr>
            <a:r>
              <a:rPr lang="en-PH" sz="3600" dirty="0" smtClean="0">
                <a:solidFill>
                  <a:schemeClr val="accent2">
                    <a:lumMod val="50000"/>
                  </a:schemeClr>
                </a:solidFill>
                <a:latin typeface="Candara" panose="020E0502030303020204" pitchFamily="34" charset="0"/>
              </a:rPr>
              <a:t>Environment Protection and Natural Resource Development</a:t>
            </a:r>
            <a:endParaRPr lang="en-PH" sz="3600" dirty="0">
              <a:solidFill>
                <a:schemeClr val="accent2">
                  <a:lumMod val="50000"/>
                </a:schemeClr>
              </a:solidFill>
              <a:latin typeface="Candara" panose="020E0502030303020204" pitchFamily="34" charset="0"/>
            </a:endParaRPr>
          </a:p>
        </p:txBody>
      </p:sp>
      <p:sp>
        <p:nvSpPr>
          <p:cNvPr id="4" name="Title 1"/>
          <p:cNvSpPr txBox="1">
            <a:spLocks/>
          </p:cNvSpPr>
          <p:nvPr/>
        </p:nvSpPr>
        <p:spPr>
          <a:xfrm>
            <a:off x="1255712" y="591050"/>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accent2">
                    <a:lumMod val="50000"/>
                  </a:schemeClr>
                </a:solidFill>
                <a:latin typeface="Candara" panose="020E0502030303020204" pitchFamily="34" charset="0"/>
              </a:rPr>
              <a:t>Marketing and Processing of Farm Product</a:t>
            </a:r>
            <a:endParaRPr lang="en-PH" sz="4000" dirty="0">
              <a:solidFill>
                <a:schemeClr val="accent2">
                  <a:lumMod val="50000"/>
                </a:schemeClr>
              </a:solidFill>
              <a:latin typeface="Candara" panose="020E0502030303020204" pitchFamily="34" charset="0"/>
            </a:endParaRPr>
          </a:p>
        </p:txBody>
      </p:sp>
      <p:sp>
        <p:nvSpPr>
          <p:cNvPr id="5" name="Title 1"/>
          <p:cNvSpPr txBox="1">
            <a:spLocks/>
          </p:cNvSpPr>
          <p:nvPr/>
        </p:nvSpPr>
        <p:spPr>
          <a:xfrm>
            <a:off x="1255712" y="3378850"/>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accent2">
                    <a:lumMod val="50000"/>
                  </a:schemeClr>
                </a:solidFill>
                <a:latin typeface="Candara" panose="020E0502030303020204" pitchFamily="34" charset="0"/>
              </a:rPr>
              <a:t>Marketing and Processing of Farm Product</a:t>
            </a:r>
            <a:endParaRPr lang="en-PH" sz="4000" dirty="0">
              <a:solidFill>
                <a:schemeClr val="accent2">
                  <a:lumMod val="50000"/>
                </a:schemeClr>
              </a:solidFill>
              <a:latin typeface="Candara" panose="020E0502030303020204" pitchFamily="34" charset="0"/>
            </a:endParaRPr>
          </a:p>
        </p:txBody>
      </p:sp>
      <p:sp>
        <p:nvSpPr>
          <p:cNvPr id="6" name="Title 1"/>
          <p:cNvSpPr txBox="1">
            <a:spLocks/>
          </p:cNvSpPr>
          <p:nvPr/>
        </p:nvSpPr>
        <p:spPr>
          <a:xfrm>
            <a:off x="1694155" y="4614202"/>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3200" dirty="0" smtClean="0">
                <a:solidFill>
                  <a:schemeClr val="bg1"/>
                </a:solidFill>
                <a:latin typeface="Candara" panose="020E0502030303020204" pitchFamily="34" charset="0"/>
              </a:rPr>
              <a:t>Studies show that today’s use of water, air, land and forest is threatened. The demand for water exceeds supply in parts of the world and the land available for crops is decreasing.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31754313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155" y="1460695"/>
            <a:ext cx="9404723" cy="2506394"/>
          </a:xfrm>
        </p:spPr>
        <p:txBody>
          <a:bodyPr/>
          <a:lstStyle/>
          <a:p>
            <a:r>
              <a:rPr lang="en-PH" sz="2800" dirty="0" smtClean="0">
                <a:solidFill>
                  <a:schemeClr val="bg1"/>
                </a:solidFill>
                <a:latin typeface="Candara" panose="020E0502030303020204" pitchFamily="34" charset="0"/>
              </a:rPr>
              <a:t>Managerial skill is the ability to make decisions that achieve goals in the most efficient manner.</a:t>
            </a:r>
            <a:br>
              <a:rPr lang="en-PH" sz="2800" dirty="0" smtClean="0">
                <a:solidFill>
                  <a:schemeClr val="bg1"/>
                </a:solidFill>
                <a:latin typeface="Candara" panose="020E0502030303020204" pitchFamily="34" charset="0"/>
              </a:rPr>
            </a:br>
            <a:r>
              <a:rPr lang="en-PH" sz="2800" dirty="0" smtClean="0">
                <a:solidFill>
                  <a:schemeClr val="bg1"/>
                </a:solidFill>
                <a:latin typeface="Candara" panose="020E0502030303020204" pitchFamily="34" charset="0"/>
              </a:rPr>
              <a:t/>
            </a:r>
            <a:br>
              <a:rPr lang="en-PH" sz="2800" dirty="0" smtClean="0">
                <a:solidFill>
                  <a:schemeClr val="bg1"/>
                </a:solidFill>
                <a:latin typeface="Candara" panose="020E0502030303020204" pitchFamily="34" charset="0"/>
              </a:rPr>
            </a:br>
            <a:r>
              <a:rPr lang="en-PH" sz="2800" dirty="0" smtClean="0">
                <a:solidFill>
                  <a:schemeClr val="bg1"/>
                </a:solidFill>
                <a:latin typeface="Candara" panose="020E0502030303020204" pitchFamily="34" charset="0"/>
              </a:rPr>
              <a:t>Extension worker can help farmers decide on what and how much resources to acquire and how and when to use them.</a:t>
            </a:r>
            <a:br>
              <a:rPr lang="en-PH" sz="2800" dirty="0" smtClean="0">
                <a:solidFill>
                  <a:schemeClr val="bg1"/>
                </a:solidFill>
                <a:latin typeface="Candara" panose="020E0502030303020204" pitchFamily="34" charset="0"/>
              </a:rPr>
            </a:br>
            <a:r>
              <a:rPr lang="en-PH" sz="2800" dirty="0">
                <a:solidFill>
                  <a:schemeClr val="bg1"/>
                </a:solidFill>
                <a:latin typeface="Candara" panose="020E0502030303020204" pitchFamily="34" charset="0"/>
              </a:rPr>
              <a:t/>
            </a:r>
            <a:br>
              <a:rPr lang="en-PH" sz="2800" dirty="0">
                <a:solidFill>
                  <a:schemeClr val="bg1"/>
                </a:solidFill>
                <a:latin typeface="Candara" panose="020E0502030303020204" pitchFamily="34" charset="0"/>
              </a:rPr>
            </a:br>
            <a:endParaRPr lang="en-PH" sz="2800" dirty="0">
              <a:solidFill>
                <a:schemeClr val="bg1"/>
              </a:solidFill>
              <a:latin typeface="Candara" panose="020E0502030303020204" pitchFamily="34" charset="0"/>
            </a:endParaRPr>
          </a:p>
        </p:txBody>
      </p:sp>
      <p:sp>
        <p:nvSpPr>
          <p:cNvPr id="4" name="Title 1"/>
          <p:cNvSpPr txBox="1">
            <a:spLocks/>
          </p:cNvSpPr>
          <p:nvPr/>
        </p:nvSpPr>
        <p:spPr>
          <a:xfrm>
            <a:off x="1255712" y="591050"/>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bg1"/>
                </a:solidFill>
                <a:latin typeface="Candara" panose="020E0502030303020204" pitchFamily="34" charset="0"/>
              </a:rPr>
              <a:t>Farm and Home Management</a:t>
            </a:r>
            <a:endParaRPr lang="en-PH" sz="4000" dirty="0">
              <a:solidFill>
                <a:schemeClr val="bg1"/>
              </a:solidFill>
              <a:latin typeface="Candara" panose="020E0502030303020204" pitchFamily="34" charset="0"/>
            </a:endParaRPr>
          </a:p>
        </p:txBody>
      </p:sp>
      <p:sp>
        <p:nvSpPr>
          <p:cNvPr id="5" name="Title 1"/>
          <p:cNvSpPr txBox="1">
            <a:spLocks/>
          </p:cNvSpPr>
          <p:nvPr/>
        </p:nvSpPr>
        <p:spPr>
          <a:xfrm>
            <a:off x="1255711" y="4179379"/>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bg1"/>
                </a:solidFill>
                <a:latin typeface="Candara" panose="020E0502030303020204" pitchFamily="34" charset="0"/>
              </a:rPr>
              <a:t>Family Living</a:t>
            </a:r>
            <a:endParaRPr lang="en-PH" sz="4000" dirty="0">
              <a:solidFill>
                <a:schemeClr val="bg1"/>
              </a:solidFill>
              <a:latin typeface="Candara" panose="020E0502030303020204" pitchFamily="34" charset="0"/>
            </a:endParaRPr>
          </a:p>
        </p:txBody>
      </p:sp>
      <p:sp>
        <p:nvSpPr>
          <p:cNvPr id="6" name="Title 1"/>
          <p:cNvSpPr txBox="1">
            <a:spLocks/>
          </p:cNvSpPr>
          <p:nvPr/>
        </p:nvSpPr>
        <p:spPr>
          <a:xfrm>
            <a:off x="1694155" y="4614202"/>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24053650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154" y="1010470"/>
            <a:ext cx="9404723" cy="2506394"/>
          </a:xfrm>
        </p:spPr>
        <p:txBody>
          <a:bodyPr/>
          <a:lstStyle/>
          <a:p>
            <a:r>
              <a:rPr lang="en-PH" sz="2800" dirty="0" smtClean="0">
                <a:solidFill>
                  <a:schemeClr val="bg1"/>
                </a:solidFill>
                <a:latin typeface="Candara" panose="020E0502030303020204" pitchFamily="34" charset="0"/>
              </a:rPr>
              <a:t>The needs, problems and aspirations of the youths are different from the adults. </a:t>
            </a:r>
            <a:br>
              <a:rPr lang="en-PH" sz="2800" dirty="0" smtClean="0">
                <a:solidFill>
                  <a:schemeClr val="bg1"/>
                </a:solidFill>
                <a:latin typeface="Candara" panose="020E0502030303020204" pitchFamily="34" charset="0"/>
              </a:rPr>
            </a:br>
            <a:r>
              <a:rPr lang="en-PH" sz="2800" dirty="0" smtClean="0">
                <a:solidFill>
                  <a:schemeClr val="bg1"/>
                </a:solidFill>
                <a:latin typeface="Candara" panose="020E0502030303020204" pitchFamily="34" charset="0"/>
              </a:rPr>
              <a:t/>
            </a:r>
            <a:br>
              <a:rPr lang="en-PH" sz="2800" dirty="0" smtClean="0">
                <a:solidFill>
                  <a:schemeClr val="bg1"/>
                </a:solidFill>
                <a:latin typeface="Candara" panose="020E0502030303020204" pitchFamily="34" charset="0"/>
              </a:rPr>
            </a:br>
            <a:r>
              <a:rPr lang="en-PH" sz="2800" dirty="0" smtClean="0">
                <a:solidFill>
                  <a:schemeClr val="bg1"/>
                </a:solidFill>
                <a:latin typeface="Candara" panose="020E0502030303020204" pitchFamily="34" charset="0"/>
              </a:rPr>
              <a:t>Youth enthusiasm to participate in the development projects should be well supported. </a:t>
            </a:r>
            <a:endParaRPr lang="en-PH" sz="2800" dirty="0">
              <a:solidFill>
                <a:schemeClr val="bg1"/>
              </a:solidFill>
              <a:latin typeface="Candara" panose="020E0502030303020204" pitchFamily="34" charset="0"/>
            </a:endParaRPr>
          </a:p>
        </p:txBody>
      </p:sp>
      <p:sp>
        <p:nvSpPr>
          <p:cNvPr id="4" name="Title 1"/>
          <p:cNvSpPr txBox="1">
            <a:spLocks/>
          </p:cNvSpPr>
          <p:nvPr/>
        </p:nvSpPr>
        <p:spPr>
          <a:xfrm>
            <a:off x="1255710" y="309696"/>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bg1"/>
                </a:solidFill>
                <a:latin typeface="Candara" panose="020E0502030303020204" pitchFamily="34" charset="0"/>
              </a:rPr>
              <a:t>Youth Development</a:t>
            </a:r>
            <a:endParaRPr lang="en-PH" sz="4000" dirty="0">
              <a:solidFill>
                <a:schemeClr val="bg1"/>
              </a:solidFill>
              <a:latin typeface="Candara" panose="020E0502030303020204" pitchFamily="34" charset="0"/>
            </a:endParaRPr>
          </a:p>
        </p:txBody>
      </p:sp>
      <p:sp>
        <p:nvSpPr>
          <p:cNvPr id="5" name="Title 1"/>
          <p:cNvSpPr txBox="1">
            <a:spLocks/>
          </p:cNvSpPr>
          <p:nvPr/>
        </p:nvSpPr>
        <p:spPr>
          <a:xfrm>
            <a:off x="1255709" y="3269505"/>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4000" dirty="0" smtClean="0">
                <a:solidFill>
                  <a:schemeClr val="bg1"/>
                </a:solidFill>
                <a:latin typeface="Candara" panose="020E0502030303020204" pitchFamily="34" charset="0"/>
              </a:rPr>
              <a:t>Leadership Training</a:t>
            </a:r>
            <a:endParaRPr lang="en-PH" sz="4000" dirty="0">
              <a:solidFill>
                <a:schemeClr val="bg1"/>
              </a:solidFill>
              <a:latin typeface="Candara" panose="020E0502030303020204" pitchFamily="34" charset="0"/>
            </a:endParaRPr>
          </a:p>
        </p:txBody>
      </p:sp>
      <p:sp>
        <p:nvSpPr>
          <p:cNvPr id="6" name="Title 1"/>
          <p:cNvSpPr txBox="1">
            <a:spLocks/>
          </p:cNvSpPr>
          <p:nvPr/>
        </p:nvSpPr>
        <p:spPr>
          <a:xfrm>
            <a:off x="1694155" y="4614202"/>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sz="3200" dirty="0">
              <a:solidFill>
                <a:schemeClr val="bg1"/>
              </a:solidFill>
              <a:latin typeface="Candara" panose="020E0502030303020204" pitchFamily="34" charset="0"/>
            </a:endParaRPr>
          </a:p>
        </p:txBody>
      </p:sp>
      <p:sp>
        <p:nvSpPr>
          <p:cNvPr id="7" name="Title 1"/>
          <p:cNvSpPr txBox="1">
            <a:spLocks/>
          </p:cNvSpPr>
          <p:nvPr/>
        </p:nvSpPr>
        <p:spPr>
          <a:xfrm>
            <a:off x="1474931" y="4139150"/>
            <a:ext cx="9404723" cy="250639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2800" dirty="0" smtClean="0">
                <a:solidFill>
                  <a:schemeClr val="bg1"/>
                </a:solidFill>
                <a:latin typeface="Candara" panose="020E0502030303020204" pitchFamily="34" charset="0"/>
              </a:rPr>
              <a:t>Leadership is the process of influencing other people. Leaders are the catalysts for group action, the voice for group expression and the tool through which the group considers and carries out its decisions.</a:t>
            </a:r>
          </a:p>
          <a:p>
            <a:endParaRPr lang="en-PH" sz="2800" dirty="0" smtClean="0">
              <a:solidFill>
                <a:schemeClr val="bg1"/>
              </a:solidFill>
              <a:latin typeface="Candara" panose="020E0502030303020204" pitchFamily="34" charset="0"/>
            </a:endParaRPr>
          </a:p>
          <a:p>
            <a:r>
              <a:rPr lang="en-PH" sz="2800" dirty="0" smtClean="0">
                <a:solidFill>
                  <a:schemeClr val="bg1"/>
                </a:solidFill>
                <a:latin typeface="Candara" panose="020E0502030303020204" pitchFamily="34" charset="0"/>
              </a:rPr>
              <a:t>Leadership can be developed.</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10553358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7014" y="708378"/>
            <a:ext cx="9404723" cy="2506394"/>
          </a:xfrm>
        </p:spPr>
        <p:txBody>
          <a:bodyPr/>
          <a:lstStyle/>
          <a:p>
            <a:r>
              <a:rPr lang="en-PH" sz="2800" dirty="0" smtClean="0">
                <a:solidFill>
                  <a:schemeClr val="bg1"/>
                </a:solidFill>
                <a:latin typeface="Candara" panose="020E0502030303020204" pitchFamily="34" charset="0"/>
              </a:rPr>
              <a:t>3 kinds of resources existing in the communities; </a:t>
            </a:r>
            <a:r>
              <a:rPr lang="en-PH" sz="2800" i="1" dirty="0" smtClean="0">
                <a:solidFill>
                  <a:schemeClr val="bg1"/>
                </a:solidFill>
                <a:latin typeface="Candara" panose="020E0502030303020204" pitchFamily="34" charset="0"/>
              </a:rPr>
              <a:t>natural, human</a:t>
            </a:r>
            <a:r>
              <a:rPr lang="en-PH" sz="2800" dirty="0" smtClean="0">
                <a:solidFill>
                  <a:schemeClr val="bg1"/>
                </a:solidFill>
                <a:latin typeface="Candara" panose="020E0502030303020204" pitchFamily="34" charset="0"/>
              </a:rPr>
              <a:t>, </a:t>
            </a:r>
            <a:r>
              <a:rPr lang="en-PH" sz="2800" i="1" dirty="0" smtClean="0">
                <a:solidFill>
                  <a:schemeClr val="bg1"/>
                </a:solidFill>
                <a:latin typeface="Candara" panose="020E0502030303020204" pitchFamily="34" charset="0"/>
              </a:rPr>
              <a:t>institutional or organizational resources</a:t>
            </a:r>
            <a:br>
              <a:rPr lang="en-PH" sz="2800" i="1" dirty="0" smtClean="0">
                <a:solidFill>
                  <a:schemeClr val="bg1"/>
                </a:solidFill>
                <a:latin typeface="Candara" panose="020E0502030303020204" pitchFamily="34" charset="0"/>
              </a:rPr>
            </a:br>
            <a:r>
              <a:rPr lang="en-PH" sz="2800" b="1" dirty="0" smtClean="0">
                <a:solidFill>
                  <a:schemeClr val="bg1"/>
                </a:solidFill>
                <a:latin typeface="Candara" panose="020E0502030303020204" pitchFamily="34" charset="0"/>
              </a:rPr>
              <a:t>Natural-</a:t>
            </a:r>
            <a:r>
              <a:rPr lang="en-PH" sz="2800" dirty="0" smtClean="0">
                <a:solidFill>
                  <a:schemeClr val="bg1"/>
                </a:solidFill>
                <a:latin typeface="Candara" panose="020E0502030303020204" pitchFamily="34" charset="0"/>
              </a:rPr>
              <a:t> free resources</a:t>
            </a:r>
            <a:br>
              <a:rPr lang="en-PH" sz="2800" dirty="0" smtClean="0">
                <a:solidFill>
                  <a:schemeClr val="bg1"/>
                </a:solidFill>
                <a:latin typeface="Candara" panose="020E0502030303020204" pitchFamily="34" charset="0"/>
              </a:rPr>
            </a:br>
            <a:r>
              <a:rPr lang="en-PH" sz="2800" b="1" dirty="0" smtClean="0">
                <a:solidFill>
                  <a:schemeClr val="bg1"/>
                </a:solidFill>
                <a:latin typeface="Candara" panose="020E0502030303020204" pitchFamily="34" charset="0"/>
              </a:rPr>
              <a:t>Human</a:t>
            </a:r>
            <a:r>
              <a:rPr lang="en-PH" sz="2800" dirty="0" smtClean="0">
                <a:solidFill>
                  <a:schemeClr val="bg1"/>
                </a:solidFill>
                <a:latin typeface="Candara" panose="020E0502030303020204" pitchFamily="34" charset="0"/>
              </a:rPr>
              <a:t>- the most important resources </a:t>
            </a:r>
            <a:br>
              <a:rPr lang="en-PH" sz="2800" dirty="0" smtClean="0">
                <a:solidFill>
                  <a:schemeClr val="bg1"/>
                </a:solidFill>
                <a:latin typeface="Candara" panose="020E0502030303020204" pitchFamily="34" charset="0"/>
              </a:rPr>
            </a:br>
            <a:r>
              <a:rPr lang="en-PH" sz="2800" b="1" dirty="0" smtClean="0">
                <a:solidFill>
                  <a:schemeClr val="bg1"/>
                </a:solidFill>
                <a:latin typeface="Candara" panose="020E0502030303020204" pitchFamily="34" charset="0"/>
              </a:rPr>
              <a:t>Institutional-</a:t>
            </a:r>
            <a:r>
              <a:rPr lang="en-PH" sz="2800" dirty="0" smtClean="0">
                <a:solidFill>
                  <a:schemeClr val="bg1"/>
                </a:solidFill>
                <a:latin typeface="Candara" panose="020E0502030303020204" pitchFamily="34" charset="0"/>
              </a:rPr>
              <a:t> schools, churches, existing organization, local government</a:t>
            </a:r>
            <a:endParaRPr lang="en-PH" sz="2800" dirty="0">
              <a:solidFill>
                <a:schemeClr val="bg1"/>
              </a:solidFill>
              <a:latin typeface="Candara" panose="020E0502030303020204" pitchFamily="34" charset="0"/>
            </a:endParaRPr>
          </a:p>
        </p:txBody>
      </p:sp>
      <p:sp>
        <p:nvSpPr>
          <p:cNvPr id="4" name="Title 1"/>
          <p:cNvSpPr txBox="1">
            <a:spLocks/>
          </p:cNvSpPr>
          <p:nvPr/>
        </p:nvSpPr>
        <p:spPr>
          <a:xfrm>
            <a:off x="540949" y="71046"/>
            <a:ext cx="10856854"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Wingdings" panose="05000000000000000000" pitchFamily="2" charset="2"/>
              <a:buChar char="Ø"/>
            </a:pPr>
            <a:r>
              <a:rPr lang="en-PH" sz="3200" dirty="0" smtClean="0">
                <a:solidFill>
                  <a:schemeClr val="bg1"/>
                </a:solidFill>
                <a:latin typeface="Candara" panose="020E0502030303020204" pitchFamily="34" charset="0"/>
              </a:rPr>
              <a:t>Community Improvement and Resource Development</a:t>
            </a:r>
            <a:endParaRPr lang="en-PH" sz="3200" dirty="0">
              <a:solidFill>
                <a:schemeClr val="bg1"/>
              </a:solidFill>
              <a:latin typeface="Candara" panose="020E0502030303020204" pitchFamily="34" charset="0"/>
            </a:endParaRPr>
          </a:p>
        </p:txBody>
      </p:sp>
      <p:sp>
        <p:nvSpPr>
          <p:cNvPr id="5" name="Title 1"/>
          <p:cNvSpPr txBox="1">
            <a:spLocks/>
          </p:cNvSpPr>
          <p:nvPr/>
        </p:nvSpPr>
        <p:spPr>
          <a:xfrm>
            <a:off x="540949" y="3479664"/>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Ø"/>
            </a:pPr>
            <a:r>
              <a:rPr lang="en-PH" sz="3600" dirty="0" smtClean="0">
                <a:solidFill>
                  <a:schemeClr val="bg1"/>
                </a:solidFill>
                <a:latin typeface="Candara" panose="020E0502030303020204" pitchFamily="34" charset="0"/>
              </a:rPr>
              <a:t>Public Affairs</a:t>
            </a:r>
            <a:endParaRPr lang="en-PH" sz="3600" dirty="0">
              <a:solidFill>
                <a:schemeClr val="bg1"/>
              </a:solidFill>
              <a:latin typeface="Candara" panose="020E0502030303020204" pitchFamily="34" charset="0"/>
            </a:endParaRPr>
          </a:p>
        </p:txBody>
      </p:sp>
      <p:sp>
        <p:nvSpPr>
          <p:cNvPr id="6" name="Title 1"/>
          <p:cNvSpPr txBox="1">
            <a:spLocks/>
          </p:cNvSpPr>
          <p:nvPr/>
        </p:nvSpPr>
        <p:spPr>
          <a:xfrm>
            <a:off x="1694155" y="4614202"/>
            <a:ext cx="9404723" cy="8696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H" sz="3200" dirty="0">
              <a:solidFill>
                <a:schemeClr val="bg1"/>
              </a:solidFill>
              <a:latin typeface="Candara" panose="020E0502030303020204" pitchFamily="34" charset="0"/>
            </a:endParaRPr>
          </a:p>
        </p:txBody>
      </p:sp>
      <p:sp>
        <p:nvSpPr>
          <p:cNvPr id="7" name="Title 1"/>
          <p:cNvSpPr txBox="1">
            <a:spLocks/>
          </p:cNvSpPr>
          <p:nvPr/>
        </p:nvSpPr>
        <p:spPr>
          <a:xfrm>
            <a:off x="1267013" y="4110726"/>
            <a:ext cx="9404723" cy="1876596"/>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PH" sz="2800" b="1" dirty="0" smtClean="0">
                <a:solidFill>
                  <a:schemeClr val="bg1"/>
                </a:solidFill>
                <a:latin typeface="Candara" panose="020E0502030303020204" pitchFamily="34" charset="0"/>
              </a:rPr>
              <a:t>Public affairs education is education for citizenship</a:t>
            </a:r>
            <a:r>
              <a:rPr lang="en-PH" sz="2800" dirty="0" smtClean="0">
                <a:solidFill>
                  <a:schemeClr val="bg1"/>
                </a:solidFill>
                <a:latin typeface="Candara" panose="020E0502030303020204" pitchFamily="34" charset="0"/>
              </a:rPr>
              <a:t>. There are many issues and concerns that affect the people in the community. </a:t>
            </a:r>
          </a:p>
          <a:p>
            <a:r>
              <a:rPr lang="en-PH" sz="2800" dirty="0" smtClean="0">
                <a:solidFill>
                  <a:schemeClr val="bg1"/>
                </a:solidFill>
                <a:latin typeface="Candara" panose="020E0502030303020204" pitchFamily="34" charset="0"/>
              </a:rPr>
              <a:t>Extension service should provide opportunities to people to participate in activities that aim to clarify issues and problems on public affairs. </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96121324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07" y="1156102"/>
            <a:ext cx="9404723" cy="4274027"/>
          </a:xfrm>
        </p:spPr>
        <p:txBody>
          <a:bodyPr/>
          <a:lstStyle/>
          <a:p>
            <a:pPr algn="ctr"/>
            <a:r>
              <a:rPr lang="en-PH" sz="7200" dirty="0" smtClean="0">
                <a:solidFill>
                  <a:schemeClr val="bg1"/>
                </a:solidFill>
                <a:latin typeface="Berlin Sans FB" panose="020E0602020502020306" pitchFamily="34" charset="0"/>
              </a:rPr>
              <a:t>The Challenges </a:t>
            </a:r>
            <a:br>
              <a:rPr lang="en-PH" sz="7200" dirty="0" smtClean="0">
                <a:solidFill>
                  <a:schemeClr val="bg1"/>
                </a:solidFill>
                <a:latin typeface="Berlin Sans FB" panose="020E0602020502020306" pitchFamily="34" charset="0"/>
              </a:rPr>
            </a:br>
            <a:r>
              <a:rPr lang="en-PH" sz="7200" dirty="0" smtClean="0">
                <a:solidFill>
                  <a:schemeClr val="bg1"/>
                </a:solidFill>
                <a:latin typeface="Berlin Sans FB" panose="020E0602020502020306" pitchFamily="34" charset="0"/>
              </a:rPr>
              <a:t>of </a:t>
            </a:r>
            <a:br>
              <a:rPr lang="en-PH" sz="7200" dirty="0" smtClean="0">
                <a:solidFill>
                  <a:schemeClr val="bg1"/>
                </a:solidFill>
                <a:latin typeface="Berlin Sans FB" panose="020E0602020502020306" pitchFamily="34" charset="0"/>
              </a:rPr>
            </a:br>
            <a:r>
              <a:rPr lang="en-PH" sz="7200" dirty="0" smtClean="0">
                <a:solidFill>
                  <a:schemeClr val="bg1"/>
                </a:solidFill>
                <a:latin typeface="Berlin Sans FB" panose="020E0602020502020306" pitchFamily="34" charset="0"/>
              </a:rPr>
              <a:t>Extension</a:t>
            </a:r>
            <a:endParaRPr lang="en-PH" sz="7200" dirty="0">
              <a:solidFill>
                <a:schemeClr val="bg1"/>
              </a:solidFill>
              <a:latin typeface="Berlin Sans FB" panose="020E0602020502020306" pitchFamily="34" charset="0"/>
            </a:endParaRPr>
          </a:p>
        </p:txBody>
      </p:sp>
    </p:spTree>
    <p:extLst>
      <p:ext uri="{BB962C8B-B14F-4D97-AF65-F5344CB8AC3E}">
        <p14:creationId xmlns:p14="http://schemas.microsoft.com/office/powerpoint/2010/main" val="139203368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219" y="208268"/>
            <a:ext cx="11079310" cy="5684313"/>
          </a:xfrm>
        </p:spPr>
        <p:txBody>
          <a:bodyPr>
            <a:noAutofit/>
          </a:bodyPr>
          <a:lstStyle/>
          <a:p>
            <a:r>
              <a:rPr lang="en-PH" sz="2800" b="1" dirty="0" smtClean="0">
                <a:solidFill>
                  <a:schemeClr val="bg1"/>
                </a:solidFill>
                <a:latin typeface="Candara" panose="020E0502030303020204" pitchFamily="34" charset="0"/>
              </a:rPr>
              <a:t>Wide geographic area of coverage.</a:t>
            </a:r>
          </a:p>
          <a:p>
            <a:pPr marL="0" indent="0">
              <a:buNone/>
            </a:pPr>
            <a:r>
              <a:rPr lang="en-PH" sz="2800" dirty="0" smtClean="0">
                <a:solidFill>
                  <a:schemeClr val="bg1"/>
                </a:solidFill>
                <a:latin typeface="Candara" panose="020E0502030303020204" pitchFamily="34" charset="0"/>
              </a:rPr>
              <a:t>	Philippines has </a:t>
            </a:r>
          </a:p>
          <a:p>
            <a:pPr marL="0" indent="0">
              <a:buNone/>
            </a:pPr>
            <a:r>
              <a:rPr lang="en-PH" sz="2800" dirty="0" smtClean="0">
                <a:solidFill>
                  <a:schemeClr val="bg1"/>
                </a:solidFill>
                <a:latin typeface="Candara" panose="020E0502030303020204" pitchFamily="34" charset="0"/>
              </a:rPr>
              <a:t>	Ideally, an extension worker should serve 3 barangays in order to be effective.</a:t>
            </a:r>
          </a:p>
          <a:p>
            <a:r>
              <a:rPr lang="en-PH" sz="2800" b="1" dirty="0" smtClean="0">
                <a:solidFill>
                  <a:schemeClr val="bg1"/>
                </a:solidFill>
                <a:latin typeface="Candara" panose="020E0502030303020204" pitchFamily="34" charset="0"/>
              </a:rPr>
              <a:t>Ecological Zones.</a:t>
            </a:r>
          </a:p>
          <a:p>
            <a:pPr marL="0" indent="0">
              <a:buNone/>
            </a:pPr>
            <a:r>
              <a:rPr lang="en-PH" sz="2800" dirty="0" smtClean="0">
                <a:solidFill>
                  <a:schemeClr val="bg1"/>
                </a:solidFill>
                <a:latin typeface="Candara" panose="020E0502030303020204" pitchFamily="34" charset="0"/>
              </a:rPr>
              <a:t>	There are different ecological zones like the lowland irrigated, lowland rain-	fed and upland hilly, mountainous and coastal areas.</a:t>
            </a:r>
            <a:endParaRPr lang="en-PH" sz="2800" dirty="0">
              <a:solidFill>
                <a:schemeClr val="bg1"/>
              </a:solidFill>
              <a:latin typeface="Candara" panose="020E0502030303020204" pitchFamily="34" charset="0"/>
            </a:endParaRPr>
          </a:p>
          <a:p>
            <a:r>
              <a:rPr lang="en-PH" sz="2800" b="1" dirty="0" smtClean="0">
                <a:solidFill>
                  <a:schemeClr val="bg1"/>
                </a:solidFill>
                <a:latin typeface="Candara" panose="020E0502030303020204" pitchFamily="34" charset="0"/>
              </a:rPr>
              <a:t>The Culture of the People.</a:t>
            </a:r>
          </a:p>
          <a:p>
            <a:pPr marL="0" indent="0">
              <a:buNone/>
            </a:pPr>
            <a:r>
              <a:rPr lang="en-PH" sz="2800" dirty="0" smtClean="0">
                <a:solidFill>
                  <a:schemeClr val="bg1"/>
                </a:solidFill>
                <a:latin typeface="Candara" panose="020E0502030303020204" pitchFamily="34" charset="0"/>
              </a:rPr>
              <a:t>	Research results and technology which are good for one culture may not be 	acceptable to people with another culture.</a:t>
            </a:r>
            <a:endParaRPr lang="en-PH" sz="2800" dirty="0">
              <a:solidFill>
                <a:schemeClr val="bg1"/>
              </a:solidFill>
              <a:latin typeface="Candara" panose="020E0502030303020204" pitchFamily="34" charset="0"/>
            </a:endParaRPr>
          </a:p>
          <a:p>
            <a:r>
              <a:rPr lang="en-PH" sz="2800" b="1" dirty="0" smtClean="0">
                <a:solidFill>
                  <a:schemeClr val="bg1"/>
                </a:solidFill>
                <a:latin typeface="Candara" panose="020E0502030303020204" pitchFamily="34" charset="0"/>
              </a:rPr>
              <a:t>Problems of the People.</a:t>
            </a:r>
          </a:p>
          <a:p>
            <a:r>
              <a:rPr lang="en-PH" sz="2800" b="1" dirty="0" smtClean="0">
                <a:solidFill>
                  <a:schemeClr val="bg1"/>
                </a:solidFill>
                <a:latin typeface="Candara" panose="020E0502030303020204" pitchFamily="34" charset="0"/>
              </a:rPr>
              <a:t>Globalization, Information and Communication Revolution.</a:t>
            </a: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58981188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sz="4000">
                <a:solidFill>
                  <a:schemeClr val="accent1">
                    <a:lumMod val="50000"/>
                  </a:schemeClr>
                </a:solidFill>
                <a:latin typeface="Berlin Sans FB" panose="020E0602020502020306" pitchFamily="34" charset="0"/>
              </a:rPr>
              <a:t>4. Extension is a type of  intervention focused on</a:t>
            </a:r>
          </a:p>
        </p:txBody>
      </p:sp>
      <p:sp>
        <p:nvSpPr>
          <p:cNvPr id="45059" name="Rectangle 3"/>
          <p:cNvSpPr>
            <a:spLocks noGrp="1" noChangeArrowheads="1"/>
          </p:cNvSpPr>
          <p:nvPr>
            <p:ph idx="1"/>
          </p:nvPr>
        </p:nvSpPr>
        <p:spPr/>
        <p:txBody>
          <a:bodyPr rtlCol="0">
            <a:normAutofit/>
          </a:bodyPr>
          <a:lstStyle/>
          <a:p>
            <a:pPr marL="0" indent="0">
              <a:buNone/>
              <a:defRPr/>
            </a:pPr>
            <a:r>
              <a:rPr lang="en-US" sz="3200" dirty="0">
                <a:solidFill>
                  <a:schemeClr val="accent1">
                    <a:lumMod val="50000"/>
                  </a:schemeClr>
                </a:solidFill>
                <a:latin typeface="Berlin Sans FB" panose="020E0602020502020306" pitchFamily="34" charset="0"/>
              </a:rPr>
              <a:t>A. 	Education and training and related 	services</a:t>
            </a:r>
          </a:p>
          <a:p>
            <a:pPr marL="0" indent="0">
              <a:buNone/>
              <a:defRPr/>
            </a:pPr>
            <a:r>
              <a:rPr lang="en-US" sz="3200" dirty="0">
                <a:solidFill>
                  <a:schemeClr val="accent1">
                    <a:lumMod val="50000"/>
                  </a:schemeClr>
                </a:solidFill>
                <a:latin typeface="Berlin Sans FB" panose="020E0602020502020306" pitchFamily="34" charset="0"/>
              </a:rPr>
              <a:t>B. 	Designed towards helping people to help 	themselves</a:t>
            </a:r>
          </a:p>
          <a:p>
            <a:pPr marL="0" indent="0">
              <a:buNone/>
              <a:defRPr/>
            </a:pPr>
            <a:r>
              <a:rPr lang="en-US" sz="3200" dirty="0">
                <a:solidFill>
                  <a:schemeClr val="accent1">
                    <a:lumMod val="50000"/>
                  </a:schemeClr>
                </a:solidFill>
                <a:latin typeface="Berlin Sans FB" panose="020E0602020502020306" pitchFamily="34" charset="0"/>
              </a:rPr>
              <a:t>C. 	All of the above</a:t>
            </a:r>
          </a:p>
          <a:p>
            <a:pPr marL="609600" indent="-609600">
              <a:defRPr/>
            </a:pPr>
            <a:endParaRPr lang="en-US" sz="3200" dirty="0">
              <a:solidFill>
                <a:schemeClr val="accent1">
                  <a:lumMod val="50000"/>
                </a:schemeClr>
              </a:solidFill>
              <a:latin typeface="Berlin Sans FB" panose="020E0602020502020306" pitchFamily="34" charset="0"/>
            </a:endParaRPr>
          </a:p>
          <a:p>
            <a:pPr marL="609600" indent="-609600">
              <a:buNone/>
              <a:defRPr/>
            </a:pPr>
            <a:endParaRPr lang="en-US" sz="3200" dirty="0">
              <a:solidFill>
                <a:schemeClr val="accent1">
                  <a:lumMod val="50000"/>
                </a:schemeClr>
              </a:solidFill>
              <a:latin typeface="Berlin Sans FB" panose="020E0602020502020306" pitchFamily="34" charset="0"/>
            </a:endParaRPr>
          </a:p>
        </p:txBody>
      </p:sp>
      <p:sp>
        <p:nvSpPr>
          <p:cNvPr id="186372" name="Text Box 4"/>
          <p:cNvSpPr txBox="1">
            <a:spLocks noChangeArrowheads="1"/>
          </p:cNvSpPr>
          <p:nvPr/>
        </p:nvSpPr>
        <p:spPr bwMode="auto">
          <a:xfrm>
            <a:off x="2057400" y="51816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rPr>
              <a:t>C. All of the above</a:t>
            </a:r>
          </a:p>
        </p:txBody>
      </p:sp>
    </p:spTree>
    <p:extLst>
      <p:ext uri="{BB962C8B-B14F-4D97-AF65-F5344CB8AC3E}">
        <p14:creationId xmlns:p14="http://schemas.microsoft.com/office/powerpoint/2010/main" val="382130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86372"/>
                                        </p:tgtEl>
                                        <p:attrNameLst>
                                          <p:attrName>style.visibility</p:attrName>
                                        </p:attrNameLst>
                                      </p:cBhvr>
                                      <p:to>
                                        <p:strVal val="visible"/>
                                      </p:to>
                                    </p:set>
                                    <p:animEffect transition="in" filter="wipe(down)">
                                      <p:cBhvr>
                                        <p:cTn id="7" dur="580">
                                          <p:stCondLst>
                                            <p:cond delay="0"/>
                                          </p:stCondLst>
                                        </p:cTn>
                                        <p:tgtEl>
                                          <p:spTgt spid="186372"/>
                                        </p:tgtEl>
                                      </p:cBhvr>
                                    </p:animEffect>
                                    <p:anim calcmode="lin" valueType="num">
                                      <p:cBhvr>
                                        <p:cTn id="8" dur="1822" tmFilter="0,0; 0.14,0.36; 0.43,0.73; 0.71,0.91; 1.0,1.0">
                                          <p:stCondLst>
                                            <p:cond delay="0"/>
                                          </p:stCondLst>
                                        </p:cTn>
                                        <p:tgtEl>
                                          <p:spTgt spid="18637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8637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8637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8637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86372"/>
                                        </p:tgtEl>
                                        <p:attrNameLst>
                                          <p:attrName>ppt_y</p:attrName>
                                        </p:attrNameLst>
                                      </p:cBhvr>
                                      <p:tavLst>
                                        <p:tav tm="0" fmla="#ppt_y-sin(pi*$)/81">
                                          <p:val>
                                            <p:fltVal val="0"/>
                                          </p:val>
                                        </p:tav>
                                        <p:tav tm="100000">
                                          <p:val>
                                            <p:fltVal val="1"/>
                                          </p:val>
                                        </p:tav>
                                      </p:tavLst>
                                    </p:anim>
                                    <p:animScale>
                                      <p:cBhvr>
                                        <p:cTn id="13" dur="26">
                                          <p:stCondLst>
                                            <p:cond delay="650"/>
                                          </p:stCondLst>
                                        </p:cTn>
                                        <p:tgtEl>
                                          <p:spTgt spid="186372"/>
                                        </p:tgtEl>
                                      </p:cBhvr>
                                      <p:to x="100000" y="60000"/>
                                    </p:animScale>
                                    <p:animScale>
                                      <p:cBhvr>
                                        <p:cTn id="14" dur="166" decel="50000">
                                          <p:stCondLst>
                                            <p:cond delay="676"/>
                                          </p:stCondLst>
                                        </p:cTn>
                                        <p:tgtEl>
                                          <p:spTgt spid="186372"/>
                                        </p:tgtEl>
                                      </p:cBhvr>
                                      <p:to x="100000" y="100000"/>
                                    </p:animScale>
                                    <p:animScale>
                                      <p:cBhvr>
                                        <p:cTn id="15" dur="26">
                                          <p:stCondLst>
                                            <p:cond delay="1312"/>
                                          </p:stCondLst>
                                        </p:cTn>
                                        <p:tgtEl>
                                          <p:spTgt spid="186372"/>
                                        </p:tgtEl>
                                      </p:cBhvr>
                                      <p:to x="100000" y="80000"/>
                                    </p:animScale>
                                    <p:animScale>
                                      <p:cBhvr>
                                        <p:cTn id="16" dur="166" decel="50000">
                                          <p:stCondLst>
                                            <p:cond delay="1338"/>
                                          </p:stCondLst>
                                        </p:cTn>
                                        <p:tgtEl>
                                          <p:spTgt spid="186372"/>
                                        </p:tgtEl>
                                      </p:cBhvr>
                                      <p:to x="100000" y="100000"/>
                                    </p:animScale>
                                    <p:animScale>
                                      <p:cBhvr>
                                        <p:cTn id="17" dur="26">
                                          <p:stCondLst>
                                            <p:cond delay="1642"/>
                                          </p:stCondLst>
                                        </p:cTn>
                                        <p:tgtEl>
                                          <p:spTgt spid="186372"/>
                                        </p:tgtEl>
                                      </p:cBhvr>
                                      <p:to x="100000" y="90000"/>
                                    </p:animScale>
                                    <p:animScale>
                                      <p:cBhvr>
                                        <p:cTn id="18" dur="166" decel="50000">
                                          <p:stCondLst>
                                            <p:cond delay="1668"/>
                                          </p:stCondLst>
                                        </p:cTn>
                                        <p:tgtEl>
                                          <p:spTgt spid="186372"/>
                                        </p:tgtEl>
                                      </p:cBhvr>
                                      <p:to x="100000" y="100000"/>
                                    </p:animScale>
                                    <p:animScale>
                                      <p:cBhvr>
                                        <p:cTn id="19" dur="26">
                                          <p:stCondLst>
                                            <p:cond delay="1808"/>
                                          </p:stCondLst>
                                        </p:cTn>
                                        <p:tgtEl>
                                          <p:spTgt spid="186372"/>
                                        </p:tgtEl>
                                      </p:cBhvr>
                                      <p:to x="100000" y="95000"/>
                                    </p:animScale>
                                    <p:animScale>
                                      <p:cBhvr>
                                        <p:cTn id="20" dur="166" decel="50000">
                                          <p:stCondLst>
                                            <p:cond delay="1834"/>
                                          </p:stCondLst>
                                        </p:cTn>
                                        <p:tgtEl>
                                          <p:spTgt spid="18637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sz="3600" dirty="0" smtClean="0">
                <a:solidFill>
                  <a:schemeClr val="accent1">
                    <a:lumMod val="50000"/>
                  </a:schemeClr>
                </a:solidFill>
                <a:latin typeface="Candara" panose="020E0502030303020204" pitchFamily="34" charset="0"/>
              </a:rPr>
              <a:t>Agricultural </a:t>
            </a:r>
            <a:r>
              <a:rPr lang="en-US" sz="3600" dirty="0">
                <a:solidFill>
                  <a:schemeClr val="accent1">
                    <a:lumMod val="50000"/>
                  </a:schemeClr>
                </a:solidFill>
                <a:latin typeface="Candara" panose="020E0502030303020204" pitchFamily="34" charset="0"/>
              </a:rPr>
              <a:t>extension is a system of non-formal education because it</a:t>
            </a:r>
          </a:p>
        </p:txBody>
      </p:sp>
      <p:sp>
        <p:nvSpPr>
          <p:cNvPr id="64515" name="Rectangle 3"/>
          <p:cNvSpPr>
            <a:spLocks noGrp="1" noChangeArrowheads="1"/>
          </p:cNvSpPr>
          <p:nvPr>
            <p:ph idx="1"/>
          </p:nvPr>
        </p:nvSpPr>
        <p:spPr/>
        <p:txBody>
          <a:bodyPr/>
          <a:lstStyle/>
          <a:p>
            <a:pPr marL="0" indent="0">
              <a:buNone/>
            </a:pPr>
            <a:r>
              <a:rPr lang="en-US" sz="3200" dirty="0">
                <a:solidFill>
                  <a:schemeClr val="accent1">
                    <a:lumMod val="50000"/>
                  </a:schemeClr>
                </a:solidFill>
                <a:latin typeface="Candara" panose="020E0502030303020204" pitchFamily="34" charset="0"/>
              </a:rPr>
              <a:t>A. 	Is  done by the people in the formal 	school system</a:t>
            </a:r>
          </a:p>
          <a:p>
            <a:pPr marL="0" indent="0">
              <a:buNone/>
            </a:pPr>
            <a:r>
              <a:rPr lang="en-US" sz="3200" dirty="0">
                <a:solidFill>
                  <a:schemeClr val="accent1">
                    <a:lumMod val="50000"/>
                  </a:schemeClr>
                </a:solidFill>
                <a:latin typeface="Candara" panose="020E0502030303020204" pitchFamily="34" charset="0"/>
              </a:rPr>
              <a:t>B. 	Does  require a curriculum</a:t>
            </a:r>
          </a:p>
          <a:p>
            <a:pPr marL="0" indent="0">
              <a:buNone/>
            </a:pPr>
            <a:r>
              <a:rPr lang="en-US" sz="3200" dirty="0">
                <a:solidFill>
                  <a:schemeClr val="accent1">
                    <a:lumMod val="50000"/>
                  </a:schemeClr>
                </a:solidFill>
                <a:latin typeface="Candara" panose="020E0502030303020204" pitchFamily="34" charset="0"/>
              </a:rPr>
              <a:t>C. 	Is graded formally</a:t>
            </a:r>
          </a:p>
          <a:p>
            <a:pPr marL="0" indent="0">
              <a:buNone/>
            </a:pPr>
            <a:r>
              <a:rPr lang="en-US" sz="3200" dirty="0">
                <a:solidFill>
                  <a:schemeClr val="accent1">
                    <a:lumMod val="50000"/>
                  </a:schemeClr>
                </a:solidFill>
                <a:latin typeface="Candara" panose="020E0502030303020204" pitchFamily="34" charset="0"/>
              </a:rPr>
              <a:t>D. 	Is addressed to the “here and the now”</a:t>
            </a:r>
          </a:p>
        </p:txBody>
      </p:sp>
      <p:sp>
        <p:nvSpPr>
          <p:cNvPr id="187396" name="Text Box 4"/>
          <p:cNvSpPr txBox="1">
            <a:spLocks noChangeArrowheads="1"/>
          </p:cNvSpPr>
          <p:nvPr/>
        </p:nvSpPr>
        <p:spPr bwMode="auto">
          <a:xfrm>
            <a:off x="989527" y="5181599"/>
            <a:ext cx="7162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dirty="0">
                <a:solidFill>
                  <a:schemeClr val="accent1">
                    <a:lumMod val="50000"/>
                  </a:schemeClr>
                </a:solidFill>
              </a:rPr>
              <a:t>D. Is addressed to the “here and the now”</a:t>
            </a:r>
          </a:p>
        </p:txBody>
      </p:sp>
    </p:spTree>
    <p:extLst>
      <p:ext uri="{BB962C8B-B14F-4D97-AF65-F5344CB8AC3E}">
        <p14:creationId xmlns:p14="http://schemas.microsoft.com/office/powerpoint/2010/main" val="23959709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87396"/>
                                        </p:tgtEl>
                                        <p:attrNameLst>
                                          <p:attrName>style.visibility</p:attrName>
                                        </p:attrNameLst>
                                      </p:cBhvr>
                                      <p:to>
                                        <p:strVal val="visible"/>
                                      </p:to>
                                    </p:set>
                                    <p:animEffect transition="in" filter="wipe(down)">
                                      <p:cBhvr>
                                        <p:cTn id="7" dur="580">
                                          <p:stCondLst>
                                            <p:cond delay="0"/>
                                          </p:stCondLst>
                                        </p:cTn>
                                        <p:tgtEl>
                                          <p:spTgt spid="187396"/>
                                        </p:tgtEl>
                                      </p:cBhvr>
                                    </p:animEffect>
                                    <p:anim calcmode="lin" valueType="num">
                                      <p:cBhvr>
                                        <p:cTn id="8" dur="1822" tmFilter="0,0; 0.14,0.36; 0.43,0.73; 0.71,0.91; 1.0,1.0">
                                          <p:stCondLst>
                                            <p:cond delay="0"/>
                                          </p:stCondLst>
                                        </p:cTn>
                                        <p:tgtEl>
                                          <p:spTgt spid="18739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8739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8739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8739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87396"/>
                                        </p:tgtEl>
                                        <p:attrNameLst>
                                          <p:attrName>ppt_y</p:attrName>
                                        </p:attrNameLst>
                                      </p:cBhvr>
                                      <p:tavLst>
                                        <p:tav tm="0" fmla="#ppt_y-sin(pi*$)/81">
                                          <p:val>
                                            <p:fltVal val="0"/>
                                          </p:val>
                                        </p:tav>
                                        <p:tav tm="100000">
                                          <p:val>
                                            <p:fltVal val="1"/>
                                          </p:val>
                                        </p:tav>
                                      </p:tavLst>
                                    </p:anim>
                                    <p:animScale>
                                      <p:cBhvr>
                                        <p:cTn id="13" dur="26">
                                          <p:stCondLst>
                                            <p:cond delay="650"/>
                                          </p:stCondLst>
                                        </p:cTn>
                                        <p:tgtEl>
                                          <p:spTgt spid="187396"/>
                                        </p:tgtEl>
                                      </p:cBhvr>
                                      <p:to x="100000" y="60000"/>
                                    </p:animScale>
                                    <p:animScale>
                                      <p:cBhvr>
                                        <p:cTn id="14" dur="166" decel="50000">
                                          <p:stCondLst>
                                            <p:cond delay="676"/>
                                          </p:stCondLst>
                                        </p:cTn>
                                        <p:tgtEl>
                                          <p:spTgt spid="187396"/>
                                        </p:tgtEl>
                                      </p:cBhvr>
                                      <p:to x="100000" y="100000"/>
                                    </p:animScale>
                                    <p:animScale>
                                      <p:cBhvr>
                                        <p:cTn id="15" dur="26">
                                          <p:stCondLst>
                                            <p:cond delay="1312"/>
                                          </p:stCondLst>
                                        </p:cTn>
                                        <p:tgtEl>
                                          <p:spTgt spid="187396"/>
                                        </p:tgtEl>
                                      </p:cBhvr>
                                      <p:to x="100000" y="80000"/>
                                    </p:animScale>
                                    <p:animScale>
                                      <p:cBhvr>
                                        <p:cTn id="16" dur="166" decel="50000">
                                          <p:stCondLst>
                                            <p:cond delay="1338"/>
                                          </p:stCondLst>
                                        </p:cTn>
                                        <p:tgtEl>
                                          <p:spTgt spid="187396"/>
                                        </p:tgtEl>
                                      </p:cBhvr>
                                      <p:to x="100000" y="100000"/>
                                    </p:animScale>
                                    <p:animScale>
                                      <p:cBhvr>
                                        <p:cTn id="17" dur="26">
                                          <p:stCondLst>
                                            <p:cond delay="1642"/>
                                          </p:stCondLst>
                                        </p:cTn>
                                        <p:tgtEl>
                                          <p:spTgt spid="187396"/>
                                        </p:tgtEl>
                                      </p:cBhvr>
                                      <p:to x="100000" y="90000"/>
                                    </p:animScale>
                                    <p:animScale>
                                      <p:cBhvr>
                                        <p:cTn id="18" dur="166" decel="50000">
                                          <p:stCondLst>
                                            <p:cond delay="1668"/>
                                          </p:stCondLst>
                                        </p:cTn>
                                        <p:tgtEl>
                                          <p:spTgt spid="187396"/>
                                        </p:tgtEl>
                                      </p:cBhvr>
                                      <p:to x="100000" y="100000"/>
                                    </p:animScale>
                                    <p:animScale>
                                      <p:cBhvr>
                                        <p:cTn id="19" dur="26">
                                          <p:stCondLst>
                                            <p:cond delay="1808"/>
                                          </p:stCondLst>
                                        </p:cTn>
                                        <p:tgtEl>
                                          <p:spTgt spid="187396"/>
                                        </p:tgtEl>
                                      </p:cBhvr>
                                      <p:to x="100000" y="95000"/>
                                    </p:animScale>
                                    <p:animScale>
                                      <p:cBhvr>
                                        <p:cTn id="20" dur="166" decel="50000">
                                          <p:stCondLst>
                                            <p:cond delay="1834"/>
                                          </p:stCondLst>
                                        </p:cTn>
                                        <p:tgtEl>
                                          <p:spTgt spid="18739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sz="3600" dirty="0" smtClean="0">
                <a:solidFill>
                  <a:schemeClr val="accent1">
                    <a:lumMod val="50000"/>
                  </a:schemeClr>
                </a:solidFill>
                <a:latin typeface="Berlin Sans FB" panose="020E0602020502020306" pitchFamily="34" charset="0"/>
              </a:rPr>
              <a:t>Which </a:t>
            </a:r>
            <a:r>
              <a:rPr lang="en-US" sz="3600" dirty="0">
                <a:solidFill>
                  <a:schemeClr val="accent1">
                    <a:lumMod val="50000"/>
                  </a:schemeClr>
                </a:solidFill>
                <a:latin typeface="Berlin Sans FB" panose="020E0602020502020306" pitchFamily="34" charset="0"/>
              </a:rPr>
              <a:t>of the roles of extension worker should not be in the list?</a:t>
            </a:r>
          </a:p>
        </p:txBody>
      </p:sp>
      <p:sp>
        <p:nvSpPr>
          <p:cNvPr id="47107" name="Rectangle 3"/>
          <p:cNvSpPr>
            <a:spLocks noGrp="1" noChangeArrowheads="1"/>
          </p:cNvSpPr>
          <p:nvPr>
            <p:ph idx="1"/>
          </p:nvPr>
        </p:nvSpPr>
        <p:spPr/>
        <p:txBody>
          <a:bodyPr rtlCol="0">
            <a:normAutofit/>
          </a:bodyPr>
          <a:lstStyle/>
          <a:p>
            <a:pPr marL="0" indent="0">
              <a:buNone/>
              <a:defRPr/>
            </a:pPr>
            <a:r>
              <a:rPr lang="en-US" sz="3600" dirty="0">
                <a:solidFill>
                  <a:schemeClr val="accent1">
                    <a:lumMod val="50000"/>
                  </a:schemeClr>
                </a:solidFill>
                <a:latin typeface="Berlin Sans FB" panose="020E0602020502020306" pitchFamily="34" charset="0"/>
              </a:rPr>
              <a:t>A. 	Technician</a:t>
            </a:r>
          </a:p>
          <a:p>
            <a:pPr marL="609600" indent="-609600">
              <a:buNone/>
              <a:defRPr/>
            </a:pPr>
            <a:r>
              <a:rPr lang="en-US" sz="3600" dirty="0">
                <a:solidFill>
                  <a:schemeClr val="accent1">
                    <a:lumMod val="50000"/>
                  </a:schemeClr>
                </a:solidFill>
                <a:latin typeface="Berlin Sans FB" panose="020E0602020502020306" pitchFamily="34" charset="0"/>
              </a:rPr>
              <a:t>B.  		Adviser</a:t>
            </a:r>
          </a:p>
          <a:p>
            <a:pPr marL="0" indent="0">
              <a:buNone/>
              <a:defRPr/>
            </a:pPr>
            <a:r>
              <a:rPr lang="en-US" sz="3600" dirty="0">
                <a:solidFill>
                  <a:schemeClr val="accent1">
                    <a:lumMod val="50000"/>
                  </a:schemeClr>
                </a:solidFill>
                <a:latin typeface="Berlin Sans FB" panose="020E0602020502020306" pitchFamily="34" charset="0"/>
              </a:rPr>
              <a:t>C. 	Change agent</a:t>
            </a:r>
          </a:p>
          <a:p>
            <a:pPr marL="0" indent="0">
              <a:buNone/>
              <a:defRPr/>
            </a:pPr>
            <a:r>
              <a:rPr lang="en-US" sz="3600" dirty="0">
                <a:solidFill>
                  <a:schemeClr val="accent1">
                    <a:lumMod val="50000"/>
                  </a:schemeClr>
                </a:solidFill>
                <a:latin typeface="Berlin Sans FB" panose="020E0602020502020306" pitchFamily="34" charset="0"/>
              </a:rPr>
              <a:t>D. 	None of the above</a:t>
            </a:r>
          </a:p>
          <a:p>
            <a:pPr marL="609600" indent="-609600">
              <a:defRPr/>
            </a:pPr>
            <a:endParaRPr lang="en-US" sz="3600" dirty="0">
              <a:solidFill>
                <a:schemeClr val="accent1">
                  <a:lumMod val="50000"/>
                </a:schemeClr>
              </a:solidFill>
              <a:latin typeface="Berlin Sans FB" panose="020E0602020502020306" pitchFamily="34" charset="0"/>
            </a:endParaRPr>
          </a:p>
        </p:txBody>
      </p:sp>
      <p:sp>
        <p:nvSpPr>
          <p:cNvPr id="199684" name="Text Box 4"/>
          <p:cNvSpPr txBox="1">
            <a:spLocks noChangeArrowheads="1"/>
          </p:cNvSpPr>
          <p:nvPr/>
        </p:nvSpPr>
        <p:spPr bwMode="auto">
          <a:xfrm>
            <a:off x="1981200" y="51816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rPr>
              <a:t>D. None of the above</a:t>
            </a:r>
          </a:p>
        </p:txBody>
      </p:sp>
    </p:spTree>
    <p:extLst>
      <p:ext uri="{BB962C8B-B14F-4D97-AF65-F5344CB8AC3E}">
        <p14:creationId xmlns:p14="http://schemas.microsoft.com/office/powerpoint/2010/main" val="16221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wipe(down)">
                                      <p:cBhvr>
                                        <p:cTn id="7" dur="580">
                                          <p:stCondLst>
                                            <p:cond delay="0"/>
                                          </p:stCondLst>
                                        </p:cTn>
                                        <p:tgtEl>
                                          <p:spTgt spid="199684"/>
                                        </p:tgtEl>
                                      </p:cBhvr>
                                    </p:animEffect>
                                    <p:anim calcmode="lin" valueType="num">
                                      <p:cBhvr>
                                        <p:cTn id="8" dur="1822" tmFilter="0,0; 0.14,0.36; 0.43,0.73; 0.71,0.91; 1.0,1.0">
                                          <p:stCondLst>
                                            <p:cond delay="0"/>
                                          </p:stCondLst>
                                        </p:cTn>
                                        <p:tgtEl>
                                          <p:spTgt spid="19968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9968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9968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9968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99684"/>
                                        </p:tgtEl>
                                        <p:attrNameLst>
                                          <p:attrName>ppt_y</p:attrName>
                                        </p:attrNameLst>
                                      </p:cBhvr>
                                      <p:tavLst>
                                        <p:tav tm="0" fmla="#ppt_y-sin(pi*$)/81">
                                          <p:val>
                                            <p:fltVal val="0"/>
                                          </p:val>
                                        </p:tav>
                                        <p:tav tm="100000">
                                          <p:val>
                                            <p:fltVal val="1"/>
                                          </p:val>
                                        </p:tav>
                                      </p:tavLst>
                                    </p:anim>
                                    <p:animScale>
                                      <p:cBhvr>
                                        <p:cTn id="13" dur="26">
                                          <p:stCondLst>
                                            <p:cond delay="650"/>
                                          </p:stCondLst>
                                        </p:cTn>
                                        <p:tgtEl>
                                          <p:spTgt spid="199684"/>
                                        </p:tgtEl>
                                      </p:cBhvr>
                                      <p:to x="100000" y="60000"/>
                                    </p:animScale>
                                    <p:animScale>
                                      <p:cBhvr>
                                        <p:cTn id="14" dur="166" decel="50000">
                                          <p:stCondLst>
                                            <p:cond delay="676"/>
                                          </p:stCondLst>
                                        </p:cTn>
                                        <p:tgtEl>
                                          <p:spTgt spid="199684"/>
                                        </p:tgtEl>
                                      </p:cBhvr>
                                      <p:to x="100000" y="100000"/>
                                    </p:animScale>
                                    <p:animScale>
                                      <p:cBhvr>
                                        <p:cTn id="15" dur="26">
                                          <p:stCondLst>
                                            <p:cond delay="1312"/>
                                          </p:stCondLst>
                                        </p:cTn>
                                        <p:tgtEl>
                                          <p:spTgt spid="199684"/>
                                        </p:tgtEl>
                                      </p:cBhvr>
                                      <p:to x="100000" y="80000"/>
                                    </p:animScale>
                                    <p:animScale>
                                      <p:cBhvr>
                                        <p:cTn id="16" dur="166" decel="50000">
                                          <p:stCondLst>
                                            <p:cond delay="1338"/>
                                          </p:stCondLst>
                                        </p:cTn>
                                        <p:tgtEl>
                                          <p:spTgt spid="199684"/>
                                        </p:tgtEl>
                                      </p:cBhvr>
                                      <p:to x="100000" y="100000"/>
                                    </p:animScale>
                                    <p:animScale>
                                      <p:cBhvr>
                                        <p:cTn id="17" dur="26">
                                          <p:stCondLst>
                                            <p:cond delay="1642"/>
                                          </p:stCondLst>
                                        </p:cTn>
                                        <p:tgtEl>
                                          <p:spTgt spid="199684"/>
                                        </p:tgtEl>
                                      </p:cBhvr>
                                      <p:to x="100000" y="90000"/>
                                    </p:animScale>
                                    <p:animScale>
                                      <p:cBhvr>
                                        <p:cTn id="18" dur="166" decel="50000">
                                          <p:stCondLst>
                                            <p:cond delay="1668"/>
                                          </p:stCondLst>
                                        </p:cTn>
                                        <p:tgtEl>
                                          <p:spTgt spid="199684"/>
                                        </p:tgtEl>
                                      </p:cBhvr>
                                      <p:to x="100000" y="100000"/>
                                    </p:animScale>
                                    <p:animScale>
                                      <p:cBhvr>
                                        <p:cTn id="19" dur="26">
                                          <p:stCondLst>
                                            <p:cond delay="1808"/>
                                          </p:stCondLst>
                                        </p:cTn>
                                        <p:tgtEl>
                                          <p:spTgt spid="199684"/>
                                        </p:tgtEl>
                                      </p:cBhvr>
                                      <p:to x="100000" y="95000"/>
                                    </p:animScale>
                                    <p:animScale>
                                      <p:cBhvr>
                                        <p:cTn id="20" dur="166" decel="50000">
                                          <p:stCondLst>
                                            <p:cond delay="1834"/>
                                          </p:stCondLst>
                                        </p:cTn>
                                        <p:tgtEl>
                                          <p:spTgt spid="19968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480" y="1381186"/>
            <a:ext cx="9404723" cy="1400530"/>
          </a:xfrm>
        </p:spPr>
        <p:txBody>
          <a:bodyPr/>
          <a:lstStyle/>
          <a:p>
            <a:pPr algn="ctr"/>
            <a:r>
              <a:rPr lang="en-PH" sz="6000" dirty="0" smtClean="0">
                <a:solidFill>
                  <a:schemeClr val="bg1"/>
                </a:solidFill>
                <a:latin typeface="Segoe UI Black" panose="020B0A02040204020203" pitchFamily="34" charset="0"/>
                <a:ea typeface="Segoe UI Black" panose="020B0A02040204020203" pitchFamily="34" charset="0"/>
                <a:cs typeface="Segoe UI Black" panose="020B0A02040204020203" pitchFamily="34" charset="0"/>
              </a:rPr>
              <a:t>Communication in Extension</a:t>
            </a:r>
            <a:endParaRPr lang="en-PH" sz="6000" dirty="0">
              <a:solidFill>
                <a:schemeClr val="bg1"/>
              </a:solidFill>
              <a:latin typeface="Segoe UI Black" panose="020B0A02040204020203" pitchFamily="34" charset="0"/>
              <a:ea typeface="Segoe UI Black" panose="020B0A02040204020203" pitchFamily="34" charset="0"/>
              <a:cs typeface="Segoe UI Black" panose="020B0A02040204020203" pitchFamily="34" charset="0"/>
            </a:endParaRPr>
          </a:p>
        </p:txBody>
      </p:sp>
    </p:spTree>
    <p:extLst>
      <p:ext uri="{BB962C8B-B14F-4D97-AF65-F5344CB8AC3E}">
        <p14:creationId xmlns:p14="http://schemas.microsoft.com/office/powerpoint/2010/main" val="33285285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50067" y="228600"/>
            <a:ext cx="9777482" cy="915988"/>
          </a:xfrm>
        </p:spPr>
        <p:txBody>
          <a:bodyPr/>
          <a:lstStyle/>
          <a:p>
            <a:pPr algn="ctr" eaLnBrk="1" hangingPunct="1">
              <a:defRPr/>
            </a:pPr>
            <a:r>
              <a:rPr lang="en-US" sz="4800" dirty="0">
                <a:solidFill>
                  <a:schemeClr val="bg1"/>
                </a:solidFill>
                <a:latin typeface="Candara" panose="020E0502030303020204" pitchFamily="34" charset="0"/>
              </a:rPr>
              <a:t>Introduction</a:t>
            </a:r>
          </a:p>
        </p:txBody>
      </p:sp>
      <p:sp>
        <p:nvSpPr>
          <p:cNvPr id="51203" name="Rectangle 3"/>
          <p:cNvSpPr>
            <a:spLocks noGrp="1" noChangeArrowheads="1"/>
          </p:cNvSpPr>
          <p:nvPr>
            <p:ph idx="1"/>
          </p:nvPr>
        </p:nvSpPr>
        <p:spPr>
          <a:xfrm>
            <a:off x="550068" y="1247619"/>
            <a:ext cx="10538644" cy="5334000"/>
          </a:xfrm>
        </p:spPr>
        <p:txBody>
          <a:bodyPr rtlCol="0">
            <a:noAutofit/>
          </a:bodyPr>
          <a:lstStyle/>
          <a:p>
            <a:pPr eaLnBrk="1" hangingPunct="1">
              <a:lnSpc>
                <a:spcPct val="80000"/>
              </a:lnSpc>
              <a:buFont typeface="Wingdings" panose="05000000000000000000" pitchFamily="2" charset="2"/>
              <a:buChar char="v"/>
              <a:defRPr/>
            </a:pPr>
            <a:r>
              <a:rPr lang="en-US" sz="2800" dirty="0">
                <a:solidFill>
                  <a:schemeClr val="bg1"/>
                </a:solidFill>
                <a:latin typeface="Candara" panose="020E0502030303020204" pitchFamily="34" charset="0"/>
              </a:rPr>
              <a:t>Communication is as much as the air we breathe</a:t>
            </a:r>
          </a:p>
          <a:p>
            <a:pPr marL="0" indent="0">
              <a:lnSpc>
                <a:spcPct val="80000"/>
              </a:lnSpc>
              <a:buNone/>
              <a:defRPr/>
            </a:pPr>
            <a:endParaRPr lang="en-US" sz="2800" dirty="0">
              <a:solidFill>
                <a:schemeClr val="bg1"/>
              </a:solidFill>
              <a:latin typeface="Candara" panose="020E0502030303020204" pitchFamily="34" charset="0"/>
            </a:endParaRPr>
          </a:p>
          <a:p>
            <a:pPr eaLnBrk="1" hangingPunct="1">
              <a:lnSpc>
                <a:spcPct val="80000"/>
              </a:lnSpc>
              <a:buFont typeface="Wingdings" panose="05000000000000000000" pitchFamily="2" charset="2"/>
              <a:buChar char="v"/>
              <a:defRPr/>
            </a:pPr>
            <a:r>
              <a:rPr lang="en-US" sz="2800" dirty="0">
                <a:solidFill>
                  <a:schemeClr val="bg1"/>
                </a:solidFill>
                <a:latin typeface="Candara" panose="020E0502030303020204" pitchFamily="34" charset="0"/>
              </a:rPr>
              <a:t>Communication is by far our most important medium for personal development and social contact.</a:t>
            </a:r>
          </a:p>
          <a:p>
            <a:pPr marL="0" indent="0">
              <a:lnSpc>
                <a:spcPct val="80000"/>
              </a:lnSpc>
              <a:buNone/>
              <a:defRPr/>
            </a:pPr>
            <a:endParaRPr lang="en-US" sz="2800" dirty="0">
              <a:solidFill>
                <a:schemeClr val="bg1"/>
              </a:solidFill>
              <a:latin typeface="Candara" panose="020E0502030303020204" pitchFamily="34" charset="0"/>
            </a:endParaRPr>
          </a:p>
          <a:p>
            <a:pPr eaLnBrk="1" hangingPunct="1">
              <a:lnSpc>
                <a:spcPct val="80000"/>
              </a:lnSpc>
              <a:buFont typeface="Wingdings" panose="05000000000000000000" pitchFamily="2" charset="2"/>
              <a:buChar char="v"/>
              <a:defRPr/>
            </a:pPr>
            <a:r>
              <a:rPr lang="en-US" sz="2800" dirty="0">
                <a:solidFill>
                  <a:schemeClr val="bg1"/>
                </a:solidFill>
                <a:latin typeface="Candara" panose="020E0502030303020204" pitchFamily="34" charset="0"/>
              </a:rPr>
              <a:t>Through it, we learn and grow; we discover ourselves and other people; we govern nations; wage war and make peace, we hurt one another, and we fall in </a:t>
            </a:r>
            <a:r>
              <a:rPr lang="en-US" sz="2800" dirty="0" smtClean="0">
                <a:solidFill>
                  <a:schemeClr val="bg1"/>
                </a:solidFill>
                <a:latin typeface="Candara" panose="020E0502030303020204" pitchFamily="34" charset="0"/>
              </a:rPr>
              <a:t>love.</a:t>
            </a:r>
          </a:p>
          <a:p>
            <a:pPr eaLnBrk="1" hangingPunct="1">
              <a:lnSpc>
                <a:spcPct val="80000"/>
              </a:lnSpc>
              <a:buFont typeface="Wingdings" panose="05000000000000000000" pitchFamily="2" charset="2"/>
              <a:buChar char="v"/>
              <a:defRPr/>
            </a:pPr>
            <a:endParaRPr lang="en-US" sz="2800" dirty="0" smtClean="0">
              <a:solidFill>
                <a:schemeClr val="bg1"/>
              </a:solidFill>
              <a:latin typeface="Candara" panose="020E0502030303020204" pitchFamily="34" charset="0"/>
            </a:endParaRPr>
          </a:p>
          <a:p>
            <a:pPr eaLnBrk="1" hangingPunct="1">
              <a:lnSpc>
                <a:spcPct val="80000"/>
              </a:lnSpc>
              <a:buFont typeface="Wingdings" panose="05000000000000000000" pitchFamily="2" charset="2"/>
              <a:buChar char="v"/>
              <a:defRPr/>
            </a:pPr>
            <a:r>
              <a:rPr lang="en-US" sz="2800" dirty="0" smtClean="0">
                <a:solidFill>
                  <a:schemeClr val="bg1"/>
                </a:solidFill>
                <a:latin typeface="Candara" panose="020E0502030303020204" pitchFamily="34" charset="0"/>
              </a:rPr>
              <a:t>Therefore</a:t>
            </a:r>
            <a:r>
              <a:rPr lang="en-US" sz="2800" dirty="0">
                <a:solidFill>
                  <a:schemeClr val="bg1"/>
                </a:solidFill>
                <a:latin typeface="Candara" panose="020E0502030303020204" pitchFamily="34" charset="0"/>
              </a:rPr>
              <a:t>, communication is the basis of all social interaction.  </a:t>
            </a:r>
            <a:r>
              <a:rPr lang="en-US" sz="2800" dirty="0" smtClean="0">
                <a:solidFill>
                  <a:schemeClr val="bg1"/>
                </a:solidFill>
                <a:latin typeface="Candara" panose="020E0502030303020204" pitchFamily="34" charset="0"/>
              </a:rPr>
              <a:t>People </a:t>
            </a:r>
            <a:r>
              <a:rPr lang="en-US" sz="2800" dirty="0">
                <a:solidFill>
                  <a:schemeClr val="bg1"/>
                </a:solidFill>
                <a:latin typeface="Candara" panose="020E0502030303020204" pitchFamily="34" charset="0"/>
              </a:rPr>
              <a:t>need to communicate, to relate to other people, people need communication to adjust to their changing environment.</a:t>
            </a:r>
          </a:p>
          <a:p>
            <a:pPr eaLnBrk="1" hangingPunct="1">
              <a:lnSpc>
                <a:spcPct val="80000"/>
              </a:lnSpc>
              <a:buFont typeface="Wingdings" panose="05000000000000000000" pitchFamily="2" charset="2"/>
              <a:buChar char="v"/>
              <a:defRPr/>
            </a:pPr>
            <a:endParaRPr lang="en-US"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418478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78302" y="270457"/>
            <a:ext cx="9561048" cy="850005"/>
          </a:xfrm>
        </p:spPr>
        <p:txBody>
          <a:bodyPr/>
          <a:lstStyle/>
          <a:p>
            <a:pPr algn="ctr" eaLnBrk="1" hangingPunct="1">
              <a:defRPr/>
            </a:pPr>
            <a:r>
              <a:rPr lang="en-US" b="1" dirty="0" smtClean="0">
                <a:solidFill>
                  <a:schemeClr val="bg1"/>
                </a:solidFill>
                <a:latin typeface="Candara" panose="020E0502030303020204" pitchFamily="34" charset="0"/>
              </a:rPr>
              <a:t>Communication Defined</a:t>
            </a:r>
          </a:p>
        </p:txBody>
      </p:sp>
      <p:sp>
        <p:nvSpPr>
          <p:cNvPr id="53251" name="Rectangle 3"/>
          <p:cNvSpPr>
            <a:spLocks noGrp="1" noChangeArrowheads="1"/>
          </p:cNvSpPr>
          <p:nvPr>
            <p:ph idx="1"/>
          </p:nvPr>
        </p:nvSpPr>
        <p:spPr>
          <a:xfrm>
            <a:off x="1096488" y="1324604"/>
            <a:ext cx="9561048" cy="4922837"/>
          </a:xfrm>
        </p:spPr>
        <p:txBody>
          <a:bodyPr rtlCol="0">
            <a:noAutofit/>
          </a:bodyPr>
          <a:lstStyle/>
          <a:p>
            <a:pPr>
              <a:lnSpc>
                <a:spcPct val="80000"/>
              </a:lnSpc>
              <a:buFont typeface="Wingdings" panose="05000000000000000000" pitchFamily="2" charset="2"/>
              <a:buChar char="Ø"/>
              <a:defRPr/>
            </a:pPr>
            <a:r>
              <a:rPr lang="en-US" sz="2800" dirty="0" smtClean="0">
                <a:solidFill>
                  <a:schemeClr val="bg1">
                    <a:lumMod val="95000"/>
                    <a:lumOff val="5000"/>
                  </a:schemeClr>
                </a:solidFill>
                <a:latin typeface="Candara" panose="020E0502030303020204" pitchFamily="34" charset="0"/>
              </a:rPr>
              <a:t>“</a:t>
            </a:r>
            <a:r>
              <a:rPr lang="en-US" sz="2800" dirty="0" err="1">
                <a:solidFill>
                  <a:schemeClr val="bg1">
                    <a:lumMod val="95000"/>
                    <a:lumOff val="5000"/>
                  </a:schemeClr>
                </a:solidFill>
                <a:latin typeface="Candara" panose="020E0502030303020204" pitchFamily="34" charset="0"/>
              </a:rPr>
              <a:t>communis</a:t>
            </a:r>
            <a:r>
              <a:rPr lang="en-US" sz="2800" dirty="0">
                <a:solidFill>
                  <a:schemeClr val="bg1">
                    <a:lumMod val="95000"/>
                    <a:lumOff val="5000"/>
                  </a:schemeClr>
                </a:solidFill>
                <a:latin typeface="Candara" panose="020E0502030303020204" pitchFamily="34" charset="0"/>
              </a:rPr>
              <a:t>” </a:t>
            </a:r>
            <a:r>
              <a:rPr lang="en-US" sz="2800" dirty="0" smtClean="0">
                <a:solidFill>
                  <a:schemeClr val="bg1">
                    <a:lumMod val="95000"/>
                    <a:lumOff val="5000"/>
                  </a:schemeClr>
                </a:solidFill>
                <a:latin typeface="Candara" panose="020E0502030303020204" pitchFamily="34" charset="0"/>
              </a:rPr>
              <a:t>----to </a:t>
            </a:r>
            <a:r>
              <a:rPr lang="en-US" sz="2800" dirty="0">
                <a:solidFill>
                  <a:schemeClr val="bg1">
                    <a:lumMod val="95000"/>
                    <a:lumOff val="5000"/>
                  </a:schemeClr>
                </a:solidFill>
                <a:latin typeface="Candara" panose="020E0502030303020204" pitchFamily="34" charset="0"/>
              </a:rPr>
              <a:t>make common or to establish commonness between 2 or more persons</a:t>
            </a:r>
            <a:r>
              <a:rPr lang="en-US" sz="2800" dirty="0" smtClean="0">
                <a:solidFill>
                  <a:schemeClr val="bg1">
                    <a:lumMod val="95000"/>
                    <a:lumOff val="5000"/>
                  </a:schemeClr>
                </a:solidFill>
                <a:latin typeface="Candara" panose="020E0502030303020204" pitchFamily="34" charset="0"/>
              </a:rPr>
              <a:t>.</a:t>
            </a:r>
          </a:p>
          <a:p>
            <a:pPr>
              <a:lnSpc>
                <a:spcPct val="80000"/>
              </a:lnSpc>
              <a:buFont typeface="Wingdings" panose="05000000000000000000" pitchFamily="2" charset="2"/>
              <a:buChar char="Ø"/>
              <a:defRPr/>
            </a:pPr>
            <a:endParaRPr lang="en-US" sz="2800" dirty="0" smtClean="0">
              <a:solidFill>
                <a:schemeClr val="bg1">
                  <a:lumMod val="95000"/>
                  <a:lumOff val="5000"/>
                </a:schemeClr>
              </a:solidFill>
              <a:latin typeface="Candara" panose="020E0502030303020204" pitchFamily="34" charset="0"/>
            </a:endParaRPr>
          </a:p>
          <a:p>
            <a:pPr>
              <a:lnSpc>
                <a:spcPct val="80000"/>
              </a:lnSpc>
              <a:buFont typeface="Wingdings" panose="05000000000000000000" pitchFamily="2" charset="2"/>
              <a:buChar char="Ø"/>
              <a:defRPr/>
            </a:pPr>
            <a:r>
              <a:rPr lang="en-US" sz="2800" dirty="0" smtClean="0">
                <a:solidFill>
                  <a:schemeClr val="bg1">
                    <a:lumMod val="95000"/>
                    <a:lumOff val="5000"/>
                  </a:schemeClr>
                </a:solidFill>
                <a:latin typeface="Candara" panose="020E0502030303020204" pitchFamily="34" charset="0"/>
              </a:rPr>
              <a:t>“</a:t>
            </a:r>
            <a:r>
              <a:rPr lang="en-US" sz="2800" dirty="0" err="1" smtClean="0">
                <a:solidFill>
                  <a:schemeClr val="bg1">
                    <a:lumMod val="95000"/>
                    <a:lumOff val="5000"/>
                  </a:schemeClr>
                </a:solidFill>
                <a:latin typeface="Candara" panose="020E0502030303020204" pitchFamily="34" charset="0"/>
              </a:rPr>
              <a:t>communico</a:t>
            </a:r>
            <a:r>
              <a:rPr lang="en-US" sz="2800" dirty="0" smtClean="0">
                <a:solidFill>
                  <a:schemeClr val="bg1">
                    <a:lumMod val="95000"/>
                    <a:lumOff val="5000"/>
                  </a:schemeClr>
                </a:solidFill>
                <a:latin typeface="Candara" panose="020E0502030303020204" pitchFamily="34" charset="0"/>
              </a:rPr>
              <a:t>- to share</a:t>
            </a:r>
            <a:endParaRPr lang="en-US" sz="2800" dirty="0">
              <a:solidFill>
                <a:schemeClr val="bg1">
                  <a:lumMod val="95000"/>
                  <a:lumOff val="5000"/>
                </a:schemeClr>
              </a:solidFill>
              <a:latin typeface="Candara" panose="020E0502030303020204" pitchFamily="34" charset="0"/>
            </a:endParaRPr>
          </a:p>
          <a:p>
            <a:pPr marL="0" indent="0">
              <a:lnSpc>
                <a:spcPct val="80000"/>
              </a:lnSpc>
              <a:buNone/>
              <a:defRPr/>
            </a:pPr>
            <a:endParaRPr lang="en-US" sz="2800" dirty="0">
              <a:solidFill>
                <a:schemeClr val="bg1">
                  <a:lumMod val="95000"/>
                  <a:lumOff val="5000"/>
                </a:schemeClr>
              </a:solidFill>
              <a:latin typeface="Candara" panose="020E0502030303020204" pitchFamily="34" charset="0"/>
            </a:endParaRPr>
          </a:p>
          <a:p>
            <a:pPr>
              <a:lnSpc>
                <a:spcPct val="80000"/>
              </a:lnSpc>
              <a:buFont typeface="Wingdings" panose="05000000000000000000" pitchFamily="2" charset="2"/>
              <a:buChar char="Ø"/>
              <a:defRPr/>
            </a:pPr>
            <a:r>
              <a:rPr lang="en-US" sz="2800" dirty="0" smtClean="0">
                <a:solidFill>
                  <a:schemeClr val="bg1">
                    <a:lumMod val="95000"/>
                    <a:lumOff val="5000"/>
                  </a:schemeClr>
                </a:solidFill>
                <a:latin typeface="Candara" panose="020E0502030303020204" pitchFamily="34" charset="0"/>
              </a:rPr>
              <a:t>transfer </a:t>
            </a:r>
            <a:r>
              <a:rPr lang="en-US" sz="2800" dirty="0">
                <a:solidFill>
                  <a:schemeClr val="bg1">
                    <a:lumMod val="95000"/>
                    <a:lumOff val="5000"/>
                  </a:schemeClr>
                </a:solidFill>
                <a:latin typeface="Candara" panose="020E0502030303020204" pitchFamily="34" charset="0"/>
              </a:rPr>
              <a:t>of ideas from one person to another</a:t>
            </a:r>
          </a:p>
          <a:p>
            <a:pPr marL="0" indent="0">
              <a:lnSpc>
                <a:spcPct val="80000"/>
              </a:lnSpc>
              <a:buNone/>
              <a:defRPr/>
            </a:pPr>
            <a:endParaRPr lang="en-US" sz="2800" dirty="0">
              <a:solidFill>
                <a:schemeClr val="bg1">
                  <a:lumMod val="95000"/>
                  <a:lumOff val="5000"/>
                </a:schemeClr>
              </a:solidFill>
              <a:latin typeface="Candara" panose="020E0502030303020204" pitchFamily="34" charset="0"/>
            </a:endParaRPr>
          </a:p>
        </p:txBody>
      </p:sp>
    </p:spTree>
    <p:extLst>
      <p:ext uri="{BB962C8B-B14F-4D97-AF65-F5344CB8AC3E}">
        <p14:creationId xmlns:p14="http://schemas.microsoft.com/office/powerpoint/2010/main" val="3022466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1036" y="1022608"/>
            <a:ext cx="9895246" cy="5185009"/>
          </a:xfrm>
        </p:spPr>
        <p:txBody>
          <a:bodyPr>
            <a:normAutofit/>
          </a:bodyPr>
          <a:lstStyle/>
          <a:p>
            <a:pPr marL="0" indent="0">
              <a:buNone/>
            </a:pPr>
            <a:r>
              <a:rPr lang="en-PH" sz="2800" u="sng" dirty="0" smtClean="0">
                <a:solidFill>
                  <a:schemeClr val="bg1"/>
                </a:solidFill>
                <a:latin typeface="Candara" panose="020E0502030303020204" pitchFamily="34" charset="0"/>
              </a:rPr>
              <a:t>Communication</a:t>
            </a:r>
          </a:p>
          <a:p>
            <a:pPr marL="0" indent="0">
              <a:buNone/>
            </a:pPr>
            <a:r>
              <a:rPr lang="en-PH" sz="2800" dirty="0">
                <a:solidFill>
                  <a:schemeClr val="bg1"/>
                </a:solidFill>
                <a:latin typeface="Candara" panose="020E0502030303020204" pitchFamily="34" charset="0"/>
              </a:rPr>
              <a:t> </a:t>
            </a:r>
            <a:r>
              <a:rPr lang="en-PH" sz="2800" dirty="0" smtClean="0">
                <a:solidFill>
                  <a:schemeClr val="bg1"/>
                </a:solidFill>
                <a:latin typeface="Candara" panose="020E0502030303020204" pitchFamily="34" charset="0"/>
              </a:rPr>
              <a:t>	A process by which people exchange ideas, facts and feelings or impression so that each gains a common understanding of the meaning and intent of the message.</a:t>
            </a:r>
          </a:p>
          <a:p>
            <a:pPr marL="0" indent="0">
              <a:buNone/>
            </a:pPr>
            <a:r>
              <a:rPr lang="en-PH" sz="2800" dirty="0" smtClean="0">
                <a:solidFill>
                  <a:schemeClr val="bg1"/>
                </a:solidFill>
                <a:latin typeface="Candara" panose="020E0502030303020204" pitchFamily="34" charset="0"/>
              </a:rPr>
              <a:t>	A process by which an idea is transferred from a source to a receiver with a purpose of changing his behaviour.</a:t>
            </a:r>
          </a:p>
          <a:p>
            <a:pPr marL="0" indent="0">
              <a:buNone/>
            </a:pPr>
            <a:r>
              <a:rPr lang="en-PH" sz="2800" dirty="0" smtClean="0">
                <a:solidFill>
                  <a:schemeClr val="bg1"/>
                </a:solidFill>
                <a:latin typeface="Candara" panose="020E0502030303020204" pitchFamily="34" charset="0"/>
              </a:rPr>
              <a:t>	The purpose of communication is to produce some kind of effect,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7914090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p:cNvSpPr>
            <a:spLocks noGrp="1"/>
          </p:cNvSpPr>
          <p:nvPr>
            <p:ph idx="1"/>
          </p:nvPr>
        </p:nvSpPr>
        <p:spPr>
          <a:xfrm>
            <a:off x="773723" y="623667"/>
            <a:ext cx="10250592" cy="5494338"/>
          </a:xfrm>
        </p:spPr>
        <p:txBody>
          <a:bodyPr rtlCol="0">
            <a:normAutofit lnSpcReduction="10000"/>
          </a:bodyPr>
          <a:lstStyle/>
          <a:p>
            <a:pPr marL="0" indent="0">
              <a:buNone/>
              <a:defRPr/>
            </a:pPr>
            <a:r>
              <a:rPr lang="en-US" sz="2800" dirty="0" smtClean="0">
                <a:solidFill>
                  <a:schemeClr val="accent4"/>
                </a:solidFill>
                <a:latin typeface="Tahoma" panose="020B0604030504040204" pitchFamily="34" charset="0"/>
                <a:ea typeface="Tahoma" panose="020B0604030504040204" pitchFamily="34" charset="0"/>
                <a:cs typeface="Tahoma" panose="020B0604030504040204" pitchFamily="34" charset="0"/>
              </a:rPr>
              <a:t>AGRICULTURE </a:t>
            </a:r>
            <a:r>
              <a:rPr lang="en-US" sz="2800" dirty="0" smtClean="0">
                <a:solidFill>
                  <a:schemeClr val="accent4"/>
                </a:solidFill>
                <a:latin typeface="Tahoma" panose="020B0604030504040204" pitchFamily="34" charset="0"/>
                <a:ea typeface="Tahoma" panose="020B0604030504040204" pitchFamily="34" charset="0"/>
                <a:cs typeface="Tahoma" panose="020B0604030504040204" pitchFamily="34" charset="0"/>
              </a:rPr>
              <a:t>EXTENSION- </a:t>
            </a: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when communication is used by field workers in bringing new ideas to the farmers.</a:t>
            </a:r>
          </a:p>
          <a:p>
            <a:pPr marL="0" indent="0">
              <a:buNone/>
              <a:defRPr/>
            </a:pPr>
            <a:endParaRPr lang="en-US" sz="2800"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r>
              <a:rPr lang="en-US" sz="2800" dirty="0" smtClean="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1.MASS </a:t>
            </a:r>
            <a:r>
              <a:rPr lang="en-US" sz="2800" dirty="0" smtClean="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COMMUNICATION</a:t>
            </a:r>
            <a:r>
              <a:rPr lang="en-US" sz="2800" dirty="0" smtClean="0">
                <a:latin typeface="Tahoma" panose="020B0604030504040204" pitchFamily="34" charset="0"/>
                <a:ea typeface="Tahoma" panose="020B0604030504040204" pitchFamily="34" charset="0"/>
                <a:cs typeface="Tahoma" panose="020B0604030504040204" pitchFamily="34" charset="0"/>
              </a:rPr>
              <a:t>- </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when </a:t>
            </a: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the message is channeled thru public medium</a:t>
            </a:r>
          </a:p>
          <a:p>
            <a:pPr marL="0" indent="0">
              <a:buNone/>
              <a:defRPr/>
            </a:pPr>
            <a:endParaRPr lang="en-US" sz="2800" dirty="0">
              <a:latin typeface="Tahoma" panose="020B0604030504040204" pitchFamily="34" charset="0"/>
              <a:ea typeface="Tahoma" panose="020B0604030504040204" pitchFamily="34" charset="0"/>
              <a:cs typeface="Tahoma" panose="020B0604030504040204" pitchFamily="34" charset="0"/>
            </a:endParaRPr>
          </a:p>
          <a:p>
            <a:pPr marL="0" indent="0">
              <a:buNone/>
              <a:defRPr/>
            </a:pPr>
            <a:r>
              <a:rPr lang="en-US" sz="2800" dirty="0" smtClean="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2. ORGANIZATIONAL </a:t>
            </a:r>
            <a:r>
              <a:rPr lang="en-US" sz="2800"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OR ADMINISTRATIVE COMMUNICATION- </a:t>
            </a: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when it operates within an organizational structure or bureaucracy</a:t>
            </a:r>
          </a:p>
          <a:p>
            <a:pPr marL="0" indent="0">
              <a:buNone/>
              <a:defRPr/>
            </a:pPr>
            <a:endParaRPr lang="en-US" sz="2800" dirty="0">
              <a:latin typeface="Tahoma" panose="020B0604030504040204" pitchFamily="34" charset="0"/>
              <a:ea typeface="Tahoma" panose="020B0604030504040204" pitchFamily="34" charset="0"/>
              <a:cs typeface="Tahoma" panose="020B0604030504040204" pitchFamily="34" charset="0"/>
            </a:endParaRPr>
          </a:p>
          <a:p>
            <a:pPr marL="0" indent="0">
              <a:buNone/>
              <a:defRPr/>
            </a:pPr>
            <a:r>
              <a:rPr lang="en-US" sz="2800" dirty="0" smtClean="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3. MANAGEMENT </a:t>
            </a:r>
            <a:r>
              <a:rPr lang="en-US" sz="2800"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INFORMATION SYSTEM- </a:t>
            </a: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when it is a system for selecting information specifically for management purposes</a:t>
            </a:r>
          </a:p>
          <a:p>
            <a:pPr marL="0" indent="0">
              <a:buNone/>
              <a:defRPr/>
            </a:pPr>
            <a:endParaRPr lang="en-US" sz="2800" dirty="0">
              <a:latin typeface="Tahoma" panose="020B0604030504040204" pitchFamily="34" charset="0"/>
              <a:ea typeface="Tahoma" panose="020B0604030504040204" pitchFamily="34" charset="0"/>
              <a:cs typeface="Tahoma" panose="020B0604030504040204" pitchFamily="34" charset="0"/>
            </a:endParaRPr>
          </a:p>
          <a:p>
            <a:pPr marL="0" indent="0">
              <a:buNone/>
              <a:defRPr/>
            </a:pPr>
            <a:endParaRPr lang="en-US" sz="2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604029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286001" y="2071468"/>
            <a:ext cx="7477125" cy="1143000"/>
          </a:xfrm>
        </p:spPr>
        <p:txBody>
          <a:bodyPr rtlCol="0">
            <a:normAutofit fontScale="90000"/>
          </a:bodyPr>
          <a:lstStyle/>
          <a:p>
            <a:pPr algn="ctr">
              <a:defRPr/>
            </a:pPr>
            <a:r>
              <a:rPr lang="en-US" sz="8000" dirty="0">
                <a:solidFill>
                  <a:schemeClr val="bg1"/>
                </a:solidFill>
                <a:latin typeface="Arial Black" panose="020B0A04020102020204" pitchFamily="34" charset="0"/>
              </a:rPr>
              <a:t>SAMPLE </a:t>
            </a:r>
            <a:br>
              <a:rPr lang="en-US" sz="8000" dirty="0">
                <a:solidFill>
                  <a:schemeClr val="bg1"/>
                </a:solidFill>
                <a:latin typeface="Arial Black" panose="020B0A04020102020204" pitchFamily="34" charset="0"/>
              </a:rPr>
            </a:br>
            <a:r>
              <a:rPr lang="en-US" sz="8000" dirty="0">
                <a:solidFill>
                  <a:schemeClr val="bg1"/>
                </a:solidFill>
                <a:latin typeface="Arial Black" panose="020B0A04020102020204" pitchFamily="34" charset="0"/>
              </a:rPr>
              <a:t>QUESTIONS</a:t>
            </a:r>
          </a:p>
        </p:txBody>
      </p:sp>
    </p:spTree>
    <p:extLst>
      <p:ext uri="{BB962C8B-B14F-4D97-AF65-F5344CB8AC3E}">
        <p14:creationId xmlns:p14="http://schemas.microsoft.com/office/powerpoint/2010/main" val="3275162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idx="4294967295"/>
          </p:nvPr>
        </p:nvSpPr>
        <p:spPr>
          <a:xfrm>
            <a:off x="2466976" y="228600"/>
            <a:ext cx="7477125" cy="2286000"/>
          </a:xfrm>
        </p:spPr>
        <p:txBody>
          <a:bodyPr/>
          <a:lstStyle/>
          <a:p>
            <a:pPr marL="762000" indent="-762000"/>
            <a:r>
              <a:rPr lang="en-US" sz="3200">
                <a:solidFill>
                  <a:schemeClr val="bg1"/>
                </a:solidFill>
                <a:latin typeface="Berlin Sans FB" panose="020E0602020502020306" pitchFamily="34" charset="0"/>
              </a:rPr>
              <a:t>1. If the extension worker and the clients in the  communication situation share common meanings for the topic discussed describes that ___ </a:t>
            </a:r>
            <a:br>
              <a:rPr lang="en-US" sz="3200">
                <a:solidFill>
                  <a:schemeClr val="bg1"/>
                </a:solidFill>
                <a:latin typeface="Berlin Sans FB" panose="020E0602020502020306" pitchFamily="34" charset="0"/>
              </a:rPr>
            </a:br>
            <a:endParaRPr lang="en-US" sz="3200">
              <a:solidFill>
                <a:schemeClr val="bg1"/>
              </a:solidFill>
              <a:latin typeface="Berlin Sans FB" panose="020E0602020502020306" pitchFamily="34" charset="0"/>
            </a:endParaRPr>
          </a:p>
        </p:txBody>
      </p:sp>
      <p:sp>
        <p:nvSpPr>
          <p:cNvPr id="73731" name="Content Placeholder 2"/>
          <p:cNvSpPr>
            <a:spLocks noGrp="1"/>
          </p:cNvSpPr>
          <p:nvPr>
            <p:ph idx="4294967295"/>
          </p:nvPr>
        </p:nvSpPr>
        <p:spPr>
          <a:xfrm>
            <a:off x="1524000" y="2362200"/>
            <a:ext cx="8458200" cy="3124200"/>
          </a:xfrm>
        </p:spPr>
        <p:txBody>
          <a:bodyPr/>
          <a:lstStyle/>
          <a:p>
            <a:pPr marL="514350" indent="-514350">
              <a:buNone/>
            </a:pPr>
            <a:r>
              <a:rPr lang="en-US" sz="3200">
                <a:solidFill>
                  <a:schemeClr val="bg1"/>
                </a:solidFill>
                <a:latin typeface="Berlin Sans FB" panose="020E0602020502020306" pitchFamily="34" charset="0"/>
              </a:rPr>
              <a:t>	A. 	The communication is effective</a:t>
            </a:r>
          </a:p>
          <a:p>
            <a:pPr marL="514350" indent="-514350">
              <a:buNone/>
            </a:pPr>
            <a:r>
              <a:rPr lang="en-US" sz="3200">
                <a:solidFill>
                  <a:schemeClr val="bg1"/>
                </a:solidFill>
                <a:latin typeface="Berlin Sans FB" panose="020E0602020502020306" pitchFamily="34" charset="0"/>
              </a:rPr>
              <a:t>	B. 	The communication is one-way process</a:t>
            </a:r>
          </a:p>
          <a:p>
            <a:pPr marL="514350" indent="-514350">
              <a:buNone/>
            </a:pPr>
            <a:r>
              <a:rPr lang="en-US" sz="3200">
                <a:solidFill>
                  <a:schemeClr val="bg1"/>
                </a:solidFill>
                <a:latin typeface="Berlin Sans FB" panose="020E0602020502020306" pitchFamily="34" charset="0"/>
              </a:rPr>
              <a:t>	C. 	The communication takes place in a 			peaceful environment</a:t>
            </a:r>
          </a:p>
          <a:p>
            <a:pPr marL="514350" indent="-514350">
              <a:buNone/>
            </a:pPr>
            <a:r>
              <a:rPr lang="en-US" sz="3200">
                <a:solidFill>
                  <a:schemeClr val="bg1"/>
                </a:solidFill>
                <a:latin typeface="Berlin Sans FB" panose="020E0602020502020306" pitchFamily="34" charset="0"/>
              </a:rPr>
              <a:t>	</a:t>
            </a:r>
            <a:endParaRPr lang="en-US" sz="2800">
              <a:solidFill>
                <a:schemeClr val="bg1"/>
              </a:solidFill>
              <a:latin typeface="Berlin Sans FB" panose="020E0602020502020306" pitchFamily="34" charset="0"/>
            </a:endParaRPr>
          </a:p>
        </p:txBody>
      </p:sp>
      <p:sp>
        <p:nvSpPr>
          <p:cNvPr id="22533" name="Text Box 5"/>
          <p:cNvSpPr txBox="1">
            <a:spLocks noChangeArrowheads="1"/>
          </p:cNvSpPr>
          <p:nvPr/>
        </p:nvSpPr>
        <p:spPr bwMode="auto">
          <a:xfrm>
            <a:off x="1828800" y="5638800"/>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A. The communication is effective</a:t>
            </a:r>
          </a:p>
        </p:txBody>
      </p:sp>
    </p:spTree>
    <p:extLst>
      <p:ext uri="{BB962C8B-B14F-4D97-AF65-F5344CB8AC3E}">
        <p14:creationId xmlns:p14="http://schemas.microsoft.com/office/powerpoint/2010/main" val="2011790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wipe(down)">
                                      <p:cBhvr>
                                        <p:cTn id="7" dur="580">
                                          <p:stCondLst>
                                            <p:cond delay="0"/>
                                          </p:stCondLst>
                                        </p:cTn>
                                        <p:tgtEl>
                                          <p:spTgt spid="22533"/>
                                        </p:tgtEl>
                                      </p:cBhvr>
                                    </p:animEffect>
                                    <p:anim calcmode="lin" valueType="num">
                                      <p:cBhvr>
                                        <p:cTn id="8" dur="1822" tmFilter="0,0; 0.14,0.36; 0.43,0.73; 0.71,0.91; 1.0,1.0">
                                          <p:stCondLst>
                                            <p:cond delay="0"/>
                                          </p:stCondLst>
                                        </p:cTn>
                                        <p:tgtEl>
                                          <p:spTgt spid="2253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253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253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253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2533"/>
                                        </p:tgtEl>
                                        <p:attrNameLst>
                                          <p:attrName>ppt_y</p:attrName>
                                        </p:attrNameLst>
                                      </p:cBhvr>
                                      <p:tavLst>
                                        <p:tav tm="0" fmla="#ppt_y-sin(pi*$)/81">
                                          <p:val>
                                            <p:fltVal val="0"/>
                                          </p:val>
                                        </p:tav>
                                        <p:tav tm="100000">
                                          <p:val>
                                            <p:fltVal val="1"/>
                                          </p:val>
                                        </p:tav>
                                      </p:tavLst>
                                    </p:anim>
                                    <p:animScale>
                                      <p:cBhvr>
                                        <p:cTn id="13" dur="26">
                                          <p:stCondLst>
                                            <p:cond delay="650"/>
                                          </p:stCondLst>
                                        </p:cTn>
                                        <p:tgtEl>
                                          <p:spTgt spid="22533"/>
                                        </p:tgtEl>
                                      </p:cBhvr>
                                      <p:to x="100000" y="60000"/>
                                    </p:animScale>
                                    <p:animScale>
                                      <p:cBhvr>
                                        <p:cTn id="14" dur="166" decel="50000">
                                          <p:stCondLst>
                                            <p:cond delay="676"/>
                                          </p:stCondLst>
                                        </p:cTn>
                                        <p:tgtEl>
                                          <p:spTgt spid="22533"/>
                                        </p:tgtEl>
                                      </p:cBhvr>
                                      <p:to x="100000" y="100000"/>
                                    </p:animScale>
                                    <p:animScale>
                                      <p:cBhvr>
                                        <p:cTn id="15" dur="26">
                                          <p:stCondLst>
                                            <p:cond delay="1312"/>
                                          </p:stCondLst>
                                        </p:cTn>
                                        <p:tgtEl>
                                          <p:spTgt spid="22533"/>
                                        </p:tgtEl>
                                      </p:cBhvr>
                                      <p:to x="100000" y="80000"/>
                                    </p:animScale>
                                    <p:animScale>
                                      <p:cBhvr>
                                        <p:cTn id="16" dur="166" decel="50000">
                                          <p:stCondLst>
                                            <p:cond delay="1338"/>
                                          </p:stCondLst>
                                        </p:cTn>
                                        <p:tgtEl>
                                          <p:spTgt spid="22533"/>
                                        </p:tgtEl>
                                      </p:cBhvr>
                                      <p:to x="100000" y="100000"/>
                                    </p:animScale>
                                    <p:animScale>
                                      <p:cBhvr>
                                        <p:cTn id="17" dur="26">
                                          <p:stCondLst>
                                            <p:cond delay="1642"/>
                                          </p:stCondLst>
                                        </p:cTn>
                                        <p:tgtEl>
                                          <p:spTgt spid="22533"/>
                                        </p:tgtEl>
                                      </p:cBhvr>
                                      <p:to x="100000" y="90000"/>
                                    </p:animScale>
                                    <p:animScale>
                                      <p:cBhvr>
                                        <p:cTn id="18" dur="166" decel="50000">
                                          <p:stCondLst>
                                            <p:cond delay="1668"/>
                                          </p:stCondLst>
                                        </p:cTn>
                                        <p:tgtEl>
                                          <p:spTgt spid="22533"/>
                                        </p:tgtEl>
                                      </p:cBhvr>
                                      <p:to x="100000" y="100000"/>
                                    </p:animScale>
                                    <p:animScale>
                                      <p:cBhvr>
                                        <p:cTn id="19" dur="26">
                                          <p:stCondLst>
                                            <p:cond delay="1808"/>
                                          </p:stCondLst>
                                        </p:cTn>
                                        <p:tgtEl>
                                          <p:spTgt spid="22533"/>
                                        </p:tgtEl>
                                      </p:cBhvr>
                                      <p:to x="100000" y="95000"/>
                                    </p:animScale>
                                    <p:animScale>
                                      <p:cBhvr>
                                        <p:cTn id="20" dur="166" decel="50000">
                                          <p:stCondLst>
                                            <p:cond delay="1834"/>
                                          </p:stCondLst>
                                        </p:cTn>
                                        <p:tgtEl>
                                          <p:spTgt spid="2253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idx="4294967295"/>
          </p:nvPr>
        </p:nvSpPr>
        <p:spPr>
          <a:xfrm>
            <a:off x="2362201" y="381000"/>
            <a:ext cx="7477125" cy="1449388"/>
          </a:xfrm>
        </p:spPr>
        <p:txBody>
          <a:bodyPr/>
          <a:lstStyle/>
          <a:p>
            <a:pPr eaLnBrk="1" hangingPunct="1"/>
            <a:r>
              <a:rPr lang="en-US" smtClean="0">
                <a:solidFill>
                  <a:schemeClr val="bg1"/>
                </a:solidFill>
                <a:latin typeface="Berlin Sans FB" panose="020E0602020502020306" pitchFamily="34" charset="0"/>
              </a:rPr>
              <a:t>2. Meanings of communication according to Berlo are in </a:t>
            </a:r>
            <a:br>
              <a:rPr lang="en-US" smtClean="0">
                <a:solidFill>
                  <a:schemeClr val="bg1"/>
                </a:solidFill>
                <a:latin typeface="Berlin Sans FB" panose="020E0602020502020306" pitchFamily="34" charset="0"/>
              </a:rPr>
            </a:br>
            <a:endParaRPr lang="en-US" smtClean="0">
              <a:solidFill>
                <a:schemeClr val="bg1"/>
              </a:solidFill>
              <a:latin typeface="Berlin Sans FB" panose="020E0602020502020306" pitchFamily="34" charset="0"/>
            </a:endParaRPr>
          </a:p>
        </p:txBody>
      </p:sp>
      <p:sp>
        <p:nvSpPr>
          <p:cNvPr id="74755" name="Content Placeholder 2"/>
          <p:cNvSpPr>
            <a:spLocks noGrp="1"/>
          </p:cNvSpPr>
          <p:nvPr>
            <p:ph idx="4294967295"/>
          </p:nvPr>
        </p:nvSpPr>
        <p:spPr>
          <a:xfrm>
            <a:off x="2452689" y="1752600"/>
            <a:ext cx="7386637" cy="4497388"/>
          </a:xfrm>
        </p:spPr>
        <p:txBody>
          <a:bodyPr/>
          <a:lstStyle/>
          <a:p>
            <a:pPr eaLnBrk="1" hangingPunct="1">
              <a:buFontTx/>
              <a:buNone/>
            </a:pPr>
            <a:r>
              <a:rPr lang="en-US" sz="3200">
                <a:solidFill>
                  <a:schemeClr val="bg1"/>
                </a:solidFill>
                <a:latin typeface="Berlin Sans FB" panose="020E0602020502020306" pitchFamily="34" charset="0"/>
              </a:rPr>
              <a:t>A.	 People</a:t>
            </a:r>
          </a:p>
          <a:p>
            <a:pPr eaLnBrk="1" hangingPunct="1">
              <a:buFontTx/>
              <a:buNone/>
            </a:pPr>
            <a:r>
              <a:rPr lang="en-US" sz="3200">
                <a:solidFill>
                  <a:schemeClr val="bg1"/>
                </a:solidFill>
                <a:latin typeface="Berlin Sans FB" panose="020E0602020502020306" pitchFamily="34" charset="0"/>
              </a:rPr>
              <a:t>B. 	The words being communicated</a:t>
            </a:r>
          </a:p>
          <a:p>
            <a:pPr eaLnBrk="1" hangingPunct="1">
              <a:buFontTx/>
              <a:buNone/>
            </a:pPr>
            <a:r>
              <a:rPr lang="en-US" sz="3200">
                <a:solidFill>
                  <a:schemeClr val="bg1"/>
                </a:solidFill>
                <a:latin typeface="Berlin Sans FB" panose="020E0602020502020306" pitchFamily="34" charset="0"/>
              </a:rPr>
              <a:t>C. 	The experiences of people initiating 	the communication</a:t>
            </a:r>
          </a:p>
          <a:p>
            <a:pPr eaLnBrk="1" hangingPunct="1">
              <a:buFontTx/>
              <a:buNone/>
            </a:pPr>
            <a:r>
              <a:rPr lang="en-US" sz="3200">
                <a:solidFill>
                  <a:schemeClr val="bg1"/>
                </a:solidFill>
                <a:latin typeface="Berlin Sans FB" panose="020E0602020502020306" pitchFamily="34" charset="0"/>
              </a:rPr>
              <a:t>D. 	The context of the communication</a:t>
            </a:r>
          </a:p>
        </p:txBody>
      </p:sp>
      <p:sp>
        <p:nvSpPr>
          <p:cNvPr id="23557" name="Text Box 5"/>
          <p:cNvSpPr txBox="1">
            <a:spLocks noChangeArrowheads="1"/>
          </p:cNvSpPr>
          <p:nvPr/>
        </p:nvSpPr>
        <p:spPr bwMode="auto">
          <a:xfrm>
            <a:off x="2590800" y="53340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A. “people”</a:t>
            </a:r>
          </a:p>
        </p:txBody>
      </p:sp>
    </p:spTree>
    <p:extLst>
      <p:ext uri="{BB962C8B-B14F-4D97-AF65-F5344CB8AC3E}">
        <p14:creationId xmlns:p14="http://schemas.microsoft.com/office/powerpoint/2010/main" val="1012081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wipe(down)">
                                      <p:cBhvr>
                                        <p:cTn id="7" dur="580">
                                          <p:stCondLst>
                                            <p:cond delay="0"/>
                                          </p:stCondLst>
                                        </p:cTn>
                                        <p:tgtEl>
                                          <p:spTgt spid="23557"/>
                                        </p:tgtEl>
                                      </p:cBhvr>
                                    </p:animEffect>
                                    <p:anim calcmode="lin" valueType="num">
                                      <p:cBhvr>
                                        <p:cTn id="8" dur="1822" tmFilter="0,0; 0.14,0.36; 0.43,0.73; 0.71,0.91; 1.0,1.0">
                                          <p:stCondLst>
                                            <p:cond delay="0"/>
                                          </p:stCondLst>
                                        </p:cTn>
                                        <p:tgtEl>
                                          <p:spTgt spid="2355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355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355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355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3557"/>
                                        </p:tgtEl>
                                        <p:attrNameLst>
                                          <p:attrName>ppt_y</p:attrName>
                                        </p:attrNameLst>
                                      </p:cBhvr>
                                      <p:tavLst>
                                        <p:tav tm="0" fmla="#ppt_y-sin(pi*$)/81">
                                          <p:val>
                                            <p:fltVal val="0"/>
                                          </p:val>
                                        </p:tav>
                                        <p:tav tm="100000">
                                          <p:val>
                                            <p:fltVal val="1"/>
                                          </p:val>
                                        </p:tav>
                                      </p:tavLst>
                                    </p:anim>
                                    <p:animScale>
                                      <p:cBhvr>
                                        <p:cTn id="13" dur="26">
                                          <p:stCondLst>
                                            <p:cond delay="650"/>
                                          </p:stCondLst>
                                        </p:cTn>
                                        <p:tgtEl>
                                          <p:spTgt spid="23557"/>
                                        </p:tgtEl>
                                      </p:cBhvr>
                                      <p:to x="100000" y="60000"/>
                                    </p:animScale>
                                    <p:animScale>
                                      <p:cBhvr>
                                        <p:cTn id="14" dur="166" decel="50000">
                                          <p:stCondLst>
                                            <p:cond delay="676"/>
                                          </p:stCondLst>
                                        </p:cTn>
                                        <p:tgtEl>
                                          <p:spTgt spid="23557"/>
                                        </p:tgtEl>
                                      </p:cBhvr>
                                      <p:to x="100000" y="100000"/>
                                    </p:animScale>
                                    <p:animScale>
                                      <p:cBhvr>
                                        <p:cTn id="15" dur="26">
                                          <p:stCondLst>
                                            <p:cond delay="1312"/>
                                          </p:stCondLst>
                                        </p:cTn>
                                        <p:tgtEl>
                                          <p:spTgt spid="23557"/>
                                        </p:tgtEl>
                                      </p:cBhvr>
                                      <p:to x="100000" y="80000"/>
                                    </p:animScale>
                                    <p:animScale>
                                      <p:cBhvr>
                                        <p:cTn id="16" dur="166" decel="50000">
                                          <p:stCondLst>
                                            <p:cond delay="1338"/>
                                          </p:stCondLst>
                                        </p:cTn>
                                        <p:tgtEl>
                                          <p:spTgt spid="23557"/>
                                        </p:tgtEl>
                                      </p:cBhvr>
                                      <p:to x="100000" y="100000"/>
                                    </p:animScale>
                                    <p:animScale>
                                      <p:cBhvr>
                                        <p:cTn id="17" dur="26">
                                          <p:stCondLst>
                                            <p:cond delay="1642"/>
                                          </p:stCondLst>
                                        </p:cTn>
                                        <p:tgtEl>
                                          <p:spTgt spid="23557"/>
                                        </p:tgtEl>
                                      </p:cBhvr>
                                      <p:to x="100000" y="90000"/>
                                    </p:animScale>
                                    <p:animScale>
                                      <p:cBhvr>
                                        <p:cTn id="18" dur="166" decel="50000">
                                          <p:stCondLst>
                                            <p:cond delay="1668"/>
                                          </p:stCondLst>
                                        </p:cTn>
                                        <p:tgtEl>
                                          <p:spTgt spid="23557"/>
                                        </p:tgtEl>
                                      </p:cBhvr>
                                      <p:to x="100000" y="100000"/>
                                    </p:animScale>
                                    <p:animScale>
                                      <p:cBhvr>
                                        <p:cTn id="19" dur="26">
                                          <p:stCondLst>
                                            <p:cond delay="1808"/>
                                          </p:stCondLst>
                                        </p:cTn>
                                        <p:tgtEl>
                                          <p:spTgt spid="23557"/>
                                        </p:tgtEl>
                                      </p:cBhvr>
                                      <p:to x="100000" y="95000"/>
                                    </p:animScale>
                                    <p:animScale>
                                      <p:cBhvr>
                                        <p:cTn id="20" dur="166" decel="50000">
                                          <p:stCondLst>
                                            <p:cond delay="1834"/>
                                          </p:stCondLst>
                                        </p:cTn>
                                        <p:tgtEl>
                                          <p:spTgt spid="2355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idx="4294967295"/>
          </p:nvPr>
        </p:nvSpPr>
        <p:spPr>
          <a:xfrm>
            <a:off x="2438401" y="838200"/>
            <a:ext cx="7477125" cy="1143000"/>
          </a:xfrm>
        </p:spPr>
        <p:txBody>
          <a:bodyPr/>
          <a:lstStyle/>
          <a:p>
            <a:pPr eaLnBrk="1" hangingPunct="1"/>
            <a:r>
              <a:rPr lang="en-US" sz="3200">
                <a:solidFill>
                  <a:schemeClr val="bg1"/>
                </a:solidFill>
                <a:latin typeface="Berlin Sans FB" panose="020E0602020502020306" pitchFamily="34" charset="0"/>
              </a:rPr>
              <a:t>3.  The term “communication” was derived from the Latin word “communis” which means</a:t>
            </a:r>
          </a:p>
        </p:txBody>
      </p:sp>
      <p:sp>
        <p:nvSpPr>
          <p:cNvPr id="33795" name="Content Placeholder 2"/>
          <p:cNvSpPr>
            <a:spLocks noGrp="1"/>
          </p:cNvSpPr>
          <p:nvPr>
            <p:ph idx="4294967295"/>
          </p:nvPr>
        </p:nvSpPr>
        <p:spPr>
          <a:xfrm>
            <a:off x="2482850" y="2336800"/>
            <a:ext cx="7386638" cy="4497388"/>
          </a:xfrm>
        </p:spPr>
        <p:txBody>
          <a:bodyPr rtlCol="0">
            <a:normAutofit/>
          </a:bodyPr>
          <a:lstStyle/>
          <a:p>
            <a:pPr>
              <a:buNone/>
              <a:defRPr/>
            </a:pPr>
            <a:endParaRPr lang="en-US" sz="3600" dirty="0">
              <a:solidFill>
                <a:schemeClr val="bg1"/>
              </a:solidFill>
              <a:latin typeface="Berlin Sans FB" panose="020E0602020502020306" pitchFamily="34" charset="0"/>
            </a:endParaRPr>
          </a:p>
          <a:p>
            <a:pPr marL="514350" indent="-514350">
              <a:buFontTx/>
              <a:buAutoNum type="alphaUcPeriod"/>
              <a:defRPr/>
            </a:pPr>
            <a:r>
              <a:rPr lang="en-US" sz="3600" dirty="0">
                <a:solidFill>
                  <a:schemeClr val="bg1"/>
                </a:solidFill>
                <a:latin typeface="Berlin Sans FB" panose="020E0602020502020306" pitchFamily="34" charset="0"/>
              </a:rPr>
              <a:t>To transmit</a:t>
            </a:r>
          </a:p>
          <a:p>
            <a:pPr marL="514350" indent="-514350">
              <a:buFontTx/>
              <a:buAutoNum type="alphaUcPeriod"/>
              <a:defRPr/>
            </a:pPr>
            <a:r>
              <a:rPr lang="en-US" sz="3600" dirty="0">
                <a:solidFill>
                  <a:schemeClr val="bg1"/>
                </a:solidFill>
                <a:latin typeface="Berlin Sans FB" panose="020E0602020502020306" pitchFamily="34" charset="0"/>
              </a:rPr>
              <a:t>To </a:t>
            </a:r>
            <a:r>
              <a:rPr lang="en-US" sz="3600" dirty="0" err="1">
                <a:solidFill>
                  <a:schemeClr val="bg1"/>
                </a:solidFill>
                <a:latin typeface="Berlin Sans FB" panose="020E0602020502020306" pitchFamily="34" charset="0"/>
              </a:rPr>
              <a:t>dessiminate</a:t>
            </a:r>
            <a:endParaRPr lang="en-US" sz="3600" dirty="0">
              <a:solidFill>
                <a:schemeClr val="bg1"/>
              </a:solidFill>
              <a:latin typeface="Berlin Sans FB" panose="020E0602020502020306" pitchFamily="34" charset="0"/>
            </a:endParaRPr>
          </a:p>
          <a:p>
            <a:pPr marL="514350" indent="-514350">
              <a:buFontTx/>
              <a:buAutoNum type="alphaUcPeriod"/>
              <a:defRPr/>
            </a:pPr>
            <a:r>
              <a:rPr lang="en-US" sz="3600" dirty="0">
                <a:solidFill>
                  <a:schemeClr val="bg1"/>
                </a:solidFill>
                <a:latin typeface="Berlin Sans FB" panose="020E0602020502020306" pitchFamily="34" charset="0"/>
              </a:rPr>
              <a:t>To make common</a:t>
            </a:r>
          </a:p>
        </p:txBody>
      </p:sp>
      <p:sp>
        <p:nvSpPr>
          <p:cNvPr id="24581" name="Text Box 5"/>
          <p:cNvSpPr txBox="1">
            <a:spLocks noChangeArrowheads="1"/>
          </p:cNvSpPr>
          <p:nvPr/>
        </p:nvSpPr>
        <p:spPr bwMode="auto">
          <a:xfrm>
            <a:off x="1752600" y="54864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C. To make common</a:t>
            </a:r>
          </a:p>
        </p:txBody>
      </p:sp>
    </p:spTree>
    <p:extLst>
      <p:ext uri="{BB962C8B-B14F-4D97-AF65-F5344CB8AC3E}">
        <p14:creationId xmlns:p14="http://schemas.microsoft.com/office/powerpoint/2010/main" val="12167208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wipe(down)">
                                      <p:cBhvr>
                                        <p:cTn id="7" dur="580">
                                          <p:stCondLst>
                                            <p:cond delay="0"/>
                                          </p:stCondLst>
                                        </p:cTn>
                                        <p:tgtEl>
                                          <p:spTgt spid="24581"/>
                                        </p:tgtEl>
                                      </p:cBhvr>
                                    </p:animEffect>
                                    <p:anim calcmode="lin" valueType="num">
                                      <p:cBhvr>
                                        <p:cTn id="8" dur="1822" tmFilter="0,0; 0.14,0.36; 0.43,0.73; 0.71,0.91; 1.0,1.0">
                                          <p:stCondLst>
                                            <p:cond delay="0"/>
                                          </p:stCondLst>
                                        </p:cTn>
                                        <p:tgtEl>
                                          <p:spTgt spid="2458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458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458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458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4581"/>
                                        </p:tgtEl>
                                        <p:attrNameLst>
                                          <p:attrName>ppt_y</p:attrName>
                                        </p:attrNameLst>
                                      </p:cBhvr>
                                      <p:tavLst>
                                        <p:tav tm="0" fmla="#ppt_y-sin(pi*$)/81">
                                          <p:val>
                                            <p:fltVal val="0"/>
                                          </p:val>
                                        </p:tav>
                                        <p:tav tm="100000">
                                          <p:val>
                                            <p:fltVal val="1"/>
                                          </p:val>
                                        </p:tav>
                                      </p:tavLst>
                                    </p:anim>
                                    <p:animScale>
                                      <p:cBhvr>
                                        <p:cTn id="13" dur="26">
                                          <p:stCondLst>
                                            <p:cond delay="650"/>
                                          </p:stCondLst>
                                        </p:cTn>
                                        <p:tgtEl>
                                          <p:spTgt spid="24581"/>
                                        </p:tgtEl>
                                      </p:cBhvr>
                                      <p:to x="100000" y="60000"/>
                                    </p:animScale>
                                    <p:animScale>
                                      <p:cBhvr>
                                        <p:cTn id="14" dur="166" decel="50000">
                                          <p:stCondLst>
                                            <p:cond delay="676"/>
                                          </p:stCondLst>
                                        </p:cTn>
                                        <p:tgtEl>
                                          <p:spTgt spid="24581"/>
                                        </p:tgtEl>
                                      </p:cBhvr>
                                      <p:to x="100000" y="100000"/>
                                    </p:animScale>
                                    <p:animScale>
                                      <p:cBhvr>
                                        <p:cTn id="15" dur="26">
                                          <p:stCondLst>
                                            <p:cond delay="1312"/>
                                          </p:stCondLst>
                                        </p:cTn>
                                        <p:tgtEl>
                                          <p:spTgt spid="24581"/>
                                        </p:tgtEl>
                                      </p:cBhvr>
                                      <p:to x="100000" y="80000"/>
                                    </p:animScale>
                                    <p:animScale>
                                      <p:cBhvr>
                                        <p:cTn id="16" dur="166" decel="50000">
                                          <p:stCondLst>
                                            <p:cond delay="1338"/>
                                          </p:stCondLst>
                                        </p:cTn>
                                        <p:tgtEl>
                                          <p:spTgt spid="24581"/>
                                        </p:tgtEl>
                                      </p:cBhvr>
                                      <p:to x="100000" y="100000"/>
                                    </p:animScale>
                                    <p:animScale>
                                      <p:cBhvr>
                                        <p:cTn id="17" dur="26">
                                          <p:stCondLst>
                                            <p:cond delay="1642"/>
                                          </p:stCondLst>
                                        </p:cTn>
                                        <p:tgtEl>
                                          <p:spTgt spid="24581"/>
                                        </p:tgtEl>
                                      </p:cBhvr>
                                      <p:to x="100000" y="90000"/>
                                    </p:animScale>
                                    <p:animScale>
                                      <p:cBhvr>
                                        <p:cTn id="18" dur="166" decel="50000">
                                          <p:stCondLst>
                                            <p:cond delay="1668"/>
                                          </p:stCondLst>
                                        </p:cTn>
                                        <p:tgtEl>
                                          <p:spTgt spid="24581"/>
                                        </p:tgtEl>
                                      </p:cBhvr>
                                      <p:to x="100000" y="100000"/>
                                    </p:animScale>
                                    <p:animScale>
                                      <p:cBhvr>
                                        <p:cTn id="19" dur="26">
                                          <p:stCondLst>
                                            <p:cond delay="1808"/>
                                          </p:stCondLst>
                                        </p:cTn>
                                        <p:tgtEl>
                                          <p:spTgt spid="24581"/>
                                        </p:tgtEl>
                                      </p:cBhvr>
                                      <p:to x="100000" y="95000"/>
                                    </p:animScale>
                                    <p:animScale>
                                      <p:cBhvr>
                                        <p:cTn id="20" dur="166" decel="50000">
                                          <p:stCondLst>
                                            <p:cond delay="1834"/>
                                          </p:stCondLst>
                                        </p:cTn>
                                        <p:tgtEl>
                                          <p:spTgt spid="2458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idx="4294967295"/>
          </p:nvPr>
        </p:nvSpPr>
        <p:spPr>
          <a:xfrm>
            <a:off x="2514601" y="685800"/>
            <a:ext cx="7477125" cy="1143000"/>
          </a:xfrm>
        </p:spPr>
        <p:txBody>
          <a:bodyPr/>
          <a:lstStyle/>
          <a:p>
            <a:pPr eaLnBrk="1" hangingPunct="1"/>
            <a:r>
              <a:rPr lang="en-US" sz="3600">
                <a:solidFill>
                  <a:schemeClr val="bg1"/>
                </a:solidFill>
                <a:latin typeface="Berlin Sans FB" panose="020E0602020502020306" pitchFamily="34" charset="0"/>
              </a:rPr>
              <a:t>4. Accdg to Berlo,1960, we communicate to affect with ___</a:t>
            </a:r>
          </a:p>
        </p:txBody>
      </p:sp>
      <p:sp>
        <p:nvSpPr>
          <p:cNvPr id="66563" name="Content Placeholder 2"/>
          <p:cNvSpPr>
            <a:spLocks noGrp="1"/>
          </p:cNvSpPr>
          <p:nvPr>
            <p:ph idx="4294967295"/>
          </p:nvPr>
        </p:nvSpPr>
        <p:spPr>
          <a:xfrm>
            <a:off x="2641600" y="1981200"/>
            <a:ext cx="7386638" cy="4497388"/>
          </a:xfrm>
          <a:extLst/>
        </p:spPr>
        <p:txBody>
          <a:bodyPr rtlCol="0">
            <a:normAutofit/>
          </a:bodyPr>
          <a:lstStyle/>
          <a:p>
            <a:pPr marL="0" indent="0">
              <a:buNone/>
              <a:defRPr/>
            </a:pPr>
            <a:r>
              <a:rPr lang="en-US" sz="4300" dirty="0">
                <a:solidFill>
                  <a:schemeClr val="bg1"/>
                </a:solidFill>
                <a:latin typeface="Berlin Sans FB" panose="020E0602020502020306" pitchFamily="34" charset="0"/>
              </a:rPr>
              <a:t>A. 	</a:t>
            </a:r>
            <a:r>
              <a:rPr lang="en-US" sz="4000" dirty="0">
                <a:solidFill>
                  <a:schemeClr val="bg1"/>
                </a:solidFill>
                <a:latin typeface="Berlin Sans FB" panose="020E0602020502020306" pitchFamily="34" charset="0"/>
              </a:rPr>
              <a:t>Information</a:t>
            </a:r>
          </a:p>
          <a:p>
            <a:pPr marL="0" indent="0">
              <a:buNone/>
              <a:defRPr/>
            </a:pPr>
            <a:r>
              <a:rPr lang="en-US" sz="4000" dirty="0" smtClean="0">
                <a:solidFill>
                  <a:schemeClr val="bg1"/>
                </a:solidFill>
                <a:latin typeface="Berlin Sans FB" panose="020E0602020502020306" pitchFamily="34" charset="0"/>
              </a:rPr>
              <a:t>B.    Intent</a:t>
            </a:r>
            <a:endParaRPr lang="en-US" sz="4000" dirty="0">
              <a:solidFill>
                <a:schemeClr val="bg1"/>
              </a:solidFill>
              <a:latin typeface="Berlin Sans FB" panose="020E0602020502020306" pitchFamily="34" charset="0"/>
            </a:endParaRPr>
          </a:p>
          <a:p>
            <a:pPr marL="0" indent="0">
              <a:buNone/>
              <a:defRPr/>
            </a:pPr>
            <a:r>
              <a:rPr lang="en-US" sz="4000" dirty="0" smtClean="0">
                <a:solidFill>
                  <a:schemeClr val="bg1"/>
                </a:solidFill>
                <a:latin typeface="Berlin Sans FB" panose="020E0602020502020306" pitchFamily="34" charset="0"/>
              </a:rPr>
              <a:t>C.    Suggestions</a:t>
            </a:r>
            <a:endParaRPr lang="en-US" sz="4000" dirty="0">
              <a:solidFill>
                <a:schemeClr val="bg1"/>
              </a:solidFill>
              <a:latin typeface="Berlin Sans FB" panose="020E0602020502020306" pitchFamily="34" charset="0"/>
            </a:endParaRPr>
          </a:p>
          <a:p>
            <a:pPr eaLnBrk="1" hangingPunct="1">
              <a:buFontTx/>
              <a:buNone/>
              <a:defRPr/>
            </a:pPr>
            <a:r>
              <a:rPr lang="en-US" sz="4000" dirty="0">
                <a:solidFill>
                  <a:schemeClr val="bg1"/>
                </a:solidFill>
                <a:latin typeface="Berlin Sans FB" panose="020E0602020502020306" pitchFamily="34" charset="0"/>
              </a:rPr>
              <a:t>D.    None of the above</a:t>
            </a:r>
          </a:p>
        </p:txBody>
      </p:sp>
      <p:sp>
        <p:nvSpPr>
          <p:cNvPr id="25605" name="Text Box 5"/>
          <p:cNvSpPr txBox="1">
            <a:spLocks noChangeArrowheads="1"/>
          </p:cNvSpPr>
          <p:nvPr/>
        </p:nvSpPr>
        <p:spPr bwMode="auto">
          <a:xfrm>
            <a:off x="2641600" y="5257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B.  intent</a:t>
            </a:r>
          </a:p>
        </p:txBody>
      </p:sp>
    </p:spTree>
    <p:extLst>
      <p:ext uri="{BB962C8B-B14F-4D97-AF65-F5344CB8AC3E}">
        <p14:creationId xmlns:p14="http://schemas.microsoft.com/office/powerpoint/2010/main" val="2426021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down)">
                                      <p:cBhvr>
                                        <p:cTn id="7" dur="580">
                                          <p:stCondLst>
                                            <p:cond delay="0"/>
                                          </p:stCondLst>
                                        </p:cTn>
                                        <p:tgtEl>
                                          <p:spTgt spid="25605"/>
                                        </p:tgtEl>
                                      </p:cBhvr>
                                    </p:animEffect>
                                    <p:anim calcmode="lin" valueType="num">
                                      <p:cBhvr>
                                        <p:cTn id="8" dur="1822" tmFilter="0,0; 0.14,0.36; 0.43,0.73; 0.71,0.91; 1.0,1.0">
                                          <p:stCondLst>
                                            <p:cond delay="0"/>
                                          </p:stCondLst>
                                        </p:cTn>
                                        <p:tgtEl>
                                          <p:spTgt spid="2560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560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560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560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5605"/>
                                        </p:tgtEl>
                                        <p:attrNameLst>
                                          <p:attrName>ppt_y</p:attrName>
                                        </p:attrNameLst>
                                      </p:cBhvr>
                                      <p:tavLst>
                                        <p:tav tm="0" fmla="#ppt_y-sin(pi*$)/81">
                                          <p:val>
                                            <p:fltVal val="0"/>
                                          </p:val>
                                        </p:tav>
                                        <p:tav tm="100000">
                                          <p:val>
                                            <p:fltVal val="1"/>
                                          </p:val>
                                        </p:tav>
                                      </p:tavLst>
                                    </p:anim>
                                    <p:animScale>
                                      <p:cBhvr>
                                        <p:cTn id="13" dur="26">
                                          <p:stCondLst>
                                            <p:cond delay="650"/>
                                          </p:stCondLst>
                                        </p:cTn>
                                        <p:tgtEl>
                                          <p:spTgt spid="25605"/>
                                        </p:tgtEl>
                                      </p:cBhvr>
                                      <p:to x="100000" y="60000"/>
                                    </p:animScale>
                                    <p:animScale>
                                      <p:cBhvr>
                                        <p:cTn id="14" dur="166" decel="50000">
                                          <p:stCondLst>
                                            <p:cond delay="676"/>
                                          </p:stCondLst>
                                        </p:cTn>
                                        <p:tgtEl>
                                          <p:spTgt spid="25605"/>
                                        </p:tgtEl>
                                      </p:cBhvr>
                                      <p:to x="100000" y="100000"/>
                                    </p:animScale>
                                    <p:animScale>
                                      <p:cBhvr>
                                        <p:cTn id="15" dur="26">
                                          <p:stCondLst>
                                            <p:cond delay="1312"/>
                                          </p:stCondLst>
                                        </p:cTn>
                                        <p:tgtEl>
                                          <p:spTgt spid="25605"/>
                                        </p:tgtEl>
                                      </p:cBhvr>
                                      <p:to x="100000" y="80000"/>
                                    </p:animScale>
                                    <p:animScale>
                                      <p:cBhvr>
                                        <p:cTn id="16" dur="166" decel="50000">
                                          <p:stCondLst>
                                            <p:cond delay="1338"/>
                                          </p:stCondLst>
                                        </p:cTn>
                                        <p:tgtEl>
                                          <p:spTgt spid="25605"/>
                                        </p:tgtEl>
                                      </p:cBhvr>
                                      <p:to x="100000" y="100000"/>
                                    </p:animScale>
                                    <p:animScale>
                                      <p:cBhvr>
                                        <p:cTn id="17" dur="26">
                                          <p:stCondLst>
                                            <p:cond delay="1642"/>
                                          </p:stCondLst>
                                        </p:cTn>
                                        <p:tgtEl>
                                          <p:spTgt spid="25605"/>
                                        </p:tgtEl>
                                      </p:cBhvr>
                                      <p:to x="100000" y="90000"/>
                                    </p:animScale>
                                    <p:animScale>
                                      <p:cBhvr>
                                        <p:cTn id="18" dur="166" decel="50000">
                                          <p:stCondLst>
                                            <p:cond delay="1668"/>
                                          </p:stCondLst>
                                        </p:cTn>
                                        <p:tgtEl>
                                          <p:spTgt spid="25605"/>
                                        </p:tgtEl>
                                      </p:cBhvr>
                                      <p:to x="100000" y="100000"/>
                                    </p:animScale>
                                    <p:animScale>
                                      <p:cBhvr>
                                        <p:cTn id="19" dur="26">
                                          <p:stCondLst>
                                            <p:cond delay="1808"/>
                                          </p:stCondLst>
                                        </p:cTn>
                                        <p:tgtEl>
                                          <p:spTgt spid="25605"/>
                                        </p:tgtEl>
                                      </p:cBhvr>
                                      <p:to x="100000" y="95000"/>
                                    </p:animScale>
                                    <p:animScale>
                                      <p:cBhvr>
                                        <p:cTn id="20" dur="166" decel="50000">
                                          <p:stCondLst>
                                            <p:cond delay="1834"/>
                                          </p:stCondLst>
                                        </p:cTn>
                                        <p:tgtEl>
                                          <p:spTgt spid="2560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idx="4294967295"/>
          </p:nvPr>
        </p:nvSpPr>
        <p:spPr>
          <a:xfrm>
            <a:off x="2743201" y="311150"/>
            <a:ext cx="7477125" cy="1143000"/>
          </a:xfrm>
        </p:spPr>
        <p:txBody>
          <a:bodyPr/>
          <a:lstStyle/>
          <a:p>
            <a:pPr eaLnBrk="1" hangingPunct="1"/>
            <a:r>
              <a:rPr lang="en-US" sz="3600">
                <a:solidFill>
                  <a:schemeClr val="bg1"/>
                </a:solidFill>
                <a:latin typeface="Berlin Sans FB" panose="020E0602020502020306" pitchFamily="34" charset="0"/>
              </a:rPr>
              <a:t>5. The cardinal rule in effective communication is</a:t>
            </a:r>
          </a:p>
        </p:txBody>
      </p:sp>
      <p:sp>
        <p:nvSpPr>
          <p:cNvPr id="77827" name="Content Placeholder 2"/>
          <p:cNvSpPr>
            <a:spLocks noGrp="1"/>
          </p:cNvSpPr>
          <p:nvPr>
            <p:ph idx="4294967295"/>
          </p:nvPr>
        </p:nvSpPr>
        <p:spPr>
          <a:xfrm>
            <a:off x="2589214" y="1828800"/>
            <a:ext cx="7386637" cy="4497388"/>
          </a:xfrm>
        </p:spPr>
        <p:txBody>
          <a:bodyPr/>
          <a:lstStyle/>
          <a:p>
            <a:pPr marL="742950" indent="-742950">
              <a:buFont typeface="Arial" panose="020B0604020202020204" pitchFamily="34" charset="0"/>
              <a:buAutoNum type="alphaUcPeriod"/>
            </a:pPr>
            <a:r>
              <a:rPr lang="en-US" sz="4000">
                <a:solidFill>
                  <a:schemeClr val="bg1"/>
                </a:solidFill>
                <a:latin typeface="Berlin Sans FB" panose="020E0602020502020306" pitchFamily="34" charset="0"/>
              </a:rPr>
              <a:t>Speak clearly</a:t>
            </a:r>
          </a:p>
          <a:p>
            <a:pPr marL="742950" indent="-742950">
              <a:buFont typeface="Arial" panose="020B0604020202020204" pitchFamily="34" charset="0"/>
              <a:buAutoNum type="alphaUcPeriod"/>
            </a:pPr>
            <a:r>
              <a:rPr lang="en-US" sz="4000">
                <a:solidFill>
                  <a:schemeClr val="bg1"/>
                </a:solidFill>
                <a:latin typeface="Berlin Sans FB" panose="020E0602020502020306" pitchFamily="34" charset="0"/>
              </a:rPr>
              <a:t>Establish good relations</a:t>
            </a:r>
          </a:p>
          <a:p>
            <a:pPr marL="742950" indent="-742950">
              <a:buFont typeface="Arial" panose="020B0604020202020204" pitchFamily="34" charset="0"/>
              <a:buAutoNum type="alphaUcPeriod"/>
            </a:pPr>
            <a:r>
              <a:rPr lang="en-US" sz="4000">
                <a:solidFill>
                  <a:schemeClr val="bg1"/>
                </a:solidFill>
                <a:latin typeface="Berlin Sans FB" panose="020E0602020502020306" pitchFamily="34" charset="0"/>
              </a:rPr>
              <a:t>Listen to your audience/clients</a:t>
            </a:r>
          </a:p>
          <a:p>
            <a:pPr marL="742950" indent="-742950">
              <a:buFont typeface="Arial" panose="020B0604020202020204" pitchFamily="34" charset="0"/>
              <a:buAutoNum type="alphaUcPeriod"/>
            </a:pPr>
            <a:r>
              <a:rPr lang="en-US" sz="4000">
                <a:solidFill>
                  <a:schemeClr val="bg1"/>
                </a:solidFill>
                <a:latin typeface="Berlin Sans FB" panose="020E0602020502020306" pitchFamily="34" charset="0"/>
              </a:rPr>
              <a:t>Know your audience/ clients</a:t>
            </a:r>
          </a:p>
        </p:txBody>
      </p:sp>
      <p:sp>
        <p:nvSpPr>
          <p:cNvPr id="26629" name="Text Box 5"/>
          <p:cNvSpPr txBox="1">
            <a:spLocks noChangeArrowheads="1"/>
          </p:cNvSpPr>
          <p:nvPr/>
        </p:nvSpPr>
        <p:spPr bwMode="auto">
          <a:xfrm>
            <a:off x="2432050" y="4800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D. Know your audience / clients</a:t>
            </a:r>
          </a:p>
        </p:txBody>
      </p:sp>
    </p:spTree>
    <p:extLst>
      <p:ext uri="{BB962C8B-B14F-4D97-AF65-F5344CB8AC3E}">
        <p14:creationId xmlns:p14="http://schemas.microsoft.com/office/powerpoint/2010/main" val="3756360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wipe(down)">
                                      <p:cBhvr>
                                        <p:cTn id="7" dur="580">
                                          <p:stCondLst>
                                            <p:cond delay="0"/>
                                          </p:stCondLst>
                                        </p:cTn>
                                        <p:tgtEl>
                                          <p:spTgt spid="26629"/>
                                        </p:tgtEl>
                                      </p:cBhvr>
                                    </p:animEffect>
                                    <p:anim calcmode="lin" valueType="num">
                                      <p:cBhvr>
                                        <p:cTn id="8" dur="1822" tmFilter="0,0; 0.14,0.36; 0.43,0.73; 0.71,0.91; 1.0,1.0">
                                          <p:stCondLst>
                                            <p:cond delay="0"/>
                                          </p:stCondLst>
                                        </p:cTn>
                                        <p:tgtEl>
                                          <p:spTgt spid="266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66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66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66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6629"/>
                                        </p:tgtEl>
                                        <p:attrNameLst>
                                          <p:attrName>ppt_y</p:attrName>
                                        </p:attrNameLst>
                                      </p:cBhvr>
                                      <p:tavLst>
                                        <p:tav tm="0" fmla="#ppt_y-sin(pi*$)/81">
                                          <p:val>
                                            <p:fltVal val="0"/>
                                          </p:val>
                                        </p:tav>
                                        <p:tav tm="100000">
                                          <p:val>
                                            <p:fltVal val="1"/>
                                          </p:val>
                                        </p:tav>
                                      </p:tavLst>
                                    </p:anim>
                                    <p:animScale>
                                      <p:cBhvr>
                                        <p:cTn id="13" dur="26">
                                          <p:stCondLst>
                                            <p:cond delay="650"/>
                                          </p:stCondLst>
                                        </p:cTn>
                                        <p:tgtEl>
                                          <p:spTgt spid="26629"/>
                                        </p:tgtEl>
                                      </p:cBhvr>
                                      <p:to x="100000" y="60000"/>
                                    </p:animScale>
                                    <p:animScale>
                                      <p:cBhvr>
                                        <p:cTn id="14" dur="166" decel="50000">
                                          <p:stCondLst>
                                            <p:cond delay="676"/>
                                          </p:stCondLst>
                                        </p:cTn>
                                        <p:tgtEl>
                                          <p:spTgt spid="26629"/>
                                        </p:tgtEl>
                                      </p:cBhvr>
                                      <p:to x="100000" y="100000"/>
                                    </p:animScale>
                                    <p:animScale>
                                      <p:cBhvr>
                                        <p:cTn id="15" dur="26">
                                          <p:stCondLst>
                                            <p:cond delay="1312"/>
                                          </p:stCondLst>
                                        </p:cTn>
                                        <p:tgtEl>
                                          <p:spTgt spid="26629"/>
                                        </p:tgtEl>
                                      </p:cBhvr>
                                      <p:to x="100000" y="80000"/>
                                    </p:animScale>
                                    <p:animScale>
                                      <p:cBhvr>
                                        <p:cTn id="16" dur="166" decel="50000">
                                          <p:stCondLst>
                                            <p:cond delay="1338"/>
                                          </p:stCondLst>
                                        </p:cTn>
                                        <p:tgtEl>
                                          <p:spTgt spid="26629"/>
                                        </p:tgtEl>
                                      </p:cBhvr>
                                      <p:to x="100000" y="100000"/>
                                    </p:animScale>
                                    <p:animScale>
                                      <p:cBhvr>
                                        <p:cTn id="17" dur="26">
                                          <p:stCondLst>
                                            <p:cond delay="1642"/>
                                          </p:stCondLst>
                                        </p:cTn>
                                        <p:tgtEl>
                                          <p:spTgt spid="26629"/>
                                        </p:tgtEl>
                                      </p:cBhvr>
                                      <p:to x="100000" y="90000"/>
                                    </p:animScale>
                                    <p:animScale>
                                      <p:cBhvr>
                                        <p:cTn id="18" dur="166" decel="50000">
                                          <p:stCondLst>
                                            <p:cond delay="1668"/>
                                          </p:stCondLst>
                                        </p:cTn>
                                        <p:tgtEl>
                                          <p:spTgt spid="26629"/>
                                        </p:tgtEl>
                                      </p:cBhvr>
                                      <p:to x="100000" y="100000"/>
                                    </p:animScale>
                                    <p:animScale>
                                      <p:cBhvr>
                                        <p:cTn id="19" dur="26">
                                          <p:stCondLst>
                                            <p:cond delay="1808"/>
                                          </p:stCondLst>
                                        </p:cTn>
                                        <p:tgtEl>
                                          <p:spTgt spid="26629"/>
                                        </p:tgtEl>
                                      </p:cBhvr>
                                      <p:to x="100000" y="95000"/>
                                    </p:animScale>
                                    <p:animScale>
                                      <p:cBhvr>
                                        <p:cTn id="20" dur="166" decel="50000">
                                          <p:stCondLst>
                                            <p:cond delay="1834"/>
                                          </p:stCondLst>
                                        </p:cTn>
                                        <p:tgtEl>
                                          <p:spTgt spid="266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idx="4294967295"/>
          </p:nvPr>
        </p:nvSpPr>
        <p:spPr>
          <a:xfrm>
            <a:off x="2057400" y="381000"/>
            <a:ext cx="8839200" cy="1601788"/>
          </a:xfrm>
        </p:spPr>
        <p:txBody>
          <a:bodyPr/>
          <a:lstStyle/>
          <a:p>
            <a:pPr algn="ctr" eaLnBrk="1" hangingPunct="1"/>
            <a:r>
              <a:rPr lang="en-US" sz="3600">
                <a:solidFill>
                  <a:schemeClr val="bg1"/>
                </a:solidFill>
                <a:latin typeface="Berlin Sans FB" panose="020E0602020502020306" pitchFamily="34" charset="0"/>
              </a:rPr>
              <a:t>6. Communication comes from the word “communis” which means  common in</a:t>
            </a:r>
          </a:p>
        </p:txBody>
      </p:sp>
      <p:sp>
        <p:nvSpPr>
          <p:cNvPr id="68611" name="Content Placeholder 2"/>
          <p:cNvSpPr>
            <a:spLocks noGrp="1"/>
          </p:cNvSpPr>
          <p:nvPr>
            <p:ph idx="4294967295"/>
          </p:nvPr>
        </p:nvSpPr>
        <p:spPr>
          <a:xfrm>
            <a:off x="2800350" y="1662114"/>
            <a:ext cx="7386638" cy="4497387"/>
          </a:xfrm>
          <a:extLst/>
        </p:spPr>
        <p:txBody>
          <a:bodyPr rtlCol="0">
            <a:normAutofit/>
          </a:bodyPr>
          <a:lstStyle/>
          <a:p>
            <a:pPr eaLnBrk="1" hangingPunct="1">
              <a:buFontTx/>
              <a:buNone/>
              <a:defRPr/>
            </a:pPr>
            <a:endParaRPr lang="en-US" sz="4000" dirty="0">
              <a:solidFill>
                <a:schemeClr val="bg1"/>
              </a:solidFill>
              <a:latin typeface="Berlin Sans FB" panose="020E0602020502020306" pitchFamily="34" charset="0"/>
            </a:endParaRPr>
          </a:p>
          <a:p>
            <a:pPr marL="742950" indent="-742950">
              <a:buFont typeface="Arial" panose="020B0604020202020204" pitchFamily="34" charset="0"/>
              <a:buAutoNum type="alphaUcPeriod"/>
              <a:defRPr/>
            </a:pPr>
            <a:r>
              <a:rPr lang="en-US" sz="4000" dirty="0">
                <a:solidFill>
                  <a:schemeClr val="bg1"/>
                </a:solidFill>
                <a:latin typeface="Berlin Sans FB" panose="020E0602020502020306" pitchFamily="34" charset="0"/>
              </a:rPr>
              <a:t>Latin</a:t>
            </a:r>
          </a:p>
          <a:p>
            <a:pPr marL="742950" indent="-742950">
              <a:buFont typeface="Arial" panose="020B0604020202020204" pitchFamily="34" charset="0"/>
              <a:buAutoNum type="alphaUcPeriod"/>
              <a:defRPr/>
            </a:pPr>
            <a:r>
              <a:rPr lang="en-US" sz="4000" dirty="0">
                <a:solidFill>
                  <a:schemeClr val="bg1"/>
                </a:solidFill>
                <a:latin typeface="Berlin Sans FB" panose="020E0602020502020306" pitchFamily="34" charset="0"/>
              </a:rPr>
              <a:t>French</a:t>
            </a:r>
          </a:p>
          <a:p>
            <a:pPr marL="742950" indent="-742950">
              <a:buFont typeface="Arial" panose="020B0604020202020204" pitchFamily="34" charset="0"/>
              <a:buAutoNum type="alphaUcPeriod"/>
              <a:defRPr/>
            </a:pPr>
            <a:r>
              <a:rPr lang="en-US" sz="4000" dirty="0">
                <a:solidFill>
                  <a:schemeClr val="bg1"/>
                </a:solidFill>
                <a:latin typeface="Berlin Sans FB" panose="020E0602020502020306" pitchFamily="34" charset="0"/>
              </a:rPr>
              <a:t>Greek</a:t>
            </a:r>
          </a:p>
          <a:p>
            <a:pPr marL="742950" indent="-742950">
              <a:buFont typeface="Arial" panose="020B0604020202020204" pitchFamily="34" charset="0"/>
              <a:buAutoNum type="alphaUcPeriod"/>
              <a:defRPr/>
            </a:pPr>
            <a:r>
              <a:rPr lang="en-US" sz="4000" dirty="0">
                <a:solidFill>
                  <a:schemeClr val="bg1"/>
                </a:solidFill>
                <a:latin typeface="Berlin Sans FB" panose="020E0602020502020306" pitchFamily="34" charset="0"/>
              </a:rPr>
              <a:t>Spanish</a:t>
            </a:r>
          </a:p>
        </p:txBody>
      </p:sp>
      <p:sp>
        <p:nvSpPr>
          <p:cNvPr id="27653" name="Text Box 5"/>
          <p:cNvSpPr txBox="1">
            <a:spLocks noChangeArrowheads="1"/>
          </p:cNvSpPr>
          <p:nvPr/>
        </p:nvSpPr>
        <p:spPr bwMode="auto">
          <a:xfrm>
            <a:off x="2800350" y="5562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A. Latin</a:t>
            </a:r>
          </a:p>
        </p:txBody>
      </p:sp>
    </p:spTree>
    <p:extLst>
      <p:ext uri="{BB962C8B-B14F-4D97-AF65-F5344CB8AC3E}">
        <p14:creationId xmlns:p14="http://schemas.microsoft.com/office/powerpoint/2010/main" val="877415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down)">
                                      <p:cBhvr>
                                        <p:cTn id="7" dur="580">
                                          <p:stCondLst>
                                            <p:cond delay="0"/>
                                          </p:stCondLst>
                                        </p:cTn>
                                        <p:tgtEl>
                                          <p:spTgt spid="27653"/>
                                        </p:tgtEl>
                                      </p:cBhvr>
                                    </p:animEffect>
                                    <p:anim calcmode="lin" valueType="num">
                                      <p:cBhvr>
                                        <p:cTn id="8" dur="1822" tmFilter="0,0; 0.14,0.36; 0.43,0.73; 0.71,0.91; 1.0,1.0">
                                          <p:stCondLst>
                                            <p:cond delay="0"/>
                                          </p:stCondLst>
                                        </p:cTn>
                                        <p:tgtEl>
                                          <p:spTgt spid="276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76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76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76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76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7653"/>
                                        </p:tgtEl>
                                      </p:cBhvr>
                                      <p:to x="100000" y="60000"/>
                                    </p:animScale>
                                    <p:animScale>
                                      <p:cBhvr>
                                        <p:cTn id="14" dur="166" decel="50000">
                                          <p:stCondLst>
                                            <p:cond delay="676"/>
                                          </p:stCondLst>
                                        </p:cTn>
                                        <p:tgtEl>
                                          <p:spTgt spid="27653"/>
                                        </p:tgtEl>
                                      </p:cBhvr>
                                      <p:to x="100000" y="100000"/>
                                    </p:animScale>
                                    <p:animScale>
                                      <p:cBhvr>
                                        <p:cTn id="15" dur="26">
                                          <p:stCondLst>
                                            <p:cond delay="1312"/>
                                          </p:stCondLst>
                                        </p:cTn>
                                        <p:tgtEl>
                                          <p:spTgt spid="27653"/>
                                        </p:tgtEl>
                                      </p:cBhvr>
                                      <p:to x="100000" y="80000"/>
                                    </p:animScale>
                                    <p:animScale>
                                      <p:cBhvr>
                                        <p:cTn id="16" dur="166" decel="50000">
                                          <p:stCondLst>
                                            <p:cond delay="1338"/>
                                          </p:stCondLst>
                                        </p:cTn>
                                        <p:tgtEl>
                                          <p:spTgt spid="27653"/>
                                        </p:tgtEl>
                                      </p:cBhvr>
                                      <p:to x="100000" y="100000"/>
                                    </p:animScale>
                                    <p:animScale>
                                      <p:cBhvr>
                                        <p:cTn id="17" dur="26">
                                          <p:stCondLst>
                                            <p:cond delay="1642"/>
                                          </p:stCondLst>
                                        </p:cTn>
                                        <p:tgtEl>
                                          <p:spTgt spid="27653"/>
                                        </p:tgtEl>
                                      </p:cBhvr>
                                      <p:to x="100000" y="90000"/>
                                    </p:animScale>
                                    <p:animScale>
                                      <p:cBhvr>
                                        <p:cTn id="18" dur="166" decel="50000">
                                          <p:stCondLst>
                                            <p:cond delay="1668"/>
                                          </p:stCondLst>
                                        </p:cTn>
                                        <p:tgtEl>
                                          <p:spTgt spid="27653"/>
                                        </p:tgtEl>
                                      </p:cBhvr>
                                      <p:to x="100000" y="100000"/>
                                    </p:animScale>
                                    <p:animScale>
                                      <p:cBhvr>
                                        <p:cTn id="19" dur="26">
                                          <p:stCondLst>
                                            <p:cond delay="1808"/>
                                          </p:stCondLst>
                                        </p:cTn>
                                        <p:tgtEl>
                                          <p:spTgt spid="27653"/>
                                        </p:tgtEl>
                                      </p:cBhvr>
                                      <p:to x="100000" y="95000"/>
                                    </p:animScale>
                                    <p:animScale>
                                      <p:cBhvr>
                                        <p:cTn id="20" dur="166" decel="50000">
                                          <p:stCondLst>
                                            <p:cond delay="1834"/>
                                          </p:stCondLst>
                                        </p:cTn>
                                        <p:tgtEl>
                                          <p:spTgt spid="2765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idx="4294967295"/>
          </p:nvPr>
        </p:nvSpPr>
        <p:spPr>
          <a:xfrm>
            <a:off x="2438400" y="750889"/>
            <a:ext cx="8229600" cy="1449387"/>
          </a:xfrm>
        </p:spPr>
        <p:txBody>
          <a:bodyPr/>
          <a:lstStyle/>
          <a:p>
            <a:pPr eaLnBrk="1" hangingPunct="1"/>
            <a:r>
              <a:rPr lang="en-US" sz="3600">
                <a:solidFill>
                  <a:schemeClr val="bg1"/>
                </a:solidFill>
                <a:latin typeface="Berlin Sans FB" panose="020E0602020502020306" pitchFamily="34" charset="0"/>
              </a:rPr>
              <a:t>7. Communication is who says what in which channel to whom with what _____.</a:t>
            </a:r>
          </a:p>
        </p:txBody>
      </p:sp>
      <p:sp>
        <p:nvSpPr>
          <p:cNvPr id="79875" name="Content Placeholder 2"/>
          <p:cNvSpPr>
            <a:spLocks noGrp="1"/>
          </p:cNvSpPr>
          <p:nvPr>
            <p:ph idx="4294967295"/>
          </p:nvPr>
        </p:nvSpPr>
        <p:spPr>
          <a:xfrm>
            <a:off x="2667000" y="2201864"/>
            <a:ext cx="7386638" cy="2598737"/>
          </a:xfrm>
        </p:spPr>
        <p:txBody>
          <a:bodyPr>
            <a:normAutofit lnSpcReduction="10000"/>
          </a:bodyPr>
          <a:lstStyle/>
          <a:p>
            <a:pPr marL="0" indent="0">
              <a:buNone/>
            </a:pPr>
            <a:r>
              <a:rPr lang="en-US" sz="3600">
                <a:solidFill>
                  <a:schemeClr val="bg1"/>
                </a:solidFill>
                <a:latin typeface="Berlin Sans FB" panose="020E0602020502020306" pitchFamily="34" charset="0"/>
              </a:rPr>
              <a:t>A. Source</a:t>
            </a:r>
          </a:p>
          <a:p>
            <a:pPr marL="0" indent="0">
              <a:buNone/>
            </a:pPr>
            <a:r>
              <a:rPr lang="en-US" sz="3600">
                <a:solidFill>
                  <a:schemeClr val="bg1"/>
                </a:solidFill>
                <a:latin typeface="Berlin Sans FB" panose="020E0602020502020306" pitchFamily="34" charset="0"/>
              </a:rPr>
              <a:t>B. Message</a:t>
            </a:r>
          </a:p>
          <a:p>
            <a:pPr marL="0" indent="0">
              <a:buNone/>
            </a:pPr>
            <a:r>
              <a:rPr lang="en-US" sz="3600">
                <a:solidFill>
                  <a:schemeClr val="bg1"/>
                </a:solidFill>
                <a:latin typeface="Berlin Sans FB" panose="020E0602020502020306" pitchFamily="34" charset="0"/>
              </a:rPr>
              <a:t>C. Channel</a:t>
            </a:r>
          </a:p>
          <a:p>
            <a:pPr marL="0" indent="0">
              <a:buNone/>
            </a:pPr>
            <a:r>
              <a:rPr lang="en-US" sz="3600">
                <a:solidFill>
                  <a:schemeClr val="bg1"/>
                </a:solidFill>
                <a:latin typeface="Berlin Sans FB" panose="020E0602020502020306" pitchFamily="34" charset="0"/>
              </a:rPr>
              <a:t>D. Effect</a:t>
            </a:r>
          </a:p>
        </p:txBody>
      </p:sp>
      <p:sp>
        <p:nvSpPr>
          <p:cNvPr id="28677" name="Text Box 5"/>
          <p:cNvSpPr txBox="1">
            <a:spLocks noChangeArrowheads="1"/>
          </p:cNvSpPr>
          <p:nvPr/>
        </p:nvSpPr>
        <p:spPr bwMode="auto">
          <a:xfrm>
            <a:off x="2667000" y="50292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rPr>
              <a:t>D. effect</a:t>
            </a:r>
          </a:p>
        </p:txBody>
      </p:sp>
    </p:spTree>
    <p:extLst>
      <p:ext uri="{BB962C8B-B14F-4D97-AF65-F5344CB8AC3E}">
        <p14:creationId xmlns:p14="http://schemas.microsoft.com/office/powerpoint/2010/main" val="288072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down)">
                                      <p:cBhvr>
                                        <p:cTn id="7" dur="580">
                                          <p:stCondLst>
                                            <p:cond delay="0"/>
                                          </p:stCondLst>
                                        </p:cTn>
                                        <p:tgtEl>
                                          <p:spTgt spid="28677"/>
                                        </p:tgtEl>
                                      </p:cBhvr>
                                    </p:animEffect>
                                    <p:anim calcmode="lin" valueType="num">
                                      <p:cBhvr>
                                        <p:cTn id="8" dur="1822" tmFilter="0,0; 0.14,0.36; 0.43,0.73; 0.71,0.91; 1.0,1.0">
                                          <p:stCondLst>
                                            <p:cond delay="0"/>
                                          </p:stCondLst>
                                        </p:cTn>
                                        <p:tgtEl>
                                          <p:spTgt spid="2867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867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867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867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8677"/>
                                        </p:tgtEl>
                                        <p:attrNameLst>
                                          <p:attrName>ppt_y</p:attrName>
                                        </p:attrNameLst>
                                      </p:cBhvr>
                                      <p:tavLst>
                                        <p:tav tm="0" fmla="#ppt_y-sin(pi*$)/81">
                                          <p:val>
                                            <p:fltVal val="0"/>
                                          </p:val>
                                        </p:tav>
                                        <p:tav tm="100000">
                                          <p:val>
                                            <p:fltVal val="1"/>
                                          </p:val>
                                        </p:tav>
                                      </p:tavLst>
                                    </p:anim>
                                    <p:animScale>
                                      <p:cBhvr>
                                        <p:cTn id="13" dur="26">
                                          <p:stCondLst>
                                            <p:cond delay="650"/>
                                          </p:stCondLst>
                                        </p:cTn>
                                        <p:tgtEl>
                                          <p:spTgt spid="28677"/>
                                        </p:tgtEl>
                                      </p:cBhvr>
                                      <p:to x="100000" y="60000"/>
                                    </p:animScale>
                                    <p:animScale>
                                      <p:cBhvr>
                                        <p:cTn id="14" dur="166" decel="50000">
                                          <p:stCondLst>
                                            <p:cond delay="676"/>
                                          </p:stCondLst>
                                        </p:cTn>
                                        <p:tgtEl>
                                          <p:spTgt spid="28677"/>
                                        </p:tgtEl>
                                      </p:cBhvr>
                                      <p:to x="100000" y="100000"/>
                                    </p:animScale>
                                    <p:animScale>
                                      <p:cBhvr>
                                        <p:cTn id="15" dur="26">
                                          <p:stCondLst>
                                            <p:cond delay="1312"/>
                                          </p:stCondLst>
                                        </p:cTn>
                                        <p:tgtEl>
                                          <p:spTgt spid="28677"/>
                                        </p:tgtEl>
                                      </p:cBhvr>
                                      <p:to x="100000" y="80000"/>
                                    </p:animScale>
                                    <p:animScale>
                                      <p:cBhvr>
                                        <p:cTn id="16" dur="166" decel="50000">
                                          <p:stCondLst>
                                            <p:cond delay="1338"/>
                                          </p:stCondLst>
                                        </p:cTn>
                                        <p:tgtEl>
                                          <p:spTgt spid="28677"/>
                                        </p:tgtEl>
                                      </p:cBhvr>
                                      <p:to x="100000" y="100000"/>
                                    </p:animScale>
                                    <p:animScale>
                                      <p:cBhvr>
                                        <p:cTn id="17" dur="26">
                                          <p:stCondLst>
                                            <p:cond delay="1642"/>
                                          </p:stCondLst>
                                        </p:cTn>
                                        <p:tgtEl>
                                          <p:spTgt spid="28677"/>
                                        </p:tgtEl>
                                      </p:cBhvr>
                                      <p:to x="100000" y="90000"/>
                                    </p:animScale>
                                    <p:animScale>
                                      <p:cBhvr>
                                        <p:cTn id="18" dur="166" decel="50000">
                                          <p:stCondLst>
                                            <p:cond delay="1668"/>
                                          </p:stCondLst>
                                        </p:cTn>
                                        <p:tgtEl>
                                          <p:spTgt spid="28677"/>
                                        </p:tgtEl>
                                      </p:cBhvr>
                                      <p:to x="100000" y="100000"/>
                                    </p:animScale>
                                    <p:animScale>
                                      <p:cBhvr>
                                        <p:cTn id="19" dur="26">
                                          <p:stCondLst>
                                            <p:cond delay="1808"/>
                                          </p:stCondLst>
                                        </p:cTn>
                                        <p:tgtEl>
                                          <p:spTgt spid="28677"/>
                                        </p:tgtEl>
                                      </p:cBhvr>
                                      <p:to x="100000" y="95000"/>
                                    </p:animScale>
                                    <p:animScale>
                                      <p:cBhvr>
                                        <p:cTn id="20" dur="166" decel="50000">
                                          <p:stCondLst>
                                            <p:cond delay="1834"/>
                                          </p:stCondLst>
                                        </p:cTn>
                                        <p:tgtEl>
                                          <p:spTgt spid="2867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3506" y="1720840"/>
            <a:ext cx="6984989" cy="1754326"/>
          </a:xfrm>
          <a:prstGeom prst="rect">
            <a:avLst/>
          </a:prstGeom>
          <a:noFill/>
        </p:spPr>
        <p:txBody>
          <a:bodyPr wrap="none">
            <a:spAutoFit/>
          </a:bodyPr>
          <a:lstStyle/>
          <a:p>
            <a:pPr algn="ctr">
              <a:defRPr/>
            </a:pPr>
            <a:r>
              <a:rPr lang="en-PH" sz="5400" b="1" kern="10" dirty="0">
                <a:ln w="9525">
                  <a:solidFill>
                    <a:schemeClr val="bg1"/>
                  </a:solidFill>
                  <a:prstDash val="solid"/>
                </a:ln>
                <a:effectLst>
                  <a:outerShdw blurRad="12700" dist="38100" dir="2700000" algn="tl" rotWithShape="0">
                    <a:schemeClr val="accent5">
                      <a:lumMod val="60000"/>
                      <a:lumOff val="40000"/>
                    </a:schemeClr>
                  </a:outerShdw>
                </a:effectLst>
                <a:latin typeface="Arial Black" panose="020B0A04020102020204" pitchFamily="34" charset="0"/>
              </a:rPr>
              <a:t>ELEMENTS OF</a:t>
            </a:r>
          </a:p>
          <a:p>
            <a:pPr algn="ctr">
              <a:defRPr/>
            </a:pPr>
            <a:r>
              <a:rPr lang="en-PH" sz="5400" b="1" kern="10" dirty="0">
                <a:ln w="9525">
                  <a:solidFill>
                    <a:schemeClr val="bg1"/>
                  </a:solidFill>
                  <a:prstDash val="solid"/>
                </a:ln>
                <a:effectLst>
                  <a:outerShdw blurRad="12700" dist="38100" dir="2700000" algn="tl" rotWithShape="0">
                    <a:schemeClr val="accent5">
                      <a:lumMod val="60000"/>
                      <a:lumOff val="40000"/>
                    </a:schemeClr>
                  </a:outerShdw>
                </a:effectLst>
                <a:latin typeface="Arial Black" panose="020B0A04020102020204" pitchFamily="34" charset="0"/>
              </a:rPr>
              <a:t>COMMUNICATION</a:t>
            </a:r>
          </a:p>
        </p:txBody>
      </p:sp>
    </p:spTree>
    <p:extLst>
      <p:ext uri="{BB962C8B-B14F-4D97-AF65-F5344CB8AC3E}">
        <p14:creationId xmlns:p14="http://schemas.microsoft.com/office/powerpoint/2010/main" val="2849616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3200" dirty="0" smtClean="0">
                <a:solidFill>
                  <a:srgbClr val="FF0000"/>
                </a:solidFill>
                <a:latin typeface="Candara" panose="020E0502030303020204" pitchFamily="34" charset="0"/>
              </a:rPr>
              <a:t>Communication is a two way process. </a:t>
            </a:r>
            <a:r>
              <a:rPr lang="en-PH" sz="3200" dirty="0" smtClean="0">
                <a:solidFill>
                  <a:schemeClr val="bg1"/>
                </a:solidFill>
                <a:latin typeface="Candara" panose="020E0502030303020204" pitchFamily="34" charset="0"/>
              </a:rPr>
              <a:t>Both extension worker and the farmer can become the sender and the receiver.</a:t>
            </a:r>
            <a:endParaRPr lang="en-PH" sz="3200"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6111" y="2215167"/>
            <a:ext cx="10403962" cy="1663520"/>
          </a:xfrm>
        </p:spPr>
        <p:txBody>
          <a:bodyPr>
            <a:noAutofit/>
          </a:bodyPr>
          <a:lstStyle/>
          <a:p>
            <a:pPr marL="0" indent="0">
              <a:buNone/>
            </a:pPr>
            <a:r>
              <a:rPr lang="en-PH" sz="3200" dirty="0" smtClean="0">
                <a:solidFill>
                  <a:srgbClr val="FF0000"/>
                </a:solidFill>
                <a:latin typeface="Candara" panose="020E0502030303020204" pitchFamily="34" charset="0"/>
              </a:rPr>
              <a:t>Communication in extension work is purposive</a:t>
            </a:r>
            <a:r>
              <a:rPr lang="en-PH" sz="3200" dirty="0" smtClean="0">
                <a:solidFill>
                  <a:schemeClr val="bg1"/>
                </a:solidFill>
                <a:latin typeface="Candara" panose="020E0502030303020204" pitchFamily="34" charset="0"/>
              </a:rPr>
              <a:t>. This means that extension workers are communicating agricultural messages to farm families to rural areas in order to achieve communication effect, that is , concrete desirable changes in behaviour. </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67381442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652388"/>
            <a:ext cx="9404723" cy="1400530"/>
          </a:xfrm>
        </p:spPr>
        <p:txBody>
          <a:bodyPr/>
          <a:lstStyle/>
          <a:p>
            <a:r>
              <a:rPr lang="en-PH" sz="3200" dirty="0" smtClean="0">
                <a:solidFill>
                  <a:schemeClr val="bg1"/>
                </a:solidFill>
                <a:latin typeface="Candara" panose="020E0502030303020204" pitchFamily="34" charset="0"/>
              </a:rPr>
              <a:t>Specific purposes of communication and relationship in extension/ communication methods are as follow:</a:t>
            </a:r>
            <a:endParaRPr lang="en-PH" sz="3200" dirty="0">
              <a:solidFill>
                <a:schemeClr val="bg1"/>
              </a:solidFill>
              <a:latin typeface="Candara" panose="020E0502030303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435614151"/>
              </p:ext>
            </p:extLst>
          </p:nvPr>
        </p:nvGraphicFramePr>
        <p:xfrm>
          <a:off x="782749" y="2052918"/>
          <a:ext cx="9267104" cy="4389120"/>
        </p:xfrm>
        <a:graphic>
          <a:graphicData uri="http://schemas.openxmlformats.org/drawingml/2006/table">
            <a:tbl>
              <a:tblPr firstRow="1" bandRow="1">
                <a:tableStyleId>{5C22544A-7EE6-4342-B048-85BDC9FD1C3A}</a:tableStyleId>
              </a:tblPr>
              <a:tblGrid>
                <a:gridCol w="4633552"/>
                <a:gridCol w="4633552"/>
              </a:tblGrid>
              <a:tr h="370840">
                <a:tc>
                  <a:txBody>
                    <a:bodyPr/>
                    <a:lstStyle/>
                    <a:p>
                      <a:pPr algn="ctr"/>
                      <a:r>
                        <a:rPr lang="en-PH" sz="2400" dirty="0" smtClean="0">
                          <a:latin typeface="Candara" panose="020E0502030303020204" pitchFamily="34" charset="0"/>
                        </a:rPr>
                        <a:t>Purposes						</a:t>
                      </a:r>
                    </a:p>
                  </a:txBody>
                  <a:tcPr/>
                </a:tc>
                <a:tc>
                  <a:txBody>
                    <a:bodyPr/>
                    <a:lstStyle/>
                    <a:p>
                      <a:pPr algn="ctr"/>
                      <a:r>
                        <a:rPr lang="en-PH" sz="2400" dirty="0" smtClean="0">
                          <a:latin typeface="Candara" panose="020E0502030303020204" pitchFamily="34" charset="0"/>
                        </a:rPr>
                        <a:t>Examples of Extension/</a:t>
                      </a:r>
                      <a:r>
                        <a:rPr lang="en-PH" sz="2400" baseline="0" dirty="0" smtClean="0">
                          <a:latin typeface="Candara" panose="020E0502030303020204" pitchFamily="34" charset="0"/>
                        </a:rPr>
                        <a:t> Communication Methods</a:t>
                      </a:r>
                      <a:endParaRPr lang="en-PH" sz="2400" dirty="0">
                        <a:latin typeface="Candara" panose="020E0502030303020204" pitchFamily="34" charset="0"/>
                      </a:endParaRPr>
                    </a:p>
                  </a:txBody>
                  <a:tcPr/>
                </a:tc>
              </a:tr>
              <a:tr h="370840">
                <a:tc>
                  <a:txBody>
                    <a:bodyPr/>
                    <a:lstStyle/>
                    <a:p>
                      <a:r>
                        <a:rPr lang="en-PH" sz="2400" dirty="0" smtClean="0">
                          <a:latin typeface="Candara" panose="020E0502030303020204" pitchFamily="34" charset="0"/>
                        </a:rPr>
                        <a:t>To inform			</a:t>
                      </a:r>
                      <a:endParaRPr lang="en-PH" sz="2400" dirty="0">
                        <a:latin typeface="Candara" panose="020E0502030303020204" pitchFamily="34" charset="0"/>
                      </a:endParaRPr>
                    </a:p>
                  </a:txBody>
                  <a:tcPr/>
                </a:tc>
                <a:tc>
                  <a:txBody>
                    <a:bodyPr/>
                    <a:lstStyle/>
                    <a:p>
                      <a:r>
                        <a:rPr lang="en-PH" sz="2400" dirty="0" smtClean="0">
                          <a:latin typeface="Candara" panose="020E0502030303020204" pitchFamily="34" charset="0"/>
                        </a:rPr>
                        <a:t>radio, newspaper</a:t>
                      </a:r>
                      <a:endParaRPr lang="en-PH" sz="2400" dirty="0">
                        <a:latin typeface="Candara" panose="020E0502030303020204" pitchFamily="34" charset="0"/>
                      </a:endParaRPr>
                    </a:p>
                  </a:txBody>
                  <a:tcPr/>
                </a:tc>
              </a:tr>
              <a:tr h="370840">
                <a:tc>
                  <a:txBody>
                    <a:bodyPr/>
                    <a:lstStyle/>
                    <a:p>
                      <a:pPr marL="0" indent="0">
                        <a:buNone/>
                      </a:pPr>
                      <a:r>
                        <a:rPr lang="en-PH" sz="2400" dirty="0" smtClean="0">
                          <a:latin typeface="Candara" panose="020E0502030303020204" pitchFamily="34" charset="0"/>
                        </a:rPr>
                        <a:t>To bring about understanding</a:t>
                      </a:r>
                    </a:p>
                  </a:txBody>
                  <a:tcPr/>
                </a:tc>
                <a:tc>
                  <a:txBody>
                    <a:bodyPr/>
                    <a:lstStyle/>
                    <a:p>
                      <a:r>
                        <a:rPr lang="en-PH" sz="2400" dirty="0" smtClean="0">
                          <a:latin typeface="Candara" panose="020E0502030303020204" pitchFamily="34" charset="0"/>
                        </a:rPr>
                        <a:t>Magazine, lecture, meeting</a:t>
                      </a:r>
                      <a:endParaRPr lang="en-PH" sz="2400" dirty="0">
                        <a:latin typeface="Candara" panose="020E0502030303020204" pitchFamily="34" charset="0"/>
                      </a:endParaRPr>
                    </a:p>
                  </a:txBody>
                  <a:tcPr/>
                </a:tc>
              </a:tr>
              <a:tr h="370840">
                <a:tc>
                  <a:txBody>
                    <a:bodyPr/>
                    <a:lstStyle/>
                    <a:p>
                      <a:r>
                        <a:rPr lang="en-PH" sz="2400" dirty="0" smtClean="0">
                          <a:latin typeface="Candara" panose="020E0502030303020204" pitchFamily="34" charset="0"/>
                        </a:rPr>
                        <a:t>To motivate</a:t>
                      </a:r>
                      <a:endParaRPr lang="en-PH" sz="2400" dirty="0">
                        <a:latin typeface="Candara" panose="020E0502030303020204" pitchFamily="34" charset="0"/>
                      </a:endParaRPr>
                    </a:p>
                  </a:txBody>
                  <a:tcPr/>
                </a:tc>
                <a:tc>
                  <a:txBody>
                    <a:bodyPr/>
                    <a:lstStyle/>
                    <a:p>
                      <a:r>
                        <a:rPr lang="en-PH" sz="2400" dirty="0" smtClean="0">
                          <a:latin typeface="Candara" panose="020E0502030303020204" pitchFamily="34" charset="0"/>
                        </a:rPr>
                        <a:t>Extension bulletin</a:t>
                      </a:r>
                      <a:endParaRPr lang="en-PH" sz="2400" dirty="0">
                        <a:latin typeface="Candara" panose="020E0502030303020204" pitchFamily="34" charset="0"/>
                      </a:endParaRPr>
                    </a:p>
                  </a:txBody>
                  <a:tcPr/>
                </a:tc>
              </a:tr>
              <a:tr h="370840">
                <a:tc>
                  <a:txBody>
                    <a:bodyPr/>
                    <a:lstStyle/>
                    <a:p>
                      <a:pPr marL="0" indent="0">
                        <a:buNone/>
                      </a:pPr>
                      <a:r>
                        <a:rPr lang="en-PH" sz="2400" dirty="0" smtClean="0">
                          <a:latin typeface="Candara" panose="020E0502030303020204" pitchFamily="34" charset="0"/>
                        </a:rPr>
                        <a:t>To persuade</a:t>
                      </a:r>
                    </a:p>
                  </a:txBody>
                  <a:tcPr/>
                </a:tc>
                <a:tc>
                  <a:txBody>
                    <a:bodyPr/>
                    <a:lstStyle/>
                    <a:p>
                      <a:r>
                        <a:rPr lang="en-PH" sz="2400" dirty="0" smtClean="0">
                          <a:latin typeface="Candara" panose="020E0502030303020204" pitchFamily="34" charset="0"/>
                        </a:rPr>
                        <a:t>Discussion group</a:t>
                      </a:r>
                      <a:endParaRPr lang="en-PH" sz="2400" dirty="0">
                        <a:latin typeface="Candara" panose="020E0502030303020204" pitchFamily="34" charset="0"/>
                      </a:endParaRP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PH" sz="2400" dirty="0" smtClean="0">
                          <a:latin typeface="Candara" panose="020E0502030303020204" pitchFamily="34" charset="0"/>
                        </a:rPr>
                        <a:t>To learn a new skill</a:t>
                      </a:r>
                    </a:p>
                  </a:txBody>
                  <a:tcPr/>
                </a:tc>
                <a:tc>
                  <a:txBody>
                    <a:bodyPr/>
                    <a:lstStyle/>
                    <a:p>
                      <a:r>
                        <a:rPr lang="en-PH" sz="2400" dirty="0" smtClean="0">
                          <a:latin typeface="Candara" panose="020E0502030303020204" pitchFamily="34" charset="0"/>
                        </a:rPr>
                        <a:t>Method demonstration</a:t>
                      </a:r>
                      <a:endParaRPr lang="en-PH" sz="2400" dirty="0">
                        <a:latin typeface="Candara" panose="020E0502030303020204" pitchFamily="34" charset="0"/>
                      </a:endParaRPr>
                    </a:p>
                  </a:txBody>
                  <a:tcPr/>
                </a:tc>
              </a:tr>
              <a:tr h="370840">
                <a:tc>
                  <a:txBody>
                    <a:bodyPr/>
                    <a:lstStyle/>
                    <a:p>
                      <a:r>
                        <a:rPr lang="en-PH" sz="2400" dirty="0" smtClean="0">
                          <a:latin typeface="Candara" panose="020E0502030303020204" pitchFamily="34" charset="0"/>
                        </a:rPr>
                        <a:t>To change or adopt a new practice</a:t>
                      </a:r>
                      <a:endParaRPr lang="en-PH" sz="2400" dirty="0">
                        <a:latin typeface="Candara" panose="020E0502030303020204" pitchFamily="34" charset="0"/>
                      </a:endParaRPr>
                    </a:p>
                  </a:txBody>
                  <a:tcPr/>
                </a:tc>
                <a:tc>
                  <a:txBody>
                    <a:bodyPr/>
                    <a:lstStyle/>
                    <a:p>
                      <a:r>
                        <a:rPr lang="en-PH" sz="2400" dirty="0" smtClean="0">
                          <a:latin typeface="Candara" panose="020E0502030303020204" pitchFamily="34" charset="0"/>
                        </a:rPr>
                        <a:t>Leaflet, illustrated comics</a:t>
                      </a:r>
                      <a:endParaRPr lang="en-PH" sz="2400" dirty="0">
                        <a:latin typeface="Candara" panose="020E0502030303020204" pitchFamily="34" charset="0"/>
                      </a:endParaRP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PH" sz="2400" dirty="0" smtClean="0">
                          <a:latin typeface="Candara" panose="020E0502030303020204" pitchFamily="34" charset="0"/>
                        </a:rPr>
                        <a:t>To entertain</a:t>
                      </a:r>
                    </a:p>
                    <a:p>
                      <a:endParaRPr lang="en-PH" sz="2400" dirty="0">
                        <a:latin typeface="Candara" panose="020E0502030303020204" pitchFamily="34" charset="0"/>
                      </a:endParaRPr>
                    </a:p>
                  </a:txBody>
                  <a:tcPr/>
                </a:tc>
                <a:tc>
                  <a:txBody>
                    <a:bodyPr/>
                    <a:lstStyle/>
                    <a:p>
                      <a:r>
                        <a:rPr lang="en-PH" sz="2400" dirty="0" smtClean="0">
                          <a:latin typeface="Candara" panose="020E0502030303020204" pitchFamily="34" charset="0"/>
                        </a:rPr>
                        <a:t>Radio/ TV jingle, Mini drama</a:t>
                      </a:r>
                      <a:endParaRPr lang="en-PH" sz="2400" dirty="0">
                        <a:latin typeface="Candara" panose="020E0502030303020204" pitchFamily="34" charset="0"/>
                      </a:endParaRPr>
                    </a:p>
                  </a:txBody>
                  <a:tcPr/>
                </a:tc>
              </a:tr>
            </a:tbl>
          </a:graphicData>
        </a:graphic>
      </p:graphicFrame>
    </p:spTree>
    <p:extLst>
      <p:ext uri="{BB962C8B-B14F-4D97-AF65-F5344CB8AC3E}">
        <p14:creationId xmlns:p14="http://schemas.microsoft.com/office/powerpoint/2010/main" val="354807413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dirty="0" smtClean="0">
                <a:solidFill>
                  <a:schemeClr val="bg1"/>
                </a:solidFill>
                <a:latin typeface="Tahoma" panose="020B0604030504040204" pitchFamily="34" charset="0"/>
                <a:ea typeface="Tahoma" panose="020B0604030504040204" pitchFamily="34" charset="0"/>
                <a:cs typeface="Tahoma" panose="020B0604030504040204" pitchFamily="34" charset="0"/>
              </a:rPr>
              <a:t>Communication as an Educational Process</a:t>
            </a:r>
            <a:endParaRPr lang="en-PH"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03312" y="2052918"/>
            <a:ext cx="8946541" cy="2905448"/>
          </a:xfrm>
        </p:spPr>
        <p:txBody>
          <a:bodyPr>
            <a:normAutofit fontScale="92500" lnSpcReduction="20000"/>
          </a:bodyPr>
          <a:lstStyle/>
          <a:p>
            <a:pPr marL="0" indent="0" algn="r">
              <a:buNone/>
            </a:pPr>
            <a:r>
              <a:rPr lang="en-PH" sz="3200" dirty="0" smtClean="0">
                <a:solidFill>
                  <a:schemeClr val="bg1"/>
                </a:solidFill>
                <a:latin typeface="Tahoma" panose="020B0604030504040204" pitchFamily="34" charset="0"/>
                <a:ea typeface="Tahoma" panose="020B0604030504040204" pitchFamily="34" charset="0"/>
                <a:cs typeface="Tahoma" panose="020B0604030504040204" pitchFamily="34" charset="0"/>
              </a:rPr>
              <a:t>Chinese proverb says: </a:t>
            </a:r>
          </a:p>
          <a:p>
            <a:pPr marL="0" indent="0" algn="r">
              <a:buNone/>
            </a:pPr>
            <a:r>
              <a:rPr lang="en-PH" sz="3200" dirty="0" smtClean="0">
                <a:solidFill>
                  <a:schemeClr val="bg1"/>
                </a:solidFill>
                <a:latin typeface="Tahoma" panose="020B0604030504040204" pitchFamily="34" charset="0"/>
                <a:ea typeface="Tahoma" panose="020B0604030504040204" pitchFamily="34" charset="0"/>
                <a:cs typeface="Tahoma" panose="020B0604030504040204" pitchFamily="34" charset="0"/>
              </a:rPr>
              <a:t>“ Give a man a fish and he will eat for a day, teach him how to fish and he will eat for a lifetime”.</a:t>
            </a:r>
          </a:p>
          <a:p>
            <a:pPr marL="0" indent="0">
              <a:buNone/>
            </a:pPr>
            <a:endParaRPr lang="en-PH" sz="32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PH" sz="3200" dirty="0" smtClean="0">
                <a:solidFill>
                  <a:schemeClr val="bg1"/>
                </a:solidFill>
                <a:latin typeface="Tahoma" panose="020B0604030504040204" pitchFamily="34" charset="0"/>
                <a:ea typeface="Tahoma" panose="020B0604030504040204" pitchFamily="34" charset="0"/>
                <a:cs typeface="Tahoma" panose="020B0604030504040204" pitchFamily="34" charset="0"/>
              </a:rPr>
              <a:t>This may very well guide the extension worker in performing his role as a rural educator. </a:t>
            </a:r>
          </a:p>
          <a:p>
            <a:pPr marL="0" indent="0">
              <a:buNone/>
            </a:pPr>
            <a:endParaRPr lang="en-PH"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pPr>
            <a:endParaRPr lang="en-PH"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2740273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7804" y="227635"/>
            <a:ext cx="9989063" cy="785239"/>
          </a:xfrm>
        </p:spPr>
        <p:txBody>
          <a:bodyPr/>
          <a:lstStyle/>
          <a:p>
            <a:pPr algn="ctr"/>
            <a:r>
              <a:rPr lang="en-PH" sz="40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Attributes of Communication as a Process</a:t>
            </a:r>
            <a:endParaRPr lang="en-PH" sz="40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779755" y="1293263"/>
            <a:ext cx="10361857" cy="4195481"/>
          </a:xfrm>
        </p:spPr>
        <p:txBody>
          <a:bodyPr>
            <a:noAutofit/>
          </a:bodyPr>
          <a:lstStyle/>
          <a:p>
            <a:pPr marL="0" indent="0">
              <a:buNone/>
            </a:pPr>
            <a:r>
              <a:rPr lang="en-PH" sz="28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DYNAMIC</a:t>
            </a:r>
            <a:endParaRPr lang="en-PH" sz="2800" b="1"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Communication is ever-changing. </a:t>
            </a:r>
            <a:endParaRPr lang="en-PH" sz="28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It has no beginning and ending.</a:t>
            </a:r>
            <a:endParaRPr lang="en-PH" sz="28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PH" sz="28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SYSTEMIC</a:t>
            </a:r>
          </a:p>
          <a:p>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Consist of group of elements which interacts each other and the system as a whole.</a:t>
            </a:r>
          </a:p>
          <a:p>
            <a:pPr marL="0" indent="0">
              <a:buNone/>
            </a:pPr>
            <a:r>
              <a:rPr lang="en-PH" sz="28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MEANING IS PERSONALLY CONSTRUCTED</a:t>
            </a:r>
          </a:p>
          <a:p>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No 2 people construct the same meaning even if they hear or see the same thing. </a:t>
            </a:r>
          </a:p>
          <a:p>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Each of us is unique so we interpret in unique ways.</a:t>
            </a:r>
            <a:endParaRPr lang="en-PH" sz="28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428537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446627" y="557408"/>
            <a:ext cx="8458200" cy="763588"/>
          </a:xfrm>
        </p:spPr>
        <p:txBody>
          <a:bodyPr/>
          <a:lstStyle/>
          <a:p>
            <a:pPr algn="ctr" eaLnBrk="1" hangingPunct="1">
              <a:defRPr/>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ELEMENTS OF COMMUNICATION</a:t>
            </a:r>
          </a:p>
        </p:txBody>
      </p:sp>
      <p:sp>
        <p:nvSpPr>
          <p:cNvPr id="71683" name="Rectangle 3"/>
          <p:cNvSpPr>
            <a:spLocks noGrp="1" noChangeArrowheads="1"/>
          </p:cNvSpPr>
          <p:nvPr>
            <p:ph idx="1"/>
          </p:nvPr>
        </p:nvSpPr>
        <p:spPr>
          <a:xfrm>
            <a:off x="970670" y="1460085"/>
            <a:ext cx="9629751" cy="4699000"/>
          </a:xfrm>
        </p:spPr>
        <p:txBody>
          <a:bodyPr rtlCol="0">
            <a:noAutofit/>
          </a:bodyPr>
          <a:lstStyle/>
          <a:p>
            <a:pPr marL="0" indent="0">
              <a:buNone/>
              <a:defRPr/>
            </a:pPr>
            <a:r>
              <a:rPr lang="en-US" sz="2600" b="1" dirty="0">
                <a:solidFill>
                  <a:schemeClr val="bg1"/>
                </a:solidFill>
                <a:latin typeface="Tahoma" panose="020B0604030504040204" pitchFamily="34" charset="0"/>
                <a:ea typeface="Tahoma" panose="020B0604030504040204" pitchFamily="34" charset="0"/>
                <a:cs typeface="Tahoma" panose="020B0604030504040204" pitchFamily="34" charset="0"/>
              </a:rPr>
              <a:t>1. Source</a:t>
            </a:r>
            <a:r>
              <a:rPr lang="en-US" sz="2600" dirty="0">
                <a:solidFill>
                  <a:schemeClr val="bg1"/>
                </a:solidFill>
                <a:latin typeface="Tahoma" panose="020B0604030504040204" pitchFamily="34" charset="0"/>
                <a:ea typeface="Tahoma" panose="020B0604030504040204" pitchFamily="34" charset="0"/>
                <a:cs typeface="Tahoma" panose="020B0604030504040204" pitchFamily="34" charset="0"/>
              </a:rPr>
              <a:t> – A person( group of persons, an organization, an agency, institution, etc.)  sending out his ideas.</a:t>
            </a: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r>
              <a:rPr lang="en-US" sz="2600" b="1" dirty="0">
                <a:solidFill>
                  <a:schemeClr val="bg1"/>
                </a:solidFill>
                <a:latin typeface="Tahoma" panose="020B0604030504040204" pitchFamily="34" charset="0"/>
                <a:ea typeface="Tahoma" panose="020B0604030504040204" pitchFamily="34" charset="0"/>
                <a:cs typeface="Tahoma" panose="020B0604030504040204" pitchFamily="34" charset="0"/>
              </a:rPr>
              <a:t>2. Message</a:t>
            </a:r>
            <a:r>
              <a:rPr lang="en-US" sz="2600" dirty="0">
                <a:solidFill>
                  <a:schemeClr val="bg1"/>
                </a:solidFill>
                <a:latin typeface="Tahoma" panose="020B0604030504040204" pitchFamily="34" charset="0"/>
                <a:ea typeface="Tahoma" panose="020B0604030504040204" pitchFamily="34" charset="0"/>
                <a:cs typeface="Tahoma" panose="020B0604030504040204" pitchFamily="34" charset="0"/>
              </a:rPr>
              <a:t> – An idea being shared between 2 or more persons (group or persons, an organization, an agency, institutions, etc.).  This idea may be in the form of skills, new knowledge, or favorable attitudes. </a:t>
            </a: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r>
              <a:rPr lang="en-US" sz="2600" b="1" dirty="0">
                <a:solidFill>
                  <a:schemeClr val="bg1"/>
                </a:solidFill>
                <a:latin typeface="Tahoma" panose="020B0604030504040204" pitchFamily="34" charset="0"/>
                <a:ea typeface="Tahoma" panose="020B0604030504040204" pitchFamily="34" charset="0"/>
                <a:cs typeface="Tahoma" panose="020B0604030504040204" pitchFamily="34" charset="0"/>
              </a:rPr>
              <a:t>3. Channel</a:t>
            </a:r>
            <a:r>
              <a:rPr lang="en-US" sz="2600" dirty="0">
                <a:solidFill>
                  <a:schemeClr val="bg1"/>
                </a:solidFill>
                <a:latin typeface="Tahoma" panose="020B0604030504040204" pitchFamily="34" charset="0"/>
                <a:ea typeface="Tahoma" panose="020B0604030504040204" pitchFamily="34" charset="0"/>
                <a:cs typeface="Tahoma" panose="020B0604030504040204" pitchFamily="34" charset="0"/>
              </a:rPr>
              <a:t> – The method by which the idea is conveyed. It may be verbally expressed either orally or in print, or it may be sent through illustrations, pictures, etc.</a:t>
            </a: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457200" indent="-457200">
              <a:buFont typeface="Arial" panose="020B0604020202020204" pitchFamily="34" charset="0"/>
              <a:buAutoNum type="arabicPeriod"/>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96770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981200" y="152400"/>
            <a:ext cx="8458200" cy="763588"/>
          </a:xfrm>
        </p:spPr>
        <p:txBody>
          <a:bodyPr/>
          <a:lstStyle/>
          <a:p>
            <a:pPr algn="ctr" eaLnBrk="1" hangingPunct="1">
              <a:defRPr/>
            </a:pPr>
            <a:r>
              <a:rPr lang="en-US" sz="3600" dirty="0">
                <a:solidFill>
                  <a:schemeClr val="bg1"/>
                </a:solidFill>
                <a:latin typeface="Tahoma" panose="020B0604030504040204" pitchFamily="34" charset="0"/>
                <a:ea typeface="Tahoma" panose="020B0604030504040204" pitchFamily="34" charset="0"/>
                <a:cs typeface="Tahoma" panose="020B0604030504040204" pitchFamily="34" charset="0"/>
              </a:rPr>
              <a:t>ELEMENTS OF COMMUNICATION</a:t>
            </a:r>
          </a:p>
        </p:txBody>
      </p:sp>
      <p:sp>
        <p:nvSpPr>
          <p:cNvPr id="71683" name="Rectangle 3"/>
          <p:cNvSpPr>
            <a:spLocks noGrp="1" noChangeArrowheads="1"/>
          </p:cNvSpPr>
          <p:nvPr>
            <p:ph idx="1"/>
          </p:nvPr>
        </p:nvSpPr>
        <p:spPr>
          <a:xfrm>
            <a:off x="773723" y="1066800"/>
            <a:ext cx="9437077" cy="5334000"/>
          </a:xfrm>
        </p:spPr>
        <p:txBody>
          <a:bodyPr rtlCol="0">
            <a:noAutofit/>
          </a:bodyPr>
          <a:lstStyle/>
          <a:p>
            <a:pPr eaLnBrk="1" hangingPunct="1">
              <a:buFontTx/>
              <a:buNone/>
              <a:defRPr/>
            </a:pPr>
            <a:r>
              <a:rPr lang="en-PH" sz="2800" dirty="0">
                <a:solidFill>
                  <a:schemeClr val="bg1"/>
                </a:solidFill>
                <a:latin typeface="Tahoma" panose="020B0604030504040204" pitchFamily="34" charset="0"/>
                <a:ea typeface="Tahoma" panose="020B0604030504040204" pitchFamily="34" charset="0"/>
                <a:cs typeface="Tahoma" panose="020B0604030504040204" pitchFamily="34" charset="0"/>
              </a:rPr>
              <a:t>4. </a:t>
            </a:r>
            <a:r>
              <a:rPr lang="en-PH" sz="2800" b="1" dirty="0">
                <a:solidFill>
                  <a:schemeClr val="bg1"/>
                </a:solidFill>
                <a:latin typeface="Tahoma" panose="020B0604030504040204" pitchFamily="34" charset="0"/>
                <a:ea typeface="Tahoma" panose="020B0604030504040204" pitchFamily="34" charset="0"/>
                <a:cs typeface="Tahoma" panose="020B0604030504040204" pitchFamily="34" charset="0"/>
              </a:rPr>
              <a:t>Receivers </a:t>
            </a:r>
            <a:r>
              <a:rPr lang="en-PH" sz="2800" dirty="0">
                <a:solidFill>
                  <a:schemeClr val="bg1"/>
                </a:solidFill>
                <a:latin typeface="Tahoma" panose="020B0604030504040204" pitchFamily="34" charset="0"/>
                <a:ea typeface="Tahoma" panose="020B0604030504040204" pitchFamily="34" charset="0"/>
                <a:cs typeface="Tahoma" panose="020B0604030504040204" pitchFamily="34" charset="0"/>
              </a:rPr>
              <a:t>– Another person (or another group of persons, an organization, an agency, institutions, </a:t>
            </a:r>
            <a:r>
              <a:rPr lang="en-PH" sz="2800" dirty="0" err="1">
                <a:solidFill>
                  <a:schemeClr val="bg1"/>
                </a:solidFill>
                <a:latin typeface="Tahoma" panose="020B0604030504040204" pitchFamily="34" charset="0"/>
                <a:ea typeface="Tahoma" panose="020B0604030504040204" pitchFamily="34" charset="0"/>
                <a:cs typeface="Tahoma" panose="020B0604030504040204" pitchFamily="34" charset="0"/>
              </a:rPr>
              <a:t>etc</a:t>
            </a:r>
            <a:r>
              <a:rPr lang="en-PH" sz="2800" dirty="0">
                <a:solidFill>
                  <a:schemeClr val="bg1"/>
                </a:solidFill>
                <a:latin typeface="Tahoma" panose="020B0604030504040204" pitchFamily="34" charset="0"/>
                <a:ea typeface="Tahoma" panose="020B0604030504040204" pitchFamily="34" charset="0"/>
                <a:cs typeface="Tahoma" panose="020B0604030504040204" pitchFamily="34" charset="0"/>
              </a:rPr>
              <a:t>) receiving the idea.  They are the targets of a communication</a:t>
            </a:r>
          </a:p>
          <a:p>
            <a:pPr eaLnBrk="1" hangingPunct="1">
              <a:buFontTx/>
              <a:buNone/>
              <a:defRPr/>
            </a:pPr>
            <a:endParaRPr lang="en-PH"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eaLnBrk="1" hangingPunct="1">
              <a:buFontTx/>
              <a:buNone/>
              <a:defRPr/>
            </a:pP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5. </a:t>
            </a:r>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Effect</a:t>
            </a: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 – The desired goal of communication 	planned by the source one of a positive change in 	behavior on the part of the receiver. Example: 	change in knowledge, skills, or attitudes for better 	rural living. </a:t>
            </a:r>
          </a:p>
          <a:p>
            <a:pPr eaLnBrk="1" hangingPunct="1">
              <a:buFontTx/>
              <a:buNone/>
              <a:defRPr/>
            </a:pP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	It is the consequence of the communication 	transaction.</a:t>
            </a: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0" indent="0">
              <a:buNone/>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marL="457200" indent="-457200">
              <a:buFont typeface="Arial" panose="020B0604020202020204" pitchFamily="34" charset="0"/>
              <a:buAutoNum type="arabicPeriod"/>
              <a:defRPr/>
            </a:pPr>
            <a:endParaRPr lang="en-US" sz="2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16715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201" y="241703"/>
            <a:ext cx="9404723" cy="757104"/>
          </a:xfrm>
        </p:spPr>
        <p:txBody>
          <a:bodyPr/>
          <a:lstStyle/>
          <a:p>
            <a:pPr algn="ctr"/>
            <a:r>
              <a:rPr lang="en-PH" sz="36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The source</a:t>
            </a:r>
            <a:endParaRPr lang="en-PH" sz="36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5415" y="1252026"/>
            <a:ext cx="10128739" cy="4195481"/>
          </a:xfrm>
        </p:spPr>
        <p:txBody>
          <a:bodyPr>
            <a:noAutofit/>
          </a:bodyPr>
          <a:lstStyle/>
          <a:p>
            <a:pPr marL="0" indent="0">
              <a:buNone/>
            </a:pP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An </a:t>
            </a:r>
            <a:r>
              <a:rPr lang="en-PH" sz="2800" dirty="0" err="1"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extensionist</a:t>
            </a: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 must be credible- it determines the acceptability or rejection of the idea by the group.</a:t>
            </a:r>
          </a:p>
          <a:p>
            <a:pPr marL="0" indent="0">
              <a:buNone/>
            </a:pPr>
            <a:endParaRPr lang="en-PH" sz="28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Characteristics of the Source:</a:t>
            </a:r>
          </a:p>
          <a:p>
            <a:pPr marL="0" indent="0">
              <a:buNone/>
            </a:pP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I. </a:t>
            </a:r>
            <a:r>
              <a:rPr lang="en-PH" sz="2800" b="1" dirty="0" err="1"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Homophily</a:t>
            </a:r>
            <a:endParaRPr lang="en-PH" sz="28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Refers to the degree perceive the source as similar to him or her in certain attributes such as age, sex, language.</a:t>
            </a:r>
          </a:p>
          <a:p>
            <a:pPr marL="0" indent="0">
              <a:buNone/>
            </a:pPr>
            <a:r>
              <a:rPr lang="en-PH" sz="2800" dirty="0" err="1"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Homophily</a:t>
            </a:r>
            <a:r>
              <a:rPr lang="en-PH" sz="28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 of source and receiver in certain attributes contributes to effective communication.</a:t>
            </a:r>
          </a:p>
        </p:txBody>
      </p:sp>
    </p:spTree>
    <p:extLst>
      <p:ext uri="{BB962C8B-B14F-4D97-AF65-F5344CB8AC3E}">
        <p14:creationId xmlns:p14="http://schemas.microsoft.com/office/powerpoint/2010/main" val="164467974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201" y="241703"/>
            <a:ext cx="9404723" cy="757104"/>
          </a:xfrm>
        </p:spPr>
        <p:txBody>
          <a:bodyPr/>
          <a:lstStyle/>
          <a:p>
            <a:pPr algn="ctr"/>
            <a:r>
              <a:rPr lang="en-PH" sz="36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The source</a:t>
            </a:r>
            <a:endParaRPr lang="en-PH" sz="36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5415" y="1252026"/>
            <a:ext cx="10128739" cy="5008097"/>
          </a:xfrm>
        </p:spPr>
        <p:txBody>
          <a:bodyPr>
            <a:noAutofit/>
          </a:bodyPr>
          <a:lstStyle/>
          <a:p>
            <a:pPr marL="0" indent="0">
              <a:buNone/>
            </a:pPr>
            <a:r>
              <a:rPr lang="en-PH" sz="3200" b="1" i="1"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Dimensions of Credibility:</a:t>
            </a:r>
          </a:p>
          <a:p>
            <a:pPr marL="514350" indent="-514350">
              <a:buAutoNum type="alphaUcPeriod"/>
            </a:pPr>
            <a:r>
              <a:rPr lang="en-PH" sz="3200" u="sng"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Character Dimension-</a:t>
            </a:r>
            <a:r>
              <a:rPr lang="en-PH" sz="32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honest, trustworthy, friendly, 									reliable, pleasant, etc.</a:t>
            </a:r>
          </a:p>
          <a:p>
            <a:pPr marL="514350" indent="-514350">
              <a:buAutoNum type="alphaUcPeriod"/>
            </a:pPr>
            <a:r>
              <a:rPr lang="en-PH" sz="3200" u="sng"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Competence Dimension-</a:t>
            </a:r>
            <a:r>
              <a:rPr lang="en-PH" sz="32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well-trained, competent, 							intelligent, experienced, witty, etc.</a:t>
            </a:r>
          </a:p>
          <a:p>
            <a:pPr marL="514350" indent="-514350">
              <a:buAutoNum type="alphaUcPeriod"/>
            </a:pPr>
            <a:r>
              <a:rPr lang="en-PH" sz="3200" u="sng"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Composure Dimension-</a:t>
            </a:r>
            <a:r>
              <a:rPr lang="en-PH" sz="32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confidence, poise, dignity, 							level-headedness</a:t>
            </a:r>
          </a:p>
          <a:p>
            <a:pPr marL="514350" indent="-514350">
              <a:buAutoNum type="alphaUcPeriod"/>
            </a:pPr>
            <a:r>
              <a:rPr lang="en-PH" sz="3200" u="sng"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Dynamism Dimension-</a:t>
            </a:r>
            <a:r>
              <a:rPr lang="en-PH" sz="32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bold, aggressive, extrovert </a:t>
            </a:r>
          </a:p>
        </p:txBody>
      </p:sp>
    </p:spTree>
    <p:extLst>
      <p:ext uri="{BB962C8B-B14F-4D97-AF65-F5344CB8AC3E}">
        <p14:creationId xmlns:p14="http://schemas.microsoft.com/office/powerpoint/2010/main" val="40757745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334851" y="365126"/>
            <a:ext cx="10623881" cy="1325563"/>
          </a:xfrm>
        </p:spPr>
        <p:txBody>
          <a:bodyPr/>
          <a:lstStyle/>
          <a:p>
            <a:pPr eaLnBrk="1" hangingPunct="1"/>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Message – The message is an idea, thought, feeling or 	attitude being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shared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in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the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communication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process</a:t>
            </a:r>
            <a:b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b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 set of symbols arranged deliberately in certain ways in 				order to 	communicate information or meaning.</a:t>
            </a:r>
            <a:endPar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endParaRPr>
          </a:p>
        </p:txBody>
      </p:sp>
      <p:sp>
        <p:nvSpPr>
          <p:cNvPr id="83971" name="Rectangle 3"/>
          <p:cNvSpPr>
            <a:spLocks noGrp="1" noChangeArrowheads="1"/>
          </p:cNvSpPr>
          <p:nvPr>
            <p:ph idx="1"/>
          </p:nvPr>
        </p:nvSpPr>
        <p:spPr>
          <a:xfrm>
            <a:off x="334851" y="2384336"/>
            <a:ext cx="11552349" cy="4924425"/>
          </a:xfrm>
        </p:spPr>
        <p:txBody>
          <a:bodyPr>
            <a:normAutofit/>
          </a:bodyPr>
          <a:lstStyle/>
          <a:p>
            <a:pPr marL="0" indent="0">
              <a:buNone/>
            </a:pPr>
            <a:r>
              <a:rPr lang="en-US" sz="2800" i="1"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A message has at least 3 elements: content, code, and treatment:</a:t>
            </a:r>
          </a:p>
          <a:p>
            <a:pPr marL="0" indent="0">
              <a:buNone/>
            </a:pPr>
            <a:r>
              <a:rPr lang="en-US" sz="2800" b="1"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1. Content–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refers to the meanings (ideas or feelings)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communicated</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a:t>
            </a:r>
          </a:p>
          <a:p>
            <a:pPr marL="0" indent="0">
              <a:buNone/>
            </a:pPr>
            <a:r>
              <a:rPr lang="en-US" sz="2800" b="1"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2. Code –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refers to the symbols through which meanings are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expressed</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These are the words, sounds, and other actions that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can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be communicated with both voice and body.</a:t>
            </a:r>
          </a:p>
          <a:p>
            <a:pPr marL="0" indent="0">
              <a:buNone/>
            </a:pP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3</a:t>
            </a:r>
            <a:r>
              <a:rPr lang="en-US" sz="2800" b="1"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Treatment –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refers to the form or organization of the meanings.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It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has to do with how the different meanings will be arranged </a:t>
            </a:r>
            <a:r>
              <a:rPr lang="en-US" sz="2800" dirty="0" smtClean="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	so </a:t>
            </a:r>
            <a:r>
              <a:rPr lang="en-US" sz="2800" dirty="0">
                <a:solidFill>
                  <a:schemeClr val="bg1">
                    <a:lumMod val="95000"/>
                    <a:lumOff val="5000"/>
                  </a:schemeClr>
                </a:solidFill>
                <a:latin typeface="Candara" panose="020E0502030303020204" pitchFamily="34" charset="0"/>
                <a:ea typeface="Tahoma" panose="020B0604030504040204" pitchFamily="34" charset="0"/>
                <a:cs typeface="Tahoma" panose="020B0604030504040204" pitchFamily="34" charset="0"/>
              </a:rPr>
              <a:t>that the overall meaning will be easily understood.</a:t>
            </a:r>
          </a:p>
        </p:txBody>
      </p:sp>
    </p:spTree>
    <p:extLst>
      <p:ext uri="{BB962C8B-B14F-4D97-AF65-F5344CB8AC3E}">
        <p14:creationId xmlns:p14="http://schemas.microsoft.com/office/powerpoint/2010/main" val="811980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515" y="143229"/>
            <a:ext cx="9404723" cy="757104"/>
          </a:xfrm>
        </p:spPr>
        <p:txBody>
          <a:bodyPr/>
          <a:lstStyle/>
          <a:p>
            <a:r>
              <a:rPr lang="en-PH" sz="4000" dirty="0" smtClean="0">
                <a:solidFill>
                  <a:schemeClr val="bg1">
                    <a:lumMod val="95000"/>
                    <a:lumOff val="5000"/>
                  </a:schemeClr>
                </a:solidFill>
                <a:latin typeface="Candara" panose="020E0502030303020204" pitchFamily="34" charset="0"/>
              </a:rPr>
              <a:t>Categories of Non-verbal Communication</a:t>
            </a:r>
            <a:endParaRPr lang="en-PH" sz="4000" dirty="0">
              <a:solidFill>
                <a:schemeClr val="bg1">
                  <a:lumMod val="95000"/>
                  <a:lumOff val="5000"/>
                </a:schemeClr>
              </a:solidFill>
              <a:latin typeface="Candara" panose="020E0502030303020204" pitchFamily="34" charset="0"/>
            </a:endParaRPr>
          </a:p>
        </p:txBody>
      </p:sp>
      <p:sp>
        <p:nvSpPr>
          <p:cNvPr id="3" name="Content Placeholder 2"/>
          <p:cNvSpPr>
            <a:spLocks noGrp="1"/>
          </p:cNvSpPr>
          <p:nvPr>
            <p:ph idx="1"/>
          </p:nvPr>
        </p:nvSpPr>
        <p:spPr>
          <a:xfrm>
            <a:off x="534572" y="900333"/>
            <a:ext cx="11043139" cy="4195481"/>
          </a:xfrm>
        </p:spPr>
        <p:txBody>
          <a:bodyPr>
            <a:noAutofit/>
          </a:bodyPr>
          <a:lstStyle/>
          <a:p>
            <a:pPr marL="0" indent="0">
              <a:buNone/>
            </a:pPr>
            <a:r>
              <a:rPr lang="en-PH" sz="24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1. Physical</a:t>
            </a:r>
          </a:p>
          <a:p>
            <a:pPr>
              <a:buFont typeface="Wingdings" panose="05000000000000000000" pitchFamily="2" charset="2"/>
              <a:buChar char="Ø"/>
            </a:pPr>
            <a:r>
              <a:rPr lang="en-PH" sz="24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The personal type of communication</a:t>
            </a:r>
          </a:p>
          <a:p>
            <a:pPr>
              <a:buFont typeface="Wingdings" panose="05000000000000000000" pitchFamily="2" charset="2"/>
              <a:buChar char="Ø"/>
            </a:pPr>
            <a:r>
              <a:rPr lang="en-PH" sz="24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Includes facial expression, tone of voice, sense of sight and smell and body motion.</a:t>
            </a:r>
          </a:p>
          <a:p>
            <a:pPr marL="0" indent="0">
              <a:buNone/>
            </a:pPr>
            <a:r>
              <a:rPr lang="en-PH" sz="24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2. Aesthetic (ART)</a:t>
            </a:r>
          </a:p>
          <a:p>
            <a:pPr>
              <a:buFont typeface="Wingdings" panose="05000000000000000000" pitchFamily="2" charset="2"/>
              <a:buChar char="Ø"/>
            </a:pPr>
            <a:r>
              <a:rPr lang="en-PH" sz="24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Communication that takes place through expressions: playing instrument, dancing, painting, etc.</a:t>
            </a:r>
          </a:p>
          <a:p>
            <a:pPr marL="0" indent="0">
              <a:buNone/>
            </a:pPr>
            <a:r>
              <a:rPr lang="en-PH" sz="24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3. Signs</a:t>
            </a:r>
          </a:p>
          <a:p>
            <a:pPr>
              <a:buFont typeface="Wingdings" panose="05000000000000000000" pitchFamily="2" charset="2"/>
              <a:buChar char="Ø"/>
            </a:pPr>
            <a:r>
              <a:rPr lang="en-PH" sz="24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Mechanical type of communication that include signal flags, 21-gun salute, horn, sirens.</a:t>
            </a:r>
          </a:p>
          <a:p>
            <a:pPr marL="0" indent="0">
              <a:buNone/>
            </a:pPr>
            <a:r>
              <a:rPr lang="en-PH" sz="2400" b="1"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4. Symbolic</a:t>
            </a:r>
          </a:p>
          <a:p>
            <a:pPr>
              <a:buFont typeface="Wingdings" panose="05000000000000000000" pitchFamily="2" charset="2"/>
              <a:buChar char="Ø"/>
            </a:pPr>
            <a:r>
              <a:rPr lang="en-PH" sz="2400" dirty="0" smtClean="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rPr>
              <a:t>Makes use of religious that makes use of religious status, or ego-building symbols.</a:t>
            </a:r>
            <a:endParaRPr lang="en-PH" sz="2400" dirty="0">
              <a:solidFill>
                <a:schemeClr val="bg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767947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323929"/>
            <a:ext cx="9404723" cy="732138"/>
          </a:xfrm>
        </p:spPr>
        <p:txBody>
          <a:bodyPr/>
          <a:lstStyle/>
          <a:p>
            <a:r>
              <a:rPr lang="en-PH" sz="3600" dirty="0" smtClean="0">
                <a:solidFill>
                  <a:schemeClr val="bg1"/>
                </a:solidFill>
                <a:latin typeface="Candara" panose="020E0502030303020204" pitchFamily="34" charset="0"/>
              </a:rPr>
              <a:t>Message meaning and understanding</a:t>
            </a:r>
            <a:endParaRPr lang="en-PH" sz="3600" dirty="0">
              <a:solidFill>
                <a:schemeClr val="bg1"/>
              </a:solidFill>
              <a:latin typeface="Candara" panose="020E0502030303020204" pitchFamily="34" charset="0"/>
            </a:endParaRPr>
          </a:p>
        </p:txBody>
      </p:sp>
      <p:sp>
        <p:nvSpPr>
          <p:cNvPr id="3" name="Content Placeholder 2"/>
          <p:cNvSpPr>
            <a:spLocks noGrp="1"/>
          </p:cNvSpPr>
          <p:nvPr>
            <p:ph idx="1"/>
          </p:nvPr>
        </p:nvSpPr>
        <p:spPr>
          <a:xfrm>
            <a:off x="691188" y="1280186"/>
            <a:ext cx="8946541" cy="4195481"/>
          </a:xfrm>
        </p:spPr>
        <p:txBody>
          <a:bodyPr>
            <a:normAutofit/>
          </a:bodyPr>
          <a:lstStyle/>
          <a:p>
            <a:pPr marL="0" indent="0">
              <a:buNone/>
            </a:pPr>
            <a:r>
              <a:rPr lang="en-PH" sz="2800" dirty="0" smtClean="0">
                <a:solidFill>
                  <a:schemeClr val="bg1"/>
                </a:solidFill>
                <a:latin typeface="Candara" panose="020E0502030303020204" pitchFamily="34" charset="0"/>
              </a:rPr>
              <a:t>Meaning are in people.</a:t>
            </a:r>
          </a:p>
          <a:p>
            <a:pPr marL="0" indent="0">
              <a:buNone/>
            </a:pPr>
            <a:r>
              <a:rPr lang="en-PH" sz="2800" dirty="0" smtClean="0">
                <a:solidFill>
                  <a:schemeClr val="bg1"/>
                </a:solidFill>
                <a:latin typeface="Candara" panose="020E0502030303020204" pitchFamily="34" charset="0"/>
              </a:rPr>
              <a:t>Meanings are never fixed. As experience changes, meaning change.</a:t>
            </a:r>
          </a:p>
          <a:p>
            <a:r>
              <a:rPr lang="en-PH" sz="2800" dirty="0" smtClean="0">
                <a:solidFill>
                  <a:schemeClr val="bg1"/>
                </a:solidFill>
                <a:latin typeface="Candara" panose="020E0502030303020204" pitchFamily="34" charset="0"/>
              </a:rPr>
              <a:t>Denotative - the sign-object relationship</a:t>
            </a:r>
          </a:p>
          <a:p>
            <a:r>
              <a:rPr lang="en-PH" sz="2800" dirty="0" smtClean="0">
                <a:solidFill>
                  <a:schemeClr val="bg1"/>
                </a:solidFill>
                <a:latin typeface="Candara" panose="020E0502030303020204" pitchFamily="34" charset="0"/>
              </a:rPr>
              <a:t>Connotative- meaning associated with the personal experiences of the person using the word.</a:t>
            </a:r>
          </a:p>
        </p:txBody>
      </p:sp>
    </p:spTree>
    <p:extLst>
      <p:ext uri="{BB962C8B-B14F-4D97-AF65-F5344CB8AC3E}">
        <p14:creationId xmlns:p14="http://schemas.microsoft.com/office/powerpoint/2010/main" val="355977914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1068945" y="393880"/>
            <a:ext cx="9259911" cy="1325563"/>
          </a:xfrm>
        </p:spPr>
        <p:txBody>
          <a:bodyPr/>
          <a:lstStyle/>
          <a:p>
            <a:pPr eaLnBrk="1" hangingPunct="1"/>
            <a:r>
              <a:rPr lang="en-US" sz="3600" dirty="0" smtClean="0">
                <a:solidFill>
                  <a:schemeClr val="bg1"/>
                </a:solidFill>
                <a:latin typeface="Berlin Sans FB" panose="020E0602020502020306" pitchFamily="34" charset="0"/>
              </a:rPr>
              <a:t>Channels- various methods available to any 	communicator to reach his audience with the 	message. </a:t>
            </a:r>
            <a:endParaRPr lang="en-US" sz="3600" dirty="0">
              <a:solidFill>
                <a:schemeClr val="bg1"/>
              </a:solidFill>
              <a:latin typeface="Berlin Sans FB" panose="020E0602020502020306" pitchFamily="34" charset="0"/>
            </a:endParaRPr>
          </a:p>
        </p:txBody>
      </p:sp>
      <p:sp>
        <p:nvSpPr>
          <p:cNvPr id="92163" name="Content Placeholder 2"/>
          <p:cNvSpPr>
            <a:spLocks noGrp="1"/>
          </p:cNvSpPr>
          <p:nvPr>
            <p:ph idx="1"/>
          </p:nvPr>
        </p:nvSpPr>
        <p:spPr>
          <a:xfrm>
            <a:off x="1068945" y="2395471"/>
            <a:ext cx="7886700" cy="4351338"/>
          </a:xfrm>
        </p:spPr>
        <p:txBody>
          <a:bodyPr rtlCol="0">
            <a:normAutofit/>
          </a:bodyPr>
          <a:lstStyle/>
          <a:p>
            <a:pPr marL="0" indent="0">
              <a:buNone/>
              <a:defRPr/>
            </a:pPr>
            <a:r>
              <a:rPr lang="en-US" sz="4800" dirty="0">
                <a:solidFill>
                  <a:schemeClr val="bg1"/>
                </a:solidFill>
                <a:latin typeface="Berlin Sans FB" panose="020E0602020502020306" pitchFamily="34" charset="0"/>
              </a:rPr>
              <a:t>1. visual</a:t>
            </a:r>
          </a:p>
          <a:p>
            <a:pPr eaLnBrk="1" hangingPunct="1">
              <a:buFontTx/>
              <a:buNone/>
              <a:defRPr/>
            </a:pPr>
            <a:r>
              <a:rPr lang="en-US" sz="4800" dirty="0">
                <a:solidFill>
                  <a:schemeClr val="bg1"/>
                </a:solidFill>
                <a:latin typeface="Berlin Sans FB" panose="020E0602020502020306" pitchFamily="34" charset="0"/>
              </a:rPr>
              <a:t>2. spoken/written/verbal</a:t>
            </a:r>
          </a:p>
        </p:txBody>
      </p:sp>
    </p:spTree>
    <p:extLst>
      <p:ext uri="{BB962C8B-B14F-4D97-AF65-F5344CB8AC3E}">
        <p14:creationId xmlns:p14="http://schemas.microsoft.com/office/powerpoint/2010/main" val="728907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819" y="198360"/>
            <a:ext cx="11281894" cy="6318350"/>
          </a:xfrm>
        </p:spPr>
        <p:txBody>
          <a:bodyPr>
            <a:normAutofit/>
          </a:bodyPr>
          <a:lstStyle/>
          <a:p>
            <a:pPr marL="0" indent="0">
              <a:buNone/>
            </a:pPr>
            <a:r>
              <a:rPr lang="en-PH" sz="2400" b="1" dirty="0" smtClean="0">
                <a:solidFill>
                  <a:schemeClr val="bg1"/>
                </a:solidFill>
                <a:latin typeface="Candara" panose="020E0502030303020204" pitchFamily="34" charset="0"/>
              </a:rPr>
              <a:t>Receiver-</a:t>
            </a:r>
            <a:r>
              <a:rPr lang="en-PH" sz="2400" dirty="0" smtClean="0">
                <a:solidFill>
                  <a:schemeClr val="bg1"/>
                </a:solidFill>
                <a:latin typeface="Candara" panose="020E0502030303020204" pitchFamily="34" charset="0"/>
              </a:rPr>
              <a:t> the audience in extension education is composed of farmers, homemakers and youth.</a:t>
            </a:r>
          </a:p>
          <a:p>
            <a:pPr marL="0" indent="0" algn="ctr">
              <a:buNone/>
            </a:pPr>
            <a:r>
              <a:rPr lang="en-PH" sz="2400" b="1" u="sng" dirty="0" smtClean="0">
                <a:solidFill>
                  <a:schemeClr val="bg1"/>
                </a:solidFill>
                <a:latin typeface="Candara" panose="020E0502030303020204" pitchFamily="34" charset="0"/>
              </a:rPr>
              <a:t>Receiver Characteristics</a:t>
            </a:r>
          </a:p>
          <a:p>
            <a:pPr marL="0" indent="0">
              <a:buNone/>
            </a:pPr>
            <a:r>
              <a:rPr lang="en-PH" sz="2400" i="1" dirty="0" smtClean="0">
                <a:solidFill>
                  <a:schemeClr val="bg1"/>
                </a:solidFill>
                <a:latin typeface="Candara" panose="020E0502030303020204" pitchFamily="34" charset="0"/>
              </a:rPr>
              <a:t>Psychological orientation- </a:t>
            </a:r>
            <a:r>
              <a:rPr lang="en-PH" sz="2400" dirty="0" smtClean="0">
                <a:solidFill>
                  <a:schemeClr val="bg1"/>
                </a:solidFill>
                <a:latin typeface="Candara" panose="020E0502030303020204" pitchFamily="34" charset="0"/>
              </a:rPr>
              <a:t>psychological factors that are salient to a receivers </a:t>
            </a:r>
            <a:r>
              <a:rPr lang="en-PH" sz="2400" dirty="0" err="1" smtClean="0">
                <a:solidFill>
                  <a:schemeClr val="bg1"/>
                </a:solidFill>
                <a:latin typeface="Candara" panose="020E0502030303020204" pitchFamily="34" charset="0"/>
              </a:rPr>
              <a:t>persuasibility</a:t>
            </a:r>
            <a:r>
              <a:rPr lang="en-PH" sz="2400" dirty="0" smtClean="0">
                <a:solidFill>
                  <a:schemeClr val="bg1"/>
                </a:solidFill>
                <a:latin typeface="Candara" panose="020E0502030303020204" pitchFamily="34" charset="0"/>
              </a:rPr>
              <a:t>.</a:t>
            </a:r>
          </a:p>
          <a:p>
            <a:pPr marL="0" indent="0" algn="ctr">
              <a:buNone/>
            </a:pPr>
            <a:r>
              <a:rPr lang="en-PH" sz="2400" b="1" u="sng" dirty="0" smtClean="0">
                <a:solidFill>
                  <a:schemeClr val="bg1"/>
                </a:solidFill>
                <a:latin typeface="Candara" panose="020E0502030303020204" pitchFamily="34" charset="0"/>
              </a:rPr>
              <a:t>Selective processes: </a:t>
            </a:r>
          </a:p>
          <a:p>
            <a:pPr marL="0" indent="0">
              <a:buNone/>
            </a:pPr>
            <a:r>
              <a:rPr lang="en-PH" sz="2400" dirty="0" smtClean="0">
                <a:solidFill>
                  <a:schemeClr val="bg1"/>
                </a:solidFill>
                <a:latin typeface="Candara" panose="020E0502030303020204" pitchFamily="34" charset="0"/>
              </a:rPr>
              <a:t>1</a:t>
            </a:r>
            <a:r>
              <a:rPr lang="en-PH" sz="2400" b="1" i="1" dirty="0" smtClean="0">
                <a:solidFill>
                  <a:schemeClr val="bg1"/>
                </a:solidFill>
                <a:latin typeface="Candara" panose="020E0502030303020204" pitchFamily="34" charset="0"/>
              </a:rPr>
              <a:t>. Selective exposure- </a:t>
            </a:r>
            <a:r>
              <a:rPr lang="en-PH" sz="2400" dirty="0" smtClean="0">
                <a:solidFill>
                  <a:schemeClr val="bg1"/>
                </a:solidFill>
                <a:latin typeface="Candara" panose="020E0502030303020204" pitchFamily="34" charset="0"/>
              </a:rPr>
              <a:t>receivers tend to expose her/himself only to info that agrees 	with her existing behaviour</a:t>
            </a:r>
          </a:p>
          <a:p>
            <a:pPr marL="0" indent="0">
              <a:buNone/>
            </a:pPr>
            <a:r>
              <a:rPr lang="en-PH" sz="2400" b="1" i="1" dirty="0" smtClean="0">
                <a:solidFill>
                  <a:schemeClr val="bg1"/>
                </a:solidFill>
                <a:latin typeface="Candara" panose="020E0502030303020204" pitchFamily="34" charset="0"/>
              </a:rPr>
              <a:t>2. Selective perception- </a:t>
            </a:r>
            <a:r>
              <a:rPr lang="en-PH" sz="2400" dirty="0" smtClean="0">
                <a:solidFill>
                  <a:schemeClr val="bg1"/>
                </a:solidFill>
                <a:latin typeface="Candara" panose="020E0502030303020204" pitchFamily="34" charset="0"/>
              </a:rPr>
              <a:t>receivers tend to notice or assign meaning only </a:t>
            </a:r>
            <a:r>
              <a:rPr lang="en-PH" sz="2400" dirty="0">
                <a:solidFill>
                  <a:schemeClr val="bg1"/>
                </a:solidFill>
                <a:latin typeface="Candara" panose="020E0502030303020204" pitchFamily="34" charset="0"/>
              </a:rPr>
              <a:t>to messages </a:t>
            </a:r>
            <a:r>
              <a:rPr lang="en-PH" sz="2400" dirty="0" smtClean="0">
                <a:solidFill>
                  <a:schemeClr val="bg1"/>
                </a:solidFill>
                <a:latin typeface="Candara" panose="020E0502030303020204" pitchFamily="34" charset="0"/>
              </a:rPr>
              <a:t>	that </a:t>
            </a:r>
            <a:r>
              <a:rPr lang="en-PH" sz="2400" dirty="0">
                <a:solidFill>
                  <a:schemeClr val="bg1"/>
                </a:solidFill>
                <a:latin typeface="Candara" panose="020E0502030303020204" pitchFamily="34" charset="0"/>
              </a:rPr>
              <a:t>are meaningful for him or is of interest to </a:t>
            </a:r>
            <a:r>
              <a:rPr lang="en-PH" sz="2400" dirty="0" smtClean="0">
                <a:solidFill>
                  <a:schemeClr val="bg1"/>
                </a:solidFill>
                <a:latin typeface="Candara" panose="020E0502030303020204" pitchFamily="34" charset="0"/>
              </a:rPr>
              <a:t>him</a:t>
            </a:r>
          </a:p>
          <a:p>
            <a:pPr marL="0" indent="0">
              <a:buNone/>
            </a:pPr>
            <a:r>
              <a:rPr lang="en-PH" sz="2400" b="1" i="1" dirty="0" smtClean="0">
                <a:solidFill>
                  <a:schemeClr val="bg1"/>
                </a:solidFill>
                <a:latin typeface="Candara" panose="020E0502030303020204" pitchFamily="34" charset="0"/>
              </a:rPr>
              <a:t>3. Selective retention- </a:t>
            </a:r>
            <a:r>
              <a:rPr lang="en-PH" sz="2400" dirty="0" smtClean="0">
                <a:solidFill>
                  <a:schemeClr val="bg1"/>
                </a:solidFill>
                <a:latin typeface="Candara" panose="020E0502030303020204" pitchFamily="34" charset="0"/>
              </a:rPr>
              <a:t>receivers tend to learn or remember only information that 	agrees with her attitude, belief, behaviour</a:t>
            </a:r>
          </a:p>
          <a:p>
            <a:pPr marL="0" indent="0">
              <a:buNone/>
            </a:pPr>
            <a:r>
              <a:rPr lang="en-PH" sz="2400" b="1" i="1" dirty="0" smtClean="0">
                <a:solidFill>
                  <a:schemeClr val="bg1"/>
                </a:solidFill>
                <a:latin typeface="Candara" panose="020E0502030303020204" pitchFamily="34" charset="0"/>
              </a:rPr>
              <a:t>4. Selective discussion- </a:t>
            </a:r>
            <a:r>
              <a:rPr lang="en-PH" sz="2400" dirty="0" smtClean="0">
                <a:solidFill>
                  <a:schemeClr val="bg1"/>
                </a:solidFill>
                <a:latin typeface="Candara" panose="020E0502030303020204" pitchFamily="34" charset="0"/>
              </a:rPr>
              <a:t>receiver only tend to discuss only those </a:t>
            </a:r>
            <a:r>
              <a:rPr lang="en-PH" sz="2400" dirty="0" err="1" smtClean="0">
                <a:solidFill>
                  <a:schemeClr val="bg1"/>
                </a:solidFill>
                <a:latin typeface="Candara" panose="020E0502030303020204" pitchFamily="34" charset="0"/>
              </a:rPr>
              <a:t>inf</a:t>
            </a:r>
            <a:r>
              <a:rPr lang="en-PH" sz="2400" dirty="0" smtClean="0">
                <a:solidFill>
                  <a:schemeClr val="bg1"/>
                </a:solidFill>
                <a:latin typeface="Candara" panose="020E0502030303020204" pitchFamily="34" charset="0"/>
              </a:rPr>
              <a:t> which </a:t>
            </a:r>
            <a:r>
              <a:rPr lang="en-PH" sz="2400" dirty="0" err="1" smtClean="0">
                <a:solidFill>
                  <a:schemeClr val="bg1"/>
                </a:solidFill>
                <a:latin typeface="Candara" panose="020E0502030303020204" pitchFamily="34" charset="0"/>
              </a:rPr>
              <a:t>migt</a:t>
            </a:r>
            <a:r>
              <a:rPr lang="en-PH" sz="2400" dirty="0" smtClean="0">
                <a:solidFill>
                  <a:schemeClr val="bg1"/>
                </a:solidFill>
                <a:latin typeface="Candara" panose="020E0502030303020204" pitchFamily="34" charset="0"/>
              </a:rPr>
              <a:t> be of 	interest to them </a:t>
            </a:r>
            <a:endParaRPr lang="en-PH" sz="2400" dirty="0">
              <a:solidFill>
                <a:schemeClr val="bg1"/>
              </a:solidFill>
              <a:latin typeface="Candara" panose="020E0502030303020204" pitchFamily="34" charset="0"/>
            </a:endParaRPr>
          </a:p>
          <a:p>
            <a:pPr marL="514350" indent="-514350">
              <a:buAutoNum type="arabicPeriod"/>
            </a:pPr>
            <a:endParaRPr lang="en-PH" sz="2400" dirty="0" smtClean="0">
              <a:solidFill>
                <a:schemeClr val="bg1"/>
              </a:solidFill>
              <a:latin typeface="Candara" panose="020E0502030303020204" pitchFamily="34" charset="0"/>
            </a:endParaRPr>
          </a:p>
          <a:p>
            <a:pPr marL="0" indent="0">
              <a:buNone/>
            </a:pPr>
            <a:endParaRPr lang="en-PH" sz="2400" dirty="0" smtClean="0">
              <a:solidFill>
                <a:schemeClr val="bg1"/>
              </a:solidFill>
              <a:latin typeface="Candara" panose="020E0502030303020204" pitchFamily="34" charset="0"/>
            </a:endParaRPr>
          </a:p>
          <a:p>
            <a:pPr marL="0" indent="0">
              <a:buNone/>
            </a:pPr>
            <a:endParaRPr lang="en-PH" sz="24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8072774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idx="4294967295"/>
          </p:nvPr>
        </p:nvSpPr>
        <p:spPr>
          <a:xfrm>
            <a:off x="1120462" y="898797"/>
            <a:ext cx="10463785" cy="3430588"/>
          </a:xfrm>
        </p:spPr>
        <p:txBody>
          <a:bodyPr/>
          <a:lstStyle/>
          <a:p>
            <a:pPr eaLnBrk="1" hangingPunct="1"/>
            <a:r>
              <a:rPr lang="en-US" sz="3600" b="1" u="sng" dirty="0" smtClean="0">
                <a:solidFill>
                  <a:schemeClr val="bg1"/>
                </a:solidFill>
                <a:latin typeface="Candara" panose="020E0502030303020204" pitchFamily="34" charset="0"/>
              </a:rPr>
              <a:t>Feedback</a:t>
            </a:r>
            <a:r>
              <a:rPr lang="en-US" sz="3600" b="1" dirty="0" smtClean="0">
                <a:solidFill>
                  <a:schemeClr val="bg1"/>
                </a:solidFill>
                <a:latin typeface="Candara" panose="020E0502030303020204" pitchFamily="34" charset="0"/>
              </a:rPr>
              <a:t/>
            </a:r>
            <a:br>
              <a:rPr lang="en-US" sz="3600" b="1" dirty="0" smtClean="0">
                <a:solidFill>
                  <a:schemeClr val="bg1"/>
                </a:solidFill>
                <a:latin typeface="Candara" panose="020E0502030303020204" pitchFamily="34" charset="0"/>
              </a:rPr>
            </a:br>
            <a:r>
              <a:rPr lang="en-US" sz="3600" dirty="0" smtClean="0">
                <a:solidFill>
                  <a:schemeClr val="bg1"/>
                </a:solidFill>
                <a:latin typeface="Candara" panose="020E0502030303020204" pitchFamily="34" charset="0"/>
              </a:rPr>
              <a:t>--refers </a:t>
            </a:r>
            <a:r>
              <a:rPr lang="en-US" sz="3600" dirty="0">
                <a:solidFill>
                  <a:schemeClr val="bg1"/>
                </a:solidFill>
                <a:latin typeface="Candara" panose="020E0502030303020204" pitchFamily="34" charset="0"/>
              </a:rPr>
              <a:t>to the mental or physical response to the </a:t>
            </a:r>
            <a:r>
              <a:rPr lang="en-US" sz="3600" dirty="0" smtClean="0">
                <a:solidFill>
                  <a:schemeClr val="bg1"/>
                </a:solidFill>
                <a:latin typeface="Candara" panose="020E0502030303020204" pitchFamily="34" charset="0"/>
              </a:rPr>
              <a:t>	messages</a:t>
            </a:r>
            <a:r>
              <a:rPr lang="en-US" sz="3600" dirty="0">
                <a:solidFill>
                  <a:schemeClr val="bg1"/>
                </a:solidFill>
                <a:latin typeface="Candara" panose="020E0502030303020204" pitchFamily="34" charset="0"/>
              </a:rPr>
              <a:t>. </a:t>
            </a:r>
            <a:r>
              <a:rPr lang="en-US" sz="3600" dirty="0" smtClean="0">
                <a:solidFill>
                  <a:schemeClr val="bg1"/>
                </a:solidFill>
                <a:latin typeface="Candara" panose="020E0502030303020204" pitchFamily="34" charset="0"/>
              </a:rPr>
              <a:t/>
            </a:r>
            <a:br>
              <a:rPr lang="en-US" sz="3600" dirty="0" smtClean="0">
                <a:solidFill>
                  <a:schemeClr val="bg1"/>
                </a:solidFill>
                <a:latin typeface="Candara" panose="020E0502030303020204" pitchFamily="34" charset="0"/>
              </a:rPr>
            </a:br>
            <a:r>
              <a:rPr lang="en-US" sz="3600" dirty="0" smtClean="0">
                <a:solidFill>
                  <a:schemeClr val="bg1"/>
                </a:solidFill>
                <a:latin typeface="Candara" panose="020E0502030303020204" pitchFamily="34" charset="0"/>
              </a:rPr>
              <a:t>--an important element of effective communication 	which makes it a two-way process.</a:t>
            </a:r>
            <a:br>
              <a:rPr lang="en-US" sz="3600" dirty="0" smtClean="0">
                <a:solidFill>
                  <a:schemeClr val="bg1"/>
                </a:solidFill>
                <a:latin typeface="Candara" panose="020E0502030303020204" pitchFamily="34" charset="0"/>
              </a:rPr>
            </a:br>
            <a:r>
              <a:rPr lang="en-US" sz="3600" dirty="0" smtClean="0">
                <a:solidFill>
                  <a:schemeClr val="bg1"/>
                </a:solidFill>
                <a:latin typeface="Candara" panose="020E0502030303020204" pitchFamily="34" charset="0"/>
              </a:rPr>
              <a:t>--In the absence of any reaction from the receiver, it 	is virtually impossible to gauge the 	appropriateness of the message.</a:t>
            </a:r>
            <a:endParaRPr lang="en-US" sz="3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032088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6333" y="233620"/>
            <a:ext cx="8825658" cy="642144"/>
          </a:xfrm>
        </p:spPr>
        <p:txBody>
          <a:bodyPr/>
          <a:lstStyle/>
          <a:p>
            <a:pPr algn="ctr"/>
            <a:r>
              <a:rPr lang="en-PH" sz="3600" b="1" dirty="0" smtClean="0">
                <a:solidFill>
                  <a:schemeClr val="bg1"/>
                </a:solidFill>
                <a:latin typeface="Candara" panose="020E0502030303020204" pitchFamily="34" charset="0"/>
              </a:rPr>
              <a:t>Different Responses </a:t>
            </a:r>
            <a:endParaRPr lang="en-PH" sz="3600" b="1" dirty="0">
              <a:solidFill>
                <a:schemeClr val="bg1"/>
              </a:solidFill>
              <a:latin typeface="Candara" panose="020E0502030303020204" pitchFamily="34" charset="0"/>
            </a:endParaRPr>
          </a:p>
        </p:txBody>
      </p:sp>
      <p:sp>
        <p:nvSpPr>
          <p:cNvPr id="4" name="Content Placeholder 2"/>
          <p:cNvSpPr txBox="1">
            <a:spLocks/>
          </p:cNvSpPr>
          <p:nvPr/>
        </p:nvSpPr>
        <p:spPr>
          <a:xfrm>
            <a:off x="624172" y="875764"/>
            <a:ext cx="10438780" cy="4980930"/>
          </a:xfrm>
          <a:prstGeom prst="rect">
            <a:avLst/>
          </a:prstGeom>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accent1">
                  <a:lumMod val="60000"/>
                  <a:lumOff val="40000"/>
                </a:schemeClr>
              </a:buClr>
              <a:buSzPct val="80000"/>
              <a:buFont typeface="Wingdings 3" charset="2"/>
              <a:buNone/>
              <a:defRPr sz="2000" b="0" i="0" kern="1200" cap="all">
                <a:solidFill>
                  <a:schemeClr val="accent1">
                    <a:lumMod val="60000"/>
                    <a:lumOff val="40000"/>
                  </a:schemeClr>
                </a:solidFill>
                <a:latin typeface="+mj-lt"/>
                <a:ea typeface="+mj-ea"/>
                <a:cs typeface="+mj-cs"/>
              </a:defRPr>
            </a:lvl1pPr>
            <a:lvl2pPr marL="4572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lumMod val="60000"/>
                  <a:lumOff val="40000"/>
                </a:schemeClr>
              </a:buClr>
              <a:buSzPct val="80000"/>
              <a:buFont typeface="Wingdings 3" charset="2"/>
              <a:buNone/>
              <a:defRPr sz="1400" b="0" i="0" kern="1200">
                <a:solidFill>
                  <a:schemeClr val="tx1">
                    <a:tint val="75000"/>
                  </a:schemeClr>
                </a:solidFill>
                <a:latin typeface="+mj-lt"/>
                <a:ea typeface="+mj-ea"/>
                <a:cs typeface="+mj-cs"/>
              </a:defRPr>
            </a:lvl9pPr>
          </a:lstStyle>
          <a:p>
            <a:r>
              <a:rPr lang="en-PH" sz="2800" b="1" dirty="0" smtClean="0">
                <a:solidFill>
                  <a:schemeClr val="bg1"/>
                </a:solidFill>
                <a:latin typeface="Candara" panose="020E0502030303020204" pitchFamily="34" charset="0"/>
              </a:rPr>
              <a:t>AFFECTIVE </a:t>
            </a:r>
            <a:r>
              <a:rPr lang="en-PH" sz="2800" b="1" dirty="0" smtClean="0">
                <a:solidFill>
                  <a:schemeClr val="bg1"/>
                </a:solidFill>
                <a:latin typeface="Candara" panose="020E0502030303020204" pitchFamily="34" charset="0"/>
              </a:rPr>
              <a:t>RESONANCE</a:t>
            </a:r>
            <a:endParaRPr lang="en-PH" sz="2800" b="1" dirty="0" smtClean="0">
              <a:solidFill>
                <a:schemeClr val="bg1"/>
              </a:solidFill>
              <a:latin typeface="Candara" panose="020E0502030303020204" pitchFamily="34" charset="0"/>
            </a:endParaRPr>
          </a:p>
          <a:p>
            <a:r>
              <a:rPr lang="en-PH" sz="2800" cap="none" dirty="0" smtClean="0">
                <a:solidFill>
                  <a:schemeClr val="bg1"/>
                </a:solidFill>
                <a:latin typeface="Candara" panose="020E0502030303020204" pitchFamily="34" charset="0"/>
              </a:rPr>
              <a:t>	Affective- emotional</a:t>
            </a:r>
          </a:p>
          <a:p>
            <a:r>
              <a:rPr lang="en-PH" sz="2800" cap="none" dirty="0" smtClean="0">
                <a:solidFill>
                  <a:schemeClr val="bg1"/>
                </a:solidFill>
                <a:latin typeface="Candara" panose="020E0502030303020204" pitchFamily="34" charset="0"/>
              </a:rPr>
              <a:t>	Resonance- quality that makes something personally 							meaningful or important to someone</a:t>
            </a:r>
          </a:p>
          <a:p>
            <a:r>
              <a:rPr lang="en-PH" sz="2800" b="1" dirty="0" smtClean="0">
                <a:solidFill>
                  <a:schemeClr val="bg1"/>
                </a:solidFill>
                <a:latin typeface="Candara" panose="020E0502030303020204" pitchFamily="34" charset="0"/>
              </a:rPr>
              <a:t>COGNITIVE DISSONANCE</a:t>
            </a:r>
          </a:p>
          <a:p>
            <a:r>
              <a:rPr lang="en-PH" sz="2800" cap="none" dirty="0" smtClean="0">
                <a:solidFill>
                  <a:schemeClr val="bg1"/>
                </a:solidFill>
                <a:latin typeface="Candara" panose="020E0502030303020204" pitchFamily="34" charset="0"/>
              </a:rPr>
              <a:t>	Cognitive- conscious mental activity</a:t>
            </a:r>
          </a:p>
          <a:p>
            <a:r>
              <a:rPr lang="en-PH" sz="2800" cap="none" dirty="0" smtClean="0">
                <a:solidFill>
                  <a:schemeClr val="bg1"/>
                </a:solidFill>
                <a:latin typeface="Candara" panose="020E0502030303020204" pitchFamily="34" charset="0"/>
              </a:rPr>
              <a:t>	Dissonance- inconsistency between one’s action and one’s 	</a:t>
            </a:r>
            <a:r>
              <a:rPr lang="en-PH" sz="2800" cap="none" dirty="0" smtClean="0">
                <a:solidFill>
                  <a:schemeClr val="bg1"/>
                </a:solidFill>
                <a:latin typeface="Candara" panose="020E0502030303020204" pitchFamily="34" charset="0"/>
              </a:rPr>
              <a:t>belief</a:t>
            </a:r>
            <a:endParaRPr lang="en-PH" sz="2800" cap="none" dirty="0" smtClean="0">
              <a:solidFill>
                <a:schemeClr val="bg1"/>
              </a:solidFill>
              <a:latin typeface="Candara" panose="020E0502030303020204" pitchFamily="34" charset="0"/>
            </a:endParaRPr>
          </a:p>
          <a:p>
            <a:r>
              <a:rPr lang="en-PH" sz="2800" b="1" dirty="0" smtClean="0">
                <a:solidFill>
                  <a:schemeClr val="bg1"/>
                </a:solidFill>
                <a:latin typeface="Candara" panose="020E0502030303020204" pitchFamily="34" charset="0"/>
              </a:rPr>
              <a:t>ACTIVE-REACTIVE </a:t>
            </a:r>
            <a:r>
              <a:rPr lang="en-PH" sz="2800" b="1" dirty="0" smtClean="0">
                <a:solidFill>
                  <a:schemeClr val="bg1"/>
                </a:solidFill>
                <a:latin typeface="Candara" panose="020E0502030303020204" pitchFamily="34" charset="0"/>
              </a:rPr>
              <a:t>RESONANCE</a:t>
            </a:r>
            <a:endParaRPr lang="en-PH" sz="2800" b="1" dirty="0">
              <a:solidFill>
                <a:schemeClr val="bg1"/>
              </a:solidFill>
              <a:latin typeface="Candara" panose="020E0502030303020204" pitchFamily="34" charset="0"/>
            </a:endParaRPr>
          </a:p>
          <a:p>
            <a:r>
              <a:rPr lang="en-PH" sz="2800" b="1" dirty="0" smtClean="0">
                <a:solidFill>
                  <a:schemeClr val="bg1"/>
                </a:solidFill>
                <a:latin typeface="Candara" panose="020E0502030303020204" pitchFamily="34" charset="0"/>
              </a:rPr>
              <a:t>Boomerang effect- </a:t>
            </a:r>
            <a:r>
              <a:rPr lang="en-PH" sz="2800" cap="none" dirty="0" smtClean="0">
                <a:solidFill>
                  <a:schemeClr val="bg1"/>
                </a:solidFill>
                <a:latin typeface="Candara" panose="020E0502030303020204" pitchFamily="34" charset="0"/>
              </a:rPr>
              <a:t>a shift opposite to the direction that is intended</a:t>
            </a:r>
            <a:endParaRPr lang="en-PH" sz="2800" cap="none"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7693100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154807" y="379413"/>
            <a:ext cx="9521779" cy="2211387"/>
          </a:xfrm>
        </p:spPr>
        <p:txBody>
          <a:bodyPr/>
          <a:lstStyle/>
          <a:p>
            <a:pPr eaLnBrk="1" hangingPunct="1"/>
            <a:r>
              <a:rPr lang="en-US" sz="3200" b="1" dirty="0">
                <a:solidFill>
                  <a:schemeClr val="accent1">
                    <a:lumMod val="50000"/>
                  </a:schemeClr>
                </a:solidFill>
                <a:latin typeface="Candara" panose="020E0502030303020204" pitchFamily="34" charset="0"/>
              </a:rPr>
              <a:t>Noise – </a:t>
            </a:r>
            <a:r>
              <a:rPr lang="en-US" sz="3200" dirty="0">
                <a:solidFill>
                  <a:schemeClr val="accent1">
                    <a:lumMod val="50000"/>
                  </a:schemeClr>
                </a:solidFill>
                <a:latin typeface="Candara" panose="020E0502030303020204" pitchFamily="34" charset="0"/>
              </a:rPr>
              <a:t>is any stimulus that gets in the way 	of </a:t>
            </a:r>
            <a:r>
              <a:rPr lang="en-US" sz="3200" dirty="0" smtClean="0">
                <a:solidFill>
                  <a:schemeClr val="accent1">
                    <a:lumMod val="50000"/>
                  </a:schemeClr>
                </a:solidFill>
                <a:latin typeface="Candara" panose="020E0502030303020204" pitchFamily="34" charset="0"/>
              </a:rPr>
              <a:t>					sharing </a:t>
            </a:r>
            <a:r>
              <a:rPr lang="en-US" sz="3200" dirty="0">
                <a:solidFill>
                  <a:schemeClr val="accent1">
                    <a:lumMod val="50000"/>
                  </a:schemeClr>
                </a:solidFill>
                <a:latin typeface="Candara" panose="020E0502030303020204" pitchFamily="34" charset="0"/>
              </a:rPr>
              <a:t>meaning.  Much of your </a:t>
            </a:r>
            <a:r>
              <a:rPr lang="en-US" sz="3200" dirty="0" smtClean="0">
                <a:solidFill>
                  <a:schemeClr val="accent1">
                    <a:lumMod val="50000"/>
                  </a:schemeClr>
                </a:solidFill>
                <a:latin typeface="Candara" panose="020E0502030303020204" pitchFamily="34" charset="0"/>
              </a:rPr>
              <a:t>success </a:t>
            </a:r>
            <a:r>
              <a:rPr lang="en-US" sz="3200" dirty="0">
                <a:solidFill>
                  <a:schemeClr val="accent1">
                    <a:lumMod val="50000"/>
                  </a:schemeClr>
                </a:solidFill>
                <a:latin typeface="Candara" panose="020E0502030303020204" pitchFamily="34" charset="0"/>
              </a:rPr>
              <a:t>as a </a:t>
            </a:r>
            <a:r>
              <a:rPr lang="en-US" sz="3200" dirty="0" smtClean="0">
                <a:solidFill>
                  <a:schemeClr val="accent1">
                    <a:lumMod val="50000"/>
                  </a:schemeClr>
                </a:solidFill>
                <a:latin typeface="Candara" panose="020E0502030303020204" pitchFamily="34" charset="0"/>
              </a:rPr>
              <a:t>			communicator </a:t>
            </a:r>
            <a:r>
              <a:rPr lang="en-US" sz="3200" dirty="0">
                <a:solidFill>
                  <a:schemeClr val="accent1">
                    <a:lumMod val="50000"/>
                  </a:schemeClr>
                </a:solidFill>
                <a:latin typeface="Candara" panose="020E0502030303020204" pitchFamily="34" charset="0"/>
              </a:rPr>
              <a:t>depends on </a:t>
            </a:r>
            <a:r>
              <a:rPr lang="en-US" sz="3200" dirty="0" smtClean="0">
                <a:solidFill>
                  <a:schemeClr val="accent1">
                    <a:lumMod val="50000"/>
                  </a:schemeClr>
                </a:solidFill>
                <a:latin typeface="Candara" panose="020E0502030303020204" pitchFamily="34" charset="0"/>
              </a:rPr>
              <a:t>how </a:t>
            </a:r>
            <a:r>
              <a:rPr lang="en-US" sz="3200" dirty="0">
                <a:solidFill>
                  <a:schemeClr val="accent1">
                    <a:lumMod val="50000"/>
                  </a:schemeClr>
                </a:solidFill>
                <a:latin typeface="Candara" panose="020E0502030303020204" pitchFamily="34" charset="0"/>
              </a:rPr>
              <a:t>you cope with </a:t>
            </a:r>
            <a:r>
              <a:rPr lang="en-US" sz="3200" dirty="0" smtClean="0">
                <a:solidFill>
                  <a:schemeClr val="accent1">
                    <a:lumMod val="50000"/>
                  </a:schemeClr>
                </a:solidFill>
                <a:latin typeface="Candara" panose="020E0502030303020204" pitchFamily="34" charset="0"/>
              </a:rPr>
              <a:t>		the</a:t>
            </a:r>
            <a:r>
              <a:rPr lang="en-US" sz="3200" dirty="0">
                <a:solidFill>
                  <a:schemeClr val="accent1">
                    <a:lumMod val="50000"/>
                  </a:schemeClr>
                </a:solidFill>
                <a:latin typeface="Candara" panose="020E0502030303020204" pitchFamily="34" charset="0"/>
              </a:rPr>
              <a:t>:</a:t>
            </a:r>
            <a:br>
              <a:rPr lang="en-US" sz="3200" dirty="0">
                <a:solidFill>
                  <a:schemeClr val="accent1">
                    <a:lumMod val="50000"/>
                  </a:schemeClr>
                </a:solidFill>
                <a:latin typeface="Candara" panose="020E0502030303020204" pitchFamily="34" charset="0"/>
              </a:rPr>
            </a:br>
            <a:endParaRPr lang="en-US" sz="3200" dirty="0">
              <a:solidFill>
                <a:schemeClr val="accent1">
                  <a:lumMod val="50000"/>
                </a:schemeClr>
              </a:solidFill>
              <a:latin typeface="Candara" panose="020E0502030303020204" pitchFamily="34" charset="0"/>
            </a:endParaRPr>
          </a:p>
        </p:txBody>
      </p:sp>
      <p:sp>
        <p:nvSpPr>
          <p:cNvPr id="82947" name="Rectangle 3"/>
          <p:cNvSpPr>
            <a:spLocks noGrp="1" noChangeArrowheads="1"/>
          </p:cNvSpPr>
          <p:nvPr>
            <p:ph idx="1"/>
          </p:nvPr>
        </p:nvSpPr>
        <p:spPr>
          <a:xfrm>
            <a:off x="1154806" y="2590800"/>
            <a:ext cx="9817993" cy="3886200"/>
          </a:xfrm>
        </p:spPr>
        <p:txBody>
          <a:bodyPr rtlCol="0">
            <a:normAutofit/>
          </a:bodyPr>
          <a:lstStyle/>
          <a:p>
            <a:pPr>
              <a:defRPr/>
            </a:pPr>
            <a:r>
              <a:rPr lang="en-US" sz="2800" b="1" dirty="0" smtClean="0">
                <a:solidFill>
                  <a:schemeClr val="accent1">
                    <a:lumMod val="50000"/>
                  </a:schemeClr>
                </a:solidFill>
                <a:latin typeface="Candara" panose="020E0502030303020204" pitchFamily="34" charset="0"/>
              </a:rPr>
              <a:t>External </a:t>
            </a:r>
            <a:r>
              <a:rPr lang="en-US" sz="2800" b="1" dirty="0">
                <a:solidFill>
                  <a:schemeClr val="accent1">
                    <a:lumMod val="50000"/>
                  </a:schemeClr>
                </a:solidFill>
                <a:latin typeface="Candara" panose="020E0502030303020204" pitchFamily="34" charset="0"/>
              </a:rPr>
              <a:t>noises </a:t>
            </a:r>
            <a:r>
              <a:rPr lang="en-US" sz="2800" dirty="0">
                <a:solidFill>
                  <a:schemeClr val="accent1">
                    <a:lumMod val="50000"/>
                  </a:schemeClr>
                </a:solidFill>
                <a:latin typeface="Candara" panose="020E0502030303020204" pitchFamily="34" charset="0"/>
              </a:rPr>
              <a:t>– are the sights, sounds, and 	other stimuli </a:t>
            </a:r>
            <a:r>
              <a:rPr lang="en-US" sz="2800" dirty="0" smtClean="0">
                <a:solidFill>
                  <a:schemeClr val="accent1">
                    <a:lumMod val="50000"/>
                  </a:schemeClr>
                </a:solidFill>
                <a:latin typeface="Candara" panose="020E0502030303020204" pitchFamily="34" charset="0"/>
              </a:rPr>
              <a:t>			that </a:t>
            </a:r>
            <a:r>
              <a:rPr lang="en-US" sz="2800" dirty="0">
                <a:solidFill>
                  <a:schemeClr val="accent1">
                    <a:lumMod val="50000"/>
                  </a:schemeClr>
                </a:solidFill>
                <a:latin typeface="Candara" panose="020E0502030303020204" pitchFamily="34" charset="0"/>
              </a:rPr>
              <a:t>draw people’s attention 	away from the intended </a:t>
            </a:r>
            <a:r>
              <a:rPr lang="en-US" sz="2800" dirty="0" smtClean="0">
                <a:solidFill>
                  <a:schemeClr val="accent1">
                    <a:lumMod val="50000"/>
                  </a:schemeClr>
                </a:solidFill>
                <a:latin typeface="Candara" panose="020E0502030303020204" pitchFamily="34" charset="0"/>
              </a:rPr>
              <a:t>			meaning</a:t>
            </a:r>
            <a:r>
              <a:rPr lang="en-US" sz="2800" dirty="0">
                <a:solidFill>
                  <a:schemeClr val="accent1">
                    <a:lumMod val="50000"/>
                  </a:schemeClr>
                </a:solidFill>
                <a:latin typeface="Candara" panose="020E0502030303020204" pitchFamily="34" charset="0"/>
              </a:rPr>
              <a:t>.</a:t>
            </a:r>
          </a:p>
          <a:p>
            <a:pPr>
              <a:defRPr/>
            </a:pPr>
            <a:r>
              <a:rPr lang="en-US" sz="2800" b="1" dirty="0" smtClean="0">
                <a:solidFill>
                  <a:schemeClr val="accent1">
                    <a:lumMod val="50000"/>
                  </a:schemeClr>
                </a:solidFill>
                <a:latin typeface="Candara" panose="020E0502030303020204" pitchFamily="34" charset="0"/>
              </a:rPr>
              <a:t>Internal </a:t>
            </a:r>
            <a:r>
              <a:rPr lang="en-US" sz="2800" b="1" dirty="0">
                <a:solidFill>
                  <a:schemeClr val="accent1">
                    <a:lumMod val="50000"/>
                  </a:schemeClr>
                </a:solidFill>
                <a:latin typeface="Candara" panose="020E0502030303020204" pitchFamily="34" charset="0"/>
              </a:rPr>
              <a:t>noises </a:t>
            </a:r>
            <a:r>
              <a:rPr lang="en-US" sz="2800" dirty="0">
                <a:solidFill>
                  <a:schemeClr val="accent1">
                    <a:lumMod val="50000"/>
                  </a:schemeClr>
                </a:solidFill>
                <a:latin typeface="Candara" panose="020E0502030303020204" pitchFamily="34" charset="0"/>
              </a:rPr>
              <a:t>– are the thoughts and feelings 	that </a:t>
            </a:r>
            <a:r>
              <a:rPr lang="en-US" sz="2800" dirty="0" smtClean="0">
                <a:solidFill>
                  <a:schemeClr val="accent1">
                    <a:lumMod val="50000"/>
                  </a:schemeClr>
                </a:solidFill>
                <a:latin typeface="Candara" panose="020E0502030303020204" pitchFamily="34" charset="0"/>
              </a:rPr>
              <a:t>					interfere </a:t>
            </a:r>
            <a:r>
              <a:rPr lang="en-US" sz="2800" dirty="0">
                <a:solidFill>
                  <a:schemeClr val="accent1">
                    <a:lumMod val="50000"/>
                  </a:schemeClr>
                </a:solidFill>
                <a:latin typeface="Candara" panose="020E0502030303020204" pitchFamily="34" charset="0"/>
              </a:rPr>
              <a:t>with meaning.</a:t>
            </a:r>
          </a:p>
          <a:p>
            <a:pPr>
              <a:defRPr/>
            </a:pPr>
            <a:r>
              <a:rPr lang="en-US" sz="2800" b="1" dirty="0" smtClean="0">
                <a:solidFill>
                  <a:schemeClr val="accent1">
                    <a:lumMod val="50000"/>
                  </a:schemeClr>
                </a:solidFill>
                <a:latin typeface="Candara" panose="020E0502030303020204" pitchFamily="34" charset="0"/>
              </a:rPr>
              <a:t>Semantic  </a:t>
            </a:r>
            <a:r>
              <a:rPr lang="en-US" sz="2800" b="1" dirty="0">
                <a:solidFill>
                  <a:schemeClr val="accent1">
                    <a:lumMod val="50000"/>
                  </a:schemeClr>
                </a:solidFill>
                <a:latin typeface="Candara" panose="020E0502030303020204" pitchFamily="34" charset="0"/>
              </a:rPr>
              <a:t>noises </a:t>
            </a:r>
            <a:r>
              <a:rPr lang="en-US" sz="2800" dirty="0">
                <a:solidFill>
                  <a:schemeClr val="accent1">
                    <a:lumMod val="50000"/>
                  </a:schemeClr>
                </a:solidFill>
                <a:latin typeface="Candara" panose="020E0502030303020204" pitchFamily="34" charset="0"/>
              </a:rPr>
              <a:t>– are those alternate </a:t>
            </a:r>
            <a:r>
              <a:rPr lang="en-US" sz="2800" dirty="0" smtClean="0">
                <a:solidFill>
                  <a:schemeClr val="accent1">
                    <a:lumMod val="50000"/>
                  </a:schemeClr>
                </a:solidFill>
                <a:latin typeface="Candara" panose="020E0502030303020204" pitchFamily="34" charset="0"/>
              </a:rPr>
              <a:t>meanings </a:t>
            </a:r>
            <a:r>
              <a:rPr lang="en-US" sz="2800" dirty="0">
                <a:solidFill>
                  <a:schemeClr val="accent1">
                    <a:lumMod val="50000"/>
                  </a:schemeClr>
                </a:solidFill>
                <a:latin typeface="Candara" panose="020E0502030303020204" pitchFamily="34" charset="0"/>
              </a:rPr>
              <a:t>aroused by </a:t>
            </a:r>
            <a:r>
              <a:rPr lang="en-US" sz="2800" dirty="0" smtClean="0">
                <a:solidFill>
                  <a:schemeClr val="accent1">
                    <a:lumMod val="50000"/>
                  </a:schemeClr>
                </a:solidFill>
                <a:latin typeface="Candara" panose="020E0502030303020204" pitchFamily="34" charset="0"/>
              </a:rPr>
              <a:t>		</a:t>
            </a:r>
            <a:r>
              <a:rPr lang="en-US" sz="2800" dirty="0" smtClean="0">
                <a:solidFill>
                  <a:schemeClr val="accent1">
                    <a:lumMod val="50000"/>
                  </a:schemeClr>
                </a:solidFill>
                <a:latin typeface="Candara" panose="020E0502030303020204" pitchFamily="34" charset="0"/>
              </a:rPr>
              <a:t>	certain </a:t>
            </a:r>
            <a:r>
              <a:rPr lang="en-US" sz="2800" dirty="0">
                <a:solidFill>
                  <a:schemeClr val="accent1">
                    <a:lumMod val="50000"/>
                  </a:schemeClr>
                </a:solidFill>
                <a:latin typeface="Candara" panose="020E0502030303020204" pitchFamily="34" charset="0"/>
              </a:rPr>
              <a:t>symbols that 	distort meanings. </a:t>
            </a:r>
          </a:p>
          <a:p>
            <a:pPr marL="609600" indent="-609600">
              <a:defRPr/>
            </a:pPr>
            <a:endParaRPr lang="en-US" dirty="0" smtClean="0">
              <a:solidFill>
                <a:schemeClr val="accent1">
                  <a:lumMod val="50000"/>
                </a:schemeClr>
              </a:solidFill>
              <a:latin typeface="Candara" panose="020E0502030303020204" pitchFamily="34" charset="0"/>
            </a:endParaRPr>
          </a:p>
        </p:txBody>
      </p:sp>
    </p:spTree>
    <p:extLst>
      <p:ext uri="{BB962C8B-B14F-4D97-AF65-F5344CB8AC3E}">
        <p14:creationId xmlns:p14="http://schemas.microsoft.com/office/powerpoint/2010/main" val="3865264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09" y="195140"/>
            <a:ext cx="9404723" cy="822290"/>
          </a:xfrm>
        </p:spPr>
        <p:txBody>
          <a:bodyPr/>
          <a:lstStyle/>
          <a:p>
            <a:pPr algn="ctr"/>
            <a:r>
              <a:rPr lang="en-PH" dirty="0" smtClean="0">
                <a:solidFill>
                  <a:schemeClr val="accent2">
                    <a:lumMod val="50000"/>
                  </a:schemeClr>
                </a:solidFill>
                <a:latin typeface="Berlin Sans FB" panose="020E0602020502020306" pitchFamily="34" charset="0"/>
              </a:rPr>
              <a:t>Four Levels of Communication</a:t>
            </a:r>
            <a:endParaRPr lang="en-PH" dirty="0">
              <a:solidFill>
                <a:schemeClr val="accent2">
                  <a:lumMod val="50000"/>
                </a:schemeClr>
              </a:solidFill>
              <a:latin typeface="Berlin Sans FB" panose="020E0602020502020306" pitchFamily="34" charset="0"/>
            </a:endParaRPr>
          </a:p>
        </p:txBody>
      </p:sp>
      <p:sp>
        <p:nvSpPr>
          <p:cNvPr id="3" name="Content Placeholder 2"/>
          <p:cNvSpPr>
            <a:spLocks noGrp="1"/>
          </p:cNvSpPr>
          <p:nvPr>
            <p:ph idx="1"/>
          </p:nvPr>
        </p:nvSpPr>
        <p:spPr>
          <a:xfrm>
            <a:off x="425003" y="1275008"/>
            <a:ext cx="10985679" cy="5293217"/>
          </a:xfrm>
        </p:spPr>
        <p:txBody>
          <a:bodyPr>
            <a:noAutofit/>
          </a:bodyPr>
          <a:lstStyle/>
          <a:p>
            <a:pPr marL="457200" indent="-457200">
              <a:buAutoNum type="arabicPeriod"/>
            </a:pPr>
            <a:r>
              <a:rPr lang="en-PH" sz="2800" b="1" dirty="0" smtClean="0">
                <a:solidFill>
                  <a:schemeClr val="accent1">
                    <a:lumMod val="50000"/>
                  </a:schemeClr>
                </a:solidFill>
                <a:latin typeface="Candara" panose="020E0502030303020204" pitchFamily="34" charset="0"/>
              </a:rPr>
              <a:t>Intrapersonal communication. </a:t>
            </a:r>
            <a:r>
              <a:rPr lang="en-PH" sz="2800" dirty="0" smtClean="0">
                <a:solidFill>
                  <a:schemeClr val="bg1"/>
                </a:solidFill>
                <a:latin typeface="Candara" panose="020E0502030303020204" pitchFamily="34" charset="0"/>
              </a:rPr>
              <a:t>Communication with oneself. All 	persons have the capability of engaging in conversation with 	themselves, hence, focus is on individual, on his cognition and 	attitudes.</a:t>
            </a:r>
          </a:p>
          <a:p>
            <a:pPr marL="457200" indent="-457200">
              <a:buAutoNum type="arabicPeriod"/>
            </a:pPr>
            <a:r>
              <a:rPr lang="en-PH" sz="2800" b="1" dirty="0" smtClean="0">
                <a:solidFill>
                  <a:schemeClr val="accent1">
                    <a:lumMod val="50000"/>
                  </a:schemeClr>
                </a:solidFill>
                <a:latin typeface="Candara" panose="020E0502030303020204" pitchFamily="34" charset="0"/>
              </a:rPr>
              <a:t>Interpersonal Communication</a:t>
            </a:r>
            <a:r>
              <a:rPr lang="en-PH" sz="2800" dirty="0" smtClean="0">
                <a:solidFill>
                  <a:schemeClr val="bg1"/>
                </a:solidFill>
                <a:latin typeface="Candara" panose="020E0502030303020204" pitchFamily="34" charset="0"/>
              </a:rPr>
              <a:t>. It is the interaction between two or 	more individuals in a face-to-face situation.</a:t>
            </a:r>
          </a:p>
          <a:p>
            <a:pPr marL="457200" indent="-457200">
              <a:buAutoNum type="arabicPeriod"/>
            </a:pPr>
            <a:r>
              <a:rPr lang="en-PH" sz="2800" b="1" dirty="0" smtClean="0">
                <a:solidFill>
                  <a:schemeClr val="accent1">
                    <a:lumMod val="50000"/>
                  </a:schemeClr>
                </a:solidFill>
                <a:latin typeface="Candara" panose="020E0502030303020204" pitchFamily="34" charset="0"/>
              </a:rPr>
              <a:t>Organizational Communication. </a:t>
            </a:r>
            <a:r>
              <a:rPr lang="en-PH" sz="2800" dirty="0" smtClean="0">
                <a:solidFill>
                  <a:schemeClr val="bg1"/>
                </a:solidFill>
                <a:latin typeface="Candara" panose="020E0502030303020204" pitchFamily="34" charset="0"/>
              </a:rPr>
              <a:t>It refers to the structure and 	functioning units within an organization system. </a:t>
            </a:r>
          </a:p>
          <a:p>
            <a:pPr marL="457200" indent="-457200">
              <a:buAutoNum type="arabicPeriod"/>
            </a:pPr>
            <a:r>
              <a:rPr lang="en-PH" sz="2800" b="1" dirty="0" smtClean="0">
                <a:solidFill>
                  <a:schemeClr val="accent1">
                    <a:lumMod val="50000"/>
                  </a:schemeClr>
                </a:solidFill>
                <a:latin typeface="Candara" panose="020E0502030303020204" pitchFamily="34" charset="0"/>
              </a:rPr>
              <a:t>Mass communication. </a:t>
            </a:r>
            <a:r>
              <a:rPr lang="en-PH" sz="2800" dirty="0" smtClean="0">
                <a:solidFill>
                  <a:schemeClr val="bg1"/>
                </a:solidFill>
                <a:latin typeface="Candara" panose="020E0502030303020204" pitchFamily="34" charset="0"/>
              </a:rPr>
              <a:t>It pertains to the interaction of individuals 	with various public mass media such as TV, radio, newspaper, etc.</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72667499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idx="4294967295"/>
          </p:nvPr>
        </p:nvSpPr>
        <p:spPr>
          <a:xfrm>
            <a:off x="965915" y="304800"/>
            <a:ext cx="8949611" cy="1143000"/>
          </a:xfrm>
        </p:spPr>
        <p:txBody>
          <a:bodyPr rtlCol="0">
            <a:normAutofit fontScale="90000"/>
          </a:bodyPr>
          <a:lstStyle/>
          <a:p>
            <a:pPr>
              <a:defRPr/>
            </a:pPr>
            <a:r>
              <a:rPr lang="en-US" sz="3200" dirty="0">
                <a:solidFill>
                  <a:schemeClr val="accent2">
                    <a:lumMod val="50000"/>
                  </a:schemeClr>
                </a:solidFill>
                <a:latin typeface="Candara" panose="020E0502030303020204" pitchFamily="34" charset="0"/>
              </a:rPr>
              <a:t>35.When an extension worker communicates with his/her clients in a face-to-face situation he is engaged in</a:t>
            </a:r>
          </a:p>
        </p:txBody>
      </p:sp>
      <p:sp>
        <p:nvSpPr>
          <p:cNvPr id="129027" name="Content Placeholder 2"/>
          <p:cNvSpPr>
            <a:spLocks noGrp="1"/>
          </p:cNvSpPr>
          <p:nvPr>
            <p:ph idx="4294967295"/>
          </p:nvPr>
        </p:nvSpPr>
        <p:spPr>
          <a:xfrm>
            <a:off x="2129307" y="1843825"/>
            <a:ext cx="7386638" cy="4497388"/>
          </a:xfrm>
        </p:spPr>
        <p:txBody>
          <a:bodyPr/>
          <a:lstStyle/>
          <a:p>
            <a:pPr eaLnBrk="1" hangingPunct="1">
              <a:buFontTx/>
              <a:buNone/>
            </a:pPr>
            <a:r>
              <a:rPr lang="en-US" sz="3200" dirty="0">
                <a:solidFill>
                  <a:schemeClr val="accent2">
                    <a:lumMod val="50000"/>
                  </a:schemeClr>
                </a:solidFill>
                <a:latin typeface="Candara" panose="020E0502030303020204" pitchFamily="34" charset="0"/>
              </a:rPr>
              <a:t>a. Intrapersonal communication</a:t>
            </a:r>
          </a:p>
          <a:p>
            <a:pPr eaLnBrk="1" hangingPunct="1">
              <a:buFontTx/>
              <a:buNone/>
            </a:pPr>
            <a:r>
              <a:rPr lang="en-US" sz="3200" dirty="0">
                <a:solidFill>
                  <a:schemeClr val="accent2">
                    <a:lumMod val="50000"/>
                  </a:schemeClr>
                </a:solidFill>
                <a:latin typeface="Candara" panose="020E0502030303020204" pitchFamily="34" charset="0"/>
              </a:rPr>
              <a:t>b. Interpersonal communication </a:t>
            </a:r>
          </a:p>
          <a:p>
            <a:pPr eaLnBrk="1" hangingPunct="1">
              <a:buFontTx/>
              <a:buNone/>
            </a:pPr>
            <a:r>
              <a:rPr lang="en-US" sz="3200" dirty="0">
                <a:solidFill>
                  <a:schemeClr val="accent2">
                    <a:lumMod val="50000"/>
                  </a:schemeClr>
                </a:solidFill>
                <a:latin typeface="Candara" panose="020E0502030303020204" pitchFamily="34" charset="0"/>
              </a:rPr>
              <a:t>c. Organizational communication</a:t>
            </a:r>
          </a:p>
          <a:p>
            <a:pPr eaLnBrk="1" hangingPunct="1">
              <a:buFontTx/>
              <a:buNone/>
            </a:pPr>
            <a:r>
              <a:rPr lang="en-US" sz="3200" dirty="0">
                <a:solidFill>
                  <a:schemeClr val="accent2">
                    <a:lumMod val="50000"/>
                  </a:schemeClr>
                </a:solidFill>
                <a:latin typeface="Candara" panose="020E0502030303020204" pitchFamily="34" charset="0"/>
              </a:rPr>
              <a:t>d. Mass communication</a:t>
            </a:r>
          </a:p>
        </p:txBody>
      </p:sp>
      <p:sp>
        <p:nvSpPr>
          <p:cNvPr id="87045" name="Text Box 5"/>
          <p:cNvSpPr txBox="1">
            <a:spLocks noChangeArrowheads="1"/>
          </p:cNvSpPr>
          <p:nvPr/>
        </p:nvSpPr>
        <p:spPr bwMode="auto">
          <a:xfrm>
            <a:off x="2438400" y="5106989"/>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Candara" panose="020E0502030303020204" pitchFamily="34" charset="0"/>
              </a:rPr>
              <a:t>B. Interpersonal communication</a:t>
            </a:r>
          </a:p>
        </p:txBody>
      </p:sp>
    </p:spTree>
    <p:extLst>
      <p:ext uri="{BB962C8B-B14F-4D97-AF65-F5344CB8AC3E}">
        <p14:creationId xmlns:p14="http://schemas.microsoft.com/office/powerpoint/2010/main" val="38109695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wipe(down)">
                                      <p:cBhvr>
                                        <p:cTn id="7" dur="580">
                                          <p:stCondLst>
                                            <p:cond delay="0"/>
                                          </p:stCondLst>
                                        </p:cTn>
                                        <p:tgtEl>
                                          <p:spTgt spid="87045"/>
                                        </p:tgtEl>
                                      </p:cBhvr>
                                    </p:animEffect>
                                    <p:anim calcmode="lin" valueType="num">
                                      <p:cBhvr>
                                        <p:cTn id="8" dur="1822" tmFilter="0,0; 0.14,0.36; 0.43,0.73; 0.71,0.91; 1.0,1.0">
                                          <p:stCondLst>
                                            <p:cond delay="0"/>
                                          </p:stCondLst>
                                        </p:cTn>
                                        <p:tgtEl>
                                          <p:spTgt spid="8704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704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704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704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7045"/>
                                        </p:tgtEl>
                                        <p:attrNameLst>
                                          <p:attrName>ppt_y</p:attrName>
                                        </p:attrNameLst>
                                      </p:cBhvr>
                                      <p:tavLst>
                                        <p:tav tm="0" fmla="#ppt_y-sin(pi*$)/81">
                                          <p:val>
                                            <p:fltVal val="0"/>
                                          </p:val>
                                        </p:tav>
                                        <p:tav tm="100000">
                                          <p:val>
                                            <p:fltVal val="1"/>
                                          </p:val>
                                        </p:tav>
                                      </p:tavLst>
                                    </p:anim>
                                    <p:animScale>
                                      <p:cBhvr>
                                        <p:cTn id="13" dur="26">
                                          <p:stCondLst>
                                            <p:cond delay="650"/>
                                          </p:stCondLst>
                                        </p:cTn>
                                        <p:tgtEl>
                                          <p:spTgt spid="87045"/>
                                        </p:tgtEl>
                                      </p:cBhvr>
                                      <p:to x="100000" y="60000"/>
                                    </p:animScale>
                                    <p:animScale>
                                      <p:cBhvr>
                                        <p:cTn id="14" dur="166" decel="50000">
                                          <p:stCondLst>
                                            <p:cond delay="676"/>
                                          </p:stCondLst>
                                        </p:cTn>
                                        <p:tgtEl>
                                          <p:spTgt spid="87045"/>
                                        </p:tgtEl>
                                      </p:cBhvr>
                                      <p:to x="100000" y="100000"/>
                                    </p:animScale>
                                    <p:animScale>
                                      <p:cBhvr>
                                        <p:cTn id="15" dur="26">
                                          <p:stCondLst>
                                            <p:cond delay="1312"/>
                                          </p:stCondLst>
                                        </p:cTn>
                                        <p:tgtEl>
                                          <p:spTgt spid="87045"/>
                                        </p:tgtEl>
                                      </p:cBhvr>
                                      <p:to x="100000" y="80000"/>
                                    </p:animScale>
                                    <p:animScale>
                                      <p:cBhvr>
                                        <p:cTn id="16" dur="166" decel="50000">
                                          <p:stCondLst>
                                            <p:cond delay="1338"/>
                                          </p:stCondLst>
                                        </p:cTn>
                                        <p:tgtEl>
                                          <p:spTgt spid="87045"/>
                                        </p:tgtEl>
                                      </p:cBhvr>
                                      <p:to x="100000" y="100000"/>
                                    </p:animScale>
                                    <p:animScale>
                                      <p:cBhvr>
                                        <p:cTn id="17" dur="26">
                                          <p:stCondLst>
                                            <p:cond delay="1642"/>
                                          </p:stCondLst>
                                        </p:cTn>
                                        <p:tgtEl>
                                          <p:spTgt spid="87045"/>
                                        </p:tgtEl>
                                      </p:cBhvr>
                                      <p:to x="100000" y="90000"/>
                                    </p:animScale>
                                    <p:animScale>
                                      <p:cBhvr>
                                        <p:cTn id="18" dur="166" decel="50000">
                                          <p:stCondLst>
                                            <p:cond delay="1668"/>
                                          </p:stCondLst>
                                        </p:cTn>
                                        <p:tgtEl>
                                          <p:spTgt spid="87045"/>
                                        </p:tgtEl>
                                      </p:cBhvr>
                                      <p:to x="100000" y="100000"/>
                                    </p:animScale>
                                    <p:animScale>
                                      <p:cBhvr>
                                        <p:cTn id="19" dur="26">
                                          <p:stCondLst>
                                            <p:cond delay="1808"/>
                                          </p:stCondLst>
                                        </p:cTn>
                                        <p:tgtEl>
                                          <p:spTgt spid="87045"/>
                                        </p:tgtEl>
                                      </p:cBhvr>
                                      <p:to x="100000" y="95000"/>
                                    </p:animScale>
                                    <p:animScale>
                                      <p:cBhvr>
                                        <p:cTn id="20" dur="166" decel="50000">
                                          <p:stCondLst>
                                            <p:cond delay="1834"/>
                                          </p:stCondLst>
                                        </p:cTn>
                                        <p:tgtEl>
                                          <p:spTgt spid="8704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title" idx="4294967295"/>
          </p:nvPr>
        </p:nvSpPr>
        <p:spPr>
          <a:xfrm>
            <a:off x="1566931" y="198931"/>
            <a:ext cx="7477125" cy="1449387"/>
          </a:xfrm>
        </p:spPr>
        <p:txBody>
          <a:bodyPr rtlCol="0">
            <a:normAutofit fontScale="90000"/>
          </a:bodyPr>
          <a:lstStyle/>
          <a:p>
            <a:pPr>
              <a:defRPr/>
            </a:pPr>
            <a:r>
              <a:rPr lang="en-US" sz="3200" dirty="0">
                <a:solidFill>
                  <a:schemeClr val="accent2">
                    <a:lumMod val="50000"/>
                  </a:schemeClr>
                </a:solidFill>
                <a:latin typeface="Berlin Sans FB" panose="020E0602020502020306" pitchFamily="34" charset="0"/>
              </a:rPr>
              <a:t>36. It is communication that all persons have the capability of engaging in conversation with themselves, hence, focus is on individual, on his cognition and attitudes</a:t>
            </a:r>
          </a:p>
        </p:txBody>
      </p:sp>
      <p:sp>
        <p:nvSpPr>
          <p:cNvPr id="130051" name="Content Placeholder 2"/>
          <p:cNvSpPr>
            <a:spLocks noGrp="1"/>
          </p:cNvSpPr>
          <p:nvPr>
            <p:ph idx="4294967295"/>
          </p:nvPr>
        </p:nvSpPr>
        <p:spPr>
          <a:xfrm>
            <a:off x="2133600" y="2209800"/>
            <a:ext cx="7386638" cy="4497388"/>
          </a:xfrm>
        </p:spPr>
        <p:txBody>
          <a:bodyPr/>
          <a:lstStyle/>
          <a:p>
            <a:pPr eaLnBrk="1" hangingPunct="1">
              <a:buFontTx/>
              <a:buNone/>
            </a:pPr>
            <a:r>
              <a:rPr lang="en-US" sz="3200" dirty="0">
                <a:solidFill>
                  <a:schemeClr val="accent2">
                    <a:lumMod val="50000"/>
                  </a:schemeClr>
                </a:solidFill>
                <a:latin typeface="Berlin Sans FB" panose="020E0602020502020306" pitchFamily="34" charset="0"/>
              </a:rPr>
              <a:t>a. Intrapersonal communication</a:t>
            </a:r>
          </a:p>
          <a:p>
            <a:pPr eaLnBrk="1" hangingPunct="1">
              <a:buFontTx/>
              <a:buNone/>
            </a:pPr>
            <a:r>
              <a:rPr lang="en-US" sz="3200" dirty="0">
                <a:solidFill>
                  <a:schemeClr val="accent2">
                    <a:lumMod val="50000"/>
                  </a:schemeClr>
                </a:solidFill>
                <a:latin typeface="Berlin Sans FB" panose="020E0602020502020306" pitchFamily="34" charset="0"/>
              </a:rPr>
              <a:t>b. Interpersonal communication</a:t>
            </a:r>
          </a:p>
          <a:p>
            <a:pPr eaLnBrk="1" hangingPunct="1">
              <a:buFontTx/>
              <a:buNone/>
            </a:pPr>
            <a:r>
              <a:rPr lang="en-US" sz="3200" dirty="0">
                <a:solidFill>
                  <a:schemeClr val="accent2">
                    <a:lumMod val="50000"/>
                  </a:schemeClr>
                </a:solidFill>
                <a:latin typeface="Berlin Sans FB" panose="020E0602020502020306" pitchFamily="34" charset="0"/>
              </a:rPr>
              <a:t>c. Organizational communication </a:t>
            </a:r>
          </a:p>
          <a:p>
            <a:pPr eaLnBrk="1" hangingPunct="1">
              <a:buFontTx/>
              <a:buNone/>
            </a:pPr>
            <a:r>
              <a:rPr lang="en-US" sz="3200" dirty="0">
                <a:solidFill>
                  <a:schemeClr val="accent2">
                    <a:lumMod val="50000"/>
                  </a:schemeClr>
                </a:solidFill>
                <a:latin typeface="Berlin Sans FB" panose="020E0602020502020306" pitchFamily="34" charset="0"/>
              </a:rPr>
              <a:t>d. Mass communication</a:t>
            </a:r>
          </a:p>
        </p:txBody>
      </p:sp>
      <p:sp>
        <p:nvSpPr>
          <p:cNvPr id="88070" name="Text Box 6"/>
          <p:cNvSpPr txBox="1">
            <a:spLocks noChangeArrowheads="1"/>
          </p:cNvSpPr>
          <p:nvPr/>
        </p:nvSpPr>
        <p:spPr bwMode="auto">
          <a:xfrm>
            <a:off x="1676400" y="5029200"/>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A. Intrapersonal communication</a:t>
            </a:r>
          </a:p>
        </p:txBody>
      </p:sp>
    </p:spTree>
    <p:extLst>
      <p:ext uri="{BB962C8B-B14F-4D97-AF65-F5344CB8AC3E}">
        <p14:creationId xmlns:p14="http://schemas.microsoft.com/office/powerpoint/2010/main" val="2628824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wipe(down)">
                                      <p:cBhvr>
                                        <p:cTn id="7" dur="580">
                                          <p:stCondLst>
                                            <p:cond delay="0"/>
                                          </p:stCondLst>
                                        </p:cTn>
                                        <p:tgtEl>
                                          <p:spTgt spid="88070"/>
                                        </p:tgtEl>
                                      </p:cBhvr>
                                    </p:animEffect>
                                    <p:anim calcmode="lin" valueType="num">
                                      <p:cBhvr>
                                        <p:cTn id="8" dur="1822" tmFilter="0,0; 0.14,0.36; 0.43,0.73; 0.71,0.91; 1.0,1.0">
                                          <p:stCondLst>
                                            <p:cond delay="0"/>
                                          </p:stCondLst>
                                        </p:cTn>
                                        <p:tgtEl>
                                          <p:spTgt spid="8807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07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07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07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070"/>
                                        </p:tgtEl>
                                        <p:attrNameLst>
                                          <p:attrName>ppt_y</p:attrName>
                                        </p:attrNameLst>
                                      </p:cBhvr>
                                      <p:tavLst>
                                        <p:tav tm="0" fmla="#ppt_y-sin(pi*$)/81">
                                          <p:val>
                                            <p:fltVal val="0"/>
                                          </p:val>
                                        </p:tav>
                                        <p:tav tm="100000">
                                          <p:val>
                                            <p:fltVal val="1"/>
                                          </p:val>
                                        </p:tav>
                                      </p:tavLst>
                                    </p:anim>
                                    <p:animScale>
                                      <p:cBhvr>
                                        <p:cTn id="13" dur="26">
                                          <p:stCondLst>
                                            <p:cond delay="650"/>
                                          </p:stCondLst>
                                        </p:cTn>
                                        <p:tgtEl>
                                          <p:spTgt spid="88070"/>
                                        </p:tgtEl>
                                      </p:cBhvr>
                                      <p:to x="100000" y="60000"/>
                                    </p:animScale>
                                    <p:animScale>
                                      <p:cBhvr>
                                        <p:cTn id="14" dur="166" decel="50000">
                                          <p:stCondLst>
                                            <p:cond delay="676"/>
                                          </p:stCondLst>
                                        </p:cTn>
                                        <p:tgtEl>
                                          <p:spTgt spid="88070"/>
                                        </p:tgtEl>
                                      </p:cBhvr>
                                      <p:to x="100000" y="100000"/>
                                    </p:animScale>
                                    <p:animScale>
                                      <p:cBhvr>
                                        <p:cTn id="15" dur="26">
                                          <p:stCondLst>
                                            <p:cond delay="1312"/>
                                          </p:stCondLst>
                                        </p:cTn>
                                        <p:tgtEl>
                                          <p:spTgt spid="88070"/>
                                        </p:tgtEl>
                                      </p:cBhvr>
                                      <p:to x="100000" y="80000"/>
                                    </p:animScale>
                                    <p:animScale>
                                      <p:cBhvr>
                                        <p:cTn id="16" dur="166" decel="50000">
                                          <p:stCondLst>
                                            <p:cond delay="1338"/>
                                          </p:stCondLst>
                                        </p:cTn>
                                        <p:tgtEl>
                                          <p:spTgt spid="88070"/>
                                        </p:tgtEl>
                                      </p:cBhvr>
                                      <p:to x="100000" y="100000"/>
                                    </p:animScale>
                                    <p:animScale>
                                      <p:cBhvr>
                                        <p:cTn id="17" dur="26">
                                          <p:stCondLst>
                                            <p:cond delay="1642"/>
                                          </p:stCondLst>
                                        </p:cTn>
                                        <p:tgtEl>
                                          <p:spTgt spid="88070"/>
                                        </p:tgtEl>
                                      </p:cBhvr>
                                      <p:to x="100000" y="90000"/>
                                    </p:animScale>
                                    <p:animScale>
                                      <p:cBhvr>
                                        <p:cTn id="18" dur="166" decel="50000">
                                          <p:stCondLst>
                                            <p:cond delay="1668"/>
                                          </p:stCondLst>
                                        </p:cTn>
                                        <p:tgtEl>
                                          <p:spTgt spid="88070"/>
                                        </p:tgtEl>
                                      </p:cBhvr>
                                      <p:to x="100000" y="100000"/>
                                    </p:animScale>
                                    <p:animScale>
                                      <p:cBhvr>
                                        <p:cTn id="19" dur="26">
                                          <p:stCondLst>
                                            <p:cond delay="1808"/>
                                          </p:stCondLst>
                                        </p:cTn>
                                        <p:tgtEl>
                                          <p:spTgt spid="88070"/>
                                        </p:tgtEl>
                                      </p:cBhvr>
                                      <p:to x="100000" y="95000"/>
                                    </p:animScale>
                                    <p:animScale>
                                      <p:cBhvr>
                                        <p:cTn id="20" dur="166" decel="50000">
                                          <p:stCondLst>
                                            <p:cond delay="1834"/>
                                          </p:stCondLst>
                                        </p:cTn>
                                        <p:tgtEl>
                                          <p:spTgt spid="8807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0"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p:cNvSpPr>
            <a:spLocks noGrp="1"/>
          </p:cNvSpPr>
          <p:nvPr>
            <p:ph type="title" idx="4294967295"/>
          </p:nvPr>
        </p:nvSpPr>
        <p:spPr>
          <a:xfrm>
            <a:off x="2590801" y="136525"/>
            <a:ext cx="7553325" cy="2439988"/>
          </a:xfrm>
        </p:spPr>
        <p:txBody>
          <a:bodyPr/>
          <a:lstStyle/>
          <a:p>
            <a:pPr eaLnBrk="1" hangingPunct="1"/>
            <a:r>
              <a:rPr lang="en-US" sz="3200">
                <a:solidFill>
                  <a:schemeClr val="accent2">
                    <a:lumMod val="50000"/>
                  </a:schemeClr>
                </a:solidFill>
                <a:latin typeface="Berlin Sans FB" panose="020E0602020502020306" pitchFamily="34" charset="0"/>
              </a:rPr>
              <a:t>37. It is a communication that the extension workers as well as the client-learners have to follow the line of command in an organization</a:t>
            </a:r>
          </a:p>
        </p:txBody>
      </p:sp>
      <p:sp>
        <p:nvSpPr>
          <p:cNvPr id="131075" name="Content Placeholder 2"/>
          <p:cNvSpPr>
            <a:spLocks noGrp="1"/>
          </p:cNvSpPr>
          <p:nvPr>
            <p:ph idx="4294967295"/>
          </p:nvPr>
        </p:nvSpPr>
        <p:spPr>
          <a:xfrm>
            <a:off x="2438400" y="2692400"/>
            <a:ext cx="7386638" cy="3581400"/>
          </a:xfrm>
        </p:spPr>
        <p:txBody>
          <a:bodyPr/>
          <a:lstStyle/>
          <a:p>
            <a:pPr eaLnBrk="1" hangingPunct="1">
              <a:buFontTx/>
              <a:buAutoNum type="alphaLcPeriod"/>
            </a:pPr>
            <a:r>
              <a:rPr lang="en-US" sz="3200">
                <a:solidFill>
                  <a:schemeClr val="accent2">
                    <a:lumMod val="50000"/>
                  </a:schemeClr>
                </a:solidFill>
                <a:latin typeface="Berlin Sans FB" panose="020E0602020502020306" pitchFamily="34" charset="0"/>
              </a:rPr>
              <a:t>Intrapersonal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Interpersonal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Organizational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Mass communication</a:t>
            </a:r>
          </a:p>
        </p:txBody>
      </p:sp>
      <p:sp>
        <p:nvSpPr>
          <p:cNvPr id="89093" name="Text Box 5"/>
          <p:cNvSpPr txBox="1">
            <a:spLocks noChangeArrowheads="1"/>
          </p:cNvSpPr>
          <p:nvPr/>
        </p:nvSpPr>
        <p:spPr bwMode="auto">
          <a:xfrm>
            <a:off x="1676400" y="5364163"/>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C. Organizational communication</a:t>
            </a:r>
          </a:p>
        </p:txBody>
      </p:sp>
    </p:spTree>
    <p:extLst>
      <p:ext uri="{BB962C8B-B14F-4D97-AF65-F5344CB8AC3E}">
        <p14:creationId xmlns:p14="http://schemas.microsoft.com/office/powerpoint/2010/main" val="3401659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9093"/>
                                        </p:tgtEl>
                                        <p:attrNameLst>
                                          <p:attrName>style.visibility</p:attrName>
                                        </p:attrNameLst>
                                      </p:cBhvr>
                                      <p:to>
                                        <p:strVal val="visible"/>
                                      </p:to>
                                    </p:set>
                                    <p:animEffect transition="in" filter="wipe(down)">
                                      <p:cBhvr>
                                        <p:cTn id="7" dur="580">
                                          <p:stCondLst>
                                            <p:cond delay="0"/>
                                          </p:stCondLst>
                                        </p:cTn>
                                        <p:tgtEl>
                                          <p:spTgt spid="89093"/>
                                        </p:tgtEl>
                                      </p:cBhvr>
                                    </p:animEffect>
                                    <p:anim calcmode="lin" valueType="num">
                                      <p:cBhvr>
                                        <p:cTn id="8" dur="1822" tmFilter="0,0; 0.14,0.36; 0.43,0.73; 0.71,0.91; 1.0,1.0">
                                          <p:stCondLst>
                                            <p:cond delay="0"/>
                                          </p:stCondLst>
                                        </p:cTn>
                                        <p:tgtEl>
                                          <p:spTgt spid="8909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909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909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909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9093"/>
                                        </p:tgtEl>
                                        <p:attrNameLst>
                                          <p:attrName>ppt_y</p:attrName>
                                        </p:attrNameLst>
                                      </p:cBhvr>
                                      <p:tavLst>
                                        <p:tav tm="0" fmla="#ppt_y-sin(pi*$)/81">
                                          <p:val>
                                            <p:fltVal val="0"/>
                                          </p:val>
                                        </p:tav>
                                        <p:tav tm="100000">
                                          <p:val>
                                            <p:fltVal val="1"/>
                                          </p:val>
                                        </p:tav>
                                      </p:tavLst>
                                    </p:anim>
                                    <p:animScale>
                                      <p:cBhvr>
                                        <p:cTn id="13" dur="26">
                                          <p:stCondLst>
                                            <p:cond delay="650"/>
                                          </p:stCondLst>
                                        </p:cTn>
                                        <p:tgtEl>
                                          <p:spTgt spid="89093"/>
                                        </p:tgtEl>
                                      </p:cBhvr>
                                      <p:to x="100000" y="60000"/>
                                    </p:animScale>
                                    <p:animScale>
                                      <p:cBhvr>
                                        <p:cTn id="14" dur="166" decel="50000">
                                          <p:stCondLst>
                                            <p:cond delay="676"/>
                                          </p:stCondLst>
                                        </p:cTn>
                                        <p:tgtEl>
                                          <p:spTgt spid="89093"/>
                                        </p:tgtEl>
                                      </p:cBhvr>
                                      <p:to x="100000" y="100000"/>
                                    </p:animScale>
                                    <p:animScale>
                                      <p:cBhvr>
                                        <p:cTn id="15" dur="26">
                                          <p:stCondLst>
                                            <p:cond delay="1312"/>
                                          </p:stCondLst>
                                        </p:cTn>
                                        <p:tgtEl>
                                          <p:spTgt spid="89093"/>
                                        </p:tgtEl>
                                      </p:cBhvr>
                                      <p:to x="100000" y="80000"/>
                                    </p:animScale>
                                    <p:animScale>
                                      <p:cBhvr>
                                        <p:cTn id="16" dur="166" decel="50000">
                                          <p:stCondLst>
                                            <p:cond delay="1338"/>
                                          </p:stCondLst>
                                        </p:cTn>
                                        <p:tgtEl>
                                          <p:spTgt spid="89093"/>
                                        </p:tgtEl>
                                      </p:cBhvr>
                                      <p:to x="100000" y="100000"/>
                                    </p:animScale>
                                    <p:animScale>
                                      <p:cBhvr>
                                        <p:cTn id="17" dur="26">
                                          <p:stCondLst>
                                            <p:cond delay="1642"/>
                                          </p:stCondLst>
                                        </p:cTn>
                                        <p:tgtEl>
                                          <p:spTgt spid="89093"/>
                                        </p:tgtEl>
                                      </p:cBhvr>
                                      <p:to x="100000" y="90000"/>
                                    </p:animScale>
                                    <p:animScale>
                                      <p:cBhvr>
                                        <p:cTn id="18" dur="166" decel="50000">
                                          <p:stCondLst>
                                            <p:cond delay="1668"/>
                                          </p:stCondLst>
                                        </p:cTn>
                                        <p:tgtEl>
                                          <p:spTgt spid="89093"/>
                                        </p:tgtEl>
                                      </p:cBhvr>
                                      <p:to x="100000" y="100000"/>
                                    </p:animScale>
                                    <p:animScale>
                                      <p:cBhvr>
                                        <p:cTn id="19" dur="26">
                                          <p:stCondLst>
                                            <p:cond delay="1808"/>
                                          </p:stCondLst>
                                        </p:cTn>
                                        <p:tgtEl>
                                          <p:spTgt spid="89093"/>
                                        </p:tgtEl>
                                      </p:cBhvr>
                                      <p:to x="100000" y="95000"/>
                                    </p:animScale>
                                    <p:animScale>
                                      <p:cBhvr>
                                        <p:cTn id="20" dur="166" decel="50000">
                                          <p:stCondLst>
                                            <p:cond delay="1834"/>
                                          </p:stCondLst>
                                        </p:cTn>
                                        <p:tgtEl>
                                          <p:spTgt spid="8909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idx="4294967295"/>
          </p:nvPr>
        </p:nvSpPr>
        <p:spPr>
          <a:xfrm>
            <a:off x="1905001" y="304800"/>
            <a:ext cx="7477125" cy="1601788"/>
          </a:xfrm>
        </p:spPr>
        <p:txBody>
          <a:bodyPr rtlCol="0">
            <a:normAutofit fontScale="90000"/>
          </a:bodyPr>
          <a:lstStyle/>
          <a:p>
            <a:pPr>
              <a:defRPr/>
            </a:pPr>
            <a:r>
              <a:rPr lang="en-US" sz="3200" dirty="0">
                <a:solidFill>
                  <a:schemeClr val="accent2">
                    <a:lumMod val="50000"/>
                  </a:schemeClr>
                </a:solidFill>
                <a:latin typeface="Berlin Sans FB" panose="020E0602020502020306" pitchFamily="34" charset="0"/>
              </a:rPr>
              <a:t>38. It is a communication that the source and the receiver can see each other, talk back and forth, interrupt each other, and make responses which both can readily observe</a:t>
            </a:r>
          </a:p>
        </p:txBody>
      </p:sp>
      <p:sp>
        <p:nvSpPr>
          <p:cNvPr id="132099" name="Content Placeholder 2"/>
          <p:cNvSpPr>
            <a:spLocks noGrp="1"/>
          </p:cNvSpPr>
          <p:nvPr>
            <p:ph idx="4294967295"/>
          </p:nvPr>
        </p:nvSpPr>
        <p:spPr>
          <a:xfrm>
            <a:off x="2024064" y="2286000"/>
            <a:ext cx="7386637" cy="4267200"/>
          </a:xfrm>
        </p:spPr>
        <p:txBody>
          <a:bodyPr/>
          <a:lstStyle/>
          <a:p>
            <a:pPr eaLnBrk="1" hangingPunct="1">
              <a:buFontTx/>
              <a:buAutoNum type="alphaLcPeriod"/>
            </a:pPr>
            <a:r>
              <a:rPr lang="en-US" sz="3200">
                <a:solidFill>
                  <a:schemeClr val="accent2">
                    <a:lumMod val="50000"/>
                  </a:schemeClr>
                </a:solidFill>
                <a:latin typeface="Berlin Sans FB" panose="020E0602020502020306" pitchFamily="34" charset="0"/>
              </a:rPr>
              <a:t>Intrapersonal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Interpersonal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Organizational communication</a:t>
            </a:r>
          </a:p>
          <a:p>
            <a:pPr eaLnBrk="1" hangingPunct="1">
              <a:buFontTx/>
              <a:buAutoNum type="alphaLcPeriod"/>
            </a:pPr>
            <a:r>
              <a:rPr lang="en-US" sz="3200">
                <a:solidFill>
                  <a:schemeClr val="accent2">
                    <a:lumMod val="50000"/>
                  </a:schemeClr>
                </a:solidFill>
                <a:latin typeface="Berlin Sans FB" panose="020E0602020502020306" pitchFamily="34" charset="0"/>
              </a:rPr>
              <a:t>Mass communication</a:t>
            </a:r>
          </a:p>
        </p:txBody>
      </p:sp>
      <p:sp>
        <p:nvSpPr>
          <p:cNvPr id="90117" name="Text Box 5"/>
          <p:cNvSpPr txBox="1">
            <a:spLocks noChangeArrowheads="1"/>
          </p:cNvSpPr>
          <p:nvPr/>
        </p:nvSpPr>
        <p:spPr bwMode="auto">
          <a:xfrm>
            <a:off x="1905000" y="53340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B. Interpersonal communication</a:t>
            </a:r>
          </a:p>
        </p:txBody>
      </p:sp>
    </p:spTree>
    <p:extLst>
      <p:ext uri="{BB962C8B-B14F-4D97-AF65-F5344CB8AC3E}">
        <p14:creationId xmlns:p14="http://schemas.microsoft.com/office/powerpoint/2010/main" val="6916635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wipe(down)">
                                      <p:cBhvr>
                                        <p:cTn id="7" dur="580">
                                          <p:stCondLst>
                                            <p:cond delay="0"/>
                                          </p:stCondLst>
                                        </p:cTn>
                                        <p:tgtEl>
                                          <p:spTgt spid="90117"/>
                                        </p:tgtEl>
                                      </p:cBhvr>
                                    </p:animEffect>
                                    <p:anim calcmode="lin" valueType="num">
                                      <p:cBhvr>
                                        <p:cTn id="8" dur="1822" tmFilter="0,0; 0.14,0.36; 0.43,0.73; 0.71,0.91; 1.0,1.0">
                                          <p:stCondLst>
                                            <p:cond delay="0"/>
                                          </p:stCondLst>
                                        </p:cTn>
                                        <p:tgtEl>
                                          <p:spTgt spid="901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01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01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01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0117"/>
                                        </p:tgtEl>
                                        <p:attrNameLst>
                                          <p:attrName>ppt_y</p:attrName>
                                        </p:attrNameLst>
                                      </p:cBhvr>
                                      <p:tavLst>
                                        <p:tav tm="0" fmla="#ppt_y-sin(pi*$)/81">
                                          <p:val>
                                            <p:fltVal val="0"/>
                                          </p:val>
                                        </p:tav>
                                        <p:tav tm="100000">
                                          <p:val>
                                            <p:fltVal val="1"/>
                                          </p:val>
                                        </p:tav>
                                      </p:tavLst>
                                    </p:anim>
                                    <p:animScale>
                                      <p:cBhvr>
                                        <p:cTn id="13" dur="26">
                                          <p:stCondLst>
                                            <p:cond delay="650"/>
                                          </p:stCondLst>
                                        </p:cTn>
                                        <p:tgtEl>
                                          <p:spTgt spid="90117"/>
                                        </p:tgtEl>
                                      </p:cBhvr>
                                      <p:to x="100000" y="60000"/>
                                    </p:animScale>
                                    <p:animScale>
                                      <p:cBhvr>
                                        <p:cTn id="14" dur="166" decel="50000">
                                          <p:stCondLst>
                                            <p:cond delay="676"/>
                                          </p:stCondLst>
                                        </p:cTn>
                                        <p:tgtEl>
                                          <p:spTgt spid="90117"/>
                                        </p:tgtEl>
                                      </p:cBhvr>
                                      <p:to x="100000" y="100000"/>
                                    </p:animScale>
                                    <p:animScale>
                                      <p:cBhvr>
                                        <p:cTn id="15" dur="26">
                                          <p:stCondLst>
                                            <p:cond delay="1312"/>
                                          </p:stCondLst>
                                        </p:cTn>
                                        <p:tgtEl>
                                          <p:spTgt spid="90117"/>
                                        </p:tgtEl>
                                      </p:cBhvr>
                                      <p:to x="100000" y="80000"/>
                                    </p:animScale>
                                    <p:animScale>
                                      <p:cBhvr>
                                        <p:cTn id="16" dur="166" decel="50000">
                                          <p:stCondLst>
                                            <p:cond delay="1338"/>
                                          </p:stCondLst>
                                        </p:cTn>
                                        <p:tgtEl>
                                          <p:spTgt spid="90117"/>
                                        </p:tgtEl>
                                      </p:cBhvr>
                                      <p:to x="100000" y="100000"/>
                                    </p:animScale>
                                    <p:animScale>
                                      <p:cBhvr>
                                        <p:cTn id="17" dur="26">
                                          <p:stCondLst>
                                            <p:cond delay="1642"/>
                                          </p:stCondLst>
                                        </p:cTn>
                                        <p:tgtEl>
                                          <p:spTgt spid="90117"/>
                                        </p:tgtEl>
                                      </p:cBhvr>
                                      <p:to x="100000" y="90000"/>
                                    </p:animScale>
                                    <p:animScale>
                                      <p:cBhvr>
                                        <p:cTn id="18" dur="166" decel="50000">
                                          <p:stCondLst>
                                            <p:cond delay="1668"/>
                                          </p:stCondLst>
                                        </p:cTn>
                                        <p:tgtEl>
                                          <p:spTgt spid="90117"/>
                                        </p:tgtEl>
                                      </p:cBhvr>
                                      <p:to x="100000" y="100000"/>
                                    </p:animScale>
                                    <p:animScale>
                                      <p:cBhvr>
                                        <p:cTn id="19" dur="26">
                                          <p:stCondLst>
                                            <p:cond delay="1808"/>
                                          </p:stCondLst>
                                        </p:cTn>
                                        <p:tgtEl>
                                          <p:spTgt spid="90117"/>
                                        </p:tgtEl>
                                      </p:cBhvr>
                                      <p:to x="100000" y="95000"/>
                                    </p:animScale>
                                    <p:animScale>
                                      <p:cBhvr>
                                        <p:cTn id="20" dur="166" decel="50000">
                                          <p:stCondLst>
                                            <p:cond delay="1834"/>
                                          </p:stCondLst>
                                        </p:cTn>
                                        <p:tgtEl>
                                          <p:spTgt spid="901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p:cNvSpPr>
          <p:nvPr>
            <p:ph type="title" idx="4294967295"/>
          </p:nvPr>
        </p:nvSpPr>
        <p:spPr>
          <a:xfrm>
            <a:off x="2209801" y="381000"/>
            <a:ext cx="7553325" cy="2058988"/>
          </a:xfrm>
        </p:spPr>
        <p:txBody>
          <a:bodyPr/>
          <a:lstStyle/>
          <a:p>
            <a:pPr eaLnBrk="1" hangingPunct="1"/>
            <a:r>
              <a:rPr lang="en-US" sz="2800">
                <a:solidFill>
                  <a:schemeClr val="accent2">
                    <a:lumMod val="50000"/>
                  </a:schemeClr>
                </a:solidFill>
                <a:latin typeface="Berlin Sans FB" panose="020E0602020502020306" pitchFamily="34" charset="0"/>
              </a:rPr>
              <a:t>39. When the individual interacts with various publics through the mass media such as TV, radio and the like, he/she is engaged in this level of communication</a:t>
            </a:r>
            <a:br>
              <a:rPr lang="en-US" sz="2800">
                <a:solidFill>
                  <a:schemeClr val="accent2">
                    <a:lumMod val="50000"/>
                  </a:schemeClr>
                </a:solidFill>
                <a:latin typeface="Berlin Sans FB" panose="020E0602020502020306" pitchFamily="34" charset="0"/>
              </a:rPr>
            </a:br>
            <a:endParaRPr lang="en-US" sz="2800">
              <a:solidFill>
                <a:schemeClr val="accent2">
                  <a:lumMod val="50000"/>
                </a:schemeClr>
              </a:solidFill>
              <a:latin typeface="Berlin Sans FB" panose="020E0602020502020306" pitchFamily="34" charset="0"/>
            </a:endParaRPr>
          </a:p>
        </p:txBody>
      </p:sp>
      <p:sp>
        <p:nvSpPr>
          <p:cNvPr id="133123" name="Content Placeholder 2"/>
          <p:cNvSpPr>
            <a:spLocks noGrp="1"/>
          </p:cNvSpPr>
          <p:nvPr>
            <p:ph idx="4294967295"/>
          </p:nvPr>
        </p:nvSpPr>
        <p:spPr>
          <a:xfrm>
            <a:off x="2514600" y="2590800"/>
            <a:ext cx="7386638" cy="4038600"/>
          </a:xfrm>
        </p:spPr>
        <p:txBody>
          <a:bodyPr/>
          <a:lstStyle/>
          <a:p>
            <a:pPr eaLnBrk="1" hangingPunct="1">
              <a:buFontTx/>
              <a:buAutoNum type="alphaLcPeriod"/>
            </a:pPr>
            <a:r>
              <a:rPr lang="en-US" sz="2800">
                <a:solidFill>
                  <a:schemeClr val="accent2">
                    <a:lumMod val="50000"/>
                  </a:schemeClr>
                </a:solidFill>
                <a:latin typeface="Berlin Sans FB" panose="020E0602020502020306" pitchFamily="34" charset="0"/>
              </a:rPr>
              <a:t>Participatory communication</a:t>
            </a:r>
          </a:p>
          <a:p>
            <a:pPr eaLnBrk="1" hangingPunct="1">
              <a:buFontTx/>
              <a:buAutoNum type="alphaLcPeriod"/>
            </a:pPr>
            <a:r>
              <a:rPr lang="en-US" sz="2800">
                <a:solidFill>
                  <a:schemeClr val="accent2">
                    <a:lumMod val="50000"/>
                  </a:schemeClr>
                </a:solidFill>
                <a:latin typeface="Berlin Sans FB" panose="020E0602020502020306" pitchFamily="34" charset="0"/>
              </a:rPr>
              <a:t>Organizational communication</a:t>
            </a:r>
          </a:p>
          <a:p>
            <a:pPr eaLnBrk="1" hangingPunct="1">
              <a:buFontTx/>
              <a:buAutoNum type="alphaLcPeriod"/>
            </a:pPr>
            <a:r>
              <a:rPr lang="en-US" sz="2800">
                <a:solidFill>
                  <a:schemeClr val="accent2">
                    <a:lumMod val="50000"/>
                  </a:schemeClr>
                </a:solidFill>
                <a:latin typeface="Berlin Sans FB" panose="020E0602020502020306" pitchFamily="34" charset="0"/>
              </a:rPr>
              <a:t>Interpersonal communication</a:t>
            </a:r>
          </a:p>
          <a:p>
            <a:pPr eaLnBrk="1" hangingPunct="1">
              <a:buFontTx/>
              <a:buAutoNum type="alphaLcPeriod"/>
            </a:pPr>
            <a:r>
              <a:rPr lang="en-US" sz="2800">
                <a:solidFill>
                  <a:schemeClr val="accent2">
                    <a:lumMod val="50000"/>
                  </a:schemeClr>
                </a:solidFill>
                <a:latin typeface="Berlin Sans FB" panose="020E0602020502020306" pitchFamily="34" charset="0"/>
              </a:rPr>
              <a:t>Mass communication</a:t>
            </a:r>
          </a:p>
        </p:txBody>
      </p:sp>
      <p:sp>
        <p:nvSpPr>
          <p:cNvPr id="91141" name="Text Box 5"/>
          <p:cNvSpPr txBox="1">
            <a:spLocks noChangeArrowheads="1"/>
          </p:cNvSpPr>
          <p:nvPr/>
        </p:nvSpPr>
        <p:spPr bwMode="auto">
          <a:xfrm>
            <a:off x="2209800" y="5183189"/>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D. Mass communication</a:t>
            </a:r>
          </a:p>
        </p:txBody>
      </p:sp>
    </p:spTree>
    <p:extLst>
      <p:ext uri="{BB962C8B-B14F-4D97-AF65-F5344CB8AC3E}">
        <p14:creationId xmlns:p14="http://schemas.microsoft.com/office/powerpoint/2010/main" val="3166092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Effect transition="in" filter="wipe(down)">
                                      <p:cBhvr>
                                        <p:cTn id="7" dur="580">
                                          <p:stCondLst>
                                            <p:cond delay="0"/>
                                          </p:stCondLst>
                                        </p:cTn>
                                        <p:tgtEl>
                                          <p:spTgt spid="91141"/>
                                        </p:tgtEl>
                                      </p:cBhvr>
                                    </p:animEffect>
                                    <p:anim calcmode="lin" valueType="num">
                                      <p:cBhvr>
                                        <p:cTn id="8" dur="1822" tmFilter="0,0; 0.14,0.36; 0.43,0.73; 0.71,0.91; 1.0,1.0">
                                          <p:stCondLst>
                                            <p:cond delay="0"/>
                                          </p:stCondLst>
                                        </p:cTn>
                                        <p:tgtEl>
                                          <p:spTgt spid="9114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114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114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114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1141"/>
                                        </p:tgtEl>
                                        <p:attrNameLst>
                                          <p:attrName>ppt_y</p:attrName>
                                        </p:attrNameLst>
                                      </p:cBhvr>
                                      <p:tavLst>
                                        <p:tav tm="0" fmla="#ppt_y-sin(pi*$)/81">
                                          <p:val>
                                            <p:fltVal val="0"/>
                                          </p:val>
                                        </p:tav>
                                        <p:tav tm="100000">
                                          <p:val>
                                            <p:fltVal val="1"/>
                                          </p:val>
                                        </p:tav>
                                      </p:tavLst>
                                    </p:anim>
                                    <p:animScale>
                                      <p:cBhvr>
                                        <p:cTn id="13" dur="26">
                                          <p:stCondLst>
                                            <p:cond delay="650"/>
                                          </p:stCondLst>
                                        </p:cTn>
                                        <p:tgtEl>
                                          <p:spTgt spid="91141"/>
                                        </p:tgtEl>
                                      </p:cBhvr>
                                      <p:to x="100000" y="60000"/>
                                    </p:animScale>
                                    <p:animScale>
                                      <p:cBhvr>
                                        <p:cTn id="14" dur="166" decel="50000">
                                          <p:stCondLst>
                                            <p:cond delay="676"/>
                                          </p:stCondLst>
                                        </p:cTn>
                                        <p:tgtEl>
                                          <p:spTgt spid="91141"/>
                                        </p:tgtEl>
                                      </p:cBhvr>
                                      <p:to x="100000" y="100000"/>
                                    </p:animScale>
                                    <p:animScale>
                                      <p:cBhvr>
                                        <p:cTn id="15" dur="26">
                                          <p:stCondLst>
                                            <p:cond delay="1312"/>
                                          </p:stCondLst>
                                        </p:cTn>
                                        <p:tgtEl>
                                          <p:spTgt spid="91141"/>
                                        </p:tgtEl>
                                      </p:cBhvr>
                                      <p:to x="100000" y="80000"/>
                                    </p:animScale>
                                    <p:animScale>
                                      <p:cBhvr>
                                        <p:cTn id="16" dur="166" decel="50000">
                                          <p:stCondLst>
                                            <p:cond delay="1338"/>
                                          </p:stCondLst>
                                        </p:cTn>
                                        <p:tgtEl>
                                          <p:spTgt spid="91141"/>
                                        </p:tgtEl>
                                      </p:cBhvr>
                                      <p:to x="100000" y="100000"/>
                                    </p:animScale>
                                    <p:animScale>
                                      <p:cBhvr>
                                        <p:cTn id="17" dur="26">
                                          <p:stCondLst>
                                            <p:cond delay="1642"/>
                                          </p:stCondLst>
                                        </p:cTn>
                                        <p:tgtEl>
                                          <p:spTgt spid="91141"/>
                                        </p:tgtEl>
                                      </p:cBhvr>
                                      <p:to x="100000" y="90000"/>
                                    </p:animScale>
                                    <p:animScale>
                                      <p:cBhvr>
                                        <p:cTn id="18" dur="166" decel="50000">
                                          <p:stCondLst>
                                            <p:cond delay="1668"/>
                                          </p:stCondLst>
                                        </p:cTn>
                                        <p:tgtEl>
                                          <p:spTgt spid="91141"/>
                                        </p:tgtEl>
                                      </p:cBhvr>
                                      <p:to x="100000" y="100000"/>
                                    </p:animScale>
                                    <p:animScale>
                                      <p:cBhvr>
                                        <p:cTn id="19" dur="26">
                                          <p:stCondLst>
                                            <p:cond delay="1808"/>
                                          </p:stCondLst>
                                        </p:cTn>
                                        <p:tgtEl>
                                          <p:spTgt spid="91141"/>
                                        </p:tgtEl>
                                      </p:cBhvr>
                                      <p:to x="100000" y="95000"/>
                                    </p:animScale>
                                    <p:animScale>
                                      <p:cBhvr>
                                        <p:cTn id="20" dur="166" decel="50000">
                                          <p:stCondLst>
                                            <p:cond delay="1834"/>
                                          </p:stCondLst>
                                        </p:cTn>
                                        <p:tgtEl>
                                          <p:spTgt spid="9114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2" y="92109"/>
            <a:ext cx="9404723" cy="1400530"/>
          </a:xfrm>
        </p:spPr>
        <p:txBody>
          <a:bodyPr/>
          <a:lstStyle/>
          <a:p>
            <a:pPr algn="ctr"/>
            <a:r>
              <a:rPr lang="en-PH" sz="4000" dirty="0" smtClean="0">
                <a:solidFill>
                  <a:schemeClr val="accent1">
                    <a:lumMod val="50000"/>
                  </a:schemeClr>
                </a:solidFill>
                <a:latin typeface="Berlin Sans FB" panose="020E0602020502020306" pitchFamily="34" charset="0"/>
              </a:rPr>
              <a:t>Factors Affecting Communication Effectiveness in Extension</a:t>
            </a:r>
            <a:endParaRPr lang="en-PH" sz="4000"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1561494" y="1692309"/>
            <a:ext cx="8946541" cy="4195481"/>
          </a:xfrm>
        </p:spPr>
        <p:txBody>
          <a:bodyPr>
            <a:normAutofit/>
          </a:bodyPr>
          <a:lstStyle/>
          <a:p>
            <a:pPr marL="0" indent="0">
              <a:buNone/>
            </a:pPr>
            <a:r>
              <a:rPr lang="en-PH" sz="3600" dirty="0">
                <a:solidFill>
                  <a:schemeClr val="accent1">
                    <a:lumMod val="50000"/>
                  </a:schemeClr>
                </a:solidFill>
                <a:latin typeface="Candara" panose="020E0502030303020204" pitchFamily="34" charset="0"/>
              </a:rPr>
              <a:t>1</a:t>
            </a:r>
            <a:r>
              <a:rPr lang="en-PH" sz="3600" dirty="0" smtClean="0">
                <a:solidFill>
                  <a:schemeClr val="accent1">
                    <a:lumMod val="50000"/>
                  </a:schemeClr>
                </a:solidFill>
                <a:latin typeface="Candara" panose="020E0502030303020204" pitchFamily="34" charset="0"/>
              </a:rPr>
              <a:t>. Elements of a Communication Process</a:t>
            </a:r>
          </a:p>
          <a:p>
            <a:pPr marL="0" indent="0">
              <a:buNone/>
            </a:pPr>
            <a:r>
              <a:rPr lang="en-PH" sz="3600" dirty="0" smtClean="0">
                <a:solidFill>
                  <a:schemeClr val="accent1">
                    <a:lumMod val="50000"/>
                  </a:schemeClr>
                </a:solidFill>
                <a:latin typeface="Candara" panose="020E0502030303020204" pitchFamily="34" charset="0"/>
              </a:rPr>
              <a:t>2. Resources in the Community</a:t>
            </a:r>
          </a:p>
          <a:p>
            <a:pPr marL="0" indent="0">
              <a:buNone/>
            </a:pPr>
            <a:r>
              <a:rPr lang="en-PH" sz="3600" dirty="0" smtClean="0">
                <a:solidFill>
                  <a:schemeClr val="accent1">
                    <a:lumMod val="50000"/>
                  </a:schemeClr>
                </a:solidFill>
                <a:latin typeface="Candara" panose="020E0502030303020204" pitchFamily="34" charset="0"/>
              </a:rPr>
              <a:t>3. Attributes of Technology</a:t>
            </a:r>
          </a:p>
          <a:p>
            <a:pPr marL="0" indent="0">
              <a:buNone/>
            </a:pPr>
            <a:r>
              <a:rPr lang="en-PH" sz="3600" dirty="0" smtClean="0">
                <a:solidFill>
                  <a:schemeClr val="accent1">
                    <a:lumMod val="50000"/>
                  </a:schemeClr>
                </a:solidFill>
                <a:latin typeface="Candara" panose="020E0502030303020204" pitchFamily="34" charset="0"/>
              </a:rPr>
              <a:t>4. Communication media/ materials and 	Communication/ Extension Methods.</a:t>
            </a:r>
            <a:endParaRPr lang="en-PH" sz="3600" dirty="0">
              <a:solidFill>
                <a:schemeClr val="accent1">
                  <a:lumMod val="50000"/>
                </a:schemeClr>
              </a:solidFill>
              <a:latin typeface="Candara" panose="020E0502030303020204" pitchFamily="34" charset="0"/>
            </a:endParaRPr>
          </a:p>
        </p:txBody>
      </p:sp>
    </p:spTree>
    <p:extLst>
      <p:ext uri="{BB962C8B-B14F-4D97-AF65-F5344CB8AC3E}">
        <p14:creationId xmlns:p14="http://schemas.microsoft.com/office/powerpoint/2010/main" val="1891202982"/>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86685"/>
          </a:xfrm>
        </p:spPr>
        <p:txBody>
          <a:bodyPr/>
          <a:lstStyle/>
          <a:p>
            <a:pPr algn="ctr"/>
            <a:r>
              <a:rPr lang="en-PH" dirty="0" smtClean="0">
                <a:solidFill>
                  <a:schemeClr val="accent1">
                    <a:lumMod val="50000"/>
                  </a:schemeClr>
                </a:solidFill>
                <a:latin typeface="Berlin Sans FB" panose="020E0602020502020306" pitchFamily="34" charset="0"/>
              </a:rPr>
              <a:t>Elements of a Communication Process</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472247" y="1473369"/>
            <a:ext cx="11260407" cy="4195481"/>
          </a:xfrm>
        </p:spPr>
        <p:txBody>
          <a:bodyPr>
            <a:noAutofit/>
          </a:bodyPr>
          <a:lstStyle/>
          <a:p>
            <a:pPr marL="0" indent="0">
              <a:buNone/>
            </a:pPr>
            <a:r>
              <a:rPr lang="en-PH" sz="2800" b="1" u="sng" dirty="0" smtClean="0">
                <a:solidFill>
                  <a:schemeClr val="bg1"/>
                </a:solidFill>
                <a:latin typeface="Candara" panose="020E0502030303020204" pitchFamily="34" charset="0"/>
              </a:rPr>
              <a:t>SOURCE-RECEIVER FACTORS</a:t>
            </a:r>
          </a:p>
          <a:p>
            <a:pPr marL="0" indent="0">
              <a:buNone/>
            </a:pPr>
            <a:r>
              <a:rPr lang="en-PH" sz="2800" dirty="0" smtClean="0">
                <a:solidFill>
                  <a:schemeClr val="bg1"/>
                </a:solidFill>
                <a:latin typeface="Candara" panose="020E0502030303020204" pitchFamily="34" charset="0"/>
              </a:rPr>
              <a:t>	</a:t>
            </a:r>
            <a:r>
              <a:rPr lang="en-PH" sz="2800" b="1" dirty="0" smtClean="0">
                <a:solidFill>
                  <a:schemeClr val="bg1"/>
                </a:solidFill>
                <a:latin typeface="Candara" panose="020E0502030303020204" pitchFamily="34" charset="0"/>
              </a:rPr>
              <a:t>Source-</a:t>
            </a:r>
            <a:r>
              <a:rPr lang="en-PH" sz="2800" dirty="0" smtClean="0">
                <a:solidFill>
                  <a:schemeClr val="bg1"/>
                </a:solidFill>
                <a:latin typeface="Candara" panose="020E0502030303020204" pitchFamily="34" charset="0"/>
              </a:rPr>
              <a:t> speaking, writing, gesturing, thinking (ENCODING SKILLS)</a:t>
            </a:r>
          </a:p>
          <a:p>
            <a:pPr marL="0" indent="0">
              <a:buNone/>
            </a:pPr>
            <a:r>
              <a:rPr lang="en-PH" sz="2800" dirty="0" smtClean="0">
                <a:solidFill>
                  <a:schemeClr val="bg1"/>
                </a:solidFill>
                <a:latin typeface="Candara" panose="020E0502030303020204" pitchFamily="34" charset="0"/>
              </a:rPr>
              <a:t>	</a:t>
            </a:r>
            <a:r>
              <a:rPr lang="en-PH" sz="2800" b="1" dirty="0" smtClean="0">
                <a:solidFill>
                  <a:schemeClr val="bg1"/>
                </a:solidFill>
                <a:latin typeface="Candara" panose="020E0502030303020204" pitchFamily="34" charset="0"/>
              </a:rPr>
              <a:t>Receivers</a:t>
            </a:r>
            <a:r>
              <a:rPr lang="en-PH" sz="2800" dirty="0" smtClean="0">
                <a:solidFill>
                  <a:schemeClr val="bg1"/>
                </a:solidFill>
                <a:latin typeface="Candara" panose="020E0502030303020204" pitchFamily="34" charset="0"/>
              </a:rPr>
              <a:t>- listening, reading, inferring, thinking (DECODING SKILLS)</a:t>
            </a:r>
          </a:p>
          <a:p>
            <a:pPr marL="0" indent="0">
              <a:buNone/>
            </a:pPr>
            <a:endParaRPr lang="en-PH" sz="2800" dirty="0" smtClean="0">
              <a:solidFill>
                <a:schemeClr val="bg1"/>
              </a:solidFill>
              <a:latin typeface="Candara" panose="020E0502030303020204" pitchFamily="34" charset="0"/>
            </a:endParaRPr>
          </a:p>
          <a:p>
            <a:pPr marL="0" indent="0">
              <a:buNone/>
            </a:pPr>
            <a:r>
              <a:rPr lang="en-PH" sz="2800" dirty="0">
                <a:solidFill>
                  <a:schemeClr val="bg1"/>
                </a:solidFill>
                <a:latin typeface="Candara" panose="020E0502030303020204" pitchFamily="34" charset="0"/>
              </a:rPr>
              <a:t>	</a:t>
            </a:r>
            <a:r>
              <a:rPr lang="en-PH" sz="2800" dirty="0" smtClean="0">
                <a:solidFill>
                  <a:schemeClr val="bg1"/>
                </a:solidFill>
                <a:latin typeface="Candara" panose="020E0502030303020204" pitchFamily="34" charset="0"/>
              </a:rPr>
              <a:t>Sources has to consider the decoding skill of the receiver for effective communication.</a:t>
            </a:r>
          </a:p>
          <a:p>
            <a:pPr marL="0" indent="0">
              <a:buNone/>
            </a:pPr>
            <a:r>
              <a:rPr lang="en-PH" sz="2800" dirty="0" smtClean="0">
                <a:solidFill>
                  <a:schemeClr val="bg1"/>
                </a:solidFill>
                <a:latin typeface="Candara" panose="020E0502030303020204" pitchFamily="34" charset="0"/>
              </a:rPr>
              <a:t>			Ex. Hard-up in reading, jargons</a:t>
            </a:r>
          </a:p>
          <a:p>
            <a:pPr marL="0" indent="0">
              <a:buNone/>
            </a:pPr>
            <a:r>
              <a:rPr lang="en-PH" sz="2800" dirty="0" smtClean="0">
                <a:solidFill>
                  <a:schemeClr val="bg1"/>
                </a:solidFill>
                <a:latin typeface="Candara" panose="020E0502030303020204" pitchFamily="34" charset="0"/>
              </a:rPr>
              <a:t>				Sources knowledge of the subject.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35787553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69" y="182262"/>
            <a:ext cx="9404723" cy="886685"/>
          </a:xfrm>
        </p:spPr>
        <p:txBody>
          <a:bodyPr/>
          <a:lstStyle/>
          <a:p>
            <a:pPr algn="ctr"/>
            <a:r>
              <a:rPr lang="en-PH" dirty="0" smtClean="0">
                <a:solidFill>
                  <a:schemeClr val="accent1">
                    <a:lumMod val="50000"/>
                  </a:schemeClr>
                </a:solidFill>
                <a:latin typeface="Berlin Sans FB" panose="020E0602020502020306" pitchFamily="34" charset="0"/>
              </a:rPr>
              <a:t>Elements of a Communication Process</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562399" y="932457"/>
            <a:ext cx="11260407" cy="4195481"/>
          </a:xfrm>
        </p:spPr>
        <p:txBody>
          <a:bodyPr>
            <a:noAutofit/>
          </a:bodyPr>
          <a:lstStyle/>
          <a:p>
            <a:pPr marL="0" indent="0">
              <a:buNone/>
            </a:pPr>
            <a:r>
              <a:rPr lang="en-PH" sz="2800" u="sng" dirty="0" smtClean="0">
                <a:solidFill>
                  <a:schemeClr val="bg1"/>
                </a:solidFill>
                <a:latin typeface="Candara" panose="020E0502030303020204" pitchFamily="34" charset="0"/>
              </a:rPr>
              <a:t>MESSAGE FACTORS</a:t>
            </a:r>
          </a:p>
          <a:p>
            <a:pPr marL="0" indent="0">
              <a:buNone/>
            </a:pPr>
            <a:r>
              <a:rPr lang="en-PH" sz="2800" dirty="0" smtClean="0">
                <a:solidFill>
                  <a:schemeClr val="bg1"/>
                </a:solidFill>
                <a:latin typeface="Candara" panose="020E0502030303020204" pitchFamily="34" charset="0"/>
              </a:rPr>
              <a:t>The level of difficulty of language used.</a:t>
            </a:r>
          </a:p>
          <a:p>
            <a:pPr marL="0" indent="0">
              <a:buNone/>
            </a:pPr>
            <a:endParaRPr lang="en-PH" sz="2800" dirty="0">
              <a:solidFill>
                <a:schemeClr val="bg1"/>
              </a:solidFill>
              <a:latin typeface="Candara" panose="020E0502030303020204" pitchFamily="34" charset="0"/>
            </a:endParaRPr>
          </a:p>
          <a:p>
            <a:pPr marL="0" indent="0">
              <a:buNone/>
            </a:pPr>
            <a:r>
              <a:rPr lang="en-PH" sz="2800" u="sng" dirty="0" smtClean="0">
                <a:solidFill>
                  <a:schemeClr val="bg1"/>
                </a:solidFill>
                <a:latin typeface="Candara" panose="020E0502030303020204" pitchFamily="34" charset="0"/>
              </a:rPr>
              <a:t>CHANNEL FACTORS</a:t>
            </a:r>
          </a:p>
          <a:p>
            <a:pPr marL="0" indent="0">
              <a:buNone/>
            </a:pPr>
            <a:r>
              <a:rPr lang="en-PH" sz="2800" dirty="0" smtClean="0">
                <a:solidFill>
                  <a:schemeClr val="bg1"/>
                </a:solidFill>
                <a:latin typeface="Candara" panose="020E0502030303020204" pitchFamily="34" charset="0"/>
              </a:rPr>
              <a:t>Variety of channels be considered to suit specific communication transaction.</a:t>
            </a:r>
          </a:p>
          <a:p>
            <a:pPr marL="0" indent="0">
              <a:buNone/>
            </a:pPr>
            <a:endParaRPr lang="en-PH" sz="2800" dirty="0">
              <a:solidFill>
                <a:schemeClr val="bg1"/>
              </a:solidFill>
              <a:latin typeface="Candara" panose="020E0502030303020204" pitchFamily="34" charset="0"/>
            </a:endParaRPr>
          </a:p>
          <a:p>
            <a:pPr marL="0" indent="0">
              <a:buNone/>
            </a:pPr>
            <a:r>
              <a:rPr lang="en-PH" sz="2800" u="sng" dirty="0" smtClean="0">
                <a:solidFill>
                  <a:schemeClr val="bg1"/>
                </a:solidFill>
                <a:latin typeface="Candara" panose="020E0502030303020204" pitchFamily="34" charset="0"/>
              </a:rPr>
              <a:t>PURPOSE FACTORS</a:t>
            </a:r>
          </a:p>
          <a:p>
            <a:pPr marL="0" indent="0">
              <a:buNone/>
            </a:pPr>
            <a:r>
              <a:rPr lang="en-PH" sz="2800" dirty="0" smtClean="0">
                <a:solidFill>
                  <a:schemeClr val="bg1"/>
                </a:solidFill>
                <a:latin typeface="Candara" panose="020E0502030303020204" pitchFamily="34" charset="0"/>
              </a:rPr>
              <a:t>What is your purpose of communicating with the receivers? The aims should be clearly identified to serve as guide towards effective communication.</a:t>
            </a:r>
          </a:p>
        </p:txBody>
      </p:sp>
    </p:spTree>
    <p:extLst>
      <p:ext uri="{BB962C8B-B14F-4D97-AF65-F5344CB8AC3E}">
        <p14:creationId xmlns:p14="http://schemas.microsoft.com/office/powerpoint/2010/main" val="182825077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69" y="182262"/>
            <a:ext cx="9404723" cy="886685"/>
          </a:xfrm>
        </p:spPr>
        <p:txBody>
          <a:bodyPr/>
          <a:lstStyle/>
          <a:p>
            <a:pPr algn="ctr"/>
            <a:r>
              <a:rPr lang="en-PH" dirty="0" smtClean="0">
                <a:solidFill>
                  <a:schemeClr val="accent1">
                    <a:lumMod val="50000"/>
                  </a:schemeClr>
                </a:solidFill>
                <a:latin typeface="Berlin Sans FB" panose="020E0602020502020306" pitchFamily="34" charset="0"/>
              </a:rPr>
              <a:t>Resources of the Community</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562399" y="932457"/>
            <a:ext cx="11260407" cy="4195481"/>
          </a:xfrm>
        </p:spPr>
        <p:txBody>
          <a:bodyPr>
            <a:noAutofit/>
          </a:bodyPr>
          <a:lstStyle/>
          <a:p>
            <a:pPr marL="0" indent="0">
              <a:buNone/>
            </a:pPr>
            <a:r>
              <a:rPr lang="en-PH" sz="2800" u="sng" dirty="0" smtClean="0">
                <a:solidFill>
                  <a:schemeClr val="bg1"/>
                </a:solidFill>
                <a:latin typeface="Candara" panose="020E0502030303020204" pitchFamily="34" charset="0"/>
              </a:rPr>
              <a:t>HUMAN RESOURCES</a:t>
            </a:r>
          </a:p>
          <a:p>
            <a:pPr marL="0" indent="0">
              <a:buNone/>
            </a:pPr>
            <a:r>
              <a:rPr lang="en-PH" sz="2800" dirty="0" smtClean="0">
                <a:solidFill>
                  <a:schemeClr val="bg1"/>
                </a:solidFill>
                <a:latin typeface="Candara" panose="020E0502030303020204" pitchFamily="34" charset="0"/>
              </a:rPr>
              <a:t>	Are the people with their own knowledge, skills, attitudes, values, perception and experiences.</a:t>
            </a:r>
          </a:p>
          <a:p>
            <a:pPr marL="0" indent="0">
              <a:buNone/>
            </a:pPr>
            <a:r>
              <a:rPr lang="en-PH" sz="2800" dirty="0" smtClean="0">
                <a:solidFill>
                  <a:schemeClr val="bg1"/>
                </a:solidFill>
                <a:latin typeface="Candara" panose="020E0502030303020204" pitchFamily="34" charset="0"/>
              </a:rPr>
              <a:t>	People belong to different categories of adopters and they may be in the different stages in the adoption process.</a:t>
            </a:r>
          </a:p>
          <a:p>
            <a:pPr marL="0" indent="0">
              <a:buNone/>
            </a:pPr>
            <a:endParaRPr lang="en-PH" sz="2800" dirty="0">
              <a:solidFill>
                <a:schemeClr val="bg1"/>
              </a:solidFill>
              <a:latin typeface="Candara" panose="020E0502030303020204" pitchFamily="34" charset="0"/>
            </a:endParaRPr>
          </a:p>
          <a:p>
            <a:pPr marL="0" indent="0">
              <a:buNone/>
            </a:pPr>
            <a:r>
              <a:rPr lang="en-PH" sz="2800" u="sng" dirty="0" smtClean="0">
                <a:solidFill>
                  <a:schemeClr val="bg1"/>
                </a:solidFill>
                <a:latin typeface="Candara" panose="020E0502030303020204" pitchFamily="34" charset="0"/>
              </a:rPr>
              <a:t>NON-HUMAN RESOURCES</a:t>
            </a:r>
          </a:p>
          <a:p>
            <a:pPr marL="0" indent="0">
              <a:buNone/>
            </a:pPr>
            <a:r>
              <a:rPr lang="en-PH" sz="2800" dirty="0" smtClean="0">
                <a:solidFill>
                  <a:schemeClr val="bg1"/>
                </a:solidFill>
                <a:latin typeface="Candara" panose="020E0502030303020204" pitchFamily="34" charset="0"/>
              </a:rPr>
              <a:t>	The natural resources. The existing condition of these resources could spell the success or failure in communication transaction. </a:t>
            </a:r>
            <a:r>
              <a:rPr lang="en-PH" sz="2800" dirty="0" smtClean="0">
                <a:solidFill>
                  <a:srgbClr val="FF0000"/>
                </a:solidFill>
                <a:latin typeface="Candara" panose="020E0502030303020204" pitchFamily="34" charset="0"/>
              </a:rPr>
              <a:t>One cannot advocate the planting of trees if they don not have adequate land.</a:t>
            </a:r>
          </a:p>
        </p:txBody>
      </p:sp>
    </p:spTree>
    <p:extLst>
      <p:ext uri="{BB962C8B-B14F-4D97-AF65-F5344CB8AC3E}">
        <p14:creationId xmlns:p14="http://schemas.microsoft.com/office/powerpoint/2010/main" val="2022154592"/>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69" y="182262"/>
            <a:ext cx="9404723" cy="886685"/>
          </a:xfrm>
        </p:spPr>
        <p:txBody>
          <a:bodyPr/>
          <a:lstStyle/>
          <a:p>
            <a:pPr algn="ctr"/>
            <a:r>
              <a:rPr lang="en-PH" dirty="0" smtClean="0">
                <a:solidFill>
                  <a:schemeClr val="accent1">
                    <a:lumMod val="50000"/>
                  </a:schemeClr>
                </a:solidFill>
                <a:latin typeface="Berlin Sans FB" panose="020E0602020502020306" pitchFamily="34" charset="0"/>
              </a:rPr>
              <a:t>Organizational Communication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562399" y="932457"/>
            <a:ext cx="11260407" cy="5597132"/>
          </a:xfrm>
        </p:spPr>
        <p:txBody>
          <a:bodyPr>
            <a:noAutofit/>
          </a:bodyPr>
          <a:lstStyle/>
          <a:p>
            <a:r>
              <a:rPr lang="en-PH" sz="2800" dirty="0" smtClean="0">
                <a:solidFill>
                  <a:schemeClr val="bg1"/>
                </a:solidFill>
                <a:latin typeface="Candara" panose="020E0502030303020204" pitchFamily="34" charset="0"/>
              </a:rPr>
              <a:t>Is the type of communication following the structure of an organization.</a:t>
            </a:r>
          </a:p>
          <a:p>
            <a:r>
              <a:rPr lang="en-PH" sz="2800" dirty="0" smtClean="0">
                <a:solidFill>
                  <a:schemeClr val="bg1"/>
                </a:solidFill>
                <a:latin typeface="Candara" panose="020E0502030303020204" pitchFamily="34" charset="0"/>
              </a:rPr>
              <a:t>it tends to follow patterns of formal and informal processes corresponding to those structures.</a:t>
            </a:r>
          </a:p>
          <a:p>
            <a:pPr marL="0" indent="0">
              <a:buNone/>
            </a:pPr>
            <a:r>
              <a:rPr lang="en-PH" sz="2800" u="sng" dirty="0" smtClean="0">
                <a:solidFill>
                  <a:schemeClr val="bg1"/>
                </a:solidFill>
                <a:latin typeface="Candara" panose="020E0502030303020204" pitchFamily="34" charset="0"/>
              </a:rPr>
              <a:t>FORMAL CHANNELS</a:t>
            </a:r>
          </a:p>
          <a:p>
            <a:pPr marL="0" indent="0">
              <a:buNone/>
            </a:pPr>
            <a:r>
              <a:rPr lang="en-PH" sz="2800" dirty="0" smtClean="0">
                <a:solidFill>
                  <a:schemeClr val="bg1"/>
                </a:solidFill>
                <a:latin typeface="Candara" panose="020E0502030303020204" pitchFamily="34" charset="0"/>
              </a:rPr>
              <a:t>	</a:t>
            </a:r>
            <a:r>
              <a:rPr lang="en-PH" sz="2800" dirty="0">
                <a:solidFill>
                  <a:schemeClr val="bg1"/>
                </a:solidFill>
                <a:latin typeface="Candara" panose="020E0502030303020204" pitchFamily="34" charset="0"/>
              </a:rPr>
              <a:t>I</a:t>
            </a:r>
            <a:r>
              <a:rPr lang="en-PH" sz="2800" dirty="0" smtClean="0">
                <a:solidFill>
                  <a:schemeClr val="bg1"/>
                </a:solidFill>
                <a:latin typeface="Candara" panose="020E0502030303020204" pitchFamily="34" charset="0"/>
              </a:rPr>
              <a:t>t prescribes who reports to whom and in what forms these 	communication will take place.</a:t>
            </a:r>
          </a:p>
          <a:p>
            <a:pPr marL="0" indent="0">
              <a:buNone/>
            </a:pPr>
            <a:r>
              <a:rPr lang="en-PH" sz="2800" u="sng" dirty="0" smtClean="0">
                <a:solidFill>
                  <a:schemeClr val="bg1"/>
                </a:solidFill>
                <a:latin typeface="Candara" panose="020E0502030303020204" pitchFamily="34" charset="0"/>
              </a:rPr>
              <a:t>INFORMAL CHANNELS</a:t>
            </a:r>
          </a:p>
          <a:p>
            <a:pPr marL="0" indent="0">
              <a:buNone/>
            </a:pPr>
            <a:r>
              <a:rPr lang="en-PH" sz="2800" dirty="0">
                <a:solidFill>
                  <a:schemeClr val="bg1"/>
                </a:solidFill>
                <a:latin typeface="Candara" panose="020E0502030303020204" pitchFamily="34" charset="0"/>
              </a:rPr>
              <a:t>	</a:t>
            </a:r>
            <a:r>
              <a:rPr lang="en-PH" sz="2800" dirty="0" smtClean="0">
                <a:solidFill>
                  <a:schemeClr val="bg1"/>
                </a:solidFill>
                <a:latin typeface="Candara" panose="020E0502030303020204" pitchFamily="34" charset="0"/>
              </a:rPr>
              <a:t>Unsanctioned personal network of information among employees fostered by social relationship and friendship.</a:t>
            </a: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10976797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69" y="182262"/>
            <a:ext cx="9404723" cy="886685"/>
          </a:xfrm>
        </p:spPr>
        <p:txBody>
          <a:bodyPr/>
          <a:lstStyle/>
          <a:p>
            <a:pPr algn="ctr"/>
            <a:r>
              <a:rPr lang="en-PH" dirty="0" smtClean="0">
                <a:solidFill>
                  <a:schemeClr val="accent1">
                    <a:lumMod val="50000"/>
                  </a:schemeClr>
                </a:solidFill>
                <a:latin typeface="Berlin Sans FB" panose="020E0602020502020306" pitchFamily="34" charset="0"/>
              </a:rPr>
              <a:t>Organizational Communication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671869" y="1260868"/>
            <a:ext cx="11260407" cy="5597132"/>
          </a:xfrm>
        </p:spPr>
        <p:txBody>
          <a:bodyPr>
            <a:noAutofit/>
          </a:bodyPr>
          <a:lstStyle/>
          <a:p>
            <a:pPr marL="0" indent="0">
              <a:buNone/>
            </a:pPr>
            <a:r>
              <a:rPr lang="en-PH" sz="2800" dirty="0" smtClean="0">
                <a:solidFill>
                  <a:schemeClr val="bg1"/>
                </a:solidFill>
                <a:latin typeface="Candara" panose="020E0502030303020204" pitchFamily="34" charset="0"/>
              </a:rPr>
              <a:t>Categories of FORMAL Communication in Organization</a:t>
            </a:r>
          </a:p>
          <a:p>
            <a:pPr marL="514350" indent="-514350">
              <a:buAutoNum type="alphaUcPeriod"/>
            </a:pPr>
            <a:r>
              <a:rPr lang="en-PH" sz="2800" dirty="0" smtClean="0">
                <a:solidFill>
                  <a:schemeClr val="bg1"/>
                </a:solidFill>
                <a:latin typeface="Candara" panose="020E0502030303020204" pitchFamily="34" charset="0"/>
              </a:rPr>
              <a:t>Downward Communication</a:t>
            </a:r>
          </a:p>
          <a:p>
            <a:pPr marL="514350" indent="-514350">
              <a:buAutoNum type="alphaUcPeriod"/>
            </a:pPr>
            <a:r>
              <a:rPr lang="en-PH" sz="2800" dirty="0" smtClean="0">
                <a:solidFill>
                  <a:schemeClr val="bg1"/>
                </a:solidFill>
                <a:latin typeface="Candara" panose="020E0502030303020204" pitchFamily="34" charset="0"/>
              </a:rPr>
              <a:t>Horizontal Communication</a:t>
            </a:r>
          </a:p>
          <a:p>
            <a:pPr marL="514350" indent="-514350">
              <a:buAutoNum type="alphaUcPeriod"/>
            </a:pPr>
            <a:r>
              <a:rPr lang="en-PH" sz="2800" dirty="0" smtClean="0">
                <a:solidFill>
                  <a:schemeClr val="bg1"/>
                </a:solidFill>
                <a:latin typeface="Candara" panose="020E0502030303020204" pitchFamily="34" charset="0"/>
              </a:rPr>
              <a:t>Upward Communication</a:t>
            </a: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94584800"/>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69" y="182262"/>
            <a:ext cx="9404723" cy="886685"/>
          </a:xfrm>
        </p:spPr>
        <p:txBody>
          <a:bodyPr/>
          <a:lstStyle/>
          <a:p>
            <a:pPr algn="ctr"/>
            <a:r>
              <a:rPr lang="en-PH" dirty="0" smtClean="0">
                <a:solidFill>
                  <a:schemeClr val="accent1">
                    <a:lumMod val="50000"/>
                  </a:schemeClr>
                </a:solidFill>
                <a:latin typeface="Berlin Sans FB" panose="020E0602020502020306" pitchFamily="34" charset="0"/>
              </a:rPr>
              <a:t>Organizational Communication</a:t>
            </a:r>
            <a:endParaRPr lang="en-PH" dirty="0">
              <a:solidFill>
                <a:schemeClr val="accent1">
                  <a:lumMod val="50000"/>
                </a:schemeClr>
              </a:solidFill>
              <a:latin typeface="Berlin Sans FB" panose="020E0602020502020306" pitchFamily="34" charset="0"/>
            </a:endParaRPr>
          </a:p>
        </p:txBody>
      </p:sp>
      <p:sp>
        <p:nvSpPr>
          <p:cNvPr id="3" name="Content Placeholder 2"/>
          <p:cNvSpPr>
            <a:spLocks noGrp="1"/>
          </p:cNvSpPr>
          <p:nvPr>
            <p:ph idx="1"/>
          </p:nvPr>
        </p:nvSpPr>
        <p:spPr>
          <a:xfrm>
            <a:off x="530201" y="964654"/>
            <a:ext cx="11260407" cy="5597132"/>
          </a:xfrm>
        </p:spPr>
        <p:txBody>
          <a:bodyPr>
            <a:noAutofit/>
          </a:bodyPr>
          <a:lstStyle/>
          <a:p>
            <a:pPr marL="0" indent="0">
              <a:buNone/>
            </a:pPr>
            <a:r>
              <a:rPr lang="en-PH" sz="2800" u="sng" dirty="0" smtClean="0">
                <a:solidFill>
                  <a:schemeClr val="bg1"/>
                </a:solidFill>
                <a:latin typeface="Candara" panose="020E0502030303020204" pitchFamily="34" charset="0"/>
              </a:rPr>
              <a:t>A. Downward Communication.</a:t>
            </a:r>
          </a:p>
          <a:p>
            <a:r>
              <a:rPr lang="en-PH" sz="2800" dirty="0" smtClean="0">
                <a:solidFill>
                  <a:schemeClr val="bg1"/>
                </a:solidFill>
                <a:latin typeface="Candara" panose="020E0502030303020204" pitchFamily="34" charset="0"/>
              </a:rPr>
              <a:t>DA secretary gives instructions about new projects to the different Provincial Agriculturist.</a:t>
            </a:r>
          </a:p>
          <a:p>
            <a:pPr marL="0" indent="0">
              <a:buNone/>
            </a:pPr>
            <a:endParaRPr lang="en-PH" sz="2800" dirty="0">
              <a:solidFill>
                <a:schemeClr val="bg1"/>
              </a:solidFill>
              <a:latin typeface="Candara" panose="020E0502030303020204" pitchFamily="34" charset="0"/>
            </a:endParaRPr>
          </a:p>
          <a:p>
            <a:pPr marL="0" indent="0">
              <a:buNone/>
            </a:pPr>
            <a:r>
              <a:rPr lang="en-PH" sz="2800" u="sng" dirty="0" smtClean="0">
                <a:solidFill>
                  <a:schemeClr val="bg1"/>
                </a:solidFill>
                <a:latin typeface="Candara" panose="020E0502030303020204" pitchFamily="34" charset="0"/>
              </a:rPr>
              <a:t>B. Horizontal Communication</a:t>
            </a:r>
          </a:p>
          <a:p>
            <a:r>
              <a:rPr lang="en-PH" sz="2800" dirty="0" smtClean="0">
                <a:solidFill>
                  <a:schemeClr val="bg1"/>
                </a:solidFill>
                <a:latin typeface="Candara" panose="020E0502030303020204" pitchFamily="34" charset="0"/>
              </a:rPr>
              <a:t>Exchanging information between pears at any organizational level, usually to coordinate activities.</a:t>
            </a:r>
          </a:p>
          <a:p>
            <a:pPr marL="0" indent="0">
              <a:buNone/>
            </a:pPr>
            <a:endParaRPr lang="en-PH" sz="2800" dirty="0">
              <a:solidFill>
                <a:schemeClr val="bg1"/>
              </a:solidFill>
              <a:latin typeface="Candara" panose="020E0502030303020204" pitchFamily="34" charset="0"/>
            </a:endParaRPr>
          </a:p>
          <a:p>
            <a:pPr marL="0" indent="0">
              <a:buNone/>
            </a:pPr>
            <a:r>
              <a:rPr lang="en-PH" sz="2800" u="sng" dirty="0" smtClean="0">
                <a:solidFill>
                  <a:schemeClr val="bg1"/>
                </a:solidFill>
                <a:latin typeface="Candara" panose="020E0502030303020204" pitchFamily="34" charset="0"/>
              </a:rPr>
              <a:t>C. Upward Communication</a:t>
            </a:r>
          </a:p>
          <a:p>
            <a:r>
              <a:rPr lang="en-PH" sz="2800" dirty="0" smtClean="0">
                <a:solidFill>
                  <a:schemeClr val="bg1"/>
                </a:solidFill>
                <a:latin typeface="Candara" panose="020E0502030303020204" pitchFamily="34" charset="0"/>
              </a:rPr>
              <a:t>Communication from subordinates to the superior.</a:t>
            </a:r>
          </a:p>
          <a:p>
            <a:endParaRPr lang="en-PH" sz="2800" dirty="0" smtClean="0">
              <a:solidFill>
                <a:schemeClr val="bg1"/>
              </a:solidFill>
              <a:latin typeface="Candara" panose="020E0502030303020204" pitchFamily="34" charset="0"/>
            </a:endParaRP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59080069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idx="4294967295"/>
          </p:nvPr>
        </p:nvSpPr>
        <p:spPr>
          <a:xfrm>
            <a:off x="2286001" y="198439"/>
            <a:ext cx="7477125" cy="2592387"/>
          </a:xfrm>
        </p:spPr>
        <p:txBody>
          <a:bodyPr/>
          <a:lstStyle/>
          <a:p>
            <a:pPr eaLnBrk="1" hangingPunct="1"/>
            <a:r>
              <a:rPr lang="en-US" sz="4000">
                <a:solidFill>
                  <a:schemeClr val="accent1">
                    <a:lumMod val="50000"/>
                  </a:schemeClr>
                </a:solidFill>
                <a:latin typeface="Candara" panose="020E0502030303020204" pitchFamily="34" charset="0"/>
              </a:rPr>
              <a:t>8.This element of communication refers to the method by which an idea is conveyed.</a:t>
            </a:r>
          </a:p>
        </p:txBody>
      </p:sp>
      <p:sp>
        <p:nvSpPr>
          <p:cNvPr id="3" name="Content Placeholder 2"/>
          <p:cNvSpPr>
            <a:spLocks noGrp="1"/>
          </p:cNvSpPr>
          <p:nvPr>
            <p:ph idx="4294967295"/>
          </p:nvPr>
        </p:nvSpPr>
        <p:spPr>
          <a:xfrm>
            <a:off x="3287714" y="2636838"/>
            <a:ext cx="7386637" cy="3429000"/>
          </a:xfrm>
        </p:spPr>
        <p:txBody>
          <a:bodyPr/>
          <a:lstStyle/>
          <a:p>
            <a:pPr eaLnBrk="1" hangingPunct="1">
              <a:buFontTx/>
              <a:buNone/>
            </a:pPr>
            <a:r>
              <a:rPr lang="en-US" sz="4000">
                <a:solidFill>
                  <a:schemeClr val="accent1">
                    <a:lumMod val="50000"/>
                  </a:schemeClr>
                </a:solidFill>
                <a:latin typeface="Candara" panose="020E0502030303020204" pitchFamily="34" charset="0"/>
              </a:rPr>
              <a:t>A. Receiver</a:t>
            </a:r>
          </a:p>
          <a:p>
            <a:pPr eaLnBrk="1" hangingPunct="1">
              <a:buFontTx/>
              <a:buNone/>
            </a:pPr>
            <a:r>
              <a:rPr lang="en-US" sz="4000">
                <a:solidFill>
                  <a:schemeClr val="accent1">
                    <a:lumMod val="50000"/>
                  </a:schemeClr>
                </a:solidFill>
                <a:latin typeface="Candara" panose="020E0502030303020204" pitchFamily="34" charset="0"/>
              </a:rPr>
              <a:t>B. Channel</a:t>
            </a:r>
          </a:p>
          <a:p>
            <a:pPr eaLnBrk="1" hangingPunct="1">
              <a:buFontTx/>
              <a:buNone/>
            </a:pPr>
            <a:r>
              <a:rPr lang="en-US" sz="4000">
                <a:solidFill>
                  <a:schemeClr val="accent1">
                    <a:lumMod val="50000"/>
                  </a:schemeClr>
                </a:solidFill>
                <a:latin typeface="Candara" panose="020E0502030303020204" pitchFamily="34" charset="0"/>
              </a:rPr>
              <a:t>C. Source</a:t>
            </a:r>
          </a:p>
          <a:p>
            <a:pPr eaLnBrk="1" hangingPunct="1">
              <a:buFontTx/>
              <a:buNone/>
            </a:pPr>
            <a:r>
              <a:rPr lang="en-US" sz="4000">
                <a:solidFill>
                  <a:schemeClr val="accent1">
                    <a:lumMod val="50000"/>
                  </a:schemeClr>
                </a:solidFill>
                <a:latin typeface="Candara" panose="020E0502030303020204" pitchFamily="34" charset="0"/>
              </a:rPr>
              <a:t>D. feedback</a:t>
            </a:r>
          </a:p>
        </p:txBody>
      </p:sp>
      <p:sp>
        <p:nvSpPr>
          <p:cNvPr id="44037" name="Text Box 5"/>
          <p:cNvSpPr txBox="1">
            <a:spLocks noChangeArrowheads="1"/>
          </p:cNvSpPr>
          <p:nvPr/>
        </p:nvSpPr>
        <p:spPr bwMode="auto">
          <a:xfrm>
            <a:off x="2514600" y="5776914"/>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Channel </a:t>
            </a:r>
          </a:p>
        </p:txBody>
      </p:sp>
    </p:spTree>
    <p:extLst>
      <p:ext uri="{BB962C8B-B14F-4D97-AF65-F5344CB8AC3E}">
        <p14:creationId xmlns:p14="http://schemas.microsoft.com/office/powerpoint/2010/main" val="2913699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3">
                                            <p:txEl>
                                              <p:pRg st="0" end="0"/>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44037"/>
                                        </p:tgtEl>
                                        <p:attrNameLst>
                                          <p:attrName>style.visibility</p:attrName>
                                        </p:attrNameLst>
                                      </p:cBhvr>
                                      <p:to>
                                        <p:strVal val="visible"/>
                                      </p:to>
                                    </p:set>
                                    <p:animEffect transition="in" filter="wipe(down)">
                                      <p:cBhvr>
                                        <p:cTn id="11" dur="580">
                                          <p:stCondLst>
                                            <p:cond delay="0"/>
                                          </p:stCondLst>
                                        </p:cTn>
                                        <p:tgtEl>
                                          <p:spTgt spid="44037"/>
                                        </p:tgtEl>
                                      </p:cBhvr>
                                    </p:animEffect>
                                    <p:anim calcmode="lin" valueType="num">
                                      <p:cBhvr>
                                        <p:cTn id="12" dur="1822" tmFilter="0,0; 0.14,0.36; 0.43,0.73; 0.71,0.91; 1.0,1.0">
                                          <p:stCondLst>
                                            <p:cond delay="0"/>
                                          </p:stCondLst>
                                        </p:cTn>
                                        <p:tgtEl>
                                          <p:spTgt spid="44037"/>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44037"/>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44037"/>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44037"/>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44037"/>
                                        </p:tgtEl>
                                        <p:attrNameLst>
                                          <p:attrName>ppt_y</p:attrName>
                                        </p:attrNameLst>
                                      </p:cBhvr>
                                      <p:tavLst>
                                        <p:tav tm="0" fmla="#ppt_y-sin(pi*$)/81">
                                          <p:val>
                                            <p:fltVal val="0"/>
                                          </p:val>
                                        </p:tav>
                                        <p:tav tm="100000">
                                          <p:val>
                                            <p:fltVal val="1"/>
                                          </p:val>
                                        </p:tav>
                                      </p:tavLst>
                                    </p:anim>
                                    <p:animScale>
                                      <p:cBhvr>
                                        <p:cTn id="17" dur="26">
                                          <p:stCondLst>
                                            <p:cond delay="650"/>
                                          </p:stCondLst>
                                        </p:cTn>
                                        <p:tgtEl>
                                          <p:spTgt spid="44037"/>
                                        </p:tgtEl>
                                      </p:cBhvr>
                                      <p:to x="100000" y="60000"/>
                                    </p:animScale>
                                    <p:animScale>
                                      <p:cBhvr>
                                        <p:cTn id="18" dur="166" decel="50000">
                                          <p:stCondLst>
                                            <p:cond delay="676"/>
                                          </p:stCondLst>
                                        </p:cTn>
                                        <p:tgtEl>
                                          <p:spTgt spid="44037"/>
                                        </p:tgtEl>
                                      </p:cBhvr>
                                      <p:to x="100000" y="100000"/>
                                    </p:animScale>
                                    <p:animScale>
                                      <p:cBhvr>
                                        <p:cTn id="19" dur="26">
                                          <p:stCondLst>
                                            <p:cond delay="1312"/>
                                          </p:stCondLst>
                                        </p:cTn>
                                        <p:tgtEl>
                                          <p:spTgt spid="44037"/>
                                        </p:tgtEl>
                                      </p:cBhvr>
                                      <p:to x="100000" y="80000"/>
                                    </p:animScale>
                                    <p:animScale>
                                      <p:cBhvr>
                                        <p:cTn id="20" dur="166" decel="50000">
                                          <p:stCondLst>
                                            <p:cond delay="1338"/>
                                          </p:stCondLst>
                                        </p:cTn>
                                        <p:tgtEl>
                                          <p:spTgt spid="44037"/>
                                        </p:tgtEl>
                                      </p:cBhvr>
                                      <p:to x="100000" y="100000"/>
                                    </p:animScale>
                                    <p:animScale>
                                      <p:cBhvr>
                                        <p:cTn id="21" dur="26">
                                          <p:stCondLst>
                                            <p:cond delay="1642"/>
                                          </p:stCondLst>
                                        </p:cTn>
                                        <p:tgtEl>
                                          <p:spTgt spid="44037"/>
                                        </p:tgtEl>
                                      </p:cBhvr>
                                      <p:to x="100000" y="90000"/>
                                    </p:animScale>
                                    <p:animScale>
                                      <p:cBhvr>
                                        <p:cTn id="22" dur="166" decel="50000">
                                          <p:stCondLst>
                                            <p:cond delay="1668"/>
                                          </p:stCondLst>
                                        </p:cTn>
                                        <p:tgtEl>
                                          <p:spTgt spid="44037"/>
                                        </p:tgtEl>
                                      </p:cBhvr>
                                      <p:to x="100000" y="100000"/>
                                    </p:animScale>
                                    <p:animScale>
                                      <p:cBhvr>
                                        <p:cTn id="23" dur="26">
                                          <p:stCondLst>
                                            <p:cond delay="1808"/>
                                          </p:stCondLst>
                                        </p:cTn>
                                        <p:tgtEl>
                                          <p:spTgt spid="44037"/>
                                        </p:tgtEl>
                                      </p:cBhvr>
                                      <p:to x="100000" y="95000"/>
                                    </p:animScale>
                                    <p:animScale>
                                      <p:cBhvr>
                                        <p:cTn id="24" dur="166" decel="50000">
                                          <p:stCondLst>
                                            <p:cond delay="1834"/>
                                          </p:stCondLst>
                                        </p:cTn>
                                        <p:tgtEl>
                                          <p:spTgt spid="4403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idx="4294967295"/>
          </p:nvPr>
        </p:nvSpPr>
        <p:spPr>
          <a:xfrm>
            <a:off x="2163764" y="381000"/>
            <a:ext cx="8351837" cy="1525588"/>
          </a:xfrm>
        </p:spPr>
        <p:txBody>
          <a:bodyPr/>
          <a:lstStyle/>
          <a:p>
            <a:pPr eaLnBrk="1" hangingPunct="1"/>
            <a:r>
              <a:rPr lang="en-US" sz="3600">
                <a:solidFill>
                  <a:schemeClr val="accent1">
                    <a:lumMod val="50000"/>
                  </a:schemeClr>
                </a:solidFill>
                <a:latin typeface="Candara" panose="020E0502030303020204" pitchFamily="34" charset="0"/>
              </a:rPr>
              <a:t>9. They are the targets of a communication</a:t>
            </a:r>
            <a:br>
              <a:rPr lang="en-US" sz="3600">
                <a:solidFill>
                  <a:schemeClr val="accent1">
                    <a:lumMod val="50000"/>
                  </a:schemeClr>
                </a:solidFill>
                <a:latin typeface="Candara" panose="020E0502030303020204" pitchFamily="34" charset="0"/>
              </a:rPr>
            </a:br>
            <a:endParaRPr lang="en-US" sz="3600">
              <a:solidFill>
                <a:schemeClr val="accent1">
                  <a:lumMod val="50000"/>
                </a:schemeClr>
              </a:solidFill>
              <a:latin typeface="Candara" panose="020E0502030303020204" pitchFamily="34" charset="0"/>
            </a:endParaRPr>
          </a:p>
        </p:txBody>
      </p:sp>
      <p:sp>
        <p:nvSpPr>
          <p:cNvPr id="93187" name="Content Placeholder 2"/>
          <p:cNvSpPr>
            <a:spLocks noGrp="1"/>
          </p:cNvSpPr>
          <p:nvPr>
            <p:ph idx="4294967295"/>
          </p:nvPr>
        </p:nvSpPr>
        <p:spPr>
          <a:xfrm>
            <a:off x="2209800" y="1752600"/>
            <a:ext cx="7386638" cy="4497388"/>
          </a:xfrm>
        </p:spPr>
        <p:txBody>
          <a:bodyPr/>
          <a:lstStyle/>
          <a:p>
            <a:pPr eaLnBrk="1" hangingPunct="1">
              <a:buFontTx/>
              <a:buAutoNum type="alphaLcPeriod"/>
            </a:pPr>
            <a:r>
              <a:rPr lang="en-US" sz="3600">
                <a:solidFill>
                  <a:schemeClr val="accent1">
                    <a:lumMod val="50000"/>
                  </a:schemeClr>
                </a:solidFill>
                <a:latin typeface="Candara" panose="020E0502030303020204" pitchFamily="34" charset="0"/>
              </a:rPr>
              <a:t>Senders</a:t>
            </a:r>
          </a:p>
          <a:p>
            <a:pPr eaLnBrk="1" hangingPunct="1">
              <a:buFontTx/>
              <a:buAutoNum type="alphaLcPeriod"/>
            </a:pPr>
            <a:r>
              <a:rPr lang="en-US" sz="3600">
                <a:solidFill>
                  <a:schemeClr val="accent1">
                    <a:lumMod val="50000"/>
                  </a:schemeClr>
                </a:solidFill>
                <a:latin typeface="Candara" panose="020E0502030303020204" pitchFamily="34" charset="0"/>
              </a:rPr>
              <a:t>Receivers</a:t>
            </a:r>
          </a:p>
          <a:p>
            <a:pPr eaLnBrk="1" hangingPunct="1">
              <a:buFontTx/>
              <a:buAutoNum type="alphaLcPeriod"/>
            </a:pPr>
            <a:r>
              <a:rPr lang="en-US" sz="3600">
                <a:solidFill>
                  <a:schemeClr val="accent1">
                    <a:lumMod val="50000"/>
                  </a:schemeClr>
                </a:solidFill>
                <a:latin typeface="Candara" panose="020E0502030303020204" pitchFamily="34" charset="0"/>
              </a:rPr>
              <a:t>Encoders</a:t>
            </a:r>
          </a:p>
          <a:p>
            <a:pPr eaLnBrk="1" hangingPunct="1">
              <a:buFontTx/>
              <a:buAutoNum type="alphaLcPeriod"/>
            </a:pPr>
            <a:r>
              <a:rPr lang="en-US" sz="3600">
                <a:solidFill>
                  <a:schemeClr val="accent1">
                    <a:lumMod val="50000"/>
                  </a:schemeClr>
                </a:solidFill>
                <a:latin typeface="Candara" panose="020E0502030303020204" pitchFamily="34" charset="0"/>
              </a:rPr>
              <a:t>Both sender and decoder</a:t>
            </a:r>
          </a:p>
        </p:txBody>
      </p:sp>
      <p:sp>
        <p:nvSpPr>
          <p:cNvPr id="45061" name="Text Box 5"/>
          <p:cNvSpPr txBox="1">
            <a:spLocks noChangeArrowheads="1"/>
          </p:cNvSpPr>
          <p:nvPr/>
        </p:nvSpPr>
        <p:spPr bwMode="auto">
          <a:xfrm>
            <a:off x="1828800" y="49530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Receivers</a:t>
            </a:r>
          </a:p>
        </p:txBody>
      </p:sp>
    </p:spTree>
    <p:extLst>
      <p:ext uri="{BB962C8B-B14F-4D97-AF65-F5344CB8AC3E}">
        <p14:creationId xmlns:p14="http://schemas.microsoft.com/office/powerpoint/2010/main" val="1105897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wipe(down)">
                                      <p:cBhvr>
                                        <p:cTn id="7" dur="580">
                                          <p:stCondLst>
                                            <p:cond delay="0"/>
                                          </p:stCondLst>
                                        </p:cTn>
                                        <p:tgtEl>
                                          <p:spTgt spid="45061"/>
                                        </p:tgtEl>
                                      </p:cBhvr>
                                    </p:animEffect>
                                    <p:anim calcmode="lin" valueType="num">
                                      <p:cBhvr>
                                        <p:cTn id="8" dur="1822" tmFilter="0,0; 0.14,0.36; 0.43,0.73; 0.71,0.91; 1.0,1.0">
                                          <p:stCondLst>
                                            <p:cond delay="0"/>
                                          </p:stCondLst>
                                        </p:cTn>
                                        <p:tgtEl>
                                          <p:spTgt spid="450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50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50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50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5061"/>
                                        </p:tgtEl>
                                        <p:attrNameLst>
                                          <p:attrName>ppt_y</p:attrName>
                                        </p:attrNameLst>
                                      </p:cBhvr>
                                      <p:tavLst>
                                        <p:tav tm="0" fmla="#ppt_y-sin(pi*$)/81">
                                          <p:val>
                                            <p:fltVal val="0"/>
                                          </p:val>
                                        </p:tav>
                                        <p:tav tm="100000">
                                          <p:val>
                                            <p:fltVal val="1"/>
                                          </p:val>
                                        </p:tav>
                                      </p:tavLst>
                                    </p:anim>
                                    <p:animScale>
                                      <p:cBhvr>
                                        <p:cTn id="13" dur="26">
                                          <p:stCondLst>
                                            <p:cond delay="650"/>
                                          </p:stCondLst>
                                        </p:cTn>
                                        <p:tgtEl>
                                          <p:spTgt spid="45061"/>
                                        </p:tgtEl>
                                      </p:cBhvr>
                                      <p:to x="100000" y="60000"/>
                                    </p:animScale>
                                    <p:animScale>
                                      <p:cBhvr>
                                        <p:cTn id="14" dur="166" decel="50000">
                                          <p:stCondLst>
                                            <p:cond delay="676"/>
                                          </p:stCondLst>
                                        </p:cTn>
                                        <p:tgtEl>
                                          <p:spTgt spid="45061"/>
                                        </p:tgtEl>
                                      </p:cBhvr>
                                      <p:to x="100000" y="100000"/>
                                    </p:animScale>
                                    <p:animScale>
                                      <p:cBhvr>
                                        <p:cTn id="15" dur="26">
                                          <p:stCondLst>
                                            <p:cond delay="1312"/>
                                          </p:stCondLst>
                                        </p:cTn>
                                        <p:tgtEl>
                                          <p:spTgt spid="45061"/>
                                        </p:tgtEl>
                                      </p:cBhvr>
                                      <p:to x="100000" y="80000"/>
                                    </p:animScale>
                                    <p:animScale>
                                      <p:cBhvr>
                                        <p:cTn id="16" dur="166" decel="50000">
                                          <p:stCondLst>
                                            <p:cond delay="1338"/>
                                          </p:stCondLst>
                                        </p:cTn>
                                        <p:tgtEl>
                                          <p:spTgt spid="45061"/>
                                        </p:tgtEl>
                                      </p:cBhvr>
                                      <p:to x="100000" y="100000"/>
                                    </p:animScale>
                                    <p:animScale>
                                      <p:cBhvr>
                                        <p:cTn id="17" dur="26">
                                          <p:stCondLst>
                                            <p:cond delay="1642"/>
                                          </p:stCondLst>
                                        </p:cTn>
                                        <p:tgtEl>
                                          <p:spTgt spid="45061"/>
                                        </p:tgtEl>
                                      </p:cBhvr>
                                      <p:to x="100000" y="90000"/>
                                    </p:animScale>
                                    <p:animScale>
                                      <p:cBhvr>
                                        <p:cTn id="18" dur="166" decel="50000">
                                          <p:stCondLst>
                                            <p:cond delay="1668"/>
                                          </p:stCondLst>
                                        </p:cTn>
                                        <p:tgtEl>
                                          <p:spTgt spid="45061"/>
                                        </p:tgtEl>
                                      </p:cBhvr>
                                      <p:to x="100000" y="100000"/>
                                    </p:animScale>
                                    <p:animScale>
                                      <p:cBhvr>
                                        <p:cTn id="19" dur="26">
                                          <p:stCondLst>
                                            <p:cond delay="1808"/>
                                          </p:stCondLst>
                                        </p:cTn>
                                        <p:tgtEl>
                                          <p:spTgt spid="45061"/>
                                        </p:tgtEl>
                                      </p:cBhvr>
                                      <p:to x="100000" y="95000"/>
                                    </p:animScale>
                                    <p:animScale>
                                      <p:cBhvr>
                                        <p:cTn id="20" dur="166" decel="50000">
                                          <p:stCondLst>
                                            <p:cond delay="1834"/>
                                          </p:stCondLst>
                                        </p:cTn>
                                        <p:tgtEl>
                                          <p:spTgt spid="450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idx="4294967295"/>
          </p:nvPr>
        </p:nvSpPr>
        <p:spPr>
          <a:xfrm>
            <a:off x="2209801" y="455613"/>
            <a:ext cx="7477125" cy="1143000"/>
          </a:xfrm>
        </p:spPr>
        <p:txBody>
          <a:bodyPr/>
          <a:lstStyle/>
          <a:p>
            <a:pPr algn="ctr" eaLnBrk="1" hangingPunct="1"/>
            <a:r>
              <a:rPr lang="en-US" sz="3600">
                <a:solidFill>
                  <a:schemeClr val="accent1">
                    <a:lumMod val="50000"/>
                  </a:schemeClr>
                </a:solidFill>
                <a:latin typeface="Berlin Sans FB" panose="020E0602020502020306" pitchFamily="34" charset="0"/>
              </a:rPr>
              <a:t>10. In extension communication, the client plays the role of</a:t>
            </a:r>
          </a:p>
        </p:txBody>
      </p:sp>
      <p:sp>
        <p:nvSpPr>
          <p:cNvPr id="94211" name="Content Placeholder 2"/>
          <p:cNvSpPr>
            <a:spLocks noGrp="1"/>
          </p:cNvSpPr>
          <p:nvPr>
            <p:ph idx="4294967295"/>
          </p:nvPr>
        </p:nvSpPr>
        <p:spPr>
          <a:xfrm>
            <a:off x="2590800" y="1828800"/>
            <a:ext cx="7386638" cy="4497388"/>
          </a:xfrm>
        </p:spPr>
        <p:txBody>
          <a:bodyPr/>
          <a:lstStyle/>
          <a:p>
            <a:pPr eaLnBrk="1" hangingPunct="1">
              <a:buFontTx/>
              <a:buNone/>
            </a:pPr>
            <a:r>
              <a:rPr lang="en-US" sz="4000">
                <a:solidFill>
                  <a:schemeClr val="accent1">
                    <a:lumMod val="50000"/>
                  </a:schemeClr>
                </a:solidFill>
                <a:latin typeface="Berlin Sans FB" panose="020E0602020502020306" pitchFamily="34" charset="0"/>
              </a:rPr>
              <a:t>A. Encoder</a:t>
            </a:r>
          </a:p>
          <a:p>
            <a:pPr eaLnBrk="1" hangingPunct="1">
              <a:buFontTx/>
              <a:buNone/>
            </a:pPr>
            <a:r>
              <a:rPr lang="en-US" sz="4000">
                <a:solidFill>
                  <a:schemeClr val="accent1">
                    <a:lumMod val="50000"/>
                  </a:schemeClr>
                </a:solidFill>
                <a:latin typeface="Berlin Sans FB" panose="020E0602020502020306" pitchFamily="34" charset="0"/>
              </a:rPr>
              <a:t>B. Decoder</a:t>
            </a:r>
          </a:p>
          <a:p>
            <a:pPr eaLnBrk="1" hangingPunct="1">
              <a:buFontTx/>
              <a:buNone/>
            </a:pPr>
            <a:r>
              <a:rPr lang="en-US" sz="4000">
                <a:solidFill>
                  <a:schemeClr val="accent1">
                    <a:lumMod val="50000"/>
                  </a:schemeClr>
                </a:solidFill>
                <a:latin typeface="Berlin Sans FB" panose="020E0602020502020306" pitchFamily="34" charset="0"/>
              </a:rPr>
              <a:t>C. Source</a:t>
            </a:r>
          </a:p>
          <a:p>
            <a:pPr eaLnBrk="1" hangingPunct="1">
              <a:buFontTx/>
              <a:buNone/>
            </a:pPr>
            <a:r>
              <a:rPr lang="en-US" sz="4000">
                <a:solidFill>
                  <a:schemeClr val="accent1">
                    <a:lumMod val="50000"/>
                  </a:schemeClr>
                </a:solidFill>
                <a:latin typeface="Berlin Sans FB" panose="020E0602020502020306" pitchFamily="34" charset="0"/>
              </a:rPr>
              <a:t>D. None of the above</a:t>
            </a:r>
          </a:p>
          <a:p>
            <a:pPr eaLnBrk="1" hangingPunct="1">
              <a:buFontTx/>
              <a:buNone/>
            </a:pPr>
            <a:endParaRPr lang="en-US" sz="4000">
              <a:solidFill>
                <a:schemeClr val="accent1">
                  <a:lumMod val="50000"/>
                </a:schemeClr>
              </a:solidFill>
              <a:latin typeface="Berlin Sans FB" panose="020E0602020502020306" pitchFamily="34" charset="0"/>
            </a:endParaRPr>
          </a:p>
        </p:txBody>
      </p:sp>
      <p:sp>
        <p:nvSpPr>
          <p:cNvPr id="46086" name="Text Box 6"/>
          <p:cNvSpPr txBox="1">
            <a:spLocks noChangeArrowheads="1"/>
          </p:cNvSpPr>
          <p:nvPr/>
        </p:nvSpPr>
        <p:spPr bwMode="auto">
          <a:xfrm>
            <a:off x="2743200"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rPr>
              <a:t>B. Decoder</a:t>
            </a:r>
          </a:p>
        </p:txBody>
      </p:sp>
    </p:spTree>
    <p:extLst>
      <p:ext uri="{BB962C8B-B14F-4D97-AF65-F5344CB8AC3E}">
        <p14:creationId xmlns:p14="http://schemas.microsoft.com/office/powerpoint/2010/main" val="1369698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animEffect transition="in" filter="wipe(down)">
                                      <p:cBhvr>
                                        <p:cTn id="7" dur="580">
                                          <p:stCondLst>
                                            <p:cond delay="0"/>
                                          </p:stCondLst>
                                        </p:cTn>
                                        <p:tgtEl>
                                          <p:spTgt spid="46086"/>
                                        </p:tgtEl>
                                      </p:cBhvr>
                                    </p:animEffect>
                                    <p:anim calcmode="lin" valueType="num">
                                      <p:cBhvr>
                                        <p:cTn id="8" dur="1822" tmFilter="0,0; 0.14,0.36; 0.43,0.73; 0.71,0.91; 1.0,1.0">
                                          <p:stCondLst>
                                            <p:cond delay="0"/>
                                          </p:stCondLst>
                                        </p:cTn>
                                        <p:tgtEl>
                                          <p:spTgt spid="4608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608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608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608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6086"/>
                                        </p:tgtEl>
                                        <p:attrNameLst>
                                          <p:attrName>ppt_y</p:attrName>
                                        </p:attrNameLst>
                                      </p:cBhvr>
                                      <p:tavLst>
                                        <p:tav tm="0" fmla="#ppt_y-sin(pi*$)/81">
                                          <p:val>
                                            <p:fltVal val="0"/>
                                          </p:val>
                                        </p:tav>
                                        <p:tav tm="100000">
                                          <p:val>
                                            <p:fltVal val="1"/>
                                          </p:val>
                                        </p:tav>
                                      </p:tavLst>
                                    </p:anim>
                                    <p:animScale>
                                      <p:cBhvr>
                                        <p:cTn id="13" dur="26">
                                          <p:stCondLst>
                                            <p:cond delay="650"/>
                                          </p:stCondLst>
                                        </p:cTn>
                                        <p:tgtEl>
                                          <p:spTgt spid="46086"/>
                                        </p:tgtEl>
                                      </p:cBhvr>
                                      <p:to x="100000" y="60000"/>
                                    </p:animScale>
                                    <p:animScale>
                                      <p:cBhvr>
                                        <p:cTn id="14" dur="166" decel="50000">
                                          <p:stCondLst>
                                            <p:cond delay="676"/>
                                          </p:stCondLst>
                                        </p:cTn>
                                        <p:tgtEl>
                                          <p:spTgt spid="46086"/>
                                        </p:tgtEl>
                                      </p:cBhvr>
                                      <p:to x="100000" y="100000"/>
                                    </p:animScale>
                                    <p:animScale>
                                      <p:cBhvr>
                                        <p:cTn id="15" dur="26">
                                          <p:stCondLst>
                                            <p:cond delay="1312"/>
                                          </p:stCondLst>
                                        </p:cTn>
                                        <p:tgtEl>
                                          <p:spTgt spid="46086"/>
                                        </p:tgtEl>
                                      </p:cBhvr>
                                      <p:to x="100000" y="80000"/>
                                    </p:animScale>
                                    <p:animScale>
                                      <p:cBhvr>
                                        <p:cTn id="16" dur="166" decel="50000">
                                          <p:stCondLst>
                                            <p:cond delay="1338"/>
                                          </p:stCondLst>
                                        </p:cTn>
                                        <p:tgtEl>
                                          <p:spTgt spid="46086"/>
                                        </p:tgtEl>
                                      </p:cBhvr>
                                      <p:to x="100000" y="100000"/>
                                    </p:animScale>
                                    <p:animScale>
                                      <p:cBhvr>
                                        <p:cTn id="17" dur="26">
                                          <p:stCondLst>
                                            <p:cond delay="1642"/>
                                          </p:stCondLst>
                                        </p:cTn>
                                        <p:tgtEl>
                                          <p:spTgt spid="46086"/>
                                        </p:tgtEl>
                                      </p:cBhvr>
                                      <p:to x="100000" y="90000"/>
                                    </p:animScale>
                                    <p:animScale>
                                      <p:cBhvr>
                                        <p:cTn id="18" dur="166" decel="50000">
                                          <p:stCondLst>
                                            <p:cond delay="1668"/>
                                          </p:stCondLst>
                                        </p:cTn>
                                        <p:tgtEl>
                                          <p:spTgt spid="46086"/>
                                        </p:tgtEl>
                                      </p:cBhvr>
                                      <p:to x="100000" y="100000"/>
                                    </p:animScale>
                                    <p:animScale>
                                      <p:cBhvr>
                                        <p:cTn id="19" dur="26">
                                          <p:stCondLst>
                                            <p:cond delay="1808"/>
                                          </p:stCondLst>
                                        </p:cTn>
                                        <p:tgtEl>
                                          <p:spTgt spid="46086"/>
                                        </p:tgtEl>
                                      </p:cBhvr>
                                      <p:to x="100000" y="95000"/>
                                    </p:animScale>
                                    <p:animScale>
                                      <p:cBhvr>
                                        <p:cTn id="20" dur="166" decel="50000">
                                          <p:stCondLst>
                                            <p:cond delay="1834"/>
                                          </p:stCondLst>
                                        </p:cTn>
                                        <p:tgtEl>
                                          <p:spTgt spid="4608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idx="4294967295"/>
          </p:nvPr>
        </p:nvSpPr>
        <p:spPr>
          <a:xfrm>
            <a:off x="2438401" y="457200"/>
            <a:ext cx="7477125" cy="1830388"/>
          </a:xfrm>
        </p:spPr>
        <p:txBody>
          <a:bodyPr/>
          <a:lstStyle/>
          <a:p>
            <a:pPr eaLnBrk="1" hangingPunct="1"/>
            <a:r>
              <a:rPr lang="en-US" sz="3200">
                <a:solidFill>
                  <a:schemeClr val="accent1">
                    <a:lumMod val="50000"/>
                  </a:schemeClr>
                </a:solidFill>
                <a:latin typeface="Candara" panose="020E0502030303020204" pitchFamily="34" charset="0"/>
              </a:rPr>
              <a:t>11. In extension of the communication process that have to do with a person’s level of difficulty and language used is </a:t>
            </a:r>
          </a:p>
        </p:txBody>
      </p:sp>
      <p:sp>
        <p:nvSpPr>
          <p:cNvPr id="95235" name="Content Placeholder 2"/>
          <p:cNvSpPr>
            <a:spLocks noGrp="1"/>
          </p:cNvSpPr>
          <p:nvPr>
            <p:ph idx="4294967295"/>
          </p:nvPr>
        </p:nvSpPr>
        <p:spPr>
          <a:xfrm>
            <a:off x="2438400" y="2438400"/>
            <a:ext cx="7386638" cy="3962400"/>
          </a:xfrm>
        </p:spPr>
        <p:txBody>
          <a:bodyPr/>
          <a:lstStyle/>
          <a:p>
            <a:pPr eaLnBrk="1" hangingPunct="1">
              <a:buFontTx/>
              <a:buNone/>
            </a:pPr>
            <a:r>
              <a:rPr lang="en-US" sz="3200">
                <a:solidFill>
                  <a:schemeClr val="accent1">
                    <a:lumMod val="50000"/>
                  </a:schemeClr>
                </a:solidFill>
                <a:latin typeface="Candara" panose="020E0502030303020204" pitchFamily="34" charset="0"/>
              </a:rPr>
              <a:t>A. Message factors</a:t>
            </a:r>
          </a:p>
          <a:p>
            <a:pPr eaLnBrk="1" hangingPunct="1">
              <a:buFontTx/>
              <a:buNone/>
            </a:pPr>
            <a:r>
              <a:rPr lang="en-US" sz="3200">
                <a:solidFill>
                  <a:schemeClr val="accent1">
                    <a:lumMod val="50000"/>
                  </a:schemeClr>
                </a:solidFill>
                <a:latin typeface="Candara" panose="020E0502030303020204" pitchFamily="34" charset="0"/>
              </a:rPr>
              <a:t>B. Source-receiver factors</a:t>
            </a:r>
          </a:p>
          <a:p>
            <a:pPr eaLnBrk="1" hangingPunct="1">
              <a:buFontTx/>
              <a:buNone/>
            </a:pPr>
            <a:r>
              <a:rPr lang="en-US" sz="3200">
                <a:solidFill>
                  <a:schemeClr val="accent1">
                    <a:lumMod val="50000"/>
                  </a:schemeClr>
                </a:solidFill>
                <a:latin typeface="Candara" panose="020E0502030303020204" pitchFamily="34" charset="0"/>
              </a:rPr>
              <a:t>C. Channel factors</a:t>
            </a:r>
          </a:p>
          <a:p>
            <a:pPr eaLnBrk="1" hangingPunct="1">
              <a:buFontTx/>
              <a:buNone/>
            </a:pPr>
            <a:r>
              <a:rPr lang="en-US" sz="3200">
                <a:solidFill>
                  <a:schemeClr val="accent1">
                    <a:lumMod val="50000"/>
                  </a:schemeClr>
                </a:solidFill>
                <a:latin typeface="Candara" panose="020E0502030303020204" pitchFamily="34" charset="0"/>
              </a:rPr>
              <a:t>D. Purpose factors</a:t>
            </a:r>
          </a:p>
        </p:txBody>
      </p:sp>
      <p:sp>
        <p:nvSpPr>
          <p:cNvPr id="47109" name="Text Box 5"/>
          <p:cNvSpPr txBox="1">
            <a:spLocks noChangeArrowheads="1"/>
          </p:cNvSpPr>
          <p:nvPr/>
        </p:nvSpPr>
        <p:spPr bwMode="auto">
          <a:xfrm>
            <a:off x="2438400" y="5257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A. Message factors</a:t>
            </a:r>
          </a:p>
        </p:txBody>
      </p:sp>
    </p:spTree>
    <p:extLst>
      <p:ext uri="{BB962C8B-B14F-4D97-AF65-F5344CB8AC3E}">
        <p14:creationId xmlns:p14="http://schemas.microsoft.com/office/powerpoint/2010/main" val="3967343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wipe(down)">
                                      <p:cBhvr>
                                        <p:cTn id="7" dur="580">
                                          <p:stCondLst>
                                            <p:cond delay="0"/>
                                          </p:stCondLst>
                                        </p:cTn>
                                        <p:tgtEl>
                                          <p:spTgt spid="47109"/>
                                        </p:tgtEl>
                                      </p:cBhvr>
                                    </p:animEffect>
                                    <p:anim calcmode="lin" valueType="num">
                                      <p:cBhvr>
                                        <p:cTn id="8" dur="1822" tmFilter="0,0; 0.14,0.36; 0.43,0.73; 0.71,0.91; 1.0,1.0">
                                          <p:stCondLst>
                                            <p:cond delay="0"/>
                                          </p:stCondLst>
                                        </p:cTn>
                                        <p:tgtEl>
                                          <p:spTgt spid="4710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710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710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710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7109"/>
                                        </p:tgtEl>
                                        <p:attrNameLst>
                                          <p:attrName>ppt_y</p:attrName>
                                        </p:attrNameLst>
                                      </p:cBhvr>
                                      <p:tavLst>
                                        <p:tav tm="0" fmla="#ppt_y-sin(pi*$)/81">
                                          <p:val>
                                            <p:fltVal val="0"/>
                                          </p:val>
                                        </p:tav>
                                        <p:tav tm="100000">
                                          <p:val>
                                            <p:fltVal val="1"/>
                                          </p:val>
                                        </p:tav>
                                      </p:tavLst>
                                    </p:anim>
                                    <p:animScale>
                                      <p:cBhvr>
                                        <p:cTn id="13" dur="26">
                                          <p:stCondLst>
                                            <p:cond delay="650"/>
                                          </p:stCondLst>
                                        </p:cTn>
                                        <p:tgtEl>
                                          <p:spTgt spid="47109"/>
                                        </p:tgtEl>
                                      </p:cBhvr>
                                      <p:to x="100000" y="60000"/>
                                    </p:animScale>
                                    <p:animScale>
                                      <p:cBhvr>
                                        <p:cTn id="14" dur="166" decel="50000">
                                          <p:stCondLst>
                                            <p:cond delay="676"/>
                                          </p:stCondLst>
                                        </p:cTn>
                                        <p:tgtEl>
                                          <p:spTgt spid="47109"/>
                                        </p:tgtEl>
                                      </p:cBhvr>
                                      <p:to x="100000" y="100000"/>
                                    </p:animScale>
                                    <p:animScale>
                                      <p:cBhvr>
                                        <p:cTn id="15" dur="26">
                                          <p:stCondLst>
                                            <p:cond delay="1312"/>
                                          </p:stCondLst>
                                        </p:cTn>
                                        <p:tgtEl>
                                          <p:spTgt spid="47109"/>
                                        </p:tgtEl>
                                      </p:cBhvr>
                                      <p:to x="100000" y="80000"/>
                                    </p:animScale>
                                    <p:animScale>
                                      <p:cBhvr>
                                        <p:cTn id="16" dur="166" decel="50000">
                                          <p:stCondLst>
                                            <p:cond delay="1338"/>
                                          </p:stCondLst>
                                        </p:cTn>
                                        <p:tgtEl>
                                          <p:spTgt spid="47109"/>
                                        </p:tgtEl>
                                      </p:cBhvr>
                                      <p:to x="100000" y="100000"/>
                                    </p:animScale>
                                    <p:animScale>
                                      <p:cBhvr>
                                        <p:cTn id="17" dur="26">
                                          <p:stCondLst>
                                            <p:cond delay="1642"/>
                                          </p:stCondLst>
                                        </p:cTn>
                                        <p:tgtEl>
                                          <p:spTgt spid="47109"/>
                                        </p:tgtEl>
                                      </p:cBhvr>
                                      <p:to x="100000" y="90000"/>
                                    </p:animScale>
                                    <p:animScale>
                                      <p:cBhvr>
                                        <p:cTn id="18" dur="166" decel="50000">
                                          <p:stCondLst>
                                            <p:cond delay="1668"/>
                                          </p:stCondLst>
                                        </p:cTn>
                                        <p:tgtEl>
                                          <p:spTgt spid="47109"/>
                                        </p:tgtEl>
                                      </p:cBhvr>
                                      <p:to x="100000" y="100000"/>
                                    </p:animScale>
                                    <p:animScale>
                                      <p:cBhvr>
                                        <p:cTn id="19" dur="26">
                                          <p:stCondLst>
                                            <p:cond delay="1808"/>
                                          </p:stCondLst>
                                        </p:cTn>
                                        <p:tgtEl>
                                          <p:spTgt spid="47109"/>
                                        </p:tgtEl>
                                      </p:cBhvr>
                                      <p:to x="100000" y="95000"/>
                                    </p:animScale>
                                    <p:animScale>
                                      <p:cBhvr>
                                        <p:cTn id="20" dur="166" decel="50000">
                                          <p:stCondLst>
                                            <p:cond delay="1834"/>
                                          </p:stCondLst>
                                        </p:cTn>
                                        <p:tgtEl>
                                          <p:spTgt spid="4710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idx="4294967295"/>
          </p:nvPr>
        </p:nvSpPr>
        <p:spPr>
          <a:xfrm>
            <a:off x="2286001" y="455613"/>
            <a:ext cx="7477125" cy="1143000"/>
          </a:xfrm>
        </p:spPr>
        <p:txBody>
          <a:bodyPr/>
          <a:lstStyle/>
          <a:p>
            <a:pPr eaLnBrk="1" hangingPunct="1"/>
            <a:r>
              <a:rPr lang="en-US" smtClean="0">
                <a:solidFill>
                  <a:schemeClr val="accent1">
                    <a:lumMod val="50000"/>
                  </a:schemeClr>
                </a:solidFill>
                <a:latin typeface="Candara" panose="020E0502030303020204" pitchFamily="34" charset="0"/>
              </a:rPr>
              <a:t>12. The message factor referring to the symbols used in</a:t>
            </a:r>
          </a:p>
        </p:txBody>
      </p:sp>
      <p:sp>
        <p:nvSpPr>
          <p:cNvPr id="96259" name="Content Placeholder 2"/>
          <p:cNvSpPr>
            <a:spLocks noGrp="1"/>
          </p:cNvSpPr>
          <p:nvPr>
            <p:ph idx="4294967295"/>
          </p:nvPr>
        </p:nvSpPr>
        <p:spPr>
          <a:xfrm>
            <a:off x="2360614" y="1828800"/>
            <a:ext cx="7386637" cy="4497388"/>
          </a:xfrm>
        </p:spPr>
        <p:txBody>
          <a:bodyPr/>
          <a:lstStyle/>
          <a:p>
            <a:pPr eaLnBrk="1" hangingPunct="1">
              <a:buFontTx/>
              <a:buNone/>
            </a:pPr>
            <a:endParaRPr lang="en-US" sz="3600">
              <a:solidFill>
                <a:schemeClr val="accent1">
                  <a:lumMod val="50000"/>
                </a:schemeClr>
              </a:solidFill>
              <a:latin typeface="Candara" panose="020E0502030303020204" pitchFamily="34" charset="0"/>
            </a:endParaRPr>
          </a:p>
          <a:p>
            <a:pPr eaLnBrk="1" hangingPunct="1">
              <a:buFontTx/>
              <a:buAutoNum type="alphaLcPeriod"/>
            </a:pPr>
            <a:r>
              <a:rPr lang="en-US" sz="3600">
                <a:solidFill>
                  <a:schemeClr val="accent1">
                    <a:lumMod val="50000"/>
                  </a:schemeClr>
                </a:solidFill>
                <a:latin typeface="Candara" panose="020E0502030303020204" pitchFamily="34" charset="0"/>
              </a:rPr>
              <a:t>Message code</a:t>
            </a:r>
          </a:p>
          <a:p>
            <a:pPr eaLnBrk="1" hangingPunct="1">
              <a:buFontTx/>
              <a:buAutoNum type="alphaLcPeriod"/>
            </a:pPr>
            <a:r>
              <a:rPr lang="en-US" sz="3600">
                <a:solidFill>
                  <a:schemeClr val="accent1">
                    <a:lumMod val="50000"/>
                  </a:schemeClr>
                </a:solidFill>
                <a:latin typeface="Candara" panose="020E0502030303020204" pitchFamily="34" charset="0"/>
              </a:rPr>
              <a:t>Message treatment</a:t>
            </a:r>
          </a:p>
          <a:p>
            <a:pPr eaLnBrk="1" hangingPunct="1">
              <a:buFontTx/>
              <a:buAutoNum type="alphaLcPeriod"/>
            </a:pPr>
            <a:r>
              <a:rPr lang="en-US" sz="3600">
                <a:solidFill>
                  <a:schemeClr val="accent1">
                    <a:lumMod val="50000"/>
                  </a:schemeClr>
                </a:solidFill>
                <a:latin typeface="Candara" panose="020E0502030303020204" pitchFamily="34" charset="0"/>
              </a:rPr>
              <a:t>Message content</a:t>
            </a:r>
          </a:p>
          <a:p>
            <a:pPr eaLnBrk="1" hangingPunct="1">
              <a:buFontTx/>
              <a:buAutoNum type="alphaLcPeriod"/>
            </a:pPr>
            <a:r>
              <a:rPr lang="en-US" sz="3600">
                <a:solidFill>
                  <a:schemeClr val="accent1">
                    <a:lumMod val="50000"/>
                  </a:schemeClr>
                </a:solidFill>
                <a:latin typeface="Candara" panose="020E0502030303020204" pitchFamily="34" charset="0"/>
              </a:rPr>
              <a:t>None of the above</a:t>
            </a:r>
          </a:p>
        </p:txBody>
      </p:sp>
      <p:sp>
        <p:nvSpPr>
          <p:cNvPr id="48133" name="Text Box 5"/>
          <p:cNvSpPr txBox="1">
            <a:spLocks noChangeArrowheads="1"/>
          </p:cNvSpPr>
          <p:nvPr/>
        </p:nvSpPr>
        <p:spPr bwMode="auto">
          <a:xfrm>
            <a:off x="2381250" y="5562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A. Message code</a:t>
            </a:r>
          </a:p>
        </p:txBody>
      </p:sp>
    </p:spTree>
    <p:extLst>
      <p:ext uri="{BB962C8B-B14F-4D97-AF65-F5344CB8AC3E}">
        <p14:creationId xmlns:p14="http://schemas.microsoft.com/office/powerpoint/2010/main" val="1712405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animEffect transition="in" filter="wipe(down)">
                                      <p:cBhvr>
                                        <p:cTn id="7" dur="580">
                                          <p:stCondLst>
                                            <p:cond delay="0"/>
                                          </p:stCondLst>
                                        </p:cTn>
                                        <p:tgtEl>
                                          <p:spTgt spid="48133"/>
                                        </p:tgtEl>
                                      </p:cBhvr>
                                    </p:animEffect>
                                    <p:anim calcmode="lin" valueType="num">
                                      <p:cBhvr>
                                        <p:cTn id="8" dur="1822" tmFilter="0,0; 0.14,0.36; 0.43,0.73; 0.71,0.91; 1.0,1.0">
                                          <p:stCondLst>
                                            <p:cond delay="0"/>
                                          </p:stCondLst>
                                        </p:cTn>
                                        <p:tgtEl>
                                          <p:spTgt spid="4813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813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813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813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8133"/>
                                        </p:tgtEl>
                                        <p:attrNameLst>
                                          <p:attrName>ppt_y</p:attrName>
                                        </p:attrNameLst>
                                      </p:cBhvr>
                                      <p:tavLst>
                                        <p:tav tm="0" fmla="#ppt_y-sin(pi*$)/81">
                                          <p:val>
                                            <p:fltVal val="0"/>
                                          </p:val>
                                        </p:tav>
                                        <p:tav tm="100000">
                                          <p:val>
                                            <p:fltVal val="1"/>
                                          </p:val>
                                        </p:tav>
                                      </p:tavLst>
                                    </p:anim>
                                    <p:animScale>
                                      <p:cBhvr>
                                        <p:cTn id="13" dur="26">
                                          <p:stCondLst>
                                            <p:cond delay="650"/>
                                          </p:stCondLst>
                                        </p:cTn>
                                        <p:tgtEl>
                                          <p:spTgt spid="48133"/>
                                        </p:tgtEl>
                                      </p:cBhvr>
                                      <p:to x="100000" y="60000"/>
                                    </p:animScale>
                                    <p:animScale>
                                      <p:cBhvr>
                                        <p:cTn id="14" dur="166" decel="50000">
                                          <p:stCondLst>
                                            <p:cond delay="676"/>
                                          </p:stCondLst>
                                        </p:cTn>
                                        <p:tgtEl>
                                          <p:spTgt spid="48133"/>
                                        </p:tgtEl>
                                      </p:cBhvr>
                                      <p:to x="100000" y="100000"/>
                                    </p:animScale>
                                    <p:animScale>
                                      <p:cBhvr>
                                        <p:cTn id="15" dur="26">
                                          <p:stCondLst>
                                            <p:cond delay="1312"/>
                                          </p:stCondLst>
                                        </p:cTn>
                                        <p:tgtEl>
                                          <p:spTgt spid="48133"/>
                                        </p:tgtEl>
                                      </p:cBhvr>
                                      <p:to x="100000" y="80000"/>
                                    </p:animScale>
                                    <p:animScale>
                                      <p:cBhvr>
                                        <p:cTn id="16" dur="166" decel="50000">
                                          <p:stCondLst>
                                            <p:cond delay="1338"/>
                                          </p:stCondLst>
                                        </p:cTn>
                                        <p:tgtEl>
                                          <p:spTgt spid="48133"/>
                                        </p:tgtEl>
                                      </p:cBhvr>
                                      <p:to x="100000" y="100000"/>
                                    </p:animScale>
                                    <p:animScale>
                                      <p:cBhvr>
                                        <p:cTn id="17" dur="26">
                                          <p:stCondLst>
                                            <p:cond delay="1642"/>
                                          </p:stCondLst>
                                        </p:cTn>
                                        <p:tgtEl>
                                          <p:spTgt spid="48133"/>
                                        </p:tgtEl>
                                      </p:cBhvr>
                                      <p:to x="100000" y="90000"/>
                                    </p:animScale>
                                    <p:animScale>
                                      <p:cBhvr>
                                        <p:cTn id="18" dur="166" decel="50000">
                                          <p:stCondLst>
                                            <p:cond delay="1668"/>
                                          </p:stCondLst>
                                        </p:cTn>
                                        <p:tgtEl>
                                          <p:spTgt spid="48133"/>
                                        </p:tgtEl>
                                      </p:cBhvr>
                                      <p:to x="100000" y="100000"/>
                                    </p:animScale>
                                    <p:animScale>
                                      <p:cBhvr>
                                        <p:cTn id="19" dur="26">
                                          <p:stCondLst>
                                            <p:cond delay="1808"/>
                                          </p:stCondLst>
                                        </p:cTn>
                                        <p:tgtEl>
                                          <p:spTgt spid="48133"/>
                                        </p:tgtEl>
                                      </p:cBhvr>
                                      <p:to x="100000" y="95000"/>
                                    </p:animScale>
                                    <p:animScale>
                                      <p:cBhvr>
                                        <p:cTn id="20" dur="166" decel="50000">
                                          <p:stCondLst>
                                            <p:cond delay="1834"/>
                                          </p:stCondLst>
                                        </p:cTn>
                                        <p:tgtEl>
                                          <p:spTgt spid="4813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idx="4294967295"/>
          </p:nvPr>
        </p:nvSpPr>
        <p:spPr>
          <a:xfrm>
            <a:off x="2362201" y="449263"/>
            <a:ext cx="7477125" cy="1143000"/>
          </a:xfrm>
        </p:spPr>
        <p:txBody>
          <a:bodyPr/>
          <a:lstStyle/>
          <a:p>
            <a:pPr eaLnBrk="1" hangingPunct="1"/>
            <a:r>
              <a:rPr lang="en-US" sz="3200">
                <a:solidFill>
                  <a:schemeClr val="accent1">
                    <a:lumMod val="50000"/>
                  </a:schemeClr>
                </a:solidFill>
                <a:latin typeface="Candara" panose="020E0502030303020204" pitchFamily="34" charset="0"/>
              </a:rPr>
              <a:t>13. The message factor comprising the idea means to be expresses is</a:t>
            </a:r>
          </a:p>
        </p:txBody>
      </p:sp>
      <p:sp>
        <p:nvSpPr>
          <p:cNvPr id="97283" name="Content Placeholder 2"/>
          <p:cNvSpPr>
            <a:spLocks noGrp="1"/>
          </p:cNvSpPr>
          <p:nvPr>
            <p:ph idx="4294967295"/>
          </p:nvPr>
        </p:nvSpPr>
        <p:spPr>
          <a:xfrm>
            <a:off x="2362200" y="1905000"/>
            <a:ext cx="7386638" cy="4497388"/>
          </a:xfrm>
        </p:spPr>
        <p:txBody>
          <a:bodyPr/>
          <a:lstStyle/>
          <a:p>
            <a:pPr eaLnBrk="1" hangingPunct="1">
              <a:buFontTx/>
              <a:buNone/>
            </a:pPr>
            <a:r>
              <a:rPr lang="en-US" sz="3200">
                <a:solidFill>
                  <a:schemeClr val="accent1">
                    <a:lumMod val="50000"/>
                  </a:schemeClr>
                </a:solidFill>
                <a:latin typeface="Candara" panose="020E0502030303020204" pitchFamily="34" charset="0"/>
              </a:rPr>
              <a:t>A. Message code</a:t>
            </a:r>
          </a:p>
          <a:p>
            <a:pPr eaLnBrk="1" hangingPunct="1">
              <a:buFontTx/>
              <a:buNone/>
            </a:pPr>
            <a:r>
              <a:rPr lang="en-US" sz="3200">
                <a:solidFill>
                  <a:schemeClr val="accent1">
                    <a:lumMod val="50000"/>
                  </a:schemeClr>
                </a:solidFill>
                <a:latin typeface="Candara" panose="020E0502030303020204" pitchFamily="34" charset="0"/>
              </a:rPr>
              <a:t>B. Message treatment </a:t>
            </a:r>
          </a:p>
          <a:p>
            <a:pPr eaLnBrk="1" hangingPunct="1">
              <a:buFontTx/>
              <a:buNone/>
            </a:pPr>
            <a:r>
              <a:rPr lang="en-US" sz="3200">
                <a:solidFill>
                  <a:schemeClr val="accent1">
                    <a:lumMod val="50000"/>
                  </a:schemeClr>
                </a:solidFill>
                <a:latin typeface="Candara" panose="020E0502030303020204" pitchFamily="34" charset="0"/>
              </a:rPr>
              <a:t>C. Message content</a:t>
            </a:r>
          </a:p>
          <a:p>
            <a:pPr eaLnBrk="1" hangingPunct="1">
              <a:buFontTx/>
              <a:buNone/>
            </a:pPr>
            <a:r>
              <a:rPr lang="en-US" sz="3200">
                <a:solidFill>
                  <a:schemeClr val="accent1">
                    <a:lumMod val="50000"/>
                  </a:schemeClr>
                </a:solidFill>
                <a:latin typeface="Candara" panose="020E0502030303020204" pitchFamily="34" charset="0"/>
              </a:rPr>
              <a:t>D. None of the above</a:t>
            </a:r>
          </a:p>
        </p:txBody>
      </p:sp>
      <p:sp>
        <p:nvSpPr>
          <p:cNvPr id="49157" name="Text Box 5"/>
          <p:cNvSpPr txBox="1">
            <a:spLocks noChangeArrowheads="1"/>
          </p:cNvSpPr>
          <p:nvPr/>
        </p:nvSpPr>
        <p:spPr bwMode="auto">
          <a:xfrm>
            <a:off x="1676400" y="50292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C. Message content</a:t>
            </a:r>
          </a:p>
        </p:txBody>
      </p:sp>
    </p:spTree>
    <p:extLst>
      <p:ext uri="{BB962C8B-B14F-4D97-AF65-F5344CB8AC3E}">
        <p14:creationId xmlns:p14="http://schemas.microsoft.com/office/powerpoint/2010/main" val="2773011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9157"/>
                                        </p:tgtEl>
                                        <p:attrNameLst>
                                          <p:attrName>style.visibility</p:attrName>
                                        </p:attrNameLst>
                                      </p:cBhvr>
                                      <p:to>
                                        <p:strVal val="visible"/>
                                      </p:to>
                                    </p:set>
                                    <p:animEffect transition="in" filter="wipe(down)">
                                      <p:cBhvr>
                                        <p:cTn id="7" dur="580">
                                          <p:stCondLst>
                                            <p:cond delay="0"/>
                                          </p:stCondLst>
                                        </p:cTn>
                                        <p:tgtEl>
                                          <p:spTgt spid="49157"/>
                                        </p:tgtEl>
                                      </p:cBhvr>
                                    </p:animEffect>
                                    <p:anim calcmode="lin" valueType="num">
                                      <p:cBhvr>
                                        <p:cTn id="8" dur="1822" tmFilter="0,0; 0.14,0.36; 0.43,0.73; 0.71,0.91; 1.0,1.0">
                                          <p:stCondLst>
                                            <p:cond delay="0"/>
                                          </p:stCondLst>
                                        </p:cTn>
                                        <p:tgtEl>
                                          <p:spTgt spid="4915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915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915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915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9157"/>
                                        </p:tgtEl>
                                        <p:attrNameLst>
                                          <p:attrName>ppt_y</p:attrName>
                                        </p:attrNameLst>
                                      </p:cBhvr>
                                      <p:tavLst>
                                        <p:tav tm="0" fmla="#ppt_y-sin(pi*$)/81">
                                          <p:val>
                                            <p:fltVal val="0"/>
                                          </p:val>
                                        </p:tav>
                                        <p:tav tm="100000">
                                          <p:val>
                                            <p:fltVal val="1"/>
                                          </p:val>
                                        </p:tav>
                                      </p:tavLst>
                                    </p:anim>
                                    <p:animScale>
                                      <p:cBhvr>
                                        <p:cTn id="13" dur="26">
                                          <p:stCondLst>
                                            <p:cond delay="650"/>
                                          </p:stCondLst>
                                        </p:cTn>
                                        <p:tgtEl>
                                          <p:spTgt spid="49157"/>
                                        </p:tgtEl>
                                      </p:cBhvr>
                                      <p:to x="100000" y="60000"/>
                                    </p:animScale>
                                    <p:animScale>
                                      <p:cBhvr>
                                        <p:cTn id="14" dur="166" decel="50000">
                                          <p:stCondLst>
                                            <p:cond delay="676"/>
                                          </p:stCondLst>
                                        </p:cTn>
                                        <p:tgtEl>
                                          <p:spTgt spid="49157"/>
                                        </p:tgtEl>
                                      </p:cBhvr>
                                      <p:to x="100000" y="100000"/>
                                    </p:animScale>
                                    <p:animScale>
                                      <p:cBhvr>
                                        <p:cTn id="15" dur="26">
                                          <p:stCondLst>
                                            <p:cond delay="1312"/>
                                          </p:stCondLst>
                                        </p:cTn>
                                        <p:tgtEl>
                                          <p:spTgt spid="49157"/>
                                        </p:tgtEl>
                                      </p:cBhvr>
                                      <p:to x="100000" y="80000"/>
                                    </p:animScale>
                                    <p:animScale>
                                      <p:cBhvr>
                                        <p:cTn id="16" dur="166" decel="50000">
                                          <p:stCondLst>
                                            <p:cond delay="1338"/>
                                          </p:stCondLst>
                                        </p:cTn>
                                        <p:tgtEl>
                                          <p:spTgt spid="49157"/>
                                        </p:tgtEl>
                                      </p:cBhvr>
                                      <p:to x="100000" y="100000"/>
                                    </p:animScale>
                                    <p:animScale>
                                      <p:cBhvr>
                                        <p:cTn id="17" dur="26">
                                          <p:stCondLst>
                                            <p:cond delay="1642"/>
                                          </p:stCondLst>
                                        </p:cTn>
                                        <p:tgtEl>
                                          <p:spTgt spid="49157"/>
                                        </p:tgtEl>
                                      </p:cBhvr>
                                      <p:to x="100000" y="90000"/>
                                    </p:animScale>
                                    <p:animScale>
                                      <p:cBhvr>
                                        <p:cTn id="18" dur="166" decel="50000">
                                          <p:stCondLst>
                                            <p:cond delay="1668"/>
                                          </p:stCondLst>
                                        </p:cTn>
                                        <p:tgtEl>
                                          <p:spTgt spid="49157"/>
                                        </p:tgtEl>
                                      </p:cBhvr>
                                      <p:to x="100000" y="100000"/>
                                    </p:animScale>
                                    <p:animScale>
                                      <p:cBhvr>
                                        <p:cTn id="19" dur="26">
                                          <p:stCondLst>
                                            <p:cond delay="1808"/>
                                          </p:stCondLst>
                                        </p:cTn>
                                        <p:tgtEl>
                                          <p:spTgt spid="49157"/>
                                        </p:tgtEl>
                                      </p:cBhvr>
                                      <p:to x="100000" y="95000"/>
                                    </p:animScale>
                                    <p:animScale>
                                      <p:cBhvr>
                                        <p:cTn id="20" dur="166" decel="50000">
                                          <p:stCondLst>
                                            <p:cond delay="1834"/>
                                          </p:stCondLst>
                                        </p:cTn>
                                        <p:tgtEl>
                                          <p:spTgt spid="4915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idx="4294967295"/>
          </p:nvPr>
        </p:nvSpPr>
        <p:spPr>
          <a:xfrm>
            <a:off x="2743201" y="533400"/>
            <a:ext cx="7477125" cy="1601788"/>
          </a:xfrm>
        </p:spPr>
        <p:txBody>
          <a:bodyPr/>
          <a:lstStyle/>
          <a:p>
            <a:pPr eaLnBrk="1" hangingPunct="1"/>
            <a:r>
              <a:rPr lang="en-US" sz="3600">
                <a:solidFill>
                  <a:schemeClr val="accent1">
                    <a:lumMod val="50000"/>
                  </a:schemeClr>
                </a:solidFill>
                <a:latin typeface="Candara" panose="020E0502030303020204" pitchFamily="34" charset="0"/>
              </a:rPr>
              <a:t>14. The message factor referring to the organization and presentation of ideas is</a:t>
            </a:r>
          </a:p>
        </p:txBody>
      </p:sp>
      <p:sp>
        <p:nvSpPr>
          <p:cNvPr id="98307" name="Content Placeholder 2"/>
          <p:cNvSpPr>
            <a:spLocks noGrp="1"/>
          </p:cNvSpPr>
          <p:nvPr>
            <p:ph idx="4294967295"/>
          </p:nvPr>
        </p:nvSpPr>
        <p:spPr>
          <a:xfrm>
            <a:off x="2843214" y="2362200"/>
            <a:ext cx="7386637" cy="4191000"/>
          </a:xfrm>
        </p:spPr>
        <p:txBody>
          <a:bodyPr/>
          <a:lstStyle/>
          <a:p>
            <a:pPr eaLnBrk="1" hangingPunct="1">
              <a:buFontTx/>
              <a:buNone/>
            </a:pPr>
            <a:r>
              <a:rPr lang="en-US" sz="3200">
                <a:solidFill>
                  <a:schemeClr val="accent1">
                    <a:lumMod val="50000"/>
                  </a:schemeClr>
                </a:solidFill>
                <a:latin typeface="Candara" panose="020E0502030303020204" pitchFamily="34" charset="0"/>
              </a:rPr>
              <a:t>A. Message code</a:t>
            </a:r>
          </a:p>
          <a:p>
            <a:pPr eaLnBrk="1" hangingPunct="1">
              <a:buFontTx/>
              <a:buNone/>
            </a:pPr>
            <a:r>
              <a:rPr lang="en-US" sz="3200">
                <a:solidFill>
                  <a:schemeClr val="accent1">
                    <a:lumMod val="50000"/>
                  </a:schemeClr>
                </a:solidFill>
                <a:latin typeface="Candara" panose="020E0502030303020204" pitchFamily="34" charset="0"/>
              </a:rPr>
              <a:t>B. Message treatment</a:t>
            </a:r>
          </a:p>
          <a:p>
            <a:pPr eaLnBrk="1" hangingPunct="1">
              <a:buFontTx/>
              <a:buNone/>
            </a:pPr>
            <a:r>
              <a:rPr lang="en-US" sz="3200">
                <a:solidFill>
                  <a:schemeClr val="accent1">
                    <a:lumMod val="50000"/>
                  </a:schemeClr>
                </a:solidFill>
                <a:latin typeface="Candara" panose="020E0502030303020204" pitchFamily="34" charset="0"/>
              </a:rPr>
              <a:t>C. Message content</a:t>
            </a:r>
          </a:p>
          <a:p>
            <a:pPr eaLnBrk="1" hangingPunct="1">
              <a:buFontTx/>
              <a:buNone/>
            </a:pPr>
            <a:r>
              <a:rPr lang="en-US" sz="3200">
                <a:solidFill>
                  <a:schemeClr val="accent1">
                    <a:lumMod val="50000"/>
                  </a:schemeClr>
                </a:solidFill>
                <a:latin typeface="Candara" panose="020E0502030303020204" pitchFamily="34" charset="0"/>
              </a:rPr>
              <a:t>D. None of the above</a:t>
            </a:r>
          </a:p>
        </p:txBody>
      </p:sp>
      <p:sp>
        <p:nvSpPr>
          <p:cNvPr id="50181" name="Text Box 5"/>
          <p:cNvSpPr txBox="1">
            <a:spLocks noChangeArrowheads="1"/>
          </p:cNvSpPr>
          <p:nvPr/>
        </p:nvSpPr>
        <p:spPr bwMode="auto">
          <a:xfrm>
            <a:off x="2743200" y="5257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Message treatment</a:t>
            </a:r>
          </a:p>
        </p:txBody>
      </p:sp>
    </p:spTree>
    <p:extLst>
      <p:ext uri="{BB962C8B-B14F-4D97-AF65-F5344CB8AC3E}">
        <p14:creationId xmlns:p14="http://schemas.microsoft.com/office/powerpoint/2010/main" val="2456051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wipe(down)">
                                      <p:cBhvr>
                                        <p:cTn id="7" dur="580">
                                          <p:stCondLst>
                                            <p:cond delay="0"/>
                                          </p:stCondLst>
                                        </p:cTn>
                                        <p:tgtEl>
                                          <p:spTgt spid="50181"/>
                                        </p:tgtEl>
                                      </p:cBhvr>
                                    </p:animEffect>
                                    <p:anim calcmode="lin" valueType="num">
                                      <p:cBhvr>
                                        <p:cTn id="8" dur="1822" tmFilter="0,0; 0.14,0.36; 0.43,0.73; 0.71,0.91; 1.0,1.0">
                                          <p:stCondLst>
                                            <p:cond delay="0"/>
                                          </p:stCondLst>
                                        </p:cTn>
                                        <p:tgtEl>
                                          <p:spTgt spid="5018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018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018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018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0181"/>
                                        </p:tgtEl>
                                        <p:attrNameLst>
                                          <p:attrName>ppt_y</p:attrName>
                                        </p:attrNameLst>
                                      </p:cBhvr>
                                      <p:tavLst>
                                        <p:tav tm="0" fmla="#ppt_y-sin(pi*$)/81">
                                          <p:val>
                                            <p:fltVal val="0"/>
                                          </p:val>
                                        </p:tav>
                                        <p:tav tm="100000">
                                          <p:val>
                                            <p:fltVal val="1"/>
                                          </p:val>
                                        </p:tav>
                                      </p:tavLst>
                                    </p:anim>
                                    <p:animScale>
                                      <p:cBhvr>
                                        <p:cTn id="13" dur="26">
                                          <p:stCondLst>
                                            <p:cond delay="650"/>
                                          </p:stCondLst>
                                        </p:cTn>
                                        <p:tgtEl>
                                          <p:spTgt spid="50181"/>
                                        </p:tgtEl>
                                      </p:cBhvr>
                                      <p:to x="100000" y="60000"/>
                                    </p:animScale>
                                    <p:animScale>
                                      <p:cBhvr>
                                        <p:cTn id="14" dur="166" decel="50000">
                                          <p:stCondLst>
                                            <p:cond delay="676"/>
                                          </p:stCondLst>
                                        </p:cTn>
                                        <p:tgtEl>
                                          <p:spTgt spid="50181"/>
                                        </p:tgtEl>
                                      </p:cBhvr>
                                      <p:to x="100000" y="100000"/>
                                    </p:animScale>
                                    <p:animScale>
                                      <p:cBhvr>
                                        <p:cTn id="15" dur="26">
                                          <p:stCondLst>
                                            <p:cond delay="1312"/>
                                          </p:stCondLst>
                                        </p:cTn>
                                        <p:tgtEl>
                                          <p:spTgt spid="50181"/>
                                        </p:tgtEl>
                                      </p:cBhvr>
                                      <p:to x="100000" y="80000"/>
                                    </p:animScale>
                                    <p:animScale>
                                      <p:cBhvr>
                                        <p:cTn id="16" dur="166" decel="50000">
                                          <p:stCondLst>
                                            <p:cond delay="1338"/>
                                          </p:stCondLst>
                                        </p:cTn>
                                        <p:tgtEl>
                                          <p:spTgt spid="50181"/>
                                        </p:tgtEl>
                                      </p:cBhvr>
                                      <p:to x="100000" y="100000"/>
                                    </p:animScale>
                                    <p:animScale>
                                      <p:cBhvr>
                                        <p:cTn id="17" dur="26">
                                          <p:stCondLst>
                                            <p:cond delay="1642"/>
                                          </p:stCondLst>
                                        </p:cTn>
                                        <p:tgtEl>
                                          <p:spTgt spid="50181"/>
                                        </p:tgtEl>
                                      </p:cBhvr>
                                      <p:to x="100000" y="90000"/>
                                    </p:animScale>
                                    <p:animScale>
                                      <p:cBhvr>
                                        <p:cTn id="18" dur="166" decel="50000">
                                          <p:stCondLst>
                                            <p:cond delay="1668"/>
                                          </p:stCondLst>
                                        </p:cTn>
                                        <p:tgtEl>
                                          <p:spTgt spid="50181"/>
                                        </p:tgtEl>
                                      </p:cBhvr>
                                      <p:to x="100000" y="100000"/>
                                    </p:animScale>
                                    <p:animScale>
                                      <p:cBhvr>
                                        <p:cTn id="19" dur="26">
                                          <p:stCondLst>
                                            <p:cond delay="1808"/>
                                          </p:stCondLst>
                                        </p:cTn>
                                        <p:tgtEl>
                                          <p:spTgt spid="50181"/>
                                        </p:tgtEl>
                                      </p:cBhvr>
                                      <p:to x="100000" y="95000"/>
                                    </p:animScale>
                                    <p:animScale>
                                      <p:cBhvr>
                                        <p:cTn id="20" dur="166" decel="50000">
                                          <p:stCondLst>
                                            <p:cond delay="1834"/>
                                          </p:stCondLst>
                                        </p:cTn>
                                        <p:tgtEl>
                                          <p:spTgt spid="5018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idx="4294967295"/>
          </p:nvPr>
        </p:nvSpPr>
        <p:spPr>
          <a:xfrm>
            <a:off x="2590801" y="455613"/>
            <a:ext cx="7477125" cy="1143000"/>
          </a:xfrm>
        </p:spPr>
        <p:txBody>
          <a:bodyPr/>
          <a:lstStyle/>
          <a:p>
            <a:pPr eaLnBrk="1" hangingPunct="1"/>
            <a:r>
              <a:rPr lang="en-US" smtClean="0">
                <a:solidFill>
                  <a:schemeClr val="bg1"/>
                </a:solidFill>
                <a:latin typeface="Candara" panose="020E0502030303020204" pitchFamily="34" charset="0"/>
              </a:rPr>
              <a:t>15. The message sent back by a receiver is called</a:t>
            </a:r>
          </a:p>
        </p:txBody>
      </p:sp>
      <p:sp>
        <p:nvSpPr>
          <p:cNvPr id="99331" name="Content Placeholder 2"/>
          <p:cNvSpPr>
            <a:spLocks noGrp="1"/>
          </p:cNvSpPr>
          <p:nvPr>
            <p:ph idx="4294967295"/>
          </p:nvPr>
        </p:nvSpPr>
        <p:spPr>
          <a:xfrm>
            <a:off x="2590800" y="1981200"/>
            <a:ext cx="7386638" cy="4497388"/>
          </a:xfrm>
        </p:spPr>
        <p:txBody>
          <a:bodyPr/>
          <a:lstStyle/>
          <a:p>
            <a:pPr eaLnBrk="1" hangingPunct="1">
              <a:buFontTx/>
              <a:buNone/>
            </a:pPr>
            <a:r>
              <a:rPr lang="en-US" sz="3600">
                <a:solidFill>
                  <a:schemeClr val="bg1"/>
                </a:solidFill>
                <a:latin typeface="Candara" panose="020E0502030303020204" pitchFamily="34" charset="0"/>
              </a:rPr>
              <a:t>A. Output</a:t>
            </a:r>
          </a:p>
          <a:p>
            <a:pPr eaLnBrk="1" hangingPunct="1">
              <a:buFontTx/>
              <a:buNone/>
            </a:pPr>
            <a:r>
              <a:rPr lang="en-US" sz="3600">
                <a:solidFill>
                  <a:schemeClr val="bg1"/>
                </a:solidFill>
                <a:latin typeface="Candara" panose="020E0502030303020204" pitchFamily="34" charset="0"/>
              </a:rPr>
              <a:t>B. Input</a:t>
            </a:r>
          </a:p>
          <a:p>
            <a:pPr eaLnBrk="1" hangingPunct="1">
              <a:buFontTx/>
              <a:buNone/>
            </a:pPr>
            <a:r>
              <a:rPr lang="en-US" sz="3600">
                <a:solidFill>
                  <a:schemeClr val="bg1"/>
                </a:solidFill>
                <a:latin typeface="Candara" panose="020E0502030303020204" pitchFamily="34" charset="0"/>
              </a:rPr>
              <a:t>C. Feedback</a:t>
            </a:r>
          </a:p>
          <a:p>
            <a:pPr eaLnBrk="1" hangingPunct="1">
              <a:buFontTx/>
              <a:buNone/>
            </a:pPr>
            <a:endParaRPr lang="en-US" sz="3600">
              <a:solidFill>
                <a:schemeClr val="bg1"/>
              </a:solidFill>
              <a:latin typeface="Candara" panose="020E0502030303020204" pitchFamily="34" charset="0"/>
            </a:endParaRPr>
          </a:p>
        </p:txBody>
      </p:sp>
      <p:sp>
        <p:nvSpPr>
          <p:cNvPr id="51205" name="Text Box 5"/>
          <p:cNvSpPr txBox="1">
            <a:spLocks noChangeArrowheads="1"/>
          </p:cNvSpPr>
          <p:nvPr/>
        </p:nvSpPr>
        <p:spPr bwMode="auto">
          <a:xfrm>
            <a:off x="2619375" y="50292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bg1"/>
                </a:solidFill>
                <a:latin typeface="Candara" panose="020E0502030303020204" pitchFamily="34" charset="0"/>
              </a:rPr>
              <a:t>C. Feedback </a:t>
            </a:r>
          </a:p>
        </p:txBody>
      </p:sp>
    </p:spTree>
    <p:extLst>
      <p:ext uri="{BB962C8B-B14F-4D97-AF65-F5344CB8AC3E}">
        <p14:creationId xmlns:p14="http://schemas.microsoft.com/office/powerpoint/2010/main" val="734568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down)">
                                      <p:cBhvr>
                                        <p:cTn id="7" dur="580">
                                          <p:stCondLst>
                                            <p:cond delay="0"/>
                                          </p:stCondLst>
                                        </p:cTn>
                                        <p:tgtEl>
                                          <p:spTgt spid="51205"/>
                                        </p:tgtEl>
                                      </p:cBhvr>
                                    </p:animEffect>
                                    <p:anim calcmode="lin" valueType="num">
                                      <p:cBhvr>
                                        <p:cTn id="8" dur="1822" tmFilter="0,0; 0.14,0.36; 0.43,0.73; 0.71,0.91; 1.0,1.0">
                                          <p:stCondLst>
                                            <p:cond delay="0"/>
                                          </p:stCondLst>
                                        </p:cTn>
                                        <p:tgtEl>
                                          <p:spTgt spid="5120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120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120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120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1205"/>
                                        </p:tgtEl>
                                        <p:attrNameLst>
                                          <p:attrName>ppt_y</p:attrName>
                                        </p:attrNameLst>
                                      </p:cBhvr>
                                      <p:tavLst>
                                        <p:tav tm="0" fmla="#ppt_y-sin(pi*$)/81">
                                          <p:val>
                                            <p:fltVal val="0"/>
                                          </p:val>
                                        </p:tav>
                                        <p:tav tm="100000">
                                          <p:val>
                                            <p:fltVal val="1"/>
                                          </p:val>
                                        </p:tav>
                                      </p:tavLst>
                                    </p:anim>
                                    <p:animScale>
                                      <p:cBhvr>
                                        <p:cTn id="13" dur="26">
                                          <p:stCondLst>
                                            <p:cond delay="650"/>
                                          </p:stCondLst>
                                        </p:cTn>
                                        <p:tgtEl>
                                          <p:spTgt spid="51205"/>
                                        </p:tgtEl>
                                      </p:cBhvr>
                                      <p:to x="100000" y="60000"/>
                                    </p:animScale>
                                    <p:animScale>
                                      <p:cBhvr>
                                        <p:cTn id="14" dur="166" decel="50000">
                                          <p:stCondLst>
                                            <p:cond delay="676"/>
                                          </p:stCondLst>
                                        </p:cTn>
                                        <p:tgtEl>
                                          <p:spTgt spid="51205"/>
                                        </p:tgtEl>
                                      </p:cBhvr>
                                      <p:to x="100000" y="100000"/>
                                    </p:animScale>
                                    <p:animScale>
                                      <p:cBhvr>
                                        <p:cTn id="15" dur="26">
                                          <p:stCondLst>
                                            <p:cond delay="1312"/>
                                          </p:stCondLst>
                                        </p:cTn>
                                        <p:tgtEl>
                                          <p:spTgt spid="51205"/>
                                        </p:tgtEl>
                                      </p:cBhvr>
                                      <p:to x="100000" y="80000"/>
                                    </p:animScale>
                                    <p:animScale>
                                      <p:cBhvr>
                                        <p:cTn id="16" dur="166" decel="50000">
                                          <p:stCondLst>
                                            <p:cond delay="1338"/>
                                          </p:stCondLst>
                                        </p:cTn>
                                        <p:tgtEl>
                                          <p:spTgt spid="51205"/>
                                        </p:tgtEl>
                                      </p:cBhvr>
                                      <p:to x="100000" y="100000"/>
                                    </p:animScale>
                                    <p:animScale>
                                      <p:cBhvr>
                                        <p:cTn id="17" dur="26">
                                          <p:stCondLst>
                                            <p:cond delay="1642"/>
                                          </p:stCondLst>
                                        </p:cTn>
                                        <p:tgtEl>
                                          <p:spTgt spid="51205"/>
                                        </p:tgtEl>
                                      </p:cBhvr>
                                      <p:to x="100000" y="90000"/>
                                    </p:animScale>
                                    <p:animScale>
                                      <p:cBhvr>
                                        <p:cTn id="18" dur="166" decel="50000">
                                          <p:stCondLst>
                                            <p:cond delay="1668"/>
                                          </p:stCondLst>
                                        </p:cTn>
                                        <p:tgtEl>
                                          <p:spTgt spid="51205"/>
                                        </p:tgtEl>
                                      </p:cBhvr>
                                      <p:to x="100000" y="100000"/>
                                    </p:animScale>
                                    <p:animScale>
                                      <p:cBhvr>
                                        <p:cTn id="19" dur="26">
                                          <p:stCondLst>
                                            <p:cond delay="1808"/>
                                          </p:stCondLst>
                                        </p:cTn>
                                        <p:tgtEl>
                                          <p:spTgt spid="51205"/>
                                        </p:tgtEl>
                                      </p:cBhvr>
                                      <p:to x="100000" y="95000"/>
                                    </p:animScale>
                                    <p:animScale>
                                      <p:cBhvr>
                                        <p:cTn id="20" dur="166" decel="50000">
                                          <p:stCondLst>
                                            <p:cond delay="1834"/>
                                          </p:stCondLst>
                                        </p:cTn>
                                        <p:tgtEl>
                                          <p:spTgt spid="5120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idx="4294967295"/>
          </p:nvPr>
        </p:nvSpPr>
        <p:spPr>
          <a:xfrm>
            <a:off x="2438401" y="304800"/>
            <a:ext cx="7477125" cy="1752600"/>
          </a:xfrm>
        </p:spPr>
        <p:txBody>
          <a:bodyPr/>
          <a:lstStyle/>
          <a:p>
            <a:pPr eaLnBrk="1" hangingPunct="1"/>
            <a:r>
              <a:rPr lang="en-US" sz="3200">
                <a:solidFill>
                  <a:schemeClr val="accent1">
                    <a:lumMod val="50000"/>
                  </a:schemeClr>
                </a:solidFill>
                <a:latin typeface="Candara" panose="020E0502030303020204" pitchFamily="34" charset="0"/>
              </a:rPr>
              <a:t>16. Which of the following is the correct communication model designed by Berlo?</a:t>
            </a:r>
            <a:br>
              <a:rPr lang="en-US" sz="3200">
                <a:solidFill>
                  <a:schemeClr val="accent1">
                    <a:lumMod val="50000"/>
                  </a:schemeClr>
                </a:solidFill>
                <a:latin typeface="Candara" panose="020E0502030303020204" pitchFamily="34" charset="0"/>
              </a:rPr>
            </a:br>
            <a:endParaRPr lang="en-US" sz="3200">
              <a:solidFill>
                <a:schemeClr val="accent1">
                  <a:lumMod val="50000"/>
                </a:schemeClr>
              </a:solidFill>
              <a:latin typeface="Candara" panose="020E0502030303020204" pitchFamily="34" charset="0"/>
            </a:endParaRPr>
          </a:p>
        </p:txBody>
      </p:sp>
      <p:sp>
        <p:nvSpPr>
          <p:cNvPr id="100355" name="Content Placeholder 2"/>
          <p:cNvSpPr>
            <a:spLocks noGrp="1"/>
          </p:cNvSpPr>
          <p:nvPr>
            <p:ph idx="4294967295"/>
          </p:nvPr>
        </p:nvSpPr>
        <p:spPr>
          <a:xfrm>
            <a:off x="2528889" y="1828800"/>
            <a:ext cx="7386637" cy="4497388"/>
          </a:xfrm>
        </p:spPr>
        <p:txBody>
          <a:bodyPr/>
          <a:lstStyle/>
          <a:p>
            <a:pPr eaLnBrk="1" hangingPunct="1">
              <a:buFontTx/>
              <a:buAutoNum type="alphaLcPeriod"/>
            </a:pPr>
            <a:r>
              <a:rPr lang="en-US" sz="4000">
                <a:solidFill>
                  <a:schemeClr val="accent1">
                    <a:lumMod val="50000"/>
                  </a:schemeClr>
                </a:solidFill>
                <a:latin typeface="Candara" panose="020E0502030303020204" pitchFamily="34" charset="0"/>
              </a:rPr>
              <a:t>SMERC</a:t>
            </a:r>
          </a:p>
          <a:p>
            <a:pPr eaLnBrk="1" hangingPunct="1">
              <a:buFontTx/>
              <a:buAutoNum type="alphaLcPeriod"/>
            </a:pPr>
            <a:r>
              <a:rPr lang="en-US" sz="4000">
                <a:solidFill>
                  <a:schemeClr val="accent1">
                    <a:lumMod val="50000"/>
                  </a:schemeClr>
                </a:solidFill>
                <a:latin typeface="Candara" panose="020E0502030303020204" pitchFamily="34" charset="0"/>
              </a:rPr>
              <a:t>SCMRE</a:t>
            </a:r>
          </a:p>
          <a:p>
            <a:pPr eaLnBrk="1" hangingPunct="1">
              <a:buFontTx/>
              <a:buAutoNum type="alphaLcPeriod"/>
            </a:pPr>
            <a:r>
              <a:rPr lang="en-US" sz="4000">
                <a:solidFill>
                  <a:schemeClr val="accent1">
                    <a:lumMod val="50000"/>
                  </a:schemeClr>
                </a:solidFill>
                <a:latin typeface="Candara" panose="020E0502030303020204" pitchFamily="34" charset="0"/>
              </a:rPr>
              <a:t>SMREC</a:t>
            </a:r>
          </a:p>
          <a:p>
            <a:pPr eaLnBrk="1" hangingPunct="1">
              <a:buFontTx/>
              <a:buAutoNum type="alphaLcPeriod"/>
            </a:pPr>
            <a:r>
              <a:rPr lang="en-US" sz="4000">
                <a:solidFill>
                  <a:schemeClr val="accent1">
                    <a:lumMod val="50000"/>
                  </a:schemeClr>
                </a:solidFill>
                <a:latin typeface="Candara" panose="020E0502030303020204" pitchFamily="34" charset="0"/>
              </a:rPr>
              <a:t>SMCRE</a:t>
            </a:r>
          </a:p>
        </p:txBody>
      </p:sp>
      <p:sp>
        <p:nvSpPr>
          <p:cNvPr id="52229" name="Text Box 5"/>
          <p:cNvSpPr txBox="1">
            <a:spLocks noChangeArrowheads="1"/>
          </p:cNvSpPr>
          <p:nvPr/>
        </p:nvSpPr>
        <p:spPr bwMode="auto">
          <a:xfrm>
            <a:off x="2667000"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D. SMCRE</a:t>
            </a:r>
          </a:p>
        </p:txBody>
      </p:sp>
    </p:spTree>
    <p:extLst>
      <p:ext uri="{BB962C8B-B14F-4D97-AF65-F5344CB8AC3E}">
        <p14:creationId xmlns:p14="http://schemas.microsoft.com/office/powerpoint/2010/main" val="11066764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wipe(down)">
                                      <p:cBhvr>
                                        <p:cTn id="7" dur="580">
                                          <p:stCondLst>
                                            <p:cond delay="0"/>
                                          </p:stCondLst>
                                        </p:cTn>
                                        <p:tgtEl>
                                          <p:spTgt spid="52229"/>
                                        </p:tgtEl>
                                      </p:cBhvr>
                                    </p:animEffect>
                                    <p:anim calcmode="lin" valueType="num">
                                      <p:cBhvr>
                                        <p:cTn id="8" dur="1822" tmFilter="0,0; 0.14,0.36; 0.43,0.73; 0.71,0.91; 1.0,1.0">
                                          <p:stCondLst>
                                            <p:cond delay="0"/>
                                          </p:stCondLst>
                                        </p:cTn>
                                        <p:tgtEl>
                                          <p:spTgt spid="522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22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22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22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2229"/>
                                        </p:tgtEl>
                                        <p:attrNameLst>
                                          <p:attrName>ppt_y</p:attrName>
                                        </p:attrNameLst>
                                      </p:cBhvr>
                                      <p:tavLst>
                                        <p:tav tm="0" fmla="#ppt_y-sin(pi*$)/81">
                                          <p:val>
                                            <p:fltVal val="0"/>
                                          </p:val>
                                        </p:tav>
                                        <p:tav tm="100000">
                                          <p:val>
                                            <p:fltVal val="1"/>
                                          </p:val>
                                        </p:tav>
                                      </p:tavLst>
                                    </p:anim>
                                    <p:animScale>
                                      <p:cBhvr>
                                        <p:cTn id="13" dur="26">
                                          <p:stCondLst>
                                            <p:cond delay="650"/>
                                          </p:stCondLst>
                                        </p:cTn>
                                        <p:tgtEl>
                                          <p:spTgt spid="52229"/>
                                        </p:tgtEl>
                                      </p:cBhvr>
                                      <p:to x="100000" y="60000"/>
                                    </p:animScale>
                                    <p:animScale>
                                      <p:cBhvr>
                                        <p:cTn id="14" dur="166" decel="50000">
                                          <p:stCondLst>
                                            <p:cond delay="676"/>
                                          </p:stCondLst>
                                        </p:cTn>
                                        <p:tgtEl>
                                          <p:spTgt spid="52229"/>
                                        </p:tgtEl>
                                      </p:cBhvr>
                                      <p:to x="100000" y="100000"/>
                                    </p:animScale>
                                    <p:animScale>
                                      <p:cBhvr>
                                        <p:cTn id="15" dur="26">
                                          <p:stCondLst>
                                            <p:cond delay="1312"/>
                                          </p:stCondLst>
                                        </p:cTn>
                                        <p:tgtEl>
                                          <p:spTgt spid="52229"/>
                                        </p:tgtEl>
                                      </p:cBhvr>
                                      <p:to x="100000" y="80000"/>
                                    </p:animScale>
                                    <p:animScale>
                                      <p:cBhvr>
                                        <p:cTn id="16" dur="166" decel="50000">
                                          <p:stCondLst>
                                            <p:cond delay="1338"/>
                                          </p:stCondLst>
                                        </p:cTn>
                                        <p:tgtEl>
                                          <p:spTgt spid="52229"/>
                                        </p:tgtEl>
                                      </p:cBhvr>
                                      <p:to x="100000" y="100000"/>
                                    </p:animScale>
                                    <p:animScale>
                                      <p:cBhvr>
                                        <p:cTn id="17" dur="26">
                                          <p:stCondLst>
                                            <p:cond delay="1642"/>
                                          </p:stCondLst>
                                        </p:cTn>
                                        <p:tgtEl>
                                          <p:spTgt spid="52229"/>
                                        </p:tgtEl>
                                      </p:cBhvr>
                                      <p:to x="100000" y="90000"/>
                                    </p:animScale>
                                    <p:animScale>
                                      <p:cBhvr>
                                        <p:cTn id="18" dur="166" decel="50000">
                                          <p:stCondLst>
                                            <p:cond delay="1668"/>
                                          </p:stCondLst>
                                        </p:cTn>
                                        <p:tgtEl>
                                          <p:spTgt spid="52229"/>
                                        </p:tgtEl>
                                      </p:cBhvr>
                                      <p:to x="100000" y="100000"/>
                                    </p:animScale>
                                    <p:animScale>
                                      <p:cBhvr>
                                        <p:cTn id="19" dur="26">
                                          <p:stCondLst>
                                            <p:cond delay="1808"/>
                                          </p:stCondLst>
                                        </p:cTn>
                                        <p:tgtEl>
                                          <p:spTgt spid="52229"/>
                                        </p:tgtEl>
                                      </p:cBhvr>
                                      <p:to x="100000" y="95000"/>
                                    </p:animScale>
                                    <p:animScale>
                                      <p:cBhvr>
                                        <p:cTn id="20" dur="166" decel="50000">
                                          <p:stCondLst>
                                            <p:cond delay="1834"/>
                                          </p:stCondLst>
                                        </p:cTn>
                                        <p:tgtEl>
                                          <p:spTgt spid="522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idx="4294967295"/>
          </p:nvPr>
        </p:nvSpPr>
        <p:spPr>
          <a:xfrm>
            <a:off x="2514601" y="455613"/>
            <a:ext cx="7477125" cy="1143000"/>
          </a:xfrm>
        </p:spPr>
        <p:txBody>
          <a:bodyPr/>
          <a:lstStyle/>
          <a:p>
            <a:pPr eaLnBrk="1" hangingPunct="1"/>
            <a:r>
              <a:rPr lang="en-US" sz="3200">
                <a:solidFill>
                  <a:schemeClr val="accent1">
                    <a:lumMod val="50000"/>
                  </a:schemeClr>
                </a:solidFill>
                <a:latin typeface="Candara" panose="020E0502030303020204" pitchFamily="34" charset="0"/>
              </a:rPr>
              <a:t>17. The “S” in the communication process stands for</a:t>
            </a:r>
          </a:p>
        </p:txBody>
      </p:sp>
      <p:sp>
        <p:nvSpPr>
          <p:cNvPr id="101379" name="Content Placeholder 2"/>
          <p:cNvSpPr>
            <a:spLocks noGrp="1"/>
          </p:cNvSpPr>
          <p:nvPr>
            <p:ph idx="4294967295"/>
          </p:nvPr>
        </p:nvSpPr>
        <p:spPr>
          <a:xfrm>
            <a:off x="2743200" y="2133600"/>
            <a:ext cx="7386638" cy="4497388"/>
          </a:xfrm>
        </p:spPr>
        <p:txBody>
          <a:bodyPr/>
          <a:lstStyle/>
          <a:p>
            <a:pPr marL="609600" indent="-609600">
              <a:buFontTx/>
              <a:buAutoNum type="alphaUcPeriod"/>
            </a:pPr>
            <a:r>
              <a:rPr lang="en-US" sz="3200" dirty="0">
                <a:solidFill>
                  <a:schemeClr val="accent1">
                    <a:lumMod val="50000"/>
                  </a:schemeClr>
                </a:solidFill>
                <a:latin typeface="Candara" panose="020E0502030303020204" pitchFamily="34" charset="0"/>
              </a:rPr>
              <a:t>Source</a:t>
            </a:r>
          </a:p>
          <a:p>
            <a:pPr marL="609600" indent="-609600">
              <a:buFontTx/>
              <a:buAutoNum type="alphaUcPeriod"/>
            </a:pPr>
            <a:r>
              <a:rPr lang="en-US" sz="3200" dirty="0">
                <a:solidFill>
                  <a:schemeClr val="accent1">
                    <a:lumMod val="50000"/>
                  </a:schemeClr>
                </a:solidFill>
                <a:latin typeface="Candara" panose="020E0502030303020204" pitchFamily="34" charset="0"/>
              </a:rPr>
              <a:t>Secret</a:t>
            </a:r>
          </a:p>
          <a:p>
            <a:pPr marL="609600" indent="-609600">
              <a:buFontTx/>
              <a:buAutoNum type="alphaUcPeriod"/>
            </a:pPr>
            <a:r>
              <a:rPr lang="en-US" sz="3200" dirty="0" smtClean="0">
                <a:solidFill>
                  <a:schemeClr val="accent1">
                    <a:lumMod val="50000"/>
                  </a:schemeClr>
                </a:solidFill>
                <a:latin typeface="Candara" panose="020E0502030303020204" pitchFamily="34" charset="0"/>
              </a:rPr>
              <a:t>Symbols</a:t>
            </a:r>
          </a:p>
          <a:p>
            <a:pPr marL="609600" indent="-609600">
              <a:buFontTx/>
              <a:buAutoNum type="alphaUcPeriod"/>
            </a:pPr>
            <a:r>
              <a:rPr lang="en-US" sz="3200" dirty="0" smtClean="0">
                <a:solidFill>
                  <a:schemeClr val="accent1">
                    <a:lumMod val="50000"/>
                  </a:schemeClr>
                </a:solidFill>
                <a:latin typeface="Candara" panose="020E0502030303020204" pitchFamily="34" charset="0"/>
              </a:rPr>
              <a:t> </a:t>
            </a:r>
            <a:r>
              <a:rPr lang="en-US" sz="3200" dirty="0">
                <a:solidFill>
                  <a:schemeClr val="accent1">
                    <a:lumMod val="50000"/>
                  </a:schemeClr>
                </a:solidFill>
                <a:latin typeface="Candara" panose="020E0502030303020204" pitchFamily="34" charset="0"/>
              </a:rPr>
              <a:t>None of the above</a:t>
            </a:r>
          </a:p>
        </p:txBody>
      </p:sp>
      <p:sp>
        <p:nvSpPr>
          <p:cNvPr id="53253" name="Text Box 5"/>
          <p:cNvSpPr txBox="1">
            <a:spLocks noChangeArrowheads="1"/>
          </p:cNvSpPr>
          <p:nvPr/>
        </p:nvSpPr>
        <p:spPr bwMode="auto">
          <a:xfrm>
            <a:off x="2743200" y="5029200"/>
            <a:ext cx="7543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A. Source </a:t>
            </a:r>
          </a:p>
        </p:txBody>
      </p:sp>
    </p:spTree>
    <p:extLst>
      <p:ext uri="{BB962C8B-B14F-4D97-AF65-F5344CB8AC3E}">
        <p14:creationId xmlns:p14="http://schemas.microsoft.com/office/powerpoint/2010/main" val="2316131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wipe(down)">
                                      <p:cBhvr>
                                        <p:cTn id="7" dur="580">
                                          <p:stCondLst>
                                            <p:cond delay="0"/>
                                          </p:stCondLst>
                                        </p:cTn>
                                        <p:tgtEl>
                                          <p:spTgt spid="53253"/>
                                        </p:tgtEl>
                                      </p:cBhvr>
                                    </p:animEffect>
                                    <p:anim calcmode="lin" valueType="num">
                                      <p:cBhvr>
                                        <p:cTn id="8" dur="1822" tmFilter="0,0; 0.14,0.36; 0.43,0.73; 0.71,0.91; 1.0,1.0">
                                          <p:stCondLst>
                                            <p:cond delay="0"/>
                                          </p:stCondLst>
                                        </p:cTn>
                                        <p:tgtEl>
                                          <p:spTgt spid="532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32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32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32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3253"/>
                                        </p:tgtEl>
                                        <p:attrNameLst>
                                          <p:attrName>ppt_y</p:attrName>
                                        </p:attrNameLst>
                                      </p:cBhvr>
                                      <p:tavLst>
                                        <p:tav tm="0" fmla="#ppt_y-sin(pi*$)/81">
                                          <p:val>
                                            <p:fltVal val="0"/>
                                          </p:val>
                                        </p:tav>
                                        <p:tav tm="100000">
                                          <p:val>
                                            <p:fltVal val="1"/>
                                          </p:val>
                                        </p:tav>
                                      </p:tavLst>
                                    </p:anim>
                                    <p:animScale>
                                      <p:cBhvr>
                                        <p:cTn id="13" dur="26">
                                          <p:stCondLst>
                                            <p:cond delay="650"/>
                                          </p:stCondLst>
                                        </p:cTn>
                                        <p:tgtEl>
                                          <p:spTgt spid="53253"/>
                                        </p:tgtEl>
                                      </p:cBhvr>
                                      <p:to x="100000" y="60000"/>
                                    </p:animScale>
                                    <p:animScale>
                                      <p:cBhvr>
                                        <p:cTn id="14" dur="166" decel="50000">
                                          <p:stCondLst>
                                            <p:cond delay="676"/>
                                          </p:stCondLst>
                                        </p:cTn>
                                        <p:tgtEl>
                                          <p:spTgt spid="53253"/>
                                        </p:tgtEl>
                                      </p:cBhvr>
                                      <p:to x="100000" y="100000"/>
                                    </p:animScale>
                                    <p:animScale>
                                      <p:cBhvr>
                                        <p:cTn id="15" dur="26">
                                          <p:stCondLst>
                                            <p:cond delay="1312"/>
                                          </p:stCondLst>
                                        </p:cTn>
                                        <p:tgtEl>
                                          <p:spTgt spid="53253"/>
                                        </p:tgtEl>
                                      </p:cBhvr>
                                      <p:to x="100000" y="80000"/>
                                    </p:animScale>
                                    <p:animScale>
                                      <p:cBhvr>
                                        <p:cTn id="16" dur="166" decel="50000">
                                          <p:stCondLst>
                                            <p:cond delay="1338"/>
                                          </p:stCondLst>
                                        </p:cTn>
                                        <p:tgtEl>
                                          <p:spTgt spid="53253"/>
                                        </p:tgtEl>
                                      </p:cBhvr>
                                      <p:to x="100000" y="100000"/>
                                    </p:animScale>
                                    <p:animScale>
                                      <p:cBhvr>
                                        <p:cTn id="17" dur="26">
                                          <p:stCondLst>
                                            <p:cond delay="1642"/>
                                          </p:stCondLst>
                                        </p:cTn>
                                        <p:tgtEl>
                                          <p:spTgt spid="53253"/>
                                        </p:tgtEl>
                                      </p:cBhvr>
                                      <p:to x="100000" y="90000"/>
                                    </p:animScale>
                                    <p:animScale>
                                      <p:cBhvr>
                                        <p:cTn id="18" dur="166" decel="50000">
                                          <p:stCondLst>
                                            <p:cond delay="1668"/>
                                          </p:stCondLst>
                                        </p:cTn>
                                        <p:tgtEl>
                                          <p:spTgt spid="53253"/>
                                        </p:tgtEl>
                                      </p:cBhvr>
                                      <p:to x="100000" y="100000"/>
                                    </p:animScale>
                                    <p:animScale>
                                      <p:cBhvr>
                                        <p:cTn id="19" dur="26">
                                          <p:stCondLst>
                                            <p:cond delay="1808"/>
                                          </p:stCondLst>
                                        </p:cTn>
                                        <p:tgtEl>
                                          <p:spTgt spid="53253"/>
                                        </p:tgtEl>
                                      </p:cBhvr>
                                      <p:to x="100000" y="95000"/>
                                    </p:animScale>
                                    <p:animScale>
                                      <p:cBhvr>
                                        <p:cTn id="20" dur="166" decel="50000">
                                          <p:stCondLst>
                                            <p:cond delay="1834"/>
                                          </p:stCondLst>
                                        </p:cTn>
                                        <p:tgtEl>
                                          <p:spTgt spid="5325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idx="4294967295"/>
          </p:nvPr>
        </p:nvSpPr>
        <p:spPr>
          <a:xfrm>
            <a:off x="2743201" y="531813"/>
            <a:ext cx="7477125" cy="1143000"/>
          </a:xfrm>
        </p:spPr>
        <p:txBody>
          <a:bodyPr rtlCol="0">
            <a:normAutofit fontScale="90000"/>
          </a:bodyPr>
          <a:lstStyle/>
          <a:p>
            <a:pPr>
              <a:defRPr/>
            </a:pPr>
            <a:r>
              <a:rPr lang="en-US" sz="3200" dirty="0">
                <a:solidFill>
                  <a:schemeClr val="accent1">
                    <a:lumMod val="50000"/>
                  </a:schemeClr>
                </a:solidFill>
                <a:latin typeface="Candara" panose="020E0502030303020204" pitchFamily="34" charset="0"/>
              </a:rPr>
              <a:t>18. The “C” in the communication process stands for</a:t>
            </a:r>
            <a:br>
              <a:rPr lang="en-US" sz="3200" dirty="0">
                <a:solidFill>
                  <a:schemeClr val="accent1">
                    <a:lumMod val="50000"/>
                  </a:schemeClr>
                </a:solidFill>
                <a:latin typeface="Candara" panose="020E0502030303020204" pitchFamily="34" charset="0"/>
              </a:rPr>
            </a:br>
            <a:endParaRPr lang="en-US" sz="3200" dirty="0">
              <a:solidFill>
                <a:schemeClr val="accent1">
                  <a:lumMod val="50000"/>
                </a:schemeClr>
              </a:solidFill>
              <a:latin typeface="Candara" panose="020E0502030303020204" pitchFamily="34" charset="0"/>
            </a:endParaRPr>
          </a:p>
        </p:txBody>
      </p:sp>
      <p:sp>
        <p:nvSpPr>
          <p:cNvPr id="102403" name="Content Placeholder 2"/>
          <p:cNvSpPr>
            <a:spLocks noGrp="1"/>
          </p:cNvSpPr>
          <p:nvPr>
            <p:ph idx="4294967295"/>
          </p:nvPr>
        </p:nvSpPr>
        <p:spPr>
          <a:xfrm>
            <a:off x="2779714" y="1905000"/>
            <a:ext cx="7386637" cy="4497388"/>
          </a:xfrm>
        </p:spPr>
        <p:txBody>
          <a:bodyPr/>
          <a:lstStyle/>
          <a:p>
            <a:pPr eaLnBrk="1" hangingPunct="1">
              <a:buFontTx/>
              <a:buAutoNum type="alphaLcPeriod"/>
            </a:pPr>
            <a:r>
              <a:rPr lang="en-US" sz="3200">
                <a:solidFill>
                  <a:schemeClr val="accent1">
                    <a:lumMod val="50000"/>
                  </a:schemeClr>
                </a:solidFill>
                <a:latin typeface="Candara" panose="020E0502030303020204" pitchFamily="34" charset="0"/>
              </a:rPr>
              <a:t>Contractual</a:t>
            </a:r>
          </a:p>
          <a:p>
            <a:pPr eaLnBrk="1" hangingPunct="1">
              <a:buFontTx/>
              <a:buAutoNum type="alphaLcPeriod"/>
            </a:pPr>
            <a:r>
              <a:rPr lang="en-US" sz="3200">
                <a:solidFill>
                  <a:schemeClr val="accent1">
                    <a:lumMod val="50000"/>
                  </a:schemeClr>
                </a:solidFill>
                <a:latin typeface="Candara" panose="020E0502030303020204" pitchFamily="34" charset="0"/>
              </a:rPr>
              <a:t>Channel</a:t>
            </a:r>
          </a:p>
          <a:p>
            <a:pPr eaLnBrk="1" hangingPunct="1">
              <a:buFontTx/>
              <a:buAutoNum type="alphaLcPeriod"/>
            </a:pPr>
            <a:r>
              <a:rPr lang="en-US" sz="3200">
                <a:solidFill>
                  <a:schemeClr val="accent1">
                    <a:lumMod val="50000"/>
                  </a:schemeClr>
                </a:solidFill>
                <a:latin typeface="Candara" panose="020E0502030303020204" pitchFamily="34" charset="0"/>
              </a:rPr>
              <a:t>Citing</a:t>
            </a:r>
          </a:p>
          <a:p>
            <a:pPr eaLnBrk="1" hangingPunct="1">
              <a:buFontTx/>
              <a:buAutoNum type="alphaLcPeriod"/>
            </a:pPr>
            <a:r>
              <a:rPr lang="en-US" sz="3200">
                <a:solidFill>
                  <a:schemeClr val="accent1">
                    <a:lumMod val="50000"/>
                  </a:schemeClr>
                </a:solidFill>
                <a:latin typeface="Candara" panose="020E0502030303020204" pitchFamily="34" charset="0"/>
              </a:rPr>
              <a:t>None of the above</a:t>
            </a:r>
          </a:p>
        </p:txBody>
      </p:sp>
      <p:sp>
        <p:nvSpPr>
          <p:cNvPr id="54277" name="Text Box 5"/>
          <p:cNvSpPr txBox="1">
            <a:spLocks noChangeArrowheads="1"/>
          </p:cNvSpPr>
          <p:nvPr/>
        </p:nvSpPr>
        <p:spPr bwMode="auto">
          <a:xfrm>
            <a:off x="2794000" y="5257800"/>
            <a:ext cx="7543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Channel</a:t>
            </a:r>
          </a:p>
        </p:txBody>
      </p:sp>
    </p:spTree>
    <p:extLst>
      <p:ext uri="{BB962C8B-B14F-4D97-AF65-F5344CB8AC3E}">
        <p14:creationId xmlns:p14="http://schemas.microsoft.com/office/powerpoint/2010/main" val="62989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wipe(down)">
                                      <p:cBhvr>
                                        <p:cTn id="7" dur="580">
                                          <p:stCondLst>
                                            <p:cond delay="0"/>
                                          </p:stCondLst>
                                        </p:cTn>
                                        <p:tgtEl>
                                          <p:spTgt spid="54277"/>
                                        </p:tgtEl>
                                      </p:cBhvr>
                                    </p:animEffect>
                                    <p:anim calcmode="lin" valueType="num">
                                      <p:cBhvr>
                                        <p:cTn id="8" dur="1822" tmFilter="0,0; 0.14,0.36; 0.43,0.73; 0.71,0.91; 1.0,1.0">
                                          <p:stCondLst>
                                            <p:cond delay="0"/>
                                          </p:stCondLst>
                                        </p:cTn>
                                        <p:tgtEl>
                                          <p:spTgt spid="5427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427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427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427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4277"/>
                                        </p:tgtEl>
                                        <p:attrNameLst>
                                          <p:attrName>ppt_y</p:attrName>
                                        </p:attrNameLst>
                                      </p:cBhvr>
                                      <p:tavLst>
                                        <p:tav tm="0" fmla="#ppt_y-sin(pi*$)/81">
                                          <p:val>
                                            <p:fltVal val="0"/>
                                          </p:val>
                                        </p:tav>
                                        <p:tav tm="100000">
                                          <p:val>
                                            <p:fltVal val="1"/>
                                          </p:val>
                                        </p:tav>
                                      </p:tavLst>
                                    </p:anim>
                                    <p:animScale>
                                      <p:cBhvr>
                                        <p:cTn id="13" dur="26">
                                          <p:stCondLst>
                                            <p:cond delay="650"/>
                                          </p:stCondLst>
                                        </p:cTn>
                                        <p:tgtEl>
                                          <p:spTgt spid="54277"/>
                                        </p:tgtEl>
                                      </p:cBhvr>
                                      <p:to x="100000" y="60000"/>
                                    </p:animScale>
                                    <p:animScale>
                                      <p:cBhvr>
                                        <p:cTn id="14" dur="166" decel="50000">
                                          <p:stCondLst>
                                            <p:cond delay="676"/>
                                          </p:stCondLst>
                                        </p:cTn>
                                        <p:tgtEl>
                                          <p:spTgt spid="54277"/>
                                        </p:tgtEl>
                                      </p:cBhvr>
                                      <p:to x="100000" y="100000"/>
                                    </p:animScale>
                                    <p:animScale>
                                      <p:cBhvr>
                                        <p:cTn id="15" dur="26">
                                          <p:stCondLst>
                                            <p:cond delay="1312"/>
                                          </p:stCondLst>
                                        </p:cTn>
                                        <p:tgtEl>
                                          <p:spTgt spid="54277"/>
                                        </p:tgtEl>
                                      </p:cBhvr>
                                      <p:to x="100000" y="80000"/>
                                    </p:animScale>
                                    <p:animScale>
                                      <p:cBhvr>
                                        <p:cTn id="16" dur="166" decel="50000">
                                          <p:stCondLst>
                                            <p:cond delay="1338"/>
                                          </p:stCondLst>
                                        </p:cTn>
                                        <p:tgtEl>
                                          <p:spTgt spid="54277"/>
                                        </p:tgtEl>
                                      </p:cBhvr>
                                      <p:to x="100000" y="100000"/>
                                    </p:animScale>
                                    <p:animScale>
                                      <p:cBhvr>
                                        <p:cTn id="17" dur="26">
                                          <p:stCondLst>
                                            <p:cond delay="1642"/>
                                          </p:stCondLst>
                                        </p:cTn>
                                        <p:tgtEl>
                                          <p:spTgt spid="54277"/>
                                        </p:tgtEl>
                                      </p:cBhvr>
                                      <p:to x="100000" y="90000"/>
                                    </p:animScale>
                                    <p:animScale>
                                      <p:cBhvr>
                                        <p:cTn id="18" dur="166" decel="50000">
                                          <p:stCondLst>
                                            <p:cond delay="1668"/>
                                          </p:stCondLst>
                                        </p:cTn>
                                        <p:tgtEl>
                                          <p:spTgt spid="54277"/>
                                        </p:tgtEl>
                                      </p:cBhvr>
                                      <p:to x="100000" y="100000"/>
                                    </p:animScale>
                                    <p:animScale>
                                      <p:cBhvr>
                                        <p:cTn id="19" dur="26">
                                          <p:stCondLst>
                                            <p:cond delay="1808"/>
                                          </p:stCondLst>
                                        </p:cTn>
                                        <p:tgtEl>
                                          <p:spTgt spid="54277"/>
                                        </p:tgtEl>
                                      </p:cBhvr>
                                      <p:to x="100000" y="95000"/>
                                    </p:animScale>
                                    <p:animScale>
                                      <p:cBhvr>
                                        <p:cTn id="20" dur="166" decel="50000">
                                          <p:stCondLst>
                                            <p:cond delay="1834"/>
                                          </p:stCondLst>
                                        </p:cTn>
                                        <p:tgtEl>
                                          <p:spTgt spid="5427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idx="4294967295"/>
          </p:nvPr>
        </p:nvSpPr>
        <p:spPr>
          <a:xfrm>
            <a:off x="2438401" y="609600"/>
            <a:ext cx="7477125" cy="1143000"/>
          </a:xfrm>
        </p:spPr>
        <p:txBody>
          <a:bodyPr/>
          <a:lstStyle/>
          <a:p>
            <a:pPr eaLnBrk="1" hangingPunct="1"/>
            <a:r>
              <a:rPr lang="en-US" sz="3200">
                <a:solidFill>
                  <a:schemeClr val="accent1">
                    <a:lumMod val="50000"/>
                  </a:schemeClr>
                </a:solidFill>
                <a:latin typeface="Candara" panose="020E0502030303020204" pitchFamily="34" charset="0"/>
              </a:rPr>
              <a:t>19. The “E” in the communication process stands for</a:t>
            </a:r>
            <a:br>
              <a:rPr lang="en-US" sz="3200">
                <a:solidFill>
                  <a:schemeClr val="accent1">
                    <a:lumMod val="50000"/>
                  </a:schemeClr>
                </a:solidFill>
                <a:latin typeface="Candara" panose="020E0502030303020204" pitchFamily="34" charset="0"/>
              </a:rPr>
            </a:br>
            <a:endParaRPr lang="en-US" sz="3200">
              <a:solidFill>
                <a:schemeClr val="accent1">
                  <a:lumMod val="50000"/>
                </a:schemeClr>
              </a:solidFill>
              <a:latin typeface="Candara" panose="020E0502030303020204" pitchFamily="34" charset="0"/>
            </a:endParaRPr>
          </a:p>
        </p:txBody>
      </p:sp>
      <p:sp>
        <p:nvSpPr>
          <p:cNvPr id="103427" name="Content Placeholder 2"/>
          <p:cNvSpPr>
            <a:spLocks noGrp="1"/>
          </p:cNvSpPr>
          <p:nvPr>
            <p:ph idx="4294967295"/>
          </p:nvPr>
        </p:nvSpPr>
        <p:spPr>
          <a:xfrm>
            <a:off x="2438400" y="2057400"/>
            <a:ext cx="7386638" cy="4497388"/>
          </a:xfrm>
        </p:spPr>
        <p:txBody>
          <a:bodyPr/>
          <a:lstStyle/>
          <a:p>
            <a:pPr eaLnBrk="1" hangingPunct="1">
              <a:buFontTx/>
              <a:buAutoNum type="alphaLcPeriod"/>
            </a:pPr>
            <a:r>
              <a:rPr lang="en-US" sz="3600">
                <a:solidFill>
                  <a:schemeClr val="accent1">
                    <a:lumMod val="50000"/>
                  </a:schemeClr>
                </a:solidFill>
                <a:latin typeface="Candara" panose="020E0502030303020204" pitchFamily="34" charset="0"/>
              </a:rPr>
              <a:t>Efficiency</a:t>
            </a:r>
          </a:p>
          <a:p>
            <a:pPr eaLnBrk="1" hangingPunct="1">
              <a:buFontTx/>
              <a:buAutoNum type="alphaLcPeriod"/>
            </a:pPr>
            <a:r>
              <a:rPr lang="en-US" sz="3600">
                <a:solidFill>
                  <a:schemeClr val="accent1">
                    <a:lumMod val="50000"/>
                  </a:schemeClr>
                </a:solidFill>
                <a:latin typeface="Candara" panose="020E0502030303020204" pitchFamily="34" charset="0"/>
              </a:rPr>
              <a:t>Effect</a:t>
            </a:r>
          </a:p>
          <a:p>
            <a:pPr eaLnBrk="1" hangingPunct="1">
              <a:buFontTx/>
              <a:buAutoNum type="alphaLcPeriod"/>
            </a:pPr>
            <a:r>
              <a:rPr lang="en-US" sz="3600">
                <a:solidFill>
                  <a:schemeClr val="accent1">
                    <a:lumMod val="50000"/>
                  </a:schemeClr>
                </a:solidFill>
                <a:latin typeface="Candara" panose="020E0502030303020204" pitchFamily="34" charset="0"/>
              </a:rPr>
              <a:t>Effectiveness</a:t>
            </a:r>
          </a:p>
          <a:p>
            <a:pPr eaLnBrk="1" hangingPunct="1">
              <a:buFontTx/>
              <a:buAutoNum type="alphaLcPeriod"/>
            </a:pPr>
            <a:r>
              <a:rPr lang="en-US" sz="3600">
                <a:solidFill>
                  <a:schemeClr val="accent1">
                    <a:lumMod val="50000"/>
                  </a:schemeClr>
                </a:solidFill>
                <a:latin typeface="Candara" panose="020E0502030303020204" pitchFamily="34" charset="0"/>
              </a:rPr>
              <a:t>None of the above</a:t>
            </a:r>
          </a:p>
          <a:p>
            <a:pPr eaLnBrk="1" hangingPunct="1">
              <a:buFontTx/>
              <a:buAutoNum type="alphaLcPeriod"/>
            </a:pPr>
            <a:endParaRPr lang="en-US" sz="3600">
              <a:solidFill>
                <a:schemeClr val="accent1">
                  <a:lumMod val="50000"/>
                </a:schemeClr>
              </a:solidFill>
              <a:latin typeface="Candara" panose="020E0502030303020204" pitchFamily="34" charset="0"/>
            </a:endParaRPr>
          </a:p>
        </p:txBody>
      </p:sp>
      <p:sp>
        <p:nvSpPr>
          <p:cNvPr id="55301" name="Text Box 5"/>
          <p:cNvSpPr txBox="1">
            <a:spLocks noChangeArrowheads="1"/>
          </p:cNvSpPr>
          <p:nvPr/>
        </p:nvSpPr>
        <p:spPr bwMode="auto">
          <a:xfrm>
            <a:off x="2438400" y="51054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Effect</a:t>
            </a:r>
          </a:p>
        </p:txBody>
      </p:sp>
    </p:spTree>
    <p:extLst>
      <p:ext uri="{BB962C8B-B14F-4D97-AF65-F5344CB8AC3E}">
        <p14:creationId xmlns:p14="http://schemas.microsoft.com/office/powerpoint/2010/main" val="2967548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wipe(down)">
                                      <p:cBhvr>
                                        <p:cTn id="7" dur="580">
                                          <p:stCondLst>
                                            <p:cond delay="0"/>
                                          </p:stCondLst>
                                        </p:cTn>
                                        <p:tgtEl>
                                          <p:spTgt spid="55301"/>
                                        </p:tgtEl>
                                      </p:cBhvr>
                                    </p:animEffect>
                                    <p:anim calcmode="lin" valueType="num">
                                      <p:cBhvr>
                                        <p:cTn id="8" dur="1822" tmFilter="0,0; 0.14,0.36; 0.43,0.73; 0.71,0.91; 1.0,1.0">
                                          <p:stCondLst>
                                            <p:cond delay="0"/>
                                          </p:stCondLst>
                                        </p:cTn>
                                        <p:tgtEl>
                                          <p:spTgt spid="5530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530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530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530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5301"/>
                                        </p:tgtEl>
                                        <p:attrNameLst>
                                          <p:attrName>ppt_y</p:attrName>
                                        </p:attrNameLst>
                                      </p:cBhvr>
                                      <p:tavLst>
                                        <p:tav tm="0" fmla="#ppt_y-sin(pi*$)/81">
                                          <p:val>
                                            <p:fltVal val="0"/>
                                          </p:val>
                                        </p:tav>
                                        <p:tav tm="100000">
                                          <p:val>
                                            <p:fltVal val="1"/>
                                          </p:val>
                                        </p:tav>
                                      </p:tavLst>
                                    </p:anim>
                                    <p:animScale>
                                      <p:cBhvr>
                                        <p:cTn id="13" dur="26">
                                          <p:stCondLst>
                                            <p:cond delay="650"/>
                                          </p:stCondLst>
                                        </p:cTn>
                                        <p:tgtEl>
                                          <p:spTgt spid="55301"/>
                                        </p:tgtEl>
                                      </p:cBhvr>
                                      <p:to x="100000" y="60000"/>
                                    </p:animScale>
                                    <p:animScale>
                                      <p:cBhvr>
                                        <p:cTn id="14" dur="166" decel="50000">
                                          <p:stCondLst>
                                            <p:cond delay="676"/>
                                          </p:stCondLst>
                                        </p:cTn>
                                        <p:tgtEl>
                                          <p:spTgt spid="55301"/>
                                        </p:tgtEl>
                                      </p:cBhvr>
                                      <p:to x="100000" y="100000"/>
                                    </p:animScale>
                                    <p:animScale>
                                      <p:cBhvr>
                                        <p:cTn id="15" dur="26">
                                          <p:stCondLst>
                                            <p:cond delay="1312"/>
                                          </p:stCondLst>
                                        </p:cTn>
                                        <p:tgtEl>
                                          <p:spTgt spid="55301"/>
                                        </p:tgtEl>
                                      </p:cBhvr>
                                      <p:to x="100000" y="80000"/>
                                    </p:animScale>
                                    <p:animScale>
                                      <p:cBhvr>
                                        <p:cTn id="16" dur="166" decel="50000">
                                          <p:stCondLst>
                                            <p:cond delay="1338"/>
                                          </p:stCondLst>
                                        </p:cTn>
                                        <p:tgtEl>
                                          <p:spTgt spid="55301"/>
                                        </p:tgtEl>
                                      </p:cBhvr>
                                      <p:to x="100000" y="100000"/>
                                    </p:animScale>
                                    <p:animScale>
                                      <p:cBhvr>
                                        <p:cTn id="17" dur="26">
                                          <p:stCondLst>
                                            <p:cond delay="1642"/>
                                          </p:stCondLst>
                                        </p:cTn>
                                        <p:tgtEl>
                                          <p:spTgt spid="55301"/>
                                        </p:tgtEl>
                                      </p:cBhvr>
                                      <p:to x="100000" y="90000"/>
                                    </p:animScale>
                                    <p:animScale>
                                      <p:cBhvr>
                                        <p:cTn id="18" dur="166" decel="50000">
                                          <p:stCondLst>
                                            <p:cond delay="1668"/>
                                          </p:stCondLst>
                                        </p:cTn>
                                        <p:tgtEl>
                                          <p:spTgt spid="55301"/>
                                        </p:tgtEl>
                                      </p:cBhvr>
                                      <p:to x="100000" y="100000"/>
                                    </p:animScale>
                                    <p:animScale>
                                      <p:cBhvr>
                                        <p:cTn id="19" dur="26">
                                          <p:stCondLst>
                                            <p:cond delay="1808"/>
                                          </p:stCondLst>
                                        </p:cTn>
                                        <p:tgtEl>
                                          <p:spTgt spid="55301"/>
                                        </p:tgtEl>
                                      </p:cBhvr>
                                      <p:to x="100000" y="95000"/>
                                    </p:animScale>
                                    <p:animScale>
                                      <p:cBhvr>
                                        <p:cTn id="20" dur="166" decel="50000">
                                          <p:stCondLst>
                                            <p:cond delay="1834"/>
                                          </p:stCondLst>
                                        </p:cTn>
                                        <p:tgtEl>
                                          <p:spTgt spid="5530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idx="4294967295"/>
          </p:nvPr>
        </p:nvSpPr>
        <p:spPr>
          <a:xfrm>
            <a:off x="2438401" y="455613"/>
            <a:ext cx="7477125" cy="1143000"/>
          </a:xfrm>
        </p:spPr>
        <p:txBody>
          <a:bodyPr/>
          <a:lstStyle/>
          <a:p>
            <a:pPr eaLnBrk="1" hangingPunct="1"/>
            <a:r>
              <a:rPr lang="en-US" sz="3600">
                <a:solidFill>
                  <a:schemeClr val="accent1">
                    <a:lumMod val="50000"/>
                  </a:schemeClr>
                </a:solidFill>
                <a:latin typeface="Candara" panose="020E0502030303020204" pitchFamily="34" charset="0"/>
              </a:rPr>
              <a:t>20. The “M” in the communication process stands for</a:t>
            </a:r>
          </a:p>
        </p:txBody>
      </p:sp>
      <p:sp>
        <p:nvSpPr>
          <p:cNvPr id="104451" name="Content Placeholder 2"/>
          <p:cNvSpPr>
            <a:spLocks noGrp="1"/>
          </p:cNvSpPr>
          <p:nvPr>
            <p:ph idx="4294967295"/>
          </p:nvPr>
        </p:nvSpPr>
        <p:spPr>
          <a:xfrm>
            <a:off x="2405064" y="1828800"/>
            <a:ext cx="7386637" cy="4497388"/>
          </a:xfrm>
        </p:spPr>
        <p:txBody>
          <a:bodyPr/>
          <a:lstStyle/>
          <a:p>
            <a:pPr eaLnBrk="1" hangingPunct="1">
              <a:buFontTx/>
              <a:buNone/>
            </a:pPr>
            <a:endParaRPr lang="en-US" sz="3200">
              <a:solidFill>
                <a:schemeClr val="accent1">
                  <a:lumMod val="50000"/>
                </a:schemeClr>
              </a:solidFill>
              <a:latin typeface="Candara" panose="020E0502030303020204" pitchFamily="34" charset="0"/>
            </a:endParaRPr>
          </a:p>
          <a:p>
            <a:pPr eaLnBrk="1" hangingPunct="1">
              <a:buFontTx/>
              <a:buAutoNum type="alphaLcPeriod"/>
            </a:pPr>
            <a:r>
              <a:rPr lang="en-US" sz="3200">
                <a:solidFill>
                  <a:schemeClr val="accent1">
                    <a:lumMod val="50000"/>
                  </a:schemeClr>
                </a:solidFill>
                <a:latin typeface="Candara" panose="020E0502030303020204" pitchFamily="34" charset="0"/>
              </a:rPr>
              <a:t>Message</a:t>
            </a:r>
          </a:p>
          <a:p>
            <a:pPr eaLnBrk="1" hangingPunct="1">
              <a:buFontTx/>
              <a:buAutoNum type="alphaLcPeriod"/>
            </a:pPr>
            <a:r>
              <a:rPr lang="en-US" sz="3200">
                <a:solidFill>
                  <a:schemeClr val="accent1">
                    <a:lumMod val="50000"/>
                  </a:schemeClr>
                </a:solidFill>
                <a:latin typeface="Candara" panose="020E0502030303020204" pitchFamily="34" charset="0"/>
              </a:rPr>
              <a:t>Memory</a:t>
            </a:r>
          </a:p>
          <a:p>
            <a:pPr eaLnBrk="1" hangingPunct="1">
              <a:buFontTx/>
              <a:buAutoNum type="alphaLcPeriod"/>
            </a:pPr>
            <a:r>
              <a:rPr lang="en-US" sz="3200">
                <a:solidFill>
                  <a:schemeClr val="accent1">
                    <a:lumMod val="50000"/>
                  </a:schemeClr>
                </a:solidFill>
                <a:latin typeface="Candara" panose="020E0502030303020204" pitchFamily="34" charset="0"/>
              </a:rPr>
              <a:t>Massage</a:t>
            </a:r>
          </a:p>
          <a:p>
            <a:pPr eaLnBrk="1" hangingPunct="1">
              <a:buFontTx/>
              <a:buAutoNum type="alphaLcPeriod"/>
            </a:pPr>
            <a:r>
              <a:rPr lang="en-US" sz="3200">
                <a:solidFill>
                  <a:schemeClr val="accent1">
                    <a:lumMod val="50000"/>
                  </a:schemeClr>
                </a:solidFill>
                <a:latin typeface="Candara" panose="020E0502030303020204" pitchFamily="34" charset="0"/>
              </a:rPr>
              <a:t>None of the above</a:t>
            </a:r>
          </a:p>
          <a:p>
            <a:pPr eaLnBrk="1" hangingPunct="1">
              <a:buFontTx/>
              <a:buAutoNum type="alphaLcPeriod"/>
            </a:pPr>
            <a:endParaRPr lang="en-US" sz="3200">
              <a:solidFill>
                <a:schemeClr val="accent1">
                  <a:lumMod val="50000"/>
                </a:schemeClr>
              </a:solidFill>
              <a:latin typeface="Candara" panose="020E0502030303020204" pitchFamily="34" charset="0"/>
            </a:endParaRPr>
          </a:p>
        </p:txBody>
      </p:sp>
      <p:sp>
        <p:nvSpPr>
          <p:cNvPr id="56325" name="Text Box 5"/>
          <p:cNvSpPr txBox="1">
            <a:spLocks noChangeArrowheads="1"/>
          </p:cNvSpPr>
          <p:nvPr/>
        </p:nvSpPr>
        <p:spPr bwMode="auto">
          <a:xfrm>
            <a:off x="2455863"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A. Message</a:t>
            </a:r>
          </a:p>
        </p:txBody>
      </p:sp>
    </p:spTree>
    <p:extLst>
      <p:ext uri="{BB962C8B-B14F-4D97-AF65-F5344CB8AC3E}">
        <p14:creationId xmlns:p14="http://schemas.microsoft.com/office/powerpoint/2010/main" val="704635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Effect transition="in" filter="wipe(down)">
                                      <p:cBhvr>
                                        <p:cTn id="7" dur="580">
                                          <p:stCondLst>
                                            <p:cond delay="0"/>
                                          </p:stCondLst>
                                        </p:cTn>
                                        <p:tgtEl>
                                          <p:spTgt spid="56325"/>
                                        </p:tgtEl>
                                      </p:cBhvr>
                                    </p:animEffect>
                                    <p:anim calcmode="lin" valueType="num">
                                      <p:cBhvr>
                                        <p:cTn id="8" dur="1822" tmFilter="0,0; 0.14,0.36; 0.43,0.73; 0.71,0.91; 1.0,1.0">
                                          <p:stCondLst>
                                            <p:cond delay="0"/>
                                          </p:stCondLst>
                                        </p:cTn>
                                        <p:tgtEl>
                                          <p:spTgt spid="5632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632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632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632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6325"/>
                                        </p:tgtEl>
                                        <p:attrNameLst>
                                          <p:attrName>ppt_y</p:attrName>
                                        </p:attrNameLst>
                                      </p:cBhvr>
                                      <p:tavLst>
                                        <p:tav tm="0" fmla="#ppt_y-sin(pi*$)/81">
                                          <p:val>
                                            <p:fltVal val="0"/>
                                          </p:val>
                                        </p:tav>
                                        <p:tav tm="100000">
                                          <p:val>
                                            <p:fltVal val="1"/>
                                          </p:val>
                                        </p:tav>
                                      </p:tavLst>
                                    </p:anim>
                                    <p:animScale>
                                      <p:cBhvr>
                                        <p:cTn id="13" dur="26">
                                          <p:stCondLst>
                                            <p:cond delay="650"/>
                                          </p:stCondLst>
                                        </p:cTn>
                                        <p:tgtEl>
                                          <p:spTgt spid="56325"/>
                                        </p:tgtEl>
                                      </p:cBhvr>
                                      <p:to x="100000" y="60000"/>
                                    </p:animScale>
                                    <p:animScale>
                                      <p:cBhvr>
                                        <p:cTn id="14" dur="166" decel="50000">
                                          <p:stCondLst>
                                            <p:cond delay="676"/>
                                          </p:stCondLst>
                                        </p:cTn>
                                        <p:tgtEl>
                                          <p:spTgt spid="56325"/>
                                        </p:tgtEl>
                                      </p:cBhvr>
                                      <p:to x="100000" y="100000"/>
                                    </p:animScale>
                                    <p:animScale>
                                      <p:cBhvr>
                                        <p:cTn id="15" dur="26">
                                          <p:stCondLst>
                                            <p:cond delay="1312"/>
                                          </p:stCondLst>
                                        </p:cTn>
                                        <p:tgtEl>
                                          <p:spTgt spid="56325"/>
                                        </p:tgtEl>
                                      </p:cBhvr>
                                      <p:to x="100000" y="80000"/>
                                    </p:animScale>
                                    <p:animScale>
                                      <p:cBhvr>
                                        <p:cTn id="16" dur="166" decel="50000">
                                          <p:stCondLst>
                                            <p:cond delay="1338"/>
                                          </p:stCondLst>
                                        </p:cTn>
                                        <p:tgtEl>
                                          <p:spTgt spid="56325"/>
                                        </p:tgtEl>
                                      </p:cBhvr>
                                      <p:to x="100000" y="100000"/>
                                    </p:animScale>
                                    <p:animScale>
                                      <p:cBhvr>
                                        <p:cTn id="17" dur="26">
                                          <p:stCondLst>
                                            <p:cond delay="1642"/>
                                          </p:stCondLst>
                                        </p:cTn>
                                        <p:tgtEl>
                                          <p:spTgt spid="56325"/>
                                        </p:tgtEl>
                                      </p:cBhvr>
                                      <p:to x="100000" y="90000"/>
                                    </p:animScale>
                                    <p:animScale>
                                      <p:cBhvr>
                                        <p:cTn id="18" dur="166" decel="50000">
                                          <p:stCondLst>
                                            <p:cond delay="1668"/>
                                          </p:stCondLst>
                                        </p:cTn>
                                        <p:tgtEl>
                                          <p:spTgt spid="56325"/>
                                        </p:tgtEl>
                                      </p:cBhvr>
                                      <p:to x="100000" y="100000"/>
                                    </p:animScale>
                                    <p:animScale>
                                      <p:cBhvr>
                                        <p:cTn id="19" dur="26">
                                          <p:stCondLst>
                                            <p:cond delay="1808"/>
                                          </p:stCondLst>
                                        </p:cTn>
                                        <p:tgtEl>
                                          <p:spTgt spid="56325"/>
                                        </p:tgtEl>
                                      </p:cBhvr>
                                      <p:to x="100000" y="95000"/>
                                    </p:animScale>
                                    <p:animScale>
                                      <p:cBhvr>
                                        <p:cTn id="20" dur="166" decel="50000">
                                          <p:stCondLst>
                                            <p:cond delay="1834"/>
                                          </p:stCondLst>
                                        </p:cTn>
                                        <p:tgtEl>
                                          <p:spTgt spid="563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idx="4294967295"/>
          </p:nvPr>
        </p:nvSpPr>
        <p:spPr>
          <a:xfrm>
            <a:off x="2743201" y="438150"/>
            <a:ext cx="7477125" cy="1143000"/>
          </a:xfrm>
        </p:spPr>
        <p:txBody>
          <a:bodyPr/>
          <a:lstStyle/>
          <a:p>
            <a:pPr eaLnBrk="1" hangingPunct="1"/>
            <a:r>
              <a:rPr lang="en-US" sz="3200">
                <a:solidFill>
                  <a:schemeClr val="accent1">
                    <a:lumMod val="50000"/>
                  </a:schemeClr>
                </a:solidFill>
                <a:latin typeface="Candara" panose="020E0502030303020204" pitchFamily="34" charset="0"/>
              </a:rPr>
              <a:t>21. The “R” in the communication process stands for</a:t>
            </a:r>
          </a:p>
        </p:txBody>
      </p:sp>
      <p:sp>
        <p:nvSpPr>
          <p:cNvPr id="105475" name="Content Placeholder 2"/>
          <p:cNvSpPr>
            <a:spLocks noGrp="1"/>
          </p:cNvSpPr>
          <p:nvPr>
            <p:ph idx="4294967295"/>
          </p:nvPr>
        </p:nvSpPr>
        <p:spPr>
          <a:xfrm>
            <a:off x="2514600" y="1828800"/>
            <a:ext cx="7386638" cy="4497388"/>
          </a:xfrm>
        </p:spPr>
        <p:txBody>
          <a:bodyPr/>
          <a:lstStyle/>
          <a:p>
            <a:pPr eaLnBrk="1" hangingPunct="1">
              <a:buFontTx/>
              <a:buNone/>
            </a:pPr>
            <a:endParaRPr lang="en-US" sz="3200">
              <a:solidFill>
                <a:schemeClr val="accent1">
                  <a:lumMod val="50000"/>
                </a:schemeClr>
              </a:solidFill>
              <a:latin typeface="Candara" panose="020E0502030303020204" pitchFamily="34" charset="0"/>
            </a:endParaRPr>
          </a:p>
          <a:p>
            <a:pPr eaLnBrk="1" hangingPunct="1">
              <a:buFontTx/>
              <a:buAutoNum type="alphaLcPeriod"/>
            </a:pPr>
            <a:r>
              <a:rPr lang="en-US" sz="3200">
                <a:solidFill>
                  <a:schemeClr val="accent1">
                    <a:lumMod val="50000"/>
                  </a:schemeClr>
                </a:solidFill>
                <a:latin typeface="Candara" panose="020E0502030303020204" pitchFamily="34" charset="0"/>
              </a:rPr>
              <a:t>Repeater</a:t>
            </a:r>
          </a:p>
          <a:p>
            <a:pPr eaLnBrk="1" hangingPunct="1">
              <a:buFontTx/>
              <a:buAutoNum type="alphaLcPeriod"/>
            </a:pPr>
            <a:r>
              <a:rPr lang="en-US" sz="3200">
                <a:solidFill>
                  <a:schemeClr val="accent1">
                    <a:lumMod val="50000"/>
                  </a:schemeClr>
                </a:solidFill>
                <a:latin typeface="Candara" panose="020E0502030303020204" pitchFamily="34" charset="0"/>
              </a:rPr>
              <a:t>Remembering </a:t>
            </a:r>
          </a:p>
          <a:p>
            <a:pPr eaLnBrk="1" hangingPunct="1">
              <a:buFontTx/>
              <a:buAutoNum type="alphaLcPeriod"/>
            </a:pPr>
            <a:r>
              <a:rPr lang="en-US" sz="3200">
                <a:solidFill>
                  <a:schemeClr val="accent1">
                    <a:lumMod val="50000"/>
                  </a:schemeClr>
                </a:solidFill>
                <a:latin typeface="Candara" panose="020E0502030303020204" pitchFamily="34" charset="0"/>
              </a:rPr>
              <a:t>Receiver</a:t>
            </a:r>
          </a:p>
          <a:p>
            <a:pPr eaLnBrk="1" hangingPunct="1">
              <a:buFontTx/>
              <a:buAutoNum type="alphaLcPeriod"/>
            </a:pPr>
            <a:r>
              <a:rPr lang="en-US" sz="3200">
                <a:solidFill>
                  <a:schemeClr val="accent1">
                    <a:lumMod val="50000"/>
                  </a:schemeClr>
                </a:solidFill>
                <a:latin typeface="Candara" panose="020E0502030303020204" pitchFamily="34" charset="0"/>
              </a:rPr>
              <a:t>None of the above</a:t>
            </a:r>
          </a:p>
          <a:p>
            <a:pPr eaLnBrk="1" hangingPunct="1">
              <a:buFontTx/>
              <a:buAutoNum type="alphaLcPeriod"/>
            </a:pPr>
            <a:endParaRPr lang="en-US" sz="3200">
              <a:solidFill>
                <a:schemeClr val="accent1">
                  <a:lumMod val="50000"/>
                </a:schemeClr>
              </a:solidFill>
              <a:latin typeface="Candara" panose="020E0502030303020204" pitchFamily="34" charset="0"/>
            </a:endParaRPr>
          </a:p>
        </p:txBody>
      </p:sp>
      <p:sp>
        <p:nvSpPr>
          <p:cNvPr id="57349" name="Text Box 5"/>
          <p:cNvSpPr txBox="1">
            <a:spLocks noChangeArrowheads="1"/>
          </p:cNvSpPr>
          <p:nvPr/>
        </p:nvSpPr>
        <p:spPr bwMode="auto">
          <a:xfrm>
            <a:off x="2490788"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C. Receiver</a:t>
            </a:r>
          </a:p>
        </p:txBody>
      </p:sp>
    </p:spTree>
    <p:extLst>
      <p:ext uri="{BB962C8B-B14F-4D97-AF65-F5344CB8AC3E}">
        <p14:creationId xmlns:p14="http://schemas.microsoft.com/office/powerpoint/2010/main" val="8450364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wipe(down)">
                                      <p:cBhvr>
                                        <p:cTn id="7" dur="580">
                                          <p:stCondLst>
                                            <p:cond delay="0"/>
                                          </p:stCondLst>
                                        </p:cTn>
                                        <p:tgtEl>
                                          <p:spTgt spid="57349"/>
                                        </p:tgtEl>
                                      </p:cBhvr>
                                    </p:animEffect>
                                    <p:anim calcmode="lin" valueType="num">
                                      <p:cBhvr>
                                        <p:cTn id="8" dur="1822" tmFilter="0,0; 0.14,0.36; 0.43,0.73; 0.71,0.91; 1.0,1.0">
                                          <p:stCondLst>
                                            <p:cond delay="0"/>
                                          </p:stCondLst>
                                        </p:cTn>
                                        <p:tgtEl>
                                          <p:spTgt spid="5734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734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734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734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7349"/>
                                        </p:tgtEl>
                                        <p:attrNameLst>
                                          <p:attrName>ppt_y</p:attrName>
                                        </p:attrNameLst>
                                      </p:cBhvr>
                                      <p:tavLst>
                                        <p:tav tm="0" fmla="#ppt_y-sin(pi*$)/81">
                                          <p:val>
                                            <p:fltVal val="0"/>
                                          </p:val>
                                        </p:tav>
                                        <p:tav tm="100000">
                                          <p:val>
                                            <p:fltVal val="1"/>
                                          </p:val>
                                        </p:tav>
                                      </p:tavLst>
                                    </p:anim>
                                    <p:animScale>
                                      <p:cBhvr>
                                        <p:cTn id="13" dur="26">
                                          <p:stCondLst>
                                            <p:cond delay="650"/>
                                          </p:stCondLst>
                                        </p:cTn>
                                        <p:tgtEl>
                                          <p:spTgt spid="57349"/>
                                        </p:tgtEl>
                                      </p:cBhvr>
                                      <p:to x="100000" y="60000"/>
                                    </p:animScale>
                                    <p:animScale>
                                      <p:cBhvr>
                                        <p:cTn id="14" dur="166" decel="50000">
                                          <p:stCondLst>
                                            <p:cond delay="676"/>
                                          </p:stCondLst>
                                        </p:cTn>
                                        <p:tgtEl>
                                          <p:spTgt spid="57349"/>
                                        </p:tgtEl>
                                      </p:cBhvr>
                                      <p:to x="100000" y="100000"/>
                                    </p:animScale>
                                    <p:animScale>
                                      <p:cBhvr>
                                        <p:cTn id="15" dur="26">
                                          <p:stCondLst>
                                            <p:cond delay="1312"/>
                                          </p:stCondLst>
                                        </p:cTn>
                                        <p:tgtEl>
                                          <p:spTgt spid="57349"/>
                                        </p:tgtEl>
                                      </p:cBhvr>
                                      <p:to x="100000" y="80000"/>
                                    </p:animScale>
                                    <p:animScale>
                                      <p:cBhvr>
                                        <p:cTn id="16" dur="166" decel="50000">
                                          <p:stCondLst>
                                            <p:cond delay="1338"/>
                                          </p:stCondLst>
                                        </p:cTn>
                                        <p:tgtEl>
                                          <p:spTgt spid="57349"/>
                                        </p:tgtEl>
                                      </p:cBhvr>
                                      <p:to x="100000" y="100000"/>
                                    </p:animScale>
                                    <p:animScale>
                                      <p:cBhvr>
                                        <p:cTn id="17" dur="26">
                                          <p:stCondLst>
                                            <p:cond delay="1642"/>
                                          </p:stCondLst>
                                        </p:cTn>
                                        <p:tgtEl>
                                          <p:spTgt spid="57349"/>
                                        </p:tgtEl>
                                      </p:cBhvr>
                                      <p:to x="100000" y="90000"/>
                                    </p:animScale>
                                    <p:animScale>
                                      <p:cBhvr>
                                        <p:cTn id="18" dur="166" decel="50000">
                                          <p:stCondLst>
                                            <p:cond delay="1668"/>
                                          </p:stCondLst>
                                        </p:cTn>
                                        <p:tgtEl>
                                          <p:spTgt spid="57349"/>
                                        </p:tgtEl>
                                      </p:cBhvr>
                                      <p:to x="100000" y="100000"/>
                                    </p:animScale>
                                    <p:animScale>
                                      <p:cBhvr>
                                        <p:cTn id="19" dur="26">
                                          <p:stCondLst>
                                            <p:cond delay="1808"/>
                                          </p:stCondLst>
                                        </p:cTn>
                                        <p:tgtEl>
                                          <p:spTgt spid="57349"/>
                                        </p:tgtEl>
                                      </p:cBhvr>
                                      <p:to x="100000" y="95000"/>
                                    </p:animScale>
                                    <p:animScale>
                                      <p:cBhvr>
                                        <p:cTn id="20" dur="166" decel="50000">
                                          <p:stCondLst>
                                            <p:cond delay="1834"/>
                                          </p:stCondLst>
                                        </p:cTn>
                                        <p:tgtEl>
                                          <p:spTgt spid="5734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idx="4294967295"/>
          </p:nvPr>
        </p:nvSpPr>
        <p:spPr>
          <a:xfrm>
            <a:off x="2438401" y="381000"/>
            <a:ext cx="7477125" cy="1754188"/>
          </a:xfrm>
        </p:spPr>
        <p:txBody>
          <a:bodyPr/>
          <a:lstStyle/>
          <a:p>
            <a:pPr eaLnBrk="1" hangingPunct="1"/>
            <a:r>
              <a:rPr lang="en-US" sz="3200">
                <a:solidFill>
                  <a:schemeClr val="accent1">
                    <a:lumMod val="50000"/>
                  </a:schemeClr>
                </a:solidFill>
                <a:latin typeface="Candara" panose="020E0502030303020204" pitchFamily="34" charset="0"/>
              </a:rPr>
              <a:t>22. Which of the elements in the  communication process is ENCODED ? </a:t>
            </a:r>
            <a:br>
              <a:rPr lang="en-US" sz="3200">
                <a:solidFill>
                  <a:schemeClr val="accent1">
                    <a:lumMod val="50000"/>
                  </a:schemeClr>
                </a:solidFill>
                <a:latin typeface="Candara" panose="020E0502030303020204" pitchFamily="34" charset="0"/>
              </a:rPr>
            </a:br>
            <a:endParaRPr lang="en-US" sz="3200">
              <a:solidFill>
                <a:schemeClr val="accent1">
                  <a:lumMod val="50000"/>
                </a:schemeClr>
              </a:solidFill>
              <a:latin typeface="Candara" panose="020E0502030303020204" pitchFamily="34" charset="0"/>
            </a:endParaRPr>
          </a:p>
        </p:txBody>
      </p:sp>
      <p:sp>
        <p:nvSpPr>
          <p:cNvPr id="69635" name="Content Placeholder 2"/>
          <p:cNvSpPr>
            <a:spLocks noGrp="1"/>
          </p:cNvSpPr>
          <p:nvPr>
            <p:ph idx="4294967295"/>
          </p:nvPr>
        </p:nvSpPr>
        <p:spPr>
          <a:xfrm>
            <a:off x="2532064" y="1981200"/>
            <a:ext cx="7386637" cy="4497388"/>
          </a:xfrm>
        </p:spPr>
        <p:txBody>
          <a:bodyPr rtlCol="0">
            <a:normAutofit/>
          </a:bodyPr>
          <a:lstStyle/>
          <a:p>
            <a:pPr>
              <a:buNone/>
              <a:defRPr/>
            </a:pPr>
            <a:endParaRPr lang="en-US" sz="3600" dirty="0">
              <a:solidFill>
                <a:schemeClr val="accent1">
                  <a:lumMod val="50000"/>
                </a:schemeClr>
              </a:solidFill>
              <a:latin typeface="Candara" panose="020E0502030303020204" pitchFamily="34" charset="0"/>
            </a:endParaRPr>
          </a:p>
          <a:p>
            <a:pPr marL="0" indent="0">
              <a:buNone/>
              <a:defRPr/>
            </a:pPr>
            <a:r>
              <a:rPr lang="en-US" sz="3600" dirty="0" smtClean="0">
                <a:solidFill>
                  <a:schemeClr val="accent1">
                    <a:lumMod val="50000"/>
                  </a:schemeClr>
                </a:solidFill>
                <a:latin typeface="Candara" panose="020E0502030303020204" pitchFamily="34" charset="0"/>
              </a:rPr>
              <a:t>a. Source</a:t>
            </a:r>
            <a:endParaRPr lang="en-US" sz="3600" dirty="0">
              <a:solidFill>
                <a:schemeClr val="accent1">
                  <a:lumMod val="50000"/>
                </a:schemeClr>
              </a:solidFill>
              <a:latin typeface="Candara" panose="020E0502030303020204" pitchFamily="34" charset="0"/>
            </a:endParaRPr>
          </a:p>
          <a:p>
            <a:pPr marL="514350" indent="-514350">
              <a:buNone/>
              <a:defRPr/>
            </a:pPr>
            <a:r>
              <a:rPr lang="en-US" sz="3600" dirty="0">
                <a:solidFill>
                  <a:schemeClr val="accent1">
                    <a:lumMod val="50000"/>
                  </a:schemeClr>
                </a:solidFill>
                <a:latin typeface="Candara" panose="020E0502030303020204" pitchFamily="34" charset="0"/>
              </a:rPr>
              <a:t>b. Message</a:t>
            </a:r>
          </a:p>
          <a:p>
            <a:pPr>
              <a:buNone/>
              <a:defRPr/>
            </a:pPr>
            <a:r>
              <a:rPr lang="en-US" sz="3600" dirty="0">
                <a:solidFill>
                  <a:schemeClr val="accent1">
                    <a:lumMod val="50000"/>
                  </a:schemeClr>
                </a:solidFill>
                <a:latin typeface="Candara" panose="020E0502030303020204" pitchFamily="34" charset="0"/>
              </a:rPr>
              <a:t>c. Channel</a:t>
            </a:r>
          </a:p>
          <a:p>
            <a:pPr>
              <a:buNone/>
              <a:defRPr/>
            </a:pPr>
            <a:r>
              <a:rPr lang="en-US" sz="3600" dirty="0">
                <a:solidFill>
                  <a:schemeClr val="accent1">
                    <a:lumMod val="50000"/>
                  </a:schemeClr>
                </a:solidFill>
                <a:latin typeface="Candara" panose="020E0502030303020204" pitchFamily="34" charset="0"/>
              </a:rPr>
              <a:t>d. All of the above</a:t>
            </a:r>
          </a:p>
          <a:p>
            <a:pPr>
              <a:buNone/>
              <a:defRPr/>
            </a:pPr>
            <a:endParaRPr lang="en-US" sz="3600" dirty="0">
              <a:solidFill>
                <a:schemeClr val="accent1">
                  <a:lumMod val="50000"/>
                </a:schemeClr>
              </a:solidFill>
              <a:latin typeface="Candara" panose="020E0502030303020204" pitchFamily="34" charset="0"/>
            </a:endParaRPr>
          </a:p>
        </p:txBody>
      </p:sp>
      <p:sp>
        <p:nvSpPr>
          <p:cNvPr id="58373" name="Text Box 5"/>
          <p:cNvSpPr txBox="1">
            <a:spLocks noChangeArrowheads="1"/>
          </p:cNvSpPr>
          <p:nvPr/>
        </p:nvSpPr>
        <p:spPr bwMode="auto">
          <a:xfrm>
            <a:off x="2474913" y="54864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Message</a:t>
            </a:r>
          </a:p>
        </p:txBody>
      </p:sp>
    </p:spTree>
    <p:extLst>
      <p:ext uri="{BB962C8B-B14F-4D97-AF65-F5344CB8AC3E}">
        <p14:creationId xmlns:p14="http://schemas.microsoft.com/office/powerpoint/2010/main" val="1693536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down)">
                                      <p:cBhvr>
                                        <p:cTn id="7" dur="580">
                                          <p:stCondLst>
                                            <p:cond delay="0"/>
                                          </p:stCondLst>
                                        </p:cTn>
                                        <p:tgtEl>
                                          <p:spTgt spid="58373"/>
                                        </p:tgtEl>
                                      </p:cBhvr>
                                    </p:animEffect>
                                    <p:anim calcmode="lin" valueType="num">
                                      <p:cBhvr>
                                        <p:cTn id="8" dur="1822" tmFilter="0,0; 0.14,0.36; 0.43,0.73; 0.71,0.91; 1.0,1.0">
                                          <p:stCondLst>
                                            <p:cond delay="0"/>
                                          </p:stCondLst>
                                        </p:cTn>
                                        <p:tgtEl>
                                          <p:spTgt spid="5837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837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837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837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8373"/>
                                        </p:tgtEl>
                                        <p:attrNameLst>
                                          <p:attrName>ppt_y</p:attrName>
                                        </p:attrNameLst>
                                      </p:cBhvr>
                                      <p:tavLst>
                                        <p:tav tm="0" fmla="#ppt_y-sin(pi*$)/81">
                                          <p:val>
                                            <p:fltVal val="0"/>
                                          </p:val>
                                        </p:tav>
                                        <p:tav tm="100000">
                                          <p:val>
                                            <p:fltVal val="1"/>
                                          </p:val>
                                        </p:tav>
                                      </p:tavLst>
                                    </p:anim>
                                    <p:animScale>
                                      <p:cBhvr>
                                        <p:cTn id="13" dur="26">
                                          <p:stCondLst>
                                            <p:cond delay="650"/>
                                          </p:stCondLst>
                                        </p:cTn>
                                        <p:tgtEl>
                                          <p:spTgt spid="58373"/>
                                        </p:tgtEl>
                                      </p:cBhvr>
                                      <p:to x="100000" y="60000"/>
                                    </p:animScale>
                                    <p:animScale>
                                      <p:cBhvr>
                                        <p:cTn id="14" dur="166" decel="50000">
                                          <p:stCondLst>
                                            <p:cond delay="676"/>
                                          </p:stCondLst>
                                        </p:cTn>
                                        <p:tgtEl>
                                          <p:spTgt spid="58373"/>
                                        </p:tgtEl>
                                      </p:cBhvr>
                                      <p:to x="100000" y="100000"/>
                                    </p:animScale>
                                    <p:animScale>
                                      <p:cBhvr>
                                        <p:cTn id="15" dur="26">
                                          <p:stCondLst>
                                            <p:cond delay="1312"/>
                                          </p:stCondLst>
                                        </p:cTn>
                                        <p:tgtEl>
                                          <p:spTgt spid="58373"/>
                                        </p:tgtEl>
                                      </p:cBhvr>
                                      <p:to x="100000" y="80000"/>
                                    </p:animScale>
                                    <p:animScale>
                                      <p:cBhvr>
                                        <p:cTn id="16" dur="166" decel="50000">
                                          <p:stCondLst>
                                            <p:cond delay="1338"/>
                                          </p:stCondLst>
                                        </p:cTn>
                                        <p:tgtEl>
                                          <p:spTgt spid="58373"/>
                                        </p:tgtEl>
                                      </p:cBhvr>
                                      <p:to x="100000" y="100000"/>
                                    </p:animScale>
                                    <p:animScale>
                                      <p:cBhvr>
                                        <p:cTn id="17" dur="26">
                                          <p:stCondLst>
                                            <p:cond delay="1642"/>
                                          </p:stCondLst>
                                        </p:cTn>
                                        <p:tgtEl>
                                          <p:spTgt spid="58373"/>
                                        </p:tgtEl>
                                      </p:cBhvr>
                                      <p:to x="100000" y="90000"/>
                                    </p:animScale>
                                    <p:animScale>
                                      <p:cBhvr>
                                        <p:cTn id="18" dur="166" decel="50000">
                                          <p:stCondLst>
                                            <p:cond delay="1668"/>
                                          </p:stCondLst>
                                        </p:cTn>
                                        <p:tgtEl>
                                          <p:spTgt spid="58373"/>
                                        </p:tgtEl>
                                      </p:cBhvr>
                                      <p:to x="100000" y="100000"/>
                                    </p:animScale>
                                    <p:animScale>
                                      <p:cBhvr>
                                        <p:cTn id="19" dur="26">
                                          <p:stCondLst>
                                            <p:cond delay="1808"/>
                                          </p:stCondLst>
                                        </p:cTn>
                                        <p:tgtEl>
                                          <p:spTgt spid="58373"/>
                                        </p:tgtEl>
                                      </p:cBhvr>
                                      <p:to x="100000" y="95000"/>
                                    </p:animScale>
                                    <p:animScale>
                                      <p:cBhvr>
                                        <p:cTn id="20" dur="166" decel="50000">
                                          <p:stCondLst>
                                            <p:cond delay="1834"/>
                                          </p:stCondLst>
                                        </p:cTn>
                                        <p:tgtEl>
                                          <p:spTgt spid="5837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idx="4294967295"/>
          </p:nvPr>
        </p:nvSpPr>
        <p:spPr>
          <a:xfrm>
            <a:off x="1895342" y="547353"/>
            <a:ext cx="7477125" cy="1402771"/>
          </a:xfrm>
        </p:spPr>
        <p:txBody>
          <a:bodyPr/>
          <a:lstStyle/>
          <a:p>
            <a:pPr eaLnBrk="1" hangingPunct="1"/>
            <a:r>
              <a:rPr lang="en-US" sz="3200">
                <a:solidFill>
                  <a:schemeClr val="accent1">
                    <a:lumMod val="50000"/>
                  </a:schemeClr>
                </a:solidFill>
                <a:latin typeface="Candara" panose="020E0502030303020204" pitchFamily="34" charset="0"/>
              </a:rPr>
              <a:t>23. Which element in the communication process ENCODES the message?</a:t>
            </a:r>
            <a:br>
              <a:rPr lang="en-US" sz="3200">
                <a:solidFill>
                  <a:schemeClr val="accent1">
                    <a:lumMod val="50000"/>
                  </a:schemeClr>
                </a:solidFill>
                <a:latin typeface="Candara" panose="020E0502030303020204" pitchFamily="34" charset="0"/>
              </a:rPr>
            </a:br>
            <a:endParaRPr lang="en-US" sz="3200">
              <a:solidFill>
                <a:schemeClr val="accent1">
                  <a:lumMod val="50000"/>
                </a:schemeClr>
              </a:solidFill>
              <a:latin typeface="Candara" panose="020E0502030303020204" pitchFamily="34" charset="0"/>
            </a:endParaRPr>
          </a:p>
        </p:txBody>
      </p:sp>
      <p:sp>
        <p:nvSpPr>
          <p:cNvPr id="107523" name="Content Placeholder 2"/>
          <p:cNvSpPr>
            <a:spLocks noGrp="1"/>
          </p:cNvSpPr>
          <p:nvPr>
            <p:ph idx="4294967295"/>
          </p:nvPr>
        </p:nvSpPr>
        <p:spPr>
          <a:xfrm>
            <a:off x="1939791" y="2147553"/>
            <a:ext cx="7386638" cy="3596425"/>
          </a:xfrm>
        </p:spPr>
        <p:txBody>
          <a:bodyPr/>
          <a:lstStyle/>
          <a:p>
            <a:pPr eaLnBrk="1" hangingPunct="1">
              <a:buFontTx/>
              <a:buNone/>
            </a:pPr>
            <a:r>
              <a:rPr lang="en-US" sz="3600" dirty="0" smtClean="0">
                <a:solidFill>
                  <a:schemeClr val="accent1">
                    <a:lumMod val="50000"/>
                  </a:schemeClr>
                </a:solidFill>
                <a:latin typeface="Candara" panose="020E0502030303020204" pitchFamily="34" charset="0"/>
              </a:rPr>
              <a:t>a</a:t>
            </a:r>
            <a:r>
              <a:rPr lang="en-US" sz="3600" dirty="0">
                <a:solidFill>
                  <a:schemeClr val="accent1">
                    <a:lumMod val="50000"/>
                  </a:schemeClr>
                </a:solidFill>
                <a:latin typeface="Candara" panose="020E0502030303020204" pitchFamily="34" charset="0"/>
              </a:rPr>
              <a:t>. Source</a:t>
            </a:r>
          </a:p>
          <a:p>
            <a:pPr eaLnBrk="1" hangingPunct="1">
              <a:buFontTx/>
              <a:buNone/>
            </a:pPr>
            <a:r>
              <a:rPr lang="en-US" sz="3600" dirty="0">
                <a:solidFill>
                  <a:schemeClr val="accent1">
                    <a:lumMod val="50000"/>
                  </a:schemeClr>
                </a:solidFill>
                <a:latin typeface="Candara" panose="020E0502030303020204" pitchFamily="34" charset="0"/>
              </a:rPr>
              <a:t>b. Message</a:t>
            </a:r>
          </a:p>
          <a:p>
            <a:pPr eaLnBrk="1" hangingPunct="1">
              <a:buFontTx/>
              <a:buNone/>
            </a:pPr>
            <a:r>
              <a:rPr lang="en-US" sz="3600" dirty="0">
                <a:solidFill>
                  <a:schemeClr val="accent1">
                    <a:lumMod val="50000"/>
                  </a:schemeClr>
                </a:solidFill>
                <a:latin typeface="Candara" panose="020E0502030303020204" pitchFamily="34" charset="0"/>
              </a:rPr>
              <a:t>c. Receiver</a:t>
            </a:r>
          </a:p>
          <a:p>
            <a:pPr eaLnBrk="1" hangingPunct="1">
              <a:buFontTx/>
              <a:buNone/>
            </a:pPr>
            <a:r>
              <a:rPr lang="en-US" sz="3600" dirty="0">
                <a:solidFill>
                  <a:schemeClr val="accent1">
                    <a:lumMod val="50000"/>
                  </a:schemeClr>
                </a:solidFill>
                <a:latin typeface="Candara" panose="020E0502030303020204" pitchFamily="34" charset="0"/>
              </a:rPr>
              <a:t>d. All of the above</a:t>
            </a:r>
          </a:p>
          <a:p>
            <a:pPr eaLnBrk="1" hangingPunct="1">
              <a:buFontTx/>
              <a:buAutoNum type="alphaLcPeriod"/>
            </a:pPr>
            <a:endParaRPr lang="en-US" sz="3600" dirty="0">
              <a:solidFill>
                <a:schemeClr val="accent1">
                  <a:lumMod val="50000"/>
                </a:schemeClr>
              </a:solidFill>
              <a:latin typeface="Candara" panose="020E0502030303020204" pitchFamily="34" charset="0"/>
            </a:endParaRPr>
          </a:p>
        </p:txBody>
      </p:sp>
      <p:sp>
        <p:nvSpPr>
          <p:cNvPr id="59397" name="Text Box 5"/>
          <p:cNvSpPr txBox="1">
            <a:spLocks noChangeArrowheads="1"/>
          </p:cNvSpPr>
          <p:nvPr/>
        </p:nvSpPr>
        <p:spPr bwMode="auto">
          <a:xfrm>
            <a:off x="1939791" y="516454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dirty="0">
                <a:solidFill>
                  <a:schemeClr val="accent1">
                    <a:lumMod val="50000"/>
                  </a:schemeClr>
                </a:solidFill>
                <a:latin typeface="Candara" panose="020E0502030303020204" pitchFamily="34" charset="0"/>
              </a:rPr>
              <a:t>A. Source</a:t>
            </a:r>
          </a:p>
        </p:txBody>
      </p:sp>
    </p:spTree>
    <p:extLst>
      <p:ext uri="{BB962C8B-B14F-4D97-AF65-F5344CB8AC3E}">
        <p14:creationId xmlns:p14="http://schemas.microsoft.com/office/powerpoint/2010/main" val="13477746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wipe(down)">
                                      <p:cBhvr>
                                        <p:cTn id="7" dur="580">
                                          <p:stCondLst>
                                            <p:cond delay="0"/>
                                          </p:stCondLst>
                                        </p:cTn>
                                        <p:tgtEl>
                                          <p:spTgt spid="59397"/>
                                        </p:tgtEl>
                                      </p:cBhvr>
                                    </p:animEffect>
                                    <p:anim calcmode="lin" valueType="num">
                                      <p:cBhvr>
                                        <p:cTn id="8" dur="1822" tmFilter="0,0; 0.14,0.36; 0.43,0.73; 0.71,0.91; 1.0,1.0">
                                          <p:stCondLst>
                                            <p:cond delay="0"/>
                                          </p:stCondLst>
                                        </p:cTn>
                                        <p:tgtEl>
                                          <p:spTgt spid="5939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939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939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939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9397"/>
                                        </p:tgtEl>
                                        <p:attrNameLst>
                                          <p:attrName>ppt_y</p:attrName>
                                        </p:attrNameLst>
                                      </p:cBhvr>
                                      <p:tavLst>
                                        <p:tav tm="0" fmla="#ppt_y-sin(pi*$)/81">
                                          <p:val>
                                            <p:fltVal val="0"/>
                                          </p:val>
                                        </p:tav>
                                        <p:tav tm="100000">
                                          <p:val>
                                            <p:fltVal val="1"/>
                                          </p:val>
                                        </p:tav>
                                      </p:tavLst>
                                    </p:anim>
                                    <p:animScale>
                                      <p:cBhvr>
                                        <p:cTn id="13" dur="26">
                                          <p:stCondLst>
                                            <p:cond delay="650"/>
                                          </p:stCondLst>
                                        </p:cTn>
                                        <p:tgtEl>
                                          <p:spTgt spid="59397"/>
                                        </p:tgtEl>
                                      </p:cBhvr>
                                      <p:to x="100000" y="60000"/>
                                    </p:animScale>
                                    <p:animScale>
                                      <p:cBhvr>
                                        <p:cTn id="14" dur="166" decel="50000">
                                          <p:stCondLst>
                                            <p:cond delay="676"/>
                                          </p:stCondLst>
                                        </p:cTn>
                                        <p:tgtEl>
                                          <p:spTgt spid="59397"/>
                                        </p:tgtEl>
                                      </p:cBhvr>
                                      <p:to x="100000" y="100000"/>
                                    </p:animScale>
                                    <p:animScale>
                                      <p:cBhvr>
                                        <p:cTn id="15" dur="26">
                                          <p:stCondLst>
                                            <p:cond delay="1312"/>
                                          </p:stCondLst>
                                        </p:cTn>
                                        <p:tgtEl>
                                          <p:spTgt spid="59397"/>
                                        </p:tgtEl>
                                      </p:cBhvr>
                                      <p:to x="100000" y="80000"/>
                                    </p:animScale>
                                    <p:animScale>
                                      <p:cBhvr>
                                        <p:cTn id="16" dur="166" decel="50000">
                                          <p:stCondLst>
                                            <p:cond delay="1338"/>
                                          </p:stCondLst>
                                        </p:cTn>
                                        <p:tgtEl>
                                          <p:spTgt spid="59397"/>
                                        </p:tgtEl>
                                      </p:cBhvr>
                                      <p:to x="100000" y="100000"/>
                                    </p:animScale>
                                    <p:animScale>
                                      <p:cBhvr>
                                        <p:cTn id="17" dur="26">
                                          <p:stCondLst>
                                            <p:cond delay="1642"/>
                                          </p:stCondLst>
                                        </p:cTn>
                                        <p:tgtEl>
                                          <p:spTgt spid="59397"/>
                                        </p:tgtEl>
                                      </p:cBhvr>
                                      <p:to x="100000" y="90000"/>
                                    </p:animScale>
                                    <p:animScale>
                                      <p:cBhvr>
                                        <p:cTn id="18" dur="166" decel="50000">
                                          <p:stCondLst>
                                            <p:cond delay="1668"/>
                                          </p:stCondLst>
                                        </p:cTn>
                                        <p:tgtEl>
                                          <p:spTgt spid="59397"/>
                                        </p:tgtEl>
                                      </p:cBhvr>
                                      <p:to x="100000" y="100000"/>
                                    </p:animScale>
                                    <p:animScale>
                                      <p:cBhvr>
                                        <p:cTn id="19" dur="26">
                                          <p:stCondLst>
                                            <p:cond delay="1808"/>
                                          </p:stCondLst>
                                        </p:cTn>
                                        <p:tgtEl>
                                          <p:spTgt spid="59397"/>
                                        </p:tgtEl>
                                      </p:cBhvr>
                                      <p:to x="100000" y="95000"/>
                                    </p:animScale>
                                    <p:animScale>
                                      <p:cBhvr>
                                        <p:cTn id="20" dur="166" decel="50000">
                                          <p:stCondLst>
                                            <p:cond delay="1834"/>
                                          </p:stCondLst>
                                        </p:cTn>
                                        <p:tgtEl>
                                          <p:spTgt spid="5939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idx="4294967295"/>
          </p:nvPr>
        </p:nvSpPr>
        <p:spPr>
          <a:xfrm>
            <a:off x="2667001" y="493713"/>
            <a:ext cx="7477125" cy="1143000"/>
          </a:xfrm>
        </p:spPr>
        <p:txBody>
          <a:bodyPr/>
          <a:lstStyle/>
          <a:p>
            <a:pPr eaLnBrk="1" hangingPunct="1"/>
            <a:r>
              <a:rPr lang="en-US" smtClean="0">
                <a:solidFill>
                  <a:schemeClr val="accent1">
                    <a:lumMod val="50000"/>
                  </a:schemeClr>
                </a:solidFill>
                <a:latin typeface="Candara" panose="020E0502030303020204" pitchFamily="34" charset="0"/>
              </a:rPr>
              <a:t>24. </a:t>
            </a:r>
            <a:r>
              <a:rPr lang="en-US" sz="3200">
                <a:solidFill>
                  <a:schemeClr val="accent1">
                    <a:lumMod val="50000"/>
                  </a:schemeClr>
                </a:solidFill>
                <a:latin typeface="Candara" panose="020E0502030303020204" pitchFamily="34" charset="0"/>
              </a:rPr>
              <a:t>Attaching meaning to the symbols is the meaning of what aspect?</a:t>
            </a:r>
            <a:endParaRPr lang="en-US" smtClean="0">
              <a:solidFill>
                <a:schemeClr val="accent1">
                  <a:lumMod val="50000"/>
                </a:schemeClr>
              </a:solidFill>
              <a:latin typeface="Candara" panose="020E0502030303020204" pitchFamily="34" charset="0"/>
            </a:endParaRPr>
          </a:p>
        </p:txBody>
      </p:sp>
      <p:sp>
        <p:nvSpPr>
          <p:cNvPr id="108547" name="Content Placeholder 2"/>
          <p:cNvSpPr>
            <a:spLocks noGrp="1"/>
          </p:cNvSpPr>
          <p:nvPr>
            <p:ph idx="4294967295"/>
          </p:nvPr>
        </p:nvSpPr>
        <p:spPr>
          <a:xfrm>
            <a:off x="2711450" y="2133600"/>
            <a:ext cx="7386638" cy="4497388"/>
          </a:xfrm>
        </p:spPr>
        <p:txBody>
          <a:bodyPr/>
          <a:lstStyle/>
          <a:p>
            <a:pPr eaLnBrk="1" hangingPunct="1">
              <a:buFontTx/>
              <a:buAutoNum type="alphaLcPeriod"/>
            </a:pPr>
            <a:r>
              <a:rPr lang="en-US" sz="3200" dirty="0">
                <a:solidFill>
                  <a:schemeClr val="accent1">
                    <a:lumMod val="50000"/>
                  </a:schemeClr>
                </a:solidFill>
                <a:latin typeface="Candara" panose="020E0502030303020204" pitchFamily="34" charset="0"/>
              </a:rPr>
              <a:t> Encoding</a:t>
            </a:r>
          </a:p>
          <a:p>
            <a:pPr eaLnBrk="1" hangingPunct="1">
              <a:buFontTx/>
              <a:buAutoNum type="alphaLcPeriod"/>
            </a:pPr>
            <a:r>
              <a:rPr lang="en-US" sz="3200" dirty="0">
                <a:solidFill>
                  <a:schemeClr val="accent1">
                    <a:lumMod val="50000"/>
                  </a:schemeClr>
                </a:solidFill>
                <a:latin typeface="Candara" panose="020E0502030303020204" pitchFamily="34" charset="0"/>
              </a:rPr>
              <a:t>Decoding</a:t>
            </a:r>
          </a:p>
          <a:p>
            <a:pPr eaLnBrk="1" hangingPunct="1">
              <a:buFontTx/>
              <a:buAutoNum type="alphaLcPeriod"/>
            </a:pPr>
            <a:r>
              <a:rPr lang="en-US" sz="3200" dirty="0">
                <a:solidFill>
                  <a:schemeClr val="accent1">
                    <a:lumMod val="50000"/>
                  </a:schemeClr>
                </a:solidFill>
                <a:latin typeface="Candara" panose="020E0502030303020204" pitchFamily="34" charset="0"/>
              </a:rPr>
              <a:t>Creating</a:t>
            </a:r>
          </a:p>
          <a:p>
            <a:pPr eaLnBrk="1" hangingPunct="1">
              <a:buFontTx/>
              <a:buAutoNum type="alphaLcPeriod"/>
            </a:pPr>
            <a:r>
              <a:rPr lang="en-US" sz="3200" dirty="0">
                <a:solidFill>
                  <a:schemeClr val="accent1">
                    <a:lumMod val="50000"/>
                  </a:schemeClr>
                </a:solidFill>
                <a:latin typeface="Candara" panose="020E0502030303020204" pitchFamily="34" charset="0"/>
              </a:rPr>
              <a:t>None of the above</a:t>
            </a:r>
          </a:p>
        </p:txBody>
      </p:sp>
      <p:sp>
        <p:nvSpPr>
          <p:cNvPr id="60421" name="Text Box 5"/>
          <p:cNvSpPr txBox="1">
            <a:spLocks noChangeArrowheads="1"/>
          </p:cNvSpPr>
          <p:nvPr/>
        </p:nvSpPr>
        <p:spPr bwMode="auto">
          <a:xfrm>
            <a:off x="2711450"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Decoding</a:t>
            </a:r>
          </a:p>
        </p:txBody>
      </p:sp>
    </p:spTree>
    <p:extLst>
      <p:ext uri="{BB962C8B-B14F-4D97-AF65-F5344CB8AC3E}">
        <p14:creationId xmlns:p14="http://schemas.microsoft.com/office/powerpoint/2010/main" val="3421453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wipe(down)">
                                      <p:cBhvr>
                                        <p:cTn id="7" dur="580">
                                          <p:stCondLst>
                                            <p:cond delay="0"/>
                                          </p:stCondLst>
                                        </p:cTn>
                                        <p:tgtEl>
                                          <p:spTgt spid="60421"/>
                                        </p:tgtEl>
                                      </p:cBhvr>
                                    </p:animEffect>
                                    <p:anim calcmode="lin" valueType="num">
                                      <p:cBhvr>
                                        <p:cTn id="8" dur="1822" tmFilter="0,0; 0.14,0.36; 0.43,0.73; 0.71,0.91; 1.0,1.0">
                                          <p:stCondLst>
                                            <p:cond delay="0"/>
                                          </p:stCondLst>
                                        </p:cTn>
                                        <p:tgtEl>
                                          <p:spTgt spid="6042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042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042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042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0421"/>
                                        </p:tgtEl>
                                        <p:attrNameLst>
                                          <p:attrName>ppt_y</p:attrName>
                                        </p:attrNameLst>
                                      </p:cBhvr>
                                      <p:tavLst>
                                        <p:tav tm="0" fmla="#ppt_y-sin(pi*$)/81">
                                          <p:val>
                                            <p:fltVal val="0"/>
                                          </p:val>
                                        </p:tav>
                                        <p:tav tm="100000">
                                          <p:val>
                                            <p:fltVal val="1"/>
                                          </p:val>
                                        </p:tav>
                                      </p:tavLst>
                                    </p:anim>
                                    <p:animScale>
                                      <p:cBhvr>
                                        <p:cTn id="13" dur="26">
                                          <p:stCondLst>
                                            <p:cond delay="650"/>
                                          </p:stCondLst>
                                        </p:cTn>
                                        <p:tgtEl>
                                          <p:spTgt spid="60421"/>
                                        </p:tgtEl>
                                      </p:cBhvr>
                                      <p:to x="100000" y="60000"/>
                                    </p:animScale>
                                    <p:animScale>
                                      <p:cBhvr>
                                        <p:cTn id="14" dur="166" decel="50000">
                                          <p:stCondLst>
                                            <p:cond delay="676"/>
                                          </p:stCondLst>
                                        </p:cTn>
                                        <p:tgtEl>
                                          <p:spTgt spid="60421"/>
                                        </p:tgtEl>
                                      </p:cBhvr>
                                      <p:to x="100000" y="100000"/>
                                    </p:animScale>
                                    <p:animScale>
                                      <p:cBhvr>
                                        <p:cTn id="15" dur="26">
                                          <p:stCondLst>
                                            <p:cond delay="1312"/>
                                          </p:stCondLst>
                                        </p:cTn>
                                        <p:tgtEl>
                                          <p:spTgt spid="60421"/>
                                        </p:tgtEl>
                                      </p:cBhvr>
                                      <p:to x="100000" y="80000"/>
                                    </p:animScale>
                                    <p:animScale>
                                      <p:cBhvr>
                                        <p:cTn id="16" dur="166" decel="50000">
                                          <p:stCondLst>
                                            <p:cond delay="1338"/>
                                          </p:stCondLst>
                                        </p:cTn>
                                        <p:tgtEl>
                                          <p:spTgt spid="60421"/>
                                        </p:tgtEl>
                                      </p:cBhvr>
                                      <p:to x="100000" y="100000"/>
                                    </p:animScale>
                                    <p:animScale>
                                      <p:cBhvr>
                                        <p:cTn id="17" dur="26">
                                          <p:stCondLst>
                                            <p:cond delay="1642"/>
                                          </p:stCondLst>
                                        </p:cTn>
                                        <p:tgtEl>
                                          <p:spTgt spid="60421"/>
                                        </p:tgtEl>
                                      </p:cBhvr>
                                      <p:to x="100000" y="90000"/>
                                    </p:animScale>
                                    <p:animScale>
                                      <p:cBhvr>
                                        <p:cTn id="18" dur="166" decel="50000">
                                          <p:stCondLst>
                                            <p:cond delay="1668"/>
                                          </p:stCondLst>
                                        </p:cTn>
                                        <p:tgtEl>
                                          <p:spTgt spid="60421"/>
                                        </p:tgtEl>
                                      </p:cBhvr>
                                      <p:to x="100000" y="100000"/>
                                    </p:animScale>
                                    <p:animScale>
                                      <p:cBhvr>
                                        <p:cTn id="19" dur="26">
                                          <p:stCondLst>
                                            <p:cond delay="1808"/>
                                          </p:stCondLst>
                                        </p:cTn>
                                        <p:tgtEl>
                                          <p:spTgt spid="60421"/>
                                        </p:tgtEl>
                                      </p:cBhvr>
                                      <p:to x="100000" y="95000"/>
                                    </p:animScale>
                                    <p:animScale>
                                      <p:cBhvr>
                                        <p:cTn id="20" dur="166" decel="50000">
                                          <p:stCondLst>
                                            <p:cond delay="1834"/>
                                          </p:stCondLst>
                                        </p:cTn>
                                        <p:tgtEl>
                                          <p:spTgt spid="6042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idx="4294967295"/>
          </p:nvPr>
        </p:nvSpPr>
        <p:spPr>
          <a:xfrm>
            <a:off x="2362201" y="457200"/>
            <a:ext cx="7553325" cy="1754188"/>
          </a:xfrm>
        </p:spPr>
        <p:txBody>
          <a:bodyPr rtlCol="0">
            <a:normAutofit fontScale="90000"/>
          </a:bodyPr>
          <a:lstStyle/>
          <a:p>
            <a:pPr>
              <a:defRPr/>
            </a:pPr>
            <a:r>
              <a:rPr lang="en-US" sz="3200" dirty="0">
                <a:solidFill>
                  <a:schemeClr val="accent1">
                    <a:lumMod val="50000"/>
                  </a:schemeClr>
                </a:solidFill>
                <a:latin typeface="Candara" panose="020E0502030303020204" pitchFamily="34" charset="0"/>
              </a:rPr>
              <a:t>25. When the element “Effect” in the communication process  is used by the “Source”, this is called</a:t>
            </a:r>
            <a:br>
              <a:rPr lang="en-US" sz="3200" dirty="0">
                <a:solidFill>
                  <a:schemeClr val="accent1">
                    <a:lumMod val="50000"/>
                  </a:schemeClr>
                </a:solidFill>
                <a:latin typeface="Candara" panose="020E0502030303020204" pitchFamily="34" charset="0"/>
              </a:rPr>
            </a:br>
            <a:endParaRPr lang="en-US" sz="3200" dirty="0">
              <a:solidFill>
                <a:schemeClr val="accent1">
                  <a:lumMod val="50000"/>
                </a:schemeClr>
              </a:solidFill>
              <a:latin typeface="Candara" panose="020E0502030303020204" pitchFamily="34" charset="0"/>
            </a:endParaRPr>
          </a:p>
        </p:txBody>
      </p:sp>
      <p:sp>
        <p:nvSpPr>
          <p:cNvPr id="109571" name="Content Placeholder 2"/>
          <p:cNvSpPr>
            <a:spLocks noGrp="1"/>
          </p:cNvSpPr>
          <p:nvPr>
            <p:ph idx="4294967295"/>
          </p:nvPr>
        </p:nvSpPr>
        <p:spPr>
          <a:xfrm>
            <a:off x="2444750" y="1981200"/>
            <a:ext cx="7386638" cy="4497388"/>
          </a:xfrm>
        </p:spPr>
        <p:txBody>
          <a:bodyPr/>
          <a:lstStyle/>
          <a:p>
            <a:pPr eaLnBrk="1" hangingPunct="1">
              <a:buFontTx/>
              <a:buAutoNum type="alphaLcPeriod"/>
            </a:pPr>
            <a:endParaRPr lang="en-US" sz="3200">
              <a:solidFill>
                <a:schemeClr val="accent1">
                  <a:lumMod val="50000"/>
                </a:schemeClr>
              </a:solidFill>
              <a:latin typeface="Candara" panose="020E0502030303020204" pitchFamily="34" charset="0"/>
            </a:endParaRPr>
          </a:p>
          <a:p>
            <a:pPr eaLnBrk="1" hangingPunct="1">
              <a:buFontTx/>
              <a:buAutoNum type="alphaLcPeriod"/>
            </a:pPr>
            <a:r>
              <a:rPr lang="en-US" sz="3200">
                <a:solidFill>
                  <a:schemeClr val="accent1">
                    <a:lumMod val="50000"/>
                  </a:schemeClr>
                </a:solidFill>
                <a:latin typeface="Candara" panose="020E0502030303020204" pitchFamily="34" charset="0"/>
              </a:rPr>
              <a:t>Conversation</a:t>
            </a:r>
          </a:p>
          <a:p>
            <a:pPr eaLnBrk="1" hangingPunct="1">
              <a:buFontTx/>
              <a:buAutoNum type="alphaLcPeriod"/>
            </a:pPr>
            <a:r>
              <a:rPr lang="en-US" sz="3200">
                <a:solidFill>
                  <a:schemeClr val="accent1">
                    <a:lumMod val="50000"/>
                  </a:schemeClr>
                </a:solidFill>
                <a:latin typeface="Candara" panose="020E0502030303020204" pitchFamily="34" charset="0"/>
              </a:rPr>
              <a:t> Feedbacking</a:t>
            </a:r>
          </a:p>
          <a:p>
            <a:pPr eaLnBrk="1" hangingPunct="1">
              <a:buFontTx/>
              <a:buAutoNum type="alphaLcPeriod"/>
            </a:pPr>
            <a:r>
              <a:rPr lang="en-US" sz="3200">
                <a:solidFill>
                  <a:schemeClr val="accent1">
                    <a:lumMod val="50000"/>
                  </a:schemeClr>
                </a:solidFill>
                <a:latin typeface="Candara" panose="020E0502030303020204" pitchFamily="34" charset="0"/>
              </a:rPr>
              <a:t>Examination</a:t>
            </a:r>
          </a:p>
          <a:p>
            <a:pPr eaLnBrk="1" hangingPunct="1">
              <a:buFontTx/>
              <a:buAutoNum type="alphaLcPeriod"/>
            </a:pPr>
            <a:r>
              <a:rPr lang="en-US" sz="3200">
                <a:solidFill>
                  <a:schemeClr val="accent1">
                    <a:lumMod val="50000"/>
                  </a:schemeClr>
                </a:solidFill>
                <a:latin typeface="Candara" panose="020E0502030303020204" pitchFamily="34" charset="0"/>
              </a:rPr>
              <a:t> None of the above</a:t>
            </a:r>
          </a:p>
        </p:txBody>
      </p:sp>
      <p:sp>
        <p:nvSpPr>
          <p:cNvPr id="61445" name="Text Box 5"/>
          <p:cNvSpPr txBox="1">
            <a:spLocks noChangeArrowheads="1"/>
          </p:cNvSpPr>
          <p:nvPr/>
        </p:nvSpPr>
        <p:spPr bwMode="auto">
          <a:xfrm>
            <a:off x="2590800" y="54102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Feedbacking</a:t>
            </a:r>
          </a:p>
        </p:txBody>
      </p:sp>
    </p:spTree>
    <p:extLst>
      <p:ext uri="{BB962C8B-B14F-4D97-AF65-F5344CB8AC3E}">
        <p14:creationId xmlns:p14="http://schemas.microsoft.com/office/powerpoint/2010/main" val="3351770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wipe(down)">
                                      <p:cBhvr>
                                        <p:cTn id="7" dur="580">
                                          <p:stCondLst>
                                            <p:cond delay="0"/>
                                          </p:stCondLst>
                                        </p:cTn>
                                        <p:tgtEl>
                                          <p:spTgt spid="61445"/>
                                        </p:tgtEl>
                                      </p:cBhvr>
                                    </p:animEffect>
                                    <p:anim calcmode="lin" valueType="num">
                                      <p:cBhvr>
                                        <p:cTn id="8" dur="1822" tmFilter="0,0; 0.14,0.36; 0.43,0.73; 0.71,0.91; 1.0,1.0">
                                          <p:stCondLst>
                                            <p:cond delay="0"/>
                                          </p:stCondLst>
                                        </p:cTn>
                                        <p:tgtEl>
                                          <p:spTgt spid="6144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44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144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144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1445"/>
                                        </p:tgtEl>
                                        <p:attrNameLst>
                                          <p:attrName>ppt_y</p:attrName>
                                        </p:attrNameLst>
                                      </p:cBhvr>
                                      <p:tavLst>
                                        <p:tav tm="0" fmla="#ppt_y-sin(pi*$)/81">
                                          <p:val>
                                            <p:fltVal val="0"/>
                                          </p:val>
                                        </p:tav>
                                        <p:tav tm="100000">
                                          <p:val>
                                            <p:fltVal val="1"/>
                                          </p:val>
                                        </p:tav>
                                      </p:tavLst>
                                    </p:anim>
                                    <p:animScale>
                                      <p:cBhvr>
                                        <p:cTn id="13" dur="26">
                                          <p:stCondLst>
                                            <p:cond delay="650"/>
                                          </p:stCondLst>
                                        </p:cTn>
                                        <p:tgtEl>
                                          <p:spTgt spid="61445"/>
                                        </p:tgtEl>
                                      </p:cBhvr>
                                      <p:to x="100000" y="60000"/>
                                    </p:animScale>
                                    <p:animScale>
                                      <p:cBhvr>
                                        <p:cTn id="14" dur="166" decel="50000">
                                          <p:stCondLst>
                                            <p:cond delay="676"/>
                                          </p:stCondLst>
                                        </p:cTn>
                                        <p:tgtEl>
                                          <p:spTgt spid="61445"/>
                                        </p:tgtEl>
                                      </p:cBhvr>
                                      <p:to x="100000" y="100000"/>
                                    </p:animScale>
                                    <p:animScale>
                                      <p:cBhvr>
                                        <p:cTn id="15" dur="26">
                                          <p:stCondLst>
                                            <p:cond delay="1312"/>
                                          </p:stCondLst>
                                        </p:cTn>
                                        <p:tgtEl>
                                          <p:spTgt spid="61445"/>
                                        </p:tgtEl>
                                      </p:cBhvr>
                                      <p:to x="100000" y="80000"/>
                                    </p:animScale>
                                    <p:animScale>
                                      <p:cBhvr>
                                        <p:cTn id="16" dur="166" decel="50000">
                                          <p:stCondLst>
                                            <p:cond delay="1338"/>
                                          </p:stCondLst>
                                        </p:cTn>
                                        <p:tgtEl>
                                          <p:spTgt spid="61445"/>
                                        </p:tgtEl>
                                      </p:cBhvr>
                                      <p:to x="100000" y="100000"/>
                                    </p:animScale>
                                    <p:animScale>
                                      <p:cBhvr>
                                        <p:cTn id="17" dur="26">
                                          <p:stCondLst>
                                            <p:cond delay="1642"/>
                                          </p:stCondLst>
                                        </p:cTn>
                                        <p:tgtEl>
                                          <p:spTgt spid="61445"/>
                                        </p:tgtEl>
                                      </p:cBhvr>
                                      <p:to x="100000" y="90000"/>
                                    </p:animScale>
                                    <p:animScale>
                                      <p:cBhvr>
                                        <p:cTn id="18" dur="166" decel="50000">
                                          <p:stCondLst>
                                            <p:cond delay="1668"/>
                                          </p:stCondLst>
                                        </p:cTn>
                                        <p:tgtEl>
                                          <p:spTgt spid="61445"/>
                                        </p:tgtEl>
                                      </p:cBhvr>
                                      <p:to x="100000" y="100000"/>
                                    </p:animScale>
                                    <p:animScale>
                                      <p:cBhvr>
                                        <p:cTn id="19" dur="26">
                                          <p:stCondLst>
                                            <p:cond delay="1808"/>
                                          </p:stCondLst>
                                        </p:cTn>
                                        <p:tgtEl>
                                          <p:spTgt spid="61445"/>
                                        </p:tgtEl>
                                      </p:cBhvr>
                                      <p:to x="100000" y="95000"/>
                                    </p:animScale>
                                    <p:animScale>
                                      <p:cBhvr>
                                        <p:cTn id="20" dur="166" decel="50000">
                                          <p:stCondLst>
                                            <p:cond delay="1834"/>
                                          </p:stCondLst>
                                        </p:cTn>
                                        <p:tgtEl>
                                          <p:spTgt spid="6144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idx="4294967295"/>
          </p:nvPr>
        </p:nvSpPr>
        <p:spPr>
          <a:xfrm>
            <a:off x="2438401" y="304800"/>
            <a:ext cx="7553325" cy="1830388"/>
          </a:xfrm>
        </p:spPr>
        <p:txBody>
          <a:bodyPr/>
          <a:lstStyle/>
          <a:p>
            <a:pPr eaLnBrk="1" hangingPunct="1"/>
            <a:r>
              <a:rPr lang="en-US" sz="3200">
                <a:solidFill>
                  <a:schemeClr val="accent1">
                    <a:lumMod val="50000"/>
                  </a:schemeClr>
                </a:solidFill>
                <a:latin typeface="Candara" panose="020E0502030303020204" pitchFamily="34" charset="0"/>
              </a:rPr>
              <a:t>26. When a change agent is discussing an innovation, he is serving as the ___ in a communication situation.</a:t>
            </a:r>
          </a:p>
        </p:txBody>
      </p:sp>
      <p:sp>
        <p:nvSpPr>
          <p:cNvPr id="110595" name="Content Placeholder 2"/>
          <p:cNvSpPr>
            <a:spLocks noGrp="1"/>
          </p:cNvSpPr>
          <p:nvPr>
            <p:ph idx="4294967295"/>
          </p:nvPr>
        </p:nvSpPr>
        <p:spPr>
          <a:xfrm>
            <a:off x="2895600" y="1905000"/>
            <a:ext cx="7386638" cy="4497388"/>
          </a:xfrm>
        </p:spPr>
        <p:txBody>
          <a:bodyPr/>
          <a:lstStyle/>
          <a:p>
            <a:pPr eaLnBrk="1" hangingPunct="1">
              <a:buFontTx/>
              <a:buNone/>
            </a:pPr>
            <a:endParaRPr lang="en-US" sz="3200">
              <a:solidFill>
                <a:schemeClr val="accent1">
                  <a:lumMod val="50000"/>
                </a:schemeClr>
              </a:solidFill>
              <a:latin typeface="Candara" panose="020E0502030303020204" pitchFamily="34" charset="0"/>
            </a:endParaRPr>
          </a:p>
          <a:p>
            <a:pPr eaLnBrk="1" hangingPunct="1">
              <a:buFontTx/>
              <a:buAutoNum type="alphaLcPeriod"/>
            </a:pPr>
            <a:r>
              <a:rPr lang="en-US" sz="3200">
                <a:solidFill>
                  <a:schemeClr val="accent1">
                    <a:lumMod val="50000"/>
                  </a:schemeClr>
                </a:solidFill>
                <a:latin typeface="Candara" panose="020E0502030303020204" pitchFamily="34" charset="0"/>
              </a:rPr>
              <a:t>Source</a:t>
            </a:r>
          </a:p>
          <a:p>
            <a:pPr eaLnBrk="1" hangingPunct="1">
              <a:buFontTx/>
              <a:buAutoNum type="alphaLcPeriod"/>
            </a:pPr>
            <a:r>
              <a:rPr lang="en-US" sz="3200">
                <a:solidFill>
                  <a:schemeClr val="accent1">
                    <a:lumMod val="50000"/>
                  </a:schemeClr>
                </a:solidFill>
                <a:latin typeface="Candara" panose="020E0502030303020204" pitchFamily="34" charset="0"/>
              </a:rPr>
              <a:t>Message</a:t>
            </a:r>
          </a:p>
          <a:p>
            <a:pPr eaLnBrk="1" hangingPunct="1">
              <a:buFontTx/>
              <a:buAutoNum type="alphaLcPeriod"/>
            </a:pPr>
            <a:r>
              <a:rPr lang="en-US" sz="3200">
                <a:solidFill>
                  <a:schemeClr val="accent1">
                    <a:lumMod val="50000"/>
                  </a:schemeClr>
                </a:solidFill>
                <a:latin typeface="Candara" panose="020E0502030303020204" pitchFamily="34" charset="0"/>
              </a:rPr>
              <a:t>Receiver</a:t>
            </a:r>
          </a:p>
          <a:p>
            <a:pPr eaLnBrk="1" hangingPunct="1">
              <a:buFontTx/>
              <a:buAutoNum type="alphaLcPeriod"/>
            </a:pPr>
            <a:r>
              <a:rPr lang="en-US" sz="3200">
                <a:solidFill>
                  <a:schemeClr val="accent1">
                    <a:lumMod val="50000"/>
                  </a:schemeClr>
                </a:solidFill>
                <a:latin typeface="Candara" panose="020E0502030303020204" pitchFamily="34" charset="0"/>
              </a:rPr>
              <a:t>None of the above</a:t>
            </a:r>
          </a:p>
          <a:p>
            <a:pPr eaLnBrk="1" hangingPunct="1">
              <a:buFontTx/>
              <a:buAutoNum type="alphaLcPeriod"/>
            </a:pPr>
            <a:endParaRPr lang="en-US" sz="3200">
              <a:solidFill>
                <a:schemeClr val="accent1">
                  <a:lumMod val="50000"/>
                </a:schemeClr>
              </a:solidFill>
              <a:latin typeface="Candara" panose="020E0502030303020204" pitchFamily="34" charset="0"/>
            </a:endParaRPr>
          </a:p>
        </p:txBody>
      </p:sp>
      <p:sp>
        <p:nvSpPr>
          <p:cNvPr id="62469" name="Text Box 5"/>
          <p:cNvSpPr txBox="1">
            <a:spLocks noChangeArrowheads="1"/>
          </p:cNvSpPr>
          <p:nvPr/>
        </p:nvSpPr>
        <p:spPr bwMode="auto">
          <a:xfrm>
            <a:off x="2733675" y="5181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A. Source</a:t>
            </a:r>
          </a:p>
        </p:txBody>
      </p:sp>
    </p:spTree>
    <p:extLst>
      <p:ext uri="{BB962C8B-B14F-4D97-AF65-F5344CB8AC3E}">
        <p14:creationId xmlns:p14="http://schemas.microsoft.com/office/powerpoint/2010/main" val="7642699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down)">
                                      <p:cBhvr>
                                        <p:cTn id="7" dur="580">
                                          <p:stCondLst>
                                            <p:cond delay="0"/>
                                          </p:stCondLst>
                                        </p:cTn>
                                        <p:tgtEl>
                                          <p:spTgt spid="62469"/>
                                        </p:tgtEl>
                                      </p:cBhvr>
                                    </p:animEffect>
                                    <p:anim calcmode="lin" valueType="num">
                                      <p:cBhvr>
                                        <p:cTn id="8" dur="1822" tmFilter="0,0; 0.14,0.36; 0.43,0.73; 0.71,0.91; 1.0,1.0">
                                          <p:stCondLst>
                                            <p:cond delay="0"/>
                                          </p:stCondLst>
                                        </p:cTn>
                                        <p:tgtEl>
                                          <p:spTgt spid="6246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246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246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246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2469"/>
                                        </p:tgtEl>
                                        <p:attrNameLst>
                                          <p:attrName>ppt_y</p:attrName>
                                        </p:attrNameLst>
                                      </p:cBhvr>
                                      <p:tavLst>
                                        <p:tav tm="0" fmla="#ppt_y-sin(pi*$)/81">
                                          <p:val>
                                            <p:fltVal val="0"/>
                                          </p:val>
                                        </p:tav>
                                        <p:tav tm="100000">
                                          <p:val>
                                            <p:fltVal val="1"/>
                                          </p:val>
                                        </p:tav>
                                      </p:tavLst>
                                    </p:anim>
                                    <p:animScale>
                                      <p:cBhvr>
                                        <p:cTn id="13" dur="26">
                                          <p:stCondLst>
                                            <p:cond delay="650"/>
                                          </p:stCondLst>
                                        </p:cTn>
                                        <p:tgtEl>
                                          <p:spTgt spid="62469"/>
                                        </p:tgtEl>
                                      </p:cBhvr>
                                      <p:to x="100000" y="60000"/>
                                    </p:animScale>
                                    <p:animScale>
                                      <p:cBhvr>
                                        <p:cTn id="14" dur="166" decel="50000">
                                          <p:stCondLst>
                                            <p:cond delay="676"/>
                                          </p:stCondLst>
                                        </p:cTn>
                                        <p:tgtEl>
                                          <p:spTgt spid="62469"/>
                                        </p:tgtEl>
                                      </p:cBhvr>
                                      <p:to x="100000" y="100000"/>
                                    </p:animScale>
                                    <p:animScale>
                                      <p:cBhvr>
                                        <p:cTn id="15" dur="26">
                                          <p:stCondLst>
                                            <p:cond delay="1312"/>
                                          </p:stCondLst>
                                        </p:cTn>
                                        <p:tgtEl>
                                          <p:spTgt spid="62469"/>
                                        </p:tgtEl>
                                      </p:cBhvr>
                                      <p:to x="100000" y="80000"/>
                                    </p:animScale>
                                    <p:animScale>
                                      <p:cBhvr>
                                        <p:cTn id="16" dur="166" decel="50000">
                                          <p:stCondLst>
                                            <p:cond delay="1338"/>
                                          </p:stCondLst>
                                        </p:cTn>
                                        <p:tgtEl>
                                          <p:spTgt spid="62469"/>
                                        </p:tgtEl>
                                      </p:cBhvr>
                                      <p:to x="100000" y="100000"/>
                                    </p:animScale>
                                    <p:animScale>
                                      <p:cBhvr>
                                        <p:cTn id="17" dur="26">
                                          <p:stCondLst>
                                            <p:cond delay="1642"/>
                                          </p:stCondLst>
                                        </p:cTn>
                                        <p:tgtEl>
                                          <p:spTgt spid="62469"/>
                                        </p:tgtEl>
                                      </p:cBhvr>
                                      <p:to x="100000" y="90000"/>
                                    </p:animScale>
                                    <p:animScale>
                                      <p:cBhvr>
                                        <p:cTn id="18" dur="166" decel="50000">
                                          <p:stCondLst>
                                            <p:cond delay="1668"/>
                                          </p:stCondLst>
                                        </p:cTn>
                                        <p:tgtEl>
                                          <p:spTgt spid="62469"/>
                                        </p:tgtEl>
                                      </p:cBhvr>
                                      <p:to x="100000" y="100000"/>
                                    </p:animScale>
                                    <p:animScale>
                                      <p:cBhvr>
                                        <p:cTn id="19" dur="26">
                                          <p:stCondLst>
                                            <p:cond delay="1808"/>
                                          </p:stCondLst>
                                        </p:cTn>
                                        <p:tgtEl>
                                          <p:spTgt spid="62469"/>
                                        </p:tgtEl>
                                      </p:cBhvr>
                                      <p:to x="100000" y="95000"/>
                                    </p:animScale>
                                    <p:animScale>
                                      <p:cBhvr>
                                        <p:cTn id="20" dur="166" decel="50000">
                                          <p:stCondLst>
                                            <p:cond delay="1834"/>
                                          </p:stCondLst>
                                        </p:cTn>
                                        <p:tgtEl>
                                          <p:spTgt spid="6246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idx="4294967295"/>
          </p:nvPr>
        </p:nvSpPr>
        <p:spPr>
          <a:xfrm>
            <a:off x="2133600" y="304800"/>
            <a:ext cx="8915400" cy="1905000"/>
          </a:xfrm>
        </p:spPr>
        <p:txBody>
          <a:bodyPr/>
          <a:lstStyle/>
          <a:p>
            <a:pPr eaLnBrk="1" hangingPunct="1"/>
            <a:r>
              <a:rPr lang="en-US" sz="3200">
                <a:solidFill>
                  <a:schemeClr val="accent1">
                    <a:lumMod val="50000"/>
                  </a:schemeClr>
                </a:solidFill>
                <a:latin typeface="Candara" panose="020E0502030303020204" pitchFamily="34" charset="0"/>
              </a:rPr>
              <a:t>27. WHEREAS, the </a:t>
            </a:r>
            <a:r>
              <a:rPr lang="en-US" sz="3200" b="1">
                <a:solidFill>
                  <a:schemeClr val="accent1">
                    <a:lumMod val="50000"/>
                  </a:schemeClr>
                </a:solidFill>
                <a:latin typeface="Candara" panose="020E0502030303020204" pitchFamily="34" charset="0"/>
              </a:rPr>
              <a:t>clients listening </a:t>
            </a:r>
            <a:r>
              <a:rPr lang="en-US" sz="3200">
                <a:solidFill>
                  <a:schemeClr val="accent1">
                    <a:lumMod val="50000"/>
                  </a:schemeClr>
                </a:solidFill>
                <a:latin typeface="Candara" panose="020E0502030303020204" pitchFamily="34" charset="0"/>
              </a:rPr>
              <a:t>to the discussion of the change agent on the innovation  are the _____ in a communication situation.</a:t>
            </a:r>
          </a:p>
        </p:txBody>
      </p:sp>
      <p:sp>
        <p:nvSpPr>
          <p:cNvPr id="111619" name="Content Placeholder 2"/>
          <p:cNvSpPr>
            <a:spLocks noGrp="1"/>
          </p:cNvSpPr>
          <p:nvPr>
            <p:ph idx="4294967295"/>
          </p:nvPr>
        </p:nvSpPr>
        <p:spPr>
          <a:xfrm>
            <a:off x="2743200" y="2590800"/>
            <a:ext cx="7386638" cy="4114800"/>
          </a:xfrm>
        </p:spPr>
        <p:txBody>
          <a:bodyPr/>
          <a:lstStyle/>
          <a:p>
            <a:pPr eaLnBrk="1" hangingPunct="1">
              <a:buFontTx/>
              <a:buAutoNum type="alphaLcPeriod"/>
            </a:pPr>
            <a:r>
              <a:rPr lang="en-US" sz="3200">
                <a:solidFill>
                  <a:schemeClr val="accent1">
                    <a:lumMod val="50000"/>
                  </a:schemeClr>
                </a:solidFill>
                <a:latin typeface="Candara" panose="020E0502030303020204" pitchFamily="34" charset="0"/>
              </a:rPr>
              <a:t>Source</a:t>
            </a:r>
          </a:p>
          <a:p>
            <a:pPr eaLnBrk="1" hangingPunct="1">
              <a:buFontTx/>
              <a:buAutoNum type="alphaLcPeriod"/>
            </a:pPr>
            <a:r>
              <a:rPr lang="en-US" sz="3200">
                <a:solidFill>
                  <a:schemeClr val="accent1">
                    <a:lumMod val="50000"/>
                  </a:schemeClr>
                </a:solidFill>
                <a:latin typeface="Candara" panose="020E0502030303020204" pitchFamily="34" charset="0"/>
              </a:rPr>
              <a:t>Message</a:t>
            </a:r>
          </a:p>
          <a:p>
            <a:pPr eaLnBrk="1" hangingPunct="1">
              <a:buFontTx/>
              <a:buAutoNum type="alphaLcPeriod"/>
            </a:pPr>
            <a:r>
              <a:rPr lang="en-US" sz="3200">
                <a:solidFill>
                  <a:schemeClr val="accent1">
                    <a:lumMod val="50000"/>
                  </a:schemeClr>
                </a:solidFill>
                <a:latin typeface="Candara" panose="020E0502030303020204" pitchFamily="34" charset="0"/>
              </a:rPr>
              <a:t>Receiver</a:t>
            </a:r>
          </a:p>
          <a:p>
            <a:pPr eaLnBrk="1" hangingPunct="1">
              <a:buFontTx/>
              <a:buAutoNum type="alphaLcPeriod"/>
            </a:pPr>
            <a:r>
              <a:rPr lang="en-US" sz="3200">
                <a:solidFill>
                  <a:schemeClr val="accent1">
                    <a:lumMod val="50000"/>
                  </a:schemeClr>
                </a:solidFill>
                <a:latin typeface="Candara" panose="020E0502030303020204" pitchFamily="34" charset="0"/>
              </a:rPr>
              <a:t>None of the above</a:t>
            </a:r>
          </a:p>
          <a:p>
            <a:pPr eaLnBrk="1" hangingPunct="1">
              <a:buFontTx/>
              <a:buAutoNum type="alphaLcPeriod"/>
            </a:pPr>
            <a:endParaRPr lang="en-US" sz="3200">
              <a:solidFill>
                <a:schemeClr val="accent1">
                  <a:lumMod val="50000"/>
                </a:schemeClr>
              </a:solidFill>
              <a:latin typeface="Candara" panose="020E0502030303020204" pitchFamily="34" charset="0"/>
            </a:endParaRPr>
          </a:p>
        </p:txBody>
      </p:sp>
      <p:sp>
        <p:nvSpPr>
          <p:cNvPr id="63493" name="Text Box 5"/>
          <p:cNvSpPr txBox="1">
            <a:spLocks noChangeArrowheads="1"/>
          </p:cNvSpPr>
          <p:nvPr/>
        </p:nvSpPr>
        <p:spPr bwMode="auto">
          <a:xfrm>
            <a:off x="2665413" y="53340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C. Receiver</a:t>
            </a:r>
          </a:p>
        </p:txBody>
      </p:sp>
    </p:spTree>
    <p:extLst>
      <p:ext uri="{BB962C8B-B14F-4D97-AF65-F5344CB8AC3E}">
        <p14:creationId xmlns:p14="http://schemas.microsoft.com/office/powerpoint/2010/main" val="1150528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wipe(down)">
                                      <p:cBhvr>
                                        <p:cTn id="7" dur="580">
                                          <p:stCondLst>
                                            <p:cond delay="0"/>
                                          </p:stCondLst>
                                        </p:cTn>
                                        <p:tgtEl>
                                          <p:spTgt spid="63493"/>
                                        </p:tgtEl>
                                      </p:cBhvr>
                                    </p:animEffect>
                                    <p:anim calcmode="lin" valueType="num">
                                      <p:cBhvr>
                                        <p:cTn id="8" dur="1822" tmFilter="0,0; 0.14,0.36; 0.43,0.73; 0.71,0.91; 1.0,1.0">
                                          <p:stCondLst>
                                            <p:cond delay="0"/>
                                          </p:stCondLst>
                                        </p:cTn>
                                        <p:tgtEl>
                                          <p:spTgt spid="6349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349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349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349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3493"/>
                                        </p:tgtEl>
                                        <p:attrNameLst>
                                          <p:attrName>ppt_y</p:attrName>
                                        </p:attrNameLst>
                                      </p:cBhvr>
                                      <p:tavLst>
                                        <p:tav tm="0" fmla="#ppt_y-sin(pi*$)/81">
                                          <p:val>
                                            <p:fltVal val="0"/>
                                          </p:val>
                                        </p:tav>
                                        <p:tav tm="100000">
                                          <p:val>
                                            <p:fltVal val="1"/>
                                          </p:val>
                                        </p:tav>
                                      </p:tavLst>
                                    </p:anim>
                                    <p:animScale>
                                      <p:cBhvr>
                                        <p:cTn id="13" dur="26">
                                          <p:stCondLst>
                                            <p:cond delay="650"/>
                                          </p:stCondLst>
                                        </p:cTn>
                                        <p:tgtEl>
                                          <p:spTgt spid="63493"/>
                                        </p:tgtEl>
                                      </p:cBhvr>
                                      <p:to x="100000" y="60000"/>
                                    </p:animScale>
                                    <p:animScale>
                                      <p:cBhvr>
                                        <p:cTn id="14" dur="166" decel="50000">
                                          <p:stCondLst>
                                            <p:cond delay="676"/>
                                          </p:stCondLst>
                                        </p:cTn>
                                        <p:tgtEl>
                                          <p:spTgt spid="63493"/>
                                        </p:tgtEl>
                                      </p:cBhvr>
                                      <p:to x="100000" y="100000"/>
                                    </p:animScale>
                                    <p:animScale>
                                      <p:cBhvr>
                                        <p:cTn id="15" dur="26">
                                          <p:stCondLst>
                                            <p:cond delay="1312"/>
                                          </p:stCondLst>
                                        </p:cTn>
                                        <p:tgtEl>
                                          <p:spTgt spid="63493"/>
                                        </p:tgtEl>
                                      </p:cBhvr>
                                      <p:to x="100000" y="80000"/>
                                    </p:animScale>
                                    <p:animScale>
                                      <p:cBhvr>
                                        <p:cTn id="16" dur="166" decel="50000">
                                          <p:stCondLst>
                                            <p:cond delay="1338"/>
                                          </p:stCondLst>
                                        </p:cTn>
                                        <p:tgtEl>
                                          <p:spTgt spid="63493"/>
                                        </p:tgtEl>
                                      </p:cBhvr>
                                      <p:to x="100000" y="100000"/>
                                    </p:animScale>
                                    <p:animScale>
                                      <p:cBhvr>
                                        <p:cTn id="17" dur="26">
                                          <p:stCondLst>
                                            <p:cond delay="1642"/>
                                          </p:stCondLst>
                                        </p:cTn>
                                        <p:tgtEl>
                                          <p:spTgt spid="63493"/>
                                        </p:tgtEl>
                                      </p:cBhvr>
                                      <p:to x="100000" y="90000"/>
                                    </p:animScale>
                                    <p:animScale>
                                      <p:cBhvr>
                                        <p:cTn id="18" dur="166" decel="50000">
                                          <p:stCondLst>
                                            <p:cond delay="1668"/>
                                          </p:stCondLst>
                                        </p:cTn>
                                        <p:tgtEl>
                                          <p:spTgt spid="63493"/>
                                        </p:tgtEl>
                                      </p:cBhvr>
                                      <p:to x="100000" y="100000"/>
                                    </p:animScale>
                                    <p:animScale>
                                      <p:cBhvr>
                                        <p:cTn id="19" dur="26">
                                          <p:stCondLst>
                                            <p:cond delay="1808"/>
                                          </p:stCondLst>
                                        </p:cTn>
                                        <p:tgtEl>
                                          <p:spTgt spid="63493"/>
                                        </p:tgtEl>
                                      </p:cBhvr>
                                      <p:to x="100000" y="95000"/>
                                    </p:animScale>
                                    <p:animScale>
                                      <p:cBhvr>
                                        <p:cTn id="20" dur="166" decel="50000">
                                          <p:stCondLst>
                                            <p:cond delay="1834"/>
                                          </p:stCondLst>
                                        </p:cTn>
                                        <p:tgtEl>
                                          <p:spTgt spid="6349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idx="4294967295"/>
          </p:nvPr>
        </p:nvSpPr>
        <p:spPr>
          <a:xfrm>
            <a:off x="2514601" y="455613"/>
            <a:ext cx="7477125" cy="1143000"/>
          </a:xfrm>
        </p:spPr>
        <p:txBody>
          <a:bodyPr/>
          <a:lstStyle/>
          <a:p>
            <a:pPr eaLnBrk="1" hangingPunct="1"/>
            <a:r>
              <a:rPr lang="en-US" sz="3200">
                <a:solidFill>
                  <a:schemeClr val="accent1">
                    <a:lumMod val="50000"/>
                  </a:schemeClr>
                </a:solidFill>
                <a:latin typeface="Candara" panose="020E0502030303020204" pitchFamily="34" charset="0"/>
              </a:rPr>
              <a:t>28. The fifth basic elements of the communication process is the ____.</a:t>
            </a:r>
          </a:p>
        </p:txBody>
      </p:sp>
      <p:sp>
        <p:nvSpPr>
          <p:cNvPr id="112643" name="Content Placeholder 2"/>
          <p:cNvSpPr>
            <a:spLocks noGrp="1"/>
          </p:cNvSpPr>
          <p:nvPr>
            <p:ph idx="4294967295"/>
          </p:nvPr>
        </p:nvSpPr>
        <p:spPr>
          <a:xfrm>
            <a:off x="2566989" y="2057400"/>
            <a:ext cx="7386637" cy="4497388"/>
          </a:xfrm>
        </p:spPr>
        <p:txBody>
          <a:bodyPr/>
          <a:lstStyle/>
          <a:p>
            <a:pPr eaLnBrk="1" hangingPunct="1">
              <a:buFontTx/>
              <a:buNone/>
            </a:pPr>
            <a:endParaRPr lang="en-US" sz="3600">
              <a:solidFill>
                <a:schemeClr val="accent1">
                  <a:lumMod val="50000"/>
                </a:schemeClr>
              </a:solidFill>
              <a:latin typeface="Candara" panose="020E0502030303020204" pitchFamily="34" charset="0"/>
            </a:endParaRPr>
          </a:p>
          <a:p>
            <a:pPr eaLnBrk="1" hangingPunct="1">
              <a:buFontTx/>
              <a:buAutoNum type="alphaLcPeriod"/>
            </a:pPr>
            <a:r>
              <a:rPr lang="en-US" sz="3600">
                <a:solidFill>
                  <a:schemeClr val="accent1">
                    <a:lumMod val="50000"/>
                  </a:schemeClr>
                </a:solidFill>
                <a:latin typeface="Candara" panose="020E0502030303020204" pitchFamily="34" charset="0"/>
              </a:rPr>
              <a:t>Extreme</a:t>
            </a:r>
          </a:p>
          <a:p>
            <a:pPr eaLnBrk="1" hangingPunct="1">
              <a:buFontTx/>
              <a:buAutoNum type="alphaLcPeriod"/>
            </a:pPr>
            <a:r>
              <a:rPr lang="en-US" sz="3600">
                <a:solidFill>
                  <a:schemeClr val="accent1">
                    <a:lumMod val="50000"/>
                  </a:schemeClr>
                </a:solidFill>
                <a:latin typeface="Candara" panose="020E0502030303020204" pitchFamily="34" charset="0"/>
              </a:rPr>
              <a:t>Efficascence</a:t>
            </a:r>
          </a:p>
          <a:p>
            <a:pPr eaLnBrk="1" hangingPunct="1">
              <a:buFontTx/>
              <a:buAutoNum type="alphaLcPeriod"/>
            </a:pPr>
            <a:r>
              <a:rPr lang="en-US" sz="3600">
                <a:solidFill>
                  <a:schemeClr val="accent1">
                    <a:lumMod val="50000"/>
                  </a:schemeClr>
                </a:solidFill>
                <a:latin typeface="Candara" panose="020E0502030303020204" pitchFamily="34" charset="0"/>
              </a:rPr>
              <a:t>Effect</a:t>
            </a:r>
          </a:p>
          <a:p>
            <a:pPr eaLnBrk="1" hangingPunct="1">
              <a:buFontTx/>
              <a:buAutoNum type="alphaLcPeriod"/>
            </a:pPr>
            <a:r>
              <a:rPr lang="en-US" sz="3600">
                <a:solidFill>
                  <a:schemeClr val="accent1">
                    <a:lumMod val="50000"/>
                  </a:schemeClr>
                </a:solidFill>
                <a:latin typeface="Candara" panose="020E0502030303020204" pitchFamily="34" charset="0"/>
              </a:rPr>
              <a:t>None of the above</a:t>
            </a:r>
          </a:p>
          <a:p>
            <a:pPr eaLnBrk="1" hangingPunct="1">
              <a:buFontTx/>
              <a:buNone/>
            </a:pPr>
            <a:endParaRPr lang="en-US" sz="3600">
              <a:solidFill>
                <a:schemeClr val="accent1">
                  <a:lumMod val="50000"/>
                </a:schemeClr>
              </a:solidFill>
              <a:latin typeface="Candara" panose="020E0502030303020204" pitchFamily="34" charset="0"/>
            </a:endParaRPr>
          </a:p>
        </p:txBody>
      </p:sp>
      <p:sp>
        <p:nvSpPr>
          <p:cNvPr id="64517" name="Text Box 5"/>
          <p:cNvSpPr txBox="1">
            <a:spLocks noChangeArrowheads="1"/>
          </p:cNvSpPr>
          <p:nvPr/>
        </p:nvSpPr>
        <p:spPr bwMode="auto">
          <a:xfrm>
            <a:off x="2566988" y="54864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C. Effect</a:t>
            </a:r>
          </a:p>
        </p:txBody>
      </p:sp>
    </p:spTree>
    <p:extLst>
      <p:ext uri="{BB962C8B-B14F-4D97-AF65-F5344CB8AC3E}">
        <p14:creationId xmlns:p14="http://schemas.microsoft.com/office/powerpoint/2010/main" val="4148309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4517"/>
                                        </p:tgtEl>
                                        <p:attrNameLst>
                                          <p:attrName>style.visibility</p:attrName>
                                        </p:attrNameLst>
                                      </p:cBhvr>
                                      <p:to>
                                        <p:strVal val="visible"/>
                                      </p:to>
                                    </p:set>
                                    <p:animEffect transition="in" filter="wipe(down)">
                                      <p:cBhvr>
                                        <p:cTn id="7" dur="580">
                                          <p:stCondLst>
                                            <p:cond delay="0"/>
                                          </p:stCondLst>
                                        </p:cTn>
                                        <p:tgtEl>
                                          <p:spTgt spid="64517"/>
                                        </p:tgtEl>
                                      </p:cBhvr>
                                    </p:animEffect>
                                    <p:anim calcmode="lin" valueType="num">
                                      <p:cBhvr>
                                        <p:cTn id="8" dur="1822" tmFilter="0,0; 0.14,0.36; 0.43,0.73; 0.71,0.91; 1.0,1.0">
                                          <p:stCondLst>
                                            <p:cond delay="0"/>
                                          </p:stCondLst>
                                        </p:cTn>
                                        <p:tgtEl>
                                          <p:spTgt spid="645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45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45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45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4517"/>
                                        </p:tgtEl>
                                        <p:attrNameLst>
                                          <p:attrName>ppt_y</p:attrName>
                                        </p:attrNameLst>
                                      </p:cBhvr>
                                      <p:tavLst>
                                        <p:tav tm="0" fmla="#ppt_y-sin(pi*$)/81">
                                          <p:val>
                                            <p:fltVal val="0"/>
                                          </p:val>
                                        </p:tav>
                                        <p:tav tm="100000">
                                          <p:val>
                                            <p:fltVal val="1"/>
                                          </p:val>
                                        </p:tav>
                                      </p:tavLst>
                                    </p:anim>
                                    <p:animScale>
                                      <p:cBhvr>
                                        <p:cTn id="13" dur="26">
                                          <p:stCondLst>
                                            <p:cond delay="650"/>
                                          </p:stCondLst>
                                        </p:cTn>
                                        <p:tgtEl>
                                          <p:spTgt spid="64517"/>
                                        </p:tgtEl>
                                      </p:cBhvr>
                                      <p:to x="100000" y="60000"/>
                                    </p:animScale>
                                    <p:animScale>
                                      <p:cBhvr>
                                        <p:cTn id="14" dur="166" decel="50000">
                                          <p:stCondLst>
                                            <p:cond delay="676"/>
                                          </p:stCondLst>
                                        </p:cTn>
                                        <p:tgtEl>
                                          <p:spTgt spid="64517"/>
                                        </p:tgtEl>
                                      </p:cBhvr>
                                      <p:to x="100000" y="100000"/>
                                    </p:animScale>
                                    <p:animScale>
                                      <p:cBhvr>
                                        <p:cTn id="15" dur="26">
                                          <p:stCondLst>
                                            <p:cond delay="1312"/>
                                          </p:stCondLst>
                                        </p:cTn>
                                        <p:tgtEl>
                                          <p:spTgt spid="64517"/>
                                        </p:tgtEl>
                                      </p:cBhvr>
                                      <p:to x="100000" y="80000"/>
                                    </p:animScale>
                                    <p:animScale>
                                      <p:cBhvr>
                                        <p:cTn id="16" dur="166" decel="50000">
                                          <p:stCondLst>
                                            <p:cond delay="1338"/>
                                          </p:stCondLst>
                                        </p:cTn>
                                        <p:tgtEl>
                                          <p:spTgt spid="64517"/>
                                        </p:tgtEl>
                                      </p:cBhvr>
                                      <p:to x="100000" y="100000"/>
                                    </p:animScale>
                                    <p:animScale>
                                      <p:cBhvr>
                                        <p:cTn id="17" dur="26">
                                          <p:stCondLst>
                                            <p:cond delay="1642"/>
                                          </p:stCondLst>
                                        </p:cTn>
                                        <p:tgtEl>
                                          <p:spTgt spid="64517"/>
                                        </p:tgtEl>
                                      </p:cBhvr>
                                      <p:to x="100000" y="90000"/>
                                    </p:animScale>
                                    <p:animScale>
                                      <p:cBhvr>
                                        <p:cTn id="18" dur="166" decel="50000">
                                          <p:stCondLst>
                                            <p:cond delay="1668"/>
                                          </p:stCondLst>
                                        </p:cTn>
                                        <p:tgtEl>
                                          <p:spTgt spid="64517"/>
                                        </p:tgtEl>
                                      </p:cBhvr>
                                      <p:to x="100000" y="100000"/>
                                    </p:animScale>
                                    <p:animScale>
                                      <p:cBhvr>
                                        <p:cTn id="19" dur="26">
                                          <p:stCondLst>
                                            <p:cond delay="1808"/>
                                          </p:stCondLst>
                                        </p:cTn>
                                        <p:tgtEl>
                                          <p:spTgt spid="64517"/>
                                        </p:tgtEl>
                                      </p:cBhvr>
                                      <p:to x="100000" y="95000"/>
                                    </p:animScale>
                                    <p:animScale>
                                      <p:cBhvr>
                                        <p:cTn id="20" dur="166" decel="50000">
                                          <p:stCondLst>
                                            <p:cond delay="1834"/>
                                          </p:stCondLst>
                                        </p:cTn>
                                        <p:tgtEl>
                                          <p:spTgt spid="645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idx="4294967295"/>
          </p:nvPr>
        </p:nvSpPr>
        <p:spPr>
          <a:xfrm>
            <a:off x="1571223" y="304800"/>
            <a:ext cx="8420503" cy="1982788"/>
          </a:xfrm>
        </p:spPr>
        <p:txBody>
          <a:bodyPr/>
          <a:lstStyle/>
          <a:p>
            <a:pPr eaLnBrk="1" hangingPunct="1"/>
            <a:r>
              <a:rPr lang="en-US" sz="3200" dirty="0">
                <a:solidFill>
                  <a:schemeClr val="accent1">
                    <a:lumMod val="50000"/>
                  </a:schemeClr>
                </a:solidFill>
                <a:latin typeface="Candara" panose="020E0502030303020204" pitchFamily="34" charset="0"/>
              </a:rPr>
              <a:t>29. Communication in extension is a teaching-learning process. Therefore, the extension workers serve as:</a:t>
            </a:r>
            <a:endParaRPr lang="en-US" dirty="0" smtClean="0">
              <a:solidFill>
                <a:schemeClr val="accent1">
                  <a:lumMod val="50000"/>
                </a:schemeClr>
              </a:solidFill>
              <a:latin typeface="Candara" panose="020E0502030303020204" pitchFamily="34" charset="0"/>
            </a:endParaRPr>
          </a:p>
        </p:txBody>
      </p:sp>
      <p:sp>
        <p:nvSpPr>
          <p:cNvPr id="113667" name="Content Placeholder 2"/>
          <p:cNvSpPr>
            <a:spLocks noGrp="1"/>
          </p:cNvSpPr>
          <p:nvPr>
            <p:ph idx="4294967295"/>
          </p:nvPr>
        </p:nvSpPr>
        <p:spPr>
          <a:xfrm>
            <a:off x="2819400" y="2438400"/>
            <a:ext cx="7386638" cy="3962400"/>
          </a:xfrm>
        </p:spPr>
        <p:txBody>
          <a:bodyPr/>
          <a:lstStyle/>
          <a:p>
            <a:pPr eaLnBrk="1" hangingPunct="1">
              <a:buFontTx/>
              <a:buNone/>
            </a:pPr>
            <a:r>
              <a:rPr lang="en-US" sz="3600" dirty="0">
                <a:solidFill>
                  <a:schemeClr val="accent1">
                    <a:lumMod val="50000"/>
                  </a:schemeClr>
                </a:solidFill>
                <a:latin typeface="Candara" panose="020E0502030303020204" pitchFamily="34" charset="0"/>
              </a:rPr>
              <a:t>A. researchers</a:t>
            </a:r>
          </a:p>
          <a:p>
            <a:pPr eaLnBrk="1" hangingPunct="1">
              <a:buFontTx/>
              <a:buNone/>
            </a:pPr>
            <a:r>
              <a:rPr lang="en-US" sz="3600" dirty="0">
                <a:solidFill>
                  <a:schemeClr val="accent1">
                    <a:lumMod val="50000"/>
                  </a:schemeClr>
                </a:solidFill>
                <a:latin typeface="Candara" panose="020E0502030303020204" pitchFamily="34" charset="0"/>
              </a:rPr>
              <a:t>B. providers</a:t>
            </a:r>
          </a:p>
          <a:p>
            <a:pPr eaLnBrk="1" hangingPunct="1">
              <a:buFontTx/>
              <a:buNone/>
            </a:pPr>
            <a:r>
              <a:rPr lang="en-US" sz="3600" dirty="0">
                <a:solidFill>
                  <a:schemeClr val="accent1">
                    <a:lumMod val="50000"/>
                  </a:schemeClr>
                </a:solidFill>
                <a:latin typeface="Candara" panose="020E0502030303020204" pitchFamily="34" charset="0"/>
              </a:rPr>
              <a:t>C. teachers</a:t>
            </a:r>
          </a:p>
          <a:p>
            <a:pPr eaLnBrk="1" hangingPunct="1">
              <a:buFontTx/>
              <a:buNone/>
            </a:pPr>
            <a:r>
              <a:rPr lang="en-US" sz="3600" dirty="0">
                <a:solidFill>
                  <a:schemeClr val="accent1">
                    <a:lumMod val="50000"/>
                  </a:schemeClr>
                </a:solidFill>
                <a:latin typeface="Candara" panose="020E0502030303020204" pitchFamily="34" charset="0"/>
              </a:rPr>
              <a:t>D. None of the above</a:t>
            </a:r>
          </a:p>
          <a:p>
            <a:pPr eaLnBrk="1" hangingPunct="1">
              <a:buFontTx/>
              <a:buChar char="•"/>
            </a:pPr>
            <a:endParaRPr lang="en-US" sz="3600" dirty="0">
              <a:solidFill>
                <a:schemeClr val="accent1">
                  <a:lumMod val="50000"/>
                </a:schemeClr>
              </a:solidFill>
              <a:latin typeface="Candara" panose="020E0502030303020204" pitchFamily="34" charset="0"/>
            </a:endParaRPr>
          </a:p>
        </p:txBody>
      </p:sp>
      <p:sp>
        <p:nvSpPr>
          <p:cNvPr id="69637" name="Text Box 5"/>
          <p:cNvSpPr txBox="1">
            <a:spLocks noChangeArrowheads="1"/>
          </p:cNvSpPr>
          <p:nvPr/>
        </p:nvSpPr>
        <p:spPr bwMode="auto">
          <a:xfrm>
            <a:off x="2819400" y="5638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C. Teachers </a:t>
            </a:r>
          </a:p>
        </p:txBody>
      </p:sp>
    </p:spTree>
    <p:extLst>
      <p:ext uri="{BB962C8B-B14F-4D97-AF65-F5344CB8AC3E}">
        <p14:creationId xmlns:p14="http://schemas.microsoft.com/office/powerpoint/2010/main" val="2602496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9637"/>
                                        </p:tgtEl>
                                        <p:attrNameLst>
                                          <p:attrName>style.visibility</p:attrName>
                                        </p:attrNameLst>
                                      </p:cBhvr>
                                      <p:to>
                                        <p:strVal val="visible"/>
                                      </p:to>
                                    </p:set>
                                    <p:animEffect transition="in" filter="wipe(down)">
                                      <p:cBhvr>
                                        <p:cTn id="7" dur="580">
                                          <p:stCondLst>
                                            <p:cond delay="0"/>
                                          </p:stCondLst>
                                        </p:cTn>
                                        <p:tgtEl>
                                          <p:spTgt spid="69637"/>
                                        </p:tgtEl>
                                      </p:cBhvr>
                                    </p:animEffect>
                                    <p:anim calcmode="lin" valueType="num">
                                      <p:cBhvr>
                                        <p:cTn id="8" dur="1822" tmFilter="0,0; 0.14,0.36; 0.43,0.73; 0.71,0.91; 1.0,1.0">
                                          <p:stCondLst>
                                            <p:cond delay="0"/>
                                          </p:stCondLst>
                                        </p:cTn>
                                        <p:tgtEl>
                                          <p:spTgt spid="6963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963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963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963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9637"/>
                                        </p:tgtEl>
                                        <p:attrNameLst>
                                          <p:attrName>ppt_y</p:attrName>
                                        </p:attrNameLst>
                                      </p:cBhvr>
                                      <p:tavLst>
                                        <p:tav tm="0" fmla="#ppt_y-sin(pi*$)/81">
                                          <p:val>
                                            <p:fltVal val="0"/>
                                          </p:val>
                                        </p:tav>
                                        <p:tav tm="100000">
                                          <p:val>
                                            <p:fltVal val="1"/>
                                          </p:val>
                                        </p:tav>
                                      </p:tavLst>
                                    </p:anim>
                                    <p:animScale>
                                      <p:cBhvr>
                                        <p:cTn id="13" dur="26">
                                          <p:stCondLst>
                                            <p:cond delay="650"/>
                                          </p:stCondLst>
                                        </p:cTn>
                                        <p:tgtEl>
                                          <p:spTgt spid="69637"/>
                                        </p:tgtEl>
                                      </p:cBhvr>
                                      <p:to x="100000" y="60000"/>
                                    </p:animScale>
                                    <p:animScale>
                                      <p:cBhvr>
                                        <p:cTn id="14" dur="166" decel="50000">
                                          <p:stCondLst>
                                            <p:cond delay="676"/>
                                          </p:stCondLst>
                                        </p:cTn>
                                        <p:tgtEl>
                                          <p:spTgt spid="69637"/>
                                        </p:tgtEl>
                                      </p:cBhvr>
                                      <p:to x="100000" y="100000"/>
                                    </p:animScale>
                                    <p:animScale>
                                      <p:cBhvr>
                                        <p:cTn id="15" dur="26">
                                          <p:stCondLst>
                                            <p:cond delay="1312"/>
                                          </p:stCondLst>
                                        </p:cTn>
                                        <p:tgtEl>
                                          <p:spTgt spid="69637"/>
                                        </p:tgtEl>
                                      </p:cBhvr>
                                      <p:to x="100000" y="80000"/>
                                    </p:animScale>
                                    <p:animScale>
                                      <p:cBhvr>
                                        <p:cTn id="16" dur="166" decel="50000">
                                          <p:stCondLst>
                                            <p:cond delay="1338"/>
                                          </p:stCondLst>
                                        </p:cTn>
                                        <p:tgtEl>
                                          <p:spTgt spid="69637"/>
                                        </p:tgtEl>
                                      </p:cBhvr>
                                      <p:to x="100000" y="100000"/>
                                    </p:animScale>
                                    <p:animScale>
                                      <p:cBhvr>
                                        <p:cTn id="17" dur="26">
                                          <p:stCondLst>
                                            <p:cond delay="1642"/>
                                          </p:stCondLst>
                                        </p:cTn>
                                        <p:tgtEl>
                                          <p:spTgt spid="69637"/>
                                        </p:tgtEl>
                                      </p:cBhvr>
                                      <p:to x="100000" y="90000"/>
                                    </p:animScale>
                                    <p:animScale>
                                      <p:cBhvr>
                                        <p:cTn id="18" dur="166" decel="50000">
                                          <p:stCondLst>
                                            <p:cond delay="1668"/>
                                          </p:stCondLst>
                                        </p:cTn>
                                        <p:tgtEl>
                                          <p:spTgt spid="69637"/>
                                        </p:tgtEl>
                                      </p:cBhvr>
                                      <p:to x="100000" y="100000"/>
                                    </p:animScale>
                                    <p:animScale>
                                      <p:cBhvr>
                                        <p:cTn id="19" dur="26">
                                          <p:stCondLst>
                                            <p:cond delay="1808"/>
                                          </p:stCondLst>
                                        </p:cTn>
                                        <p:tgtEl>
                                          <p:spTgt spid="69637"/>
                                        </p:tgtEl>
                                      </p:cBhvr>
                                      <p:to x="100000" y="95000"/>
                                    </p:animScale>
                                    <p:animScale>
                                      <p:cBhvr>
                                        <p:cTn id="20" dur="166" decel="50000">
                                          <p:stCondLst>
                                            <p:cond delay="1834"/>
                                          </p:stCondLst>
                                        </p:cTn>
                                        <p:tgtEl>
                                          <p:spTgt spid="6963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idx="4294967295"/>
          </p:nvPr>
        </p:nvSpPr>
        <p:spPr>
          <a:xfrm>
            <a:off x="1339403" y="379414"/>
            <a:ext cx="8804723" cy="1754187"/>
          </a:xfrm>
        </p:spPr>
        <p:txBody>
          <a:bodyPr/>
          <a:lstStyle/>
          <a:p>
            <a:pPr eaLnBrk="1" hangingPunct="1"/>
            <a:r>
              <a:rPr lang="en-US" sz="3200">
                <a:solidFill>
                  <a:schemeClr val="accent1">
                    <a:lumMod val="50000"/>
                  </a:schemeClr>
                </a:solidFill>
                <a:latin typeface="Candara" panose="020E0502030303020204" pitchFamily="34" charset="0"/>
              </a:rPr>
              <a:t>30. The rural people in the extension process are the _____. </a:t>
            </a:r>
          </a:p>
        </p:txBody>
      </p:sp>
      <p:sp>
        <p:nvSpPr>
          <p:cNvPr id="114691" name="Content Placeholder 2"/>
          <p:cNvSpPr>
            <a:spLocks noGrp="1"/>
          </p:cNvSpPr>
          <p:nvPr>
            <p:ph idx="4294967295"/>
          </p:nvPr>
        </p:nvSpPr>
        <p:spPr>
          <a:xfrm>
            <a:off x="1484059" y="2362200"/>
            <a:ext cx="8698168" cy="3962400"/>
          </a:xfrm>
        </p:spPr>
        <p:txBody>
          <a:bodyPr/>
          <a:lstStyle/>
          <a:p>
            <a:pPr eaLnBrk="1" hangingPunct="1">
              <a:buFontTx/>
              <a:buNone/>
            </a:pPr>
            <a:r>
              <a:rPr lang="en-US" sz="3200">
                <a:solidFill>
                  <a:schemeClr val="accent1">
                    <a:lumMod val="50000"/>
                  </a:schemeClr>
                </a:solidFill>
                <a:latin typeface="Candara" panose="020E0502030303020204" pitchFamily="34" charset="0"/>
              </a:rPr>
              <a:t>A. Resistance -clients</a:t>
            </a:r>
          </a:p>
          <a:p>
            <a:pPr eaLnBrk="1" hangingPunct="1">
              <a:buFontTx/>
              <a:buNone/>
            </a:pPr>
            <a:r>
              <a:rPr lang="en-US" sz="3200">
                <a:solidFill>
                  <a:schemeClr val="accent1">
                    <a:lumMod val="50000"/>
                  </a:schemeClr>
                </a:solidFill>
                <a:latin typeface="Candara" panose="020E0502030303020204" pitchFamily="34" charset="0"/>
              </a:rPr>
              <a:t>B. Learner- clients</a:t>
            </a:r>
          </a:p>
          <a:p>
            <a:pPr eaLnBrk="1" hangingPunct="1">
              <a:buFontTx/>
              <a:buNone/>
            </a:pPr>
            <a:r>
              <a:rPr lang="en-US" sz="3200">
                <a:solidFill>
                  <a:schemeClr val="accent1">
                    <a:lumMod val="50000"/>
                  </a:schemeClr>
                </a:solidFill>
                <a:latin typeface="Candara" panose="020E0502030303020204" pitchFamily="34" charset="0"/>
              </a:rPr>
              <a:t>C. Innovator- clients</a:t>
            </a:r>
          </a:p>
          <a:p>
            <a:pPr eaLnBrk="1" hangingPunct="1">
              <a:buFontTx/>
              <a:buNone/>
            </a:pPr>
            <a:r>
              <a:rPr lang="en-US" sz="3200">
                <a:solidFill>
                  <a:schemeClr val="accent1">
                    <a:lumMod val="50000"/>
                  </a:schemeClr>
                </a:solidFill>
                <a:latin typeface="Candara" panose="020E0502030303020204" pitchFamily="34" charset="0"/>
              </a:rPr>
              <a:t>D. None of the above</a:t>
            </a:r>
          </a:p>
        </p:txBody>
      </p:sp>
      <p:sp>
        <p:nvSpPr>
          <p:cNvPr id="70661" name="Text Box 5"/>
          <p:cNvSpPr txBox="1">
            <a:spLocks noChangeArrowheads="1"/>
          </p:cNvSpPr>
          <p:nvPr/>
        </p:nvSpPr>
        <p:spPr bwMode="auto">
          <a:xfrm>
            <a:off x="1464089" y="5257800"/>
            <a:ext cx="8883236"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1">
                    <a:lumMod val="50000"/>
                  </a:schemeClr>
                </a:solidFill>
                <a:latin typeface="Candara" panose="020E0502030303020204" pitchFamily="34" charset="0"/>
              </a:rPr>
              <a:t>B. Learner- clients</a:t>
            </a:r>
          </a:p>
        </p:txBody>
      </p:sp>
    </p:spTree>
    <p:extLst>
      <p:ext uri="{BB962C8B-B14F-4D97-AF65-F5344CB8AC3E}">
        <p14:creationId xmlns:p14="http://schemas.microsoft.com/office/powerpoint/2010/main" val="254429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0661"/>
                                        </p:tgtEl>
                                        <p:attrNameLst>
                                          <p:attrName>style.visibility</p:attrName>
                                        </p:attrNameLst>
                                      </p:cBhvr>
                                      <p:to>
                                        <p:strVal val="visible"/>
                                      </p:to>
                                    </p:set>
                                    <p:animEffect transition="in" filter="wipe(down)">
                                      <p:cBhvr>
                                        <p:cTn id="7" dur="580">
                                          <p:stCondLst>
                                            <p:cond delay="0"/>
                                          </p:stCondLst>
                                        </p:cTn>
                                        <p:tgtEl>
                                          <p:spTgt spid="70661"/>
                                        </p:tgtEl>
                                      </p:cBhvr>
                                    </p:animEffect>
                                    <p:anim calcmode="lin" valueType="num">
                                      <p:cBhvr>
                                        <p:cTn id="8" dur="1822" tmFilter="0,0; 0.14,0.36; 0.43,0.73; 0.71,0.91; 1.0,1.0">
                                          <p:stCondLst>
                                            <p:cond delay="0"/>
                                          </p:stCondLst>
                                        </p:cTn>
                                        <p:tgtEl>
                                          <p:spTgt spid="706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06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06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06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0661"/>
                                        </p:tgtEl>
                                        <p:attrNameLst>
                                          <p:attrName>ppt_y</p:attrName>
                                        </p:attrNameLst>
                                      </p:cBhvr>
                                      <p:tavLst>
                                        <p:tav tm="0" fmla="#ppt_y-sin(pi*$)/81">
                                          <p:val>
                                            <p:fltVal val="0"/>
                                          </p:val>
                                        </p:tav>
                                        <p:tav tm="100000">
                                          <p:val>
                                            <p:fltVal val="1"/>
                                          </p:val>
                                        </p:tav>
                                      </p:tavLst>
                                    </p:anim>
                                    <p:animScale>
                                      <p:cBhvr>
                                        <p:cTn id="13" dur="26">
                                          <p:stCondLst>
                                            <p:cond delay="650"/>
                                          </p:stCondLst>
                                        </p:cTn>
                                        <p:tgtEl>
                                          <p:spTgt spid="70661"/>
                                        </p:tgtEl>
                                      </p:cBhvr>
                                      <p:to x="100000" y="60000"/>
                                    </p:animScale>
                                    <p:animScale>
                                      <p:cBhvr>
                                        <p:cTn id="14" dur="166" decel="50000">
                                          <p:stCondLst>
                                            <p:cond delay="676"/>
                                          </p:stCondLst>
                                        </p:cTn>
                                        <p:tgtEl>
                                          <p:spTgt spid="70661"/>
                                        </p:tgtEl>
                                      </p:cBhvr>
                                      <p:to x="100000" y="100000"/>
                                    </p:animScale>
                                    <p:animScale>
                                      <p:cBhvr>
                                        <p:cTn id="15" dur="26">
                                          <p:stCondLst>
                                            <p:cond delay="1312"/>
                                          </p:stCondLst>
                                        </p:cTn>
                                        <p:tgtEl>
                                          <p:spTgt spid="70661"/>
                                        </p:tgtEl>
                                      </p:cBhvr>
                                      <p:to x="100000" y="80000"/>
                                    </p:animScale>
                                    <p:animScale>
                                      <p:cBhvr>
                                        <p:cTn id="16" dur="166" decel="50000">
                                          <p:stCondLst>
                                            <p:cond delay="1338"/>
                                          </p:stCondLst>
                                        </p:cTn>
                                        <p:tgtEl>
                                          <p:spTgt spid="70661"/>
                                        </p:tgtEl>
                                      </p:cBhvr>
                                      <p:to x="100000" y="100000"/>
                                    </p:animScale>
                                    <p:animScale>
                                      <p:cBhvr>
                                        <p:cTn id="17" dur="26">
                                          <p:stCondLst>
                                            <p:cond delay="1642"/>
                                          </p:stCondLst>
                                        </p:cTn>
                                        <p:tgtEl>
                                          <p:spTgt spid="70661"/>
                                        </p:tgtEl>
                                      </p:cBhvr>
                                      <p:to x="100000" y="90000"/>
                                    </p:animScale>
                                    <p:animScale>
                                      <p:cBhvr>
                                        <p:cTn id="18" dur="166" decel="50000">
                                          <p:stCondLst>
                                            <p:cond delay="1668"/>
                                          </p:stCondLst>
                                        </p:cTn>
                                        <p:tgtEl>
                                          <p:spTgt spid="70661"/>
                                        </p:tgtEl>
                                      </p:cBhvr>
                                      <p:to x="100000" y="100000"/>
                                    </p:animScale>
                                    <p:animScale>
                                      <p:cBhvr>
                                        <p:cTn id="19" dur="26">
                                          <p:stCondLst>
                                            <p:cond delay="1808"/>
                                          </p:stCondLst>
                                        </p:cTn>
                                        <p:tgtEl>
                                          <p:spTgt spid="70661"/>
                                        </p:tgtEl>
                                      </p:cBhvr>
                                      <p:to x="100000" y="95000"/>
                                    </p:animScale>
                                    <p:animScale>
                                      <p:cBhvr>
                                        <p:cTn id="20" dur="166" decel="50000">
                                          <p:stCondLst>
                                            <p:cond delay="1834"/>
                                          </p:stCondLst>
                                        </p:cTn>
                                        <p:tgtEl>
                                          <p:spTgt spid="706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itle 1"/>
          <p:cNvSpPr>
            <a:spLocks noGrp="1"/>
          </p:cNvSpPr>
          <p:nvPr>
            <p:ph type="title" idx="4294967295"/>
          </p:nvPr>
        </p:nvSpPr>
        <p:spPr>
          <a:xfrm>
            <a:off x="2514601" y="457200"/>
            <a:ext cx="7477125" cy="1143000"/>
          </a:xfrm>
        </p:spPr>
        <p:txBody>
          <a:bodyPr/>
          <a:lstStyle/>
          <a:p>
            <a:pPr eaLnBrk="1" hangingPunct="1"/>
            <a:r>
              <a:rPr lang="en-US" sz="3200">
                <a:solidFill>
                  <a:schemeClr val="accent2">
                    <a:lumMod val="50000"/>
                  </a:schemeClr>
                </a:solidFill>
                <a:latin typeface="Berlin Sans FB" panose="020E0602020502020306" pitchFamily="34" charset="0"/>
              </a:rPr>
              <a:t>42.The basic elements of diffusion theory are</a:t>
            </a:r>
          </a:p>
        </p:txBody>
      </p:sp>
      <p:sp>
        <p:nvSpPr>
          <p:cNvPr id="290819" name="Content Placeholder 3"/>
          <p:cNvSpPr>
            <a:spLocks noGrp="1"/>
          </p:cNvSpPr>
          <p:nvPr>
            <p:ph idx="4294967295"/>
          </p:nvPr>
        </p:nvSpPr>
        <p:spPr>
          <a:xfrm>
            <a:off x="2514600" y="18288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Innovation and enthusiasm</a:t>
            </a:r>
          </a:p>
          <a:p>
            <a:pPr eaLnBrk="1" hangingPunct="1">
              <a:buFontTx/>
              <a:buNone/>
            </a:pPr>
            <a:r>
              <a:rPr lang="en-US" sz="3200">
                <a:solidFill>
                  <a:schemeClr val="accent2">
                    <a:lumMod val="50000"/>
                  </a:schemeClr>
                </a:solidFill>
                <a:latin typeface="Berlin Sans FB" panose="020E0602020502020306" pitchFamily="34" charset="0"/>
              </a:rPr>
              <a:t>b. Creativity and openness</a:t>
            </a:r>
          </a:p>
          <a:p>
            <a:pPr eaLnBrk="1" hangingPunct="1">
              <a:buFontTx/>
              <a:buNone/>
            </a:pPr>
            <a:r>
              <a:rPr lang="en-US" sz="3200">
                <a:solidFill>
                  <a:schemeClr val="accent2">
                    <a:lumMod val="50000"/>
                  </a:schemeClr>
                </a:solidFill>
                <a:latin typeface="Berlin Sans FB" panose="020E0602020502020306" pitchFamily="34" charset="0"/>
              </a:rPr>
              <a:t>c. Innovation and communication</a:t>
            </a:r>
          </a:p>
          <a:p>
            <a:pPr eaLnBrk="1" hangingPunct="1">
              <a:buFontTx/>
              <a:buNone/>
            </a:pPr>
            <a:r>
              <a:rPr lang="en-US" sz="3200">
                <a:solidFill>
                  <a:schemeClr val="accent2">
                    <a:lumMod val="50000"/>
                  </a:schemeClr>
                </a:solidFill>
                <a:latin typeface="Berlin Sans FB" panose="020E0602020502020306" pitchFamily="34" charset="0"/>
              </a:rPr>
              <a:t>d. Empathy and sympathy</a:t>
            </a:r>
          </a:p>
        </p:txBody>
      </p:sp>
      <p:sp>
        <p:nvSpPr>
          <p:cNvPr id="123909" name="Text Box 5"/>
          <p:cNvSpPr txBox="1">
            <a:spLocks noChangeArrowheads="1"/>
          </p:cNvSpPr>
          <p:nvPr/>
        </p:nvSpPr>
        <p:spPr bwMode="auto">
          <a:xfrm>
            <a:off x="2667000" y="5257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C. Innovation and communication</a:t>
            </a:r>
          </a:p>
        </p:txBody>
      </p:sp>
    </p:spTree>
    <p:extLst>
      <p:ext uri="{BB962C8B-B14F-4D97-AF65-F5344CB8AC3E}">
        <p14:creationId xmlns:p14="http://schemas.microsoft.com/office/powerpoint/2010/main" val="2895270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3909"/>
                                        </p:tgtEl>
                                        <p:attrNameLst>
                                          <p:attrName>style.visibility</p:attrName>
                                        </p:attrNameLst>
                                      </p:cBhvr>
                                      <p:to>
                                        <p:strVal val="visible"/>
                                      </p:to>
                                    </p:set>
                                    <p:animEffect transition="in" filter="wipe(down)">
                                      <p:cBhvr>
                                        <p:cTn id="7" dur="580">
                                          <p:stCondLst>
                                            <p:cond delay="0"/>
                                          </p:stCondLst>
                                        </p:cTn>
                                        <p:tgtEl>
                                          <p:spTgt spid="123909"/>
                                        </p:tgtEl>
                                      </p:cBhvr>
                                    </p:animEffect>
                                    <p:anim calcmode="lin" valueType="num">
                                      <p:cBhvr>
                                        <p:cTn id="8" dur="1822" tmFilter="0,0; 0.14,0.36; 0.43,0.73; 0.71,0.91; 1.0,1.0">
                                          <p:stCondLst>
                                            <p:cond delay="0"/>
                                          </p:stCondLst>
                                        </p:cTn>
                                        <p:tgtEl>
                                          <p:spTgt spid="12390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390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390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390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3909"/>
                                        </p:tgtEl>
                                        <p:attrNameLst>
                                          <p:attrName>ppt_y</p:attrName>
                                        </p:attrNameLst>
                                      </p:cBhvr>
                                      <p:tavLst>
                                        <p:tav tm="0" fmla="#ppt_y-sin(pi*$)/81">
                                          <p:val>
                                            <p:fltVal val="0"/>
                                          </p:val>
                                        </p:tav>
                                        <p:tav tm="100000">
                                          <p:val>
                                            <p:fltVal val="1"/>
                                          </p:val>
                                        </p:tav>
                                      </p:tavLst>
                                    </p:anim>
                                    <p:animScale>
                                      <p:cBhvr>
                                        <p:cTn id="13" dur="26">
                                          <p:stCondLst>
                                            <p:cond delay="650"/>
                                          </p:stCondLst>
                                        </p:cTn>
                                        <p:tgtEl>
                                          <p:spTgt spid="123909"/>
                                        </p:tgtEl>
                                      </p:cBhvr>
                                      <p:to x="100000" y="60000"/>
                                    </p:animScale>
                                    <p:animScale>
                                      <p:cBhvr>
                                        <p:cTn id="14" dur="166" decel="50000">
                                          <p:stCondLst>
                                            <p:cond delay="676"/>
                                          </p:stCondLst>
                                        </p:cTn>
                                        <p:tgtEl>
                                          <p:spTgt spid="123909"/>
                                        </p:tgtEl>
                                      </p:cBhvr>
                                      <p:to x="100000" y="100000"/>
                                    </p:animScale>
                                    <p:animScale>
                                      <p:cBhvr>
                                        <p:cTn id="15" dur="26">
                                          <p:stCondLst>
                                            <p:cond delay="1312"/>
                                          </p:stCondLst>
                                        </p:cTn>
                                        <p:tgtEl>
                                          <p:spTgt spid="123909"/>
                                        </p:tgtEl>
                                      </p:cBhvr>
                                      <p:to x="100000" y="80000"/>
                                    </p:animScale>
                                    <p:animScale>
                                      <p:cBhvr>
                                        <p:cTn id="16" dur="166" decel="50000">
                                          <p:stCondLst>
                                            <p:cond delay="1338"/>
                                          </p:stCondLst>
                                        </p:cTn>
                                        <p:tgtEl>
                                          <p:spTgt spid="123909"/>
                                        </p:tgtEl>
                                      </p:cBhvr>
                                      <p:to x="100000" y="100000"/>
                                    </p:animScale>
                                    <p:animScale>
                                      <p:cBhvr>
                                        <p:cTn id="17" dur="26">
                                          <p:stCondLst>
                                            <p:cond delay="1642"/>
                                          </p:stCondLst>
                                        </p:cTn>
                                        <p:tgtEl>
                                          <p:spTgt spid="123909"/>
                                        </p:tgtEl>
                                      </p:cBhvr>
                                      <p:to x="100000" y="90000"/>
                                    </p:animScale>
                                    <p:animScale>
                                      <p:cBhvr>
                                        <p:cTn id="18" dur="166" decel="50000">
                                          <p:stCondLst>
                                            <p:cond delay="1668"/>
                                          </p:stCondLst>
                                        </p:cTn>
                                        <p:tgtEl>
                                          <p:spTgt spid="123909"/>
                                        </p:tgtEl>
                                      </p:cBhvr>
                                      <p:to x="100000" y="100000"/>
                                    </p:animScale>
                                    <p:animScale>
                                      <p:cBhvr>
                                        <p:cTn id="19" dur="26">
                                          <p:stCondLst>
                                            <p:cond delay="1808"/>
                                          </p:stCondLst>
                                        </p:cTn>
                                        <p:tgtEl>
                                          <p:spTgt spid="123909"/>
                                        </p:tgtEl>
                                      </p:cBhvr>
                                      <p:to x="100000" y="95000"/>
                                    </p:animScale>
                                    <p:animScale>
                                      <p:cBhvr>
                                        <p:cTn id="20" dur="166" decel="50000">
                                          <p:stCondLst>
                                            <p:cond delay="1834"/>
                                          </p:stCondLst>
                                        </p:cTn>
                                        <p:tgtEl>
                                          <p:spTgt spid="12390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9"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Title 1"/>
          <p:cNvSpPr>
            <a:spLocks noGrp="1"/>
          </p:cNvSpPr>
          <p:nvPr>
            <p:ph type="title" idx="4294967295"/>
          </p:nvPr>
        </p:nvSpPr>
        <p:spPr>
          <a:xfrm>
            <a:off x="2514601" y="381000"/>
            <a:ext cx="7477125" cy="1754188"/>
          </a:xfrm>
        </p:spPr>
        <p:txBody>
          <a:bodyPr/>
          <a:lstStyle/>
          <a:p>
            <a:pPr eaLnBrk="1" hangingPunct="1"/>
            <a:r>
              <a:rPr lang="en-US" sz="2800">
                <a:solidFill>
                  <a:schemeClr val="accent2">
                    <a:lumMod val="50000"/>
                  </a:schemeClr>
                </a:solidFill>
                <a:latin typeface="Berlin Sans FB" panose="020E0602020502020306" pitchFamily="34" charset="0"/>
              </a:rPr>
              <a:t>43. The first in the community to bring in or adopt a new idea or practice is called</a:t>
            </a:r>
          </a:p>
        </p:txBody>
      </p:sp>
      <p:sp>
        <p:nvSpPr>
          <p:cNvPr id="291843" name="Content Placeholder 2"/>
          <p:cNvSpPr>
            <a:spLocks noGrp="1"/>
          </p:cNvSpPr>
          <p:nvPr>
            <p:ph idx="4294967295"/>
          </p:nvPr>
        </p:nvSpPr>
        <p:spPr>
          <a:xfrm>
            <a:off x="2514600" y="2135188"/>
            <a:ext cx="7386638" cy="4114800"/>
          </a:xfrm>
        </p:spPr>
        <p:txBody>
          <a:bodyPr/>
          <a:lstStyle/>
          <a:p>
            <a:pPr eaLnBrk="1" hangingPunct="1">
              <a:buFontTx/>
              <a:buNone/>
            </a:pPr>
            <a:r>
              <a:rPr lang="en-US" sz="2800">
                <a:solidFill>
                  <a:schemeClr val="accent2">
                    <a:lumMod val="50000"/>
                  </a:schemeClr>
                </a:solidFill>
                <a:latin typeface="Berlin Sans FB" panose="020E0602020502020306" pitchFamily="34" charset="0"/>
              </a:rPr>
              <a:t>a. Late majority</a:t>
            </a:r>
          </a:p>
          <a:p>
            <a:pPr eaLnBrk="1" hangingPunct="1">
              <a:buFontTx/>
              <a:buNone/>
            </a:pPr>
            <a:r>
              <a:rPr lang="en-US" sz="2800">
                <a:solidFill>
                  <a:schemeClr val="accent2">
                    <a:lumMod val="50000"/>
                  </a:schemeClr>
                </a:solidFill>
                <a:latin typeface="Berlin Sans FB" panose="020E0602020502020306" pitchFamily="34" charset="0"/>
              </a:rPr>
              <a:t>b. Early majority</a:t>
            </a:r>
          </a:p>
          <a:p>
            <a:pPr eaLnBrk="1" hangingPunct="1">
              <a:buFontTx/>
              <a:buNone/>
            </a:pPr>
            <a:r>
              <a:rPr lang="en-US" sz="2800">
                <a:solidFill>
                  <a:schemeClr val="accent2">
                    <a:lumMod val="50000"/>
                  </a:schemeClr>
                </a:solidFill>
                <a:latin typeface="Berlin Sans FB" panose="020E0602020502020306" pitchFamily="34" charset="0"/>
              </a:rPr>
              <a:t>c. Innovator</a:t>
            </a:r>
          </a:p>
          <a:p>
            <a:pPr eaLnBrk="1" hangingPunct="1">
              <a:buFontTx/>
              <a:buNone/>
            </a:pPr>
            <a:r>
              <a:rPr lang="en-US" sz="2800">
                <a:solidFill>
                  <a:schemeClr val="accent2">
                    <a:lumMod val="50000"/>
                  </a:schemeClr>
                </a:solidFill>
                <a:latin typeface="Berlin Sans FB" panose="020E0602020502020306" pitchFamily="34" charset="0"/>
              </a:rPr>
              <a:t>d. Early adopter</a:t>
            </a:r>
          </a:p>
        </p:txBody>
      </p:sp>
      <p:sp>
        <p:nvSpPr>
          <p:cNvPr id="124933" name="Text Box 5"/>
          <p:cNvSpPr txBox="1">
            <a:spLocks noChangeArrowheads="1"/>
          </p:cNvSpPr>
          <p:nvPr/>
        </p:nvSpPr>
        <p:spPr bwMode="auto">
          <a:xfrm>
            <a:off x="2667000" y="5183189"/>
            <a:ext cx="754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800" b="1">
                <a:solidFill>
                  <a:schemeClr val="accent2">
                    <a:lumMod val="50000"/>
                  </a:schemeClr>
                </a:solidFill>
                <a:latin typeface="Berlin Sans FB" panose="020E0602020502020306" pitchFamily="34" charset="0"/>
              </a:rPr>
              <a:t>C. Innovator</a:t>
            </a:r>
          </a:p>
        </p:txBody>
      </p:sp>
    </p:spTree>
    <p:extLst>
      <p:ext uri="{BB962C8B-B14F-4D97-AF65-F5344CB8AC3E}">
        <p14:creationId xmlns:p14="http://schemas.microsoft.com/office/powerpoint/2010/main" val="3950782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4933"/>
                                        </p:tgtEl>
                                        <p:attrNameLst>
                                          <p:attrName>style.visibility</p:attrName>
                                        </p:attrNameLst>
                                      </p:cBhvr>
                                      <p:to>
                                        <p:strVal val="visible"/>
                                      </p:to>
                                    </p:set>
                                    <p:animEffect transition="in" filter="wipe(down)">
                                      <p:cBhvr>
                                        <p:cTn id="7" dur="580">
                                          <p:stCondLst>
                                            <p:cond delay="0"/>
                                          </p:stCondLst>
                                        </p:cTn>
                                        <p:tgtEl>
                                          <p:spTgt spid="124933"/>
                                        </p:tgtEl>
                                      </p:cBhvr>
                                    </p:animEffect>
                                    <p:anim calcmode="lin" valueType="num">
                                      <p:cBhvr>
                                        <p:cTn id="8" dur="1822" tmFilter="0,0; 0.14,0.36; 0.43,0.73; 0.71,0.91; 1.0,1.0">
                                          <p:stCondLst>
                                            <p:cond delay="0"/>
                                          </p:stCondLst>
                                        </p:cTn>
                                        <p:tgtEl>
                                          <p:spTgt spid="12493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493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493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493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4933"/>
                                        </p:tgtEl>
                                        <p:attrNameLst>
                                          <p:attrName>ppt_y</p:attrName>
                                        </p:attrNameLst>
                                      </p:cBhvr>
                                      <p:tavLst>
                                        <p:tav tm="0" fmla="#ppt_y-sin(pi*$)/81">
                                          <p:val>
                                            <p:fltVal val="0"/>
                                          </p:val>
                                        </p:tav>
                                        <p:tav tm="100000">
                                          <p:val>
                                            <p:fltVal val="1"/>
                                          </p:val>
                                        </p:tav>
                                      </p:tavLst>
                                    </p:anim>
                                    <p:animScale>
                                      <p:cBhvr>
                                        <p:cTn id="13" dur="26">
                                          <p:stCondLst>
                                            <p:cond delay="650"/>
                                          </p:stCondLst>
                                        </p:cTn>
                                        <p:tgtEl>
                                          <p:spTgt spid="124933"/>
                                        </p:tgtEl>
                                      </p:cBhvr>
                                      <p:to x="100000" y="60000"/>
                                    </p:animScale>
                                    <p:animScale>
                                      <p:cBhvr>
                                        <p:cTn id="14" dur="166" decel="50000">
                                          <p:stCondLst>
                                            <p:cond delay="676"/>
                                          </p:stCondLst>
                                        </p:cTn>
                                        <p:tgtEl>
                                          <p:spTgt spid="124933"/>
                                        </p:tgtEl>
                                      </p:cBhvr>
                                      <p:to x="100000" y="100000"/>
                                    </p:animScale>
                                    <p:animScale>
                                      <p:cBhvr>
                                        <p:cTn id="15" dur="26">
                                          <p:stCondLst>
                                            <p:cond delay="1312"/>
                                          </p:stCondLst>
                                        </p:cTn>
                                        <p:tgtEl>
                                          <p:spTgt spid="124933"/>
                                        </p:tgtEl>
                                      </p:cBhvr>
                                      <p:to x="100000" y="80000"/>
                                    </p:animScale>
                                    <p:animScale>
                                      <p:cBhvr>
                                        <p:cTn id="16" dur="166" decel="50000">
                                          <p:stCondLst>
                                            <p:cond delay="1338"/>
                                          </p:stCondLst>
                                        </p:cTn>
                                        <p:tgtEl>
                                          <p:spTgt spid="124933"/>
                                        </p:tgtEl>
                                      </p:cBhvr>
                                      <p:to x="100000" y="100000"/>
                                    </p:animScale>
                                    <p:animScale>
                                      <p:cBhvr>
                                        <p:cTn id="17" dur="26">
                                          <p:stCondLst>
                                            <p:cond delay="1642"/>
                                          </p:stCondLst>
                                        </p:cTn>
                                        <p:tgtEl>
                                          <p:spTgt spid="124933"/>
                                        </p:tgtEl>
                                      </p:cBhvr>
                                      <p:to x="100000" y="90000"/>
                                    </p:animScale>
                                    <p:animScale>
                                      <p:cBhvr>
                                        <p:cTn id="18" dur="166" decel="50000">
                                          <p:stCondLst>
                                            <p:cond delay="1668"/>
                                          </p:stCondLst>
                                        </p:cTn>
                                        <p:tgtEl>
                                          <p:spTgt spid="124933"/>
                                        </p:tgtEl>
                                      </p:cBhvr>
                                      <p:to x="100000" y="100000"/>
                                    </p:animScale>
                                    <p:animScale>
                                      <p:cBhvr>
                                        <p:cTn id="19" dur="26">
                                          <p:stCondLst>
                                            <p:cond delay="1808"/>
                                          </p:stCondLst>
                                        </p:cTn>
                                        <p:tgtEl>
                                          <p:spTgt spid="124933"/>
                                        </p:tgtEl>
                                      </p:cBhvr>
                                      <p:to x="100000" y="95000"/>
                                    </p:animScale>
                                    <p:animScale>
                                      <p:cBhvr>
                                        <p:cTn id="20" dur="166" decel="50000">
                                          <p:stCondLst>
                                            <p:cond delay="1834"/>
                                          </p:stCondLst>
                                        </p:cTn>
                                        <p:tgtEl>
                                          <p:spTgt spid="12493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Title 1"/>
          <p:cNvSpPr>
            <a:spLocks noGrp="1"/>
          </p:cNvSpPr>
          <p:nvPr>
            <p:ph type="title" idx="4294967295"/>
          </p:nvPr>
        </p:nvSpPr>
        <p:spPr>
          <a:xfrm>
            <a:off x="2133601" y="381000"/>
            <a:ext cx="7477125" cy="1143000"/>
          </a:xfrm>
        </p:spPr>
        <p:txBody>
          <a:bodyPr/>
          <a:lstStyle/>
          <a:p>
            <a:pPr eaLnBrk="1" hangingPunct="1"/>
            <a:r>
              <a:rPr lang="en-US" sz="4000">
                <a:solidFill>
                  <a:schemeClr val="accent2">
                    <a:lumMod val="50000"/>
                  </a:schemeClr>
                </a:solidFill>
                <a:latin typeface="Berlin Sans FB" panose="020E0602020502020306" pitchFamily="34" charset="0"/>
              </a:rPr>
              <a:t>44. Being conservative and risk average are characteristics of the</a:t>
            </a:r>
          </a:p>
        </p:txBody>
      </p:sp>
      <p:sp>
        <p:nvSpPr>
          <p:cNvPr id="292867" name="Content Placeholder 2"/>
          <p:cNvSpPr>
            <a:spLocks noGrp="1"/>
          </p:cNvSpPr>
          <p:nvPr>
            <p:ph idx="4294967295"/>
          </p:nvPr>
        </p:nvSpPr>
        <p:spPr>
          <a:xfrm>
            <a:off x="2133600" y="1752600"/>
            <a:ext cx="7386638" cy="4497388"/>
          </a:xfrm>
        </p:spPr>
        <p:txBody>
          <a:bodyPr/>
          <a:lstStyle/>
          <a:p>
            <a:pPr eaLnBrk="1" hangingPunct="1">
              <a:buFontTx/>
              <a:buAutoNum type="alphaLcPeriod"/>
            </a:pPr>
            <a:r>
              <a:rPr lang="en-US" sz="3600">
                <a:solidFill>
                  <a:schemeClr val="accent2">
                    <a:lumMod val="50000"/>
                  </a:schemeClr>
                </a:solidFill>
                <a:latin typeface="Berlin Sans FB" panose="020E0602020502020306" pitchFamily="34" charset="0"/>
              </a:rPr>
              <a:t>Late majority</a:t>
            </a:r>
          </a:p>
          <a:p>
            <a:pPr eaLnBrk="1" hangingPunct="1">
              <a:buFontTx/>
              <a:buAutoNum type="alphaLcPeriod"/>
            </a:pPr>
            <a:r>
              <a:rPr lang="en-US" sz="3600">
                <a:solidFill>
                  <a:schemeClr val="accent2">
                    <a:lumMod val="50000"/>
                  </a:schemeClr>
                </a:solidFill>
                <a:latin typeface="Berlin Sans FB" panose="020E0602020502020306" pitchFamily="34" charset="0"/>
              </a:rPr>
              <a:t>Early majority</a:t>
            </a:r>
          </a:p>
          <a:p>
            <a:pPr eaLnBrk="1" hangingPunct="1">
              <a:buFontTx/>
              <a:buAutoNum type="alphaLcPeriod"/>
            </a:pPr>
            <a:r>
              <a:rPr lang="en-US" sz="3600">
                <a:solidFill>
                  <a:schemeClr val="accent2">
                    <a:lumMod val="50000"/>
                  </a:schemeClr>
                </a:solidFill>
                <a:latin typeface="Berlin Sans FB" panose="020E0602020502020306" pitchFamily="34" charset="0"/>
              </a:rPr>
              <a:t>Late adopters</a:t>
            </a:r>
          </a:p>
          <a:p>
            <a:pPr eaLnBrk="1" hangingPunct="1">
              <a:buFontTx/>
              <a:buAutoNum type="alphaLcPeriod"/>
            </a:pPr>
            <a:r>
              <a:rPr lang="en-US" sz="3600">
                <a:solidFill>
                  <a:schemeClr val="accent2">
                    <a:lumMod val="50000"/>
                  </a:schemeClr>
                </a:solidFill>
                <a:latin typeface="Berlin Sans FB" panose="020E0602020502020306" pitchFamily="34" charset="0"/>
              </a:rPr>
              <a:t>innovators</a:t>
            </a:r>
          </a:p>
        </p:txBody>
      </p:sp>
      <p:sp>
        <p:nvSpPr>
          <p:cNvPr id="125958" name="Text Box 6"/>
          <p:cNvSpPr txBox="1">
            <a:spLocks noChangeArrowheads="1"/>
          </p:cNvSpPr>
          <p:nvPr/>
        </p:nvSpPr>
        <p:spPr bwMode="auto">
          <a:xfrm>
            <a:off x="2286000" y="51831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C. Late adopters</a:t>
            </a:r>
          </a:p>
        </p:txBody>
      </p:sp>
    </p:spTree>
    <p:extLst>
      <p:ext uri="{BB962C8B-B14F-4D97-AF65-F5344CB8AC3E}">
        <p14:creationId xmlns:p14="http://schemas.microsoft.com/office/powerpoint/2010/main" val="548129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5958"/>
                                        </p:tgtEl>
                                        <p:attrNameLst>
                                          <p:attrName>style.visibility</p:attrName>
                                        </p:attrNameLst>
                                      </p:cBhvr>
                                      <p:to>
                                        <p:strVal val="visible"/>
                                      </p:to>
                                    </p:set>
                                    <p:animEffect transition="in" filter="wipe(down)">
                                      <p:cBhvr>
                                        <p:cTn id="7" dur="580">
                                          <p:stCondLst>
                                            <p:cond delay="0"/>
                                          </p:stCondLst>
                                        </p:cTn>
                                        <p:tgtEl>
                                          <p:spTgt spid="125958"/>
                                        </p:tgtEl>
                                      </p:cBhvr>
                                    </p:animEffect>
                                    <p:anim calcmode="lin" valueType="num">
                                      <p:cBhvr>
                                        <p:cTn id="8" dur="1822" tmFilter="0,0; 0.14,0.36; 0.43,0.73; 0.71,0.91; 1.0,1.0">
                                          <p:stCondLst>
                                            <p:cond delay="0"/>
                                          </p:stCondLst>
                                        </p:cTn>
                                        <p:tgtEl>
                                          <p:spTgt spid="12595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595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595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595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5958"/>
                                        </p:tgtEl>
                                        <p:attrNameLst>
                                          <p:attrName>ppt_y</p:attrName>
                                        </p:attrNameLst>
                                      </p:cBhvr>
                                      <p:tavLst>
                                        <p:tav tm="0" fmla="#ppt_y-sin(pi*$)/81">
                                          <p:val>
                                            <p:fltVal val="0"/>
                                          </p:val>
                                        </p:tav>
                                        <p:tav tm="100000">
                                          <p:val>
                                            <p:fltVal val="1"/>
                                          </p:val>
                                        </p:tav>
                                      </p:tavLst>
                                    </p:anim>
                                    <p:animScale>
                                      <p:cBhvr>
                                        <p:cTn id="13" dur="26">
                                          <p:stCondLst>
                                            <p:cond delay="650"/>
                                          </p:stCondLst>
                                        </p:cTn>
                                        <p:tgtEl>
                                          <p:spTgt spid="125958"/>
                                        </p:tgtEl>
                                      </p:cBhvr>
                                      <p:to x="100000" y="60000"/>
                                    </p:animScale>
                                    <p:animScale>
                                      <p:cBhvr>
                                        <p:cTn id="14" dur="166" decel="50000">
                                          <p:stCondLst>
                                            <p:cond delay="676"/>
                                          </p:stCondLst>
                                        </p:cTn>
                                        <p:tgtEl>
                                          <p:spTgt spid="125958"/>
                                        </p:tgtEl>
                                      </p:cBhvr>
                                      <p:to x="100000" y="100000"/>
                                    </p:animScale>
                                    <p:animScale>
                                      <p:cBhvr>
                                        <p:cTn id="15" dur="26">
                                          <p:stCondLst>
                                            <p:cond delay="1312"/>
                                          </p:stCondLst>
                                        </p:cTn>
                                        <p:tgtEl>
                                          <p:spTgt spid="125958"/>
                                        </p:tgtEl>
                                      </p:cBhvr>
                                      <p:to x="100000" y="80000"/>
                                    </p:animScale>
                                    <p:animScale>
                                      <p:cBhvr>
                                        <p:cTn id="16" dur="166" decel="50000">
                                          <p:stCondLst>
                                            <p:cond delay="1338"/>
                                          </p:stCondLst>
                                        </p:cTn>
                                        <p:tgtEl>
                                          <p:spTgt spid="125958"/>
                                        </p:tgtEl>
                                      </p:cBhvr>
                                      <p:to x="100000" y="100000"/>
                                    </p:animScale>
                                    <p:animScale>
                                      <p:cBhvr>
                                        <p:cTn id="17" dur="26">
                                          <p:stCondLst>
                                            <p:cond delay="1642"/>
                                          </p:stCondLst>
                                        </p:cTn>
                                        <p:tgtEl>
                                          <p:spTgt spid="125958"/>
                                        </p:tgtEl>
                                      </p:cBhvr>
                                      <p:to x="100000" y="90000"/>
                                    </p:animScale>
                                    <p:animScale>
                                      <p:cBhvr>
                                        <p:cTn id="18" dur="166" decel="50000">
                                          <p:stCondLst>
                                            <p:cond delay="1668"/>
                                          </p:stCondLst>
                                        </p:cTn>
                                        <p:tgtEl>
                                          <p:spTgt spid="125958"/>
                                        </p:tgtEl>
                                      </p:cBhvr>
                                      <p:to x="100000" y="100000"/>
                                    </p:animScale>
                                    <p:animScale>
                                      <p:cBhvr>
                                        <p:cTn id="19" dur="26">
                                          <p:stCondLst>
                                            <p:cond delay="1808"/>
                                          </p:stCondLst>
                                        </p:cTn>
                                        <p:tgtEl>
                                          <p:spTgt spid="125958"/>
                                        </p:tgtEl>
                                      </p:cBhvr>
                                      <p:to x="100000" y="95000"/>
                                    </p:animScale>
                                    <p:animScale>
                                      <p:cBhvr>
                                        <p:cTn id="20" dur="166" decel="50000">
                                          <p:stCondLst>
                                            <p:cond delay="1834"/>
                                          </p:stCondLst>
                                        </p:cTn>
                                        <p:tgtEl>
                                          <p:spTgt spid="12595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8"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itle 1"/>
          <p:cNvSpPr>
            <a:spLocks noGrp="1"/>
          </p:cNvSpPr>
          <p:nvPr>
            <p:ph type="title" idx="4294967295"/>
          </p:nvPr>
        </p:nvSpPr>
        <p:spPr>
          <a:xfrm>
            <a:off x="2362201" y="381000"/>
            <a:ext cx="7477125" cy="1906588"/>
          </a:xfrm>
        </p:spPr>
        <p:txBody>
          <a:bodyPr/>
          <a:lstStyle/>
          <a:p>
            <a:pPr eaLnBrk="1" hangingPunct="1"/>
            <a:r>
              <a:rPr lang="en-US" sz="3200">
                <a:solidFill>
                  <a:schemeClr val="accent2">
                    <a:lumMod val="50000"/>
                  </a:schemeClr>
                </a:solidFill>
                <a:latin typeface="Berlin Sans FB" panose="020E0602020502020306" pitchFamily="34" charset="0"/>
              </a:rPr>
              <a:t>45. In the diffusion-adoption process, the person is attracted to the technology and seeks more information about it in the ____</a:t>
            </a:r>
          </a:p>
        </p:txBody>
      </p:sp>
      <p:sp>
        <p:nvSpPr>
          <p:cNvPr id="293891" name="Content Placeholder 2"/>
          <p:cNvSpPr>
            <a:spLocks noGrp="1"/>
          </p:cNvSpPr>
          <p:nvPr>
            <p:ph idx="4294967295"/>
          </p:nvPr>
        </p:nvSpPr>
        <p:spPr>
          <a:xfrm>
            <a:off x="2362200" y="2439988"/>
            <a:ext cx="7386638" cy="3810000"/>
          </a:xfrm>
        </p:spPr>
        <p:txBody>
          <a:bodyPr/>
          <a:lstStyle/>
          <a:p>
            <a:pPr eaLnBrk="1" hangingPunct="1">
              <a:buFontTx/>
              <a:buNone/>
            </a:pPr>
            <a:r>
              <a:rPr lang="en-US" sz="3200">
                <a:solidFill>
                  <a:schemeClr val="accent2">
                    <a:lumMod val="50000"/>
                  </a:schemeClr>
                </a:solidFill>
                <a:latin typeface="Berlin Sans FB" panose="020E0602020502020306" pitchFamily="34" charset="0"/>
              </a:rPr>
              <a:t>a. Awareness stage </a:t>
            </a:r>
          </a:p>
          <a:p>
            <a:pPr eaLnBrk="1" hangingPunct="1">
              <a:buFontTx/>
              <a:buNone/>
            </a:pPr>
            <a:r>
              <a:rPr lang="en-US" sz="3200">
                <a:solidFill>
                  <a:schemeClr val="accent2">
                    <a:lumMod val="50000"/>
                  </a:schemeClr>
                </a:solidFill>
                <a:latin typeface="Berlin Sans FB" panose="020E0602020502020306" pitchFamily="34" charset="0"/>
              </a:rPr>
              <a:t>b. Interest stage</a:t>
            </a:r>
          </a:p>
          <a:p>
            <a:pPr eaLnBrk="1" hangingPunct="1">
              <a:buFontTx/>
              <a:buNone/>
            </a:pPr>
            <a:r>
              <a:rPr lang="en-US" sz="3200">
                <a:solidFill>
                  <a:schemeClr val="accent2">
                    <a:lumMod val="50000"/>
                  </a:schemeClr>
                </a:solidFill>
                <a:latin typeface="Berlin Sans FB" panose="020E0602020502020306" pitchFamily="34" charset="0"/>
              </a:rPr>
              <a:t>c. Evaluation stage</a:t>
            </a:r>
          </a:p>
          <a:p>
            <a:pPr eaLnBrk="1" hangingPunct="1">
              <a:buFontTx/>
              <a:buNone/>
            </a:pPr>
            <a:r>
              <a:rPr lang="en-US" sz="3200">
                <a:solidFill>
                  <a:schemeClr val="accent2">
                    <a:lumMod val="50000"/>
                  </a:schemeClr>
                </a:solidFill>
                <a:latin typeface="Berlin Sans FB" panose="020E0602020502020306" pitchFamily="34" charset="0"/>
              </a:rPr>
              <a:t>d. Trial stage</a:t>
            </a:r>
          </a:p>
        </p:txBody>
      </p:sp>
      <p:sp>
        <p:nvSpPr>
          <p:cNvPr id="126981" name="Text Box 5"/>
          <p:cNvSpPr txBox="1">
            <a:spLocks noChangeArrowheads="1"/>
          </p:cNvSpPr>
          <p:nvPr/>
        </p:nvSpPr>
        <p:spPr bwMode="auto">
          <a:xfrm>
            <a:off x="2514600" y="5183189"/>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B. Interest stage</a:t>
            </a:r>
          </a:p>
        </p:txBody>
      </p:sp>
    </p:spTree>
    <p:extLst>
      <p:ext uri="{BB962C8B-B14F-4D97-AF65-F5344CB8AC3E}">
        <p14:creationId xmlns:p14="http://schemas.microsoft.com/office/powerpoint/2010/main" val="29939740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6981"/>
                                        </p:tgtEl>
                                        <p:attrNameLst>
                                          <p:attrName>style.visibility</p:attrName>
                                        </p:attrNameLst>
                                      </p:cBhvr>
                                      <p:to>
                                        <p:strVal val="visible"/>
                                      </p:to>
                                    </p:set>
                                    <p:animEffect transition="in" filter="wipe(down)">
                                      <p:cBhvr>
                                        <p:cTn id="7" dur="580">
                                          <p:stCondLst>
                                            <p:cond delay="0"/>
                                          </p:stCondLst>
                                        </p:cTn>
                                        <p:tgtEl>
                                          <p:spTgt spid="126981"/>
                                        </p:tgtEl>
                                      </p:cBhvr>
                                    </p:animEffect>
                                    <p:anim calcmode="lin" valueType="num">
                                      <p:cBhvr>
                                        <p:cTn id="8" dur="1822" tmFilter="0,0; 0.14,0.36; 0.43,0.73; 0.71,0.91; 1.0,1.0">
                                          <p:stCondLst>
                                            <p:cond delay="0"/>
                                          </p:stCondLst>
                                        </p:cTn>
                                        <p:tgtEl>
                                          <p:spTgt spid="12698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698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698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698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6981"/>
                                        </p:tgtEl>
                                        <p:attrNameLst>
                                          <p:attrName>ppt_y</p:attrName>
                                        </p:attrNameLst>
                                      </p:cBhvr>
                                      <p:tavLst>
                                        <p:tav tm="0" fmla="#ppt_y-sin(pi*$)/81">
                                          <p:val>
                                            <p:fltVal val="0"/>
                                          </p:val>
                                        </p:tav>
                                        <p:tav tm="100000">
                                          <p:val>
                                            <p:fltVal val="1"/>
                                          </p:val>
                                        </p:tav>
                                      </p:tavLst>
                                    </p:anim>
                                    <p:animScale>
                                      <p:cBhvr>
                                        <p:cTn id="13" dur="26">
                                          <p:stCondLst>
                                            <p:cond delay="650"/>
                                          </p:stCondLst>
                                        </p:cTn>
                                        <p:tgtEl>
                                          <p:spTgt spid="126981"/>
                                        </p:tgtEl>
                                      </p:cBhvr>
                                      <p:to x="100000" y="60000"/>
                                    </p:animScale>
                                    <p:animScale>
                                      <p:cBhvr>
                                        <p:cTn id="14" dur="166" decel="50000">
                                          <p:stCondLst>
                                            <p:cond delay="676"/>
                                          </p:stCondLst>
                                        </p:cTn>
                                        <p:tgtEl>
                                          <p:spTgt spid="126981"/>
                                        </p:tgtEl>
                                      </p:cBhvr>
                                      <p:to x="100000" y="100000"/>
                                    </p:animScale>
                                    <p:animScale>
                                      <p:cBhvr>
                                        <p:cTn id="15" dur="26">
                                          <p:stCondLst>
                                            <p:cond delay="1312"/>
                                          </p:stCondLst>
                                        </p:cTn>
                                        <p:tgtEl>
                                          <p:spTgt spid="126981"/>
                                        </p:tgtEl>
                                      </p:cBhvr>
                                      <p:to x="100000" y="80000"/>
                                    </p:animScale>
                                    <p:animScale>
                                      <p:cBhvr>
                                        <p:cTn id="16" dur="166" decel="50000">
                                          <p:stCondLst>
                                            <p:cond delay="1338"/>
                                          </p:stCondLst>
                                        </p:cTn>
                                        <p:tgtEl>
                                          <p:spTgt spid="126981"/>
                                        </p:tgtEl>
                                      </p:cBhvr>
                                      <p:to x="100000" y="100000"/>
                                    </p:animScale>
                                    <p:animScale>
                                      <p:cBhvr>
                                        <p:cTn id="17" dur="26">
                                          <p:stCondLst>
                                            <p:cond delay="1642"/>
                                          </p:stCondLst>
                                        </p:cTn>
                                        <p:tgtEl>
                                          <p:spTgt spid="126981"/>
                                        </p:tgtEl>
                                      </p:cBhvr>
                                      <p:to x="100000" y="90000"/>
                                    </p:animScale>
                                    <p:animScale>
                                      <p:cBhvr>
                                        <p:cTn id="18" dur="166" decel="50000">
                                          <p:stCondLst>
                                            <p:cond delay="1668"/>
                                          </p:stCondLst>
                                        </p:cTn>
                                        <p:tgtEl>
                                          <p:spTgt spid="126981"/>
                                        </p:tgtEl>
                                      </p:cBhvr>
                                      <p:to x="100000" y="100000"/>
                                    </p:animScale>
                                    <p:animScale>
                                      <p:cBhvr>
                                        <p:cTn id="19" dur="26">
                                          <p:stCondLst>
                                            <p:cond delay="1808"/>
                                          </p:stCondLst>
                                        </p:cTn>
                                        <p:tgtEl>
                                          <p:spTgt spid="126981"/>
                                        </p:tgtEl>
                                      </p:cBhvr>
                                      <p:to x="100000" y="95000"/>
                                    </p:animScale>
                                    <p:animScale>
                                      <p:cBhvr>
                                        <p:cTn id="20" dur="166" decel="50000">
                                          <p:stCondLst>
                                            <p:cond delay="1834"/>
                                          </p:stCondLst>
                                        </p:cTn>
                                        <p:tgtEl>
                                          <p:spTgt spid="12698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Title 1"/>
          <p:cNvSpPr>
            <a:spLocks noGrp="1"/>
          </p:cNvSpPr>
          <p:nvPr>
            <p:ph type="title" idx="4294967295"/>
          </p:nvPr>
        </p:nvSpPr>
        <p:spPr>
          <a:xfrm>
            <a:off x="2286001" y="533400"/>
            <a:ext cx="7477125" cy="1143000"/>
          </a:xfrm>
        </p:spPr>
        <p:txBody>
          <a:bodyPr/>
          <a:lstStyle/>
          <a:p>
            <a:pPr eaLnBrk="1" hangingPunct="1"/>
            <a:r>
              <a:rPr lang="en-US" sz="2400">
                <a:solidFill>
                  <a:schemeClr val="accent2">
                    <a:lumMod val="50000"/>
                  </a:schemeClr>
                </a:solidFill>
                <a:latin typeface="Berlin Sans FB" panose="020E0602020502020306" pitchFamily="34" charset="0"/>
              </a:rPr>
              <a:t>46. The adoption stage is characterized by:</a:t>
            </a:r>
          </a:p>
        </p:txBody>
      </p:sp>
      <p:sp>
        <p:nvSpPr>
          <p:cNvPr id="3" name="Content Placeholder 2"/>
          <p:cNvSpPr>
            <a:spLocks noGrp="1"/>
          </p:cNvSpPr>
          <p:nvPr>
            <p:ph idx="4294967295"/>
          </p:nvPr>
        </p:nvSpPr>
        <p:spPr>
          <a:xfrm>
            <a:off x="2286001" y="1253698"/>
            <a:ext cx="7386638" cy="2597085"/>
          </a:xfrm>
        </p:spPr>
        <p:txBody>
          <a:bodyPr/>
          <a:lstStyle/>
          <a:p>
            <a:pPr eaLnBrk="1" hangingPunct="1">
              <a:buFontTx/>
              <a:buAutoNum type="alphaLcPeriod"/>
            </a:pPr>
            <a:r>
              <a:rPr lang="en-US" sz="2400" dirty="0">
                <a:solidFill>
                  <a:schemeClr val="accent2">
                    <a:lumMod val="50000"/>
                  </a:schemeClr>
                </a:solidFill>
                <a:latin typeface="Berlin Sans FB" panose="020E0602020502020306" pitchFamily="34" charset="0"/>
              </a:rPr>
              <a:t>Seeking more information about the technology</a:t>
            </a:r>
          </a:p>
          <a:p>
            <a:pPr eaLnBrk="1" hangingPunct="1">
              <a:buFontTx/>
              <a:buAutoNum type="alphaLcPeriod"/>
            </a:pPr>
            <a:r>
              <a:rPr lang="en-US" sz="2400" dirty="0">
                <a:solidFill>
                  <a:schemeClr val="accent2">
                    <a:lumMod val="50000"/>
                  </a:schemeClr>
                </a:solidFill>
                <a:latin typeface="Berlin Sans FB" panose="020E0602020502020306" pitchFamily="34" charset="0"/>
              </a:rPr>
              <a:t>Obtaining information materials about a technology</a:t>
            </a:r>
          </a:p>
          <a:p>
            <a:pPr eaLnBrk="1" hangingPunct="1">
              <a:buFontTx/>
              <a:buAutoNum type="alphaLcPeriod"/>
            </a:pPr>
            <a:r>
              <a:rPr lang="en-US" sz="2400" dirty="0">
                <a:solidFill>
                  <a:schemeClr val="accent2">
                    <a:lumMod val="50000"/>
                  </a:schemeClr>
                </a:solidFill>
                <a:latin typeface="Berlin Sans FB" panose="020E0602020502020306" pitchFamily="34" charset="0"/>
              </a:rPr>
              <a:t>Experimenting on the technology in a small scale</a:t>
            </a:r>
          </a:p>
          <a:p>
            <a:pPr eaLnBrk="1" hangingPunct="1">
              <a:buFontTx/>
              <a:buAutoNum type="alphaLcPeriod"/>
            </a:pPr>
            <a:r>
              <a:rPr lang="en-US" sz="2400" dirty="0">
                <a:solidFill>
                  <a:schemeClr val="accent2">
                    <a:lumMod val="50000"/>
                  </a:schemeClr>
                </a:solidFill>
                <a:latin typeface="Berlin Sans FB" panose="020E0602020502020306" pitchFamily="34" charset="0"/>
              </a:rPr>
              <a:t>Using the technology continuously in a large scale</a:t>
            </a:r>
          </a:p>
        </p:txBody>
      </p:sp>
      <p:sp>
        <p:nvSpPr>
          <p:cNvPr id="245764" name="Text Box 4"/>
          <p:cNvSpPr txBox="1">
            <a:spLocks noChangeArrowheads="1"/>
          </p:cNvSpPr>
          <p:nvPr/>
        </p:nvSpPr>
        <p:spPr bwMode="auto">
          <a:xfrm>
            <a:off x="2399764" y="4253763"/>
            <a:ext cx="7543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400" b="1" dirty="0">
                <a:solidFill>
                  <a:schemeClr val="accent2">
                    <a:lumMod val="50000"/>
                  </a:schemeClr>
                </a:solidFill>
                <a:latin typeface="Berlin Sans FB" panose="020E0602020502020306" pitchFamily="34" charset="0"/>
              </a:rPr>
              <a:t>D. Using the technology continuously in a large scale</a:t>
            </a:r>
          </a:p>
        </p:txBody>
      </p:sp>
    </p:spTree>
    <p:extLst>
      <p:ext uri="{BB962C8B-B14F-4D97-AF65-F5344CB8AC3E}">
        <p14:creationId xmlns:p14="http://schemas.microsoft.com/office/powerpoint/2010/main" val="585741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3" end="3"/>
                                            </p:txEl>
                                          </p:spTgt>
                                        </p:tgtEl>
                                        <p:attrNameLst>
                                          <p:attrName>style.fontStyle</p:attrName>
                                        </p:attrNameLst>
                                      </p:cBhvr>
                                      <p:to>
                                        <p:strVal val="normal"/>
                                      </p:to>
                                    </p:set>
                                    <p:set>
                                      <p:cBhvr override="childStyle">
                                        <p:cTn id="7" dur="indefinite"/>
                                        <p:tgtEl>
                                          <p:spTgt spid="3">
                                            <p:txEl>
                                              <p:pRg st="3" end="3"/>
                                            </p:txEl>
                                          </p:spTgt>
                                        </p:tgtEl>
                                        <p:attrNameLst>
                                          <p:attrName>style.fontWeight</p:attrName>
                                        </p:attrNameLst>
                                      </p:cBhvr>
                                      <p:to>
                                        <p:strVal val="bold"/>
                                      </p:to>
                                    </p:set>
                                    <p:set>
                                      <p:cBhvr override="childStyle">
                                        <p:cTn id="8" dur="indefinite"/>
                                        <p:tgtEl>
                                          <p:spTgt spid="3">
                                            <p:txEl>
                                              <p:pRg st="3" end="3"/>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45764"/>
                                        </p:tgtEl>
                                        <p:attrNameLst>
                                          <p:attrName>style.visibility</p:attrName>
                                        </p:attrNameLst>
                                      </p:cBhvr>
                                      <p:to>
                                        <p:strVal val="visible"/>
                                      </p:to>
                                    </p:set>
                                    <p:animEffect transition="in" filter="wipe(down)">
                                      <p:cBhvr>
                                        <p:cTn id="13" dur="580">
                                          <p:stCondLst>
                                            <p:cond delay="0"/>
                                          </p:stCondLst>
                                        </p:cTn>
                                        <p:tgtEl>
                                          <p:spTgt spid="245764"/>
                                        </p:tgtEl>
                                      </p:cBhvr>
                                    </p:animEffect>
                                    <p:anim calcmode="lin" valueType="num">
                                      <p:cBhvr>
                                        <p:cTn id="14" dur="1822" tmFilter="0,0; 0.14,0.36; 0.43,0.73; 0.71,0.91; 1.0,1.0">
                                          <p:stCondLst>
                                            <p:cond delay="0"/>
                                          </p:stCondLst>
                                        </p:cTn>
                                        <p:tgtEl>
                                          <p:spTgt spid="24576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4576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4576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4576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45764"/>
                                        </p:tgtEl>
                                        <p:attrNameLst>
                                          <p:attrName>ppt_y</p:attrName>
                                        </p:attrNameLst>
                                      </p:cBhvr>
                                      <p:tavLst>
                                        <p:tav tm="0" fmla="#ppt_y-sin(pi*$)/81">
                                          <p:val>
                                            <p:fltVal val="0"/>
                                          </p:val>
                                        </p:tav>
                                        <p:tav tm="100000">
                                          <p:val>
                                            <p:fltVal val="1"/>
                                          </p:val>
                                        </p:tav>
                                      </p:tavLst>
                                    </p:anim>
                                    <p:animScale>
                                      <p:cBhvr>
                                        <p:cTn id="19" dur="26">
                                          <p:stCondLst>
                                            <p:cond delay="650"/>
                                          </p:stCondLst>
                                        </p:cTn>
                                        <p:tgtEl>
                                          <p:spTgt spid="245764"/>
                                        </p:tgtEl>
                                      </p:cBhvr>
                                      <p:to x="100000" y="60000"/>
                                    </p:animScale>
                                    <p:animScale>
                                      <p:cBhvr>
                                        <p:cTn id="20" dur="166" decel="50000">
                                          <p:stCondLst>
                                            <p:cond delay="676"/>
                                          </p:stCondLst>
                                        </p:cTn>
                                        <p:tgtEl>
                                          <p:spTgt spid="245764"/>
                                        </p:tgtEl>
                                      </p:cBhvr>
                                      <p:to x="100000" y="100000"/>
                                    </p:animScale>
                                    <p:animScale>
                                      <p:cBhvr>
                                        <p:cTn id="21" dur="26">
                                          <p:stCondLst>
                                            <p:cond delay="1312"/>
                                          </p:stCondLst>
                                        </p:cTn>
                                        <p:tgtEl>
                                          <p:spTgt spid="245764"/>
                                        </p:tgtEl>
                                      </p:cBhvr>
                                      <p:to x="100000" y="80000"/>
                                    </p:animScale>
                                    <p:animScale>
                                      <p:cBhvr>
                                        <p:cTn id="22" dur="166" decel="50000">
                                          <p:stCondLst>
                                            <p:cond delay="1338"/>
                                          </p:stCondLst>
                                        </p:cTn>
                                        <p:tgtEl>
                                          <p:spTgt spid="245764"/>
                                        </p:tgtEl>
                                      </p:cBhvr>
                                      <p:to x="100000" y="100000"/>
                                    </p:animScale>
                                    <p:animScale>
                                      <p:cBhvr>
                                        <p:cTn id="23" dur="26">
                                          <p:stCondLst>
                                            <p:cond delay="1642"/>
                                          </p:stCondLst>
                                        </p:cTn>
                                        <p:tgtEl>
                                          <p:spTgt spid="245764"/>
                                        </p:tgtEl>
                                      </p:cBhvr>
                                      <p:to x="100000" y="90000"/>
                                    </p:animScale>
                                    <p:animScale>
                                      <p:cBhvr>
                                        <p:cTn id="24" dur="166" decel="50000">
                                          <p:stCondLst>
                                            <p:cond delay="1668"/>
                                          </p:stCondLst>
                                        </p:cTn>
                                        <p:tgtEl>
                                          <p:spTgt spid="245764"/>
                                        </p:tgtEl>
                                      </p:cBhvr>
                                      <p:to x="100000" y="100000"/>
                                    </p:animScale>
                                    <p:animScale>
                                      <p:cBhvr>
                                        <p:cTn id="25" dur="26">
                                          <p:stCondLst>
                                            <p:cond delay="1808"/>
                                          </p:stCondLst>
                                        </p:cTn>
                                        <p:tgtEl>
                                          <p:spTgt spid="245764"/>
                                        </p:tgtEl>
                                      </p:cBhvr>
                                      <p:to x="100000" y="95000"/>
                                    </p:animScale>
                                    <p:animScale>
                                      <p:cBhvr>
                                        <p:cTn id="26" dur="166" decel="50000">
                                          <p:stCondLst>
                                            <p:cond delay="1834"/>
                                          </p:stCondLst>
                                        </p:cTn>
                                        <p:tgtEl>
                                          <p:spTgt spid="24576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4"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itle 1"/>
          <p:cNvSpPr>
            <a:spLocks noGrp="1"/>
          </p:cNvSpPr>
          <p:nvPr>
            <p:ph type="title" idx="4294967295"/>
          </p:nvPr>
        </p:nvSpPr>
        <p:spPr>
          <a:xfrm>
            <a:off x="2362201" y="381000"/>
            <a:ext cx="7477125" cy="1754188"/>
          </a:xfrm>
        </p:spPr>
        <p:txBody>
          <a:bodyPr/>
          <a:lstStyle/>
          <a:p>
            <a:pPr eaLnBrk="1" hangingPunct="1"/>
            <a:r>
              <a:rPr lang="en-US" sz="3200">
                <a:solidFill>
                  <a:schemeClr val="accent2">
                    <a:lumMod val="50000"/>
                  </a:schemeClr>
                </a:solidFill>
                <a:latin typeface="Berlin Sans FB" panose="020E0602020502020306" pitchFamily="34" charset="0"/>
              </a:rPr>
              <a:t>47.The body of tools, machines, materials, techniques and processes used to produce goods and services are known as</a:t>
            </a:r>
          </a:p>
        </p:txBody>
      </p:sp>
      <p:sp>
        <p:nvSpPr>
          <p:cNvPr id="295939" name="Content Placeholder 2"/>
          <p:cNvSpPr>
            <a:spLocks noGrp="1"/>
          </p:cNvSpPr>
          <p:nvPr>
            <p:ph idx="4294967295"/>
          </p:nvPr>
        </p:nvSpPr>
        <p:spPr>
          <a:xfrm>
            <a:off x="2362200" y="2363788"/>
            <a:ext cx="7386638" cy="3886200"/>
          </a:xfrm>
        </p:spPr>
        <p:txBody>
          <a:bodyPr/>
          <a:lstStyle/>
          <a:p>
            <a:pPr eaLnBrk="1" hangingPunct="1">
              <a:buFontTx/>
              <a:buNone/>
            </a:pPr>
            <a:r>
              <a:rPr lang="en-US" sz="2800">
                <a:solidFill>
                  <a:schemeClr val="accent2">
                    <a:lumMod val="50000"/>
                  </a:schemeClr>
                </a:solidFill>
                <a:latin typeface="Berlin Sans FB" panose="020E0602020502020306" pitchFamily="34" charset="0"/>
              </a:rPr>
              <a:t>a. Method</a:t>
            </a:r>
          </a:p>
          <a:p>
            <a:pPr eaLnBrk="1" hangingPunct="1">
              <a:buFontTx/>
              <a:buNone/>
            </a:pPr>
            <a:r>
              <a:rPr lang="en-US" sz="2800">
                <a:solidFill>
                  <a:schemeClr val="accent2">
                    <a:lumMod val="50000"/>
                  </a:schemeClr>
                </a:solidFill>
                <a:latin typeface="Berlin Sans FB" panose="020E0602020502020306" pitchFamily="34" charset="0"/>
              </a:rPr>
              <a:t>b. Procedure</a:t>
            </a:r>
          </a:p>
          <a:p>
            <a:pPr eaLnBrk="1" hangingPunct="1">
              <a:buFontTx/>
              <a:buNone/>
            </a:pPr>
            <a:r>
              <a:rPr lang="en-US" sz="2800">
                <a:solidFill>
                  <a:schemeClr val="accent2">
                    <a:lumMod val="50000"/>
                  </a:schemeClr>
                </a:solidFill>
                <a:latin typeface="Berlin Sans FB" panose="020E0602020502020306" pitchFamily="34" charset="0"/>
              </a:rPr>
              <a:t>c. Technology</a:t>
            </a:r>
          </a:p>
          <a:p>
            <a:pPr eaLnBrk="1" hangingPunct="1">
              <a:buFontTx/>
              <a:buNone/>
            </a:pPr>
            <a:r>
              <a:rPr lang="en-US" sz="2800">
                <a:solidFill>
                  <a:schemeClr val="accent2">
                    <a:lumMod val="50000"/>
                  </a:schemeClr>
                </a:solidFill>
                <a:latin typeface="Berlin Sans FB" panose="020E0602020502020306" pitchFamily="34" charset="0"/>
              </a:rPr>
              <a:t>d. Research breakthrough</a:t>
            </a:r>
          </a:p>
        </p:txBody>
      </p:sp>
      <p:sp>
        <p:nvSpPr>
          <p:cNvPr id="129029" name="Text Box 5"/>
          <p:cNvSpPr txBox="1">
            <a:spLocks noChangeArrowheads="1"/>
          </p:cNvSpPr>
          <p:nvPr/>
        </p:nvSpPr>
        <p:spPr bwMode="auto">
          <a:xfrm>
            <a:off x="2514600" y="5183189"/>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C. Technology</a:t>
            </a:r>
          </a:p>
        </p:txBody>
      </p:sp>
    </p:spTree>
    <p:extLst>
      <p:ext uri="{BB962C8B-B14F-4D97-AF65-F5344CB8AC3E}">
        <p14:creationId xmlns:p14="http://schemas.microsoft.com/office/powerpoint/2010/main" val="1643652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wipe(down)">
                                      <p:cBhvr>
                                        <p:cTn id="7" dur="580">
                                          <p:stCondLst>
                                            <p:cond delay="0"/>
                                          </p:stCondLst>
                                        </p:cTn>
                                        <p:tgtEl>
                                          <p:spTgt spid="129029"/>
                                        </p:tgtEl>
                                      </p:cBhvr>
                                    </p:animEffect>
                                    <p:anim calcmode="lin" valueType="num">
                                      <p:cBhvr>
                                        <p:cTn id="8" dur="1822" tmFilter="0,0; 0.14,0.36; 0.43,0.73; 0.71,0.91; 1.0,1.0">
                                          <p:stCondLst>
                                            <p:cond delay="0"/>
                                          </p:stCondLst>
                                        </p:cTn>
                                        <p:tgtEl>
                                          <p:spTgt spid="1290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90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90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90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9029"/>
                                        </p:tgtEl>
                                        <p:attrNameLst>
                                          <p:attrName>ppt_y</p:attrName>
                                        </p:attrNameLst>
                                      </p:cBhvr>
                                      <p:tavLst>
                                        <p:tav tm="0" fmla="#ppt_y-sin(pi*$)/81">
                                          <p:val>
                                            <p:fltVal val="0"/>
                                          </p:val>
                                        </p:tav>
                                        <p:tav tm="100000">
                                          <p:val>
                                            <p:fltVal val="1"/>
                                          </p:val>
                                        </p:tav>
                                      </p:tavLst>
                                    </p:anim>
                                    <p:animScale>
                                      <p:cBhvr>
                                        <p:cTn id="13" dur="26">
                                          <p:stCondLst>
                                            <p:cond delay="650"/>
                                          </p:stCondLst>
                                        </p:cTn>
                                        <p:tgtEl>
                                          <p:spTgt spid="129029"/>
                                        </p:tgtEl>
                                      </p:cBhvr>
                                      <p:to x="100000" y="60000"/>
                                    </p:animScale>
                                    <p:animScale>
                                      <p:cBhvr>
                                        <p:cTn id="14" dur="166" decel="50000">
                                          <p:stCondLst>
                                            <p:cond delay="676"/>
                                          </p:stCondLst>
                                        </p:cTn>
                                        <p:tgtEl>
                                          <p:spTgt spid="129029"/>
                                        </p:tgtEl>
                                      </p:cBhvr>
                                      <p:to x="100000" y="100000"/>
                                    </p:animScale>
                                    <p:animScale>
                                      <p:cBhvr>
                                        <p:cTn id="15" dur="26">
                                          <p:stCondLst>
                                            <p:cond delay="1312"/>
                                          </p:stCondLst>
                                        </p:cTn>
                                        <p:tgtEl>
                                          <p:spTgt spid="129029"/>
                                        </p:tgtEl>
                                      </p:cBhvr>
                                      <p:to x="100000" y="80000"/>
                                    </p:animScale>
                                    <p:animScale>
                                      <p:cBhvr>
                                        <p:cTn id="16" dur="166" decel="50000">
                                          <p:stCondLst>
                                            <p:cond delay="1338"/>
                                          </p:stCondLst>
                                        </p:cTn>
                                        <p:tgtEl>
                                          <p:spTgt spid="129029"/>
                                        </p:tgtEl>
                                      </p:cBhvr>
                                      <p:to x="100000" y="100000"/>
                                    </p:animScale>
                                    <p:animScale>
                                      <p:cBhvr>
                                        <p:cTn id="17" dur="26">
                                          <p:stCondLst>
                                            <p:cond delay="1642"/>
                                          </p:stCondLst>
                                        </p:cTn>
                                        <p:tgtEl>
                                          <p:spTgt spid="129029"/>
                                        </p:tgtEl>
                                      </p:cBhvr>
                                      <p:to x="100000" y="90000"/>
                                    </p:animScale>
                                    <p:animScale>
                                      <p:cBhvr>
                                        <p:cTn id="18" dur="166" decel="50000">
                                          <p:stCondLst>
                                            <p:cond delay="1668"/>
                                          </p:stCondLst>
                                        </p:cTn>
                                        <p:tgtEl>
                                          <p:spTgt spid="129029"/>
                                        </p:tgtEl>
                                      </p:cBhvr>
                                      <p:to x="100000" y="100000"/>
                                    </p:animScale>
                                    <p:animScale>
                                      <p:cBhvr>
                                        <p:cTn id="19" dur="26">
                                          <p:stCondLst>
                                            <p:cond delay="1808"/>
                                          </p:stCondLst>
                                        </p:cTn>
                                        <p:tgtEl>
                                          <p:spTgt spid="129029"/>
                                        </p:tgtEl>
                                      </p:cBhvr>
                                      <p:to x="100000" y="95000"/>
                                    </p:animScale>
                                    <p:animScale>
                                      <p:cBhvr>
                                        <p:cTn id="20" dur="166" decel="50000">
                                          <p:stCondLst>
                                            <p:cond delay="1834"/>
                                          </p:stCondLst>
                                        </p:cTn>
                                        <p:tgtEl>
                                          <p:spTgt spid="1290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itle 1"/>
          <p:cNvSpPr>
            <a:spLocks noGrp="1"/>
          </p:cNvSpPr>
          <p:nvPr>
            <p:ph type="title" idx="4294967295"/>
          </p:nvPr>
        </p:nvSpPr>
        <p:spPr>
          <a:xfrm>
            <a:off x="2438401" y="533400"/>
            <a:ext cx="7477125" cy="1830388"/>
          </a:xfrm>
        </p:spPr>
        <p:txBody>
          <a:bodyPr/>
          <a:lstStyle/>
          <a:p>
            <a:pPr eaLnBrk="1" hangingPunct="1"/>
            <a:r>
              <a:rPr lang="en-US" sz="3600">
                <a:solidFill>
                  <a:schemeClr val="accent2">
                    <a:lumMod val="50000"/>
                  </a:schemeClr>
                </a:solidFill>
                <a:latin typeface="Berlin Sans FB" panose="020E0602020502020306" pitchFamily="34" charset="0"/>
              </a:rPr>
              <a:t>48. An idea, method, or object which is regarded as new by an individual is called a/an</a:t>
            </a:r>
          </a:p>
        </p:txBody>
      </p:sp>
      <p:sp>
        <p:nvSpPr>
          <p:cNvPr id="296963" name="Content Placeholder 2"/>
          <p:cNvSpPr>
            <a:spLocks noGrp="1"/>
          </p:cNvSpPr>
          <p:nvPr>
            <p:ph idx="4294967295"/>
          </p:nvPr>
        </p:nvSpPr>
        <p:spPr>
          <a:xfrm>
            <a:off x="2527300" y="2667000"/>
            <a:ext cx="7386638" cy="4191000"/>
          </a:xfrm>
        </p:spPr>
        <p:txBody>
          <a:bodyPr/>
          <a:lstStyle/>
          <a:p>
            <a:pPr eaLnBrk="1" hangingPunct="1">
              <a:buFontTx/>
              <a:buAutoNum type="alphaLcPeriod"/>
            </a:pPr>
            <a:r>
              <a:rPr lang="en-US" sz="3200">
                <a:solidFill>
                  <a:schemeClr val="accent2">
                    <a:lumMod val="50000"/>
                  </a:schemeClr>
                </a:solidFill>
                <a:latin typeface="Berlin Sans FB" panose="020E0602020502020306" pitchFamily="34" charset="0"/>
              </a:rPr>
              <a:t>Construct</a:t>
            </a:r>
          </a:p>
          <a:p>
            <a:pPr eaLnBrk="1" hangingPunct="1">
              <a:buFontTx/>
              <a:buAutoNum type="alphaLcPeriod"/>
            </a:pPr>
            <a:r>
              <a:rPr lang="en-US" sz="3200">
                <a:solidFill>
                  <a:schemeClr val="accent2">
                    <a:lumMod val="50000"/>
                  </a:schemeClr>
                </a:solidFill>
                <a:latin typeface="Berlin Sans FB" panose="020E0602020502020306" pitchFamily="34" charset="0"/>
              </a:rPr>
              <a:t>Recommendation</a:t>
            </a:r>
          </a:p>
          <a:p>
            <a:pPr eaLnBrk="1" hangingPunct="1">
              <a:buFontTx/>
              <a:buAutoNum type="alphaLcPeriod"/>
            </a:pPr>
            <a:r>
              <a:rPr lang="en-US" sz="3200">
                <a:solidFill>
                  <a:schemeClr val="accent2">
                    <a:lumMod val="50000"/>
                  </a:schemeClr>
                </a:solidFill>
                <a:latin typeface="Berlin Sans FB" panose="020E0602020502020306" pitchFamily="34" charset="0"/>
              </a:rPr>
              <a:t>Technology</a:t>
            </a:r>
          </a:p>
          <a:p>
            <a:pPr eaLnBrk="1" hangingPunct="1">
              <a:buFontTx/>
              <a:buAutoNum type="alphaLcPeriod"/>
            </a:pPr>
            <a:r>
              <a:rPr lang="en-US" sz="3200">
                <a:solidFill>
                  <a:schemeClr val="accent2">
                    <a:lumMod val="50000"/>
                  </a:schemeClr>
                </a:solidFill>
                <a:latin typeface="Berlin Sans FB" panose="020E0602020502020306" pitchFamily="34" charset="0"/>
              </a:rPr>
              <a:t>Innovationa</a:t>
            </a:r>
          </a:p>
        </p:txBody>
      </p:sp>
      <p:sp>
        <p:nvSpPr>
          <p:cNvPr id="130053" name="Text Box 5"/>
          <p:cNvSpPr txBox="1">
            <a:spLocks noChangeArrowheads="1"/>
          </p:cNvSpPr>
          <p:nvPr/>
        </p:nvSpPr>
        <p:spPr bwMode="auto">
          <a:xfrm>
            <a:off x="2590800" y="53355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D. Innovation</a:t>
            </a:r>
          </a:p>
        </p:txBody>
      </p:sp>
    </p:spTree>
    <p:extLst>
      <p:ext uri="{BB962C8B-B14F-4D97-AF65-F5344CB8AC3E}">
        <p14:creationId xmlns:p14="http://schemas.microsoft.com/office/powerpoint/2010/main" val="24122414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0053"/>
                                        </p:tgtEl>
                                        <p:attrNameLst>
                                          <p:attrName>style.visibility</p:attrName>
                                        </p:attrNameLst>
                                      </p:cBhvr>
                                      <p:to>
                                        <p:strVal val="visible"/>
                                      </p:to>
                                    </p:set>
                                    <p:animEffect transition="in" filter="wipe(down)">
                                      <p:cBhvr>
                                        <p:cTn id="7" dur="580">
                                          <p:stCondLst>
                                            <p:cond delay="0"/>
                                          </p:stCondLst>
                                        </p:cTn>
                                        <p:tgtEl>
                                          <p:spTgt spid="130053"/>
                                        </p:tgtEl>
                                      </p:cBhvr>
                                    </p:animEffect>
                                    <p:anim calcmode="lin" valueType="num">
                                      <p:cBhvr>
                                        <p:cTn id="8" dur="1822" tmFilter="0,0; 0.14,0.36; 0.43,0.73; 0.71,0.91; 1.0,1.0">
                                          <p:stCondLst>
                                            <p:cond delay="0"/>
                                          </p:stCondLst>
                                        </p:cTn>
                                        <p:tgtEl>
                                          <p:spTgt spid="130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0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0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0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0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130053"/>
                                        </p:tgtEl>
                                      </p:cBhvr>
                                      <p:to x="100000" y="60000"/>
                                    </p:animScale>
                                    <p:animScale>
                                      <p:cBhvr>
                                        <p:cTn id="14" dur="166" decel="50000">
                                          <p:stCondLst>
                                            <p:cond delay="676"/>
                                          </p:stCondLst>
                                        </p:cTn>
                                        <p:tgtEl>
                                          <p:spTgt spid="130053"/>
                                        </p:tgtEl>
                                      </p:cBhvr>
                                      <p:to x="100000" y="100000"/>
                                    </p:animScale>
                                    <p:animScale>
                                      <p:cBhvr>
                                        <p:cTn id="15" dur="26">
                                          <p:stCondLst>
                                            <p:cond delay="1312"/>
                                          </p:stCondLst>
                                        </p:cTn>
                                        <p:tgtEl>
                                          <p:spTgt spid="130053"/>
                                        </p:tgtEl>
                                      </p:cBhvr>
                                      <p:to x="100000" y="80000"/>
                                    </p:animScale>
                                    <p:animScale>
                                      <p:cBhvr>
                                        <p:cTn id="16" dur="166" decel="50000">
                                          <p:stCondLst>
                                            <p:cond delay="1338"/>
                                          </p:stCondLst>
                                        </p:cTn>
                                        <p:tgtEl>
                                          <p:spTgt spid="130053"/>
                                        </p:tgtEl>
                                      </p:cBhvr>
                                      <p:to x="100000" y="100000"/>
                                    </p:animScale>
                                    <p:animScale>
                                      <p:cBhvr>
                                        <p:cTn id="17" dur="26">
                                          <p:stCondLst>
                                            <p:cond delay="1642"/>
                                          </p:stCondLst>
                                        </p:cTn>
                                        <p:tgtEl>
                                          <p:spTgt spid="130053"/>
                                        </p:tgtEl>
                                      </p:cBhvr>
                                      <p:to x="100000" y="90000"/>
                                    </p:animScale>
                                    <p:animScale>
                                      <p:cBhvr>
                                        <p:cTn id="18" dur="166" decel="50000">
                                          <p:stCondLst>
                                            <p:cond delay="1668"/>
                                          </p:stCondLst>
                                        </p:cTn>
                                        <p:tgtEl>
                                          <p:spTgt spid="130053"/>
                                        </p:tgtEl>
                                      </p:cBhvr>
                                      <p:to x="100000" y="100000"/>
                                    </p:animScale>
                                    <p:animScale>
                                      <p:cBhvr>
                                        <p:cTn id="19" dur="26">
                                          <p:stCondLst>
                                            <p:cond delay="1808"/>
                                          </p:stCondLst>
                                        </p:cTn>
                                        <p:tgtEl>
                                          <p:spTgt spid="130053"/>
                                        </p:tgtEl>
                                      </p:cBhvr>
                                      <p:to x="100000" y="95000"/>
                                    </p:animScale>
                                    <p:animScale>
                                      <p:cBhvr>
                                        <p:cTn id="20" dur="166" decel="50000">
                                          <p:stCondLst>
                                            <p:cond delay="1834"/>
                                          </p:stCondLst>
                                        </p:cTn>
                                        <p:tgtEl>
                                          <p:spTgt spid="13005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3"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itle 1"/>
          <p:cNvSpPr>
            <a:spLocks noGrp="1"/>
          </p:cNvSpPr>
          <p:nvPr>
            <p:ph type="title" idx="4294967295"/>
          </p:nvPr>
        </p:nvSpPr>
        <p:spPr>
          <a:xfrm>
            <a:off x="2209801" y="304800"/>
            <a:ext cx="7477125" cy="1143000"/>
          </a:xfrm>
        </p:spPr>
        <p:txBody>
          <a:bodyPr/>
          <a:lstStyle/>
          <a:p>
            <a:pPr eaLnBrk="1" hangingPunct="1"/>
            <a:r>
              <a:rPr lang="en-US" sz="3600">
                <a:solidFill>
                  <a:schemeClr val="accent2">
                    <a:lumMod val="50000"/>
                  </a:schemeClr>
                </a:solidFill>
                <a:latin typeface="Berlin Sans FB" panose="020E0602020502020306" pitchFamily="34" charset="0"/>
              </a:rPr>
              <a:t>49. Generally, the adoption process follows the following sequence</a:t>
            </a:r>
          </a:p>
        </p:txBody>
      </p:sp>
      <p:sp>
        <p:nvSpPr>
          <p:cNvPr id="297987" name="Content Placeholder 2"/>
          <p:cNvSpPr>
            <a:spLocks noGrp="1"/>
          </p:cNvSpPr>
          <p:nvPr>
            <p:ph idx="4294967295"/>
          </p:nvPr>
        </p:nvSpPr>
        <p:spPr>
          <a:xfrm>
            <a:off x="2209800" y="1676400"/>
            <a:ext cx="7386638" cy="4497388"/>
          </a:xfrm>
        </p:spPr>
        <p:txBody>
          <a:bodyPr/>
          <a:lstStyle/>
          <a:p>
            <a:pPr eaLnBrk="1" hangingPunct="1">
              <a:buFontTx/>
              <a:buNone/>
            </a:pPr>
            <a:r>
              <a:rPr lang="en-US" sz="2800">
                <a:solidFill>
                  <a:schemeClr val="accent2">
                    <a:lumMod val="50000"/>
                  </a:schemeClr>
                </a:solidFill>
                <a:latin typeface="Berlin Sans FB" panose="020E0602020502020306" pitchFamily="34" charset="0"/>
              </a:rPr>
              <a:t>a. awareness, trial, interest, evaluation, adoption</a:t>
            </a:r>
          </a:p>
          <a:p>
            <a:pPr eaLnBrk="1" hangingPunct="1">
              <a:buFontTx/>
              <a:buNone/>
            </a:pPr>
            <a:r>
              <a:rPr lang="en-US" sz="2800">
                <a:solidFill>
                  <a:schemeClr val="accent2">
                    <a:lumMod val="50000"/>
                  </a:schemeClr>
                </a:solidFill>
                <a:latin typeface="Berlin Sans FB" panose="020E0602020502020306" pitchFamily="34" charset="0"/>
              </a:rPr>
              <a:t>b. Awareness, trial, evaluation, interest, adoption</a:t>
            </a:r>
          </a:p>
          <a:p>
            <a:pPr eaLnBrk="1" hangingPunct="1">
              <a:buFontTx/>
              <a:buNone/>
            </a:pPr>
            <a:r>
              <a:rPr lang="en-US" sz="2800">
                <a:solidFill>
                  <a:schemeClr val="accent2">
                    <a:lumMod val="50000"/>
                  </a:schemeClr>
                </a:solidFill>
                <a:latin typeface="Berlin Sans FB" panose="020E0602020502020306" pitchFamily="34" charset="0"/>
              </a:rPr>
              <a:t>c. Awareness, interest, evaluation, trial, adoption</a:t>
            </a:r>
          </a:p>
          <a:p>
            <a:pPr eaLnBrk="1" hangingPunct="1">
              <a:buFontTx/>
              <a:buNone/>
            </a:pPr>
            <a:r>
              <a:rPr lang="en-US" sz="2800">
                <a:solidFill>
                  <a:schemeClr val="accent2">
                    <a:lumMod val="50000"/>
                  </a:schemeClr>
                </a:solidFill>
                <a:latin typeface="Berlin Sans FB" panose="020E0602020502020306" pitchFamily="34" charset="0"/>
              </a:rPr>
              <a:t>d. Awareness, interest, trial, evaluation, adoption</a:t>
            </a:r>
          </a:p>
          <a:p>
            <a:pPr eaLnBrk="1" hangingPunct="1">
              <a:buFontTx/>
              <a:buChar char="•"/>
            </a:pPr>
            <a:endParaRPr lang="en-US" smtClean="0">
              <a:solidFill>
                <a:schemeClr val="accent2">
                  <a:lumMod val="50000"/>
                </a:schemeClr>
              </a:solidFill>
              <a:latin typeface="Berlin Sans FB" panose="020E0602020502020306" pitchFamily="34" charset="0"/>
            </a:endParaRPr>
          </a:p>
        </p:txBody>
      </p:sp>
      <p:sp>
        <p:nvSpPr>
          <p:cNvPr id="131077" name="Text Box 5"/>
          <p:cNvSpPr txBox="1">
            <a:spLocks noChangeArrowheads="1"/>
          </p:cNvSpPr>
          <p:nvPr/>
        </p:nvSpPr>
        <p:spPr bwMode="auto">
          <a:xfrm>
            <a:off x="2438400" y="4878388"/>
            <a:ext cx="7543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C. Awareness, interest, evaluation, trial, adoption</a:t>
            </a:r>
          </a:p>
        </p:txBody>
      </p:sp>
    </p:spTree>
    <p:extLst>
      <p:ext uri="{BB962C8B-B14F-4D97-AF65-F5344CB8AC3E}">
        <p14:creationId xmlns:p14="http://schemas.microsoft.com/office/powerpoint/2010/main" val="28293567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1077"/>
                                        </p:tgtEl>
                                        <p:attrNameLst>
                                          <p:attrName>style.visibility</p:attrName>
                                        </p:attrNameLst>
                                      </p:cBhvr>
                                      <p:to>
                                        <p:strVal val="visible"/>
                                      </p:to>
                                    </p:set>
                                    <p:animEffect transition="in" filter="wipe(down)">
                                      <p:cBhvr>
                                        <p:cTn id="7" dur="580">
                                          <p:stCondLst>
                                            <p:cond delay="0"/>
                                          </p:stCondLst>
                                        </p:cTn>
                                        <p:tgtEl>
                                          <p:spTgt spid="131077"/>
                                        </p:tgtEl>
                                      </p:cBhvr>
                                    </p:animEffect>
                                    <p:anim calcmode="lin" valueType="num">
                                      <p:cBhvr>
                                        <p:cTn id="8" dur="1822" tmFilter="0,0; 0.14,0.36; 0.43,0.73; 0.71,0.91; 1.0,1.0">
                                          <p:stCondLst>
                                            <p:cond delay="0"/>
                                          </p:stCondLst>
                                        </p:cTn>
                                        <p:tgtEl>
                                          <p:spTgt spid="13107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107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107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107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1077"/>
                                        </p:tgtEl>
                                        <p:attrNameLst>
                                          <p:attrName>ppt_y</p:attrName>
                                        </p:attrNameLst>
                                      </p:cBhvr>
                                      <p:tavLst>
                                        <p:tav tm="0" fmla="#ppt_y-sin(pi*$)/81">
                                          <p:val>
                                            <p:fltVal val="0"/>
                                          </p:val>
                                        </p:tav>
                                        <p:tav tm="100000">
                                          <p:val>
                                            <p:fltVal val="1"/>
                                          </p:val>
                                        </p:tav>
                                      </p:tavLst>
                                    </p:anim>
                                    <p:animScale>
                                      <p:cBhvr>
                                        <p:cTn id="13" dur="26">
                                          <p:stCondLst>
                                            <p:cond delay="650"/>
                                          </p:stCondLst>
                                        </p:cTn>
                                        <p:tgtEl>
                                          <p:spTgt spid="131077"/>
                                        </p:tgtEl>
                                      </p:cBhvr>
                                      <p:to x="100000" y="60000"/>
                                    </p:animScale>
                                    <p:animScale>
                                      <p:cBhvr>
                                        <p:cTn id="14" dur="166" decel="50000">
                                          <p:stCondLst>
                                            <p:cond delay="676"/>
                                          </p:stCondLst>
                                        </p:cTn>
                                        <p:tgtEl>
                                          <p:spTgt spid="131077"/>
                                        </p:tgtEl>
                                      </p:cBhvr>
                                      <p:to x="100000" y="100000"/>
                                    </p:animScale>
                                    <p:animScale>
                                      <p:cBhvr>
                                        <p:cTn id="15" dur="26">
                                          <p:stCondLst>
                                            <p:cond delay="1312"/>
                                          </p:stCondLst>
                                        </p:cTn>
                                        <p:tgtEl>
                                          <p:spTgt spid="131077"/>
                                        </p:tgtEl>
                                      </p:cBhvr>
                                      <p:to x="100000" y="80000"/>
                                    </p:animScale>
                                    <p:animScale>
                                      <p:cBhvr>
                                        <p:cTn id="16" dur="166" decel="50000">
                                          <p:stCondLst>
                                            <p:cond delay="1338"/>
                                          </p:stCondLst>
                                        </p:cTn>
                                        <p:tgtEl>
                                          <p:spTgt spid="131077"/>
                                        </p:tgtEl>
                                      </p:cBhvr>
                                      <p:to x="100000" y="100000"/>
                                    </p:animScale>
                                    <p:animScale>
                                      <p:cBhvr>
                                        <p:cTn id="17" dur="26">
                                          <p:stCondLst>
                                            <p:cond delay="1642"/>
                                          </p:stCondLst>
                                        </p:cTn>
                                        <p:tgtEl>
                                          <p:spTgt spid="131077"/>
                                        </p:tgtEl>
                                      </p:cBhvr>
                                      <p:to x="100000" y="90000"/>
                                    </p:animScale>
                                    <p:animScale>
                                      <p:cBhvr>
                                        <p:cTn id="18" dur="166" decel="50000">
                                          <p:stCondLst>
                                            <p:cond delay="1668"/>
                                          </p:stCondLst>
                                        </p:cTn>
                                        <p:tgtEl>
                                          <p:spTgt spid="131077"/>
                                        </p:tgtEl>
                                      </p:cBhvr>
                                      <p:to x="100000" y="100000"/>
                                    </p:animScale>
                                    <p:animScale>
                                      <p:cBhvr>
                                        <p:cTn id="19" dur="26">
                                          <p:stCondLst>
                                            <p:cond delay="1808"/>
                                          </p:stCondLst>
                                        </p:cTn>
                                        <p:tgtEl>
                                          <p:spTgt spid="131077"/>
                                        </p:tgtEl>
                                      </p:cBhvr>
                                      <p:to x="100000" y="95000"/>
                                    </p:animScale>
                                    <p:animScale>
                                      <p:cBhvr>
                                        <p:cTn id="20" dur="166" decel="50000">
                                          <p:stCondLst>
                                            <p:cond delay="1834"/>
                                          </p:stCondLst>
                                        </p:cTn>
                                        <p:tgtEl>
                                          <p:spTgt spid="13107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itle 1"/>
          <p:cNvSpPr>
            <a:spLocks noGrp="1"/>
          </p:cNvSpPr>
          <p:nvPr>
            <p:ph type="title" idx="4294967295"/>
          </p:nvPr>
        </p:nvSpPr>
        <p:spPr>
          <a:xfrm>
            <a:off x="2438401" y="381000"/>
            <a:ext cx="7400925" cy="1830388"/>
          </a:xfrm>
        </p:spPr>
        <p:txBody>
          <a:bodyPr rtlCol="0">
            <a:normAutofit fontScale="90000"/>
          </a:bodyPr>
          <a:lstStyle/>
          <a:p>
            <a:pPr>
              <a:defRPr/>
            </a:pPr>
            <a:r>
              <a:rPr lang="en-US" sz="3200">
                <a:solidFill>
                  <a:schemeClr val="accent2">
                    <a:lumMod val="50000"/>
                  </a:schemeClr>
                </a:solidFill>
                <a:latin typeface="Berlin Sans FB" panose="020E0602020502020306" pitchFamily="34" charset="0"/>
              </a:rPr>
              <a:t>50. The process whereby information and improved practices spread from their originating source to thousands of  users is called</a:t>
            </a:r>
          </a:p>
        </p:txBody>
      </p:sp>
      <p:sp>
        <p:nvSpPr>
          <p:cNvPr id="299011" name="Content Placeholder 2"/>
          <p:cNvSpPr>
            <a:spLocks noGrp="1"/>
          </p:cNvSpPr>
          <p:nvPr>
            <p:ph idx="4294967295"/>
          </p:nvPr>
        </p:nvSpPr>
        <p:spPr>
          <a:xfrm>
            <a:off x="2438400" y="2363788"/>
            <a:ext cx="7386638" cy="3886200"/>
          </a:xfrm>
        </p:spPr>
        <p:txBody>
          <a:bodyPr/>
          <a:lstStyle/>
          <a:p>
            <a:pPr eaLnBrk="1" hangingPunct="1">
              <a:buFontTx/>
              <a:buNone/>
            </a:pPr>
            <a:r>
              <a:rPr lang="en-US" sz="3200">
                <a:solidFill>
                  <a:schemeClr val="accent2">
                    <a:lumMod val="50000"/>
                  </a:schemeClr>
                </a:solidFill>
                <a:latin typeface="Berlin Sans FB" panose="020E0602020502020306" pitchFamily="34" charset="0"/>
              </a:rPr>
              <a:t>a. Adoption</a:t>
            </a:r>
          </a:p>
          <a:p>
            <a:pPr eaLnBrk="1" hangingPunct="1">
              <a:buFontTx/>
              <a:buNone/>
            </a:pPr>
            <a:r>
              <a:rPr lang="en-US" sz="3200">
                <a:solidFill>
                  <a:schemeClr val="accent2">
                    <a:lumMod val="50000"/>
                  </a:schemeClr>
                </a:solidFill>
                <a:latin typeface="Berlin Sans FB" panose="020E0602020502020306" pitchFamily="34" charset="0"/>
              </a:rPr>
              <a:t>b. Diffusion</a:t>
            </a:r>
          </a:p>
          <a:p>
            <a:pPr eaLnBrk="1" hangingPunct="1">
              <a:buFontTx/>
              <a:buNone/>
            </a:pPr>
            <a:r>
              <a:rPr lang="en-US" sz="3200">
                <a:solidFill>
                  <a:schemeClr val="accent2">
                    <a:lumMod val="50000"/>
                  </a:schemeClr>
                </a:solidFill>
                <a:latin typeface="Berlin Sans FB" panose="020E0602020502020306" pitchFamily="34" charset="0"/>
              </a:rPr>
              <a:t>c. Information communication</a:t>
            </a:r>
          </a:p>
          <a:p>
            <a:pPr eaLnBrk="1" hangingPunct="1">
              <a:buFontTx/>
              <a:buNone/>
            </a:pPr>
            <a:r>
              <a:rPr lang="en-US" sz="3200">
                <a:solidFill>
                  <a:schemeClr val="accent2">
                    <a:lumMod val="50000"/>
                  </a:schemeClr>
                </a:solidFill>
                <a:latin typeface="Berlin Sans FB" panose="020E0602020502020306" pitchFamily="34" charset="0"/>
              </a:rPr>
              <a:t>d. Technology transfer</a:t>
            </a:r>
          </a:p>
        </p:txBody>
      </p:sp>
      <p:sp>
        <p:nvSpPr>
          <p:cNvPr id="132101" name="Text Box 5"/>
          <p:cNvSpPr txBox="1">
            <a:spLocks noChangeArrowheads="1"/>
          </p:cNvSpPr>
          <p:nvPr/>
        </p:nvSpPr>
        <p:spPr bwMode="auto">
          <a:xfrm>
            <a:off x="2590800" y="5183189"/>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B. Diffusion</a:t>
            </a:r>
          </a:p>
        </p:txBody>
      </p:sp>
    </p:spTree>
    <p:extLst>
      <p:ext uri="{BB962C8B-B14F-4D97-AF65-F5344CB8AC3E}">
        <p14:creationId xmlns:p14="http://schemas.microsoft.com/office/powerpoint/2010/main" val="2137319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2101"/>
                                        </p:tgtEl>
                                        <p:attrNameLst>
                                          <p:attrName>style.visibility</p:attrName>
                                        </p:attrNameLst>
                                      </p:cBhvr>
                                      <p:to>
                                        <p:strVal val="visible"/>
                                      </p:to>
                                    </p:set>
                                    <p:animEffect transition="in" filter="wipe(down)">
                                      <p:cBhvr>
                                        <p:cTn id="7" dur="580">
                                          <p:stCondLst>
                                            <p:cond delay="0"/>
                                          </p:stCondLst>
                                        </p:cTn>
                                        <p:tgtEl>
                                          <p:spTgt spid="132101"/>
                                        </p:tgtEl>
                                      </p:cBhvr>
                                    </p:animEffect>
                                    <p:anim calcmode="lin" valueType="num">
                                      <p:cBhvr>
                                        <p:cTn id="8" dur="1822" tmFilter="0,0; 0.14,0.36; 0.43,0.73; 0.71,0.91; 1.0,1.0">
                                          <p:stCondLst>
                                            <p:cond delay="0"/>
                                          </p:stCondLst>
                                        </p:cTn>
                                        <p:tgtEl>
                                          <p:spTgt spid="13210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210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210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210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2101"/>
                                        </p:tgtEl>
                                        <p:attrNameLst>
                                          <p:attrName>ppt_y</p:attrName>
                                        </p:attrNameLst>
                                      </p:cBhvr>
                                      <p:tavLst>
                                        <p:tav tm="0" fmla="#ppt_y-sin(pi*$)/81">
                                          <p:val>
                                            <p:fltVal val="0"/>
                                          </p:val>
                                        </p:tav>
                                        <p:tav tm="100000">
                                          <p:val>
                                            <p:fltVal val="1"/>
                                          </p:val>
                                        </p:tav>
                                      </p:tavLst>
                                    </p:anim>
                                    <p:animScale>
                                      <p:cBhvr>
                                        <p:cTn id="13" dur="26">
                                          <p:stCondLst>
                                            <p:cond delay="650"/>
                                          </p:stCondLst>
                                        </p:cTn>
                                        <p:tgtEl>
                                          <p:spTgt spid="132101"/>
                                        </p:tgtEl>
                                      </p:cBhvr>
                                      <p:to x="100000" y="60000"/>
                                    </p:animScale>
                                    <p:animScale>
                                      <p:cBhvr>
                                        <p:cTn id="14" dur="166" decel="50000">
                                          <p:stCondLst>
                                            <p:cond delay="676"/>
                                          </p:stCondLst>
                                        </p:cTn>
                                        <p:tgtEl>
                                          <p:spTgt spid="132101"/>
                                        </p:tgtEl>
                                      </p:cBhvr>
                                      <p:to x="100000" y="100000"/>
                                    </p:animScale>
                                    <p:animScale>
                                      <p:cBhvr>
                                        <p:cTn id="15" dur="26">
                                          <p:stCondLst>
                                            <p:cond delay="1312"/>
                                          </p:stCondLst>
                                        </p:cTn>
                                        <p:tgtEl>
                                          <p:spTgt spid="132101"/>
                                        </p:tgtEl>
                                      </p:cBhvr>
                                      <p:to x="100000" y="80000"/>
                                    </p:animScale>
                                    <p:animScale>
                                      <p:cBhvr>
                                        <p:cTn id="16" dur="166" decel="50000">
                                          <p:stCondLst>
                                            <p:cond delay="1338"/>
                                          </p:stCondLst>
                                        </p:cTn>
                                        <p:tgtEl>
                                          <p:spTgt spid="132101"/>
                                        </p:tgtEl>
                                      </p:cBhvr>
                                      <p:to x="100000" y="100000"/>
                                    </p:animScale>
                                    <p:animScale>
                                      <p:cBhvr>
                                        <p:cTn id="17" dur="26">
                                          <p:stCondLst>
                                            <p:cond delay="1642"/>
                                          </p:stCondLst>
                                        </p:cTn>
                                        <p:tgtEl>
                                          <p:spTgt spid="132101"/>
                                        </p:tgtEl>
                                      </p:cBhvr>
                                      <p:to x="100000" y="90000"/>
                                    </p:animScale>
                                    <p:animScale>
                                      <p:cBhvr>
                                        <p:cTn id="18" dur="166" decel="50000">
                                          <p:stCondLst>
                                            <p:cond delay="1668"/>
                                          </p:stCondLst>
                                        </p:cTn>
                                        <p:tgtEl>
                                          <p:spTgt spid="132101"/>
                                        </p:tgtEl>
                                      </p:cBhvr>
                                      <p:to x="100000" y="100000"/>
                                    </p:animScale>
                                    <p:animScale>
                                      <p:cBhvr>
                                        <p:cTn id="19" dur="26">
                                          <p:stCondLst>
                                            <p:cond delay="1808"/>
                                          </p:stCondLst>
                                        </p:cTn>
                                        <p:tgtEl>
                                          <p:spTgt spid="132101"/>
                                        </p:tgtEl>
                                      </p:cBhvr>
                                      <p:to x="100000" y="95000"/>
                                    </p:animScale>
                                    <p:animScale>
                                      <p:cBhvr>
                                        <p:cTn id="20" dur="166" decel="50000">
                                          <p:stCondLst>
                                            <p:cond delay="1834"/>
                                          </p:stCondLst>
                                        </p:cTn>
                                        <p:tgtEl>
                                          <p:spTgt spid="13210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itle 1"/>
          <p:cNvSpPr>
            <a:spLocks noGrp="1"/>
          </p:cNvSpPr>
          <p:nvPr>
            <p:ph type="title" idx="4294967295"/>
          </p:nvPr>
        </p:nvSpPr>
        <p:spPr>
          <a:xfrm>
            <a:off x="2133601" y="381000"/>
            <a:ext cx="7477125" cy="1143000"/>
          </a:xfrm>
        </p:spPr>
        <p:txBody>
          <a:bodyPr/>
          <a:lstStyle/>
          <a:p>
            <a:pPr eaLnBrk="1" hangingPunct="1"/>
            <a:r>
              <a:rPr lang="en-US" sz="4000">
                <a:solidFill>
                  <a:schemeClr val="accent2">
                    <a:lumMod val="50000"/>
                  </a:schemeClr>
                </a:solidFill>
                <a:latin typeface="Berlin Sans FB" panose="020E0602020502020306" pitchFamily="34" charset="0"/>
              </a:rPr>
              <a:t>51. The adoption process occurs</a:t>
            </a:r>
          </a:p>
        </p:txBody>
      </p:sp>
      <p:sp>
        <p:nvSpPr>
          <p:cNvPr id="3" name="Content Placeholder 2"/>
          <p:cNvSpPr>
            <a:spLocks noGrp="1"/>
          </p:cNvSpPr>
          <p:nvPr>
            <p:ph idx="4294967295"/>
          </p:nvPr>
        </p:nvSpPr>
        <p:spPr>
          <a:xfrm>
            <a:off x="2133600" y="17526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At the individual level</a:t>
            </a:r>
          </a:p>
          <a:p>
            <a:pPr eaLnBrk="1" hangingPunct="1">
              <a:buFontTx/>
              <a:buNone/>
            </a:pPr>
            <a:r>
              <a:rPr lang="en-US" sz="3200">
                <a:solidFill>
                  <a:schemeClr val="accent2">
                    <a:lumMod val="50000"/>
                  </a:schemeClr>
                </a:solidFill>
                <a:latin typeface="Berlin Sans FB" panose="020E0602020502020306" pitchFamily="34" charset="0"/>
              </a:rPr>
              <a:t>b. Between persons</a:t>
            </a:r>
          </a:p>
          <a:p>
            <a:pPr eaLnBrk="1" hangingPunct="1">
              <a:buFontTx/>
              <a:buNone/>
            </a:pPr>
            <a:r>
              <a:rPr lang="en-US" sz="3200">
                <a:solidFill>
                  <a:schemeClr val="accent2">
                    <a:lumMod val="50000"/>
                  </a:schemeClr>
                </a:solidFill>
                <a:latin typeface="Berlin Sans FB" panose="020E0602020502020306" pitchFamily="34" charset="0"/>
              </a:rPr>
              <a:t>c. Among groups</a:t>
            </a:r>
          </a:p>
          <a:p>
            <a:pPr eaLnBrk="1" hangingPunct="1">
              <a:buFontTx/>
              <a:buNone/>
            </a:pPr>
            <a:r>
              <a:rPr lang="en-US" sz="3200">
                <a:solidFill>
                  <a:schemeClr val="accent2">
                    <a:lumMod val="50000"/>
                  </a:schemeClr>
                </a:solidFill>
                <a:latin typeface="Berlin Sans FB" panose="020E0602020502020306" pitchFamily="34" charset="0"/>
              </a:rPr>
              <a:t>d. At the community level</a:t>
            </a:r>
          </a:p>
          <a:p>
            <a:pPr eaLnBrk="1" hangingPunct="1">
              <a:buFontTx/>
              <a:buChar char="•"/>
            </a:pPr>
            <a:endParaRPr lang="en-US" sz="3200">
              <a:solidFill>
                <a:schemeClr val="accent2">
                  <a:lumMod val="50000"/>
                </a:schemeClr>
              </a:solidFill>
              <a:latin typeface="Berlin Sans FB" panose="020E0602020502020306" pitchFamily="34" charset="0"/>
            </a:endParaRPr>
          </a:p>
        </p:txBody>
      </p:sp>
      <p:sp>
        <p:nvSpPr>
          <p:cNvPr id="250884" name="Text Box 4"/>
          <p:cNvSpPr txBox="1">
            <a:spLocks noChangeArrowheads="1"/>
          </p:cNvSpPr>
          <p:nvPr/>
        </p:nvSpPr>
        <p:spPr bwMode="auto">
          <a:xfrm>
            <a:off x="2286000" y="5183189"/>
            <a:ext cx="754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000" b="1">
                <a:solidFill>
                  <a:schemeClr val="accent2">
                    <a:lumMod val="50000"/>
                  </a:schemeClr>
                </a:solidFill>
                <a:latin typeface="Berlin Sans FB" panose="020E0602020502020306" pitchFamily="34" charset="0"/>
              </a:rPr>
              <a:t>A. At the individual level</a:t>
            </a:r>
          </a:p>
        </p:txBody>
      </p:sp>
    </p:spTree>
    <p:extLst>
      <p:ext uri="{BB962C8B-B14F-4D97-AF65-F5344CB8AC3E}">
        <p14:creationId xmlns:p14="http://schemas.microsoft.com/office/powerpoint/2010/main" val="2402703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0" end="0"/>
                                            </p:txEl>
                                          </p:spTgt>
                                        </p:tgtEl>
                                        <p:attrNameLst>
                                          <p:attrName>style.fontStyle</p:attrName>
                                        </p:attrNameLst>
                                      </p:cBhvr>
                                      <p:to>
                                        <p:strVal val="normal"/>
                                      </p:to>
                                    </p:set>
                                    <p:set>
                                      <p:cBhvr override="childStyle">
                                        <p:cTn id="7" dur="indefinite"/>
                                        <p:tgtEl>
                                          <p:spTgt spid="3">
                                            <p:txEl>
                                              <p:pRg st="0" end="0"/>
                                            </p:txEl>
                                          </p:spTgt>
                                        </p:tgtEl>
                                        <p:attrNameLst>
                                          <p:attrName>style.fontWeight</p:attrName>
                                        </p:attrNameLst>
                                      </p:cBhvr>
                                      <p:to>
                                        <p:strVal val="bold"/>
                                      </p:to>
                                    </p:set>
                                    <p:set>
                                      <p:cBhvr override="childStyle">
                                        <p:cTn id="8" dur="indefinite"/>
                                        <p:tgtEl>
                                          <p:spTgt spid="3">
                                            <p:txEl>
                                              <p:pRg st="0" end="0"/>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50884"/>
                                        </p:tgtEl>
                                        <p:attrNameLst>
                                          <p:attrName>style.visibility</p:attrName>
                                        </p:attrNameLst>
                                      </p:cBhvr>
                                      <p:to>
                                        <p:strVal val="visible"/>
                                      </p:to>
                                    </p:set>
                                    <p:animEffect transition="in" filter="wipe(down)">
                                      <p:cBhvr>
                                        <p:cTn id="13" dur="580">
                                          <p:stCondLst>
                                            <p:cond delay="0"/>
                                          </p:stCondLst>
                                        </p:cTn>
                                        <p:tgtEl>
                                          <p:spTgt spid="250884"/>
                                        </p:tgtEl>
                                      </p:cBhvr>
                                    </p:animEffect>
                                    <p:anim calcmode="lin" valueType="num">
                                      <p:cBhvr>
                                        <p:cTn id="14" dur="1822" tmFilter="0,0; 0.14,0.36; 0.43,0.73; 0.71,0.91; 1.0,1.0">
                                          <p:stCondLst>
                                            <p:cond delay="0"/>
                                          </p:stCondLst>
                                        </p:cTn>
                                        <p:tgtEl>
                                          <p:spTgt spid="25088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5088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5088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5088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50884"/>
                                        </p:tgtEl>
                                        <p:attrNameLst>
                                          <p:attrName>ppt_y</p:attrName>
                                        </p:attrNameLst>
                                      </p:cBhvr>
                                      <p:tavLst>
                                        <p:tav tm="0" fmla="#ppt_y-sin(pi*$)/81">
                                          <p:val>
                                            <p:fltVal val="0"/>
                                          </p:val>
                                        </p:tav>
                                        <p:tav tm="100000">
                                          <p:val>
                                            <p:fltVal val="1"/>
                                          </p:val>
                                        </p:tav>
                                      </p:tavLst>
                                    </p:anim>
                                    <p:animScale>
                                      <p:cBhvr>
                                        <p:cTn id="19" dur="26">
                                          <p:stCondLst>
                                            <p:cond delay="650"/>
                                          </p:stCondLst>
                                        </p:cTn>
                                        <p:tgtEl>
                                          <p:spTgt spid="250884"/>
                                        </p:tgtEl>
                                      </p:cBhvr>
                                      <p:to x="100000" y="60000"/>
                                    </p:animScale>
                                    <p:animScale>
                                      <p:cBhvr>
                                        <p:cTn id="20" dur="166" decel="50000">
                                          <p:stCondLst>
                                            <p:cond delay="676"/>
                                          </p:stCondLst>
                                        </p:cTn>
                                        <p:tgtEl>
                                          <p:spTgt spid="250884"/>
                                        </p:tgtEl>
                                      </p:cBhvr>
                                      <p:to x="100000" y="100000"/>
                                    </p:animScale>
                                    <p:animScale>
                                      <p:cBhvr>
                                        <p:cTn id="21" dur="26">
                                          <p:stCondLst>
                                            <p:cond delay="1312"/>
                                          </p:stCondLst>
                                        </p:cTn>
                                        <p:tgtEl>
                                          <p:spTgt spid="250884"/>
                                        </p:tgtEl>
                                      </p:cBhvr>
                                      <p:to x="100000" y="80000"/>
                                    </p:animScale>
                                    <p:animScale>
                                      <p:cBhvr>
                                        <p:cTn id="22" dur="166" decel="50000">
                                          <p:stCondLst>
                                            <p:cond delay="1338"/>
                                          </p:stCondLst>
                                        </p:cTn>
                                        <p:tgtEl>
                                          <p:spTgt spid="250884"/>
                                        </p:tgtEl>
                                      </p:cBhvr>
                                      <p:to x="100000" y="100000"/>
                                    </p:animScale>
                                    <p:animScale>
                                      <p:cBhvr>
                                        <p:cTn id="23" dur="26">
                                          <p:stCondLst>
                                            <p:cond delay="1642"/>
                                          </p:stCondLst>
                                        </p:cTn>
                                        <p:tgtEl>
                                          <p:spTgt spid="250884"/>
                                        </p:tgtEl>
                                      </p:cBhvr>
                                      <p:to x="100000" y="90000"/>
                                    </p:animScale>
                                    <p:animScale>
                                      <p:cBhvr>
                                        <p:cTn id="24" dur="166" decel="50000">
                                          <p:stCondLst>
                                            <p:cond delay="1668"/>
                                          </p:stCondLst>
                                        </p:cTn>
                                        <p:tgtEl>
                                          <p:spTgt spid="250884"/>
                                        </p:tgtEl>
                                      </p:cBhvr>
                                      <p:to x="100000" y="100000"/>
                                    </p:animScale>
                                    <p:animScale>
                                      <p:cBhvr>
                                        <p:cTn id="25" dur="26">
                                          <p:stCondLst>
                                            <p:cond delay="1808"/>
                                          </p:stCondLst>
                                        </p:cTn>
                                        <p:tgtEl>
                                          <p:spTgt spid="250884"/>
                                        </p:tgtEl>
                                      </p:cBhvr>
                                      <p:to x="100000" y="95000"/>
                                    </p:animScale>
                                    <p:animScale>
                                      <p:cBhvr>
                                        <p:cTn id="26" dur="166" decel="50000">
                                          <p:stCondLst>
                                            <p:cond delay="1834"/>
                                          </p:stCondLst>
                                        </p:cTn>
                                        <p:tgtEl>
                                          <p:spTgt spid="25088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4"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itle 1"/>
          <p:cNvSpPr>
            <a:spLocks noGrp="1"/>
          </p:cNvSpPr>
          <p:nvPr>
            <p:ph type="title" idx="4294967295"/>
          </p:nvPr>
        </p:nvSpPr>
        <p:spPr>
          <a:xfrm>
            <a:off x="2362201" y="304800"/>
            <a:ext cx="7477125" cy="1830388"/>
          </a:xfrm>
        </p:spPr>
        <p:txBody>
          <a:bodyPr/>
          <a:lstStyle/>
          <a:p>
            <a:pPr eaLnBrk="1" hangingPunct="1"/>
            <a:r>
              <a:rPr lang="en-US" sz="3200">
                <a:solidFill>
                  <a:schemeClr val="accent2">
                    <a:lumMod val="50000"/>
                  </a:schemeClr>
                </a:solidFill>
                <a:latin typeface="Berlin Sans FB" panose="020E0602020502020306" pitchFamily="34" charset="0"/>
              </a:rPr>
              <a:t>52. The stage in the adoption process wherein the farmers will seek further information about the innovation is called</a:t>
            </a:r>
          </a:p>
        </p:txBody>
      </p:sp>
      <p:sp>
        <p:nvSpPr>
          <p:cNvPr id="3" name="Content Placeholder 2"/>
          <p:cNvSpPr>
            <a:spLocks noGrp="1"/>
          </p:cNvSpPr>
          <p:nvPr>
            <p:ph idx="4294967295"/>
          </p:nvPr>
        </p:nvSpPr>
        <p:spPr>
          <a:xfrm>
            <a:off x="2362200" y="2211388"/>
            <a:ext cx="7386638" cy="3962400"/>
          </a:xfrm>
        </p:spPr>
        <p:txBody>
          <a:bodyPr/>
          <a:lstStyle/>
          <a:p>
            <a:pPr eaLnBrk="1" hangingPunct="1">
              <a:buFontTx/>
              <a:buNone/>
            </a:pPr>
            <a:r>
              <a:rPr lang="en-US" sz="3200">
                <a:solidFill>
                  <a:schemeClr val="accent2">
                    <a:lumMod val="50000"/>
                  </a:schemeClr>
                </a:solidFill>
                <a:latin typeface="Berlin Sans FB" panose="020E0602020502020306" pitchFamily="34" charset="0"/>
              </a:rPr>
              <a:t>a. </a:t>
            </a:r>
            <a:r>
              <a:rPr lang="en-US" sz="3600">
                <a:solidFill>
                  <a:schemeClr val="accent2">
                    <a:lumMod val="50000"/>
                  </a:schemeClr>
                </a:solidFill>
                <a:latin typeface="Berlin Sans FB" panose="020E0602020502020306" pitchFamily="34" charset="0"/>
              </a:rPr>
              <a:t>Awareness</a:t>
            </a:r>
          </a:p>
          <a:p>
            <a:pPr eaLnBrk="1" hangingPunct="1">
              <a:buFontTx/>
              <a:buNone/>
            </a:pPr>
            <a:r>
              <a:rPr lang="en-US" sz="3600">
                <a:solidFill>
                  <a:schemeClr val="accent2">
                    <a:lumMod val="50000"/>
                  </a:schemeClr>
                </a:solidFill>
                <a:latin typeface="Berlin Sans FB" panose="020E0602020502020306" pitchFamily="34" charset="0"/>
              </a:rPr>
              <a:t>b. Evaluation</a:t>
            </a:r>
          </a:p>
          <a:p>
            <a:pPr eaLnBrk="1" hangingPunct="1">
              <a:buFontTx/>
              <a:buNone/>
            </a:pPr>
            <a:r>
              <a:rPr lang="en-US" sz="3600">
                <a:solidFill>
                  <a:schemeClr val="accent2">
                    <a:lumMod val="50000"/>
                  </a:schemeClr>
                </a:solidFill>
                <a:latin typeface="Berlin Sans FB" panose="020E0602020502020306" pitchFamily="34" charset="0"/>
              </a:rPr>
              <a:t>c. Interest</a:t>
            </a:r>
          </a:p>
          <a:p>
            <a:pPr eaLnBrk="1" hangingPunct="1">
              <a:buFontTx/>
              <a:buNone/>
            </a:pPr>
            <a:r>
              <a:rPr lang="en-US" sz="3600">
                <a:solidFill>
                  <a:schemeClr val="accent2">
                    <a:lumMod val="50000"/>
                  </a:schemeClr>
                </a:solidFill>
                <a:latin typeface="Berlin Sans FB" panose="020E0602020502020306" pitchFamily="34" charset="0"/>
              </a:rPr>
              <a:t>d. Trial</a:t>
            </a:r>
          </a:p>
          <a:p>
            <a:pPr eaLnBrk="1" hangingPunct="1">
              <a:buFontTx/>
              <a:buChar char="•"/>
            </a:pPr>
            <a:endParaRPr lang="en-US">
              <a:solidFill>
                <a:schemeClr val="accent2">
                  <a:lumMod val="50000"/>
                </a:schemeClr>
              </a:solidFill>
              <a:latin typeface="Berlin Sans FB" panose="020E0602020502020306" pitchFamily="34" charset="0"/>
            </a:endParaRPr>
          </a:p>
        </p:txBody>
      </p:sp>
      <p:sp>
        <p:nvSpPr>
          <p:cNvPr id="251908" name="Text Box 4"/>
          <p:cNvSpPr txBox="1">
            <a:spLocks noChangeArrowheads="1"/>
          </p:cNvSpPr>
          <p:nvPr/>
        </p:nvSpPr>
        <p:spPr bwMode="auto">
          <a:xfrm>
            <a:off x="2514600" y="5106988"/>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C. Interest </a:t>
            </a:r>
          </a:p>
        </p:txBody>
      </p:sp>
    </p:spTree>
    <p:extLst>
      <p:ext uri="{BB962C8B-B14F-4D97-AF65-F5344CB8AC3E}">
        <p14:creationId xmlns:p14="http://schemas.microsoft.com/office/powerpoint/2010/main" val="2545825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2" end="2"/>
                                            </p:txEl>
                                          </p:spTgt>
                                        </p:tgtEl>
                                        <p:attrNameLst>
                                          <p:attrName>style.fontStyle</p:attrName>
                                        </p:attrNameLst>
                                      </p:cBhvr>
                                      <p:to>
                                        <p:strVal val="normal"/>
                                      </p:to>
                                    </p:set>
                                    <p:set>
                                      <p:cBhvr override="childStyle">
                                        <p:cTn id="7" dur="indefinite"/>
                                        <p:tgtEl>
                                          <p:spTgt spid="3">
                                            <p:txEl>
                                              <p:pRg st="2" end="2"/>
                                            </p:txEl>
                                          </p:spTgt>
                                        </p:tgtEl>
                                        <p:attrNameLst>
                                          <p:attrName>style.fontWeight</p:attrName>
                                        </p:attrNameLst>
                                      </p:cBhvr>
                                      <p:to>
                                        <p:strVal val="bold"/>
                                      </p:to>
                                    </p:set>
                                    <p:set>
                                      <p:cBhvr override="childStyle">
                                        <p:cTn id="8" dur="indefinite"/>
                                        <p:tgtEl>
                                          <p:spTgt spid="3">
                                            <p:txEl>
                                              <p:pRg st="2" end="2"/>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51908"/>
                                        </p:tgtEl>
                                        <p:attrNameLst>
                                          <p:attrName>style.visibility</p:attrName>
                                        </p:attrNameLst>
                                      </p:cBhvr>
                                      <p:to>
                                        <p:strVal val="visible"/>
                                      </p:to>
                                    </p:set>
                                    <p:animEffect transition="in" filter="wipe(down)">
                                      <p:cBhvr>
                                        <p:cTn id="13" dur="580">
                                          <p:stCondLst>
                                            <p:cond delay="0"/>
                                          </p:stCondLst>
                                        </p:cTn>
                                        <p:tgtEl>
                                          <p:spTgt spid="251908"/>
                                        </p:tgtEl>
                                      </p:cBhvr>
                                    </p:animEffect>
                                    <p:anim calcmode="lin" valueType="num">
                                      <p:cBhvr>
                                        <p:cTn id="14" dur="1822" tmFilter="0,0; 0.14,0.36; 0.43,0.73; 0.71,0.91; 1.0,1.0">
                                          <p:stCondLst>
                                            <p:cond delay="0"/>
                                          </p:stCondLst>
                                        </p:cTn>
                                        <p:tgtEl>
                                          <p:spTgt spid="251908"/>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51908"/>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51908"/>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51908"/>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51908"/>
                                        </p:tgtEl>
                                        <p:attrNameLst>
                                          <p:attrName>ppt_y</p:attrName>
                                        </p:attrNameLst>
                                      </p:cBhvr>
                                      <p:tavLst>
                                        <p:tav tm="0" fmla="#ppt_y-sin(pi*$)/81">
                                          <p:val>
                                            <p:fltVal val="0"/>
                                          </p:val>
                                        </p:tav>
                                        <p:tav tm="100000">
                                          <p:val>
                                            <p:fltVal val="1"/>
                                          </p:val>
                                        </p:tav>
                                      </p:tavLst>
                                    </p:anim>
                                    <p:animScale>
                                      <p:cBhvr>
                                        <p:cTn id="19" dur="26">
                                          <p:stCondLst>
                                            <p:cond delay="650"/>
                                          </p:stCondLst>
                                        </p:cTn>
                                        <p:tgtEl>
                                          <p:spTgt spid="251908"/>
                                        </p:tgtEl>
                                      </p:cBhvr>
                                      <p:to x="100000" y="60000"/>
                                    </p:animScale>
                                    <p:animScale>
                                      <p:cBhvr>
                                        <p:cTn id="20" dur="166" decel="50000">
                                          <p:stCondLst>
                                            <p:cond delay="676"/>
                                          </p:stCondLst>
                                        </p:cTn>
                                        <p:tgtEl>
                                          <p:spTgt spid="251908"/>
                                        </p:tgtEl>
                                      </p:cBhvr>
                                      <p:to x="100000" y="100000"/>
                                    </p:animScale>
                                    <p:animScale>
                                      <p:cBhvr>
                                        <p:cTn id="21" dur="26">
                                          <p:stCondLst>
                                            <p:cond delay="1312"/>
                                          </p:stCondLst>
                                        </p:cTn>
                                        <p:tgtEl>
                                          <p:spTgt spid="251908"/>
                                        </p:tgtEl>
                                      </p:cBhvr>
                                      <p:to x="100000" y="80000"/>
                                    </p:animScale>
                                    <p:animScale>
                                      <p:cBhvr>
                                        <p:cTn id="22" dur="166" decel="50000">
                                          <p:stCondLst>
                                            <p:cond delay="1338"/>
                                          </p:stCondLst>
                                        </p:cTn>
                                        <p:tgtEl>
                                          <p:spTgt spid="251908"/>
                                        </p:tgtEl>
                                      </p:cBhvr>
                                      <p:to x="100000" y="100000"/>
                                    </p:animScale>
                                    <p:animScale>
                                      <p:cBhvr>
                                        <p:cTn id="23" dur="26">
                                          <p:stCondLst>
                                            <p:cond delay="1642"/>
                                          </p:stCondLst>
                                        </p:cTn>
                                        <p:tgtEl>
                                          <p:spTgt spid="251908"/>
                                        </p:tgtEl>
                                      </p:cBhvr>
                                      <p:to x="100000" y="90000"/>
                                    </p:animScale>
                                    <p:animScale>
                                      <p:cBhvr>
                                        <p:cTn id="24" dur="166" decel="50000">
                                          <p:stCondLst>
                                            <p:cond delay="1668"/>
                                          </p:stCondLst>
                                        </p:cTn>
                                        <p:tgtEl>
                                          <p:spTgt spid="251908"/>
                                        </p:tgtEl>
                                      </p:cBhvr>
                                      <p:to x="100000" y="100000"/>
                                    </p:animScale>
                                    <p:animScale>
                                      <p:cBhvr>
                                        <p:cTn id="25" dur="26">
                                          <p:stCondLst>
                                            <p:cond delay="1808"/>
                                          </p:stCondLst>
                                        </p:cTn>
                                        <p:tgtEl>
                                          <p:spTgt spid="251908"/>
                                        </p:tgtEl>
                                      </p:cBhvr>
                                      <p:to x="100000" y="95000"/>
                                    </p:animScale>
                                    <p:animScale>
                                      <p:cBhvr>
                                        <p:cTn id="26" dur="166" decel="50000">
                                          <p:stCondLst>
                                            <p:cond delay="1834"/>
                                          </p:stCondLst>
                                        </p:cTn>
                                        <p:tgtEl>
                                          <p:spTgt spid="25190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itle 1"/>
          <p:cNvSpPr>
            <a:spLocks noGrp="1"/>
          </p:cNvSpPr>
          <p:nvPr>
            <p:ph type="title" idx="4294967295"/>
          </p:nvPr>
        </p:nvSpPr>
        <p:spPr>
          <a:xfrm>
            <a:off x="2438401" y="457200"/>
            <a:ext cx="7477125" cy="1143000"/>
          </a:xfrm>
        </p:spPr>
        <p:txBody>
          <a:bodyPr rtlCol="0">
            <a:normAutofit fontScale="90000"/>
          </a:bodyPr>
          <a:lstStyle/>
          <a:p>
            <a:pPr>
              <a:defRPr/>
            </a:pPr>
            <a:r>
              <a:rPr lang="en-US" sz="3200">
                <a:solidFill>
                  <a:schemeClr val="accent2">
                    <a:lumMod val="50000"/>
                  </a:schemeClr>
                </a:solidFill>
                <a:latin typeface="Berlin Sans FB" panose="020E0602020502020306" pitchFamily="34" charset="0"/>
              </a:rPr>
              <a:t>53. The stage in the adoption process wherein the farmers would apply a technology on a large scale is called</a:t>
            </a:r>
          </a:p>
        </p:txBody>
      </p:sp>
      <p:sp>
        <p:nvSpPr>
          <p:cNvPr id="3" name="Content Placeholder 2"/>
          <p:cNvSpPr>
            <a:spLocks noGrp="1"/>
          </p:cNvSpPr>
          <p:nvPr>
            <p:ph idx="4294967295"/>
          </p:nvPr>
        </p:nvSpPr>
        <p:spPr>
          <a:xfrm>
            <a:off x="2438400" y="18288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Adoption</a:t>
            </a:r>
          </a:p>
          <a:p>
            <a:pPr eaLnBrk="1" hangingPunct="1">
              <a:buFontTx/>
              <a:buNone/>
            </a:pPr>
            <a:r>
              <a:rPr lang="en-US" sz="3200">
                <a:solidFill>
                  <a:schemeClr val="accent2">
                    <a:lumMod val="50000"/>
                  </a:schemeClr>
                </a:solidFill>
                <a:latin typeface="Berlin Sans FB" panose="020E0602020502020306" pitchFamily="34" charset="0"/>
              </a:rPr>
              <a:t>b. Decision-rejection</a:t>
            </a:r>
          </a:p>
          <a:p>
            <a:pPr eaLnBrk="1" hangingPunct="1">
              <a:buFontTx/>
              <a:buNone/>
            </a:pPr>
            <a:r>
              <a:rPr lang="en-US" sz="3200">
                <a:solidFill>
                  <a:schemeClr val="accent2">
                    <a:lumMod val="50000"/>
                  </a:schemeClr>
                </a:solidFill>
                <a:latin typeface="Berlin Sans FB" panose="020E0602020502020306" pitchFamily="34" charset="0"/>
              </a:rPr>
              <a:t>c. Evaluation</a:t>
            </a:r>
          </a:p>
          <a:p>
            <a:pPr eaLnBrk="1" hangingPunct="1">
              <a:buFontTx/>
              <a:buNone/>
            </a:pPr>
            <a:r>
              <a:rPr lang="en-US" sz="3200">
                <a:solidFill>
                  <a:schemeClr val="accent2">
                    <a:lumMod val="50000"/>
                  </a:schemeClr>
                </a:solidFill>
                <a:latin typeface="Berlin Sans FB" panose="020E0602020502020306" pitchFamily="34" charset="0"/>
              </a:rPr>
              <a:t>d. Trial</a:t>
            </a:r>
          </a:p>
          <a:p>
            <a:pPr eaLnBrk="1" hangingPunct="1">
              <a:buFontTx/>
              <a:buChar char="•"/>
            </a:pPr>
            <a:endParaRPr lang="en-US" sz="3200">
              <a:solidFill>
                <a:schemeClr val="accent2">
                  <a:lumMod val="50000"/>
                </a:schemeClr>
              </a:solidFill>
              <a:latin typeface="Berlin Sans FB" panose="020E0602020502020306" pitchFamily="34" charset="0"/>
            </a:endParaRPr>
          </a:p>
        </p:txBody>
      </p:sp>
      <p:sp>
        <p:nvSpPr>
          <p:cNvPr id="252932" name="Text Box 4"/>
          <p:cNvSpPr txBox="1">
            <a:spLocks noChangeArrowheads="1"/>
          </p:cNvSpPr>
          <p:nvPr/>
        </p:nvSpPr>
        <p:spPr bwMode="auto">
          <a:xfrm>
            <a:off x="2590800" y="5259389"/>
            <a:ext cx="75438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400" b="1">
                <a:solidFill>
                  <a:schemeClr val="accent2">
                    <a:lumMod val="50000"/>
                  </a:schemeClr>
                </a:solidFill>
                <a:latin typeface="Berlin Sans FB" panose="020E0602020502020306" pitchFamily="34" charset="0"/>
              </a:rPr>
              <a:t>A. Adoption</a:t>
            </a:r>
          </a:p>
        </p:txBody>
      </p:sp>
    </p:spTree>
    <p:extLst>
      <p:ext uri="{BB962C8B-B14F-4D97-AF65-F5344CB8AC3E}">
        <p14:creationId xmlns:p14="http://schemas.microsoft.com/office/powerpoint/2010/main" val="3119620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3">
                                            <p:txEl>
                                              <p:pRg st="2" end="2"/>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252932"/>
                                        </p:tgtEl>
                                        <p:attrNameLst>
                                          <p:attrName>style.visibility</p:attrName>
                                        </p:attrNameLst>
                                      </p:cBhvr>
                                      <p:to>
                                        <p:strVal val="visible"/>
                                      </p:to>
                                    </p:set>
                                    <p:animEffect transition="in" filter="wipe(down)">
                                      <p:cBhvr>
                                        <p:cTn id="11" dur="580">
                                          <p:stCondLst>
                                            <p:cond delay="0"/>
                                          </p:stCondLst>
                                        </p:cTn>
                                        <p:tgtEl>
                                          <p:spTgt spid="252932"/>
                                        </p:tgtEl>
                                      </p:cBhvr>
                                    </p:animEffect>
                                    <p:anim calcmode="lin" valueType="num">
                                      <p:cBhvr>
                                        <p:cTn id="12" dur="1822" tmFilter="0,0; 0.14,0.36; 0.43,0.73; 0.71,0.91; 1.0,1.0">
                                          <p:stCondLst>
                                            <p:cond delay="0"/>
                                          </p:stCondLst>
                                        </p:cTn>
                                        <p:tgtEl>
                                          <p:spTgt spid="252932"/>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252932"/>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252932"/>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252932"/>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252932"/>
                                        </p:tgtEl>
                                        <p:attrNameLst>
                                          <p:attrName>ppt_y</p:attrName>
                                        </p:attrNameLst>
                                      </p:cBhvr>
                                      <p:tavLst>
                                        <p:tav tm="0" fmla="#ppt_y-sin(pi*$)/81">
                                          <p:val>
                                            <p:fltVal val="0"/>
                                          </p:val>
                                        </p:tav>
                                        <p:tav tm="100000">
                                          <p:val>
                                            <p:fltVal val="1"/>
                                          </p:val>
                                        </p:tav>
                                      </p:tavLst>
                                    </p:anim>
                                    <p:animScale>
                                      <p:cBhvr>
                                        <p:cTn id="17" dur="26">
                                          <p:stCondLst>
                                            <p:cond delay="650"/>
                                          </p:stCondLst>
                                        </p:cTn>
                                        <p:tgtEl>
                                          <p:spTgt spid="252932"/>
                                        </p:tgtEl>
                                      </p:cBhvr>
                                      <p:to x="100000" y="60000"/>
                                    </p:animScale>
                                    <p:animScale>
                                      <p:cBhvr>
                                        <p:cTn id="18" dur="166" decel="50000">
                                          <p:stCondLst>
                                            <p:cond delay="676"/>
                                          </p:stCondLst>
                                        </p:cTn>
                                        <p:tgtEl>
                                          <p:spTgt spid="252932"/>
                                        </p:tgtEl>
                                      </p:cBhvr>
                                      <p:to x="100000" y="100000"/>
                                    </p:animScale>
                                    <p:animScale>
                                      <p:cBhvr>
                                        <p:cTn id="19" dur="26">
                                          <p:stCondLst>
                                            <p:cond delay="1312"/>
                                          </p:stCondLst>
                                        </p:cTn>
                                        <p:tgtEl>
                                          <p:spTgt spid="252932"/>
                                        </p:tgtEl>
                                      </p:cBhvr>
                                      <p:to x="100000" y="80000"/>
                                    </p:animScale>
                                    <p:animScale>
                                      <p:cBhvr>
                                        <p:cTn id="20" dur="166" decel="50000">
                                          <p:stCondLst>
                                            <p:cond delay="1338"/>
                                          </p:stCondLst>
                                        </p:cTn>
                                        <p:tgtEl>
                                          <p:spTgt spid="252932"/>
                                        </p:tgtEl>
                                      </p:cBhvr>
                                      <p:to x="100000" y="100000"/>
                                    </p:animScale>
                                    <p:animScale>
                                      <p:cBhvr>
                                        <p:cTn id="21" dur="26">
                                          <p:stCondLst>
                                            <p:cond delay="1642"/>
                                          </p:stCondLst>
                                        </p:cTn>
                                        <p:tgtEl>
                                          <p:spTgt spid="252932"/>
                                        </p:tgtEl>
                                      </p:cBhvr>
                                      <p:to x="100000" y="90000"/>
                                    </p:animScale>
                                    <p:animScale>
                                      <p:cBhvr>
                                        <p:cTn id="22" dur="166" decel="50000">
                                          <p:stCondLst>
                                            <p:cond delay="1668"/>
                                          </p:stCondLst>
                                        </p:cTn>
                                        <p:tgtEl>
                                          <p:spTgt spid="252932"/>
                                        </p:tgtEl>
                                      </p:cBhvr>
                                      <p:to x="100000" y="100000"/>
                                    </p:animScale>
                                    <p:animScale>
                                      <p:cBhvr>
                                        <p:cTn id="23" dur="26">
                                          <p:stCondLst>
                                            <p:cond delay="1808"/>
                                          </p:stCondLst>
                                        </p:cTn>
                                        <p:tgtEl>
                                          <p:spTgt spid="252932"/>
                                        </p:tgtEl>
                                      </p:cBhvr>
                                      <p:to x="100000" y="95000"/>
                                    </p:animScale>
                                    <p:animScale>
                                      <p:cBhvr>
                                        <p:cTn id="24" dur="166" decel="50000">
                                          <p:stCondLst>
                                            <p:cond delay="1834"/>
                                          </p:stCondLst>
                                        </p:cTn>
                                        <p:tgtEl>
                                          <p:spTgt spid="25293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itle 1"/>
          <p:cNvSpPr>
            <a:spLocks noGrp="1"/>
          </p:cNvSpPr>
          <p:nvPr>
            <p:ph type="title" idx="4294967295"/>
          </p:nvPr>
        </p:nvSpPr>
        <p:spPr>
          <a:xfrm>
            <a:off x="2362201" y="455613"/>
            <a:ext cx="7477125" cy="1143000"/>
          </a:xfrm>
        </p:spPr>
        <p:txBody>
          <a:bodyPr rtlCol="0">
            <a:normAutofit fontScale="90000"/>
          </a:bodyPr>
          <a:lstStyle/>
          <a:p>
            <a:pPr>
              <a:defRPr/>
            </a:pPr>
            <a:r>
              <a:rPr lang="en-US" sz="3200" dirty="0">
                <a:solidFill>
                  <a:schemeClr val="accent2">
                    <a:lumMod val="50000"/>
                  </a:schemeClr>
                </a:solidFill>
                <a:latin typeface="Berlin Sans FB" panose="020E0602020502020306" pitchFamily="34" charset="0"/>
              </a:rPr>
              <a:t>54. The stage in the adoption process where mass media is the best source of information is the</a:t>
            </a:r>
          </a:p>
        </p:txBody>
      </p:sp>
      <p:sp>
        <p:nvSpPr>
          <p:cNvPr id="3" name="Content Placeholder 2"/>
          <p:cNvSpPr>
            <a:spLocks noGrp="1"/>
          </p:cNvSpPr>
          <p:nvPr>
            <p:ph idx="4294967295"/>
          </p:nvPr>
        </p:nvSpPr>
        <p:spPr>
          <a:xfrm>
            <a:off x="2743200" y="19812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Awareness stage</a:t>
            </a:r>
          </a:p>
          <a:p>
            <a:pPr eaLnBrk="1" hangingPunct="1">
              <a:buFontTx/>
              <a:buNone/>
            </a:pPr>
            <a:r>
              <a:rPr lang="en-US" sz="3200">
                <a:solidFill>
                  <a:schemeClr val="accent2">
                    <a:lumMod val="50000"/>
                  </a:schemeClr>
                </a:solidFill>
                <a:latin typeface="Berlin Sans FB" panose="020E0602020502020306" pitchFamily="34" charset="0"/>
              </a:rPr>
              <a:t>b. Interest stage</a:t>
            </a:r>
          </a:p>
          <a:p>
            <a:pPr eaLnBrk="1" hangingPunct="1">
              <a:buFontTx/>
              <a:buNone/>
            </a:pPr>
            <a:r>
              <a:rPr lang="en-US" sz="3200">
                <a:solidFill>
                  <a:schemeClr val="accent2">
                    <a:lumMod val="50000"/>
                  </a:schemeClr>
                </a:solidFill>
                <a:latin typeface="Berlin Sans FB" panose="020E0602020502020306" pitchFamily="34" charset="0"/>
              </a:rPr>
              <a:t>c. Evaluation stage</a:t>
            </a:r>
          </a:p>
          <a:p>
            <a:pPr eaLnBrk="1" hangingPunct="1">
              <a:buFontTx/>
              <a:buNone/>
            </a:pPr>
            <a:r>
              <a:rPr lang="en-US" sz="3200">
                <a:solidFill>
                  <a:schemeClr val="accent2">
                    <a:lumMod val="50000"/>
                  </a:schemeClr>
                </a:solidFill>
                <a:latin typeface="Berlin Sans FB" panose="020E0602020502020306" pitchFamily="34" charset="0"/>
              </a:rPr>
              <a:t>d. Trial stage</a:t>
            </a:r>
          </a:p>
        </p:txBody>
      </p:sp>
      <p:sp>
        <p:nvSpPr>
          <p:cNvPr id="253956" name="Text Box 4"/>
          <p:cNvSpPr txBox="1">
            <a:spLocks noChangeArrowheads="1"/>
          </p:cNvSpPr>
          <p:nvPr/>
        </p:nvSpPr>
        <p:spPr bwMode="auto">
          <a:xfrm>
            <a:off x="2665413" y="5181601"/>
            <a:ext cx="754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000" b="1">
                <a:solidFill>
                  <a:schemeClr val="accent2">
                    <a:lumMod val="50000"/>
                  </a:schemeClr>
                </a:solidFill>
                <a:latin typeface="Berlin Sans FB" panose="020E0602020502020306" pitchFamily="34" charset="0"/>
              </a:rPr>
              <a:t>A. Awareness stage</a:t>
            </a:r>
          </a:p>
        </p:txBody>
      </p:sp>
    </p:spTree>
    <p:extLst>
      <p:ext uri="{BB962C8B-B14F-4D97-AF65-F5344CB8AC3E}">
        <p14:creationId xmlns:p14="http://schemas.microsoft.com/office/powerpoint/2010/main" val="3957530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0" end="0"/>
                                            </p:txEl>
                                          </p:spTgt>
                                        </p:tgtEl>
                                        <p:attrNameLst>
                                          <p:attrName>style.fontStyle</p:attrName>
                                        </p:attrNameLst>
                                      </p:cBhvr>
                                      <p:to>
                                        <p:strVal val="normal"/>
                                      </p:to>
                                    </p:set>
                                    <p:set>
                                      <p:cBhvr override="childStyle">
                                        <p:cTn id="7" dur="indefinite"/>
                                        <p:tgtEl>
                                          <p:spTgt spid="3">
                                            <p:txEl>
                                              <p:pRg st="0" end="0"/>
                                            </p:txEl>
                                          </p:spTgt>
                                        </p:tgtEl>
                                        <p:attrNameLst>
                                          <p:attrName>style.fontWeight</p:attrName>
                                        </p:attrNameLst>
                                      </p:cBhvr>
                                      <p:to>
                                        <p:strVal val="bold"/>
                                      </p:to>
                                    </p:set>
                                    <p:set>
                                      <p:cBhvr override="childStyle">
                                        <p:cTn id="8" dur="indefinite"/>
                                        <p:tgtEl>
                                          <p:spTgt spid="3">
                                            <p:txEl>
                                              <p:pRg st="0" end="0"/>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53956"/>
                                        </p:tgtEl>
                                        <p:attrNameLst>
                                          <p:attrName>style.visibility</p:attrName>
                                        </p:attrNameLst>
                                      </p:cBhvr>
                                      <p:to>
                                        <p:strVal val="visible"/>
                                      </p:to>
                                    </p:set>
                                    <p:animEffect transition="in" filter="wipe(down)">
                                      <p:cBhvr>
                                        <p:cTn id="13" dur="580">
                                          <p:stCondLst>
                                            <p:cond delay="0"/>
                                          </p:stCondLst>
                                        </p:cTn>
                                        <p:tgtEl>
                                          <p:spTgt spid="253956"/>
                                        </p:tgtEl>
                                      </p:cBhvr>
                                    </p:animEffect>
                                    <p:anim calcmode="lin" valueType="num">
                                      <p:cBhvr>
                                        <p:cTn id="14" dur="1822" tmFilter="0,0; 0.14,0.36; 0.43,0.73; 0.71,0.91; 1.0,1.0">
                                          <p:stCondLst>
                                            <p:cond delay="0"/>
                                          </p:stCondLst>
                                        </p:cTn>
                                        <p:tgtEl>
                                          <p:spTgt spid="25395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5395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5395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5395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53956"/>
                                        </p:tgtEl>
                                        <p:attrNameLst>
                                          <p:attrName>ppt_y</p:attrName>
                                        </p:attrNameLst>
                                      </p:cBhvr>
                                      <p:tavLst>
                                        <p:tav tm="0" fmla="#ppt_y-sin(pi*$)/81">
                                          <p:val>
                                            <p:fltVal val="0"/>
                                          </p:val>
                                        </p:tav>
                                        <p:tav tm="100000">
                                          <p:val>
                                            <p:fltVal val="1"/>
                                          </p:val>
                                        </p:tav>
                                      </p:tavLst>
                                    </p:anim>
                                    <p:animScale>
                                      <p:cBhvr>
                                        <p:cTn id="19" dur="26">
                                          <p:stCondLst>
                                            <p:cond delay="650"/>
                                          </p:stCondLst>
                                        </p:cTn>
                                        <p:tgtEl>
                                          <p:spTgt spid="253956"/>
                                        </p:tgtEl>
                                      </p:cBhvr>
                                      <p:to x="100000" y="60000"/>
                                    </p:animScale>
                                    <p:animScale>
                                      <p:cBhvr>
                                        <p:cTn id="20" dur="166" decel="50000">
                                          <p:stCondLst>
                                            <p:cond delay="676"/>
                                          </p:stCondLst>
                                        </p:cTn>
                                        <p:tgtEl>
                                          <p:spTgt spid="253956"/>
                                        </p:tgtEl>
                                      </p:cBhvr>
                                      <p:to x="100000" y="100000"/>
                                    </p:animScale>
                                    <p:animScale>
                                      <p:cBhvr>
                                        <p:cTn id="21" dur="26">
                                          <p:stCondLst>
                                            <p:cond delay="1312"/>
                                          </p:stCondLst>
                                        </p:cTn>
                                        <p:tgtEl>
                                          <p:spTgt spid="253956"/>
                                        </p:tgtEl>
                                      </p:cBhvr>
                                      <p:to x="100000" y="80000"/>
                                    </p:animScale>
                                    <p:animScale>
                                      <p:cBhvr>
                                        <p:cTn id="22" dur="166" decel="50000">
                                          <p:stCondLst>
                                            <p:cond delay="1338"/>
                                          </p:stCondLst>
                                        </p:cTn>
                                        <p:tgtEl>
                                          <p:spTgt spid="253956"/>
                                        </p:tgtEl>
                                      </p:cBhvr>
                                      <p:to x="100000" y="100000"/>
                                    </p:animScale>
                                    <p:animScale>
                                      <p:cBhvr>
                                        <p:cTn id="23" dur="26">
                                          <p:stCondLst>
                                            <p:cond delay="1642"/>
                                          </p:stCondLst>
                                        </p:cTn>
                                        <p:tgtEl>
                                          <p:spTgt spid="253956"/>
                                        </p:tgtEl>
                                      </p:cBhvr>
                                      <p:to x="100000" y="90000"/>
                                    </p:animScale>
                                    <p:animScale>
                                      <p:cBhvr>
                                        <p:cTn id="24" dur="166" decel="50000">
                                          <p:stCondLst>
                                            <p:cond delay="1668"/>
                                          </p:stCondLst>
                                        </p:cTn>
                                        <p:tgtEl>
                                          <p:spTgt spid="253956"/>
                                        </p:tgtEl>
                                      </p:cBhvr>
                                      <p:to x="100000" y="100000"/>
                                    </p:animScale>
                                    <p:animScale>
                                      <p:cBhvr>
                                        <p:cTn id="25" dur="26">
                                          <p:stCondLst>
                                            <p:cond delay="1808"/>
                                          </p:stCondLst>
                                        </p:cTn>
                                        <p:tgtEl>
                                          <p:spTgt spid="253956"/>
                                        </p:tgtEl>
                                      </p:cBhvr>
                                      <p:to x="100000" y="95000"/>
                                    </p:animScale>
                                    <p:animScale>
                                      <p:cBhvr>
                                        <p:cTn id="26" dur="166" decel="50000">
                                          <p:stCondLst>
                                            <p:cond delay="1834"/>
                                          </p:stCondLst>
                                        </p:cTn>
                                        <p:tgtEl>
                                          <p:spTgt spid="25395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6"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itle 1"/>
          <p:cNvSpPr>
            <a:spLocks noGrp="1"/>
          </p:cNvSpPr>
          <p:nvPr>
            <p:ph type="title" idx="4294967295"/>
          </p:nvPr>
        </p:nvSpPr>
        <p:spPr>
          <a:xfrm>
            <a:off x="2362201" y="685800"/>
            <a:ext cx="7400925" cy="1449388"/>
          </a:xfrm>
        </p:spPr>
        <p:txBody>
          <a:bodyPr/>
          <a:lstStyle/>
          <a:p>
            <a:pPr eaLnBrk="1" hangingPunct="1"/>
            <a:r>
              <a:rPr lang="en-US" sz="3600">
                <a:solidFill>
                  <a:schemeClr val="accent2">
                    <a:lumMod val="50000"/>
                  </a:schemeClr>
                </a:solidFill>
                <a:latin typeface="Berlin Sans FB" panose="020E0602020502020306" pitchFamily="34" charset="0"/>
              </a:rPr>
              <a:t>55. The stage in the adoption process where close friends and other farmers are best sources of information is the</a:t>
            </a:r>
          </a:p>
        </p:txBody>
      </p:sp>
      <p:sp>
        <p:nvSpPr>
          <p:cNvPr id="3" name="Content Placeholder 2"/>
          <p:cNvSpPr>
            <a:spLocks noGrp="1"/>
          </p:cNvSpPr>
          <p:nvPr>
            <p:ph idx="4294967295"/>
          </p:nvPr>
        </p:nvSpPr>
        <p:spPr>
          <a:xfrm>
            <a:off x="2514600" y="2659064"/>
            <a:ext cx="7386638" cy="4497387"/>
          </a:xfrm>
        </p:spPr>
        <p:txBody>
          <a:bodyPr/>
          <a:lstStyle/>
          <a:p>
            <a:pPr eaLnBrk="1" hangingPunct="1">
              <a:buFontTx/>
              <a:buNone/>
            </a:pPr>
            <a:r>
              <a:rPr lang="en-US" sz="3200">
                <a:solidFill>
                  <a:schemeClr val="accent2">
                    <a:lumMod val="50000"/>
                  </a:schemeClr>
                </a:solidFill>
                <a:latin typeface="Berlin Sans FB" panose="020E0602020502020306" pitchFamily="34" charset="0"/>
              </a:rPr>
              <a:t>a. Interest stage</a:t>
            </a:r>
          </a:p>
          <a:p>
            <a:pPr eaLnBrk="1" hangingPunct="1">
              <a:buFontTx/>
              <a:buNone/>
            </a:pPr>
            <a:r>
              <a:rPr lang="en-US" sz="3200">
                <a:solidFill>
                  <a:schemeClr val="accent2">
                    <a:lumMod val="50000"/>
                  </a:schemeClr>
                </a:solidFill>
                <a:latin typeface="Berlin Sans FB" panose="020E0602020502020306" pitchFamily="34" charset="0"/>
              </a:rPr>
              <a:t>b. Trial stage</a:t>
            </a:r>
          </a:p>
          <a:p>
            <a:pPr eaLnBrk="1" hangingPunct="1">
              <a:buFontTx/>
              <a:buNone/>
            </a:pPr>
            <a:r>
              <a:rPr lang="en-US" sz="3200">
                <a:solidFill>
                  <a:schemeClr val="accent2">
                    <a:lumMod val="50000"/>
                  </a:schemeClr>
                </a:solidFill>
                <a:latin typeface="Berlin Sans FB" panose="020E0602020502020306" pitchFamily="34" charset="0"/>
              </a:rPr>
              <a:t>c. Evaluation stage</a:t>
            </a:r>
          </a:p>
          <a:p>
            <a:pPr eaLnBrk="1" hangingPunct="1">
              <a:buFontTx/>
              <a:buNone/>
            </a:pPr>
            <a:r>
              <a:rPr lang="en-US" sz="3200">
                <a:solidFill>
                  <a:schemeClr val="accent2">
                    <a:lumMod val="50000"/>
                  </a:schemeClr>
                </a:solidFill>
                <a:latin typeface="Berlin Sans FB" panose="020E0602020502020306" pitchFamily="34" charset="0"/>
              </a:rPr>
              <a:t>d. Adoption stage</a:t>
            </a:r>
          </a:p>
        </p:txBody>
      </p:sp>
      <p:sp>
        <p:nvSpPr>
          <p:cNvPr id="254980" name="Text Box 4"/>
          <p:cNvSpPr txBox="1">
            <a:spLocks noChangeArrowheads="1"/>
          </p:cNvSpPr>
          <p:nvPr/>
        </p:nvSpPr>
        <p:spPr bwMode="auto">
          <a:xfrm>
            <a:off x="2514600" y="5487988"/>
            <a:ext cx="75438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000" b="1">
                <a:solidFill>
                  <a:schemeClr val="accent2">
                    <a:lumMod val="50000"/>
                  </a:schemeClr>
                </a:solidFill>
                <a:latin typeface="Berlin Sans FB" panose="020E0602020502020306" pitchFamily="34" charset="0"/>
              </a:rPr>
              <a:t>C. Evaluation Stage</a:t>
            </a:r>
          </a:p>
          <a:p>
            <a:pPr>
              <a:spcBef>
                <a:spcPct val="50000"/>
              </a:spcBef>
            </a:pPr>
            <a:endParaRPr lang="en-US" sz="4000" b="1">
              <a:solidFill>
                <a:schemeClr val="accent2">
                  <a:lumMod val="50000"/>
                </a:schemeClr>
              </a:solidFill>
              <a:latin typeface="Berlin Sans FB" panose="020E0602020502020306" pitchFamily="34" charset="0"/>
            </a:endParaRPr>
          </a:p>
        </p:txBody>
      </p:sp>
    </p:spTree>
    <p:extLst>
      <p:ext uri="{BB962C8B-B14F-4D97-AF65-F5344CB8AC3E}">
        <p14:creationId xmlns:p14="http://schemas.microsoft.com/office/powerpoint/2010/main" val="33129810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3">
                                            <p:txEl>
                                              <p:pRg st="2" end="2"/>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254980"/>
                                        </p:tgtEl>
                                        <p:attrNameLst>
                                          <p:attrName>style.visibility</p:attrName>
                                        </p:attrNameLst>
                                      </p:cBhvr>
                                      <p:to>
                                        <p:strVal val="visible"/>
                                      </p:to>
                                    </p:set>
                                    <p:animEffect transition="in" filter="wipe(down)">
                                      <p:cBhvr>
                                        <p:cTn id="11" dur="580">
                                          <p:stCondLst>
                                            <p:cond delay="0"/>
                                          </p:stCondLst>
                                        </p:cTn>
                                        <p:tgtEl>
                                          <p:spTgt spid="254980"/>
                                        </p:tgtEl>
                                      </p:cBhvr>
                                    </p:animEffect>
                                    <p:anim calcmode="lin" valueType="num">
                                      <p:cBhvr>
                                        <p:cTn id="12" dur="1822" tmFilter="0,0; 0.14,0.36; 0.43,0.73; 0.71,0.91; 1.0,1.0">
                                          <p:stCondLst>
                                            <p:cond delay="0"/>
                                          </p:stCondLst>
                                        </p:cTn>
                                        <p:tgtEl>
                                          <p:spTgt spid="254980"/>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254980"/>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254980"/>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254980"/>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254980"/>
                                        </p:tgtEl>
                                        <p:attrNameLst>
                                          <p:attrName>ppt_y</p:attrName>
                                        </p:attrNameLst>
                                      </p:cBhvr>
                                      <p:tavLst>
                                        <p:tav tm="0" fmla="#ppt_y-sin(pi*$)/81">
                                          <p:val>
                                            <p:fltVal val="0"/>
                                          </p:val>
                                        </p:tav>
                                        <p:tav tm="100000">
                                          <p:val>
                                            <p:fltVal val="1"/>
                                          </p:val>
                                        </p:tav>
                                      </p:tavLst>
                                    </p:anim>
                                    <p:animScale>
                                      <p:cBhvr>
                                        <p:cTn id="17" dur="26">
                                          <p:stCondLst>
                                            <p:cond delay="650"/>
                                          </p:stCondLst>
                                        </p:cTn>
                                        <p:tgtEl>
                                          <p:spTgt spid="254980"/>
                                        </p:tgtEl>
                                      </p:cBhvr>
                                      <p:to x="100000" y="60000"/>
                                    </p:animScale>
                                    <p:animScale>
                                      <p:cBhvr>
                                        <p:cTn id="18" dur="166" decel="50000">
                                          <p:stCondLst>
                                            <p:cond delay="676"/>
                                          </p:stCondLst>
                                        </p:cTn>
                                        <p:tgtEl>
                                          <p:spTgt spid="254980"/>
                                        </p:tgtEl>
                                      </p:cBhvr>
                                      <p:to x="100000" y="100000"/>
                                    </p:animScale>
                                    <p:animScale>
                                      <p:cBhvr>
                                        <p:cTn id="19" dur="26">
                                          <p:stCondLst>
                                            <p:cond delay="1312"/>
                                          </p:stCondLst>
                                        </p:cTn>
                                        <p:tgtEl>
                                          <p:spTgt spid="254980"/>
                                        </p:tgtEl>
                                      </p:cBhvr>
                                      <p:to x="100000" y="80000"/>
                                    </p:animScale>
                                    <p:animScale>
                                      <p:cBhvr>
                                        <p:cTn id="20" dur="166" decel="50000">
                                          <p:stCondLst>
                                            <p:cond delay="1338"/>
                                          </p:stCondLst>
                                        </p:cTn>
                                        <p:tgtEl>
                                          <p:spTgt spid="254980"/>
                                        </p:tgtEl>
                                      </p:cBhvr>
                                      <p:to x="100000" y="100000"/>
                                    </p:animScale>
                                    <p:animScale>
                                      <p:cBhvr>
                                        <p:cTn id="21" dur="26">
                                          <p:stCondLst>
                                            <p:cond delay="1642"/>
                                          </p:stCondLst>
                                        </p:cTn>
                                        <p:tgtEl>
                                          <p:spTgt spid="254980"/>
                                        </p:tgtEl>
                                      </p:cBhvr>
                                      <p:to x="100000" y="90000"/>
                                    </p:animScale>
                                    <p:animScale>
                                      <p:cBhvr>
                                        <p:cTn id="22" dur="166" decel="50000">
                                          <p:stCondLst>
                                            <p:cond delay="1668"/>
                                          </p:stCondLst>
                                        </p:cTn>
                                        <p:tgtEl>
                                          <p:spTgt spid="254980"/>
                                        </p:tgtEl>
                                      </p:cBhvr>
                                      <p:to x="100000" y="100000"/>
                                    </p:animScale>
                                    <p:animScale>
                                      <p:cBhvr>
                                        <p:cTn id="23" dur="26">
                                          <p:stCondLst>
                                            <p:cond delay="1808"/>
                                          </p:stCondLst>
                                        </p:cTn>
                                        <p:tgtEl>
                                          <p:spTgt spid="254980"/>
                                        </p:tgtEl>
                                      </p:cBhvr>
                                      <p:to x="100000" y="95000"/>
                                    </p:animScale>
                                    <p:animScale>
                                      <p:cBhvr>
                                        <p:cTn id="24" dur="166" decel="50000">
                                          <p:stCondLst>
                                            <p:cond delay="1834"/>
                                          </p:stCondLst>
                                        </p:cTn>
                                        <p:tgtEl>
                                          <p:spTgt spid="25498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0"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itle 1"/>
          <p:cNvSpPr>
            <a:spLocks noGrp="1"/>
          </p:cNvSpPr>
          <p:nvPr>
            <p:ph type="title" idx="4294967295"/>
          </p:nvPr>
        </p:nvSpPr>
        <p:spPr>
          <a:xfrm>
            <a:off x="2438401" y="609600"/>
            <a:ext cx="7477125" cy="1143000"/>
          </a:xfrm>
        </p:spPr>
        <p:txBody>
          <a:bodyPr/>
          <a:lstStyle/>
          <a:p>
            <a:pPr eaLnBrk="1" hangingPunct="1"/>
            <a:r>
              <a:rPr lang="en-US" sz="3600">
                <a:solidFill>
                  <a:schemeClr val="accent2">
                    <a:lumMod val="50000"/>
                  </a:schemeClr>
                </a:solidFill>
                <a:latin typeface="Berlin Sans FB" panose="020E0602020502020306" pitchFamily="34" charset="0"/>
              </a:rPr>
              <a:t>56. The first persons in the locality to adopt a technology are called</a:t>
            </a:r>
          </a:p>
        </p:txBody>
      </p:sp>
      <p:sp>
        <p:nvSpPr>
          <p:cNvPr id="305155" name="Content Placeholder 2"/>
          <p:cNvSpPr>
            <a:spLocks noGrp="1"/>
          </p:cNvSpPr>
          <p:nvPr>
            <p:ph idx="4294967295"/>
          </p:nvPr>
        </p:nvSpPr>
        <p:spPr>
          <a:xfrm>
            <a:off x="2438400" y="1981200"/>
            <a:ext cx="7386638" cy="4497388"/>
          </a:xfrm>
        </p:spPr>
        <p:txBody>
          <a:bodyPr/>
          <a:lstStyle/>
          <a:p>
            <a:pPr eaLnBrk="1" hangingPunct="1">
              <a:buFontTx/>
              <a:buAutoNum type="alphaLcPeriod"/>
            </a:pPr>
            <a:r>
              <a:rPr lang="en-US" sz="3600">
                <a:solidFill>
                  <a:schemeClr val="accent2">
                    <a:lumMod val="50000"/>
                  </a:schemeClr>
                </a:solidFill>
                <a:latin typeface="Berlin Sans FB" panose="020E0602020502020306" pitchFamily="34" charset="0"/>
              </a:rPr>
              <a:t>Early adopters</a:t>
            </a:r>
          </a:p>
          <a:p>
            <a:pPr eaLnBrk="1" hangingPunct="1">
              <a:buFontTx/>
              <a:buAutoNum type="alphaLcPeriod"/>
            </a:pPr>
            <a:r>
              <a:rPr lang="en-US" sz="3600">
                <a:solidFill>
                  <a:schemeClr val="accent2">
                    <a:lumMod val="50000"/>
                  </a:schemeClr>
                </a:solidFill>
                <a:latin typeface="Berlin Sans FB" panose="020E0602020502020306" pitchFamily="34" charset="0"/>
              </a:rPr>
              <a:t>Early majority</a:t>
            </a:r>
          </a:p>
          <a:p>
            <a:pPr eaLnBrk="1" hangingPunct="1">
              <a:buFontTx/>
              <a:buAutoNum type="alphaLcPeriod"/>
            </a:pPr>
            <a:r>
              <a:rPr lang="en-US" sz="3600">
                <a:solidFill>
                  <a:schemeClr val="accent2">
                    <a:lumMod val="50000"/>
                  </a:schemeClr>
                </a:solidFill>
                <a:latin typeface="Berlin Sans FB" panose="020E0602020502020306" pitchFamily="34" charset="0"/>
              </a:rPr>
              <a:t>Innovators</a:t>
            </a:r>
          </a:p>
          <a:p>
            <a:pPr eaLnBrk="1" hangingPunct="1">
              <a:buFontTx/>
              <a:buAutoNum type="alphaLcPeriod"/>
            </a:pPr>
            <a:r>
              <a:rPr lang="en-US" sz="3600">
                <a:solidFill>
                  <a:schemeClr val="accent2">
                    <a:lumMod val="50000"/>
                  </a:schemeClr>
                </a:solidFill>
                <a:latin typeface="Berlin Sans FB" panose="020E0602020502020306" pitchFamily="34" charset="0"/>
              </a:rPr>
              <a:t>Trend setters</a:t>
            </a:r>
          </a:p>
        </p:txBody>
      </p:sp>
      <p:sp>
        <p:nvSpPr>
          <p:cNvPr id="138245" name="Text Box 5"/>
          <p:cNvSpPr txBox="1">
            <a:spLocks noChangeArrowheads="1"/>
          </p:cNvSpPr>
          <p:nvPr/>
        </p:nvSpPr>
        <p:spPr bwMode="auto">
          <a:xfrm>
            <a:off x="2590800" y="54117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C. Innovators</a:t>
            </a:r>
          </a:p>
        </p:txBody>
      </p:sp>
    </p:spTree>
    <p:extLst>
      <p:ext uri="{BB962C8B-B14F-4D97-AF65-F5344CB8AC3E}">
        <p14:creationId xmlns:p14="http://schemas.microsoft.com/office/powerpoint/2010/main" val="3076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wipe(down)">
                                      <p:cBhvr>
                                        <p:cTn id="7" dur="580">
                                          <p:stCondLst>
                                            <p:cond delay="0"/>
                                          </p:stCondLst>
                                        </p:cTn>
                                        <p:tgtEl>
                                          <p:spTgt spid="138245"/>
                                        </p:tgtEl>
                                      </p:cBhvr>
                                    </p:animEffect>
                                    <p:anim calcmode="lin" valueType="num">
                                      <p:cBhvr>
                                        <p:cTn id="8" dur="1822" tmFilter="0,0; 0.14,0.36; 0.43,0.73; 0.71,0.91; 1.0,1.0">
                                          <p:stCondLst>
                                            <p:cond delay="0"/>
                                          </p:stCondLst>
                                        </p:cTn>
                                        <p:tgtEl>
                                          <p:spTgt spid="13824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824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824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824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8245"/>
                                        </p:tgtEl>
                                        <p:attrNameLst>
                                          <p:attrName>ppt_y</p:attrName>
                                        </p:attrNameLst>
                                      </p:cBhvr>
                                      <p:tavLst>
                                        <p:tav tm="0" fmla="#ppt_y-sin(pi*$)/81">
                                          <p:val>
                                            <p:fltVal val="0"/>
                                          </p:val>
                                        </p:tav>
                                        <p:tav tm="100000">
                                          <p:val>
                                            <p:fltVal val="1"/>
                                          </p:val>
                                        </p:tav>
                                      </p:tavLst>
                                    </p:anim>
                                    <p:animScale>
                                      <p:cBhvr>
                                        <p:cTn id="13" dur="26">
                                          <p:stCondLst>
                                            <p:cond delay="650"/>
                                          </p:stCondLst>
                                        </p:cTn>
                                        <p:tgtEl>
                                          <p:spTgt spid="138245"/>
                                        </p:tgtEl>
                                      </p:cBhvr>
                                      <p:to x="100000" y="60000"/>
                                    </p:animScale>
                                    <p:animScale>
                                      <p:cBhvr>
                                        <p:cTn id="14" dur="166" decel="50000">
                                          <p:stCondLst>
                                            <p:cond delay="676"/>
                                          </p:stCondLst>
                                        </p:cTn>
                                        <p:tgtEl>
                                          <p:spTgt spid="138245"/>
                                        </p:tgtEl>
                                      </p:cBhvr>
                                      <p:to x="100000" y="100000"/>
                                    </p:animScale>
                                    <p:animScale>
                                      <p:cBhvr>
                                        <p:cTn id="15" dur="26">
                                          <p:stCondLst>
                                            <p:cond delay="1312"/>
                                          </p:stCondLst>
                                        </p:cTn>
                                        <p:tgtEl>
                                          <p:spTgt spid="138245"/>
                                        </p:tgtEl>
                                      </p:cBhvr>
                                      <p:to x="100000" y="80000"/>
                                    </p:animScale>
                                    <p:animScale>
                                      <p:cBhvr>
                                        <p:cTn id="16" dur="166" decel="50000">
                                          <p:stCondLst>
                                            <p:cond delay="1338"/>
                                          </p:stCondLst>
                                        </p:cTn>
                                        <p:tgtEl>
                                          <p:spTgt spid="138245"/>
                                        </p:tgtEl>
                                      </p:cBhvr>
                                      <p:to x="100000" y="100000"/>
                                    </p:animScale>
                                    <p:animScale>
                                      <p:cBhvr>
                                        <p:cTn id="17" dur="26">
                                          <p:stCondLst>
                                            <p:cond delay="1642"/>
                                          </p:stCondLst>
                                        </p:cTn>
                                        <p:tgtEl>
                                          <p:spTgt spid="138245"/>
                                        </p:tgtEl>
                                      </p:cBhvr>
                                      <p:to x="100000" y="90000"/>
                                    </p:animScale>
                                    <p:animScale>
                                      <p:cBhvr>
                                        <p:cTn id="18" dur="166" decel="50000">
                                          <p:stCondLst>
                                            <p:cond delay="1668"/>
                                          </p:stCondLst>
                                        </p:cTn>
                                        <p:tgtEl>
                                          <p:spTgt spid="138245"/>
                                        </p:tgtEl>
                                      </p:cBhvr>
                                      <p:to x="100000" y="100000"/>
                                    </p:animScale>
                                    <p:animScale>
                                      <p:cBhvr>
                                        <p:cTn id="19" dur="26">
                                          <p:stCondLst>
                                            <p:cond delay="1808"/>
                                          </p:stCondLst>
                                        </p:cTn>
                                        <p:tgtEl>
                                          <p:spTgt spid="138245"/>
                                        </p:tgtEl>
                                      </p:cBhvr>
                                      <p:to x="100000" y="95000"/>
                                    </p:animScale>
                                    <p:animScale>
                                      <p:cBhvr>
                                        <p:cTn id="20" dur="166" decel="50000">
                                          <p:stCondLst>
                                            <p:cond delay="1834"/>
                                          </p:stCondLst>
                                        </p:cTn>
                                        <p:tgtEl>
                                          <p:spTgt spid="13824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itle 1"/>
          <p:cNvSpPr>
            <a:spLocks noGrp="1"/>
          </p:cNvSpPr>
          <p:nvPr>
            <p:ph type="title" idx="4294967295"/>
          </p:nvPr>
        </p:nvSpPr>
        <p:spPr>
          <a:xfrm>
            <a:off x="2133601" y="381000"/>
            <a:ext cx="7477125" cy="1677988"/>
          </a:xfrm>
        </p:spPr>
        <p:txBody>
          <a:bodyPr/>
          <a:lstStyle/>
          <a:p>
            <a:pPr eaLnBrk="1" hangingPunct="1"/>
            <a:r>
              <a:rPr lang="en-US" sz="3600">
                <a:solidFill>
                  <a:schemeClr val="accent2">
                    <a:lumMod val="50000"/>
                  </a:schemeClr>
                </a:solidFill>
                <a:latin typeface="Berlin Sans FB" panose="020E0602020502020306" pitchFamily="34" charset="0"/>
              </a:rPr>
              <a:t>57. One characteristic of the late adopters or the laggards is that they are</a:t>
            </a:r>
          </a:p>
        </p:txBody>
      </p:sp>
      <p:sp>
        <p:nvSpPr>
          <p:cNvPr id="3" name="Content Placeholder 2"/>
          <p:cNvSpPr>
            <a:spLocks noGrp="1"/>
          </p:cNvSpPr>
          <p:nvPr>
            <p:ph idx="4294967295"/>
          </p:nvPr>
        </p:nvSpPr>
        <p:spPr>
          <a:xfrm>
            <a:off x="2133600" y="2211388"/>
            <a:ext cx="7386638" cy="4038600"/>
          </a:xfrm>
        </p:spPr>
        <p:txBody>
          <a:bodyPr/>
          <a:lstStyle/>
          <a:p>
            <a:pPr eaLnBrk="1" hangingPunct="1">
              <a:buFontTx/>
              <a:buNone/>
            </a:pPr>
            <a:r>
              <a:rPr lang="en-US" sz="3200">
                <a:solidFill>
                  <a:schemeClr val="accent2">
                    <a:lumMod val="50000"/>
                  </a:schemeClr>
                </a:solidFill>
                <a:latin typeface="Berlin Sans FB" panose="020E0602020502020306" pitchFamily="34" charset="0"/>
              </a:rPr>
              <a:t>a. Cosmopolite</a:t>
            </a:r>
          </a:p>
          <a:p>
            <a:pPr eaLnBrk="1" hangingPunct="1">
              <a:buFontTx/>
              <a:buNone/>
            </a:pPr>
            <a:r>
              <a:rPr lang="en-US" sz="3200">
                <a:solidFill>
                  <a:schemeClr val="accent2">
                    <a:lumMod val="50000"/>
                  </a:schemeClr>
                </a:solidFill>
                <a:latin typeface="Berlin Sans FB" panose="020E0602020502020306" pitchFamily="34" charset="0"/>
              </a:rPr>
              <a:t>b. Younger than the majority</a:t>
            </a:r>
          </a:p>
          <a:p>
            <a:pPr eaLnBrk="1" hangingPunct="1">
              <a:buFontTx/>
              <a:buNone/>
            </a:pPr>
            <a:r>
              <a:rPr lang="en-US" sz="3200">
                <a:solidFill>
                  <a:schemeClr val="accent2">
                    <a:lumMod val="50000"/>
                  </a:schemeClr>
                </a:solidFill>
                <a:latin typeface="Berlin Sans FB" panose="020E0602020502020306" pitchFamily="34" charset="0"/>
              </a:rPr>
              <a:t>c. More conservative</a:t>
            </a:r>
          </a:p>
          <a:p>
            <a:pPr eaLnBrk="1" hangingPunct="1">
              <a:buFontTx/>
              <a:buNone/>
            </a:pPr>
            <a:r>
              <a:rPr lang="en-US" sz="3200">
                <a:solidFill>
                  <a:schemeClr val="accent2">
                    <a:lumMod val="50000"/>
                  </a:schemeClr>
                </a:solidFill>
                <a:latin typeface="Berlin Sans FB" panose="020E0602020502020306" pitchFamily="34" charset="0"/>
              </a:rPr>
              <a:t>d. High risk takers</a:t>
            </a:r>
          </a:p>
        </p:txBody>
      </p:sp>
      <p:sp>
        <p:nvSpPr>
          <p:cNvPr id="257028" name="Text Box 4"/>
          <p:cNvSpPr txBox="1">
            <a:spLocks noChangeArrowheads="1"/>
          </p:cNvSpPr>
          <p:nvPr/>
        </p:nvSpPr>
        <p:spPr bwMode="auto">
          <a:xfrm>
            <a:off x="2286000" y="51831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C. More conservative</a:t>
            </a:r>
          </a:p>
        </p:txBody>
      </p:sp>
    </p:spTree>
    <p:extLst>
      <p:ext uri="{BB962C8B-B14F-4D97-AF65-F5344CB8AC3E}">
        <p14:creationId xmlns:p14="http://schemas.microsoft.com/office/powerpoint/2010/main" val="2060993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2" end="2"/>
                                            </p:txEl>
                                          </p:spTgt>
                                        </p:tgtEl>
                                        <p:attrNameLst>
                                          <p:attrName>style.fontStyle</p:attrName>
                                        </p:attrNameLst>
                                      </p:cBhvr>
                                      <p:to>
                                        <p:strVal val="normal"/>
                                      </p:to>
                                    </p:set>
                                    <p:set>
                                      <p:cBhvr override="childStyle">
                                        <p:cTn id="7" dur="indefinite"/>
                                        <p:tgtEl>
                                          <p:spTgt spid="3">
                                            <p:txEl>
                                              <p:pRg st="2" end="2"/>
                                            </p:txEl>
                                          </p:spTgt>
                                        </p:tgtEl>
                                        <p:attrNameLst>
                                          <p:attrName>style.fontWeight</p:attrName>
                                        </p:attrNameLst>
                                      </p:cBhvr>
                                      <p:to>
                                        <p:strVal val="bold"/>
                                      </p:to>
                                    </p:set>
                                    <p:set>
                                      <p:cBhvr override="childStyle">
                                        <p:cTn id="8" dur="indefinite"/>
                                        <p:tgtEl>
                                          <p:spTgt spid="3">
                                            <p:txEl>
                                              <p:pRg st="2" end="2"/>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57028"/>
                                        </p:tgtEl>
                                        <p:attrNameLst>
                                          <p:attrName>style.visibility</p:attrName>
                                        </p:attrNameLst>
                                      </p:cBhvr>
                                      <p:to>
                                        <p:strVal val="visible"/>
                                      </p:to>
                                    </p:set>
                                    <p:animEffect transition="in" filter="wipe(down)">
                                      <p:cBhvr>
                                        <p:cTn id="13" dur="580">
                                          <p:stCondLst>
                                            <p:cond delay="0"/>
                                          </p:stCondLst>
                                        </p:cTn>
                                        <p:tgtEl>
                                          <p:spTgt spid="257028"/>
                                        </p:tgtEl>
                                      </p:cBhvr>
                                    </p:animEffect>
                                    <p:anim calcmode="lin" valueType="num">
                                      <p:cBhvr>
                                        <p:cTn id="14" dur="1822" tmFilter="0,0; 0.14,0.36; 0.43,0.73; 0.71,0.91; 1.0,1.0">
                                          <p:stCondLst>
                                            <p:cond delay="0"/>
                                          </p:stCondLst>
                                        </p:cTn>
                                        <p:tgtEl>
                                          <p:spTgt spid="257028"/>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57028"/>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57028"/>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57028"/>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57028"/>
                                        </p:tgtEl>
                                        <p:attrNameLst>
                                          <p:attrName>ppt_y</p:attrName>
                                        </p:attrNameLst>
                                      </p:cBhvr>
                                      <p:tavLst>
                                        <p:tav tm="0" fmla="#ppt_y-sin(pi*$)/81">
                                          <p:val>
                                            <p:fltVal val="0"/>
                                          </p:val>
                                        </p:tav>
                                        <p:tav tm="100000">
                                          <p:val>
                                            <p:fltVal val="1"/>
                                          </p:val>
                                        </p:tav>
                                      </p:tavLst>
                                    </p:anim>
                                    <p:animScale>
                                      <p:cBhvr>
                                        <p:cTn id="19" dur="26">
                                          <p:stCondLst>
                                            <p:cond delay="650"/>
                                          </p:stCondLst>
                                        </p:cTn>
                                        <p:tgtEl>
                                          <p:spTgt spid="257028"/>
                                        </p:tgtEl>
                                      </p:cBhvr>
                                      <p:to x="100000" y="60000"/>
                                    </p:animScale>
                                    <p:animScale>
                                      <p:cBhvr>
                                        <p:cTn id="20" dur="166" decel="50000">
                                          <p:stCondLst>
                                            <p:cond delay="676"/>
                                          </p:stCondLst>
                                        </p:cTn>
                                        <p:tgtEl>
                                          <p:spTgt spid="257028"/>
                                        </p:tgtEl>
                                      </p:cBhvr>
                                      <p:to x="100000" y="100000"/>
                                    </p:animScale>
                                    <p:animScale>
                                      <p:cBhvr>
                                        <p:cTn id="21" dur="26">
                                          <p:stCondLst>
                                            <p:cond delay="1312"/>
                                          </p:stCondLst>
                                        </p:cTn>
                                        <p:tgtEl>
                                          <p:spTgt spid="257028"/>
                                        </p:tgtEl>
                                      </p:cBhvr>
                                      <p:to x="100000" y="80000"/>
                                    </p:animScale>
                                    <p:animScale>
                                      <p:cBhvr>
                                        <p:cTn id="22" dur="166" decel="50000">
                                          <p:stCondLst>
                                            <p:cond delay="1338"/>
                                          </p:stCondLst>
                                        </p:cTn>
                                        <p:tgtEl>
                                          <p:spTgt spid="257028"/>
                                        </p:tgtEl>
                                      </p:cBhvr>
                                      <p:to x="100000" y="100000"/>
                                    </p:animScale>
                                    <p:animScale>
                                      <p:cBhvr>
                                        <p:cTn id="23" dur="26">
                                          <p:stCondLst>
                                            <p:cond delay="1642"/>
                                          </p:stCondLst>
                                        </p:cTn>
                                        <p:tgtEl>
                                          <p:spTgt spid="257028"/>
                                        </p:tgtEl>
                                      </p:cBhvr>
                                      <p:to x="100000" y="90000"/>
                                    </p:animScale>
                                    <p:animScale>
                                      <p:cBhvr>
                                        <p:cTn id="24" dur="166" decel="50000">
                                          <p:stCondLst>
                                            <p:cond delay="1668"/>
                                          </p:stCondLst>
                                        </p:cTn>
                                        <p:tgtEl>
                                          <p:spTgt spid="257028"/>
                                        </p:tgtEl>
                                      </p:cBhvr>
                                      <p:to x="100000" y="100000"/>
                                    </p:animScale>
                                    <p:animScale>
                                      <p:cBhvr>
                                        <p:cTn id="25" dur="26">
                                          <p:stCondLst>
                                            <p:cond delay="1808"/>
                                          </p:stCondLst>
                                        </p:cTn>
                                        <p:tgtEl>
                                          <p:spTgt spid="257028"/>
                                        </p:tgtEl>
                                      </p:cBhvr>
                                      <p:to x="100000" y="95000"/>
                                    </p:animScale>
                                    <p:animScale>
                                      <p:cBhvr>
                                        <p:cTn id="26" dur="166" decel="50000">
                                          <p:stCondLst>
                                            <p:cond delay="1834"/>
                                          </p:stCondLst>
                                        </p:cTn>
                                        <p:tgtEl>
                                          <p:spTgt spid="25702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8"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itle 1"/>
          <p:cNvSpPr>
            <a:spLocks noGrp="1"/>
          </p:cNvSpPr>
          <p:nvPr>
            <p:ph type="title" idx="4294967295"/>
          </p:nvPr>
        </p:nvSpPr>
        <p:spPr>
          <a:xfrm>
            <a:off x="2286001" y="415925"/>
            <a:ext cx="7400925" cy="1525588"/>
          </a:xfrm>
        </p:spPr>
        <p:txBody>
          <a:bodyPr/>
          <a:lstStyle/>
          <a:p>
            <a:pPr eaLnBrk="1" hangingPunct="1"/>
            <a:r>
              <a:rPr lang="en-US" sz="3600">
                <a:solidFill>
                  <a:schemeClr val="accent2">
                    <a:lumMod val="50000"/>
                  </a:schemeClr>
                </a:solidFill>
                <a:latin typeface="Berlin Sans FB" panose="020E0602020502020306" pitchFamily="34" charset="0"/>
              </a:rPr>
              <a:t>58. Which category of adopters of technologies make up the large block of farmers in the community</a:t>
            </a:r>
          </a:p>
        </p:txBody>
      </p:sp>
      <p:sp>
        <p:nvSpPr>
          <p:cNvPr id="307203" name="Content Placeholder 2"/>
          <p:cNvSpPr>
            <a:spLocks noGrp="1"/>
          </p:cNvSpPr>
          <p:nvPr>
            <p:ph idx="4294967295"/>
          </p:nvPr>
        </p:nvSpPr>
        <p:spPr>
          <a:xfrm>
            <a:off x="2133600" y="23368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Innovators</a:t>
            </a:r>
          </a:p>
          <a:p>
            <a:pPr eaLnBrk="1" hangingPunct="1">
              <a:buFontTx/>
              <a:buNone/>
            </a:pPr>
            <a:r>
              <a:rPr lang="en-US" sz="3200">
                <a:solidFill>
                  <a:schemeClr val="accent2">
                    <a:lumMod val="50000"/>
                  </a:schemeClr>
                </a:solidFill>
                <a:latin typeface="Berlin Sans FB" panose="020E0602020502020306" pitchFamily="34" charset="0"/>
              </a:rPr>
              <a:t>b. Early adopters</a:t>
            </a:r>
          </a:p>
          <a:p>
            <a:pPr eaLnBrk="1" hangingPunct="1">
              <a:buFontTx/>
              <a:buNone/>
            </a:pPr>
            <a:r>
              <a:rPr lang="en-US" sz="3200">
                <a:solidFill>
                  <a:schemeClr val="accent2">
                    <a:lumMod val="50000"/>
                  </a:schemeClr>
                </a:solidFill>
                <a:latin typeface="Berlin Sans FB" panose="020E0602020502020306" pitchFamily="34" charset="0"/>
              </a:rPr>
              <a:t>c. Early majority</a:t>
            </a:r>
          </a:p>
          <a:p>
            <a:pPr eaLnBrk="1" hangingPunct="1">
              <a:buFontTx/>
              <a:buNone/>
            </a:pPr>
            <a:r>
              <a:rPr lang="en-US" sz="3200">
                <a:solidFill>
                  <a:schemeClr val="accent2">
                    <a:lumMod val="50000"/>
                  </a:schemeClr>
                </a:solidFill>
                <a:latin typeface="Berlin Sans FB" panose="020E0602020502020306" pitchFamily="34" charset="0"/>
              </a:rPr>
              <a:t>d. Late majority</a:t>
            </a:r>
          </a:p>
        </p:txBody>
      </p:sp>
      <p:sp>
        <p:nvSpPr>
          <p:cNvPr id="140293" name="Text Box 5"/>
          <p:cNvSpPr txBox="1">
            <a:spLocks noChangeArrowheads="1"/>
          </p:cNvSpPr>
          <p:nvPr/>
        </p:nvSpPr>
        <p:spPr bwMode="auto">
          <a:xfrm>
            <a:off x="2286000" y="5029201"/>
            <a:ext cx="754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D. Late majority</a:t>
            </a:r>
          </a:p>
        </p:txBody>
      </p:sp>
    </p:spTree>
    <p:extLst>
      <p:ext uri="{BB962C8B-B14F-4D97-AF65-F5344CB8AC3E}">
        <p14:creationId xmlns:p14="http://schemas.microsoft.com/office/powerpoint/2010/main" val="309340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0293"/>
                                        </p:tgtEl>
                                        <p:attrNameLst>
                                          <p:attrName>style.visibility</p:attrName>
                                        </p:attrNameLst>
                                      </p:cBhvr>
                                      <p:to>
                                        <p:strVal val="visible"/>
                                      </p:to>
                                    </p:set>
                                    <p:animEffect transition="in" filter="wipe(down)">
                                      <p:cBhvr>
                                        <p:cTn id="7" dur="580">
                                          <p:stCondLst>
                                            <p:cond delay="0"/>
                                          </p:stCondLst>
                                        </p:cTn>
                                        <p:tgtEl>
                                          <p:spTgt spid="140293"/>
                                        </p:tgtEl>
                                      </p:cBhvr>
                                    </p:animEffect>
                                    <p:anim calcmode="lin" valueType="num">
                                      <p:cBhvr>
                                        <p:cTn id="8" dur="1822" tmFilter="0,0; 0.14,0.36; 0.43,0.73; 0.71,0.91; 1.0,1.0">
                                          <p:stCondLst>
                                            <p:cond delay="0"/>
                                          </p:stCondLst>
                                        </p:cTn>
                                        <p:tgtEl>
                                          <p:spTgt spid="14029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029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029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029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0293"/>
                                        </p:tgtEl>
                                        <p:attrNameLst>
                                          <p:attrName>ppt_y</p:attrName>
                                        </p:attrNameLst>
                                      </p:cBhvr>
                                      <p:tavLst>
                                        <p:tav tm="0" fmla="#ppt_y-sin(pi*$)/81">
                                          <p:val>
                                            <p:fltVal val="0"/>
                                          </p:val>
                                        </p:tav>
                                        <p:tav tm="100000">
                                          <p:val>
                                            <p:fltVal val="1"/>
                                          </p:val>
                                        </p:tav>
                                      </p:tavLst>
                                    </p:anim>
                                    <p:animScale>
                                      <p:cBhvr>
                                        <p:cTn id="13" dur="26">
                                          <p:stCondLst>
                                            <p:cond delay="650"/>
                                          </p:stCondLst>
                                        </p:cTn>
                                        <p:tgtEl>
                                          <p:spTgt spid="140293"/>
                                        </p:tgtEl>
                                      </p:cBhvr>
                                      <p:to x="100000" y="60000"/>
                                    </p:animScale>
                                    <p:animScale>
                                      <p:cBhvr>
                                        <p:cTn id="14" dur="166" decel="50000">
                                          <p:stCondLst>
                                            <p:cond delay="676"/>
                                          </p:stCondLst>
                                        </p:cTn>
                                        <p:tgtEl>
                                          <p:spTgt spid="140293"/>
                                        </p:tgtEl>
                                      </p:cBhvr>
                                      <p:to x="100000" y="100000"/>
                                    </p:animScale>
                                    <p:animScale>
                                      <p:cBhvr>
                                        <p:cTn id="15" dur="26">
                                          <p:stCondLst>
                                            <p:cond delay="1312"/>
                                          </p:stCondLst>
                                        </p:cTn>
                                        <p:tgtEl>
                                          <p:spTgt spid="140293"/>
                                        </p:tgtEl>
                                      </p:cBhvr>
                                      <p:to x="100000" y="80000"/>
                                    </p:animScale>
                                    <p:animScale>
                                      <p:cBhvr>
                                        <p:cTn id="16" dur="166" decel="50000">
                                          <p:stCondLst>
                                            <p:cond delay="1338"/>
                                          </p:stCondLst>
                                        </p:cTn>
                                        <p:tgtEl>
                                          <p:spTgt spid="140293"/>
                                        </p:tgtEl>
                                      </p:cBhvr>
                                      <p:to x="100000" y="100000"/>
                                    </p:animScale>
                                    <p:animScale>
                                      <p:cBhvr>
                                        <p:cTn id="17" dur="26">
                                          <p:stCondLst>
                                            <p:cond delay="1642"/>
                                          </p:stCondLst>
                                        </p:cTn>
                                        <p:tgtEl>
                                          <p:spTgt spid="140293"/>
                                        </p:tgtEl>
                                      </p:cBhvr>
                                      <p:to x="100000" y="90000"/>
                                    </p:animScale>
                                    <p:animScale>
                                      <p:cBhvr>
                                        <p:cTn id="18" dur="166" decel="50000">
                                          <p:stCondLst>
                                            <p:cond delay="1668"/>
                                          </p:stCondLst>
                                        </p:cTn>
                                        <p:tgtEl>
                                          <p:spTgt spid="140293"/>
                                        </p:tgtEl>
                                      </p:cBhvr>
                                      <p:to x="100000" y="100000"/>
                                    </p:animScale>
                                    <p:animScale>
                                      <p:cBhvr>
                                        <p:cTn id="19" dur="26">
                                          <p:stCondLst>
                                            <p:cond delay="1808"/>
                                          </p:stCondLst>
                                        </p:cTn>
                                        <p:tgtEl>
                                          <p:spTgt spid="140293"/>
                                        </p:tgtEl>
                                      </p:cBhvr>
                                      <p:to x="100000" y="95000"/>
                                    </p:animScale>
                                    <p:animScale>
                                      <p:cBhvr>
                                        <p:cTn id="20" dur="166" decel="50000">
                                          <p:stCondLst>
                                            <p:cond delay="1834"/>
                                          </p:stCondLst>
                                        </p:cTn>
                                        <p:tgtEl>
                                          <p:spTgt spid="14029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itle 1"/>
          <p:cNvSpPr>
            <a:spLocks noGrp="1"/>
          </p:cNvSpPr>
          <p:nvPr>
            <p:ph type="title" idx="4294967295"/>
          </p:nvPr>
        </p:nvSpPr>
        <p:spPr>
          <a:xfrm>
            <a:off x="2514601" y="452438"/>
            <a:ext cx="7477125" cy="1143000"/>
          </a:xfrm>
        </p:spPr>
        <p:txBody>
          <a:bodyPr/>
          <a:lstStyle/>
          <a:p>
            <a:pPr eaLnBrk="1" hangingPunct="1"/>
            <a:r>
              <a:rPr lang="en-US" sz="4000">
                <a:solidFill>
                  <a:schemeClr val="accent2">
                    <a:lumMod val="50000"/>
                  </a:schemeClr>
                </a:solidFill>
                <a:latin typeface="Berlin Sans FB" panose="020E0602020502020306" pitchFamily="34" charset="0"/>
              </a:rPr>
              <a:t>59. The smallest category of adopters of technology are the</a:t>
            </a:r>
          </a:p>
        </p:txBody>
      </p:sp>
      <p:sp>
        <p:nvSpPr>
          <p:cNvPr id="308227" name="Content Placeholder 2"/>
          <p:cNvSpPr>
            <a:spLocks noGrp="1"/>
          </p:cNvSpPr>
          <p:nvPr>
            <p:ph idx="4294967295"/>
          </p:nvPr>
        </p:nvSpPr>
        <p:spPr>
          <a:xfrm>
            <a:off x="2514600" y="2057400"/>
            <a:ext cx="7386638" cy="4497388"/>
          </a:xfrm>
        </p:spPr>
        <p:txBody>
          <a:bodyPr/>
          <a:lstStyle/>
          <a:p>
            <a:pPr eaLnBrk="1" hangingPunct="1">
              <a:buFontTx/>
              <a:buAutoNum type="alphaLcPeriod"/>
            </a:pPr>
            <a:r>
              <a:rPr lang="en-US" sz="3600">
                <a:solidFill>
                  <a:schemeClr val="accent2">
                    <a:lumMod val="50000"/>
                  </a:schemeClr>
                </a:solidFill>
                <a:latin typeface="Berlin Sans FB" panose="020E0602020502020306" pitchFamily="34" charset="0"/>
              </a:rPr>
              <a:t>Innovators</a:t>
            </a:r>
          </a:p>
          <a:p>
            <a:pPr eaLnBrk="1" hangingPunct="1">
              <a:buFontTx/>
              <a:buAutoNum type="alphaLcPeriod"/>
            </a:pPr>
            <a:r>
              <a:rPr lang="en-US" sz="3600">
                <a:solidFill>
                  <a:schemeClr val="accent2">
                    <a:lumMod val="50000"/>
                  </a:schemeClr>
                </a:solidFill>
                <a:latin typeface="Berlin Sans FB" panose="020E0602020502020306" pitchFamily="34" charset="0"/>
              </a:rPr>
              <a:t>Early adopters</a:t>
            </a:r>
          </a:p>
          <a:p>
            <a:pPr eaLnBrk="1" hangingPunct="1">
              <a:buFontTx/>
              <a:buAutoNum type="alphaLcPeriod"/>
            </a:pPr>
            <a:r>
              <a:rPr lang="en-US" sz="3600">
                <a:solidFill>
                  <a:schemeClr val="accent2">
                    <a:lumMod val="50000"/>
                  </a:schemeClr>
                </a:solidFill>
                <a:latin typeface="Berlin Sans FB" panose="020E0602020502020306" pitchFamily="34" charset="0"/>
              </a:rPr>
              <a:t>Late majority</a:t>
            </a:r>
          </a:p>
          <a:p>
            <a:pPr eaLnBrk="1" hangingPunct="1">
              <a:buFontTx/>
              <a:buAutoNum type="alphaLcPeriod"/>
            </a:pPr>
            <a:r>
              <a:rPr lang="en-US" sz="3600">
                <a:solidFill>
                  <a:schemeClr val="accent2">
                    <a:lumMod val="50000"/>
                  </a:schemeClr>
                </a:solidFill>
                <a:latin typeface="Berlin Sans FB" panose="020E0602020502020306" pitchFamily="34" charset="0"/>
              </a:rPr>
              <a:t>Laggards</a:t>
            </a:r>
          </a:p>
          <a:p>
            <a:pPr eaLnBrk="1" hangingPunct="1">
              <a:buFontTx/>
              <a:buAutoNum type="alphaLcPeriod"/>
            </a:pPr>
            <a:endParaRPr lang="en-US" sz="3600">
              <a:solidFill>
                <a:schemeClr val="accent2">
                  <a:lumMod val="50000"/>
                </a:schemeClr>
              </a:solidFill>
              <a:latin typeface="Berlin Sans FB" panose="020E0602020502020306" pitchFamily="34" charset="0"/>
            </a:endParaRPr>
          </a:p>
        </p:txBody>
      </p:sp>
      <p:sp>
        <p:nvSpPr>
          <p:cNvPr id="141317" name="Text Box 5"/>
          <p:cNvSpPr txBox="1">
            <a:spLocks noChangeArrowheads="1"/>
          </p:cNvSpPr>
          <p:nvPr/>
        </p:nvSpPr>
        <p:spPr bwMode="auto">
          <a:xfrm>
            <a:off x="2436813" y="5105401"/>
            <a:ext cx="754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000" b="1">
                <a:solidFill>
                  <a:schemeClr val="accent2">
                    <a:lumMod val="50000"/>
                  </a:schemeClr>
                </a:solidFill>
                <a:latin typeface="Berlin Sans FB" panose="020E0602020502020306" pitchFamily="34" charset="0"/>
              </a:rPr>
              <a:t>A. Innovators</a:t>
            </a:r>
          </a:p>
        </p:txBody>
      </p:sp>
    </p:spTree>
    <p:extLst>
      <p:ext uri="{BB962C8B-B14F-4D97-AF65-F5344CB8AC3E}">
        <p14:creationId xmlns:p14="http://schemas.microsoft.com/office/powerpoint/2010/main" val="2622029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1317"/>
                                        </p:tgtEl>
                                        <p:attrNameLst>
                                          <p:attrName>style.visibility</p:attrName>
                                        </p:attrNameLst>
                                      </p:cBhvr>
                                      <p:to>
                                        <p:strVal val="visible"/>
                                      </p:to>
                                    </p:set>
                                    <p:animEffect transition="in" filter="wipe(down)">
                                      <p:cBhvr>
                                        <p:cTn id="7" dur="580">
                                          <p:stCondLst>
                                            <p:cond delay="0"/>
                                          </p:stCondLst>
                                        </p:cTn>
                                        <p:tgtEl>
                                          <p:spTgt spid="141317"/>
                                        </p:tgtEl>
                                      </p:cBhvr>
                                    </p:animEffect>
                                    <p:anim calcmode="lin" valueType="num">
                                      <p:cBhvr>
                                        <p:cTn id="8" dur="1822" tmFilter="0,0; 0.14,0.36; 0.43,0.73; 0.71,0.91; 1.0,1.0">
                                          <p:stCondLst>
                                            <p:cond delay="0"/>
                                          </p:stCondLst>
                                        </p:cTn>
                                        <p:tgtEl>
                                          <p:spTgt spid="1413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13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13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13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13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41317"/>
                                        </p:tgtEl>
                                      </p:cBhvr>
                                      <p:to x="100000" y="60000"/>
                                    </p:animScale>
                                    <p:animScale>
                                      <p:cBhvr>
                                        <p:cTn id="14" dur="166" decel="50000">
                                          <p:stCondLst>
                                            <p:cond delay="676"/>
                                          </p:stCondLst>
                                        </p:cTn>
                                        <p:tgtEl>
                                          <p:spTgt spid="141317"/>
                                        </p:tgtEl>
                                      </p:cBhvr>
                                      <p:to x="100000" y="100000"/>
                                    </p:animScale>
                                    <p:animScale>
                                      <p:cBhvr>
                                        <p:cTn id="15" dur="26">
                                          <p:stCondLst>
                                            <p:cond delay="1312"/>
                                          </p:stCondLst>
                                        </p:cTn>
                                        <p:tgtEl>
                                          <p:spTgt spid="141317"/>
                                        </p:tgtEl>
                                      </p:cBhvr>
                                      <p:to x="100000" y="80000"/>
                                    </p:animScale>
                                    <p:animScale>
                                      <p:cBhvr>
                                        <p:cTn id="16" dur="166" decel="50000">
                                          <p:stCondLst>
                                            <p:cond delay="1338"/>
                                          </p:stCondLst>
                                        </p:cTn>
                                        <p:tgtEl>
                                          <p:spTgt spid="141317"/>
                                        </p:tgtEl>
                                      </p:cBhvr>
                                      <p:to x="100000" y="100000"/>
                                    </p:animScale>
                                    <p:animScale>
                                      <p:cBhvr>
                                        <p:cTn id="17" dur="26">
                                          <p:stCondLst>
                                            <p:cond delay="1642"/>
                                          </p:stCondLst>
                                        </p:cTn>
                                        <p:tgtEl>
                                          <p:spTgt spid="141317"/>
                                        </p:tgtEl>
                                      </p:cBhvr>
                                      <p:to x="100000" y="90000"/>
                                    </p:animScale>
                                    <p:animScale>
                                      <p:cBhvr>
                                        <p:cTn id="18" dur="166" decel="50000">
                                          <p:stCondLst>
                                            <p:cond delay="1668"/>
                                          </p:stCondLst>
                                        </p:cTn>
                                        <p:tgtEl>
                                          <p:spTgt spid="141317"/>
                                        </p:tgtEl>
                                      </p:cBhvr>
                                      <p:to x="100000" y="100000"/>
                                    </p:animScale>
                                    <p:animScale>
                                      <p:cBhvr>
                                        <p:cTn id="19" dur="26">
                                          <p:stCondLst>
                                            <p:cond delay="1808"/>
                                          </p:stCondLst>
                                        </p:cTn>
                                        <p:tgtEl>
                                          <p:spTgt spid="141317"/>
                                        </p:tgtEl>
                                      </p:cBhvr>
                                      <p:to x="100000" y="95000"/>
                                    </p:animScale>
                                    <p:animScale>
                                      <p:cBhvr>
                                        <p:cTn id="20" dur="166" decel="50000">
                                          <p:stCondLst>
                                            <p:cond delay="1834"/>
                                          </p:stCondLst>
                                        </p:cTn>
                                        <p:tgtEl>
                                          <p:spTgt spid="1413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7"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itle 1"/>
          <p:cNvSpPr>
            <a:spLocks noGrp="1"/>
          </p:cNvSpPr>
          <p:nvPr>
            <p:ph type="title" idx="4294967295"/>
          </p:nvPr>
        </p:nvSpPr>
        <p:spPr>
          <a:xfrm>
            <a:off x="2590801" y="593725"/>
            <a:ext cx="7477125" cy="1143000"/>
          </a:xfrm>
        </p:spPr>
        <p:txBody>
          <a:bodyPr/>
          <a:lstStyle/>
          <a:p>
            <a:pPr eaLnBrk="1" hangingPunct="1"/>
            <a:r>
              <a:rPr lang="en-US" sz="4000">
                <a:solidFill>
                  <a:schemeClr val="accent2">
                    <a:lumMod val="50000"/>
                  </a:schemeClr>
                </a:solidFill>
                <a:latin typeface="Berlin Sans FB" panose="020E0602020502020306" pitchFamily="34" charset="0"/>
              </a:rPr>
              <a:t>60. They are the first persons in the locality who will adopt an innovation</a:t>
            </a:r>
          </a:p>
        </p:txBody>
      </p:sp>
      <p:sp>
        <p:nvSpPr>
          <p:cNvPr id="309251" name="Content Placeholder 2"/>
          <p:cNvSpPr>
            <a:spLocks noGrp="1"/>
          </p:cNvSpPr>
          <p:nvPr>
            <p:ph idx="4294967295"/>
          </p:nvPr>
        </p:nvSpPr>
        <p:spPr>
          <a:xfrm>
            <a:off x="2589214" y="2360614"/>
            <a:ext cx="7386637" cy="4497387"/>
          </a:xfrm>
        </p:spPr>
        <p:txBody>
          <a:bodyPr/>
          <a:lstStyle/>
          <a:p>
            <a:pPr eaLnBrk="1" hangingPunct="1">
              <a:buFontTx/>
              <a:buNone/>
            </a:pPr>
            <a:r>
              <a:rPr lang="en-US" sz="3600">
                <a:solidFill>
                  <a:schemeClr val="accent2">
                    <a:lumMod val="50000"/>
                  </a:schemeClr>
                </a:solidFill>
                <a:latin typeface="Berlin Sans FB" panose="020E0602020502020306" pitchFamily="34" charset="0"/>
              </a:rPr>
              <a:t>a. Laggards</a:t>
            </a:r>
          </a:p>
          <a:p>
            <a:pPr eaLnBrk="1" hangingPunct="1">
              <a:buFontTx/>
              <a:buNone/>
            </a:pPr>
            <a:r>
              <a:rPr lang="en-US" sz="3600">
                <a:solidFill>
                  <a:schemeClr val="accent2">
                    <a:lumMod val="50000"/>
                  </a:schemeClr>
                </a:solidFill>
                <a:latin typeface="Berlin Sans FB" panose="020E0602020502020306" pitchFamily="34" charset="0"/>
              </a:rPr>
              <a:t>b. Innovators</a:t>
            </a:r>
          </a:p>
          <a:p>
            <a:pPr eaLnBrk="1" hangingPunct="1">
              <a:buFontTx/>
              <a:buNone/>
            </a:pPr>
            <a:r>
              <a:rPr lang="en-US" sz="3600">
                <a:solidFill>
                  <a:schemeClr val="accent2">
                    <a:lumMod val="50000"/>
                  </a:schemeClr>
                </a:solidFill>
                <a:latin typeface="Berlin Sans FB" panose="020E0602020502020306" pitchFamily="34" charset="0"/>
              </a:rPr>
              <a:t>c. Early majority</a:t>
            </a:r>
          </a:p>
          <a:p>
            <a:pPr eaLnBrk="1" hangingPunct="1">
              <a:buFontTx/>
              <a:buNone/>
            </a:pPr>
            <a:r>
              <a:rPr lang="en-US" sz="3600">
                <a:solidFill>
                  <a:schemeClr val="accent2">
                    <a:lumMod val="50000"/>
                  </a:schemeClr>
                </a:solidFill>
                <a:latin typeface="Berlin Sans FB" panose="020E0602020502020306" pitchFamily="34" charset="0"/>
              </a:rPr>
              <a:t>d. Late majority</a:t>
            </a:r>
          </a:p>
        </p:txBody>
      </p:sp>
      <p:sp>
        <p:nvSpPr>
          <p:cNvPr id="142341" name="Text Box 5"/>
          <p:cNvSpPr txBox="1">
            <a:spLocks noChangeArrowheads="1"/>
          </p:cNvSpPr>
          <p:nvPr/>
        </p:nvSpPr>
        <p:spPr bwMode="auto">
          <a:xfrm>
            <a:off x="2608263" y="5486401"/>
            <a:ext cx="754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000" b="1">
                <a:solidFill>
                  <a:schemeClr val="accent2">
                    <a:lumMod val="50000"/>
                  </a:schemeClr>
                </a:solidFill>
                <a:latin typeface="Berlin Sans FB" panose="020E0602020502020306" pitchFamily="34" charset="0"/>
              </a:rPr>
              <a:t>B. Innovators</a:t>
            </a:r>
          </a:p>
        </p:txBody>
      </p:sp>
    </p:spTree>
    <p:extLst>
      <p:ext uri="{BB962C8B-B14F-4D97-AF65-F5344CB8AC3E}">
        <p14:creationId xmlns:p14="http://schemas.microsoft.com/office/powerpoint/2010/main" val="562516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2341"/>
                                        </p:tgtEl>
                                        <p:attrNameLst>
                                          <p:attrName>style.visibility</p:attrName>
                                        </p:attrNameLst>
                                      </p:cBhvr>
                                      <p:to>
                                        <p:strVal val="visible"/>
                                      </p:to>
                                    </p:set>
                                    <p:animEffect transition="in" filter="wipe(down)">
                                      <p:cBhvr>
                                        <p:cTn id="7" dur="580">
                                          <p:stCondLst>
                                            <p:cond delay="0"/>
                                          </p:stCondLst>
                                        </p:cTn>
                                        <p:tgtEl>
                                          <p:spTgt spid="142341"/>
                                        </p:tgtEl>
                                      </p:cBhvr>
                                    </p:animEffect>
                                    <p:anim calcmode="lin" valueType="num">
                                      <p:cBhvr>
                                        <p:cTn id="8" dur="1822" tmFilter="0,0; 0.14,0.36; 0.43,0.73; 0.71,0.91; 1.0,1.0">
                                          <p:stCondLst>
                                            <p:cond delay="0"/>
                                          </p:stCondLst>
                                        </p:cTn>
                                        <p:tgtEl>
                                          <p:spTgt spid="14234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234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234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234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2341"/>
                                        </p:tgtEl>
                                        <p:attrNameLst>
                                          <p:attrName>ppt_y</p:attrName>
                                        </p:attrNameLst>
                                      </p:cBhvr>
                                      <p:tavLst>
                                        <p:tav tm="0" fmla="#ppt_y-sin(pi*$)/81">
                                          <p:val>
                                            <p:fltVal val="0"/>
                                          </p:val>
                                        </p:tav>
                                        <p:tav tm="100000">
                                          <p:val>
                                            <p:fltVal val="1"/>
                                          </p:val>
                                        </p:tav>
                                      </p:tavLst>
                                    </p:anim>
                                    <p:animScale>
                                      <p:cBhvr>
                                        <p:cTn id="13" dur="26">
                                          <p:stCondLst>
                                            <p:cond delay="650"/>
                                          </p:stCondLst>
                                        </p:cTn>
                                        <p:tgtEl>
                                          <p:spTgt spid="142341"/>
                                        </p:tgtEl>
                                      </p:cBhvr>
                                      <p:to x="100000" y="60000"/>
                                    </p:animScale>
                                    <p:animScale>
                                      <p:cBhvr>
                                        <p:cTn id="14" dur="166" decel="50000">
                                          <p:stCondLst>
                                            <p:cond delay="676"/>
                                          </p:stCondLst>
                                        </p:cTn>
                                        <p:tgtEl>
                                          <p:spTgt spid="142341"/>
                                        </p:tgtEl>
                                      </p:cBhvr>
                                      <p:to x="100000" y="100000"/>
                                    </p:animScale>
                                    <p:animScale>
                                      <p:cBhvr>
                                        <p:cTn id="15" dur="26">
                                          <p:stCondLst>
                                            <p:cond delay="1312"/>
                                          </p:stCondLst>
                                        </p:cTn>
                                        <p:tgtEl>
                                          <p:spTgt spid="142341"/>
                                        </p:tgtEl>
                                      </p:cBhvr>
                                      <p:to x="100000" y="80000"/>
                                    </p:animScale>
                                    <p:animScale>
                                      <p:cBhvr>
                                        <p:cTn id="16" dur="166" decel="50000">
                                          <p:stCondLst>
                                            <p:cond delay="1338"/>
                                          </p:stCondLst>
                                        </p:cTn>
                                        <p:tgtEl>
                                          <p:spTgt spid="142341"/>
                                        </p:tgtEl>
                                      </p:cBhvr>
                                      <p:to x="100000" y="100000"/>
                                    </p:animScale>
                                    <p:animScale>
                                      <p:cBhvr>
                                        <p:cTn id="17" dur="26">
                                          <p:stCondLst>
                                            <p:cond delay="1642"/>
                                          </p:stCondLst>
                                        </p:cTn>
                                        <p:tgtEl>
                                          <p:spTgt spid="142341"/>
                                        </p:tgtEl>
                                      </p:cBhvr>
                                      <p:to x="100000" y="90000"/>
                                    </p:animScale>
                                    <p:animScale>
                                      <p:cBhvr>
                                        <p:cTn id="18" dur="166" decel="50000">
                                          <p:stCondLst>
                                            <p:cond delay="1668"/>
                                          </p:stCondLst>
                                        </p:cTn>
                                        <p:tgtEl>
                                          <p:spTgt spid="142341"/>
                                        </p:tgtEl>
                                      </p:cBhvr>
                                      <p:to x="100000" y="100000"/>
                                    </p:animScale>
                                    <p:animScale>
                                      <p:cBhvr>
                                        <p:cTn id="19" dur="26">
                                          <p:stCondLst>
                                            <p:cond delay="1808"/>
                                          </p:stCondLst>
                                        </p:cTn>
                                        <p:tgtEl>
                                          <p:spTgt spid="142341"/>
                                        </p:tgtEl>
                                      </p:cBhvr>
                                      <p:to x="100000" y="95000"/>
                                    </p:animScale>
                                    <p:animScale>
                                      <p:cBhvr>
                                        <p:cTn id="20" dur="166" decel="50000">
                                          <p:stCondLst>
                                            <p:cond delay="1834"/>
                                          </p:stCondLst>
                                        </p:cTn>
                                        <p:tgtEl>
                                          <p:spTgt spid="14234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itle 1"/>
          <p:cNvSpPr>
            <a:spLocks noGrp="1"/>
          </p:cNvSpPr>
          <p:nvPr>
            <p:ph type="title" idx="4294967295"/>
          </p:nvPr>
        </p:nvSpPr>
        <p:spPr>
          <a:xfrm>
            <a:off x="2306639" y="457200"/>
            <a:ext cx="7477125" cy="1449388"/>
          </a:xfrm>
        </p:spPr>
        <p:txBody>
          <a:bodyPr/>
          <a:lstStyle/>
          <a:p>
            <a:pPr eaLnBrk="1" hangingPunct="1"/>
            <a:r>
              <a:rPr lang="en-US" sz="3600">
                <a:solidFill>
                  <a:schemeClr val="accent2">
                    <a:lumMod val="50000"/>
                  </a:schemeClr>
                </a:solidFill>
                <a:latin typeface="Berlin Sans FB" panose="020E0602020502020306" pitchFamily="34" charset="0"/>
              </a:rPr>
              <a:t>61. That stage in the adoption process wherein the farmer will seek further information about the innovation</a:t>
            </a:r>
          </a:p>
        </p:txBody>
      </p:sp>
      <p:sp>
        <p:nvSpPr>
          <p:cNvPr id="310275" name="Content Placeholder 2"/>
          <p:cNvSpPr>
            <a:spLocks noGrp="1"/>
          </p:cNvSpPr>
          <p:nvPr>
            <p:ph idx="4294967295"/>
          </p:nvPr>
        </p:nvSpPr>
        <p:spPr>
          <a:xfrm>
            <a:off x="2590800" y="2209800"/>
            <a:ext cx="7386638" cy="4497388"/>
          </a:xfrm>
        </p:spPr>
        <p:txBody>
          <a:bodyPr/>
          <a:lstStyle/>
          <a:p>
            <a:pPr eaLnBrk="1" hangingPunct="1">
              <a:buFontTx/>
              <a:buNone/>
            </a:pPr>
            <a:r>
              <a:rPr lang="en-US" sz="4000">
                <a:solidFill>
                  <a:schemeClr val="accent2">
                    <a:lumMod val="50000"/>
                  </a:schemeClr>
                </a:solidFill>
                <a:latin typeface="Berlin Sans FB" panose="020E0602020502020306" pitchFamily="34" charset="0"/>
              </a:rPr>
              <a:t>a. Evaluation</a:t>
            </a:r>
          </a:p>
          <a:p>
            <a:pPr eaLnBrk="1" hangingPunct="1">
              <a:buFontTx/>
              <a:buNone/>
            </a:pPr>
            <a:r>
              <a:rPr lang="en-US" sz="4000">
                <a:solidFill>
                  <a:schemeClr val="accent2">
                    <a:lumMod val="50000"/>
                  </a:schemeClr>
                </a:solidFill>
                <a:latin typeface="Berlin Sans FB" panose="020E0602020502020306" pitchFamily="34" charset="0"/>
              </a:rPr>
              <a:t>b. Awareness</a:t>
            </a:r>
          </a:p>
          <a:p>
            <a:pPr eaLnBrk="1" hangingPunct="1">
              <a:buFontTx/>
              <a:buNone/>
            </a:pPr>
            <a:r>
              <a:rPr lang="en-US" sz="4000">
                <a:solidFill>
                  <a:schemeClr val="accent2">
                    <a:lumMod val="50000"/>
                  </a:schemeClr>
                </a:solidFill>
                <a:latin typeface="Berlin Sans FB" panose="020E0602020502020306" pitchFamily="34" charset="0"/>
              </a:rPr>
              <a:t>c. Trial</a:t>
            </a:r>
          </a:p>
          <a:p>
            <a:pPr eaLnBrk="1" hangingPunct="1">
              <a:buFontTx/>
              <a:buNone/>
            </a:pPr>
            <a:r>
              <a:rPr lang="en-US" sz="4000">
                <a:solidFill>
                  <a:schemeClr val="accent2">
                    <a:lumMod val="50000"/>
                  </a:schemeClr>
                </a:solidFill>
                <a:latin typeface="Berlin Sans FB" panose="020E0602020502020306" pitchFamily="34" charset="0"/>
              </a:rPr>
              <a:t>d. Interest</a:t>
            </a:r>
          </a:p>
          <a:p>
            <a:pPr eaLnBrk="1" hangingPunct="1">
              <a:buFontTx/>
              <a:buChar char="•"/>
            </a:pPr>
            <a:endParaRPr lang="en-US" sz="4000">
              <a:solidFill>
                <a:schemeClr val="accent2">
                  <a:lumMod val="50000"/>
                </a:schemeClr>
              </a:solidFill>
              <a:latin typeface="Berlin Sans FB" panose="020E0602020502020306" pitchFamily="34" charset="0"/>
            </a:endParaRPr>
          </a:p>
        </p:txBody>
      </p:sp>
      <p:sp>
        <p:nvSpPr>
          <p:cNvPr id="143365" name="Text Box 5"/>
          <p:cNvSpPr txBox="1">
            <a:spLocks noChangeArrowheads="1"/>
          </p:cNvSpPr>
          <p:nvPr/>
        </p:nvSpPr>
        <p:spPr bwMode="auto">
          <a:xfrm>
            <a:off x="2209800" y="53355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D. Interest</a:t>
            </a:r>
          </a:p>
        </p:txBody>
      </p:sp>
    </p:spTree>
    <p:extLst>
      <p:ext uri="{BB962C8B-B14F-4D97-AF65-F5344CB8AC3E}">
        <p14:creationId xmlns:p14="http://schemas.microsoft.com/office/powerpoint/2010/main" val="2104064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3365"/>
                                        </p:tgtEl>
                                        <p:attrNameLst>
                                          <p:attrName>style.visibility</p:attrName>
                                        </p:attrNameLst>
                                      </p:cBhvr>
                                      <p:to>
                                        <p:strVal val="visible"/>
                                      </p:to>
                                    </p:set>
                                    <p:animEffect transition="in" filter="wipe(down)">
                                      <p:cBhvr>
                                        <p:cTn id="7" dur="580">
                                          <p:stCondLst>
                                            <p:cond delay="0"/>
                                          </p:stCondLst>
                                        </p:cTn>
                                        <p:tgtEl>
                                          <p:spTgt spid="143365"/>
                                        </p:tgtEl>
                                      </p:cBhvr>
                                    </p:animEffect>
                                    <p:anim calcmode="lin" valueType="num">
                                      <p:cBhvr>
                                        <p:cTn id="8" dur="1822" tmFilter="0,0; 0.14,0.36; 0.43,0.73; 0.71,0.91; 1.0,1.0">
                                          <p:stCondLst>
                                            <p:cond delay="0"/>
                                          </p:stCondLst>
                                        </p:cTn>
                                        <p:tgtEl>
                                          <p:spTgt spid="14336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336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336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336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3365"/>
                                        </p:tgtEl>
                                        <p:attrNameLst>
                                          <p:attrName>ppt_y</p:attrName>
                                        </p:attrNameLst>
                                      </p:cBhvr>
                                      <p:tavLst>
                                        <p:tav tm="0" fmla="#ppt_y-sin(pi*$)/81">
                                          <p:val>
                                            <p:fltVal val="0"/>
                                          </p:val>
                                        </p:tav>
                                        <p:tav tm="100000">
                                          <p:val>
                                            <p:fltVal val="1"/>
                                          </p:val>
                                        </p:tav>
                                      </p:tavLst>
                                    </p:anim>
                                    <p:animScale>
                                      <p:cBhvr>
                                        <p:cTn id="13" dur="26">
                                          <p:stCondLst>
                                            <p:cond delay="650"/>
                                          </p:stCondLst>
                                        </p:cTn>
                                        <p:tgtEl>
                                          <p:spTgt spid="143365"/>
                                        </p:tgtEl>
                                      </p:cBhvr>
                                      <p:to x="100000" y="60000"/>
                                    </p:animScale>
                                    <p:animScale>
                                      <p:cBhvr>
                                        <p:cTn id="14" dur="166" decel="50000">
                                          <p:stCondLst>
                                            <p:cond delay="676"/>
                                          </p:stCondLst>
                                        </p:cTn>
                                        <p:tgtEl>
                                          <p:spTgt spid="143365"/>
                                        </p:tgtEl>
                                      </p:cBhvr>
                                      <p:to x="100000" y="100000"/>
                                    </p:animScale>
                                    <p:animScale>
                                      <p:cBhvr>
                                        <p:cTn id="15" dur="26">
                                          <p:stCondLst>
                                            <p:cond delay="1312"/>
                                          </p:stCondLst>
                                        </p:cTn>
                                        <p:tgtEl>
                                          <p:spTgt spid="143365"/>
                                        </p:tgtEl>
                                      </p:cBhvr>
                                      <p:to x="100000" y="80000"/>
                                    </p:animScale>
                                    <p:animScale>
                                      <p:cBhvr>
                                        <p:cTn id="16" dur="166" decel="50000">
                                          <p:stCondLst>
                                            <p:cond delay="1338"/>
                                          </p:stCondLst>
                                        </p:cTn>
                                        <p:tgtEl>
                                          <p:spTgt spid="143365"/>
                                        </p:tgtEl>
                                      </p:cBhvr>
                                      <p:to x="100000" y="100000"/>
                                    </p:animScale>
                                    <p:animScale>
                                      <p:cBhvr>
                                        <p:cTn id="17" dur="26">
                                          <p:stCondLst>
                                            <p:cond delay="1642"/>
                                          </p:stCondLst>
                                        </p:cTn>
                                        <p:tgtEl>
                                          <p:spTgt spid="143365"/>
                                        </p:tgtEl>
                                      </p:cBhvr>
                                      <p:to x="100000" y="90000"/>
                                    </p:animScale>
                                    <p:animScale>
                                      <p:cBhvr>
                                        <p:cTn id="18" dur="166" decel="50000">
                                          <p:stCondLst>
                                            <p:cond delay="1668"/>
                                          </p:stCondLst>
                                        </p:cTn>
                                        <p:tgtEl>
                                          <p:spTgt spid="143365"/>
                                        </p:tgtEl>
                                      </p:cBhvr>
                                      <p:to x="100000" y="100000"/>
                                    </p:animScale>
                                    <p:animScale>
                                      <p:cBhvr>
                                        <p:cTn id="19" dur="26">
                                          <p:stCondLst>
                                            <p:cond delay="1808"/>
                                          </p:stCondLst>
                                        </p:cTn>
                                        <p:tgtEl>
                                          <p:spTgt spid="143365"/>
                                        </p:tgtEl>
                                      </p:cBhvr>
                                      <p:to x="100000" y="95000"/>
                                    </p:animScale>
                                    <p:animScale>
                                      <p:cBhvr>
                                        <p:cTn id="20" dur="166" decel="50000">
                                          <p:stCondLst>
                                            <p:cond delay="1834"/>
                                          </p:stCondLst>
                                        </p:cTn>
                                        <p:tgtEl>
                                          <p:spTgt spid="14336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itle 1"/>
          <p:cNvSpPr>
            <a:spLocks noGrp="1"/>
          </p:cNvSpPr>
          <p:nvPr>
            <p:ph type="title" idx="4294967295"/>
          </p:nvPr>
        </p:nvSpPr>
        <p:spPr>
          <a:xfrm>
            <a:off x="2209801" y="152400"/>
            <a:ext cx="7477125" cy="1143000"/>
          </a:xfrm>
        </p:spPr>
        <p:txBody>
          <a:bodyPr/>
          <a:lstStyle/>
          <a:p>
            <a:pPr eaLnBrk="1" hangingPunct="1"/>
            <a:r>
              <a:rPr lang="en-US" sz="3200">
                <a:solidFill>
                  <a:schemeClr val="accent2">
                    <a:lumMod val="50000"/>
                  </a:schemeClr>
                </a:solidFill>
                <a:latin typeface="Berlin Sans FB" panose="020E0602020502020306" pitchFamily="34" charset="0"/>
              </a:rPr>
              <a:t>62. Diffusion of an innovation takes place if</a:t>
            </a:r>
          </a:p>
        </p:txBody>
      </p:sp>
      <p:sp>
        <p:nvSpPr>
          <p:cNvPr id="3" name="Content Placeholder 2"/>
          <p:cNvSpPr>
            <a:spLocks noGrp="1"/>
          </p:cNvSpPr>
          <p:nvPr>
            <p:ph idx="4294967295"/>
          </p:nvPr>
        </p:nvSpPr>
        <p:spPr>
          <a:xfrm>
            <a:off x="2209800" y="1312864"/>
            <a:ext cx="7386638" cy="4497387"/>
          </a:xfrm>
        </p:spPr>
        <p:txBody>
          <a:bodyPr/>
          <a:lstStyle/>
          <a:p>
            <a:pPr eaLnBrk="1" hangingPunct="1">
              <a:buFontTx/>
              <a:buAutoNum type="alphaLcPeriod"/>
            </a:pPr>
            <a:r>
              <a:rPr lang="en-US" sz="2800">
                <a:solidFill>
                  <a:schemeClr val="accent2">
                    <a:lumMod val="50000"/>
                  </a:schemeClr>
                </a:solidFill>
                <a:latin typeface="Berlin Sans FB" panose="020E0602020502020306" pitchFamily="34" charset="0"/>
              </a:rPr>
              <a:t>The benefits of the innovation are easy to observe</a:t>
            </a:r>
          </a:p>
          <a:p>
            <a:pPr eaLnBrk="1" hangingPunct="1">
              <a:buFontTx/>
              <a:buAutoNum type="alphaLcPeriod"/>
            </a:pPr>
            <a:r>
              <a:rPr lang="en-US" sz="2800">
                <a:solidFill>
                  <a:schemeClr val="accent2">
                    <a:lumMod val="50000"/>
                  </a:schemeClr>
                </a:solidFill>
                <a:latin typeface="Berlin Sans FB" panose="020E0602020502020306" pitchFamily="34" charset="0"/>
              </a:rPr>
              <a:t>It is possible to try the innovation on a small scale</a:t>
            </a:r>
          </a:p>
          <a:p>
            <a:pPr eaLnBrk="1" hangingPunct="1">
              <a:buFontTx/>
              <a:buAutoNum type="alphaLcPeriod"/>
            </a:pPr>
            <a:r>
              <a:rPr lang="en-US" sz="2800">
                <a:solidFill>
                  <a:schemeClr val="accent2">
                    <a:lumMod val="50000"/>
                  </a:schemeClr>
                </a:solidFill>
                <a:latin typeface="Berlin Sans FB" panose="020E0602020502020306" pitchFamily="34" charset="0"/>
              </a:rPr>
              <a:t>The innovation is coming from well-known scientists</a:t>
            </a:r>
          </a:p>
          <a:p>
            <a:pPr eaLnBrk="1" hangingPunct="1">
              <a:buFontTx/>
              <a:buAutoNum type="alphaLcPeriod"/>
            </a:pPr>
            <a:r>
              <a:rPr lang="en-US" sz="2800">
                <a:solidFill>
                  <a:schemeClr val="accent2">
                    <a:lumMod val="50000"/>
                  </a:schemeClr>
                </a:solidFill>
                <a:latin typeface="Berlin Sans FB" panose="020E0602020502020306" pitchFamily="34" charset="0"/>
              </a:rPr>
              <a:t>The innovation is widely advertised.</a:t>
            </a:r>
          </a:p>
        </p:txBody>
      </p:sp>
      <p:sp>
        <p:nvSpPr>
          <p:cNvPr id="262148" name="Text Box 4"/>
          <p:cNvSpPr txBox="1">
            <a:spLocks noChangeArrowheads="1"/>
          </p:cNvSpPr>
          <p:nvPr/>
        </p:nvSpPr>
        <p:spPr bwMode="auto">
          <a:xfrm>
            <a:off x="2209800" y="5276850"/>
            <a:ext cx="7543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200" b="1">
                <a:solidFill>
                  <a:schemeClr val="accent2">
                    <a:lumMod val="50000"/>
                  </a:schemeClr>
                </a:solidFill>
                <a:latin typeface="Berlin Sans FB" panose="020E0602020502020306" pitchFamily="34" charset="0"/>
              </a:rPr>
              <a:t>B. It is possible to try the innovation on a small scale</a:t>
            </a:r>
          </a:p>
        </p:txBody>
      </p:sp>
    </p:spTree>
    <p:extLst>
      <p:ext uri="{BB962C8B-B14F-4D97-AF65-F5344CB8AC3E}">
        <p14:creationId xmlns:p14="http://schemas.microsoft.com/office/powerpoint/2010/main" val="2403050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nodeType="clickEffect">
                                  <p:stCondLst>
                                    <p:cond delay="0"/>
                                  </p:stCondLst>
                                  <p:childTnLst>
                                    <p:set>
                                      <p:cBhvr override="childStyle">
                                        <p:cTn id="6" dur="indefinite"/>
                                        <p:tgtEl>
                                          <p:spTgt spid="3">
                                            <p:txEl>
                                              <p:pRg st="1" end="1"/>
                                            </p:txEl>
                                          </p:spTgt>
                                        </p:tgtEl>
                                        <p:attrNameLst>
                                          <p:attrName>style.fontStyle</p:attrName>
                                        </p:attrNameLst>
                                      </p:cBhvr>
                                      <p:to>
                                        <p:strVal val="normal"/>
                                      </p:to>
                                    </p:set>
                                    <p:set>
                                      <p:cBhvr override="childStyle">
                                        <p:cTn id="7" dur="indefinite"/>
                                        <p:tgtEl>
                                          <p:spTgt spid="3">
                                            <p:txEl>
                                              <p:pRg st="1" end="1"/>
                                            </p:txEl>
                                          </p:spTgt>
                                        </p:tgtEl>
                                        <p:attrNameLst>
                                          <p:attrName>style.fontWeight</p:attrName>
                                        </p:attrNameLst>
                                      </p:cBhvr>
                                      <p:to>
                                        <p:strVal val="bold"/>
                                      </p:to>
                                    </p:set>
                                    <p:set>
                                      <p:cBhvr override="childStyle">
                                        <p:cTn id="8" dur="indefinite"/>
                                        <p:tgtEl>
                                          <p:spTgt spid="3">
                                            <p:txEl>
                                              <p:pRg st="1" end="1"/>
                                            </p:txEl>
                                          </p:spTgt>
                                        </p:tgtEl>
                                        <p:attrNameLst>
                                          <p:attrName>style.textDecorationUnderline</p:attrName>
                                        </p:attrNameLst>
                                      </p:cBhvr>
                                      <p:to>
                                        <p:strVal val="fals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62148"/>
                                        </p:tgtEl>
                                        <p:attrNameLst>
                                          <p:attrName>style.visibility</p:attrName>
                                        </p:attrNameLst>
                                      </p:cBhvr>
                                      <p:to>
                                        <p:strVal val="visible"/>
                                      </p:to>
                                    </p:set>
                                    <p:animEffect transition="in" filter="wipe(down)">
                                      <p:cBhvr>
                                        <p:cTn id="13" dur="580">
                                          <p:stCondLst>
                                            <p:cond delay="0"/>
                                          </p:stCondLst>
                                        </p:cTn>
                                        <p:tgtEl>
                                          <p:spTgt spid="262148"/>
                                        </p:tgtEl>
                                      </p:cBhvr>
                                    </p:animEffect>
                                    <p:anim calcmode="lin" valueType="num">
                                      <p:cBhvr>
                                        <p:cTn id="14" dur="1822" tmFilter="0,0; 0.14,0.36; 0.43,0.73; 0.71,0.91; 1.0,1.0">
                                          <p:stCondLst>
                                            <p:cond delay="0"/>
                                          </p:stCondLst>
                                        </p:cTn>
                                        <p:tgtEl>
                                          <p:spTgt spid="262148"/>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62148"/>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62148"/>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62148"/>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62148"/>
                                        </p:tgtEl>
                                        <p:attrNameLst>
                                          <p:attrName>ppt_y</p:attrName>
                                        </p:attrNameLst>
                                      </p:cBhvr>
                                      <p:tavLst>
                                        <p:tav tm="0" fmla="#ppt_y-sin(pi*$)/81">
                                          <p:val>
                                            <p:fltVal val="0"/>
                                          </p:val>
                                        </p:tav>
                                        <p:tav tm="100000">
                                          <p:val>
                                            <p:fltVal val="1"/>
                                          </p:val>
                                        </p:tav>
                                      </p:tavLst>
                                    </p:anim>
                                    <p:animScale>
                                      <p:cBhvr>
                                        <p:cTn id="19" dur="26">
                                          <p:stCondLst>
                                            <p:cond delay="650"/>
                                          </p:stCondLst>
                                        </p:cTn>
                                        <p:tgtEl>
                                          <p:spTgt spid="262148"/>
                                        </p:tgtEl>
                                      </p:cBhvr>
                                      <p:to x="100000" y="60000"/>
                                    </p:animScale>
                                    <p:animScale>
                                      <p:cBhvr>
                                        <p:cTn id="20" dur="166" decel="50000">
                                          <p:stCondLst>
                                            <p:cond delay="676"/>
                                          </p:stCondLst>
                                        </p:cTn>
                                        <p:tgtEl>
                                          <p:spTgt spid="262148"/>
                                        </p:tgtEl>
                                      </p:cBhvr>
                                      <p:to x="100000" y="100000"/>
                                    </p:animScale>
                                    <p:animScale>
                                      <p:cBhvr>
                                        <p:cTn id="21" dur="26">
                                          <p:stCondLst>
                                            <p:cond delay="1312"/>
                                          </p:stCondLst>
                                        </p:cTn>
                                        <p:tgtEl>
                                          <p:spTgt spid="262148"/>
                                        </p:tgtEl>
                                      </p:cBhvr>
                                      <p:to x="100000" y="80000"/>
                                    </p:animScale>
                                    <p:animScale>
                                      <p:cBhvr>
                                        <p:cTn id="22" dur="166" decel="50000">
                                          <p:stCondLst>
                                            <p:cond delay="1338"/>
                                          </p:stCondLst>
                                        </p:cTn>
                                        <p:tgtEl>
                                          <p:spTgt spid="262148"/>
                                        </p:tgtEl>
                                      </p:cBhvr>
                                      <p:to x="100000" y="100000"/>
                                    </p:animScale>
                                    <p:animScale>
                                      <p:cBhvr>
                                        <p:cTn id="23" dur="26">
                                          <p:stCondLst>
                                            <p:cond delay="1642"/>
                                          </p:stCondLst>
                                        </p:cTn>
                                        <p:tgtEl>
                                          <p:spTgt spid="262148"/>
                                        </p:tgtEl>
                                      </p:cBhvr>
                                      <p:to x="100000" y="90000"/>
                                    </p:animScale>
                                    <p:animScale>
                                      <p:cBhvr>
                                        <p:cTn id="24" dur="166" decel="50000">
                                          <p:stCondLst>
                                            <p:cond delay="1668"/>
                                          </p:stCondLst>
                                        </p:cTn>
                                        <p:tgtEl>
                                          <p:spTgt spid="262148"/>
                                        </p:tgtEl>
                                      </p:cBhvr>
                                      <p:to x="100000" y="100000"/>
                                    </p:animScale>
                                    <p:animScale>
                                      <p:cBhvr>
                                        <p:cTn id="25" dur="26">
                                          <p:stCondLst>
                                            <p:cond delay="1808"/>
                                          </p:stCondLst>
                                        </p:cTn>
                                        <p:tgtEl>
                                          <p:spTgt spid="262148"/>
                                        </p:tgtEl>
                                      </p:cBhvr>
                                      <p:to x="100000" y="95000"/>
                                    </p:animScale>
                                    <p:animScale>
                                      <p:cBhvr>
                                        <p:cTn id="26" dur="166" decel="50000">
                                          <p:stCondLst>
                                            <p:cond delay="1834"/>
                                          </p:stCondLst>
                                        </p:cTn>
                                        <p:tgtEl>
                                          <p:spTgt spid="26214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8"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itle 1"/>
          <p:cNvSpPr>
            <a:spLocks noGrp="1"/>
          </p:cNvSpPr>
          <p:nvPr>
            <p:ph type="title" idx="4294967295"/>
          </p:nvPr>
        </p:nvSpPr>
        <p:spPr>
          <a:xfrm>
            <a:off x="2438401" y="533400"/>
            <a:ext cx="7477125" cy="1143000"/>
          </a:xfrm>
        </p:spPr>
        <p:txBody>
          <a:bodyPr rtlCol="0">
            <a:normAutofit fontScale="90000"/>
          </a:bodyPr>
          <a:lstStyle/>
          <a:p>
            <a:pPr>
              <a:defRPr/>
            </a:pPr>
            <a:r>
              <a:rPr lang="en-US" sz="3200">
                <a:solidFill>
                  <a:schemeClr val="accent2">
                    <a:lumMod val="50000"/>
                  </a:schemeClr>
                </a:solidFill>
                <a:latin typeface="Berlin Sans FB" panose="020E0602020502020306" pitchFamily="34" charset="0"/>
              </a:rPr>
              <a:t>63.It is the total process by which an innovation spreads out among clients until a large number have adopted it.</a:t>
            </a:r>
          </a:p>
        </p:txBody>
      </p:sp>
      <p:sp>
        <p:nvSpPr>
          <p:cNvPr id="3" name="Content Placeholder 2"/>
          <p:cNvSpPr>
            <a:spLocks noGrp="1"/>
          </p:cNvSpPr>
          <p:nvPr>
            <p:ph idx="4294967295"/>
          </p:nvPr>
        </p:nvSpPr>
        <p:spPr>
          <a:xfrm>
            <a:off x="2438400" y="1905000"/>
            <a:ext cx="7386638" cy="4497388"/>
          </a:xfrm>
        </p:spPr>
        <p:txBody>
          <a:bodyPr/>
          <a:lstStyle/>
          <a:p>
            <a:pPr eaLnBrk="1" hangingPunct="1">
              <a:buFontTx/>
              <a:buNone/>
            </a:pPr>
            <a:r>
              <a:rPr lang="en-US" sz="3200">
                <a:solidFill>
                  <a:schemeClr val="accent2">
                    <a:lumMod val="50000"/>
                  </a:schemeClr>
                </a:solidFill>
                <a:latin typeface="Berlin Sans FB" panose="020E0602020502020306" pitchFamily="34" charset="0"/>
              </a:rPr>
              <a:t>a. Intervention</a:t>
            </a:r>
          </a:p>
          <a:p>
            <a:pPr eaLnBrk="1" hangingPunct="1">
              <a:buFontTx/>
              <a:buNone/>
            </a:pPr>
            <a:r>
              <a:rPr lang="en-US" sz="3200">
                <a:solidFill>
                  <a:schemeClr val="accent2">
                    <a:lumMod val="50000"/>
                  </a:schemeClr>
                </a:solidFill>
                <a:latin typeface="Berlin Sans FB" panose="020E0602020502020306" pitchFamily="34" charset="0"/>
              </a:rPr>
              <a:t>b. Adoption</a:t>
            </a:r>
          </a:p>
          <a:p>
            <a:pPr eaLnBrk="1" hangingPunct="1">
              <a:buFontTx/>
              <a:buNone/>
            </a:pPr>
            <a:r>
              <a:rPr lang="en-US" sz="3200">
                <a:solidFill>
                  <a:schemeClr val="accent2">
                    <a:lumMod val="50000"/>
                  </a:schemeClr>
                </a:solidFill>
                <a:latin typeface="Berlin Sans FB" panose="020E0602020502020306" pitchFamily="34" charset="0"/>
              </a:rPr>
              <a:t>c. Diffusion </a:t>
            </a:r>
          </a:p>
          <a:p>
            <a:pPr eaLnBrk="1" hangingPunct="1">
              <a:buFontTx/>
              <a:buNone/>
            </a:pPr>
            <a:r>
              <a:rPr lang="en-US" sz="3200">
                <a:solidFill>
                  <a:schemeClr val="accent2">
                    <a:lumMod val="50000"/>
                  </a:schemeClr>
                </a:solidFill>
                <a:latin typeface="Berlin Sans FB" panose="020E0602020502020306" pitchFamily="34" charset="0"/>
              </a:rPr>
              <a:t>d. Evaluation</a:t>
            </a:r>
          </a:p>
          <a:p>
            <a:pPr eaLnBrk="1" hangingPunct="1">
              <a:buFontTx/>
              <a:buChar char="•"/>
            </a:pPr>
            <a:endParaRPr lang="en-US" sz="3200">
              <a:solidFill>
                <a:schemeClr val="accent2">
                  <a:lumMod val="50000"/>
                </a:schemeClr>
              </a:solidFill>
              <a:latin typeface="Berlin Sans FB" panose="020E0602020502020306" pitchFamily="34" charset="0"/>
            </a:endParaRPr>
          </a:p>
        </p:txBody>
      </p:sp>
      <p:sp>
        <p:nvSpPr>
          <p:cNvPr id="263172" name="Text Box 4"/>
          <p:cNvSpPr txBox="1">
            <a:spLocks noChangeArrowheads="1"/>
          </p:cNvSpPr>
          <p:nvPr/>
        </p:nvSpPr>
        <p:spPr bwMode="auto">
          <a:xfrm>
            <a:off x="2590800" y="5335589"/>
            <a:ext cx="75438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4400" b="1">
                <a:solidFill>
                  <a:schemeClr val="accent2">
                    <a:lumMod val="50000"/>
                  </a:schemeClr>
                </a:solidFill>
                <a:latin typeface="Berlin Sans FB" panose="020E0602020502020306" pitchFamily="34" charset="0"/>
              </a:rPr>
              <a:t>C. Diffusion</a:t>
            </a:r>
          </a:p>
        </p:txBody>
      </p:sp>
    </p:spTree>
    <p:extLst>
      <p:ext uri="{BB962C8B-B14F-4D97-AF65-F5344CB8AC3E}">
        <p14:creationId xmlns:p14="http://schemas.microsoft.com/office/powerpoint/2010/main" val="767939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3">
                                            <p:txEl>
                                              <p:pRg st="2" end="2"/>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263172"/>
                                        </p:tgtEl>
                                        <p:attrNameLst>
                                          <p:attrName>style.visibility</p:attrName>
                                        </p:attrNameLst>
                                      </p:cBhvr>
                                      <p:to>
                                        <p:strVal val="visible"/>
                                      </p:to>
                                    </p:set>
                                    <p:animEffect transition="in" filter="wipe(down)">
                                      <p:cBhvr>
                                        <p:cTn id="11" dur="580">
                                          <p:stCondLst>
                                            <p:cond delay="0"/>
                                          </p:stCondLst>
                                        </p:cTn>
                                        <p:tgtEl>
                                          <p:spTgt spid="263172"/>
                                        </p:tgtEl>
                                      </p:cBhvr>
                                    </p:animEffect>
                                    <p:anim calcmode="lin" valueType="num">
                                      <p:cBhvr>
                                        <p:cTn id="12" dur="1822" tmFilter="0,0; 0.14,0.36; 0.43,0.73; 0.71,0.91; 1.0,1.0">
                                          <p:stCondLst>
                                            <p:cond delay="0"/>
                                          </p:stCondLst>
                                        </p:cTn>
                                        <p:tgtEl>
                                          <p:spTgt spid="263172"/>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263172"/>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263172"/>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263172"/>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263172"/>
                                        </p:tgtEl>
                                        <p:attrNameLst>
                                          <p:attrName>ppt_y</p:attrName>
                                        </p:attrNameLst>
                                      </p:cBhvr>
                                      <p:tavLst>
                                        <p:tav tm="0" fmla="#ppt_y-sin(pi*$)/81">
                                          <p:val>
                                            <p:fltVal val="0"/>
                                          </p:val>
                                        </p:tav>
                                        <p:tav tm="100000">
                                          <p:val>
                                            <p:fltVal val="1"/>
                                          </p:val>
                                        </p:tav>
                                      </p:tavLst>
                                    </p:anim>
                                    <p:animScale>
                                      <p:cBhvr>
                                        <p:cTn id="17" dur="26">
                                          <p:stCondLst>
                                            <p:cond delay="650"/>
                                          </p:stCondLst>
                                        </p:cTn>
                                        <p:tgtEl>
                                          <p:spTgt spid="263172"/>
                                        </p:tgtEl>
                                      </p:cBhvr>
                                      <p:to x="100000" y="60000"/>
                                    </p:animScale>
                                    <p:animScale>
                                      <p:cBhvr>
                                        <p:cTn id="18" dur="166" decel="50000">
                                          <p:stCondLst>
                                            <p:cond delay="676"/>
                                          </p:stCondLst>
                                        </p:cTn>
                                        <p:tgtEl>
                                          <p:spTgt spid="263172"/>
                                        </p:tgtEl>
                                      </p:cBhvr>
                                      <p:to x="100000" y="100000"/>
                                    </p:animScale>
                                    <p:animScale>
                                      <p:cBhvr>
                                        <p:cTn id="19" dur="26">
                                          <p:stCondLst>
                                            <p:cond delay="1312"/>
                                          </p:stCondLst>
                                        </p:cTn>
                                        <p:tgtEl>
                                          <p:spTgt spid="263172"/>
                                        </p:tgtEl>
                                      </p:cBhvr>
                                      <p:to x="100000" y="80000"/>
                                    </p:animScale>
                                    <p:animScale>
                                      <p:cBhvr>
                                        <p:cTn id="20" dur="166" decel="50000">
                                          <p:stCondLst>
                                            <p:cond delay="1338"/>
                                          </p:stCondLst>
                                        </p:cTn>
                                        <p:tgtEl>
                                          <p:spTgt spid="263172"/>
                                        </p:tgtEl>
                                      </p:cBhvr>
                                      <p:to x="100000" y="100000"/>
                                    </p:animScale>
                                    <p:animScale>
                                      <p:cBhvr>
                                        <p:cTn id="21" dur="26">
                                          <p:stCondLst>
                                            <p:cond delay="1642"/>
                                          </p:stCondLst>
                                        </p:cTn>
                                        <p:tgtEl>
                                          <p:spTgt spid="263172"/>
                                        </p:tgtEl>
                                      </p:cBhvr>
                                      <p:to x="100000" y="90000"/>
                                    </p:animScale>
                                    <p:animScale>
                                      <p:cBhvr>
                                        <p:cTn id="22" dur="166" decel="50000">
                                          <p:stCondLst>
                                            <p:cond delay="1668"/>
                                          </p:stCondLst>
                                        </p:cTn>
                                        <p:tgtEl>
                                          <p:spTgt spid="263172"/>
                                        </p:tgtEl>
                                      </p:cBhvr>
                                      <p:to x="100000" y="100000"/>
                                    </p:animScale>
                                    <p:animScale>
                                      <p:cBhvr>
                                        <p:cTn id="23" dur="26">
                                          <p:stCondLst>
                                            <p:cond delay="1808"/>
                                          </p:stCondLst>
                                        </p:cTn>
                                        <p:tgtEl>
                                          <p:spTgt spid="263172"/>
                                        </p:tgtEl>
                                      </p:cBhvr>
                                      <p:to x="100000" y="95000"/>
                                    </p:animScale>
                                    <p:animScale>
                                      <p:cBhvr>
                                        <p:cTn id="24" dur="166" decel="50000">
                                          <p:stCondLst>
                                            <p:cond delay="1834"/>
                                          </p:stCondLst>
                                        </p:cTn>
                                        <p:tgtEl>
                                          <p:spTgt spid="26317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itle 1"/>
          <p:cNvSpPr>
            <a:spLocks noGrp="1"/>
          </p:cNvSpPr>
          <p:nvPr>
            <p:ph type="title" idx="4294967295"/>
          </p:nvPr>
        </p:nvSpPr>
        <p:spPr>
          <a:xfrm>
            <a:off x="2362201" y="188914"/>
            <a:ext cx="7477125" cy="1601787"/>
          </a:xfrm>
        </p:spPr>
        <p:txBody>
          <a:bodyPr/>
          <a:lstStyle/>
          <a:p>
            <a:pPr eaLnBrk="1" hangingPunct="1"/>
            <a:r>
              <a:rPr lang="en-US" sz="3600">
                <a:solidFill>
                  <a:schemeClr val="accent2">
                    <a:lumMod val="50000"/>
                  </a:schemeClr>
                </a:solidFill>
                <a:latin typeface="Berlin Sans FB" panose="020E0602020502020306" pitchFamily="34" charset="0"/>
              </a:rPr>
              <a:t>64. According to Chambers the reason for non-adoption of innovation by the farmers in the 1950’s was</a:t>
            </a:r>
          </a:p>
        </p:txBody>
      </p:sp>
      <p:sp>
        <p:nvSpPr>
          <p:cNvPr id="313347" name="Content Placeholder 2"/>
          <p:cNvSpPr>
            <a:spLocks noGrp="1"/>
          </p:cNvSpPr>
          <p:nvPr>
            <p:ph idx="4294967295"/>
          </p:nvPr>
        </p:nvSpPr>
        <p:spPr>
          <a:xfrm>
            <a:off x="1866900" y="2336800"/>
            <a:ext cx="7386638" cy="4497388"/>
          </a:xfrm>
        </p:spPr>
        <p:txBody>
          <a:bodyPr/>
          <a:lstStyle/>
          <a:p>
            <a:pPr eaLnBrk="1" hangingPunct="1">
              <a:buFontTx/>
              <a:buNone/>
            </a:pPr>
            <a:r>
              <a:rPr lang="en-US" sz="2400">
                <a:solidFill>
                  <a:schemeClr val="accent2">
                    <a:lumMod val="50000"/>
                  </a:schemeClr>
                </a:solidFill>
                <a:latin typeface="Berlin Sans FB" panose="020E0602020502020306" pitchFamily="34" charset="0"/>
              </a:rPr>
              <a:t>a. Technology does not fit</a:t>
            </a:r>
          </a:p>
          <a:p>
            <a:pPr eaLnBrk="1" hangingPunct="1">
              <a:buFontTx/>
              <a:buNone/>
            </a:pPr>
            <a:r>
              <a:rPr lang="en-US" sz="2400">
                <a:solidFill>
                  <a:schemeClr val="accent2">
                    <a:lumMod val="50000"/>
                  </a:schemeClr>
                </a:solidFill>
                <a:latin typeface="Berlin Sans FB" panose="020E0602020502020306" pitchFamily="34" charset="0"/>
              </a:rPr>
              <a:t>b. Input constraints</a:t>
            </a:r>
          </a:p>
          <a:p>
            <a:pPr eaLnBrk="1" hangingPunct="1">
              <a:buFontTx/>
              <a:buNone/>
            </a:pPr>
            <a:r>
              <a:rPr lang="en-US" sz="2400">
                <a:solidFill>
                  <a:schemeClr val="accent2">
                    <a:lumMod val="50000"/>
                  </a:schemeClr>
                </a:solidFill>
                <a:latin typeface="Berlin Sans FB" panose="020E0602020502020306" pitchFamily="34" charset="0"/>
              </a:rPr>
              <a:t>c. Ignorance of farmers</a:t>
            </a:r>
          </a:p>
          <a:p>
            <a:pPr eaLnBrk="1" hangingPunct="1">
              <a:buFontTx/>
              <a:buNone/>
            </a:pPr>
            <a:r>
              <a:rPr lang="en-US" sz="2400">
                <a:solidFill>
                  <a:schemeClr val="accent2">
                    <a:lumMod val="50000"/>
                  </a:schemeClr>
                </a:solidFill>
                <a:latin typeface="Berlin Sans FB" panose="020E0602020502020306" pitchFamily="34" charset="0"/>
              </a:rPr>
              <a:t>d. Lack of capital</a:t>
            </a:r>
          </a:p>
        </p:txBody>
      </p:sp>
      <p:sp>
        <p:nvSpPr>
          <p:cNvPr id="146437" name="Text Box 5"/>
          <p:cNvSpPr txBox="1">
            <a:spLocks noChangeArrowheads="1"/>
          </p:cNvSpPr>
          <p:nvPr/>
        </p:nvSpPr>
        <p:spPr bwMode="auto">
          <a:xfrm>
            <a:off x="1676400" y="5029201"/>
            <a:ext cx="754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C. Ignorance of farmers</a:t>
            </a:r>
          </a:p>
        </p:txBody>
      </p:sp>
    </p:spTree>
    <p:extLst>
      <p:ext uri="{BB962C8B-B14F-4D97-AF65-F5344CB8AC3E}">
        <p14:creationId xmlns:p14="http://schemas.microsoft.com/office/powerpoint/2010/main" val="3094349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6437"/>
                                        </p:tgtEl>
                                        <p:attrNameLst>
                                          <p:attrName>style.visibility</p:attrName>
                                        </p:attrNameLst>
                                      </p:cBhvr>
                                      <p:to>
                                        <p:strVal val="visible"/>
                                      </p:to>
                                    </p:set>
                                    <p:animEffect transition="in" filter="wipe(down)">
                                      <p:cBhvr>
                                        <p:cTn id="7" dur="580">
                                          <p:stCondLst>
                                            <p:cond delay="0"/>
                                          </p:stCondLst>
                                        </p:cTn>
                                        <p:tgtEl>
                                          <p:spTgt spid="146437"/>
                                        </p:tgtEl>
                                      </p:cBhvr>
                                    </p:animEffect>
                                    <p:anim calcmode="lin" valueType="num">
                                      <p:cBhvr>
                                        <p:cTn id="8" dur="1822" tmFilter="0,0; 0.14,0.36; 0.43,0.73; 0.71,0.91; 1.0,1.0">
                                          <p:stCondLst>
                                            <p:cond delay="0"/>
                                          </p:stCondLst>
                                        </p:cTn>
                                        <p:tgtEl>
                                          <p:spTgt spid="14643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643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643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643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6437"/>
                                        </p:tgtEl>
                                        <p:attrNameLst>
                                          <p:attrName>ppt_y</p:attrName>
                                        </p:attrNameLst>
                                      </p:cBhvr>
                                      <p:tavLst>
                                        <p:tav tm="0" fmla="#ppt_y-sin(pi*$)/81">
                                          <p:val>
                                            <p:fltVal val="0"/>
                                          </p:val>
                                        </p:tav>
                                        <p:tav tm="100000">
                                          <p:val>
                                            <p:fltVal val="1"/>
                                          </p:val>
                                        </p:tav>
                                      </p:tavLst>
                                    </p:anim>
                                    <p:animScale>
                                      <p:cBhvr>
                                        <p:cTn id="13" dur="26">
                                          <p:stCondLst>
                                            <p:cond delay="650"/>
                                          </p:stCondLst>
                                        </p:cTn>
                                        <p:tgtEl>
                                          <p:spTgt spid="146437"/>
                                        </p:tgtEl>
                                      </p:cBhvr>
                                      <p:to x="100000" y="60000"/>
                                    </p:animScale>
                                    <p:animScale>
                                      <p:cBhvr>
                                        <p:cTn id="14" dur="166" decel="50000">
                                          <p:stCondLst>
                                            <p:cond delay="676"/>
                                          </p:stCondLst>
                                        </p:cTn>
                                        <p:tgtEl>
                                          <p:spTgt spid="146437"/>
                                        </p:tgtEl>
                                      </p:cBhvr>
                                      <p:to x="100000" y="100000"/>
                                    </p:animScale>
                                    <p:animScale>
                                      <p:cBhvr>
                                        <p:cTn id="15" dur="26">
                                          <p:stCondLst>
                                            <p:cond delay="1312"/>
                                          </p:stCondLst>
                                        </p:cTn>
                                        <p:tgtEl>
                                          <p:spTgt spid="146437"/>
                                        </p:tgtEl>
                                      </p:cBhvr>
                                      <p:to x="100000" y="80000"/>
                                    </p:animScale>
                                    <p:animScale>
                                      <p:cBhvr>
                                        <p:cTn id="16" dur="166" decel="50000">
                                          <p:stCondLst>
                                            <p:cond delay="1338"/>
                                          </p:stCondLst>
                                        </p:cTn>
                                        <p:tgtEl>
                                          <p:spTgt spid="146437"/>
                                        </p:tgtEl>
                                      </p:cBhvr>
                                      <p:to x="100000" y="100000"/>
                                    </p:animScale>
                                    <p:animScale>
                                      <p:cBhvr>
                                        <p:cTn id="17" dur="26">
                                          <p:stCondLst>
                                            <p:cond delay="1642"/>
                                          </p:stCondLst>
                                        </p:cTn>
                                        <p:tgtEl>
                                          <p:spTgt spid="146437"/>
                                        </p:tgtEl>
                                      </p:cBhvr>
                                      <p:to x="100000" y="90000"/>
                                    </p:animScale>
                                    <p:animScale>
                                      <p:cBhvr>
                                        <p:cTn id="18" dur="166" decel="50000">
                                          <p:stCondLst>
                                            <p:cond delay="1668"/>
                                          </p:stCondLst>
                                        </p:cTn>
                                        <p:tgtEl>
                                          <p:spTgt spid="146437"/>
                                        </p:tgtEl>
                                      </p:cBhvr>
                                      <p:to x="100000" y="100000"/>
                                    </p:animScale>
                                    <p:animScale>
                                      <p:cBhvr>
                                        <p:cTn id="19" dur="26">
                                          <p:stCondLst>
                                            <p:cond delay="1808"/>
                                          </p:stCondLst>
                                        </p:cTn>
                                        <p:tgtEl>
                                          <p:spTgt spid="146437"/>
                                        </p:tgtEl>
                                      </p:cBhvr>
                                      <p:to x="100000" y="95000"/>
                                    </p:animScale>
                                    <p:animScale>
                                      <p:cBhvr>
                                        <p:cTn id="20" dur="166" decel="50000">
                                          <p:stCondLst>
                                            <p:cond delay="1834"/>
                                          </p:stCondLst>
                                        </p:cTn>
                                        <p:tgtEl>
                                          <p:spTgt spid="14643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itle 1"/>
          <p:cNvSpPr>
            <a:spLocks noGrp="1"/>
          </p:cNvSpPr>
          <p:nvPr>
            <p:ph type="title" idx="4294967295"/>
          </p:nvPr>
        </p:nvSpPr>
        <p:spPr>
          <a:xfrm>
            <a:off x="2514601" y="381000"/>
            <a:ext cx="7477125" cy="1143000"/>
          </a:xfrm>
        </p:spPr>
        <p:txBody>
          <a:bodyPr rtlCol="0">
            <a:normAutofit fontScale="90000"/>
          </a:bodyPr>
          <a:lstStyle/>
          <a:p>
            <a:pPr>
              <a:defRPr/>
            </a:pPr>
            <a:r>
              <a:rPr lang="en-US" sz="2800">
                <a:solidFill>
                  <a:schemeClr val="accent2">
                    <a:lumMod val="50000"/>
                  </a:schemeClr>
                </a:solidFill>
                <a:latin typeface="Berlin Sans FB" panose="020E0602020502020306" pitchFamily="34" charset="0"/>
              </a:rPr>
              <a:t>65.This refers to the specific cultural techniques in the management/production of crops, livestock, fishery and forestry</a:t>
            </a:r>
          </a:p>
        </p:txBody>
      </p:sp>
      <p:sp>
        <p:nvSpPr>
          <p:cNvPr id="314371" name="Content Placeholder 2"/>
          <p:cNvSpPr>
            <a:spLocks noGrp="1"/>
          </p:cNvSpPr>
          <p:nvPr>
            <p:ph idx="4294967295"/>
          </p:nvPr>
        </p:nvSpPr>
        <p:spPr>
          <a:xfrm>
            <a:off x="2514600" y="1752600"/>
            <a:ext cx="7386638" cy="4497388"/>
          </a:xfrm>
        </p:spPr>
        <p:txBody>
          <a:bodyPr/>
          <a:lstStyle/>
          <a:p>
            <a:pPr eaLnBrk="1" hangingPunct="1">
              <a:buFontTx/>
              <a:buNone/>
            </a:pPr>
            <a:r>
              <a:rPr lang="en-US" sz="2400">
                <a:solidFill>
                  <a:schemeClr val="accent2">
                    <a:lumMod val="50000"/>
                  </a:schemeClr>
                </a:solidFill>
                <a:latin typeface="Berlin Sans FB" panose="020E0602020502020306" pitchFamily="34" charset="0"/>
              </a:rPr>
              <a:t>a. Technology</a:t>
            </a:r>
          </a:p>
          <a:p>
            <a:pPr eaLnBrk="1" hangingPunct="1">
              <a:buFontTx/>
              <a:buNone/>
            </a:pPr>
            <a:r>
              <a:rPr lang="en-US" sz="2400">
                <a:solidFill>
                  <a:schemeClr val="accent2">
                    <a:lumMod val="50000"/>
                  </a:schemeClr>
                </a:solidFill>
                <a:latin typeface="Berlin Sans FB" panose="020E0602020502020306" pitchFamily="34" charset="0"/>
              </a:rPr>
              <a:t>b. Management techniques</a:t>
            </a:r>
          </a:p>
          <a:p>
            <a:pPr eaLnBrk="1" hangingPunct="1">
              <a:buFontTx/>
              <a:buNone/>
            </a:pPr>
            <a:r>
              <a:rPr lang="en-US" sz="2400">
                <a:solidFill>
                  <a:schemeClr val="accent2">
                    <a:lumMod val="50000"/>
                  </a:schemeClr>
                </a:solidFill>
                <a:latin typeface="Berlin Sans FB" panose="020E0602020502020306" pitchFamily="34" charset="0"/>
              </a:rPr>
              <a:t>c. Package technology</a:t>
            </a:r>
          </a:p>
          <a:p>
            <a:pPr eaLnBrk="1" hangingPunct="1">
              <a:buFontTx/>
              <a:buNone/>
            </a:pPr>
            <a:r>
              <a:rPr lang="en-US" sz="2400">
                <a:solidFill>
                  <a:schemeClr val="accent2">
                    <a:lumMod val="50000"/>
                  </a:schemeClr>
                </a:solidFill>
                <a:latin typeface="Berlin Sans FB" panose="020E0602020502020306" pitchFamily="34" charset="0"/>
              </a:rPr>
              <a:t>d. Component technology</a:t>
            </a:r>
          </a:p>
        </p:txBody>
      </p:sp>
      <p:sp>
        <p:nvSpPr>
          <p:cNvPr id="147461" name="Text Box 5"/>
          <p:cNvSpPr txBox="1">
            <a:spLocks noChangeArrowheads="1"/>
          </p:cNvSpPr>
          <p:nvPr/>
        </p:nvSpPr>
        <p:spPr bwMode="auto">
          <a:xfrm>
            <a:off x="2667000" y="51831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D. Component technology</a:t>
            </a:r>
          </a:p>
        </p:txBody>
      </p:sp>
    </p:spTree>
    <p:extLst>
      <p:ext uri="{BB962C8B-B14F-4D97-AF65-F5344CB8AC3E}">
        <p14:creationId xmlns:p14="http://schemas.microsoft.com/office/powerpoint/2010/main" val="124193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7461"/>
                                        </p:tgtEl>
                                        <p:attrNameLst>
                                          <p:attrName>style.visibility</p:attrName>
                                        </p:attrNameLst>
                                      </p:cBhvr>
                                      <p:to>
                                        <p:strVal val="visible"/>
                                      </p:to>
                                    </p:set>
                                    <p:animEffect transition="in" filter="wipe(down)">
                                      <p:cBhvr>
                                        <p:cTn id="7" dur="580">
                                          <p:stCondLst>
                                            <p:cond delay="0"/>
                                          </p:stCondLst>
                                        </p:cTn>
                                        <p:tgtEl>
                                          <p:spTgt spid="147461"/>
                                        </p:tgtEl>
                                      </p:cBhvr>
                                    </p:animEffect>
                                    <p:anim calcmode="lin" valueType="num">
                                      <p:cBhvr>
                                        <p:cTn id="8" dur="1822" tmFilter="0,0; 0.14,0.36; 0.43,0.73; 0.71,0.91; 1.0,1.0">
                                          <p:stCondLst>
                                            <p:cond delay="0"/>
                                          </p:stCondLst>
                                        </p:cTn>
                                        <p:tgtEl>
                                          <p:spTgt spid="1474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74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74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74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7461"/>
                                        </p:tgtEl>
                                        <p:attrNameLst>
                                          <p:attrName>ppt_y</p:attrName>
                                        </p:attrNameLst>
                                      </p:cBhvr>
                                      <p:tavLst>
                                        <p:tav tm="0" fmla="#ppt_y-sin(pi*$)/81">
                                          <p:val>
                                            <p:fltVal val="0"/>
                                          </p:val>
                                        </p:tav>
                                        <p:tav tm="100000">
                                          <p:val>
                                            <p:fltVal val="1"/>
                                          </p:val>
                                        </p:tav>
                                      </p:tavLst>
                                    </p:anim>
                                    <p:animScale>
                                      <p:cBhvr>
                                        <p:cTn id="13" dur="26">
                                          <p:stCondLst>
                                            <p:cond delay="650"/>
                                          </p:stCondLst>
                                        </p:cTn>
                                        <p:tgtEl>
                                          <p:spTgt spid="147461"/>
                                        </p:tgtEl>
                                      </p:cBhvr>
                                      <p:to x="100000" y="60000"/>
                                    </p:animScale>
                                    <p:animScale>
                                      <p:cBhvr>
                                        <p:cTn id="14" dur="166" decel="50000">
                                          <p:stCondLst>
                                            <p:cond delay="676"/>
                                          </p:stCondLst>
                                        </p:cTn>
                                        <p:tgtEl>
                                          <p:spTgt spid="147461"/>
                                        </p:tgtEl>
                                      </p:cBhvr>
                                      <p:to x="100000" y="100000"/>
                                    </p:animScale>
                                    <p:animScale>
                                      <p:cBhvr>
                                        <p:cTn id="15" dur="26">
                                          <p:stCondLst>
                                            <p:cond delay="1312"/>
                                          </p:stCondLst>
                                        </p:cTn>
                                        <p:tgtEl>
                                          <p:spTgt spid="147461"/>
                                        </p:tgtEl>
                                      </p:cBhvr>
                                      <p:to x="100000" y="80000"/>
                                    </p:animScale>
                                    <p:animScale>
                                      <p:cBhvr>
                                        <p:cTn id="16" dur="166" decel="50000">
                                          <p:stCondLst>
                                            <p:cond delay="1338"/>
                                          </p:stCondLst>
                                        </p:cTn>
                                        <p:tgtEl>
                                          <p:spTgt spid="147461"/>
                                        </p:tgtEl>
                                      </p:cBhvr>
                                      <p:to x="100000" y="100000"/>
                                    </p:animScale>
                                    <p:animScale>
                                      <p:cBhvr>
                                        <p:cTn id="17" dur="26">
                                          <p:stCondLst>
                                            <p:cond delay="1642"/>
                                          </p:stCondLst>
                                        </p:cTn>
                                        <p:tgtEl>
                                          <p:spTgt spid="147461"/>
                                        </p:tgtEl>
                                      </p:cBhvr>
                                      <p:to x="100000" y="90000"/>
                                    </p:animScale>
                                    <p:animScale>
                                      <p:cBhvr>
                                        <p:cTn id="18" dur="166" decel="50000">
                                          <p:stCondLst>
                                            <p:cond delay="1668"/>
                                          </p:stCondLst>
                                        </p:cTn>
                                        <p:tgtEl>
                                          <p:spTgt spid="147461"/>
                                        </p:tgtEl>
                                      </p:cBhvr>
                                      <p:to x="100000" y="100000"/>
                                    </p:animScale>
                                    <p:animScale>
                                      <p:cBhvr>
                                        <p:cTn id="19" dur="26">
                                          <p:stCondLst>
                                            <p:cond delay="1808"/>
                                          </p:stCondLst>
                                        </p:cTn>
                                        <p:tgtEl>
                                          <p:spTgt spid="147461"/>
                                        </p:tgtEl>
                                      </p:cBhvr>
                                      <p:to x="100000" y="95000"/>
                                    </p:animScale>
                                    <p:animScale>
                                      <p:cBhvr>
                                        <p:cTn id="20" dur="166" decel="50000">
                                          <p:stCondLst>
                                            <p:cond delay="1834"/>
                                          </p:stCondLst>
                                        </p:cTn>
                                        <p:tgtEl>
                                          <p:spTgt spid="1474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1"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Title 1"/>
          <p:cNvSpPr>
            <a:spLocks noGrp="1"/>
          </p:cNvSpPr>
          <p:nvPr>
            <p:ph type="title" idx="4294967295"/>
          </p:nvPr>
        </p:nvSpPr>
        <p:spPr>
          <a:xfrm>
            <a:off x="1896415" y="250065"/>
            <a:ext cx="7477125" cy="1754188"/>
          </a:xfrm>
        </p:spPr>
        <p:txBody>
          <a:bodyPr/>
          <a:lstStyle/>
          <a:p>
            <a:pPr eaLnBrk="1" hangingPunct="1"/>
            <a:r>
              <a:rPr lang="en-US" sz="2800" dirty="0">
                <a:solidFill>
                  <a:schemeClr val="accent2">
                    <a:lumMod val="50000"/>
                  </a:schemeClr>
                </a:solidFill>
                <a:latin typeface="Berlin Sans FB" panose="020E0602020502020306" pitchFamily="34" charset="0"/>
              </a:rPr>
              <a:t>66.In the technology development process, when promoters of technologies can use varied approaches and methods in bringing technologies to end-users</a:t>
            </a:r>
          </a:p>
        </p:txBody>
      </p:sp>
      <p:sp>
        <p:nvSpPr>
          <p:cNvPr id="315395" name="Content Placeholder 2"/>
          <p:cNvSpPr>
            <a:spLocks noGrp="1"/>
          </p:cNvSpPr>
          <p:nvPr>
            <p:ph idx="4294967295"/>
          </p:nvPr>
        </p:nvSpPr>
        <p:spPr>
          <a:xfrm>
            <a:off x="1478018" y="2208169"/>
            <a:ext cx="7386638" cy="3962400"/>
          </a:xfrm>
        </p:spPr>
        <p:txBody>
          <a:bodyPr/>
          <a:lstStyle/>
          <a:p>
            <a:pPr eaLnBrk="1" hangingPunct="1">
              <a:buFontTx/>
              <a:buAutoNum type="alphaLcPeriod"/>
            </a:pPr>
            <a:r>
              <a:rPr lang="en-US" sz="2800" dirty="0">
                <a:solidFill>
                  <a:schemeClr val="accent2">
                    <a:lumMod val="50000"/>
                  </a:schemeClr>
                </a:solidFill>
                <a:latin typeface="Berlin Sans FB" panose="020E0602020502020306" pitchFamily="34" charset="0"/>
              </a:rPr>
              <a:t>Technology dissemination</a:t>
            </a:r>
          </a:p>
          <a:p>
            <a:pPr eaLnBrk="1" hangingPunct="1">
              <a:buFontTx/>
              <a:buAutoNum type="alphaLcPeriod"/>
            </a:pPr>
            <a:r>
              <a:rPr lang="en-US" sz="2800" dirty="0">
                <a:solidFill>
                  <a:schemeClr val="accent2">
                    <a:lumMod val="50000"/>
                  </a:schemeClr>
                </a:solidFill>
                <a:latin typeface="Berlin Sans FB" panose="020E0602020502020306" pitchFamily="34" charset="0"/>
              </a:rPr>
              <a:t>Technology adaptation</a:t>
            </a:r>
          </a:p>
          <a:p>
            <a:pPr eaLnBrk="1" hangingPunct="1">
              <a:buFontTx/>
              <a:buAutoNum type="alphaLcPeriod"/>
            </a:pPr>
            <a:r>
              <a:rPr lang="en-US" sz="2800" dirty="0">
                <a:solidFill>
                  <a:schemeClr val="accent2">
                    <a:lumMod val="50000"/>
                  </a:schemeClr>
                </a:solidFill>
                <a:latin typeface="Berlin Sans FB" panose="020E0602020502020306" pitchFamily="34" charset="0"/>
              </a:rPr>
              <a:t>Technology commercialization</a:t>
            </a:r>
          </a:p>
          <a:p>
            <a:pPr eaLnBrk="1" hangingPunct="1">
              <a:buFontTx/>
              <a:buAutoNum type="alphaLcPeriod"/>
            </a:pPr>
            <a:r>
              <a:rPr lang="en-US" sz="2800" dirty="0">
                <a:solidFill>
                  <a:schemeClr val="accent2">
                    <a:lumMod val="50000"/>
                  </a:schemeClr>
                </a:solidFill>
                <a:latin typeface="Berlin Sans FB" panose="020E0602020502020306" pitchFamily="34" charset="0"/>
              </a:rPr>
              <a:t>Technology generation</a:t>
            </a:r>
          </a:p>
        </p:txBody>
      </p:sp>
      <p:sp>
        <p:nvSpPr>
          <p:cNvPr id="148485" name="Text Box 5"/>
          <p:cNvSpPr txBox="1">
            <a:spLocks noChangeArrowheads="1"/>
          </p:cNvSpPr>
          <p:nvPr/>
        </p:nvSpPr>
        <p:spPr bwMode="auto">
          <a:xfrm>
            <a:off x="1688205" y="4704524"/>
            <a:ext cx="7543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800" b="1" dirty="0">
                <a:solidFill>
                  <a:schemeClr val="accent2">
                    <a:lumMod val="50000"/>
                  </a:schemeClr>
                </a:solidFill>
                <a:latin typeface="Berlin Sans FB" panose="020E0602020502020306" pitchFamily="34" charset="0"/>
              </a:rPr>
              <a:t>A. Technology dissemination</a:t>
            </a:r>
          </a:p>
        </p:txBody>
      </p:sp>
    </p:spTree>
    <p:extLst>
      <p:ext uri="{BB962C8B-B14F-4D97-AF65-F5344CB8AC3E}">
        <p14:creationId xmlns:p14="http://schemas.microsoft.com/office/powerpoint/2010/main" val="2857776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8485"/>
                                        </p:tgtEl>
                                        <p:attrNameLst>
                                          <p:attrName>style.visibility</p:attrName>
                                        </p:attrNameLst>
                                      </p:cBhvr>
                                      <p:to>
                                        <p:strVal val="visible"/>
                                      </p:to>
                                    </p:set>
                                    <p:animEffect transition="in" filter="wipe(down)">
                                      <p:cBhvr>
                                        <p:cTn id="7" dur="580">
                                          <p:stCondLst>
                                            <p:cond delay="0"/>
                                          </p:stCondLst>
                                        </p:cTn>
                                        <p:tgtEl>
                                          <p:spTgt spid="148485"/>
                                        </p:tgtEl>
                                      </p:cBhvr>
                                    </p:animEffect>
                                    <p:anim calcmode="lin" valueType="num">
                                      <p:cBhvr>
                                        <p:cTn id="8" dur="1822" tmFilter="0,0; 0.14,0.36; 0.43,0.73; 0.71,0.91; 1.0,1.0">
                                          <p:stCondLst>
                                            <p:cond delay="0"/>
                                          </p:stCondLst>
                                        </p:cTn>
                                        <p:tgtEl>
                                          <p:spTgt spid="14848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848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848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848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8485"/>
                                        </p:tgtEl>
                                        <p:attrNameLst>
                                          <p:attrName>ppt_y</p:attrName>
                                        </p:attrNameLst>
                                      </p:cBhvr>
                                      <p:tavLst>
                                        <p:tav tm="0" fmla="#ppt_y-sin(pi*$)/81">
                                          <p:val>
                                            <p:fltVal val="0"/>
                                          </p:val>
                                        </p:tav>
                                        <p:tav tm="100000">
                                          <p:val>
                                            <p:fltVal val="1"/>
                                          </p:val>
                                        </p:tav>
                                      </p:tavLst>
                                    </p:anim>
                                    <p:animScale>
                                      <p:cBhvr>
                                        <p:cTn id="13" dur="26">
                                          <p:stCondLst>
                                            <p:cond delay="650"/>
                                          </p:stCondLst>
                                        </p:cTn>
                                        <p:tgtEl>
                                          <p:spTgt spid="148485"/>
                                        </p:tgtEl>
                                      </p:cBhvr>
                                      <p:to x="100000" y="60000"/>
                                    </p:animScale>
                                    <p:animScale>
                                      <p:cBhvr>
                                        <p:cTn id="14" dur="166" decel="50000">
                                          <p:stCondLst>
                                            <p:cond delay="676"/>
                                          </p:stCondLst>
                                        </p:cTn>
                                        <p:tgtEl>
                                          <p:spTgt spid="148485"/>
                                        </p:tgtEl>
                                      </p:cBhvr>
                                      <p:to x="100000" y="100000"/>
                                    </p:animScale>
                                    <p:animScale>
                                      <p:cBhvr>
                                        <p:cTn id="15" dur="26">
                                          <p:stCondLst>
                                            <p:cond delay="1312"/>
                                          </p:stCondLst>
                                        </p:cTn>
                                        <p:tgtEl>
                                          <p:spTgt spid="148485"/>
                                        </p:tgtEl>
                                      </p:cBhvr>
                                      <p:to x="100000" y="80000"/>
                                    </p:animScale>
                                    <p:animScale>
                                      <p:cBhvr>
                                        <p:cTn id="16" dur="166" decel="50000">
                                          <p:stCondLst>
                                            <p:cond delay="1338"/>
                                          </p:stCondLst>
                                        </p:cTn>
                                        <p:tgtEl>
                                          <p:spTgt spid="148485"/>
                                        </p:tgtEl>
                                      </p:cBhvr>
                                      <p:to x="100000" y="100000"/>
                                    </p:animScale>
                                    <p:animScale>
                                      <p:cBhvr>
                                        <p:cTn id="17" dur="26">
                                          <p:stCondLst>
                                            <p:cond delay="1642"/>
                                          </p:stCondLst>
                                        </p:cTn>
                                        <p:tgtEl>
                                          <p:spTgt spid="148485"/>
                                        </p:tgtEl>
                                      </p:cBhvr>
                                      <p:to x="100000" y="90000"/>
                                    </p:animScale>
                                    <p:animScale>
                                      <p:cBhvr>
                                        <p:cTn id="18" dur="166" decel="50000">
                                          <p:stCondLst>
                                            <p:cond delay="1668"/>
                                          </p:stCondLst>
                                        </p:cTn>
                                        <p:tgtEl>
                                          <p:spTgt spid="148485"/>
                                        </p:tgtEl>
                                      </p:cBhvr>
                                      <p:to x="100000" y="100000"/>
                                    </p:animScale>
                                    <p:animScale>
                                      <p:cBhvr>
                                        <p:cTn id="19" dur="26">
                                          <p:stCondLst>
                                            <p:cond delay="1808"/>
                                          </p:stCondLst>
                                        </p:cTn>
                                        <p:tgtEl>
                                          <p:spTgt spid="148485"/>
                                        </p:tgtEl>
                                      </p:cBhvr>
                                      <p:to x="100000" y="95000"/>
                                    </p:animScale>
                                    <p:animScale>
                                      <p:cBhvr>
                                        <p:cTn id="20" dur="166" decel="50000">
                                          <p:stCondLst>
                                            <p:cond delay="1834"/>
                                          </p:stCondLst>
                                        </p:cTn>
                                        <p:tgtEl>
                                          <p:spTgt spid="14848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5"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itle 1"/>
          <p:cNvSpPr>
            <a:spLocks noGrp="1"/>
          </p:cNvSpPr>
          <p:nvPr>
            <p:ph type="title" idx="4294967295"/>
          </p:nvPr>
        </p:nvSpPr>
        <p:spPr>
          <a:xfrm>
            <a:off x="2590801" y="685800"/>
            <a:ext cx="7477125" cy="1677988"/>
          </a:xfrm>
        </p:spPr>
        <p:txBody>
          <a:bodyPr/>
          <a:lstStyle/>
          <a:p>
            <a:pPr eaLnBrk="1" hangingPunct="1"/>
            <a:r>
              <a:rPr lang="en-US" sz="3200">
                <a:solidFill>
                  <a:schemeClr val="accent2">
                    <a:lumMod val="50000"/>
                  </a:schemeClr>
                </a:solidFill>
                <a:latin typeface="Berlin Sans FB" panose="020E0602020502020306" pitchFamily="34" charset="0"/>
              </a:rPr>
              <a:t>67. The stage in the adoption process wherein the person tries and experiments in small scale the new technology after weighing the advantages and risks is</a:t>
            </a:r>
          </a:p>
        </p:txBody>
      </p:sp>
      <p:sp>
        <p:nvSpPr>
          <p:cNvPr id="316419" name="Content Placeholder 2"/>
          <p:cNvSpPr>
            <a:spLocks noGrp="1"/>
          </p:cNvSpPr>
          <p:nvPr>
            <p:ph idx="4294967295"/>
          </p:nvPr>
        </p:nvSpPr>
        <p:spPr>
          <a:xfrm>
            <a:off x="2590800" y="2516188"/>
            <a:ext cx="7386638" cy="4038600"/>
          </a:xfrm>
        </p:spPr>
        <p:txBody>
          <a:bodyPr/>
          <a:lstStyle/>
          <a:p>
            <a:pPr eaLnBrk="1" hangingPunct="1">
              <a:buFontTx/>
              <a:buAutoNum type="alphaLcPeriod"/>
            </a:pPr>
            <a:r>
              <a:rPr lang="en-US" sz="2400">
                <a:solidFill>
                  <a:schemeClr val="accent2">
                    <a:lumMod val="50000"/>
                  </a:schemeClr>
                </a:solidFill>
                <a:latin typeface="Berlin Sans FB" panose="020E0602020502020306" pitchFamily="34" charset="0"/>
              </a:rPr>
              <a:t>Evaluation</a:t>
            </a:r>
          </a:p>
          <a:p>
            <a:pPr eaLnBrk="1" hangingPunct="1">
              <a:buFontTx/>
              <a:buAutoNum type="alphaLcPeriod"/>
            </a:pPr>
            <a:r>
              <a:rPr lang="en-US" sz="2400">
                <a:solidFill>
                  <a:schemeClr val="accent2">
                    <a:lumMod val="50000"/>
                  </a:schemeClr>
                </a:solidFill>
                <a:latin typeface="Berlin Sans FB" panose="020E0602020502020306" pitchFamily="34" charset="0"/>
              </a:rPr>
              <a:t>Trial</a:t>
            </a:r>
          </a:p>
          <a:p>
            <a:pPr eaLnBrk="1" hangingPunct="1">
              <a:buFontTx/>
              <a:buAutoNum type="alphaLcPeriod"/>
            </a:pPr>
            <a:r>
              <a:rPr lang="en-US" sz="2400">
                <a:solidFill>
                  <a:schemeClr val="accent2">
                    <a:lumMod val="50000"/>
                  </a:schemeClr>
                </a:solidFill>
                <a:latin typeface="Berlin Sans FB" panose="020E0602020502020306" pitchFamily="34" charset="0"/>
              </a:rPr>
              <a:t>Awareness</a:t>
            </a:r>
          </a:p>
          <a:p>
            <a:pPr eaLnBrk="1" hangingPunct="1">
              <a:buFontTx/>
              <a:buAutoNum type="alphaLcPeriod"/>
            </a:pPr>
            <a:r>
              <a:rPr lang="en-US" sz="2400">
                <a:solidFill>
                  <a:schemeClr val="accent2">
                    <a:lumMod val="50000"/>
                  </a:schemeClr>
                </a:solidFill>
                <a:latin typeface="Berlin Sans FB" panose="020E0602020502020306" pitchFamily="34" charset="0"/>
              </a:rPr>
              <a:t>interest</a:t>
            </a:r>
          </a:p>
        </p:txBody>
      </p:sp>
      <p:sp>
        <p:nvSpPr>
          <p:cNvPr id="149509" name="Text Box 5"/>
          <p:cNvSpPr txBox="1">
            <a:spLocks noChangeArrowheads="1"/>
          </p:cNvSpPr>
          <p:nvPr/>
        </p:nvSpPr>
        <p:spPr bwMode="auto">
          <a:xfrm>
            <a:off x="2743200" y="54879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B. Trial</a:t>
            </a:r>
          </a:p>
        </p:txBody>
      </p:sp>
    </p:spTree>
    <p:extLst>
      <p:ext uri="{BB962C8B-B14F-4D97-AF65-F5344CB8AC3E}">
        <p14:creationId xmlns:p14="http://schemas.microsoft.com/office/powerpoint/2010/main" val="3040546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9509"/>
                                        </p:tgtEl>
                                        <p:attrNameLst>
                                          <p:attrName>style.visibility</p:attrName>
                                        </p:attrNameLst>
                                      </p:cBhvr>
                                      <p:to>
                                        <p:strVal val="visible"/>
                                      </p:to>
                                    </p:set>
                                    <p:animEffect transition="in" filter="wipe(down)">
                                      <p:cBhvr>
                                        <p:cTn id="7" dur="580">
                                          <p:stCondLst>
                                            <p:cond delay="0"/>
                                          </p:stCondLst>
                                        </p:cTn>
                                        <p:tgtEl>
                                          <p:spTgt spid="149509"/>
                                        </p:tgtEl>
                                      </p:cBhvr>
                                    </p:animEffect>
                                    <p:anim calcmode="lin" valueType="num">
                                      <p:cBhvr>
                                        <p:cTn id="8" dur="1822" tmFilter="0,0; 0.14,0.36; 0.43,0.73; 0.71,0.91; 1.0,1.0">
                                          <p:stCondLst>
                                            <p:cond delay="0"/>
                                          </p:stCondLst>
                                        </p:cTn>
                                        <p:tgtEl>
                                          <p:spTgt spid="14950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950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950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950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9509"/>
                                        </p:tgtEl>
                                        <p:attrNameLst>
                                          <p:attrName>ppt_y</p:attrName>
                                        </p:attrNameLst>
                                      </p:cBhvr>
                                      <p:tavLst>
                                        <p:tav tm="0" fmla="#ppt_y-sin(pi*$)/81">
                                          <p:val>
                                            <p:fltVal val="0"/>
                                          </p:val>
                                        </p:tav>
                                        <p:tav tm="100000">
                                          <p:val>
                                            <p:fltVal val="1"/>
                                          </p:val>
                                        </p:tav>
                                      </p:tavLst>
                                    </p:anim>
                                    <p:animScale>
                                      <p:cBhvr>
                                        <p:cTn id="13" dur="26">
                                          <p:stCondLst>
                                            <p:cond delay="650"/>
                                          </p:stCondLst>
                                        </p:cTn>
                                        <p:tgtEl>
                                          <p:spTgt spid="149509"/>
                                        </p:tgtEl>
                                      </p:cBhvr>
                                      <p:to x="100000" y="60000"/>
                                    </p:animScale>
                                    <p:animScale>
                                      <p:cBhvr>
                                        <p:cTn id="14" dur="166" decel="50000">
                                          <p:stCondLst>
                                            <p:cond delay="676"/>
                                          </p:stCondLst>
                                        </p:cTn>
                                        <p:tgtEl>
                                          <p:spTgt spid="149509"/>
                                        </p:tgtEl>
                                      </p:cBhvr>
                                      <p:to x="100000" y="100000"/>
                                    </p:animScale>
                                    <p:animScale>
                                      <p:cBhvr>
                                        <p:cTn id="15" dur="26">
                                          <p:stCondLst>
                                            <p:cond delay="1312"/>
                                          </p:stCondLst>
                                        </p:cTn>
                                        <p:tgtEl>
                                          <p:spTgt spid="149509"/>
                                        </p:tgtEl>
                                      </p:cBhvr>
                                      <p:to x="100000" y="80000"/>
                                    </p:animScale>
                                    <p:animScale>
                                      <p:cBhvr>
                                        <p:cTn id="16" dur="166" decel="50000">
                                          <p:stCondLst>
                                            <p:cond delay="1338"/>
                                          </p:stCondLst>
                                        </p:cTn>
                                        <p:tgtEl>
                                          <p:spTgt spid="149509"/>
                                        </p:tgtEl>
                                      </p:cBhvr>
                                      <p:to x="100000" y="100000"/>
                                    </p:animScale>
                                    <p:animScale>
                                      <p:cBhvr>
                                        <p:cTn id="17" dur="26">
                                          <p:stCondLst>
                                            <p:cond delay="1642"/>
                                          </p:stCondLst>
                                        </p:cTn>
                                        <p:tgtEl>
                                          <p:spTgt spid="149509"/>
                                        </p:tgtEl>
                                      </p:cBhvr>
                                      <p:to x="100000" y="90000"/>
                                    </p:animScale>
                                    <p:animScale>
                                      <p:cBhvr>
                                        <p:cTn id="18" dur="166" decel="50000">
                                          <p:stCondLst>
                                            <p:cond delay="1668"/>
                                          </p:stCondLst>
                                        </p:cTn>
                                        <p:tgtEl>
                                          <p:spTgt spid="149509"/>
                                        </p:tgtEl>
                                      </p:cBhvr>
                                      <p:to x="100000" y="100000"/>
                                    </p:animScale>
                                    <p:animScale>
                                      <p:cBhvr>
                                        <p:cTn id="19" dur="26">
                                          <p:stCondLst>
                                            <p:cond delay="1808"/>
                                          </p:stCondLst>
                                        </p:cTn>
                                        <p:tgtEl>
                                          <p:spTgt spid="149509"/>
                                        </p:tgtEl>
                                      </p:cBhvr>
                                      <p:to x="100000" y="95000"/>
                                    </p:animScale>
                                    <p:animScale>
                                      <p:cBhvr>
                                        <p:cTn id="20" dur="166" decel="50000">
                                          <p:stCondLst>
                                            <p:cond delay="1834"/>
                                          </p:stCondLst>
                                        </p:cTn>
                                        <p:tgtEl>
                                          <p:spTgt spid="14950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itle 1"/>
          <p:cNvSpPr>
            <a:spLocks noGrp="1"/>
          </p:cNvSpPr>
          <p:nvPr>
            <p:ph type="title" idx="4294967295"/>
          </p:nvPr>
        </p:nvSpPr>
        <p:spPr>
          <a:xfrm>
            <a:off x="2438401" y="533400"/>
            <a:ext cx="7477125" cy="1143000"/>
          </a:xfrm>
        </p:spPr>
        <p:txBody>
          <a:bodyPr rtlCol="0">
            <a:normAutofit fontScale="90000"/>
          </a:bodyPr>
          <a:lstStyle/>
          <a:p>
            <a:pPr>
              <a:defRPr/>
            </a:pPr>
            <a:r>
              <a:rPr lang="en-US" sz="2800">
                <a:solidFill>
                  <a:schemeClr val="accent2">
                    <a:lumMod val="50000"/>
                  </a:schemeClr>
                </a:solidFill>
                <a:latin typeface="Berlin Sans FB" panose="020E0602020502020306" pitchFamily="34" charset="0"/>
              </a:rPr>
              <a:t>68. The stage in the adoption process which shows that the person is attracted to the idea or technology is</a:t>
            </a:r>
          </a:p>
        </p:txBody>
      </p:sp>
      <p:sp>
        <p:nvSpPr>
          <p:cNvPr id="317443" name="Content Placeholder 2"/>
          <p:cNvSpPr>
            <a:spLocks noGrp="1"/>
          </p:cNvSpPr>
          <p:nvPr>
            <p:ph idx="4294967295"/>
          </p:nvPr>
        </p:nvSpPr>
        <p:spPr>
          <a:xfrm>
            <a:off x="2438400" y="1905000"/>
            <a:ext cx="7386638" cy="4497388"/>
          </a:xfrm>
        </p:spPr>
        <p:txBody>
          <a:bodyPr/>
          <a:lstStyle/>
          <a:p>
            <a:pPr eaLnBrk="1" hangingPunct="1">
              <a:buFontTx/>
              <a:buNone/>
            </a:pPr>
            <a:r>
              <a:rPr lang="en-US" sz="2400">
                <a:solidFill>
                  <a:schemeClr val="accent2">
                    <a:lumMod val="50000"/>
                  </a:schemeClr>
                </a:solidFill>
                <a:latin typeface="Berlin Sans FB" panose="020E0602020502020306" pitchFamily="34" charset="0"/>
              </a:rPr>
              <a:t>a. Trial</a:t>
            </a:r>
          </a:p>
          <a:p>
            <a:pPr eaLnBrk="1" hangingPunct="1">
              <a:buFontTx/>
              <a:buNone/>
            </a:pPr>
            <a:r>
              <a:rPr lang="en-US" sz="2400">
                <a:solidFill>
                  <a:schemeClr val="accent2">
                    <a:lumMod val="50000"/>
                  </a:schemeClr>
                </a:solidFill>
                <a:latin typeface="Berlin Sans FB" panose="020E0602020502020306" pitchFamily="34" charset="0"/>
              </a:rPr>
              <a:t>b. Interest</a:t>
            </a:r>
          </a:p>
          <a:p>
            <a:pPr eaLnBrk="1" hangingPunct="1">
              <a:buFontTx/>
              <a:buNone/>
            </a:pPr>
            <a:r>
              <a:rPr lang="en-US" sz="2400">
                <a:solidFill>
                  <a:schemeClr val="accent2">
                    <a:lumMod val="50000"/>
                  </a:schemeClr>
                </a:solidFill>
                <a:latin typeface="Berlin Sans FB" panose="020E0602020502020306" pitchFamily="34" charset="0"/>
              </a:rPr>
              <a:t>c. Evaluation</a:t>
            </a:r>
          </a:p>
          <a:p>
            <a:pPr eaLnBrk="1" hangingPunct="1">
              <a:buFontTx/>
              <a:buNone/>
            </a:pPr>
            <a:r>
              <a:rPr lang="en-US" sz="2400">
                <a:solidFill>
                  <a:schemeClr val="accent2">
                    <a:lumMod val="50000"/>
                  </a:schemeClr>
                </a:solidFill>
                <a:latin typeface="Berlin Sans FB" panose="020E0602020502020306" pitchFamily="34" charset="0"/>
              </a:rPr>
              <a:t>d. Awareness</a:t>
            </a:r>
          </a:p>
          <a:p>
            <a:pPr eaLnBrk="1" hangingPunct="1">
              <a:buFontTx/>
              <a:buChar char="•"/>
            </a:pPr>
            <a:endParaRPr lang="en-US" sz="2400">
              <a:solidFill>
                <a:schemeClr val="accent2">
                  <a:lumMod val="50000"/>
                </a:schemeClr>
              </a:solidFill>
              <a:latin typeface="Berlin Sans FB" panose="020E0602020502020306" pitchFamily="34" charset="0"/>
            </a:endParaRPr>
          </a:p>
        </p:txBody>
      </p:sp>
      <p:sp>
        <p:nvSpPr>
          <p:cNvPr id="150534" name="Text Box 6"/>
          <p:cNvSpPr txBox="1">
            <a:spLocks noChangeArrowheads="1"/>
          </p:cNvSpPr>
          <p:nvPr/>
        </p:nvSpPr>
        <p:spPr bwMode="auto">
          <a:xfrm>
            <a:off x="2590800" y="53355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3600" b="1">
                <a:solidFill>
                  <a:schemeClr val="accent2">
                    <a:lumMod val="50000"/>
                  </a:schemeClr>
                </a:solidFill>
                <a:latin typeface="Berlin Sans FB" panose="020E0602020502020306" pitchFamily="34" charset="0"/>
              </a:rPr>
              <a:t>B. Interest</a:t>
            </a:r>
          </a:p>
        </p:txBody>
      </p:sp>
    </p:spTree>
    <p:extLst>
      <p:ext uri="{BB962C8B-B14F-4D97-AF65-F5344CB8AC3E}">
        <p14:creationId xmlns:p14="http://schemas.microsoft.com/office/powerpoint/2010/main" val="2049689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50534"/>
                                        </p:tgtEl>
                                        <p:attrNameLst>
                                          <p:attrName>style.visibility</p:attrName>
                                        </p:attrNameLst>
                                      </p:cBhvr>
                                      <p:to>
                                        <p:strVal val="visible"/>
                                      </p:to>
                                    </p:set>
                                    <p:animEffect transition="in" filter="wipe(down)">
                                      <p:cBhvr>
                                        <p:cTn id="7" dur="580">
                                          <p:stCondLst>
                                            <p:cond delay="0"/>
                                          </p:stCondLst>
                                        </p:cTn>
                                        <p:tgtEl>
                                          <p:spTgt spid="150534"/>
                                        </p:tgtEl>
                                      </p:cBhvr>
                                    </p:animEffect>
                                    <p:anim calcmode="lin" valueType="num">
                                      <p:cBhvr>
                                        <p:cTn id="8" dur="1822" tmFilter="0,0; 0.14,0.36; 0.43,0.73; 0.71,0.91; 1.0,1.0">
                                          <p:stCondLst>
                                            <p:cond delay="0"/>
                                          </p:stCondLst>
                                        </p:cTn>
                                        <p:tgtEl>
                                          <p:spTgt spid="15053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053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053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053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0534"/>
                                        </p:tgtEl>
                                        <p:attrNameLst>
                                          <p:attrName>ppt_y</p:attrName>
                                        </p:attrNameLst>
                                      </p:cBhvr>
                                      <p:tavLst>
                                        <p:tav tm="0" fmla="#ppt_y-sin(pi*$)/81">
                                          <p:val>
                                            <p:fltVal val="0"/>
                                          </p:val>
                                        </p:tav>
                                        <p:tav tm="100000">
                                          <p:val>
                                            <p:fltVal val="1"/>
                                          </p:val>
                                        </p:tav>
                                      </p:tavLst>
                                    </p:anim>
                                    <p:animScale>
                                      <p:cBhvr>
                                        <p:cTn id="13" dur="26">
                                          <p:stCondLst>
                                            <p:cond delay="650"/>
                                          </p:stCondLst>
                                        </p:cTn>
                                        <p:tgtEl>
                                          <p:spTgt spid="150534"/>
                                        </p:tgtEl>
                                      </p:cBhvr>
                                      <p:to x="100000" y="60000"/>
                                    </p:animScale>
                                    <p:animScale>
                                      <p:cBhvr>
                                        <p:cTn id="14" dur="166" decel="50000">
                                          <p:stCondLst>
                                            <p:cond delay="676"/>
                                          </p:stCondLst>
                                        </p:cTn>
                                        <p:tgtEl>
                                          <p:spTgt spid="150534"/>
                                        </p:tgtEl>
                                      </p:cBhvr>
                                      <p:to x="100000" y="100000"/>
                                    </p:animScale>
                                    <p:animScale>
                                      <p:cBhvr>
                                        <p:cTn id="15" dur="26">
                                          <p:stCondLst>
                                            <p:cond delay="1312"/>
                                          </p:stCondLst>
                                        </p:cTn>
                                        <p:tgtEl>
                                          <p:spTgt spid="150534"/>
                                        </p:tgtEl>
                                      </p:cBhvr>
                                      <p:to x="100000" y="80000"/>
                                    </p:animScale>
                                    <p:animScale>
                                      <p:cBhvr>
                                        <p:cTn id="16" dur="166" decel="50000">
                                          <p:stCondLst>
                                            <p:cond delay="1338"/>
                                          </p:stCondLst>
                                        </p:cTn>
                                        <p:tgtEl>
                                          <p:spTgt spid="150534"/>
                                        </p:tgtEl>
                                      </p:cBhvr>
                                      <p:to x="100000" y="100000"/>
                                    </p:animScale>
                                    <p:animScale>
                                      <p:cBhvr>
                                        <p:cTn id="17" dur="26">
                                          <p:stCondLst>
                                            <p:cond delay="1642"/>
                                          </p:stCondLst>
                                        </p:cTn>
                                        <p:tgtEl>
                                          <p:spTgt spid="150534"/>
                                        </p:tgtEl>
                                      </p:cBhvr>
                                      <p:to x="100000" y="90000"/>
                                    </p:animScale>
                                    <p:animScale>
                                      <p:cBhvr>
                                        <p:cTn id="18" dur="166" decel="50000">
                                          <p:stCondLst>
                                            <p:cond delay="1668"/>
                                          </p:stCondLst>
                                        </p:cTn>
                                        <p:tgtEl>
                                          <p:spTgt spid="150534"/>
                                        </p:tgtEl>
                                      </p:cBhvr>
                                      <p:to x="100000" y="100000"/>
                                    </p:animScale>
                                    <p:animScale>
                                      <p:cBhvr>
                                        <p:cTn id="19" dur="26">
                                          <p:stCondLst>
                                            <p:cond delay="1808"/>
                                          </p:stCondLst>
                                        </p:cTn>
                                        <p:tgtEl>
                                          <p:spTgt spid="150534"/>
                                        </p:tgtEl>
                                      </p:cBhvr>
                                      <p:to x="100000" y="95000"/>
                                    </p:animScale>
                                    <p:animScale>
                                      <p:cBhvr>
                                        <p:cTn id="20" dur="166" decel="50000">
                                          <p:stCondLst>
                                            <p:cond delay="1834"/>
                                          </p:stCondLst>
                                        </p:cTn>
                                        <p:tgtEl>
                                          <p:spTgt spid="15053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4"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itle 1"/>
          <p:cNvSpPr>
            <a:spLocks noGrp="1"/>
          </p:cNvSpPr>
          <p:nvPr>
            <p:ph type="title" idx="4294967295"/>
          </p:nvPr>
        </p:nvSpPr>
        <p:spPr>
          <a:xfrm>
            <a:off x="2286001" y="457200"/>
            <a:ext cx="7477125" cy="1830388"/>
          </a:xfrm>
        </p:spPr>
        <p:txBody>
          <a:bodyPr/>
          <a:lstStyle/>
          <a:p>
            <a:pPr eaLnBrk="1" hangingPunct="1"/>
            <a:r>
              <a:rPr lang="en-US" sz="2800">
                <a:solidFill>
                  <a:schemeClr val="accent2">
                    <a:lumMod val="50000"/>
                  </a:schemeClr>
                </a:solidFill>
                <a:latin typeface="Berlin Sans FB" panose="020E0602020502020306" pitchFamily="34" charset="0"/>
              </a:rPr>
              <a:t>69.Technologies are ready for dissemination if it satisfy the following criteria:</a:t>
            </a:r>
            <a:br>
              <a:rPr lang="en-US" sz="2800">
                <a:solidFill>
                  <a:schemeClr val="accent2">
                    <a:lumMod val="50000"/>
                  </a:schemeClr>
                </a:solidFill>
                <a:latin typeface="Berlin Sans FB" panose="020E0602020502020306" pitchFamily="34" charset="0"/>
              </a:rPr>
            </a:br>
            <a:endParaRPr lang="en-US" sz="2800">
              <a:solidFill>
                <a:schemeClr val="accent2">
                  <a:lumMod val="50000"/>
                </a:schemeClr>
              </a:solidFill>
              <a:latin typeface="Berlin Sans FB" panose="020E0602020502020306" pitchFamily="34" charset="0"/>
            </a:endParaRPr>
          </a:p>
        </p:txBody>
      </p:sp>
      <p:sp>
        <p:nvSpPr>
          <p:cNvPr id="318467" name="Content Placeholder 2"/>
          <p:cNvSpPr>
            <a:spLocks noGrp="1"/>
          </p:cNvSpPr>
          <p:nvPr>
            <p:ph idx="4294967295"/>
          </p:nvPr>
        </p:nvSpPr>
        <p:spPr>
          <a:xfrm>
            <a:off x="2286001" y="2189409"/>
            <a:ext cx="7386638" cy="4497388"/>
          </a:xfrm>
        </p:spPr>
        <p:txBody>
          <a:bodyPr/>
          <a:lstStyle/>
          <a:p>
            <a:pPr eaLnBrk="1" hangingPunct="1">
              <a:buFontTx/>
              <a:buAutoNum type="alphaLcPeriod"/>
            </a:pPr>
            <a:r>
              <a:rPr lang="en-US" sz="2800" dirty="0" smtClean="0">
                <a:solidFill>
                  <a:schemeClr val="accent2">
                    <a:lumMod val="50000"/>
                  </a:schemeClr>
                </a:solidFill>
                <a:latin typeface="Berlin Sans FB" panose="020E0602020502020306" pitchFamily="34" charset="0"/>
              </a:rPr>
              <a:t>Product technology</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Process technology</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Service technology</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Information technology</a:t>
            </a:r>
          </a:p>
        </p:txBody>
      </p:sp>
      <p:sp>
        <p:nvSpPr>
          <p:cNvPr id="151557" name="Text Box 5"/>
          <p:cNvSpPr txBox="1">
            <a:spLocks noChangeArrowheads="1"/>
          </p:cNvSpPr>
          <p:nvPr/>
        </p:nvSpPr>
        <p:spPr bwMode="auto">
          <a:xfrm>
            <a:off x="2438400" y="5259389"/>
            <a:ext cx="7543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800" b="1">
                <a:solidFill>
                  <a:schemeClr val="accent2">
                    <a:lumMod val="50000"/>
                  </a:schemeClr>
                </a:solidFill>
                <a:latin typeface="Berlin Sans FB" panose="020E0602020502020306" pitchFamily="34" charset="0"/>
              </a:rPr>
              <a:t>B. Process technology</a:t>
            </a:r>
          </a:p>
        </p:txBody>
      </p:sp>
    </p:spTree>
    <p:extLst>
      <p:ext uri="{BB962C8B-B14F-4D97-AF65-F5344CB8AC3E}">
        <p14:creationId xmlns:p14="http://schemas.microsoft.com/office/powerpoint/2010/main" val="2348745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51557"/>
                                        </p:tgtEl>
                                        <p:attrNameLst>
                                          <p:attrName>style.visibility</p:attrName>
                                        </p:attrNameLst>
                                      </p:cBhvr>
                                      <p:to>
                                        <p:strVal val="visible"/>
                                      </p:to>
                                    </p:set>
                                    <p:animEffect transition="in" filter="wipe(down)">
                                      <p:cBhvr>
                                        <p:cTn id="7" dur="580">
                                          <p:stCondLst>
                                            <p:cond delay="0"/>
                                          </p:stCondLst>
                                        </p:cTn>
                                        <p:tgtEl>
                                          <p:spTgt spid="151557"/>
                                        </p:tgtEl>
                                      </p:cBhvr>
                                    </p:animEffect>
                                    <p:anim calcmode="lin" valueType="num">
                                      <p:cBhvr>
                                        <p:cTn id="8" dur="1822" tmFilter="0,0; 0.14,0.36; 0.43,0.73; 0.71,0.91; 1.0,1.0">
                                          <p:stCondLst>
                                            <p:cond delay="0"/>
                                          </p:stCondLst>
                                        </p:cTn>
                                        <p:tgtEl>
                                          <p:spTgt spid="15155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155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155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155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1557"/>
                                        </p:tgtEl>
                                        <p:attrNameLst>
                                          <p:attrName>ppt_y</p:attrName>
                                        </p:attrNameLst>
                                      </p:cBhvr>
                                      <p:tavLst>
                                        <p:tav tm="0" fmla="#ppt_y-sin(pi*$)/81">
                                          <p:val>
                                            <p:fltVal val="0"/>
                                          </p:val>
                                        </p:tav>
                                        <p:tav tm="100000">
                                          <p:val>
                                            <p:fltVal val="1"/>
                                          </p:val>
                                        </p:tav>
                                      </p:tavLst>
                                    </p:anim>
                                    <p:animScale>
                                      <p:cBhvr>
                                        <p:cTn id="13" dur="26">
                                          <p:stCondLst>
                                            <p:cond delay="650"/>
                                          </p:stCondLst>
                                        </p:cTn>
                                        <p:tgtEl>
                                          <p:spTgt spid="151557"/>
                                        </p:tgtEl>
                                      </p:cBhvr>
                                      <p:to x="100000" y="60000"/>
                                    </p:animScale>
                                    <p:animScale>
                                      <p:cBhvr>
                                        <p:cTn id="14" dur="166" decel="50000">
                                          <p:stCondLst>
                                            <p:cond delay="676"/>
                                          </p:stCondLst>
                                        </p:cTn>
                                        <p:tgtEl>
                                          <p:spTgt spid="151557"/>
                                        </p:tgtEl>
                                      </p:cBhvr>
                                      <p:to x="100000" y="100000"/>
                                    </p:animScale>
                                    <p:animScale>
                                      <p:cBhvr>
                                        <p:cTn id="15" dur="26">
                                          <p:stCondLst>
                                            <p:cond delay="1312"/>
                                          </p:stCondLst>
                                        </p:cTn>
                                        <p:tgtEl>
                                          <p:spTgt spid="151557"/>
                                        </p:tgtEl>
                                      </p:cBhvr>
                                      <p:to x="100000" y="80000"/>
                                    </p:animScale>
                                    <p:animScale>
                                      <p:cBhvr>
                                        <p:cTn id="16" dur="166" decel="50000">
                                          <p:stCondLst>
                                            <p:cond delay="1338"/>
                                          </p:stCondLst>
                                        </p:cTn>
                                        <p:tgtEl>
                                          <p:spTgt spid="151557"/>
                                        </p:tgtEl>
                                      </p:cBhvr>
                                      <p:to x="100000" y="100000"/>
                                    </p:animScale>
                                    <p:animScale>
                                      <p:cBhvr>
                                        <p:cTn id="17" dur="26">
                                          <p:stCondLst>
                                            <p:cond delay="1642"/>
                                          </p:stCondLst>
                                        </p:cTn>
                                        <p:tgtEl>
                                          <p:spTgt spid="151557"/>
                                        </p:tgtEl>
                                      </p:cBhvr>
                                      <p:to x="100000" y="90000"/>
                                    </p:animScale>
                                    <p:animScale>
                                      <p:cBhvr>
                                        <p:cTn id="18" dur="166" decel="50000">
                                          <p:stCondLst>
                                            <p:cond delay="1668"/>
                                          </p:stCondLst>
                                        </p:cTn>
                                        <p:tgtEl>
                                          <p:spTgt spid="151557"/>
                                        </p:tgtEl>
                                      </p:cBhvr>
                                      <p:to x="100000" y="100000"/>
                                    </p:animScale>
                                    <p:animScale>
                                      <p:cBhvr>
                                        <p:cTn id="19" dur="26">
                                          <p:stCondLst>
                                            <p:cond delay="1808"/>
                                          </p:stCondLst>
                                        </p:cTn>
                                        <p:tgtEl>
                                          <p:spTgt spid="151557"/>
                                        </p:tgtEl>
                                      </p:cBhvr>
                                      <p:to x="100000" y="95000"/>
                                    </p:animScale>
                                    <p:animScale>
                                      <p:cBhvr>
                                        <p:cTn id="20" dur="166" decel="50000">
                                          <p:stCondLst>
                                            <p:cond delay="1834"/>
                                          </p:stCondLst>
                                        </p:cTn>
                                        <p:tgtEl>
                                          <p:spTgt spid="15155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itle 1"/>
          <p:cNvSpPr>
            <a:spLocks noGrp="1"/>
          </p:cNvSpPr>
          <p:nvPr>
            <p:ph type="title" idx="4294967295"/>
          </p:nvPr>
        </p:nvSpPr>
        <p:spPr>
          <a:xfrm>
            <a:off x="2438401" y="381000"/>
            <a:ext cx="7477125" cy="1449388"/>
          </a:xfrm>
        </p:spPr>
        <p:txBody>
          <a:bodyPr/>
          <a:lstStyle/>
          <a:p>
            <a:pPr eaLnBrk="1" hangingPunct="1"/>
            <a:r>
              <a:rPr lang="en-US" sz="2800">
                <a:solidFill>
                  <a:schemeClr val="accent2">
                    <a:lumMod val="50000"/>
                  </a:schemeClr>
                </a:solidFill>
                <a:latin typeface="Berlin Sans FB" panose="020E0602020502020306" pitchFamily="34" charset="0"/>
              </a:rPr>
              <a:t>70. These adopters are usually traditional farmers, older than the average and risk averse</a:t>
            </a:r>
          </a:p>
        </p:txBody>
      </p:sp>
      <p:sp>
        <p:nvSpPr>
          <p:cNvPr id="319491" name="Content Placeholder 2"/>
          <p:cNvSpPr>
            <a:spLocks noGrp="1"/>
          </p:cNvSpPr>
          <p:nvPr>
            <p:ph idx="4294967295"/>
          </p:nvPr>
        </p:nvSpPr>
        <p:spPr>
          <a:xfrm>
            <a:off x="2438401" y="1752600"/>
            <a:ext cx="7345363" cy="4497388"/>
          </a:xfrm>
        </p:spPr>
        <p:txBody>
          <a:bodyPr/>
          <a:lstStyle/>
          <a:p>
            <a:pPr eaLnBrk="1" hangingPunct="1">
              <a:buFontTx/>
              <a:buAutoNum type="alphaLcPeriod"/>
            </a:pPr>
            <a:r>
              <a:rPr lang="en-US" sz="2800" dirty="0" smtClean="0">
                <a:solidFill>
                  <a:schemeClr val="accent2">
                    <a:lumMod val="50000"/>
                  </a:schemeClr>
                </a:solidFill>
                <a:latin typeface="Berlin Sans FB" panose="020E0602020502020306" pitchFamily="34" charset="0"/>
              </a:rPr>
              <a:t>Late majority</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Laggards</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Early majority</a:t>
            </a:r>
          </a:p>
          <a:p>
            <a:pPr eaLnBrk="1" hangingPunct="1">
              <a:buFontTx/>
              <a:buAutoNum type="alphaLcPeriod"/>
            </a:pPr>
            <a:r>
              <a:rPr lang="en-US" sz="2800" dirty="0" smtClean="0">
                <a:solidFill>
                  <a:schemeClr val="accent2">
                    <a:lumMod val="50000"/>
                  </a:schemeClr>
                </a:solidFill>
                <a:latin typeface="Berlin Sans FB" panose="020E0602020502020306" pitchFamily="34" charset="0"/>
              </a:rPr>
              <a:t>Innovators</a:t>
            </a:r>
          </a:p>
          <a:p>
            <a:pPr eaLnBrk="1" hangingPunct="1">
              <a:buFontTx/>
              <a:buAutoNum type="alphaLcPeriod"/>
            </a:pPr>
            <a:endParaRPr lang="en-US" sz="2800" dirty="0" smtClean="0">
              <a:solidFill>
                <a:schemeClr val="accent2">
                  <a:lumMod val="50000"/>
                </a:schemeClr>
              </a:solidFill>
              <a:latin typeface="Berlin Sans FB" panose="020E0602020502020306" pitchFamily="34" charset="0"/>
            </a:endParaRPr>
          </a:p>
        </p:txBody>
      </p:sp>
      <p:sp>
        <p:nvSpPr>
          <p:cNvPr id="152581" name="Text Box 5"/>
          <p:cNvSpPr txBox="1">
            <a:spLocks noChangeArrowheads="1"/>
          </p:cNvSpPr>
          <p:nvPr/>
        </p:nvSpPr>
        <p:spPr bwMode="auto">
          <a:xfrm>
            <a:off x="2590800" y="5183189"/>
            <a:ext cx="7543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800" b="1">
                <a:solidFill>
                  <a:schemeClr val="accent2">
                    <a:lumMod val="50000"/>
                  </a:schemeClr>
                </a:solidFill>
                <a:latin typeface="Berlin Sans FB" panose="020E0602020502020306" pitchFamily="34" charset="0"/>
              </a:rPr>
              <a:t>B. Laggards</a:t>
            </a:r>
          </a:p>
        </p:txBody>
      </p:sp>
    </p:spTree>
    <p:extLst>
      <p:ext uri="{BB962C8B-B14F-4D97-AF65-F5344CB8AC3E}">
        <p14:creationId xmlns:p14="http://schemas.microsoft.com/office/powerpoint/2010/main" val="3835754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52581"/>
                                        </p:tgtEl>
                                        <p:attrNameLst>
                                          <p:attrName>style.visibility</p:attrName>
                                        </p:attrNameLst>
                                      </p:cBhvr>
                                      <p:to>
                                        <p:strVal val="visible"/>
                                      </p:to>
                                    </p:set>
                                    <p:animEffect transition="in" filter="wipe(down)">
                                      <p:cBhvr>
                                        <p:cTn id="7" dur="580">
                                          <p:stCondLst>
                                            <p:cond delay="0"/>
                                          </p:stCondLst>
                                        </p:cTn>
                                        <p:tgtEl>
                                          <p:spTgt spid="152581"/>
                                        </p:tgtEl>
                                      </p:cBhvr>
                                    </p:animEffect>
                                    <p:anim calcmode="lin" valueType="num">
                                      <p:cBhvr>
                                        <p:cTn id="8" dur="1822" tmFilter="0,0; 0.14,0.36; 0.43,0.73; 0.71,0.91; 1.0,1.0">
                                          <p:stCondLst>
                                            <p:cond delay="0"/>
                                          </p:stCondLst>
                                        </p:cTn>
                                        <p:tgtEl>
                                          <p:spTgt spid="15258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258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258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258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2581"/>
                                        </p:tgtEl>
                                        <p:attrNameLst>
                                          <p:attrName>ppt_y</p:attrName>
                                        </p:attrNameLst>
                                      </p:cBhvr>
                                      <p:tavLst>
                                        <p:tav tm="0" fmla="#ppt_y-sin(pi*$)/81">
                                          <p:val>
                                            <p:fltVal val="0"/>
                                          </p:val>
                                        </p:tav>
                                        <p:tav tm="100000">
                                          <p:val>
                                            <p:fltVal val="1"/>
                                          </p:val>
                                        </p:tav>
                                      </p:tavLst>
                                    </p:anim>
                                    <p:animScale>
                                      <p:cBhvr>
                                        <p:cTn id="13" dur="26">
                                          <p:stCondLst>
                                            <p:cond delay="650"/>
                                          </p:stCondLst>
                                        </p:cTn>
                                        <p:tgtEl>
                                          <p:spTgt spid="152581"/>
                                        </p:tgtEl>
                                      </p:cBhvr>
                                      <p:to x="100000" y="60000"/>
                                    </p:animScale>
                                    <p:animScale>
                                      <p:cBhvr>
                                        <p:cTn id="14" dur="166" decel="50000">
                                          <p:stCondLst>
                                            <p:cond delay="676"/>
                                          </p:stCondLst>
                                        </p:cTn>
                                        <p:tgtEl>
                                          <p:spTgt spid="152581"/>
                                        </p:tgtEl>
                                      </p:cBhvr>
                                      <p:to x="100000" y="100000"/>
                                    </p:animScale>
                                    <p:animScale>
                                      <p:cBhvr>
                                        <p:cTn id="15" dur="26">
                                          <p:stCondLst>
                                            <p:cond delay="1312"/>
                                          </p:stCondLst>
                                        </p:cTn>
                                        <p:tgtEl>
                                          <p:spTgt spid="152581"/>
                                        </p:tgtEl>
                                      </p:cBhvr>
                                      <p:to x="100000" y="80000"/>
                                    </p:animScale>
                                    <p:animScale>
                                      <p:cBhvr>
                                        <p:cTn id="16" dur="166" decel="50000">
                                          <p:stCondLst>
                                            <p:cond delay="1338"/>
                                          </p:stCondLst>
                                        </p:cTn>
                                        <p:tgtEl>
                                          <p:spTgt spid="152581"/>
                                        </p:tgtEl>
                                      </p:cBhvr>
                                      <p:to x="100000" y="100000"/>
                                    </p:animScale>
                                    <p:animScale>
                                      <p:cBhvr>
                                        <p:cTn id="17" dur="26">
                                          <p:stCondLst>
                                            <p:cond delay="1642"/>
                                          </p:stCondLst>
                                        </p:cTn>
                                        <p:tgtEl>
                                          <p:spTgt spid="152581"/>
                                        </p:tgtEl>
                                      </p:cBhvr>
                                      <p:to x="100000" y="90000"/>
                                    </p:animScale>
                                    <p:animScale>
                                      <p:cBhvr>
                                        <p:cTn id="18" dur="166" decel="50000">
                                          <p:stCondLst>
                                            <p:cond delay="1668"/>
                                          </p:stCondLst>
                                        </p:cTn>
                                        <p:tgtEl>
                                          <p:spTgt spid="152581"/>
                                        </p:tgtEl>
                                      </p:cBhvr>
                                      <p:to x="100000" y="100000"/>
                                    </p:animScale>
                                    <p:animScale>
                                      <p:cBhvr>
                                        <p:cTn id="19" dur="26">
                                          <p:stCondLst>
                                            <p:cond delay="1808"/>
                                          </p:stCondLst>
                                        </p:cTn>
                                        <p:tgtEl>
                                          <p:spTgt spid="152581"/>
                                        </p:tgtEl>
                                      </p:cBhvr>
                                      <p:to x="100000" y="95000"/>
                                    </p:animScale>
                                    <p:animScale>
                                      <p:cBhvr>
                                        <p:cTn id="20" dur="166" decel="50000">
                                          <p:stCondLst>
                                            <p:cond delay="1834"/>
                                          </p:stCondLst>
                                        </p:cTn>
                                        <p:tgtEl>
                                          <p:spTgt spid="15258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7631" y="2073499"/>
            <a:ext cx="11174963" cy="1854558"/>
          </a:xfrm>
        </p:spPr>
        <p:txBody>
          <a:bodyPr/>
          <a:lstStyle/>
          <a:p>
            <a:pPr algn="ctr"/>
            <a:r>
              <a:rPr lang="en-PH" sz="5400" dirty="0" smtClean="0">
                <a:solidFill>
                  <a:schemeClr val="accent1">
                    <a:lumMod val="50000"/>
                  </a:schemeClr>
                </a:solidFill>
                <a:latin typeface="Showcard Gothic" panose="04020904020102020604" pitchFamily="82" charset="0"/>
              </a:rPr>
              <a:t>Technology </a:t>
            </a:r>
            <a:br>
              <a:rPr lang="en-PH" sz="5400" dirty="0" smtClean="0">
                <a:solidFill>
                  <a:schemeClr val="accent1">
                    <a:lumMod val="50000"/>
                  </a:schemeClr>
                </a:solidFill>
                <a:latin typeface="Showcard Gothic" panose="04020904020102020604" pitchFamily="82" charset="0"/>
              </a:rPr>
            </a:br>
            <a:r>
              <a:rPr lang="en-PH" sz="5400" dirty="0" smtClean="0">
                <a:solidFill>
                  <a:schemeClr val="accent1">
                    <a:lumMod val="50000"/>
                  </a:schemeClr>
                </a:solidFill>
                <a:latin typeface="Showcard Gothic" panose="04020904020102020604" pitchFamily="82" charset="0"/>
              </a:rPr>
              <a:t>diffusion-adoption </a:t>
            </a:r>
            <a:br>
              <a:rPr lang="en-PH" sz="5400" dirty="0" smtClean="0">
                <a:solidFill>
                  <a:schemeClr val="accent1">
                    <a:lumMod val="50000"/>
                  </a:schemeClr>
                </a:solidFill>
                <a:latin typeface="Showcard Gothic" panose="04020904020102020604" pitchFamily="82" charset="0"/>
              </a:rPr>
            </a:br>
            <a:r>
              <a:rPr lang="en-PH" sz="5400" dirty="0" smtClean="0">
                <a:solidFill>
                  <a:schemeClr val="accent1">
                    <a:lumMod val="50000"/>
                  </a:schemeClr>
                </a:solidFill>
                <a:latin typeface="Showcard Gothic" panose="04020904020102020604" pitchFamily="82" charset="0"/>
              </a:rPr>
              <a:t>process</a:t>
            </a:r>
            <a:endParaRPr lang="en-PH" sz="5400" dirty="0">
              <a:solidFill>
                <a:schemeClr val="accent1">
                  <a:lumMod val="50000"/>
                </a:schemeClr>
              </a:solidFill>
              <a:latin typeface="Showcard Gothic" panose="04020904020102020604" pitchFamily="82" charset="0"/>
            </a:endParaRPr>
          </a:p>
        </p:txBody>
      </p:sp>
      <p:sp>
        <p:nvSpPr>
          <p:cNvPr id="7" name="Half Frame 6"/>
          <p:cNvSpPr/>
          <p:nvPr/>
        </p:nvSpPr>
        <p:spPr>
          <a:xfrm rot="10800000">
            <a:off x="1154954" y="5472331"/>
            <a:ext cx="11037045" cy="1334087"/>
          </a:xfrm>
          <a:prstGeom prst="halfFrame">
            <a:avLst>
              <a:gd name="adj1" fmla="val 21734"/>
              <a:gd name="adj2" fmla="val 34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spTree>
    <p:extLst>
      <p:ext uri="{BB962C8B-B14F-4D97-AF65-F5344CB8AC3E}">
        <p14:creationId xmlns:p14="http://schemas.microsoft.com/office/powerpoint/2010/main" val="1854360164"/>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712" y="156504"/>
            <a:ext cx="3384976" cy="732138"/>
          </a:xfrm>
        </p:spPr>
        <p:txBody>
          <a:bodyPr/>
          <a:lstStyle/>
          <a:p>
            <a:r>
              <a:rPr lang="en-PH" dirty="0" smtClean="0">
                <a:solidFill>
                  <a:schemeClr val="bg1"/>
                </a:solidFill>
                <a:latin typeface="Candara" panose="020E0502030303020204" pitchFamily="34" charset="0"/>
              </a:rPr>
              <a:t>Terminologies</a:t>
            </a:r>
            <a:endParaRPr lang="en-PH" dirty="0">
              <a:solidFill>
                <a:schemeClr val="bg1"/>
              </a:solidFill>
              <a:latin typeface="Candara" panose="020E0502030303020204" pitchFamily="34" charset="0"/>
            </a:endParaRPr>
          </a:p>
        </p:txBody>
      </p:sp>
      <p:sp>
        <p:nvSpPr>
          <p:cNvPr id="3" name="Content Placeholder 2"/>
          <p:cNvSpPr>
            <a:spLocks noGrp="1"/>
          </p:cNvSpPr>
          <p:nvPr>
            <p:ph idx="1"/>
          </p:nvPr>
        </p:nvSpPr>
        <p:spPr>
          <a:xfrm>
            <a:off x="498004" y="1151397"/>
            <a:ext cx="10139945" cy="5455465"/>
          </a:xfrm>
        </p:spPr>
        <p:txBody>
          <a:bodyPr>
            <a:noAutofit/>
          </a:bodyPr>
          <a:lstStyle/>
          <a:p>
            <a:pPr marL="0" indent="0">
              <a:buNone/>
            </a:pPr>
            <a:r>
              <a:rPr lang="en-PH" sz="2800" b="1" dirty="0" smtClean="0">
                <a:solidFill>
                  <a:schemeClr val="bg1"/>
                </a:solidFill>
                <a:latin typeface="Candara" panose="020E0502030303020204" pitchFamily="34" charset="0"/>
              </a:rPr>
              <a:t>Diffusion-</a:t>
            </a:r>
            <a:r>
              <a:rPr lang="en-PH" sz="2800" dirty="0" smtClean="0">
                <a:solidFill>
                  <a:schemeClr val="bg1"/>
                </a:solidFill>
                <a:latin typeface="Candara" panose="020E0502030303020204" pitchFamily="34" charset="0"/>
              </a:rPr>
              <a:t> is the process of spreading technology/ information from one parson to another or from one agency to another. </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Adoption-</a:t>
            </a:r>
            <a:r>
              <a:rPr lang="en-PH" sz="2800" dirty="0" smtClean="0">
                <a:solidFill>
                  <a:schemeClr val="bg1"/>
                </a:solidFill>
                <a:latin typeface="Candara" panose="020E0502030303020204" pitchFamily="34" charset="0"/>
              </a:rPr>
              <a:t> the act or process of beginning to use something new or </a:t>
            </a:r>
            <a:r>
              <a:rPr lang="en-PH" sz="2800" dirty="0" smtClean="0">
                <a:solidFill>
                  <a:schemeClr val="bg1"/>
                </a:solidFill>
                <a:latin typeface="Candara" panose="020E0502030303020204" pitchFamily="34" charset="0"/>
              </a:rPr>
              <a:t>different</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Innovation-</a:t>
            </a:r>
            <a:r>
              <a:rPr lang="en-PH" sz="2800" dirty="0" smtClean="0">
                <a:solidFill>
                  <a:schemeClr val="bg1"/>
                </a:solidFill>
                <a:latin typeface="Candara" panose="020E0502030303020204" pitchFamily="34" charset="0"/>
              </a:rPr>
              <a:t> the act or process of introducing new ideas, devices or methods</a:t>
            </a:r>
            <a:r>
              <a:rPr lang="en-PH" sz="2800" dirty="0" smtClean="0">
                <a:solidFill>
                  <a:schemeClr val="bg1"/>
                </a:solidFill>
                <a:latin typeface="Candara" panose="020E0502030303020204" pitchFamily="34" charset="0"/>
              </a:rPr>
              <a:t>.</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Technology- </a:t>
            </a:r>
            <a:r>
              <a:rPr lang="en-PH" sz="2800" dirty="0">
                <a:solidFill>
                  <a:schemeClr val="bg1"/>
                </a:solidFill>
                <a:latin typeface="Candara" panose="020E0502030303020204" pitchFamily="34" charset="0"/>
              </a:rPr>
              <a:t>body of tools, machines, materials, techniques and processes used to produce goods and services that satisfy human needs. </a:t>
            </a:r>
          </a:p>
          <a:p>
            <a:pPr marL="0" indent="0">
              <a:buNone/>
            </a:pPr>
            <a:endParaRPr lang="en-PH" sz="28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348490709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5368" y="25757"/>
            <a:ext cx="6411512" cy="822290"/>
          </a:xfrm>
        </p:spPr>
        <p:txBody>
          <a:bodyPr/>
          <a:lstStyle/>
          <a:p>
            <a:r>
              <a:rPr lang="en-PH" dirty="0" smtClean="0">
                <a:solidFill>
                  <a:schemeClr val="bg1"/>
                </a:solidFill>
                <a:latin typeface="Berlin Sans FB" panose="020E0602020502020306" pitchFamily="34" charset="0"/>
              </a:rPr>
              <a:t>Innovation-Decision Process</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296213" y="746974"/>
            <a:ext cx="12011695" cy="5370491"/>
          </a:xfrm>
        </p:spPr>
        <p:txBody>
          <a:bodyPr>
            <a:noAutofit/>
          </a:bodyPr>
          <a:lstStyle/>
          <a:p>
            <a:pPr marL="0" indent="0">
              <a:buNone/>
            </a:pPr>
            <a:r>
              <a:rPr lang="en-PH" sz="2400" dirty="0" smtClean="0">
                <a:solidFill>
                  <a:schemeClr val="bg1"/>
                </a:solidFill>
                <a:latin typeface="Candara" panose="020E0502030303020204" pitchFamily="34" charset="0"/>
              </a:rPr>
              <a:t>The process consist of four functions or stages:</a:t>
            </a:r>
          </a:p>
          <a:p>
            <a:pPr marL="0" indent="0">
              <a:buNone/>
            </a:pPr>
            <a:r>
              <a:rPr lang="en-PH" sz="2400" b="1" dirty="0" smtClean="0">
                <a:solidFill>
                  <a:schemeClr val="bg1"/>
                </a:solidFill>
                <a:latin typeface="Candara" panose="020E0502030303020204" pitchFamily="34" charset="0"/>
              </a:rPr>
              <a:t>1. Knowledge</a:t>
            </a:r>
          </a:p>
          <a:p>
            <a:pPr marL="400050" lvl="1" indent="0">
              <a:buNone/>
            </a:pPr>
            <a:r>
              <a:rPr lang="en-PH" sz="2400" dirty="0" smtClean="0">
                <a:solidFill>
                  <a:schemeClr val="bg1"/>
                </a:solidFill>
                <a:latin typeface="Candara" panose="020E0502030303020204" pitchFamily="34" charset="0"/>
              </a:rPr>
              <a:t>The individual is exposed to the innovation’s existence and gains some understanding of how it functions;</a:t>
            </a:r>
          </a:p>
          <a:p>
            <a:pPr marL="0" indent="0">
              <a:buNone/>
            </a:pPr>
            <a:r>
              <a:rPr lang="en-PH" sz="2400" b="1" dirty="0" smtClean="0">
                <a:solidFill>
                  <a:schemeClr val="bg1"/>
                </a:solidFill>
                <a:latin typeface="Candara" panose="020E0502030303020204" pitchFamily="34" charset="0"/>
              </a:rPr>
              <a:t>2. Persuasion</a:t>
            </a:r>
          </a:p>
          <a:p>
            <a:pPr marL="0" indent="0">
              <a:buNone/>
            </a:pPr>
            <a:r>
              <a:rPr lang="en-PH" sz="2400" dirty="0">
                <a:solidFill>
                  <a:schemeClr val="bg1"/>
                </a:solidFill>
                <a:latin typeface="Candara" panose="020E0502030303020204" pitchFamily="34" charset="0"/>
              </a:rPr>
              <a:t>	T</a:t>
            </a:r>
            <a:r>
              <a:rPr lang="en-PH" sz="2400" dirty="0" smtClean="0">
                <a:solidFill>
                  <a:schemeClr val="bg1"/>
                </a:solidFill>
                <a:latin typeface="Candara" panose="020E0502030303020204" pitchFamily="34" charset="0"/>
              </a:rPr>
              <a:t>he individual forms a favourable or unfavourable attitude towards 	the 	innovation.</a:t>
            </a:r>
          </a:p>
          <a:p>
            <a:pPr marL="0" indent="0">
              <a:buNone/>
            </a:pPr>
            <a:r>
              <a:rPr lang="en-PH" sz="2400" b="1" dirty="0" smtClean="0">
                <a:solidFill>
                  <a:schemeClr val="bg1"/>
                </a:solidFill>
                <a:latin typeface="Candara" panose="020E0502030303020204" pitchFamily="34" charset="0"/>
              </a:rPr>
              <a:t>3. Decision</a:t>
            </a:r>
          </a:p>
          <a:p>
            <a:pPr marL="0" indent="0">
              <a:buNone/>
            </a:pPr>
            <a:r>
              <a:rPr lang="en-PH" sz="2400" dirty="0">
                <a:solidFill>
                  <a:schemeClr val="bg1"/>
                </a:solidFill>
                <a:latin typeface="Candara" panose="020E0502030303020204" pitchFamily="34" charset="0"/>
              </a:rPr>
              <a:t>	</a:t>
            </a:r>
            <a:r>
              <a:rPr lang="en-PH" sz="2400" dirty="0" smtClean="0">
                <a:solidFill>
                  <a:schemeClr val="bg1"/>
                </a:solidFill>
                <a:latin typeface="Candara" panose="020E0502030303020204" pitchFamily="34" charset="0"/>
              </a:rPr>
              <a:t>The individual engages in activities which lead to a choice to adopt or reject 	the 	innovation;</a:t>
            </a:r>
          </a:p>
          <a:p>
            <a:pPr marL="0" indent="0">
              <a:buNone/>
            </a:pPr>
            <a:r>
              <a:rPr lang="en-PH" sz="2400" b="1" dirty="0" smtClean="0">
                <a:solidFill>
                  <a:schemeClr val="bg1"/>
                </a:solidFill>
                <a:latin typeface="Candara" panose="020E0502030303020204" pitchFamily="34" charset="0"/>
              </a:rPr>
              <a:t>4. Confirmation</a:t>
            </a:r>
          </a:p>
          <a:p>
            <a:pPr marL="0" indent="0">
              <a:buNone/>
            </a:pPr>
            <a:r>
              <a:rPr lang="en-PH" sz="2400" dirty="0">
                <a:solidFill>
                  <a:schemeClr val="bg1"/>
                </a:solidFill>
                <a:latin typeface="Candara" panose="020E0502030303020204" pitchFamily="34" charset="0"/>
              </a:rPr>
              <a:t>	T</a:t>
            </a:r>
            <a:r>
              <a:rPr lang="en-PH" sz="2400" dirty="0" smtClean="0">
                <a:solidFill>
                  <a:schemeClr val="bg1"/>
                </a:solidFill>
                <a:latin typeface="Candara" panose="020E0502030303020204" pitchFamily="34" charset="0"/>
              </a:rPr>
              <a:t>he individual seek reinforcement for the innovative decision he has made, but he reverse his previous decision if exposed to conflicting message about the innovation.</a:t>
            </a:r>
          </a:p>
        </p:txBody>
      </p:sp>
    </p:spTree>
    <p:extLst>
      <p:ext uri="{BB962C8B-B14F-4D97-AF65-F5344CB8AC3E}">
        <p14:creationId xmlns:p14="http://schemas.microsoft.com/office/powerpoint/2010/main" val="4005228593"/>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3098" y="180304"/>
            <a:ext cx="6102419" cy="745017"/>
          </a:xfrm>
        </p:spPr>
        <p:txBody>
          <a:bodyPr/>
          <a:lstStyle/>
          <a:p>
            <a:r>
              <a:rPr lang="en-PH" dirty="0" smtClean="0">
                <a:solidFill>
                  <a:schemeClr val="bg1"/>
                </a:solidFill>
                <a:latin typeface="Berlin Sans FB" panose="020E0602020502020306" pitchFamily="34" charset="0"/>
              </a:rPr>
              <a:t>Diffusion Adoption Process</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472247" y="1112761"/>
            <a:ext cx="10693735" cy="5017583"/>
          </a:xfrm>
        </p:spPr>
        <p:txBody>
          <a:bodyPr>
            <a:noAutofit/>
          </a:bodyPr>
          <a:lstStyle/>
          <a:p>
            <a:pPr marL="0" indent="0">
              <a:buNone/>
            </a:pPr>
            <a:r>
              <a:rPr lang="en-PH" sz="2400" dirty="0" smtClean="0">
                <a:solidFill>
                  <a:schemeClr val="bg1"/>
                </a:solidFill>
                <a:latin typeface="Candara" panose="020E0502030303020204" pitchFamily="34" charset="0"/>
              </a:rPr>
              <a:t>A person undergoes clearly defined stages before adopting a new idea, practice, or total package of technology.</a:t>
            </a:r>
          </a:p>
          <a:p>
            <a:pPr marL="0" indent="0">
              <a:buNone/>
            </a:pPr>
            <a:r>
              <a:rPr lang="en-PH" sz="2400" dirty="0" smtClean="0">
                <a:solidFill>
                  <a:schemeClr val="bg1"/>
                </a:solidFill>
                <a:latin typeface="Candara" panose="020E0502030303020204" pitchFamily="34" charset="0"/>
              </a:rPr>
              <a:t>This is describes as a </a:t>
            </a:r>
            <a:r>
              <a:rPr lang="en-PH" sz="2400" b="1" dirty="0" smtClean="0">
                <a:solidFill>
                  <a:schemeClr val="bg1"/>
                </a:solidFill>
                <a:latin typeface="Candara" panose="020E0502030303020204" pitchFamily="34" charset="0"/>
              </a:rPr>
              <a:t>psychological process </a:t>
            </a:r>
            <a:r>
              <a:rPr lang="en-PH" sz="2400" dirty="0" smtClean="0">
                <a:solidFill>
                  <a:schemeClr val="bg1"/>
                </a:solidFill>
                <a:latin typeface="Candara" panose="020E0502030303020204" pitchFamily="34" charset="0"/>
              </a:rPr>
              <a:t>that happens within the person.</a:t>
            </a:r>
          </a:p>
          <a:p>
            <a:pPr marL="457200" indent="-457200">
              <a:buAutoNum type="arabicPeriod"/>
            </a:pPr>
            <a:r>
              <a:rPr lang="en-PH" sz="2400" b="1" dirty="0" smtClean="0">
                <a:solidFill>
                  <a:schemeClr val="bg1"/>
                </a:solidFill>
                <a:latin typeface="Candara" panose="020E0502030303020204" pitchFamily="34" charset="0"/>
              </a:rPr>
              <a:t>Awareness stage- </a:t>
            </a:r>
            <a:r>
              <a:rPr lang="en-PH" sz="2400" dirty="0" smtClean="0">
                <a:solidFill>
                  <a:schemeClr val="bg1"/>
                </a:solidFill>
                <a:latin typeface="Candara" panose="020E0502030303020204" pitchFamily="34" charset="0"/>
              </a:rPr>
              <a:t>knowing the idea, practice, or technology is the first stage 	before one learns to try and use it.</a:t>
            </a:r>
          </a:p>
          <a:p>
            <a:pPr marL="457200" indent="-457200">
              <a:buAutoNum type="arabicPeriod"/>
            </a:pPr>
            <a:r>
              <a:rPr lang="en-PH" sz="2400" b="1" dirty="0" smtClean="0">
                <a:solidFill>
                  <a:schemeClr val="bg1"/>
                </a:solidFill>
                <a:latin typeface="Candara" panose="020E0502030303020204" pitchFamily="34" charset="0"/>
              </a:rPr>
              <a:t>Interest stage- </a:t>
            </a:r>
            <a:r>
              <a:rPr lang="en-PH" sz="2400" dirty="0" smtClean="0">
                <a:solidFill>
                  <a:schemeClr val="bg1"/>
                </a:solidFill>
                <a:latin typeface="Candara" panose="020E0502030303020204" pitchFamily="34" charset="0"/>
              </a:rPr>
              <a:t>he seeks factual information about the technology.</a:t>
            </a:r>
          </a:p>
          <a:p>
            <a:pPr marL="457200" indent="-457200">
              <a:buAutoNum type="arabicPeriod"/>
            </a:pPr>
            <a:r>
              <a:rPr lang="en-PH" sz="2400" b="1" dirty="0" smtClean="0">
                <a:solidFill>
                  <a:schemeClr val="bg1"/>
                </a:solidFill>
                <a:latin typeface="Candara" panose="020E0502030303020204" pitchFamily="34" charset="0"/>
              </a:rPr>
              <a:t>Evaluation stage- </a:t>
            </a:r>
            <a:r>
              <a:rPr lang="en-PH" sz="2400" dirty="0" smtClean="0">
                <a:solidFill>
                  <a:schemeClr val="bg1"/>
                </a:solidFill>
                <a:latin typeface="Candara" panose="020E0502030303020204" pitchFamily="34" charset="0"/>
              </a:rPr>
              <a:t>he showed marked interest in the technology as it applies to 	him, his family, or his work. Evaluation and trial stage maybe interchanged.</a:t>
            </a:r>
          </a:p>
          <a:p>
            <a:pPr marL="457200" indent="-457200">
              <a:buAutoNum type="arabicPeriod"/>
            </a:pPr>
            <a:r>
              <a:rPr lang="en-PH" sz="2400" b="1" dirty="0" smtClean="0">
                <a:solidFill>
                  <a:schemeClr val="bg1"/>
                </a:solidFill>
                <a:latin typeface="Candara" panose="020E0502030303020204" pitchFamily="34" charset="0"/>
              </a:rPr>
              <a:t>Trial stage- </a:t>
            </a:r>
            <a:r>
              <a:rPr lang="en-PH" sz="2400" dirty="0" smtClean="0">
                <a:solidFill>
                  <a:schemeClr val="bg1"/>
                </a:solidFill>
                <a:latin typeface="Candara" panose="020E0502030303020204" pitchFamily="34" charset="0"/>
              </a:rPr>
              <a:t>he tries and experiments in small scale the new technology after 	weighing the advantages and risks involved.</a:t>
            </a:r>
          </a:p>
          <a:p>
            <a:pPr marL="457200" indent="-457200">
              <a:buAutoNum type="arabicPeriod"/>
            </a:pPr>
            <a:r>
              <a:rPr lang="en-PH" sz="2400" b="1" dirty="0" smtClean="0">
                <a:solidFill>
                  <a:schemeClr val="bg1"/>
                </a:solidFill>
                <a:latin typeface="Candara" panose="020E0502030303020204" pitchFamily="34" charset="0"/>
              </a:rPr>
              <a:t>Adoption stage- </a:t>
            </a:r>
            <a:r>
              <a:rPr lang="en-PH" sz="2400" dirty="0" smtClean="0">
                <a:solidFill>
                  <a:schemeClr val="bg1"/>
                </a:solidFill>
                <a:latin typeface="Candara" panose="020E0502030303020204" pitchFamily="34" charset="0"/>
              </a:rPr>
              <a:t>the final stage of diffusion process is characterized by large scale and continuous use of the technology.</a:t>
            </a:r>
          </a:p>
          <a:p>
            <a:pPr marL="0" indent="0">
              <a:buNone/>
            </a:pPr>
            <a:r>
              <a:rPr lang="en-PH" sz="2400" dirty="0" smtClean="0">
                <a:solidFill>
                  <a:schemeClr val="bg1"/>
                </a:solidFill>
                <a:latin typeface="Candara" panose="020E0502030303020204" pitchFamily="34" charset="0"/>
              </a:rPr>
              <a:t> </a:t>
            </a:r>
          </a:p>
          <a:p>
            <a:pPr marL="457200" indent="-457200">
              <a:buAutoNum type="arabicPeriod"/>
            </a:pPr>
            <a:endParaRPr lang="en-PH" sz="24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140164267"/>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362566"/>
            <a:ext cx="10352446" cy="886685"/>
          </a:xfrm>
        </p:spPr>
        <p:txBody>
          <a:bodyPr/>
          <a:lstStyle/>
          <a:p>
            <a:pPr algn="ctr"/>
            <a:r>
              <a:rPr lang="en-PH" sz="3200" dirty="0" smtClean="0">
                <a:solidFill>
                  <a:schemeClr val="bg1"/>
                </a:solidFill>
                <a:latin typeface="Berlin Sans FB" panose="020E0602020502020306" pitchFamily="34" charset="0"/>
              </a:rPr>
              <a:t>Characteristics of an Innovation that Determines </a:t>
            </a:r>
            <a:r>
              <a:rPr lang="en-PH" sz="3200" dirty="0">
                <a:solidFill>
                  <a:schemeClr val="bg1"/>
                </a:solidFill>
                <a:latin typeface="Berlin Sans FB" panose="020E0602020502020306" pitchFamily="34" charset="0"/>
              </a:rPr>
              <a:t>I</a:t>
            </a:r>
            <a:r>
              <a:rPr lang="en-PH" sz="3200" dirty="0" smtClean="0">
                <a:solidFill>
                  <a:schemeClr val="bg1"/>
                </a:solidFill>
                <a:latin typeface="Berlin Sans FB" panose="020E0602020502020306" pitchFamily="34" charset="0"/>
              </a:rPr>
              <a:t>ts </a:t>
            </a:r>
            <a:r>
              <a:rPr lang="en-PH" sz="3200" dirty="0">
                <a:solidFill>
                  <a:schemeClr val="bg1"/>
                </a:solidFill>
                <a:latin typeface="Berlin Sans FB" panose="020E0602020502020306" pitchFamily="34" charset="0"/>
              </a:rPr>
              <a:t>A</a:t>
            </a:r>
            <a:r>
              <a:rPr lang="en-PH" sz="3200" dirty="0" smtClean="0">
                <a:solidFill>
                  <a:schemeClr val="bg1"/>
                </a:solidFill>
                <a:latin typeface="Berlin Sans FB" panose="020E0602020502020306" pitchFamily="34" charset="0"/>
              </a:rPr>
              <a:t>doption</a:t>
            </a:r>
            <a:endParaRPr lang="en-PH" sz="3200"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536641" y="1550642"/>
            <a:ext cx="11260407" cy="4195481"/>
          </a:xfrm>
        </p:spPr>
        <p:txBody>
          <a:bodyPr>
            <a:noAutofit/>
          </a:bodyPr>
          <a:lstStyle/>
          <a:p>
            <a:pPr marL="0" indent="0">
              <a:buNone/>
            </a:pPr>
            <a:r>
              <a:rPr lang="en-PH" sz="2800" dirty="0" smtClean="0">
                <a:solidFill>
                  <a:schemeClr val="bg1"/>
                </a:solidFill>
                <a:latin typeface="Candara" panose="020E0502030303020204" pitchFamily="34" charset="0"/>
              </a:rPr>
              <a:t>In advocating/promoting the use of a particular technology, the source should consider the following attributes of technology:</a:t>
            </a:r>
          </a:p>
          <a:p>
            <a:pPr marL="0" indent="0">
              <a:buNone/>
            </a:pPr>
            <a:r>
              <a:rPr lang="en-PH" sz="2800" u="sng" dirty="0" smtClean="0">
                <a:solidFill>
                  <a:schemeClr val="bg1"/>
                </a:solidFill>
                <a:latin typeface="Candara" panose="020E0502030303020204" pitchFamily="34" charset="0"/>
              </a:rPr>
              <a:t>RELATIVE ADVANTAGE</a:t>
            </a:r>
          </a:p>
          <a:p>
            <a:pPr marL="0" indent="0">
              <a:buNone/>
            </a:pPr>
            <a:r>
              <a:rPr lang="en-PH" sz="2800" dirty="0" smtClean="0">
                <a:solidFill>
                  <a:schemeClr val="bg1"/>
                </a:solidFill>
                <a:latin typeface="Candara" panose="020E0502030303020204" pitchFamily="34" charset="0"/>
              </a:rPr>
              <a:t>	</a:t>
            </a:r>
            <a:r>
              <a:rPr lang="en-PH" sz="2800" dirty="0">
                <a:solidFill>
                  <a:schemeClr val="bg1"/>
                </a:solidFill>
                <a:latin typeface="Candara" panose="020E0502030303020204" pitchFamily="34" charset="0"/>
              </a:rPr>
              <a:t>T</a:t>
            </a:r>
            <a:r>
              <a:rPr lang="en-PH" sz="2800" dirty="0" smtClean="0">
                <a:solidFill>
                  <a:schemeClr val="bg1"/>
                </a:solidFill>
                <a:latin typeface="Candara" panose="020E0502030303020204" pitchFamily="34" charset="0"/>
              </a:rPr>
              <a:t>he degree to which a new innovation perceived as better than the 	idea it supersedes.</a:t>
            </a:r>
          </a:p>
          <a:p>
            <a:pPr marL="0" indent="0">
              <a:buNone/>
            </a:pPr>
            <a:r>
              <a:rPr lang="en-PH" sz="2800" dirty="0" smtClean="0">
                <a:solidFill>
                  <a:schemeClr val="bg1"/>
                </a:solidFill>
                <a:latin typeface="Candara" panose="020E0502030303020204" pitchFamily="34" charset="0"/>
              </a:rPr>
              <a:t>	Confidence and satisfaction are also important component.</a:t>
            </a:r>
          </a:p>
          <a:p>
            <a:pPr marL="0" indent="0">
              <a:buNone/>
            </a:pPr>
            <a:r>
              <a:rPr lang="en-PH" sz="2800" u="sng" dirty="0" smtClean="0">
                <a:solidFill>
                  <a:schemeClr val="bg1"/>
                </a:solidFill>
                <a:latin typeface="Candara" panose="020E0502030303020204" pitchFamily="34" charset="0"/>
              </a:rPr>
              <a:t>COMPATIBILITY</a:t>
            </a:r>
          </a:p>
          <a:p>
            <a:pPr marL="0" indent="0">
              <a:buNone/>
            </a:pPr>
            <a:r>
              <a:rPr lang="en-PH" sz="2800" dirty="0" smtClean="0">
                <a:solidFill>
                  <a:schemeClr val="bg1"/>
                </a:solidFill>
                <a:latin typeface="Candara" panose="020E0502030303020204" pitchFamily="34" charset="0"/>
              </a:rPr>
              <a:t>	Degree to which an innovation is perceived as being consistent with 	existing values, pats experiences and needs or receivers.</a:t>
            </a:r>
          </a:p>
          <a:p>
            <a:pPr marL="0" indent="0">
              <a:buNone/>
            </a:pPr>
            <a:endParaRPr lang="en-PH" sz="2800" dirty="0" smtClean="0">
              <a:solidFill>
                <a:schemeClr val="bg1"/>
              </a:solidFill>
              <a:latin typeface="Candara" panose="020E0502030303020204" pitchFamily="34" charset="0"/>
            </a:endParaRPr>
          </a:p>
          <a:p>
            <a:pPr marL="0" indent="0">
              <a:buNone/>
            </a:pPr>
            <a:endParaRPr lang="en-PH" sz="2800" dirty="0" smtClean="0">
              <a:solidFill>
                <a:schemeClr val="bg1"/>
              </a:solidFill>
              <a:latin typeface="Candara" panose="020E0502030303020204" pitchFamily="34" charset="0"/>
            </a:endParaRPr>
          </a:p>
          <a:p>
            <a:pPr marL="0" indent="0">
              <a:buNone/>
            </a:pPr>
            <a:r>
              <a:rPr lang="en-PH" sz="2800" dirty="0" smtClean="0">
                <a:solidFill>
                  <a:schemeClr val="bg1"/>
                </a:solidFill>
                <a:latin typeface="Candara" panose="020E0502030303020204" pitchFamily="34" charset="0"/>
              </a:rPr>
              <a:t>	</a:t>
            </a:r>
          </a:p>
        </p:txBody>
      </p:sp>
    </p:spTree>
    <p:extLst>
      <p:ext uri="{BB962C8B-B14F-4D97-AF65-F5344CB8AC3E}">
        <p14:creationId xmlns:p14="http://schemas.microsoft.com/office/powerpoint/2010/main" val="2956916536"/>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6111" y="1692311"/>
            <a:ext cx="11260407" cy="5597132"/>
          </a:xfrm>
        </p:spPr>
        <p:txBody>
          <a:bodyPr>
            <a:noAutofit/>
          </a:bodyPr>
          <a:lstStyle/>
          <a:p>
            <a:pPr marL="0" indent="0">
              <a:buNone/>
            </a:pPr>
            <a:r>
              <a:rPr lang="en-PH" sz="2800" u="sng" dirty="0" smtClean="0">
                <a:solidFill>
                  <a:schemeClr val="bg1"/>
                </a:solidFill>
                <a:latin typeface="Candara" panose="020E0502030303020204" pitchFamily="34" charset="0"/>
              </a:rPr>
              <a:t>COMPLEXITY</a:t>
            </a:r>
            <a:endParaRPr lang="en-PH" sz="2800" u="sng" dirty="0">
              <a:solidFill>
                <a:schemeClr val="bg1"/>
              </a:solidFill>
              <a:latin typeface="Candara" panose="020E0502030303020204" pitchFamily="34" charset="0"/>
            </a:endParaRPr>
          </a:p>
          <a:p>
            <a:pPr marL="0" indent="0">
              <a:buNone/>
            </a:pPr>
            <a:r>
              <a:rPr lang="en-PH" sz="2800" dirty="0" smtClean="0">
                <a:solidFill>
                  <a:schemeClr val="bg1"/>
                </a:solidFill>
                <a:latin typeface="Candara" panose="020E0502030303020204" pitchFamily="34" charset="0"/>
              </a:rPr>
              <a:t>	The degree to which an innovation is perceived as difficult to 	understand and use.</a:t>
            </a:r>
          </a:p>
          <a:p>
            <a:pPr marL="0" indent="0">
              <a:buNone/>
            </a:pPr>
            <a:r>
              <a:rPr lang="en-PH" sz="2800" u="sng" dirty="0" smtClean="0">
                <a:solidFill>
                  <a:schemeClr val="bg1"/>
                </a:solidFill>
                <a:latin typeface="Candara" panose="020E0502030303020204" pitchFamily="34" charset="0"/>
              </a:rPr>
              <a:t>TRIALABILITY</a:t>
            </a:r>
          </a:p>
          <a:p>
            <a:pPr marL="0" indent="0">
              <a:buNone/>
            </a:pPr>
            <a:r>
              <a:rPr lang="en-PH" sz="2800" dirty="0">
                <a:solidFill>
                  <a:schemeClr val="bg1"/>
                </a:solidFill>
                <a:latin typeface="Candara" panose="020E0502030303020204" pitchFamily="34" charset="0"/>
              </a:rPr>
              <a:t>	</a:t>
            </a:r>
            <a:r>
              <a:rPr lang="en-PH" sz="2800" dirty="0" smtClean="0">
                <a:solidFill>
                  <a:schemeClr val="bg1"/>
                </a:solidFill>
                <a:latin typeface="Candara" panose="020E0502030303020204" pitchFamily="34" charset="0"/>
              </a:rPr>
              <a:t>The degree to which an innovation maybe experimented within a 	limited scale.</a:t>
            </a:r>
          </a:p>
          <a:p>
            <a:pPr marL="0" indent="0">
              <a:buNone/>
            </a:pPr>
            <a:r>
              <a:rPr lang="en-PH" sz="2800" u="sng" dirty="0" smtClean="0">
                <a:solidFill>
                  <a:schemeClr val="bg1"/>
                </a:solidFill>
                <a:latin typeface="Candara" panose="020E0502030303020204" pitchFamily="34" charset="0"/>
              </a:rPr>
              <a:t>OBSERVABILITY</a:t>
            </a:r>
          </a:p>
          <a:p>
            <a:pPr marL="0" indent="0">
              <a:buNone/>
            </a:pPr>
            <a:r>
              <a:rPr lang="en-PH" sz="2800" dirty="0" smtClean="0">
                <a:solidFill>
                  <a:schemeClr val="bg1"/>
                </a:solidFill>
                <a:latin typeface="Candara" panose="020E0502030303020204" pitchFamily="34" charset="0"/>
              </a:rPr>
              <a:t>	The degree to which the results of an innovation are visible to others.</a:t>
            </a:r>
            <a:endParaRPr lang="en-PH" sz="2800" dirty="0">
              <a:solidFill>
                <a:schemeClr val="bg1"/>
              </a:solidFill>
              <a:latin typeface="Candara" panose="020E0502030303020204" pitchFamily="34" charset="0"/>
            </a:endParaRPr>
          </a:p>
        </p:txBody>
      </p:sp>
      <p:sp>
        <p:nvSpPr>
          <p:cNvPr id="5" name="Title 1"/>
          <p:cNvSpPr txBox="1">
            <a:spLocks/>
          </p:cNvSpPr>
          <p:nvPr/>
        </p:nvSpPr>
        <p:spPr>
          <a:xfrm>
            <a:off x="646111" y="362566"/>
            <a:ext cx="10352446" cy="88668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PH" sz="3200" smtClean="0">
                <a:solidFill>
                  <a:schemeClr val="bg1"/>
                </a:solidFill>
                <a:latin typeface="Berlin Sans FB" panose="020E0602020502020306" pitchFamily="34" charset="0"/>
              </a:rPr>
              <a:t>Characteristics of an Innovation that Determines Its Adoption</a:t>
            </a:r>
            <a:endParaRPr lang="en-PH" sz="3200" dirty="0">
              <a:solidFill>
                <a:schemeClr val="bg1"/>
              </a:solidFill>
              <a:latin typeface="Berlin Sans FB" panose="020E0602020502020306" pitchFamily="34" charset="0"/>
            </a:endParaRPr>
          </a:p>
        </p:txBody>
      </p:sp>
    </p:spTree>
    <p:extLst>
      <p:ext uri="{BB962C8B-B14F-4D97-AF65-F5344CB8AC3E}">
        <p14:creationId xmlns:p14="http://schemas.microsoft.com/office/powerpoint/2010/main" val="4270219413"/>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6" name="Text Box 6"/>
          <p:cNvSpPr txBox="1">
            <a:spLocks noChangeArrowheads="1"/>
          </p:cNvSpPr>
          <p:nvPr/>
        </p:nvSpPr>
        <p:spPr bwMode="auto">
          <a:xfrm>
            <a:off x="1298330" y="188914"/>
            <a:ext cx="8874125" cy="1285875"/>
          </a:xfrm>
          <a:prstGeom prst="rect">
            <a:avLst/>
          </a:prstGeom>
          <a:noFill/>
          <a:ln w="9525">
            <a:noFill/>
            <a:miter lim="800000"/>
            <a:headEnd/>
            <a:tailEnd/>
          </a:ln>
          <a:effectLst/>
        </p:spPr>
        <p:txBody>
          <a:bodyPr lIns="89885" tIns="44943" rIns="89885" bIns="44943">
            <a:spAutoFit/>
          </a:bodyPr>
          <a:lstStyle/>
          <a:p>
            <a:pPr defTabSz="899320">
              <a:spcBef>
                <a:spcPct val="50000"/>
              </a:spcBef>
              <a:defRPr/>
            </a:pPr>
            <a:r>
              <a:rPr lang="en-US" sz="3883" dirty="0">
                <a:solidFill>
                  <a:schemeClr val="bg1"/>
                </a:solidFill>
                <a:latin typeface="Candara" panose="020E0502030303020204" pitchFamily="34" charset="0"/>
              </a:rPr>
              <a:t>CATEGORIES &amp; CHARACTERISTICS OF ADOPTERS</a:t>
            </a:r>
          </a:p>
        </p:txBody>
      </p:sp>
      <p:sp>
        <p:nvSpPr>
          <p:cNvPr id="7" name="Text Box 6"/>
          <p:cNvSpPr txBox="1">
            <a:spLocks noChangeArrowheads="1"/>
          </p:cNvSpPr>
          <p:nvPr/>
        </p:nvSpPr>
        <p:spPr bwMode="auto">
          <a:xfrm>
            <a:off x="1725613" y="1719800"/>
            <a:ext cx="8539162" cy="904875"/>
          </a:xfrm>
          <a:prstGeom prst="rect">
            <a:avLst/>
          </a:prstGeom>
          <a:noFill/>
          <a:ln w="9525">
            <a:noFill/>
            <a:miter lim="800000"/>
            <a:headEnd/>
            <a:tailEnd/>
          </a:ln>
          <a:effectLst/>
        </p:spPr>
        <p:txBody>
          <a:bodyPr lIns="89885" tIns="44943" rIns="89885" bIns="44943">
            <a:spAutoFit/>
          </a:bodyPr>
          <a:lstStyle/>
          <a:p>
            <a:pPr marL="453862" indent="-453862" defTabSz="899320">
              <a:defRPr/>
            </a:pPr>
            <a:r>
              <a:rPr lang="en-US" sz="5294" dirty="0">
                <a:solidFill>
                  <a:schemeClr val="bg1"/>
                </a:solidFill>
                <a:latin typeface="Candara" panose="020E0502030303020204" pitchFamily="34" charset="0"/>
              </a:rPr>
              <a:t>INNOVATORS</a:t>
            </a:r>
          </a:p>
        </p:txBody>
      </p:sp>
      <p:sp>
        <p:nvSpPr>
          <p:cNvPr id="6" name="Text Box 6"/>
          <p:cNvSpPr txBox="1">
            <a:spLocks noChangeArrowheads="1"/>
          </p:cNvSpPr>
          <p:nvPr/>
        </p:nvSpPr>
        <p:spPr bwMode="auto">
          <a:xfrm>
            <a:off x="1725613" y="2554289"/>
            <a:ext cx="8539162" cy="3894137"/>
          </a:xfrm>
          <a:prstGeom prst="rect">
            <a:avLst/>
          </a:prstGeom>
          <a:noFill/>
          <a:ln w="9525">
            <a:noFill/>
            <a:miter lim="800000"/>
            <a:headEnd/>
            <a:tailEnd/>
          </a:ln>
          <a:effectLst/>
        </p:spPr>
        <p:txBody>
          <a:bodyPr lIns="89885" tIns="44943" rIns="89885" bIns="44943">
            <a:spAutoFit/>
          </a:bodyPr>
          <a:lstStyle/>
          <a:p>
            <a:pPr marL="806867" indent="-396430" defTabSz="899320">
              <a:buFont typeface="Wingdings" pitchFamily="2" charset="2"/>
              <a:buChar char="q"/>
              <a:defRPr/>
            </a:pPr>
            <a:r>
              <a:rPr lang="en-US" sz="3530" dirty="0">
                <a:solidFill>
                  <a:schemeClr val="bg1"/>
                </a:solidFill>
                <a:latin typeface="Candara" panose="020E0502030303020204" pitchFamily="34" charset="0"/>
              </a:rPr>
              <a:t>Venturesome </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first person, group, or community to adopt;</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willing to experiment;</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risk takers;</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greater wealth, higher level of education, venturesome spirit</a:t>
            </a:r>
          </a:p>
        </p:txBody>
      </p:sp>
    </p:spTree>
    <p:extLst>
      <p:ext uri="{BB962C8B-B14F-4D97-AF65-F5344CB8AC3E}">
        <p14:creationId xmlns:p14="http://schemas.microsoft.com/office/powerpoint/2010/main" val="797077756"/>
      </p:ext>
    </p:extLst>
  </p:cSld>
  <p:clrMapOvr>
    <a:masterClrMapping/>
  </p:clrMapOvr>
  <p:transition spd="med"/>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2202131" y="406155"/>
            <a:ext cx="8539162" cy="904875"/>
          </a:xfrm>
          <a:prstGeom prst="rect">
            <a:avLst/>
          </a:prstGeom>
          <a:noFill/>
          <a:ln w="9525">
            <a:noFill/>
            <a:miter lim="800000"/>
            <a:headEnd/>
            <a:tailEnd/>
          </a:ln>
          <a:effectLst/>
        </p:spPr>
        <p:txBody>
          <a:bodyPr lIns="89885" tIns="44943" rIns="89885" bIns="44943">
            <a:spAutoFit/>
          </a:bodyPr>
          <a:lstStyle/>
          <a:p>
            <a:pPr marL="453862" indent="-453862" defTabSz="899320">
              <a:defRPr/>
            </a:pPr>
            <a:r>
              <a:rPr lang="en-US" sz="5294" dirty="0">
                <a:solidFill>
                  <a:schemeClr val="bg1"/>
                </a:solidFill>
                <a:latin typeface="Candara" panose="020E0502030303020204" pitchFamily="34" charset="0"/>
              </a:rPr>
              <a:t>EARLY ADOPTERS</a:t>
            </a:r>
          </a:p>
        </p:txBody>
      </p:sp>
      <p:sp>
        <p:nvSpPr>
          <p:cNvPr id="5" name="Text Box 6"/>
          <p:cNvSpPr txBox="1">
            <a:spLocks noChangeArrowheads="1"/>
          </p:cNvSpPr>
          <p:nvPr/>
        </p:nvSpPr>
        <p:spPr bwMode="auto">
          <a:xfrm>
            <a:off x="1043033" y="1768678"/>
            <a:ext cx="8539162" cy="3893343"/>
          </a:xfrm>
          <a:prstGeom prst="rect">
            <a:avLst/>
          </a:prstGeom>
          <a:noFill/>
          <a:ln w="9525">
            <a:noFill/>
            <a:miter lim="800000"/>
            <a:headEnd/>
            <a:tailEnd/>
          </a:ln>
          <a:effectLst/>
        </p:spPr>
        <p:txBody>
          <a:bodyPr lIns="89885" tIns="44943" rIns="89885" bIns="44943">
            <a:spAutoFit/>
          </a:bodyPr>
          <a:lstStyle/>
          <a:p>
            <a:pPr marL="806867" indent="-396430" defTabSz="899320">
              <a:buFont typeface="Wingdings" pitchFamily="2" charset="2"/>
              <a:buChar char="q"/>
              <a:defRPr/>
            </a:pPr>
            <a:r>
              <a:rPr lang="en-US" sz="3530" dirty="0">
                <a:solidFill>
                  <a:schemeClr val="bg1"/>
                </a:solidFill>
                <a:latin typeface="Candara" panose="020E0502030303020204" pitchFamily="34" charset="0"/>
              </a:rPr>
              <a:t>Respectable </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quick to see the value of a new practice;</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tries if he feels it has fair chance of success;</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with higher education &amp; socially </a:t>
            </a:r>
            <a:r>
              <a:rPr lang="en-US" sz="3530" dirty="0" smtClean="0">
                <a:solidFill>
                  <a:schemeClr val="bg1"/>
                </a:solidFill>
                <a:latin typeface="Candara" panose="020E0502030303020204" pitchFamily="34" charset="0"/>
              </a:rPr>
              <a:t>active</a:t>
            </a:r>
          </a:p>
          <a:p>
            <a:pPr marL="410437" defTabSz="899320">
              <a:defRPr/>
            </a:pPr>
            <a:endParaRPr lang="en-US" sz="353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892644218"/>
      </p:ext>
    </p:extLst>
  </p:cSld>
  <p:clrMapOvr>
    <a:masterClrMapping/>
  </p:clrMapOvr>
  <p:transition spd="med"/>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1390762" y="328882"/>
            <a:ext cx="8539162" cy="905474"/>
          </a:xfrm>
          <a:prstGeom prst="rect">
            <a:avLst/>
          </a:prstGeom>
          <a:noFill/>
          <a:ln w="9525">
            <a:noFill/>
            <a:miter lim="800000"/>
            <a:headEnd/>
            <a:tailEnd/>
          </a:ln>
          <a:effectLst/>
        </p:spPr>
        <p:txBody>
          <a:bodyPr lIns="89885" tIns="44943" rIns="89885" bIns="44943">
            <a:spAutoFit/>
          </a:bodyPr>
          <a:lstStyle/>
          <a:p>
            <a:pPr defTabSz="899320">
              <a:defRPr/>
            </a:pPr>
            <a:r>
              <a:rPr lang="en-US" sz="5294" dirty="0">
                <a:solidFill>
                  <a:schemeClr val="bg1"/>
                </a:solidFill>
                <a:latin typeface="Candara" panose="020E0502030303020204" pitchFamily="34" charset="0"/>
              </a:rPr>
              <a:t>EARLY MAJORITY ADOPTERS</a:t>
            </a:r>
          </a:p>
        </p:txBody>
      </p:sp>
      <p:sp>
        <p:nvSpPr>
          <p:cNvPr id="5" name="Text Box 6"/>
          <p:cNvSpPr txBox="1">
            <a:spLocks noChangeArrowheads="1"/>
          </p:cNvSpPr>
          <p:nvPr/>
        </p:nvSpPr>
        <p:spPr bwMode="auto">
          <a:xfrm>
            <a:off x="1480915" y="1778045"/>
            <a:ext cx="8539162" cy="3893343"/>
          </a:xfrm>
          <a:prstGeom prst="rect">
            <a:avLst/>
          </a:prstGeom>
          <a:noFill/>
          <a:ln w="9525">
            <a:noFill/>
            <a:miter lim="800000"/>
            <a:headEnd/>
            <a:tailEnd/>
          </a:ln>
          <a:effectLst/>
        </p:spPr>
        <p:txBody>
          <a:bodyPr lIns="89885" tIns="44943" rIns="89885" bIns="44943">
            <a:spAutoFit/>
          </a:bodyPr>
          <a:lstStyle/>
          <a:p>
            <a:pPr marL="806867" indent="-396430" defTabSz="899320">
              <a:buFont typeface="Wingdings" pitchFamily="2" charset="2"/>
              <a:buChar char="q"/>
              <a:defRPr/>
            </a:pPr>
            <a:r>
              <a:rPr lang="en-US" sz="3530" dirty="0">
                <a:solidFill>
                  <a:schemeClr val="bg1"/>
                </a:solidFill>
                <a:latin typeface="Candara" panose="020E0502030303020204" pitchFamily="34" charset="0"/>
              </a:rPr>
              <a:t>Deliberate </a:t>
            </a:r>
            <a:endParaRPr lang="en-US" sz="3530" dirty="0" smtClean="0">
              <a:solidFill>
                <a:schemeClr val="bg1"/>
              </a:solidFill>
              <a:latin typeface="Candara" panose="020E0502030303020204" pitchFamily="34" charset="0"/>
            </a:endParaRPr>
          </a:p>
          <a:p>
            <a:pPr marL="806867" indent="-396430" defTabSz="899320">
              <a:buFont typeface="Wingdings" pitchFamily="2" charset="2"/>
              <a:buChar char="q"/>
              <a:defRPr/>
            </a:pPr>
            <a:r>
              <a:rPr lang="en-US" sz="3530" dirty="0" smtClean="0">
                <a:solidFill>
                  <a:schemeClr val="bg1"/>
                </a:solidFill>
                <a:latin typeface="Candara" panose="020E0502030303020204" pitchFamily="34" charset="0"/>
              </a:rPr>
              <a:t>Slightly above average in age, education and farming </a:t>
            </a:r>
            <a:r>
              <a:rPr lang="en-US" sz="3530" dirty="0" err="1" smtClean="0">
                <a:solidFill>
                  <a:schemeClr val="bg1"/>
                </a:solidFill>
                <a:latin typeface="Candara" panose="020E0502030303020204" pitchFamily="34" charset="0"/>
              </a:rPr>
              <a:t>exeperince</a:t>
            </a:r>
            <a:endParaRPr lang="en-US" sz="3530" dirty="0">
              <a:solidFill>
                <a:schemeClr val="bg1"/>
              </a:solidFill>
              <a:latin typeface="Candara" panose="020E0502030303020204" pitchFamily="34" charset="0"/>
            </a:endParaRPr>
          </a:p>
          <a:p>
            <a:pPr marL="806867" indent="-396430" defTabSz="899320">
              <a:buFont typeface="Wingdings" pitchFamily="2" charset="2"/>
              <a:buChar char="q"/>
              <a:defRPr/>
            </a:pPr>
            <a:r>
              <a:rPr lang="en-US" sz="3530" dirty="0">
                <a:solidFill>
                  <a:schemeClr val="bg1"/>
                </a:solidFill>
                <a:latin typeface="Candara" panose="020E0502030303020204" pitchFamily="34" charset="0"/>
              </a:rPr>
              <a:t>adopts only after they are convinced with the value;</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experienced &amp; average education, highly respected in the community</a:t>
            </a:r>
          </a:p>
        </p:txBody>
      </p:sp>
    </p:spTree>
    <p:extLst>
      <p:ext uri="{BB962C8B-B14F-4D97-AF65-F5344CB8AC3E}">
        <p14:creationId xmlns:p14="http://schemas.microsoft.com/office/powerpoint/2010/main" val="1862975411"/>
      </p:ext>
    </p:extLst>
  </p:cSld>
  <p:clrMapOvr>
    <a:masterClrMapping/>
  </p:clrMapOvr>
  <p:transition spd="med"/>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1094548" y="354639"/>
            <a:ext cx="8539162" cy="905474"/>
          </a:xfrm>
          <a:prstGeom prst="rect">
            <a:avLst/>
          </a:prstGeom>
          <a:noFill/>
          <a:ln w="9525">
            <a:noFill/>
            <a:miter lim="800000"/>
            <a:headEnd/>
            <a:tailEnd/>
          </a:ln>
          <a:effectLst/>
        </p:spPr>
        <p:txBody>
          <a:bodyPr lIns="89885" tIns="44943" rIns="89885" bIns="44943">
            <a:spAutoFit/>
          </a:bodyPr>
          <a:lstStyle/>
          <a:p>
            <a:pPr defTabSz="899320">
              <a:defRPr/>
            </a:pPr>
            <a:r>
              <a:rPr lang="en-US" sz="5294" dirty="0">
                <a:solidFill>
                  <a:schemeClr val="bg1"/>
                </a:solidFill>
                <a:latin typeface="Candara" panose="020E0502030303020204" pitchFamily="34" charset="0"/>
              </a:rPr>
              <a:t>LATE MAJORITY ADOPTERS</a:t>
            </a:r>
          </a:p>
        </p:txBody>
      </p:sp>
      <p:sp>
        <p:nvSpPr>
          <p:cNvPr id="5" name="Text Box 6"/>
          <p:cNvSpPr txBox="1">
            <a:spLocks noChangeArrowheads="1"/>
          </p:cNvSpPr>
          <p:nvPr/>
        </p:nvSpPr>
        <p:spPr bwMode="auto">
          <a:xfrm>
            <a:off x="1184700" y="1672237"/>
            <a:ext cx="8539162" cy="3350118"/>
          </a:xfrm>
          <a:prstGeom prst="rect">
            <a:avLst/>
          </a:prstGeom>
          <a:noFill/>
          <a:ln w="9525">
            <a:noFill/>
            <a:miter lim="800000"/>
            <a:headEnd/>
            <a:tailEnd/>
          </a:ln>
          <a:effectLst/>
        </p:spPr>
        <p:txBody>
          <a:bodyPr lIns="89885" tIns="44943" rIns="89885" bIns="44943">
            <a:spAutoFit/>
          </a:bodyPr>
          <a:lstStyle/>
          <a:p>
            <a:pPr marL="806867" indent="-396430" defTabSz="899320">
              <a:buFont typeface="Wingdings" pitchFamily="2" charset="2"/>
              <a:buChar char="q"/>
              <a:defRPr/>
            </a:pPr>
            <a:r>
              <a:rPr lang="en-US" sz="3530" dirty="0">
                <a:solidFill>
                  <a:schemeClr val="bg1"/>
                </a:solidFill>
                <a:latin typeface="Candara" panose="020E0502030303020204" pitchFamily="34" charset="0"/>
              </a:rPr>
              <a:t>Skeptical</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adopts only when it is generally practiced by the community;</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makes a large block of less </a:t>
            </a:r>
            <a:r>
              <a:rPr lang="en-US" sz="3530" dirty="0" smtClean="0">
                <a:solidFill>
                  <a:schemeClr val="bg1"/>
                </a:solidFill>
                <a:latin typeface="Candara" panose="020E0502030303020204" pitchFamily="34" charset="0"/>
              </a:rPr>
              <a:t>wealthy</a:t>
            </a:r>
          </a:p>
          <a:p>
            <a:pPr marL="806867" indent="-396430" defTabSz="899320">
              <a:buFont typeface="Wingdings" pitchFamily="2" charset="2"/>
              <a:buChar char="q"/>
              <a:defRPr/>
            </a:pPr>
            <a:r>
              <a:rPr lang="en-US" sz="3530" dirty="0" smtClean="0">
                <a:solidFill>
                  <a:schemeClr val="bg1"/>
                </a:solidFill>
                <a:latin typeface="Candara" panose="020E0502030303020204" pitchFamily="34" charset="0"/>
              </a:rPr>
              <a:t>Older than the early majority</a:t>
            </a:r>
          </a:p>
          <a:p>
            <a:pPr marL="806867" indent="-396430" defTabSz="899320">
              <a:buFont typeface="Wingdings" pitchFamily="2" charset="2"/>
              <a:buChar char="q"/>
              <a:defRPr/>
            </a:pPr>
            <a:endParaRPr lang="en-US" sz="3530" dirty="0">
              <a:solidFill>
                <a:schemeClr val="bg1"/>
              </a:solidFill>
              <a:latin typeface="Candara" panose="020E0502030303020204" pitchFamily="34" charset="0"/>
            </a:endParaRPr>
          </a:p>
        </p:txBody>
      </p:sp>
    </p:spTree>
    <p:extLst>
      <p:ext uri="{BB962C8B-B14F-4D97-AF65-F5344CB8AC3E}">
        <p14:creationId xmlns:p14="http://schemas.microsoft.com/office/powerpoint/2010/main" val="583134680"/>
      </p:ext>
    </p:extLst>
  </p:cSld>
  <p:clrMapOvr>
    <a:masterClrMapping/>
  </p:clrMapOvr>
  <p:transition spd="med"/>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1442279" y="818280"/>
            <a:ext cx="4840287" cy="904875"/>
          </a:xfrm>
          <a:prstGeom prst="rect">
            <a:avLst/>
          </a:prstGeom>
          <a:noFill/>
          <a:ln w="9525">
            <a:noFill/>
            <a:miter lim="800000"/>
            <a:headEnd/>
            <a:tailEnd/>
          </a:ln>
          <a:effectLst/>
        </p:spPr>
        <p:txBody>
          <a:bodyPr lIns="89885" tIns="44943" rIns="89885" bIns="44943">
            <a:spAutoFit/>
          </a:bodyPr>
          <a:lstStyle/>
          <a:p>
            <a:pPr defTabSz="899320">
              <a:defRPr/>
            </a:pPr>
            <a:r>
              <a:rPr lang="en-US" sz="5294" dirty="0">
                <a:solidFill>
                  <a:schemeClr val="bg1"/>
                </a:solidFill>
                <a:latin typeface="Candara" panose="020E0502030303020204" pitchFamily="34" charset="0"/>
              </a:rPr>
              <a:t>LAGGARDS</a:t>
            </a:r>
          </a:p>
        </p:txBody>
      </p:sp>
      <p:sp>
        <p:nvSpPr>
          <p:cNvPr id="5" name="Text Box 6"/>
          <p:cNvSpPr txBox="1">
            <a:spLocks noChangeArrowheads="1"/>
          </p:cNvSpPr>
          <p:nvPr/>
        </p:nvSpPr>
        <p:spPr bwMode="auto">
          <a:xfrm>
            <a:off x="1686977" y="1961860"/>
            <a:ext cx="8539162" cy="3893343"/>
          </a:xfrm>
          <a:prstGeom prst="rect">
            <a:avLst/>
          </a:prstGeom>
          <a:noFill/>
          <a:ln w="9525">
            <a:noFill/>
            <a:miter lim="800000"/>
            <a:headEnd/>
            <a:tailEnd/>
          </a:ln>
          <a:effectLst/>
        </p:spPr>
        <p:txBody>
          <a:bodyPr lIns="89885" tIns="44943" rIns="89885" bIns="44943">
            <a:spAutoFit/>
          </a:bodyPr>
          <a:lstStyle/>
          <a:p>
            <a:pPr marL="806867" indent="-396430" defTabSz="899320">
              <a:buFont typeface="Wingdings" pitchFamily="2" charset="2"/>
              <a:buChar char="q"/>
              <a:defRPr/>
            </a:pPr>
            <a:r>
              <a:rPr lang="en-US" sz="3530" dirty="0">
                <a:solidFill>
                  <a:schemeClr val="bg1"/>
                </a:solidFill>
                <a:latin typeface="Candara" panose="020E0502030303020204" pitchFamily="34" charset="0"/>
              </a:rPr>
              <a:t>Traditional </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closed to change;</a:t>
            </a:r>
          </a:p>
          <a:p>
            <a:pPr marL="806867" indent="-396430" defTabSz="899320">
              <a:buFont typeface="Wingdings" pitchFamily="2" charset="2"/>
              <a:buChar char="q"/>
              <a:defRPr/>
            </a:pPr>
            <a:r>
              <a:rPr lang="en-US" sz="3530" dirty="0" smtClean="0">
                <a:solidFill>
                  <a:schemeClr val="bg1"/>
                </a:solidFill>
                <a:latin typeface="Candara" panose="020E0502030303020204" pitchFamily="34" charset="0"/>
              </a:rPr>
              <a:t>Reluctant</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 Last people to adopt an innovation</a:t>
            </a:r>
          </a:p>
          <a:p>
            <a:pPr marL="806867" indent="-396430" defTabSz="899320">
              <a:buFont typeface="Wingdings" pitchFamily="2" charset="2"/>
              <a:buChar char="q"/>
              <a:defRPr/>
            </a:pPr>
            <a:r>
              <a:rPr lang="en-US" sz="3530" dirty="0">
                <a:solidFill>
                  <a:schemeClr val="bg1"/>
                </a:solidFill>
                <a:latin typeface="Candara" panose="020E0502030303020204" pitchFamily="34" charset="0"/>
              </a:rPr>
              <a:t>Usually the oldest, least educated and wealthy</a:t>
            </a:r>
          </a:p>
          <a:p>
            <a:pPr marL="410437" defTabSz="899320">
              <a:defRPr/>
            </a:pPr>
            <a:endParaRPr lang="en-US" sz="353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906765381"/>
      </p:ext>
    </p:extLst>
  </p:cSld>
  <p:clrMapOvr>
    <a:masterClrMapping/>
  </p:clrMapOvr>
  <p:transition spd="med"/>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2703" y="713515"/>
            <a:ext cx="8946541" cy="5622891"/>
          </a:xfrm>
        </p:spPr>
        <p:txBody>
          <a:bodyPr>
            <a:normAutofit/>
          </a:bodyPr>
          <a:lstStyle/>
          <a:p>
            <a:pPr marL="0" indent="0" algn="ctr">
              <a:lnSpc>
                <a:spcPct val="150000"/>
              </a:lnSpc>
              <a:buNone/>
            </a:pPr>
            <a:r>
              <a:rPr lang="en-PH" sz="3200" u="sng" dirty="0" smtClean="0">
                <a:solidFill>
                  <a:schemeClr val="bg1"/>
                </a:solidFill>
                <a:latin typeface="Candara" panose="020E0502030303020204" pitchFamily="34" charset="0"/>
              </a:rPr>
              <a:t>Adoption Rate</a:t>
            </a:r>
          </a:p>
          <a:p>
            <a:pPr marL="0" indent="0" algn="ctr">
              <a:lnSpc>
                <a:spcPct val="150000"/>
              </a:lnSpc>
              <a:buNone/>
            </a:pPr>
            <a:r>
              <a:rPr lang="en-PH" sz="3200" dirty="0" smtClean="0">
                <a:solidFill>
                  <a:schemeClr val="bg1"/>
                </a:solidFill>
                <a:latin typeface="Candara" panose="020E0502030303020204" pitchFamily="34" charset="0"/>
              </a:rPr>
              <a:t>Innovator- 2.5%</a:t>
            </a:r>
          </a:p>
          <a:p>
            <a:pPr marL="0" indent="0" algn="ctr">
              <a:lnSpc>
                <a:spcPct val="150000"/>
              </a:lnSpc>
              <a:buNone/>
            </a:pPr>
            <a:r>
              <a:rPr lang="en-PH" sz="3200" dirty="0" smtClean="0">
                <a:solidFill>
                  <a:schemeClr val="bg1"/>
                </a:solidFill>
                <a:latin typeface="Candara" panose="020E0502030303020204" pitchFamily="34" charset="0"/>
              </a:rPr>
              <a:t>Early adopter- 13.5 %</a:t>
            </a:r>
          </a:p>
          <a:p>
            <a:pPr marL="0" indent="0" algn="ctr">
              <a:lnSpc>
                <a:spcPct val="150000"/>
              </a:lnSpc>
              <a:buNone/>
            </a:pPr>
            <a:r>
              <a:rPr lang="en-PH" sz="3200" dirty="0" smtClean="0">
                <a:solidFill>
                  <a:schemeClr val="bg1"/>
                </a:solidFill>
                <a:latin typeface="Candara" panose="020E0502030303020204" pitchFamily="34" charset="0"/>
              </a:rPr>
              <a:t>Early majority- 34%</a:t>
            </a:r>
          </a:p>
          <a:p>
            <a:pPr marL="0" indent="0" algn="ctr">
              <a:lnSpc>
                <a:spcPct val="150000"/>
              </a:lnSpc>
              <a:buNone/>
            </a:pPr>
            <a:r>
              <a:rPr lang="en-PH" sz="3200" dirty="0" smtClean="0">
                <a:solidFill>
                  <a:schemeClr val="bg1"/>
                </a:solidFill>
                <a:latin typeface="Candara" panose="020E0502030303020204" pitchFamily="34" charset="0"/>
              </a:rPr>
              <a:t>Late Majority- 34%</a:t>
            </a:r>
          </a:p>
          <a:p>
            <a:pPr marL="0" indent="0" algn="ctr">
              <a:lnSpc>
                <a:spcPct val="150000"/>
              </a:lnSpc>
              <a:buNone/>
            </a:pPr>
            <a:r>
              <a:rPr lang="en-PH" sz="3200" dirty="0" smtClean="0">
                <a:solidFill>
                  <a:schemeClr val="bg1"/>
                </a:solidFill>
                <a:latin typeface="Candara" panose="020E0502030303020204" pitchFamily="34" charset="0"/>
              </a:rPr>
              <a:t>Laggards- 10%</a:t>
            </a:r>
          </a:p>
          <a:p>
            <a:pPr marL="0" indent="0" algn="ctr">
              <a:lnSpc>
                <a:spcPct val="150000"/>
              </a:lnSpc>
              <a:buNone/>
            </a:pP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27355311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93502"/>
          </a:xfrm>
        </p:spPr>
        <p:txBody>
          <a:bodyPr/>
          <a:lstStyle/>
          <a:p>
            <a:pPr algn="ctr"/>
            <a:r>
              <a:rPr lang="en-PH" dirty="0" smtClean="0">
                <a:solidFill>
                  <a:schemeClr val="bg1"/>
                </a:solidFill>
                <a:latin typeface="Candara" panose="020E0502030303020204" pitchFamily="34" charset="0"/>
              </a:rPr>
              <a:t>Agricultural Knowledge System</a:t>
            </a:r>
            <a:endParaRPr lang="en-PH" dirty="0">
              <a:solidFill>
                <a:schemeClr val="bg1"/>
              </a:solidFill>
              <a:latin typeface="Candara" panose="020E0502030303020204" pitchFamily="34" charset="0"/>
            </a:endParaRPr>
          </a:p>
        </p:txBody>
      </p:sp>
      <p:sp>
        <p:nvSpPr>
          <p:cNvPr id="3" name="Content Placeholder 2"/>
          <p:cNvSpPr>
            <a:spLocks noGrp="1"/>
          </p:cNvSpPr>
          <p:nvPr>
            <p:ph idx="1"/>
          </p:nvPr>
        </p:nvSpPr>
        <p:spPr>
          <a:xfrm>
            <a:off x="768462" y="1370338"/>
            <a:ext cx="10024034" cy="4195481"/>
          </a:xfrm>
        </p:spPr>
        <p:txBody>
          <a:bodyPr>
            <a:normAutofit/>
          </a:bodyPr>
          <a:lstStyle/>
          <a:p>
            <a:pPr marL="0" indent="0">
              <a:buNone/>
            </a:pPr>
            <a:r>
              <a:rPr lang="en-PH" sz="3200" dirty="0" smtClean="0">
                <a:solidFill>
                  <a:schemeClr val="bg1"/>
                </a:solidFill>
                <a:latin typeface="Candara" panose="020E0502030303020204" pitchFamily="34" charset="0"/>
              </a:rPr>
              <a:t>Is a system of belief, cognitions, models, theories, concepts and other products of the mind.</a:t>
            </a: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410427974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35169"/>
          </a:xfrm>
        </p:spPr>
        <p:txBody>
          <a:bodyPr/>
          <a:lstStyle/>
          <a:p>
            <a:r>
              <a:rPr lang="en-PH" dirty="0" smtClean="0">
                <a:solidFill>
                  <a:schemeClr val="bg1"/>
                </a:solidFill>
                <a:latin typeface="Berlin Sans FB" panose="020E0602020502020306" pitchFamily="34" charset="0"/>
              </a:rPr>
              <a:t>Categories of Technology</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1104293" y="1408974"/>
            <a:ext cx="10654118" cy="5764558"/>
          </a:xfrm>
        </p:spPr>
        <p:txBody>
          <a:bodyPr>
            <a:normAutofit/>
          </a:bodyPr>
          <a:lstStyle/>
          <a:p>
            <a:pPr marL="0" indent="0">
              <a:buNone/>
            </a:pPr>
            <a:r>
              <a:rPr lang="en-PH" sz="2800" b="1" u="sng" dirty="0" smtClean="0">
                <a:solidFill>
                  <a:schemeClr val="bg1"/>
                </a:solidFill>
                <a:latin typeface="Candara" panose="020E0502030303020204" pitchFamily="34" charset="0"/>
              </a:rPr>
              <a:t>Component Technology</a:t>
            </a:r>
          </a:p>
          <a:p>
            <a:pPr marL="0" indent="0">
              <a:buNone/>
            </a:pPr>
            <a:r>
              <a:rPr lang="en-PH" sz="2800" dirty="0">
                <a:solidFill>
                  <a:schemeClr val="bg1"/>
                </a:solidFill>
                <a:latin typeface="Candara" panose="020E0502030303020204" pitchFamily="34" charset="0"/>
              </a:rPr>
              <a:t>	R</a:t>
            </a:r>
            <a:r>
              <a:rPr lang="en-PH" sz="2800" dirty="0" smtClean="0">
                <a:solidFill>
                  <a:schemeClr val="bg1"/>
                </a:solidFill>
                <a:latin typeface="Candara" panose="020E0502030303020204" pitchFamily="34" charset="0"/>
              </a:rPr>
              <a:t>efers to the specific cultural techniques in the management/ production of crops, livestock, fishery and forestry. Ex. Water, fertilizer, machineries</a:t>
            </a:r>
          </a:p>
          <a:p>
            <a:pPr marL="0" indent="0">
              <a:buNone/>
            </a:pPr>
            <a:endParaRPr lang="en-PH" sz="2800" dirty="0">
              <a:solidFill>
                <a:schemeClr val="bg1"/>
              </a:solidFill>
              <a:latin typeface="Candara" panose="020E0502030303020204" pitchFamily="34" charset="0"/>
            </a:endParaRPr>
          </a:p>
          <a:p>
            <a:pPr marL="0" indent="0">
              <a:buNone/>
            </a:pPr>
            <a:r>
              <a:rPr lang="en-PH" sz="2800" b="1" u="sng" dirty="0" smtClean="0">
                <a:solidFill>
                  <a:schemeClr val="bg1"/>
                </a:solidFill>
                <a:latin typeface="Candara" panose="020E0502030303020204" pitchFamily="34" charset="0"/>
              </a:rPr>
              <a:t>Package of Technology (POT)</a:t>
            </a:r>
          </a:p>
          <a:p>
            <a:pPr marL="0" indent="0">
              <a:buNone/>
            </a:pPr>
            <a:r>
              <a:rPr lang="en-PH" sz="2800" dirty="0">
                <a:solidFill>
                  <a:schemeClr val="bg1"/>
                </a:solidFill>
                <a:latin typeface="Candara" panose="020E0502030303020204" pitchFamily="34" charset="0"/>
              </a:rPr>
              <a:t>	R</a:t>
            </a:r>
            <a:r>
              <a:rPr lang="en-PH" sz="2800" dirty="0" smtClean="0">
                <a:solidFill>
                  <a:schemeClr val="bg1"/>
                </a:solidFill>
                <a:latin typeface="Candara" panose="020E0502030303020204" pitchFamily="34" charset="0"/>
              </a:rPr>
              <a:t>efers to the combination of all necessary component technologies for production or postproduction activities.</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437606324"/>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322" y="143625"/>
            <a:ext cx="9404723" cy="835169"/>
          </a:xfrm>
        </p:spPr>
        <p:txBody>
          <a:bodyPr/>
          <a:lstStyle/>
          <a:p>
            <a:r>
              <a:rPr lang="en-PH" dirty="0" smtClean="0">
                <a:solidFill>
                  <a:schemeClr val="bg1"/>
                </a:solidFill>
                <a:latin typeface="Berlin Sans FB" panose="020E0602020502020306" pitchFamily="34" charset="0"/>
              </a:rPr>
              <a:t>Types of Technology</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769442" y="978794"/>
            <a:ext cx="10654118" cy="5764558"/>
          </a:xfrm>
        </p:spPr>
        <p:txBody>
          <a:bodyPr>
            <a:noAutofit/>
          </a:bodyPr>
          <a:lstStyle/>
          <a:p>
            <a:pPr marL="0" indent="0">
              <a:buNone/>
            </a:pPr>
            <a:r>
              <a:rPr lang="en-PH" sz="2400" dirty="0" smtClean="0">
                <a:solidFill>
                  <a:schemeClr val="bg1"/>
                </a:solidFill>
                <a:latin typeface="Candara" panose="020E0502030303020204" pitchFamily="34" charset="0"/>
              </a:rPr>
              <a:t>1</a:t>
            </a:r>
            <a:r>
              <a:rPr lang="en-PH" sz="2400" b="1" dirty="0" smtClean="0">
                <a:solidFill>
                  <a:schemeClr val="bg1"/>
                </a:solidFill>
                <a:latin typeface="Candara" panose="020E0502030303020204" pitchFamily="34" charset="0"/>
              </a:rPr>
              <a:t>. </a:t>
            </a:r>
            <a:r>
              <a:rPr lang="en-PH" sz="2400" b="1" u="sng" dirty="0" smtClean="0">
                <a:solidFill>
                  <a:schemeClr val="bg1"/>
                </a:solidFill>
                <a:latin typeface="Candara" panose="020E0502030303020204" pitchFamily="34" charset="0"/>
              </a:rPr>
              <a:t>Product</a:t>
            </a:r>
          </a:p>
          <a:p>
            <a:pPr marL="0" indent="0">
              <a:buNone/>
            </a:pPr>
            <a:r>
              <a:rPr lang="en-PH" sz="2400" dirty="0">
                <a:solidFill>
                  <a:schemeClr val="bg1"/>
                </a:solidFill>
                <a:latin typeface="Candara" panose="020E0502030303020204" pitchFamily="34" charset="0"/>
              </a:rPr>
              <a:t>	</a:t>
            </a:r>
            <a:r>
              <a:rPr lang="en-PH" sz="2400" dirty="0" smtClean="0">
                <a:solidFill>
                  <a:schemeClr val="bg1"/>
                </a:solidFill>
                <a:latin typeface="Candara" panose="020E0502030303020204" pitchFamily="34" charset="0"/>
              </a:rPr>
              <a:t>Examples; onion dryer, tissue culture of </a:t>
            </a:r>
            <a:r>
              <a:rPr lang="en-PH" sz="2400" dirty="0" err="1" smtClean="0">
                <a:solidFill>
                  <a:schemeClr val="bg1"/>
                </a:solidFill>
                <a:latin typeface="Candara" panose="020E0502030303020204" pitchFamily="34" charset="0"/>
              </a:rPr>
              <a:t>macapuno</a:t>
            </a:r>
            <a:r>
              <a:rPr lang="en-PH" sz="2400" dirty="0" smtClean="0">
                <a:solidFill>
                  <a:schemeClr val="bg1"/>
                </a:solidFill>
                <a:latin typeface="Candara" panose="020E0502030303020204" pitchFamily="34" charset="0"/>
              </a:rPr>
              <a:t>, </a:t>
            </a:r>
            <a:r>
              <a:rPr lang="en-PH" sz="2400" dirty="0" err="1" smtClean="0">
                <a:solidFill>
                  <a:schemeClr val="bg1"/>
                </a:solidFill>
                <a:latin typeface="Candara" panose="020E0502030303020204" pitchFamily="34" charset="0"/>
              </a:rPr>
              <a:t>snackfood</a:t>
            </a:r>
            <a:r>
              <a:rPr lang="en-PH" sz="2400" dirty="0" smtClean="0">
                <a:solidFill>
                  <a:schemeClr val="bg1"/>
                </a:solidFill>
                <a:latin typeface="Candara" panose="020E0502030303020204" pitchFamily="34" charset="0"/>
              </a:rPr>
              <a:t> item from 	coconut</a:t>
            </a:r>
          </a:p>
          <a:p>
            <a:pPr marL="0" indent="0">
              <a:buNone/>
            </a:pPr>
            <a:r>
              <a:rPr lang="en-PH" sz="2400" b="1" dirty="0" smtClean="0">
                <a:solidFill>
                  <a:schemeClr val="bg1"/>
                </a:solidFill>
                <a:latin typeface="Candara" panose="020E0502030303020204" pitchFamily="34" charset="0"/>
              </a:rPr>
              <a:t>2. </a:t>
            </a:r>
            <a:r>
              <a:rPr lang="en-PH" sz="2400" b="1" u="sng" dirty="0" smtClean="0">
                <a:solidFill>
                  <a:schemeClr val="bg1"/>
                </a:solidFill>
                <a:latin typeface="Candara" panose="020E0502030303020204" pitchFamily="34" charset="0"/>
              </a:rPr>
              <a:t>Process</a:t>
            </a:r>
          </a:p>
          <a:p>
            <a:pPr marL="0" indent="0">
              <a:buNone/>
            </a:pPr>
            <a:r>
              <a:rPr lang="en-PH" sz="2400" dirty="0">
                <a:solidFill>
                  <a:schemeClr val="bg1"/>
                </a:solidFill>
                <a:latin typeface="Candara" panose="020E0502030303020204" pitchFamily="34" charset="0"/>
              </a:rPr>
              <a:t>	T</a:t>
            </a:r>
            <a:r>
              <a:rPr lang="en-PH" sz="2400" dirty="0" smtClean="0">
                <a:solidFill>
                  <a:schemeClr val="bg1"/>
                </a:solidFill>
                <a:latin typeface="Candara" panose="020E0502030303020204" pitchFamily="34" charset="0"/>
              </a:rPr>
              <a:t>hey are not tangible and may refer to as “system” for doing things for 	improve production, postproduction or processing.</a:t>
            </a:r>
          </a:p>
          <a:p>
            <a:pPr marL="0" indent="0">
              <a:buNone/>
            </a:pPr>
            <a:r>
              <a:rPr lang="en-PH" sz="2400" b="1" dirty="0" smtClean="0">
                <a:solidFill>
                  <a:schemeClr val="bg1"/>
                </a:solidFill>
                <a:latin typeface="Candara" panose="020E0502030303020204" pitchFamily="34" charset="0"/>
              </a:rPr>
              <a:t>3. </a:t>
            </a:r>
            <a:r>
              <a:rPr lang="en-PH" sz="2400" b="1" u="sng" dirty="0" smtClean="0">
                <a:solidFill>
                  <a:schemeClr val="bg1"/>
                </a:solidFill>
                <a:latin typeface="Candara" panose="020E0502030303020204" pitchFamily="34" charset="0"/>
              </a:rPr>
              <a:t>Service</a:t>
            </a:r>
          </a:p>
          <a:p>
            <a:pPr marL="0" indent="0">
              <a:buNone/>
            </a:pPr>
            <a:r>
              <a:rPr lang="en-PH" sz="2400" dirty="0" smtClean="0">
                <a:solidFill>
                  <a:schemeClr val="bg1"/>
                </a:solidFill>
                <a:latin typeface="Candara" panose="020E0502030303020204" pitchFamily="34" charset="0"/>
              </a:rPr>
              <a:t>	Generally provide the complementary activities/ service to enhance existing 	programs / policies of the government.</a:t>
            </a:r>
          </a:p>
          <a:p>
            <a:pPr marL="0" indent="0">
              <a:buNone/>
            </a:pPr>
            <a:r>
              <a:rPr lang="en-PH" sz="2400" b="1" dirty="0" smtClean="0">
                <a:solidFill>
                  <a:schemeClr val="bg1"/>
                </a:solidFill>
                <a:latin typeface="Candara" panose="020E0502030303020204" pitchFamily="34" charset="0"/>
              </a:rPr>
              <a:t>4. </a:t>
            </a:r>
            <a:r>
              <a:rPr lang="en-PH" sz="2400" b="1" u="sng" dirty="0" smtClean="0">
                <a:solidFill>
                  <a:schemeClr val="bg1"/>
                </a:solidFill>
                <a:latin typeface="Candara" panose="020E0502030303020204" pitchFamily="34" charset="0"/>
              </a:rPr>
              <a:t>Information</a:t>
            </a:r>
          </a:p>
          <a:p>
            <a:pPr marL="0" indent="0">
              <a:buNone/>
            </a:pPr>
            <a:r>
              <a:rPr lang="en-PH" sz="2400" dirty="0" smtClean="0">
                <a:solidFill>
                  <a:schemeClr val="bg1"/>
                </a:solidFill>
                <a:latin typeface="Candara" panose="020E0502030303020204" pitchFamily="34" charset="0"/>
              </a:rPr>
              <a:t>	Significant findings that may indicate valuable socio-economic and technical 	database for policy formulation and follow up R and D activities.</a:t>
            </a:r>
          </a:p>
          <a:p>
            <a:pPr marL="0" indent="0">
              <a:buNone/>
            </a:pPr>
            <a:r>
              <a:rPr lang="en-PH" sz="2400" dirty="0" smtClean="0">
                <a:solidFill>
                  <a:schemeClr val="bg1"/>
                </a:solidFill>
                <a:latin typeface="Candara" panose="020E0502030303020204" pitchFamily="34" charset="0"/>
              </a:rPr>
              <a:t>	</a:t>
            </a:r>
          </a:p>
          <a:p>
            <a:pPr marL="0" indent="0">
              <a:buNone/>
            </a:pPr>
            <a:r>
              <a:rPr lang="en-PH" sz="2400" dirty="0">
                <a:solidFill>
                  <a:schemeClr val="bg1"/>
                </a:solidFill>
                <a:latin typeface="Candara" panose="020E0502030303020204" pitchFamily="34" charset="0"/>
              </a:rPr>
              <a:t>	</a:t>
            </a:r>
          </a:p>
        </p:txBody>
      </p:sp>
    </p:spTree>
    <p:extLst>
      <p:ext uri="{BB962C8B-B14F-4D97-AF65-F5344CB8AC3E}">
        <p14:creationId xmlns:p14="http://schemas.microsoft.com/office/powerpoint/2010/main" val="3696439312"/>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Content Placeholder 2"/>
          <p:cNvSpPr>
            <a:spLocks noGrp="1"/>
          </p:cNvSpPr>
          <p:nvPr>
            <p:ph idx="1"/>
          </p:nvPr>
        </p:nvSpPr>
        <p:spPr>
          <a:xfrm>
            <a:off x="824247" y="914399"/>
            <a:ext cx="9491729" cy="5318975"/>
          </a:xfrm>
        </p:spPr>
        <p:txBody>
          <a:bodyPr rtlCol="0">
            <a:normAutofit/>
          </a:bodyPr>
          <a:lstStyle/>
          <a:p>
            <a:pPr marL="0" indent="0" algn="ctr">
              <a:buNone/>
              <a:defRPr/>
            </a:pPr>
            <a:r>
              <a:rPr lang="en-US" sz="3600" dirty="0" smtClean="0">
                <a:solidFill>
                  <a:schemeClr val="bg1"/>
                </a:solidFill>
                <a:latin typeface="Candara" panose="020E0502030303020204" pitchFamily="34" charset="0"/>
              </a:rPr>
              <a:t>The different agricultural research centers and agencies in the country, whether public or private, are continuously generating / developing technologies in crops, livestock, fishery, forestry and natural resources.</a:t>
            </a:r>
          </a:p>
          <a:p>
            <a:pPr marL="0" indent="0" algn="ctr">
              <a:buNone/>
              <a:defRPr/>
            </a:pPr>
            <a:endParaRPr lang="en-US" sz="3600" dirty="0" smtClean="0">
              <a:solidFill>
                <a:schemeClr val="bg1"/>
              </a:solidFill>
              <a:latin typeface="Candara" panose="020E0502030303020204" pitchFamily="34" charset="0"/>
            </a:endParaRPr>
          </a:p>
          <a:p>
            <a:pPr marL="0" indent="0" algn="ctr">
              <a:buNone/>
              <a:defRPr/>
            </a:pPr>
            <a:r>
              <a:rPr lang="en-US" sz="3600" dirty="0" smtClean="0">
                <a:solidFill>
                  <a:schemeClr val="bg1"/>
                </a:solidFill>
                <a:latin typeface="Candara" panose="020E0502030303020204" pitchFamily="34" charset="0"/>
              </a:rPr>
              <a:t>These agencies, generally follow the technology THE </a:t>
            </a:r>
            <a:r>
              <a:rPr lang="en-US" sz="3600" dirty="0">
                <a:solidFill>
                  <a:schemeClr val="bg1"/>
                </a:solidFill>
                <a:latin typeface="Candara" panose="020E0502030303020204" pitchFamily="34" charset="0"/>
              </a:rPr>
              <a:t>PROCESS OF TECHNOLOGY DEVELOPMENT</a:t>
            </a:r>
          </a:p>
          <a:p>
            <a:pPr eaLnBrk="1" hangingPunct="1">
              <a:defRPr/>
            </a:pPr>
            <a:endParaRPr lang="en-US" sz="36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0008804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517033" y="253285"/>
            <a:ext cx="7886700" cy="815661"/>
          </a:xfrm>
        </p:spPr>
        <p:txBody>
          <a:bodyPr/>
          <a:lstStyle/>
          <a:p>
            <a:pPr marL="762000" indent="-762000"/>
            <a:r>
              <a:rPr lang="en-US" sz="4000" dirty="0">
                <a:solidFill>
                  <a:schemeClr val="bg1"/>
                </a:solidFill>
                <a:latin typeface="Candara" panose="020E0502030303020204" pitchFamily="34" charset="0"/>
              </a:rPr>
              <a:t>A. Technology Generation (TG)</a:t>
            </a:r>
          </a:p>
        </p:txBody>
      </p:sp>
      <p:sp>
        <p:nvSpPr>
          <p:cNvPr id="281603" name="Rectangle 3"/>
          <p:cNvSpPr>
            <a:spLocks noGrp="1" noChangeArrowheads="1"/>
          </p:cNvSpPr>
          <p:nvPr>
            <p:ph idx="1"/>
          </p:nvPr>
        </p:nvSpPr>
        <p:spPr>
          <a:xfrm>
            <a:off x="1002656" y="1068946"/>
            <a:ext cx="11000454" cy="1946667"/>
          </a:xfrm>
        </p:spPr>
        <p:txBody>
          <a:bodyPr/>
          <a:lstStyle/>
          <a:p>
            <a:pPr eaLnBrk="1" hangingPunct="1"/>
            <a:r>
              <a:rPr lang="en-US" sz="2800" dirty="0" smtClean="0">
                <a:solidFill>
                  <a:schemeClr val="bg1"/>
                </a:solidFill>
                <a:latin typeface="Candara" panose="020E0502030303020204" pitchFamily="34" charset="0"/>
              </a:rPr>
              <a:t>This is the scientific and experimental stage wherein a R&amp;D center utilizes all its resources human/technical, financial, material, physical and other resources to generate a component technology or a package of technology.</a:t>
            </a:r>
            <a:endParaRPr lang="en-US" sz="2800" dirty="0">
              <a:solidFill>
                <a:schemeClr val="bg1"/>
              </a:solidFill>
              <a:latin typeface="Candara" panose="020E0502030303020204" pitchFamily="34" charset="0"/>
            </a:endParaRPr>
          </a:p>
        </p:txBody>
      </p:sp>
      <p:sp>
        <p:nvSpPr>
          <p:cNvPr id="4" name="Rectangle 2"/>
          <p:cNvSpPr txBox="1">
            <a:spLocks noChangeArrowheads="1"/>
          </p:cNvSpPr>
          <p:nvPr/>
        </p:nvSpPr>
        <p:spPr>
          <a:xfrm>
            <a:off x="517033" y="3015613"/>
            <a:ext cx="9404723" cy="80941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solidFill>
                  <a:schemeClr val="bg1"/>
                </a:solidFill>
                <a:latin typeface="Candara" panose="020E0502030303020204" pitchFamily="34" charset="0"/>
              </a:rPr>
              <a:t>B. </a:t>
            </a:r>
            <a:r>
              <a:rPr lang="en-US" sz="3900" dirty="0" smtClean="0">
                <a:solidFill>
                  <a:schemeClr val="bg1"/>
                </a:solidFill>
                <a:latin typeface="Candara" panose="020E0502030303020204" pitchFamily="34" charset="0"/>
              </a:rPr>
              <a:t>Technology Verification (TV)</a:t>
            </a:r>
            <a:endParaRPr lang="en-US" sz="3900" dirty="0">
              <a:solidFill>
                <a:schemeClr val="bg1"/>
              </a:solidFill>
              <a:latin typeface="Candara" panose="020E0502030303020204" pitchFamily="34" charset="0"/>
            </a:endParaRPr>
          </a:p>
        </p:txBody>
      </p:sp>
      <p:sp>
        <p:nvSpPr>
          <p:cNvPr id="2" name="Rectangle 1"/>
          <p:cNvSpPr/>
          <p:nvPr/>
        </p:nvSpPr>
        <p:spPr>
          <a:xfrm>
            <a:off x="626772" y="3825025"/>
            <a:ext cx="10230118" cy="2492990"/>
          </a:xfrm>
          <a:prstGeom prst="rect">
            <a:avLst/>
          </a:prstGeom>
        </p:spPr>
        <p:txBody>
          <a:bodyPr wrap="square">
            <a:spAutoFit/>
          </a:bodyPr>
          <a:lstStyle/>
          <a:p>
            <a:pPr marL="914400" lvl="1" indent="-457200">
              <a:buFont typeface="Wingdings" panose="05000000000000000000" pitchFamily="2" charset="2"/>
              <a:buChar char="Ø"/>
            </a:pPr>
            <a:r>
              <a:rPr lang="en-US" sz="2600" dirty="0">
                <a:solidFill>
                  <a:schemeClr val="bg1"/>
                </a:solidFill>
                <a:latin typeface="Candara" panose="020E0502030303020204" pitchFamily="34" charset="0"/>
              </a:rPr>
              <a:t>It is an integrated technology conducted in the farmers’ fields.</a:t>
            </a:r>
          </a:p>
          <a:p>
            <a:pPr marL="914400" lvl="1" indent="-457200">
              <a:buFont typeface="Wingdings" panose="05000000000000000000" pitchFamily="2" charset="2"/>
              <a:buChar char="Ø"/>
            </a:pPr>
            <a:r>
              <a:rPr lang="en-US" sz="2600" dirty="0">
                <a:solidFill>
                  <a:schemeClr val="bg1"/>
                </a:solidFill>
                <a:latin typeface="Candara" panose="020E0502030303020204" pitchFamily="34" charset="0"/>
              </a:rPr>
              <a:t> It has been tested for two seasons in technology generation (TG) trials.</a:t>
            </a:r>
          </a:p>
          <a:p>
            <a:pPr marL="914400" lvl="1" indent="-457200">
              <a:buFont typeface="Wingdings" panose="05000000000000000000" pitchFamily="2" charset="2"/>
              <a:buChar char="Ø"/>
            </a:pPr>
            <a:r>
              <a:rPr lang="en-US" sz="2600" dirty="0">
                <a:solidFill>
                  <a:schemeClr val="bg1"/>
                </a:solidFill>
                <a:latin typeface="Candara" panose="020E0502030303020204" pitchFamily="34" charset="0"/>
              </a:rPr>
              <a:t> It has shown economic and technical feasibility in TG trials. </a:t>
            </a:r>
          </a:p>
          <a:p>
            <a:pPr marL="914400" lvl="1" indent="-457200">
              <a:buFont typeface="Wingdings" panose="05000000000000000000" pitchFamily="2" charset="2"/>
              <a:buChar char="Ø"/>
            </a:pPr>
            <a:r>
              <a:rPr lang="en-US" sz="2600" dirty="0">
                <a:solidFill>
                  <a:schemeClr val="bg1"/>
                </a:solidFill>
                <a:latin typeface="Candara" panose="020E0502030303020204" pitchFamily="34" charset="0"/>
              </a:rPr>
              <a:t> It is perceived to be socially acceptable and environmentally safe.</a:t>
            </a:r>
          </a:p>
        </p:txBody>
      </p:sp>
    </p:spTree>
    <p:extLst>
      <p:ext uri="{BB962C8B-B14F-4D97-AF65-F5344CB8AC3E}">
        <p14:creationId xmlns:p14="http://schemas.microsoft.com/office/powerpoint/2010/main" val="15565826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819757" y="233777"/>
            <a:ext cx="9404723" cy="719259"/>
          </a:xfrm>
        </p:spPr>
        <p:txBody>
          <a:bodyPr/>
          <a:lstStyle/>
          <a:p>
            <a:pPr eaLnBrk="1" hangingPunct="1"/>
            <a:r>
              <a:rPr lang="en-US" b="1" dirty="0" smtClean="0">
                <a:solidFill>
                  <a:schemeClr val="bg1"/>
                </a:solidFill>
                <a:latin typeface="Candara" panose="020E0502030303020204" pitchFamily="34" charset="0"/>
              </a:rPr>
              <a:t>C. </a:t>
            </a:r>
            <a:r>
              <a:rPr lang="en-US" sz="3600" b="1" dirty="0">
                <a:solidFill>
                  <a:schemeClr val="bg1"/>
                </a:solidFill>
                <a:latin typeface="Candara" panose="020E0502030303020204" pitchFamily="34" charset="0"/>
              </a:rPr>
              <a:t>Technology Adaptation (TA)</a:t>
            </a:r>
          </a:p>
        </p:txBody>
      </p:sp>
      <p:sp>
        <p:nvSpPr>
          <p:cNvPr id="283651" name="Rectangle 3"/>
          <p:cNvSpPr>
            <a:spLocks noGrp="1" noChangeArrowheads="1"/>
          </p:cNvSpPr>
          <p:nvPr>
            <p:ph idx="1"/>
          </p:nvPr>
        </p:nvSpPr>
        <p:spPr>
          <a:xfrm>
            <a:off x="1300767" y="1170949"/>
            <a:ext cx="7386638" cy="5030788"/>
          </a:xfrm>
        </p:spPr>
        <p:txBody>
          <a:bodyPr>
            <a:normAutofit/>
          </a:bodyPr>
          <a:lstStyle/>
          <a:p>
            <a:r>
              <a:rPr lang="en-US" sz="3000" dirty="0" smtClean="0">
                <a:solidFill>
                  <a:schemeClr val="bg1"/>
                </a:solidFill>
                <a:latin typeface="Candara" panose="020E0502030303020204" pitchFamily="34" charset="0"/>
              </a:rPr>
              <a:t>It </a:t>
            </a:r>
            <a:r>
              <a:rPr lang="en-US" sz="3000" dirty="0">
                <a:solidFill>
                  <a:schemeClr val="bg1"/>
                </a:solidFill>
                <a:latin typeface="Candara" panose="020E0502030303020204" pitchFamily="34" charset="0"/>
              </a:rPr>
              <a:t>is conducted in station or farmers’ field and only a component of technology;</a:t>
            </a:r>
          </a:p>
          <a:p>
            <a:r>
              <a:rPr lang="en-US" sz="3000" dirty="0" smtClean="0">
                <a:solidFill>
                  <a:schemeClr val="bg1"/>
                </a:solidFill>
                <a:latin typeface="Candara" panose="020E0502030303020204" pitchFamily="34" charset="0"/>
              </a:rPr>
              <a:t>It </a:t>
            </a:r>
            <a:r>
              <a:rPr lang="en-US" sz="3000" dirty="0">
                <a:solidFill>
                  <a:schemeClr val="bg1"/>
                </a:solidFill>
                <a:latin typeface="Candara" panose="020E0502030303020204" pitchFamily="34" charset="0"/>
              </a:rPr>
              <a:t>has been tested for technology generation (TG) research for at least 1 season;</a:t>
            </a:r>
          </a:p>
          <a:p>
            <a:r>
              <a:rPr lang="en-US" sz="3000" dirty="0" smtClean="0">
                <a:solidFill>
                  <a:schemeClr val="bg1"/>
                </a:solidFill>
                <a:latin typeface="Candara" panose="020E0502030303020204" pitchFamily="34" charset="0"/>
              </a:rPr>
              <a:t>It </a:t>
            </a:r>
            <a:r>
              <a:rPr lang="en-US" sz="3000" dirty="0">
                <a:solidFill>
                  <a:schemeClr val="bg1"/>
                </a:solidFill>
                <a:latin typeface="Candara" panose="020E0502030303020204" pitchFamily="34" charset="0"/>
              </a:rPr>
              <a:t>has shown good potential for economic feasibility based on TG research;</a:t>
            </a:r>
          </a:p>
          <a:p>
            <a:r>
              <a:rPr lang="en-US" sz="3000" dirty="0" smtClean="0">
                <a:solidFill>
                  <a:schemeClr val="bg1"/>
                </a:solidFill>
                <a:latin typeface="Candara" panose="020E0502030303020204" pitchFamily="34" charset="0"/>
              </a:rPr>
              <a:t>It </a:t>
            </a:r>
            <a:r>
              <a:rPr lang="en-US" sz="3000" dirty="0">
                <a:solidFill>
                  <a:schemeClr val="bg1"/>
                </a:solidFill>
                <a:latin typeface="Candara" panose="020E0502030303020204" pitchFamily="34" charset="0"/>
              </a:rPr>
              <a:t>has good potential for acceptance by farmers and commercial producers.</a:t>
            </a:r>
            <a:endParaRPr lang="en-US" sz="2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41515335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607475" y="208019"/>
            <a:ext cx="9404723" cy="552870"/>
          </a:xfrm>
        </p:spPr>
        <p:txBody>
          <a:bodyPr/>
          <a:lstStyle/>
          <a:p>
            <a:pPr eaLnBrk="1" hangingPunct="1"/>
            <a:r>
              <a:rPr lang="en-US" sz="4400" b="1" dirty="0">
                <a:solidFill>
                  <a:schemeClr val="bg1"/>
                </a:solidFill>
                <a:latin typeface="Candara" panose="020E0502030303020204" pitchFamily="34" charset="0"/>
              </a:rPr>
              <a:t>D. Technology Dissemination</a:t>
            </a:r>
          </a:p>
        </p:txBody>
      </p:sp>
      <p:sp>
        <p:nvSpPr>
          <p:cNvPr id="284675" name="Rectangle 3"/>
          <p:cNvSpPr>
            <a:spLocks noGrp="1" noChangeArrowheads="1"/>
          </p:cNvSpPr>
          <p:nvPr>
            <p:ph idx="1"/>
          </p:nvPr>
        </p:nvSpPr>
        <p:spPr>
          <a:xfrm>
            <a:off x="836565" y="1190033"/>
            <a:ext cx="10857452" cy="5352435"/>
          </a:xfrm>
        </p:spPr>
        <p:txBody>
          <a:bodyPr>
            <a:normAutofit/>
          </a:bodyPr>
          <a:lstStyle/>
          <a:p>
            <a:pPr marL="0" indent="0">
              <a:buNone/>
            </a:pPr>
            <a:r>
              <a:rPr lang="en-US" sz="2400" dirty="0">
                <a:solidFill>
                  <a:schemeClr val="bg1"/>
                </a:solidFill>
                <a:latin typeface="Candara" panose="020E0502030303020204" pitchFamily="34" charset="0"/>
              </a:rPr>
              <a:t>	This is the stage when promoters of technologies can use varied approaches and methods in bringing technologies to end users (PCARRD Highlights 2001</a:t>
            </a:r>
            <a:r>
              <a:rPr lang="en-US" sz="2400" dirty="0" smtClean="0">
                <a:solidFill>
                  <a:schemeClr val="bg1"/>
                </a:solidFill>
                <a:latin typeface="Candara" panose="020E0502030303020204" pitchFamily="34" charset="0"/>
              </a:rPr>
              <a:t>).</a:t>
            </a:r>
            <a:endParaRPr lang="en-US" sz="2400" dirty="0">
              <a:solidFill>
                <a:schemeClr val="bg1"/>
              </a:solidFill>
              <a:latin typeface="Candara" panose="020E0502030303020204" pitchFamily="34" charset="0"/>
            </a:endParaRPr>
          </a:p>
          <a:p>
            <a:pPr marL="0" indent="0">
              <a:buNone/>
            </a:pPr>
            <a:r>
              <a:rPr lang="en-US" sz="2400" dirty="0" smtClean="0">
                <a:solidFill>
                  <a:schemeClr val="bg1"/>
                </a:solidFill>
                <a:latin typeface="Candara" panose="020E0502030303020204" pitchFamily="34" charset="0"/>
              </a:rPr>
              <a:t>	Technologies are ready for dissemination I these have met the following criteria:</a:t>
            </a:r>
          </a:p>
          <a:p>
            <a:pPr marL="0" indent="0">
              <a:buNone/>
            </a:pPr>
            <a:r>
              <a:rPr lang="en-US" sz="2400" b="1" dirty="0" smtClean="0">
                <a:solidFill>
                  <a:schemeClr val="bg1"/>
                </a:solidFill>
                <a:latin typeface="Candara" panose="020E0502030303020204" pitchFamily="34" charset="0"/>
              </a:rPr>
              <a:t>GENERAL ADAPTABILITY- </a:t>
            </a:r>
            <a:r>
              <a:rPr lang="en-US" sz="2400" dirty="0" smtClean="0">
                <a:solidFill>
                  <a:schemeClr val="bg1"/>
                </a:solidFill>
                <a:latin typeface="Candara" panose="020E0502030303020204" pitchFamily="34" charset="0"/>
              </a:rPr>
              <a:t>these are replicated under field conditions.</a:t>
            </a:r>
          </a:p>
          <a:p>
            <a:pPr marL="0" indent="0">
              <a:buNone/>
            </a:pPr>
            <a:r>
              <a:rPr lang="en-US" sz="2400" b="1" dirty="0" smtClean="0">
                <a:solidFill>
                  <a:schemeClr val="bg1"/>
                </a:solidFill>
                <a:latin typeface="Candara" panose="020E0502030303020204" pitchFamily="34" charset="0"/>
              </a:rPr>
              <a:t>ECONOMIC PROFITABILITY- </a:t>
            </a:r>
            <a:r>
              <a:rPr lang="en-US" sz="2400" dirty="0" smtClean="0">
                <a:solidFill>
                  <a:schemeClr val="bg1"/>
                </a:solidFill>
                <a:latin typeface="Candara" panose="020E0502030303020204" pitchFamily="34" charset="0"/>
              </a:rPr>
              <a:t>their percent of profitability is equal to the prevailing 	rate of interest on loans of formal financial institutions. Profitability also 	considers social costs and benefits.</a:t>
            </a:r>
          </a:p>
          <a:p>
            <a:pPr marL="0" indent="0">
              <a:buNone/>
            </a:pPr>
            <a:r>
              <a:rPr lang="en-US" sz="2400" b="1" dirty="0" smtClean="0">
                <a:solidFill>
                  <a:schemeClr val="bg1"/>
                </a:solidFill>
                <a:latin typeface="Candara" panose="020E0502030303020204" pitchFamily="34" charset="0"/>
              </a:rPr>
              <a:t>POTENTIAL AVAILABILITY OF SUPPOR SERVICE- </a:t>
            </a:r>
            <a:r>
              <a:rPr lang="en-US" sz="2400" dirty="0" smtClean="0">
                <a:solidFill>
                  <a:schemeClr val="bg1"/>
                </a:solidFill>
                <a:latin typeface="Candara" panose="020E0502030303020204" pitchFamily="34" charset="0"/>
              </a:rPr>
              <a:t>users have access to market, 	credit facilities, material inputs and others.</a:t>
            </a:r>
          </a:p>
          <a:p>
            <a:pPr marL="0" indent="0">
              <a:buNone/>
            </a:pPr>
            <a:endParaRPr lang="en-US" sz="2400" dirty="0" smtClean="0">
              <a:solidFill>
                <a:schemeClr val="bg1"/>
              </a:solidFill>
              <a:latin typeface="Candara" panose="020E0502030303020204" pitchFamily="34" charset="0"/>
            </a:endParaRPr>
          </a:p>
          <a:p>
            <a:pPr marL="0" indent="0">
              <a:buNone/>
            </a:pPr>
            <a:endParaRPr lang="en-US" sz="2400" dirty="0">
              <a:solidFill>
                <a:schemeClr val="bg1"/>
              </a:solidFill>
              <a:latin typeface="Candara" panose="020E0502030303020204" pitchFamily="34" charset="0"/>
            </a:endParaRPr>
          </a:p>
        </p:txBody>
      </p:sp>
      <p:sp>
        <p:nvSpPr>
          <p:cNvPr id="6" name="Rectangle 2"/>
          <p:cNvSpPr txBox="1">
            <a:spLocks noChangeArrowheads="1"/>
          </p:cNvSpPr>
          <p:nvPr/>
        </p:nvSpPr>
        <p:spPr>
          <a:xfrm>
            <a:off x="607475" y="3002735"/>
            <a:ext cx="9404723" cy="796533"/>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39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5282046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404141" y="218543"/>
            <a:ext cx="9404723" cy="552870"/>
          </a:xfrm>
        </p:spPr>
        <p:txBody>
          <a:bodyPr/>
          <a:lstStyle/>
          <a:p>
            <a:pPr eaLnBrk="1" hangingPunct="1"/>
            <a:r>
              <a:rPr lang="en-US" sz="3200" b="1" dirty="0" smtClean="0">
                <a:solidFill>
                  <a:schemeClr val="bg1"/>
                </a:solidFill>
                <a:latin typeface="Candara" panose="020E0502030303020204" pitchFamily="34" charset="0"/>
              </a:rPr>
              <a:t>E. Information for Dissemination (ID)</a:t>
            </a:r>
            <a:endParaRPr lang="en-US" sz="3200" b="1" dirty="0">
              <a:solidFill>
                <a:schemeClr val="bg1"/>
              </a:solidFill>
              <a:latin typeface="Candara" panose="020E0502030303020204" pitchFamily="34" charset="0"/>
            </a:endParaRPr>
          </a:p>
        </p:txBody>
      </p:sp>
      <p:sp>
        <p:nvSpPr>
          <p:cNvPr id="284675" name="Rectangle 3"/>
          <p:cNvSpPr>
            <a:spLocks noGrp="1" noChangeArrowheads="1"/>
          </p:cNvSpPr>
          <p:nvPr>
            <p:ph idx="1"/>
          </p:nvPr>
        </p:nvSpPr>
        <p:spPr>
          <a:xfrm>
            <a:off x="1338842" y="771413"/>
            <a:ext cx="8946541" cy="1656197"/>
          </a:xfrm>
        </p:spPr>
        <p:txBody>
          <a:bodyPr>
            <a:normAutofit/>
          </a:bodyPr>
          <a:lstStyle/>
          <a:p>
            <a:pPr marL="0" indent="0">
              <a:buNone/>
            </a:pPr>
            <a:r>
              <a:rPr lang="en-US" sz="2800" dirty="0" smtClean="0">
                <a:solidFill>
                  <a:schemeClr val="bg1"/>
                </a:solidFill>
                <a:latin typeface="Candara" panose="020E0502030303020204" pitchFamily="34" charset="0"/>
              </a:rPr>
              <a:t>R &amp; D centers also generate information not technologies. Information that are output of research are important to agricultural and rural development.</a:t>
            </a:r>
            <a:endParaRPr lang="en-US" sz="2800" dirty="0">
              <a:solidFill>
                <a:schemeClr val="bg1"/>
              </a:solidFill>
              <a:latin typeface="Candara" panose="020E0502030303020204" pitchFamily="34" charset="0"/>
            </a:endParaRPr>
          </a:p>
        </p:txBody>
      </p:sp>
      <p:sp>
        <p:nvSpPr>
          <p:cNvPr id="6" name="Rectangle 2"/>
          <p:cNvSpPr txBox="1">
            <a:spLocks noChangeArrowheads="1"/>
          </p:cNvSpPr>
          <p:nvPr/>
        </p:nvSpPr>
        <p:spPr>
          <a:xfrm>
            <a:off x="607475" y="2964098"/>
            <a:ext cx="9404723" cy="796533"/>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800" dirty="0">
              <a:solidFill>
                <a:schemeClr val="bg1"/>
              </a:solidFill>
              <a:latin typeface="Candara" panose="020E0502030303020204" pitchFamily="34" charset="0"/>
            </a:endParaRPr>
          </a:p>
        </p:txBody>
      </p:sp>
      <p:sp>
        <p:nvSpPr>
          <p:cNvPr id="8" name="Rectangle 2"/>
          <p:cNvSpPr txBox="1">
            <a:spLocks noChangeArrowheads="1"/>
          </p:cNvSpPr>
          <p:nvPr/>
        </p:nvSpPr>
        <p:spPr>
          <a:xfrm>
            <a:off x="404141" y="2373713"/>
            <a:ext cx="9404723" cy="912443"/>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smtClean="0">
                <a:solidFill>
                  <a:schemeClr val="bg1"/>
                </a:solidFill>
                <a:latin typeface="Candara" panose="020E0502030303020204" pitchFamily="34" charset="0"/>
              </a:rPr>
              <a:t>F. Technology Commercialization (TC)</a:t>
            </a:r>
            <a:endParaRPr lang="en-US" sz="3200" b="1" dirty="0">
              <a:solidFill>
                <a:schemeClr val="bg1"/>
              </a:solidFill>
              <a:latin typeface="Candara" panose="020E0502030303020204" pitchFamily="34" charset="0"/>
            </a:endParaRPr>
          </a:p>
        </p:txBody>
      </p:sp>
      <p:sp>
        <p:nvSpPr>
          <p:cNvPr id="9" name="Rectangle 3"/>
          <p:cNvSpPr txBox="1">
            <a:spLocks noChangeArrowheads="1"/>
          </p:cNvSpPr>
          <p:nvPr/>
        </p:nvSpPr>
        <p:spPr>
          <a:xfrm>
            <a:off x="607475" y="2964098"/>
            <a:ext cx="8946541" cy="277666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lvl="1"/>
            <a:r>
              <a:rPr lang="en-US" sz="2800" dirty="0" smtClean="0">
                <a:solidFill>
                  <a:schemeClr val="bg1"/>
                </a:solidFill>
                <a:latin typeface="Candara" panose="020E0502030303020204" pitchFamily="34" charset="0"/>
              </a:rPr>
              <a:t>These could provide the best alternative for improving income and productivity of a greater majority of people.</a:t>
            </a:r>
          </a:p>
          <a:p>
            <a:pPr lvl="1"/>
            <a:r>
              <a:rPr lang="en-US" sz="2800" dirty="0" smtClean="0">
                <a:solidFill>
                  <a:schemeClr val="bg1"/>
                </a:solidFill>
                <a:latin typeface="Candara" panose="020E0502030303020204" pitchFamily="34" charset="0"/>
              </a:rPr>
              <a:t>These could provide immediate solutions to self-sufficiency problems, environmental sustainability, import substitution, export generation and promotion of alternative sources of food</a:t>
            </a:r>
            <a:endParaRPr lang="en-US"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41621431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052" y="1251208"/>
            <a:ext cx="9404723" cy="732138"/>
          </a:xfrm>
        </p:spPr>
        <p:txBody>
          <a:bodyPr/>
          <a:lstStyle/>
          <a:p>
            <a:pPr algn="ctr"/>
            <a:r>
              <a:rPr lang="en-PH" sz="6600" dirty="0" smtClean="0">
                <a:solidFill>
                  <a:schemeClr val="bg1"/>
                </a:solidFill>
                <a:latin typeface="Tahoma" panose="020B0604030504040204" pitchFamily="34" charset="0"/>
                <a:ea typeface="Tahoma" panose="020B0604030504040204" pitchFamily="34" charset="0"/>
                <a:cs typeface="Tahoma" panose="020B0604030504040204" pitchFamily="34" charset="0"/>
              </a:rPr>
              <a:t>EXTENSION TEACHING METHODS</a:t>
            </a:r>
            <a:endParaRPr lang="en-PH" sz="6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1930759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19259"/>
          </a:xfrm>
        </p:spPr>
        <p:txBody>
          <a:bodyPr/>
          <a:lstStyle/>
          <a:p>
            <a:pPr algn="ctr"/>
            <a:r>
              <a:rPr lang="en-PH" dirty="0" smtClean="0">
                <a:solidFill>
                  <a:schemeClr val="bg1"/>
                </a:solidFill>
                <a:latin typeface="Berlin Sans FB" panose="020E0602020502020306" pitchFamily="34" charset="0"/>
              </a:rPr>
              <a:t>Extension Teaching Methods</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875201" y="1357459"/>
            <a:ext cx="10896089" cy="4195481"/>
          </a:xfrm>
        </p:spPr>
        <p:txBody>
          <a:bodyPr>
            <a:noAutofit/>
          </a:bodyPr>
          <a:lstStyle/>
          <a:p>
            <a:pPr marL="0" indent="0">
              <a:buNone/>
            </a:pPr>
            <a:r>
              <a:rPr lang="en-PH" sz="2800" b="1" dirty="0" smtClean="0">
                <a:solidFill>
                  <a:schemeClr val="bg1"/>
                </a:solidFill>
                <a:latin typeface="Candara" panose="020E0502030303020204" pitchFamily="34" charset="0"/>
              </a:rPr>
              <a:t>Teaching</a:t>
            </a:r>
            <a:r>
              <a:rPr lang="en-PH" sz="2800" dirty="0" smtClean="0">
                <a:solidFill>
                  <a:schemeClr val="bg1"/>
                </a:solidFill>
                <a:latin typeface="Candara" panose="020E0502030303020204" pitchFamily="34" charset="0"/>
              </a:rPr>
              <a:t> -used to facilitate instruction. It is the process of transmitting 	ideas, information, technologies from one person to another with 	the intent of enhancing/ modifying the learner’s knowledge, 	attitudes and skills.</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Methods</a:t>
            </a:r>
            <a:r>
              <a:rPr lang="en-PH" sz="2800" dirty="0" smtClean="0">
                <a:solidFill>
                  <a:schemeClr val="bg1"/>
                </a:solidFill>
                <a:latin typeface="Candara" panose="020E0502030303020204" pitchFamily="34" charset="0"/>
              </a:rPr>
              <a:t>- systematic procedure employed by extension workers in 	getting the vital information across the client-learners.</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Technique</a:t>
            </a:r>
            <a:r>
              <a:rPr lang="en-PH" sz="2800" dirty="0" smtClean="0">
                <a:solidFill>
                  <a:schemeClr val="bg1"/>
                </a:solidFill>
                <a:latin typeface="Candara" panose="020E0502030303020204" pitchFamily="34" charset="0"/>
              </a:rPr>
              <a:t>- art or skills of performance.</a:t>
            </a: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Device</a:t>
            </a:r>
            <a:r>
              <a:rPr lang="en-PH" sz="2800" dirty="0" smtClean="0">
                <a:solidFill>
                  <a:schemeClr val="bg1"/>
                </a:solidFill>
                <a:latin typeface="Candara" panose="020E0502030303020204" pitchFamily="34" charset="0"/>
              </a:rPr>
              <a:t>- a tool or aid used to facilitate instruction.</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197498436"/>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67744"/>
          </a:xfrm>
        </p:spPr>
        <p:txBody>
          <a:bodyPr/>
          <a:lstStyle/>
          <a:p>
            <a:pPr algn="ctr"/>
            <a:r>
              <a:rPr lang="en-PH" sz="3600" dirty="0" smtClean="0">
                <a:solidFill>
                  <a:schemeClr val="bg1"/>
                </a:solidFill>
                <a:latin typeface="Berlin Sans FB" panose="020E0602020502020306" pitchFamily="34" charset="0"/>
              </a:rPr>
              <a:t>Classification of the Extension Teaching Methods</a:t>
            </a:r>
            <a:endParaRPr lang="en-PH" sz="3600"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875201" y="1254428"/>
            <a:ext cx="10380934" cy="4195481"/>
          </a:xfrm>
        </p:spPr>
        <p:txBody>
          <a:bodyPr>
            <a:normAutofit/>
          </a:bodyPr>
          <a:lstStyle/>
          <a:p>
            <a:pPr marL="0" indent="0">
              <a:buNone/>
            </a:pPr>
            <a:r>
              <a:rPr lang="en-PH" sz="2400" dirty="0" smtClean="0">
                <a:solidFill>
                  <a:schemeClr val="bg1"/>
                </a:solidFill>
                <a:latin typeface="Candara" panose="020E0502030303020204" pitchFamily="34" charset="0"/>
              </a:rPr>
              <a:t>Extension teaching methods may be broadly categorized into three,</a:t>
            </a:r>
          </a:p>
          <a:p>
            <a:pPr marL="457200" indent="-457200">
              <a:buAutoNum type="arabicPeriod"/>
            </a:pPr>
            <a:r>
              <a:rPr lang="en-PH" sz="2400" dirty="0" smtClean="0">
                <a:solidFill>
                  <a:schemeClr val="bg1"/>
                </a:solidFill>
                <a:latin typeface="Candara" panose="020E0502030303020204" pitchFamily="34" charset="0"/>
              </a:rPr>
              <a:t>Individual contacts</a:t>
            </a:r>
          </a:p>
          <a:p>
            <a:pPr marL="457200" indent="-457200">
              <a:buAutoNum type="arabicPeriod"/>
            </a:pPr>
            <a:r>
              <a:rPr lang="en-PH" sz="2400" dirty="0" smtClean="0">
                <a:solidFill>
                  <a:schemeClr val="bg1"/>
                </a:solidFill>
                <a:latin typeface="Candara" panose="020E0502030303020204" pitchFamily="34" charset="0"/>
              </a:rPr>
              <a:t>Group Contacts</a:t>
            </a:r>
          </a:p>
          <a:p>
            <a:pPr marL="457200" indent="-457200">
              <a:buAutoNum type="arabicPeriod"/>
            </a:pPr>
            <a:r>
              <a:rPr lang="en-PH" sz="2400" dirty="0" smtClean="0">
                <a:solidFill>
                  <a:schemeClr val="bg1"/>
                </a:solidFill>
                <a:latin typeface="Candara" panose="020E0502030303020204" pitchFamily="34" charset="0"/>
              </a:rPr>
              <a:t>Mass media</a:t>
            </a:r>
          </a:p>
          <a:p>
            <a:pPr marL="457200" indent="-457200">
              <a:buAutoNum type="arabicPeriod"/>
            </a:pPr>
            <a:endParaRPr lang="en-PH" sz="2400" dirty="0">
              <a:solidFill>
                <a:schemeClr val="bg1"/>
              </a:solidFill>
              <a:latin typeface="Candara" panose="020E0502030303020204" pitchFamily="34" charset="0"/>
            </a:endParaRPr>
          </a:p>
          <a:p>
            <a:pPr marL="0" indent="0">
              <a:buNone/>
            </a:pPr>
            <a:r>
              <a:rPr lang="en-PH" sz="2400" dirty="0" smtClean="0">
                <a:solidFill>
                  <a:schemeClr val="bg1"/>
                </a:solidFill>
                <a:latin typeface="Candara" panose="020E0502030303020204" pitchFamily="34" charset="0"/>
              </a:rPr>
              <a:t>Of the three groups of extension teaching methods, </a:t>
            </a:r>
            <a:r>
              <a:rPr lang="en-PH" sz="2400" b="1" dirty="0" smtClean="0">
                <a:solidFill>
                  <a:schemeClr val="bg1"/>
                </a:solidFill>
                <a:latin typeface="Candara" panose="020E0502030303020204" pitchFamily="34" charset="0"/>
              </a:rPr>
              <a:t>the individual contacts, </a:t>
            </a:r>
            <a:r>
              <a:rPr lang="en-PH" sz="2400" dirty="0" smtClean="0">
                <a:solidFill>
                  <a:schemeClr val="bg1"/>
                </a:solidFill>
                <a:latin typeface="Candara" panose="020E0502030303020204" pitchFamily="34" charset="0"/>
              </a:rPr>
              <a:t>although the most expensive are the most intensive and are best used when moving the clientele from evaluation/trial stage to adoption stage.</a:t>
            </a:r>
            <a:endParaRPr lang="en-PH" sz="24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780038765"/>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511" y="349687"/>
            <a:ext cx="9404723" cy="1400530"/>
          </a:xfrm>
        </p:spPr>
        <p:txBody>
          <a:bodyPr/>
          <a:lstStyle/>
          <a:p>
            <a:r>
              <a:rPr lang="en-PH" dirty="0" smtClean="0">
                <a:solidFill>
                  <a:schemeClr val="bg1"/>
                </a:solidFill>
                <a:latin typeface="Berlin Sans FB" panose="020E0602020502020306" pitchFamily="34" charset="0"/>
              </a:rPr>
              <a:t>Individual method</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1418843" y="1750217"/>
            <a:ext cx="8946541" cy="4195481"/>
          </a:xfrm>
        </p:spPr>
        <p:txBody>
          <a:bodyPr>
            <a:normAutofit/>
          </a:bodyPr>
          <a:lstStyle/>
          <a:p>
            <a:pPr marL="457200" indent="-457200">
              <a:buAutoNum type="arabicPeriod"/>
            </a:pPr>
            <a:r>
              <a:rPr lang="en-PH" sz="3200" dirty="0" smtClean="0">
                <a:solidFill>
                  <a:schemeClr val="bg1"/>
                </a:solidFill>
                <a:latin typeface="Candara" panose="020E0502030303020204" pitchFamily="34" charset="0"/>
              </a:rPr>
              <a:t>Farm &amp; Home Visit</a:t>
            </a:r>
          </a:p>
          <a:p>
            <a:pPr marL="457200" indent="-457200">
              <a:buAutoNum type="arabicPeriod"/>
            </a:pPr>
            <a:r>
              <a:rPr lang="en-PH" sz="3200" dirty="0" smtClean="0">
                <a:solidFill>
                  <a:schemeClr val="bg1"/>
                </a:solidFill>
                <a:latin typeface="Candara" panose="020E0502030303020204" pitchFamily="34" charset="0"/>
              </a:rPr>
              <a:t>Office Call</a:t>
            </a:r>
          </a:p>
          <a:p>
            <a:pPr marL="457200" indent="-457200">
              <a:buAutoNum type="arabicPeriod"/>
            </a:pPr>
            <a:r>
              <a:rPr lang="en-PH" sz="3200" dirty="0" smtClean="0">
                <a:solidFill>
                  <a:schemeClr val="bg1"/>
                </a:solidFill>
                <a:latin typeface="Candara" panose="020E0502030303020204" pitchFamily="34" charset="0"/>
              </a:rPr>
              <a:t>Telephone/ Cell phone Call/ </a:t>
            </a:r>
            <a:r>
              <a:rPr lang="en-PH" sz="3200" dirty="0" err="1" smtClean="0">
                <a:solidFill>
                  <a:schemeClr val="bg1"/>
                </a:solidFill>
                <a:latin typeface="Candara" panose="020E0502030303020204" pitchFamily="34" charset="0"/>
              </a:rPr>
              <a:t>Messageing</a:t>
            </a:r>
            <a:endParaRPr lang="en-PH" sz="3200" dirty="0" smtClean="0">
              <a:solidFill>
                <a:schemeClr val="bg1"/>
              </a:solidFill>
              <a:latin typeface="Candara" panose="020E0502030303020204" pitchFamily="34" charset="0"/>
            </a:endParaRPr>
          </a:p>
          <a:p>
            <a:pPr marL="457200" indent="-457200">
              <a:buAutoNum type="arabicPeriod"/>
            </a:pPr>
            <a:r>
              <a:rPr lang="en-PH" sz="3200" dirty="0" smtClean="0">
                <a:solidFill>
                  <a:schemeClr val="bg1"/>
                </a:solidFill>
                <a:latin typeface="Candara" panose="020E0502030303020204" pitchFamily="34" charset="0"/>
              </a:rPr>
              <a:t>Letters</a:t>
            </a:r>
          </a:p>
          <a:p>
            <a:pPr marL="457200" indent="-457200">
              <a:buAutoNum type="arabicPeriod"/>
            </a:pPr>
            <a:r>
              <a:rPr lang="en-PH" sz="3200" dirty="0" smtClean="0">
                <a:solidFill>
                  <a:schemeClr val="bg1"/>
                </a:solidFill>
                <a:latin typeface="Candara" panose="020E0502030303020204" pitchFamily="34" charset="0"/>
              </a:rPr>
              <a:t>Result Demonstration</a:t>
            </a:r>
          </a:p>
          <a:p>
            <a:pPr marL="457200" indent="-457200">
              <a:buAutoNum type="arabicPeriod"/>
            </a:pPr>
            <a:endParaRPr lang="en-PH" sz="3200" dirty="0" smtClean="0">
              <a:solidFill>
                <a:schemeClr val="bg1"/>
              </a:solidFill>
              <a:latin typeface="Candara" panose="020E0502030303020204" pitchFamily="34" charset="0"/>
            </a:endParaRPr>
          </a:p>
          <a:p>
            <a:pPr marL="457200" indent="-457200">
              <a:buAutoNum type="arabicPeriod"/>
            </a:pP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165867623"/>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9404723" cy="1400530"/>
          </a:xfrm>
        </p:spPr>
        <p:txBody>
          <a:bodyPr/>
          <a:lstStyle/>
          <a:p>
            <a:pPr algn="ctr"/>
            <a:r>
              <a:rPr lang="en-PH" sz="2800" i="1" dirty="0" smtClean="0">
                <a:solidFill>
                  <a:schemeClr val="bg1"/>
                </a:solidFill>
                <a:latin typeface="Candara" panose="020E0502030303020204" pitchFamily="34" charset="0"/>
              </a:rPr>
              <a:t>Individual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FARM &amp; HOME VISIT</a:t>
            </a:r>
            <a:endParaRPr lang="en-PH" sz="44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70802" y="1576157"/>
            <a:ext cx="10603780" cy="5087879"/>
          </a:xfrm>
        </p:spPr>
        <p:txBody>
          <a:bodyPr>
            <a:normAutofit/>
          </a:bodyPr>
          <a:lstStyle/>
          <a:p>
            <a:r>
              <a:rPr lang="en-PH" sz="2800" dirty="0" smtClean="0">
                <a:solidFill>
                  <a:schemeClr val="bg1"/>
                </a:solidFill>
                <a:latin typeface="Candara" panose="020E0502030303020204" pitchFamily="34" charset="0"/>
              </a:rPr>
              <a:t>First hand information.</a:t>
            </a:r>
          </a:p>
          <a:p>
            <a:r>
              <a:rPr lang="en-PH" sz="2800" dirty="0" smtClean="0">
                <a:solidFill>
                  <a:schemeClr val="bg1"/>
                </a:solidFill>
                <a:latin typeface="Candara" panose="020E0502030303020204" pitchFamily="34" charset="0"/>
              </a:rPr>
              <a:t>Provides opportunity to the extension worker to actually see the farmer’s problem.</a:t>
            </a:r>
          </a:p>
          <a:p>
            <a:r>
              <a:rPr lang="en-PH" sz="2800" dirty="0" smtClean="0">
                <a:solidFill>
                  <a:schemeClr val="bg1"/>
                </a:solidFill>
                <a:latin typeface="Candara" panose="020E0502030303020204" pitchFamily="34" charset="0"/>
              </a:rPr>
              <a:t>It involves interpersonal interaction between the extension worker and clientele either in the farm or home of the client.</a:t>
            </a:r>
          </a:p>
          <a:p>
            <a:pPr marL="0" indent="0">
              <a:buNone/>
            </a:pPr>
            <a:r>
              <a:rPr lang="en-PH" sz="2800" i="1" dirty="0" smtClean="0">
                <a:solidFill>
                  <a:schemeClr val="bg1"/>
                </a:solidFill>
                <a:latin typeface="Candara" panose="020E0502030303020204" pitchFamily="34" charset="0"/>
              </a:rPr>
              <a:t>Characteristics:</a:t>
            </a:r>
          </a:p>
          <a:p>
            <a:r>
              <a:rPr lang="en-PH" sz="2800" dirty="0" smtClean="0">
                <a:solidFill>
                  <a:schemeClr val="bg1"/>
                </a:solidFill>
                <a:latin typeface="Candara" panose="020E0502030303020204" pitchFamily="34" charset="0"/>
              </a:rPr>
              <a:t>The </a:t>
            </a:r>
            <a:r>
              <a:rPr lang="en-PH" sz="2800" dirty="0" err="1" smtClean="0">
                <a:solidFill>
                  <a:schemeClr val="bg1"/>
                </a:solidFill>
                <a:latin typeface="Candara" panose="020E0502030303020204" pitchFamily="34" charset="0"/>
              </a:rPr>
              <a:t>extensionist</a:t>
            </a:r>
            <a:r>
              <a:rPr lang="en-PH" sz="2800" dirty="0" smtClean="0">
                <a:solidFill>
                  <a:schemeClr val="bg1"/>
                </a:solidFill>
                <a:latin typeface="Candara" panose="020E0502030303020204" pitchFamily="34" charset="0"/>
              </a:rPr>
              <a:t> is the who goes to the home of the farmer.</a:t>
            </a:r>
          </a:p>
          <a:p>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41520481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9404723" cy="1400530"/>
          </a:xfrm>
        </p:spPr>
        <p:txBody>
          <a:bodyPr/>
          <a:lstStyle/>
          <a:p>
            <a:pPr algn="ctr"/>
            <a:r>
              <a:rPr lang="en-PH" sz="2800" i="1" dirty="0" smtClean="0">
                <a:solidFill>
                  <a:schemeClr val="bg1"/>
                </a:solidFill>
                <a:latin typeface="Candara" panose="020E0502030303020204" pitchFamily="34" charset="0"/>
              </a:rPr>
              <a:t>Individual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OFFICE CALL</a:t>
            </a:r>
            <a:endParaRPr lang="en-PH" sz="6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70802" y="1576157"/>
            <a:ext cx="10603780" cy="5087879"/>
          </a:xfrm>
        </p:spPr>
        <p:txBody>
          <a:bodyPr>
            <a:normAutofit/>
          </a:bodyPr>
          <a:lstStyle/>
          <a:p>
            <a:r>
              <a:rPr lang="en-PH" sz="2800" dirty="0" smtClean="0">
                <a:solidFill>
                  <a:schemeClr val="bg1"/>
                </a:solidFill>
                <a:latin typeface="Candara" panose="020E0502030303020204" pitchFamily="34" charset="0"/>
              </a:rPr>
              <a:t>The client is the one who seeks the knowledge and advise of the extension worker by personal appearance in the office.</a:t>
            </a:r>
          </a:p>
          <a:p>
            <a:pPr marL="0" indent="0">
              <a:buNone/>
            </a:pPr>
            <a:r>
              <a:rPr lang="en-PH" sz="2800" i="1" dirty="0" smtClean="0">
                <a:solidFill>
                  <a:schemeClr val="bg1"/>
                </a:solidFill>
                <a:latin typeface="Candara" panose="020E0502030303020204" pitchFamily="34" charset="0"/>
              </a:rPr>
              <a:t>Characteristics;</a:t>
            </a:r>
          </a:p>
          <a:p>
            <a:r>
              <a:rPr lang="en-PH" sz="2800" dirty="0" smtClean="0">
                <a:solidFill>
                  <a:schemeClr val="bg1"/>
                </a:solidFill>
                <a:latin typeface="Candara" panose="020E0502030303020204" pitchFamily="34" charset="0"/>
              </a:rPr>
              <a:t>The number of farmers/ clientele-office callers can be taken as an indication of the TRUST and CONFIDENCE accorded to the </a:t>
            </a:r>
            <a:r>
              <a:rPr lang="en-PH" sz="2800" dirty="0" err="1" smtClean="0">
                <a:solidFill>
                  <a:schemeClr val="bg1"/>
                </a:solidFill>
                <a:latin typeface="Candara" panose="020E0502030303020204" pitchFamily="34" charset="0"/>
              </a:rPr>
              <a:t>extensionist</a:t>
            </a:r>
            <a:r>
              <a:rPr lang="en-PH" sz="2800" dirty="0" smtClean="0">
                <a:solidFill>
                  <a:schemeClr val="bg1"/>
                </a:solidFill>
                <a:latin typeface="Candara" panose="020E0502030303020204" pitchFamily="34" charset="0"/>
              </a:rPr>
              <a:t>.</a:t>
            </a:r>
          </a:p>
          <a:p>
            <a:r>
              <a:rPr lang="en-PH" sz="2800" dirty="0" smtClean="0">
                <a:solidFill>
                  <a:schemeClr val="bg1"/>
                </a:solidFill>
                <a:latin typeface="Candara" panose="020E0502030303020204" pitchFamily="34" charset="0"/>
              </a:rPr>
              <a:t>Office must be strategically located for convenience.</a:t>
            </a:r>
          </a:p>
          <a:p>
            <a:pPr marL="0" indent="0">
              <a:buNone/>
            </a:pPr>
            <a:endParaRPr lang="en-PH" sz="2800" dirty="0" smtClean="0">
              <a:solidFill>
                <a:schemeClr val="bg1"/>
              </a:solidFill>
              <a:latin typeface="Candara" panose="020E0502030303020204" pitchFamily="34" charset="0"/>
            </a:endParaRPr>
          </a:p>
          <a:p>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61547455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Individual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TELEPHONE/CELL PHONE CALL/TEXTING</a:t>
            </a:r>
            <a:endParaRPr lang="en-PH" sz="6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70802" y="1576157"/>
            <a:ext cx="10603780" cy="5087879"/>
          </a:xfrm>
        </p:spPr>
        <p:txBody>
          <a:bodyPr>
            <a:normAutofit/>
          </a:bodyPr>
          <a:lstStyle/>
          <a:p>
            <a:r>
              <a:rPr lang="en-PH" sz="2800" dirty="0" smtClean="0">
                <a:solidFill>
                  <a:schemeClr val="bg1"/>
                </a:solidFill>
                <a:latin typeface="Candara" panose="020E0502030303020204" pitchFamily="34" charset="0"/>
              </a:rPr>
              <a:t>The reverse of office call/ farm visit.</a:t>
            </a:r>
          </a:p>
          <a:p>
            <a:pPr marL="0" indent="0">
              <a:buNone/>
            </a:pPr>
            <a:r>
              <a:rPr lang="en-PH" sz="2800" i="1" u="sng" dirty="0" smtClean="0">
                <a:solidFill>
                  <a:schemeClr val="bg1"/>
                </a:solidFill>
                <a:latin typeface="Candara" panose="020E0502030303020204" pitchFamily="34" charset="0"/>
              </a:rPr>
              <a:t>Reminder:</a:t>
            </a:r>
          </a:p>
          <a:p>
            <a:r>
              <a:rPr lang="en-PH" sz="2800" dirty="0" smtClean="0">
                <a:solidFill>
                  <a:schemeClr val="bg1"/>
                </a:solidFill>
                <a:latin typeface="Candara" panose="020E0502030303020204" pitchFamily="34" charset="0"/>
              </a:rPr>
              <a:t>Be courteous and tactful.</a:t>
            </a:r>
          </a:p>
          <a:p>
            <a:r>
              <a:rPr lang="en-PH" sz="2800" dirty="0" smtClean="0">
                <a:solidFill>
                  <a:schemeClr val="bg1"/>
                </a:solidFill>
                <a:latin typeface="Candara" panose="020E0502030303020204" pitchFamily="34" charset="0"/>
              </a:rPr>
              <a:t>Record and follow-up calls.</a:t>
            </a:r>
          </a:p>
          <a:p>
            <a:pPr marL="0" indent="0">
              <a:buNone/>
            </a:pPr>
            <a:r>
              <a:rPr lang="en-PH" sz="2800" i="1" u="sng" dirty="0" smtClean="0">
                <a:solidFill>
                  <a:schemeClr val="bg1"/>
                </a:solidFill>
                <a:latin typeface="Candara" panose="020E0502030303020204" pitchFamily="34" charset="0"/>
              </a:rPr>
              <a:t>Weak point:</a:t>
            </a:r>
          </a:p>
          <a:p>
            <a:r>
              <a:rPr lang="en-PH" sz="2800" dirty="0">
                <a:solidFill>
                  <a:schemeClr val="bg1"/>
                </a:solidFill>
                <a:latin typeface="Candara" panose="020E0502030303020204" pitchFamily="34" charset="0"/>
              </a:rPr>
              <a:t>l</a:t>
            </a:r>
            <a:r>
              <a:rPr lang="en-PH" sz="2800" dirty="0" smtClean="0">
                <a:solidFill>
                  <a:schemeClr val="bg1"/>
                </a:solidFill>
                <a:latin typeface="Candara" panose="020E0502030303020204" pitchFamily="34" charset="0"/>
              </a:rPr>
              <a:t>ow signal.</a:t>
            </a:r>
          </a:p>
          <a:p>
            <a:r>
              <a:rPr lang="en-PH" sz="2800" dirty="0" smtClean="0">
                <a:solidFill>
                  <a:schemeClr val="bg1"/>
                </a:solidFill>
                <a:latin typeface="Candara" panose="020E0502030303020204" pitchFamily="34" charset="0"/>
              </a:rPr>
              <a:t>Lack face to face contacts.</a:t>
            </a:r>
          </a:p>
          <a:p>
            <a:r>
              <a:rPr lang="en-PH" sz="2800" dirty="0" smtClean="0">
                <a:solidFill>
                  <a:schemeClr val="bg1"/>
                </a:solidFill>
                <a:latin typeface="Candara" panose="020E0502030303020204" pitchFamily="34" charset="0"/>
              </a:rPr>
              <a:t>EW does not have ocular view of the current problem of his client.</a:t>
            </a:r>
          </a:p>
          <a:p>
            <a:endParaRPr lang="en-PH" sz="2800" dirty="0" smtClean="0">
              <a:solidFill>
                <a:schemeClr val="bg1"/>
              </a:solidFill>
              <a:latin typeface="Candara" panose="020E0502030303020204" pitchFamily="34" charset="0"/>
            </a:endParaRPr>
          </a:p>
          <a:p>
            <a:endParaRPr lang="en-PH" sz="2800" i="1"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08864295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Individual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LETTERS</a:t>
            </a:r>
            <a:endParaRPr lang="en-PH" sz="6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70802" y="1576157"/>
            <a:ext cx="10603780" cy="5087879"/>
          </a:xfrm>
        </p:spPr>
        <p:txBody>
          <a:bodyPr>
            <a:normAutofit/>
          </a:bodyPr>
          <a:lstStyle/>
          <a:p>
            <a:pPr marL="0" indent="0">
              <a:buNone/>
            </a:pPr>
            <a:r>
              <a:rPr lang="en-PH" sz="2800" dirty="0" smtClean="0">
                <a:solidFill>
                  <a:schemeClr val="bg1"/>
                </a:solidFill>
                <a:latin typeface="Candara" panose="020E0502030303020204" pitchFamily="34" charset="0"/>
              </a:rPr>
              <a:t>EW can also make use of business letters in transmitting information. Business letter is a written message used to transact official business.</a:t>
            </a:r>
          </a:p>
          <a:p>
            <a:pPr marL="0" indent="0">
              <a:buNone/>
            </a:pPr>
            <a:r>
              <a:rPr lang="en-PH" sz="2800" i="1" u="sng" dirty="0" smtClean="0">
                <a:solidFill>
                  <a:schemeClr val="bg1"/>
                </a:solidFill>
                <a:latin typeface="Candara" panose="020E0502030303020204" pitchFamily="34" charset="0"/>
              </a:rPr>
              <a:t>Characteristics of a well written BL</a:t>
            </a:r>
          </a:p>
          <a:p>
            <a:r>
              <a:rPr lang="en-PH" sz="2800" dirty="0" smtClean="0">
                <a:solidFill>
                  <a:schemeClr val="bg1"/>
                </a:solidFill>
                <a:latin typeface="Candara" panose="020E0502030303020204" pitchFamily="34" charset="0"/>
              </a:rPr>
              <a:t>Accurate, clear, concise, neat, promptly written, Attractive</a:t>
            </a:r>
          </a:p>
          <a:p>
            <a:r>
              <a:rPr lang="en-PH" sz="2800" dirty="0" smtClean="0">
                <a:solidFill>
                  <a:schemeClr val="bg1"/>
                </a:solidFill>
                <a:latin typeface="Candara" panose="020E0502030303020204" pitchFamily="34" charset="0"/>
              </a:rPr>
              <a:t>Always keep in mind the important part in a BL</a:t>
            </a:r>
          </a:p>
          <a:p>
            <a:r>
              <a:rPr lang="en-PH" sz="2800" dirty="0" smtClean="0">
                <a:solidFill>
                  <a:schemeClr val="bg1"/>
                </a:solidFill>
                <a:latin typeface="Candara" panose="020E0502030303020204" pitchFamily="34" charset="0"/>
              </a:rPr>
              <a:t>Avoid erasures especially in the spelling of names.</a:t>
            </a:r>
          </a:p>
          <a:p>
            <a:pPr marL="0" indent="0">
              <a:buNone/>
            </a:pPr>
            <a:r>
              <a:rPr lang="en-PH" sz="2800" i="1" u="sng" dirty="0" smtClean="0">
                <a:solidFill>
                  <a:schemeClr val="bg1"/>
                </a:solidFill>
                <a:latin typeface="Candara" panose="020E0502030303020204" pitchFamily="34" charset="0"/>
              </a:rPr>
              <a:t>Weak point:</a:t>
            </a:r>
          </a:p>
          <a:p>
            <a:r>
              <a:rPr lang="en-PH" sz="2800" dirty="0" smtClean="0">
                <a:solidFill>
                  <a:schemeClr val="bg1"/>
                </a:solidFill>
                <a:latin typeface="Candara" panose="020E0502030303020204" pitchFamily="34" charset="0"/>
              </a:rPr>
              <a:t>Not applicable all the time. </a:t>
            </a:r>
            <a:r>
              <a:rPr lang="en-PH" sz="2800" dirty="0">
                <a:solidFill>
                  <a:schemeClr val="bg1"/>
                </a:solidFill>
                <a:latin typeface="Candara" panose="020E0502030303020204" pitchFamily="34" charset="0"/>
              </a:rPr>
              <a:t>N</a:t>
            </a:r>
            <a:r>
              <a:rPr lang="en-PH" sz="2800" dirty="0" smtClean="0">
                <a:solidFill>
                  <a:schemeClr val="bg1"/>
                </a:solidFill>
                <a:latin typeface="Candara" panose="020E0502030303020204" pitchFamily="34" charset="0"/>
              </a:rPr>
              <a:t>ot everybody can read.</a:t>
            </a:r>
          </a:p>
          <a:p>
            <a:r>
              <a:rPr lang="en-PH" sz="2800" dirty="0" smtClean="0">
                <a:solidFill>
                  <a:schemeClr val="bg1"/>
                </a:solidFill>
                <a:latin typeface="Candara" panose="020E0502030303020204" pitchFamily="34" charset="0"/>
              </a:rPr>
              <a:t>Long duration in transmitting especially to far areas.</a:t>
            </a:r>
          </a:p>
          <a:p>
            <a:endParaRPr lang="en-PH" sz="2800" i="1"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179562686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8100" y="336808"/>
            <a:ext cx="3835737" cy="899564"/>
          </a:xfrm>
        </p:spPr>
        <p:txBody>
          <a:bodyPr/>
          <a:lstStyle/>
          <a:p>
            <a:r>
              <a:rPr lang="en-PH" dirty="0" smtClean="0">
                <a:solidFill>
                  <a:schemeClr val="bg1"/>
                </a:solidFill>
                <a:latin typeface="Berlin Sans FB" panose="020E0602020502020306" pitchFamily="34" charset="0"/>
              </a:rPr>
              <a:t>Group Methods</a:t>
            </a:r>
            <a:endParaRPr lang="en-PH" dirty="0">
              <a:solidFill>
                <a:schemeClr val="bg1"/>
              </a:solidFill>
              <a:latin typeface="Berlin Sans FB" panose="020E0602020502020306" pitchFamily="34" charset="0"/>
            </a:endParaRPr>
          </a:p>
        </p:txBody>
      </p:sp>
      <p:sp>
        <p:nvSpPr>
          <p:cNvPr id="3" name="Content Placeholder 2"/>
          <p:cNvSpPr>
            <a:spLocks noGrp="1"/>
          </p:cNvSpPr>
          <p:nvPr>
            <p:ph idx="1"/>
          </p:nvPr>
        </p:nvSpPr>
        <p:spPr>
          <a:xfrm>
            <a:off x="1056069" y="1584103"/>
            <a:ext cx="10869768" cy="3554568"/>
          </a:xfrm>
        </p:spPr>
        <p:txBody>
          <a:bodyPr numCol="2">
            <a:noAutofit/>
          </a:bodyPr>
          <a:lstStyle/>
          <a:p>
            <a:pPr marL="457200" indent="-457200">
              <a:buAutoNum type="arabicPeriod"/>
            </a:pPr>
            <a:r>
              <a:rPr lang="en-PH" sz="3600" dirty="0" smtClean="0">
                <a:solidFill>
                  <a:schemeClr val="bg1"/>
                </a:solidFill>
                <a:latin typeface="Candara" panose="020E0502030303020204" pitchFamily="34" charset="0"/>
              </a:rPr>
              <a:t>Lecture</a:t>
            </a:r>
          </a:p>
          <a:p>
            <a:pPr marL="457200" indent="-457200">
              <a:buAutoNum type="arabicPeriod"/>
            </a:pPr>
            <a:r>
              <a:rPr lang="en-PH" sz="3600" dirty="0" smtClean="0">
                <a:solidFill>
                  <a:schemeClr val="bg1"/>
                </a:solidFill>
                <a:latin typeface="Candara" panose="020E0502030303020204" pitchFamily="34" charset="0"/>
              </a:rPr>
              <a:t>Meeting</a:t>
            </a:r>
          </a:p>
          <a:p>
            <a:pPr marL="457200" indent="-457200">
              <a:buAutoNum type="arabicPeriod"/>
            </a:pPr>
            <a:r>
              <a:rPr lang="en-PH" sz="3600" dirty="0" smtClean="0">
                <a:solidFill>
                  <a:schemeClr val="bg1"/>
                </a:solidFill>
                <a:latin typeface="Candara" panose="020E0502030303020204" pitchFamily="34" charset="0"/>
              </a:rPr>
              <a:t>Method demonstration</a:t>
            </a:r>
          </a:p>
          <a:p>
            <a:pPr marL="457200" indent="-457200">
              <a:buAutoNum type="arabicPeriod"/>
            </a:pPr>
            <a:r>
              <a:rPr lang="en-PH" sz="3600" dirty="0" smtClean="0">
                <a:solidFill>
                  <a:schemeClr val="bg1"/>
                </a:solidFill>
                <a:latin typeface="Candara" panose="020E0502030303020204" pitchFamily="34" charset="0"/>
              </a:rPr>
              <a:t>Field Trip/ </a:t>
            </a:r>
            <a:r>
              <a:rPr lang="en-PH" sz="3600" dirty="0" err="1" smtClean="0">
                <a:solidFill>
                  <a:schemeClr val="bg1"/>
                </a:solidFill>
                <a:latin typeface="Candara" panose="020E0502030303020204" pitchFamily="34" charset="0"/>
              </a:rPr>
              <a:t>Lakbay</a:t>
            </a:r>
            <a:r>
              <a:rPr lang="en-PH" sz="3600" dirty="0" smtClean="0">
                <a:solidFill>
                  <a:schemeClr val="bg1"/>
                </a:solidFill>
                <a:latin typeface="Candara" panose="020E0502030303020204" pitchFamily="34" charset="0"/>
              </a:rPr>
              <a:t>-Aral</a:t>
            </a:r>
          </a:p>
          <a:p>
            <a:pPr marL="457200" indent="-457200">
              <a:buAutoNum type="arabicPeriod"/>
            </a:pPr>
            <a:r>
              <a:rPr lang="en-PH" sz="3600" dirty="0" smtClean="0">
                <a:solidFill>
                  <a:schemeClr val="bg1"/>
                </a:solidFill>
                <a:latin typeface="Candara" panose="020E0502030303020204" pitchFamily="34" charset="0"/>
              </a:rPr>
              <a:t>Seminar</a:t>
            </a:r>
          </a:p>
          <a:p>
            <a:pPr marL="457200" indent="-457200">
              <a:buAutoNum type="arabicPeriod"/>
            </a:pPr>
            <a:r>
              <a:rPr lang="en-PH" sz="3600" dirty="0" smtClean="0">
                <a:solidFill>
                  <a:schemeClr val="bg1"/>
                </a:solidFill>
                <a:latin typeface="Candara" panose="020E0502030303020204" pitchFamily="34" charset="0"/>
              </a:rPr>
              <a:t>Conference</a:t>
            </a:r>
          </a:p>
          <a:p>
            <a:pPr marL="457200" indent="-457200">
              <a:buAutoNum type="arabicPeriod"/>
            </a:pPr>
            <a:r>
              <a:rPr lang="en-PH" sz="3600" dirty="0" smtClean="0">
                <a:solidFill>
                  <a:schemeClr val="bg1"/>
                </a:solidFill>
                <a:latin typeface="Candara" panose="020E0502030303020204" pitchFamily="34" charset="0"/>
              </a:rPr>
              <a:t>Role Playing</a:t>
            </a:r>
          </a:p>
          <a:p>
            <a:pPr marL="457200" indent="-457200">
              <a:buAutoNum type="arabicPeriod"/>
            </a:pPr>
            <a:r>
              <a:rPr lang="en-PH" sz="3600" dirty="0" smtClean="0">
                <a:solidFill>
                  <a:schemeClr val="bg1"/>
                </a:solidFill>
                <a:latin typeface="Candara" panose="020E0502030303020204" pitchFamily="34" charset="0"/>
              </a:rPr>
              <a:t>Group Discussion</a:t>
            </a:r>
          </a:p>
          <a:p>
            <a:pPr marL="457200" indent="-457200">
              <a:buAutoNum type="arabicPeriod"/>
            </a:pPr>
            <a:r>
              <a:rPr lang="en-PH" sz="3600" dirty="0" smtClean="0">
                <a:solidFill>
                  <a:schemeClr val="bg1"/>
                </a:solidFill>
                <a:latin typeface="Candara" panose="020E0502030303020204" pitchFamily="34" charset="0"/>
              </a:rPr>
              <a:t>Achievement Day</a:t>
            </a:r>
          </a:p>
          <a:p>
            <a:pPr marL="457200" indent="-457200">
              <a:buAutoNum type="arabicPeriod"/>
            </a:pPr>
            <a:r>
              <a:rPr lang="en-PH" sz="3600" dirty="0" smtClean="0">
                <a:solidFill>
                  <a:schemeClr val="bg1"/>
                </a:solidFill>
                <a:latin typeface="Candara" panose="020E0502030303020204" pitchFamily="34" charset="0"/>
              </a:rPr>
              <a:t>Farmers Field School (FFS)</a:t>
            </a:r>
            <a:endParaRPr lang="en-PH" sz="3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667007269"/>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Individual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RESULT DEMONSTRATION</a:t>
            </a:r>
            <a:endParaRPr lang="en-PH" sz="6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57200" y="1451466"/>
            <a:ext cx="11577348" cy="5087879"/>
          </a:xfrm>
        </p:spPr>
        <p:txBody>
          <a:bodyPr>
            <a:normAutofit lnSpcReduction="10000"/>
          </a:bodyPr>
          <a:lstStyle/>
          <a:p>
            <a:pPr marL="0" indent="0">
              <a:buNone/>
            </a:pPr>
            <a:r>
              <a:rPr lang="en-PH" sz="2800" dirty="0" smtClean="0">
                <a:solidFill>
                  <a:schemeClr val="bg1"/>
                </a:solidFill>
                <a:latin typeface="Candara" panose="020E0502030303020204" pitchFamily="34" charset="0"/>
              </a:rPr>
              <a:t>Conducted in the farmer’s field involving the cooperation of the selected co-operator farmer whereby a component technology or a recommended practices is demonstrated side by side with an existing practice.</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To show proof of the relative advantage of one practice over the other “to see is to believe”</a:t>
            </a:r>
          </a:p>
          <a:p>
            <a:r>
              <a:rPr lang="en-PH" sz="2800" dirty="0" smtClean="0">
                <a:solidFill>
                  <a:schemeClr val="bg1"/>
                </a:solidFill>
                <a:latin typeface="Candara" panose="020E0502030303020204" pitchFamily="34" charset="0"/>
              </a:rPr>
              <a:t>To convince the farmers to adopt the new technology</a:t>
            </a:r>
          </a:p>
          <a:p>
            <a:r>
              <a:rPr lang="en-PH" sz="2800" dirty="0" smtClean="0">
                <a:solidFill>
                  <a:schemeClr val="bg1"/>
                </a:solidFill>
                <a:latin typeface="Candara" panose="020E0502030303020204" pitchFamily="34" charset="0"/>
              </a:rPr>
              <a:t>The result of the demonstration will speak for itself.</a:t>
            </a:r>
          </a:p>
          <a:p>
            <a:pPr marL="0" indent="0">
              <a:buNone/>
            </a:pPr>
            <a:r>
              <a:rPr lang="en-PH" sz="2800" i="1" u="sng" dirty="0" smtClean="0">
                <a:solidFill>
                  <a:schemeClr val="bg1"/>
                </a:solidFill>
                <a:latin typeface="Candara" panose="020E0502030303020204" pitchFamily="34" charset="0"/>
              </a:rPr>
              <a:t>Weak point:</a:t>
            </a:r>
          </a:p>
          <a:p>
            <a:r>
              <a:rPr lang="en-PH" sz="2800" dirty="0" smtClean="0">
                <a:solidFill>
                  <a:schemeClr val="bg1"/>
                </a:solidFill>
                <a:latin typeface="Candara" panose="020E0502030303020204" pitchFamily="34" charset="0"/>
              </a:rPr>
              <a:t>Good result are sometimes impossible due to natural calamities.</a:t>
            </a:r>
          </a:p>
          <a:p>
            <a:endParaRPr lang="en-PH" sz="2800" i="1"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02979745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LECTURE</a:t>
            </a:r>
            <a:endParaRPr lang="en-PH" sz="6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57200" y="1451466"/>
            <a:ext cx="11577348" cy="5087879"/>
          </a:xfrm>
        </p:spPr>
        <p:txBody>
          <a:bodyPr>
            <a:normAutofit lnSpcReduction="10000"/>
          </a:bodyPr>
          <a:lstStyle/>
          <a:p>
            <a:pPr marL="0" indent="0">
              <a:buNone/>
            </a:pPr>
            <a:r>
              <a:rPr lang="en-PH" sz="2800" dirty="0" smtClean="0">
                <a:solidFill>
                  <a:schemeClr val="bg1"/>
                </a:solidFill>
                <a:latin typeface="Candara" panose="020E0502030303020204" pitchFamily="34" charset="0"/>
              </a:rPr>
              <a:t>Prepared oral presentation on a given subject by a </a:t>
            </a:r>
            <a:r>
              <a:rPr lang="en-PH" sz="2800" dirty="0" err="1" smtClean="0">
                <a:solidFill>
                  <a:schemeClr val="bg1"/>
                </a:solidFill>
                <a:latin typeface="Candara" panose="020E0502030303020204" pitchFamily="34" charset="0"/>
              </a:rPr>
              <a:t>trainor</a:t>
            </a:r>
            <a:r>
              <a:rPr lang="en-PH" sz="2800" dirty="0" smtClean="0">
                <a:solidFill>
                  <a:schemeClr val="bg1"/>
                </a:solidFill>
                <a:latin typeface="Candara" panose="020E0502030303020204" pitchFamily="34" charset="0"/>
              </a:rPr>
              <a:t> or resource speaker while the audience is usually passive. (one-way communication)</a:t>
            </a:r>
          </a:p>
          <a:p>
            <a:pPr marL="0" indent="0">
              <a:buNone/>
            </a:pPr>
            <a:r>
              <a:rPr lang="en-PH" sz="2800" i="1" u="sng" dirty="0" smtClean="0">
                <a:solidFill>
                  <a:schemeClr val="bg1"/>
                </a:solidFill>
                <a:latin typeface="Candara" panose="020E0502030303020204" pitchFamily="34" charset="0"/>
              </a:rPr>
              <a:t> Purpose:</a:t>
            </a:r>
          </a:p>
          <a:p>
            <a:r>
              <a:rPr lang="en-PH" sz="2800" dirty="0" smtClean="0">
                <a:solidFill>
                  <a:schemeClr val="bg1"/>
                </a:solidFill>
                <a:latin typeface="Candara" panose="020E0502030303020204" pitchFamily="34" charset="0"/>
              </a:rPr>
              <a:t>To explain the application of rules, principles or concepts</a:t>
            </a:r>
          </a:p>
          <a:p>
            <a:pPr marL="0" indent="0">
              <a:buNone/>
            </a:pPr>
            <a:r>
              <a:rPr lang="en-PH" sz="2800" i="1" u="sng" dirty="0" smtClean="0">
                <a:solidFill>
                  <a:schemeClr val="bg1"/>
                </a:solidFill>
                <a:latin typeface="Candara" panose="020E0502030303020204" pitchFamily="34" charset="0"/>
              </a:rPr>
              <a:t>Remember:</a:t>
            </a:r>
          </a:p>
          <a:p>
            <a:r>
              <a:rPr lang="en-PH" sz="2800" dirty="0" smtClean="0">
                <a:solidFill>
                  <a:schemeClr val="bg1"/>
                </a:solidFill>
                <a:latin typeface="Candara" panose="020E0502030303020204" pitchFamily="34" charset="0"/>
              </a:rPr>
              <a:t>Know your audience. (guide)</a:t>
            </a:r>
          </a:p>
          <a:p>
            <a:r>
              <a:rPr lang="en-PH" sz="2800" dirty="0" smtClean="0">
                <a:solidFill>
                  <a:schemeClr val="bg1"/>
                </a:solidFill>
                <a:latin typeface="Candara" panose="020E0502030303020204" pitchFamily="34" charset="0"/>
              </a:rPr>
              <a:t>Know how much time allotted for you. (how many to prepare)</a:t>
            </a:r>
          </a:p>
          <a:p>
            <a:r>
              <a:rPr lang="en-PH" sz="2800" dirty="0" smtClean="0">
                <a:solidFill>
                  <a:schemeClr val="bg1"/>
                </a:solidFill>
                <a:latin typeface="Candara" panose="020E0502030303020204" pitchFamily="34" charset="0"/>
              </a:rPr>
              <a:t>Determine the objective and theme of the gathering.</a:t>
            </a:r>
          </a:p>
          <a:p>
            <a:r>
              <a:rPr lang="en-PH" sz="2800" dirty="0" smtClean="0">
                <a:solidFill>
                  <a:schemeClr val="bg1"/>
                </a:solidFill>
                <a:latin typeface="Candara" panose="020E0502030303020204" pitchFamily="34" charset="0"/>
              </a:rPr>
              <a:t>Speak clearly, use visual aids if needed. Rehearse the lecture when necessary.</a:t>
            </a:r>
          </a:p>
        </p:txBody>
      </p:sp>
    </p:spTree>
    <p:extLst>
      <p:ext uri="{BB962C8B-B14F-4D97-AF65-F5344CB8AC3E}">
        <p14:creationId xmlns:p14="http://schemas.microsoft.com/office/powerpoint/2010/main" val="174998833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LECTURE</a:t>
            </a:r>
            <a:endParaRPr lang="en-PH" sz="8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997526" y="1451466"/>
            <a:ext cx="11037021" cy="5087879"/>
          </a:xfrm>
        </p:spPr>
        <p:txBody>
          <a:bodyPr>
            <a:normAutofit/>
          </a:bodyPr>
          <a:lstStyle/>
          <a:p>
            <a:pPr marL="0" indent="0">
              <a:buNone/>
            </a:pPr>
            <a:r>
              <a:rPr lang="en-PH" sz="2800" i="1" u="sng" dirty="0" smtClean="0">
                <a:solidFill>
                  <a:schemeClr val="bg1"/>
                </a:solidFill>
                <a:latin typeface="Candara" panose="020E0502030303020204" pitchFamily="34" charset="0"/>
              </a:rPr>
              <a:t>Strong points:</a:t>
            </a:r>
          </a:p>
          <a:p>
            <a:r>
              <a:rPr lang="en-PH" sz="2800" dirty="0" smtClean="0">
                <a:solidFill>
                  <a:schemeClr val="bg1"/>
                </a:solidFill>
                <a:latin typeface="Candara" panose="020E0502030303020204" pitchFamily="34" charset="0"/>
              </a:rPr>
              <a:t>Can be used in-door and out-door</a:t>
            </a:r>
          </a:p>
          <a:p>
            <a:pPr marL="0" indent="0">
              <a:buNone/>
            </a:pPr>
            <a:r>
              <a:rPr lang="en-PH" sz="2800" i="1" u="sng" dirty="0" smtClean="0">
                <a:solidFill>
                  <a:schemeClr val="bg1"/>
                </a:solidFill>
                <a:latin typeface="Candara" panose="020E0502030303020204" pitchFamily="34" charset="0"/>
              </a:rPr>
              <a:t>Weak points:</a:t>
            </a:r>
          </a:p>
          <a:p>
            <a:r>
              <a:rPr lang="en-PH" sz="2800" dirty="0" smtClean="0">
                <a:solidFill>
                  <a:schemeClr val="bg1"/>
                </a:solidFill>
                <a:latin typeface="Candara" panose="020E0502030303020204" pitchFamily="34" charset="0"/>
              </a:rPr>
              <a:t>Most lectures do not permits exchange of ideas</a:t>
            </a:r>
          </a:p>
          <a:p>
            <a:r>
              <a:rPr lang="en-PH" sz="2800" dirty="0" smtClean="0">
                <a:solidFill>
                  <a:schemeClr val="bg1"/>
                </a:solidFill>
                <a:latin typeface="Candara" panose="020E0502030303020204" pitchFamily="34" charset="0"/>
              </a:rPr>
              <a:t>Sometimes difficult to hold the interest of the audience</a:t>
            </a:r>
          </a:p>
        </p:txBody>
      </p:sp>
    </p:spTree>
    <p:extLst>
      <p:ext uri="{BB962C8B-B14F-4D97-AF65-F5344CB8AC3E}">
        <p14:creationId xmlns:p14="http://schemas.microsoft.com/office/powerpoint/2010/main" val="354645056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MEETINGS</a:t>
            </a:r>
            <a:endParaRPr lang="en-PH" sz="8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fontScale="92500" lnSpcReduction="20000"/>
          </a:bodyPr>
          <a:lstStyle/>
          <a:p>
            <a:pPr marL="0" indent="0">
              <a:buNone/>
            </a:pPr>
            <a:r>
              <a:rPr lang="en-PH" sz="2800" dirty="0" smtClean="0">
                <a:solidFill>
                  <a:schemeClr val="bg1"/>
                </a:solidFill>
                <a:latin typeface="Candara" panose="020E0502030303020204" pitchFamily="34" charset="0"/>
              </a:rPr>
              <a:t>A gathering of all members and officers for a definite purpose.</a:t>
            </a:r>
          </a:p>
          <a:p>
            <a:pPr marL="0" indent="0">
              <a:buNone/>
            </a:pPr>
            <a:r>
              <a:rPr lang="en-PH" sz="2800" i="1" u="sng" dirty="0" smtClean="0">
                <a:solidFill>
                  <a:schemeClr val="bg1"/>
                </a:solidFill>
                <a:latin typeface="Candara" panose="020E0502030303020204" pitchFamily="34" charset="0"/>
              </a:rPr>
              <a:t>Characteristics:</a:t>
            </a:r>
          </a:p>
          <a:p>
            <a:r>
              <a:rPr lang="en-PH" sz="2800" dirty="0" smtClean="0">
                <a:solidFill>
                  <a:schemeClr val="bg1"/>
                </a:solidFill>
                <a:latin typeface="Candara" panose="020E0502030303020204" pitchFamily="34" charset="0"/>
              </a:rPr>
              <a:t>Can be classified </a:t>
            </a:r>
            <a:r>
              <a:rPr lang="en-PH" sz="2800" dirty="0" err="1" smtClean="0">
                <a:solidFill>
                  <a:schemeClr val="bg1"/>
                </a:solidFill>
                <a:latin typeface="Candara" panose="020E0502030303020204" pitchFamily="34" charset="0"/>
              </a:rPr>
              <a:t>accdg</a:t>
            </a:r>
            <a:r>
              <a:rPr lang="en-PH" sz="2800" dirty="0" smtClean="0">
                <a:solidFill>
                  <a:schemeClr val="bg1"/>
                </a:solidFill>
                <a:latin typeface="Candara" panose="020E0502030303020204" pitchFamily="34" charset="0"/>
              </a:rPr>
              <a:t>. </a:t>
            </a:r>
            <a:r>
              <a:rPr lang="en-PH" sz="2800" dirty="0">
                <a:solidFill>
                  <a:schemeClr val="bg1"/>
                </a:solidFill>
                <a:latin typeface="Candara" panose="020E0502030303020204" pitchFamily="34" charset="0"/>
              </a:rPr>
              <a:t>t</a:t>
            </a:r>
            <a:r>
              <a:rPr lang="en-PH" sz="2800" dirty="0" smtClean="0">
                <a:solidFill>
                  <a:schemeClr val="bg1"/>
                </a:solidFill>
                <a:latin typeface="Candara" panose="020E0502030303020204" pitchFamily="34" charset="0"/>
              </a:rPr>
              <a:t>o frequency (monthly, weekly, </a:t>
            </a:r>
            <a:r>
              <a:rPr lang="en-PH" sz="2800" dirty="0" err="1" smtClean="0">
                <a:solidFill>
                  <a:schemeClr val="bg1"/>
                </a:solidFill>
                <a:latin typeface="Candara" panose="020E0502030303020204" pitchFamily="34" charset="0"/>
              </a:rPr>
              <a:t>quarterly,etc</a:t>
            </a:r>
            <a:r>
              <a:rPr lang="en-PH" sz="2800" dirty="0" smtClean="0">
                <a:solidFill>
                  <a:schemeClr val="bg1"/>
                </a:solidFill>
                <a:latin typeface="Candara" panose="020E0502030303020204" pitchFamily="34" charset="0"/>
              </a:rPr>
              <a:t>)</a:t>
            </a:r>
          </a:p>
          <a:p>
            <a:r>
              <a:rPr lang="en-PH" sz="2800" dirty="0" smtClean="0">
                <a:solidFill>
                  <a:schemeClr val="bg1"/>
                </a:solidFill>
                <a:latin typeface="Candara" panose="020E0502030303020204" pitchFamily="34" charset="0"/>
              </a:rPr>
              <a:t>Composition of people (general assembly)</a:t>
            </a:r>
          </a:p>
          <a:p>
            <a:r>
              <a:rPr lang="en-PH" sz="2800" dirty="0" smtClean="0">
                <a:solidFill>
                  <a:schemeClr val="bg1"/>
                </a:solidFill>
                <a:latin typeface="Candara" panose="020E0502030303020204" pitchFamily="34" charset="0"/>
              </a:rPr>
              <a:t>Must follow the important order of meeting.</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To plan activities, monitor </a:t>
            </a:r>
            <a:r>
              <a:rPr lang="en-PH" sz="2800" dirty="0" err="1" smtClean="0">
                <a:solidFill>
                  <a:schemeClr val="bg1"/>
                </a:solidFill>
                <a:latin typeface="Candara" panose="020E0502030303020204" pitchFamily="34" charset="0"/>
              </a:rPr>
              <a:t>impelentation</a:t>
            </a:r>
            <a:r>
              <a:rPr lang="en-PH" sz="2800" dirty="0" smtClean="0">
                <a:solidFill>
                  <a:schemeClr val="bg1"/>
                </a:solidFill>
                <a:latin typeface="Candara" panose="020E0502030303020204" pitchFamily="34" charset="0"/>
              </a:rPr>
              <a:t> of programs, asses/evaluate, resolve conflict</a:t>
            </a:r>
            <a:endParaRPr lang="en-PH" sz="2800" dirty="0">
              <a:solidFill>
                <a:schemeClr val="bg1"/>
              </a:solidFill>
              <a:latin typeface="Candara" panose="020E0502030303020204" pitchFamily="34" charset="0"/>
            </a:endParaRPr>
          </a:p>
          <a:p>
            <a:pPr marL="0" indent="0">
              <a:buNone/>
            </a:pPr>
            <a:r>
              <a:rPr lang="en-PH" sz="2800" i="1" u="sng" dirty="0" smtClean="0">
                <a:solidFill>
                  <a:schemeClr val="bg1"/>
                </a:solidFill>
                <a:latin typeface="Candara" panose="020E0502030303020204" pitchFamily="34" charset="0"/>
              </a:rPr>
              <a:t>Remember:</a:t>
            </a:r>
          </a:p>
          <a:p>
            <a:r>
              <a:rPr lang="en-PH" sz="2800" dirty="0" smtClean="0">
                <a:solidFill>
                  <a:schemeClr val="bg1"/>
                </a:solidFill>
                <a:latin typeface="Candara" panose="020E0502030303020204" pitchFamily="34" charset="0"/>
              </a:rPr>
              <a:t>Set the time, date, place and inform the members atleast 2 days before</a:t>
            </a:r>
          </a:p>
          <a:p>
            <a:r>
              <a:rPr lang="en-PH" sz="2800" dirty="0" smtClean="0">
                <a:solidFill>
                  <a:schemeClr val="bg1"/>
                </a:solidFill>
                <a:latin typeface="Candara" panose="020E0502030303020204" pitchFamily="34" charset="0"/>
              </a:rPr>
              <a:t>Record the minutes of the meeting.</a:t>
            </a:r>
          </a:p>
        </p:txBody>
      </p:sp>
    </p:spTree>
    <p:extLst>
      <p:ext uri="{BB962C8B-B14F-4D97-AF65-F5344CB8AC3E}">
        <p14:creationId xmlns:p14="http://schemas.microsoft.com/office/powerpoint/2010/main" val="62670759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FIELD TRIP / LAKBAY ARAL</a:t>
            </a:r>
            <a:endParaRPr lang="en-PH" sz="8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lnSpcReduction="10000"/>
          </a:bodyPr>
          <a:lstStyle/>
          <a:p>
            <a:pPr marL="0" indent="0">
              <a:buNone/>
            </a:pPr>
            <a:r>
              <a:rPr lang="en-PH" sz="2800" dirty="0" smtClean="0">
                <a:solidFill>
                  <a:schemeClr val="bg1"/>
                </a:solidFill>
                <a:latin typeface="Candara" panose="020E0502030303020204" pitchFamily="34" charset="0"/>
              </a:rPr>
              <a:t>A planned and guided visit of a group of participants to a specific site or sites. Is considered as mobile class and observational way of learning.</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To provide first-hand observation of operations processes or practices that cannot be readily available in the classroom or laboratory.</a:t>
            </a:r>
            <a:endParaRPr lang="en-PH" sz="2800" dirty="0">
              <a:solidFill>
                <a:schemeClr val="bg1"/>
              </a:solidFill>
              <a:latin typeface="Candara" panose="020E0502030303020204" pitchFamily="34" charset="0"/>
            </a:endParaRPr>
          </a:p>
          <a:p>
            <a:pPr marL="0" indent="0">
              <a:buNone/>
            </a:pPr>
            <a:r>
              <a:rPr lang="en-PH" sz="2800" i="1" u="sng" dirty="0" smtClean="0">
                <a:solidFill>
                  <a:schemeClr val="bg1"/>
                </a:solidFill>
                <a:latin typeface="Candara" panose="020E0502030303020204" pitchFamily="34" charset="0"/>
              </a:rPr>
              <a:t>Strong points:</a:t>
            </a:r>
          </a:p>
          <a:p>
            <a:r>
              <a:rPr lang="en-PH" sz="2800" dirty="0">
                <a:solidFill>
                  <a:schemeClr val="bg1"/>
                </a:solidFill>
                <a:latin typeface="Candara" panose="020E0502030303020204" pitchFamily="34" charset="0"/>
              </a:rPr>
              <a:t>I</a:t>
            </a:r>
            <a:r>
              <a:rPr lang="en-PH" sz="2800" dirty="0" smtClean="0">
                <a:solidFill>
                  <a:schemeClr val="bg1"/>
                </a:solidFill>
                <a:latin typeface="Candara" panose="020E0502030303020204" pitchFamily="34" charset="0"/>
              </a:rPr>
              <a:t>t makes learning enjoyable and stimulate fellowship among members.</a:t>
            </a:r>
          </a:p>
          <a:p>
            <a:r>
              <a:rPr lang="en-PH" sz="2800" dirty="0" smtClean="0">
                <a:solidFill>
                  <a:schemeClr val="bg1"/>
                </a:solidFill>
                <a:latin typeface="Candara" panose="020E0502030303020204" pitchFamily="34" charset="0"/>
              </a:rPr>
              <a:t>Effective way of imparting knowledge through actual observation.</a:t>
            </a:r>
          </a:p>
          <a:p>
            <a:pPr marL="0" indent="0">
              <a:buNone/>
            </a:pPr>
            <a:r>
              <a:rPr lang="en-PH" sz="2800" i="1" u="sng" dirty="0" smtClean="0">
                <a:solidFill>
                  <a:schemeClr val="bg1"/>
                </a:solidFill>
                <a:latin typeface="Candara" panose="020E0502030303020204" pitchFamily="34" charset="0"/>
              </a:rPr>
              <a:t>Weak points:</a:t>
            </a:r>
          </a:p>
          <a:p>
            <a:r>
              <a:rPr lang="en-PH" sz="2800" dirty="0" smtClean="0">
                <a:solidFill>
                  <a:schemeClr val="bg1"/>
                </a:solidFill>
                <a:latin typeface="Candara" panose="020E0502030303020204" pitchFamily="34" charset="0"/>
              </a:rPr>
              <a:t>Lot of preparation, expensive, time consuming, tiresome.</a:t>
            </a:r>
          </a:p>
        </p:txBody>
      </p:sp>
    </p:spTree>
    <p:extLst>
      <p:ext uri="{BB962C8B-B14F-4D97-AF65-F5344CB8AC3E}">
        <p14:creationId xmlns:p14="http://schemas.microsoft.com/office/powerpoint/2010/main" val="131631667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3200" dirty="0" smtClean="0">
                <a:solidFill>
                  <a:schemeClr val="bg1"/>
                </a:solidFill>
                <a:latin typeface="Candara" panose="020E0502030303020204" pitchFamily="34" charset="0"/>
              </a:rPr>
              <a:t/>
            </a:r>
            <a:br>
              <a:rPr lang="en-PH" sz="3200" dirty="0" smtClean="0">
                <a:solidFill>
                  <a:schemeClr val="bg1"/>
                </a:solidFill>
                <a:latin typeface="Candara" panose="020E0502030303020204" pitchFamily="34" charset="0"/>
              </a:rPr>
            </a:br>
            <a:r>
              <a:rPr lang="en-PH" sz="4400" b="1" dirty="0" err="1" smtClean="0">
                <a:solidFill>
                  <a:schemeClr val="bg1"/>
                </a:solidFill>
                <a:latin typeface="Candara" panose="020E0502030303020204" pitchFamily="34" charset="0"/>
              </a:rPr>
              <a:t>METHOD</a:t>
            </a:r>
            <a:r>
              <a:rPr lang="en-PH" sz="4400" b="1" dirty="0" smtClean="0">
                <a:solidFill>
                  <a:schemeClr val="bg1"/>
                </a:solidFill>
                <a:latin typeface="Candara" panose="020E0502030303020204" pitchFamily="34" charset="0"/>
              </a:rPr>
              <a:t> DEMONSTRATION</a:t>
            </a:r>
            <a:endParaRPr lang="en-PH" sz="80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a:bodyPr>
          <a:lstStyle/>
          <a:p>
            <a:pPr marL="0" indent="0">
              <a:buNone/>
            </a:pPr>
            <a:r>
              <a:rPr lang="en-PH" sz="2800" dirty="0" smtClean="0">
                <a:solidFill>
                  <a:schemeClr val="bg1"/>
                </a:solidFill>
                <a:latin typeface="Candara" panose="020E0502030303020204" pitchFamily="34" charset="0"/>
              </a:rPr>
              <a:t>The  oldest teaching methods. It emphasises the principle of “learning by doing”</a:t>
            </a:r>
          </a:p>
          <a:p>
            <a:pPr marL="0" indent="0">
              <a:buNone/>
            </a:pPr>
            <a:r>
              <a:rPr lang="en-PH" sz="2800" i="1" u="sng" dirty="0" smtClean="0">
                <a:solidFill>
                  <a:schemeClr val="bg1"/>
                </a:solidFill>
                <a:latin typeface="Candara" panose="020E0502030303020204" pitchFamily="34" charset="0"/>
              </a:rPr>
              <a:t>Characteristics:</a:t>
            </a:r>
          </a:p>
          <a:p>
            <a:r>
              <a:rPr lang="en-PH" sz="2800" dirty="0" smtClean="0">
                <a:solidFill>
                  <a:schemeClr val="bg1"/>
                </a:solidFill>
                <a:latin typeface="Candara" panose="020E0502030303020204" pitchFamily="34" charset="0"/>
              </a:rPr>
              <a:t>All needed material are prepared.</a:t>
            </a:r>
          </a:p>
          <a:p>
            <a:r>
              <a:rPr lang="en-PH" sz="2800" dirty="0" smtClean="0">
                <a:solidFill>
                  <a:schemeClr val="bg1"/>
                </a:solidFill>
                <a:latin typeface="Candara" panose="020E0502030303020204" pitchFamily="34" charset="0"/>
              </a:rPr>
              <a:t>Before demonstration, the EW should explain what the demonstration is all about and its importance.</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To help client gain skill in doing things in a correct way</a:t>
            </a:r>
          </a:p>
          <a:p>
            <a:r>
              <a:rPr lang="en-PH" sz="2800" dirty="0" smtClean="0">
                <a:solidFill>
                  <a:schemeClr val="bg1"/>
                </a:solidFill>
                <a:latin typeface="Candara" panose="020E0502030303020204" pitchFamily="34" charset="0"/>
              </a:rPr>
              <a:t>To promote confidence, save time, increase the client interest  </a:t>
            </a:r>
          </a:p>
        </p:txBody>
      </p:sp>
    </p:spTree>
    <p:extLst>
      <p:ext uri="{BB962C8B-B14F-4D97-AF65-F5344CB8AC3E}">
        <p14:creationId xmlns:p14="http://schemas.microsoft.com/office/powerpoint/2010/main" val="218195600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br>
              <a:rPr lang="en-PH" sz="2800" i="1"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SEMINAR</a:t>
            </a:r>
            <a:endParaRPr lang="en-PH" sz="13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a:bodyPr>
          <a:lstStyle/>
          <a:p>
            <a:pPr marL="0" indent="0">
              <a:buNone/>
            </a:pPr>
            <a:r>
              <a:rPr lang="en-PH" sz="2800" dirty="0" smtClean="0">
                <a:solidFill>
                  <a:schemeClr val="bg1"/>
                </a:solidFill>
                <a:latin typeface="Candara" panose="020E0502030303020204" pitchFamily="34" charset="0"/>
              </a:rPr>
              <a:t>A meeting in which you receive information on and training in a particular subject.</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To stimulate the participants interest on the subject and to broaden their outlook as they learn from each others experience.</a:t>
            </a:r>
          </a:p>
          <a:p>
            <a:r>
              <a:rPr lang="en-PH" sz="2800" dirty="0" smtClean="0">
                <a:solidFill>
                  <a:schemeClr val="bg1"/>
                </a:solidFill>
                <a:latin typeface="Candara" panose="020E0502030303020204" pitchFamily="34" charset="0"/>
              </a:rPr>
              <a:t>To provide participants with opportunities to exchange ideas and experiences relating to the topic of the seminar.</a:t>
            </a:r>
          </a:p>
        </p:txBody>
      </p:sp>
    </p:spTree>
    <p:extLst>
      <p:ext uri="{BB962C8B-B14F-4D97-AF65-F5344CB8AC3E}">
        <p14:creationId xmlns:p14="http://schemas.microsoft.com/office/powerpoint/2010/main" val="74151466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br>
              <a:rPr lang="en-PH" sz="2800" i="1" dirty="0" smtClean="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CONFERENCE</a:t>
            </a:r>
            <a:endParaRPr lang="en-PH" sz="13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fontScale="92500" lnSpcReduction="10000"/>
          </a:bodyPr>
          <a:lstStyle/>
          <a:p>
            <a:pPr marL="0" indent="0">
              <a:buNone/>
            </a:pPr>
            <a:r>
              <a:rPr lang="en-PH" sz="2800" dirty="0" smtClean="0">
                <a:solidFill>
                  <a:schemeClr val="bg1"/>
                </a:solidFill>
                <a:latin typeface="Candara" panose="020E0502030303020204" pitchFamily="34" charset="0"/>
              </a:rPr>
              <a:t>A meeting of individuals, preferably a small number usually in a round table situation, who meet for a specific purpose. Key word is “purpose”.</a:t>
            </a:r>
          </a:p>
          <a:p>
            <a:pPr marL="0" indent="0">
              <a:buNone/>
            </a:pPr>
            <a:r>
              <a:rPr lang="en-PH" sz="2800" i="1" u="sng" dirty="0" smtClean="0">
                <a:solidFill>
                  <a:schemeClr val="bg1"/>
                </a:solidFill>
                <a:latin typeface="Candara" panose="020E0502030303020204" pitchFamily="34" charset="0"/>
              </a:rPr>
              <a:t>Remember:</a:t>
            </a:r>
          </a:p>
          <a:p>
            <a:r>
              <a:rPr lang="en-PH" sz="2800" dirty="0" smtClean="0">
                <a:solidFill>
                  <a:schemeClr val="bg1"/>
                </a:solidFill>
                <a:latin typeface="Candara" panose="020E0502030303020204" pitchFamily="34" charset="0"/>
              </a:rPr>
              <a:t>The conference should start on time.</a:t>
            </a:r>
          </a:p>
          <a:p>
            <a:r>
              <a:rPr lang="en-PH" sz="2800" dirty="0" smtClean="0">
                <a:solidFill>
                  <a:schemeClr val="bg1"/>
                </a:solidFill>
                <a:latin typeface="Candara" panose="020E0502030303020204" pitchFamily="34" charset="0"/>
              </a:rPr>
              <a:t>The key points/agreements arrived at by the leader and the participants should be summarized before ending the conference.</a:t>
            </a:r>
          </a:p>
          <a:p>
            <a:pPr marL="0" indent="0">
              <a:buNone/>
            </a:pPr>
            <a:r>
              <a:rPr lang="en-PH" sz="2800" i="1" u="sng" dirty="0" smtClean="0">
                <a:solidFill>
                  <a:schemeClr val="bg1"/>
                </a:solidFill>
                <a:latin typeface="Candara" panose="020E0502030303020204" pitchFamily="34" charset="0"/>
              </a:rPr>
              <a:t>Strong points:</a:t>
            </a:r>
          </a:p>
          <a:p>
            <a:r>
              <a:rPr lang="en-PH" sz="2800" dirty="0" smtClean="0">
                <a:solidFill>
                  <a:schemeClr val="bg1"/>
                </a:solidFill>
                <a:latin typeface="Candara" panose="020E0502030303020204" pitchFamily="34" charset="0"/>
              </a:rPr>
              <a:t>Provides motivation and a good climate for growth .</a:t>
            </a:r>
          </a:p>
          <a:p>
            <a:pPr marL="0" indent="0">
              <a:buNone/>
            </a:pPr>
            <a:r>
              <a:rPr lang="en-PH" sz="2800" i="1" u="sng" dirty="0" smtClean="0">
                <a:solidFill>
                  <a:schemeClr val="bg1"/>
                </a:solidFill>
                <a:latin typeface="Candara" panose="020E0502030303020204" pitchFamily="34" charset="0"/>
              </a:rPr>
              <a:t>Weak points:</a:t>
            </a:r>
          </a:p>
          <a:p>
            <a:r>
              <a:rPr lang="en-PH" sz="2800" dirty="0" smtClean="0">
                <a:solidFill>
                  <a:schemeClr val="bg1"/>
                </a:solidFill>
                <a:latin typeface="Candara" panose="020E0502030303020204" pitchFamily="34" charset="0"/>
              </a:rPr>
              <a:t>Discussion can become boring or dull if it is monopolized by one </a:t>
            </a:r>
            <a:r>
              <a:rPr lang="en-PH" sz="2800" dirty="0" err="1" smtClean="0">
                <a:solidFill>
                  <a:schemeClr val="bg1"/>
                </a:solidFill>
                <a:latin typeface="Candara" panose="020E0502030303020204" pitchFamily="34" charset="0"/>
              </a:rPr>
              <a:t>agrresive</a:t>
            </a:r>
            <a:r>
              <a:rPr lang="en-PH" sz="2800" dirty="0" smtClean="0">
                <a:solidFill>
                  <a:schemeClr val="bg1"/>
                </a:solidFill>
                <a:latin typeface="Candara" panose="020E0502030303020204" pitchFamily="34" charset="0"/>
              </a:rPr>
              <a:t> participant</a:t>
            </a:r>
          </a:p>
        </p:txBody>
      </p:sp>
    </p:spTree>
    <p:extLst>
      <p:ext uri="{BB962C8B-B14F-4D97-AF65-F5344CB8AC3E}">
        <p14:creationId xmlns:p14="http://schemas.microsoft.com/office/powerpoint/2010/main" val="272182152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400530"/>
          </a:xfrm>
        </p:spPr>
        <p:txBody>
          <a:bodyPr/>
          <a:lstStyle/>
          <a:p>
            <a:pPr algn="ctr"/>
            <a:r>
              <a:rPr lang="en-PH" sz="2800" i="1" dirty="0" smtClean="0">
                <a:solidFill>
                  <a:schemeClr val="bg1"/>
                </a:solidFill>
                <a:latin typeface="Candara" panose="020E0502030303020204" pitchFamily="34" charset="0"/>
              </a:rPr>
              <a:t>Group method</a:t>
            </a:r>
            <a:r>
              <a:rPr lang="en-PH" sz="2800" i="1" dirty="0">
                <a:solidFill>
                  <a:schemeClr val="bg1"/>
                </a:solidFill>
                <a:latin typeface="Candara" panose="020E0502030303020204" pitchFamily="34" charset="0"/>
              </a:rPr>
              <a:t/>
            </a:r>
            <a:br>
              <a:rPr lang="en-PH" sz="2800" i="1" dirty="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ROLE PLAYING</a:t>
            </a:r>
            <a:endParaRPr lang="en-PH" sz="13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lnSpcReduction="10000"/>
          </a:bodyPr>
          <a:lstStyle/>
          <a:p>
            <a:pPr marL="0" indent="0">
              <a:buNone/>
            </a:pPr>
            <a:r>
              <a:rPr lang="en-PH" sz="2800" dirty="0" smtClean="0">
                <a:solidFill>
                  <a:schemeClr val="bg1"/>
                </a:solidFill>
                <a:latin typeface="Candara" panose="020E0502030303020204" pitchFamily="34" charset="0"/>
              </a:rPr>
              <a:t>Methods of adopting roles from real life of others.</a:t>
            </a:r>
          </a:p>
          <a:p>
            <a:pPr marL="0" indent="0">
              <a:buNone/>
            </a:pPr>
            <a:r>
              <a:rPr lang="en-PH" sz="2800" i="1" u="sng" dirty="0" smtClean="0">
                <a:solidFill>
                  <a:schemeClr val="bg1"/>
                </a:solidFill>
                <a:latin typeface="Candara" panose="020E0502030303020204" pitchFamily="34" charset="0"/>
              </a:rPr>
              <a:t>Remember:</a:t>
            </a:r>
          </a:p>
          <a:p>
            <a:r>
              <a:rPr lang="en-PH" sz="2800" dirty="0" smtClean="0">
                <a:solidFill>
                  <a:schemeClr val="bg1"/>
                </a:solidFill>
                <a:latin typeface="Candara" panose="020E0502030303020204" pitchFamily="34" charset="0"/>
              </a:rPr>
              <a:t>The conference should start on time.</a:t>
            </a:r>
          </a:p>
          <a:p>
            <a:r>
              <a:rPr lang="en-PH" sz="2800" dirty="0" smtClean="0">
                <a:solidFill>
                  <a:schemeClr val="bg1"/>
                </a:solidFill>
                <a:latin typeface="Candara" panose="020E0502030303020204" pitchFamily="34" charset="0"/>
              </a:rPr>
              <a:t>The key points/agreements arrived at by the leader and the participants should be summarized before ending the conference.</a:t>
            </a:r>
          </a:p>
          <a:p>
            <a:pPr marL="0" indent="0">
              <a:buNone/>
            </a:pPr>
            <a:r>
              <a:rPr lang="en-PH" sz="2800" i="1" u="sng" dirty="0" smtClean="0">
                <a:solidFill>
                  <a:schemeClr val="bg1"/>
                </a:solidFill>
                <a:latin typeface="Candara" panose="020E0502030303020204" pitchFamily="34" charset="0"/>
              </a:rPr>
              <a:t>Strong points:</a:t>
            </a:r>
          </a:p>
          <a:p>
            <a:r>
              <a:rPr lang="en-PH" sz="2800" dirty="0" smtClean="0">
                <a:solidFill>
                  <a:schemeClr val="bg1"/>
                </a:solidFill>
                <a:latin typeface="Candara" panose="020E0502030303020204" pitchFamily="34" charset="0"/>
              </a:rPr>
              <a:t>Provides motivation and a good climate for growth .</a:t>
            </a:r>
          </a:p>
          <a:p>
            <a:pPr marL="0" indent="0">
              <a:buNone/>
            </a:pPr>
            <a:r>
              <a:rPr lang="en-PH" sz="2800" i="1" u="sng" dirty="0" smtClean="0">
                <a:solidFill>
                  <a:schemeClr val="bg1"/>
                </a:solidFill>
                <a:latin typeface="Candara" panose="020E0502030303020204" pitchFamily="34" charset="0"/>
              </a:rPr>
              <a:t>Weak points:</a:t>
            </a:r>
          </a:p>
          <a:p>
            <a:r>
              <a:rPr lang="en-PH" sz="2800" dirty="0" smtClean="0">
                <a:solidFill>
                  <a:schemeClr val="bg1"/>
                </a:solidFill>
                <a:latin typeface="Candara" panose="020E0502030303020204" pitchFamily="34" charset="0"/>
              </a:rPr>
              <a:t>Discussion can become boring or dull if it is monopolized by one </a:t>
            </a:r>
            <a:r>
              <a:rPr lang="en-PH" sz="2800" dirty="0" err="1" smtClean="0">
                <a:solidFill>
                  <a:schemeClr val="bg1"/>
                </a:solidFill>
                <a:latin typeface="Candara" panose="020E0502030303020204" pitchFamily="34" charset="0"/>
              </a:rPr>
              <a:t>agrresive</a:t>
            </a:r>
            <a:r>
              <a:rPr lang="en-PH" sz="2800" dirty="0" smtClean="0">
                <a:solidFill>
                  <a:schemeClr val="bg1"/>
                </a:solidFill>
                <a:latin typeface="Candara" panose="020E0502030303020204" pitchFamily="34" charset="0"/>
              </a:rPr>
              <a:t> participant</a:t>
            </a:r>
          </a:p>
        </p:txBody>
      </p:sp>
    </p:spTree>
    <p:extLst>
      <p:ext uri="{BB962C8B-B14F-4D97-AF65-F5344CB8AC3E}">
        <p14:creationId xmlns:p14="http://schemas.microsoft.com/office/powerpoint/2010/main" val="166038118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241049"/>
          </a:xfrm>
        </p:spPr>
        <p:txBody>
          <a:bodyPr/>
          <a:lstStyle/>
          <a:p>
            <a:pPr algn="ctr"/>
            <a:r>
              <a:rPr lang="en-PH" sz="2800" i="1" dirty="0" smtClean="0">
                <a:solidFill>
                  <a:schemeClr val="bg1"/>
                </a:solidFill>
                <a:latin typeface="Candara" panose="020E0502030303020204" pitchFamily="34" charset="0"/>
              </a:rPr>
              <a:t>Group method</a:t>
            </a:r>
            <a:r>
              <a:rPr lang="en-PH" sz="2800" i="1" dirty="0">
                <a:solidFill>
                  <a:schemeClr val="bg1"/>
                </a:solidFill>
                <a:latin typeface="Candara" panose="020E0502030303020204" pitchFamily="34" charset="0"/>
              </a:rPr>
              <a:t/>
            </a:r>
            <a:br>
              <a:rPr lang="en-PH" sz="2800" i="1" dirty="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GROUP DISCUSSION</a:t>
            </a:r>
            <a:endParaRPr lang="en-PH" sz="13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a:bodyPr>
          <a:lstStyle/>
          <a:p>
            <a:pPr marL="0" indent="0">
              <a:buNone/>
            </a:pPr>
            <a:r>
              <a:rPr lang="en-PH" sz="2800" dirty="0" smtClean="0">
                <a:solidFill>
                  <a:schemeClr val="bg1"/>
                </a:solidFill>
                <a:latin typeface="Candara" panose="020E0502030303020204" pitchFamily="34" charset="0"/>
              </a:rPr>
              <a:t>An activity where a group of three to 10 people meet together to </a:t>
            </a:r>
            <a:r>
              <a:rPr lang="en-PH" sz="2800" dirty="0" err="1" smtClean="0">
                <a:solidFill>
                  <a:schemeClr val="bg1"/>
                </a:solidFill>
                <a:latin typeface="Candara" panose="020E0502030303020204" pitchFamily="34" charset="0"/>
              </a:rPr>
              <a:t>discudd</a:t>
            </a:r>
            <a:r>
              <a:rPr lang="en-PH" sz="2800" dirty="0" smtClean="0">
                <a:solidFill>
                  <a:schemeClr val="bg1"/>
                </a:solidFill>
                <a:latin typeface="Candara" panose="020E0502030303020204" pitchFamily="34" charset="0"/>
              </a:rPr>
              <a:t> informally but deliberately a topic of mutual concern usually under the guidance of a leader.</a:t>
            </a:r>
          </a:p>
          <a:p>
            <a:pPr marL="0" indent="0">
              <a:buNone/>
            </a:pPr>
            <a:r>
              <a:rPr lang="en-PH" sz="2800" i="1" u="sng" dirty="0" smtClean="0">
                <a:solidFill>
                  <a:schemeClr val="bg1"/>
                </a:solidFill>
                <a:latin typeface="Candara" panose="020E0502030303020204" pitchFamily="34" charset="0"/>
              </a:rPr>
              <a:t>Purpose:</a:t>
            </a:r>
          </a:p>
          <a:p>
            <a:r>
              <a:rPr lang="en-PH" sz="2800" dirty="0" smtClean="0">
                <a:solidFill>
                  <a:schemeClr val="bg1"/>
                </a:solidFill>
                <a:latin typeface="Candara" panose="020E0502030303020204" pitchFamily="34" charset="0"/>
              </a:rPr>
              <a:t>Is a purposeful conversation that is usually routed through a leader.</a:t>
            </a:r>
          </a:p>
          <a:p>
            <a:pPr marL="0" indent="0">
              <a:buNone/>
            </a:pPr>
            <a:r>
              <a:rPr lang="en-PH" sz="2800" i="1" u="sng" dirty="0" smtClean="0">
                <a:solidFill>
                  <a:schemeClr val="bg1"/>
                </a:solidFill>
                <a:latin typeface="Candara" panose="020E0502030303020204" pitchFamily="34" charset="0"/>
              </a:rPr>
              <a:t>Strong points:</a:t>
            </a:r>
          </a:p>
          <a:p>
            <a:r>
              <a:rPr lang="en-PH" sz="2800" dirty="0" smtClean="0">
                <a:solidFill>
                  <a:schemeClr val="bg1"/>
                </a:solidFill>
                <a:latin typeface="Candara" panose="020E0502030303020204" pitchFamily="34" charset="0"/>
              </a:rPr>
              <a:t>It permits full participation.</a:t>
            </a:r>
          </a:p>
          <a:p>
            <a:pPr marL="0" indent="0">
              <a:buNone/>
            </a:pPr>
            <a:r>
              <a:rPr lang="en-PH" sz="2800" i="1" u="sng" dirty="0" smtClean="0">
                <a:solidFill>
                  <a:schemeClr val="bg1"/>
                </a:solidFill>
                <a:latin typeface="Candara" panose="020E0502030303020204" pitchFamily="34" charset="0"/>
              </a:rPr>
              <a:t>Weak points:</a:t>
            </a:r>
          </a:p>
          <a:p>
            <a:r>
              <a:rPr lang="en-PH" sz="2800" dirty="0" smtClean="0">
                <a:solidFill>
                  <a:schemeClr val="bg1"/>
                </a:solidFill>
                <a:latin typeface="Candara" panose="020E0502030303020204" pitchFamily="34" charset="0"/>
              </a:rPr>
              <a:t>Bossy leader or a few members may dominate the whole discussion.</a:t>
            </a:r>
          </a:p>
        </p:txBody>
      </p:sp>
    </p:spTree>
    <p:extLst>
      <p:ext uri="{BB962C8B-B14F-4D97-AF65-F5344CB8AC3E}">
        <p14:creationId xmlns:p14="http://schemas.microsoft.com/office/powerpoint/2010/main" val="316803746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02" y="175627"/>
            <a:ext cx="10368253" cy="1241049"/>
          </a:xfrm>
        </p:spPr>
        <p:txBody>
          <a:bodyPr/>
          <a:lstStyle/>
          <a:p>
            <a:pPr algn="ctr"/>
            <a:r>
              <a:rPr lang="en-PH" sz="2800" i="1" dirty="0" smtClean="0">
                <a:solidFill>
                  <a:schemeClr val="bg1"/>
                </a:solidFill>
                <a:latin typeface="Candara" panose="020E0502030303020204" pitchFamily="34" charset="0"/>
              </a:rPr>
              <a:t>Group method</a:t>
            </a:r>
            <a:r>
              <a:rPr lang="en-PH" sz="2800" i="1" dirty="0">
                <a:solidFill>
                  <a:schemeClr val="bg1"/>
                </a:solidFill>
                <a:latin typeface="Candara" panose="020E0502030303020204" pitchFamily="34" charset="0"/>
              </a:rPr>
              <a:t/>
            </a:r>
            <a:br>
              <a:rPr lang="en-PH" sz="2800" i="1" dirty="0">
                <a:solidFill>
                  <a:schemeClr val="bg1"/>
                </a:solidFill>
                <a:latin typeface="Candara" panose="020E0502030303020204" pitchFamily="34" charset="0"/>
              </a:rPr>
            </a:br>
            <a:r>
              <a:rPr lang="en-PH" sz="4400" b="1" dirty="0" smtClean="0">
                <a:solidFill>
                  <a:schemeClr val="bg1"/>
                </a:solidFill>
                <a:latin typeface="Candara" panose="020E0502030303020204" pitchFamily="34" charset="0"/>
              </a:rPr>
              <a:t>FARMERS FIELD SCHOOL (FFS)</a:t>
            </a:r>
            <a:endParaRPr lang="en-PH" sz="13800"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429491" y="1576157"/>
            <a:ext cx="11577348" cy="5087879"/>
          </a:xfrm>
        </p:spPr>
        <p:txBody>
          <a:bodyPr>
            <a:normAutofit/>
          </a:bodyPr>
          <a:lstStyle/>
          <a:p>
            <a:pPr marL="0" indent="0">
              <a:buNone/>
            </a:pPr>
            <a:r>
              <a:rPr lang="en-PH" sz="2800" dirty="0" smtClean="0">
                <a:solidFill>
                  <a:schemeClr val="bg1"/>
                </a:solidFill>
                <a:latin typeface="Candara" panose="020E0502030303020204" pitchFamily="34" charset="0"/>
              </a:rPr>
              <a:t>A season-long event conducted in the field wherein the farmers are encouraged to explore and discover for themselves new technologies/options a systemic manner and to make decisions based on their own learning.</a:t>
            </a:r>
          </a:p>
          <a:p>
            <a:pPr marL="0" indent="0">
              <a:buNone/>
            </a:pPr>
            <a:endParaRPr lang="en-PH" sz="2800" dirty="0" smtClean="0">
              <a:solidFill>
                <a:schemeClr val="bg1"/>
              </a:solidFill>
              <a:latin typeface="Candara" panose="020E0502030303020204" pitchFamily="34" charset="0"/>
            </a:endParaRPr>
          </a:p>
          <a:p>
            <a:pPr marL="0" indent="0">
              <a:buNone/>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04638099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09" y="117866"/>
            <a:ext cx="9404723" cy="1363203"/>
          </a:xfrm>
        </p:spPr>
        <p:txBody>
          <a:bodyPr/>
          <a:lstStyle/>
          <a:p>
            <a:pPr algn="ctr"/>
            <a:r>
              <a:rPr lang="en-PH" dirty="0" smtClean="0">
                <a:solidFill>
                  <a:schemeClr val="bg1"/>
                </a:solidFill>
                <a:latin typeface="Candara" panose="020E0502030303020204" pitchFamily="34" charset="0"/>
              </a:rPr>
              <a:t>Mass Method</a:t>
            </a:r>
            <a:br>
              <a:rPr lang="en-PH" dirty="0" smtClean="0">
                <a:solidFill>
                  <a:schemeClr val="bg1"/>
                </a:solidFill>
                <a:latin typeface="Candara" panose="020E0502030303020204" pitchFamily="34" charset="0"/>
              </a:rPr>
            </a:br>
            <a:r>
              <a:rPr lang="en-PH" sz="3200" i="1" dirty="0" smtClean="0">
                <a:solidFill>
                  <a:schemeClr val="bg1"/>
                </a:solidFill>
                <a:latin typeface="Candara" panose="020E0502030303020204" pitchFamily="34" charset="0"/>
              </a:rPr>
              <a:t>(Printed Media)</a:t>
            </a:r>
            <a:endParaRPr lang="en-PH" sz="3200"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1763841" y="1854559"/>
            <a:ext cx="8946541" cy="3691060"/>
          </a:xfrm>
        </p:spPr>
        <p:txBody>
          <a:bodyPr numCol="2">
            <a:noAutofit/>
          </a:bodyPr>
          <a:lstStyle/>
          <a:p>
            <a:pPr marL="457200" indent="-457200">
              <a:buAutoNum type="alphaLcPeriod"/>
            </a:pPr>
            <a:r>
              <a:rPr lang="en-PH" sz="2800" dirty="0" smtClean="0">
                <a:solidFill>
                  <a:schemeClr val="bg1"/>
                </a:solidFill>
                <a:latin typeface="Candara" panose="020E0502030303020204" pitchFamily="34" charset="0"/>
              </a:rPr>
              <a:t>Primer</a:t>
            </a:r>
          </a:p>
          <a:p>
            <a:pPr marL="457200" indent="-457200">
              <a:buAutoNum type="alphaLcPeriod"/>
            </a:pPr>
            <a:r>
              <a:rPr lang="en-PH" sz="2800" dirty="0" smtClean="0">
                <a:solidFill>
                  <a:schemeClr val="bg1"/>
                </a:solidFill>
                <a:latin typeface="Candara" panose="020E0502030303020204" pitchFamily="34" charset="0"/>
              </a:rPr>
              <a:t>Leaflet</a:t>
            </a:r>
          </a:p>
          <a:p>
            <a:pPr marL="457200" indent="-457200">
              <a:buAutoNum type="alphaLcPeriod"/>
            </a:pPr>
            <a:r>
              <a:rPr lang="en-PH" sz="2800" dirty="0" smtClean="0">
                <a:solidFill>
                  <a:schemeClr val="bg1"/>
                </a:solidFill>
                <a:latin typeface="Candara" panose="020E0502030303020204" pitchFamily="34" charset="0"/>
              </a:rPr>
              <a:t>Brochure</a:t>
            </a:r>
          </a:p>
          <a:p>
            <a:pPr marL="457200" indent="-457200">
              <a:buAutoNum type="alphaLcPeriod"/>
            </a:pPr>
            <a:r>
              <a:rPr lang="en-PH" sz="2800" dirty="0" smtClean="0">
                <a:solidFill>
                  <a:schemeClr val="bg1"/>
                </a:solidFill>
                <a:latin typeface="Candara" panose="020E0502030303020204" pitchFamily="34" charset="0"/>
              </a:rPr>
              <a:t>Booklet</a:t>
            </a:r>
          </a:p>
          <a:p>
            <a:pPr marL="457200" indent="-457200">
              <a:buAutoNum type="alphaLcPeriod"/>
            </a:pPr>
            <a:r>
              <a:rPr lang="en-PH" sz="2800" dirty="0" err="1" smtClean="0">
                <a:solidFill>
                  <a:schemeClr val="bg1"/>
                </a:solidFill>
                <a:latin typeface="Candara" panose="020E0502030303020204" pitchFamily="34" charset="0"/>
              </a:rPr>
              <a:t>Handouts</a:t>
            </a:r>
            <a:endParaRPr lang="en-PH" sz="2800" dirty="0" smtClean="0">
              <a:solidFill>
                <a:schemeClr val="bg1"/>
              </a:solidFill>
              <a:latin typeface="Candara" panose="020E0502030303020204" pitchFamily="34" charset="0"/>
            </a:endParaRPr>
          </a:p>
          <a:p>
            <a:pPr marL="457200" indent="-457200">
              <a:buAutoNum type="alphaLcPeriod"/>
            </a:pPr>
            <a:r>
              <a:rPr lang="en-PH" sz="2800" dirty="0" smtClean="0">
                <a:solidFill>
                  <a:schemeClr val="bg1"/>
                </a:solidFill>
                <a:latin typeface="Candara" panose="020E0502030303020204" pitchFamily="34" charset="0"/>
              </a:rPr>
              <a:t>Newsletter</a:t>
            </a:r>
          </a:p>
          <a:p>
            <a:pPr marL="457200" indent="-457200">
              <a:buAutoNum type="alphaLcPeriod"/>
            </a:pPr>
            <a:r>
              <a:rPr lang="en-PH" sz="2800" dirty="0" smtClean="0">
                <a:solidFill>
                  <a:schemeClr val="bg1"/>
                </a:solidFill>
                <a:latin typeface="Candara" panose="020E0502030303020204" pitchFamily="34" charset="0"/>
              </a:rPr>
              <a:t>Factsheet</a:t>
            </a:r>
          </a:p>
          <a:p>
            <a:pPr marL="457200" indent="-457200">
              <a:buAutoNum type="alphaLcPeriod"/>
            </a:pPr>
            <a:r>
              <a:rPr lang="en-PH" sz="2800" dirty="0" err="1" smtClean="0">
                <a:solidFill>
                  <a:schemeClr val="bg1"/>
                </a:solidFill>
                <a:latin typeface="Candara" panose="020E0502030303020204" pitchFamily="34" charset="0"/>
              </a:rPr>
              <a:t>Photonovel</a:t>
            </a:r>
            <a:endParaRPr lang="en-PH" sz="2800" dirty="0" smtClean="0">
              <a:solidFill>
                <a:schemeClr val="bg1"/>
              </a:solidFill>
              <a:latin typeface="Candara" panose="020E0502030303020204" pitchFamily="34" charset="0"/>
            </a:endParaRPr>
          </a:p>
          <a:p>
            <a:pPr marL="457200" indent="-457200">
              <a:buAutoNum type="alphaLcPeriod"/>
            </a:pPr>
            <a:r>
              <a:rPr lang="en-PH" sz="2800" dirty="0" smtClean="0">
                <a:solidFill>
                  <a:schemeClr val="bg1"/>
                </a:solidFill>
                <a:latin typeface="Candara" panose="020E0502030303020204" pitchFamily="34" charset="0"/>
              </a:rPr>
              <a:t>Newspapers</a:t>
            </a:r>
          </a:p>
          <a:p>
            <a:pPr marL="457200" indent="-457200">
              <a:buAutoNum type="alphaLcPeriod"/>
            </a:pPr>
            <a:r>
              <a:rPr lang="en-PH" sz="2800" dirty="0" smtClean="0">
                <a:solidFill>
                  <a:schemeClr val="bg1"/>
                </a:solidFill>
                <a:latin typeface="Candara" panose="020E0502030303020204" pitchFamily="34" charset="0"/>
              </a:rPr>
              <a:t>Wall newspaper</a:t>
            </a:r>
          </a:p>
          <a:p>
            <a:pPr marL="457200" indent="-457200">
              <a:buAutoNum type="alphaLcPeriod"/>
            </a:pPr>
            <a:r>
              <a:rPr lang="en-PH" sz="2800" dirty="0" smtClean="0">
                <a:solidFill>
                  <a:schemeClr val="bg1"/>
                </a:solidFill>
                <a:latin typeface="Candara" panose="020E0502030303020204" pitchFamily="34" charset="0"/>
              </a:rPr>
              <a:t>Flyer</a:t>
            </a:r>
          </a:p>
          <a:p>
            <a:pPr marL="457200" indent="-457200">
              <a:buAutoNum type="alphaLcPeriod"/>
            </a:pPr>
            <a:r>
              <a:rPr lang="en-PH" sz="2800" dirty="0" smtClean="0">
                <a:solidFill>
                  <a:schemeClr val="bg1"/>
                </a:solidFill>
                <a:latin typeface="Candara" panose="020E0502030303020204" pitchFamily="34" charset="0"/>
              </a:rPr>
              <a:t>Poster</a:t>
            </a:r>
          </a:p>
          <a:p>
            <a:pPr marL="457200" indent="-457200">
              <a:buAutoNum type="alphaLcPeriod"/>
            </a:pPr>
            <a:r>
              <a:rPr lang="en-PH" sz="2800" dirty="0" smtClean="0">
                <a:solidFill>
                  <a:schemeClr val="bg1"/>
                </a:solidFill>
                <a:latin typeface="Candara" panose="020E0502030303020204" pitchFamily="34" charset="0"/>
              </a:rPr>
              <a:t>Bulletin</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307000553"/>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1. PRIMER-</a:t>
            </a:r>
            <a:r>
              <a:rPr lang="en-PH" sz="2800" dirty="0" smtClean="0">
                <a:solidFill>
                  <a:schemeClr val="bg1"/>
                </a:solidFill>
                <a:latin typeface="Candara" panose="020E0502030303020204" pitchFamily="34" charset="0"/>
              </a:rPr>
              <a:t> is a pamphlet of more than four (4) pages containing essential information on a technology package. Essentially, this is the popular or layman’s level.</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2. LEAFLET- </a:t>
            </a:r>
            <a:r>
              <a:rPr lang="en-PH" sz="2800" dirty="0" smtClean="0">
                <a:solidFill>
                  <a:schemeClr val="bg1"/>
                </a:solidFill>
                <a:latin typeface="Candara" panose="020E0502030303020204" pitchFamily="34" charset="0"/>
              </a:rPr>
              <a:t>is a single-sheet information that is not necessarily a step-by-step procedural instruction to follow, but is also needed by the farmer. </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3. BROCHURE- </a:t>
            </a:r>
            <a:r>
              <a:rPr lang="en-PH" sz="2800" dirty="0" smtClean="0">
                <a:solidFill>
                  <a:schemeClr val="bg1"/>
                </a:solidFill>
                <a:latin typeface="Candara" panose="020E0502030303020204" pitchFamily="34" charset="0"/>
              </a:rPr>
              <a:t>thin, unbounded book containing a specific topic; more detailed than a leaflet.</a:t>
            </a:r>
          </a:p>
          <a:p>
            <a:pPr marL="0" indent="0">
              <a:buNone/>
            </a:pPr>
            <a:endParaRPr lang="en-PH" sz="2800" dirty="0">
              <a:solidFill>
                <a:schemeClr val="bg1"/>
              </a:solidFill>
              <a:latin typeface="Candara" panose="020E0502030303020204" pitchFamily="34" charset="0"/>
            </a:endParaRP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72759933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4. BOOKLET- </a:t>
            </a:r>
            <a:r>
              <a:rPr lang="en-PH" sz="2800" dirty="0" smtClean="0">
                <a:solidFill>
                  <a:schemeClr val="bg1"/>
                </a:solidFill>
                <a:latin typeface="Candara" panose="020E0502030303020204" pitchFamily="34" charset="0"/>
              </a:rPr>
              <a:t>consist of up to 20 pages joined at the spine, longer than brochure</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5. HANDOUTS- </a:t>
            </a:r>
            <a:r>
              <a:rPr lang="en-PH" sz="2800" dirty="0" smtClean="0">
                <a:solidFill>
                  <a:schemeClr val="bg1"/>
                </a:solidFill>
                <a:latin typeface="Candara" panose="020E0502030303020204" pitchFamily="34" charset="0"/>
              </a:rPr>
              <a:t>supplements to lectures, contains some topic/ information discussed in a lecture.</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6. NEWSLETTER- </a:t>
            </a:r>
            <a:r>
              <a:rPr lang="en-PH" sz="2800" dirty="0" smtClean="0">
                <a:solidFill>
                  <a:schemeClr val="bg1"/>
                </a:solidFill>
                <a:latin typeface="Candara" panose="020E0502030303020204" pitchFamily="34" charset="0"/>
              </a:rPr>
              <a:t>a regularly issued publication, keeps people abreast to what is happening in their field of interest.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90392490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dirty="0" smtClean="0">
                <a:solidFill>
                  <a:schemeClr val="bg1"/>
                </a:solidFill>
                <a:latin typeface="Candara" panose="020E0502030303020204" pitchFamily="34" charset="0"/>
              </a:rPr>
              <a:t>7.</a:t>
            </a:r>
            <a:r>
              <a:rPr lang="en-PH" sz="2800" b="1" dirty="0" smtClean="0">
                <a:solidFill>
                  <a:schemeClr val="bg1"/>
                </a:solidFill>
                <a:latin typeface="Candara" panose="020E0502030303020204" pitchFamily="34" charset="0"/>
              </a:rPr>
              <a:t> FACTSHEET- </a:t>
            </a:r>
            <a:r>
              <a:rPr lang="en-PH" sz="2800" dirty="0" smtClean="0">
                <a:solidFill>
                  <a:schemeClr val="bg1"/>
                </a:solidFill>
                <a:latin typeface="Candara" panose="020E0502030303020204" pitchFamily="34" charset="0"/>
              </a:rPr>
              <a:t>contains useful information and instructions about a specific subject matter; one page,  continuous publication</a:t>
            </a:r>
          </a:p>
          <a:p>
            <a:pPr marL="0" indent="0">
              <a:buNone/>
            </a:pPr>
            <a:endParaRPr lang="en-PH" sz="2800" dirty="0">
              <a:solidFill>
                <a:schemeClr val="bg1"/>
              </a:solidFill>
              <a:latin typeface="Candara" panose="020E0502030303020204" pitchFamily="34" charset="0"/>
            </a:endParaRPr>
          </a:p>
          <a:p>
            <a:pPr marL="0" indent="0">
              <a:buNone/>
            </a:pPr>
            <a:r>
              <a:rPr lang="en-PH" sz="2800" dirty="0" smtClean="0">
                <a:solidFill>
                  <a:schemeClr val="bg1"/>
                </a:solidFill>
                <a:latin typeface="Candara" panose="020E0502030303020204" pitchFamily="34" charset="0"/>
              </a:rPr>
              <a:t>8. </a:t>
            </a:r>
            <a:r>
              <a:rPr lang="en-PH" sz="2800" b="1" dirty="0" smtClean="0">
                <a:solidFill>
                  <a:schemeClr val="bg1"/>
                </a:solidFill>
                <a:latin typeface="Candara" panose="020E0502030303020204" pitchFamily="34" charset="0"/>
              </a:rPr>
              <a:t>PHOTONOVEL</a:t>
            </a:r>
            <a:r>
              <a:rPr lang="en-PH" sz="2800" dirty="0" smtClean="0">
                <a:solidFill>
                  <a:schemeClr val="bg1"/>
                </a:solidFill>
                <a:latin typeface="Candara" panose="020E0502030303020204" pitchFamily="34" charset="0"/>
              </a:rPr>
              <a:t>- generic for printed materials in comics format; include illustration and text; a subtle way of putting a message wherein a developmental message is incorporated in the story.</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9. NEWSPAPER- </a:t>
            </a:r>
            <a:r>
              <a:rPr lang="en-PH" sz="2800" dirty="0" smtClean="0">
                <a:solidFill>
                  <a:schemeClr val="bg1"/>
                </a:solidFill>
                <a:latin typeface="Candara" panose="020E0502030303020204" pitchFamily="34" charset="0"/>
              </a:rPr>
              <a:t>this print materials provides a valuable channel for transmission of educational information where they exist and where rural people receive and read them.</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66361831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10. WALL NEWSPAPER- </a:t>
            </a:r>
            <a:r>
              <a:rPr lang="en-PH" sz="2800" dirty="0" smtClean="0">
                <a:solidFill>
                  <a:schemeClr val="bg1"/>
                </a:solidFill>
                <a:latin typeface="Candara" panose="020E0502030303020204" pitchFamily="34" charset="0"/>
              </a:rPr>
              <a:t>similar in size and appearance to posters. One difference is that the wall newspaper usually attempts to communicate more than one idea and has more illustration.</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11. FLYERS- </a:t>
            </a:r>
            <a:r>
              <a:rPr lang="en-PH" sz="2800" dirty="0" smtClean="0">
                <a:solidFill>
                  <a:schemeClr val="bg1"/>
                </a:solidFill>
                <a:latin typeface="Candara" panose="020E0502030303020204" pitchFamily="34" charset="0"/>
              </a:rPr>
              <a:t>a single sheet printed material summarizing information on technology package or component technology. It bears illustration and brief text, preferably in the clients dialect.</a:t>
            </a:r>
          </a:p>
          <a:p>
            <a:pPr marL="0" indent="0">
              <a:buNone/>
            </a:pPr>
            <a:endParaRPr lang="en-PH" sz="2800" dirty="0" smtClean="0">
              <a:solidFill>
                <a:schemeClr val="bg1"/>
              </a:solidFill>
              <a:latin typeface="Candara" panose="020E0502030303020204" pitchFamily="34" charset="0"/>
            </a:endParaRPr>
          </a:p>
          <a:p>
            <a:pPr marL="0" indent="0">
              <a:buNone/>
            </a:pPr>
            <a:endParaRPr lang="en-PH" sz="2800" dirty="0">
              <a:solidFill>
                <a:schemeClr val="bg1"/>
              </a:solidFill>
              <a:latin typeface="Candara" panose="020E0502030303020204" pitchFamily="34" charset="0"/>
            </a:endParaRP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61221843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12. POSTER- </a:t>
            </a:r>
            <a:r>
              <a:rPr lang="en-PH" sz="2800" dirty="0" smtClean="0">
                <a:solidFill>
                  <a:schemeClr val="bg1"/>
                </a:solidFill>
                <a:latin typeface="Candara" panose="020E0502030303020204" pitchFamily="34" charset="0"/>
              </a:rPr>
              <a:t>a single sheet visuals containing photographs with captions to highlight a recommendation or promote awareness. The poster is intended to attract initial attention or provided constant reminder about a recommendation or message.</a:t>
            </a:r>
          </a:p>
          <a:p>
            <a:pPr marL="0" indent="0">
              <a:buNone/>
            </a:pPr>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13. BULLETIN- </a:t>
            </a:r>
            <a:r>
              <a:rPr lang="en-PH" sz="2800" dirty="0" smtClean="0">
                <a:solidFill>
                  <a:schemeClr val="bg1"/>
                </a:solidFill>
                <a:latin typeface="Candara" panose="020E0502030303020204" pitchFamily="34" charset="0"/>
              </a:rPr>
              <a:t>is a semi-technical publication on a package of technology intended for extension workers.</a:t>
            </a:r>
            <a:endParaRPr lang="en-PH" sz="28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109088183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(PRINTED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lnSpcReduction="10000"/>
          </a:bodyPr>
          <a:lstStyle/>
          <a:p>
            <a:pPr marL="0" indent="0">
              <a:buNone/>
            </a:pPr>
            <a:r>
              <a:rPr lang="en-PH" sz="2800" i="1" u="sng" dirty="0" smtClean="0">
                <a:solidFill>
                  <a:schemeClr val="bg1"/>
                </a:solidFill>
                <a:latin typeface="Candara" panose="020E0502030303020204" pitchFamily="34" charset="0"/>
              </a:rPr>
              <a:t>Reminders:</a:t>
            </a:r>
          </a:p>
          <a:p>
            <a:r>
              <a:rPr lang="en-PH" sz="2800" dirty="0" smtClean="0">
                <a:solidFill>
                  <a:schemeClr val="bg1"/>
                </a:solidFill>
                <a:latin typeface="Candara" panose="020E0502030303020204" pitchFamily="34" charset="0"/>
              </a:rPr>
              <a:t>Avoid being too wordy. Keep the message short and simple.</a:t>
            </a:r>
          </a:p>
          <a:p>
            <a:r>
              <a:rPr lang="en-PH" sz="2800" dirty="0" smtClean="0">
                <a:solidFill>
                  <a:schemeClr val="bg1"/>
                </a:solidFill>
                <a:latin typeface="Candara" panose="020E0502030303020204" pitchFamily="34" charset="0"/>
              </a:rPr>
              <a:t>Use abbreviations or symbols correctly.</a:t>
            </a:r>
          </a:p>
          <a:p>
            <a:r>
              <a:rPr lang="en-PH" sz="2800" dirty="0" smtClean="0">
                <a:solidFill>
                  <a:schemeClr val="bg1"/>
                </a:solidFill>
                <a:latin typeface="Candara" panose="020E0502030303020204" pitchFamily="34" charset="0"/>
              </a:rPr>
              <a:t>Be accurate and precise in the information to be presented.</a:t>
            </a:r>
          </a:p>
          <a:p>
            <a:pPr marL="0" indent="0">
              <a:buNone/>
            </a:pPr>
            <a:r>
              <a:rPr lang="en-PH" sz="2800" i="1" u="sng" dirty="0" smtClean="0">
                <a:solidFill>
                  <a:schemeClr val="bg1"/>
                </a:solidFill>
                <a:latin typeface="Candara" panose="020E0502030303020204" pitchFamily="34" charset="0"/>
              </a:rPr>
              <a:t>Strong points:</a:t>
            </a:r>
          </a:p>
          <a:p>
            <a:r>
              <a:rPr lang="en-PH" sz="2800" dirty="0" smtClean="0">
                <a:solidFill>
                  <a:schemeClr val="bg1"/>
                </a:solidFill>
                <a:latin typeface="Candara" panose="020E0502030303020204" pitchFamily="34" charset="0"/>
              </a:rPr>
              <a:t>Should be attractive and handy.</a:t>
            </a:r>
          </a:p>
          <a:p>
            <a:pPr marL="0" indent="0">
              <a:buNone/>
            </a:pPr>
            <a:r>
              <a:rPr lang="en-PH" sz="2800" i="1" u="sng" dirty="0" smtClean="0">
                <a:solidFill>
                  <a:schemeClr val="bg1"/>
                </a:solidFill>
                <a:latin typeface="Candara" panose="020E0502030303020204" pitchFamily="34" charset="0"/>
              </a:rPr>
              <a:t>Weak point:</a:t>
            </a:r>
          </a:p>
          <a:p>
            <a:r>
              <a:rPr lang="en-PH" sz="2800" dirty="0" smtClean="0">
                <a:solidFill>
                  <a:schemeClr val="bg1"/>
                </a:solidFill>
                <a:latin typeface="Candara" panose="020E0502030303020204" pitchFamily="34" charset="0"/>
              </a:rPr>
              <a:t>People with limited education may not appreciate the printed info.</a:t>
            </a:r>
          </a:p>
          <a:p>
            <a:r>
              <a:rPr lang="en-PH" sz="2800" dirty="0" smtClean="0">
                <a:solidFill>
                  <a:schemeClr val="bg1"/>
                </a:solidFill>
                <a:latin typeface="Candara" panose="020E0502030303020204" pitchFamily="34" charset="0"/>
              </a:rPr>
              <a:t>Revisions have to be made from time to </a:t>
            </a:r>
            <a:r>
              <a:rPr lang="en-PH" sz="2800" dirty="0" err="1" smtClean="0">
                <a:solidFill>
                  <a:schemeClr val="bg1"/>
                </a:solidFill>
                <a:latin typeface="Candara" panose="020E0502030303020204" pitchFamily="34" charset="0"/>
              </a:rPr>
              <a:t>timw</a:t>
            </a:r>
            <a:r>
              <a:rPr lang="en-PH" sz="2800" dirty="0" smtClean="0">
                <a:solidFill>
                  <a:schemeClr val="bg1"/>
                </a:solidFill>
                <a:latin typeface="Candara" panose="020E0502030303020204" pitchFamily="34" charset="0"/>
              </a:rPr>
              <a: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09916364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57896"/>
          </a:xfrm>
        </p:spPr>
        <p:txBody>
          <a:bodyPr/>
          <a:lstStyle/>
          <a:p>
            <a:pPr algn="ctr"/>
            <a:r>
              <a:rPr lang="en-PH" dirty="0" smtClean="0">
                <a:solidFill>
                  <a:schemeClr val="bg1"/>
                </a:solidFill>
                <a:latin typeface="Candara" panose="020E0502030303020204" pitchFamily="34" charset="0"/>
              </a:rPr>
              <a:t>Mass Method</a:t>
            </a:r>
            <a:endParaRPr lang="en-PH" dirty="0">
              <a:solidFill>
                <a:schemeClr val="bg1"/>
              </a:solidFill>
              <a:latin typeface="Candara" panose="020E0502030303020204" pitchFamily="34" charset="0"/>
            </a:endParaRPr>
          </a:p>
        </p:txBody>
      </p:sp>
      <p:sp>
        <p:nvSpPr>
          <p:cNvPr id="3" name="Content Placeholder 2"/>
          <p:cNvSpPr>
            <a:spLocks noGrp="1"/>
          </p:cNvSpPr>
          <p:nvPr>
            <p:ph idx="1"/>
          </p:nvPr>
        </p:nvSpPr>
        <p:spPr>
          <a:xfrm>
            <a:off x="2012843" y="1615036"/>
            <a:ext cx="6671257" cy="3691060"/>
          </a:xfrm>
        </p:spPr>
        <p:txBody>
          <a:bodyPr numCol="1">
            <a:noAutofit/>
          </a:bodyPr>
          <a:lstStyle/>
          <a:p>
            <a:pPr marL="0" indent="0" algn="ctr">
              <a:buNone/>
            </a:pPr>
            <a:r>
              <a:rPr lang="en-PH" sz="3600" u="sng" dirty="0" smtClean="0">
                <a:solidFill>
                  <a:schemeClr val="bg1"/>
                </a:solidFill>
                <a:latin typeface="Candara" panose="020E0502030303020204" pitchFamily="34" charset="0"/>
              </a:rPr>
              <a:t>MASS MEDIA</a:t>
            </a:r>
          </a:p>
          <a:p>
            <a:pPr marL="0" indent="0" algn="ctr">
              <a:buNone/>
            </a:pPr>
            <a:r>
              <a:rPr lang="en-PH" sz="3600" dirty="0" smtClean="0">
                <a:solidFill>
                  <a:schemeClr val="bg1"/>
                </a:solidFill>
                <a:latin typeface="Candara" panose="020E0502030303020204" pitchFamily="34" charset="0"/>
              </a:rPr>
              <a:t>1. Radio</a:t>
            </a:r>
          </a:p>
          <a:p>
            <a:pPr marL="0" indent="0" algn="ctr">
              <a:buNone/>
            </a:pPr>
            <a:r>
              <a:rPr lang="en-PH" sz="3600" dirty="0" smtClean="0">
                <a:solidFill>
                  <a:schemeClr val="bg1"/>
                </a:solidFill>
                <a:latin typeface="Candara" panose="020E0502030303020204" pitchFamily="34" charset="0"/>
              </a:rPr>
              <a:t>2. Television</a:t>
            </a:r>
          </a:p>
          <a:p>
            <a:pPr marL="0" indent="0" algn="ctr">
              <a:buNone/>
            </a:pPr>
            <a:r>
              <a:rPr lang="en-PH" sz="3600" dirty="0" smtClean="0">
                <a:solidFill>
                  <a:schemeClr val="bg1"/>
                </a:solidFill>
                <a:latin typeface="Candara" panose="020E0502030303020204" pitchFamily="34" charset="0"/>
              </a:rPr>
              <a:t>3. Exhibit</a:t>
            </a:r>
          </a:p>
          <a:p>
            <a:pPr marL="457200" indent="-457200" algn="ctr">
              <a:buAutoNum type="alphaLcPeriod"/>
            </a:pPr>
            <a:endParaRPr lang="en-PH" sz="36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023632052"/>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(BROADCAST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RADIO-</a:t>
            </a:r>
            <a:r>
              <a:rPr lang="en-PH" sz="2800" dirty="0" smtClean="0">
                <a:solidFill>
                  <a:schemeClr val="bg1"/>
                </a:solidFill>
                <a:latin typeface="Candara" panose="020E0502030303020204" pitchFamily="34" charset="0"/>
              </a:rPr>
              <a:t> a presentation medium which basically makes use of the 	audio mode in disseminating information.</a:t>
            </a:r>
          </a:p>
          <a:p>
            <a:r>
              <a:rPr lang="en-PH" sz="2800" dirty="0" smtClean="0">
                <a:solidFill>
                  <a:schemeClr val="bg1"/>
                </a:solidFill>
                <a:latin typeface="Candara" panose="020E0502030303020204" pitchFamily="34" charset="0"/>
              </a:rPr>
              <a:t>It can reach more people even in the far flanked areas.</a:t>
            </a:r>
          </a:p>
          <a:p>
            <a:endParaRPr lang="en-PH" sz="2800" dirty="0">
              <a:solidFill>
                <a:schemeClr val="bg1"/>
              </a:solidFill>
              <a:latin typeface="Candara" panose="020E0502030303020204" pitchFamily="34" charset="0"/>
            </a:endParaRPr>
          </a:p>
          <a:p>
            <a:pPr marL="0" indent="0">
              <a:buNone/>
            </a:pPr>
            <a:r>
              <a:rPr lang="en-PH" sz="2800" b="1" dirty="0" smtClean="0">
                <a:solidFill>
                  <a:schemeClr val="bg1"/>
                </a:solidFill>
                <a:latin typeface="Candara" panose="020E0502030303020204" pitchFamily="34" charset="0"/>
              </a:rPr>
              <a:t>TELEVISION- </a:t>
            </a:r>
            <a:r>
              <a:rPr lang="en-PH" sz="2800" dirty="0" smtClean="0">
                <a:solidFill>
                  <a:schemeClr val="bg1"/>
                </a:solidFill>
                <a:latin typeface="Candara" panose="020E0502030303020204" pitchFamily="34" charset="0"/>
              </a:rPr>
              <a:t>face-to-face communication</a:t>
            </a:r>
          </a:p>
          <a:p>
            <a:r>
              <a:rPr lang="en-PH" sz="2800" dirty="0" smtClean="0">
                <a:solidFill>
                  <a:schemeClr val="bg1"/>
                </a:solidFill>
                <a:latin typeface="Candara" panose="020E0502030303020204" pitchFamily="34" charset="0"/>
              </a:rPr>
              <a:t>Visuals undoubtedly increase effectiveness of message.</a:t>
            </a:r>
          </a:p>
          <a:p>
            <a:pPr marL="0" indent="0">
              <a:buNone/>
            </a:pP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60443560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56504"/>
            <a:ext cx="9404723" cy="1400530"/>
          </a:xfrm>
        </p:spPr>
        <p:txBody>
          <a:bodyPr/>
          <a:lstStyle/>
          <a:p>
            <a:pPr algn="ctr"/>
            <a:r>
              <a:rPr lang="en-PH" sz="2800" i="1" dirty="0" smtClean="0">
                <a:solidFill>
                  <a:schemeClr val="bg1"/>
                </a:solidFill>
                <a:latin typeface="Candara" panose="020E0502030303020204" pitchFamily="34" charset="0"/>
              </a:rPr>
              <a:t>Mass Media</a:t>
            </a:r>
            <a:r>
              <a:rPr lang="en-PH" dirty="0" smtClean="0">
                <a:solidFill>
                  <a:schemeClr val="bg1"/>
                </a:solidFill>
                <a:latin typeface="Candara" panose="020E0502030303020204" pitchFamily="34" charset="0"/>
              </a:rPr>
              <a:t/>
            </a:r>
            <a:br>
              <a:rPr lang="en-PH" dirty="0" smtClean="0">
                <a:solidFill>
                  <a:schemeClr val="bg1"/>
                </a:solidFill>
                <a:latin typeface="Candara" panose="020E0502030303020204" pitchFamily="34" charset="0"/>
              </a:rPr>
            </a:br>
            <a:r>
              <a:rPr lang="en-PH" b="1" dirty="0" smtClean="0">
                <a:solidFill>
                  <a:schemeClr val="bg1"/>
                </a:solidFill>
                <a:latin typeface="Candara" panose="020E0502030303020204" pitchFamily="34" charset="0"/>
              </a:rPr>
              <a:t>(BROADCAST MEDIA)</a:t>
            </a:r>
            <a:endParaRPr lang="en-PH" b="1" dirty="0">
              <a:solidFill>
                <a:schemeClr val="bg1"/>
              </a:solidFill>
              <a:latin typeface="Candara" panose="020E0502030303020204" pitchFamily="34" charset="0"/>
            </a:endParaRPr>
          </a:p>
        </p:txBody>
      </p:sp>
      <p:sp>
        <p:nvSpPr>
          <p:cNvPr id="3" name="Content Placeholder 2"/>
          <p:cNvSpPr>
            <a:spLocks noGrp="1"/>
          </p:cNvSpPr>
          <p:nvPr>
            <p:ph idx="1"/>
          </p:nvPr>
        </p:nvSpPr>
        <p:spPr>
          <a:xfrm>
            <a:off x="645130" y="1557034"/>
            <a:ext cx="10507974" cy="4933918"/>
          </a:xfrm>
        </p:spPr>
        <p:txBody>
          <a:bodyPr>
            <a:normAutofit/>
          </a:bodyPr>
          <a:lstStyle/>
          <a:p>
            <a:pPr marL="0" indent="0">
              <a:buNone/>
            </a:pPr>
            <a:r>
              <a:rPr lang="en-PH" sz="2800" b="1" dirty="0" smtClean="0">
                <a:solidFill>
                  <a:schemeClr val="bg1"/>
                </a:solidFill>
                <a:latin typeface="Candara" panose="020E0502030303020204" pitchFamily="34" charset="0"/>
              </a:rPr>
              <a:t>3. EXHIBITS- </a:t>
            </a:r>
            <a:r>
              <a:rPr lang="en-PH" sz="2800" dirty="0" smtClean="0">
                <a:solidFill>
                  <a:schemeClr val="bg1"/>
                </a:solidFill>
                <a:latin typeface="Candara" panose="020E0502030303020204" pitchFamily="34" charset="0"/>
              </a:rPr>
              <a:t>public display of technologies, </a:t>
            </a:r>
            <a:r>
              <a:rPr lang="en-PH" sz="2800" dirty="0" err="1" smtClean="0">
                <a:solidFill>
                  <a:schemeClr val="bg1"/>
                </a:solidFill>
                <a:latin typeface="Candara" panose="020E0502030303020204" pitchFamily="34" charset="0"/>
              </a:rPr>
              <a:t>innovatin</a:t>
            </a:r>
            <a:r>
              <a:rPr lang="en-PH" sz="2800" dirty="0" smtClean="0">
                <a:solidFill>
                  <a:schemeClr val="bg1"/>
                </a:solidFill>
                <a:latin typeface="Candara" panose="020E0502030303020204" pitchFamily="34" charset="0"/>
              </a:rPr>
              <a:t>, products, services, etc. </a:t>
            </a:r>
          </a:p>
          <a:p>
            <a:r>
              <a:rPr lang="en-PH" sz="2800" b="1" dirty="0" smtClean="0">
                <a:solidFill>
                  <a:schemeClr val="bg1"/>
                </a:solidFill>
                <a:latin typeface="Candara" panose="020E0502030303020204" pitchFamily="34" charset="0"/>
              </a:rPr>
              <a:t>It showcase the technologies that farmers can adopt.</a:t>
            </a:r>
          </a:p>
          <a:p>
            <a:pPr marL="0" indent="0">
              <a:buNone/>
            </a:pPr>
            <a:r>
              <a:rPr lang="en-PH" sz="2800" i="1" u="sng" dirty="0" smtClean="0">
                <a:solidFill>
                  <a:schemeClr val="bg1"/>
                </a:solidFill>
                <a:latin typeface="Candara" panose="020E0502030303020204" pitchFamily="34" charset="0"/>
              </a:rPr>
              <a:t>Remember:</a:t>
            </a:r>
          </a:p>
          <a:p>
            <a:r>
              <a:rPr lang="en-PH" sz="2800" dirty="0" smtClean="0">
                <a:solidFill>
                  <a:schemeClr val="bg1"/>
                </a:solidFill>
                <a:latin typeface="Candara" panose="020E0502030303020204" pitchFamily="34" charset="0"/>
              </a:rPr>
              <a:t>It should be properly planned out well in advance. </a:t>
            </a:r>
          </a:p>
          <a:p>
            <a:r>
              <a:rPr lang="en-PH" sz="2800" dirty="0" smtClean="0">
                <a:solidFill>
                  <a:schemeClr val="bg1"/>
                </a:solidFill>
                <a:latin typeface="Candara" panose="020E0502030303020204" pitchFamily="34" charset="0"/>
              </a:rPr>
              <a:t>Real object should be included as these actually draw more viewers.</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979058128"/>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748" y="208019"/>
            <a:ext cx="9404723" cy="783654"/>
          </a:xfrm>
        </p:spPr>
        <p:txBody>
          <a:bodyPr/>
          <a:lstStyle/>
          <a:p>
            <a:pPr algn="ctr"/>
            <a:r>
              <a:rPr lang="en-PH" b="1" dirty="0" smtClean="0">
                <a:solidFill>
                  <a:schemeClr val="bg1"/>
                </a:solidFill>
                <a:effectLst>
                  <a:outerShdw blurRad="38100" dist="38100" dir="2700000" algn="tl">
                    <a:srgbClr val="000000">
                      <a:alpha val="43137"/>
                    </a:srgbClr>
                  </a:outerShdw>
                </a:effectLst>
                <a:latin typeface="Candara" panose="020E0502030303020204" pitchFamily="34" charset="0"/>
              </a:rPr>
              <a:t>Approaches in Extension</a:t>
            </a:r>
            <a:endParaRPr lang="en-PH" b="1" dirty="0">
              <a:solidFill>
                <a:schemeClr val="bg1"/>
              </a:solidFill>
              <a:effectLst>
                <a:outerShdw blurRad="38100" dist="38100" dir="2700000" algn="tl">
                  <a:srgbClr val="000000">
                    <a:alpha val="43137"/>
                  </a:srgbClr>
                </a:outerShdw>
              </a:effectLst>
              <a:latin typeface="Candara" panose="020E0502030303020204" pitchFamily="34" charset="0"/>
            </a:endParaRPr>
          </a:p>
        </p:txBody>
      </p:sp>
      <p:sp>
        <p:nvSpPr>
          <p:cNvPr id="3" name="Content Placeholder 2"/>
          <p:cNvSpPr>
            <a:spLocks noGrp="1"/>
          </p:cNvSpPr>
          <p:nvPr>
            <p:ph idx="1"/>
          </p:nvPr>
        </p:nvSpPr>
        <p:spPr>
          <a:xfrm>
            <a:off x="415346" y="991673"/>
            <a:ext cx="7270118" cy="5705341"/>
          </a:xfrm>
        </p:spPr>
        <p:txBody>
          <a:bodyPr>
            <a:normAutofit lnSpcReduction="10000"/>
          </a:bodyPr>
          <a:lstStyle/>
          <a:p>
            <a:pPr marL="0" indent="0">
              <a:buNone/>
            </a:pPr>
            <a:r>
              <a:rPr lang="en-PH" sz="2400" b="1" dirty="0" smtClean="0">
                <a:solidFill>
                  <a:schemeClr val="bg1"/>
                </a:solidFill>
                <a:latin typeface="Candara" panose="020E0502030303020204" pitchFamily="34" charset="0"/>
              </a:rPr>
              <a:t>APPROACHES</a:t>
            </a:r>
          </a:p>
          <a:p>
            <a:pPr>
              <a:buFont typeface="Wingdings" panose="05000000000000000000" pitchFamily="2" charset="2"/>
              <a:buChar char="Ø"/>
            </a:pPr>
            <a:r>
              <a:rPr lang="en-PH" sz="2400" dirty="0" smtClean="0">
                <a:solidFill>
                  <a:schemeClr val="bg1"/>
                </a:solidFill>
                <a:latin typeface="Candara" panose="020E0502030303020204" pitchFamily="34" charset="0"/>
              </a:rPr>
              <a:t>Embraces the whole spectrum of the process.</a:t>
            </a:r>
          </a:p>
          <a:p>
            <a:pPr>
              <a:buFont typeface="Wingdings" panose="05000000000000000000" pitchFamily="2" charset="2"/>
              <a:buChar char="Ø"/>
            </a:pPr>
            <a:r>
              <a:rPr lang="en-PH" sz="2400" dirty="0" smtClean="0">
                <a:solidFill>
                  <a:schemeClr val="bg1"/>
                </a:solidFill>
                <a:latin typeface="Candara" panose="020E0502030303020204" pitchFamily="34" charset="0"/>
              </a:rPr>
              <a:t>Enlightened view point toward teaching/technology promotion. It provides sound philosophy and orientation to the whole process of teaching/ techno promotion where the selection of a method is just a part of it.</a:t>
            </a:r>
          </a:p>
          <a:p>
            <a:pPr marL="0" indent="0">
              <a:buNone/>
            </a:pPr>
            <a:r>
              <a:rPr lang="en-PH" sz="2400" b="1" dirty="0" smtClean="0">
                <a:solidFill>
                  <a:schemeClr val="bg1"/>
                </a:solidFill>
                <a:latin typeface="Candara" panose="020E0502030303020204" pitchFamily="34" charset="0"/>
              </a:rPr>
              <a:t>METHOD</a:t>
            </a:r>
          </a:p>
          <a:p>
            <a:pPr>
              <a:buFont typeface="Wingdings" panose="05000000000000000000" pitchFamily="2" charset="2"/>
              <a:buChar char="Ø"/>
            </a:pPr>
            <a:r>
              <a:rPr lang="en-PH" sz="2400" dirty="0" smtClean="0">
                <a:solidFill>
                  <a:schemeClr val="bg1"/>
                </a:solidFill>
                <a:latin typeface="Candara" panose="020E0502030303020204" pitchFamily="34" charset="0"/>
              </a:rPr>
              <a:t>Is the procedural or step by step way of guiding prospective clients/ adaptors in knowing, trying and adopting specific technology.</a:t>
            </a:r>
          </a:p>
          <a:p>
            <a:pPr marL="0" indent="0">
              <a:buNone/>
            </a:pPr>
            <a:r>
              <a:rPr lang="en-PH" sz="2400" b="1" dirty="0" smtClean="0">
                <a:solidFill>
                  <a:schemeClr val="bg1"/>
                </a:solidFill>
                <a:latin typeface="Candara" panose="020E0502030303020204" pitchFamily="34" charset="0"/>
              </a:rPr>
              <a:t>TECHNIQUE</a:t>
            </a:r>
          </a:p>
          <a:p>
            <a:r>
              <a:rPr lang="en-PH" sz="2400" dirty="0" smtClean="0">
                <a:solidFill>
                  <a:schemeClr val="bg1"/>
                </a:solidFill>
                <a:latin typeface="Candara" panose="020E0502030303020204" pitchFamily="34" charset="0"/>
              </a:rPr>
              <a:t>It is a particular trick, strategy, individual artistry of the teachers.</a:t>
            </a:r>
          </a:p>
          <a:p>
            <a:pPr marL="457200" indent="-457200">
              <a:buAutoNum type="arabicPeriod"/>
            </a:pPr>
            <a:endParaRPr lang="en-PH" sz="2400" dirty="0">
              <a:solidFill>
                <a:schemeClr val="bg1"/>
              </a:solidFill>
              <a:latin typeface="Candara" panose="020E0502030303020204" pitchFamily="34" charset="0"/>
            </a:endParaRPr>
          </a:p>
        </p:txBody>
      </p:sp>
      <p:sp>
        <p:nvSpPr>
          <p:cNvPr id="4" name="Flowchart: Connector 3"/>
          <p:cNvSpPr/>
          <p:nvPr/>
        </p:nvSpPr>
        <p:spPr>
          <a:xfrm>
            <a:off x="7637171" y="1775327"/>
            <a:ext cx="4340181" cy="3218433"/>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solidFill>
                <a:schemeClr val="bg1"/>
              </a:solidFill>
              <a:latin typeface="Arial Rounded MT Bold" panose="020F0704030504030204" pitchFamily="34" charset="0"/>
            </a:endParaRPr>
          </a:p>
        </p:txBody>
      </p:sp>
      <p:sp>
        <p:nvSpPr>
          <p:cNvPr id="5" name="Flowchart: Connector 4"/>
          <p:cNvSpPr/>
          <p:nvPr/>
        </p:nvSpPr>
        <p:spPr>
          <a:xfrm>
            <a:off x="7814255" y="2703760"/>
            <a:ext cx="3957035" cy="2131452"/>
          </a:xfrm>
          <a:prstGeom prst="flowChartConnector">
            <a:avLst/>
          </a:prstGeom>
          <a:ln>
            <a:solidFill>
              <a:schemeClr val="accent3">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solidFill>
                <a:schemeClr val="bg1"/>
              </a:solidFill>
            </a:endParaRPr>
          </a:p>
        </p:txBody>
      </p:sp>
      <p:sp>
        <p:nvSpPr>
          <p:cNvPr id="6" name="Flowchart: Connector 5"/>
          <p:cNvSpPr/>
          <p:nvPr/>
        </p:nvSpPr>
        <p:spPr>
          <a:xfrm>
            <a:off x="8155545" y="3448938"/>
            <a:ext cx="3274454" cy="1228357"/>
          </a:xfrm>
          <a:prstGeom prst="flowChartConnector">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solidFill>
                <a:schemeClr val="bg1"/>
              </a:solidFill>
            </a:endParaRPr>
          </a:p>
        </p:txBody>
      </p:sp>
      <p:sp>
        <p:nvSpPr>
          <p:cNvPr id="7" name="TextBox 6"/>
          <p:cNvSpPr txBox="1"/>
          <p:nvPr/>
        </p:nvSpPr>
        <p:spPr>
          <a:xfrm>
            <a:off x="8949206" y="1986836"/>
            <a:ext cx="1687132" cy="369332"/>
          </a:xfrm>
          <a:prstGeom prst="rect">
            <a:avLst/>
          </a:prstGeom>
          <a:noFill/>
        </p:spPr>
        <p:txBody>
          <a:bodyPr wrap="square" rtlCol="0">
            <a:spAutoFit/>
          </a:bodyPr>
          <a:lstStyle/>
          <a:p>
            <a:pPr algn="ctr"/>
            <a:r>
              <a:rPr lang="en-PH" dirty="0" smtClean="0">
                <a:solidFill>
                  <a:schemeClr val="bg1"/>
                </a:solidFill>
                <a:latin typeface="Berlin Sans FB" panose="020E0602020502020306" pitchFamily="34" charset="0"/>
              </a:rPr>
              <a:t>APPROACH</a:t>
            </a:r>
            <a:endParaRPr lang="en-PH" dirty="0">
              <a:solidFill>
                <a:schemeClr val="bg1"/>
              </a:solidFill>
              <a:latin typeface="Berlin Sans FB" panose="020E0602020502020306" pitchFamily="34" charset="0"/>
            </a:endParaRPr>
          </a:p>
        </p:txBody>
      </p:sp>
      <p:sp>
        <p:nvSpPr>
          <p:cNvPr id="8" name="TextBox 7"/>
          <p:cNvSpPr txBox="1"/>
          <p:nvPr/>
        </p:nvSpPr>
        <p:spPr>
          <a:xfrm>
            <a:off x="9168146" y="2872445"/>
            <a:ext cx="1249251" cy="369332"/>
          </a:xfrm>
          <a:prstGeom prst="rect">
            <a:avLst/>
          </a:prstGeom>
          <a:noFill/>
        </p:spPr>
        <p:txBody>
          <a:bodyPr wrap="square" rtlCol="0">
            <a:spAutoFit/>
          </a:bodyPr>
          <a:lstStyle/>
          <a:p>
            <a:pPr algn="ctr"/>
            <a:r>
              <a:rPr lang="en-PH" dirty="0" smtClean="0">
                <a:solidFill>
                  <a:schemeClr val="bg1"/>
                </a:solidFill>
                <a:latin typeface="Berlin Sans FB" panose="020E0602020502020306" pitchFamily="34" charset="0"/>
              </a:rPr>
              <a:t>METHOD</a:t>
            </a:r>
            <a:endParaRPr lang="en-PH" dirty="0">
              <a:solidFill>
                <a:schemeClr val="bg1"/>
              </a:solidFill>
              <a:latin typeface="Berlin Sans FB" panose="020E0602020502020306" pitchFamily="34" charset="0"/>
            </a:endParaRPr>
          </a:p>
        </p:txBody>
      </p:sp>
      <p:sp>
        <p:nvSpPr>
          <p:cNvPr id="9" name="TextBox 8"/>
          <p:cNvSpPr txBox="1"/>
          <p:nvPr/>
        </p:nvSpPr>
        <p:spPr>
          <a:xfrm>
            <a:off x="9039357" y="3769486"/>
            <a:ext cx="1506828" cy="369332"/>
          </a:xfrm>
          <a:prstGeom prst="rect">
            <a:avLst/>
          </a:prstGeom>
          <a:noFill/>
        </p:spPr>
        <p:txBody>
          <a:bodyPr wrap="square" rtlCol="0">
            <a:spAutoFit/>
          </a:bodyPr>
          <a:lstStyle/>
          <a:p>
            <a:pPr algn="ctr"/>
            <a:r>
              <a:rPr lang="en-PH" dirty="0" smtClean="0">
                <a:solidFill>
                  <a:schemeClr val="bg1"/>
                </a:solidFill>
                <a:latin typeface="Berlin Sans FB" panose="020E0602020502020306" pitchFamily="34" charset="0"/>
              </a:rPr>
              <a:t>TECHNIQUE</a:t>
            </a:r>
            <a:endParaRPr lang="en-PH" dirty="0">
              <a:solidFill>
                <a:schemeClr val="bg1"/>
              </a:solidFill>
              <a:latin typeface="Berlin Sans FB" panose="020E0602020502020306" pitchFamily="34" charset="0"/>
            </a:endParaRPr>
          </a:p>
        </p:txBody>
      </p:sp>
    </p:spTree>
    <p:extLst>
      <p:ext uri="{BB962C8B-B14F-4D97-AF65-F5344CB8AC3E}">
        <p14:creationId xmlns:p14="http://schemas.microsoft.com/office/powerpoint/2010/main" val="1004981274"/>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900" y="233778"/>
            <a:ext cx="9404723" cy="860926"/>
          </a:xfrm>
        </p:spPr>
        <p:txBody>
          <a:bodyPr/>
          <a:lstStyle/>
          <a:p>
            <a:pPr algn="ctr"/>
            <a:r>
              <a:rPr lang="en-PH" sz="4000" u="sng" dirty="0" smtClean="0">
                <a:solidFill>
                  <a:schemeClr val="bg1"/>
                </a:solidFill>
                <a:latin typeface="Candara" panose="020E0502030303020204" pitchFamily="34" charset="0"/>
              </a:rPr>
              <a:t>DIFFERENT APPROACHES</a:t>
            </a:r>
            <a:endParaRPr lang="en-PH" sz="4000" u="sng" dirty="0">
              <a:solidFill>
                <a:schemeClr val="bg1"/>
              </a:solidFill>
              <a:latin typeface="Candara" panose="020E0502030303020204" pitchFamily="34" charset="0"/>
            </a:endParaRPr>
          </a:p>
        </p:txBody>
      </p:sp>
      <p:sp>
        <p:nvSpPr>
          <p:cNvPr id="3" name="Content Placeholder 2"/>
          <p:cNvSpPr>
            <a:spLocks noGrp="1"/>
          </p:cNvSpPr>
          <p:nvPr>
            <p:ph idx="1"/>
          </p:nvPr>
        </p:nvSpPr>
        <p:spPr>
          <a:xfrm>
            <a:off x="774900" y="1228670"/>
            <a:ext cx="10944875" cy="4747127"/>
          </a:xfrm>
        </p:spPr>
        <p:txBody>
          <a:bodyPr numCol="2">
            <a:normAutofit fontScale="85000" lnSpcReduction="20000"/>
          </a:bodyPr>
          <a:lstStyle/>
          <a:p>
            <a:pPr marL="457200" indent="-457200">
              <a:lnSpc>
                <a:spcPct val="120000"/>
              </a:lnSpc>
              <a:buAutoNum type="arabicPeriod"/>
            </a:pPr>
            <a:r>
              <a:rPr lang="en-PH" sz="3200" dirty="0" smtClean="0">
                <a:solidFill>
                  <a:schemeClr val="bg1"/>
                </a:solidFill>
                <a:latin typeface="Candara" panose="020E0502030303020204" pitchFamily="34" charset="0"/>
              </a:rPr>
              <a:t>Participatory Approach (PA)</a:t>
            </a:r>
          </a:p>
          <a:p>
            <a:pPr marL="457200" indent="-457200">
              <a:lnSpc>
                <a:spcPct val="120000"/>
              </a:lnSpc>
              <a:buAutoNum type="arabicPeriod"/>
            </a:pPr>
            <a:r>
              <a:rPr lang="en-PH" sz="3200" dirty="0" smtClean="0">
                <a:solidFill>
                  <a:schemeClr val="bg1"/>
                </a:solidFill>
                <a:latin typeface="Candara" panose="020E0502030303020204" pitchFamily="34" charset="0"/>
              </a:rPr>
              <a:t>Mass Approach (MA)</a:t>
            </a:r>
          </a:p>
          <a:p>
            <a:pPr marL="457200" indent="-457200">
              <a:lnSpc>
                <a:spcPct val="120000"/>
              </a:lnSpc>
              <a:buAutoNum type="arabicPeriod"/>
            </a:pPr>
            <a:r>
              <a:rPr lang="en-PH" sz="3200" dirty="0" smtClean="0">
                <a:solidFill>
                  <a:schemeClr val="bg1"/>
                </a:solidFill>
                <a:latin typeface="Candara" panose="020E0502030303020204" pitchFamily="34" charset="0"/>
              </a:rPr>
              <a:t>Single Purpose Approach (SPA)</a:t>
            </a:r>
          </a:p>
          <a:p>
            <a:pPr marL="457200" indent="-457200">
              <a:lnSpc>
                <a:spcPct val="120000"/>
              </a:lnSpc>
              <a:buAutoNum type="arabicPeriod"/>
            </a:pPr>
            <a:r>
              <a:rPr lang="en-PH" sz="3200" dirty="0" smtClean="0">
                <a:solidFill>
                  <a:schemeClr val="bg1"/>
                </a:solidFill>
                <a:latin typeface="Candara" panose="020E0502030303020204" pitchFamily="34" charset="0"/>
              </a:rPr>
              <a:t>Commodity Approach (CA)</a:t>
            </a:r>
          </a:p>
          <a:p>
            <a:pPr marL="457200" indent="-457200">
              <a:lnSpc>
                <a:spcPct val="120000"/>
              </a:lnSpc>
              <a:buAutoNum type="arabicPeriod"/>
            </a:pPr>
            <a:r>
              <a:rPr lang="en-PH" sz="3200" dirty="0" smtClean="0">
                <a:solidFill>
                  <a:schemeClr val="bg1"/>
                </a:solidFill>
                <a:latin typeface="Candara" panose="020E0502030303020204" pitchFamily="34" charset="0"/>
              </a:rPr>
              <a:t>Community Approach</a:t>
            </a:r>
          </a:p>
          <a:p>
            <a:pPr marL="457200" indent="-457200">
              <a:lnSpc>
                <a:spcPct val="120000"/>
              </a:lnSpc>
              <a:buAutoNum type="arabicPeriod"/>
            </a:pPr>
            <a:r>
              <a:rPr lang="en-PH" sz="3200" dirty="0" smtClean="0">
                <a:solidFill>
                  <a:schemeClr val="bg1"/>
                </a:solidFill>
                <a:latin typeface="Candara" panose="020E0502030303020204" pitchFamily="34" charset="0"/>
              </a:rPr>
              <a:t>Area Approach</a:t>
            </a:r>
          </a:p>
          <a:p>
            <a:pPr marL="457200" indent="-457200">
              <a:lnSpc>
                <a:spcPct val="120000"/>
              </a:lnSpc>
              <a:buAutoNum type="arabicPeriod"/>
            </a:pPr>
            <a:r>
              <a:rPr lang="en-PH" sz="3200" dirty="0" smtClean="0">
                <a:solidFill>
                  <a:schemeClr val="bg1"/>
                </a:solidFill>
                <a:latin typeface="Candara" panose="020E0502030303020204" pitchFamily="34" charset="0"/>
              </a:rPr>
              <a:t>Integrated </a:t>
            </a:r>
            <a:r>
              <a:rPr lang="en-PH" sz="3200" dirty="0" smtClean="0">
                <a:solidFill>
                  <a:schemeClr val="bg1"/>
                </a:solidFill>
                <a:latin typeface="Candara" panose="020E0502030303020204" pitchFamily="34" charset="0"/>
              </a:rPr>
              <a:t>Approach</a:t>
            </a:r>
          </a:p>
          <a:p>
            <a:pPr marL="457200" indent="-457200">
              <a:lnSpc>
                <a:spcPct val="120000"/>
              </a:lnSpc>
              <a:buAutoNum type="arabicPeriod"/>
            </a:pPr>
            <a:r>
              <a:rPr lang="en-PH" sz="3200" dirty="0" smtClean="0">
                <a:solidFill>
                  <a:schemeClr val="bg1"/>
                </a:solidFill>
                <a:latin typeface="Candara" panose="020E0502030303020204" pitchFamily="34" charset="0"/>
              </a:rPr>
              <a:t>General Agriculture Extension Approach</a:t>
            </a:r>
          </a:p>
          <a:p>
            <a:pPr marL="457200" indent="-457200">
              <a:lnSpc>
                <a:spcPct val="120000"/>
              </a:lnSpc>
              <a:buAutoNum type="arabicPeriod"/>
            </a:pPr>
            <a:r>
              <a:rPr lang="en-PH" sz="3200" dirty="0" smtClean="0">
                <a:solidFill>
                  <a:schemeClr val="bg1"/>
                </a:solidFill>
                <a:latin typeface="Candara" panose="020E0502030303020204" pitchFamily="34" charset="0"/>
              </a:rPr>
              <a:t>Project Approach</a:t>
            </a:r>
          </a:p>
          <a:p>
            <a:pPr marL="457200" indent="-457200">
              <a:lnSpc>
                <a:spcPct val="120000"/>
              </a:lnSpc>
              <a:buAutoNum type="arabicPeriod"/>
            </a:pPr>
            <a:r>
              <a:rPr lang="en-PH" sz="3200" dirty="0" smtClean="0">
                <a:solidFill>
                  <a:schemeClr val="bg1"/>
                </a:solidFill>
                <a:latin typeface="Candara" panose="020E0502030303020204" pitchFamily="34" charset="0"/>
              </a:rPr>
              <a:t>Farming </a:t>
            </a:r>
            <a:r>
              <a:rPr lang="en-PH" sz="3200" dirty="0">
                <a:solidFill>
                  <a:schemeClr val="bg1"/>
                </a:solidFill>
                <a:latin typeface="Candara" panose="020E0502030303020204" pitchFamily="34" charset="0"/>
              </a:rPr>
              <a:t>S</a:t>
            </a:r>
            <a:r>
              <a:rPr lang="en-PH" sz="3200" dirty="0" smtClean="0">
                <a:solidFill>
                  <a:schemeClr val="bg1"/>
                </a:solidFill>
                <a:latin typeface="Candara" panose="020E0502030303020204" pitchFamily="34" charset="0"/>
              </a:rPr>
              <a:t>ystem </a:t>
            </a:r>
            <a:r>
              <a:rPr lang="en-PH" sz="3200" dirty="0">
                <a:solidFill>
                  <a:schemeClr val="bg1"/>
                </a:solidFill>
                <a:latin typeface="Candara" panose="020E0502030303020204" pitchFamily="34" charset="0"/>
              </a:rPr>
              <a:t>D</a:t>
            </a:r>
            <a:r>
              <a:rPr lang="en-PH" sz="3200" dirty="0" smtClean="0">
                <a:solidFill>
                  <a:schemeClr val="bg1"/>
                </a:solidFill>
                <a:latin typeface="Candara" panose="020E0502030303020204" pitchFamily="34" charset="0"/>
              </a:rPr>
              <a:t>evelopment Approach</a:t>
            </a:r>
          </a:p>
          <a:p>
            <a:pPr marL="457200" indent="-457200">
              <a:lnSpc>
                <a:spcPct val="120000"/>
              </a:lnSpc>
              <a:buAutoNum type="arabicPeriod"/>
            </a:pPr>
            <a:r>
              <a:rPr lang="en-PH" sz="3200" dirty="0" smtClean="0">
                <a:solidFill>
                  <a:schemeClr val="bg1"/>
                </a:solidFill>
                <a:latin typeface="Candara" panose="020E0502030303020204" pitchFamily="34" charset="0"/>
              </a:rPr>
              <a:t>Training and Visit System Approach</a:t>
            </a:r>
          </a:p>
          <a:p>
            <a:pPr marL="457200" indent="-457200">
              <a:lnSpc>
                <a:spcPct val="120000"/>
              </a:lnSpc>
              <a:buAutoNum type="arabicPeriod"/>
            </a:pPr>
            <a:r>
              <a:rPr lang="en-PH" sz="3200" dirty="0" smtClean="0">
                <a:solidFill>
                  <a:schemeClr val="bg1"/>
                </a:solidFill>
                <a:latin typeface="Candara" panose="020E0502030303020204" pitchFamily="34" charset="0"/>
              </a:rPr>
              <a:t>The Cost-Sharing Approach</a:t>
            </a:r>
          </a:p>
          <a:p>
            <a:pPr marL="457200" indent="-457200">
              <a:lnSpc>
                <a:spcPct val="120000"/>
              </a:lnSpc>
              <a:buAutoNum type="arabicPeriod"/>
            </a:pPr>
            <a:endParaRPr lang="en-PH" sz="3200" dirty="0" smtClean="0">
              <a:solidFill>
                <a:schemeClr val="bg1"/>
              </a:solidFill>
              <a:latin typeface="Candara" panose="020E0502030303020204" pitchFamily="34" charset="0"/>
            </a:endParaRPr>
          </a:p>
          <a:p>
            <a:pPr marL="0" indent="0">
              <a:lnSpc>
                <a:spcPct val="120000"/>
              </a:lnSpc>
              <a:buNone/>
            </a:pPr>
            <a:endParaRPr lang="en-PH" sz="32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863024309"/>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Participatory Approach (PA)</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536640" y="1164276"/>
            <a:ext cx="11157377" cy="5288040"/>
          </a:xfrm>
        </p:spPr>
        <p:txBody>
          <a:bodyPr>
            <a:normAutofit/>
          </a:bodyPr>
          <a:lstStyle/>
          <a:p>
            <a:pPr marL="0" indent="0">
              <a:buNone/>
            </a:pPr>
            <a:r>
              <a:rPr lang="en-PH" sz="2800" i="1" dirty="0" smtClean="0">
                <a:solidFill>
                  <a:schemeClr val="bg1"/>
                </a:solidFill>
                <a:latin typeface="Candara" panose="020E0502030303020204" pitchFamily="34" charset="0"/>
              </a:rPr>
              <a:t>PA is the inclusion of beneficiaries in solving their problems.</a:t>
            </a:r>
          </a:p>
          <a:p>
            <a:r>
              <a:rPr lang="en-PH" sz="2800" dirty="0" smtClean="0">
                <a:solidFill>
                  <a:schemeClr val="bg1"/>
                </a:solidFill>
                <a:latin typeface="Candara" panose="020E0502030303020204" pitchFamily="34" charset="0"/>
              </a:rPr>
              <a:t>Every member of the target users must be involved in the implementation of the program/projects.</a:t>
            </a:r>
          </a:p>
          <a:p>
            <a:pPr marL="0" indent="0">
              <a:buNone/>
            </a:pPr>
            <a:endParaRPr lang="en-PH" sz="2800" dirty="0" smtClean="0">
              <a:solidFill>
                <a:schemeClr val="bg1"/>
              </a:solidFill>
              <a:latin typeface="Candara" panose="020E0502030303020204" pitchFamily="34" charset="0"/>
            </a:endParaRPr>
          </a:p>
          <a:p>
            <a:r>
              <a:rPr lang="en-PH" sz="2800" dirty="0" smtClean="0">
                <a:solidFill>
                  <a:schemeClr val="bg1"/>
                </a:solidFill>
                <a:latin typeface="Candara" panose="020E0502030303020204" pitchFamily="34" charset="0"/>
              </a:rPr>
              <a:t>Popularly used approach in irrigation system </a:t>
            </a:r>
            <a:r>
              <a:rPr lang="en-PH" sz="2800" dirty="0" smtClean="0">
                <a:solidFill>
                  <a:schemeClr val="bg1"/>
                </a:solidFill>
                <a:latin typeface="Candara" panose="020E0502030303020204" pitchFamily="34" charset="0"/>
              </a:rPr>
              <a:t>development.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093913658"/>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Participatory Approach (PA)</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536640" y="1164276"/>
            <a:ext cx="11157377" cy="5288040"/>
          </a:xfrm>
        </p:spPr>
        <p:txBody>
          <a:bodyPr>
            <a:normAutofit fontScale="92500"/>
          </a:bodyPr>
          <a:lstStyle/>
          <a:p>
            <a:pPr marL="0" indent="0">
              <a:buNone/>
            </a:pPr>
            <a:r>
              <a:rPr lang="en-PH" sz="2800" i="1" u="sng" dirty="0" smtClean="0">
                <a:solidFill>
                  <a:schemeClr val="bg1"/>
                </a:solidFill>
                <a:latin typeface="Candara" panose="020E0502030303020204" pitchFamily="34" charset="0"/>
              </a:rPr>
              <a:t>Guides in the use of PA:</a:t>
            </a:r>
          </a:p>
          <a:p>
            <a:pPr marL="0" indent="0">
              <a:buNone/>
            </a:pPr>
            <a:r>
              <a:rPr lang="en-PH" sz="2800" b="1" dirty="0" smtClean="0">
                <a:solidFill>
                  <a:schemeClr val="bg1"/>
                </a:solidFill>
                <a:latin typeface="Candara" panose="020E0502030303020204" pitchFamily="34" charset="0"/>
              </a:rPr>
              <a:t>1. Who are the people to be involved?</a:t>
            </a:r>
          </a:p>
          <a:p>
            <a:r>
              <a:rPr lang="en-PH" sz="2800" dirty="0" smtClean="0">
                <a:solidFill>
                  <a:schemeClr val="bg1"/>
                </a:solidFill>
                <a:latin typeface="Candara" panose="020E0502030303020204" pitchFamily="34" charset="0"/>
              </a:rPr>
              <a:t>Initiators  must be sincere, committed / knowledgeable of PA process.</a:t>
            </a:r>
          </a:p>
          <a:p>
            <a:pPr marL="0" indent="0">
              <a:buNone/>
            </a:pPr>
            <a:r>
              <a:rPr lang="en-PH" sz="2800" b="1" dirty="0" smtClean="0">
                <a:solidFill>
                  <a:schemeClr val="bg1"/>
                </a:solidFill>
                <a:latin typeface="Candara" panose="020E0502030303020204" pitchFamily="34" charset="0"/>
              </a:rPr>
              <a:t>2. What aspects of the program/projects will people participate in? how will 	they participate?</a:t>
            </a:r>
          </a:p>
          <a:p>
            <a:r>
              <a:rPr lang="en-PH" sz="2800" dirty="0" smtClean="0">
                <a:solidFill>
                  <a:schemeClr val="bg1"/>
                </a:solidFill>
                <a:latin typeface="Candara" panose="020E0502030303020204" pitchFamily="34" charset="0"/>
              </a:rPr>
              <a:t>Will they be involve all through out the process?</a:t>
            </a:r>
          </a:p>
          <a:p>
            <a:pPr marL="0" indent="0">
              <a:buNone/>
            </a:pPr>
            <a:r>
              <a:rPr lang="en-PH" sz="2800" dirty="0" smtClean="0">
                <a:solidFill>
                  <a:schemeClr val="bg1"/>
                </a:solidFill>
                <a:latin typeface="Candara" panose="020E0502030303020204" pitchFamily="34" charset="0"/>
              </a:rPr>
              <a:t>3</a:t>
            </a:r>
            <a:r>
              <a:rPr lang="en-PH" sz="2800" b="1" dirty="0" smtClean="0">
                <a:solidFill>
                  <a:schemeClr val="bg1"/>
                </a:solidFill>
                <a:latin typeface="Candara" panose="020E0502030303020204" pitchFamily="34" charset="0"/>
              </a:rPr>
              <a:t>. How will you train /educate/motivate people to participate?</a:t>
            </a:r>
          </a:p>
          <a:p>
            <a:r>
              <a:rPr lang="en-PH" sz="2800" dirty="0" smtClean="0">
                <a:solidFill>
                  <a:schemeClr val="bg1"/>
                </a:solidFill>
                <a:latin typeface="Candara" panose="020E0502030303020204" pitchFamily="34" charset="0"/>
              </a:rPr>
              <a:t>People shall be train in the areas of participation and extent of participation.</a:t>
            </a:r>
          </a:p>
          <a:p>
            <a:pPr marL="0" indent="0">
              <a:buNone/>
            </a:pPr>
            <a:r>
              <a:rPr lang="en-PH" sz="2800" b="1" dirty="0" smtClean="0">
                <a:solidFill>
                  <a:schemeClr val="bg1"/>
                </a:solidFill>
                <a:latin typeface="Candara" panose="020E0502030303020204" pitchFamily="34" charset="0"/>
              </a:rPr>
              <a:t>4. Why do we need people participation.</a:t>
            </a:r>
          </a:p>
          <a:p>
            <a:r>
              <a:rPr lang="en-PH" sz="2800" dirty="0" smtClean="0">
                <a:solidFill>
                  <a:schemeClr val="bg1"/>
                </a:solidFill>
                <a:latin typeface="Candara" panose="020E0502030303020204" pitchFamily="34" charset="0"/>
              </a:rPr>
              <a:t>Benefits must be clear on their part if they will participate.</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517965220"/>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Mass Approach (MA)</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4195481"/>
          </a:xfrm>
        </p:spPr>
        <p:txBody>
          <a:bodyPr>
            <a:normAutofit/>
          </a:bodyPr>
          <a:lstStyle/>
          <a:p>
            <a:pPr marL="0" indent="0">
              <a:buNone/>
            </a:pPr>
            <a:r>
              <a:rPr lang="en-PH" sz="2800" i="1" dirty="0" smtClean="0">
                <a:solidFill>
                  <a:schemeClr val="bg1"/>
                </a:solidFill>
                <a:latin typeface="Candara" panose="020E0502030303020204" pitchFamily="34" charset="0"/>
              </a:rPr>
              <a:t>MA utilizes the mass media in promoting technologies or specific products.</a:t>
            </a:r>
          </a:p>
          <a:p>
            <a:r>
              <a:rPr lang="en-PH" sz="2800" dirty="0" smtClean="0">
                <a:solidFill>
                  <a:schemeClr val="bg1"/>
                </a:solidFill>
                <a:latin typeface="Candara" panose="020E0502030303020204" pitchFamily="34" charset="0"/>
              </a:rPr>
              <a:t>Products could be soaps, toothpaste, shampoos, sardines.</a:t>
            </a:r>
          </a:p>
          <a:p>
            <a:r>
              <a:rPr lang="en-PH" sz="2800" dirty="0" smtClean="0">
                <a:solidFill>
                  <a:schemeClr val="bg1"/>
                </a:solidFill>
                <a:latin typeface="Candara" panose="020E0502030303020204" pitchFamily="34" charset="0"/>
              </a:rPr>
              <a:t>This approach can reach a great number of people in a short period of time </a:t>
            </a:r>
            <a:r>
              <a:rPr lang="en-PH" sz="2800" smtClean="0">
                <a:solidFill>
                  <a:schemeClr val="bg1"/>
                </a:solidFill>
                <a:latin typeface="Candara" panose="020E0502030303020204" pitchFamily="34" charset="0"/>
              </a:rPr>
              <a:t>like prints</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1494852634"/>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Single Purpose Approach (SPA)</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4953189"/>
          </a:xfrm>
        </p:spPr>
        <p:txBody>
          <a:bodyPr>
            <a:normAutofit/>
          </a:bodyPr>
          <a:lstStyle/>
          <a:p>
            <a:pPr marL="0" indent="0">
              <a:buNone/>
            </a:pPr>
            <a:r>
              <a:rPr lang="en-PH" sz="2800" i="1" dirty="0" smtClean="0">
                <a:solidFill>
                  <a:schemeClr val="bg1"/>
                </a:solidFill>
                <a:latin typeface="Candara" panose="020E0502030303020204" pitchFamily="34" charset="0"/>
              </a:rPr>
              <a:t>A promotion of a single purpose (one product/practice/equipment)</a:t>
            </a:r>
          </a:p>
          <a:p>
            <a:r>
              <a:rPr lang="en-PH" sz="2800" dirty="0" smtClean="0">
                <a:solidFill>
                  <a:schemeClr val="bg1"/>
                </a:solidFill>
                <a:latin typeface="Candara" panose="020E0502030303020204" pitchFamily="34" charset="0"/>
              </a:rPr>
              <a:t>The extension agency as the initiator of techno promotion is promoting a single technology like organic fertilizer, Pioneer seed, tissue culture banana, etc.</a:t>
            </a:r>
          </a:p>
          <a:p>
            <a:pPr marL="0" indent="0">
              <a:buNone/>
            </a:pPr>
            <a:r>
              <a:rPr lang="en-PH" sz="2800" i="1" u="sng" dirty="0" smtClean="0">
                <a:solidFill>
                  <a:schemeClr val="bg1"/>
                </a:solidFill>
                <a:latin typeface="Candara" panose="020E0502030303020204" pitchFamily="34" charset="0"/>
              </a:rPr>
              <a:t>Guides in SPA:</a:t>
            </a:r>
          </a:p>
          <a:p>
            <a:pPr marL="514350" indent="-514350">
              <a:buAutoNum type="arabicPeriod"/>
            </a:pPr>
            <a:r>
              <a:rPr lang="en-PH" sz="2800" dirty="0" smtClean="0">
                <a:solidFill>
                  <a:schemeClr val="bg1"/>
                </a:solidFill>
                <a:latin typeface="Candara" panose="020E0502030303020204" pitchFamily="34" charset="0"/>
              </a:rPr>
              <a:t>Adoption of dingle technology promoted will make a big difference in production and profit.</a:t>
            </a:r>
          </a:p>
          <a:p>
            <a:pPr marL="514350" indent="-514350">
              <a:buAutoNum type="arabicPeriod"/>
            </a:pPr>
            <a:r>
              <a:rPr lang="en-PH" sz="2800" dirty="0" smtClean="0">
                <a:solidFill>
                  <a:schemeClr val="bg1"/>
                </a:solidFill>
                <a:latin typeface="Candara" panose="020E0502030303020204" pitchFamily="34" charset="0"/>
              </a:rPr>
              <a:t>Technology is readily available, can be acquired easily and less cost.</a:t>
            </a:r>
            <a:endParaRPr lang="en-PH"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816384948"/>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Commodity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77155"/>
            <a:ext cx="10603584" cy="4953189"/>
          </a:xfrm>
        </p:spPr>
        <p:txBody>
          <a:bodyPr>
            <a:normAutofit/>
          </a:bodyPr>
          <a:lstStyle/>
          <a:p>
            <a:r>
              <a:rPr lang="en-PH" sz="2800" i="1" dirty="0" smtClean="0">
                <a:solidFill>
                  <a:schemeClr val="bg1"/>
                </a:solidFill>
                <a:latin typeface="Candara" panose="020E0502030303020204" pitchFamily="34" charset="0"/>
              </a:rPr>
              <a:t>Promoting a package of technology (POT) for a specific commodity like rice, corn, </a:t>
            </a:r>
            <a:r>
              <a:rPr lang="en-PH" sz="2800" i="1" dirty="0" err="1" smtClean="0">
                <a:solidFill>
                  <a:schemeClr val="bg1"/>
                </a:solidFill>
                <a:latin typeface="Candara" panose="020E0502030303020204" pitchFamily="34" charset="0"/>
              </a:rPr>
              <a:t>peanut,etc</a:t>
            </a:r>
            <a:r>
              <a:rPr lang="en-PH" sz="2800" i="1" dirty="0" smtClean="0">
                <a:solidFill>
                  <a:schemeClr val="bg1"/>
                </a:solidFill>
                <a:latin typeface="Candara" panose="020E0502030303020204" pitchFamily="34" charset="0"/>
              </a:rPr>
              <a:t>.</a:t>
            </a:r>
          </a:p>
          <a:p>
            <a:r>
              <a:rPr lang="en-PH" sz="2800" i="1" dirty="0" smtClean="0">
                <a:solidFill>
                  <a:schemeClr val="bg1"/>
                </a:solidFill>
                <a:latin typeface="Candara" panose="020E0502030303020204" pitchFamily="34" charset="0"/>
              </a:rPr>
              <a:t>POT starts from production, storing, processing and marketing.</a:t>
            </a:r>
          </a:p>
          <a:p>
            <a:r>
              <a:rPr lang="en-PH" sz="2800" i="1" dirty="0" smtClean="0">
                <a:solidFill>
                  <a:schemeClr val="bg1"/>
                </a:solidFill>
                <a:latin typeface="Candara" panose="020E0502030303020204" pitchFamily="34" charset="0"/>
              </a:rPr>
              <a:t>Seed to shelf technology is the essence of the commodity approach.</a:t>
            </a:r>
            <a:endParaRPr lang="en-PH" sz="2800" i="1" dirty="0">
              <a:solidFill>
                <a:schemeClr val="bg1"/>
              </a:solidFill>
              <a:latin typeface="Candara" panose="020E0502030303020204" pitchFamily="34" charset="0"/>
            </a:endParaRPr>
          </a:p>
          <a:p>
            <a:pPr marL="0" indent="0">
              <a:buNone/>
            </a:pPr>
            <a:r>
              <a:rPr lang="en-PH" sz="2800" i="1" u="sng" dirty="0" smtClean="0">
                <a:solidFill>
                  <a:schemeClr val="bg1"/>
                </a:solidFill>
                <a:latin typeface="Candara" panose="020E0502030303020204" pitchFamily="34" charset="0"/>
              </a:rPr>
              <a:t>Guides in the use of commodity approach:</a:t>
            </a:r>
          </a:p>
          <a:p>
            <a:pPr marL="514350" indent="-514350">
              <a:buAutoNum type="arabicPeriod"/>
            </a:pPr>
            <a:r>
              <a:rPr lang="en-PH" sz="2800" dirty="0" smtClean="0">
                <a:solidFill>
                  <a:schemeClr val="bg1"/>
                </a:solidFill>
                <a:latin typeface="Candara" panose="020E0502030303020204" pitchFamily="34" charset="0"/>
              </a:rPr>
              <a:t>Well trained staff in every aspect of the tech. must be readily available.</a:t>
            </a:r>
          </a:p>
        </p:txBody>
      </p:sp>
    </p:spTree>
    <p:extLst>
      <p:ext uri="{BB962C8B-B14F-4D97-AF65-F5344CB8AC3E}">
        <p14:creationId xmlns:p14="http://schemas.microsoft.com/office/powerpoint/2010/main" val="26922765"/>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Community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4953189"/>
          </a:xfrm>
        </p:spPr>
        <p:txBody>
          <a:bodyPr>
            <a:normAutofit fontScale="92500" lnSpcReduction="10000"/>
          </a:bodyPr>
          <a:lstStyle/>
          <a:p>
            <a:r>
              <a:rPr lang="en-PH" sz="2800" i="1" dirty="0" smtClean="0">
                <a:solidFill>
                  <a:schemeClr val="bg1"/>
                </a:solidFill>
                <a:latin typeface="Candara" panose="020E0502030303020204" pitchFamily="34" charset="0"/>
              </a:rPr>
              <a:t>An extension agency, whether public or private, assists  a community to develop in all aspects- economic, social, cultural, political and environmental.</a:t>
            </a:r>
          </a:p>
          <a:p>
            <a:r>
              <a:rPr lang="en-PH" sz="2800" i="1" dirty="0" smtClean="0">
                <a:solidFill>
                  <a:schemeClr val="bg1"/>
                </a:solidFill>
                <a:latin typeface="Candara" panose="020E0502030303020204" pitchFamily="34" charset="0"/>
              </a:rPr>
              <a:t>Several approaches are combined to achieve a holistic result.</a:t>
            </a:r>
          </a:p>
          <a:p>
            <a:pPr marL="0" indent="0">
              <a:buNone/>
            </a:pPr>
            <a:r>
              <a:rPr lang="en-PH" sz="2800" i="1" u="sng" dirty="0" smtClean="0">
                <a:solidFill>
                  <a:schemeClr val="bg1"/>
                </a:solidFill>
                <a:latin typeface="Candara" panose="020E0502030303020204" pitchFamily="34" charset="0"/>
              </a:rPr>
              <a:t>Guides in the use of community approach:</a:t>
            </a:r>
          </a:p>
          <a:p>
            <a:pPr marL="514350" indent="-514350">
              <a:buAutoNum type="arabicPeriod"/>
            </a:pPr>
            <a:r>
              <a:rPr lang="en-PH" sz="2800" dirty="0" smtClean="0">
                <a:solidFill>
                  <a:schemeClr val="bg1"/>
                </a:solidFill>
                <a:latin typeface="Candara" panose="020E0502030303020204" pitchFamily="34" charset="0"/>
              </a:rPr>
              <a:t>Major problems and needs are analysed.</a:t>
            </a:r>
          </a:p>
          <a:p>
            <a:pPr marL="514350" indent="-514350">
              <a:buAutoNum type="arabicPeriod"/>
            </a:pPr>
            <a:r>
              <a:rPr lang="en-PH" sz="2800" dirty="0" smtClean="0">
                <a:solidFill>
                  <a:schemeClr val="bg1"/>
                </a:solidFill>
                <a:latin typeface="Candara" panose="020E0502030303020204" pitchFamily="34" charset="0"/>
              </a:rPr>
              <a:t>Long term plans are prepared to answer long-term needs.</a:t>
            </a:r>
          </a:p>
          <a:p>
            <a:pPr marL="514350" indent="-514350">
              <a:buAutoNum type="arabicPeriod"/>
            </a:pPr>
            <a:r>
              <a:rPr lang="en-PH" sz="2800" dirty="0" smtClean="0">
                <a:solidFill>
                  <a:schemeClr val="bg1"/>
                </a:solidFill>
                <a:latin typeface="Candara" panose="020E0502030303020204" pitchFamily="34" charset="0"/>
              </a:rPr>
              <a:t>All concerns are taken into consideration- agriculture, non-agriculture, water source, social service, power, peace and order, livelihood.</a:t>
            </a:r>
          </a:p>
          <a:p>
            <a:pPr marL="0" indent="0">
              <a:buNone/>
            </a:pPr>
            <a:r>
              <a:rPr lang="en-PH" sz="2800" dirty="0" smtClean="0">
                <a:solidFill>
                  <a:schemeClr val="bg1"/>
                </a:solidFill>
                <a:latin typeface="Candara" panose="020E0502030303020204" pitchFamily="34" charset="0"/>
              </a:rPr>
              <a:t>Ex. CHARM- Cordillera Highland Agricultural Resource Management Project (</a:t>
            </a:r>
            <a:r>
              <a:rPr lang="en-PH" sz="2800" dirty="0" err="1" smtClean="0">
                <a:solidFill>
                  <a:schemeClr val="bg1"/>
                </a:solidFill>
                <a:latin typeface="Candara" panose="020E0502030303020204" pitchFamily="34" charset="0"/>
              </a:rPr>
              <a:t>Benguet</a:t>
            </a:r>
            <a:r>
              <a:rPr lang="en-PH" sz="2800" dirty="0" smtClean="0">
                <a:solidFill>
                  <a:schemeClr val="bg1"/>
                </a:solidFill>
                <a:latin typeface="Candara" panose="020E0502030303020204" pitchFamily="34" charset="0"/>
              </a:rPr>
              <a:t>, </a:t>
            </a:r>
            <a:r>
              <a:rPr lang="en-PH" sz="2800" dirty="0" err="1" smtClean="0">
                <a:solidFill>
                  <a:schemeClr val="bg1"/>
                </a:solidFill>
                <a:latin typeface="Candara" panose="020E0502030303020204" pitchFamily="34" charset="0"/>
              </a:rPr>
              <a:t>Hingyon</a:t>
            </a:r>
            <a:r>
              <a:rPr lang="en-PH" sz="2800" dirty="0" smtClean="0">
                <a:solidFill>
                  <a:schemeClr val="bg1"/>
                </a:solidFill>
                <a:latin typeface="Candara" panose="020E0502030303020204" pitchFamily="34" charset="0"/>
              </a:rPr>
              <a:t>, Ifugao, </a:t>
            </a:r>
            <a:r>
              <a:rPr lang="en-PH" sz="2800" dirty="0" err="1" smtClean="0">
                <a:solidFill>
                  <a:schemeClr val="bg1"/>
                </a:solidFill>
                <a:latin typeface="Candara" panose="020E0502030303020204" pitchFamily="34" charset="0"/>
              </a:rPr>
              <a:t>Lacub</a:t>
            </a:r>
            <a:r>
              <a:rPr lang="en-PH" sz="2800" dirty="0" smtClean="0">
                <a:solidFill>
                  <a:schemeClr val="bg1"/>
                </a:solidFill>
                <a:latin typeface="Candara" panose="020E0502030303020204" pitchFamily="34" charset="0"/>
              </a:rPr>
              <a:t>, </a:t>
            </a:r>
            <a:r>
              <a:rPr lang="en-PH" sz="2800" dirty="0" err="1" smtClean="0">
                <a:solidFill>
                  <a:schemeClr val="bg1"/>
                </a:solidFill>
                <a:latin typeface="Candara" panose="020E0502030303020204" pitchFamily="34" charset="0"/>
              </a:rPr>
              <a:t>Abra</a:t>
            </a:r>
            <a:r>
              <a:rPr lang="en-PH" sz="2800" dirty="0" smtClean="0">
                <a:solidFill>
                  <a:schemeClr val="bg1"/>
                </a:solidFill>
                <a:latin typeface="Candara" panose="020E0502030303020204" pitchFamily="34" charset="0"/>
              </a:rPr>
              <a:t>)</a:t>
            </a:r>
          </a:p>
          <a:p>
            <a:pPr marL="514350" indent="-514350">
              <a:buAutoNum type="arabicPeriod"/>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998705184"/>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Area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4953189"/>
          </a:xfrm>
        </p:spPr>
        <p:txBody>
          <a:bodyPr>
            <a:normAutofit/>
          </a:bodyPr>
          <a:lstStyle/>
          <a:p>
            <a:r>
              <a:rPr lang="en-PH" sz="2800" i="1" dirty="0" smtClean="0">
                <a:solidFill>
                  <a:schemeClr val="bg1"/>
                </a:solidFill>
                <a:latin typeface="Candara" panose="020E0502030303020204" pitchFamily="34" charset="0"/>
              </a:rPr>
              <a:t>The target is categorized per region (1,2,3….) or by ecological zone (lowland, upland, highland and coastal areas)</a:t>
            </a:r>
          </a:p>
          <a:p>
            <a:r>
              <a:rPr lang="en-PH" sz="2800" i="1" dirty="0" smtClean="0">
                <a:solidFill>
                  <a:schemeClr val="bg1"/>
                </a:solidFill>
                <a:latin typeface="Candara" panose="020E0502030303020204" pitchFamily="34" charset="0"/>
              </a:rPr>
              <a:t>EA introduces different technologies according to the needs and resources of the area.</a:t>
            </a:r>
          </a:p>
          <a:p>
            <a:pPr marL="0" indent="0">
              <a:buNone/>
            </a:pPr>
            <a:r>
              <a:rPr lang="en-PH" sz="2800" i="1" u="sng" dirty="0" smtClean="0">
                <a:solidFill>
                  <a:schemeClr val="bg1"/>
                </a:solidFill>
                <a:latin typeface="Candara" panose="020E0502030303020204" pitchFamily="34" charset="0"/>
              </a:rPr>
              <a:t>Guides in the use of area approach:</a:t>
            </a:r>
          </a:p>
          <a:p>
            <a:pPr marL="514350" indent="-514350">
              <a:buAutoNum type="arabicPeriod"/>
            </a:pPr>
            <a:r>
              <a:rPr lang="en-PH" sz="2800" dirty="0" smtClean="0">
                <a:solidFill>
                  <a:schemeClr val="bg1"/>
                </a:solidFill>
                <a:latin typeface="Candara" panose="020E0502030303020204" pitchFamily="34" charset="0"/>
              </a:rPr>
              <a:t>Resource scanning/assessment should be conducted</a:t>
            </a:r>
          </a:p>
          <a:p>
            <a:pPr marL="514350" indent="-514350">
              <a:buAutoNum type="arabicPeriod"/>
            </a:pPr>
            <a:r>
              <a:rPr lang="en-PH" sz="2800" dirty="0" smtClean="0">
                <a:solidFill>
                  <a:schemeClr val="bg1"/>
                </a:solidFill>
                <a:latin typeface="Candara" panose="020E0502030303020204" pitchFamily="34" charset="0"/>
              </a:rPr>
              <a:t>Match technology to the resource in the area</a:t>
            </a:r>
          </a:p>
          <a:p>
            <a:pPr marL="514350" indent="-514350">
              <a:buAutoNum type="arabicPeriod"/>
            </a:pPr>
            <a:r>
              <a:rPr lang="en-PH" sz="2800" dirty="0" smtClean="0">
                <a:solidFill>
                  <a:schemeClr val="bg1"/>
                </a:solidFill>
                <a:latin typeface="Candara" panose="020E0502030303020204" pitchFamily="34" charset="0"/>
              </a:rPr>
              <a:t>Consider cultural differences and needs</a:t>
            </a:r>
          </a:p>
          <a:p>
            <a:pPr marL="0" indent="0">
              <a:buNone/>
            </a:pPr>
            <a:endParaRPr lang="en-PH" sz="2800" dirty="0" smtClean="0">
              <a:solidFill>
                <a:schemeClr val="bg1"/>
              </a:solidFill>
              <a:latin typeface="Candara" panose="020E0502030303020204" pitchFamily="34" charset="0"/>
            </a:endParaRPr>
          </a:p>
          <a:p>
            <a:pPr marL="514350" indent="-514350">
              <a:buAutoNum type="arabicPeriod"/>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020621825"/>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Integrated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4953189"/>
          </a:xfrm>
        </p:spPr>
        <p:txBody>
          <a:bodyPr>
            <a:normAutofit/>
          </a:bodyPr>
          <a:lstStyle/>
          <a:p>
            <a:r>
              <a:rPr lang="en-PH" sz="2800" i="1" dirty="0" smtClean="0">
                <a:solidFill>
                  <a:schemeClr val="bg1"/>
                </a:solidFill>
                <a:latin typeface="Candara" panose="020E0502030303020204" pitchFamily="34" charset="0"/>
              </a:rPr>
              <a:t>Different agencies contributes, share their resources and agree on common goals and approaches.</a:t>
            </a:r>
          </a:p>
          <a:p>
            <a:pPr marL="0" indent="0">
              <a:buNone/>
            </a:pPr>
            <a:endParaRPr lang="en-PH" sz="2800" dirty="0" smtClean="0">
              <a:solidFill>
                <a:schemeClr val="bg1"/>
              </a:solidFill>
              <a:latin typeface="Candara" panose="020E0502030303020204" pitchFamily="34" charset="0"/>
            </a:endParaRPr>
          </a:p>
          <a:p>
            <a:pPr marL="514350" indent="-514350">
              <a:buAutoNum type="arabicPeriod"/>
            </a:pPr>
            <a:endParaRPr lang="en-PH" sz="2800" dirty="0" smtClean="0">
              <a:solidFill>
                <a:schemeClr val="bg1"/>
              </a:solidFill>
              <a:latin typeface="Candara" panose="020E0502030303020204" pitchFamily="34" charset="0"/>
            </a:endParaRPr>
          </a:p>
        </p:txBody>
      </p:sp>
      <p:sp>
        <p:nvSpPr>
          <p:cNvPr id="4" name="Rounded Rectangle 3"/>
          <p:cNvSpPr/>
          <p:nvPr/>
        </p:nvSpPr>
        <p:spPr>
          <a:xfrm>
            <a:off x="605305" y="3155324"/>
            <a:ext cx="1687133" cy="21121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PH" sz="2400" dirty="0" smtClean="0">
                <a:solidFill>
                  <a:schemeClr val="bg1"/>
                </a:solidFill>
                <a:latin typeface="Candara" panose="020E0502030303020204" pitchFamily="34" charset="0"/>
              </a:rPr>
              <a:t>DA</a:t>
            </a:r>
          </a:p>
          <a:p>
            <a:r>
              <a:rPr lang="en-PH" sz="2400" dirty="0">
                <a:solidFill>
                  <a:schemeClr val="bg1"/>
                </a:solidFill>
                <a:latin typeface="Candara" panose="020E0502030303020204" pitchFamily="34" charset="0"/>
              </a:rPr>
              <a:t> </a:t>
            </a:r>
            <a:r>
              <a:rPr lang="en-PH" sz="2400" dirty="0" smtClean="0">
                <a:solidFill>
                  <a:schemeClr val="bg1"/>
                </a:solidFill>
                <a:latin typeface="Candara" panose="020E0502030303020204" pitchFamily="34" charset="0"/>
              </a:rPr>
              <a:t>   PhilRice</a:t>
            </a:r>
          </a:p>
          <a:p>
            <a:r>
              <a:rPr lang="en-PH" sz="2400" dirty="0" smtClean="0">
                <a:solidFill>
                  <a:schemeClr val="bg1"/>
                </a:solidFill>
                <a:latin typeface="Candara" panose="020E0502030303020204" pitchFamily="34" charset="0"/>
              </a:rPr>
              <a:t>    NIA</a:t>
            </a:r>
          </a:p>
          <a:p>
            <a:r>
              <a:rPr lang="en-PH" sz="2400" dirty="0" smtClean="0">
                <a:solidFill>
                  <a:schemeClr val="bg1"/>
                </a:solidFill>
                <a:latin typeface="Candara" panose="020E0502030303020204" pitchFamily="34" charset="0"/>
              </a:rPr>
              <a:t>LGU’s</a:t>
            </a:r>
          </a:p>
          <a:p>
            <a:r>
              <a:rPr lang="en-PH" sz="2400" dirty="0" smtClean="0">
                <a:solidFill>
                  <a:schemeClr val="bg1"/>
                </a:solidFill>
                <a:latin typeface="Candara" panose="020E0502030303020204" pitchFamily="34" charset="0"/>
              </a:rPr>
              <a:t>PAO</a:t>
            </a:r>
          </a:p>
        </p:txBody>
      </p:sp>
      <p:sp>
        <p:nvSpPr>
          <p:cNvPr id="5" name="Rounded Rectangle 4"/>
          <p:cNvSpPr/>
          <p:nvPr/>
        </p:nvSpPr>
        <p:spPr>
          <a:xfrm>
            <a:off x="3614656" y="3155324"/>
            <a:ext cx="3232600" cy="31939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PH" sz="2400" dirty="0" smtClean="0">
                <a:solidFill>
                  <a:schemeClr val="bg1"/>
                </a:solidFill>
                <a:latin typeface="Candara" panose="020E0502030303020204" pitchFamily="34" charset="0"/>
              </a:rPr>
              <a:t>Integrated Approach</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Training</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Seed products</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Techno demo</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Coop </a:t>
            </a:r>
            <a:r>
              <a:rPr lang="en-PH" sz="2400" dirty="0" err="1" smtClean="0">
                <a:solidFill>
                  <a:schemeClr val="bg1"/>
                </a:solidFill>
                <a:latin typeface="Candara" panose="020E0502030303020204" pitchFamily="34" charset="0"/>
              </a:rPr>
              <a:t>Dev’t</a:t>
            </a:r>
            <a:endParaRPr lang="en-PH" sz="2400" dirty="0" smtClean="0">
              <a:solidFill>
                <a:schemeClr val="bg1"/>
              </a:solidFill>
              <a:latin typeface="Candara" panose="020E0502030303020204" pitchFamily="34" charset="0"/>
            </a:endParaRP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Province wide production</a:t>
            </a:r>
          </a:p>
          <a:p>
            <a:pPr marL="285750" indent="-285750">
              <a:buFont typeface="Wingdings" panose="05000000000000000000" pitchFamily="2" charset="2"/>
              <a:buChar char="Ø"/>
            </a:pPr>
            <a:endParaRPr lang="en-PH" sz="2400" dirty="0">
              <a:solidFill>
                <a:schemeClr val="bg1"/>
              </a:solidFill>
              <a:latin typeface="Candara" panose="020E0502030303020204" pitchFamily="34" charset="0"/>
            </a:endParaRPr>
          </a:p>
        </p:txBody>
      </p:sp>
      <p:sp>
        <p:nvSpPr>
          <p:cNvPr id="6" name="Rounded Rectangle 5"/>
          <p:cNvSpPr/>
          <p:nvPr/>
        </p:nvSpPr>
        <p:spPr>
          <a:xfrm>
            <a:off x="8169475" y="3155324"/>
            <a:ext cx="3176812" cy="19318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Increased rice production and profitability</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Job Generation</a:t>
            </a:r>
          </a:p>
          <a:p>
            <a:pPr marL="285750" indent="-285750">
              <a:buFont typeface="Wingdings" panose="05000000000000000000" pitchFamily="2" charset="2"/>
              <a:buChar char="Ø"/>
            </a:pPr>
            <a:r>
              <a:rPr lang="en-PH" sz="2400" dirty="0" smtClean="0">
                <a:solidFill>
                  <a:schemeClr val="bg1"/>
                </a:solidFill>
                <a:latin typeface="Candara" panose="020E0502030303020204" pitchFamily="34" charset="0"/>
              </a:rPr>
              <a:t>Food Sufficiency</a:t>
            </a:r>
            <a:endParaRPr lang="en-PH" sz="2400" dirty="0">
              <a:solidFill>
                <a:schemeClr val="bg1"/>
              </a:solidFill>
              <a:latin typeface="Candara" panose="020E0502030303020204" pitchFamily="34" charset="0"/>
            </a:endParaRPr>
          </a:p>
        </p:txBody>
      </p:sp>
      <p:sp>
        <p:nvSpPr>
          <p:cNvPr id="7" name="Rectangle 6"/>
          <p:cNvSpPr/>
          <p:nvPr/>
        </p:nvSpPr>
        <p:spPr>
          <a:xfrm>
            <a:off x="4119846" y="2343001"/>
            <a:ext cx="2222220" cy="496480"/>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2400" dirty="0" smtClean="0">
                <a:solidFill>
                  <a:schemeClr val="bg1"/>
                </a:solidFill>
                <a:latin typeface="Arial Rounded MT Bold" panose="020F0704030504030204" pitchFamily="34" charset="0"/>
              </a:rPr>
              <a:t>PROCESS</a:t>
            </a:r>
            <a:endParaRPr lang="en-PH" sz="2400" dirty="0">
              <a:solidFill>
                <a:schemeClr val="bg1"/>
              </a:solidFill>
              <a:latin typeface="Arial Rounded MT Bold" panose="020F0704030504030204" pitchFamily="34" charset="0"/>
            </a:endParaRPr>
          </a:p>
        </p:txBody>
      </p:sp>
      <p:sp>
        <p:nvSpPr>
          <p:cNvPr id="8" name="Rectangle 7"/>
          <p:cNvSpPr/>
          <p:nvPr/>
        </p:nvSpPr>
        <p:spPr>
          <a:xfrm>
            <a:off x="688406" y="2385489"/>
            <a:ext cx="1760165" cy="515155"/>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2400" dirty="0" smtClean="0">
                <a:solidFill>
                  <a:schemeClr val="bg1"/>
                </a:solidFill>
                <a:latin typeface="Arial Rounded MT Bold" panose="020F0704030504030204" pitchFamily="34" charset="0"/>
              </a:rPr>
              <a:t>INPUT</a:t>
            </a:r>
            <a:endParaRPr lang="en-PH" sz="2400" dirty="0">
              <a:solidFill>
                <a:schemeClr val="bg1"/>
              </a:solidFill>
              <a:latin typeface="Arial Rounded MT Bold" panose="020F0704030504030204" pitchFamily="34" charset="0"/>
            </a:endParaRPr>
          </a:p>
        </p:txBody>
      </p:sp>
      <p:sp>
        <p:nvSpPr>
          <p:cNvPr id="9" name="Rectangle 8"/>
          <p:cNvSpPr/>
          <p:nvPr/>
        </p:nvSpPr>
        <p:spPr>
          <a:xfrm>
            <a:off x="8635176" y="2329502"/>
            <a:ext cx="2168066" cy="515775"/>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2400" dirty="0" smtClean="0">
                <a:solidFill>
                  <a:schemeClr val="bg1"/>
                </a:solidFill>
                <a:latin typeface="Arial Rounded MT Bold" panose="020F0704030504030204" pitchFamily="34" charset="0"/>
              </a:rPr>
              <a:t>OUTPUT</a:t>
            </a:r>
            <a:endParaRPr lang="en-PH" sz="2400" dirty="0">
              <a:solidFill>
                <a:schemeClr val="bg1"/>
              </a:solidFill>
              <a:latin typeface="Arial Rounded MT Bold" panose="020F0704030504030204" pitchFamily="34" charset="0"/>
            </a:endParaRPr>
          </a:p>
        </p:txBody>
      </p:sp>
      <p:sp>
        <p:nvSpPr>
          <p:cNvPr id="10" name="Left Arrow 9"/>
          <p:cNvSpPr/>
          <p:nvPr/>
        </p:nvSpPr>
        <p:spPr>
          <a:xfrm rot="10800000">
            <a:off x="2481411" y="3844343"/>
            <a:ext cx="746974" cy="5537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bg1"/>
              </a:solidFill>
            </a:endParaRPr>
          </a:p>
        </p:txBody>
      </p:sp>
      <p:sp>
        <p:nvSpPr>
          <p:cNvPr id="11" name="Left Arrow 10"/>
          <p:cNvSpPr/>
          <p:nvPr/>
        </p:nvSpPr>
        <p:spPr>
          <a:xfrm rot="10800000">
            <a:off x="7036230" y="3786387"/>
            <a:ext cx="746974" cy="5537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bg1"/>
              </a:solidFill>
            </a:endParaRPr>
          </a:p>
        </p:txBody>
      </p:sp>
    </p:spTree>
    <p:extLst>
      <p:ext uri="{BB962C8B-B14F-4D97-AF65-F5344CB8AC3E}">
        <p14:creationId xmlns:p14="http://schemas.microsoft.com/office/powerpoint/2010/main" val="1407080141"/>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General Agriculture Extension</a:t>
            </a:r>
            <a:r>
              <a:rPr lang="en-PH" i="1" dirty="0" smtClean="0">
                <a:solidFill>
                  <a:schemeClr val="bg1"/>
                </a:solidFill>
                <a:latin typeface="Candara" panose="020E0502030303020204" pitchFamily="34" charset="0"/>
              </a:rPr>
              <a:t> </a:t>
            </a:r>
            <a:r>
              <a:rPr lang="en-PH" i="1" dirty="0" smtClean="0">
                <a:solidFill>
                  <a:schemeClr val="bg1"/>
                </a:solidFill>
                <a:latin typeface="Candara" panose="020E0502030303020204" pitchFamily="34" charset="0"/>
              </a:rPr>
              <a:t>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Most commonly used in Transfer of Technology (TOT)</a:t>
            </a:r>
          </a:p>
          <a:p>
            <a:pPr marL="0" indent="0">
              <a:buNone/>
            </a:pPr>
            <a:r>
              <a:rPr lang="en-PH" sz="2800" i="1" u="sng" dirty="0" smtClean="0">
                <a:solidFill>
                  <a:schemeClr val="bg1"/>
                </a:solidFill>
                <a:latin typeface="Candara" panose="020E0502030303020204" pitchFamily="34" charset="0"/>
              </a:rPr>
              <a:t>Basic Assumption:</a:t>
            </a:r>
          </a:p>
          <a:p>
            <a:pPr marL="0" indent="0">
              <a:buNone/>
            </a:pPr>
            <a:r>
              <a:rPr lang="en-PH" sz="2800" dirty="0" smtClean="0">
                <a:solidFill>
                  <a:schemeClr val="bg1"/>
                </a:solidFill>
                <a:latin typeface="Candara" panose="020E0502030303020204" pitchFamily="34" charset="0"/>
              </a:rPr>
              <a:t>Technology and information are available but are not being used by the farmers. If these could be communicated  to farmers, farm practice would be improved.</a:t>
            </a:r>
          </a:p>
          <a:p>
            <a:pPr marL="0" indent="0">
              <a:buNone/>
            </a:pPr>
            <a:r>
              <a:rPr lang="en-PH" sz="2800" i="1" u="sng" dirty="0" smtClean="0">
                <a:solidFill>
                  <a:schemeClr val="bg1"/>
                </a:solidFill>
                <a:latin typeface="Candara" panose="020E0502030303020204" pitchFamily="34" charset="0"/>
              </a:rPr>
              <a:t>Implementation:</a:t>
            </a:r>
          </a:p>
          <a:p>
            <a:pPr marL="0" indent="0">
              <a:buNone/>
            </a:pPr>
            <a:r>
              <a:rPr lang="en-PH" sz="2800" dirty="0" smtClean="0">
                <a:solidFill>
                  <a:schemeClr val="bg1"/>
                </a:solidFill>
                <a:latin typeface="Candara" panose="020E0502030303020204" pitchFamily="34" charset="0"/>
              </a:rPr>
              <a:t>Carried by a large field staff all over the country.</a:t>
            </a:r>
          </a:p>
          <a:p>
            <a:pPr marL="0" indent="0">
              <a:buNone/>
            </a:pPr>
            <a:r>
              <a:rPr lang="en-PH" sz="2800" i="1" u="sng" dirty="0" smtClean="0">
                <a:solidFill>
                  <a:schemeClr val="bg1"/>
                </a:solidFill>
                <a:latin typeface="Candara" panose="020E0502030303020204" pitchFamily="34" charset="0"/>
              </a:rPr>
              <a:t>Weak points:</a:t>
            </a:r>
          </a:p>
          <a:p>
            <a:pPr marL="0" indent="0">
              <a:buNone/>
            </a:pPr>
            <a:r>
              <a:rPr lang="en-PH" sz="2800" dirty="0" smtClean="0">
                <a:solidFill>
                  <a:schemeClr val="bg1"/>
                </a:solidFill>
                <a:latin typeface="Candara" panose="020E0502030303020204" pitchFamily="34" charset="0"/>
              </a:rPr>
              <a:t>Lack two-way process</a:t>
            </a:r>
          </a:p>
          <a:p>
            <a:pPr marL="0" indent="0">
              <a:buNone/>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1694284452"/>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Project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Fixed period of time, large funding.</a:t>
            </a:r>
          </a:p>
          <a:p>
            <a:pPr marL="0" indent="0">
              <a:buNone/>
            </a:pPr>
            <a:r>
              <a:rPr lang="en-PH" sz="2800" i="1" u="sng" dirty="0" smtClean="0">
                <a:solidFill>
                  <a:schemeClr val="bg1"/>
                </a:solidFill>
                <a:latin typeface="Candara" panose="020E0502030303020204" pitchFamily="34" charset="0"/>
              </a:rPr>
              <a:t>Basic Assumption:</a:t>
            </a:r>
          </a:p>
          <a:p>
            <a:pPr marL="0" indent="0">
              <a:buNone/>
            </a:pPr>
            <a:r>
              <a:rPr lang="en-PH" sz="2800" dirty="0" smtClean="0">
                <a:solidFill>
                  <a:schemeClr val="bg1"/>
                </a:solidFill>
                <a:latin typeface="Candara" panose="020E0502030303020204" pitchFamily="34" charset="0"/>
              </a:rPr>
              <a:t>Better result </a:t>
            </a:r>
            <a:r>
              <a:rPr lang="en-PH" sz="2800" dirty="0" smtClean="0">
                <a:solidFill>
                  <a:schemeClr val="bg1"/>
                </a:solidFill>
                <a:latin typeface="Candara" panose="020E0502030303020204" pitchFamily="34" charset="0"/>
              </a:rPr>
              <a:t>can be achieved in a particular location during a specified time period with large infusion of outside resources.</a:t>
            </a:r>
            <a:endParaRPr lang="en-PH" sz="2800" dirty="0" smtClean="0">
              <a:solidFill>
                <a:schemeClr val="bg1"/>
              </a:solidFill>
              <a:latin typeface="Candara" panose="020E0502030303020204" pitchFamily="34" charset="0"/>
            </a:endParaRPr>
          </a:p>
          <a:p>
            <a:pPr marL="0" indent="0">
              <a:buNone/>
            </a:pPr>
            <a:r>
              <a:rPr lang="en-PH" sz="2800" i="1" u="sng" dirty="0" smtClean="0">
                <a:solidFill>
                  <a:schemeClr val="bg1"/>
                </a:solidFill>
                <a:latin typeface="Candara" panose="020E0502030303020204" pitchFamily="34" charset="0"/>
              </a:rPr>
              <a:t>Implementation:</a:t>
            </a:r>
          </a:p>
          <a:p>
            <a:pPr marL="0" indent="0">
              <a:buNone/>
            </a:pPr>
            <a:r>
              <a:rPr lang="en-PH" sz="2800" dirty="0" smtClean="0">
                <a:solidFill>
                  <a:schemeClr val="bg1"/>
                </a:solidFill>
                <a:latin typeface="Candara" panose="020E0502030303020204" pitchFamily="34" charset="0"/>
              </a:rPr>
              <a:t>Staff, facilities</a:t>
            </a:r>
            <a:r>
              <a:rPr lang="en-PH" sz="2800" dirty="0" smtClean="0">
                <a:solidFill>
                  <a:schemeClr val="bg1"/>
                </a:solidFill>
                <a:latin typeface="Candara" panose="020E0502030303020204" pitchFamily="34" charset="0"/>
              </a:rPr>
              <a:t> </a:t>
            </a:r>
          </a:p>
          <a:p>
            <a:pPr marL="0" indent="0">
              <a:buNone/>
            </a:pPr>
            <a:r>
              <a:rPr lang="en-PH" sz="2800" i="1" u="sng" dirty="0" smtClean="0">
                <a:solidFill>
                  <a:schemeClr val="bg1"/>
                </a:solidFill>
                <a:latin typeface="Candara" panose="020E0502030303020204" pitchFamily="34" charset="0"/>
              </a:rPr>
              <a:t>Weak points:</a:t>
            </a:r>
          </a:p>
          <a:p>
            <a:pPr marL="0" indent="0">
              <a:buNone/>
            </a:pPr>
            <a:r>
              <a:rPr lang="en-PH" sz="2800" dirty="0" smtClean="0">
                <a:solidFill>
                  <a:schemeClr val="bg1"/>
                </a:solidFill>
                <a:latin typeface="Candara" panose="020E0502030303020204" pitchFamily="34" charset="0"/>
              </a:rPr>
              <a:t>When funds ends, project extension program end also</a:t>
            </a:r>
            <a:endParaRPr lang="en-PH" sz="2800" dirty="0" smtClean="0">
              <a:solidFill>
                <a:schemeClr val="bg1"/>
              </a:solidFill>
              <a:latin typeface="Candara" panose="020E0502030303020204" pitchFamily="34" charset="0"/>
            </a:endParaRPr>
          </a:p>
          <a:p>
            <a:pPr marL="0" indent="0">
              <a:buNone/>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3065095378"/>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Farming Systems </a:t>
            </a:r>
            <a:r>
              <a:rPr lang="en-PH" i="1" dirty="0" err="1" smtClean="0">
                <a:solidFill>
                  <a:schemeClr val="bg1"/>
                </a:solidFill>
                <a:latin typeface="Candara" panose="020E0502030303020204" pitchFamily="34" charset="0"/>
              </a:rPr>
              <a:t>DevelopmentApproach</a:t>
            </a:r>
            <a:r>
              <a:rPr lang="en-PH" i="1" dirty="0" smtClean="0">
                <a:solidFill>
                  <a:schemeClr val="bg1"/>
                </a:solidFill>
                <a:latin typeface="Candara" panose="020E0502030303020204" pitchFamily="34" charset="0"/>
              </a:rPr>
              <a:t>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Interdisciplinary Approach which involves several scientific disciplines</a:t>
            </a:r>
          </a:p>
          <a:p>
            <a:pPr marL="0" indent="0">
              <a:buNone/>
            </a:pPr>
            <a:r>
              <a:rPr lang="en-PH" sz="2800" i="1" u="sng" dirty="0" smtClean="0">
                <a:solidFill>
                  <a:schemeClr val="bg1"/>
                </a:solidFill>
                <a:latin typeface="Candara" panose="020E0502030303020204" pitchFamily="34" charset="0"/>
              </a:rPr>
              <a:t>Implementation:</a:t>
            </a:r>
          </a:p>
          <a:p>
            <a:pPr marL="0" indent="0">
              <a:buNone/>
            </a:pPr>
            <a:r>
              <a:rPr lang="en-PH" sz="2800" dirty="0" smtClean="0">
                <a:solidFill>
                  <a:schemeClr val="bg1"/>
                </a:solidFill>
                <a:latin typeface="Candara" panose="020E0502030303020204" pitchFamily="34" charset="0"/>
              </a:rPr>
              <a:t>Through partnership of research and extension </a:t>
            </a:r>
            <a:r>
              <a:rPr lang="en-PH" sz="2800" dirty="0" err="1" smtClean="0">
                <a:solidFill>
                  <a:schemeClr val="bg1"/>
                </a:solidFill>
                <a:latin typeface="Candara" panose="020E0502030303020204" pitchFamily="34" charset="0"/>
              </a:rPr>
              <a:t>personnels</a:t>
            </a:r>
            <a:r>
              <a:rPr lang="en-PH" sz="2800" dirty="0">
                <a:solidFill>
                  <a:schemeClr val="bg1"/>
                </a:solidFill>
                <a:latin typeface="Candara" panose="020E0502030303020204" pitchFamily="34" charset="0"/>
              </a:rPr>
              <a:t> </a:t>
            </a:r>
            <a:r>
              <a:rPr lang="en-PH" sz="2800" dirty="0" smtClean="0">
                <a:solidFill>
                  <a:schemeClr val="bg1"/>
                </a:solidFill>
                <a:latin typeface="Candara" panose="020E0502030303020204" pitchFamily="34" charset="0"/>
              </a:rPr>
              <a:t>with local peoples.</a:t>
            </a:r>
            <a:endParaRPr lang="en-PH" sz="2800" dirty="0">
              <a:solidFill>
                <a:schemeClr val="bg1"/>
              </a:solidFill>
              <a:latin typeface="Candara" panose="020E0502030303020204" pitchFamily="34" charset="0"/>
            </a:endParaRPr>
          </a:p>
          <a:p>
            <a:pPr marL="0" indent="0">
              <a:buNone/>
            </a:pPr>
            <a:r>
              <a:rPr lang="en-PH" sz="2800" i="1" u="sng" dirty="0" smtClean="0">
                <a:solidFill>
                  <a:schemeClr val="bg1"/>
                </a:solidFill>
                <a:latin typeface="Candara" panose="020E0502030303020204" pitchFamily="34" charset="0"/>
              </a:rPr>
              <a:t>Strong points:</a:t>
            </a:r>
          </a:p>
          <a:p>
            <a:pPr marL="0" indent="0">
              <a:buNone/>
            </a:pPr>
            <a:r>
              <a:rPr lang="en-PH" sz="2800" dirty="0" smtClean="0">
                <a:solidFill>
                  <a:schemeClr val="bg1"/>
                </a:solidFill>
                <a:latin typeface="Candara" panose="020E0502030303020204" pitchFamily="34" charset="0"/>
              </a:rPr>
              <a:t>Higher adoption Rate</a:t>
            </a:r>
          </a:p>
        </p:txBody>
      </p:sp>
    </p:spTree>
    <p:extLst>
      <p:ext uri="{BB962C8B-B14F-4D97-AF65-F5344CB8AC3E}">
        <p14:creationId xmlns:p14="http://schemas.microsoft.com/office/powerpoint/2010/main" val="943814779"/>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Training and Visit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Highly disciplined and patterned with fix schedules for training of extension workers and visits by EW’s to farmers.</a:t>
            </a:r>
          </a:p>
          <a:p>
            <a:pPr marL="0" indent="0">
              <a:buNone/>
            </a:pPr>
            <a:endParaRPr lang="en-PH" sz="2800" dirty="0" smtClean="0">
              <a:solidFill>
                <a:schemeClr val="bg1"/>
              </a:solidFill>
              <a:latin typeface="Candara" panose="020E0502030303020204" pitchFamily="34" charset="0"/>
            </a:endParaRPr>
          </a:p>
        </p:txBody>
      </p:sp>
    </p:spTree>
    <p:extLst>
      <p:ext uri="{BB962C8B-B14F-4D97-AF65-F5344CB8AC3E}">
        <p14:creationId xmlns:p14="http://schemas.microsoft.com/office/powerpoint/2010/main" val="2106731348"/>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i="1" dirty="0" smtClean="0">
                <a:solidFill>
                  <a:schemeClr val="bg1"/>
                </a:solidFill>
                <a:latin typeface="Candara" panose="020E0502030303020204" pitchFamily="34" charset="0"/>
              </a:rPr>
              <a:t>Cost Sharing Approach </a:t>
            </a:r>
            <a:endParaRPr lang="en-PH"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Any non-formal educational program is more likely to achieve its goal if those who benefit from it shares some part of the cost.</a:t>
            </a:r>
          </a:p>
          <a:p>
            <a:pPr marL="0" indent="0">
              <a:buNone/>
            </a:pPr>
            <a:r>
              <a:rPr lang="en-PH" sz="2800" dirty="0" smtClean="0">
                <a:solidFill>
                  <a:schemeClr val="bg1"/>
                </a:solidFill>
                <a:latin typeface="Candara" panose="020E0502030303020204" pitchFamily="34" charset="0"/>
              </a:rPr>
              <a:t>Commitment of learners to participate if they pay some part </a:t>
            </a:r>
            <a:r>
              <a:rPr lang="en-PH" sz="2800" dirty="0" err="1" smtClean="0">
                <a:solidFill>
                  <a:schemeClr val="bg1"/>
                </a:solidFill>
                <a:latin typeface="Candara" panose="020E0502030303020204" pitchFamily="34" charset="0"/>
              </a:rPr>
              <a:t>fo</a:t>
            </a:r>
            <a:r>
              <a:rPr lang="en-PH" sz="2800" dirty="0" smtClean="0">
                <a:solidFill>
                  <a:schemeClr val="bg1"/>
                </a:solidFill>
                <a:latin typeface="Candara" panose="020E0502030303020204" pitchFamily="34" charset="0"/>
              </a:rPr>
              <a:t> the cost.</a:t>
            </a:r>
          </a:p>
          <a:p>
            <a:pPr marL="0" indent="0">
              <a:buNone/>
            </a:pPr>
            <a:r>
              <a:rPr lang="en-PH" sz="2800" dirty="0" smtClean="0">
                <a:solidFill>
                  <a:schemeClr val="bg1"/>
                </a:solidFill>
                <a:latin typeface="Candara" panose="020E0502030303020204" pitchFamily="34" charset="0"/>
              </a:rPr>
              <a:t> </a:t>
            </a:r>
          </a:p>
        </p:txBody>
      </p:sp>
    </p:spTree>
    <p:extLst>
      <p:ext uri="{BB962C8B-B14F-4D97-AF65-F5344CB8AC3E}">
        <p14:creationId xmlns:p14="http://schemas.microsoft.com/office/powerpoint/2010/main" val="971983824"/>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20" y="259535"/>
            <a:ext cx="9404723" cy="783654"/>
          </a:xfrm>
        </p:spPr>
        <p:txBody>
          <a:bodyPr/>
          <a:lstStyle/>
          <a:p>
            <a:pPr algn="ctr"/>
            <a:r>
              <a:rPr lang="en-PH" sz="3600" i="1" dirty="0" smtClean="0">
                <a:solidFill>
                  <a:schemeClr val="bg1"/>
                </a:solidFill>
                <a:latin typeface="Candara" panose="020E0502030303020204" pitchFamily="34" charset="0"/>
              </a:rPr>
              <a:t>Agricultural Extension Participatory Approach </a:t>
            </a:r>
            <a:endParaRPr lang="en-PH" sz="3600" i="1" dirty="0">
              <a:solidFill>
                <a:schemeClr val="bg1"/>
              </a:solidFill>
              <a:latin typeface="Candara" panose="020E0502030303020204" pitchFamily="34" charset="0"/>
            </a:endParaRPr>
          </a:p>
        </p:txBody>
      </p:sp>
      <p:sp>
        <p:nvSpPr>
          <p:cNvPr id="3" name="Content Placeholder 2"/>
          <p:cNvSpPr>
            <a:spLocks noGrp="1"/>
          </p:cNvSpPr>
          <p:nvPr>
            <p:ph idx="1"/>
          </p:nvPr>
        </p:nvSpPr>
        <p:spPr>
          <a:xfrm>
            <a:off x="742703" y="1151397"/>
            <a:ext cx="10603584" cy="5706603"/>
          </a:xfrm>
        </p:spPr>
        <p:txBody>
          <a:bodyPr>
            <a:normAutofit/>
          </a:bodyPr>
          <a:lstStyle/>
          <a:p>
            <a:pPr marL="0" indent="0">
              <a:buNone/>
            </a:pPr>
            <a:r>
              <a:rPr lang="en-PH" sz="2800" dirty="0" smtClean="0">
                <a:solidFill>
                  <a:schemeClr val="bg1"/>
                </a:solidFill>
                <a:latin typeface="Candara" panose="020E0502030303020204" pitchFamily="34" charset="0"/>
              </a:rPr>
              <a:t>Puts responsibility of determining agricultural extension programs in the hands of farmers making them partners to GO’s and NGO’s.</a:t>
            </a:r>
          </a:p>
          <a:p>
            <a:pPr marL="0" indent="0">
              <a:buNone/>
            </a:pPr>
            <a:r>
              <a:rPr lang="en-PH" sz="2800" i="1" u="sng" dirty="0" smtClean="0">
                <a:solidFill>
                  <a:schemeClr val="bg1"/>
                </a:solidFill>
                <a:latin typeface="Candara" panose="020E0502030303020204" pitchFamily="34" charset="0"/>
              </a:rPr>
              <a:t>Disadvantage:</a:t>
            </a:r>
          </a:p>
          <a:p>
            <a:pPr marL="0" indent="0">
              <a:buNone/>
            </a:pPr>
            <a:r>
              <a:rPr lang="en-PH" sz="2800" dirty="0" smtClean="0">
                <a:solidFill>
                  <a:schemeClr val="bg1"/>
                </a:solidFill>
                <a:latin typeface="Candara" panose="020E0502030303020204" pitchFamily="34" charset="0"/>
              </a:rPr>
              <a:t>Lack of control of program from central government </a:t>
            </a:r>
          </a:p>
          <a:p>
            <a:pPr marL="0" indent="0">
              <a:buNone/>
            </a:pPr>
            <a:r>
              <a:rPr lang="en-PH" sz="2800" dirty="0" smtClean="0">
                <a:solidFill>
                  <a:schemeClr val="bg1"/>
                </a:solidFill>
                <a:latin typeface="Candara" panose="020E0502030303020204" pitchFamily="34" charset="0"/>
              </a:rPr>
              <a:t>Difficulty of managing, reporting and accounting.</a:t>
            </a:r>
          </a:p>
        </p:txBody>
      </p:sp>
    </p:spTree>
    <p:extLst>
      <p:ext uri="{BB962C8B-B14F-4D97-AF65-F5344CB8AC3E}">
        <p14:creationId xmlns:p14="http://schemas.microsoft.com/office/powerpoint/2010/main" val="1292551132"/>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16597" y="668147"/>
            <a:ext cx="8109983" cy="1877437"/>
          </a:xfrm>
          <a:prstGeom prst="rect">
            <a:avLst/>
          </a:prstGeom>
          <a:noFill/>
        </p:spPr>
        <p:txBody>
          <a:bodyPr wrap="square" lIns="91440" tIns="45720" rIns="91440" bIns="45720">
            <a:spAutoFit/>
          </a:bodyPr>
          <a:lstStyle/>
          <a:p>
            <a:pPr algn="ctr"/>
            <a:r>
              <a:rPr lang="en-PH" sz="4000" dirty="0" smtClean="0">
                <a:ln w="0"/>
                <a:solidFill>
                  <a:srgbClr val="002060"/>
                </a:solidFill>
                <a:latin typeface="Britannic Bold" panose="020B0903060703020204" pitchFamily="34" charset="0"/>
              </a:rPr>
              <a:t>Ask anything in my name, </a:t>
            </a:r>
          </a:p>
          <a:p>
            <a:pPr algn="ctr"/>
            <a:r>
              <a:rPr lang="en-PH" sz="4000" dirty="0" smtClean="0">
                <a:ln w="0"/>
                <a:solidFill>
                  <a:srgbClr val="002060"/>
                </a:solidFill>
                <a:latin typeface="Britannic Bold" panose="020B0903060703020204" pitchFamily="34" charset="0"/>
              </a:rPr>
              <a:t>and it shall be done!</a:t>
            </a:r>
            <a:br>
              <a:rPr lang="en-PH" sz="4000" dirty="0" smtClean="0">
                <a:ln w="0"/>
                <a:solidFill>
                  <a:srgbClr val="002060"/>
                </a:solidFill>
                <a:latin typeface="Britannic Bold" panose="020B0903060703020204" pitchFamily="34" charset="0"/>
              </a:rPr>
            </a:br>
            <a:r>
              <a:rPr lang="en-PH" sz="3600" i="1" u="sng" dirty="0" smtClean="0">
                <a:ln w="0"/>
                <a:solidFill>
                  <a:srgbClr val="002060"/>
                </a:solidFill>
                <a:latin typeface="Britannic Bold" panose="020B0903060703020204" pitchFamily="34" charset="0"/>
              </a:rPr>
              <a:t>John 14:14</a:t>
            </a:r>
            <a:endParaRPr lang="en-PH" sz="3600" i="1" u="sng" dirty="0">
              <a:ln w="0"/>
              <a:solidFill>
                <a:srgbClr val="002060"/>
              </a:solidFill>
              <a:latin typeface="Britannic Bold" panose="020B0903060703020204" pitchFamily="34" charset="0"/>
            </a:endParaRPr>
          </a:p>
        </p:txBody>
      </p:sp>
      <p:sp>
        <p:nvSpPr>
          <p:cNvPr id="8" name="Rectangle 7"/>
          <p:cNvSpPr/>
          <p:nvPr/>
        </p:nvSpPr>
        <p:spPr>
          <a:xfrm>
            <a:off x="1486636" y="3687433"/>
            <a:ext cx="8569904" cy="1938992"/>
          </a:xfrm>
          <a:prstGeom prst="rect">
            <a:avLst/>
          </a:prstGeom>
          <a:noFill/>
        </p:spPr>
        <p:txBody>
          <a:bodyPr wrap="square" lIns="91440" tIns="45720" rIns="91440" bIns="45720">
            <a:spAutoFit/>
          </a:bodyPr>
          <a:lstStyle/>
          <a:p>
            <a:pPr algn="ctr"/>
            <a:r>
              <a:rPr lang="en-PH" sz="4000" dirty="0" smtClean="0">
                <a:ln w="0"/>
                <a:solidFill>
                  <a:srgbClr val="7030A0"/>
                </a:solidFill>
                <a:latin typeface="Britannic Bold" panose="020B0903060703020204" pitchFamily="34" charset="0"/>
              </a:rPr>
              <a:t>Commit to the Lord whatever you do; and your plans will succeed.</a:t>
            </a:r>
          </a:p>
          <a:p>
            <a:pPr algn="ctr"/>
            <a:r>
              <a:rPr lang="en-PH" sz="3600" i="1" u="sng" dirty="0" smtClean="0">
                <a:ln w="0"/>
                <a:solidFill>
                  <a:srgbClr val="7030A0"/>
                </a:solidFill>
                <a:latin typeface="Britannic Bold" panose="020B0903060703020204" pitchFamily="34" charset="0"/>
              </a:rPr>
              <a:t>Proverbs 16:3</a:t>
            </a:r>
            <a:endParaRPr lang="en-PH" sz="3600" i="1" u="sng" dirty="0">
              <a:ln w="0"/>
              <a:solidFill>
                <a:srgbClr val="7030A0"/>
              </a:solidFill>
              <a:latin typeface="Britannic Bold" panose="020B0903060703020204" pitchFamily="34" charset="0"/>
            </a:endParaRPr>
          </a:p>
        </p:txBody>
      </p:sp>
    </p:spTree>
    <p:extLst>
      <p:ext uri="{BB962C8B-B14F-4D97-AF65-F5344CB8AC3E}">
        <p14:creationId xmlns:p14="http://schemas.microsoft.com/office/powerpoint/2010/main" val="35063819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1720</TotalTime>
  <Words>11548</Words>
  <Application>Microsoft Office PowerPoint</Application>
  <PresentationFormat>Widescreen</PresentationFormat>
  <Paragraphs>1718</Paragraphs>
  <Slides>273</Slides>
  <Notes>23</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273</vt:i4>
      </vt:variant>
    </vt:vector>
  </HeadingPairs>
  <TitlesOfParts>
    <vt:vector size="293" baseType="lpstr">
      <vt:lpstr>Arial</vt:lpstr>
      <vt:lpstr>Arial Black</vt:lpstr>
      <vt:lpstr>Arial Rounded MT Bold</vt:lpstr>
      <vt:lpstr>Baskerville Old Face</vt:lpstr>
      <vt:lpstr>Berlin Sans FB</vt:lpstr>
      <vt:lpstr>Bernard MT Condensed</vt:lpstr>
      <vt:lpstr>Britannic Bold</vt:lpstr>
      <vt:lpstr>Calibri</vt:lpstr>
      <vt:lpstr>Candara</vt:lpstr>
      <vt:lpstr>Century Gothic</vt:lpstr>
      <vt:lpstr>Garamond</vt:lpstr>
      <vt:lpstr>Segoe UI Black</vt:lpstr>
      <vt:lpstr>Showcard Gothic</vt:lpstr>
      <vt:lpstr>Stencil</vt:lpstr>
      <vt:lpstr>Tahoma</vt:lpstr>
      <vt:lpstr>Times New Roman</vt:lpstr>
      <vt:lpstr>Trebuchet MS</vt:lpstr>
      <vt:lpstr>Wingdings</vt:lpstr>
      <vt:lpstr>Wingdings 3</vt:lpstr>
      <vt:lpstr>Ion</vt:lpstr>
      <vt:lpstr>HISTORY  OF EXTENSION IN THE   PHILIPPINES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PRESIDENTS OF THE PHILIPPINE REPUBLIC</vt:lpstr>
      <vt:lpstr>1. Pres. Manuel L. Quezon (1936)</vt:lpstr>
      <vt:lpstr>3. Pres. Manuel A. Roxas</vt:lpstr>
      <vt:lpstr>5. Pres. Ramon Magsaysay</vt:lpstr>
      <vt:lpstr>7. Pres. Diosdado Macapagal</vt:lpstr>
      <vt:lpstr>9. Pres. Corazon Aquino</vt:lpstr>
      <vt:lpstr>11. Pres. Joseph E. Estrada</vt:lpstr>
      <vt:lpstr>13. Pres. Benigno Simeon Aquino III</vt:lpstr>
      <vt:lpstr>Extension Education  Concepts, Philosophy,  Principles and Objective  </vt:lpstr>
      <vt:lpstr>CONCEPT  OF  Extension  </vt:lpstr>
      <vt:lpstr>Extension means:</vt:lpstr>
      <vt:lpstr>Extension Service</vt:lpstr>
      <vt:lpstr>THE ROLE OF EXTENSION IS TO BRIDGE THE GAP BETWEEN THE RESEARCH SYSTEM AND THE CLIENT SYSTEM. </vt:lpstr>
      <vt:lpstr>12 Meanings of Extension </vt:lpstr>
      <vt:lpstr>12 Meanings of Extension </vt:lpstr>
      <vt:lpstr>12 Meanings of Extension </vt:lpstr>
      <vt:lpstr>12 Meanings of Extension </vt:lpstr>
      <vt:lpstr>12 Meanings of Extension </vt:lpstr>
      <vt:lpstr>Meaning of Extension in Other Countries</vt:lpstr>
      <vt:lpstr>Education Concepts</vt:lpstr>
      <vt:lpstr>Different Behavioural Change to a Client</vt:lpstr>
      <vt:lpstr>Education Concepts</vt:lpstr>
      <vt:lpstr>Education Concepts</vt:lpstr>
      <vt:lpstr>Education Concepts</vt:lpstr>
      <vt:lpstr>The guiding principle in the integration of community organizer is</vt:lpstr>
      <vt:lpstr>Which is the meaning of complementation?</vt:lpstr>
      <vt:lpstr>PowerPoint Presentation</vt:lpstr>
      <vt:lpstr>Extension is a type of intervention which focuses on</vt:lpstr>
      <vt:lpstr>PowerPoint Presentation</vt:lpstr>
      <vt:lpstr>It promotes sustainable agriculture development in a corn-based farming system in upland and lowland communities</vt:lpstr>
      <vt:lpstr>PowerPoint Presentation</vt:lpstr>
      <vt:lpstr>This is considered as the lifelong process of learning</vt:lpstr>
      <vt:lpstr>Extension classes are examples of this type of education</vt:lpstr>
      <vt:lpstr>First and foremost an extension worker must be </vt:lpstr>
      <vt:lpstr>The type of agriculture where the production of plants and animals is for the use of family and not for market</vt:lpstr>
      <vt:lpstr>PowerPoint Presentation</vt:lpstr>
      <vt:lpstr>The function of the university that provides pre-service and in-service trainings, backstopping by subject matter specialist and release farm, home and fishery information</vt:lpstr>
      <vt:lpstr>The Philippines is increasingly using ICT to enhance extension services in the country . ICT stands for;</vt:lpstr>
      <vt:lpstr>The clientele of extension education are generally</vt:lpstr>
      <vt:lpstr>This is the important role of extension in sustainable development</vt:lpstr>
      <vt:lpstr>The field of extension is described as continuing process of ___ technologies in order o satisfy human needs</vt:lpstr>
      <vt:lpstr>The various government and non-government research centers in the country are continuously generating _____ in livestock, crops,fisheries,forestry and natural resources</vt:lpstr>
      <vt:lpstr>Which of the following describe extension</vt:lpstr>
      <vt:lpstr>Which of the following best describe what extension is all about</vt:lpstr>
      <vt:lpstr>The following are definitions of agricultural extension except; </vt:lpstr>
      <vt:lpstr>It is considered as the center of all development efforts in extension</vt:lpstr>
      <vt:lpstr>The basic requisite of agricultural development</vt:lpstr>
      <vt:lpstr>The role of extension is to bridge the gap </vt:lpstr>
      <vt:lpstr>In the AFMA Act of 1997, the extension services that need to be provided to improve the status of farmers and fisherfolks include</vt:lpstr>
      <vt:lpstr>Extension may be defined in terms of</vt:lpstr>
      <vt:lpstr>A statement of a desired or ideal future</vt:lpstr>
      <vt:lpstr>Which of the following is not typical of a non-formal mode of education</vt:lpstr>
      <vt:lpstr>In non-formal mode of education, the clients include</vt:lpstr>
      <vt:lpstr>The type of development means making progress without sacrificing the welfare of the generations yet to come.</vt:lpstr>
      <vt:lpstr>Empowerment means</vt:lpstr>
      <vt:lpstr>The term means using land, labor, capital and managerial ability in the best possible combination to produce marketable product with the least cost</vt:lpstr>
      <vt:lpstr>This term has been defined as the ability to make decisions that achieve goals in the most efficient manner</vt:lpstr>
      <vt:lpstr>The term means partnership among different organizations involved in extension</vt:lpstr>
      <vt:lpstr>This concept means the harmonized and unified effort of organizations to avoid wasteful duplication </vt:lpstr>
      <vt:lpstr>This means giving the best of oneself in helping others</vt:lpstr>
      <vt:lpstr>PowerPoint Presentation</vt:lpstr>
      <vt:lpstr>Commitment, cooperation, coordination and complementation are key values and strategies to remember for the sake of our fellowmen.</vt:lpstr>
      <vt:lpstr>Cooperation- harmonized and unified efforts of      organizations and people while complementation   connotes providing the needed support lacking in   one organization.  Complementation- mean partnership  among the      different organizations</vt:lpstr>
      <vt:lpstr>Which of the following is not typical in extension? </vt:lpstr>
      <vt:lpstr>Extension provide educational opportunities basically through;</vt:lpstr>
      <vt:lpstr>PHYLOSOPHY  OF  EXTENSION </vt:lpstr>
      <vt:lpstr>PowerPoint Presentation</vt:lpstr>
      <vt:lpstr> Philosophy is a body of principles that governs the conduct of human activity.</vt:lpstr>
      <vt:lpstr>PowerPoint Presentation</vt:lpstr>
      <vt:lpstr>PowerPoint Presentation</vt:lpstr>
      <vt:lpstr>Summarization:</vt:lpstr>
      <vt:lpstr>PRINCIPLES  OF  EXTENSION</vt:lpstr>
      <vt:lpstr>The following principles can serve as guides for effective extension work:</vt:lpstr>
      <vt:lpstr>Principle of Cultural Difference</vt:lpstr>
      <vt:lpstr>Principle of Interest and Needs</vt:lpstr>
      <vt:lpstr>Principle of Cooperation</vt:lpstr>
      <vt:lpstr>Principle of the use of Extension Teaching Methods</vt:lpstr>
      <vt:lpstr>Principle of Voluntary Education</vt:lpstr>
      <vt:lpstr>Principle of Trained Specialist</vt:lpstr>
      <vt:lpstr>Objective of Extension</vt:lpstr>
      <vt:lpstr>Objective of Extension</vt:lpstr>
      <vt:lpstr>SCOPE  OF  EXTENSION</vt:lpstr>
      <vt:lpstr>Agricultural Production</vt:lpstr>
      <vt:lpstr>Environment Protection and Natural Resource Development</vt:lpstr>
      <vt:lpstr>Managerial skill is the ability to make decisions that achieve goals in the most efficient manner.  Extension worker can help farmers decide on what and how much resources to acquire and how and when to use them.  </vt:lpstr>
      <vt:lpstr>The needs, problems and aspirations of the youths are different from the adults.   Youth enthusiasm to participate in the development projects should be well supported. </vt:lpstr>
      <vt:lpstr>3 kinds of resources existing in the communities; natural, human, institutional or organizational resources Natural- free resources Human- the most important resources  Institutional- schools, churches, existing organization, local government</vt:lpstr>
      <vt:lpstr>The Challenges  of  Extension</vt:lpstr>
      <vt:lpstr>PowerPoint Presentation</vt:lpstr>
      <vt:lpstr>4. Extension is a type of  intervention focused on</vt:lpstr>
      <vt:lpstr>Agricultural extension is a system of non-formal education because it</vt:lpstr>
      <vt:lpstr>Which of the roles of extension worker should not be in the list?</vt:lpstr>
      <vt:lpstr>Communication in Extension</vt:lpstr>
      <vt:lpstr>Introduction</vt:lpstr>
      <vt:lpstr>Communication Defined</vt:lpstr>
      <vt:lpstr>PowerPoint Presentation</vt:lpstr>
      <vt:lpstr>PowerPoint Presentation</vt:lpstr>
      <vt:lpstr>SAMPLE  QUESTIONS</vt:lpstr>
      <vt:lpstr>1. If the extension worker and the clients in the  communication situation share common meanings for the topic discussed describes that ___  </vt:lpstr>
      <vt:lpstr>2. Meanings of communication according to Berlo are in  </vt:lpstr>
      <vt:lpstr>3.  The term “communication” was derived from the Latin word “communis” which means</vt:lpstr>
      <vt:lpstr>4. Accdg to Berlo,1960, we communicate to affect with ___</vt:lpstr>
      <vt:lpstr>5. The cardinal rule in effective communication is</vt:lpstr>
      <vt:lpstr>6. Communication comes from the word “communis” which means  common in</vt:lpstr>
      <vt:lpstr>7. Communication is who says what in which channel to whom with what _____.</vt:lpstr>
      <vt:lpstr>PowerPoint Presentation</vt:lpstr>
      <vt:lpstr>Communication is a two way process. Both extension worker and the farmer can become the sender and the receiver.</vt:lpstr>
      <vt:lpstr>Specific purposes of communication and relationship in extension/ communication methods are as follow:</vt:lpstr>
      <vt:lpstr>Communication as an Educational Process</vt:lpstr>
      <vt:lpstr>Attributes of Communication as a Process</vt:lpstr>
      <vt:lpstr>ELEMENTS OF COMMUNICATION</vt:lpstr>
      <vt:lpstr>ELEMENTS OF COMMUNICATION</vt:lpstr>
      <vt:lpstr>The source</vt:lpstr>
      <vt:lpstr>The source</vt:lpstr>
      <vt:lpstr>Message – The message is an idea, thought, feeling or  attitude being    shared in the communication process    - set of symbols arranged deliberately in certain ways in     order to  communicate information or meaning.</vt:lpstr>
      <vt:lpstr>Categories of Non-verbal Communication</vt:lpstr>
      <vt:lpstr>Message meaning and understanding</vt:lpstr>
      <vt:lpstr>Channels- various methods available to any  communicator to reach his audience with the  message. </vt:lpstr>
      <vt:lpstr>PowerPoint Presentation</vt:lpstr>
      <vt:lpstr>Feedback --refers to the mental or physical response to the  messages.  --an important element of effective communication  which makes it a two-way process. --In the absence of any reaction from the receiver, it  is virtually impossible to gauge the  appropriateness of the message.</vt:lpstr>
      <vt:lpstr>Different Responses </vt:lpstr>
      <vt:lpstr>Noise – is any stimulus that gets in the way  of      sharing meaning.  Much of your success as a    communicator depends on how you cope with   the: </vt:lpstr>
      <vt:lpstr>Four Levels of Communication</vt:lpstr>
      <vt:lpstr>35.When an extension worker communicates with his/her clients in a face-to-face situation he is engaged in</vt:lpstr>
      <vt:lpstr>36. It is communication that all persons have the capability of engaging in conversation with themselves, hence, focus is on individual, on his cognition and attitudes</vt:lpstr>
      <vt:lpstr>37. It is a communication that the extension workers as well as the client-learners have to follow the line of command in an organization</vt:lpstr>
      <vt:lpstr>38. It is a communication that the source and the receiver can see each other, talk back and forth, interrupt each other, and make responses which both can readily observe</vt:lpstr>
      <vt:lpstr>39. When the individual interacts with various publics through the mass media such as TV, radio and the like, he/she is engaged in this level of communication </vt:lpstr>
      <vt:lpstr>Factors Affecting Communication Effectiveness in Extension</vt:lpstr>
      <vt:lpstr>Elements of a Communication Process</vt:lpstr>
      <vt:lpstr>Elements of a Communication Process</vt:lpstr>
      <vt:lpstr>Resources of the Community</vt:lpstr>
      <vt:lpstr>Organizational Communication</vt:lpstr>
      <vt:lpstr>Organizational Communication</vt:lpstr>
      <vt:lpstr>Organizational Communication</vt:lpstr>
      <vt:lpstr>8.This element of communication refers to the method by which an idea is conveyed.</vt:lpstr>
      <vt:lpstr>9. They are the targets of a communication </vt:lpstr>
      <vt:lpstr>10. In extension communication, the client plays the role of</vt:lpstr>
      <vt:lpstr>11. In extension of the communication process that have to do with a person’s level of difficulty and language used is </vt:lpstr>
      <vt:lpstr>12. The message factor referring to the symbols used in</vt:lpstr>
      <vt:lpstr>13. The message factor comprising the idea means to be expresses is</vt:lpstr>
      <vt:lpstr>14. The message factor referring to the organization and presentation of ideas is</vt:lpstr>
      <vt:lpstr>15. The message sent back by a receiver is called</vt:lpstr>
      <vt:lpstr>16. Which of the following is the correct communication model designed by Berlo? </vt:lpstr>
      <vt:lpstr>17. The “S” in the communication process stands for</vt:lpstr>
      <vt:lpstr>18. The “C” in the communication process stands for </vt:lpstr>
      <vt:lpstr>19. The “E” in the communication process stands for </vt:lpstr>
      <vt:lpstr>20. The “M” in the communication process stands for</vt:lpstr>
      <vt:lpstr>21. The “R” in the communication process stands for</vt:lpstr>
      <vt:lpstr>22. Which of the elements in the  communication process is ENCODED ?  </vt:lpstr>
      <vt:lpstr>23. Which element in the communication process ENCODES the message? </vt:lpstr>
      <vt:lpstr>24. Attaching meaning to the symbols is the meaning of what aspect?</vt:lpstr>
      <vt:lpstr>25. When the element “Effect” in the communication process  is used by the “Source”, this is called </vt:lpstr>
      <vt:lpstr>26. When a change agent is discussing an innovation, he is serving as the ___ in a communication situation.</vt:lpstr>
      <vt:lpstr>27. WHEREAS, the clients listening to the discussion of the change agent on the innovation  are the _____ in a communication situation.</vt:lpstr>
      <vt:lpstr>28. The fifth basic elements of the communication process is the ____.</vt:lpstr>
      <vt:lpstr>29. Communication in extension is a teaching-learning process. Therefore, the extension workers serve as:</vt:lpstr>
      <vt:lpstr>30. The rural people in the extension process are the _____. </vt:lpstr>
      <vt:lpstr>42.The basic elements of diffusion theory are</vt:lpstr>
      <vt:lpstr>43. The first in the community to bring in or adopt a new idea or practice is called</vt:lpstr>
      <vt:lpstr>44. Being conservative and risk average are characteristics of the</vt:lpstr>
      <vt:lpstr>45. In the diffusion-adoption process, the person is attracted to the technology and seeks more information about it in the ____</vt:lpstr>
      <vt:lpstr>46. The adoption stage is characterized by:</vt:lpstr>
      <vt:lpstr>47.The body of tools, machines, materials, techniques and processes used to produce goods and services are known as</vt:lpstr>
      <vt:lpstr>48. An idea, method, or object which is regarded as new by an individual is called a/an</vt:lpstr>
      <vt:lpstr>49. Generally, the adoption process follows the following sequence</vt:lpstr>
      <vt:lpstr>50. The process whereby information and improved practices spread from their originating source to thousands of  users is called</vt:lpstr>
      <vt:lpstr>51. The adoption process occurs</vt:lpstr>
      <vt:lpstr>52. The stage in the adoption process wherein the farmers will seek further information about the innovation is called</vt:lpstr>
      <vt:lpstr>53. The stage in the adoption process wherein the farmers would apply a technology on a large scale is called</vt:lpstr>
      <vt:lpstr>54. The stage in the adoption process where mass media is the best source of information is the</vt:lpstr>
      <vt:lpstr>55. The stage in the adoption process where close friends and other farmers are best sources of information is the</vt:lpstr>
      <vt:lpstr>56. The first persons in the locality to adopt a technology are called</vt:lpstr>
      <vt:lpstr>57. One characteristic of the late adopters or the laggards is that they are</vt:lpstr>
      <vt:lpstr>58. Which category of adopters of technologies make up the large block of farmers in the community</vt:lpstr>
      <vt:lpstr>59. The smallest category of adopters of technology are the</vt:lpstr>
      <vt:lpstr>60. They are the first persons in the locality who will adopt an innovation</vt:lpstr>
      <vt:lpstr>61. That stage in the adoption process wherein the farmer will seek further information about the innovation</vt:lpstr>
      <vt:lpstr>62. Diffusion of an innovation takes place if</vt:lpstr>
      <vt:lpstr>63.It is the total process by which an innovation spreads out among clients until a large number have adopted it.</vt:lpstr>
      <vt:lpstr>64. According to Chambers the reason for non-adoption of innovation by the farmers in the 1950’s was</vt:lpstr>
      <vt:lpstr>65.This refers to the specific cultural techniques in the management/production of crops, livestock, fishery and forestry</vt:lpstr>
      <vt:lpstr>66.In the technology development process, when promoters of technologies can use varied approaches and methods in bringing technologies to end-users</vt:lpstr>
      <vt:lpstr>67. The stage in the adoption process wherein the person tries and experiments in small scale the new technology after weighing the advantages and risks is</vt:lpstr>
      <vt:lpstr>68. The stage in the adoption process which shows that the person is attracted to the idea or technology is</vt:lpstr>
      <vt:lpstr>69.Technologies are ready for dissemination if it satisfy the following criteria: </vt:lpstr>
      <vt:lpstr>70. These adopters are usually traditional farmers, older than the average and risk averse</vt:lpstr>
      <vt:lpstr>Technology  diffusion-adoption  process</vt:lpstr>
      <vt:lpstr>Terminologies</vt:lpstr>
      <vt:lpstr>Innovation-Decision Process</vt:lpstr>
      <vt:lpstr>Diffusion Adoption Process</vt:lpstr>
      <vt:lpstr>Characteristics of an Innovation that Determines Its Adoption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Agricultural Knowledge System</vt:lpstr>
      <vt:lpstr>Categories of Technology</vt:lpstr>
      <vt:lpstr>Types of Technology</vt:lpstr>
      <vt:lpstr>PowerPoint Presentation</vt:lpstr>
      <vt:lpstr>A. Technology Generation (TG)</vt:lpstr>
      <vt:lpstr>C. Technology Adaptation (TA)</vt:lpstr>
      <vt:lpstr>D. Technology Dissemination</vt:lpstr>
      <vt:lpstr>E. Information for Dissemination (ID)</vt:lpstr>
      <vt:lpstr>EXTENSION TEACHING METHODS</vt:lpstr>
      <vt:lpstr>Extension Teaching Methods</vt:lpstr>
      <vt:lpstr>Classification of the Extension Teaching Methods</vt:lpstr>
      <vt:lpstr>Individual method</vt:lpstr>
      <vt:lpstr>Individual method FARM &amp; HOME VISIT</vt:lpstr>
      <vt:lpstr>Individual method OFFICE CALL</vt:lpstr>
      <vt:lpstr>Individual method TELEPHONE/CELL PHONE CALL/TEXTING</vt:lpstr>
      <vt:lpstr>Individual method LETTERS</vt:lpstr>
      <vt:lpstr>Group Methods</vt:lpstr>
      <vt:lpstr>Individual method RESULT DEMONSTRATION</vt:lpstr>
      <vt:lpstr>Group method LECTURE</vt:lpstr>
      <vt:lpstr>Group method LECTURE</vt:lpstr>
      <vt:lpstr>Group method MEETINGS</vt:lpstr>
      <vt:lpstr>Group method FIELD TRIP / LAKBAY ARAL</vt:lpstr>
      <vt:lpstr>Group method METHOD DEMONSTRATION</vt:lpstr>
      <vt:lpstr>Group method SEMINAR</vt:lpstr>
      <vt:lpstr>Group method CONFERENCE</vt:lpstr>
      <vt:lpstr>Group method ROLE PLAYING</vt:lpstr>
      <vt:lpstr>Group method GROUP DISCUSSION</vt:lpstr>
      <vt:lpstr>Group method FARMERS FIELD SCHOOL (FFS)</vt:lpstr>
      <vt:lpstr>Mass Method (Printed Media)</vt:lpstr>
      <vt:lpstr>Mass Media (PRINTED MEDIA)</vt:lpstr>
      <vt:lpstr>Mass Media (PRINTED MEDIA)</vt:lpstr>
      <vt:lpstr>Mass Media (PRINTED MEDIA)</vt:lpstr>
      <vt:lpstr>Mass Media (PRINTED MEDIA)</vt:lpstr>
      <vt:lpstr>Mass Media (PRINTED MEDIA)</vt:lpstr>
      <vt:lpstr>Mass Media (PRINTED MEDIA)</vt:lpstr>
      <vt:lpstr>Mass Method</vt:lpstr>
      <vt:lpstr>Mass Media (BROADCAST MEDIA)</vt:lpstr>
      <vt:lpstr>Mass Media (BROADCAST MEDIA)</vt:lpstr>
      <vt:lpstr>Approaches in Extension</vt:lpstr>
      <vt:lpstr>DIFFERENT APPROACHES</vt:lpstr>
      <vt:lpstr>Participatory Approach (PA)</vt:lpstr>
      <vt:lpstr>Participatory Approach (PA)</vt:lpstr>
      <vt:lpstr>Mass Approach (MA)</vt:lpstr>
      <vt:lpstr>Single Purpose Approach (SPA)</vt:lpstr>
      <vt:lpstr>Commodity Approach </vt:lpstr>
      <vt:lpstr>Community Approach </vt:lpstr>
      <vt:lpstr>Area Approach </vt:lpstr>
      <vt:lpstr>Integrated Approach </vt:lpstr>
      <vt:lpstr>General Agriculture Extension Approach </vt:lpstr>
      <vt:lpstr>Project Approach </vt:lpstr>
      <vt:lpstr>Farming Systems DevelopmentApproach </vt:lpstr>
      <vt:lpstr>Training and Visit Approach </vt:lpstr>
      <vt:lpstr>Cost Sharing Approach </vt:lpstr>
      <vt:lpstr>Agricultural Extension Participatory Approach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Extension Education Concepts, Philosophy, Principles and Objective</dc:title>
  <dc:creator>User</dc:creator>
  <cp:lastModifiedBy>User</cp:lastModifiedBy>
  <cp:revision>156</cp:revision>
  <dcterms:created xsi:type="dcterms:W3CDTF">2017-11-13T00:57:40Z</dcterms:created>
  <dcterms:modified xsi:type="dcterms:W3CDTF">2017-11-16T20:16:18Z</dcterms:modified>
</cp:coreProperties>
</file>