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6"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80" r:id="rId110"/>
    <p:sldId id="366" r:id="rId111"/>
    <p:sldId id="367" r:id="rId112"/>
    <p:sldId id="368" r:id="rId113"/>
    <p:sldId id="369" r:id="rId114"/>
    <p:sldId id="370" r:id="rId115"/>
    <p:sldId id="371" r:id="rId116"/>
    <p:sldId id="381" r:id="rId117"/>
    <p:sldId id="372" r:id="rId118"/>
    <p:sldId id="373" r:id="rId119"/>
    <p:sldId id="374" r:id="rId120"/>
    <p:sldId id="375" r:id="rId121"/>
    <p:sldId id="376" r:id="rId122"/>
    <p:sldId id="377" r:id="rId123"/>
    <p:sldId id="378" r:id="rId124"/>
    <p:sldId id="379" r:id="rId125"/>
    <p:sldId id="382" r:id="rId126"/>
    <p:sldId id="383" r:id="rId127"/>
    <p:sldId id="384" r:id="rId128"/>
    <p:sldId id="385" r:id="rId129"/>
    <p:sldId id="386" r:id="rId130"/>
    <p:sldId id="387" r:id="rId131"/>
    <p:sldId id="388" r:id="rId132"/>
    <p:sldId id="390" r:id="rId133"/>
    <p:sldId id="391" r:id="rId134"/>
    <p:sldId id="392" r:id="rId135"/>
    <p:sldId id="393" r:id="rId1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54EE9C-876C-4EBF-ADF7-524DD20B7217}" type="datetimeFigureOut">
              <a:rPr lang="en-US" smtClean="0"/>
              <a:pPr/>
              <a:t>9/4/2021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BAD93-001D-42F3-916D-27C76B5E00FD}" type="slidenum">
              <a:rPr lang="en-US" smtClean="0"/>
              <a:pPr/>
              <a:t>‹#›</a:t>
            </a:fld>
            <a:endParaRPr lang="en-US"/>
          </a:p>
        </p:txBody>
      </p:sp>
      <p:sp>
        <p:nvSpPr>
          <p:cNvPr id="7" name="Rectangle 6"/>
          <p:cNvSpPr/>
          <p:nvPr/>
        </p:nvSpPr>
        <p:spPr>
          <a:xfrm>
            <a:off x="0" y="0"/>
            <a:ext cx="9144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6A3E01-FA49-4537-8704-32F7771B72EB}" type="datetimeFigureOut">
              <a:rPr lang="en-US" smtClean="0"/>
              <a:pPr/>
              <a:t>9/4/2021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54EE9C-876C-4EBF-ADF7-524DD20B7217}" type="datetimeFigureOut">
              <a:rPr lang="en-US" smtClean="0"/>
              <a:pPr/>
              <a:t>9/4/2021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BAD93-001D-42F3-916D-27C76B5E00F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E6A3E01-FA49-4537-8704-32F7771B72EB}" type="datetimeFigureOut">
              <a:rPr lang="en-US" smtClean="0"/>
              <a:pPr/>
              <a:t>9/4/2021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E6A3E01-FA49-4537-8704-32F7771B72EB}" type="datetimeFigureOut">
              <a:rPr lang="en-US" smtClean="0"/>
              <a:pPr/>
              <a:t>9/4/2021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E6A3E01-FA49-4537-8704-32F7771B72EB}" type="datetimeFigureOut">
              <a:rPr lang="en-US" smtClean="0"/>
              <a:pPr/>
              <a:t>9/4/2021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6A3E01-FA49-4537-8704-32F7771B72EB}" type="datetimeFigureOut">
              <a:rPr lang="en-US" smtClean="0"/>
              <a:pPr/>
              <a:t>9/4/2021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6A3E01-FA49-4537-8704-32F7771B72EB}" type="datetimeFigureOut">
              <a:rPr lang="en-US" smtClean="0"/>
              <a:pPr/>
              <a:t>9/4/2021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6A3E01-FA49-4537-8704-32F7771B72EB}" type="datetimeFigureOut">
              <a:rPr lang="en-US" smtClean="0"/>
              <a:pPr/>
              <a:t>9/4/2021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6A3E01-FA49-4537-8704-32F7771B72EB}" type="datetimeFigureOut">
              <a:rPr lang="en-US" smtClean="0"/>
              <a:pPr/>
              <a:t>9/4/2021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6A3E01-FA49-4537-8704-32F7771B72EB}" type="datetimeFigureOut">
              <a:rPr lang="en-US" smtClean="0"/>
              <a:pPr/>
              <a:t>9/4/2021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7F2512-7CCB-4621-A9DC-FED3EB68E33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6A3E01-FA49-4537-8704-32F7771B72EB}" type="datetimeFigureOut">
              <a:rPr lang="en-US" smtClean="0"/>
              <a:pPr/>
              <a:t>9/4/2021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7F2512-7CCB-4621-A9DC-FED3EB68E332}" type="slidenum">
              <a:rPr lang="en-US" smtClean="0"/>
              <a:pPr/>
              <a:t>‹#›</a:t>
            </a:fld>
            <a:endParaRPr lang="en-US"/>
          </a:p>
        </p:txBody>
      </p:sp>
      <p:sp>
        <p:nvSpPr>
          <p:cNvPr id="8" name="Rectangle 7"/>
          <p:cNvSpPr/>
          <p:nvPr/>
        </p:nvSpPr>
        <p:spPr>
          <a:xfrm>
            <a:off x="0" y="0"/>
            <a:ext cx="9144000" cy="6858000"/>
          </a:xfrm>
          <a:prstGeom prst="rect">
            <a:avLst/>
          </a:prstGeom>
          <a:blipFill dpi="0" rotWithShape="1">
            <a:blip r:embed="rId13">
              <a:alphaModFix amt="41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69.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1.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3.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228600">
                    <a:schemeClr val="accent2">
                      <a:satMod val="175000"/>
                      <a:alpha val="40000"/>
                    </a:schemeClr>
                  </a:glow>
                  <a:outerShdw blurRad="50800" dist="40000" dir="5400000" algn="tl" rotWithShape="0">
                    <a:srgbClr val="000000">
                      <a:shade val="5000"/>
                      <a:satMod val="120000"/>
                      <a:alpha val="33000"/>
                    </a:srgbClr>
                  </a:outerShdw>
                </a:effectLst>
              </a:rPr>
              <a:t>GENERAL EDUCATION</a:t>
            </a:r>
            <a:endParaRPr lang="en-US"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glow rad="228600">
                  <a:schemeClr val="accent2">
                    <a:satMod val="175000"/>
                    <a:alpha val="40000"/>
                  </a:schemeClr>
                </a:glow>
                <a:outerShdw blurRad="50800" dist="40000" dir="5400000" algn="tl" rotWithShape="0">
                  <a:srgbClr val="000000">
                    <a:shade val="5000"/>
                    <a:satMod val="120000"/>
                    <a:alpha val="33000"/>
                  </a:srgbClr>
                </a:outerShdw>
              </a:effectLst>
            </a:endParaRPr>
          </a:p>
        </p:txBody>
      </p:sp>
      <p:sp>
        <p:nvSpPr>
          <p:cNvPr id="3" name="Subtitle 2"/>
          <p:cNvSpPr>
            <a:spLocks noGrp="1"/>
          </p:cNvSpPr>
          <p:nvPr>
            <p:ph type="subTitle" idx="1"/>
          </p:nvPr>
        </p:nvSpPr>
        <p:spPr>
          <a:xfrm>
            <a:off x="1371600" y="3962400"/>
            <a:ext cx="6400800" cy="1752600"/>
          </a:xfrm>
        </p:spPr>
        <p:txBody>
          <a:bodyPr/>
          <a:lstStyle/>
          <a:p>
            <a:endParaRPr lang="en-US"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outerShdw blurRad="41275" dist="12700" dir="120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200" dirty="0" smtClean="0"/>
              <a:t>Which is the correct sequence of the sentences in the text below?</a:t>
            </a:r>
            <a:endParaRPr lang="en-US" sz="3200" dirty="0"/>
          </a:p>
        </p:txBody>
      </p:sp>
      <p:sp>
        <p:nvSpPr>
          <p:cNvPr id="3" name="Content Placeholder 2"/>
          <p:cNvSpPr>
            <a:spLocks noGrp="1"/>
          </p:cNvSpPr>
          <p:nvPr>
            <p:ph idx="1"/>
          </p:nvPr>
        </p:nvSpPr>
        <p:spPr>
          <a:xfrm>
            <a:off x="228600" y="1447800"/>
            <a:ext cx="8610600" cy="3886200"/>
          </a:xfrm>
        </p:spPr>
        <p:txBody>
          <a:bodyPr>
            <a:normAutofit fontScale="70000" lnSpcReduction="20000"/>
          </a:bodyPr>
          <a:lstStyle/>
          <a:p>
            <a:pPr marL="514350" indent="-514350" algn="just">
              <a:buFont typeface="+mj-lt"/>
              <a:buAutoNum type="arabicParenR"/>
            </a:pPr>
            <a:r>
              <a:rPr lang="en-US" dirty="0" smtClean="0">
                <a:latin typeface="Arial" pitchFamily="34" charset="0"/>
                <a:cs typeface="Arial" pitchFamily="34" charset="0"/>
              </a:rPr>
              <a:t>The image of a good teacher is one who is constantly reflecting about how best to help different types of learners learn.</a:t>
            </a:r>
          </a:p>
          <a:p>
            <a:pPr marL="514350" indent="-514350" algn="just">
              <a:buFont typeface="+mj-lt"/>
              <a:buAutoNum type="arabicParenR"/>
            </a:pPr>
            <a:r>
              <a:rPr lang="en-US" dirty="0" smtClean="0">
                <a:latin typeface="Arial" pitchFamily="34" charset="0"/>
                <a:cs typeface="Arial" pitchFamily="34" charset="0"/>
              </a:rPr>
              <a:t>The National Competency-Based Teacher Standards (NCBTS) define a new paradigm of teaching where the teacher is viewed as a knowledge professional who is responsible for facilitating learning.</a:t>
            </a:r>
          </a:p>
          <a:p>
            <a:pPr marL="514350" indent="-514350" algn="just">
              <a:buFont typeface="+mj-lt"/>
              <a:buAutoNum type="arabicParenR"/>
            </a:pPr>
            <a:r>
              <a:rPr lang="en-US" dirty="0" smtClean="0">
                <a:latin typeface="Arial" pitchFamily="34" charset="0"/>
                <a:cs typeface="Arial" pitchFamily="34" charset="0"/>
              </a:rPr>
              <a:t>Good teaching is defined in terms of those practices that help students learn better.</a:t>
            </a:r>
          </a:p>
          <a:p>
            <a:pPr marL="514350" indent="-514350" algn="just">
              <a:buFont typeface="+mj-lt"/>
              <a:buAutoNum type="arabicParenR"/>
            </a:pPr>
            <a:r>
              <a:rPr lang="en-US" dirty="0" smtClean="0">
                <a:latin typeface="Arial" pitchFamily="34" charset="0"/>
                <a:cs typeface="Arial" pitchFamily="34" charset="0"/>
              </a:rPr>
              <a:t>Competency-based means that the standards or criteria for characterizing good teaching are defined in terms of what the teacher is competent to do.</a:t>
            </a:r>
          </a:p>
          <a:p>
            <a:pPr marL="514350" indent="-514350" algn="just">
              <a:buFont typeface="+mj-lt"/>
              <a:buAutoNum type="arabicParenR"/>
            </a:pPr>
            <a:r>
              <a:rPr lang="en-US" dirty="0" smtClean="0">
                <a:latin typeface="Arial" pitchFamily="34" charset="0"/>
                <a:cs typeface="Arial" pitchFamily="34" charset="0"/>
              </a:rPr>
              <a:t>The NCBTS can be used as a self-assessment tool for professional development.</a:t>
            </a:r>
            <a:endParaRPr lang="en-US" dirty="0">
              <a:latin typeface="Arial" pitchFamily="34" charset="0"/>
              <a:cs typeface="Arial" pitchFamily="34" charset="0"/>
            </a:endParaRPr>
          </a:p>
        </p:txBody>
      </p:sp>
      <p:sp>
        <p:nvSpPr>
          <p:cNvPr id="4" name="Rounded Rectangle 3"/>
          <p:cNvSpPr/>
          <p:nvPr/>
        </p:nvSpPr>
        <p:spPr>
          <a:xfrm>
            <a:off x="1614470" y="5543544"/>
            <a:ext cx="2500330" cy="428628"/>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2,4,3,1,5</a:t>
            </a:r>
            <a:endParaRPr lang="en-US" sz="3200" dirty="0"/>
          </a:p>
        </p:txBody>
      </p:sp>
      <p:sp>
        <p:nvSpPr>
          <p:cNvPr id="5" name="Rounded Rectangle 4"/>
          <p:cNvSpPr/>
          <p:nvPr/>
        </p:nvSpPr>
        <p:spPr>
          <a:xfrm>
            <a:off x="1614470" y="6200772"/>
            <a:ext cx="2500330" cy="42862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3,4,5,1,2</a:t>
            </a:r>
            <a:endParaRPr lang="en-US" sz="3200" dirty="0"/>
          </a:p>
        </p:txBody>
      </p:sp>
      <p:sp>
        <p:nvSpPr>
          <p:cNvPr id="6" name="Rounded Rectangle 5"/>
          <p:cNvSpPr/>
          <p:nvPr/>
        </p:nvSpPr>
        <p:spPr>
          <a:xfrm>
            <a:off x="5272070" y="5543544"/>
            <a:ext cx="2500330" cy="428628"/>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1,2,4,5,3</a:t>
            </a:r>
            <a:endParaRPr lang="en-US" sz="3200" dirty="0"/>
          </a:p>
        </p:txBody>
      </p:sp>
      <p:sp>
        <p:nvSpPr>
          <p:cNvPr id="7" name="Rounded Rectangle 6"/>
          <p:cNvSpPr/>
          <p:nvPr/>
        </p:nvSpPr>
        <p:spPr>
          <a:xfrm>
            <a:off x="5272070" y="6200772"/>
            <a:ext cx="2500330" cy="42862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ysClr val="windowText" lastClr="000000"/>
                </a:solidFill>
              </a:rPr>
              <a:t>D. 4,1,3,5,2</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762000" y="5514972"/>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200" dirty="0" smtClean="0"/>
              <a:t>Choose the sentence that expresses the thought clearly and that has no error in structure/spelling.</a:t>
            </a:r>
            <a:endParaRPr lang="en-US" sz="3200" dirty="0"/>
          </a:p>
        </p:txBody>
      </p:sp>
      <p:sp>
        <p:nvSpPr>
          <p:cNvPr id="4" name="Rounded Rectangle 3"/>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farmer did plow, plant, harvest his corn in record time.</a:t>
            </a:r>
            <a:endParaRPr lang="en-US" sz="3200" dirty="0"/>
          </a:p>
        </p:txBody>
      </p:sp>
      <p:sp>
        <p:nvSpPr>
          <p:cNvPr id="5" name="Rounded Rectangle 4"/>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farmer plowed, planted, and harvested his corn in record time.</a:t>
            </a:r>
            <a:endParaRPr lang="en-US" sz="3200" dirty="0"/>
          </a:p>
        </p:txBody>
      </p:sp>
      <p:sp>
        <p:nvSpPr>
          <p:cNvPr id="6" name="Rounded Rectangle 5"/>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farmer has plowed, planted, and harvested his corn in record time.</a:t>
            </a:r>
            <a:endParaRPr lang="en-US" sz="3200" dirty="0"/>
          </a:p>
        </p:txBody>
      </p:sp>
      <p:sp>
        <p:nvSpPr>
          <p:cNvPr id="7" name="Rounded Rectangle 6"/>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 farmer plowed, has planted, and has harvested his corn in record time.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 y="4572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The traffic flow at the corner was jammed. Tom feared getting late so he _____ with a bus and leaped at the door.</a:t>
            </a:r>
            <a:endParaRPr lang="en-US" sz="3200" dirty="0"/>
          </a:p>
        </p:txBody>
      </p:sp>
      <p:sp>
        <p:nvSpPr>
          <p:cNvPr id="4" name="Rounded Rectangle 3"/>
          <p:cNvSpPr/>
          <p:nvPr/>
        </p:nvSpPr>
        <p:spPr>
          <a:xfrm>
            <a:off x="3048000" y="2743200"/>
            <a:ext cx="3048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catch up</a:t>
            </a:r>
            <a:endParaRPr lang="en-US" sz="3200" dirty="0"/>
          </a:p>
        </p:txBody>
      </p:sp>
      <p:sp>
        <p:nvSpPr>
          <p:cNvPr id="5" name="Rounded Rectangle 4"/>
          <p:cNvSpPr/>
          <p:nvPr/>
        </p:nvSpPr>
        <p:spPr>
          <a:xfrm>
            <a:off x="3048000" y="3657600"/>
            <a:ext cx="3048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w</a:t>
            </a:r>
            <a:r>
              <a:rPr lang="en-US" sz="3200" dirty="0" smtClean="0"/>
              <a:t>as catching</a:t>
            </a:r>
            <a:endParaRPr lang="en-US" sz="3200" dirty="0"/>
          </a:p>
        </p:txBody>
      </p:sp>
      <p:sp>
        <p:nvSpPr>
          <p:cNvPr id="6" name="Rounded Rectangle 5"/>
          <p:cNvSpPr/>
          <p:nvPr/>
        </p:nvSpPr>
        <p:spPr>
          <a:xfrm>
            <a:off x="3048000" y="4572000"/>
            <a:ext cx="3048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c</a:t>
            </a:r>
            <a:r>
              <a:rPr lang="en-US" sz="3200" dirty="0" smtClean="0"/>
              <a:t>aught up</a:t>
            </a:r>
            <a:endParaRPr lang="en-US" sz="3200" dirty="0"/>
          </a:p>
        </p:txBody>
      </p:sp>
      <p:sp>
        <p:nvSpPr>
          <p:cNvPr id="7" name="Rounded Rectangle 6"/>
          <p:cNvSpPr/>
          <p:nvPr/>
        </p:nvSpPr>
        <p:spPr>
          <a:xfrm>
            <a:off x="3048000" y="5486400"/>
            <a:ext cx="3048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has caught</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057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pPr algn="just"/>
            <a:r>
              <a:rPr lang="en-US" sz="3600" dirty="0" smtClean="0"/>
              <a:t>Teacher Mae Ann always tries to help people, but recently she has been ____ kind and generous.</a:t>
            </a:r>
            <a:endParaRPr lang="en-US" sz="3600" dirty="0"/>
          </a:p>
        </p:txBody>
      </p:sp>
      <p:sp>
        <p:nvSpPr>
          <p:cNvPr id="4" name="Rounded Rectangle 3"/>
          <p:cNvSpPr/>
          <p:nvPr/>
        </p:nvSpPr>
        <p:spPr>
          <a:xfrm>
            <a:off x="3048000" y="2743200"/>
            <a:ext cx="3048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principally</a:t>
            </a:r>
            <a:endParaRPr lang="en-US" sz="3200" dirty="0"/>
          </a:p>
        </p:txBody>
      </p:sp>
      <p:sp>
        <p:nvSpPr>
          <p:cNvPr id="5" name="Rounded Rectangle 4"/>
          <p:cNvSpPr/>
          <p:nvPr/>
        </p:nvSpPr>
        <p:spPr>
          <a:xfrm>
            <a:off x="3048000" y="3657600"/>
            <a:ext cx="3048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usually</a:t>
            </a:r>
            <a:endParaRPr lang="en-US" sz="3200" dirty="0"/>
          </a:p>
        </p:txBody>
      </p:sp>
      <p:sp>
        <p:nvSpPr>
          <p:cNvPr id="6" name="Rounded Rectangle 5"/>
          <p:cNvSpPr/>
          <p:nvPr/>
        </p:nvSpPr>
        <p:spPr>
          <a:xfrm>
            <a:off x="3048000" y="4572000"/>
            <a:ext cx="3048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especially</a:t>
            </a:r>
            <a:endParaRPr lang="en-US" sz="3200" dirty="0"/>
          </a:p>
        </p:txBody>
      </p:sp>
      <p:sp>
        <p:nvSpPr>
          <p:cNvPr id="7" name="Rounded Rectangle 6"/>
          <p:cNvSpPr/>
          <p:nvPr/>
        </p:nvSpPr>
        <p:spPr>
          <a:xfrm>
            <a:off x="3048000" y="5486400"/>
            <a:ext cx="3048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largely</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14546" y="4724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35162"/>
          </a:xfrm>
        </p:spPr>
        <p:txBody>
          <a:bodyPr>
            <a:noAutofit/>
          </a:bodyPr>
          <a:lstStyle/>
          <a:p>
            <a:r>
              <a:rPr lang="en-US" sz="3600" i="1" dirty="0" smtClean="0"/>
              <a:t>“I die just when the dawn breaks to herald the day.”</a:t>
            </a:r>
            <a:r>
              <a:rPr lang="en-US" sz="3600" dirty="0" smtClean="0"/>
              <a:t/>
            </a:r>
            <a:br>
              <a:rPr lang="en-US" sz="3600" dirty="0" smtClean="0"/>
            </a:br>
            <a:r>
              <a:rPr lang="en-US" sz="3600" dirty="0" smtClean="0"/>
              <a:t>This is a famous quote from _________.</a:t>
            </a:r>
            <a:endParaRPr lang="en-US" sz="3600"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Jose P. Rizal</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Benigno</a:t>
            </a:r>
            <a:r>
              <a:rPr lang="en-US" sz="3200" dirty="0" smtClean="0"/>
              <a:t> Aquino</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Jose Aquino</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Manuel L. Quezon</a:t>
            </a:r>
            <a:endParaRPr lang="en-US" sz="3200" dirty="0">
              <a:solidFill>
                <a:sysClr val="windowText" lastClr="00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782762"/>
          </a:xfrm>
        </p:spPr>
        <p:txBody>
          <a:bodyPr>
            <a:noAutofit/>
          </a:bodyPr>
          <a:lstStyle/>
          <a:p>
            <a:pPr algn="just"/>
            <a:r>
              <a:rPr lang="en-US" sz="3600" dirty="0" smtClean="0"/>
              <a:t>Rousseau advised, “Have a good bank account, a good cook, and a good digestion.” What is being referred to?</a:t>
            </a:r>
            <a:endParaRPr lang="en-US" sz="3600" dirty="0"/>
          </a:p>
        </p:txBody>
      </p:sp>
      <p:sp>
        <p:nvSpPr>
          <p:cNvPr id="4" name="Rounded Rectangle 3"/>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Investment</a:t>
            </a:r>
            <a:endParaRPr lang="en-US" sz="3200" dirty="0"/>
          </a:p>
        </p:txBody>
      </p:sp>
      <p:sp>
        <p:nvSpPr>
          <p:cNvPr id="5" name="Rounded Rectangle 4"/>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Security</a:t>
            </a:r>
            <a:endParaRPr lang="en-US" sz="3200" dirty="0"/>
          </a:p>
        </p:txBody>
      </p:sp>
      <p:sp>
        <p:nvSpPr>
          <p:cNvPr id="6" name="Rounded Rectangle 5"/>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Family</a:t>
            </a:r>
            <a:endParaRPr lang="en-US" sz="3200" dirty="0"/>
          </a:p>
        </p:txBody>
      </p:sp>
      <p:sp>
        <p:nvSpPr>
          <p:cNvPr id="7" name="Rounded Rectangle 6"/>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Duty</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600" dirty="0" smtClean="0"/>
              <a:t>Both Ruben and _____ plan to go.</a:t>
            </a:r>
            <a:endParaRPr lang="en-US" sz="3600" dirty="0"/>
          </a:p>
        </p:txBody>
      </p:sp>
      <p:sp>
        <p:nvSpPr>
          <p:cNvPr id="4" name="Rounded Rectangle 3"/>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a:t>
            </a:r>
            <a:endParaRPr lang="en-US" sz="3200" dirty="0"/>
          </a:p>
        </p:txBody>
      </p:sp>
      <p:sp>
        <p:nvSpPr>
          <p:cNvPr id="5" name="Rounded Rectangle 4"/>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me</a:t>
            </a:r>
            <a:endParaRPr lang="en-US" sz="3200" dirty="0"/>
          </a:p>
        </p:txBody>
      </p:sp>
      <p:sp>
        <p:nvSpPr>
          <p:cNvPr id="6" name="Rounded Rectangle 5"/>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myself</a:t>
            </a:r>
            <a:endParaRPr lang="en-US" sz="3200" dirty="0"/>
          </a:p>
        </p:txBody>
      </p:sp>
      <p:sp>
        <p:nvSpPr>
          <p:cNvPr id="7" name="Rounded Rectangle 6"/>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me myself</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Your father is paying for your plane ticket, _____?</a:t>
            </a:r>
            <a:endParaRPr lang="en-US" sz="3600" dirty="0"/>
          </a:p>
        </p:txBody>
      </p:sp>
      <p:sp>
        <p:nvSpPr>
          <p:cNvPr id="4" name="Rounded Rectangle 3"/>
          <p:cNvSpPr/>
          <p:nvPr/>
        </p:nvSpPr>
        <p:spPr>
          <a:xfrm>
            <a:off x="3200400" y="2743200"/>
            <a:ext cx="2514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is he</a:t>
            </a:r>
            <a:endParaRPr lang="en-US" sz="3200" dirty="0"/>
          </a:p>
        </p:txBody>
      </p:sp>
      <p:sp>
        <p:nvSpPr>
          <p:cNvPr id="5" name="Rounded Rectangle 4"/>
          <p:cNvSpPr/>
          <p:nvPr/>
        </p:nvSpPr>
        <p:spPr>
          <a:xfrm>
            <a:off x="3200400" y="3657600"/>
            <a:ext cx="2514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isn’t it</a:t>
            </a:r>
            <a:endParaRPr lang="en-US" sz="3200" dirty="0"/>
          </a:p>
        </p:txBody>
      </p:sp>
      <p:sp>
        <p:nvSpPr>
          <p:cNvPr id="6" name="Rounded Rectangle 5"/>
          <p:cNvSpPr/>
          <p:nvPr/>
        </p:nvSpPr>
        <p:spPr>
          <a:xfrm>
            <a:off x="3200400" y="4572000"/>
            <a:ext cx="2514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aren’t you</a:t>
            </a:r>
            <a:endParaRPr lang="en-US" sz="3200" dirty="0"/>
          </a:p>
        </p:txBody>
      </p:sp>
      <p:sp>
        <p:nvSpPr>
          <p:cNvPr id="7" name="Rounded Rectangle 6"/>
          <p:cNvSpPr/>
          <p:nvPr/>
        </p:nvSpPr>
        <p:spPr>
          <a:xfrm>
            <a:off x="3200400" y="5486400"/>
            <a:ext cx="2514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isn’t he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3600" dirty="0" smtClean="0"/>
              <a:t>We should work for a total ban _____ of pesticides that are harmful to man.</a:t>
            </a:r>
            <a:endParaRPr lang="en-US" sz="3600" dirty="0"/>
          </a:p>
        </p:txBody>
      </p:sp>
      <p:sp>
        <p:nvSpPr>
          <p:cNvPr id="4" name="Rounded Rectangle 3"/>
          <p:cNvSpPr/>
          <p:nvPr/>
        </p:nvSpPr>
        <p:spPr>
          <a:xfrm>
            <a:off x="3086100" y="2743200"/>
            <a:ext cx="2971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by the use</a:t>
            </a:r>
            <a:endParaRPr lang="en-US" sz="3200" dirty="0"/>
          </a:p>
        </p:txBody>
      </p:sp>
      <p:sp>
        <p:nvSpPr>
          <p:cNvPr id="5" name="Rounded Rectangle 4"/>
          <p:cNvSpPr/>
          <p:nvPr/>
        </p:nvSpPr>
        <p:spPr>
          <a:xfrm>
            <a:off x="3048000" y="3657600"/>
            <a:ext cx="2971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on using</a:t>
            </a:r>
            <a:endParaRPr lang="en-US" sz="3200" dirty="0"/>
          </a:p>
        </p:txBody>
      </p:sp>
      <p:sp>
        <p:nvSpPr>
          <p:cNvPr id="6" name="Rounded Rectangle 5"/>
          <p:cNvSpPr/>
          <p:nvPr/>
        </p:nvSpPr>
        <p:spPr>
          <a:xfrm>
            <a:off x="3048000" y="4572000"/>
            <a:ext cx="2971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w</a:t>
            </a:r>
            <a:r>
              <a:rPr lang="en-US" sz="3200" dirty="0" smtClean="0"/>
              <a:t>ith the use</a:t>
            </a:r>
            <a:endParaRPr lang="en-US" sz="3200" dirty="0"/>
          </a:p>
        </p:txBody>
      </p:sp>
      <p:sp>
        <p:nvSpPr>
          <p:cNvPr id="7" name="Rounded Rectangle 6"/>
          <p:cNvSpPr/>
          <p:nvPr/>
        </p:nvSpPr>
        <p:spPr>
          <a:xfrm>
            <a:off x="3048000" y="5486400"/>
            <a:ext cx="2971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o</a:t>
            </a:r>
            <a:r>
              <a:rPr lang="en-US" sz="3200" dirty="0" smtClean="0">
                <a:solidFill>
                  <a:sysClr val="windowText" lastClr="000000"/>
                </a:solidFill>
              </a:rPr>
              <a:t>n the use</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0574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382000" cy="1477962"/>
          </a:xfrm>
        </p:spPr>
        <p:txBody>
          <a:bodyPr>
            <a:noAutofit/>
          </a:bodyPr>
          <a:lstStyle/>
          <a:p>
            <a:pPr algn="just"/>
            <a:r>
              <a:rPr lang="en-US" sz="4000" dirty="0" smtClean="0"/>
              <a:t>Susan _____ in bed too long and missed her classes.</a:t>
            </a:r>
            <a:endParaRPr lang="en-US" sz="4000" dirty="0"/>
          </a:p>
        </p:txBody>
      </p:sp>
      <p:sp>
        <p:nvSpPr>
          <p:cNvPr id="4" name="Rounded Rectangle 3"/>
          <p:cNvSpPr/>
          <p:nvPr/>
        </p:nvSpPr>
        <p:spPr>
          <a:xfrm>
            <a:off x="1752600" y="3200400"/>
            <a:ext cx="1752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A. laid</a:t>
            </a:r>
            <a:endParaRPr lang="en-US" sz="3600" dirty="0"/>
          </a:p>
        </p:txBody>
      </p:sp>
      <p:sp>
        <p:nvSpPr>
          <p:cNvPr id="5" name="Rounded Rectangle 4"/>
          <p:cNvSpPr/>
          <p:nvPr/>
        </p:nvSpPr>
        <p:spPr>
          <a:xfrm>
            <a:off x="1714500" y="41148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B. lays</a:t>
            </a:r>
            <a:endParaRPr lang="en-US" sz="3600" dirty="0"/>
          </a:p>
        </p:txBody>
      </p:sp>
      <p:sp>
        <p:nvSpPr>
          <p:cNvPr id="6" name="Rounded Rectangle 5"/>
          <p:cNvSpPr/>
          <p:nvPr/>
        </p:nvSpPr>
        <p:spPr>
          <a:xfrm>
            <a:off x="5486400" y="32004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t>C. lied</a:t>
            </a:r>
            <a:endParaRPr lang="en-US" sz="3600" dirty="0"/>
          </a:p>
        </p:txBody>
      </p:sp>
      <p:sp>
        <p:nvSpPr>
          <p:cNvPr id="7" name="Rounded Rectangle 6"/>
          <p:cNvSpPr/>
          <p:nvPr/>
        </p:nvSpPr>
        <p:spPr>
          <a:xfrm>
            <a:off x="5486400" y="41148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600" dirty="0" smtClean="0">
                <a:solidFill>
                  <a:sysClr val="windowText" lastClr="000000"/>
                </a:solidFill>
              </a:rPr>
              <a:t>D. lay</a:t>
            </a:r>
            <a:endParaRPr lang="en-US" sz="36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4572000" y="4191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After 10 unfruitful years, Fe finally quit the job. She _____ along with her boss for a long time.</a:t>
            </a:r>
            <a:endParaRPr lang="en-US" sz="3600" dirty="0"/>
          </a:p>
        </p:txBody>
      </p:sp>
      <p:sp>
        <p:nvSpPr>
          <p:cNvPr id="4" name="Rounded Rectangle 3"/>
          <p:cNvSpPr/>
          <p:nvPr/>
        </p:nvSpPr>
        <p:spPr>
          <a:xfrm>
            <a:off x="2438400" y="2719754"/>
            <a:ext cx="4267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hasn’t been getting</a:t>
            </a:r>
            <a:endParaRPr lang="en-US" sz="3200" dirty="0"/>
          </a:p>
        </p:txBody>
      </p:sp>
      <p:sp>
        <p:nvSpPr>
          <p:cNvPr id="5" name="Rounded Rectangle 4"/>
          <p:cNvSpPr/>
          <p:nvPr/>
        </p:nvSpPr>
        <p:spPr>
          <a:xfrm>
            <a:off x="2438400" y="3710354"/>
            <a:ext cx="426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didn’t get</a:t>
            </a:r>
            <a:endParaRPr lang="en-US" sz="3200" dirty="0"/>
          </a:p>
        </p:txBody>
      </p:sp>
      <p:sp>
        <p:nvSpPr>
          <p:cNvPr id="6" name="Rounded Rectangle 5"/>
          <p:cNvSpPr/>
          <p:nvPr/>
        </p:nvSpPr>
        <p:spPr>
          <a:xfrm>
            <a:off x="2438400" y="4700954"/>
            <a:ext cx="4267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hadn’t been getting</a:t>
            </a:r>
            <a:endParaRPr lang="en-US" sz="3200" dirty="0"/>
          </a:p>
        </p:txBody>
      </p:sp>
      <p:sp>
        <p:nvSpPr>
          <p:cNvPr id="7" name="Rounded Rectangle 6"/>
          <p:cNvSpPr/>
          <p:nvPr/>
        </p:nvSpPr>
        <p:spPr>
          <a:xfrm>
            <a:off x="2438400" y="5767754"/>
            <a:ext cx="4267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isn’t getting</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Today, car manufacturers have begun to AUTOMATE their assembly lines by using robots. What does this trend mean?</a:t>
            </a:r>
            <a:endParaRPr lang="en-US" sz="3600" dirty="0"/>
          </a:p>
        </p:txBody>
      </p:sp>
      <p:sp>
        <p:nvSpPr>
          <p:cNvPr id="4" name="Rounded Rectangle 3"/>
          <p:cNvSpPr/>
          <p:nvPr/>
        </p:nvSpPr>
        <p:spPr>
          <a:xfrm>
            <a:off x="1600200" y="2719754"/>
            <a:ext cx="647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Operate through machines</a:t>
            </a:r>
            <a:endParaRPr lang="en-US" sz="3200" dirty="0"/>
          </a:p>
        </p:txBody>
      </p:sp>
      <p:sp>
        <p:nvSpPr>
          <p:cNvPr id="5" name="Rounded Rectangle 4"/>
          <p:cNvSpPr/>
          <p:nvPr/>
        </p:nvSpPr>
        <p:spPr>
          <a:xfrm>
            <a:off x="1562100" y="3710354"/>
            <a:ext cx="647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Cars are now automatic</a:t>
            </a:r>
            <a:endParaRPr lang="en-US" sz="3200" dirty="0"/>
          </a:p>
        </p:txBody>
      </p:sp>
      <p:sp>
        <p:nvSpPr>
          <p:cNvPr id="6" name="Rounded Rectangle 5"/>
          <p:cNvSpPr/>
          <p:nvPr/>
        </p:nvSpPr>
        <p:spPr>
          <a:xfrm>
            <a:off x="1562100" y="4700954"/>
            <a:ext cx="647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Operates through human workers</a:t>
            </a:r>
            <a:endParaRPr lang="en-US" sz="3200" dirty="0"/>
          </a:p>
        </p:txBody>
      </p:sp>
      <p:sp>
        <p:nvSpPr>
          <p:cNvPr id="7" name="Rounded Rectangle 6"/>
          <p:cNvSpPr/>
          <p:nvPr/>
        </p:nvSpPr>
        <p:spPr>
          <a:xfrm>
            <a:off x="1562100" y="5767754"/>
            <a:ext cx="647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Produce more efficient cars</a:t>
            </a:r>
            <a:endParaRPr lang="en-US" sz="3200" dirty="0">
              <a:solidFill>
                <a:sysClr val="windowText" lastClr="000000"/>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6096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She described her classmate’s statement as too SOPHOMORIC. This means ________.</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grown up</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mature</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wise</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immature</a:t>
            </a:r>
            <a:endParaRPr lang="en-US" sz="3200" dirty="0">
              <a:solidFill>
                <a:sysClr val="windowText" lastClr="000000"/>
              </a:solidFill>
            </a:endParaRPr>
          </a:p>
        </p:txBody>
      </p:sp>
      <p:pic>
        <p:nvPicPr>
          <p:cNvPr id="16" name="Picture 7" descr="AG00051_"/>
          <p:cNvPicPr>
            <a:picLocks noChangeAspect="1" noChangeArrowheads="1" noCrop="1"/>
          </p:cNvPicPr>
          <p:nvPr/>
        </p:nvPicPr>
        <p:blipFill>
          <a:blip r:embed="rId2"/>
          <a:srcRect/>
          <a:stretch>
            <a:fillRect/>
          </a:stretch>
        </p:blipFill>
        <p:spPr bwMode="auto">
          <a:xfrm>
            <a:off x="2286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Is this the spot _____ had the accident?</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wherein</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where</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why</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which</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If I ______ a Senator, I would live in Ayala village .</a:t>
            </a:r>
            <a:endParaRPr lang="en-US" sz="3600" dirty="0"/>
          </a:p>
        </p:txBody>
      </p:sp>
      <p:sp>
        <p:nvSpPr>
          <p:cNvPr id="8" name="Rounded Rectangle 7"/>
          <p:cNvSpPr/>
          <p:nvPr/>
        </p:nvSpPr>
        <p:spPr>
          <a:xfrm>
            <a:off x="3200400" y="2719754"/>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s</a:t>
            </a:r>
            <a:r>
              <a:rPr lang="en-US" sz="3200" dirty="0" smtClean="0"/>
              <a:t>hould be</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am</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were</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was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_______ not making the most of _______ opportunities.</a:t>
            </a:r>
            <a:endParaRPr lang="en-US" sz="3600" dirty="0"/>
          </a:p>
        </p:txBody>
      </p:sp>
      <p:sp>
        <p:nvSpPr>
          <p:cNvPr id="8" name="Rounded Rectangle 7"/>
          <p:cNvSpPr/>
          <p:nvPr/>
        </p:nvSpPr>
        <p:spPr>
          <a:xfrm>
            <a:off x="2667000" y="2719754"/>
            <a:ext cx="3276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You’re - you’re</a:t>
            </a:r>
            <a:endParaRPr lang="en-US" sz="3200" dirty="0"/>
          </a:p>
        </p:txBody>
      </p:sp>
      <p:sp>
        <p:nvSpPr>
          <p:cNvPr id="9" name="Rounded Rectangle 8"/>
          <p:cNvSpPr/>
          <p:nvPr/>
        </p:nvSpPr>
        <p:spPr>
          <a:xfrm>
            <a:off x="2667000" y="3710354"/>
            <a:ext cx="3276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You - your </a:t>
            </a:r>
            <a:endParaRPr lang="en-US" sz="3200" dirty="0"/>
          </a:p>
        </p:txBody>
      </p:sp>
      <p:sp>
        <p:nvSpPr>
          <p:cNvPr id="10" name="Rounded Rectangle 9"/>
          <p:cNvSpPr/>
          <p:nvPr/>
        </p:nvSpPr>
        <p:spPr>
          <a:xfrm>
            <a:off x="2667000" y="4700954"/>
            <a:ext cx="3276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Y</a:t>
            </a:r>
            <a:r>
              <a:rPr lang="en-US" sz="3200" dirty="0" smtClean="0"/>
              <a:t>ou’re - your</a:t>
            </a:r>
            <a:endParaRPr lang="en-US" sz="3200" dirty="0"/>
          </a:p>
        </p:txBody>
      </p:sp>
      <p:sp>
        <p:nvSpPr>
          <p:cNvPr id="11" name="Rounded Rectangle 10"/>
          <p:cNvSpPr/>
          <p:nvPr/>
        </p:nvSpPr>
        <p:spPr>
          <a:xfrm>
            <a:off x="2667000" y="5767754"/>
            <a:ext cx="3276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You’re – you </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6764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Which word does NOT mean the same as the other three?</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furnish</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defend</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supply</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equip</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362200" y="3810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“Nothing that happens in this world ever happens by chance; it is all part of a grand design.” The author speaks of one’s _____.</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destiny</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luck</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dream</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ambition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4384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It’s now two hours past his schedule, the facilitator may not come anymore, but we’ll still be ready in case he ______.</a:t>
            </a:r>
            <a:endParaRPr lang="en-US" sz="3600" dirty="0"/>
          </a:p>
        </p:txBody>
      </p:sp>
      <p:sp>
        <p:nvSpPr>
          <p:cNvPr id="8" name="Rounded Rectangle 7"/>
          <p:cNvSpPr/>
          <p:nvPr/>
        </p:nvSpPr>
        <p:spPr>
          <a:xfrm>
            <a:off x="3390900" y="2719754"/>
            <a:ext cx="2362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may</a:t>
            </a:r>
            <a:endParaRPr lang="en-US" sz="3200" dirty="0"/>
          </a:p>
        </p:txBody>
      </p:sp>
      <p:sp>
        <p:nvSpPr>
          <p:cNvPr id="9" name="Rounded Rectangle 8"/>
          <p:cNvSpPr/>
          <p:nvPr/>
        </p:nvSpPr>
        <p:spPr>
          <a:xfrm>
            <a:off x="3352800" y="3710354"/>
            <a:ext cx="2362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i</a:t>
            </a:r>
            <a:r>
              <a:rPr lang="en-US" sz="3200" dirty="0" smtClean="0"/>
              <a:t>s coming</a:t>
            </a:r>
            <a:endParaRPr lang="en-US" sz="3200" dirty="0"/>
          </a:p>
        </p:txBody>
      </p:sp>
      <p:sp>
        <p:nvSpPr>
          <p:cNvPr id="10" name="Rounded Rectangle 9"/>
          <p:cNvSpPr/>
          <p:nvPr/>
        </p:nvSpPr>
        <p:spPr>
          <a:xfrm>
            <a:off x="3352800" y="4700954"/>
            <a:ext cx="2362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does</a:t>
            </a:r>
            <a:endParaRPr lang="en-US" sz="3200" dirty="0"/>
          </a:p>
        </p:txBody>
      </p:sp>
      <p:sp>
        <p:nvSpPr>
          <p:cNvPr id="11" name="Rounded Rectangle 10"/>
          <p:cNvSpPr/>
          <p:nvPr/>
        </p:nvSpPr>
        <p:spPr>
          <a:xfrm>
            <a:off x="3352800" y="5767754"/>
            <a:ext cx="2362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will come</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3622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 surprised teacher asked, “What was all the HUBHUB about? HUBHUB means ____. </a:t>
            </a:r>
            <a:endParaRPr lang="en-US" sz="3600" dirty="0"/>
          </a:p>
        </p:txBody>
      </p:sp>
      <p:sp>
        <p:nvSpPr>
          <p:cNvPr id="8" name="Rounded Rectangle 7"/>
          <p:cNvSpPr/>
          <p:nvPr/>
        </p:nvSpPr>
        <p:spPr>
          <a:xfrm>
            <a:off x="3143250" y="2719754"/>
            <a:ext cx="28575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hush</a:t>
            </a:r>
            <a:endParaRPr lang="en-US" sz="3200" dirty="0"/>
          </a:p>
        </p:txBody>
      </p:sp>
      <p:sp>
        <p:nvSpPr>
          <p:cNvPr id="9" name="Rounded Rectangle 8"/>
          <p:cNvSpPr/>
          <p:nvPr/>
        </p:nvSpPr>
        <p:spPr>
          <a:xfrm>
            <a:off x="3162300" y="3710354"/>
            <a:ext cx="28575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serenity</a:t>
            </a:r>
            <a:endParaRPr lang="en-US" sz="3200" dirty="0"/>
          </a:p>
        </p:txBody>
      </p:sp>
      <p:sp>
        <p:nvSpPr>
          <p:cNvPr id="10" name="Rounded Rectangle 9"/>
          <p:cNvSpPr/>
          <p:nvPr/>
        </p:nvSpPr>
        <p:spPr>
          <a:xfrm>
            <a:off x="3162300" y="4700954"/>
            <a:ext cx="28575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commotion</a:t>
            </a:r>
            <a:endParaRPr lang="en-US" sz="3200" dirty="0"/>
          </a:p>
        </p:txBody>
      </p:sp>
      <p:sp>
        <p:nvSpPr>
          <p:cNvPr id="11" name="Rounded Rectangle 10"/>
          <p:cNvSpPr/>
          <p:nvPr/>
        </p:nvSpPr>
        <p:spPr>
          <a:xfrm>
            <a:off x="3162300" y="5767754"/>
            <a:ext cx="28575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stillness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Who was the General who said “I shall return” after training troops in Australia?</a:t>
            </a:r>
            <a:endParaRPr lang="en-US" sz="3600" dirty="0"/>
          </a:p>
        </p:txBody>
      </p:sp>
      <p:sp>
        <p:nvSpPr>
          <p:cNvPr id="7" name="Rounded Rectangle 6"/>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Carlos P. Romulo</a:t>
            </a:r>
            <a:endParaRPr lang="en-US" sz="3200" dirty="0"/>
          </a:p>
        </p:txBody>
      </p:sp>
      <p:sp>
        <p:nvSpPr>
          <p:cNvPr id="12" name="Rounded Rectangle 11"/>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Douglas McArthur</a:t>
            </a:r>
            <a:endParaRPr lang="en-US" sz="3200" dirty="0"/>
          </a:p>
        </p:txBody>
      </p:sp>
      <p:sp>
        <p:nvSpPr>
          <p:cNvPr id="13" name="Rounded Rectangle 12"/>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J. de la Torre</a:t>
            </a:r>
            <a:endParaRPr lang="en-US" sz="3200" dirty="0"/>
          </a:p>
        </p:txBody>
      </p:sp>
      <p:sp>
        <p:nvSpPr>
          <p:cNvPr id="14" name="Rounded Rectangle 13"/>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G. </a:t>
            </a:r>
            <a:r>
              <a:rPr lang="en-US" sz="3200" dirty="0" err="1" smtClean="0">
                <a:solidFill>
                  <a:sysClr val="windowText" lastClr="000000"/>
                </a:solidFill>
              </a:rPr>
              <a:t>Wainright</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6764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should have returned the book last Tuesday; it is now five days _______. </a:t>
            </a:r>
            <a:endParaRPr lang="en-US" sz="3600" dirty="0"/>
          </a:p>
        </p:txBody>
      </p:sp>
      <p:sp>
        <p:nvSpPr>
          <p:cNvPr id="7" name="Rounded Rectangle 6"/>
          <p:cNvSpPr/>
          <p:nvPr/>
        </p:nvSpPr>
        <p:spPr>
          <a:xfrm>
            <a:off x="2667000" y="2743200"/>
            <a:ext cx="35814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delayed</a:t>
            </a:r>
            <a:endParaRPr lang="en-US" sz="3200" dirty="0"/>
          </a:p>
        </p:txBody>
      </p:sp>
      <p:sp>
        <p:nvSpPr>
          <p:cNvPr id="12" name="Rounded Rectangle 11"/>
          <p:cNvSpPr/>
          <p:nvPr/>
        </p:nvSpPr>
        <p:spPr>
          <a:xfrm>
            <a:off x="2667000" y="3657600"/>
            <a:ext cx="3581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postponed</a:t>
            </a:r>
            <a:endParaRPr lang="en-US" sz="3200" dirty="0"/>
          </a:p>
        </p:txBody>
      </p:sp>
      <p:sp>
        <p:nvSpPr>
          <p:cNvPr id="13" name="Rounded Rectangle 12"/>
          <p:cNvSpPr/>
          <p:nvPr/>
        </p:nvSpPr>
        <p:spPr>
          <a:xfrm>
            <a:off x="2667000" y="4572000"/>
            <a:ext cx="3581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overdue</a:t>
            </a:r>
            <a:endParaRPr lang="en-US" sz="3200" dirty="0"/>
          </a:p>
        </p:txBody>
      </p:sp>
      <p:sp>
        <p:nvSpPr>
          <p:cNvPr id="14" name="Rounded Rectangle 13"/>
          <p:cNvSpPr/>
          <p:nvPr/>
        </p:nvSpPr>
        <p:spPr>
          <a:xfrm>
            <a:off x="2667000" y="5486400"/>
            <a:ext cx="3581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b</a:t>
            </a:r>
            <a:r>
              <a:rPr lang="en-US" sz="3200" dirty="0" smtClean="0">
                <a:solidFill>
                  <a:sysClr val="windowText" lastClr="000000"/>
                </a:solidFill>
              </a:rPr>
              <a:t>eyond deadline</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saw a nasty _______ between two cars this morning.</a:t>
            </a:r>
            <a:endParaRPr lang="en-US" sz="3600" dirty="0"/>
          </a:p>
        </p:txBody>
      </p:sp>
      <p:sp>
        <p:nvSpPr>
          <p:cNvPr id="7" name="Rounded Rectangle 6"/>
          <p:cNvSpPr/>
          <p:nvPr/>
        </p:nvSpPr>
        <p:spPr>
          <a:xfrm>
            <a:off x="3238500" y="2743200"/>
            <a:ext cx="2667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happening</a:t>
            </a:r>
            <a:endParaRPr lang="en-US" sz="3200" dirty="0"/>
          </a:p>
        </p:txBody>
      </p:sp>
      <p:sp>
        <p:nvSpPr>
          <p:cNvPr id="12" name="Rounded Rectangle 11"/>
          <p:cNvSpPr/>
          <p:nvPr/>
        </p:nvSpPr>
        <p:spPr>
          <a:xfrm>
            <a:off x="3200400" y="3657600"/>
            <a:ext cx="2667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damage</a:t>
            </a:r>
            <a:endParaRPr lang="en-US" sz="3200" dirty="0"/>
          </a:p>
        </p:txBody>
      </p:sp>
      <p:sp>
        <p:nvSpPr>
          <p:cNvPr id="13" name="Rounded Rectangle 12"/>
          <p:cNvSpPr/>
          <p:nvPr/>
        </p:nvSpPr>
        <p:spPr>
          <a:xfrm>
            <a:off x="3200400" y="4572000"/>
            <a:ext cx="2667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accident</a:t>
            </a:r>
            <a:endParaRPr lang="en-US" sz="3200" dirty="0"/>
          </a:p>
        </p:txBody>
      </p:sp>
      <p:sp>
        <p:nvSpPr>
          <p:cNvPr id="14" name="Rounded Rectangle 13"/>
          <p:cNvSpPr/>
          <p:nvPr/>
        </p:nvSpPr>
        <p:spPr>
          <a:xfrm>
            <a:off x="3200400" y="5486400"/>
            <a:ext cx="2667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danger</a:t>
            </a:r>
            <a:endParaRPr lang="en-US" sz="3200" dirty="0">
              <a:solidFill>
                <a:sysClr val="windowText" lastClr="000000"/>
              </a:solidFill>
            </a:endParaRPr>
          </a:p>
        </p:txBody>
      </p:sp>
      <p:pic>
        <p:nvPicPr>
          <p:cNvPr id="10" name="Picture 7" descr="AG00051_"/>
          <p:cNvPicPr>
            <a:picLocks noChangeAspect="1" noChangeArrowheads="1" noCrop="1"/>
          </p:cNvPicPr>
          <p:nvPr/>
        </p:nvPicPr>
        <p:blipFill>
          <a:blip r:embed="rId2"/>
          <a:srcRect/>
          <a:stretch>
            <a:fillRect/>
          </a:stretch>
        </p:blipFill>
        <p:spPr bwMode="auto">
          <a:xfrm>
            <a:off x="2286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Which passage is expressed effectively and without structural error/s?</a:t>
            </a:r>
            <a:endParaRPr lang="en-US" sz="3600" dirty="0"/>
          </a:p>
        </p:txBody>
      </p:sp>
      <p:sp>
        <p:nvSpPr>
          <p:cNvPr id="8" name="Rounded Rectangle 7"/>
          <p:cNvSpPr/>
          <p:nvPr/>
        </p:nvSpPr>
        <p:spPr>
          <a:xfrm>
            <a:off x="1219200" y="2719754"/>
            <a:ext cx="73914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 would not want to be themselves.</a:t>
            </a:r>
            <a:endParaRPr lang="en-US" sz="3200" dirty="0"/>
          </a:p>
        </p:txBody>
      </p:sp>
      <p:sp>
        <p:nvSpPr>
          <p:cNvPr id="9" name="Rounded Rectangle 8"/>
          <p:cNvSpPr/>
          <p:nvPr/>
        </p:nvSpPr>
        <p:spPr>
          <a:xfrm>
            <a:off x="1181100" y="3710354"/>
            <a:ext cx="7391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 would not want to be himself/herself.</a:t>
            </a:r>
            <a:endParaRPr lang="en-US" sz="3200" dirty="0"/>
          </a:p>
        </p:txBody>
      </p:sp>
      <p:sp>
        <p:nvSpPr>
          <p:cNvPr id="10" name="Rounded Rectangle 9"/>
          <p:cNvSpPr/>
          <p:nvPr/>
        </p:nvSpPr>
        <p:spPr>
          <a:xfrm>
            <a:off x="1181100" y="4700954"/>
            <a:ext cx="7391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 would not want to be he/she.</a:t>
            </a:r>
            <a:endParaRPr lang="en-US" sz="3200" dirty="0"/>
          </a:p>
        </p:txBody>
      </p:sp>
      <p:sp>
        <p:nvSpPr>
          <p:cNvPr id="11" name="Rounded Rectangle 10"/>
          <p:cNvSpPr/>
          <p:nvPr/>
        </p:nvSpPr>
        <p:spPr>
          <a:xfrm>
            <a:off x="1181100" y="5767754"/>
            <a:ext cx="73914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I would not want to be </a:t>
            </a:r>
            <a:r>
              <a:rPr lang="en-US" sz="3200" dirty="0" err="1" smtClean="0">
                <a:solidFill>
                  <a:sysClr val="windowText" lastClr="000000"/>
                </a:solidFill>
              </a:rPr>
              <a:t>theirselves</a:t>
            </a:r>
            <a:r>
              <a:rPr lang="en-US" sz="3200" dirty="0" smtClean="0">
                <a:solidFill>
                  <a:sysClr val="windowText" lastClr="000000"/>
                </a:solidFill>
              </a:rPr>
              <a:t>.</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3048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Which passage is expressed effectively and without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Having called the other students and they, the secretary went home.</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Having called the other students and ourselves, the secretary went home. </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Having called the other students and we, the secretary went home.</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Having called the other students and us, the secretary went home.</a:t>
            </a:r>
            <a:endParaRPr lang="en-US" sz="3200" dirty="0">
              <a:solidFill>
                <a:schemeClr val="tx1"/>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524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Thomas Carlyle said, “The man without a purpose is like a ship without a rudder…” It could be interpreted as ___________.</a:t>
            </a:r>
            <a:endParaRPr lang="en-US" sz="3600" dirty="0"/>
          </a:p>
        </p:txBody>
      </p:sp>
      <p:sp>
        <p:nvSpPr>
          <p:cNvPr id="8" name="Rounded Rectangle 7"/>
          <p:cNvSpPr/>
          <p:nvPr/>
        </p:nvSpPr>
        <p:spPr>
          <a:xfrm>
            <a:off x="533400" y="2719754"/>
            <a:ext cx="8229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a:t>
            </a:r>
            <a:r>
              <a:rPr lang="en-US" sz="3200" dirty="0"/>
              <a:t> t</a:t>
            </a:r>
            <a:r>
              <a:rPr lang="en-US" sz="3200" dirty="0" smtClean="0"/>
              <a:t>here should be sufficient energy in one’s life.</a:t>
            </a:r>
            <a:endParaRPr lang="en-US" sz="3200" dirty="0"/>
          </a:p>
        </p:txBody>
      </p:sp>
      <p:sp>
        <p:nvSpPr>
          <p:cNvPr id="9" name="Rounded Rectangle 8"/>
          <p:cNvSpPr/>
          <p:nvPr/>
        </p:nvSpPr>
        <p:spPr>
          <a:xfrm>
            <a:off x="533400" y="3710354"/>
            <a:ext cx="8229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direction can never come into one’s life. </a:t>
            </a:r>
            <a:endParaRPr lang="en-US" sz="3200" dirty="0"/>
          </a:p>
        </p:txBody>
      </p:sp>
      <p:sp>
        <p:nvSpPr>
          <p:cNvPr id="10" name="Rounded Rectangle 9"/>
          <p:cNvSpPr/>
          <p:nvPr/>
        </p:nvSpPr>
        <p:spPr>
          <a:xfrm>
            <a:off x="533400" y="4700954"/>
            <a:ext cx="8229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one’s life doesn’t need to be controlled.</a:t>
            </a:r>
            <a:endParaRPr lang="en-US" sz="3200" dirty="0"/>
          </a:p>
        </p:txBody>
      </p:sp>
      <p:sp>
        <p:nvSpPr>
          <p:cNvPr id="11" name="Rounded Rectangle 10"/>
          <p:cNvSpPr/>
          <p:nvPr/>
        </p:nvSpPr>
        <p:spPr>
          <a:xfrm>
            <a:off x="533400" y="5767754"/>
            <a:ext cx="8229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there is a strong driving force in one’s life.</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524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Who said, </a:t>
            </a:r>
            <a:r>
              <a:rPr lang="en-US" sz="3200" i="1" dirty="0" smtClean="0"/>
              <a:t>“The Filipino is worth dying for?”</a:t>
            </a:r>
            <a:endParaRPr lang="en-US" sz="3200" i="1"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Benigno</a:t>
            </a:r>
            <a:r>
              <a:rPr lang="en-US" sz="3200" dirty="0" smtClean="0"/>
              <a:t> Aquino </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Carlos P. Garcia</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Fidel V. Ramos</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Jose P. Rizal</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7526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477962"/>
          </a:xfrm>
        </p:spPr>
        <p:txBody>
          <a:bodyPr>
            <a:noAutofit/>
          </a:bodyPr>
          <a:lstStyle/>
          <a:p>
            <a:pPr algn="just"/>
            <a:r>
              <a:rPr lang="en-US" sz="3200" dirty="0" smtClean="0"/>
              <a:t>Who is remembered for his famous quotation?</a:t>
            </a:r>
            <a:br>
              <a:rPr lang="en-US" sz="3200" dirty="0" smtClean="0"/>
            </a:br>
            <a:r>
              <a:rPr lang="en-US" sz="3200" i="1" dirty="0" smtClean="0"/>
              <a:t>“My loyalty to my party ends where my loyalty to my country begins.”</a:t>
            </a:r>
            <a:endParaRPr lang="en-US" sz="3200" i="1" dirty="0"/>
          </a:p>
        </p:txBody>
      </p:sp>
      <p:sp>
        <p:nvSpPr>
          <p:cNvPr id="4" name="Rounded Rectangle 3"/>
          <p:cNvSpPr/>
          <p:nvPr/>
        </p:nvSpPr>
        <p:spPr>
          <a:xfrm>
            <a:off x="2667000" y="2743200"/>
            <a:ext cx="3810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Carlos P. Garcia</a:t>
            </a:r>
            <a:endParaRPr lang="en-US" sz="3200" dirty="0"/>
          </a:p>
        </p:txBody>
      </p:sp>
      <p:sp>
        <p:nvSpPr>
          <p:cNvPr id="5" name="Rounded Rectangle 4"/>
          <p:cNvSpPr/>
          <p:nvPr/>
        </p:nvSpPr>
        <p:spPr>
          <a:xfrm>
            <a:off x="2667000" y="3657600"/>
            <a:ext cx="3810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Ferdinand Marcos </a:t>
            </a:r>
            <a:endParaRPr lang="en-US" sz="3200" dirty="0"/>
          </a:p>
        </p:txBody>
      </p:sp>
      <p:sp>
        <p:nvSpPr>
          <p:cNvPr id="6" name="Rounded Rectangle 5"/>
          <p:cNvSpPr/>
          <p:nvPr/>
        </p:nvSpPr>
        <p:spPr>
          <a:xfrm>
            <a:off x="2667000" y="4572000"/>
            <a:ext cx="3810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Manuel L. Quezon</a:t>
            </a:r>
            <a:endParaRPr lang="en-US" sz="3200" dirty="0"/>
          </a:p>
        </p:txBody>
      </p:sp>
      <p:sp>
        <p:nvSpPr>
          <p:cNvPr id="7" name="Rounded Rectangle 6"/>
          <p:cNvSpPr/>
          <p:nvPr/>
        </p:nvSpPr>
        <p:spPr>
          <a:xfrm>
            <a:off x="2667000" y="5486400"/>
            <a:ext cx="3810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Manuel </a:t>
            </a:r>
            <a:r>
              <a:rPr lang="en-US" sz="3200" dirty="0" err="1" smtClean="0">
                <a:solidFill>
                  <a:schemeClr val="tx1"/>
                </a:solidFill>
              </a:rPr>
              <a:t>Roxas</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Which sentence clearly and effectively states the idea and has no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interest at a loan company is higher than at bank.</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interest at a loan company is higher than a bank. </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interest of a loan company is higher than a bank.</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interest of a loan company is higher than in a bank.</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 y="5943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Autofit/>
          </a:bodyPr>
          <a:lstStyle/>
          <a:p>
            <a:pPr algn="just"/>
            <a:r>
              <a:rPr lang="en-US" sz="3600" dirty="0" smtClean="0"/>
              <a:t>Select the sentence that clearly and effectively states the idea and has no structural error/s.</a:t>
            </a:r>
            <a:endParaRPr lang="en-US" sz="3600" dirty="0"/>
          </a:p>
        </p:txBody>
      </p:sp>
      <p:sp>
        <p:nvSpPr>
          <p:cNvPr id="7" name="Rounded Rectangle 6"/>
          <p:cNvSpPr/>
          <p:nvPr/>
        </p:nvSpPr>
        <p:spPr>
          <a:xfrm>
            <a:off x="762000" y="19050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examinees need pencils, a calculator, and a ball pen.</a:t>
            </a:r>
            <a:endParaRPr lang="en-US" sz="3200" dirty="0"/>
          </a:p>
        </p:txBody>
      </p:sp>
      <p:sp>
        <p:nvSpPr>
          <p:cNvPr id="12" name="Rounded Rectangle 11"/>
          <p:cNvSpPr/>
          <p:nvPr/>
        </p:nvSpPr>
        <p:spPr>
          <a:xfrm>
            <a:off x="762000" y="31242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examinees need double pencils simply a calculator, and ball pen.</a:t>
            </a:r>
            <a:endParaRPr lang="en-US" sz="3200" dirty="0"/>
          </a:p>
        </p:txBody>
      </p:sp>
      <p:sp>
        <p:nvSpPr>
          <p:cNvPr id="13" name="Rounded Rectangle 12"/>
          <p:cNvSpPr/>
          <p:nvPr/>
        </p:nvSpPr>
        <p:spPr>
          <a:xfrm>
            <a:off x="762000" y="43434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 examinees need two pencils, a simple calculator, and a ball pen.</a:t>
            </a:r>
            <a:endParaRPr lang="en-US" sz="3200" dirty="0"/>
          </a:p>
        </p:txBody>
      </p:sp>
      <p:sp>
        <p:nvSpPr>
          <p:cNvPr id="14" name="Rounded Rectangle 13"/>
          <p:cNvSpPr/>
          <p:nvPr/>
        </p:nvSpPr>
        <p:spPr>
          <a:xfrm>
            <a:off x="762000" y="56388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examinees need two sharpened pencils, a calculator, and ball pen.</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There was HIATUS of two years before I went back to college. HIATUS means ____.</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lapse</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uninterruption</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length</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continuation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828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I was speaking to Ana on the phone when suddenly we were __________.</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disconnected</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cut off</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h</a:t>
            </a:r>
            <a:r>
              <a:rPr lang="en-US" sz="3200" dirty="0" smtClean="0"/>
              <a:t>ung up</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b</a:t>
            </a:r>
            <a:r>
              <a:rPr lang="en-US" sz="3200" dirty="0" smtClean="0">
                <a:solidFill>
                  <a:sysClr val="windowText" lastClr="000000"/>
                </a:solidFill>
              </a:rPr>
              <a:t>roken down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905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87562"/>
          </a:xfrm>
        </p:spPr>
        <p:txBody>
          <a:bodyPr>
            <a:noAutofit/>
          </a:bodyPr>
          <a:lstStyle/>
          <a:p>
            <a:pPr algn="just"/>
            <a:r>
              <a:rPr lang="en-US" sz="3600" dirty="0" smtClean="0"/>
              <a:t>“The Lord is my shepherd; I shall not want” is an expression of one’s _________.</a:t>
            </a:r>
            <a:endParaRPr lang="en-US" sz="3600" dirty="0"/>
          </a:p>
        </p:txBody>
      </p:sp>
      <p:sp>
        <p:nvSpPr>
          <p:cNvPr id="8" name="Rounded Rectangle 7"/>
          <p:cNvSpPr/>
          <p:nvPr/>
        </p:nvSpPr>
        <p:spPr>
          <a:xfrm>
            <a:off x="2171700" y="2719754"/>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t</a:t>
            </a:r>
            <a:r>
              <a:rPr lang="en-US" sz="3200" dirty="0" smtClean="0"/>
              <a:t>otal poverty</a:t>
            </a:r>
            <a:endParaRPr lang="en-US" sz="3200" dirty="0"/>
          </a:p>
        </p:txBody>
      </p:sp>
      <p:sp>
        <p:nvSpPr>
          <p:cNvPr id="9" name="Rounded Rectangle 8"/>
          <p:cNvSpPr/>
          <p:nvPr/>
        </p:nvSpPr>
        <p:spPr>
          <a:xfrm>
            <a:off x="2133600" y="3710354"/>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b</a:t>
            </a:r>
            <a:r>
              <a:rPr lang="en-US" sz="3200" dirty="0" smtClean="0"/>
              <a:t>lind ignorance</a:t>
            </a:r>
            <a:endParaRPr lang="en-US" sz="3200" dirty="0"/>
          </a:p>
        </p:txBody>
      </p:sp>
      <p:sp>
        <p:nvSpPr>
          <p:cNvPr id="10" name="Rounded Rectangle 9"/>
          <p:cNvSpPr/>
          <p:nvPr/>
        </p:nvSpPr>
        <p:spPr>
          <a:xfrm>
            <a:off x="2133600" y="4700954"/>
            <a:ext cx="4800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l</a:t>
            </a:r>
            <a:r>
              <a:rPr lang="en-US" sz="3200" dirty="0" smtClean="0"/>
              <a:t>ove for self</a:t>
            </a:r>
            <a:endParaRPr lang="en-US" sz="3200" dirty="0"/>
          </a:p>
        </p:txBody>
      </p:sp>
      <p:sp>
        <p:nvSpPr>
          <p:cNvPr id="11" name="Rounded Rectangle 10"/>
          <p:cNvSpPr/>
          <p:nvPr/>
        </p:nvSpPr>
        <p:spPr>
          <a:xfrm>
            <a:off x="2133600" y="5767754"/>
            <a:ext cx="4800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a:solidFill>
                  <a:sysClr val="windowText" lastClr="000000"/>
                </a:solidFill>
              </a:rPr>
              <a:t>t</a:t>
            </a:r>
            <a:r>
              <a:rPr lang="en-US" sz="3200" dirty="0" smtClean="0">
                <a:solidFill>
                  <a:sysClr val="windowText" lastClr="000000"/>
                </a:solidFill>
              </a:rPr>
              <a:t>otal submission to God</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21920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Autofit/>
          </a:bodyPr>
          <a:lstStyle/>
          <a:p>
            <a:pPr algn="just"/>
            <a:r>
              <a:rPr lang="en-US" sz="3600" dirty="0" smtClean="0"/>
              <a:t>Which passage is expressed effectively and without structural error/s?</a:t>
            </a:r>
            <a:endParaRPr lang="en-US" sz="3600" dirty="0"/>
          </a:p>
        </p:txBody>
      </p:sp>
      <p:sp>
        <p:nvSpPr>
          <p:cNvPr id="7" name="Rounded Rectangle 6"/>
          <p:cNvSpPr/>
          <p:nvPr/>
        </p:nvSpPr>
        <p:spPr>
          <a:xfrm>
            <a:off x="342900" y="1524000"/>
            <a:ext cx="8458200" cy="1219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2300" dirty="0" smtClean="0"/>
              <a:t>The teacher explained that the Mean Percentage Score (MPS) of high school students in English was much lower than it has been in previous years.</a:t>
            </a:r>
            <a:endParaRPr lang="en-US" sz="2300" dirty="0"/>
          </a:p>
        </p:txBody>
      </p:sp>
      <p:sp>
        <p:nvSpPr>
          <p:cNvPr id="12" name="Rounded Rectangle 11"/>
          <p:cNvSpPr/>
          <p:nvPr/>
        </p:nvSpPr>
        <p:spPr>
          <a:xfrm>
            <a:off x="304800" y="2971800"/>
            <a:ext cx="8458200" cy="12192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2300" dirty="0" smtClean="0"/>
              <a:t>The teacher explained that the Mean Percentage Score (MPS) of high school students in English was much lower than  the previous years.</a:t>
            </a:r>
          </a:p>
        </p:txBody>
      </p:sp>
      <p:sp>
        <p:nvSpPr>
          <p:cNvPr id="13" name="Rounded Rectangle 12"/>
          <p:cNvSpPr/>
          <p:nvPr/>
        </p:nvSpPr>
        <p:spPr>
          <a:xfrm>
            <a:off x="304800" y="4343400"/>
            <a:ext cx="8458200" cy="12192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2300" dirty="0" smtClean="0"/>
              <a:t>The teacher explained that the Mean Percentage Score (MPS) of high school students in English was much lower than  it had been in previous years.</a:t>
            </a:r>
            <a:endParaRPr lang="en-US" sz="2300" dirty="0"/>
          </a:p>
        </p:txBody>
      </p:sp>
      <p:sp>
        <p:nvSpPr>
          <p:cNvPr id="14" name="Rounded Rectangle 13"/>
          <p:cNvSpPr/>
          <p:nvPr/>
        </p:nvSpPr>
        <p:spPr>
          <a:xfrm>
            <a:off x="304800" y="5715000"/>
            <a:ext cx="8458200" cy="990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2300" dirty="0" smtClean="0">
                <a:solidFill>
                  <a:schemeClr val="tx1"/>
                </a:solidFill>
              </a:rPr>
              <a:t>The teacher explained that the Mean Percentage Score (MPS) of high school students in English was lowest than  the previous years.</a:t>
            </a:r>
            <a:endParaRPr lang="en-US" sz="23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0" y="190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11362"/>
          </a:xfrm>
        </p:spPr>
        <p:txBody>
          <a:bodyPr>
            <a:normAutofit/>
          </a:bodyPr>
          <a:lstStyle/>
          <a:p>
            <a:r>
              <a:rPr lang="en-US" sz="3600" i="1" dirty="0" smtClean="0"/>
              <a:t>“</a:t>
            </a:r>
            <a:r>
              <a:rPr lang="en-US" sz="3600" i="1" dirty="0" err="1" smtClean="0"/>
              <a:t>Ang</a:t>
            </a:r>
            <a:r>
              <a:rPr lang="en-US" sz="3600" i="1" dirty="0" smtClean="0"/>
              <a:t> </a:t>
            </a:r>
            <a:r>
              <a:rPr lang="en-US" sz="3600" i="1" dirty="0" err="1" smtClean="0"/>
              <a:t>mga</a:t>
            </a:r>
            <a:r>
              <a:rPr lang="en-US" sz="3600" i="1" dirty="0" smtClean="0"/>
              <a:t> </a:t>
            </a:r>
            <a:r>
              <a:rPr lang="en-US" sz="3600" i="1" dirty="0" err="1" smtClean="0"/>
              <a:t>mata</a:t>
            </a:r>
            <a:r>
              <a:rPr lang="en-US" sz="3600" i="1" dirty="0" smtClean="0"/>
              <a:t> mo ay </a:t>
            </a:r>
            <a:r>
              <a:rPr lang="en-US" sz="3600" i="1" dirty="0" err="1" smtClean="0"/>
              <a:t>tulad</a:t>
            </a:r>
            <a:r>
              <a:rPr lang="en-US" sz="3600" i="1" dirty="0" smtClean="0"/>
              <a:t> </a:t>
            </a:r>
            <a:r>
              <a:rPr lang="en-US" sz="3600" i="1" dirty="0" err="1" smtClean="0"/>
              <a:t>ng</a:t>
            </a:r>
            <a:r>
              <a:rPr lang="en-US" sz="3600" i="1" dirty="0" smtClean="0"/>
              <a:t> </a:t>
            </a:r>
            <a:r>
              <a:rPr lang="en-US" sz="3600" i="1" dirty="0" err="1" smtClean="0"/>
              <a:t>mga</a:t>
            </a:r>
            <a:r>
              <a:rPr lang="en-US" sz="3600" i="1" dirty="0" smtClean="0"/>
              <a:t> </a:t>
            </a:r>
            <a:r>
              <a:rPr lang="en-US" sz="3600" i="1" dirty="0" err="1" smtClean="0"/>
              <a:t>bituin</a:t>
            </a:r>
            <a:r>
              <a:rPr lang="en-US" sz="3600" i="1" dirty="0" smtClean="0"/>
              <a:t> </a:t>
            </a:r>
            <a:r>
              <a:rPr lang="en-US" sz="3600" i="1" dirty="0" err="1" smtClean="0"/>
              <a:t>sa</a:t>
            </a:r>
            <a:r>
              <a:rPr lang="en-US" sz="3600" i="1" dirty="0" smtClean="0"/>
              <a:t> </a:t>
            </a:r>
            <a:r>
              <a:rPr lang="en-US" sz="3600" i="1" dirty="0" err="1" smtClean="0"/>
              <a:t>kalangitan</a:t>
            </a:r>
            <a:r>
              <a:rPr lang="en-US" sz="3600" i="1" dirty="0" smtClean="0"/>
              <a:t>.”</a:t>
            </a:r>
            <a:br>
              <a:rPr lang="en-US" sz="3600" i="1" dirty="0" smtClean="0"/>
            </a:br>
            <a:r>
              <a:rPr lang="en-US" sz="3600" dirty="0" err="1" smtClean="0"/>
              <a:t>Ano</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na</a:t>
            </a:r>
            <a:r>
              <a:rPr lang="en-US" sz="3600" dirty="0" smtClean="0"/>
              <a:t> </a:t>
            </a:r>
            <a:r>
              <a:rPr lang="en-US" sz="3600" dirty="0" err="1" smtClean="0"/>
              <a:t>pagpapahayag</a:t>
            </a:r>
            <a:r>
              <a:rPr lang="en-US" sz="3600" dirty="0" smtClean="0"/>
              <a:t> </a:t>
            </a:r>
            <a:r>
              <a:rPr lang="en-US" sz="3600" dirty="0" err="1" smtClean="0"/>
              <a:t>dito</a:t>
            </a:r>
            <a:r>
              <a:rPr lang="en-US" sz="3600" dirty="0" smtClean="0"/>
              <a:t>?</a:t>
            </a:r>
            <a:endParaRPr lang="en-US" sz="3600" dirty="0"/>
          </a:p>
        </p:txBody>
      </p:sp>
      <p:sp>
        <p:nvSpPr>
          <p:cNvPr id="8" name="Rounded Rectangle 7"/>
          <p:cNvSpPr/>
          <p:nvPr/>
        </p:nvSpPr>
        <p:spPr>
          <a:xfrm>
            <a:off x="2800350" y="27197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P</a:t>
            </a:r>
            <a:r>
              <a:rPr lang="en-US" sz="3200" dirty="0" err="1" smtClean="0"/>
              <a:t>agtutulad</a:t>
            </a:r>
            <a:endParaRPr lang="en-US" sz="3200" dirty="0"/>
          </a:p>
        </p:txBody>
      </p:sp>
      <p:sp>
        <p:nvSpPr>
          <p:cNvPr id="9" name="Rounded Rectangle 8"/>
          <p:cNvSpPr/>
          <p:nvPr/>
        </p:nvSpPr>
        <p:spPr>
          <a:xfrm>
            <a:off x="2819400" y="37103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Personipikasyon</a:t>
            </a:r>
            <a:endParaRPr lang="en-US" sz="3200" dirty="0"/>
          </a:p>
        </p:txBody>
      </p:sp>
      <p:sp>
        <p:nvSpPr>
          <p:cNvPr id="10" name="Rounded Rectangle 9"/>
          <p:cNvSpPr/>
          <p:nvPr/>
        </p:nvSpPr>
        <p:spPr>
          <a:xfrm>
            <a:off x="2819400" y="47009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Pagwawangis</a:t>
            </a:r>
            <a:endParaRPr lang="en-US" sz="3200" dirty="0"/>
          </a:p>
        </p:txBody>
      </p:sp>
      <p:sp>
        <p:nvSpPr>
          <p:cNvPr id="11" name="Rounded Rectangle 10"/>
          <p:cNvSpPr/>
          <p:nvPr/>
        </p:nvSpPr>
        <p:spPr>
          <a:xfrm>
            <a:off x="2819400" y="57677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Pang-</a:t>
            </a:r>
            <a:r>
              <a:rPr lang="en-US" sz="3200" dirty="0" err="1" smtClean="0">
                <a:solidFill>
                  <a:sysClr val="windowText" lastClr="000000"/>
                </a:solidFill>
              </a:rPr>
              <a:t>uyam</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6764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58200" cy="2133600"/>
          </a:xfrm>
        </p:spPr>
        <p:txBody>
          <a:bodyPr>
            <a:noAutofit/>
          </a:bodyPr>
          <a:lstStyle/>
          <a:p>
            <a:pPr algn="just"/>
            <a:r>
              <a:rPr lang="en-US" sz="3600" dirty="0" err="1" smtClean="0"/>
              <a:t>Huwag</a:t>
            </a:r>
            <a:r>
              <a:rPr lang="en-US" sz="3600" dirty="0" smtClean="0"/>
              <a:t> </a:t>
            </a:r>
            <a:r>
              <a:rPr lang="en-US" sz="3600" dirty="0" err="1" smtClean="0"/>
              <a:t>limutin</a:t>
            </a:r>
            <a:r>
              <a:rPr lang="en-US" sz="3600" dirty="0" smtClean="0"/>
              <a:t> </a:t>
            </a:r>
            <a:r>
              <a:rPr lang="en-US" sz="3600" dirty="0" err="1" smtClean="0"/>
              <a:t>ang</a:t>
            </a:r>
            <a:r>
              <a:rPr lang="en-US" sz="3600" dirty="0" smtClean="0"/>
              <a:t> vernacular. </a:t>
            </a:r>
            <a:r>
              <a:rPr lang="en-US" sz="3600" dirty="0" err="1" smtClean="0"/>
              <a:t>Tutuhing</a:t>
            </a:r>
            <a:r>
              <a:rPr lang="en-US" sz="3600" dirty="0" smtClean="0"/>
              <a:t> </a:t>
            </a:r>
            <a:r>
              <a:rPr lang="en-US" sz="3600" dirty="0" err="1" smtClean="0"/>
              <a:t>iasimila</a:t>
            </a:r>
            <a:r>
              <a:rPr lang="en-US" sz="3600" dirty="0" smtClean="0"/>
              <a:t> </a:t>
            </a:r>
            <a:r>
              <a:rPr lang="en-US" sz="3600" dirty="0" err="1" smtClean="0"/>
              <a:t>ito</a:t>
            </a:r>
            <a:r>
              <a:rPr lang="en-US" sz="3600" dirty="0" smtClean="0"/>
              <a:t> </a:t>
            </a:r>
            <a:r>
              <a:rPr lang="en-US" sz="3600" dirty="0" err="1" smtClean="0"/>
              <a:t>sa</a:t>
            </a:r>
            <a:r>
              <a:rPr lang="en-US" sz="3600" dirty="0" smtClean="0"/>
              <a:t> </a:t>
            </a:r>
            <a:r>
              <a:rPr lang="en-US" sz="3600" dirty="0" err="1" smtClean="0"/>
              <a:t>pambansang</a:t>
            </a:r>
            <a:r>
              <a:rPr lang="en-US" sz="3600" dirty="0" smtClean="0"/>
              <a:t> </a:t>
            </a:r>
            <a:r>
              <a:rPr lang="en-US" sz="3600" dirty="0" err="1" smtClean="0"/>
              <a:t>wika</a:t>
            </a:r>
            <a:r>
              <a:rPr lang="en-US" sz="3600" dirty="0" smtClean="0"/>
              <a:t> </a:t>
            </a:r>
            <a:r>
              <a:rPr lang="en-US" sz="3600" dirty="0" err="1" smtClean="0"/>
              <a:t>sa</a:t>
            </a:r>
            <a:r>
              <a:rPr lang="en-US" sz="3600" dirty="0" smtClean="0"/>
              <a:t> </a:t>
            </a:r>
            <a:r>
              <a:rPr lang="en-US" sz="3600" dirty="0" err="1" smtClean="0"/>
              <a:t>ikauunlad</a:t>
            </a:r>
            <a:r>
              <a:rPr lang="en-US" sz="3600" dirty="0" smtClean="0"/>
              <a:t> </a:t>
            </a:r>
            <a:r>
              <a:rPr lang="en-US" sz="3600" dirty="0" err="1" smtClean="0"/>
              <a:t>ng</a:t>
            </a:r>
            <a:r>
              <a:rPr lang="en-US" sz="3600" dirty="0" smtClean="0"/>
              <a:t> </a:t>
            </a:r>
            <a:r>
              <a:rPr lang="en-US" sz="3600" dirty="0" err="1" smtClean="0"/>
              <a:t>kultura</a:t>
            </a:r>
            <a:r>
              <a:rPr lang="en-US" sz="3600" dirty="0" smtClean="0"/>
              <a:t> at </a:t>
            </a:r>
            <a:r>
              <a:rPr lang="en-US" sz="3600" dirty="0" err="1" smtClean="0"/>
              <a:t>lahi</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ng</a:t>
            </a:r>
            <a:r>
              <a:rPr lang="en-US" sz="3600" dirty="0" smtClean="0"/>
              <a:t> </a:t>
            </a:r>
            <a:r>
              <a:rPr lang="en-US" sz="3600" dirty="0" err="1" smtClean="0"/>
              <a:t>iasimila</a:t>
            </a:r>
            <a:r>
              <a:rPr lang="en-US" sz="3600" dirty="0" smtClean="0"/>
              <a:t> ay ________.</a:t>
            </a:r>
            <a:endParaRPr lang="en-US" sz="3600" dirty="0"/>
          </a:p>
        </p:txBody>
      </p:sp>
      <p:sp>
        <p:nvSpPr>
          <p:cNvPr id="8" name="Rounded Rectangle 7"/>
          <p:cNvSpPr/>
          <p:nvPr/>
        </p:nvSpPr>
        <p:spPr>
          <a:xfrm>
            <a:off x="2800350" y="2872154"/>
            <a:ext cx="3429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papaunlarin</a:t>
            </a:r>
            <a:endParaRPr lang="en-US" sz="3200" dirty="0"/>
          </a:p>
        </p:txBody>
      </p:sp>
      <p:sp>
        <p:nvSpPr>
          <p:cNvPr id="9" name="Rounded Rectangle 8"/>
          <p:cNvSpPr/>
          <p:nvPr/>
        </p:nvSpPr>
        <p:spPr>
          <a:xfrm>
            <a:off x="2819400" y="3862754"/>
            <a:ext cx="342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papakinabangan</a:t>
            </a:r>
            <a:endParaRPr lang="en-US" sz="3200" dirty="0"/>
          </a:p>
        </p:txBody>
      </p:sp>
      <p:sp>
        <p:nvSpPr>
          <p:cNvPr id="10" name="Rounded Rectangle 9"/>
          <p:cNvSpPr/>
          <p:nvPr/>
        </p:nvSpPr>
        <p:spPr>
          <a:xfrm>
            <a:off x="2819400" y="4853354"/>
            <a:ext cx="342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pagyamanin</a:t>
            </a:r>
            <a:endParaRPr lang="en-US" sz="3200" dirty="0"/>
          </a:p>
        </p:txBody>
      </p:sp>
      <p:sp>
        <p:nvSpPr>
          <p:cNvPr id="11" name="Rounded Rectangle 10"/>
          <p:cNvSpPr/>
          <p:nvPr/>
        </p:nvSpPr>
        <p:spPr>
          <a:xfrm>
            <a:off x="2819400" y="5920154"/>
            <a:ext cx="3429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papayabungin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752600" y="6019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858962"/>
          </a:xfrm>
        </p:spPr>
        <p:txBody>
          <a:bodyPr>
            <a:normAutofit/>
          </a:bodyPr>
          <a:lstStyle/>
          <a:p>
            <a:pPr algn="just"/>
            <a:r>
              <a:rPr lang="en-US" sz="3600" dirty="0" err="1" smtClean="0"/>
              <a:t>Alin</a:t>
            </a:r>
            <a:r>
              <a:rPr lang="en-US" sz="3600" dirty="0" smtClean="0"/>
              <a:t> </a:t>
            </a:r>
            <a:r>
              <a:rPr lang="en-US" sz="3600" dirty="0" err="1" smtClean="0"/>
              <a:t>ang</a:t>
            </a:r>
            <a:r>
              <a:rPr lang="en-US" sz="3600" dirty="0" smtClean="0"/>
              <a:t> </a:t>
            </a:r>
            <a:r>
              <a:rPr lang="en-US" sz="3600" dirty="0" err="1" smtClean="0"/>
              <a:t>nagbibigay</a:t>
            </a:r>
            <a:r>
              <a:rPr lang="en-US" sz="3600" dirty="0" smtClean="0"/>
              <a:t> </a:t>
            </a:r>
            <a:r>
              <a:rPr lang="en-US" sz="3600" dirty="0" err="1" smtClean="0"/>
              <a:t>ng</a:t>
            </a:r>
            <a:r>
              <a:rPr lang="en-US" sz="3600" dirty="0" smtClean="0"/>
              <a:t> opinion </a:t>
            </a:r>
            <a:r>
              <a:rPr lang="en-US" sz="3600" dirty="0" err="1" smtClean="0"/>
              <a:t>tungkol</a:t>
            </a:r>
            <a:r>
              <a:rPr lang="en-US" sz="3600" dirty="0" smtClean="0"/>
              <a:t> </a:t>
            </a:r>
            <a:r>
              <a:rPr lang="en-US" sz="3600" dirty="0" err="1" smtClean="0"/>
              <a:t>sa</a:t>
            </a:r>
            <a:r>
              <a:rPr lang="en-US" sz="3600" dirty="0" smtClean="0"/>
              <a:t> </a:t>
            </a:r>
            <a:r>
              <a:rPr lang="en-US" sz="3600" dirty="0" err="1" smtClean="0"/>
              <a:t>isang</a:t>
            </a:r>
            <a:r>
              <a:rPr lang="en-US" sz="3600" dirty="0" smtClean="0"/>
              <a:t> </a:t>
            </a:r>
            <a:r>
              <a:rPr lang="en-US" sz="3600" dirty="0" err="1" smtClean="0"/>
              <a:t>napapanahong</a:t>
            </a:r>
            <a:r>
              <a:rPr lang="en-US" sz="3600" dirty="0" smtClean="0"/>
              <a:t> </a:t>
            </a:r>
            <a:r>
              <a:rPr lang="en-US" sz="3600" dirty="0" err="1" smtClean="0"/>
              <a:t>isyu</a:t>
            </a:r>
            <a:r>
              <a:rPr lang="en-US" sz="3600" dirty="0" smtClean="0"/>
              <a:t> </a:t>
            </a:r>
            <a:r>
              <a:rPr lang="en-US" sz="3600" dirty="0" err="1" smtClean="0"/>
              <a:t>sa</a:t>
            </a:r>
            <a:r>
              <a:rPr lang="en-US" sz="3600" dirty="0" smtClean="0"/>
              <a:t> </a:t>
            </a:r>
            <a:r>
              <a:rPr lang="en-US" sz="3600" dirty="0" err="1" smtClean="0"/>
              <a:t>pamamagitan</a:t>
            </a:r>
            <a:r>
              <a:rPr lang="en-US" sz="3600" dirty="0" smtClean="0"/>
              <a:t> </a:t>
            </a:r>
            <a:r>
              <a:rPr lang="en-US" sz="3600" dirty="0" err="1" smtClean="0"/>
              <a:t>ng</a:t>
            </a:r>
            <a:r>
              <a:rPr lang="en-US" sz="3600" dirty="0" smtClean="0"/>
              <a:t> </a:t>
            </a:r>
            <a:r>
              <a:rPr lang="en-US" sz="3600" dirty="0" err="1" smtClean="0"/>
              <a:t>larawan</a:t>
            </a:r>
            <a:r>
              <a:rPr lang="en-US" sz="3600" dirty="0" smtClean="0"/>
              <a:t>?</a:t>
            </a:r>
            <a:endParaRPr lang="en-US" sz="3600" dirty="0"/>
          </a:p>
        </p:txBody>
      </p:sp>
      <p:sp>
        <p:nvSpPr>
          <p:cNvPr id="8" name="Rounded Rectangle 7"/>
          <p:cNvSpPr/>
          <p:nvPr/>
        </p:nvSpPr>
        <p:spPr>
          <a:xfrm>
            <a:off x="2057400" y="2719754"/>
            <a:ext cx="5029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Kartong</a:t>
            </a:r>
            <a:r>
              <a:rPr lang="en-US" sz="3200" dirty="0" smtClean="0"/>
              <a:t> pang-</a:t>
            </a:r>
            <a:r>
              <a:rPr lang="en-US" sz="3200" dirty="0" err="1" smtClean="0"/>
              <a:t>editoryal</a:t>
            </a:r>
            <a:endParaRPr lang="en-US" sz="3200" dirty="0"/>
          </a:p>
        </p:txBody>
      </p:sp>
      <p:sp>
        <p:nvSpPr>
          <p:cNvPr id="9" name="Rounded Rectangle 8"/>
          <p:cNvSpPr/>
          <p:nvPr/>
        </p:nvSpPr>
        <p:spPr>
          <a:xfrm>
            <a:off x="2057400" y="3710354"/>
            <a:ext cx="5029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Ilustrasyong</a:t>
            </a:r>
            <a:r>
              <a:rPr lang="en-US" sz="3200" dirty="0" smtClean="0"/>
              <a:t> </a:t>
            </a:r>
            <a:r>
              <a:rPr lang="en-US" sz="3200" dirty="0" err="1" smtClean="0"/>
              <a:t>karikatyur</a:t>
            </a:r>
            <a:endParaRPr lang="en-US" sz="3200" dirty="0"/>
          </a:p>
        </p:txBody>
      </p:sp>
      <p:sp>
        <p:nvSpPr>
          <p:cNvPr id="10" name="Rounded Rectangle 9"/>
          <p:cNvSpPr/>
          <p:nvPr/>
        </p:nvSpPr>
        <p:spPr>
          <a:xfrm>
            <a:off x="2057400" y="4700954"/>
            <a:ext cx="5029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Larawan</a:t>
            </a:r>
            <a:r>
              <a:rPr lang="en-US" sz="3200" dirty="0" smtClean="0"/>
              <a:t> </a:t>
            </a:r>
            <a:r>
              <a:rPr lang="en-US" sz="3200" dirty="0" err="1" smtClean="0"/>
              <a:t>sa</a:t>
            </a:r>
            <a:r>
              <a:rPr lang="en-US" sz="3200" dirty="0" smtClean="0"/>
              <a:t> </a:t>
            </a:r>
            <a:r>
              <a:rPr lang="en-US" sz="3200" dirty="0" err="1" smtClean="0"/>
              <a:t>unang</a:t>
            </a:r>
            <a:r>
              <a:rPr lang="en-US" sz="3200" dirty="0" smtClean="0"/>
              <a:t> </a:t>
            </a:r>
            <a:r>
              <a:rPr lang="en-US" sz="3200" dirty="0" err="1" smtClean="0"/>
              <a:t>pahina</a:t>
            </a:r>
            <a:endParaRPr lang="en-US" sz="3200" dirty="0"/>
          </a:p>
        </p:txBody>
      </p:sp>
      <p:sp>
        <p:nvSpPr>
          <p:cNvPr id="11" name="Rounded Rectangle 10"/>
          <p:cNvSpPr/>
          <p:nvPr/>
        </p:nvSpPr>
        <p:spPr>
          <a:xfrm>
            <a:off x="2057400" y="5767754"/>
            <a:ext cx="5029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Larawan</a:t>
            </a:r>
            <a:r>
              <a:rPr lang="en-US" sz="3200" dirty="0" smtClean="0">
                <a:solidFill>
                  <a:sysClr val="windowText" lastClr="000000"/>
                </a:solidFill>
              </a:rPr>
              <a:t> </a:t>
            </a:r>
            <a:r>
              <a:rPr lang="en-US" sz="3200" dirty="0" err="1" smtClean="0">
                <a:solidFill>
                  <a:sysClr val="windowText" lastClr="000000"/>
                </a:solidFill>
              </a:rPr>
              <a:t>sa</a:t>
            </a:r>
            <a:r>
              <a:rPr lang="en-US" sz="3200" dirty="0" smtClean="0">
                <a:solidFill>
                  <a:sysClr val="windowText" lastClr="000000"/>
                </a:solidFill>
              </a:rPr>
              <a:t> </a:t>
            </a:r>
            <a:r>
              <a:rPr lang="en-US" sz="3200" dirty="0" err="1" smtClean="0">
                <a:solidFill>
                  <a:sysClr val="windowText" lastClr="000000"/>
                </a:solidFill>
              </a:rPr>
              <a:t>huling</a:t>
            </a:r>
            <a:r>
              <a:rPr lang="en-US" sz="3200" dirty="0" smtClean="0">
                <a:solidFill>
                  <a:sysClr val="windowText" lastClr="000000"/>
                </a:solidFill>
              </a:rPr>
              <a:t> </a:t>
            </a:r>
            <a:r>
              <a:rPr lang="en-US" sz="3200" dirty="0" err="1" smtClean="0">
                <a:solidFill>
                  <a:sysClr val="windowText" lastClr="000000"/>
                </a:solidFill>
              </a:rPr>
              <a:t>pahina</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066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a:bodyPr>
          <a:lstStyle/>
          <a:p>
            <a:pPr algn="just"/>
            <a:r>
              <a:rPr lang="en-US" sz="3600" dirty="0" err="1" smtClean="0"/>
              <a:t>Alin</a:t>
            </a:r>
            <a:r>
              <a:rPr lang="en-US" sz="3600" dirty="0" smtClean="0"/>
              <a:t> </a:t>
            </a:r>
            <a:r>
              <a:rPr lang="en-US" sz="3600" dirty="0" err="1" smtClean="0"/>
              <a:t>ang</a:t>
            </a:r>
            <a:r>
              <a:rPr lang="en-US" sz="3600" dirty="0" smtClean="0"/>
              <a:t> </a:t>
            </a:r>
            <a:r>
              <a:rPr lang="en-US" sz="3600" dirty="0" err="1" smtClean="0"/>
              <a:t>salawikain</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sumusunod</a:t>
            </a:r>
            <a:r>
              <a:rPr lang="en-US" sz="3600" dirty="0" smtClean="0"/>
              <a:t>:</a:t>
            </a:r>
            <a:endParaRPr lang="en-US" sz="3600" dirty="0"/>
          </a:p>
        </p:txBody>
      </p:sp>
      <p:sp>
        <p:nvSpPr>
          <p:cNvPr id="8" name="Rounded Rectangle 7"/>
          <p:cNvSpPr/>
          <p:nvPr/>
        </p:nvSpPr>
        <p:spPr>
          <a:xfrm>
            <a:off x="838200" y="2209800"/>
            <a:ext cx="7772400" cy="967154"/>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600" dirty="0" smtClean="0"/>
              <a:t>A. May </a:t>
            </a:r>
            <a:r>
              <a:rPr lang="en-US" sz="2600" dirty="0" err="1" smtClean="0"/>
              <a:t>puno</a:t>
            </a:r>
            <a:r>
              <a:rPr lang="en-US" sz="2600" dirty="0" smtClean="0"/>
              <a:t> </a:t>
            </a:r>
            <a:r>
              <a:rPr lang="en-US" sz="2600" dirty="0" err="1" smtClean="0"/>
              <a:t>walang</a:t>
            </a:r>
            <a:r>
              <a:rPr lang="en-US" sz="2600" dirty="0" smtClean="0"/>
              <a:t> </a:t>
            </a:r>
            <a:r>
              <a:rPr lang="en-US" sz="2600" dirty="0" err="1" smtClean="0"/>
              <a:t>bunga</a:t>
            </a:r>
            <a:r>
              <a:rPr lang="en-US" sz="2600" dirty="0" smtClean="0"/>
              <a:t>, may </a:t>
            </a:r>
            <a:r>
              <a:rPr lang="en-US" sz="2600" dirty="0" err="1" smtClean="0"/>
              <a:t>dahon</a:t>
            </a:r>
            <a:r>
              <a:rPr lang="en-US" sz="2600" dirty="0" smtClean="0"/>
              <a:t> </a:t>
            </a:r>
            <a:r>
              <a:rPr lang="en-US" sz="2600" dirty="0" err="1" smtClean="0"/>
              <a:t>walang</a:t>
            </a:r>
            <a:r>
              <a:rPr lang="en-US" sz="2600" dirty="0" smtClean="0"/>
              <a:t> </a:t>
            </a:r>
            <a:r>
              <a:rPr lang="en-US" sz="2600" dirty="0" err="1" smtClean="0"/>
              <a:t>sanga</a:t>
            </a:r>
            <a:r>
              <a:rPr lang="en-US" sz="2600" dirty="0" smtClean="0"/>
              <a:t>.</a:t>
            </a:r>
            <a:endParaRPr lang="en-US" sz="2600" dirty="0"/>
          </a:p>
        </p:txBody>
      </p:sp>
      <p:sp>
        <p:nvSpPr>
          <p:cNvPr id="9" name="Rounded Rectangle 8"/>
          <p:cNvSpPr/>
          <p:nvPr/>
        </p:nvSpPr>
        <p:spPr>
          <a:xfrm>
            <a:off x="838200" y="3481754"/>
            <a:ext cx="7772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Di </a:t>
            </a:r>
            <a:r>
              <a:rPr lang="en-US" sz="3200" dirty="0" err="1" smtClean="0"/>
              <a:t>maliparang</a:t>
            </a:r>
            <a:r>
              <a:rPr lang="en-US" sz="3200" dirty="0" smtClean="0"/>
              <a:t> </a:t>
            </a:r>
            <a:r>
              <a:rPr lang="en-US" sz="3200" dirty="0" err="1" smtClean="0"/>
              <a:t>uwak</a:t>
            </a:r>
            <a:r>
              <a:rPr lang="en-US" sz="3200" dirty="0" smtClean="0"/>
              <a:t>.</a:t>
            </a:r>
            <a:endParaRPr lang="en-US" sz="3200" dirty="0"/>
          </a:p>
        </p:txBody>
      </p:sp>
      <p:sp>
        <p:nvSpPr>
          <p:cNvPr id="10" name="Rounded Rectangle 9"/>
          <p:cNvSpPr/>
          <p:nvPr/>
        </p:nvSpPr>
        <p:spPr>
          <a:xfrm>
            <a:off x="838200" y="4472354"/>
            <a:ext cx="7772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Nagbubuhat</a:t>
            </a:r>
            <a:r>
              <a:rPr lang="en-US" sz="3200" dirty="0" smtClean="0"/>
              <a:t> </a:t>
            </a:r>
            <a:r>
              <a:rPr lang="en-US" sz="3200" dirty="0" err="1" smtClean="0"/>
              <a:t>ng</a:t>
            </a:r>
            <a:r>
              <a:rPr lang="en-US" sz="3200" dirty="0" smtClean="0"/>
              <a:t> </a:t>
            </a:r>
            <a:r>
              <a:rPr lang="en-US" sz="3200" dirty="0" err="1" smtClean="0"/>
              <a:t>sariling</a:t>
            </a:r>
            <a:r>
              <a:rPr lang="en-US" sz="3200" dirty="0" smtClean="0"/>
              <a:t> </a:t>
            </a:r>
            <a:r>
              <a:rPr lang="en-US" sz="3200" dirty="0" err="1" smtClean="0"/>
              <a:t>bangko</a:t>
            </a:r>
            <a:r>
              <a:rPr lang="en-US" sz="3200" dirty="0" smtClean="0"/>
              <a:t>.</a:t>
            </a:r>
            <a:endParaRPr lang="en-US" sz="3200" dirty="0"/>
          </a:p>
        </p:txBody>
      </p:sp>
      <p:sp>
        <p:nvSpPr>
          <p:cNvPr id="11" name="Rounded Rectangle 10"/>
          <p:cNvSpPr/>
          <p:nvPr/>
        </p:nvSpPr>
        <p:spPr>
          <a:xfrm>
            <a:off x="838200" y="5539154"/>
            <a:ext cx="77724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Nasa</a:t>
            </a:r>
            <a:r>
              <a:rPr lang="en-US" sz="3200" dirty="0" smtClean="0">
                <a:solidFill>
                  <a:sysClr val="windowText" lastClr="000000"/>
                </a:solidFill>
              </a:rPr>
              <a:t> </a:t>
            </a:r>
            <a:r>
              <a:rPr lang="en-US" sz="3200" dirty="0" err="1" smtClean="0">
                <a:solidFill>
                  <a:sysClr val="windowText" lastClr="000000"/>
                </a:solidFill>
              </a:rPr>
              <a:t>Diyos</a:t>
            </a:r>
            <a:r>
              <a:rPr lang="en-US" sz="3200" dirty="0" smtClean="0">
                <a:solidFill>
                  <a:sysClr val="windowText" lastClr="000000"/>
                </a:solidFill>
              </a:rPr>
              <a:t> </a:t>
            </a:r>
            <a:r>
              <a:rPr lang="en-US" sz="3200" dirty="0" err="1" smtClean="0">
                <a:solidFill>
                  <a:sysClr val="windowText" lastClr="000000"/>
                </a:solidFill>
              </a:rPr>
              <a:t>ang</a:t>
            </a:r>
            <a:r>
              <a:rPr lang="en-US" sz="3200" dirty="0" smtClean="0">
                <a:solidFill>
                  <a:sysClr val="windowText" lastClr="000000"/>
                </a:solidFill>
              </a:rPr>
              <a:t> </a:t>
            </a:r>
            <a:r>
              <a:rPr lang="en-US" sz="3200" dirty="0" err="1" smtClean="0">
                <a:solidFill>
                  <a:sysClr val="windowText" lastClr="000000"/>
                </a:solidFill>
              </a:rPr>
              <a:t>awa</a:t>
            </a:r>
            <a:r>
              <a:rPr lang="en-US" sz="3200" dirty="0" smtClean="0">
                <a:solidFill>
                  <a:sysClr val="windowText" lastClr="000000"/>
                </a:solidFill>
              </a:rPr>
              <a:t>, </a:t>
            </a:r>
            <a:r>
              <a:rPr lang="en-US" sz="3200" dirty="0" err="1" smtClean="0">
                <a:solidFill>
                  <a:sysClr val="windowText" lastClr="000000"/>
                </a:solidFill>
              </a:rPr>
              <a:t>nasa</a:t>
            </a:r>
            <a:r>
              <a:rPr lang="en-US" sz="3200" dirty="0" smtClean="0">
                <a:solidFill>
                  <a:sysClr val="windowText" lastClr="000000"/>
                </a:solidFill>
              </a:rPr>
              <a:t> </a:t>
            </a:r>
            <a:r>
              <a:rPr lang="en-US" sz="3200" dirty="0" err="1" smtClean="0">
                <a:solidFill>
                  <a:sysClr val="windowText" lastClr="000000"/>
                </a:solidFill>
              </a:rPr>
              <a:t>tao</a:t>
            </a:r>
            <a:r>
              <a:rPr lang="en-US" sz="3200" dirty="0" smtClean="0">
                <a:solidFill>
                  <a:sysClr val="windowText" lastClr="000000"/>
                </a:solidFill>
              </a:rPr>
              <a:t> </a:t>
            </a:r>
            <a:r>
              <a:rPr lang="en-US" sz="3200" dirty="0" err="1" smtClean="0">
                <a:solidFill>
                  <a:sysClr val="windowText" lastClr="000000"/>
                </a:solidFill>
              </a:rPr>
              <a:t>ang</a:t>
            </a:r>
            <a:r>
              <a:rPr lang="en-US" sz="3200" dirty="0" smtClean="0">
                <a:solidFill>
                  <a:sysClr val="windowText" lastClr="000000"/>
                </a:solidFill>
              </a:rPr>
              <a:t> </a:t>
            </a:r>
            <a:r>
              <a:rPr lang="en-US" sz="3200" dirty="0" err="1" smtClean="0">
                <a:solidFill>
                  <a:sysClr val="windowText" lastClr="000000"/>
                </a:solidFill>
              </a:rPr>
              <a:t>gawa</a:t>
            </a:r>
            <a:r>
              <a:rPr lang="en-US" sz="3200" dirty="0" smtClean="0">
                <a:solidFill>
                  <a:sysClr val="windowText" lastClr="000000"/>
                </a:solidFill>
              </a:rPr>
              <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8600" y="5638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a:bodyPr>
          <a:lstStyle/>
          <a:p>
            <a:pPr algn="just"/>
            <a:r>
              <a:rPr lang="en-US" sz="3600" dirty="0" smtClean="0"/>
              <a:t>“</a:t>
            </a:r>
            <a:r>
              <a:rPr lang="en-US" sz="3600" dirty="0" err="1" smtClean="0"/>
              <a:t>Matagal</a:t>
            </a:r>
            <a:r>
              <a:rPr lang="en-US" sz="3600" dirty="0" smtClean="0"/>
              <a:t> </a:t>
            </a:r>
            <a:r>
              <a:rPr lang="en-US" sz="3600" dirty="0" err="1" smtClean="0"/>
              <a:t>nang</a:t>
            </a:r>
            <a:r>
              <a:rPr lang="en-US" sz="3600" dirty="0" smtClean="0"/>
              <a:t> </a:t>
            </a:r>
            <a:r>
              <a:rPr lang="en-US" sz="3600" dirty="0" err="1" smtClean="0"/>
              <a:t>lumagay</a:t>
            </a:r>
            <a:r>
              <a:rPr lang="en-US" sz="3600" dirty="0" smtClean="0"/>
              <a:t> </a:t>
            </a:r>
            <a:r>
              <a:rPr lang="en-US" sz="3600" dirty="0" err="1" smtClean="0"/>
              <a:t>sa</a:t>
            </a:r>
            <a:r>
              <a:rPr lang="en-US" sz="3600" dirty="0" smtClean="0"/>
              <a:t> </a:t>
            </a:r>
            <a:r>
              <a:rPr lang="en-US" sz="3600" dirty="0" err="1" smtClean="0"/>
              <a:t>tahimik</a:t>
            </a:r>
            <a:r>
              <a:rPr lang="en-US" sz="3600" dirty="0" smtClean="0"/>
              <a:t> </a:t>
            </a:r>
            <a:r>
              <a:rPr lang="en-US" sz="3600" dirty="0" err="1" smtClean="0"/>
              <a:t>si</a:t>
            </a:r>
            <a:r>
              <a:rPr lang="en-US" sz="3600" dirty="0" smtClean="0"/>
              <a:t> </a:t>
            </a:r>
            <a:r>
              <a:rPr lang="en-US" sz="3600" dirty="0" err="1" smtClean="0"/>
              <a:t>Mely</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ay:</a:t>
            </a:r>
            <a:endParaRPr lang="en-US" sz="3600" dirty="0"/>
          </a:p>
        </p:txBody>
      </p:sp>
      <p:sp>
        <p:nvSpPr>
          <p:cNvPr id="8" name="Rounded Rectangle 7"/>
          <p:cNvSpPr/>
          <p:nvPr/>
        </p:nvSpPr>
        <p:spPr>
          <a:xfrm>
            <a:off x="2895600" y="2719754"/>
            <a:ext cx="33528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Nanahimik</a:t>
            </a:r>
            <a:r>
              <a:rPr lang="en-US" sz="3200" dirty="0" smtClean="0"/>
              <a:t> </a:t>
            </a:r>
            <a:r>
              <a:rPr lang="en-US" sz="3200" dirty="0" err="1" smtClean="0"/>
              <a:t>na</a:t>
            </a:r>
            <a:r>
              <a:rPr lang="en-US" sz="3200" dirty="0" smtClean="0"/>
              <a:t>.</a:t>
            </a:r>
            <a:endParaRPr lang="en-US" sz="3200" dirty="0"/>
          </a:p>
        </p:txBody>
      </p:sp>
      <p:sp>
        <p:nvSpPr>
          <p:cNvPr id="9" name="Rounded Rectangle 8"/>
          <p:cNvSpPr/>
          <p:nvPr/>
        </p:nvSpPr>
        <p:spPr>
          <a:xfrm>
            <a:off x="2895600" y="3710354"/>
            <a:ext cx="3352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Nag-</a:t>
            </a:r>
            <a:r>
              <a:rPr lang="en-US" sz="3200" dirty="0" err="1" smtClean="0"/>
              <a:t>asawa</a:t>
            </a:r>
            <a:r>
              <a:rPr lang="en-US" sz="3200" dirty="0" smtClean="0"/>
              <a:t> </a:t>
            </a:r>
            <a:r>
              <a:rPr lang="en-US" sz="3200" dirty="0" err="1" smtClean="0"/>
              <a:t>na</a:t>
            </a:r>
            <a:r>
              <a:rPr lang="en-US" sz="3200" dirty="0" smtClean="0"/>
              <a:t>.</a:t>
            </a:r>
            <a:endParaRPr lang="en-US" sz="3200" dirty="0"/>
          </a:p>
        </p:txBody>
      </p:sp>
      <p:sp>
        <p:nvSpPr>
          <p:cNvPr id="10" name="Rounded Rectangle 9"/>
          <p:cNvSpPr/>
          <p:nvPr/>
        </p:nvSpPr>
        <p:spPr>
          <a:xfrm>
            <a:off x="2895600" y="4700954"/>
            <a:ext cx="3352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Lumisan</a:t>
            </a:r>
            <a:r>
              <a:rPr lang="en-US" sz="3200" dirty="0" smtClean="0"/>
              <a:t> </a:t>
            </a:r>
            <a:r>
              <a:rPr lang="en-US" sz="3200" dirty="0" err="1" smtClean="0"/>
              <a:t>na</a:t>
            </a:r>
            <a:r>
              <a:rPr lang="en-US" sz="3200" dirty="0" smtClean="0"/>
              <a:t>.</a:t>
            </a:r>
            <a:endParaRPr lang="en-US" sz="3200" dirty="0"/>
          </a:p>
        </p:txBody>
      </p:sp>
      <p:sp>
        <p:nvSpPr>
          <p:cNvPr id="11" name="Rounded Rectangle 10"/>
          <p:cNvSpPr/>
          <p:nvPr/>
        </p:nvSpPr>
        <p:spPr>
          <a:xfrm>
            <a:off x="2895600" y="5767754"/>
            <a:ext cx="33528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Namatay</a:t>
            </a:r>
            <a:r>
              <a:rPr lang="en-US" sz="3200" dirty="0" smtClean="0">
                <a:solidFill>
                  <a:sysClr val="windowText" lastClr="000000"/>
                </a:solidFill>
              </a:rPr>
              <a:t> </a:t>
            </a:r>
            <a:r>
              <a:rPr lang="en-US" sz="3200" dirty="0" err="1" smtClean="0">
                <a:solidFill>
                  <a:sysClr val="windowText" lastClr="000000"/>
                </a:solidFill>
              </a:rPr>
              <a:t>na</a:t>
            </a:r>
            <a:r>
              <a:rPr lang="en-US" sz="3200" dirty="0" smtClean="0">
                <a:solidFill>
                  <a:sysClr val="windowText" lastClr="000000"/>
                </a:solidFill>
              </a:rPr>
              <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905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2011362"/>
          </a:xfrm>
        </p:spPr>
        <p:txBody>
          <a:bodyPr>
            <a:normAutofit/>
          </a:bodyPr>
          <a:lstStyle/>
          <a:p>
            <a:pPr algn="just"/>
            <a:r>
              <a:rPr lang="en-US" sz="3600" dirty="0" smtClean="0"/>
              <a:t>Sa </a:t>
            </a:r>
            <a:r>
              <a:rPr lang="en-US" sz="3600" dirty="0" err="1" smtClean="0"/>
              <a:t>taas</a:t>
            </a:r>
            <a:r>
              <a:rPr lang="en-US" sz="3600" dirty="0" smtClean="0"/>
              <a:t> </a:t>
            </a:r>
            <a:r>
              <a:rPr lang="en-US" sz="3600" dirty="0" err="1" smtClean="0"/>
              <a:t>ng</a:t>
            </a:r>
            <a:r>
              <a:rPr lang="en-US" sz="3600" dirty="0" smtClean="0"/>
              <a:t> </a:t>
            </a:r>
            <a:r>
              <a:rPr lang="en-US" sz="3600" dirty="0" err="1" smtClean="0"/>
              <a:t>mga</a:t>
            </a:r>
            <a:r>
              <a:rPr lang="en-US" sz="3600" dirty="0" smtClean="0"/>
              <a:t> </a:t>
            </a:r>
            <a:r>
              <a:rPr lang="en-US" sz="3600" dirty="0" err="1" smtClean="0"/>
              <a:t>bilihin</a:t>
            </a:r>
            <a:r>
              <a:rPr lang="en-US" sz="3600" dirty="0" smtClean="0"/>
              <a:t> </a:t>
            </a:r>
            <a:r>
              <a:rPr lang="en-US" sz="3600" dirty="0" err="1" smtClean="0"/>
              <a:t>ngayon</a:t>
            </a:r>
            <a:r>
              <a:rPr lang="en-US" sz="3600" dirty="0" smtClean="0"/>
              <a:t>, </a:t>
            </a:r>
            <a:r>
              <a:rPr lang="en-US" sz="3600" dirty="0" err="1" smtClean="0"/>
              <a:t>kahit</a:t>
            </a:r>
            <a:r>
              <a:rPr lang="en-US" sz="3600" dirty="0" smtClean="0"/>
              <a:t> “</a:t>
            </a:r>
            <a:r>
              <a:rPr lang="en-US" sz="3600" dirty="0" err="1" smtClean="0"/>
              <a:t>kahig</a:t>
            </a:r>
            <a:r>
              <a:rPr lang="en-US" sz="3600" dirty="0" smtClean="0"/>
              <a:t> ka </a:t>
            </a:r>
            <a:r>
              <a:rPr lang="en-US" sz="3600" dirty="0" err="1" smtClean="0"/>
              <a:t>ng</a:t>
            </a:r>
            <a:r>
              <a:rPr lang="en-US" sz="3600" dirty="0" smtClean="0"/>
              <a:t> </a:t>
            </a:r>
            <a:r>
              <a:rPr lang="en-US" sz="3600" dirty="0" err="1" smtClean="0"/>
              <a:t>kahig</a:t>
            </a:r>
            <a:r>
              <a:rPr lang="en-US" sz="3600" dirty="0" smtClean="0"/>
              <a:t>” ay </a:t>
            </a:r>
            <a:r>
              <a:rPr lang="en-US" sz="3600" dirty="0" err="1" smtClean="0"/>
              <a:t>wala</a:t>
            </a:r>
            <a:r>
              <a:rPr lang="en-US" sz="3600" dirty="0" smtClean="0"/>
              <a:t> pa ring </a:t>
            </a:r>
            <a:r>
              <a:rPr lang="en-US" sz="3600" dirty="0" err="1" smtClean="0"/>
              <a:t>maipon</a:t>
            </a:r>
            <a:r>
              <a:rPr lang="en-US" sz="3600" dirty="0" smtClean="0"/>
              <a:t>. </a:t>
            </a:r>
            <a:r>
              <a:rPr lang="en-US" sz="3600" dirty="0" err="1" smtClean="0"/>
              <a:t>Ano</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nito</a:t>
            </a:r>
            <a:r>
              <a:rPr lang="en-US" sz="3600" dirty="0" smtClean="0"/>
              <a:t>?</a:t>
            </a:r>
            <a:endParaRPr lang="en-US" sz="3600" dirty="0"/>
          </a:p>
        </p:txBody>
      </p:sp>
      <p:sp>
        <p:nvSpPr>
          <p:cNvPr id="8" name="Rounded Rectangle 7"/>
          <p:cNvSpPr/>
          <p:nvPr/>
        </p:nvSpPr>
        <p:spPr>
          <a:xfrm>
            <a:off x="2743200" y="2719754"/>
            <a:ext cx="3657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Hindi </a:t>
            </a:r>
            <a:r>
              <a:rPr lang="en-US" sz="3200" dirty="0" err="1" smtClean="0"/>
              <a:t>bumili</a:t>
            </a:r>
            <a:endParaRPr lang="en-US" sz="3200" dirty="0"/>
          </a:p>
        </p:txBody>
      </p:sp>
      <p:sp>
        <p:nvSpPr>
          <p:cNvPr id="9" name="Rounded Rectangle 8"/>
          <p:cNvSpPr/>
          <p:nvPr/>
        </p:nvSpPr>
        <p:spPr>
          <a:xfrm>
            <a:off x="2743200" y="3710354"/>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Hanap</a:t>
            </a:r>
            <a:r>
              <a:rPr lang="en-US" sz="3200" dirty="0" smtClean="0"/>
              <a:t> </a:t>
            </a:r>
            <a:r>
              <a:rPr lang="en-US" sz="3200" dirty="0" err="1" smtClean="0"/>
              <a:t>ng</a:t>
            </a:r>
            <a:r>
              <a:rPr lang="en-US" sz="3200" dirty="0" smtClean="0"/>
              <a:t> </a:t>
            </a:r>
            <a:r>
              <a:rPr lang="en-US" sz="3200" dirty="0" err="1" smtClean="0"/>
              <a:t>hanap</a:t>
            </a:r>
            <a:endParaRPr lang="en-US" sz="3200" dirty="0"/>
          </a:p>
        </p:txBody>
      </p:sp>
      <p:sp>
        <p:nvSpPr>
          <p:cNvPr id="10" name="Rounded Rectangle 9"/>
          <p:cNvSpPr/>
          <p:nvPr/>
        </p:nvSpPr>
        <p:spPr>
          <a:xfrm>
            <a:off x="2743200" y="4700954"/>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Bawasan</a:t>
            </a:r>
            <a:r>
              <a:rPr lang="en-US" sz="3200" dirty="0" smtClean="0"/>
              <a:t> </a:t>
            </a:r>
            <a:r>
              <a:rPr lang="en-US" sz="3200" dirty="0" err="1" smtClean="0"/>
              <a:t>ang</a:t>
            </a:r>
            <a:r>
              <a:rPr lang="en-US" sz="3200" dirty="0" smtClean="0"/>
              <a:t> </a:t>
            </a:r>
            <a:r>
              <a:rPr lang="en-US" sz="3200" dirty="0" err="1" smtClean="0"/>
              <a:t>bili</a:t>
            </a:r>
            <a:endParaRPr lang="en-US" sz="3200" dirty="0"/>
          </a:p>
        </p:txBody>
      </p:sp>
      <p:sp>
        <p:nvSpPr>
          <p:cNvPr id="11" name="Rounded Rectangle 10"/>
          <p:cNvSpPr/>
          <p:nvPr/>
        </p:nvSpPr>
        <p:spPr>
          <a:xfrm>
            <a:off x="2743200" y="5767754"/>
            <a:ext cx="3657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Gastos</a:t>
            </a:r>
            <a:r>
              <a:rPr lang="en-US" sz="3200" dirty="0">
                <a:solidFill>
                  <a:sysClr val="windowText" lastClr="000000"/>
                </a:solidFill>
              </a:rPr>
              <a:t> </a:t>
            </a:r>
            <a:r>
              <a:rPr lang="en-US" sz="3200" dirty="0" err="1" smtClean="0">
                <a:solidFill>
                  <a:sysClr val="windowText" lastClr="000000"/>
                </a:solidFill>
              </a:rPr>
              <a:t>ng</a:t>
            </a:r>
            <a:r>
              <a:rPr lang="en-US" sz="3200" dirty="0" smtClean="0">
                <a:solidFill>
                  <a:sysClr val="windowText" lastClr="000000"/>
                </a:solidFill>
              </a:rPr>
              <a:t> </a:t>
            </a:r>
            <a:r>
              <a:rPr lang="en-US" sz="3200" dirty="0" err="1" smtClean="0">
                <a:solidFill>
                  <a:sysClr val="windowText" lastClr="000000"/>
                </a:solidFill>
              </a:rPr>
              <a:t>gastos</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752600" y="3810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fontScale="90000"/>
          </a:bodyPr>
          <a:lstStyle/>
          <a:p>
            <a:pPr algn="just"/>
            <a:r>
              <a:rPr lang="en-US" sz="3600" dirty="0" err="1" smtClean="0"/>
              <a:t>Anong</a:t>
            </a:r>
            <a:r>
              <a:rPr lang="en-US" sz="3600" dirty="0" smtClean="0"/>
              <a:t> </a:t>
            </a:r>
            <a:r>
              <a:rPr lang="en-US" sz="3600" dirty="0" err="1" smtClean="0"/>
              <a:t>bahagi</a:t>
            </a:r>
            <a:r>
              <a:rPr lang="en-US" sz="3600" dirty="0" smtClean="0"/>
              <a:t> </a:t>
            </a:r>
            <a:r>
              <a:rPr lang="en-US" sz="3600" dirty="0" err="1" smtClean="0"/>
              <a:t>ng</a:t>
            </a:r>
            <a:r>
              <a:rPr lang="en-US" sz="3600" dirty="0" smtClean="0"/>
              <a:t> </a:t>
            </a:r>
            <a:r>
              <a:rPr lang="en-US" sz="3600" dirty="0" err="1" smtClean="0"/>
              <a:t>pananalita</a:t>
            </a:r>
            <a:r>
              <a:rPr lang="en-US" sz="3600" dirty="0" smtClean="0"/>
              <a:t> </a:t>
            </a:r>
            <a:r>
              <a:rPr lang="en-US" sz="3600" dirty="0" err="1" smtClean="0"/>
              <a:t>ang</a:t>
            </a:r>
            <a:r>
              <a:rPr lang="en-US" sz="3600" dirty="0" smtClean="0"/>
              <a:t> </a:t>
            </a:r>
            <a:r>
              <a:rPr lang="en-US" sz="3600" dirty="0" err="1" smtClean="0"/>
              <a:t>nasa</a:t>
            </a:r>
            <a:r>
              <a:rPr lang="en-US" sz="3600" dirty="0" smtClean="0"/>
              <a:t> </a:t>
            </a:r>
            <a:r>
              <a:rPr lang="en-US" sz="3600" dirty="0" err="1" smtClean="0"/>
              <a:t>malaking</a:t>
            </a:r>
            <a:r>
              <a:rPr lang="en-US" sz="3600" dirty="0" smtClean="0"/>
              <a:t> </a:t>
            </a:r>
            <a:r>
              <a:rPr lang="en-US" sz="3600" dirty="0" err="1" smtClean="0"/>
              <a:t>titik</a:t>
            </a:r>
            <a:r>
              <a:rPr lang="en-US" sz="3600" dirty="0" smtClean="0"/>
              <a:t>?</a:t>
            </a:r>
            <a:br>
              <a:rPr lang="en-US" sz="3600" dirty="0" smtClean="0"/>
            </a:br>
            <a:r>
              <a:rPr lang="en-US" sz="3600" dirty="0" err="1" smtClean="0"/>
              <a:t>Malungkot</a:t>
            </a:r>
            <a:r>
              <a:rPr lang="en-US" sz="3600" dirty="0" smtClean="0"/>
              <a:t> ANG MGA </a:t>
            </a:r>
            <a:r>
              <a:rPr lang="en-US" sz="3600" dirty="0" err="1" smtClean="0"/>
              <a:t>nagtapos</a:t>
            </a:r>
            <a:r>
              <a:rPr lang="en-US" sz="3600" dirty="0" smtClean="0"/>
              <a:t> </a:t>
            </a:r>
            <a:r>
              <a:rPr lang="en-US" sz="3600" dirty="0" err="1" smtClean="0"/>
              <a:t>na</a:t>
            </a:r>
            <a:r>
              <a:rPr lang="en-US" sz="3600" dirty="0" smtClean="0"/>
              <a:t> </a:t>
            </a:r>
            <a:r>
              <a:rPr lang="en-US" sz="3600" dirty="0" err="1" smtClean="0"/>
              <a:t>wala</a:t>
            </a:r>
            <a:r>
              <a:rPr lang="en-US" sz="3600" dirty="0" smtClean="0"/>
              <a:t> pang </a:t>
            </a:r>
            <a:r>
              <a:rPr lang="en-US" sz="3600" dirty="0" err="1" smtClean="0"/>
              <a:t>trabaho</a:t>
            </a:r>
            <a:r>
              <a:rPr lang="en-US" sz="3600" dirty="0" smtClean="0"/>
              <a:t>.</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Pananda</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Parirala</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Pang-</a:t>
            </a:r>
            <a:r>
              <a:rPr lang="en-US" sz="3200" dirty="0" err="1" smtClean="0"/>
              <a:t>ukol</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Pangatnig</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860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smtClean="0"/>
              <a:t>“Kung </a:t>
            </a:r>
            <a:r>
              <a:rPr lang="en-US" sz="3600" dirty="0" err="1" smtClean="0"/>
              <a:t>anong</a:t>
            </a:r>
            <a:r>
              <a:rPr lang="en-US" sz="3600" dirty="0" smtClean="0"/>
              <a:t> </a:t>
            </a:r>
            <a:r>
              <a:rPr lang="en-US" sz="3600" dirty="0" err="1" smtClean="0"/>
              <a:t>bukambibig</a:t>
            </a:r>
            <a:r>
              <a:rPr lang="en-US" sz="3600" dirty="0" smtClean="0"/>
              <a:t> </a:t>
            </a:r>
            <a:r>
              <a:rPr lang="en-US" sz="3600" dirty="0" err="1" smtClean="0"/>
              <a:t>siyang</a:t>
            </a:r>
            <a:r>
              <a:rPr lang="en-US" sz="3600" dirty="0" smtClean="0"/>
              <a:t> </a:t>
            </a:r>
            <a:r>
              <a:rPr lang="en-US" sz="3600" dirty="0" err="1" smtClean="0"/>
              <a:t>laman</a:t>
            </a:r>
            <a:r>
              <a:rPr lang="en-US" sz="3600" dirty="0" smtClean="0"/>
              <a:t> </a:t>
            </a:r>
            <a:r>
              <a:rPr lang="en-US" sz="3600" dirty="0" err="1" smtClean="0"/>
              <a:t>ng</a:t>
            </a:r>
            <a:r>
              <a:rPr lang="en-US" sz="3600" dirty="0" smtClean="0"/>
              <a:t> </a:t>
            </a:r>
            <a:r>
              <a:rPr lang="en-US" sz="3600" dirty="0" err="1" smtClean="0"/>
              <a:t>dibdib</a:t>
            </a:r>
            <a:r>
              <a:rPr lang="en-US" sz="3600" dirty="0" smtClean="0"/>
              <a:t>.” Ito ay </a:t>
            </a:r>
            <a:r>
              <a:rPr lang="en-US" sz="3600" dirty="0" err="1" smtClean="0"/>
              <a:t>isang</a:t>
            </a:r>
            <a:r>
              <a:rPr lang="en-US" sz="3600" dirty="0" smtClean="0"/>
              <a:t> </a:t>
            </a:r>
            <a:r>
              <a:rPr lang="en-US" sz="3600" dirty="0" err="1" smtClean="0"/>
              <a:t>uri</a:t>
            </a:r>
            <a:r>
              <a:rPr lang="en-US" sz="3600" dirty="0" smtClean="0"/>
              <a:t> </a:t>
            </a:r>
            <a:r>
              <a:rPr lang="en-US" sz="3600" dirty="0" err="1" smtClean="0"/>
              <a:t>ng</a:t>
            </a:r>
            <a:r>
              <a:rPr lang="en-US" sz="3600" dirty="0" smtClean="0"/>
              <a:t> _________.</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tula</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tugmaan</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bugtong</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salawikain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14546" y="39147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Ano</a:t>
            </a:r>
            <a:r>
              <a:rPr lang="en-US" sz="3600" dirty="0" smtClean="0"/>
              <a:t> </a:t>
            </a:r>
            <a:r>
              <a:rPr lang="en-US" sz="3600" dirty="0" err="1" smtClean="0"/>
              <a:t>ang</a:t>
            </a:r>
            <a:r>
              <a:rPr lang="en-US" sz="3600" dirty="0" smtClean="0"/>
              <a:t> </a:t>
            </a:r>
            <a:r>
              <a:rPr lang="en-US" sz="3600" dirty="0" err="1" smtClean="0"/>
              <a:t>kahulugan</a:t>
            </a:r>
            <a:r>
              <a:rPr lang="en-US" sz="3600" dirty="0" smtClean="0"/>
              <a:t> </a:t>
            </a:r>
            <a:r>
              <a:rPr lang="en-US" sz="3600" dirty="0" err="1" smtClean="0"/>
              <a:t>ng</a:t>
            </a:r>
            <a:r>
              <a:rPr lang="en-US" sz="3600" dirty="0" smtClean="0"/>
              <a:t> </a:t>
            </a:r>
            <a:r>
              <a:rPr lang="en-US" sz="3600" dirty="0" err="1" smtClean="0"/>
              <a:t>tagbising</a:t>
            </a:r>
            <a:r>
              <a:rPr lang="en-US" sz="3600" dirty="0" smtClean="0"/>
              <a:t> </a:t>
            </a:r>
            <a:r>
              <a:rPr lang="en-US" sz="3600" dirty="0" err="1" smtClean="0"/>
              <a:t>panahon</a:t>
            </a:r>
            <a:r>
              <a:rPr lang="en-US" sz="3600" dirty="0" smtClean="0"/>
              <a:t>?</a:t>
            </a:r>
            <a:endParaRPr lang="en-US" sz="3600" dirty="0"/>
          </a:p>
        </p:txBody>
      </p:sp>
      <p:sp>
        <p:nvSpPr>
          <p:cNvPr id="8" name="Rounded Rectangle 7"/>
          <p:cNvSpPr/>
          <p:nvPr/>
        </p:nvSpPr>
        <p:spPr>
          <a:xfrm>
            <a:off x="3200400" y="2743200"/>
            <a:ext cx="2743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tag-</a:t>
            </a:r>
            <a:r>
              <a:rPr lang="en-US" sz="3200" dirty="0" err="1" smtClean="0"/>
              <a:t>ulan</a:t>
            </a:r>
            <a:endParaRPr lang="en-US" sz="3200" dirty="0"/>
          </a:p>
        </p:txBody>
      </p:sp>
      <p:sp>
        <p:nvSpPr>
          <p:cNvPr id="9" name="Rounded Rectangle 8"/>
          <p:cNvSpPr/>
          <p:nvPr/>
        </p:nvSpPr>
        <p:spPr>
          <a:xfrm>
            <a:off x="3200400" y="3710354"/>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tag-init</a:t>
            </a:r>
            <a:endParaRPr lang="en-US" sz="3200" dirty="0"/>
          </a:p>
        </p:txBody>
      </p:sp>
      <p:sp>
        <p:nvSpPr>
          <p:cNvPr id="10" name="Rounded Rectangle 9"/>
          <p:cNvSpPr/>
          <p:nvPr/>
        </p:nvSpPr>
        <p:spPr>
          <a:xfrm>
            <a:off x="3200400" y="4700954"/>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tag-</a:t>
            </a:r>
            <a:r>
              <a:rPr lang="en-US" sz="3200" dirty="0" err="1" smtClean="0"/>
              <a:t>lamig</a:t>
            </a:r>
            <a:endParaRPr lang="en-US" sz="3200" dirty="0"/>
          </a:p>
        </p:txBody>
      </p:sp>
      <p:sp>
        <p:nvSpPr>
          <p:cNvPr id="11" name="Rounded Rectangle 10"/>
          <p:cNvSpPr/>
          <p:nvPr/>
        </p:nvSpPr>
        <p:spPr>
          <a:xfrm>
            <a:off x="3200400" y="5767754"/>
            <a:ext cx="2743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tag-</a:t>
            </a:r>
            <a:r>
              <a:rPr lang="en-US" sz="3200" dirty="0" err="1" smtClean="0">
                <a:solidFill>
                  <a:sysClr val="windowText" lastClr="000000"/>
                </a:solidFill>
              </a:rPr>
              <a:t>tuyot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14546" y="60483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Ang</a:t>
            </a:r>
            <a:r>
              <a:rPr lang="en-US" sz="3600" dirty="0" smtClean="0"/>
              <a:t> </a:t>
            </a:r>
            <a:r>
              <a:rPr lang="en-US" sz="3600" dirty="0" err="1" smtClean="0"/>
              <a:t>salitang</a:t>
            </a:r>
            <a:r>
              <a:rPr lang="en-US" sz="3600" dirty="0" smtClean="0"/>
              <a:t> apartment ay </a:t>
            </a:r>
            <a:r>
              <a:rPr lang="en-US" sz="3600" dirty="0" err="1" smtClean="0"/>
              <a:t>binubuo</a:t>
            </a:r>
            <a:r>
              <a:rPr lang="en-US" sz="3600" dirty="0" smtClean="0"/>
              <a:t> </a:t>
            </a:r>
            <a:r>
              <a:rPr lang="en-US" sz="3600" dirty="0" err="1" smtClean="0"/>
              <a:t>ng</a:t>
            </a:r>
            <a:r>
              <a:rPr lang="en-US" sz="3600" dirty="0" smtClean="0"/>
              <a:t> </a:t>
            </a:r>
            <a:r>
              <a:rPr lang="en-US" sz="3600" dirty="0" err="1" smtClean="0"/>
              <a:t>dalawang</a:t>
            </a:r>
            <a:r>
              <a:rPr lang="en-US" sz="3600" dirty="0" smtClean="0"/>
              <a:t> </a:t>
            </a:r>
            <a:r>
              <a:rPr lang="en-US" sz="3600" dirty="0" err="1" smtClean="0"/>
              <a:t>klaster</a:t>
            </a:r>
            <a:r>
              <a:rPr lang="en-US" sz="3600" dirty="0" smtClean="0"/>
              <a:t>. </a:t>
            </a:r>
            <a:r>
              <a:rPr lang="en-US" sz="3600" dirty="0" err="1" smtClean="0"/>
              <a:t>Tukuyin</a:t>
            </a:r>
            <a:r>
              <a:rPr lang="en-US" sz="3600" dirty="0" smtClean="0"/>
              <a:t> </a:t>
            </a:r>
            <a:r>
              <a:rPr lang="en-US" sz="3600" dirty="0" err="1" smtClean="0"/>
              <a:t>ito</a:t>
            </a:r>
            <a:r>
              <a:rPr lang="en-US" sz="3600" dirty="0" smtClean="0"/>
              <a:t>.</a:t>
            </a:r>
            <a:endParaRPr lang="en-US" sz="3600" dirty="0"/>
          </a:p>
        </p:txBody>
      </p:sp>
      <p:sp>
        <p:nvSpPr>
          <p:cNvPr id="8" name="Rounded Rectangle 7"/>
          <p:cNvSpPr/>
          <p:nvPr/>
        </p:nvSpPr>
        <p:spPr>
          <a:xfrm>
            <a:off x="3200400" y="2743200"/>
            <a:ext cx="228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r</a:t>
            </a:r>
            <a:r>
              <a:rPr lang="en-US" sz="3200" dirty="0" err="1" smtClean="0"/>
              <a:t>t</a:t>
            </a:r>
            <a:r>
              <a:rPr lang="en-US" sz="3200" dirty="0" smtClean="0"/>
              <a:t> at tm</a:t>
            </a:r>
            <a:endParaRPr lang="en-US" sz="3200" dirty="0"/>
          </a:p>
        </p:txBody>
      </p:sp>
      <p:sp>
        <p:nvSpPr>
          <p:cNvPr id="9" name="Rounded Rectangle 8"/>
          <p:cNvSpPr/>
          <p:nvPr/>
        </p:nvSpPr>
        <p:spPr>
          <a:xfrm>
            <a:off x="3200400" y="3710354"/>
            <a:ext cx="228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pr at tm</a:t>
            </a:r>
            <a:endParaRPr lang="en-US" sz="3200" dirty="0"/>
          </a:p>
        </p:txBody>
      </p:sp>
      <p:sp>
        <p:nvSpPr>
          <p:cNvPr id="10" name="Rounded Rectangle 9"/>
          <p:cNvSpPr/>
          <p:nvPr/>
        </p:nvSpPr>
        <p:spPr>
          <a:xfrm>
            <a:off x="3200400" y="4700954"/>
            <a:ext cx="228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t</a:t>
            </a:r>
            <a:r>
              <a:rPr lang="en-US" sz="3200" dirty="0" smtClean="0"/>
              <a:t>m at </a:t>
            </a:r>
            <a:r>
              <a:rPr lang="en-US" sz="3200" dirty="0" err="1" smtClean="0"/>
              <a:t>nt</a:t>
            </a:r>
            <a:endParaRPr lang="en-US" sz="3200" dirty="0"/>
          </a:p>
        </p:txBody>
      </p:sp>
      <p:sp>
        <p:nvSpPr>
          <p:cNvPr id="11" name="Rounded Rectangle 10"/>
          <p:cNvSpPr/>
          <p:nvPr/>
        </p:nvSpPr>
        <p:spPr>
          <a:xfrm>
            <a:off x="3200400" y="5767754"/>
            <a:ext cx="2286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a:solidFill>
                  <a:sysClr val="windowText" lastClr="000000"/>
                </a:solidFill>
              </a:rPr>
              <a:t>r</a:t>
            </a:r>
            <a:r>
              <a:rPr lang="en-US" sz="3200" dirty="0" err="1" smtClean="0">
                <a:solidFill>
                  <a:sysClr val="windowText" lastClr="000000"/>
                </a:solidFill>
              </a:rPr>
              <a:t>t</a:t>
            </a:r>
            <a:r>
              <a:rPr lang="en-US" sz="3200" dirty="0" smtClean="0">
                <a:solidFill>
                  <a:sysClr val="windowText" lastClr="000000"/>
                </a:solidFill>
              </a:rPr>
              <a:t> at </a:t>
            </a:r>
            <a:r>
              <a:rPr lang="en-US" sz="3200" dirty="0" err="1" smtClean="0">
                <a:solidFill>
                  <a:sysClr val="windowText" lastClr="000000"/>
                </a:solidFill>
              </a:rPr>
              <a:t>nt</a:t>
            </a:r>
            <a:endParaRPr lang="en-US" sz="3200" dirty="0">
              <a:solidFill>
                <a:sysClr val="windowText" lastClr="000000"/>
              </a:solidFill>
            </a:endParaRPr>
          </a:p>
        </p:txBody>
      </p:sp>
      <p:pic>
        <p:nvPicPr>
          <p:cNvPr id="14" name="Picture 7" descr="AG00051_"/>
          <p:cNvPicPr>
            <a:picLocks noChangeAspect="1" noChangeArrowheads="1" noCrop="1"/>
          </p:cNvPicPr>
          <p:nvPr/>
        </p:nvPicPr>
        <p:blipFill>
          <a:blip r:embed="rId2"/>
          <a:srcRect/>
          <a:stretch>
            <a:fillRect/>
          </a:stretch>
        </p:blipFill>
        <p:spPr bwMode="auto">
          <a:xfrm>
            <a:off x="21336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Ang</a:t>
            </a:r>
            <a:r>
              <a:rPr lang="en-US" sz="3600" dirty="0" smtClean="0"/>
              <a:t> </a:t>
            </a:r>
            <a:r>
              <a:rPr lang="en-US" sz="3600" dirty="0" err="1" smtClean="0"/>
              <a:t>butong</a:t>
            </a:r>
            <a:r>
              <a:rPr lang="en-US" sz="3600" dirty="0" smtClean="0"/>
              <a:t> </a:t>
            </a:r>
            <a:r>
              <a:rPr lang="en-US" sz="3600" dirty="0" err="1" smtClean="0"/>
              <a:t>tinangay</a:t>
            </a:r>
            <a:r>
              <a:rPr lang="en-US" sz="3600" dirty="0" smtClean="0"/>
              <a:t> </a:t>
            </a:r>
            <a:r>
              <a:rPr lang="en-US" sz="3600" dirty="0" err="1" smtClean="0"/>
              <a:t>ng</a:t>
            </a:r>
            <a:r>
              <a:rPr lang="en-US" sz="3600" dirty="0" smtClean="0"/>
              <a:t> </a:t>
            </a:r>
            <a:r>
              <a:rPr lang="en-US" sz="3600" dirty="0" err="1" smtClean="0"/>
              <a:t>aso</a:t>
            </a:r>
            <a:r>
              <a:rPr lang="en-US" sz="3600" dirty="0" smtClean="0"/>
              <a:t> </a:t>
            </a:r>
            <a:r>
              <a:rPr lang="en-US" sz="3600" dirty="0" err="1" smtClean="0"/>
              <a:t>walang</a:t>
            </a:r>
            <a:r>
              <a:rPr lang="en-US" sz="3600" dirty="0" smtClean="0"/>
              <a:t> </a:t>
            </a:r>
            <a:r>
              <a:rPr lang="en-US" sz="3600" dirty="0" err="1" smtClean="0"/>
              <a:t>pagsalang</a:t>
            </a:r>
            <a:r>
              <a:rPr lang="en-US" sz="3600" dirty="0" smtClean="0"/>
              <a:t> </a:t>
            </a:r>
            <a:r>
              <a:rPr lang="en-US" sz="3600" dirty="0" err="1" smtClean="0"/>
              <a:t>nalawayan</a:t>
            </a:r>
            <a:r>
              <a:rPr lang="en-US" sz="3600" dirty="0" smtClean="0"/>
              <a:t> </a:t>
            </a:r>
            <a:r>
              <a:rPr lang="en-US" sz="3600" dirty="0" err="1" smtClean="0"/>
              <a:t>nito</a:t>
            </a:r>
            <a:r>
              <a:rPr lang="en-US" sz="3600" dirty="0" smtClean="0"/>
              <a:t>. </a:t>
            </a:r>
            <a:r>
              <a:rPr lang="en-US" sz="3600" dirty="0" err="1" smtClean="0"/>
              <a:t>Ang</a:t>
            </a:r>
            <a:r>
              <a:rPr lang="en-US" sz="3600" dirty="0" smtClean="0"/>
              <a:t> </a:t>
            </a:r>
            <a:r>
              <a:rPr lang="en-US" sz="3600" dirty="0" err="1" smtClean="0"/>
              <a:t>kaisipang</a:t>
            </a:r>
            <a:r>
              <a:rPr lang="en-US" sz="3600" dirty="0" smtClean="0"/>
              <a:t> </a:t>
            </a:r>
            <a:r>
              <a:rPr lang="en-US" sz="3600" dirty="0" err="1" smtClean="0"/>
              <a:t>ito</a:t>
            </a:r>
            <a:r>
              <a:rPr lang="en-US" sz="3600" dirty="0" smtClean="0"/>
              <a:t> ay </a:t>
            </a:r>
            <a:r>
              <a:rPr lang="en-US" sz="3600" dirty="0" err="1" smtClean="0"/>
              <a:t>tumutukoy</a:t>
            </a:r>
            <a:r>
              <a:rPr lang="en-US" sz="3600" dirty="0" smtClean="0"/>
              <a:t> </a:t>
            </a:r>
            <a:r>
              <a:rPr lang="en-US" sz="3600" dirty="0" err="1" smtClean="0"/>
              <a:t>sa</a:t>
            </a:r>
            <a:r>
              <a:rPr lang="en-US" sz="3600" dirty="0" smtClean="0"/>
              <a:t> </a:t>
            </a:r>
            <a:r>
              <a:rPr lang="en-US" sz="3600" dirty="0" err="1" smtClean="0"/>
              <a:t>katotohanan</a:t>
            </a:r>
            <a:r>
              <a:rPr lang="en-US" sz="3600" dirty="0" smtClean="0"/>
              <a:t> </a:t>
            </a:r>
            <a:r>
              <a:rPr lang="en-US" sz="3600" dirty="0" err="1" smtClean="0"/>
              <a:t>ng</a:t>
            </a:r>
            <a:r>
              <a:rPr lang="en-US" sz="3600" dirty="0" smtClean="0"/>
              <a:t>:</a:t>
            </a:r>
            <a:endParaRPr lang="en-US" sz="3600" dirty="0"/>
          </a:p>
        </p:txBody>
      </p:sp>
      <p:sp>
        <p:nvSpPr>
          <p:cNvPr id="8" name="Rounded Rectangle 7"/>
          <p:cNvSpPr/>
          <p:nvPr/>
        </p:nvSpPr>
        <p:spPr>
          <a:xfrm>
            <a:off x="2628900" y="2842846"/>
            <a:ext cx="3886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pagnanakaw</a:t>
            </a:r>
            <a:endParaRPr lang="en-US" sz="3200" dirty="0"/>
          </a:p>
        </p:txBody>
      </p:sp>
      <p:sp>
        <p:nvSpPr>
          <p:cNvPr id="9" name="Rounded Rectangle 8"/>
          <p:cNvSpPr/>
          <p:nvPr/>
        </p:nvSpPr>
        <p:spPr>
          <a:xfrm>
            <a:off x="2590800" y="3810000"/>
            <a:ext cx="3886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pakikipagkaibigan</a:t>
            </a:r>
            <a:endParaRPr lang="en-US" sz="3200" dirty="0"/>
          </a:p>
        </p:txBody>
      </p:sp>
      <p:sp>
        <p:nvSpPr>
          <p:cNvPr id="10" name="Rounded Rectangle 9"/>
          <p:cNvSpPr/>
          <p:nvPr/>
        </p:nvSpPr>
        <p:spPr>
          <a:xfrm>
            <a:off x="2590800" y="4800600"/>
            <a:ext cx="3886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pagpapakain</a:t>
            </a:r>
            <a:endParaRPr lang="en-US" sz="3200" dirty="0"/>
          </a:p>
        </p:txBody>
      </p:sp>
      <p:sp>
        <p:nvSpPr>
          <p:cNvPr id="11" name="Rounded Rectangle 10"/>
          <p:cNvSpPr/>
          <p:nvPr/>
        </p:nvSpPr>
        <p:spPr>
          <a:xfrm>
            <a:off x="2590800" y="5767754"/>
            <a:ext cx="3886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pagtatanan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524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2133600"/>
          </a:xfrm>
        </p:spPr>
        <p:txBody>
          <a:bodyPr>
            <a:noAutofit/>
          </a:bodyPr>
          <a:lstStyle/>
          <a:p>
            <a:pPr algn="just"/>
            <a:r>
              <a:rPr lang="en-US" sz="3600" dirty="0" err="1" smtClean="0"/>
              <a:t>Alin</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ito</a:t>
            </a:r>
            <a:r>
              <a:rPr lang="en-US" sz="3600" dirty="0" smtClean="0"/>
              <a:t> </a:t>
            </a:r>
            <a:r>
              <a:rPr lang="en-US" sz="3600" dirty="0" err="1" smtClean="0"/>
              <a:t>ang</a:t>
            </a:r>
            <a:r>
              <a:rPr lang="en-US" sz="3600" dirty="0" smtClean="0"/>
              <a:t> </a:t>
            </a:r>
            <a:r>
              <a:rPr lang="en-US" sz="3600" dirty="0" err="1" smtClean="0"/>
              <a:t>nagpapahayag</a:t>
            </a:r>
            <a:r>
              <a:rPr lang="en-US" sz="3600" dirty="0" smtClean="0"/>
              <a:t> </a:t>
            </a:r>
            <a:r>
              <a:rPr lang="en-US" sz="3600" dirty="0" err="1" smtClean="0"/>
              <a:t>sa</a:t>
            </a:r>
            <a:r>
              <a:rPr lang="en-US" sz="3600" dirty="0" smtClean="0"/>
              <a:t> </a:t>
            </a:r>
            <a:r>
              <a:rPr lang="en-US" sz="3600" dirty="0" err="1" smtClean="0"/>
              <a:t>paraang</a:t>
            </a:r>
            <a:r>
              <a:rPr lang="en-US" sz="3600" dirty="0" smtClean="0"/>
              <a:t> </a:t>
            </a:r>
            <a:r>
              <a:rPr lang="en-US" sz="3600" dirty="0" err="1" smtClean="0"/>
              <a:t>organisado</a:t>
            </a:r>
            <a:r>
              <a:rPr lang="en-US" sz="3600" dirty="0" smtClean="0"/>
              <a:t> at </a:t>
            </a:r>
            <a:r>
              <a:rPr lang="en-US" sz="3600" dirty="0" err="1" smtClean="0"/>
              <a:t>artistiko</a:t>
            </a:r>
            <a:r>
              <a:rPr lang="en-US" sz="3600" dirty="0" smtClean="0"/>
              <a:t> </a:t>
            </a:r>
            <a:r>
              <a:rPr lang="en-US" sz="3600" dirty="0" err="1" smtClean="0"/>
              <a:t>maging</a:t>
            </a:r>
            <a:r>
              <a:rPr lang="en-US" sz="3600" dirty="0" smtClean="0"/>
              <a:t> </a:t>
            </a:r>
            <a:r>
              <a:rPr lang="en-US" sz="3600" dirty="0" err="1" smtClean="0"/>
              <a:t>tuluyan</a:t>
            </a:r>
            <a:r>
              <a:rPr lang="en-US" sz="3600" dirty="0" smtClean="0"/>
              <a:t> o </a:t>
            </a:r>
            <a:r>
              <a:rPr lang="en-US" sz="3600" dirty="0" err="1" smtClean="0"/>
              <a:t>sa</a:t>
            </a:r>
            <a:r>
              <a:rPr lang="en-US" sz="3600" dirty="0" smtClean="0"/>
              <a:t> </a:t>
            </a:r>
            <a:r>
              <a:rPr lang="en-US" sz="3600" dirty="0" err="1" smtClean="0"/>
              <a:t>berso</a:t>
            </a:r>
            <a:r>
              <a:rPr lang="en-US" sz="3600" dirty="0" smtClean="0"/>
              <a:t> </a:t>
            </a:r>
            <a:r>
              <a:rPr lang="en-US" sz="3600" dirty="0" err="1" smtClean="0"/>
              <a:t>na</a:t>
            </a:r>
            <a:r>
              <a:rPr lang="en-US" sz="3600" dirty="0" smtClean="0"/>
              <a:t> </a:t>
            </a:r>
            <a:r>
              <a:rPr lang="en-US" sz="3600" dirty="0" err="1" smtClean="0"/>
              <a:t>nagmula</a:t>
            </a:r>
            <a:r>
              <a:rPr lang="en-US" sz="3600" dirty="0" smtClean="0"/>
              <a:t> </a:t>
            </a:r>
            <a:r>
              <a:rPr lang="en-US" sz="3600" dirty="0" err="1" smtClean="0"/>
              <a:t>sa</a:t>
            </a:r>
            <a:r>
              <a:rPr lang="en-US" sz="3600" dirty="0" smtClean="0"/>
              <a:t> </a:t>
            </a:r>
            <a:r>
              <a:rPr lang="en-US" sz="3600" dirty="0" err="1" smtClean="0"/>
              <a:t>imahinasyon</a:t>
            </a:r>
            <a:r>
              <a:rPr lang="en-US" sz="3600" dirty="0" smtClean="0"/>
              <a:t>?</a:t>
            </a:r>
            <a:endParaRPr lang="en-US" sz="3600" dirty="0"/>
          </a:p>
        </p:txBody>
      </p:sp>
      <p:sp>
        <p:nvSpPr>
          <p:cNvPr id="8" name="Rounded Rectangle 7"/>
          <p:cNvSpPr/>
          <p:nvPr/>
        </p:nvSpPr>
        <p:spPr>
          <a:xfrm>
            <a:off x="3314700" y="2895600"/>
            <a:ext cx="2514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panulaan</a:t>
            </a:r>
            <a:endParaRPr lang="en-US" sz="3200" dirty="0"/>
          </a:p>
        </p:txBody>
      </p:sp>
      <p:sp>
        <p:nvSpPr>
          <p:cNvPr id="9" name="Rounded Rectangle 8"/>
          <p:cNvSpPr/>
          <p:nvPr/>
        </p:nvSpPr>
        <p:spPr>
          <a:xfrm>
            <a:off x="3276600" y="3862754"/>
            <a:ext cx="2514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epiko</a:t>
            </a:r>
            <a:endParaRPr lang="en-US" sz="3200" dirty="0"/>
          </a:p>
        </p:txBody>
      </p:sp>
      <p:sp>
        <p:nvSpPr>
          <p:cNvPr id="10" name="Rounded Rectangle 9"/>
          <p:cNvSpPr/>
          <p:nvPr/>
        </p:nvSpPr>
        <p:spPr>
          <a:xfrm>
            <a:off x="3276600" y="4853354"/>
            <a:ext cx="2514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sanaysay</a:t>
            </a:r>
            <a:endParaRPr lang="en-US" sz="3200" dirty="0"/>
          </a:p>
        </p:txBody>
      </p:sp>
      <p:sp>
        <p:nvSpPr>
          <p:cNvPr id="11" name="Rounded Rectangle 10"/>
          <p:cNvSpPr/>
          <p:nvPr/>
        </p:nvSpPr>
        <p:spPr>
          <a:xfrm>
            <a:off x="3276600" y="5920154"/>
            <a:ext cx="25146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panitikan</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86000" y="5943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smtClean="0"/>
              <a:t>Kung </a:t>
            </a:r>
            <a:r>
              <a:rPr lang="en-US" sz="3600" dirty="0" err="1" smtClean="0"/>
              <a:t>ang</a:t>
            </a:r>
            <a:r>
              <a:rPr lang="en-US" sz="3600" dirty="0" smtClean="0"/>
              <a:t> </a:t>
            </a:r>
            <a:r>
              <a:rPr lang="en-US" sz="3600" dirty="0" err="1" smtClean="0"/>
              <a:t>awit</a:t>
            </a:r>
            <a:r>
              <a:rPr lang="en-US" sz="3600" dirty="0" smtClean="0"/>
              <a:t> </a:t>
            </a:r>
            <a:r>
              <a:rPr lang="en-US" sz="3600" dirty="0" err="1" smtClean="0"/>
              <a:t>ng</a:t>
            </a:r>
            <a:r>
              <a:rPr lang="en-US" sz="3600" dirty="0" smtClean="0"/>
              <a:t> </a:t>
            </a:r>
            <a:r>
              <a:rPr lang="en-US" sz="3600" dirty="0" err="1" smtClean="0"/>
              <a:t>pag-iibigan</a:t>
            </a:r>
            <a:r>
              <a:rPr lang="en-US" sz="3600" dirty="0" smtClean="0"/>
              <a:t> ay </a:t>
            </a:r>
            <a:r>
              <a:rPr lang="en-US" sz="3600" dirty="0" err="1" smtClean="0"/>
              <a:t>kundiman</a:t>
            </a:r>
            <a:r>
              <a:rPr lang="en-US" sz="3600" dirty="0" smtClean="0"/>
              <a:t>, </a:t>
            </a:r>
            <a:r>
              <a:rPr lang="en-US" sz="3600" dirty="0" err="1" smtClean="0"/>
              <a:t>ano</a:t>
            </a:r>
            <a:r>
              <a:rPr lang="en-US" sz="3600" dirty="0" smtClean="0"/>
              <a:t> </a:t>
            </a:r>
            <a:r>
              <a:rPr lang="en-US" sz="3600" dirty="0" err="1" smtClean="0"/>
              <a:t>naman</a:t>
            </a:r>
            <a:r>
              <a:rPr lang="en-US" sz="3600" dirty="0" smtClean="0"/>
              <a:t> </a:t>
            </a:r>
            <a:r>
              <a:rPr lang="en-US" sz="3600" dirty="0" err="1" smtClean="0"/>
              <a:t>sa</a:t>
            </a:r>
            <a:r>
              <a:rPr lang="en-US" sz="3600" dirty="0" smtClean="0"/>
              <a:t> </a:t>
            </a:r>
            <a:r>
              <a:rPr lang="en-US" sz="3600" dirty="0" err="1" smtClean="0"/>
              <a:t>Bisaya</a:t>
            </a:r>
            <a:r>
              <a:rPr lang="en-US" sz="3600" dirty="0" smtClean="0"/>
              <a:t>?</a:t>
            </a:r>
            <a:endParaRPr lang="en-US" sz="3600" dirty="0"/>
          </a:p>
        </p:txBody>
      </p:sp>
      <p:sp>
        <p:nvSpPr>
          <p:cNvPr id="8" name="Rounded Rectangle 7"/>
          <p:cNvSpPr/>
          <p:nvPr/>
        </p:nvSpPr>
        <p:spPr>
          <a:xfrm>
            <a:off x="3238500" y="2743200"/>
            <a:ext cx="266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dioma</a:t>
            </a:r>
            <a:endParaRPr lang="en-US" sz="3200" dirty="0"/>
          </a:p>
        </p:txBody>
      </p:sp>
      <p:sp>
        <p:nvSpPr>
          <p:cNvPr id="9" name="Rounded Rectangle 8"/>
          <p:cNvSpPr/>
          <p:nvPr/>
        </p:nvSpPr>
        <p:spPr>
          <a:xfrm>
            <a:off x="3200400" y="3710354"/>
            <a:ext cx="266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sambotani</a:t>
            </a:r>
            <a:endParaRPr lang="en-US" sz="3200" dirty="0"/>
          </a:p>
        </p:txBody>
      </p:sp>
      <p:sp>
        <p:nvSpPr>
          <p:cNvPr id="10" name="Rounded Rectangle 9"/>
          <p:cNvSpPr/>
          <p:nvPr/>
        </p:nvSpPr>
        <p:spPr>
          <a:xfrm>
            <a:off x="3200400" y="4700954"/>
            <a:ext cx="266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kumintang</a:t>
            </a:r>
            <a:endParaRPr lang="en-US" sz="3200" dirty="0"/>
          </a:p>
        </p:txBody>
      </p:sp>
      <p:sp>
        <p:nvSpPr>
          <p:cNvPr id="11" name="Rounded Rectangle 10"/>
          <p:cNvSpPr/>
          <p:nvPr/>
        </p:nvSpPr>
        <p:spPr>
          <a:xfrm>
            <a:off x="3200400" y="5767754"/>
            <a:ext cx="266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talindaw</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981200"/>
          </a:xfrm>
        </p:spPr>
        <p:txBody>
          <a:bodyPr>
            <a:normAutofit/>
          </a:bodyPr>
          <a:lstStyle/>
          <a:p>
            <a:pPr algn="just"/>
            <a:r>
              <a:rPr lang="en-US" sz="3600" dirty="0" err="1" smtClean="0"/>
              <a:t>Mag-aalas</a:t>
            </a:r>
            <a:r>
              <a:rPr lang="en-US" sz="3600" dirty="0" smtClean="0"/>
              <a:t> </a:t>
            </a:r>
            <a:r>
              <a:rPr lang="en-US" sz="3600" dirty="0" err="1" smtClean="0"/>
              <a:t>singko</a:t>
            </a:r>
            <a:r>
              <a:rPr lang="en-US" sz="3600" dirty="0" smtClean="0"/>
              <a:t> </a:t>
            </a:r>
            <a:r>
              <a:rPr lang="en-US" sz="3600" dirty="0" err="1" smtClean="0"/>
              <a:t>na</a:t>
            </a:r>
            <a:r>
              <a:rPr lang="en-US" sz="3600" dirty="0" smtClean="0"/>
              <a:t> _____ </a:t>
            </a:r>
            <a:r>
              <a:rPr lang="en-US" sz="3600" dirty="0" err="1" smtClean="0"/>
              <a:t>umaga</a:t>
            </a:r>
            <a:r>
              <a:rPr lang="en-US" sz="3600" dirty="0" smtClean="0"/>
              <a:t> _____ </a:t>
            </a:r>
            <a:r>
              <a:rPr lang="en-US" sz="3600" dirty="0" err="1" smtClean="0"/>
              <a:t>magising</a:t>
            </a:r>
            <a:r>
              <a:rPr lang="en-US" sz="3600" dirty="0" smtClean="0"/>
              <a:t> </a:t>
            </a:r>
            <a:r>
              <a:rPr lang="en-US" sz="3600" dirty="0" err="1" smtClean="0"/>
              <a:t>siya</a:t>
            </a:r>
            <a:r>
              <a:rPr lang="en-US" sz="3600" dirty="0" smtClean="0"/>
              <a:t>.</a:t>
            </a:r>
            <a:endParaRPr lang="en-US" sz="3600" dirty="0"/>
          </a:p>
        </p:txBody>
      </p:sp>
      <p:sp>
        <p:nvSpPr>
          <p:cNvPr id="8" name="Rounded Rectangle 7"/>
          <p:cNvSpPr/>
          <p:nvPr/>
        </p:nvSpPr>
        <p:spPr>
          <a:xfrm>
            <a:off x="3238500" y="2743200"/>
            <a:ext cx="2667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ng-nang</a:t>
            </a:r>
            <a:endParaRPr lang="en-US" sz="3200" dirty="0"/>
          </a:p>
        </p:txBody>
      </p:sp>
      <p:sp>
        <p:nvSpPr>
          <p:cNvPr id="9" name="Rounded Rectangle 8"/>
          <p:cNvSpPr/>
          <p:nvPr/>
        </p:nvSpPr>
        <p:spPr>
          <a:xfrm>
            <a:off x="3200400" y="3710354"/>
            <a:ext cx="2667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nang-kapag</a:t>
            </a:r>
            <a:endParaRPr lang="en-US" sz="3200" dirty="0"/>
          </a:p>
        </p:txBody>
      </p:sp>
      <p:sp>
        <p:nvSpPr>
          <p:cNvPr id="10" name="Rounded Rectangle 9"/>
          <p:cNvSpPr/>
          <p:nvPr/>
        </p:nvSpPr>
        <p:spPr>
          <a:xfrm>
            <a:off x="3200400" y="4700954"/>
            <a:ext cx="2667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nang-nang</a:t>
            </a:r>
            <a:endParaRPr lang="en-US" sz="3200" dirty="0"/>
          </a:p>
        </p:txBody>
      </p:sp>
      <p:sp>
        <p:nvSpPr>
          <p:cNvPr id="11" name="Rounded Rectangle 10"/>
          <p:cNvSpPr/>
          <p:nvPr/>
        </p:nvSpPr>
        <p:spPr>
          <a:xfrm>
            <a:off x="3200400" y="5767754"/>
            <a:ext cx="26670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ng</a:t>
            </a:r>
            <a:r>
              <a:rPr lang="en-US" sz="3200" dirty="0" smtClean="0">
                <a:solidFill>
                  <a:sysClr val="windowText" lastClr="000000"/>
                </a:solidFill>
              </a:rPr>
              <a:t>-at</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2895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362200"/>
          </a:xfrm>
        </p:spPr>
        <p:txBody>
          <a:bodyPr>
            <a:noAutofit/>
          </a:bodyPr>
          <a:lstStyle/>
          <a:p>
            <a:pPr algn="just"/>
            <a:r>
              <a:rPr lang="en-US" sz="4000" dirty="0" smtClean="0"/>
              <a:t>Sino </a:t>
            </a:r>
            <a:r>
              <a:rPr lang="en-US" sz="4000" dirty="0" err="1" smtClean="0"/>
              <a:t>ang</a:t>
            </a:r>
            <a:r>
              <a:rPr lang="en-US" sz="4000" dirty="0" smtClean="0"/>
              <a:t> </a:t>
            </a:r>
            <a:r>
              <a:rPr lang="en-US" sz="4000" dirty="0" err="1" smtClean="0"/>
              <a:t>nangungusap</a:t>
            </a:r>
            <a:r>
              <a:rPr lang="en-US" sz="4000" dirty="0" smtClean="0"/>
              <a:t> </a:t>
            </a:r>
            <a:r>
              <a:rPr lang="en-US" sz="4000" dirty="0" err="1" smtClean="0"/>
              <a:t>sa</a:t>
            </a:r>
            <a:r>
              <a:rPr lang="en-US" sz="4000" dirty="0" smtClean="0"/>
              <a:t> quotation?</a:t>
            </a:r>
            <a:br>
              <a:rPr lang="en-US" sz="4000" dirty="0" smtClean="0"/>
            </a:br>
            <a:r>
              <a:rPr lang="en-US" sz="4000" i="1" dirty="0" smtClean="0"/>
              <a:t>“</a:t>
            </a:r>
            <a:r>
              <a:rPr lang="en-US" sz="4000" i="1" dirty="0" err="1" smtClean="0"/>
              <a:t>Ang</a:t>
            </a:r>
            <a:r>
              <a:rPr lang="en-US" sz="4000" i="1" dirty="0" smtClean="0"/>
              <a:t> </a:t>
            </a:r>
            <a:r>
              <a:rPr lang="en-US" sz="4000" i="1" dirty="0" err="1" smtClean="0"/>
              <a:t>pag-ibig</a:t>
            </a:r>
            <a:r>
              <a:rPr lang="en-US" sz="4000" i="1" dirty="0" smtClean="0"/>
              <a:t> ay </a:t>
            </a:r>
            <a:r>
              <a:rPr lang="en-US" sz="4000" i="1" dirty="0" err="1" smtClean="0"/>
              <a:t>hindi</a:t>
            </a:r>
            <a:r>
              <a:rPr lang="en-US" sz="4000" i="1" dirty="0" smtClean="0"/>
              <a:t> </a:t>
            </a:r>
            <a:r>
              <a:rPr lang="en-US" sz="4000" i="1" dirty="0" err="1" smtClean="0"/>
              <a:t>pag-ibig</a:t>
            </a:r>
            <a:r>
              <a:rPr lang="en-US" sz="4000" i="1" dirty="0" smtClean="0"/>
              <a:t> </a:t>
            </a:r>
            <a:r>
              <a:rPr lang="en-US" sz="4000" i="1" dirty="0" err="1" smtClean="0"/>
              <a:t>kapag</a:t>
            </a:r>
            <a:r>
              <a:rPr lang="en-US" sz="4000" i="1" dirty="0" smtClean="0"/>
              <a:t> </a:t>
            </a:r>
            <a:r>
              <a:rPr lang="en-US" sz="4000" i="1" dirty="0" err="1" smtClean="0"/>
              <a:t>nagbabago</a:t>
            </a:r>
            <a:r>
              <a:rPr lang="en-US" sz="4000" i="1" dirty="0" smtClean="0"/>
              <a:t> kung </a:t>
            </a:r>
            <a:r>
              <a:rPr lang="en-US" sz="4000" i="1" dirty="0" err="1" smtClean="0"/>
              <a:t>nakakakita</a:t>
            </a:r>
            <a:r>
              <a:rPr lang="en-US" sz="4000" i="1" dirty="0" smtClean="0"/>
              <a:t> </a:t>
            </a:r>
            <a:r>
              <a:rPr lang="en-US" sz="4000" i="1" dirty="0" err="1" smtClean="0"/>
              <a:t>ng</a:t>
            </a:r>
            <a:r>
              <a:rPr lang="en-US" sz="4000" i="1" dirty="0" smtClean="0"/>
              <a:t> </a:t>
            </a:r>
            <a:r>
              <a:rPr lang="en-US" sz="4000" i="1" dirty="0" err="1" smtClean="0"/>
              <a:t>pagbabago</a:t>
            </a:r>
            <a:r>
              <a:rPr lang="en-US" sz="4000" i="1" dirty="0" smtClean="0"/>
              <a:t>.”</a:t>
            </a:r>
            <a:endParaRPr lang="en-US" sz="4000" i="1" dirty="0"/>
          </a:p>
        </p:txBody>
      </p:sp>
      <p:sp>
        <p:nvSpPr>
          <p:cNvPr id="7" name="Rounded Rectangle 6"/>
          <p:cNvSpPr/>
          <p:nvPr/>
        </p:nvSpPr>
        <p:spPr>
          <a:xfrm>
            <a:off x="2438400" y="3124200"/>
            <a:ext cx="4267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Genoveva</a:t>
            </a:r>
            <a:r>
              <a:rPr lang="en-US" sz="3200" dirty="0" smtClean="0"/>
              <a:t> </a:t>
            </a:r>
            <a:r>
              <a:rPr lang="en-US" sz="3200" dirty="0" err="1" smtClean="0"/>
              <a:t>Matute</a:t>
            </a:r>
            <a:endParaRPr lang="en-US" sz="3200" dirty="0"/>
          </a:p>
        </p:txBody>
      </p:sp>
      <p:sp>
        <p:nvSpPr>
          <p:cNvPr id="12" name="Rounded Rectangle 11"/>
          <p:cNvSpPr/>
          <p:nvPr/>
        </p:nvSpPr>
        <p:spPr>
          <a:xfrm>
            <a:off x="2438400" y="4038600"/>
            <a:ext cx="4267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William Shakespeare</a:t>
            </a:r>
            <a:endParaRPr lang="en-US" sz="3200" dirty="0"/>
          </a:p>
        </p:txBody>
      </p:sp>
      <p:sp>
        <p:nvSpPr>
          <p:cNvPr id="13" name="Rounded Rectangle 12"/>
          <p:cNvSpPr/>
          <p:nvPr/>
        </p:nvSpPr>
        <p:spPr>
          <a:xfrm>
            <a:off x="2438400" y="4953000"/>
            <a:ext cx="4267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Robert Frost</a:t>
            </a:r>
            <a:endParaRPr lang="en-US" sz="3200" dirty="0"/>
          </a:p>
        </p:txBody>
      </p:sp>
      <p:sp>
        <p:nvSpPr>
          <p:cNvPr id="14" name="Rounded Rectangle 13"/>
          <p:cNvSpPr/>
          <p:nvPr/>
        </p:nvSpPr>
        <p:spPr>
          <a:xfrm>
            <a:off x="2438400" y="5867400"/>
            <a:ext cx="4267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Jose Rizal</a:t>
            </a:r>
            <a:endParaRPr lang="en-US" sz="3200" dirty="0">
              <a:solidFill>
                <a:schemeClr val="tx1"/>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447800" y="3200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Ponema</a:t>
            </a:r>
            <a:r>
              <a:rPr lang="en-US" sz="3600" dirty="0" smtClean="0"/>
              <a:t> </a:t>
            </a:r>
            <a:r>
              <a:rPr lang="en-US" sz="3600" dirty="0" err="1" smtClean="0"/>
              <a:t>ang</a:t>
            </a:r>
            <a:r>
              <a:rPr lang="en-US" sz="3600" dirty="0" smtClean="0"/>
              <a:t> </a:t>
            </a:r>
            <a:r>
              <a:rPr lang="en-US" sz="3600" dirty="0" err="1" smtClean="0"/>
              <a:t>tawag</a:t>
            </a:r>
            <a:r>
              <a:rPr lang="en-US" sz="3600" dirty="0" smtClean="0"/>
              <a:t> </a:t>
            </a:r>
            <a:r>
              <a:rPr lang="en-US" sz="3600" dirty="0" err="1" smtClean="0"/>
              <a:t>sa</a:t>
            </a:r>
            <a:r>
              <a:rPr lang="en-US" sz="3600" dirty="0" smtClean="0"/>
              <a:t> </a:t>
            </a:r>
            <a:r>
              <a:rPr lang="en-US" sz="3600" dirty="0" err="1" smtClean="0"/>
              <a:t>makabuluhang</a:t>
            </a:r>
            <a:r>
              <a:rPr lang="en-US" sz="3600" dirty="0" smtClean="0"/>
              <a:t> </a:t>
            </a:r>
            <a:r>
              <a:rPr lang="en-US" sz="3600" dirty="0" err="1" smtClean="0"/>
              <a:t>tunog</a:t>
            </a:r>
            <a:r>
              <a:rPr lang="en-US" sz="3600" dirty="0" smtClean="0"/>
              <a:t> </a:t>
            </a:r>
            <a:r>
              <a:rPr lang="en-US" sz="3600" dirty="0" err="1" smtClean="0"/>
              <a:t>ng</a:t>
            </a:r>
            <a:r>
              <a:rPr lang="en-US" sz="3600" dirty="0" smtClean="0"/>
              <a:t> </a:t>
            </a:r>
            <a:r>
              <a:rPr lang="en-US" sz="3600" dirty="0" err="1" smtClean="0"/>
              <a:t>wika</a:t>
            </a:r>
            <a:r>
              <a:rPr lang="en-US" sz="3600" dirty="0" smtClean="0"/>
              <a:t>. </a:t>
            </a:r>
            <a:r>
              <a:rPr lang="en-US" sz="3600" dirty="0" err="1" smtClean="0"/>
              <a:t>Ilan</a:t>
            </a:r>
            <a:r>
              <a:rPr lang="en-US" sz="3600" dirty="0" smtClean="0"/>
              <a:t> </a:t>
            </a:r>
            <a:r>
              <a:rPr lang="en-US" sz="3600" dirty="0" err="1" smtClean="0"/>
              <a:t>ang</a:t>
            </a:r>
            <a:r>
              <a:rPr lang="en-US" sz="3600" dirty="0" smtClean="0"/>
              <a:t> </a:t>
            </a:r>
            <a:r>
              <a:rPr lang="en-US" sz="3600" dirty="0" err="1" smtClean="0"/>
              <a:t>ponema</a:t>
            </a:r>
            <a:r>
              <a:rPr lang="en-US" sz="3600" dirty="0" smtClean="0"/>
              <a:t> </a:t>
            </a:r>
            <a:r>
              <a:rPr lang="en-US" sz="3600" dirty="0" err="1" smtClean="0"/>
              <a:t>ng</a:t>
            </a:r>
            <a:r>
              <a:rPr lang="en-US" sz="3600" dirty="0" smtClean="0"/>
              <a:t> Filipino?</a:t>
            </a:r>
            <a:endParaRPr lang="en-US" sz="3600" dirty="0"/>
          </a:p>
        </p:txBody>
      </p:sp>
      <p:sp>
        <p:nvSpPr>
          <p:cNvPr id="8" name="Rounded Rectangle 7"/>
          <p:cNvSpPr/>
          <p:nvPr/>
        </p:nvSpPr>
        <p:spPr>
          <a:xfrm>
            <a:off x="3657600" y="2743200"/>
            <a:ext cx="1600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28</a:t>
            </a:r>
            <a:endParaRPr lang="en-US" sz="3200" dirty="0"/>
          </a:p>
        </p:txBody>
      </p:sp>
      <p:sp>
        <p:nvSpPr>
          <p:cNvPr id="9" name="Rounded Rectangle 8"/>
          <p:cNvSpPr/>
          <p:nvPr/>
        </p:nvSpPr>
        <p:spPr>
          <a:xfrm>
            <a:off x="3657600" y="3710354"/>
            <a:ext cx="1600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31</a:t>
            </a:r>
            <a:endParaRPr lang="en-US" sz="3200" dirty="0"/>
          </a:p>
        </p:txBody>
      </p:sp>
      <p:sp>
        <p:nvSpPr>
          <p:cNvPr id="10" name="Rounded Rectangle 9"/>
          <p:cNvSpPr/>
          <p:nvPr/>
        </p:nvSpPr>
        <p:spPr>
          <a:xfrm>
            <a:off x="3657600" y="4700954"/>
            <a:ext cx="1600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20</a:t>
            </a:r>
            <a:endParaRPr lang="en-US" sz="3200" dirty="0"/>
          </a:p>
        </p:txBody>
      </p:sp>
      <p:sp>
        <p:nvSpPr>
          <p:cNvPr id="11" name="Rounded Rectangle 10"/>
          <p:cNvSpPr/>
          <p:nvPr/>
        </p:nvSpPr>
        <p:spPr>
          <a:xfrm>
            <a:off x="3657600" y="5767754"/>
            <a:ext cx="1600200" cy="6330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ysClr val="windowText" lastClr="000000"/>
                </a:solidFill>
              </a:rPr>
              <a:t>D. 21</a:t>
            </a:r>
            <a:endParaRPr lang="en-US" sz="3200" dirty="0">
              <a:solidFill>
                <a:sysClr val="windowText" lastClr="000000"/>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2667000" y="5867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Saan</a:t>
            </a:r>
            <a:r>
              <a:rPr lang="en-US" sz="3600" dirty="0" smtClean="0"/>
              <a:t> </a:t>
            </a:r>
            <a:r>
              <a:rPr lang="en-US" sz="3600" dirty="0" err="1" smtClean="0"/>
              <a:t>hinango</a:t>
            </a:r>
            <a:r>
              <a:rPr lang="en-US" sz="3600" dirty="0" smtClean="0"/>
              <a:t> </a:t>
            </a:r>
            <a:r>
              <a:rPr lang="en-US" sz="3600" dirty="0" err="1" smtClean="0"/>
              <a:t>ang</a:t>
            </a:r>
            <a:r>
              <a:rPr lang="en-US" sz="3600" dirty="0" smtClean="0"/>
              <a:t> </a:t>
            </a:r>
            <a:r>
              <a:rPr lang="en-US" sz="3600" dirty="0" err="1" smtClean="0"/>
              <a:t>mga</a:t>
            </a:r>
            <a:r>
              <a:rPr lang="en-US" sz="3600" dirty="0" smtClean="0"/>
              <a:t> </a:t>
            </a:r>
            <a:r>
              <a:rPr lang="en-US" sz="3600" dirty="0" err="1" smtClean="0"/>
              <a:t>kwentong</a:t>
            </a:r>
            <a:r>
              <a:rPr lang="en-US" sz="3600" dirty="0" smtClean="0"/>
              <a:t> </a:t>
            </a:r>
            <a:r>
              <a:rPr lang="en-US" sz="3600" dirty="0" err="1" smtClean="0"/>
              <a:t>tinatawag</a:t>
            </a:r>
            <a:r>
              <a:rPr lang="en-US" sz="3600" dirty="0" smtClean="0"/>
              <a:t> </a:t>
            </a:r>
            <a:r>
              <a:rPr lang="en-US" sz="3600" dirty="0" err="1" smtClean="0"/>
              <a:t>na</a:t>
            </a:r>
            <a:r>
              <a:rPr lang="en-US" sz="3600" dirty="0" smtClean="0"/>
              <a:t> </a:t>
            </a:r>
            <a:r>
              <a:rPr lang="en-US" sz="3600" dirty="0" err="1" smtClean="0"/>
              <a:t>parabula</a:t>
            </a:r>
            <a:r>
              <a:rPr lang="en-US" sz="3600" dirty="0" smtClean="0"/>
              <a:t>?</a:t>
            </a:r>
            <a:endParaRPr lang="en-US" sz="3600" dirty="0"/>
          </a:p>
        </p:txBody>
      </p:sp>
      <p:sp>
        <p:nvSpPr>
          <p:cNvPr id="7" name="Rounded Rectangle 6"/>
          <p:cNvSpPr/>
          <p:nvPr/>
        </p:nvSpPr>
        <p:spPr>
          <a:xfrm>
            <a:off x="2743200" y="2743200"/>
            <a:ext cx="36576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Mga</a:t>
            </a:r>
            <a:r>
              <a:rPr lang="en-US" sz="3200" dirty="0" smtClean="0"/>
              <a:t> </a:t>
            </a:r>
            <a:r>
              <a:rPr lang="en-US" sz="3200" dirty="0" err="1" smtClean="0"/>
              <a:t>pinagmulan</a:t>
            </a:r>
            <a:endParaRPr lang="en-US" sz="3200" dirty="0"/>
          </a:p>
        </p:txBody>
      </p:sp>
      <p:sp>
        <p:nvSpPr>
          <p:cNvPr id="12" name="Rounded Rectangle 11"/>
          <p:cNvSpPr/>
          <p:nvPr/>
        </p:nvSpPr>
        <p:spPr>
          <a:xfrm>
            <a:off x="2743200" y="3657600"/>
            <a:ext cx="3657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Kasabihan</a:t>
            </a:r>
            <a:r>
              <a:rPr lang="en-US" sz="3200" dirty="0" smtClean="0"/>
              <a:t> </a:t>
            </a:r>
            <a:endParaRPr lang="en-US" sz="3200" dirty="0"/>
          </a:p>
        </p:txBody>
      </p:sp>
      <p:sp>
        <p:nvSpPr>
          <p:cNvPr id="13" name="Rounded Rectangle 12"/>
          <p:cNvSpPr/>
          <p:nvPr/>
        </p:nvSpPr>
        <p:spPr>
          <a:xfrm>
            <a:off x="2743200" y="4572000"/>
            <a:ext cx="3657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Bibliya</a:t>
            </a:r>
            <a:r>
              <a:rPr lang="en-US" sz="3200" dirty="0" smtClean="0"/>
              <a:t> </a:t>
            </a:r>
            <a:endParaRPr lang="en-US" sz="3200" dirty="0"/>
          </a:p>
        </p:txBody>
      </p:sp>
      <p:sp>
        <p:nvSpPr>
          <p:cNvPr id="14" name="Rounded Rectangle 13"/>
          <p:cNvSpPr/>
          <p:nvPr/>
        </p:nvSpPr>
        <p:spPr>
          <a:xfrm>
            <a:off x="2743200" y="5486400"/>
            <a:ext cx="3657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Kwentong</a:t>
            </a:r>
            <a:r>
              <a:rPr lang="en-US" sz="3200" dirty="0" smtClean="0">
                <a:solidFill>
                  <a:schemeClr val="tx1"/>
                </a:solidFill>
              </a:rPr>
              <a:t> </a:t>
            </a:r>
            <a:r>
              <a:rPr lang="en-US" sz="3200" dirty="0" err="1" smtClean="0">
                <a:solidFill>
                  <a:schemeClr val="tx1"/>
                </a:solidFill>
              </a:rPr>
              <a:t>bayan</a:t>
            </a:r>
            <a:endParaRPr lang="en-US" sz="3200" dirty="0">
              <a:solidFill>
                <a:schemeClr val="tx1"/>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Alin</a:t>
            </a:r>
            <a:r>
              <a:rPr lang="en-US" sz="3600" dirty="0" smtClean="0"/>
              <a:t> </a:t>
            </a:r>
            <a:r>
              <a:rPr lang="en-US" sz="3600" dirty="0" err="1" smtClean="0"/>
              <a:t>dito</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sa</a:t>
            </a:r>
            <a:r>
              <a:rPr lang="en-US" sz="3600" dirty="0" smtClean="0"/>
              <a:t> </a:t>
            </a:r>
            <a:r>
              <a:rPr lang="en-US" sz="3600" dirty="0" err="1" smtClean="0"/>
              <a:t>pagtuturo</a:t>
            </a:r>
            <a:r>
              <a:rPr lang="en-US" sz="3600" dirty="0" smtClean="0"/>
              <a:t> </a:t>
            </a:r>
            <a:r>
              <a:rPr lang="en-US" sz="3600" dirty="0" err="1" smtClean="0"/>
              <a:t>ng</a:t>
            </a:r>
            <a:r>
              <a:rPr lang="en-US" sz="3600" dirty="0" smtClean="0"/>
              <a:t> </a:t>
            </a:r>
            <a:r>
              <a:rPr lang="en-US" sz="3600" dirty="0" err="1" smtClean="0"/>
              <a:t>panitikan</a:t>
            </a:r>
            <a:r>
              <a:rPr lang="en-US" sz="3600" dirty="0" smtClean="0"/>
              <a:t> </a:t>
            </a:r>
            <a:r>
              <a:rPr lang="en-US" sz="3600" dirty="0" err="1" smtClean="0"/>
              <a:t>lalo</a:t>
            </a:r>
            <a:r>
              <a:rPr lang="en-US" sz="3600" dirty="0" smtClean="0"/>
              <a:t> </a:t>
            </a:r>
            <a:r>
              <a:rPr lang="en-US" sz="3600" dirty="0" err="1" smtClean="0"/>
              <a:t>na</a:t>
            </a:r>
            <a:r>
              <a:rPr lang="en-US" sz="3600" dirty="0" smtClean="0"/>
              <a:t> </a:t>
            </a:r>
            <a:r>
              <a:rPr lang="en-US" sz="3600" dirty="0" err="1" smtClean="0"/>
              <a:t>sa</a:t>
            </a:r>
            <a:r>
              <a:rPr lang="en-US" sz="3600" dirty="0" smtClean="0"/>
              <a:t> </a:t>
            </a:r>
            <a:r>
              <a:rPr lang="en-US" sz="3600" dirty="0" err="1" smtClean="0"/>
              <a:t>pagkasunod-sunod</a:t>
            </a:r>
            <a:r>
              <a:rPr lang="en-US" sz="3600" dirty="0" smtClean="0"/>
              <a:t> </a:t>
            </a:r>
            <a:r>
              <a:rPr lang="en-US" sz="3600" dirty="0" err="1" smtClean="0"/>
              <a:t>ng</a:t>
            </a:r>
            <a:r>
              <a:rPr lang="en-US" sz="3600" dirty="0" smtClean="0"/>
              <a:t> </a:t>
            </a:r>
            <a:r>
              <a:rPr lang="en-US" sz="3600" dirty="0" err="1" smtClean="0"/>
              <a:t>mga</a:t>
            </a:r>
            <a:r>
              <a:rPr lang="en-US" sz="3600" dirty="0" smtClean="0"/>
              <a:t> </a:t>
            </a:r>
            <a:r>
              <a:rPr lang="en-US" sz="3600" dirty="0" err="1" smtClean="0"/>
              <a:t>pangyayari</a:t>
            </a:r>
            <a:r>
              <a:rPr lang="en-US" sz="3600" dirty="0" smtClean="0"/>
              <a:t> </a:t>
            </a:r>
            <a:r>
              <a:rPr lang="en-US" sz="3600" dirty="0" err="1" smtClean="0"/>
              <a:t>sa</a:t>
            </a:r>
            <a:r>
              <a:rPr lang="en-US" sz="3600" dirty="0" smtClean="0"/>
              <a:t> </a:t>
            </a:r>
            <a:r>
              <a:rPr lang="en-US" sz="3600" dirty="0" err="1" smtClean="0"/>
              <a:t>kwento</a:t>
            </a:r>
            <a:r>
              <a:rPr lang="en-US" sz="3600" dirty="0" smtClean="0"/>
              <a:t>?</a:t>
            </a:r>
            <a:endParaRPr lang="en-US" sz="3600" dirty="0"/>
          </a:p>
        </p:txBody>
      </p:sp>
      <p:sp>
        <p:nvSpPr>
          <p:cNvPr id="7" name="Rounded Rectangle 6"/>
          <p:cNvSpPr/>
          <p:nvPr/>
        </p:nvSpPr>
        <p:spPr>
          <a:xfrm>
            <a:off x="2895600" y="2743200"/>
            <a:ext cx="3352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Story grammar</a:t>
            </a:r>
            <a:endParaRPr lang="en-US" sz="3200" dirty="0"/>
          </a:p>
        </p:txBody>
      </p:sp>
      <p:sp>
        <p:nvSpPr>
          <p:cNvPr id="12" name="Rounded Rectangle 11"/>
          <p:cNvSpPr/>
          <p:nvPr/>
        </p:nvSpPr>
        <p:spPr>
          <a:xfrm>
            <a:off x="2895600" y="3657600"/>
            <a:ext cx="3352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Decoding</a:t>
            </a:r>
            <a:endParaRPr lang="en-US" sz="3200" dirty="0"/>
          </a:p>
        </p:txBody>
      </p:sp>
      <p:sp>
        <p:nvSpPr>
          <p:cNvPr id="13" name="Rounded Rectangle 12"/>
          <p:cNvSpPr/>
          <p:nvPr/>
        </p:nvSpPr>
        <p:spPr>
          <a:xfrm>
            <a:off x="2895600" y="4572000"/>
            <a:ext cx="3352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Character web </a:t>
            </a:r>
            <a:endParaRPr lang="en-US" sz="3200" dirty="0"/>
          </a:p>
        </p:txBody>
      </p:sp>
      <p:sp>
        <p:nvSpPr>
          <p:cNvPr id="14" name="Rounded Rectangle 13"/>
          <p:cNvSpPr/>
          <p:nvPr/>
        </p:nvSpPr>
        <p:spPr>
          <a:xfrm>
            <a:off x="2895600" y="5486400"/>
            <a:ext cx="3352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Story frame</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9050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Alin</a:t>
            </a:r>
            <a:r>
              <a:rPr lang="en-US" sz="3600" dirty="0" smtClean="0"/>
              <a:t> </a:t>
            </a:r>
            <a:r>
              <a:rPr lang="en-US" sz="3600" dirty="0" err="1" smtClean="0"/>
              <a:t>dito</a:t>
            </a:r>
            <a:r>
              <a:rPr lang="en-US" sz="3600" dirty="0" smtClean="0"/>
              <a:t> </a:t>
            </a:r>
            <a:r>
              <a:rPr lang="en-US" sz="3600" dirty="0" err="1" smtClean="0"/>
              <a:t>ang</a:t>
            </a:r>
            <a:r>
              <a:rPr lang="en-US" sz="3600" dirty="0" smtClean="0"/>
              <a:t> </a:t>
            </a:r>
            <a:r>
              <a:rPr lang="en-US" sz="3600" dirty="0" err="1" smtClean="0"/>
              <a:t>gamit</a:t>
            </a:r>
            <a:r>
              <a:rPr lang="en-US" sz="3600" dirty="0" smtClean="0"/>
              <a:t> </a:t>
            </a:r>
            <a:r>
              <a:rPr lang="en-US" sz="3600" dirty="0" err="1" smtClean="0"/>
              <a:t>sa</a:t>
            </a:r>
            <a:r>
              <a:rPr lang="en-US" sz="3600" dirty="0" smtClean="0"/>
              <a:t> </a:t>
            </a:r>
            <a:r>
              <a:rPr lang="en-US" sz="3600" dirty="0" err="1" smtClean="0"/>
              <a:t>pagtuturo</a:t>
            </a:r>
            <a:r>
              <a:rPr lang="en-US" sz="3600" dirty="0" smtClean="0"/>
              <a:t> </a:t>
            </a:r>
            <a:r>
              <a:rPr lang="en-US" sz="3600" dirty="0" err="1" smtClean="0"/>
              <a:t>na</a:t>
            </a:r>
            <a:r>
              <a:rPr lang="en-US" sz="3600" dirty="0" smtClean="0"/>
              <a:t> </a:t>
            </a:r>
            <a:r>
              <a:rPr lang="en-US" sz="3600" dirty="0" err="1" smtClean="0"/>
              <a:t>replika</a:t>
            </a:r>
            <a:r>
              <a:rPr lang="en-US" sz="3600" dirty="0" smtClean="0"/>
              <a:t> </a:t>
            </a:r>
            <a:r>
              <a:rPr lang="en-US" sz="3600" dirty="0" err="1" smtClean="0"/>
              <a:t>na</a:t>
            </a:r>
            <a:r>
              <a:rPr lang="en-US" sz="3600" dirty="0" smtClean="0"/>
              <a:t> </a:t>
            </a:r>
            <a:r>
              <a:rPr lang="en-US" sz="3600" dirty="0" err="1" smtClean="0"/>
              <a:t>yari</a:t>
            </a:r>
            <a:r>
              <a:rPr lang="en-US" sz="3600" dirty="0" smtClean="0"/>
              <a:t> </a:t>
            </a:r>
            <a:r>
              <a:rPr lang="en-US" sz="3600" dirty="0" err="1" smtClean="0"/>
              <a:t>sa</a:t>
            </a:r>
            <a:r>
              <a:rPr lang="en-US" sz="3600" dirty="0" smtClean="0"/>
              <a:t> </a:t>
            </a:r>
            <a:r>
              <a:rPr lang="en-US" sz="3600" dirty="0" err="1" smtClean="0"/>
              <a:t>isang</a:t>
            </a:r>
            <a:r>
              <a:rPr lang="en-US" sz="3600" dirty="0" smtClean="0"/>
              <a:t> </a:t>
            </a:r>
            <a:r>
              <a:rPr lang="en-US" sz="3600" dirty="0" err="1" smtClean="0"/>
              <a:t>tunay</a:t>
            </a:r>
            <a:r>
              <a:rPr lang="en-US" sz="3600" dirty="0" smtClean="0"/>
              <a:t> o </a:t>
            </a:r>
            <a:r>
              <a:rPr lang="en-US" sz="3600" dirty="0" err="1" smtClean="0"/>
              <a:t>sintetik</a:t>
            </a:r>
            <a:r>
              <a:rPr lang="en-US" sz="3600" dirty="0" smtClean="0"/>
              <a:t> </a:t>
            </a:r>
            <a:r>
              <a:rPr lang="en-US" sz="3600" dirty="0" err="1" smtClean="0"/>
              <a:t>na</a:t>
            </a:r>
            <a:r>
              <a:rPr lang="en-US" sz="3600" dirty="0" smtClean="0"/>
              <a:t> material?</a:t>
            </a:r>
            <a:endParaRPr lang="en-US" sz="3600" dirty="0"/>
          </a:p>
        </p:txBody>
      </p:sp>
      <p:sp>
        <p:nvSpPr>
          <p:cNvPr id="7" name="Rounded Rectangle 6"/>
          <p:cNvSpPr/>
          <p:nvPr/>
        </p:nvSpPr>
        <p:spPr>
          <a:xfrm>
            <a:off x="3200400" y="2743200"/>
            <a:ext cx="2743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dayorama</a:t>
            </a:r>
            <a:endParaRPr lang="en-US" sz="3200" dirty="0"/>
          </a:p>
        </p:txBody>
      </p:sp>
      <p:sp>
        <p:nvSpPr>
          <p:cNvPr id="12" name="Rounded Rectangle 11"/>
          <p:cNvSpPr/>
          <p:nvPr/>
        </p:nvSpPr>
        <p:spPr>
          <a:xfrm>
            <a:off x="3200400" y="3657600"/>
            <a:ext cx="2743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ispesimen</a:t>
            </a:r>
            <a:endParaRPr lang="en-US" sz="3200" dirty="0"/>
          </a:p>
        </p:txBody>
      </p:sp>
      <p:sp>
        <p:nvSpPr>
          <p:cNvPr id="13" name="Rounded Rectangle 12"/>
          <p:cNvSpPr/>
          <p:nvPr/>
        </p:nvSpPr>
        <p:spPr>
          <a:xfrm>
            <a:off x="3200400" y="4572000"/>
            <a:ext cx="2743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papet</a:t>
            </a:r>
            <a:endParaRPr lang="en-US" sz="3200" dirty="0"/>
          </a:p>
        </p:txBody>
      </p:sp>
      <p:sp>
        <p:nvSpPr>
          <p:cNvPr id="14" name="Rounded Rectangle 13"/>
          <p:cNvSpPr/>
          <p:nvPr/>
        </p:nvSpPr>
        <p:spPr>
          <a:xfrm>
            <a:off x="3200400" y="5486400"/>
            <a:ext cx="2743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mock-up</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err="1" smtClean="0"/>
              <a:t>Ano</a:t>
            </a:r>
            <a:r>
              <a:rPr lang="en-US" sz="3600" dirty="0" smtClean="0"/>
              <a:t> </a:t>
            </a:r>
            <a:r>
              <a:rPr lang="en-US" sz="3600" dirty="0" err="1" smtClean="0"/>
              <a:t>ang</a:t>
            </a:r>
            <a:r>
              <a:rPr lang="en-US" sz="3600" dirty="0" smtClean="0"/>
              <a:t> </a:t>
            </a:r>
            <a:r>
              <a:rPr lang="en-US" sz="3600" dirty="0" err="1" smtClean="0"/>
              <a:t>kahulugan</a:t>
            </a:r>
            <a:r>
              <a:rPr lang="en-US" sz="3600" dirty="0" smtClean="0"/>
              <a:t> </a:t>
            </a:r>
            <a:r>
              <a:rPr lang="en-US" sz="3600" dirty="0" err="1" smtClean="0"/>
              <a:t>ng</a:t>
            </a:r>
            <a:r>
              <a:rPr lang="en-US" sz="3600" dirty="0" smtClean="0"/>
              <a:t> </a:t>
            </a:r>
            <a:r>
              <a:rPr lang="en-US" sz="3600" dirty="0" err="1" smtClean="0"/>
              <a:t>idyomang</a:t>
            </a:r>
            <a:r>
              <a:rPr lang="en-US" sz="3600" dirty="0" smtClean="0"/>
              <a:t> </a:t>
            </a:r>
            <a:r>
              <a:rPr lang="en-US" sz="3600" dirty="0" err="1" smtClean="0"/>
              <a:t>ginamit</a:t>
            </a:r>
            <a:r>
              <a:rPr lang="en-US" sz="3600" dirty="0" smtClean="0"/>
              <a:t> </a:t>
            </a:r>
            <a:r>
              <a:rPr lang="en-US" sz="3600" dirty="0" err="1" smtClean="0"/>
              <a:t>sa</a:t>
            </a:r>
            <a:r>
              <a:rPr lang="en-US" sz="3600" dirty="0" smtClean="0"/>
              <a:t> </a:t>
            </a:r>
            <a:r>
              <a:rPr lang="en-US" sz="3600" dirty="0" err="1" smtClean="0"/>
              <a:t>pangungusap</a:t>
            </a:r>
            <a:r>
              <a:rPr lang="en-US" sz="3600" dirty="0" smtClean="0"/>
              <a:t> </a:t>
            </a:r>
            <a:r>
              <a:rPr lang="en-US" sz="3600" dirty="0" err="1" smtClean="0"/>
              <a:t>na</a:t>
            </a:r>
            <a:r>
              <a:rPr lang="en-US" sz="3600" dirty="0" smtClean="0"/>
              <a:t> “</a:t>
            </a:r>
            <a:r>
              <a:rPr lang="en-US" sz="3600" dirty="0" err="1" smtClean="0"/>
              <a:t>Marami</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magsasaka</a:t>
            </a:r>
            <a:r>
              <a:rPr lang="en-US" sz="3600" dirty="0" smtClean="0"/>
              <a:t> </a:t>
            </a:r>
            <a:r>
              <a:rPr lang="en-US" sz="3600" dirty="0" err="1" smtClean="0"/>
              <a:t>ang</a:t>
            </a:r>
            <a:r>
              <a:rPr lang="en-US" sz="3600" dirty="0" smtClean="0"/>
              <a:t> INALAT </a:t>
            </a:r>
            <a:r>
              <a:rPr lang="en-US" sz="3600" dirty="0" err="1" smtClean="0"/>
              <a:t>dahil</a:t>
            </a:r>
            <a:r>
              <a:rPr lang="en-US" sz="3600" dirty="0" smtClean="0"/>
              <a:t> </a:t>
            </a:r>
            <a:r>
              <a:rPr lang="en-US" sz="3600" dirty="0" err="1" smtClean="0"/>
              <a:t>sa</a:t>
            </a:r>
            <a:r>
              <a:rPr lang="en-US" sz="3600" dirty="0" smtClean="0"/>
              <a:t> </a:t>
            </a:r>
            <a:r>
              <a:rPr lang="en-US" sz="3600" dirty="0" err="1" smtClean="0"/>
              <a:t>patuloy</a:t>
            </a:r>
            <a:r>
              <a:rPr lang="en-US" sz="3600" dirty="0" smtClean="0"/>
              <a:t> </a:t>
            </a:r>
            <a:r>
              <a:rPr lang="en-US" sz="3600" dirty="0" err="1" smtClean="0"/>
              <a:t>na</a:t>
            </a:r>
            <a:r>
              <a:rPr lang="en-US" sz="3600" dirty="0" smtClean="0"/>
              <a:t> </a:t>
            </a:r>
            <a:r>
              <a:rPr lang="en-US" sz="3600" dirty="0" err="1" smtClean="0"/>
              <a:t>pagbuhos</a:t>
            </a:r>
            <a:r>
              <a:rPr lang="en-US" sz="3600" dirty="0" smtClean="0"/>
              <a:t> </a:t>
            </a:r>
            <a:r>
              <a:rPr lang="en-US" sz="3600" dirty="0" err="1" smtClean="0"/>
              <a:t>ng</a:t>
            </a:r>
            <a:r>
              <a:rPr lang="en-US" sz="3600" dirty="0" smtClean="0"/>
              <a:t> </a:t>
            </a:r>
            <a:r>
              <a:rPr lang="en-US" sz="3600" dirty="0" err="1" smtClean="0"/>
              <a:t>ulan</a:t>
            </a:r>
            <a:r>
              <a:rPr lang="en-US" sz="3600" dirty="0" smtClean="0"/>
              <a:t>”?</a:t>
            </a:r>
            <a:endParaRPr lang="en-US" sz="3600" dirty="0"/>
          </a:p>
        </p:txBody>
      </p:sp>
      <p:sp>
        <p:nvSpPr>
          <p:cNvPr id="7" name="Rounded Rectangle 6"/>
          <p:cNvSpPr/>
          <p:nvPr/>
        </p:nvSpPr>
        <p:spPr>
          <a:xfrm>
            <a:off x="2476500" y="2743200"/>
            <a:ext cx="41910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Nawalan</a:t>
            </a:r>
            <a:r>
              <a:rPr lang="en-US" sz="3200" dirty="0" smtClean="0"/>
              <a:t> </a:t>
            </a:r>
            <a:r>
              <a:rPr lang="en-US" sz="3200" dirty="0" err="1" smtClean="0"/>
              <a:t>ng</a:t>
            </a:r>
            <a:r>
              <a:rPr lang="en-US" sz="3200" dirty="0" smtClean="0"/>
              <a:t> </a:t>
            </a:r>
            <a:r>
              <a:rPr lang="en-US" sz="3200" dirty="0" err="1" smtClean="0"/>
              <a:t>pag-asa</a:t>
            </a:r>
            <a:endParaRPr lang="en-US" sz="3200" dirty="0"/>
          </a:p>
        </p:txBody>
      </p:sp>
      <p:sp>
        <p:nvSpPr>
          <p:cNvPr id="12" name="Rounded Rectangle 11"/>
          <p:cNvSpPr/>
          <p:nvPr/>
        </p:nvSpPr>
        <p:spPr>
          <a:xfrm>
            <a:off x="2438400" y="3657600"/>
            <a:ext cx="4191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nanibago</a:t>
            </a:r>
            <a:endParaRPr lang="en-US" sz="3200" dirty="0"/>
          </a:p>
        </p:txBody>
      </p:sp>
      <p:sp>
        <p:nvSpPr>
          <p:cNvPr id="13" name="Rounded Rectangle 12"/>
          <p:cNvSpPr/>
          <p:nvPr/>
        </p:nvSpPr>
        <p:spPr>
          <a:xfrm>
            <a:off x="2438400" y="4572000"/>
            <a:ext cx="4191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nagalit</a:t>
            </a:r>
            <a:endParaRPr lang="en-US" sz="3200" dirty="0"/>
          </a:p>
        </p:txBody>
      </p:sp>
      <p:sp>
        <p:nvSpPr>
          <p:cNvPr id="14" name="Rounded Rectangle 13"/>
          <p:cNvSpPr/>
          <p:nvPr/>
        </p:nvSpPr>
        <p:spPr>
          <a:xfrm>
            <a:off x="2438400" y="5486400"/>
            <a:ext cx="4191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minalas</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0" y="5638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477962"/>
          </a:xfrm>
        </p:spPr>
        <p:txBody>
          <a:bodyPr>
            <a:normAutofit fontScale="90000"/>
          </a:bodyPr>
          <a:lstStyle/>
          <a:p>
            <a:pPr algn="just"/>
            <a:r>
              <a:rPr lang="en-US" sz="3600" dirty="0" err="1" smtClean="0"/>
              <a:t>Mapangarapin</a:t>
            </a:r>
            <a:r>
              <a:rPr lang="en-US" sz="3600" dirty="0" smtClean="0"/>
              <a:t> </a:t>
            </a:r>
            <a:r>
              <a:rPr lang="en-US" sz="3600" dirty="0" err="1" smtClean="0"/>
              <a:t>ang</a:t>
            </a:r>
            <a:r>
              <a:rPr lang="en-US" sz="3600" dirty="0" smtClean="0"/>
              <a:t> </a:t>
            </a:r>
            <a:r>
              <a:rPr lang="en-US" sz="3600" dirty="0" err="1" smtClean="0"/>
              <a:t>maliliit</a:t>
            </a:r>
            <a:r>
              <a:rPr lang="en-US" sz="3600" dirty="0" smtClean="0"/>
              <a:t>! </a:t>
            </a:r>
            <a:r>
              <a:rPr lang="en-US" sz="3600" dirty="0" err="1" smtClean="0"/>
              <a:t>Ang</a:t>
            </a:r>
            <a:r>
              <a:rPr lang="en-US" sz="3600" dirty="0" smtClean="0"/>
              <a:t> </a:t>
            </a:r>
            <a:r>
              <a:rPr lang="en-US" sz="3600" dirty="0" err="1" smtClean="0"/>
              <a:t>ibig</a:t>
            </a:r>
            <a:r>
              <a:rPr lang="en-US" sz="3600" dirty="0" smtClean="0"/>
              <a:t> </a:t>
            </a:r>
            <a:r>
              <a:rPr lang="en-US" sz="3600" dirty="0" err="1" smtClean="0"/>
              <a:t>sabihin</a:t>
            </a:r>
            <a:r>
              <a:rPr lang="en-US" sz="3600" dirty="0" smtClean="0"/>
              <a:t>  </a:t>
            </a:r>
            <a:r>
              <a:rPr lang="en-US" sz="3600" dirty="0" err="1" smtClean="0"/>
              <a:t>ng</a:t>
            </a:r>
            <a:r>
              <a:rPr lang="en-US" sz="3600" dirty="0" smtClean="0"/>
              <a:t> </a:t>
            </a:r>
            <a:r>
              <a:rPr lang="en-US" sz="3600" dirty="0" err="1" smtClean="0"/>
              <a:t>pahayag</a:t>
            </a:r>
            <a:r>
              <a:rPr lang="en-US" sz="3600" dirty="0" smtClean="0"/>
              <a:t> </a:t>
            </a:r>
            <a:r>
              <a:rPr lang="en-US" sz="3600" dirty="0" err="1" smtClean="0"/>
              <a:t>na</a:t>
            </a:r>
            <a:r>
              <a:rPr lang="en-US" sz="3600" dirty="0" smtClean="0"/>
              <a:t> </a:t>
            </a:r>
            <a:r>
              <a:rPr lang="en-US" sz="3600" dirty="0" err="1" smtClean="0"/>
              <a:t>ito</a:t>
            </a:r>
            <a:r>
              <a:rPr lang="en-US" sz="3600" dirty="0" smtClean="0"/>
              <a:t> ay </a:t>
            </a:r>
            <a:r>
              <a:rPr lang="en-US" sz="3600" dirty="0" err="1" smtClean="0"/>
              <a:t>ang</a:t>
            </a:r>
            <a:r>
              <a:rPr lang="en-US" sz="3600" dirty="0" smtClean="0"/>
              <a:t> </a:t>
            </a:r>
            <a:r>
              <a:rPr lang="en-US" sz="3600" dirty="0" err="1" smtClean="0"/>
              <a:t>mga</a:t>
            </a:r>
            <a:r>
              <a:rPr lang="en-US" sz="3600" dirty="0" smtClean="0"/>
              <a:t> </a:t>
            </a:r>
            <a:r>
              <a:rPr lang="en-US" sz="3600" dirty="0" err="1" smtClean="0"/>
              <a:t>taong</a:t>
            </a:r>
            <a:r>
              <a:rPr lang="en-US" sz="3600" dirty="0" smtClean="0"/>
              <a:t> </a:t>
            </a:r>
            <a:r>
              <a:rPr lang="en-US" sz="3600" dirty="0" err="1" smtClean="0"/>
              <a:t>mahihirap</a:t>
            </a:r>
            <a:r>
              <a:rPr lang="en-US" sz="3600" dirty="0" smtClean="0"/>
              <a:t> ay __________.</a:t>
            </a:r>
            <a:endParaRPr lang="en-US" sz="3600" dirty="0"/>
          </a:p>
        </p:txBody>
      </p:sp>
      <p:sp>
        <p:nvSpPr>
          <p:cNvPr id="8" name="Rounded Rectangle 7"/>
          <p:cNvSpPr/>
          <p:nvPr/>
        </p:nvSpPr>
        <p:spPr>
          <a:xfrm>
            <a:off x="914400" y="2438400"/>
            <a:ext cx="777240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A. </a:t>
            </a:r>
            <a:r>
              <a:rPr lang="en-US" sz="2800" dirty="0" err="1" smtClean="0"/>
              <a:t>Nais</a:t>
            </a:r>
            <a:r>
              <a:rPr lang="en-US" sz="2800" dirty="0" smtClean="0"/>
              <a:t> </a:t>
            </a:r>
            <a:r>
              <a:rPr lang="en-US" sz="2800" dirty="0" err="1" smtClean="0"/>
              <a:t>umangat</a:t>
            </a:r>
            <a:r>
              <a:rPr lang="en-US" sz="2800" dirty="0" smtClean="0"/>
              <a:t> </a:t>
            </a:r>
            <a:r>
              <a:rPr lang="en-US" sz="2800" dirty="0" err="1" smtClean="0"/>
              <a:t>sa</a:t>
            </a:r>
            <a:r>
              <a:rPr lang="en-US" sz="2800" dirty="0" smtClean="0"/>
              <a:t> </a:t>
            </a:r>
            <a:r>
              <a:rPr lang="en-US" sz="2800" dirty="0" err="1" smtClean="0"/>
              <a:t>buhay</a:t>
            </a:r>
            <a:r>
              <a:rPr lang="en-US" sz="2800" dirty="0" smtClean="0"/>
              <a:t> </a:t>
            </a:r>
            <a:r>
              <a:rPr lang="en-US" sz="2800" dirty="0" err="1" smtClean="0"/>
              <a:t>kaya</a:t>
            </a:r>
            <a:r>
              <a:rPr lang="en-US" sz="2800" dirty="0" smtClean="0"/>
              <a:t> </a:t>
            </a:r>
            <a:r>
              <a:rPr lang="en-US" sz="2800" dirty="0" err="1" smtClean="0"/>
              <a:t>nakikipagsapalaran</a:t>
            </a:r>
            <a:endParaRPr lang="en-US" sz="2800" dirty="0"/>
          </a:p>
        </p:txBody>
      </p:sp>
      <p:sp>
        <p:nvSpPr>
          <p:cNvPr id="9" name="Rounded Rectangle 8"/>
          <p:cNvSpPr/>
          <p:nvPr/>
        </p:nvSpPr>
        <p:spPr>
          <a:xfrm>
            <a:off x="914400" y="3581400"/>
            <a:ext cx="7772400" cy="738554"/>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May </a:t>
            </a:r>
            <a:r>
              <a:rPr lang="en-US" sz="3200" dirty="0" err="1" smtClean="0"/>
              <a:t>pangarap</a:t>
            </a:r>
            <a:r>
              <a:rPr lang="en-US" sz="3200" dirty="0" smtClean="0"/>
              <a:t> </a:t>
            </a:r>
            <a:r>
              <a:rPr lang="en-US" sz="3200" dirty="0" err="1" smtClean="0"/>
              <a:t>na</a:t>
            </a:r>
            <a:r>
              <a:rPr lang="en-US" sz="3200" dirty="0" smtClean="0"/>
              <a:t> </a:t>
            </a:r>
            <a:r>
              <a:rPr lang="en-US" sz="3200" dirty="0" err="1" smtClean="0"/>
              <a:t>guminhawa</a:t>
            </a:r>
            <a:endParaRPr lang="en-US" sz="3200" dirty="0"/>
          </a:p>
        </p:txBody>
      </p:sp>
      <p:sp>
        <p:nvSpPr>
          <p:cNvPr id="10" name="Rounded Rectangle 9"/>
          <p:cNvSpPr/>
          <p:nvPr/>
        </p:nvSpPr>
        <p:spPr>
          <a:xfrm>
            <a:off x="914400" y="4648200"/>
            <a:ext cx="7772400" cy="8616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Nananaginip</a:t>
            </a:r>
            <a:r>
              <a:rPr lang="en-US" sz="3200" dirty="0" smtClean="0"/>
              <a:t> </a:t>
            </a:r>
            <a:r>
              <a:rPr lang="en-US" sz="3200" dirty="0" err="1" smtClean="0"/>
              <a:t>ng</a:t>
            </a:r>
            <a:r>
              <a:rPr lang="en-US" sz="3200" dirty="0" smtClean="0"/>
              <a:t> </a:t>
            </a:r>
            <a:r>
              <a:rPr lang="en-US" sz="3200" dirty="0" err="1" smtClean="0"/>
              <a:t>gising</a:t>
            </a:r>
            <a:endParaRPr lang="en-US" sz="3200" dirty="0"/>
          </a:p>
        </p:txBody>
      </p:sp>
      <p:sp>
        <p:nvSpPr>
          <p:cNvPr id="11" name="Rounded Rectangle 10"/>
          <p:cNvSpPr/>
          <p:nvPr/>
        </p:nvSpPr>
        <p:spPr>
          <a:xfrm>
            <a:off x="914400" y="5767754"/>
            <a:ext cx="7772400" cy="709246"/>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a:t>
            </a:r>
            <a:r>
              <a:rPr lang="en-US" sz="3200" dirty="0" err="1" smtClean="0">
                <a:solidFill>
                  <a:sysClr val="windowText" lastClr="000000"/>
                </a:solidFill>
              </a:rPr>
              <a:t>Gustong</a:t>
            </a:r>
            <a:r>
              <a:rPr lang="en-US" sz="3200" dirty="0" smtClean="0">
                <a:solidFill>
                  <a:sysClr val="windowText" lastClr="000000"/>
                </a:solidFill>
              </a:rPr>
              <a:t> </a:t>
            </a:r>
            <a:r>
              <a:rPr lang="en-US" sz="3200" dirty="0" err="1" smtClean="0">
                <a:solidFill>
                  <a:sysClr val="windowText" lastClr="000000"/>
                </a:solidFill>
              </a:rPr>
              <a:t>lumipad</a:t>
            </a:r>
            <a:r>
              <a:rPr lang="en-US" sz="3200" dirty="0" smtClean="0">
                <a:solidFill>
                  <a:sysClr val="windowText" lastClr="000000"/>
                </a:solidFill>
              </a:rPr>
              <a:t> </a:t>
            </a:r>
            <a:r>
              <a:rPr lang="en-US" sz="3200" dirty="0" err="1" smtClean="0">
                <a:solidFill>
                  <a:sysClr val="windowText" lastClr="000000"/>
                </a:solidFill>
              </a:rPr>
              <a:t>sa</a:t>
            </a:r>
            <a:r>
              <a:rPr lang="en-US" sz="3200" dirty="0" smtClean="0">
                <a:solidFill>
                  <a:sysClr val="windowText" lastClr="000000"/>
                </a:solidFill>
              </a:rPr>
              <a:t> </a:t>
            </a:r>
            <a:r>
              <a:rPr lang="en-US" sz="3200" dirty="0" err="1" smtClean="0">
                <a:solidFill>
                  <a:sysClr val="windowText" lastClr="000000"/>
                </a:solidFill>
              </a:rPr>
              <a:t>alapaap</a:t>
            </a:r>
            <a:endParaRPr lang="en-US" sz="3200" dirty="0">
              <a:solidFill>
                <a:sysClr val="windowText" lastClr="000000"/>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8600" y="2667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err="1" smtClean="0"/>
              <a:t>Aling</a:t>
            </a:r>
            <a:r>
              <a:rPr lang="en-US" sz="3600" dirty="0" smtClean="0"/>
              <a:t> </a:t>
            </a:r>
            <a:r>
              <a:rPr lang="en-US" sz="3600" dirty="0" err="1" smtClean="0"/>
              <a:t>pamaraan</a:t>
            </a:r>
            <a:r>
              <a:rPr lang="en-US" sz="3600" dirty="0" smtClean="0"/>
              <a:t> </a:t>
            </a:r>
            <a:r>
              <a:rPr lang="en-US" sz="3600" dirty="0" err="1" smtClean="0"/>
              <a:t>ang</a:t>
            </a:r>
            <a:r>
              <a:rPr lang="en-US" sz="3600" dirty="0" smtClean="0"/>
              <a:t> </a:t>
            </a:r>
            <a:r>
              <a:rPr lang="en-US" sz="3600" dirty="0" err="1" smtClean="0"/>
              <a:t>ginagamit</a:t>
            </a:r>
            <a:r>
              <a:rPr lang="en-US" sz="3600" dirty="0" smtClean="0"/>
              <a:t> </a:t>
            </a:r>
            <a:r>
              <a:rPr lang="en-US" sz="3600" dirty="0" err="1" smtClean="0"/>
              <a:t>ng</a:t>
            </a:r>
            <a:r>
              <a:rPr lang="en-US" sz="3600" dirty="0" smtClean="0"/>
              <a:t> </a:t>
            </a:r>
            <a:r>
              <a:rPr lang="en-US" sz="3600" dirty="0" err="1" smtClean="0"/>
              <a:t>guro</a:t>
            </a:r>
            <a:r>
              <a:rPr lang="en-US" sz="3600" dirty="0" smtClean="0"/>
              <a:t> </a:t>
            </a:r>
            <a:r>
              <a:rPr lang="en-US" sz="3600" dirty="0" err="1" smtClean="0"/>
              <a:t>na</a:t>
            </a:r>
            <a:r>
              <a:rPr lang="en-US" sz="3600" dirty="0" smtClean="0"/>
              <a:t> </a:t>
            </a:r>
            <a:r>
              <a:rPr lang="en-US" sz="3600" dirty="0" err="1" smtClean="0"/>
              <a:t>nagsisimula</a:t>
            </a:r>
            <a:r>
              <a:rPr lang="en-US" sz="3600" dirty="0" smtClean="0"/>
              <a:t> </a:t>
            </a:r>
            <a:r>
              <a:rPr lang="en-US" sz="3600" dirty="0" err="1" smtClean="0"/>
              <a:t>sa</a:t>
            </a:r>
            <a:r>
              <a:rPr lang="en-US" sz="3600" dirty="0" smtClean="0"/>
              <a:t> </a:t>
            </a:r>
            <a:r>
              <a:rPr lang="en-US" sz="3600" dirty="0" err="1" smtClean="0"/>
              <a:t>mga</a:t>
            </a:r>
            <a:r>
              <a:rPr lang="en-US" sz="3600" dirty="0" smtClean="0"/>
              <a:t> </a:t>
            </a:r>
            <a:r>
              <a:rPr lang="en-US" sz="3600" dirty="0" err="1" smtClean="0"/>
              <a:t>halimbawa</a:t>
            </a:r>
            <a:r>
              <a:rPr lang="en-US" sz="3600" dirty="0" smtClean="0"/>
              <a:t> </a:t>
            </a:r>
            <a:r>
              <a:rPr lang="en-US" sz="3600" dirty="0" err="1" smtClean="0"/>
              <a:t>patungo</a:t>
            </a:r>
            <a:r>
              <a:rPr lang="en-US" sz="3600" dirty="0" smtClean="0"/>
              <a:t> </a:t>
            </a:r>
            <a:r>
              <a:rPr lang="en-US" sz="3600" dirty="0" err="1" smtClean="0"/>
              <a:t>sa</a:t>
            </a:r>
            <a:r>
              <a:rPr lang="en-US" sz="3600" dirty="0" smtClean="0"/>
              <a:t> </a:t>
            </a:r>
            <a:r>
              <a:rPr lang="en-US" sz="3600" dirty="0" err="1" smtClean="0"/>
              <a:t>paglalahat</a:t>
            </a:r>
            <a:r>
              <a:rPr lang="en-US" sz="3600" dirty="0" smtClean="0"/>
              <a:t>?</a:t>
            </a:r>
            <a:endParaRPr lang="en-US" sz="3600" dirty="0"/>
          </a:p>
        </p:txBody>
      </p:sp>
      <p:sp>
        <p:nvSpPr>
          <p:cNvPr id="7" name="Rounded Rectangle 6"/>
          <p:cNvSpPr/>
          <p:nvPr/>
        </p:nvSpPr>
        <p:spPr>
          <a:xfrm>
            <a:off x="3390900" y="2743200"/>
            <a:ext cx="23622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Pabalak</a:t>
            </a:r>
            <a:r>
              <a:rPr lang="en-US" sz="3200" dirty="0" smtClean="0"/>
              <a:t> </a:t>
            </a:r>
            <a:endParaRPr lang="en-US" sz="3200" dirty="0"/>
          </a:p>
        </p:txBody>
      </p:sp>
      <p:sp>
        <p:nvSpPr>
          <p:cNvPr id="12" name="Rounded Rectangle 11"/>
          <p:cNvSpPr/>
          <p:nvPr/>
        </p:nvSpPr>
        <p:spPr>
          <a:xfrm>
            <a:off x="3352800" y="3657600"/>
            <a:ext cx="23622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Pasaklaw</a:t>
            </a:r>
            <a:endParaRPr lang="en-US" sz="3200" dirty="0"/>
          </a:p>
        </p:txBody>
      </p:sp>
      <p:sp>
        <p:nvSpPr>
          <p:cNvPr id="13" name="Rounded Rectangle 12"/>
          <p:cNvSpPr/>
          <p:nvPr/>
        </p:nvSpPr>
        <p:spPr>
          <a:xfrm>
            <a:off x="3352800" y="4572000"/>
            <a:ext cx="23622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Patuklas</a:t>
            </a:r>
            <a:endParaRPr lang="en-US" sz="3200" dirty="0"/>
          </a:p>
        </p:txBody>
      </p:sp>
      <p:sp>
        <p:nvSpPr>
          <p:cNvPr id="14" name="Rounded Rectangle 13"/>
          <p:cNvSpPr/>
          <p:nvPr/>
        </p:nvSpPr>
        <p:spPr>
          <a:xfrm>
            <a:off x="3352800" y="5486400"/>
            <a:ext cx="23622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Pabuod</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3622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In a certain school, the ratio of boys to girls is 3 to 7. If there are 150 boys and girls in the school, how many boys are there?</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105</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90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45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75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One angle of a parallelogram is 35. What are the measures of the other three angles?</a:t>
            </a:r>
            <a:endParaRPr lang="en-US" sz="3600" dirty="0"/>
          </a:p>
        </p:txBody>
      </p:sp>
      <p:sp>
        <p:nvSpPr>
          <p:cNvPr id="7" name="Rounded Rectangle 6"/>
          <p:cNvSpPr/>
          <p:nvPr/>
        </p:nvSpPr>
        <p:spPr>
          <a:xfrm>
            <a:off x="2895600" y="2743200"/>
            <a:ext cx="3238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45°, 65°, 170°</a:t>
            </a:r>
            <a:endParaRPr lang="en-US" sz="3200" dirty="0"/>
          </a:p>
        </p:txBody>
      </p:sp>
      <p:sp>
        <p:nvSpPr>
          <p:cNvPr id="12" name="Rounded Rectangle 11"/>
          <p:cNvSpPr/>
          <p:nvPr/>
        </p:nvSpPr>
        <p:spPr>
          <a:xfrm>
            <a:off x="2895600" y="3657600"/>
            <a:ext cx="3200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85°, 135°, 140°</a:t>
            </a:r>
            <a:endParaRPr lang="en-US" sz="3200" dirty="0"/>
          </a:p>
        </p:txBody>
      </p:sp>
      <p:sp>
        <p:nvSpPr>
          <p:cNvPr id="13" name="Rounded Rectangle 12"/>
          <p:cNvSpPr/>
          <p:nvPr/>
        </p:nvSpPr>
        <p:spPr>
          <a:xfrm>
            <a:off x="2895600" y="4572000"/>
            <a:ext cx="3200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145°, 35°, 145°</a:t>
            </a:r>
            <a:endParaRPr lang="en-US" sz="3200" dirty="0"/>
          </a:p>
        </p:txBody>
      </p:sp>
      <p:sp>
        <p:nvSpPr>
          <p:cNvPr id="14" name="Rounded Rectangle 13"/>
          <p:cNvSpPr/>
          <p:nvPr/>
        </p:nvSpPr>
        <p:spPr>
          <a:xfrm>
            <a:off x="2895600" y="5486400"/>
            <a:ext cx="3200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a:solidFill>
                  <a:schemeClr val="tx1"/>
                </a:solidFill>
              </a:rPr>
              <a:t>3</a:t>
            </a:r>
            <a:r>
              <a:rPr lang="en-US" sz="3200" dirty="0" smtClean="0">
                <a:solidFill>
                  <a:schemeClr val="tx1"/>
                </a:solidFill>
              </a:rPr>
              <a:t>5°, 65°, 65°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The edges of a rectangular solid have these measures: 1.5 ft x ½ ft x 3 inches. What is its volume in cubic inches?</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324</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225</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272</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27</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A water tank contains 8 liters when it is 20% full. How many liters does it contain when it is 75% full?</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58</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 following has the largest value?</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7</a:t>
            </a:r>
            <a:r>
              <a:rPr lang="en-US" sz="3200" baseline="30000" dirty="0" smtClean="0"/>
              <a:t>5</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a:t>
            </a:r>
            <a:r>
              <a:rPr lang="en-US" sz="3200" baseline="30000" dirty="0" smtClean="0"/>
              <a:t>9</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6</a:t>
            </a:r>
            <a:r>
              <a:rPr lang="en-US" sz="3200" baseline="30000" dirty="0" smtClean="0"/>
              <a:t>4</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9</a:t>
            </a:r>
            <a:r>
              <a:rPr lang="en-US" sz="3200" baseline="30000" dirty="0" smtClean="0">
                <a:solidFill>
                  <a:schemeClr val="tx1"/>
                </a:solidFill>
              </a:rPr>
              <a:t>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How many degrees are between the hands of a clock at 3:40?</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140°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130°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150°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three fractions has the largest value?</a:t>
            </a:r>
            <a:endParaRPr lang="en-US" sz="3600" dirty="0"/>
          </a:p>
        </p:txBody>
      </p:sp>
      <p:sp>
        <p:nvSpPr>
          <p:cNvPr id="8" name="Rounded Rectangle 7"/>
          <p:cNvSpPr/>
          <p:nvPr/>
        </p:nvSpPr>
        <p:spPr>
          <a:xfrm>
            <a:off x="1981200" y="2928934"/>
            <a:ext cx="1643074"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981200" y="4572008"/>
            <a:ext cx="1643074"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0" name="Rounded Rectangle 9"/>
          <p:cNvSpPr/>
          <p:nvPr/>
        </p:nvSpPr>
        <p:spPr>
          <a:xfrm>
            <a:off x="5367326" y="2928934"/>
            <a:ext cx="1643074"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367326" y="4572008"/>
            <a:ext cx="1643074"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a:t>
            </a:r>
            <a:endParaRPr lang="en-US" sz="3200" dirty="0">
              <a:solidFill>
                <a:sysClr val="windowText" lastClr="000000"/>
              </a:solidFill>
            </a:endParaRPr>
          </a:p>
        </p:txBody>
      </p:sp>
      <p:graphicFrame>
        <p:nvGraphicFramePr>
          <p:cNvPr id="1026" name="Object 2"/>
          <p:cNvGraphicFramePr>
            <a:graphicFrameLocks noChangeAspect="1"/>
          </p:cNvGraphicFramePr>
          <p:nvPr/>
        </p:nvGraphicFramePr>
        <p:xfrm>
          <a:off x="2713061" y="3022600"/>
          <a:ext cx="608012" cy="1049338"/>
        </p:xfrm>
        <a:graphic>
          <a:graphicData uri="http://schemas.openxmlformats.org/presentationml/2006/ole">
            <mc:AlternateContent xmlns:mc="http://schemas.openxmlformats.org/markup-compatibility/2006">
              <mc:Choice xmlns:v="urn:schemas-microsoft-com:vml" Requires="v">
                <p:oleObj spid="_x0000_s1034" name="Equation" r:id="rId3" imgW="228600" imgH="393480" progId="Equation.3">
                  <p:embed/>
                </p:oleObj>
              </mc:Choice>
              <mc:Fallback>
                <p:oleObj name="Equation" r:id="rId3" imgW="22860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061" y="3022600"/>
                        <a:ext cx="608012"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nvGraphicFramePr>
        <p:xfrm>
          <a:off x="2813073" y="4595813"/>
          <a:ext cx="406400" cy="1047750"/>
        </p:xfrm>
        <a:graphic>
          <a:graphicData uri="http://schemas.openxmlformats.org/presentationml/2006/ole">
            <mc:AlternateContent xmlns:mc="http://schemas.openxmlformats.org/markup-compatibility/2006">
              <mc:Choice xmlns:v="urn:schemas-microsoft-com:vml" Requires="v">
                <p:oleObj spid="_x0000_s1035" name="Equation" r:id="rId5" imgW="152280" imgH="393480" progId="Equation.3">
                  <p:embed/>
                </p:oleObj>
              </mc:Choice>
              <mc:Fallback>
                <p:oleObj name="Equation" r:id="rId5" imgW="152280" imgH="393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3073" y="4595813"/>
                        <a:ext cx="4064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4"/>
          <p:cNvGraphicFramePr>
            <a:graphicFrameLocks noChangeAspect="1"/>
          </p:cNvGraphicFramePr>
          <p:nvPr/>
        </p:nvGraphicFramePr>
        <p:xfrm>
          <a:off x="6080117" y="3000375"/>
          <a:ext cx="614362" cy="1003300"/>
        </p:xfrm>
        <a:graphic>
          <a:graphicData uri="http://schemas.openxmlformats.org/presentationml/2006/ole">
            <mc:AlternateContent xmlns:mc="http://schemas.openxmlformats.org/markup-compatibility/2006">
              <mc:Choice xmlns:v="urn:schemas-microsoft-com:vml" Requires="v">
                <p:oleObj spid="_x0000_s1036" name="Equation" r:id="rId7" imgW="241200" imgH="393480" progId="Equation.3">
                  <p:embed/>
                </p:oleObj>
              </mc:Choice>
              <mc:Fallback>
                <p:oleObj name="Equation" r:id="rId7" imgW="241200" imgH="3934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0117" y="3000375"/>
                        <a:ext cx="614362"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5"/>
          <p:cNvGraphicFramePr>
            <a:graphicFrameLocks noChangeAspect="1"/>
          </p:cNvGraphicFramePr>
          <p:nvPr/>
        </p:nvGraphicFramePr>
        <p:xfrm>
          <a:off x="6200767" y="4643438"/>
          <a:ext cx="404812" cy="1047750"/>
        </p:xfrm>
        <a:graphic>
          <a:graphicData uri="http://schemas.openxmlformats.org/presentationml/2006/ole">
            <mc:AlternateContent xmlns:mc="http://schemas.openxmlformats.org/markup-compatibility/2006">
              <mc:Choice xmlns:v="urn:schemas-microsoft-com:vml" Requires="v">
                <p:oleObj spid="_x0000_s1037" name="Equation" r:id="rId9" imgW="152280" imgH="393480" progId="Equation.3">
                  <p:embed/>
                </p:oleObj>
              </mc:Choice>
              <mc:Fallback>
                <p:oleObj name="Equation" r:id="rId9" imgW="152280" imgH="39348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00767" y="4643438"/>
                        <a:ext cx="404812"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x = 3 and y = 2, then 2x + 3y = ______.</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12</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14</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5</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has a value different from the other three?</a:t>
            </a:r>
            <a:endParaRPr lang="en-US" sz="3600" dirty="0"/>
          </a:p>
        </p:txBody>
      </p:sp>
      <p:sp>
        <p:nvSpPr>
          <p:cNvPr id="7" name="Rounded Rectangle 6"/>
          <p:cNvSpPr/>
          <p:nvPr/>
        </p:nvSpPr>
        <p:spPr>
          <a:xfrm>
            <a:off x="1752600" y="29718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15%</a:t>
            </a:r>
            <a:endParaRPr lang="en-US" sz="3200" dirty="0"/>
          </a:p>
        </p:txBody>
      </p:sp>
      <p:sp>
        <p:nvSpPr>
          <p:cNvPr id="12" name="Rounded Rectangle 11"/>
          <p:cNvSpPr/>
          <p:nvPr/>
        </p:nvSpPr>
        <p:spPr>
          <a:xfrm>
            <a:off x="1752600" y="3962400"/>
            <a:ext cx="1447800" cy="1371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3" name="Rounded Rectangle 12"/>
          <p:cNvSpPr/>
          <p:nvPr/>
        </p:nvSpPr>
        <p:spPr>
          <a:xfrm>
            <a:off x="5410200" y="29718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.15</a:t>
            </a:r>
            <a:endParaRPr lang="en-US" sz="3200" dirty="0"/>
          </a:p>
        </p:txBody>
      </p:sp>
      <p:sp>
        <p:nvSpPr>
          <p:cNvPr id="14" name="Rounded Rectangle 13"/>
          <p:cNvSpPr/>
          <p:nvPr/>
        </p:nvSpPr>
        <p:spPr>
          <a:xfrm>
            <a:off x="5410200" y="3962400"/>
            <a:ext cx="1447800" cy="1371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tx1"/>
                </a:solidFill>
              </a:rPr>
              <a:t>D. </a:t>
            </a:r>
            <a:endParaRPr lang="en-US" sz="3200" dirty="0">
              <a:solidFill>
                <a:schemeClr val="tx1"/>
              </a:solidFill>
            </a:endParaRPr>
          </a:p>
        </p:txBody>
      </p:sp>
      <p:graphicFrame>
        <p:nvGraphicFramePr>
          <p:cNvPr id="2050" name="Object 2"/>
          <p:cNvGraphicFramePr>
            <a:graphicFrameLocks noChangeAspect="1"/>
          </p:cNvGraphicFramePr>
          <p:nvPr/>
        </p:nvGraphicFramePr>
        <p:xfrm>
          <a:off x="2320925" y="4114800"/>
          <a:ext cx="642938" cy="1047750"/>
        </p:xfrm>
        <a:graphic>
          <a:graphicData uri="http://schemas.openxmlformats.org/presentationml/2006/ole">
            <mc:AlternateContent xmlns:mc="http://schemas.openxmlformats.org/markup-compatibility/2006">
              <mc:Choice xmlns:v="urn:schemas-microsoft-com:vml" Requires="v">
                <p:oleObj spid="_x0000_s2054" name="Equation" r:id="rId3" imgW="241200" imgH="393480" progId="Equation.3">
                  <p:embed/>
                </p:oleObj>
              </mc:Choice>
              <mc:Fallback>
                <p:oleObj name="Equation" r:id="rId3" imgW="24120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0925" y="4114800"/>
                        <a:ext cx="642938"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nvGraphicFramePr>
        <p:xfrm>
          <a:off x="6019800" y="4114800"/>
          <a:ext cx="642938" cy="1047750"/>
        </p:xfrm>
        <a:graphic>
          <a:graphicData uri="http://schemas.openxmlformats.org/presentationml/2006/ole">
            <mc:AlternateContent xmlns:mc="http://schemas.openxmlformats.org/markup-compatibility/2006">
              <mc:Choice xmlns:v="urn:schemas-microsoft-com:vml" Requires="v">
                <p:oleObj spid="_x0000_s2055" name="Equation" r:id="rId5" imgW="241200" imgH="393480" progId="Equation.3">
                  <p:embed/>
                </p:oleObj>
              </mc:Choice>
              <mc:Fallback>
                <p:oleObj name="Equation" r:id="rId5" imgW="241200" imgH="393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4114800"/>
                        <a:ext cx="642938"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The vertex angle of an isosceles triangle is 30°. What is the measure of one of the base angles?</a:t>
            </a:r>
            <a:endParaRPr lang="en-US" sz="3600" dirty="0"/>
          </a:p>
        </p:txBody>
      </p:sp>
      <p:sp>
        <p:nvSpPr>
          <p:cNvPr id="7" name="Rounded Rectangle 6"/>
          <p:cNvSpPr/>
          <p:nvPr/>
        </p:nvSpPr>
        <p:spPr>
          <a:xfrm>
            <a:off x="3390900" y="2743200"/>
            <a:ext cx="14478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150°</a:t>
            </a:r>
            <a:endParaRPr lang="en-US" sz="3200" dirty="0"/>
          </a:p>
        </p:txBody>
      </p:sp>
      <p:sp>
        <p:nvSpPr>
          <p:cNvPr id="12" name="Rounded Rectangle 11"/>
          <p:cNvSpPr/>
          <p:nvPr/>
        </p:nvSpPr>
        <p:spPr>
          <a:xfrm>
            <a:off x="3352800" y="3657600"/>
            <a:ext cx="1447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60°</a:t>
            </a:r>
            <a:endParaRPr lang="en-US" sz="3200" dirty="0"/>
          </a:p>
        </p:txBody>
      </p:sp>
      <p:sp>
        <p:nvSpPr>
          <p:cNvPr id="13" name="Rounded Rectangle 12"/>
          <p:cNvSpPr/>
          <p:nvPr/>
        </p:nvSpPr>
        <p:spPr>
          <a:xfrm>
            <a:off x="3352800" y="4572000"/>
            <a:ext cx="1447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75°</a:t>
            </a:r>
            <a:endParaRPr lang="en-US" sz="3200" dirty="0"/>
          </a:p>
        </p:txBody>
      </p:sp>
      <p:sp>
        <p:nvSpPr>
          <p:cNvPr id="14" name="Rounded Rectangle 13"/>
          <p:cNvSpPr/>
          <p:nvPr/>
        </p:nvSpPr>
        <p:spPr>
          <a:xfrm>
            <a:off x="3352800" y="5486400"/>
            <a:ext cx="1447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70°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447800"/>
          </a:xfrm>
        </p:spPr>
        <p:txBody>
          <a:bodyPr>
            <a:normAutofit/>
          </a:bodyPr>
          <a:lstStyle/>
          <a:p>
            <a:pPr algn="just"/>
            <a:r>
              <a:rPr lang="en-US" sz="3600" dirty="0" smtClean="0"/>
              <a:t>What is the value of                                      ?   </a:t>
            </a:r>
            <a:endParaRPr lang="en-US" sz="3600" dirty="0"/>
          </a:p>
        </p:txBody>
      </p:sp>
      <p:graphicFrame>
        <p:nvGraphicFramePr>
          <p:cNvPr id="3074" name="Object 2"/>
          <p:cNvGraphicFramePr>
            <a:graphicFrameLocks noChangeAspect="1"/>
          </p:cNvGraphicFramePr>
          <p:nvPr/>
        </p:nvGraphicFramePr>
        <p:xfrm>
          <a:off x="4267200" y="609600"/>
          <a:ext cx="3689351" cy="1047750"/>
        </p:xfrm>
        <a:graphic>
          <a:graphicData uri="http://schemas.openxmlformats.org/presentationml/2006/ole">
            <mc:AlternateContent xmlns:mc="http://schemas.openxmlformats.org/markup-compatibility/2006">
              <mc:Choice xmlns:v="urn:schemas-microsoft-com:vml" Requires="v">
                <p:oleObj spid="_x0000_s3083" name="Equation" r:id="rId3" imgW="1384200" imgH="393480" progId="Equation.3">
                  <p:embed/>
                </p:oleObj>
              </mc:Choice>
              <mc:Fallback>
                <p:oleObj name="Equation" r:id="rId3" imgW="1384200" imgH="3934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609600"/>
                        <a:ext cx="3689351"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ounded Rectangle 7"/>
          <p:cNvSpPr/>
          <p:nvPr/>
        </p:nvSpPr>
        <p:spPr>
          <a:xfrm>
            <a:off x="1981200" y="2928934"/>
            <a:ext cx="1643074"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981200" y="4572008"/>
            <a:ext cx="1643074"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22 </a:t>
            </a:r>
            <a:endParaRPr lang="en-US" sz="3200" dirty="0"/>
          </a:p>
        </p:txBody>
      </p:sp>
      <p:sp>
        <p:nvSpPr>
          <p:cNvPr id="10" name="Rounded Rectangle 9"/>
          <p:cNvSpPr/>
          <p:nvPr/>
        </p:nvSpPr>
        <p:spPr>
          <a:xfrm>
            <a:off x="5367326" y="2928934"/>
            <a:ext cx="1643074"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367326" y="4572008"/>
            <a:ext cx="1643074"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21 </a:t>
            </a:r>
            <a:endParaRPr lang="en-US" sz="3200" dirty="0">
              <a:solidFill>
                <a:sysClr val="windowText" lastClr="000000"/>
              </a:solidFill>
            </a:endParaRPr>
          </a:p>
        </p:txBody>
      </p:sp>
      <p:graphicFrame>
        <p:nvGraphicFramePr>
          <p:cNvPr id="15" name="Object 2"/>
          <p:cNvGraphicFramePr>
            <a:graphicFrameLocks noChangeAspect="1"/>
          </p:cNvGraphicFramePr>
          <p:nvPr/>
        </p:nvGraphicFramePr>
        <p:xfrm>
          <a:off x="2595563" y="3022600"/>
          <a:ext cx="844550" cy="1049338"/>
        </p:xfrm>
        <a:graphic>
          <a:graphicData uri="http://schemas.openxmlformats.org/presentationml/2006/ole">
            <mc:AlternateContent xmlns:mc="http://schemas.openxmlformats.org/markup-compatibility/2006">
              <mc:Choice xmlns:v="urn:schemas-microsoft-com:vml" Requires="v">
                <p:oleObj spid="_x0000_s3084" name="Equation" r:id="rId5" imgW="317160" imgH="393480" progId="Equation.3">
                  <p:embed/>
                </p:oleObj>
              </mc:Choice>
              <mc:Fallback>
                <p:oleObj name="Equation" r:id="rId5" imgW="317160" imgH="3934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5563" y="3022600"/>
                        <a:ext cx="844550"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9" name="Object 7"/>
          <p:cNvGraphicFramePr>
            <a:graphicFrameLocks noChangeAspect="1"/>
          </p:cNvGraphicFramePr>
          <p:nvPr/>
        </p:nvGraphicFramePr>
        <p:xfrm>
          <a:off x="5943600" y="2971800"/>
          <a:ext cx="844550" cy="1049338"/>
        </p:xfrm>
        <a:graphic>
          <a:graphicData uri="http://schemas.openxmlformats.org/presentationml/2006/ole">
            <mc:AlternateContent xmlns:mc="http://schemas.openxmlformats.org/markup-compatibility/2006">
              <mc:Choice xmlns:v="urn:schemas-microsoft-com:vml" Requires="v">
                <p:oleObj spid="_x0000_s3085" name="Equation" r:id="rId7" imgW="317160" imgH="393480" progId="Equation.3">
                  <p:embed/>
                </p:oleObj>
              </mc:Choice>
              <mc:Fallback>
                <p:oleObj name="Equation" r:id="rId7" imgW="317160" imgH="39348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2971800"/>
                        <a:ext cx="844550"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447800"/>
          </a:xfrm>
        </p:spPr>
        <p:txBody>
          <a:bodyPr>
            <a:normAutofit/>
          </a:bodyPr>
          <a:lstStyle/>
          <a:p>
            <a:pPr algn="just"/>
            <a:r>
              <a:rPr lang="en-US" sz="3600" dirty="0" smtClean="0"/>
              <a:t>Which of these math sentences is NOT CORRECT?</a:t>
            </a:r>
            <a:endParaRPr lang="en-US" sz="3600" dirty="0"/>
          </a:p>
        </p:txBody>
      </p:sp>
      <p:sp>
        <p:nvSpPr>
          <p:cNvPr id="8" name="Rounded Rectangle 7"/>
          <p:cNvSpPr/>
          <p:nvPr/>
        </p:nvSpPr>
        <p:spPr>
          <a:xfrm>
            <a:off x="1371600" y="2895600"/>
            <a:ext cx="2743200" cy="1214446"/>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chemeClr val="bg1"/>
                </a:solidFill>
              </a:rPr>
              <a:t>A. </a:t>
            </a:r>
            <a:endParaRPr lang="en-US" sz="3200" dirty="0">
              <a:solidFill>
                <a:schemeClr val="bg1"/>
              </a:solidFill>
            </a:endParaRPr>
          </a:p>
        </p:txBody>
      </p:sp>
      <p:sp>
        <p:nvSpPr>
          <p:cNvPr id="9" name="Rounded Rectangle 8"/>
          <p:cNvSpPr/>
          <p:nvPr/>
        </p:nvSpPr>
        <p:spPr>
          <a:xfrm>
            <a:off x="1371600" y="4572000"/>
            <a:ext cx="2743200" cy="1143008"/>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B.   </a:t>
            </a:r>
            <a:endParaRPr lang="en-US" sz="3200" dirty="0"/>
          </a:p>
        </p:txBody>
      </p:sp>
      <p:sp>
        <p:nvSpPr>
          <p:cNvPr id="10" name="Rounded Rectangle 9"/>
          <p:cNvSpPr/>
          <p:nvPr/>
        </p:nvSpPr>
        <p:spPr>
          <a:xfrm>
            <a:off x="5257800" y="2895600"/>
            <a:ext cx="2743200" cy="1214446"/>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t>C. </a:t>
            </a:r>
            <a:endParaRPr lang="en-US" sz="3200" dirty="0"/>
          </a:p>
        </p:txBody>
      </p:sp>
      <p:sp>
        <p:nvSpPr>
          <p:cNvPr id="11" name="Rounded Rectangle 10"/>
          <p:cNvSpPr/>
          <p:nvPr/>
        </p:nvSpPr>
        <p:spPr>
          <a:xfrm>
            <a:off x="5257800" y="4572000"/>
            <a:ext cx="2743200" cy="1143008"/>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smtClean="0">
                <a:solidFill>
                  <a:sysClr val="windowText" lastClr="000000"/>
                </a:solidFill>
              </a:rPr>
              <a:t>D. </a:t>
            </a:r>
            <a:endParaRPr lang="en-US" sz="3200" dirty="0">
              <a:solidFill>
                <a:sysClr val="windowText" lastClr="000000"/>
              </a:solidFill>
            </a:endParaRPr>
          </a:p>
        </p:txBody>
      </p:sp>
      <p:graphicFrame>
        <p:nvGraphicFramePr>
          <p:cNvPr id="15" name="Object 2"/>
          <p:cNvGraphicFramePr>
            <a:graphicFrameLocks noChangeAspect="1"/>
          </p:cNvGraphicFramePr>
          <p:nvPr/>
        </p:nvGraphicFramePr>
        <p:xfrm>
          <a:off x="2057400" y="2971800"/>
          <a:ext cx="1925637" cy="1049338"/>
        </p:xfrm>
        <a:graphic>
          <a:graphicData uri="http://schemas.openxmlformats.org/presentationml/2006/ole">
            <mc:AlternateContent xmlns:mc="http://schemas.openxmlformats.org/markup-compatibility/2006">
              <mc:Choice xmlns:v="urn:schemas-microsoft-com:vml" Requires="v">
                <p:oleObj spid="_x0000_s4108" name="Equation" r:id="rId3" imgW="723600" imgH="393480" progId="Equation.3">
                  <p:embed/>
                </p:oleObj>
              </mc:Choice>
              <mc:Fallback>
                <p:oleObj name="Equation" r:id="rId3" imgW="723600" imgH="3934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971800"/>
                        <a:ext cx="1925637"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3"/>
          <p:cNvGraphicFramePr>
            <a:graphicFrameLocks noChangeAspect="1"/>
          </p:cNvGraphicFramePr>
          <p:nvPr/>
        </p:nvGraphicFramePr>
        <p:xfrm>
          <a:off x="1981200" y="4572000"/>
          <a:ext cx="1925638" cy="1049338"/>
        </p:xfrm>
        <a:graphic>
          <a:graphicData uri="http://schemas.openxmlformats.org/presentationml/2006/ole">
            <mc:AlternateContent xmlns:mc="http://schemas.openxmlformats.org/markup-compatibility/2006">
              <mc:Choice xmlns:v="urn:schemas-microsoft-com:vml" Requires="v">
                <p:oleObj spid="_x0000_s4109" name="Equation" r:id="rId5" imgW="723600" imgH="393480" progId="Equation.3">
                  <p:embed/>
                </p:oleObj>
              </mc:Choice>
              <mc:Fallback>
                <p:oleObj name="Equation" r:id="rId5" imgW="723600" imgH="39348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4572000"/>
                        <a:ext cx="1925638"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3"/>
          <p:cNvGraphicFramePr>
            <a:graphicFrameLocks noChangeAspect="1"/>
          </p:cNvGraphicFramePr>
          <p:nvPr/>
        </p:nvGraphicFramePr>
        <p:xfrm>
          <a:off x="5969000" y="2971800"/>
          <a:ext cx="1722438" cy="1049338"/>
        </p:xfrm>
        <a:graphic>
          <a:graphicData uri="http://schemas.openxmlformats.org/presentationml/2006/ole">
            <mc:AlternateContent xmlns:mc="http://schemas.openxmlformats.org/markup-compatibility/2006">
              <mc:Choice xmlns:v="urn:schemas-microsoft-com:vml" Requires="v">
                <p:oleObj spid="_x0000_s4110" name="Equation" r:id="rId7" imgW="647640" imgH="393480" progId="Equation.3">
                  <p:embed/>
                </p:oleObj>
              </mc:Choice>
              <mc:Fallback>
                <p:oleObj name="Equation" r:id="rId7" imgW="647640" imgH="39348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69000" y="2971800"/>
                        <a:ext cx="1722438"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3" name="Object 3"/>
          <p:cNvGraphicFramePr>
            <a:graphicFrameLocks noChangeAspect="1"/>
          </p:cNvGraphicFramePr>
          <p:nvPr/>
        </p:nvGraphicFramePr>
        <p:xfrm>
          <a:off x="5902325" y="4648200"/>
          <a:ext cx="1958975" cy="1049338"/>
        </p:xfrm>
        <a:graphic>
          <a:graphicData uri="http://schemas.openxmlformats.org/presentationml/2006/ole">
            <mc:AlternateContent xmlns:mc="http://schemas.openxmlformats.org/markup-compatibility/2006">
              <mc:Choice xmlns:v="urn:schemas-microsoft-com:vml" Requires="v">
                <p:oleObj spid="_x0000_s4111" name="Equation" r:id="rId9" imgW="736560" imgH="393480" progId="Equation.3">
                  <p:embed/>
                </p:oleObj>
              </mc:Choice>
              <mc:Fallback>
                <p:oleObj name="Equation" r:id="rId9" imgW="736560" imgH="393480" progId="Equation.3">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2325" y="4648200"/>
                        <a:ext cx="1958975" cy="1049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Joseph is 10 years older than his sister. If Joseph was 25 years of age in 1983, in what year could he have been born?</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1948</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1963</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1958</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1953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Joseph is 10 years older than his sister. If Joseph was 25 years of age in 1983, in what year could he have been born?</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1948</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1963</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1958</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1953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number is next in this sequence?</a:t>
            </a:r>
            <a:br>
              <a:rPr lang="en-US" sz="3600" dirty="0" smtClean="0"/>
            </a:br>
            <a:r>
              <a:rPr lang="en-US" sz="3600" dirty="0" smtClean="0"/>
              <a:t>11120, 11260, 11420, 11600</a:t>
            </a:r>
            <a:endParaRPr lang="en-US" sz="3600" dirty="0"/>
          </a:p>
        </p:txBody>
      </p:sp>
      <p:sp>
        <p:nvSpPr>
          <p:cNvPr id="7" name="Rounded Rectangle 6"/>
          <p:cNvSpPr/>
          <p:nvPr/>
        </p:nvSpPr>
        <p:spPr>
          <a:xfrm>
            <a:off x="2869096" y="2743200"/>
            <a:ext cx="2236304"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11820</a:t>
            </a:r>
            <a:endParaRPr lang="en-US" sz="3200" dirty="0"/>
          </a:p>
        </p:txBody>
      </p:sp>
      <p:sp>
        <p:nvSpPr>
          <p:cNvPr id="12" name="Rounded Rectangle 11"/>
          <p:cNvSpPr/>
          <p:nvPr/>
        </p:nvSpPr>
        <p:spPr>
          <a:xfrm>
            <a:off x="2819400" y="3657600"/>
            <a:ext cx="2286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11760</a:t>
            </a:r>
            <a:endParaRPr lang="en-US" sz="3200" dirty="0"/>
          </a:p>
        </p:txBody>
      </p:sp>
      <p:sp>
        <p:nvSpPr>
          <p:cNvPr id="13" name="Rounded Rectangle 12"/>
          <p:cNvSpPr/>
          <p:nvPr/>
        </p:nvSpPr>
        <p:spPr>
          <a:xfrm>
            <a:off x="2819400" y="4572000"/>
            <a:ext cx="2286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11720</a:t>
            </a:r>
            <a:endParaRPr lang="en-US" sz="3200" dirty="0"/>
          </a:p>
        </p:txBody>
      </p:sp>
      <p:sp>
        <p:nvSpPr>
          <p:cNvPr id="14" name="Rounded Rectangle 13"/>
          <p:cNvSpPr/>
          <p:nvPr/>
        </p:nvSpPr>
        <p:spPr>
          <a:xfrm>
            <a:off x="2819400" y="5486400"/>
            <a:ext cx="228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11800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the counting numbers 1 to 30 are written down, how many times does the digit 2 appear?</a:t>
            </a:r>
            <a:endParaRPr lang="en-US" sz="3600" dirty="0"/>
          </a:p>
        </p:txBody>
      </p:sp>
      <p:sp>
        <p:nvSpPr>
          <p:cNvPr id="7" name="Rounded Rectangle 6"/>
          <p:cNvSpPr/>
          <p:nvPr/>
        </p:nvSpPr>
        <p:spPr>
          <a:xfrm>
            <a:off x="3390900" y="2743200"/>
            <a:ext cx="17145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a:t>
            </a:r>
            <a:endParaRPr lang="en-US" sz="3200" dirty="0"/>
          </a:p>
        </p:txBody>
      </p:sp>
      <p:sp>
        <p:nvSpPr>
          <p:cNvPr id="12" name="Rounded Rectangle 11"/>
          <p:cNvSpPr/>
          <p:nvPr/>
        </p:nvSpPr>
        <p:spPr>
          <a:xfrm>
            <a:off x="3352800" y="3657600"/>
            <a:ext cx="17526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14</a:t>
            </a:r>
            <a:endParaRPr lang="en-US" sz="3200" dirty="0"/>
          </a:p>
        </p:txBody>
      </p:sp>
      <p:sp>
        <p:nvSpPr>
          <p:cNvPr id="13" name="Rounded Rectangle 12"/>
          <p:cNvSpPr/>
          <p:nvPr/>
        </p:nvSpPr>
        <p:spPr>
          <a:xfrm>
            <a:off x="3352800" y="4572000"/>
            <a:ext cx="17526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12</a:t>
            </a:r>
            <a:endParaRPr lang="en-US" sz="3200" dirty="0"/>
          </a:p>
        </p:txBody>
      </p:sp>
      <p:sp>
        <p:nvSpPr>
          <p:cNvPr id="14" name="Rounded Rectangle 13"/>
          <p:cNvSpPr/>
          <p:nvPr/>
        </p:nvSpPr>
        <p:spPr>
          <a:xfrm>
            <a:off x="3352800" y="5486400"/>
            <a:ext cx="1752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259:37 as ______.</a:t>
            </a:r>
            <a:endParaRPr lang="en-US" sz="3600" dirty="0"/>
          </a:p>
        </p:txBody>
      </p:sp>
      <p:sp>
        <p:nvSpPr>
          <p:cNvPr id="7" name="Rounded Rectangle 6"/>
          <p:cNvSpPr/>
          <p:nvPr/>
        </p:nvSpPr>
        <p:spPr>
          <a:xfrm>
            <a:off x="3390899" y="2743200"/>
            <a:ext cx="21617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84:12</a:t>
            </a:r>
            <a:endParaRPr lang="en-US" sz="3200" dirty="0"/>
          </a:p>
        </p:txBody>
      </p:sp>
      <p:sp>
        <p:nvSpPr>
          <p:cNvPr id="12" name="Rounded Rectangle 11"/>
          <p:cNvSpPr/>
          <p:nvPr/>
        </p:nvSpPr>
        <p:spPr>
          <a:xfrm>
            <a:off x="3352800" y="3657600"/>
            <a:ext cx="22098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25:4</a:t>
            </a:r>
            <a:endParaRPr lang="en-US" sz="3200" dirty="0"/>
          </a:p>
        </p:txBody>
      </p:sp>
      <p:sp>
        <p:nvSpPr>
          <p:cNvPr id="13" name="Rounded Rectangle 12"/>
          <p:cNvSpPr/>
          <p:nvPr/>
        </p:nvSpPr>
        <p:spPr>
          <a:xfrm>
            <a:off x="3352800" y="4572000"/>
            <a:ext cx="22098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5:1</a:t>
            </a:r>
            <a:endParaRPr lang="en-US" sz="3200" dirty="0"/>
          </a:p>
        </p:txBody>
      </p:sp>
      <p:sp>
        <p:nvSpPr>
          <p:cNvPr id="14" name="Rounded Rectangle 13"/>
          <p:cNvSpPr/>
          <p:nvPr/>
        </p:nvSpPr>
        <p:spPr>
          <a:xfrm>
            <a:off x="3352800" y="5486400"/>
            <a:ext cx="22098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63:441</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value of x will make this proportion correct? 13:x = 3.25:8.00</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3.5</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32</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20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How many glasses of Cola each to be filled with 150 cu.cm. of liquid can be made from 5 family size bottles of cola each containing 1.5 liters?</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45</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50</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60</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40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is the greatest common factor of the numbers 48, 12, and 32?</a:t>
            </a:r>
            <a:endParaRPr lang="en-US" sz="3600" dirty="0"/>
          </a:p>
        </p:txBody>
      </p:sp>
      <p:sp>
        <p:nvSpPr>
          <p:cNvPr id="7" name="Rounded Rectangle 6"/>
          <p:cNvSpPr/>
          <p:nvPr/>
        </p:nvSpPr>
        <p:spPr>
          <a:xfrm>
            <a:off x="3390900" y="2743200"/>
            <a:ext cx="163995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a:t>
            </a:r>
            <a:endParaRPr lang="en-US" sz="3200" dirty="0"/>
          </a:p>
        </p:txBody>
      </p:sp>
      <p:sp>
        <p:nvSpPr>
          <p:cNvPr id="12" name="Rounded Rectangle 11"/>
          <p:cNvSpPr/>
          <p:nvPr/>
        </p:nvSpPr>
        <p:spPr>
          <a:xfrm>
            <a:off x="3352800" y="3657600"/>
            <a:ext cx="16764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4</a:t>
            </a:r>
            <a:endParaRPr lang="en-US" sz="3200" dirty="0"/>
          </a:p>
        </p:txBody>
      </p:sp>
      <p:sp>
        <p:nvSpPr>
          <p:cNvPr id="13" name="Rounded Rectangle 12"/>
          <p:cNvSpPr/>
          <p:nvPr/>
        </p:nvSpPr>
        <p:spPr>
          <a:xfrm>
            <a:off x="3352800" y="4572000"/>
            <a:ext cx="16764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a:t>
            </a:r>
            <a:endParaRPr lang="en-US" sz="3200" dirty="0"/>
          </a:p>
        </p:txBody>
      </p:sp>
      <p:sp>
        <p:nvSpPr>
          <p:cNvPr id="14" name="Rounded Rectangle 13"/>
          <p:cNvSpPr/>
          <p:nvPr/>
        </p:nvSpPr>
        <p:spPr>
          <a:xfrm>
            <a:off x="3352800" y="5486400"/>
            <a:ext cx="16764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A car depreciates by 10% of its brand new price each year and by 15% in each succeeding year. By 2009, what would be the market price for a car bought brand new for P600,000 in 2004?</a:t>
            </a:r>
            <a:endParaRPr lang="en-US" sz="3600" dirty="0"/>
          </a:p>
        </p:txBody>
      </p:sp>
      <p:sp>
        <p:nvSpPr>
          <p:cNvPr id="7" name="Rounded Rectangle 6"/>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P390,000</a:t>
            </a:r>
            <a:endParaRPr lang="en-US" sz="3200" dirty="0"/>
          </a:p>
        </p:txBody>
      </p:sp>
      <p:sp>
        <p:nvSpPr>
          <p:cNvPr id="12" name="Rounded Rectangle 11"/>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P480,000</a:t>
            </a:r>
            <a:endParaRPr lang="en-US" sz="3200" dirty="0"/>
          </a:p>
        </p:txBody>
      </p:sp>
      <p:sp>
        <p:nvSpPr>
          <p:cNvPr id="13" name="Rounded Rectangle 12"/>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P210,000</a:t>
            </a:r>
            <a:endParaRPr lang="en-US" sz="3200" dirty="0"/>
          </a:p>
        </p:txBody>
      </p:sp>
      <p:sp>
        <p:nvSpPr>
          <p:cNvPr id="14" name="Rounded Rectangle 13"/>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P420,000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By how much is 35% of P220 greater than 55% of P140?</a:t>
            </a:r>
            <a:endParaRPr lang="en-US" sz="3600" dirty="0"/>
          </a:p>
        </p:txBody>
      </p:sp>
      <p:sp>
        <p:nvSpPr>
          <p:cNvPr id="7" name="Rounded Rectangle 6"/>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P10.00</a:t>
            </a:r>
            <a:endParaRPr lang="en-US" sz="3200" dirty="0"/>
          </a:p>
        </p:txBody>
      </p:sp>
      <p:sp>
        <p:nvSpPr>
          <p:cNvPr id="12" name="Rounded Rectangle 11"/>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P0.00</a:t>
            </a:r>
            <a:endParaRPr lang="en-US" sz="3200" dirty="0"/>
          </a:p>
        </p:txBody>
      </p:sp>
      <p:sp>
        <p:nvSpPr>
          <p:cNvPr id="13" name="Rounded Rectangle 12"/>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P20.00</a:t>
            </a:r>
            <a:endParaRPr lang="en-US" sz="3200" dirty="0"/>
          </a:p>
        </p:txBody>
      </p:sp>
      <p:sp>
        <p:nvSpPr>
          <p:cNvPr id="14" name="Rounded Rectangle 13"/>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P16.00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In the playground for kindergarten kids, 18 children are riding tricycles or bicycles. If there are 43 wheels in all, how many tricycles are there?</a:t>
            </a:r>
            <a:endParaRPr lang="en-US" sz="3600" dirty="0"/>
          </a:p>
        </p:txBody>
      </p:sp>
      <p:sp>
        <p:nvSpPr>
          <p:cNvPr id="7" name="Rounded Rectangle 6"/>
          <p:cNvSpPr/>
          <p:nvPr/>
        </p:nvSpPr>
        <p:spPr>
          <a:xfrm>
            <a:off x="2794552" y="2743200"/>
            <a:ext cx="149087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7</a:t>
            </a:r>
            <a:endParaRPr lang="en-US" sz="3200" dirty="0"/>
          </a:p>
        </p:txBody>
      </p:sp>
      <p:sp>
        <p:nvSpPr>
          <p:cNvPr id="12" name="Rounded Rectangle 11"/>
          <p:cNvSpPr/>
          <p:nvPr/>
        </p:nvSpPr>
        <p:spPr>
          <a:xfrm>
            <a:off x="2743199" y="3657600"/>
            <a:ext cx="15240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8</a:t>
            </a:r>
            <a:endParaRPr lang="en-US" sz="3200" dirty="0"/>
          </a:p>
        </p:txBody>
      </p:sp>
      <p:sp>
        <p:nvSpPr>
          <p:cNvPr id="13" name="Rounded Rectangle 12"/>
          <p:cNvSpPr/>
          <p:nvPr/>
        </p:nvSpPr>
        <p:spPr>
          <a:xfrm>
            <a:off x="2743199" y="4572000"/>
            <a:ext cx="15240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9</a:t>
            </a:r>
            <a:endParaRPr lang="en-US" sz="3200" dirty="0"/>
          </a:p>
        </p:txBody>
      </p:sp>
      <p:sp>
        <p:nvSpPr>
          <p:cNvPr id="14" name="Rounded Rectangle 13"/>
          <p:cNvSpPr/>
          <p:nvPr/>
        </p:nvSpPr>
        <p:spPr>
          <a:xfrm>
            <a:off x="2743199" y="5486400"/>
            <a:ext cx="15240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11</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edges of a cubical frame are made from plastic straws. How much longer is the total length of the plastic edges of a cube whose edges is 10cm compared to a cube whose edge is 8cm?</a:t>
            </a:r>
            <a:endParaRPr lang="en-US" sz="3600" dirty="0"/>
          </a:p>
        </p:txBody>
      </p:sp>
      <p:sp>
        <p:nvSpPr>
          <p:cNvPr id="7" name="Rounded Rectangle 6"/>
          <p:cNvSpPr/>
          <p:nvPr/>
        </p:nvSpPr>
        <p:spPr>
          <a:xfrm>
            <a:off x="3175552" y="2743200"/>
            <a:ext cx="19298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24 cm</a:t>
            </a:r>
            <a:endParaRPr lang="en-US" sz="3200" dirty="0"/>
          </a:p>
        </p:txBody>
      </p:sp>
      <p:sp>
        <p:nvSpPr>
          <p:cNvPr id="12" name="Rounded Rectangle 11"/>
          <p:cNvSpPr/>
          <p:nvPr/>
        </p:nvSpPr>
        <p:spPr>
          <a:xfrm>
            <a:off x="3124199" y="3657600"/>
            <a:ext cx="197273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32 cm</a:t>
            </a:r>
            <a:endParaRPr lang="en-US" sz="3200" dirty="0"/>
          </a:p>
        </p:txBody>
      </p:sp>
      <p:sp>
        <p:nvSpPr>
          <p:cNvPr id="13" name="Rounded Rectangle 12"/>
          <p:cNvSpPr/>
          <p:nvPr/>
        </p:nvSpPr>
        <p:spPr>
          <a:xfrm>
            <a:off x="3124199" y="4572000"/>
            <a:ext cx="197273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16 cm</a:t>
            </a:r>
            <a:endParaRPr lang="en-US" sz="3200" dirty="0"/>
          </a:p>
        </p:txBody>
      </p:sp>
      <p:sp>
        <p:nvSpPr>
          <p:cNvPr id="14" name="Rounded Rectangle 13"/>
          <p:cNvSpPr/>
          <p:nvPr/>
        </p:nvSpPr>
        <p:spPr>
          <a:xfrm>
            <a:off x="3124199" y="5486400"/>
            <a:ext cx="197273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8 cm</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In a Mathematics test, 35 students passed and 30% failed. How many students took the test?</a:t>
            </a:r>
            <a:endParaRPr lang="en-US" sz="3600" dirty="0"/>
          </a:p>
        </p:txBody>
      </p:sp>
      <p:sp>
        <p:nvSpPr>
          <p:cNvPr id="7" name="Rounded Rectangle 6"/>
          <p:cNvSpPr/>
          <p:nvPr/>
        </p:nvSpPr>
        <p:spPr>
          <a:xfrm>
            <a:off x="3612872" y="2743200"/>
            <a:ext cx="141632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60</a:t>
            </a:r>
            <a:endParaRPr lang="en-US" sz="3200" dirty="0"/>
          </a:p>
        </p:txBody>
      </p:sp>
      <p:sp>
        <p:nvSpPr>
          <p:cNvPr id="12" name="Rounded Rectangle 11"/>
          <p:cNvSpPr/>
          <p:nvPr/>
        </p:nvSpPr>
        <p:spPr>
          <a:xfrm>
            <a:off x="3561519"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50</a:t>
            </a:r>
            <a:endParaRPr lang="en-US" sz="3200" dirty="0"/>
          </a:p>
        </p:txBody>
      </p:sp>
      <p:sp>
        <p:nvSpPr>
          <p:cNvPr id="13" name="Rounded Rectangle 12"/>
          <p:cNvSpPr/>
          <p:nvPr/>
        </p:nvSpPr>
        <p:spPr>
          <a:xfrm>
            <a:off x="3561519"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40</a:t>
            </a:r>
            <a:endParaRPr lang="en-US" sz="3200" dirty="0"/>
          </a:p>
        </p:txBody>
      </p:sp>
      <p:sp>
        <p:nvSpPr>
          <p:cNvPr id="14" name="Rounded Rectangle 13"/>
          <p:cNvSpPr/>
          <p:nvPr/>
        </p:nvSpPr>
        <p:spPr>
          <a:xfrm>
            <a:off x="3561519"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30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fontScale="90000"/>
          </a:bodyPr>
          <a:lstStyle/>
          <a:p>
            <a:pPr algn="just"/>
            <a:r>
              <a:rPr lang="en-US" sz="3600" dirty="0" smtClean="0"/>
              <a:t>The legs of one right triangle are 9 and 12, while those of another right triangle are 12 and 16. How much longer is the perimeter of the larger triangle than the perimeter of the smaller triangle?</a:t>
            </a:r>
            <a:endParaRPr lang="en-US" sz="3600" dirty="0"/>
          </a:p>
        </p:txBody>
      </p:sp>
      <p:sp>
        <p:nvSpPr>
          <p:cNvPr id="7" name="Rounded Rectangle 6"/>
          <p:cNvSpPr/>
          <p:nvPr/>
        </p:nvSpPr>
        <p:spPr>
          <a:xfrm>
            <a:off x="3612872" y="2743200"/>
            <a:ext cx="141632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84</a:t>
            </a:r>
            <a:endParaRPr lang="en-US" sz="3200" dirty="0"/>
          </a:p>
        </p:txBody>
      </p:sp>
      <p:sp>
        <p:nvSpPr>
          <p:cNvPr id="12" name="Rounded Rectangle 11"/>
          <p:cNvSpPr/>
          <p:nvPr/>
        </p:nvSpPr>
        <p:spPr>
          <a:xfrm>
            <a:off x="3561519"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14</a:t>
            </a:r>
            <a:endParaRPr lang="en-US" sz="3200" dirty="0"/>
          </a:p>
        </p:txBody>
      </p:sp>
      <p:sp>
        <p:nvSpPr>
          <p:cNvPr id="13" name="Rounded Rectangle 12"/>
          <p:cNvSpPr/>
          <p:nvPr/>
        </p:nvSpPr>
        <p:spPr>
          <a:xfrm>
            <a:off x="3561519"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7</a:t>
            </a:r>
            <a:endParaRPr lang="en-US" sz="3200" dirty="0"/>
          </a:p>
        </p:txBody>
      </p:sp>
      <p:sp>
        <p:nvSpPr>
          <p:cNvPr id="14" name="Rounded Rectangle 13"/>
          <p:cNvSpPr/>
          <p:nvPr/>
        </p:nvSpPr>
        <p:spPr>
          <a:xfrm>
            <a:off x="3561519"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12</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Each bag contains 50 kg. What would be the increase in the price if the cost of one bag of rice goes from P950.00 to P1,200.00?</a:t>
            </a:r>
            <a:endParaRPr lang="en-US" sz="3600" dirty="0"/>
          </a:p>
        </p:txBody>
      </p:sp>
      <p:sp>
        <p:nvSpPr>
          <p:cNvPr id="8" name="Rounded Rectangle 7"/>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P250.00</a:t>
            </a:r>
            <a:endParaRPr lang="en-US" sz="3200" dirty="0"/>
          </a:p>
        </p:txBody>
      </p:sp>
      <p:sp>
        <p:nvSpPr>
          <p:cNvPr id="9" name="Rounded Rectangle 8"/>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P7.50</a:t>
            </a:r>
            <a:endParaRPr lang="en-US" sz="3200" dirty="0"/>
          </a:p>
        </p:txBody>
      </p:sp>
      <p:sp>
        <p:nvSpPr>
          <p:cNvPr id="10" name="Rounded Rectangle 9"/>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3.75</a:t>
            </a:r>
            <a:endParaRPr lang="en-US" sz="3200" dirty="0"/>
          </a:p>
        </p:txBody>
      </p:sp>
      <p:sp>
        <p:nvSpPr>
          <p:cNvPr id="11" name="Rounded Rectangle 10"/>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P5.00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At what rate of interest should P2,400 be invested so that it will earn P880 in 8 months?</a:t>
            </a:r>
            <a:endParaRPr lang="en-US" sz="3600" dirty="0"/>
          </a:p>
        </p:txBody>
      </p:sp>
      <p:sp>
        <p:nvSpPr>
          <p:cNvPr id="8" name="Rounded Rectangle 7"/>
          <p:cNvSpPr/>
          <p:nvPr/>
        </p:nvSpPr>
        <p:spPr>
          <a:xfrm>
            <a:off x="2794552" y="2743200"/>
            <a:ext cx="2387048"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 ½%</a:t>
            </a:r>
            <a:endParaRPr lang="en-US" sz="3200" dirty="0"/>
          </a:p>
        </p:txBody>
      </p:sp>
      <p:sp>
        <p:nvSpPr>
          <p:cNvPr id="9" name="Rounded Rectangle 8"/>
          <p:cNvSpPr/>
          <p:nvPr/>
        </p:nvSpPr>
        <p:spPr>
          <a:xfrm>
            <a:off x="2743199" y="3657600"/>
            <a:ext cx="2440093"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 ½%</a:t>
            </a:r>
            <a:endParaRPr lang="en-US" sz="3200" dirty="0"/>
          </a:p>
        </p:txBody>
      </p:sp>
      <p:sp>
        <p:nvSpPr>
          <p:cNvPr id="10" name="Rounded Rectangle 9"/>
          <p:cNvSpPr/>
          <p:nvPr/>
        </p:nvSpPr>
        <p:spPr>
          <a:xfrm>
            <a:off x="2743199" y="4572000"/>
            <a:ext cx="2440093"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5%</a:t>
            </a:r>
            <a:endParaRPr lang="en-US" sz="3200" dirty="0"/>
          </a:p>
        </p:txBody>
      </p:sp>
      <p:sp>
        <p:nvSpPr>
          <p:cNvPr id="11" name="Rounded Rectangle 10"/>
          <p:cNvSpPr/>
          <p:nvPr/>
        </p:nvSpPr>
        <p:spPr>
          <a:xfrm>
            <a:off x="2743199" y="5486400"/>
            <a:ext cx="2440093"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6%</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In the following number, which digit is in the thousandths place? 5672.13498</a:t>
            </a:r>
            <a:endParaRPr lang="en-US" sz="3600" dirty="0"/>
          </a:p>
        </p:txBody>
      </p:sp>
      <p:sp>
        <p:nvSpPr>
          <p:cNvPr id="8" name="Rounded Rectangle 7"/>
          <p:cNvSpPr/>
          <p:nvPr/>
        </p:nvSpPr>
        <p:spPr>
          <a:xfrm>
            <a:off x="3612873" y="2743200"/>
            <a:ext cx="1416327"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6</a:t>
            </a:r>
            <a:endParaRPr lang="en-US" sz="3200" dirty="0"/>
          </a:p>
        </p:txBody>
      </p:sp>
      <p:sp>
        <p:nvSpPr>
          <p:cNvPr id="9" name="Rounded Rectangle 8"/>
          <p:cNvSpPr/>
          <p:nvPr/>
        </p:nvSpPr>
        <p:spPr>
          <a:xfrm>
            <a:off x="3561520" y="3657600"/>
            <a:ext cx="1447801"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4</a:t>
            </a:r>
            <a:endParaRPr lang="en-US" sz="3200" dirty="0"/>
          </a:p>
        </p:txBody>
      </p:sp>
      <p:sp>
        <p:nvSpPr>
          <p:cNvPr id="10" name="Rounded Rectangle 9"/>
          <p:cNvSpPr/>
          <p:nvPr/>
        </p:nvSpPr>
        <p:spPr>
          <a:xfrm>
            <a:off x="3561520" y="4572000"/>
            <a:ext cx="1447801"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3</a:t>
            </a:r>
            <a:endParaRPr lang="en-US" sz="3200" dirty="0"/>
          </a:p>
        </p:txBody>
      </p:sp>
      <p:sp>
        <p:nvSpPr>
          <p:cNvPr id="11" name="Rounded Rectangle 10"/>
          <p:cNvSpPr/>
          <p:nvPr/>
        </p:nvSpPr>
        <p:spPr>
          <a:xfrm>
            <a:off x="3561520" y="5486400"/>
            <a:ext cx="1447801"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9</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590800"/>
          </a:xfrm>
        </p:spPr>
        <p:txBody>
          <a:bodyPr>
            <a:normAutofit fontScale="90000"/>
          </a:bodyPr>
          <a:lstStyle/>
          <a:p>
            <a:pPr algn="just"/>
            <a:r>
              <a:rPr lang="en-US" sz="3600" dirty="0" smtClean="0"/>
              <a:t>A child can be admitted to Grade 1 if he/she is at least 5 years and 10 months old by June of the school year. Which of these dates of birth will DISQUALIFY a child from being admitted to Grade 1 on June 15, 2009?</a:t>
            </a:r>
            <a:endParaRPr lang="en-US" sz="3600" dirty="0"/>
          </a:p>
        </p:txBody>
      </p:sp>
      <p:sp>
        <p:nvSpPr>
          <p:cNvPr id="8" name="Rounded Rectangle 7"/>
          <p:cNvSpPr/>
          <p:nvPr/>
        </p:nvSpPr>
        <p:spPr>
          <a:xfrm>
            <a:off x="2819400" y="3124200"/>
            <a:ext cx="3272855"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June 10, 2003</a:t>
            </a:r>
            <a:endParaRPr lang="en-US" sz="3200" dirty="0"/>
          </a:p>
        </p:txBody>
      </p:sp>
      <p:sp>
        <p:nvSpPr>
          <p:cNvPr id="9" name="Rounded Rectangle 8"/>
          <p:cNvSpPr/>
          <p:nvPr/>
        </p:nvSpPr>
        <p:spPr>
          <a:xfrm>
            <a:off x="2750414" y="4038600"/>
            <a:ext cx="3345586"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Jan. 10, 2003</a:t>
            </a:r>
            <a:endParaRPr lang="en-US" sz="3200" dirty="0"/>
          </a:p>
        </p:txBody>
      </p:sp>
      <p:sp>
        <p:nvSpPr>
          <p:cNvPr id="10" name="Rounded Rectangle 9"/>
          <p:cNvSpPr/>
          <p:nvPr/>
        </p:nvSpPr>
        <p:spPr>
          <a:xfrm>
            <a:off x="2750414" y="4953000"/>
            <a:ext cx="3345586"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April 30, 2003</a:t>
            </a:r>
            <a:endParaRPr lang="en-US" sz="3200" dirty="0"/>
          </a:p>
        </p:txBody>
      </p:sp>
      <p:sp>
        <p:nvSpPr>
          <p:cNvPr id="11" name="Rounded Rectangle 10"/>
          <p:cNvSpPr/>
          <p:nvPr/>
        </p:nvSpPr>
        <p:spPr>
          <a:xfrm>
            <a:off x="2750414" y="5867400"/>
            <a:ext cx="3345586"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May 5, 2003</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How much greater is the sum of the first 20 counting numbers greater than the sum of the first 10 counting numbers?</a:t>
            </a:r>
            <a:endParaRPr lang="en-US" sz="3600" dirty="0"/>
          </a:p>
        </p:txBody>
      </p:sp>
      <p:sp>
        <p:nvSpPr>
          <p:cNvPr id="8" name="Rounded Rectangle 7"/>
          <p:cNvSpPr/>
          <p:nvPr/>
        </p:nvSpPr>
        <p:spPr>
          <a:xfrm>
            <a:off x="3612873" y="2743200"/>
            <a:ext cx="15848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110</a:t>
            </a:r>
            <a:endParaRPr lang="en-US" sz="3200" dirty="0"/>
          </a:p>
        </p:txBody>
      </p:sp>
      <p:sp>
        <p:nvSpPr>
          <p:cNvPr id="9" name="Rounded Rectangle 8"/>
          <p:cNvSpPr/>
          <p:nvPr/>
        </p:nvSpPr>
        <p:spPr>
          <a:xfrm>
            <a:off x="3561520" y="3657600"/>
            <a:ext cx="162008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55</a:t>
            </a:r>
            <a:endParaRPr lang="en-US" sz="3200" dirty="0"/>
          </a:p>
        </p:txBody>
      </p:sp>
      <p:sp>
        <p:nvSpPr>
          <p:cNvPr id="10" name="Rounded Rectangle 9"/>
          <p:cNvSpPr/>
          <p:nvPr/>
        </p:nvSpPr>
        <p:spPr>
          <a:xfrm>
            <a:off x="3561520" y="4572000"/>
            <a:ext cx="162008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155</a:t>
            </a:r>
            <a:endParaRPr lang="en-US" sz="3200" dirty="0"/>
          </a:p>
        </p:txBody>
      </p:sp>
      <p:sp>
        <p:nvSpPr>
          <p:cNvPr id="11" name="Rounded Rectangle 10"/>
          <p:cNvSpPr/>
          <p:nvPr/>
        </p:nvSpPr>
        <p:spPr>
          <a:xfrm>
            <a:off x="3561520" y="5486400"/>
            <a:ext cx="162008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100</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Which of these numbers CANNOT possibly be a square number?</a:t>
            </a:r>
            <a:endParaRPr lang="en-US" sz="3600" dirty="0"/>
          </a:p>
        </p:txBody>
      </p:sp>
      <p:sp>
        <p:nvSpPr>
          <p:cNvPr id="8" name="Rounded Rectangle 7"/>
          <p:cNvSpPr/>
          <p:nvPr/>
        </p:nvSpPr>
        <p:spPr>
          <a:xfrm>
            <a:off x="3110516" y="2743200"/>
            <a:ext cx="2609023"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10217356</a:t>
            </a:r>
            <a:endParaRPr lang="en-US" sz="3200" dirty="0"/>
          </a:p>
        </p:txBody>
      </p:sp>
      <p:sp>
        <p:nvSpPr>
          <p:cNvPr id="9" name="Rounded Rectangle 8"/>
          <p:cNvSpPr/>
          <p:nvPr/>
        </p:nvSpPr>
        <p:spPr>
          <a:xfrm>
            <a:off x="3048000" y="3657600"/>
            <a:ext cx="266700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35366809</a:t>
            </a:r>
            <a:endParaRPr lang="en-US" sz="3200" dirty="0"/>
          </a:p>
        </p:txBody>
      </p:sp>
      <p:sp>
        <p:nvSpPr>
          <p:cNvPr id="10" name="Rounded Rectangle 9"/>
          <p:cNvSpPr/>
          <p:nvPr/>
        </p:nvSpPr>
        <p:spPr>
          <a:xfrm>
            <a:off x="3048000" y="4572000"/>
            <a:ext cx="266700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26275876</a:t>
            </a:r>
            <a:endParaRPr lang="en-US" sz="3200" dirty="0"/>
          </a:p>
        </p:txBody>
      </p:sp>
      <p:sp>
        <p:nvSpPr>
          <p:cNvPr id="11" name="Rounded Rectangle 10"/>
          <p:cNvSpPr/>
          <p:nvPr/>
        </p:nvSpPr>
        <p:spPr>
          <a:xfrm>
            <a:off x="3048000" y="5486400"/>
            <a:ext cx="2667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2916488</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590800"/>
          </a:xfrm>
        </p:spPr>
        <p:txBody>
          <a:bodyPr>
            <a:normAutofit/>
          </a:bodyPr>
          <a:lstStyle/>
          <a:p>
            <a:pPr algn="just"/>
            <a:r>
              <a:rPr lang="en-US" sz="3600" dirty="0" smtClean="0"/>
              <a:t>Which number is wrong in this sequence? What should the number be for the sequence to be CORRECT? 5, 15, 16, 48, 144, 147, 148, 444…</a:t>
            </a:r>
            <a:endParaRPr lang="en-US" sz="3600" dirty="0"/>
          </a:p>
        </p:txBody>
      </p:sp>
      <p:sp>
        <p:nvSpPr>
          <p:cNvPr id="8" name="Rounded Rectangle 7"/>
          <p:cNvSpPr/>
          <p:nvPr/>
        </p:nvSpPr>
        <p:spPr>
          <a:xfrm>
            <a:off x="2286000" y="3124200"/>
            <a:ext cx="4343400"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48; it should be 18</a:t>
            </a:r>
            <a:endParaRPr lang="en-US" sz="3200" dirty="0"/>
          </a:p>
        </p:txBody>
      </p:sp>
      <p:sp>
        <p:nvSpPr>
          <p:cNvPr id="9" name="Rounded Rectangle 8"/>
          <p:cNvSpPr/>
          <p:nvPr/>
        </p:nvSpPr>
        <p:spPr>
          <a:xfrm>
            <a:off x="2286000" y="4038600"/>
            <a:ext cx="4359082"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147; it should be 145</a:t>
            </a:r>
            <a:endParaRPr lang="en-US" sz="3200" dirty="0"/>
          </a:p>
        </p:txBody>
      </p:sp>
      <p:sp>
        <p:nvSpPr>
          <p:cNvPr id="10" name="Rounded Rectangle 9"/>
          <p:cNvSpPr/>
          <p:nvPr/>
        </p:nvSpPr>
        <p:spPr>
          <a:xfrm>
            <a:off x="2286000" y="4953000"/>
            <a:ext cx="4359082"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144; it should be 132</a:t>
            </a:r>
            <a:endParaRPr lang="en-US" sz="3200" dirty="0"/>
          </a:p>
        </p:txBody>
      </p:sp>
      <p:sp>
        <p:nvSpPr>
          <p:cNvPr id="11" name="Rounded Rectangle 10"/>
          <p:cNvSpPr/>
          <p:nvPr/>
        </p:nvSpPr>
        <p:spPr>
          <a:xfrm>
            <a:off x="2286000" y="5867400"/>
            <a:ext cx="4359082"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144, it should be 49</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If July 12, 2003 fell on a Tuesday, on what day will July 12, 2005 fall?</a:t>
            </a:r>
            <a:endParaRPr lang="en-US" sz="3600" dirty="0"/>
          </a:p>
        </p:txBody>
      </p:sp>
      <p:sp>
        <p:nvSpPr>
          <p:cNvPr id="8" name="Rounded Rectangle 7"/>
          <p:cNvSpPr/>
          <p:nvPr/>
        </p:nvSpPr>
        <p:spPr>
          <a:xfrm>
            <a:off x="3110517" y="2743200"/>
            <a:ext cx="2299684"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Monday</a:t>
            </a:r>
            <a:endParaRPr lang="en-US" sz="3200" dirty="0"/>
          </a:p>
        </p:txBody>
      </p:sp>
      <p:sp>
        <p:nvSpPr>
          <p:cNvPr id="9" name="Rounded Rectangle 8"/>
          <p:cNvSpPr/>
          <p:nvPr/>
        </p:nvSpPr>
        <p:spPr>
          <a:xfrm>
            <a:off x="3048000" y="3657600"/>
            <a:ext cx="2350787"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Thursday</a:t>
            </a:r>
            <a:endParaRPr lang="en-US" sz="3200" dirty="0"/>
          </a:p>
        </p:txBody>
      </p:sp>
      <p:sp>
        <p:nvSpPr>
          <p:cNvPr id="10" name="Rounded Rectangle 9"/>
          <p:cNvSpPr/>
          <p:nvPr/>
        </p:nvSpPr>
        <p:spPr>
          <a:xfrm>
            <a:off x="3048000" y="4572000"/>
            <a:ext cx="2350787"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Sunday</a:t>
            </a:r>
            <a:endParaRPr lang="en-US" sz="3200" dirty="0"/>
          </a:p>
        </p:txBody>
      </p:sp>
      <p:sp>
        <p:nvSpPr>
          <p:cNvPr id="11" name="Rounded Rectangle 10"/>
          <p:cNvSpPr/>
          <p:nvPr/>
        </p:nvSpPr>
        <p:spPr>
          <a:xfrm>
            <a:off x="3048000" y="5486400"/>
            <a:ext cx="2350787"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Friday</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How many vertices does a rectangular solid have?</a:t>
            </a:r>
            <a:endParaRPr lang="en-US" sz="3600" dirty="0"/>
          </a:p>
        </p:txBody>
      </p:sp>
      <p:sp>
        <p:nvSpPr>
          <p:cNvPr id="8" name="Rounded Rectangle 7"/>
          <p:cNvSpPr/>
          <p:nvPr/>
        </p:nvSpPr>
        <p:spPr>
          <a:xfrm>
            <a:off x="3612873" y="2743200"/>
            <a:ext cx="1584861" cy="609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A. 8</a:t>
            </a:r>
            <a:endParaRPr lang="en-US" sz="3200" dirty="0"/>
          </a:p>
        </p:txBody>
      </p:sp>
      <p:sp>
        <p:nvSpPr>
          <p:cNvPr id="9" name="Rounded Rectangle 8"/>
          <p:cNvSpPr/>
          <p:nvPr/>
        </p:nvSpPr>
        <p:spPr>
          <a:xfrm>
            <a:off x="3561520" y="3657600"/>
            <a:ext cx="1620080" cy="609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B. 6</a:t>
            </a:r>
            <a:endParaRPr lang="en-US" sz="3200" dirty="0"/>
          </a:p>
        </p:txBody>
      </p:sp>
      <p:sp>
        <p:nvSpPr>
          <p:cNvPr id="10" name="Rounded Rectangle 9"/>
          <p:cNvSpPr/>
          <p:nvPr/>
        </p:nvSpPr>
        <p:spPr>
          <a:xfrm>
            <a:off x="3561520" y="4572000"/>
            <a:ext cx="1620080" cy="609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t>C. 4</a:t>
            </a:r>
            <a:endParaRPr lang="en-US" sz="3200" dirty="0"/>
          </a:p>
        </p:txBody>
      </p:sp>
      <p:sp>
        <p:nvSpPr>
          <p:cNvPr id="11" name="Rounded Rectangle 10"/>
          <p:cNvSpPr/>
          <p:nvPr/>
        </p:nvSpPr>
        <p:spPr>
          <a:xfrm>
            <a:off x="3561520" y="5486400"/>
            <a:ext cx="162008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D. 12</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Which statement is FALSE?</a:t>
            </a:r>
            <a:endParaRPr lang="en-US" sz="3600" dirty="0"/>
          </a:p>
        </p:txBody>
      </p:sp>
      <p:sp>
        <p:nvSpPr>
          <p:cNvPr id="7" name="Rounded Rectangle 6"/>
          <p:cNvSpPr/>
          <p:nvPr/>
        </p:nvSpPr>
        <p:spPr>
          <a:xfrm>
            <a:off x="762000" y="1676400"/>
            <a:ext cx="80010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Solid particles have the strongest attractive forces in between.</a:t>
            </a:r>
            <a:endParaRPr lang="en-US" sz="3200" dirty="0"/>
          </a:p>
        </p:txBody>
      </p:sp>
      <p:sp>
        <p:nvSpPr>
          <p:cNvPr id="12" name="Rounded Rectangle 11"/>
          <p:cNvSpPr/>
          <p:nvPr/>
        </p:nvSpPr>
        <p:spPr>
          <a:xfrm>
            <a:off x="762000" y="2895600"/>
            <a:ext cx="80010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Solids and liquids have more molecules per unit volume, hence their densities are higher.</a:t>
            </a:r>
            <a:endParaRPr lang="en-US" sz="3200" dirty="0"/>
          </a:p>
        </p:txBody>
      </p:sp>
      <p:sp>
        <p:nvSpPr>
          <p:cNvPr id="13" name="Rounded Rectangle 12"/>
          <p:cNvSpPr/>
          <p:nvPr/>
        </p:nvSpPr>
        <p:spPr>
          <a:xfrm>
            <a:off x="762000" y="4267200"/>
            <a:ext cx="80010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Molecules of solids and liquids are more closely packed than those in gases.</a:t>
            </a:r>
            <a:endParaRPr lang="en-US" sz="3200" dirty="0"/>
          </a:p>
        </p:txBody>
      </p:sp>
      <p:sp>
        <p:nvSpPr>
          <p:cNvPr id="14" name="Rounded Rectangle 13"/>
          <p:cNvSpPr/>
          <p:nvPr/>
        </p:nvSpPr>
        <p:spPr>
          <a:xfrm>
            <a:off x="762000" y="5562600"/>
            <a:ext cx="8001000" cy="9144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ysClr val="windowText" lastClr="000000"/>
                </a:solidFill>
              </a:rPr>
              <a:t>D. The gas phase has the least kinetic energy.</a:t>
            </a:r>
            <a:endParaRPr lang="en-US" sz="3200" dirty="0">
              <a:solidFill>
                <a:sysClr val="windowText" lastClr="000000"/>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Which has the higher specific heat capacity: water or sand?</a:t>
            </a:r>
            <a:endParaRPr lang="en-US" sz="3600" dirty="0"/>
          </a:p>
        </p:txBody>
      </p:sp>
      <p:sp>
        <p:nvSpPr>
          <p:cNvPr id="8" name="Rounded Rectangle 7"/>
          <p:cNvSpPr/>
          <p:nvPr/>
        </p:nvSpPr>
        <p:spPr>
          <a:xfrm>
            <a:off x="3038451" y="2438400"/>
            <a:ext cx="3133749" cy="9144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Neither sand nor water</a:t>
            </a:r>
            <a:endParaRPr lang="en-US" sz="3200" dirty="0"/>
          </a:p>
        </p:txBody>
      </p:sp>
      <p:sp>
        <p:nvSpPr>
          <p:cNvPr id="9" name="Rounded Rectangle 8"/>
          <p:cNvSpPr/>
          <p:nvPr/>
        </p:nvSpPr>
        <p:spPr>
          <a:xfrm>
            <a:off x="3010117" y="3581400"/>
            <a:ext cx="3152534"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Sand </a:t>
            </a:r>
            <a:endParaRPr lang="en-US" sz="3200" dirty="0"/>
          </a:p>
        </p:txBody>
      </p:sp>
      <p:sp>
        <p:nvSpPr>
          <p:cNvPr id="10" name="Rounded Rectangle 9"/>
          <p:cNvSpPr/>
          <p:nvPr/>
        </p:nvSpPr>
        <p:spPr>
          <a:xfrm>
            <a:off x="3010117" y="4495800"/>
            <a:ext cx="3152534"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Both </a:t>
            </a:r>
            <a:endParaRPr lang="en-US" sz="3200" dirty="0"/>
          </a:p>
        </p:txBody>
      </p:sp>
      <p:sp>
        <p:nvSpPr>
          <p:cNvPr id="11" name="Rounded Rectangle 10"/>
          <p:cNvSpPr/>
          <p:nvPr/>
        </p:nvSpPr>
        <p:spPr>
          <a:xfrm>
            <a:off x="3010117" y="5410200"/>
            <a:ext cx="3152534"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Water </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The direct transformation of a solid into the gas phase without passing through the liquid phase is called:</a:t>
            </a:r>
            <a:endParaRPr lang="en-US" sz="3600" dirty="0"/>
          </a:p>
        </p:txBody>
      </p:sp>
      <p:sp>
        <p:nvSpPr>
          <p:cNvPr id="8" name="Rounded Rectangle 7"/>
          <p:cNvSpPr/>
          <p:nvPr/>
        </p:nvSpPr>
        <p:spPr>
          <a:xfrm>
            <a:off x="3005126" y="2667000"/>
            <a:ext cx="3133749" cy="9144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Sublimation </a:t>
            </a:r>
            <a:endParaRPr lang="en-US" sz="3200" dirty="0"/>
          </a:p>
        </p:txBody>
      </p:sp>
      <p:sp>
        <p:nvSpPr>
          <p:cNvPr id="9" name="Rounded Rectangle 8"/>
          <p:cNvSpPr/>
          <p:nvPr/>
        </p:nvSpPr>
        <p:spPr>
          <a:xfrm>
            <a:off x="2971800" y="3810000"/>
            <a:ext cx="3152534"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Compression  </a:t>
            </a:r>
            <a:endParaRPr lang="en-US" sz="3200" dirty="0"/>
          </a:p>
        </p:txBody>
      </p:sp>
      <p:sp>
        <p:nvSpPr>
          <p:cNvPr id="10" name="Rounded Rectangle 9"/>
          <p:cNvSpPr/>
          <p:nvPr/>
        </p:nvSpPr>
        <p:spPr>
          <a:xfrm>
            <a:off x="2971800" y="4724400"/>
            <a:ext cx="3152534"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Evaporation  </a:t>
            </a:r>
            <a:endParaRPr lang="en-US" sz="3200" dirty="0"/>
          </a:p>
        </p:txBody>
      </p:sp>
      <p:sp>
        <p:nvSpPr>
          <p:cNvPr id="11" name="Rounded Rectangle 10"/>
          <p:cNvSpPr/>
          <p:nvPr/>
        </p:nvSpPr>
        <p:spPr>
          <a:xfrm>
            <a:off x="2971800" y="5638800"/>
            <a:ext cx="3152534"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Freeze drying  </a:t>
            </a:r>
            <a:endParaRPr lang="en-US" sz="3200" dirty="0">
              <a:solidFill>
                <a:schemeClr val="tx1"/>
              </a:solidFill>
            </a:endParaRPr>
          </a:p>
        </p:txBody>
      </p:sp>
      <p:pic>
        <p:nvPicPr>
          <p:cNvPr id="12" name="Picture 7" descr="AG00051_"/>
          <p:cNvPicPr>
            <a:picLocks noChangeAspect="1" noChangeArrowheads="1" noCrop="1"/>
          </p:cNvPicPr>
          <p:nvPr/>
        </p:nvPicPr>
        <p:blipFill>
          <a:blip r:embed="rId2"/>
          <a:srcRect/>
          <a:stretch>
            <a:fillRect/>
          </a:stretch>
        </p:blipFill>
        <p:spPr bwMode="auto">
          <a:xfrm>
            <a:off x="20574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Why is it NOT advisable to repeatedly open the door of a refrigerator?</a:t>
            </a:r>
            <a:endParaRPr lang="en-US" sz="3600" dirty="0"/>
          </a:p>
        </p:txBody>
      </p:sp>
      <p:sp>
        <p:nvSpPr>
          <p:cNvPr id="8" name="Rounded Rectangle 7"/>
          <p:cNvSpPr/>
          <p:nvPr/>
        </p:nvSpPr>
        <p:spPr>
          <a:xfrm>
            <a:off x="609600" y="2133600"/>
            <a:ext cx="815339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A. It will loosen the hinges of the refrigerator’s door.</a:t>
            </a:r>
            <a:endParaRPr lang="en-US" sz="2800" dirty="0"/>
          </a:p>
        </p:txBody>
      </p:sp>
      <p:sp>
        <p:nvSpPr>
          <p:cNvPr id="9" name="Rounded Rectangle 8"/>
          <p:cNvSpPr/>
          <p:nvPr/>
        </p:nvSpPr>
        <p:spPr>
          <a:xfrm>
            <a:off x="609600" y="30480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It leads to wastage in electrical energy.  </a:t>
            </a:r>
            <a:endParaRPr lang="en-US" sz="3200" dirty="0"/>
          </a:p>
        </p:txBody>
      </p:sp>
      <p:sp>
        <p:nvSpPr>
          <p:cNvPr id="10" name="Rounded Rectangle 9"/>
          <p:cNvSpPr/>
          <p:nvPr/>
        </p:nvSpPr>
        <p:spPr>
          <a:xfrm>
            <a:off x="609600" y="3962400"/>
            <a:ext cx="8077200" cy="9144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t>C. Repeated opening introduces bacteria into the refrigerator.</a:t>
            </a:r>
            <a:endParaRPr lang="en-US" sz="2800" dirty="0"/>
          </a:p>
        </p:txBody>
      </p:sp>
      <p:sp>
        <p:nvSpPr>
          <p:cNvPr id="11" name="Rounded Rectangle 10"/>
          <p:cNvSpPr/>
          <p:nvPr/>
        </p:nvSpPr>
        <p:spPr>
          <a:xfrm>
            <a:off x="609600" y="5029200"/>
            <a:ext cx="8077200" cy="16002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warm air outside lowers the temperature inside, thus, making the refrigerator less efficient.</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86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10600" cy="1905000"/>
          </a:xfrm>
        </p:spPr>
        <p:txBody>
          <a:bodyPr>
            <a:noAutofit/>
          </a:bodyPr>
          <a:lstStyle/>
          <a:p>
            <a:pPr algn="just"/>
            <a:r>
              <a:rPr lang="en-US" sz="3600" dirty="0" smtClean="0"/>
              <a:t>What may occur when there is a severe damage to some parts of the brain due to lack of blood supply?</a:t>
            </a:r>
            <a:endParaRPr lang="en-US" sz="3600" dirty="0"/>
          </a:p>
        </p:txBody>
      </p:sp>
      <p:sp>
        <p:nvSpPr>
          <p:cNvPr id="8" name="Rounded Rectangle 7"/>
          <p:cNvSpPr/>
          <p:nvPr/>
        </p:nvSpPr>
        <p:spPr>
          <a:xfrm>
            <a:off x="2754098" y="2819400"/>
            <a:ext cx="3635805"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Stroke  </a:t>
            </a:r>
            <a:endParaRPr lang="en-US" sz="3200" dirty="0"/>
          </a:p>
        </p:txBody>
      </p:sp>
      <p:sp>
        <p:nvSpPr>
          <p:cNvPr id="9" name="Rounded Rectangle 8"/>
          <p:cNvSpPr/>
          <p:nvPr/>
        </p:nvSpPr>
        <p:spPr>
          <a:xfrm>
            <a:off x="2732119" y="3733800"/>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Rheumatic heart </a:t>
            </a:r>
            <a:endParaRPr lang="en-US" sz="3200" dirty="0"/>
          </a:p>
        </p:txBody>
      </p:sp>
      <p:sp>
        <p:nvSpPr>
          <p:cNvPr id="10" name="Rounded Rectangle 9"/>
          <p:cNvSpPr/>
          <p:nvPr/>
        </p:nvSpPr>
        <p:spPr>
          <a:xfrm>
            <a:off x="2732119" y="4648200"/>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Heart attack </a:t>
            </a:r>
            <a:endParaRPr lang="en-US" sz="3200" dirty="0"/>
          </a:p>
        </p:txBody>
      </p:sp>
      <p:sp>
        <p:nvSpPr>
          <p:cNvPr id="11" name="Rounded Rectangle 10"/>
          <p:cNvSpPr/>
          <p:nvPr/>
        </p:nvSpPr>
        <p:spPr>
          <a:xfrm>
            <a:off x="2732119" y="5562600"/>
            <a:ext cx="3657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Thrombosis </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7526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Autofit/>
          </a:bodyPr>
          <a:lstStyle/>
          <a:p>
            <a:pPr algn="just"/>
            <a:r>
              <a:rPr lang="en-US" sz="3600" dirty="0" smtClean="0"/>
              <a:t>What kind of mirror is used in cars to give the driver a wider area and smaller image of the traffic behind him/her?</a:t>
            </a:r>
            <a:endParaRPr lang="en-US" sz="3600" dirty="0"/>
          </a:p>
        </p:txBody>
      </p:sp>
      <p:sp>
        <p:nvSpPr>
          <p:cNvPr id="8" name="Rounded Rectangle 7"/>
          <p:cNvSpPr/>
          <p:nvPr/>
        </p:nvSpPr>
        <p:spPr>
          <a:xfrm>
            <a:off x="2764995" y="2819400"/>
            <a:ext cx="3635805"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Double concave </a:t>
            </a:r>
            <a:endParaRPr lang="en-US" sz="3200" dirty="0"/>
          </a:p>
        </p:txBody>
      </p:sp>
      <p:sp>
        <p:nvSpPr>
          <p:cNvPr id="9" name="Rounded Rectangle 8"/>
          <p:cNvSpPr/>
          <p:nvPr/>
        </p:nvSpPr>
        <p:spPr>
          <a:xfrm>
            <a:off x="2732119" y="3733800"/>
            <a:ext cx="3657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Convex </a:t>
            </a:r>
            <a:endParaRPr lang="en-US" sz="3200" dirty="0"/>
          </a:p>
        </p:txBody>
      </p:sp>
      <p:sp>
        <p:nvSpPr>
          <p:cNvPr id="10" name="Rounded Rectangle 9"/>
          <p:cNvSpPr/>
          <p:nvPr/>
        </p:nvSpPr>
        <p:spPr>
          <a:xfrm>
            <a:off x="2732119" y="4648200"/>
            <a:ext cx="3657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Plane </a:t>
            </a:r>
            <a:endParaRPr lang="en-US" sz="3200" dirty="0"/>
          </a:p>
        </p:txBody>
      </p:sp>
      <p:sp>
        <p:nvSpPr>
          <p:cNvPr id="11" name="Rounded Rectangle 10"/>
          <p:cNvSpPr/>
          <p:nvPr/>
        </p:nvSpPr>
        <p:spPr>
          <a:xfrm>
            <a:off x="2732119" y="5562600"/>
            <a:ext cx="3657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a:t>
            </a:r>
            <a:r>
              <a:rPr lang="en-US" sz="3200" smtClean="0">
                <a:solidFill>
                  <a:schemeClr val="tx1"/>
                </a:solidFill>
              </a:rPr>
              <a:t>. </a:t>
            </a:r>
            <a:r>
              <a:rPr lang="en-US" sz="3200" dirty="0" smtClean="0">
                <a:solidFill>
                  <a:schemeClr val="tx1"/>
                </a:solidFill>
              </a:rPr>
              <a:t>Concave </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6764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fontScale="90000"/>
          </a:bodyPr>
          <a:lstStyle/>
          <a:p>
            <a:pPr algn="just"/>
            <a:r>
              <a:rPr lang="en-US" sz="3600" dirty="0" smtClean="0"/>
              <a:t>When you carry a heavy load with one arm, you tend to hold your free hand away from your body in order to ________.</a:t>
            </a:r>
            <a:endParaRPr lang="en-US" sz="3600" dirty="0"/>
          </a:p>
        </p:txBody>
      </p:sp>
      <p:sp>
        <p:nvSpPr>
          <p:cNvPr id="8" name="Rounded Rectangle 7"/>
          <p:cNvSpPr/>
          <p:nvPr/>
        </p:nvSpPr>
        <p:spPr>
          <a:xfrm>
            <a:off x="609600" y="2590800"/>
            <a:ext cx="815339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Be ready to grab something in case you fall</a:t>
            </a:r>
            <a:endParaRPr lang="en-US" sz="3200" dirty="0"/>
          </a:p>
        </p:txBody>
      </p:sp>
      <p:sp>
        <p:nvSpPr>
          <p:cNvPr id="9" name="Rounded Rectangle 8"/>
          <p:cNvSpPr/>
          <p:nvPr/>
        </p:nvSpPr>
        <p:spPr>
          <a:xfrm>
            <a:off x="609600" y="35814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Change the weight of your body and load</a:t>
            </a:r>
            <a:endParaRPr lang="en-US" sz="3200" dirty="0"/>
          </a:p>
        </p:txBody>
      </p:sp>
      <p:sp>
        <p:nvSpPr>
          <p:cNvPr id="10" name="Rounded Rectangle 9"/>
          <p:cNvSpPr/>
          <p:nvPr/>
        </p:nvSpPr>
        <p:spPr>
          <a:xfrm>
            <a:off x="609600" y="4572000"/>
            <a:ext cx="8077200" cy="7620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Change the mass of your body</a:t>
            </a:r>
            <a:endParaRPr lang="en-US" sz="3200" dirty="0"/>
          </a:p>
        </p:txBody>
      </p:sp>
      <p:sp>
        <p:nvSpPr>
          <p:cNvPr id="11" name="Rounded Rectangle 10"/>
          <p:cNvSpPr/>
          <p:nvPr/>
        </p:nvSpPr>
        <p:spPr>
          <a:xfrm>
            <a:off x="609600" y="5638800"/>
            <a:ext cx="81534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dirty="0" smtClean="0">
                <a:solidFill>
                  <a:schemeClr val="tx1"/>
                </a:solidFill>
              </a:rPr>
              <a:t>D. Change the center of gravity of your body and load</a:t>
            </a:r>
            <a:endParaRPr lang="en-US" sz="28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fontScale="90000"/>
          </a:bodyPr>
          <a:lstStyle/>
          <a:p>
            <a:pPr algn="just"/>
            <a:r>
              <a:rPr lang="en-US" sz="3600" dirty="0" smtClean="0"/>
              <a:t>You inherited tallness from your father. Physical traits are transmitted from parents to </a:t>
            </a:r>
            <a:r>
              <a:rPr lang="en-US" sz="3600" dirty="0" err="1" smtClean="0"/>
              <a:t>offsprings</a:t>
            </a:r>
            <a:r>
              <a:rPr lang="en-US" sz="3600" dirty="0" smtClean="0"/>
              <a:t> through __________.</a:t>
            </a:r>
            <a:endParaRPr lang="en-US" sz="3600" dirty="0"/>
          </a:p>
        </p:txBody>
      </p:sp>
      <p:sp>
        <p:nvSpPr>
          <p:cNvPr id="8" name="Rounded Rectangle 7"/>
          <p:cNvSpPr/>
          <p:nvPr/>
        </p:nvSpPr>
        <p:spPr>
          <a:xfrm>
            <a:off x="2764996" y="2667000"/>
            <a:ext cx="326809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a:t>a</a:t>
            </a:r>
            <a:r>
              <a:rPr lang="en-US" sz="3200" dirty="0" smtClean="0"/>
              <a:t>lleles </a:t>
            </a:r>
            <a:endParaRPr lang="en-US" sz="3200" dirty="0"/>
          </a:p>
        </p:txBody>
      </p:sp>
      <p:sp>
        <p:nvSpPr>
          <p:cNvPr id="9" name="Rounded Rectangle 8"/>
          <p:cNvSpPr/>
          <p:nvPr/>
        </p:nvSpPr>
        <p:spPr>
          <a:xfrm>
            <a:off x="2732119" y="3581400"/>
            <a:ext cx="3287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genes </a:t>
            </a:r>
            <a:endParaRPr lang="en-US" sz="3200" dirty="0"/>
          </a:p>
        </p:txBody>
      </p:sp>
      <p:sp>
        <p:nvSpPr>
          <p:cNvPr id="10" name="Rounded Rectangle 9"/>
          <p:cNvSpPr/>
          <p:nvPr/>
        </p:nvSpPr>
        <p:spPr>
          <a:xfrm>
            <a:off x="2732119" y="4495800"/>
            <a:ext cx="3287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gametes </a:t>
            </a:r>
            <a:endParaRPr lang="en-US" sz="3200" dirty="0"/>
          </a:p>
        </p:txBody>
      </p:sp>
      <p:sp>
        <p:nvSpPr>
          <p:cNvPr id="11" name="Rounded Rectangle 10"/>
          <p:cNvSpPr/>
          <p:nvPr/>
        </p:nvSpPr>
        <p:spPr>
          <a:xfrm>
            <a:off x="2732119" y="5410200"/>
            <a:ext cx="3287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chromosomes</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7526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Which is a destructive fishing method wherein fishes are driven out of a coral reef by pounding the corals with a heavy weight?</a:t>
            </a:r>
            <a:endParaRPr lang="en-US" sz="3600" dirty="0"/>
          </a:p>
        </p:txBody>
      </p:sp>
      <p:sp>
        <p:nvSpPr>
          <p:cNvPr id="8" name="Rounded Rectangle 7"/>
          <p:cNvSpPr/>
          <p:nvPr/>
        </p:nvSpPr>
        <p:spPr>
          <a:xfrm>
            <a:off x="2640479" y="2667000"/>
            <a:ext cx="386304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a:t>M</a:t>
            </a:r>
            <a:r>
              <a:rPr lang="en-US" sz="3200" dirty="0" err="1" smtClean="0"/>
              <a:t>uro-ami</a:t>
            </a:r>
            <a:endParaRPr lang="en-US" sz="3200" dirty="0"/>
          </a:p>
        </p:txBody>
      </p:sp>
      <p:sp>
        <p:nvSpPr>
          <p:cNvPr id="9" name="Rounded Rectangle 8"/>
          <p:cNvSpPr/>
          <p:nvPr/>
        </p:nvSpPr>
        <p:spPr>
          <a:xfrm>
            <a:off x="2578877" y="3581400"/>
            <a:ext cx="3886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Cyanide fishing</a:t>
            </a:r>
            <a:endParaRPr lang="en-US" sz="3200" dirty="0"/>
          </a:p>
        </p:txBody>
      </p:sp>
      <p:sp>
        <p:nvSpPr>
          <p:cNvPr id="10" name="Rounded Rectangle 9"/>
          <p:cNvSpPr/>
          <p:nvPr/>
        </p:nvSpPr>
        <p:spPr>
          <a:xfrm>
            <a:off x="2578877" y="4495800"/>
            <a:ext cx="3886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Reef fishing </a:t>
            </a:r>
            <a:endParaRPr lang="en-US" sz="3200" dirty="0"/>
          </a:p>
        </p:txBody>
      </p:sp>
      <p:sp>
        <p:nvSpPr>
          <p:cNvPr id="11" name="Rounded Rectangle 10"/>
          <p:cNvSpPr/>
          <p:nvPr/>
        </p:nvSpPr>
        <p:spPr>
          <a:xfrm>
            <a:off x="2578877" y="5410200"/>
            <a:ext cx="38862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Corals entrapping</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524000" y="2819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smtClean="0"/>
              <a:t>The prevailing wind systems experienced in the Philippines are __________.</a:t>
            </a:r>
            <a:endParaRPr lang="en-US" sz="3600" dirty="0"/>
          </a:p>
        </p:txBody>
      </p:sp>
      <p:sp>
        <p:nvSpPr>
          <p:cNvPr id="8" name="Rounded Rectangle 7"/>
          <p:cNvSpPr/>
          <p:nvPr/>
        </p:nvSpPr>
        <p:spPr>
          <a:xfrm>
            <a:off x="1447800" y="2667000"/>
            <a:ext cx="6858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Northwest and southwest monsoon</a:t>
            </a:r>
            <a:endParaRPr lang="en-US" sz="3200" dirty="0"/>
          </a:p>
        </p:txBody>
      </p:sp>
      <p:sp>
        <p:nvSpPr>
          <p:cNvPr id="9" name="Rounded Rectangle 8"/>
          <p:cNvSpPr/>
          <p:nvPr/>
        </p:nvSpPr>
        <p:spPr>
          <a:xfrm>
            <a:off x="1447800" y="3581400"/>
            <a:ext cx="6858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East and west monsoon</a:t>
            </a:r>
            <a:endParaRPr lang="en-US" sz="3200" dirty="0"/>
          </a:p>
        </p:txBody>
      </p:sp>
      <p:sp>
        <p:nvSpPr>
          <p:cNvPr id="10" name="Rounded Rectangle 9"/>
          <p:cNvSpPr/>
          <p:nvPr/>
        </p:nvSpPr>
        <p:spPr>
          <a:xfrm>
            <a:off x="1447800" y="4495800"/>
            <a:ext cx="6858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Northeast and </a:t>
            </a:r>
            <a:r>
              <a:rPr lang="en-US" sz="3200" dirty="0"/>
              <a:t>S</a:t>
            </a:r>
            <a:r>
              <a:rPr lang="en-US" sz="3200" dirty="0" smtClean="0"/>
              <a:t>outhwest monsoon</a:t>
            </a:r>
            <a:endParaRPr lang="en-US" sz="3200" dirty="0"/>
          </a:p>
        </p:txBody>
      </p:sp>
      <p:sp>
        <p:nvSpPr>
          <p:cNvPr id="11" name="Rounded Rectangle 10"/>
          <p:cNvSpPr/>
          <p:nvPr/>
        </p:nvSpPr>
        <p:spPr>
          <a:xfrm>
            <a:off x="1447800" y="5410200"/>
            <a:ext cx="6858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North and South monsoon</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Jane placed some mothballs inside her cabinet. After a week, they were all gone. What happened to the mothballs?</a:t>
            </a:r>
            <a:endParaRPr lang="en-US" sz="3600" dirty="0"/>
          </a:p>
        </p:txBody>
      </p:sp>
      <p:sp>
        <p:nvSpPr>
          <p:cNvPr id="8" name="Rounded Rectangle 7"/>
          <p:cNvSpPr/>
          <p:nvPr/>
        </p:nvSpPr>
        <p:spPr>
          <a:xfrm>
            <a:off x="1257300" y="2667000"/>
            <a:ext cx="66294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They were dissolved by water in air.</a:t>
            </a:r>
            <a:endParaRPr lang="en-US" sz="3200" dirty="0"/>
          </a:p>
        </p:txBody>
      </p:sp>
      <p:sp>
        <p:nvSpPr>
          <p:cNvPr id="9" name="Rounded Rectangle 8"/>
          <p:cNvSpPr/>
          <p:nvPr/>
        </p:nvSpPr>
        <p:spPr>
          <a:xfrm>
            <a:off x="1295400" y="3581400"/>
            <a:ext cx="66294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They melted.</a:t>
            </a:r>
            <a:endParaRPr lang="en-US" sz="3200" dirty="0"/>
          </a:p>
        </p:txBody>
      </p:sp>
      <p:sp>
        <p:nvSpPr>
          <p:cNvPr id="10" name="Rounded Rectangle 9"/>
          <p:cNvSpPr/>
          <p:nvPr/>
        </p:nvSpPr>
        <p:spPr>
          <a:xfrm>
            <a:off x="1295400" y="4495800"/>
            <a:ext cx="66294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They sublimed.</a:t>
            </a:r>
            <a:endParaRPr lang="en-US" sz="3200" dirty="0"/>
          </a:p>
        </p:txBody>
      </p:sp>
      <p:sp>
        <p:nvSpPr>
          <p:cNvPr id="11" name="Rounded Rectangle 10"/>
          <p:cNvSpPr/>
          <p:nvPr/>
        </p:nvSpPr>
        <p:spPr>
          <a:xfrm>
            <a:off x="1295400" y="5410200"/>
            <a:ext cx="66294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They condensed.</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3810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295400"/>
          </a:xfrm>
        </p:spPr>
        <p:txBody>
          <a:bodyPr>
            <a:normAutofit/>
          </a:bodyPr>
          <a:lstStyle/>
          <a:p>
            <a:pPr algn="just"/>
            <a:r>
              <a:rPr lang="en-US" sz="3600" dirty="0" smtClean="0"/>
              <a:t>Of the state of matter, which has the weakest intermolecular force of attraction?</a:t>
            </a:r>
            <a:endParaRPr lang="en-US" sz="3600" dirty="0"/>
          </a:p>
        </p:txBody>
      </p:sp>
      <p:sp>
        <p:nvSpPr>
          <p:cNvPr id="8" name="Rounded Rectangle 7"/>
          <p:cNvSpPr/>
          <p:nvPr/>
        </p:nvSpPr>
        <p:spPr>
          <a:xfrm>
            <a:off x="3506050" y="2667000"/>
            <a:ext cx="2131901"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Plasma </a:t>
            </a:r>
            <a:endParaRPr lang="en-US" sz="3200" dirty="0"/>
          </a:p>
        </p:txBody>
      </p:sp>
      <p:sp>
        <p:nvSpPr>
          <p:cNvPr id="9" name="Rounded Rectangle 8"/>
          <p:cNvSpPr/>
          <p:nvPr/>
        </p:nvSpPr>
        <p:spPr>
          <a:xfrm>
            <a:off x="3494119" y="3581400"/>
            <a:ext cx="2144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Liquid</a:t>
            </a:r>
            <a:endParaRPr lang="en-US" sz="3200" dirty="0"/>
          </a:p>
        </p:txBody>
      </p:sp>
      <p:sp>
        <p:nvSpPr>
          <p:cNvPr id="10" name="Rounded Rectangle 9"/>
          <p:cNvSpPr/>
          <p:nvPr/>
        </p:nvSpPr>
        <p:spPr>
          <a:xfrm>
            <a:off x="3494119" y="4495800"/>
            <a:ext cx="2144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Solid </a:t>
            </a:r>
            <a:endParaRPr lang="en-US" sz="3200" dirty="0"/>
          </a:p>
        </p:txBody>
      </p:sp>
      <p:sp>
        <p:nvSpPr>
          <p:cNvPr id="11" name="Rounded Rectangle 10"/>
          <p:cNvSpPr/>
          <p:nvPr/>
        </p:nvSpPr>
        <p:spPr>
          <a:xfrm>
            <a:off x="3494119" y="5410200"/>
            <a:ext cx="2144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Gas </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514600" y="5562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Autofit/>
          </a:bodyPr>
          <a:lstStyle/>
          <a:p>
            <a:pPr algn="just"/>
            <a:r>
              <a:rPr lang="en-US" sz="3600" dirty="0" smtClean="0"/>
              <a:t>To be safe in the unlikely case of lightning strike, it is best to be inside a building framed with ______.</a:t>
            </a:r>
            <a:endParaRPr lang="en-US" sz="3600" dirty="0"/>
          </a:p>
        </p:txBody>
      </p:sp>
      <p:sp>
        <p:nvSpPr>
          <p:cNvPr id="8" name="Rounded Rectangle 7"/>
          <p:cNvSpPr/>
          <p:nvPr/>
        </p:nvSpPr>
        <p:spPr>
          <a:xfrm>
            <a:off x="3278299" y="2667000"/>
            <a:ext cx="2131901"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steel </a:t>
            </a:r>
            <a:endParaRPr lang="en-US" sz="3200" dirty="0"/>
          </a:p>
        </p:txBody>
      </p:sp>
      <p:sp>
        <p:nvSpPr>
          <p:cNvPr id="9" name="Rounded Rectangle 8"/>
          <p:cNvSpPr/>
          <p:nvPr/>
        </p:nvSpPr>
        <p:spPr>
          <a:xfrm>
            <a:off x="3245422" y="3581400"/>
            <a:ext cx="2144681"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cement</a:t>
            </a:r>
            <a:endParaRPr lang="en-US" sz="3200" dirty="0"/>
          </a:p>
        </p:txBody>
      </p:sp>
      <p:sp>
        <p:nvSpPr>
          <p:cNvPr id="10" name="Rounded Rectangle 9"/>
          <p:cNvSpPr/>
          <p:nvPr/>
        </p:nvSpPr>
        <p:spPr>
          <a:xfrm>
            <a:off x="3245422" y="4495800"/>
            <a:ext cx="2144681"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iron </a:t>
            </a:r>
            <a:endParaRPr lang="en-US" sz="3200" dirty="0"/>
          </a:p>
        </p:txBody>
      </p:sp>
      <p:sp>
        <p:nvSpPr>
          <p:cNvPr id="11" name="Rounded Rectangle 10"/>
          <p:cNvSpPr/>
          <p:nvPr/>
        </p:nvSpPr>
        <p:spPr>
          <a:xfrm>
            <a:off x="3245422" y="5410200"/>
            <a:ext cx="2144681"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wood </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22098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Autofit/>
          </a:bodyPr>
          <a:lstStyle/>
          <a:p>
            <a:r>
              <a:rPr lang="en-US" sz="3600" dirty="0" smtClean="0"/>
              <a:t>Which of these does NOT belong to the other three terms?</a:t>
            </a:r>
            <a:br>
              <a:rPr lang="en-US" sz="3600" dirty="0" smtClean="0"/>
            </a:br>
            <a:r>
              <a:rPr lang="en-US" sz="3600" dirty="0" smtClean="0"/>
              <a:t>Solution	 Colloid	Suspension	Element</a:t>
            </a:r>
            <a:endParaRPr lang="en-US" sz="3600" dirty="0"/>
          </a:p>
        </p:txBody>
      </p:sp>
      <p:sp>
        <p:nvSpPr>
          <p:cNvPr id="8" name="Rounded Rectangle 7"/>
          <p:cNvSpPr/>
          <p:nvPr/>
        </p:nvSpPr>
        <p:spPr>
          <a:xfrm>
            <a:off x="2930562" y="26670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Element</a:t>
            </a:r>
            <a:endParaRPr lang="en-US" sz="3200" dirty="0"/>
          </a:p>
        </p:txBody>
      </p:sp>
      <p:sp>
        <p:nvSpPr>
          <p:cNvPr id="9" name="Rounded Rectangle 8"/>
          <p:cNvSpPr/>
          <p:nvPr/>
        </p:nvSpPr>
        <p:spPr>
          <a:xfrm>
            <a:off x="2895600" y="3581400"/>
            <a:ext cx="2743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Colloid</a:t>
            </a:r>
            <a:endParaRPr lang="en-US" sz="3200" dirty="0"/>
          </a:p>
        </p:txBody>
      </p:sp>
      <p:sp>
        <p:nvSpPr>
          <p:cNvPr id="10" name="Rounded Rectangle 9"/>
          <p:cNvSpPr/>
          <p:nvPr/>
        </p:nvSpPr>
        <p:spPr>
          <a:xfrm>
            <a:off x="2895600" y="4495800"/>
            <a:ext cx="27432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Suspension</a:t>
            </a:r>
            <a:endParaRPr lang="en-US" sz="3200" dirty="0"/>
          </a:p>
        </p:txBody>
      </p:sp>
      <p:sp>
        <p:nvSpPr>
          <p:cNvPr id="11" name="Rounded Rectangle 10"/>
          <p:cNvSpPr/>
          <p:nvPr/>
        </p:nvSpPr>
        <p:spPr>
          <a:xfrm>
            <a:off x="2895600" y="5410200"/>
            <a:ext cx="27432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Solution </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981200" y="27717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143000"/>
          </a:xfrm>
        </p:spPr>
        <p:txBody>
          <a:bodyPr>
            <a:normAutofit/>
          </a:bodyPr>
          <a:lstStyle/>
          <a:p>
            <a:pPr algn="just"/>
            <a:r>
              <a:rPr lang="en-US" sz="3600" dirty="0" smtClean="0"/>
              <a:t>Which of these statements is FALSE?</a:t>
            </a:r>
            <a:endParaRPr lang="en-US" sz="3600" dirty="0"/>
          </a:p>
        </p:txBody>
      </p:sp>
      <p:sp>
        <p:nvSpPr>
          <p:cNvPr id="8" name="Rounded Rectangle 7"/>
          <p:cNvSpPr/>
          <p:nvPr/>
        </p:nvSpPr>
        <p:spPr>
          <a:xfrm>
            <a:off x="533400" y="1981200"/>
            <a:ext cx="8077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Water is heavier than oil.</a:t>
            </a:r>
            <a:endParaRPr lang="en-US" sz="3200" dirty="0"/>
          </a:p>
        </p:txBody>
      </p:sp>
      <p:sp>
        <p:nvSpPr>
          <p:cNvPr id="9" name="Rounded Rectangle 8"/>
          <p:cNvSpPr/>
          <p:nvPr/>
        </p:nvSpPr>
        <p:spPr>
          <a:xfrm>
            <a:off x="533400" y="2971800"/>
            <a:ext cx="80772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Kerosene is lighter than water.</a:t>
            </a:r>
            <a:endParaRPr lang="en-US" sz="3200" dirty="0"/>
          </a:p>
        </p:txBody>
      </p:sp>
      <p:sp>
        <p:nvSpPr>
          <p:cNvPr id="10" name="Rounded Rectangle 9"/>
          <p:cNvSpPr/>
          <p:nvPr/>
        </p:nvSpPr>
        <p:spPr>
          <a:xfrm>
            <a:off x="533400" y="4038600"/>
            <a:ext cx="80772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Fire caused by kerosene can be put out if water is poured on the fire.</a:t>
            </a:r>
            <a:endParaRPr lang="en-US" sz="3200" dirty="0"/>
          </a:p>
        </p:txBody>
      </p:sp>
      <p:sp>
        <p:nvSpPr>
          <p:cNvPr id="11" name="Rounded Rectangle 10"/>
          <p:cNvSpPr/>
          <p:nvPr/>
        </p:nvSpPr>
        <p:spPr>
          <a:xfrm>
            <a:off x="533400" y="5410200"/>
            <a:ext cx="8077200" cy="1066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Rain or distilled water (a pure liquid) boils at constant temperature.</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0" y="4343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smtClean="0"/>
              <a:t>How can we prevent developing osteoporosis?</a:t>
            </a:r>
            <a:endParaRPr lang="en-US" sz="3600" dirty="0"/>
          </a:p>
        </p:txBody>
      </p:sp>
      <p:sp>
        <p:nvSpPr>
          <p:cNvPr id="8" name="Rounded Rectangle 7"/>
          <p:cNvSpPr/>
          <p:nvPr/>
        </p:nvSpPr>
        <p:spPr>
          <a:xfrm>
            <a:off x="685800" y="2286000"/>
            <a:ext cx="7848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Adequate intake of vitamins A and D</a:t>
            </a:r>
            <a:endParaRPr lang="en-US" sz="3200" dirty="0"/>
          </a:p>
        </p:txBody>
      </p:sp>
      <p:sp>
        <p:nvSpPr>
          <p:cNvPr id="9" name="Rounded Rectangle 8"/>
          <p:cNvSpPr/>
          <p:nvPr/>
        </p:nvSpPr>
        <p:spPr>
          <a:xfrm>
            <a:off x="685800" y="3200400"/>
            <a:ext cx="7848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Adequate intake of calcium and vitamin D</a:t>
            </a:r>
            <a:endParaRPr lang="en-US" sz="3200" dirty="0"/>
          </a:p>
        </p:txBody>
      </p:sp>
      <p:sp>
        <p:nvSpPr>
          <p:cNvPr id="10" name="Rounded Rectangle 9"/>
          <p:cNvSpPr/>
          <p:nvPr/>
        </p:nvSpPr>
        <p:spPr>
          <a:xfrm>
            <a:off x="685800" y="4114800"/>
            <a:ext cx="78486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Estrogen replacement therapy</a:t>
            </a:r>
            <a:endParaRPr lang="en-US" sz="3200" dirty="0"/>
          </a:p>
        </p:txBody>
      </p:sp>
      <p:sp>
        <p:nvSpPr>
          <p:cNvPr id="11" name="Rounded Rectangle 10"/>
          <p:cNvSpPr/>
          <p:nvPr/>
        </p:nvSpPr>
        <p:spPr>
          <a:xfrm>
            <a:off x="685800" y="5334000"/>
            <a:ext cx="7848600" cy="1066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Less exercise to decrease bone density</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0" y="3352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pPr algn="just"/>
            <a:r>
              <a:rPr lang="en-US" sz="3600" dirty="0" smtClean="0"/>
              <a:t>Which statements correctly differentiate boiling from evaporation?</a:t>
            </a:r>
            <a:endParaRPr lang="en-US" sz="3600" dirty="0"/>
          </a:p>
        </p:txBody>
      </p:sp>
      <p:sp>
        <p:nvSpPr>
          <p:cNvPr id="7" name="Content Placeholder 6"/>
          <p:cNvSpPr>
            <a:spLocks noGrp="1"/>
          </p:cNvSpPr>
          <p:nvPr>
            <p:ph idx="1"/>
          </p:nvPr>
        </p:nvSpPr>
        <p:spPr>
          <a:xfrm>
            <a:off x="457200" y="1295401"/>
            <a:ext cx="8229600" cy="4343400"/>
          </a:xfrm>
        </p:spPr>
        <p:txBody>
          <a:bodyPr>
            <a:normAutofit/>
          </a:bodyPr>
          <a:lstStyle/>
          <a:p>
            <a:pPr marL="571500" indent="-571500" algn="just">
              <a:buFont typeface="+mj-lt"/>
              <a:buAutoNum type="romanUcPeriod"/>
            </a:pPr>
            <a:r>
              <a:rPr lang="en-US" sz="2800" dirty="0" smtClean="0"/>
              <a:t>Boiling happens at a definite temperature while evaporation can occur at any temperature.</a:t>
            </a:r>
          </a:p>
          <a:p>
            <a:pPr marL="571500" indent="-571500" algn="just">
              <a:buFont typeface="+mj-lt"/>
              <a:buAutoNum type="romanUcPeriod"/>
            </a:pPr>
            <a:r>
              <a:rPr lang="en-US" sz="2800" dirty="0" smtClean="0"/>
              <a:t>Boiling happens when the vapor pressure exerted by the liquid becomes equal to the atmospheric pressure, while evaporation occurs when high energy molecules at the liquid surface continuously escape to the space above the liquid.</a:t>
            </a:r>
          </a:p>
          <a:p>
            <a:pPr marL="571500" indent="-571500" algn="just">
              <a:buFont typeface="+mj-lt"/>
              <a:buAutoNum type="romanUcPeriod"/>
            </a:pPr>
            <a:r>
              <a:rPr lang="en-US" sz="2800" dirty="0" smtClean="0"/>
              <a:t>Boiling is always associated with temperature while evaporation is related only to pressure.</a:t>
            </a:r>
          </a:p>
        </p:txBody>
      </p:sp>
      <p:sp>
        <p:nvSpPr>
          <p:cNvPr id="12" name="Rounded Rectangle 11"/>
          <p:cNvSpPr/>
          <p:nvPr/>
        </p:nvSpPr>
        <p:spPr>
          <a:xfrm>
            <a:off x="228600" y="5715000"/>
            <a:ext cx="19812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 and III</a:t>
            </a:r>
            <a:endParaRPr lang="en-US" sz="3200" dirty="0"/>
          </a:p>
        </p:txBody>
      </p:sp>
      <p:sp>
        <p:nvSpPr>
          <p:cNvPr id="13" name="Rounded Rectangle 12"/>
          <p:cNvSpPr/>
          <p:nvPr/>
        </p:nvSpPr>
        <p:spPr>
          <a:xfrm>
            <a:off x="2667000" y="5715000"/>
            <a:ext cx="1752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 only </a:t>
            </a:r>
            <a:endParaRPr lang="en-US" sz="3200" dirty="0"/>
          </a:p>
        </p:txBody>
      </p:sp>
      <p:sp>
        <p:nvSpPr>
          <p:cNvPr id="14" name="Rounded Rectangle 13"/>
          <p:cNvSpPr/>
          <p:nvPr/>
        </p:nvSpPr>
        <p:spPr>
          <a:xfrm>
            <a:off x="4876800" y="5715000"/>
            <a:ext cx="1752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II only </a:t>
            </a:r>
            <a:endParaRPr lang="en-US" sz="3200" dirty="0"/>
          </a:p>
        </p:txBody>
      </p:sp>
      <p:sp>
        <p:nvSpPr>
          <p:cNvPr id="15" name="Rounded Rectangle 14"/>
          <p:cNvSpPr/>
          <p:nvPr/>
        </p:nvSpPr>
        <p:spPr>
          <a:xfrm>
            <a:off x="7010400" y="5715000"/>
            <a:ext cx="1905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I and II</a:t>
            </a:r>
            <a:endParaRPr lang="en-US" sz="3200" dirty="0">
              <a:solidFill>
                <a:schemeClr val="tx1"/>
              </a:solidFill>
            </a:endParaRPr>
          </a:p>
        </p:txBody>
      </p:sp>
      <p:pic>
        <p:nvPicPr>
          <p:cNvPr id="16" name="Picture 7" descr="AG00051_"/>
          <p:cNvPicPr>
            <a:picLocks noChangeAspect="1" noChangeArrowheads="1" noCrop="1"/>
          </p:cNvPicPr>
          <p:nvPr/>
        </p:nvPicPr>
        <p:blipFill>
          <a:blip r:embed="rId2"/>
          <a:srcRect/>
          <a:stretch>
            <a:fillRect/>
          </a:stretch>
        </p:blipFill>
        <p:spPr bwMode="auto">
          <a:xfrm rot="5400000">
            <a:off x="7453312" y="5272088"/>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 following is heterogeneous?</a:t>
            </a:r>
            <a:endParaRPr lang="en-US" sz="4000" dirty="0"/>
          </a:p>
        </p:txBody>
      </p:sp>
      <p:sp>
        <p:nvSpPr>
          <p:cNvPr id="7" name="Rounded Rectangle 6"/>
          <p:cNvSpPr/>
          <p:nvPr/>
        </p:nvSpPr>
        <p:spPr>
          <a:xfrm>
            <a:off x="3159281" y="2667000"/>
            <a:ext cx="266296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Rain water</a:t>
            </a:r>
            <a:endParaRPr lang="en-US" sz="3200" dirty="0"/>
          </a:p>
        </p:txBody>
      </p:sp>
      <p:sp>
        <p:nvSpPr>
          <p:cNvPr id="12" name="Rounded Rectangle 11"/>
          <p:cNvSpPr/>
          <p:nvPr/>
        </p:nvSpPr>
        <p:spPr>
          <a:xfrm>
            <a:off x="3124200" y="3581400"/>
            <a:ext cx="2678923"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Clean air</a:t>
            </a:r>
            <a:endParaRPr lang="en-US" sz="3200" dirty="0"/>
          </a:p>
        </p:txBody>
      </p:sp>
      <p:sp>
        <p:nvSpPr>
          <p:cNvPr id="13" name="Rounded Rectangle 12"/>
          <p:cNvSpPr/>
          <p:nvPr/>
        </p:nvSpPr>
        <p:spPr>
          <a:xfrm>
            <a:off x="3124200" y="4495800"/>
            <a:ext cx="2678923"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Sea water</a:t>
            </a:r>
            <a:endParaRPr lang="en-US" sz="3200" dirty="0"/>
          </a:p>
        </p:txBody>
      </p:sp>
      <p:sp>
        <p:nvSpPr>
          <p:cNvPr id="14" name="Rounded Rectangle 13"/>
          <p:cNvSpPr/>
          <p:nvPr/>
        </p:nvSpPr>
        <p:spPr>
          <a:xfrm>
            <a:off x="3124200" y="5410200"/>
            <a:ext cx="2678923"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Kerosene </a:t>
            </a:r>
            <a:endParaRPr lang="en-US" sz="3200" dirty="0">
              <a:solidFill>
                <a:schemeClr val="tx1"/>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21336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Ozone depletion happens due to the release of CFC’s from ________.</a:t>
            </a:r>
            <a:endParaRPr lang="en-US" sz="4000" dirty="0"/>
          </a:p>
        </p:txBody>
      </p:sp>
      <p:sp>
        <p:nvSpPr>
          <p:cNvPr id="7" name="Rounded Rectangle 6"/>
          <p:cNvSpPr/>
          <p:nvPr/>
        </p:nvSpPr>
        <p:spPr>
          <a:xfrm>
            <a:off x="2299621" y="2667000"/>
            <a:ext cx="4544758"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annual respiration</a:t>
            </a:r>
            <a:endParaRPr lang="en-US" sz="3200" dirty="0"/>
          </a:p>
        </p:txBody>
      </p:sp>
      <p:sp>
        <p:nvSpPr>
          <p:cNvPr id="12" name="Rounded Rectangle 11"/>
          <p:cNvSpPr/>
          <p:nvPr/>
        </p:nvSpPr>
        <p:spPr>
          <a:xfrm>
            <a:off x="2286000" y="3581400"/>
            <a:ext cx="4572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industrial combustion</a:t>
            </a:r>
            <a:endParaRPr lang="en-US" sz="3200" dirty="0"/>
          </a:p>
        </p:txBody>
      </p:sp>
      <p:sp>
        <p:nvSpPr>
          <p:cNvPr id="13" name="Rounded Rectangle 12"/>
          <p:cNvSpPr/>
          <p:nvPr/>
        </p:nvSpPr>
        <p:spPr>
          <a:xfrm>
            <a:off x="2286000" y="4495800"/>
            <a:ext cx="4572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deforestation</a:t>
            </a:r>
            <a:endParaRPr lang="en-US" sz="3200" dirty="0"/>
          </a:p>
        </p:txBody>
      </p:sp>
      <p:sp>
        <p:nvSpPr>
          <p:cNvPr id="14" name="Rounded Rectangle 13"/>
          <p:cNvSpPr/>
          <p:nvPr/>
        </p:nvSpPr>
        <p:spPr>
          <a:xfrm>
            <a:off x="2286000" y="5410200"/>
            <a:ext cx="4572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a:solidFill>
                  <a:schemeClr val="tx1"/>
                </a:solidFill>
              </a:rPr>
              <a:t>s</a:t>
            </a:r>
            <a:r>
              <a:rPr lang="en-US" sz="3200" dirty="0" err="1" smtClean="0">
                <a:solidFill>
                  <a:schemeClr val="tx1"/>
                </a:solidFill>
              </a:rPr>
              <a:t>tyrofoam</a:t>
            </a:r>
            <a:r>
              <a:rPr lang="en-US" sz="3200" dirty="0" smtClean="0">
                <a:solidFill>
                  <a:schemeClr val="tx1"/>
                </a:solidFill>
              </a:rPr>
              <a:t> and Freon</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295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 following has the longest wavelength?</a:t>
            </a:r>
            <a:endParaRPr lang="en-US" sz="4000" dirty="0"/>
          </a:p>
        </p:txBody>
      </p:sp>
      <p:sp>
        <p:nvSpPr>
          <p:cNvPr id="8" name="Rounded Rectangle 7"/>
          <p:cNvSpPr/>
          <p:nvPr/>
        </p:nvSpPr>
        <p:spPr>
          <a:xfrm>
            <a:off x="3511557" y="2667000"/>
            <a:ext cx="2120886"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Red </a:t>
            </a:r>
            <a:endParaRPr lang="en-US" sz="3200" dirty="0"/>
          </a:p>
        </p:txBody>
      </p:sp>
      <p:sp>
        <p:nvSpPr>
          <p:cNvPr id="9" name="Rounded Rectangle 8"/>
          <p:cNvSpPr/>
          <p:nvPr/>
        </p:nvSpPr>
        <p:spPr>
          <a:xfrm>
            <a:off x="3505200" y="3581400"/>
            <a:ext cx="2133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Blue </a:t>
            </a:r>
            <a:endParaRPr lang="en-US" sz="3200" dirty="0"/>
          </a:p>
        </p:txBody>
      </p:sp>
      <p:sp>
        <p:nvSpPr>
          <p:cNvPr id="10" name="Rounded Rectangle 9"/>
          <p:cNvSpPr/>
          <p:nvPr/>
        </p:nvSpPr>
        <p:spPr>
          <a:xfrm>
            <a:off x="3505200" y="4495800"/>
            <a:ext cx="2133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Yellow</a:t>
            </a:r>
            <a:endParaRPr lang="en-US" sz="3200" dirty="0"/>
          </a:p>
        </p:txBody>
      </p:sp>
      <p:sp>
        <p:nvSpPr>
          <p:cNvPr id="11" name="Rounded Rectangle 10"/>
          <p:cNvSpPr/>
          <p:nvPr/>
        </p:nvSpPr>
        <p:spPr>
          <a:xfrm>
            <a:off x="3505200" y="5410200"/>
            <a:ext cx="2133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Green</a:t>
            </a:r>
            <a:endParaRPr lang="en-US" sz="3200" dirty="0">
              <a:solidFill>
                <a:schemeClr val="tx1"/>
              </a:solidFill>
            </a:endParaRPr>
          </a:p>
        </p:txBody>
      </p:sp>
      <p:pic>
        <p:nvPicPr>
          <p:cNvPr id="15" name="Picture 7" descr="AG00051_"/>
          <p:cNvPicPr>
            <a:picLocks noChangeAspect="1" noChangeArrowheads="1" noCrop="1"/>
          </p:cNvPicPr>
          <p:nvPr/>
        </p:nvPicPr>
        <p:blipFill>
          <a:blip r:embed="rId2"/>
          <a:srcRect/>
          <a:stretch>
            <a:fillRect/>
          </a:stretch>
        </p:blipFill>
        <p:spPr bwMode="auto">
          <a:xfrm>
            <a:off x="2514600" y="28479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4000" dirty="0" smtClean="0"/>
              <a:t>Which of these characterizes organic compounds?</a:t>
            </a:r>
            <a:endParaRPr lang="en-US" sz="4000" dirty="0"/>
          </a:p>
        </p:txBody>
      </p:sp>
      <p:sp>
        <p:nvSpPr>
          <p:cNvPr id="8" name="Rounded Rectangle 7"/>
          <p:cNvSpPr/>
          <p:nvPr/>
        </p:nvSpPr>
        <p:spPr>
          <a:xfrm>
            <a:off x="685800" y="2362200"/>
            <a:ext cx="7848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They are compounds of any element.</a:t>
            </a:r>
            <a:endParaRPr lang="en-US" sz="3200" dirty="0"/>
          </a:p>
        </p:txBody>
      </p:sp>
      <p:sp>
        <p:nvSpPr>
          <p:cNvPr id="9" name="Rounded Rectangle 8"/>
          <p:cNvSpPr/>
          <p:nvPr/>
        </p:nvSpPr>
        <p:spPr>
          <a:xfrm>
            <a:off x="685800" y="3276600"/>
            <a:ext cx="7848600" cy="9144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They cannot be broken down to simpler substances.</a:t>
            </a:r>
            <a:endParaRPr lang="en-US" sz="3200" dirty="0"/>
          </a:p>
        </p:txBody>
      </p:sp>
      <p:sp>
        <p:nvSpPr>
          <p:cNvPr id="10" name="Rounded Rectangle 9"/>
          <p:cNvSpPr/>
          <p:nvPr/>
        </p:nvSpPr>
        <p:spPr>
          <a:xfrm>
            <a:off x="685800" y="4419600"/>
            <a:ext cx="7848600" cy="9906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They always require electrical means to separate.</a:t>
            </a:r>
            <a:endParaRPr lang="en-US" sz="3200" dirty="0"/>
          </a:p>
        </p:txBody>
      </p:sp>
      <p:sp>
        <p:nvSpPr>
          <p:cNvPr id="11" name="Rounded Rectangle 10"/>
          <p:cNvSpPr/>
          <p:nvPr/>
        </p:nvSpPr>
        <p:spPr>
          <a:xfrm>
            <a:off x="685800" y="5638800"/>
            <a:ext cx="78486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They are compounds containing carbon.</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Autofit/>
          </a:bodyPr>
          <a:lstStyle/>
          <a:p>
            <a:pPr algn="just"/>
            <a:r>
              <a:rPr lang="en-US" sz="3600" dirty="0" smtClean="0"/>
              <a:t>What happens to the speed of sound waves as it travels from a less dense medium to a denser medium?</a:t>
            </a:r>
            <a:endParaRPr lang="en-US" sz="3600" dirty="0"/>
          </a:p>
        </p:txBody>
      </p:sp>
      <p:sp>
        <p:nvSpPr>
          <p:cNvPr id="8" name="Rounded Rectangle 7"/>
          <p:cNvSpPr/>
          <p:nvPr/>
        </p:nvSpPr>
        <p:spPr>
          <a:xfrm>
            <a:off x="1409700" y="2819400"/>
            <a:ext cx="6324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speed increases.</a:t>
            </a:r>
            <a:endParaRPr lang="en-US" sz="3200" dirty="0"/>
          </a:p>
        </p:txBody>
      </p:sp>
      <p:sp>
        <p:nvSpPr>
          <p:cNvPr id="9" name="Rounded Rectangle 8"/>
          <p:cNvSpPr/>
          <p:nvPr/>
        </p:nvSpPr>
        <p:spPr>
          <a:xfrm>
            <a:off x="1447800" y="3810000"/>
            <a:ext cx="6324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The speed stays the same.</a:t>
            </a:r>
            <a:endParaRPr lang="en-US" sz="3200" dirty="0"/>
          </a:p>
        </p:txBody>
      </p:sp>
      <p:sp>
        <p:nvSpPr>
          <p:cNvPr id="10" name="Rounded Rectangle 9"/>
          <p:cNvSpPr/>
          <p:nvPr/>
        </p:nvSpPr>
        <p:spPr>
          <a:xfrm>
            <a:off x="1447800" y="4724400"/>
            <a:ext cx="6324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Total internal reflection happens.</a:t>
            </a:r>
            <a:endParaRPr lang="en-US" sz="3200" dirty="0"/>
          </a:p>
        </p:txBody>
      </p:sp>
      <p:sp>
        <p:nvSpPr>
          <p:cNvPr id="11" name="Rounded Rectangle 10"/>
          <p:cNvSpPr/>
          <p:nvPr/>
        </p:nvSpPr>
        <p:spPr>
          <a:xfrm>
            <a:off x="1447800" y="5638800"/>
            <a:ext cx="6324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The speed decreases.</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457200" y="2971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err="1" smtClean="0"/>
              <a:t>Sound:Decibel</a:t>
            </a:r>
            <a:r>
              <a:rPr lang="en-US" sz="3600" dirty="0" smtClean="0"/>
              <a:t>::__________:__________</a:t>
            </a:r>
            <a:endParaRPr lang="en-US" sz="3600" dirty="0"/>
          </a:p>
        </p:txBody>
      </p:sp>
      <p:sp>
        <p:nvSpPr>
          <p:cNvPr id="7" name="Rounded Rectangle 6"/>
          <p:cNvSpPr/>
          <p:nvPr/>
        </p:nvSpPr>
        <p:spPr>
          <a:xfrm>
            <a:off x="2716224" y="2667000"/>
            <a:ext cx="3711552"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Area:Square</a:t>
            </a:r>
            <a:endParaRPr lang="en-US" sz="3200" dirty="0"/>
          </a:p>
        </p:txBody>
      </p:sp>
      <p:sp>
        <p:nvSpPr>
          <p:cNvPr id="12" name="Rounded Rectangle 11"/>
          <p:cNvSpPr/>
          <p:nvPr/>
        </p:nvSpPr>
        <p:spPr>
          <a:xfrm>
            <a:off x="2667000" y="3581400"/>
            <a:ext cx="3733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err="1" smtClean="0"/>
              <a:t>Capacity:Hectare</a:t>
            </a:r>
            <a:endParaRPr lang="en-US" sz="3200" dirty="0"/>
          </a:p>
        </p:txBody>
      </p:sp>
      <p:sp>
        <p:nvSpPr>
          <p:cNvPr id="13" name="Rounded Rectangle 12"/>
          <p:cNvSpPr/>
          <p:nvPr/>
        </p:nvSpPr>
        <p:spPr>
          <a:xfrm>
            <a:off x="2667000" y="4495800"/>
            <a:ext cx="3733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Length:Meter</a:t>
            </a:r>
            <a:endParaRPr lang="en-US" sz="3200" dirty="0"/>
          </a:p>
        </p:txBody>
      </p:sp>
      <p:sp>
        <p:nvSpPr>
          <p:cNvPr id="14" name="Rounded Rectangle 13"/>
          <p:cNvSpPr/>
          <p:nvPr/>
        </p:nvSpPr>
        <p:spPr>
          <a:xfrm>
            <a:off x="2667000" y="5410200"/>
            <a:ext cx="37338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Volume:Cube</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676400" y="4648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smtClean="0"/>
              <a:t>In which of the following medium would sound waves travel the fastest?</a:t>
            </a:r>
            <a:endParaRPr lang="en-US" sz="3600" dirty="0"/>
          </a:p>
        </p:txBody>
      </p:sp>
      <p:sp>
        <p:nvSpPr>
          <p:cNvPr id="7" name="Rounded Rectangle 6"/>
          <p:cNvSpPr/>
          <p:nvPr/>
        </p:nvSpPr>
        <p:spPr>
          <a:xfrm>
            <a:off x="2716224" y="2667000"/>
            <a:ext cx="3711552"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Vibrating objects</a:t>
            </a:r>
            <a:endParaRPr lang="en-US" sz="3200" dirty="0"/>
          </a:p>
        </p:txBody>
      </p:sp>
      <p:sp>
        <p:nvSpPr>
          <p:cNvPr id="12" name="Rounded Rectangle 11"/>
          <p:cNvSpPr/>
          <p:nvPr/>
        </p:nvSpPr>
        <p:spPr>
          <a:xfrm>
            <a:off x="2667000" y="3581400"/>
            <a:ext cx="37338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Liquids </a:t>
            </a:r>
            <a:endParaRPr lang="en-US" sz="3200" dirty="0"/>
          </a:p>
        </p:txBody>
      </p:sp>
      <p:sp>
        <p:nvSpPr>
          <p:cNvPr id="13" name="Rounded Rectangle 12"/>
          <p:cNvSpPr/>
          <p:nvPr/>
        </p:nvSpPr>
        <p:spPr>
          <a:xfrm>
            <a:off x="2667000" y="4495800"/>
            <a:ext cx="37338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Gases </a:t>
            </a:r>
            <a:endParaRPr lang="en-US" sz="3200" dirty="0"/>
          </a:p>
        </p:txBody>
      </p:sp>
      <p:sp>
        <p:nvSpPr>
          <p:cNvPr id="14" name="Rounded Rectangle 13"/>
          <p:cNvSpPr/>
          <p:nvPr/>
        </p:nvSpPr>
        <p:spPr>
          <a:xfrm>
            <a:off x="2667000" y="5410200"/>
            <a:ext cx="37338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Solids </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676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a:bodyPr>
          <a:lstStyle/>
          <a:p>
            <a:pPr algn="just"/>
            <a:r>
              <a:rPr lang="en-US" sz="3600" dirty="0" smtClean="0"/>
              <a:t>We always hear doctors warning us to limit salt intake. What is the effect of salt on cells?</a:t>
            </a:r>
            <a:endParaRPr lang="en-US" sz="3600" dirty="0"/>
          </a:p>
        </p:txBody>
      </p:sp>
      <p:sp>
        <p:nvSpPr>
          <p:cNvPr id="8" name="Rounded Rectangle 7"/>
          <p:cNvSpPr/>
          <p:nvPr/>
        </p:nvSpPr>
        <p:spPr>
          <a:xfrm>
            <a:off x="2171700" y="2819400"/>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Salt dehydrates the cell.</a:t>
            </a:r>
            <a:endParaRPr lang="en-US" sz="3200" dirty="0"/>
          </a:p>
        </p:txBody>
      </p:sp>
      <p:sp>
        <p:nvSpPr>
          <p:cNvPr id="9" name="Rounded Rectangle 8"/>
          <p:cNvSpPr/>
          <p:nvPr/>
        </p:nvSpPr>
        <p:spPr>
          <a:xfrm>
            <a:off x="2133600" y="3810000"/>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Salt makes cells swell.</a:t>
            </a:r>
            <a:endParaRPr lang="en-US" sz="3200" dirty="0"/>
          </a:p>
        </p:txBody>
      </p:sp>
      <p:sp>
        <p:nvSpPr>
          <p:cNvPr id="10" name="Rounded Rectangle 9"/>
          <p:cNvSpPr/>
          <p:nvPr/>
        </p:nvSpPr>
        <p:spPr>
          <a:xfrm>
            <a:off x="2133600" y="4724400"/>
            <a:ext cx="4800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Salt clogs the cell.</a:t>
            </a:r>
            <a:endParaRPr lang="en-US" sz="3200" dirty="0"/>
          </a:p>
        </p:txBody>
      </p:sp>
      <p:sp>
        <p:nvSpPr>
          <p:cNvPr id="11" name="Rounded Rectangle 10"/>
          <p:cNvSpPr/>
          <p:nvPr/>
        </p:nvSpPr>
        <p:spPr>
          <a:xfrm>
            <a:off x="2133600" y="5638800"/>
            <a:ext cx="4800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Salt punctures the cell.</a:t>
            </a:r>
            <a:endParaRPr lang="en-US" sz="3200" dirty="0">
              <a:solidFill>
                <a:schemeClr val="tx1"/>
              </a:solidFill>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133600"/>
          </a:xfrm>
        </p:spPr>
        <p:txBody>
          <a:bodyPr>
            <a:normAutofit fontScale="90000"/>
          </a:bodyPr>
          <a:lstStyle/>
          <a:p>
            <a:pPr algn="just"/>
            <a:r>
              <a:rPr lang="en-US" sz="3600" dirty="0" smtClean="0"/>
              <a:t>Eight out of the top ten leading causes of morbidity in the Philippines are communicable. To prevent them from happening to your students, the best advice to give them is to _____________.</a:t>
            </a:r>
            <a:endParaRPr lang="en-US" sz="3600" dirty="0"/>
          </a:p>
        </p:txBody>
      </p:sp>
      <p:sp>
        <p:nvSpPr>
          <p:cNvPr id="8" name="Rounded Rectangle 7"/>
          <p:cNvSpPr/>
          <p:nvPr/>
        </p:nvSpPr>
        <p:spPr>
          <a:xfrm>
            <a:off x="1524000" y="2819400"/>
            <a:ext cx="609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Avoid dangerous activities</a:t>
            </a:r>
            <a:endParaRPr lang="en-US" sz="3200" dirty="0"/>
          </a:p>
        </p:txBody>
      </p:sp>
      <p:sp>
        <p:nvSpPr>
          <p:cNvPr id="9" name="Rounded Rectangle 8"/>
          <p:cNvSpPr/>
          <p:nvPr/>
        </p:nvSpPr>
        <p:spPr>
          <a:xfrm>
            <a:off x="1524000" y="3810000"/>
            <a:ext cx="609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Clean the classroom often</a:t>
            </a:r>
            <a:endParaRPr lang="en-US" sz="3200" dirty="0"/>
          </a:p>
        </p:txBody>
      </p:sp>
      <p:sp>
        <p:nvSpPr>
          <p:cNvPr id="10" name="Rounded Rectangle 9"/>
          <p:cNvSpPr/>
          <p:nvPr/>
        </p:nvSpPr>
        <p:spPr>
          <a:xfrm>
            <a:off x="1524000" y="4724400"/>
            <a:ext cx="609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Cover the mouth when sneezing</a:t>
            </a:r>
            <a:endParaRPr lang="en-US" sz="3200" dirty="0"/>
          </a:p>
        </p:txBody>
      </p:sp>
      <p:sp>
        <p:nvSpPr>
          <p:cNvPr id="11" name="Rounded Rectangle 10"/>
          <p:cNvSpPr/>
          <p:nvPr/>
        </p:nvSpPr>
        <p:spPr>
          <a:xfrm>
            <a:off x="1524000" y="5638800"/>
            <a:ext cx="609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Wash hands frequently</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609600" y="4876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600200"/>
          </a:xfrm>
        </p:spPr>
        <p:txBody>
          <a:bodyPr>
            <a:normAutofit fontScale="90000"/>
          </a:bodyPr>
          <a:lstStyle/>
          <a:p>
            <a:pPr algn="just"/>
            <a:r>
              <a:rPr lang="en-US" sz="3600" dirty="0" smtClean="0"/>
              <a:t>Iron-deficiency contributes to the poor scholastic performance of students. Which of the following food items is best for iron-deficient students?</a:t>
            </a:r>
            <a:endParaRPr lang="en-US" sz="3600" dirty="0"/>
          </a:p>
        </p:txBody>
      </p:sp>
      <p:sp>
        <p:nvSpPr>
          <p:cNvPr id="7" name="Rounded Rectangle 6"/>
          <p:cNvSpPr/>
          <p:nvPr/>
        </p:nvSpPr>
        <p:spPr>
          <a:xfrm>
            <a:off x="3435811" y="2667000"/>
            <a:ext cx="2272378"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a:t>
            </a:r>
            <a:r>
              <a:rPr lang="en-US" sz="3200" dirty="0" err="1" smtClean="0"/>
              <a:t>Pechay</a:t>
            </a:r>
            <a:r>
              <a:rPr lang="en-US" sz="3200" dirty="0" smtClean="0"/>
              <a:t> </a:t>
            </a:r>
            <a:endParaRPr lang="en-US" sz="3200" dirty="0"/>
          </a:p>
        </p:txBody>
      </p:sp>
      <p:sp>
        <p:nvSpPr>
          <p:cNvPr id="12" name="Rounded Rectangle 11"/>
          <p:cNvSpPr/>
          <p:nvPr/>
        </p:nvSpPr>
        <p:spPr>
          <a:xfrm>
            <a:off x="3429000" y="3581400"/>
            <a:ext cx="228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Fish </a:t>
            </a:r>
            <a:endParaRPr lang="en-US" sz="3200" dirty="0"/>
          </a:p>
        </p:txBody>
      </p:sp>
      <p:sp>
        <p:nvSpPr>
          <p:cNvPr id="13" name="Rounded Rectangle 12"/>
          <p:cNvSpPr/>
          <p:nvPr/>
        </p:nvSpPr>
        <p:spPr>
          <a:xfrm>
            <a:off x="3429000" y="4495800"/>
            <a:ext cx="228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Sardines </a:t>
            </a:r>
            <a:endParaRPr lang="en-US" sz="3200" dirty="0"/>
          </a:p>
        </p:txBody>
      </p:sp>
      <p:sp>
        <p:nvSpPr>
          <p:cNvPr id="14" name="Rounded Rectangle 13"/>
          <p:cNvSpPr/>
          <p:nvPr/>
        </p:nvSpPr>
        <p:spPr>
          <a:xfrm>
            <a:off x="3429000" y="5410200"/>
            <a:ext cx="2286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Liver  </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438400" y="5486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133600"/>
          </a:xfrm>
        </p:spPr>
        <p:txBody>
          <a:bodyPr>
            <a:normAutofit/>
          </a:bodyPr>
          <a:lstStyle/>
          <a:p>
            <a:pPr algn="just"/>
            <a:r>
              <a:rPr lang="en-US" sz="3600" dirty="0" smtClean="0"/>
              <a:t>All of the following are effects of deforestation, EXCEPT:</a:t>
            </a:r>
            <a:endParaRPr lang="en-US" sz="3600" dirty="0"/>
          </a:p>
        </p:txBody>
      </p:sp>
      <p:sp>
        <p:nvSpPr>
          <p:cNvPr id="8" name="Rounded Rectangle 7"/>
          <p:cNvSpPr/>
          <p:nvPr/>
        </p:nvSpPr>
        <p:spPr>
          <a:xfrm>
            <a:off x="1714500" y="2819400"/>
            <a:ext cx="5715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Landslides </a:t>
            </a:r>
            <a:endParaRPr lang="en-US" sz="3200" dirty="0"/>
          </a:p>
        </p:txBody>
      </p:sp>
      <p:sp>
        <p:nvSpPr>
          <p:cNvPr id="9" name="Rounded Rectangle 8"/>
          <p:cNvSpPr/>
          <p:nvPr/>
        </p:nvSpPr>
        <p:spPr>
          <a:xfrm>
            <a:off x="1676400" y="3810000"/>
            <a:ext cx="5715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Global warming </a:t>
            </a:r>
            <a:endParaRPr lang="en-US" sz="3200" dirty="0"/>
          </a:p>
        </p:txBody>
      </p:sp>
      <p:sp>
        <p:nvSpPr>
          <p:cNvPr id="10" name="Rounded Rectangle 9"/>
          <p:cNvSpPr/>
          <p:nvPr/>
        </p:nvSpPr>
        <p:spPr>
          <a:xfrm>
            <a:off x="1676400" y="4724400"/>
            <a:ext cx="5715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Flash floods </a:t>
            </a:r>
            <a:endParaRPr lang="en-US" sz="3200" dirty="0"/>
          </a:p>
        </p:txBody>
      </p:sp>
      <p:sp>
        <p:nvSpPr>
          <p:cNvPr id="11" name="Rounded Rectangle 10"/>
          <p:cNvSpPr/>
          <p:nvPr/>
        </p:nvSpPr>
        <p:spPr>
          <a:xfrm>
            <a:off x="1676400" y="5638800"/>
            <a:ext cx="5715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Destruction of the ozone layer</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762000" y="3886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057400"/>
          </a:xfrm>
        </p:spPr>
        <p:txBody>
          <a:bodyPr>
            <a:normAutofit/>
          </a:bodyPr>
          <a:lstStyle/>
          <a:p>
            <a:pPr algn="just"/>
            <a:r>
              <a:rPr lang="en-US" sz="3600" dirty="0" smtClean="0"/>
              <a:t>Patients suffering from malfunction of the kidney are now assisted by a machine that serves as artificial kidney called __________.</a:t>
            </a:r>
            <a:endParaRPr lang="en-US" sz="3600" dirty="0"/>
          </a:p>
        </p:txBody>
      </p:sp>
      <p:sp>
        <p:nvSpPr>
          <p:cNvPr id="8" name="Rounded Rectangle 7"/>
          <p:cNvSpPr/>
          <p:nvPr/>
        </p:nvSpPr>
        <p:spPr>
          <a:xfrm>
            <a:off x="2362200" y="2819400"/>
            <a:ext cx="4419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Homeostatic machine</a:t>
            </a:r>
            <a:endParaRPr lang="en-US" sz="3200" dirty="0"/>
          </a:p>
        </p:txBody>
      </p:sp>
      <p:sp>
        <p:nvSpPr>
          <p:cNvPr id="9" name="Rounded Rectangle 8"/>
          <p:cNvSpPr/>
          <p:nvPr/>
        </p:nvSpPr>
        <p:spPr>
          <a:xfrm>
            <a:off x="2362200" y="3810000"/>
            <a:ext cx="4419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Pacemaker </a:t>
            </a:r>
            <a:endParaRPr lang="en-US" sz="3200" dirty="0"/>
          </a:p>
        </p:txBody>
      </p:sp>
      <p:sp>
        <p:nvSpPr>
          <p:cNvPr id="10" name="Rounded Rectangle 9"/>
          <p:cNvSpPr/>
          <p:nvPr/>
        </p:nvSpPr>
        <p:spPr>
          <a:xfrm>
            <a:off x="2362200" y="4724400"/>
            <a:ext cx="4419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err="1" smtClean="0"/>
              <a:t>Hemoscope</a:t>
            </a:r>
            <a:r>
              <a:rPr lang="en-US" sz="3200" dirty="0" smtClean="0"/>
              <a:t> </a:t>
            </a:r>
            <a:endParaRPr lang="en-US" sz="3200" dirty="0"/>
          </a:p>
        </p:txBody>
      </p:sp>
      <p:sp>
        <p:nvSpPr>
          <p:cNvPr id="11" name="Rounded Rectangle 10"/>
          <p:cNvSpPr/>
          <p:nvPr/>
        </p:nvSpPr>
        <p:spPr>
          <a:xfrm>
            <a:off x="2362200" y="5638800"/>
            <a:ext cx="44196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hemodializer</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1143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828800"/>
          </a:xfrm>
        </p:spPr>
        <p:txBody>
          <a:bodyPr>
            <a:normAutofit/>
          </a:bodyPr>
          <a:lstStyle/>
          <a:p>
            <a:pPr algn="just"/>
            <a:r>
              <a:rPr lang="en-US" sz="4000" dirty="0" smtClean="0"/>
              <a:t>Why do we hear thunder some seconds after seeing lightning?</a:t>
            </a:r>
            <a:endParaRPr lang="en-US" sz="4000" dirty="0"/>
          </a:p>
        </p:txBody>
      </p:sp>
      <p:sp>
        <p:nvSpPr>
          <p:cNvPr id="8" name="Rounded Rectangle 7"/>
          <p:cNvSpPr/>
          <p:nvPr/>
        </p:nvSpPr>
        <p:spPr>
          <a:xfrm>
            <a:off x="1524000" y="2819400"/>
            <a:ext cx="6096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Light appears brighter in the sky.</a:t>
            </a:r>
            <a:endParaRPr lang="en-US" sz="3200" dirty="0"/>
          </a:p>
        </p:txBody>
      </p:sp>
      <p:sp>
        <p:nvSpPr>
          <p:cNvPr id="9" name="Rounded Rectangle 8"/>
          <p:cNvSpPr/>
          <p:nvPr/>
        </p:nvSpPr>
        <p:spPr>
          <a:xfrm>
            <a:off x="1524000" y="3810000"/>
            <a:ext cx="6096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Light travels faster than sound.</a:t>
            </a:r>
            <a:endParaRPr lang="en-US" sz="3200" dirty="0"/>
          </a:p>
        </p:txBody>
      </p:sp>
      <p:sp>
        <p:nvSpPr>
          <p:cNvPr id="10" name="Rounded Rectangle 9"/>
          <p:cNvSpPr/>
          <p:nvPr/>
        </p:nvSpPr>
        <p:spPr>
          <a:xfrm>
            <a:off x="1524000" y="4724400"/>
            <a:ext cx="6096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Sound travels 1,331 m/s.</a:t>
            </a:r>
            <a:endParaRPr lang="en-US" sz="3200" dirty="0"/>
          </a:p>
        </p:txBody>
      </p:sp>
      <p:sp>
        <p:nvSpPr>
          <p:cNvPr id="11" name="Rounded Rectangle 10"/>
          <p:cNvSpPr/>
          <p:nvPr/>
        </p:nvSpPr>
        <p:spPr>
          <a:xfrm>
            <a:off x="1524000" y="5638800"/>
            <a:ext cx="6096000" cy="6096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Sound is released later actually.</a:t>
            </a:r>
            <a:endParaRPr lang="en-US" sz="3200" dirty="0">
              <a:solidFill>
                <a:schemeClr val="tx1"/>
              </a:solidFill>
            </a:endParaRPr>
          </a:p>
        </p:txBody>
      </p:sp>
      <p:pic>
        <p:nvPicPr>
          <p:cNvPr id="7" name="Picture 7" descr="AG00051_"/>
          <p:cNvPicPr>
            <a:picLocks noChangeAspect="1" noChangeArrowheads="1" noCrop="1"/>
          </p:cNvPicPr>
          <p:nvPr/>
        </p:nvPicPr>
        <p:blipFill>
          <a:blip r:embed="rId2"/>
          <a:srcRect/>
          <a:stretch>
            <a:fillRect/>
          </a:stretch>
        </p:blipFill>
        <p:spPr bwMode="auto">
          <a:xfrm>
            <a:off x="609600" y="3962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The interaction between living organisms and nonliving organisms in the environment is called a/an __________.</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species</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community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population </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ecosystem  </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05000"/>
          </a:xfrm>
        </p:spPr>
        <p:txBody>
          <a:bodyPr>
            <a:normAutofit/>
          </a:bodyPr>
          <a:lstStyle/>
          <a:p>
            <a:pPr algn="just"/>
            <a:r>
              <a:rPr lang="en-US" sz="3600" dirty="0" smtClean="0"/>
              <a:t>Meteorology is a very important branch of natural science, without which we cannot be informed of forthcoming __________.</a:t>
            </a:r>
            <a:endParaRPr lang="en-US" sz="3600" dirty="0"/>
          </a:p>
        </p:txBody>
      </p:sp>
      <p:sp>
        <p:nvSpPr>
          <p:cNvPr id="7" name="Rounded Rectangle 6"/>
          <p:cNvSpPr/>
          <p:nvPr/>
        </p:nvSpPr>
        <p:spPr>
          <a:xfrm>
            <a:off x="2932042"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earthquake</a:t>
            </a:r>
            <a:endParaRPr lang="en-US" sz="3200" dirty="0"/>
          </a:p>
        </p:txBody>
      </p:sp>
      <p:sp>
        <p:nvSpPr>
          <p:cNvPr id="12" name="Rounded Rectangle 11"/>
          <p:cNvSpPr/>
          <p:nvPr/>
        </p:nvSpPr>
        <p:spPr>
          <a:xfrm>
            <a:off x="2895600"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typhoon</a:t>
            </a:r>
            <a:endParaRPr lang="en-US" sz="3200" dirty="0"/>
          </a:p>
        </p:txBody>
      </p:sp>
      <p:sp>
        <p:nvSpPr>
          <p:cNvPr id="13" name="Rounded Rectangle 12"/>
          <p:cNvSpPr/>
          <p:nvPr/>
        </p:nvSpPr>
        <p:spPr>
          <a:xfrm>
            <a:off x="2895600"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meteor </a:t>
            </a:r>
            <a:endParaRPr lang="en-US" sz="3200" dirty="0"/>
          </a:p>
        </p:txBody>
      </p:sp>
      <p:sp>
        <p:nvSpPr>
          <p:cNvPr id="14" name="Rounded Rectangle 13"/>
          <p:cNvSpPr/>
          <p:nvPr/>
        </p:nvSpPr>
        <p:spPr>
          <a:xfrm>
            <a:off x="2895600"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comet</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828800" y="39624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209800"/>
          </a:xfrm>
        </p:spPr>
        <p:txBody>
          <a:bodyPr>
            <a:noAutofit/>
          </a:bodyPr>
          <a:lstStyle/>
          <a:p>
            <a:pPr algn="just"/>
            <a:r>
              <a:rPr lang="en-US" sz="3600" dirty="0" smtClean="0"/>
              <a:t>What is the best indicator of “quality education” as invoked in the Constitution? Generation of reliable measurements __________.</a:t>
            </a:r>
            <a:endParaRPr lang="en-US" sz="3600" dirty="0"/>
          </a:p>
        </p:txBody>
      </p:sp>
      <p:sp>
        <p:nvSpPr>
          <p:cNvPr id="7" name="Rounded Rectangle 6"/>
          <p:cNvSpPr/>
          <p:nvPr/>
        </p:nvSpPr>
        <p:spPr>
          <a:xfrm>
            <a:off x="2095500" y="2895600"/>
            <a:ext cx="4953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on cohort survival rate</a:t>
            </a:r>
            <a:endParaRPr lang="en-US" sz="3200" dirty="0"/>
          </a:p>
        </p:txBody>
      </p:sp>
      <p:sp>
        <p:nvSpPr>
          <p:cNvPr id="12" name="Rounded Rectangle 11"/>
          <p:cNvSpPr/>
          <p:nvPr/>
        </p:nvSpPr>
        <p:spPr>
          <a:xfrm>
            <a:off x="2057400" y="3810000"/>
            <a:ext cx="4953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a:t>
            </a:r>
            <a:r>
              <a:rPr lang="en-US" sz="3200" dirty="0"/>
              <a:t>o</a:t>
            </a:r>
            <a:r>
              <a:rPr lang="en-US" sz="3200" dirty="0" smtClean="0"/>
              <a:t>n drop-out rate</a:t>
            </a:r>
            <a:endParaRPr lang="en-US" sz="3200" dirty="0"/>
          </a:p>
        </p:txBody>
      </p:sp>
      <p:sp>
        <p:nvSpPr>
          <p:cNvPr id="13" name="Rounded Rectangle 12"/>
          <p:cNvSpPr/>
          <p:nvPr/>
        </p:nvSpPr>
        <p:spPr>
          <a:xfrm>
            <a:off x="2057400" y="4724400"/>
            <a:ext cx="4953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t>
            </a:r>
            <a:r>
              <a:rPr lang="en-US" sz="3200" dirty="0"/>
              <a:t>o</a:t>
            </a:r>
            <a:r>
              <a:rPr lang="en-US" sz="3200" dirty="0" smtClean="0"/>
              <a:t>f educational outcomes</a:t>
            </a:r>
            <a:endParaRPr lang="en-US" sz="3200" dirty="0"/>
          </a:p>
        </p:txBody>
      </p:sp>
      <p:sp>
        <p:nvSpPr>
          <p:cNvPr id="14" name="Rounded Rectangle 13"/>
          <p:cNvSpPr/>
          <p:nvPr/>
        </p:nvSpPr>
        <p:spPr>
          <a:xfrm>
            <a:off x="2057400" y="5638800"/>
            <a:ext cx="4953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a:solidFill>
                  <a:schemeClr val="tx1"/>
                </a:solidFill>
              </a:rPr>
              <a:t>o</a:t>
            </a:r>
            <a:r>
              <a:rPr lang="en-US" sz="3200" dirty="0" smtClean="0">
                <a:solidFill>
                  <a:schemeClr val="tx1"/>
                </a:solidFill>
              </a:rPr>
              <a:t>n participation rate</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143000" y="4800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Violation of human rights is a violation of the __________ of persons.</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dignity</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intelligence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emotions</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freedom</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86000" y="5715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981200"/>
          </a:xfrm>
        </p:spPr>
        <p:txBody>
          <a:bodyPr>
            <a:normAutofit/>
          </a:bodyPr>
          <a:lstStyle/>
          <a:p>
            <a:pPr algn="just"/>
            <a:r>
              <a:rPr lang="en-US" sz="3600" dirty="0" smtClean="0"/>
              <a:t>What term best describes a peaceful community?</a:t>
            </a:r>
            <a:endParaRPr lang="en-US" sz="3600" dirty="0"/>
          </a:p>
        </p:txBody>
      </p:sp>
      <p:sp>
        <p:nvSpPr>
          <p:cNvPr id="7" name="Rounded Rectangle 6"/>
          <p:cNvSpPr/>
          <p:nvPr/>
        </p:nvSpPr>
        <p:spPr>
          <a:xfrm>
            <a:off x="3208574" y="2895600"/>
            <a:ext cx="2726853"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Harmony</a:t>
            </a:r>
            <a:endParaRPr lang="en-US" sz="3200" dirty="0"/>
          </a:p>
        </p:txBody>
      </p:sp>
      <p:sp>
        <p:nvSpPr>
          <p:cNvPr id="12" name="Rounded Rectangle 11"/>
          <p:cNvSpPr/>
          <p:nvPr/>
        </p:nvSpPr>
        <p:spPr>
          <a:xfrm>
            <a:off x="3200401" y="3810000"/>
            <a:ext cx="27431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Tolerance </a:t>
            </a:r>
            <a:endParaRPr lang="en-US" sz="3200" dirty="0"/>
          </a:p>
        </p:txBody>
      </p:sp>
      <p:sp>
        <p:nvSpPr>
          <p:cNvPr id="13" name="Rounded Rectangle 12"/>
          <p:cNvSpPr/>
          <p:nvPr/>
        </p:nvSpPr>
        <p:spPr>
          <a:xfrm>
            <a:off x="3200401" y="4724400"/>
            <a:ext cx="27431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Spirituality </a:t>
            </a:r>
            <a:endParaRPr lang="en-US" sz="3200" dirty="0"/>
          </a:p>
        </p:txBody>
      </p:sp>
      <p:sp>
        <p:nvSpPr>
          <p:cNvPr id="14" name="Rounded Rectangle 13"/>
          <p:cNvSpPr/>
          <p:nvPr/>
        </p:nvSpPr>
        <p:spPr>
          <a:xfrm>
            <a:off x="3200401" y="5638800"/>
            <a:ext cx="27431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Ethics </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2209800" y="3048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fontScale="90000"/>
          </a:bodyPr>
          <a:lstStyle/>
          <a:p>
            <a:pPr algn="just"/>
            <a:r>
              <a:rPr lang="en-US" sz="3600" dirty="0" smtClean="0"/>
              <a:t>The logo of the Olympic Games represents the interconnectedness of the countries in the world. While the Games highlight the strength of the nations in sports, what does the global activity promote?</a:t>
            </a:r>
            <a:endParaRPr lang="en-US" sz="3600" dirty="0"/>
          </a:p>
        </p:txBody>
      </p:sp>
      <p:sp>
        <p:nvSpPr>
          <p:cNvPr id="7" name="Rounded Rectangle 6"/>
          <p:cNvSpPr/>
          <p:nvPr/>
        </p:nvSpPr>
        <p:spPr>
          <a:xfrm>
            <a:off x="2937521" y="3124200"/>
            <a:ext cx="326895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World peace</a:t>
            </a:r>
            <a:endParaRPr lang="en-US" sz="3200" dirty="0"/>
          </a:p>
        </p:txBody>
      </p:sp>
      <p:sp>
        <p:nvSpPr>
          <p:cNvPr id="12" name="Rounded Rectangle 11"/>
          <p:cNvSpPr/>
          <p:nvPr/>
        </p:nvSpPr>
        <p:spPr>
          <a:xfrm>
            <a:off x="2895600" y="4038600"/>
            <a:ext cx="3276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World tourism</a:t>
            </a:r>
            <a:endParaRPr lang="en-US" sz="3200" dirty="0"/>
          </a:p>
        </p:txBody>
      </p:sp>
      <p:sp>
        <p:nvSpPr>
          <p:cNvPr id="13" name="Rounded Rectangle 12"/>
          <p:cNvSpPr/>
          <p:nvPr/>
        </p:nvSpPr>
        <p:spPr>
          <a:xfrm>
            <a:off x="2895600" y="4953000"/>
            <a:ext cx="3276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World industry</a:t>
            </a:r>
            <a:endParaRPr lang="en-US" sz="3200" dirty="0"/>
          </a:p>
        </p:txBody>
      </p:sp>
      <p:sp>
        <p:nvSpPr>
          <p:cNvPr id="14" name="Rounded Rectangle 13"/>
          <p:cNvSpPr/>
          <p:nvPr/>
        </p:nvSpPr>
        <p:spPr>
          <a:xfrm>
            <a:off x="2895600" y="5867400"/>
            <a:ext cx="32765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World history</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905000" y="3276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209800"/>
          </a:xfrm>
        </p:spPr>
        <p:txBody>
          <a:bodyPr>
            <a:noAutofit/>
          </a:bodyPr>
          <a:lstStyle/>
          <a:p>
            <a:pPr algn="just"/>
            <a:r>
              <a:rPr lang="en-US" sz="3600" dirty="0" smtClean="0"/>
              <a:t>The UNESCO is an international organization promoting which programs of the United Nations?</a:t>
            </a:r>
            <a:endParaRPr lang="en-US" sz="3600" dirty="0"/>
          </a:p>
        </p:txBody>
      </p:sp>
      <p:sp>
        <p:nvSpPr>
          <p:cNvPr id="7" name="Rounded Rectangle 6"/>
          <p:cNvSpPr/>
          <p:nvPr/>
        </p:nvSpPr>
        <p:spPr>
          <a:xfrm>
            <a:off x="1714500" y="2895600"/>
            <a:ext cx="57150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Education, Science, Culture</a:t>
            </a:r>
            <a:endParaRPr lang="en-US" sz="3200" dirty="0"/>
          </a:p>
        </p:txBody>
      </p:sp>
      <p:sp>
        <p:nvSpPr>
          <p:cNvPr id="12" name="Rounded Rectangle 11"/>
          <p:cNvSpPr/>
          <p:nvPr/>
        </p:nvSpPr>
        <p:spPr>
          <a:xfrm>
            <a:off x="1676400" y="3810000"/>
            <a:ext cx="5715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Unity, Organization, Education</a:t>
            </a:r>
            <a:endParaRPr lang="en-US" sz="3200" dirty="0"/>
          </a:p>
        </p:txBody>
      </p:sp>
      <p:sp>
        <p:nvSpPr>
          <p:cNvPr id="13" name="Rounded Rectangle 12"/>
          <p:cNvSpPr/>
          <p:nvPr/>
        </p:nvSpPr>
        <p:spPr>
          <a:xfrm>
            <a:off x="1676400" y="4724400"/>
            <a:ext cx="5715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Competence, Science, Nature</a:t>
            </a:r>
            <a:endParaRPr lang="en-US" sz="3200" dirty="0"/>
          </a:p>
        </p:txBody>
      </p:sp>
      <p:sp>
        <p:nvSpPr>
          <p:cNvPr id="14" name="Rounded Rectangle 13"/>
          <p:cNvSpPr/>
          <p:nvPr/>
        </p:nvSpPr>
        <p:spPr>
          <a:xfrm>
            <a:off x="1676400" y="5638800"/>
            <a:ext cx="5715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National, Unity, Science</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762000" y="3048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Which is a negative consequence of our value of close family ties?</a:t>
            </a:r>
            <a:endParaRPr lang="en-US" sz="3600" dirty="0"/>
          </a:p>
        </p:txBody>
      </p:sp>
      <p:sp>
        <p:nvSpPr>
          <p:cNvPr id="7" name="Rounded Rectangle 6"/>
          <p:cNvSpPr/>
          <p:nvPr/>
        </p:nvSpPr>
        <p:spPr>
          <a:xfrm>
            <a:off x="1428750" y="2286000"/>
            <a:ext cx="62865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The development of prolonged dependence</a:t>
            </a:r>
            <a:endParaRPr lang="en-US" sz="3200" dirty="0"/>
          </a:p>
        </p:txBody>
      </p:sp>
      <p:sp>
        <p:nvSpPr>
          <p:cNvPr id="12" name="Rounded Rectangle 11"/>
          <p:cNvSpPr/>
          <p:nvPr/>
        </p:nvSpPr>
        <p:spPr>
          <a:xfrm>
            <a:off x="1409700" y="3581400"/>
            <a:ext cx="62865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Permanence of marriage</a:t>
            </a:r>
            <a:endParaRPr lang="en-US" sz="3200" dirty="0"/>
          </a:p>
        </p:txBody>
      </p:sp>
      <p:sp>
        <p:nvSpPr>
          <p:cNvPr id="13" name="Rounded Rectangle 12"/>
          <p:cNvSpPr/>
          <p:nvPr/>
        </p:nvSpPr>
        <p:spPr>
          <a:xfrm>
            <a:off x="1409700" y="4648200"/>
            <a:ext cx="62865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Double-standard mentality</a:t>
            </a:r>
            <a:endParaRPr lang="en-US" sz="3200" dirty="0"/>
          </a:p>
        </p:txBody>
      </p:sp>
      <p:sp>
        <p:nvSpPr>
          <p:cNvPr id="14" name="Rounded Rectangle 13"/>
          <p:cNvSpPr/>
          <p:nvPr/>
        </p:nvSpPr>
        <p:spPr>
          <a:xfrm>
            <a:off x="1409700" y="5638800"/>
            <a:ext cx="62865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Stability of the family</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381000" y="2514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“No pain, no gain; no cross, no crown.” What do these short statements point to?</a:t>
            </a:r>
            <a:endParaRPr lang="en-US" sz="3600" dirty="0"/>
          </a:p>
        </p:txBody>
      </p:sp>
      <p:sp>
        <p:nvSpPr>
          <p:cNvPr id="7" name="Rounded Rectangle 6"/>
          <p:cNvSpPr/>
          <p:nvPr/>
        </p:nvSpPr>
        <p:spPr>
          <a:xfrm>
            <a:off x="914400" y="2286000"/>
            <a:ext cx="7848600" cy="9906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Why suffer when there are a lot of pain relievers available.</a:t>
            </a:r>
            <a:endParaRPr lang="en-US" sz="3200" dirty="0"/>
          </a:p>
        </p:txBody>
      </p:sp>
      <p:sp>
        <p:nvSpPr>
          <p:cNvPr id="12" name="Rounded Rectangle 11"/>
          <p:cNvSpPr/>
          <p:nvPr/>
        </p:nvSpPr>
        <p:spPr>
          <a:xfrm>
            <a:off x="914400" y="3429000"/>
            <a:ext cx="7848600" cy="9906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Be willing to pay the price for every dream you want to realize.</a:t>
            </a:r>
            <a:endParaRPr lang="en-US" sz="3200" dirty="0"/>
          </a:p>
        </p:txBody>
      </p:sp>
      <p:sp>
        <p:nvSpPr>
          <p:cNvPr id="13" name="Rounded Rectangle 12"/>
          <p:cNvSpPr/>
          <p:nvPr/>
        </p:nvSpPr>
        <p:spPr>
          <a:xfrm>
            <a:off x="914400" y="4648200"/>
            <a:ext cx="78486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Life is a heavy burden to carry.</a:t>
            </a:r>
            <a:endParaRPr lang="en-US" sz="3200" dirty="0"/>
          </a:p>
        </p:txBody>
      </p:sp>
      <p:sp>
        <p:nvSpPr>
          <p:cNvPr id="14" name="Rounded Rectangle 13"/>
          <p:cNvSpPr/>
          <p:nvPr/>
        </p:nvSpPr>
        <p:spPr>
          <a:xfrm>
            <a:off x="838200" y="5638800"/>
            <a:ext cx="7924800" cy="7620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Others make our life miserable many times.</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52400" y="37338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a:bodyPr>
          <a:lstStyle/>
          <a:p>
            <a:pPr algn="just"/>
            <a:r>
              <a:rPr lang="en-US" sz="3600" dirty="0" smtClean="0"/>
              <a:t>Children learn how to open a coconut and other common chores in a coconut farm. In this instance, culture is transmitted by __________.</a:t>
            </a:r>
            <a:endParaRPr lang="en-US" sz="3600" dirty="0"/>
          </a:p>
        </p:txBody>
      </p:sp>
      <p:sp>
        <p:nvSpPr>
          <p:cNvPr id="7" name="Rounded Rectangle 6"/>
          <p:cNvSpPr/>
          <p:nvPr/>
        </p:nvSpPr>
        <p:spPr>
          <a:xfrm>
            <a:off x="2937521" y="3124200"/>
            <a:ext cx="3268959"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immersion</a:t>
            </a:r>
            <a:endParaRPr lang="en-US" sz="3200" dirty="0"/>
          </a:p>
        </p:txBody>
      </p:sp>
      <p:sp>
        <p:nvSpPr>
          <p:cNvPr id="12" name="Rounded Rectangle 11"/>
          <p:cNvSpPr/>
          <p:nvPr/>
        </p:nvSpPr>
        <p:spPr>
          <a:xfrm>
            <a:off x="2895600" y="4038600"/>
            <a:ext cx="3276599"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enculturation</a:t>
            </a:r>
            <a:endParaRPr lang="en-US" sz="3200" dirty="0"/>
          </a:p>
        </p:txBody>
      </p:sp>
      <p:sp>
        <p:nvSpPr>
          <p:cNvPr id="13" name="Rounded Rectangle 12"/>
          <p:cNvSpPr/>
          <p:nvPr/>
        </p:nvSpPr>
        <p:spPr>
          <a:xfrm>
            <a:off x="2895600" y="4953000"/>
            <a:ext cx="3276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assimilation</a:t>
            </a:r>
            <a:endParaRPr lang="en-US" sz="3200" dirty="0"/>
          </a:p>
        </p:txBody>
      </p:sp>
      <p:sp>
        <p:nvSpPr>
          <p:cNvPr id="14" name="Rounded Rectangle 13"/>
          <p:cNvSpPr/>
          <p:nvPr/>
        </p:nvSpPr>
        <p:spPr>
          <a:xfrm>
            <a:off x="2895600" y="5867400"/>
            <a:ext cx="3276599"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acculturation</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905000" y="32766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Which of the following statements accurately reflects a strong “school culture”?</a:t>
            </a:r>
            <a:endParaRPr lang="en-US" sz="3600" dirty="0"/>
          </a:p>
        </p:txBody>
      </p:sp>
      <p:sp>
        <p:nvSpPr>
          <p:cNvPr id="7" name="Rounded Rectangle 6"/>
          <p:cNvSpPr/>
          <p:nvPr/>
        </p:nvSpPr>
        <p:spPr>
          <a:xfrm>
            <a:off x="1219200" y="2438400"/>
            <a:ext cx="723900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Has informal rules of behavior</a:t>
            </a:r>
            <a:endParaRPr lang="en-US" sz="3200" dirty="0"/>
          </a:p>
        </p:txBody>
      </p:sp>
      <p:sp>
        <p:nvSpPr>
          <p:cNvPr id="12" name="Rounded Rectangle 11"/>
          <p:cNvSpPr/>
          <p:nvPr/>
        </p:nvSpPr>
        <p:spPr>
          <a:xfrm>
            <a:off x="1200150" y="3581400"/>
            <a:ext cx="72390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Has a network of communications</a:t>
            </a:r>
            <a:endParaRPr lang="en-US" sz="3200" dirty="0"/>
          </a:p>
        </p:txBody>
      </p:sp>
      <p:sp>
        <p:nvSpPr>
          <p:cNvPr id="13" name="Rounded Rectangle 12"/>
          <p:cNvSpPr/>
          <p:nvPr/>
        </p:nvSpPr>
        <p:spPr>
          <a:xfrm>
            <a:off x="1200150" y="4648200"/>
            <a:ext cx="723900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Has high standards of performance</a:t>
            </a:r>
            <a:endParaRPr lang="en-US" sz="3200" dirty="0"/>
          </a:p>
        </p:txBody>
      </p:sp>
      <p:sp>
        <p:nvSpPr>
          <p:cNvPr id="14" name="Rounded Rectangle 13"/>
          <p:cNvSpPr/>
          <p:nvPr/>
        </p:nvSpPr>
        <p:spPr>
          <a:xfrm>
            <a:off x="1200150" y="5638800"/>
            <a:ext cx="72390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Has definite organizational core values</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304800" y="57912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2438400"/>
          </a:xfrm>
        </p:spPr>
        <p:txBody>
          <a:bodyPr>
            <a:normAutofit/>
          </a:bodyPr>
          <a:lstStyle/>
          <a:p>
            <a:pPr algn="just"/>
            <a:r>
              <a:rPr lang="en-US" sz="3600" dirty="0" smtClean="0"/>
              <a:t>Which has been said to be the strongest factor that drives most Filipino men and women to leave their families and work abroad?</a:t>
            </a:r>
            <a:endParaRPr lang="en-US" sz="3600" dirty="0"/>
          </a:p>
        </p:txBody>
      </p:sp>
      <p:sp>
        <p:nvSpPr>
          <p:cNvPr id="7" name="Rounded Rectangle 6"/>
          <p:cNvSpPr/>
          <p:nvPr/>
        </p:nvSpPr>
        <p:spPr>
          <a:xfrm>
            <a:off x="2209800" y="3124200"/>
            <a:ext cx="4800600" cy="6858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Poverty </a:t>
            </a:r>
            <a:endParaRPr lang="en-US" sz="3200" dirty="0"/>
          </a:p>
        </p:txBody>
      </p:sp>
      <p:sp>
        <p:nvSpPr>
          <p:cNvPr id="12" name="Rounded Rectangle 11"/>
          <p:cNvSpPr/>
          <p:nvPr/>
        </p:nvSpPr>
        <p:spPr>
          <a:xfrm>
            <a:off x="2209800" y="4038600"/>
            <a:ext cx="480060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Illiteracy </a:t>
            </a:r>
            <a:endParaRPr lang="en-US" sz="3200" dirty="0"/>
          </a:p>
        </p:txBody>
      </p:sp>
      <p:sp>
        <p:nvSpPr>
          <p:cNvPr id="13" name="Rounded Rectangle 12"/>
          <p:cNvSpPr/>
          <p:nvPr/>
        </p:nvSpPr>
        <p:spPr>
          <a:xfrm>
            <a:off x="2209801" y="4953000"/>
            <a:ext cx="4800599"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Insurgency </a:t>
            </a:r>
            <a:endParaRPr lang="en-US" sz="3200" dirty="0"/>
          </a:p>
        </p:txBody>
      </p:sp>
      <p:sp>
        <p:nvSpPr>
          <p:cNvPr id="14" name="Rounded Rectangle 13"/>
          <p:cNvSpPr/>
          <p:nvPr/>
        </p:nvSpPr>
        <p:spPr>
          <a:xfrm>
            <a:off x="2209800" y="5867400"/>
            <a:ext cx="480060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a:t>
            </a:r>
            <a:r>
              <a:rPr lang="en-US" sz="3200" dirty="0" err="1" smtClean="0">
                <a:solidFill>
                  <a:schemeClr val="tx1"/>
                </a:solidFill>
              </a:rPr>
              <a:t>Consumeristic</a:t>
            </a:r>
            <a:r>
              <a:rPr lang="en-US" sz="3200" dirty="0" smtClean="0">
                <a:solidFill>
                  <a:schemeClr val="tx1"/>
                </a:solidFill>
              </a:rPr>
              <a:t> mentality</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1143000" y="3228975"/>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610600" cy="1752600"/>
          </a:xfrm>
        </p:spPr>
        <p:txBody>
          <a:bodyPr>
            <a:noAutofit/>
          </a:bodyPr>
          <a:lstStyle/>
          <a:p>
            <a:pPr algn="just"/>
            <a:r>
              <a:rPr lang="en-US" sz="3600" dirty="0" smtClean="0"/>
              <a:t>The cultural heritage of Southeast Asia has been designated by UNESCO as __________.</a:t>
            </a:r>
            <a:endParaRPr lang="en-US" sz="3600" dirty="0"/>
          </a:p>
        </p:txBody>
      </p:sp>
      <p:sp>
        <p:nvSpPr>
          <p:cNvPr id="7" name="Rounded Rectangle 6"/>
          <p:cNvSpPr/>
          <p:nvPr/>
        </p:nvSpPr>
        <p:spPr>
          <a:xfrm>
            <a:off x="1809750" y="2438400"/>
            <a:ext cx="5276850" cy="838200"/>
          </a:xfrm>
          <a:prstGeom prst="roundRect">
            <a:avLst/>
          </a:prstGeom>
          <a:solidFill>
            <a:srgbClr val="00B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A. World Heritage Sites</a:t>
            </a:r>
            <a:endParaRPr lang="en-US" sz="3200" dirty="0"/>
          </a:p>
        </p:txBody>
      </p:sp>
      <p:sp>
        <p:nvSpPr>
          <p:cNvPr id="12" name="Rounded Rectangle 11"/>
          <p:cNvSpPr/>
          <p:nvPr/>
        </p:nvSpPr>
        <p:spPr>
          <a:xfrm>
            <a:off x="1790700" y="3581400"/>
            <a:ext cx="5276850" cy="685800"/>
          </a:xfrm>
          <a:prstGeom prst="roundRect">
            <a:avLst/>
          </a:prstGeom>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B. World International Center</a:t>
            </a:r>
            <a:endParaRPr lang="en-US" sz="3200" dirty="0"/>
          </a:p>
        </p:txBody>
      </p:sp>
      <p:sp>
        <p:nvSpPr>
          <p:cNvPr id="13" name="Rounded Rectangle 12"/>
          <p:cNvSpPr/>
          <p:nvPr/>
        </p:nvSpPr>
        <p:spPr>
          <a:xfrm>
            <a:off x="1790700" y="4648200"/>
            <a:ext cx="5276850" cy="685800"/>
          </a:xfrm>
          <a:prstGeom prst="roundRect">
            <a:avLst/>
          </a:prstGeom>
          <a:solidFill>
            <a:srgbClr val="0070C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t>C. World Cultural Heritage</a:t>
            </a:r>
            <a:endParaRPr lang="en-US" sz="3200" dirty="0"/>
          </a:p>
        </p:txBody>
      </p:sp>
      <p:sp>
        <p:nvSpPr>
          <p:cNvPr id="14" name="Rounded Rectangle 13"/>
          <p:cNvSpPr/>
          <p:nvPr/>
        </p:nvSpPr>
        <p:spPr>
          <a:xfrm>
            <a:off x="1790700" y="5638800"/>
            <a:ext cx="5276850" cy="685800"/>
          </a:xfrm>
          <a:prstGeom prst="round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3200" dirty="0" smtClean="0">
                <a:solidFill>
                  <a:schemeClr val="tx1"/>
                </a:solidFill>
              </a:rPr>
              <a:t>D. World Tourist Spots</a:t>
            </a:r>
            <a:endParaRPr lang="en-US" sz="3200" dirty="0">
              <a:solidFill>
                <a:schemeClr val="tx1"/>
              </a:solidFill>
            </a:endParaRPr>
          </a:p>
        </p:txBody>
      </p:sp>
      <p:pic>
        <p:nvPicPr>
          <p:cNvPr id="8" name="Picture 7" descr="AG00051_"/>
          <p:cNvPicPr>
            <a:picLocks noChangeAspect="1" noChangeArrowheads="1" noCrop="1"/>
          </p:cNvPicPr>
          <p:nvPr/>
        </p:nvPicPr>
        <p:blipFill>
          <a:blip r:embed="rId2"/>
          <a:srcRect/>
          <a:stretch>
            <a:fillRect/>
          </a:stretch>
        </p:blipFill>
        <p:spPr bwMode="auto">
          <a:xfrm>
            <a:off x="762000" y="2667000"/>
            <a:ext cx="914400" cy="4286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bstract teal and white scribble with paint splatters for multi-use presentat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Abstract teal and white scribble with paint splatters for multi-use presentations</Template>
  <TotalTime>695</TotalTime>
  <Words>5054</Words>
  <Application>Microsoft Office PowerPoint</Application>
  <PresentationFormat>On-screen Show (4:3)</PresentationFormat>
  <Paragraphs>679</Paragraphs>
  <Slides>135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135</vt:i4>
      </vt:variant>
    </vt:vector>
  </HeadingPairs>
  <TitlesOfParts>
    <vt:vector size="137" baseType="lpstr">
      <vt:lpstr>Abstract teal and white scribble with paint splatters for multi-use presentations</vt:lpstr>
      <vt:lpstr>Equation</vt:lpstr>
      <vt:lpstr>GENERAL EDUCATION</vt:lpstr>
      <vt:lpstr>Which is the correct sequence of the sentences in the text below?</vt:lpstr>
      <vt:lpstr>Choose the sentence that expresses the thought clearly and that has no error in structure/spelling.</vt:lpstr>
      <vt:lpstr>The traffic flow at the corner was jammed. Tom feared getting late so he _____ with a bus and leaped at the door.</vt:lpstr>
      <vt:lpstr>Teacher Mae Ann always tries to help people, but recently she has been ____ kind and generous.</vt:lpstr>
      <vt:lpstr>“I die just when the dawn breaks to herald the day.” This is a famous quote from _________.</vt:lpstr>
      <vt:lpstr>Rousseau advised, “Have a good bank account, a good cook, and a good digestion.” What is being referred to?</vt:lpstr>
      <vt:lpstr>Both Ruben and _____ plan to go.</vt:lpstr>
      <vt:lpstr>Your father is paying for your plane ticket, _____?</vt:lpstr>
      <vt:lpstr>We should work for a total ban _____ of pesticides that are harmful to man.</vt:lpstr>
      <vt:lpstr>Susan _____ in bed too long and missed her classes.</vt:lpstr>
      <vt:lpstr>After 10 unfruitful years, Fe finally quit the job. She _____ along with her boss for a long time.</vt:lpstr>
      <vt:lpstr>Today, car manufacturers have begun to AUTOMATE their assembly lines by using robots. What does this trend mean?</vt:lpstr>
      <vt:lpstr>She described her classmate’s statement as too SOPHOMORIC. This means ________.</vt:lpstr>
      <vt:lpstr>Is this the spot _____ had the accident?</vt:lpstr>
      <vt:lpstr>If I ______ a Senator, I would live in Ayala village .</vt:lpstr>
      <vt:lpstr>_______ not making the most of _______ opportunities.</vt:lpstr>
      <vt:lpstr>Which word does NOT mean the same as the other three?</vt:lpstr>
      <vt:lpstr>“Nothing that happens in this world ever happens by chance; it is all part of a grand design.” The author speaks of one’s _____.</vt:lpstr>
      <vt:lpstr>It’s now two hours past his schedule, the facilitator may not come anymore, but we’ll still be ready in case he ______.</vt:lpstr>
      <vt:lpstr>The surprised teacher asked, “What was all the HUBHUB about? HUBHUB means ____. </vt:lpstr>
      <vt:lpstr>Who was the General who said “I shall return” after training troops in Australia?</vt:lpstr>
      <vt:lpstr>I should have returned the book last Tuesday; it is now five days _______. </vt:lpstr>
      <vt:lpstr>I saw a nasty _______ between two cars this morning.</vt:lpstr>
      <vt:lpstr>Which passage is expressed effectively and without structural error/s?</vt:lpstr>
      <vt:lpstr>Which passage is expressed effectively and without structural error/s?</vt:lpstr>
      <vt:lpstr>Thomas Carlyle said, “The man without a purpose is like a ship without a rudder…” It could be interpreted as ___________.</vt:lpstr>
      <vt:lpstr>Who said, “The Filipino is worth dying for?”</vt:lpstr>
      <vt:lpstr>Who is remembered for his famous quotation? “My loyalty to my party ends where my loyalty to my country begins.”</vt:lpstr>
      <vt:lpstr>Which sentence clearly and effectively states the idea and has no structural error/s?</vt:lpstr>
      <vt:lpstr>Select the sentence that clearly and effectively states the idea and has no structural error/s.</vt:lpstr>
      <vt:lpstr>There was HIATUS of two years before I went back to college. HIATUS means ____.</vt:lpstr>
      <vt:lpstr>I was speaking to Ana on the phone when suddenly we were __________.</vt:lpstr>
      <vt:lpstr>“The Lord is my shepherd; I shall not want” is an expression of one’s _________.</vt:lpstr>
      <vt:lpstr>Which passage is expressed effectively and without structural error/s?</vt:lpstr>
      <vt:lpstr>“Ang mga mata mo ay tulad ng mga bituin sa kalangitan.” Ano ang ginagamit na pagpapahayag dito?</vt:lpstr>
      <vt:lpstr>Huwag limutin ang vernacular. Tutuhing iasimila ito sa pambansang wika sa ikauunlad ng kultura at lahi. Ang ibig sabihin ng iasimila ay ________.</vt:lpstr>
      <vt:lpstr>Alin ang nagbibigay ng opinion tungkol sa isang napapanahong isyu sa pamamagitan ng larawan?</vt:lpstr>
      <vt:lpstr>Alin ang salawikain sa mga sumusunod:</vt:lpstr>
      <vt:lpstr>“Matagal nang lumagay sa tahimik si Mely.” Ang ibig sabihin ay:</vt:lpstr>
      <vt:lpstr>Sa taas ng mga bilihin ngayon, kahit “kahig ka ng kahig” ay wala pa ring maipon. Ano ang ibig sabihin nito?</vt:lpstr>
      <vt:lpstr>Anong bahagi ng pananalita ang nasa malaking titik? Malungkot ANG MGA nagtapos na wala pang trabaho.</vt:lpstr>
      <vt:lpstr>“Kung anong bukambibig siyang laman ng dibdib.” Ito ay isang uri ng _________.</vt:lpstr>
      <vt:lpstr>Ano ang kahulugan ng tagbising panahon?</vt:lpstr>
      <vt:lpstr>Ang salitang apartment ay binubuo ng dalawang klaster. Tukuyin ito.</vt:lpstr>
      <vt:lpstr>Ang butong tinangay ng aso walang pagsalang nalawayan nito. Ang kaisipang ito ay tumutukoy sa katotohanan ng:</vt:lpstr>
      <vt:lpstr>Alin sa mga ito ang nagpapahayag sa paraang organisado at artistiko maging tuluyan o sa berso na nagmula sa imahinasyon?</vt:lpstr>
      <vt:lpstr>Kung ang awit ng pag-iibigan ay kundiman, ano naman sa Bisaya?</vt:lpstr>
      <vt:lpstr>Mag-aalas singko na _____ umaga _____ magising siya.</vt:lpstr>
      <vt:lpstr>Sino ang nangungusap sa quotation? “Ang pag-ibig ay hindi pag-ibig kapag nagbabago kung nakakakita ng pagbabago.”</vt:lpstr>
      <vt:lpstr>Ponema ang tawag sa makabuluhang tunog ng wika. Ilan ang ponema ng Filipino?</vt:lpstr>
      <vt:lpstr>Saan hinango ang mga kwentong tinatawag na parabula?</vt:lpstr>
      <vt:lpstr>Alin dito ang ginagamit sa pagtuturo ng panitikan lalo na sa pagkasunod-sunod ng mga pangyayari sa kwento?</vt:lpstr>
      <vt:lpstr>Alin dito ang gamit sa pagtuturo na replika na yari sa isang tunay o sintetik na material?</vt:lpstr>
      <vt:lpstr>Ano ang kahulugan ng idyomang ginamit sa pangungusap na “Marami sa mga magsasaka ang INALAT dahil sa patuloy na pagbuhos ng ulan”?</vt:lpstr>
      <vt:lpstr>Mapangarapin ang maliliit! Ang ibig sabihin  ng pahayag na ito ay ang mga taong mahihirap ay __________.</vt:lpstr>
      <vt:lpstr>Aling pamaraan ang ginagamit ng guro na nagsisimula sa mga halimbawa patungo sa paglalahat?</vt:lpstr>
      <vt:lpstr>In a certain school, the ratio of boys to girls is 3 to 7. If there are 150 boys and girls in the school, how many boys are there?</vt:lpstr>
      <vt:lpstr>One angle of a parallelogram is 35. What are the measures of the other three angles?</vt:lpstr>
      <vt:lpstr>The edges of a rectangular solid have these measures: 1.5 ft x ½ ft x 3 inches. What is its volume in cubic inches?</vt:lpstr>
      <vt:lpstr>A water tank contains 8 liters when it is 20% full. How many liters does it contain when it is 75% full?</vt:lpstr>
      <vt:lpstr>Which of the following has the largest value?</vt:lpstr>
      <vt:lpstr>How many degrees are between the hands of a clock at 3:40?</vt:lpstr>
      <vt:lpstr>Which of these three fractions has the largest value?</vt:lpstr>
      <vt:lpstr>If x = 3 and y = 2, then 2x + 3y = ______.</vt:lpstr>
      <vt:lpstr>Which of these has a value different from the other three?</vt:lpstr>
      <vt:lpstr>The vertex angle of an isosceles triangle is 30°. What is the measure of one of the base angles?</vt:lpstr>
      <vt:lpstr>What is the value of                                      ?   </vt:lpstr>
      <vt:lpstr>Which of these math sentences is NOT CORRECT?</vt:lpstr>
      <vt:lpstr>Joseph is 10 years older than his sister. If Joseph was 25 years of age in 1983, in what year could he have been born?</vt:lpstr>
      <vt:lpstr>Joseph is 10 years older than his sister. If Joseph was 25 years of age in 1983, in what year could he have been born?</vt:lpstr>
      <vt:lpstr>What number is next in this sequence? 11120, 11260, 11420, 11600</vt:lpstr>
      <vt:lpstr>If the counting numbers 1 to 30 are written down, how many times does the digit 2 appear?</vt:lpstr>
      <vt:lpstr>259:37 as ______.</vt:lpstr>
      <vt:lpstr>What value of x will make this proportion correct? 13:x = 3.25:8.00</vt:lpstr>
      <vt:lpstr>How many glasses of Cola each to be filled with 150 cu.cm. of liquid can be made from 5 family size bottles of cola each containing 1.5 liters?</vt:lpstr>
      <vt:lpstr>What is the greatest common factor of the numbers 48, 12, and 32?</vt:lpstr>
      <vt:lpstr>A car depreciates by 10% of its brand new price each year and by 15% in each succeeding year. By 2009, what would be the market price for a car bought brand new for P600,000 in 2004?</vt:lpstr>
      <vt:lpstr>By how much is 35% of P220 greater than 55% of P140?</vt:lpstr>
      <vt:lpstr>In the playground for kindergarten kids, 18 children are riding tricycles or bicycles. If there are 43 wheels in all, how many tricycles are there?</vt:lpstr>
      <vt:lpstr>The edges of a cubical frame are made from plastic straws. How much longer is the total length of the plastic edges of a cube whose edges is 10cm compared to a cube whose edge is 8cm?</vt:lpstr>
      <vt:lpstr>In a Mathematics test, 35 students passed and 30% failed. How many students took the test?</vt:lpstr>
      <vt:lpstr>The legs of one right triangle are 9 and 12, while those of another right triangle are 12 and 16. How much longer is the perimeter of the larger triangle than the perimeter of the smaller triangle?</vt:lpstr>
      <vt:lpstr>Each bag contains 50 kg. What would be the increase in the price if the cost of one bag of rice goes from P950.00 to P1,200.00?</vt:lpstr>
      <vt:lpstr>At what rate of interest should P2,400 be invested so that it will earn P880 in 8 months?</vt:lpstr>
      <vt:lpstr>In the following number, which digit is in the thousandths place? 5672.13498</vt:lpstr>
      <vt:lpstr>A child can be admitted to Grade 1 if he/she is at least 5 years and 10 months old by June of the school year. Which of these dates of birth will DISQUALIFY a child from being admitted to Grade 1 on June 15, 2009?</vt:lpstr>
      <vt:lpstr>How much greater is the sum of the first 20 counting numbers greater than the sum of the first 10 counting numbers?</vt:lpstr>
      <vt:lpstr>Which of these numbers CANNOT possibly be a square number?</vt:lpstr>
      <vt:lpstr>Which number is wrong in this sequence? What should the number be for the sequence to be CORRECT? 5, 15, 16, 48, 144, 147, 148, 444…</vt:lpstr>
      <vt:lpstr>If July 12, 2003 fell on a Tuesday, on what day will July 12, 2005 fall?</vt:lpstr>
      <vt:lpstr>How many vertices does a rectangular solid have?</vt:lpstr>
      <vt:lpstr>Which statement is FALSE?</vt:lpstr>
      <vt:lpstr>Which has the higher specific heat capacity: water or sand?</vt:lpstr>
      <vt:lpstr>The direct transformation of a solid into the gas phase without passing through the liquid phase is called:</vt:lpstr>
      <vt:lpstr>Why is it NOT advisable to repeatedly open the door of a refrigerator?</vt:lpstr>
      <vt:lpstr>What may occur when there is a severe damage to some parts of the brain due to lack of blood supply?</vt:lpstr>
      <vt:lpstr>What kind of mirror is used in cars to give the driver a wider area and smaller image of the traffic behind him/her?</vt:lpstr>
      <vt:lpstr>When you carry a heavy load with one arm, you tend to hold your free hand away from your body in order to ________.</vt:lpstr>
      <vt:lpstr>You inherited tallness from your father. Physical traits are transmitted from parents to offsprings through __________.</vt:lpstr>
      <vt:lpstr>Which is a destructive fishing method wherein fishes are driven out of a coral reef by pounding the corals with a heavy weight?</vt:lpstr>
      <vt:lpstr>The prevailing wind systems experienced in the Philippines are __________.</vt:lpstr>
      <vt:lpstr>Jane placed some mothballs inside her cabinet. After a week, they were all gone. What happened to the mothballs?</vt:lpstr>
      <vt:lpstr>Of the state of matter, which has the weakest intermolecular force of attraction?</vt:lpstr>
      <vt:lpstr>To be safe in the unlikely case of lightning strike, it is best to be inside a building framed with ______.</vt:lpstr>
      <vt:lpstr>Which of these does NOT belong to the other three terms? Solution  Colloid Suspension Element</vt:lpstr>
      <vt:lpstr>Which of these statements is FALSE?</vt:lpstr>
      <vt:lpstr>How can we prevent developing osteoporosis?</vt:lpstr>
      <vt:lpstr>Which statements correctly differentiate boiling from evaporation?</vt:lpstr>
      <vt:lpstr>Which of the following is heterogeneous?</vt:lpstr>
      <vt:lpstr>Ozone depletion happens due to the release of CFC’s from ________.</vt:lpstr>
      <vt:lpstr>Which of the following has the longest wavelength?</vt:lpstr>
      <vt:lpstr>Which of these characterizes organic compounds?</vt:lpstr>
      <vt:lpstr>What happens to the speed of sound waves as it travels from a less dense medium to a denser medium?</vt:lpstr>
      <vt:lpstr>Sound:Decibel::__________:__________</vt:lpstr>
      <vt:lpstr>In which of the following medium would sound waves travel the fastest?</vt:lpstr>
      <vt:lpstr>We always hear doctors warning us to limit salt intake. What is the effect of salt on cells?</vt:lpstr>
      <vt:lpstr>Eight out of the top ten leading causes of morbidity in the Philippines are communicable. To prevent them from happening to your students, the best advice to give them is to _____________.</vt:lpstr>
      <vt:lpstr>Iron-deficiency contributes to the poor scholastic performance of students. Which of the following food items is best for iron-deficient students?</vt:lpstr>
      <vt:lpstr>All of the following are effects of deforestation, EXCEPT:</vt:lpstr>
      <vt:lpstr>Patients suffering from malfunction of the kidney are now assisted by a machine that serves as artificial kidney called __________.</vt:lpstr>
      <vt:lpstr>Why do we hear thunder some seconds after seeing lightning?</vt:lpstr>
      <vt:lpstr>The interaction between living organisms and nonliving organisms in the environment is called a/an __________.</vt:lpstr>
      <vt:lpstr>Meteorology is a very important branch of natural science, without which we cannot be informed of forthcoming __________.</vt:lpstr>
      <vt:lpstr>What is the best indicator of “quality education” as invoked in the Constitution? Generation of reliable measurements __________.</vt:lpstr>
      <vt:lpstr>Violation of human rights is a violation of the __________ of persons.</vt:lpstr>
      <vt:lpstr>What term best describes a peaceful community?</vt:lpstr>
      <vt:lpstr>The logo of the Olympic Games represents the interconnectedness of the countries in the world. While the Games highlight the strength of the nations in sports, what does the global activity promote?</vt:lpstr>
      <vt:lpstr>The UNESCO is an international organization promoting which programs of the United Nations?</vt:lpstr>
      <vt:lpstr>Which is a negative consequence of our value of close family ties?</vt:lpstr>
      <vt:lpstr>“No pain, no gain; no cross, no crown.” What do these short statements point to?</vt:lpstr>
      <vt:lpstr>Children learn how to open a coconut and other common chores in a coconut farm. In this instance, culture is transmitted by __________.</vt:lpstr>
      <vt:lpstr>Which of the following statements accurately reflects a strong “school culture”?</vt:lpstr>
      <vt:lpstr>Which has been said to be the strongest factor that drives most Filipino men and women to leave their families and work abroad?</vt:lpstr>
      <vt:lpstr>The cultural heritage of Southeast Asia has been designated by UNESCO as __________.</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Joseph</dc:creator>
  <cp:lastModifiedBy>Lea Ainalyn Quian</cp:lastModifiedBy>
  <cp:revision>59</cp:revision>
  <dcterms:created xsi:type="dcterms:W3CDTF">2009-09-19T23:03:40Z</dcterms:created>
  <dcterms:modified xsi:type="dcterms:W3CDTF">2021-09-04T07:17:51Z</dcterms:modified>
</cp:coreProperties>
</file>