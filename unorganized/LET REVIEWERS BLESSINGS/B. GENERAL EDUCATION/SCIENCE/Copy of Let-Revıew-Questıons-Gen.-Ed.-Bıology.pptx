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183.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s/slide199.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88.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slides/slide191.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35" r:id="rId4"/>
    <p:sldId id="258" r:id="rId5"/>
    <p:sldId id="336" r:id="rId6"/>
    <p:sldId id="259" r:id="rId7"/>
    <p:sldId id="337" r:id="rId8"/>
    <p:sldId id="260" r:id="rId9"/>
    <p:sldId id="338" r:id="rId10"/>
    <p:sldId id="261" r:id="rId11"/>
    <p:sldId id="339" r:id="rId12"/>
    <p:sldId id="262" r:id="rId13"/>
    <p:sldId id="340" r:id="rId14"/>
    <p:sldId id="263" r:id="rId15"/>
    <p:sldId id="341" r:id="rId16"/>
    <p:sldId id="264" r:id="rId17"/>
    <p:sldId id="342" r:id="rId18"/>
    <p:sldId id="265" r:id="rId19"/>
    <p:sldId id="343" r:id="rId20"/>
    <p:sldId id="266" r:id="rId21"/>
    <p:sldId id="344" r:id="rId22"/>
    <p:sldId id="267" r:id="rId23"/>
    <p:sldId id="345" r:id="rId24"/>
    <p:sldId id="268" r:id="rId25"/>
    <p:sldId id="346" r:id="rId26"/>
    <p:sldId id="269" r:id="rId27"/>
    <p:sldId id="347" r:id="rId28"/>
    <p:sldId id="270" r:id="rId29"/>
    <p:sldId id="348" r:id="rId30"/>
    <p:sldId id="271" r:id="rId31"/>
    <p:sldId id="349" r:id="rId32"/>
    <p:sldId id="272" r:id="rId33"/>
    <p:sldId id="350" r:id="rId34"/>
    <p:sldId id="273" r:id="rId35"/>
    <p:sldId id="351" r:id="rId36"/>
    <p:sldId id="274" r:id="rId37"/>
    <p:sldId id="352" r:id="rId38"/>
    <p:sldId id="275" r:id="rId39"/>
    <p:sldId id="353" r:id="rId40"/>
    <p:sldId id="276" r:id="rId41"/>
    <p:sldId id="354" r:id="rId42"/>
    <p:sldId id="277" r:id="rId43"/>
    <p:sldId id="355" r:id="rId44"/>
    <p:sldId id="278" r:id="rId45"/>
    <p:sldId id="356" r:id="rId46"/>
    <p:sldId id="279" r:id="rId47"/>
    <p:sldId id="357" r:id="rId48"/>
    <p:sldId id="280" r:id="rId49"/>
    <p:sldId id="358" r:id="rId50"/>
    <p:sldId id="281" r:id="rId51"/>
    <p:sldId id="359" r:id="rId52"/>
    <p:sldId id="282" r:id="rId53"/>
    <p:sldId id="360" r:id="rId54"/>
    <p:sldId id="284" r:id="rId55"/>
    <p:sldId id="361" r:id="rId56"/>
    <p:sldId id="285" r:id="rId57"/>
    <p:sldId id="362" r:id="rId58"/>
    <p:sldId id="286" r:id="rId59"/>
    <p:sldId id="363" r:id="rId60"/>
    <p:sldId id="287" r:id="rId61"/>
    <p:sldId id="364" r:id="rId62"/>
    <p:sldId id="288" r:id="rId63"/>
    <p:sldId id="365" r:id="rId64"/>
    <p:sldId id="289" r:id="rId65"/>
    <p:sldId id="366" r:id="rId66"/>
    <p:sldId id="290" r:id="rId67"/>
    <p:sldId id="367" r:id="rId68"/>
    <p:sldId id="291" r:id="rId69"/>
    <p:sldId id="368" r:id="rId70"/>
    <p:sldId id="292" r:id="rId71"/>
    <p:sldId id="369" r:id="rId72"/>
    <p:sldId id="293" r:id="rId73"/>
    <p:sldId id="370" r:id="rId74"/>
    <p:sldId id="294" r:id="rId75"/>
    <p:sldId id="371" r:id="rId76"/>
    <p:sldId id="295" r:id="rId77"/>
    <p:sldId id="372" r:id="rId78"/>
    <p:sldId id="296" r:id="rId79"/>
    <p:sldId id="373" r:id="rId80"/>
    <p:sldId id="297" r:id="rId81"/>
    <p:sldId id="374" r:id="rId82"/>
    <p:sldId id="298" r:id="rId83"/>
    <p:sldId id="375" r:id="rId84"/>
    <p:sldId id="299" r:id="rId85"/>
    <p:sldId id="376" r:id="rId86"/>
    <p:sldId id="300" r:id="rId87"/>
    <p:sldId id="377" r:id="rId88"/>
    <p:sldId id="301" r:id="rId89"/>
    <p:sldId id="378" r:id="rId90"/>
    <p:sldId id="302" r:id="rId91"/>
    <p:sldId id="379" r:id="rId92"/>
    <p:sldId id="303" r:id="rId93"/>
    <p:sldId id="380" r:id="rId94"/>
    <p:sldId id="304" r:id="rId95"/>
    <p:sldId id="381" r:id="rId96"/>
    <p:sldId id="305" r:id="rId97"/>
    <p:sldId id="382" r:id="rId98"/>
    <p:sldId id="306" r:id="rId99"/>
    <p:sldId id="383" r:id="rId100"/>
    <p:sldId id="307" r:id="rId101"/>
    <p:sldId id="384" r:id="rId102"/>
    <p:sldId id="308" r:id="rId103"/>
    <p:sldId id="385" r:id="rId104"/>
    <p:sldId id="309" r:id="rId105"/>
    <p:sldId id="386" r:id="rId106"/>
    <p:sldId id="310" r:id="rId107"/>
    <p:sldId id="387" r:id="rId108"/>
    <p:sldId id="311" r:id="rId109"/>
    <p:sldId id="388" r:id="rId110"/>
    <p:sldId id="312" r:id="rId111"/>
    <p:sldId id="389" r:id="rId112"/>
    <p:sldId id="313" r:id="rId113"/>
    <p:sldId id="390" r:id="rId114"/>
    <p:sldId id="314" r:id="rId115"/>
    <p:sldId id="391" r:id="rId116"/>
    <p:sldId id="315" r:id="rId117"/>
    <p:sldId id="392" r:id="rId118"/>
    <p:sldId id="316" r:id="rId119"/>
    <p:sldId id="393" r:id="rId120"/>
    <p:sldId id="317" r:id="rId121"/>
    <p:sldId id="394" r:id="rId122"/>
    <p:sldId id="318" r:id="rId123"/>
    <p:sldId id="395" r:id="rId124"/>
    <p:sldId id="319" r:id="rId125"/>
    <p:sldId id="396" r:id="rId126"/>
    <p:sldId id="320" r:id="rId127"/>
    <p:sldId id="397" r:id="rId128"/>
    <p:sldId id="321" r:id="rId129"/>
    <p:sldId id="398" r:id="rId130"/>
    <p:sldId id="322" r:id="rId131"/>
    <p:sldId id="399" r:id="rId132"/>
    <p:sldId id="323" r:id="rId133"/>
    <p:sldId id="400" r:id="rId134"/>
    <p:sldId id="324" r:id="rId135"/>
    <p:sldId id="401" r:id="rId136"/>
    <p:sldId id="325" r:id="rId137"/>
    <p:sldId id="402" r:id="rId138"/>
    <p:sldId id="326" r:id="rId139"/>
    <p:sldId id="403" r:id="rId140"/>
    <p:sldId id="327" r:id="rId141"/>
    <p:sldId id="404" r:id="rId142"/>
    <p:sldId id="328" r:id="rId143"/>
    <p:sldId id="405" r:id="rId144"/>
    <p:sldId id="329" r:id="rId145"/>
    <p:sldId id="406" r:id="rId146"/>
    <p:sldId id="330" r:id="rId147"/>
    <p:sldId id="407" r:id="rId148"/>
    <p:sldId id="331" r:id="rId149"/>
    <p:sldId id="408" r:id="rId150"/>
    <p:sldId id="332" r:id="rId151"/>
    <p:sldId id="409" r:id="rId152"/>
    <p:sldId id="333" r:id="rId153"/>
    <p:sldId id="410" r:id="rId154"/>
    <p:sldId id="334" r:id="rId155"/>
    <p:sldId id="411" r:id="rId156"/>
    <p:sldId id="412" r:id="rId157"/>
    <p:sldId id="413" r:id="rId158"/>
    <p:sldId id="414" r:id="rId159"/>
    <p:sldId id="415" r:id="rId160"/>
    <p:sldId id="416" r:id="rId161"/>
    <p:sldId id="417" r:id="rId162"/>
    <p:sldId id="418" r:id="rId163"/>
    <p:sldId id="419" r:id="rId164"/>
    <p:sldId id="420" r:id="rId165"/>
    <p:sldId id="421" r:id="rId166"/>
    <p:sldId id="422" r:id="rId167"/>
    <p:sldId id="423" r:id="rId168"/>
    <p:sldId id="424" r:id="rId169"/>
    <p:sldId id="425" r:id="rId170"/>
    <p:sldId id="426" r:id="rId171"/>
    <p:sldId id="427" r:id="rId172"/>
    <p:sldId id="428" r:id="rId173"/>
    <p:sldId id="429" r:id="rId174"/>
    <p:sldId id="430" r:id="rId175"/>
    <p:sldId id="431" r:id="rId176"/>
    <p:sldId id="432" r:id="rId177"/>
    <p:sldId id="433" r:id="rId178"/>
    <p:sldId id="434" r:id="rId179"/>
    <p:sldId id="435" r:id="rId180"/>
    <p:sldId id="436" r:id="rId181"/>
    <p:sldId id="437" r:id="rId182"/>
    <p:sldId id="438" r:id="rId183"/>
    <p:sldId id="439" r:id="rId184"/>
    <p:sldId id="440" r:id="rId185"/>
    <p:sldId id="441" r:id="rId186"/>
    <p:sldId id="442" r:id="rId187"/>
    <p:sldId id="443" r:id="rId188"/>
    <p:sldId id="444" r:id="rId189"/>
    <p:sldId id="445" r:id="rId190"/>
    <p:sldId id="446" r:id="rId191"/>
    <p:sldId id="447" r:id="rId192"/>
    <p:sldId id="448" r:id="rId193"/>
    <p:sldId id="449" r:id="rId194"/>
    <p:sldId id="450" r:id="rId195"/>
    <p:sldId id="451" r:id="rId196"/>
    <p:sldId id="452" r:id="rId197"/>
    <p:sldId id="453" r:id="rId198"/>
    <p:sldId id="454" r:id="rId199"/>
    <p:sldId id="455" r:id="rId200"/>
    <p:sldId id="456" r:id="rId201"/>
    <p:sldId id="457" r:id="rId2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7090" autoAdjust="0"/>
    <p:restoredTop sz="94660"/>
  </p:normalViewPr>
  <p:slideViewPr>
    <p:cSldViewPr>
      <p:cViewPr>
        <p:scale>
          <a:sx n="66" d="100"/>
          <a:sy n="66" d="100"/>
        </p:scale>
        <p:origin x="-1836" y="-1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46"/>
    </p:cViewPr>
  </p:sorter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tableStyles" Target="tableStyles.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A43D3C2-18CA-4A7F-B39B-DE4E3D1D1232}" type="datetimeFigureOut">
              <a:rPr lang="en-US" smtClean="0"/>
              <a:pPr/>
              <a:t>3/11/2014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3D3C2-18CA-4A7F-B39B-DE4E3D1D1232}" type="datetimeFigureOut">
              <a:rPr lang="en-US" smtClean="0"/>
              <a:pPr/>
              <a:t>3/11/2014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43D3C2-18CA-4A7F-B39B-DE4E3D1D1232}" type="datetimeFigureOut">
              <a:rPr lang="en-US" smtClean="0"/>
              <a:pPr/>
              <a:t>3/11/2014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43D3C2-18CA-4A7F-B39B-DE4E3D1D1232}" type="datetimeFigureOut">
              <a:rPr lang="en-US" smtClean="0"/>
              <a:pPr/>
              <a:t>3/11/2014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43D3C2-18CA-4A7F-B39B-DE4E3D1D1232}" type="datetimeFigureOut">
              <a:rPr lang="en-US" smtClean="0"/>
              <a:pPr/>
              <a:t>3/11/2014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43D3C2-18CA-4A7F-B39B-DE4E3D1D1232}" type="datetimeFigureOut">
              <a:rPr lang="en-US" smtClean="0"/>
              <a:pPr/>
              <a:t>3/11/2014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3D3C2-18CA-4A7F-B39B-DE4E3D1D1232}" type="datetimeFigureOut">
              <a:rPr lang="en-US" smtClean="0"/>
              <a:pPr/>
              <a:t>3/11/2014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43D3C2-18CA-4A7F-B39B-DE4E3D1D1232}" type="datetimeFigureOut">
              <a:rPr lang="en-US" smtClean="0"/>
              <a:pPr/>
              <a:t>3/11/2014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43D3C2-18CA-4A7F-B39B-DE4E3D1D1232}" type="datetimeFigureOut">
              <a:rPr lang="en-US" smtClean="0"/>
              <a:pPr/>
              <a:t>3/11/2014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3D3C2-18CA-4A7F-B39B-DE4E3D1D1232}" type="datetimeFigureOut">
              <a:rPr lang="en-US" smtClean="0"/>
              <a:pPr/>
              <a:t>3/11/2014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3D3C2-18CA-4A7F-B39B-DE4E3D1D1232}" type="datetimeFigureOut">
              <a:rPr lang="en-US" smtClean="0"/>
              <a:pPr/>
              <a:t>3/11/2014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65AEDB-9418-4529-9864-BC6711E6A44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3D3C2-18CA-4A7F-B39B-DE4E3D1D1232}" type="datetimeFigureOut">
              <a:rPr lang="en-US" smtClean="0"/>
              <a:pPr/>
              <a:t>3/11/2014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65AEDB-9418-4529-9864-BC6711E6A44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6000" dirty="0"/>
              <a:t>LET REVIEW QUESTIONS </a:t>
            </a:r>
            <a:r>
              <a:rPr lang="en-US" sz="6000" dirty="0" smtClean="0"/>
              <a:t> GEN. ED. </a:t>
            </a:r>
            <a:r>
              <a:rPr lang="en-US" sz="6000" dirty="0"/>
              <a:t>BIOLOGY</a:t>
            </a:r>
            <a:br>
              <a:rPr lang="en-US" sz="6000" dirty="0"/>
            </a:br>
            <a:endParaRPr lang="en-US" sz="6000"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1.Which </a:t>
            </a:r>
            <a:r>
              <a:rPr lang="en-US" dirty="0"/>
              <a:t>of the following scientific traits is being described in continuing experiments that may not be successful right away?</a:t>
            </a:r>
          </a:p>
          <a:p>
            <a:pPr marL="514350" lvl="0" indent="-514350">
              <a:buAutoNum type="alphaLcPeriod"/>
            </a:pPr>
            <a:r>
              <a:rPr lang="en-US" dirty="0" smtClean="0"/>
              <a:t>Truthfulness              b</a:t>
            </a:r>
            <a:r>
              <a:rPr lang="en-US" dirty="0"/>
              <a:t>. perseverance       </a:t>
            </a:r>
            <a:endParaRPr lang="en-US" dirty="0" smtClean="0"/>
          </a:p>
          <a:p>
            <a:pPr marL="514350" lvl="0" indent="-514350">
              <a:buNone/>
            </a:pPr>
            <a:r>
              <a:rPr lang="en-US" dirty="0" smtClean="0"/>
              <a:t>c</a:t>
            </a:r>
            <a:r>
              <a:rPr lang="en-US" dirty="0"/>
              <a:t>. </a:t>
            </a:r>
            <a:r>
              <a:rPr lang="en-US" dirty="0" smtClean="0"/>
              <a:t>  humility                     </a:t>
            </a:r>
            <a:r>
              <a:rPr lang="en-US" dirty="0"/>
              <a:t>d. creativity</a:t>
            </a:r>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1.Which </a:t>
            </a:r>
            <a:r>
              <a:rPr lang="en-US" dirty="0"/>
              <a:t>of the following scientific traits is being described in continuing experiments that may not be successful right away?</a:t>
            </a:r>
          </a:p>
          <a:p>
            <a:pPr marL="514350" lvl="0" indent="-514350">
              <a:buAutoNum type="alphaLcPeriod"/>
            </a:pPr>
            <a:r>
              <a:rPr lang="en-US" dirty="0" smtClean="0"/>
              <a:t>Truthfulness              </a:t>
            </a:r>
            <a:r>
              <a:rPr lang="en-US" dirty="0" smtClean="0">
                <a:solidFill>
                  <a:srgbClr val="FF0000"/>
                </a:solidFill>
              </a:rPr>
              <a:t>b</a:t>
            </a:r>
            <a:r>
              <a:rPr lang="en-US" dirty="0">
                <a:solidFill>
                  <a:srgbClr val="FF0000"/>
                </a:solidFill>
              </a:rPr>
              <a:t>. perseverance       </a:t>
            </a:r>
            <a:endParaRPr lang="en-US" dirty="0" smtClean="0">
              <a:solidFill>
                <a:srgbClr val="FF0000"/>
              </a:solidFill>
            </a:endParaRPr>
          </a:p>
          <a:p>
            <a:pPr marL="514350" lvl="0" indent="-514350">
              <a:buNone/>
            </a:pPr>
            <a:r>
              <a:rPr lang="en-US" dirty="0" smtClean="0"/>
              <a:t>c</a:t>
            </a:r>
            <a:r>
              <a:rPr lang="en-US" dirty="0"/>
              <a:t>. </a:t>
            </a:r>
            <a:r>
              <a:rPr lang="en-US" dirty="0" smtClean="0"/>
              <a:t>  humility                     </a:t>
            </a:r>
            <a:r>
              <a:rPr lang="en-US" dirty="0"/>
              <a:t>d. creativity</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  Which </a:t>
            </a:r>
            <a:r>
              <a:rPr lang="en-US" dirty="0"/>
              <a:t>scientific skill is manifested in analyzing arguments – their logic, the source of information, etc.?</a:t>
            </a:r>
          </a:p>
          <a:p>
            <a:pPr marL="514350" lvl="0" indent="-514350">
              <a:buAutoNum type="alphaLcPeriod"/>
            </a:pPr>
            <a:r>
              <a:rPr lang="en-US" dirty="0" smtClean="0"/>
              <a:t>Critical </a:t>
            </a:r>
            <a:r>
              <a:rPr lang="en-US" dirty="0"/>
              <a:t>thinking  </a:t>
            </a:r>
            <a:r>
              <a:rPr lang="en-US" dirty="0" smtClean="0"/>
              <a:t>              </a:t>
            </a:r>
            <a:r>
              <a:rPr lang="en-US" dirty="0"/>
              <a:t>b. creative thinking </a:t>
            </a:r>
            <a:endParaRPr lang="en-US" dirty="0" smtClean="0"/>
          </a:p>
          <a:p>
            <a:pPr marL="514350" lvl="0" indent="-514350">
              <a:buNone/>
            </a:pPr>
            <a:r>
              <a:rPr lang="en-US" dirty="0" smtClean="0"/>
              <a:t>c.   </a:t>
            </a:r>
            <a:r>
              <a:rPr lang="en-US" dirty="0"/>
              <a:t>decision making    </a:t>
            </a:r>
            <a:r>
              <a:rPr lang="en-US" dirty="0" smtClean="0"/>
              <a:t>           d</a:t>
            </a:r>
            <a:r>
              <a:rPr lang="en-US" dirty="0"/>
              <a:t>. problem solving</a:t>
            </a:r>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  Which </a:t>
            </a:r>
            <a:r>
              <a:rPr lang="en-US" dirty="0"/>
              <a:t>scientific skill is manifested in analyzing arguments – their logic, the source of information, etc.?</a:t>
            </a:r>
          </a:p>
          <a:p>
            <a:pPr marL="514350" lvl="0" indent="-514350">
              <a:buAutoNum type="alphaLcPeriod"/>
            </a:pPr>
            <a:r>
              <a:rPr lang="en-US" dirty="0" smtClean="0">
                <a:solidFill>
                  <a:srgbClr val="FF0000"/>
                </a:solidFill>
              </a:rPr>
              <a:t>Critical </a:t>
            </a:r>
            <a:r>
              <a:rPr lang="en-US" dirty="0">
                <a:solidFill>
                  <a:srgbClr val="FF0000"/>
                </a:solidFill>
              </a:rPr>
              <a:t>thinking  </a:t>
            </a:r>
            <a:r>
              <a:rPr lang="en-US" dirty="0" smtClean="0">
                <a:solidFill>
                  <a:srgbClr val="FF0000"/>
                </a:solidFill>
              </a:rPr>
              <a:t>              </a:t>
            </a:r>
            <a:r>
              <a:rPr lang="en-US" dirty="0"/>
              <a:t>b. creative thinking </a:t>
            </a:r>
            <a:endParaRPr lang="en-US" dirty="0" smtClean="0"/>
          </a:p>
          <a:p>
            <a:pPr marL="514350" lvl="0" indent="-514350">
              <a:buNone/>
            </a:pPr>
            <a:r>
              <a:rPr lang="en-US" dirty="0" smtClean="0"/>
              <a:t>c.   </a:t>
            </a:r>
            <a:r>
              <a:rPr lang="en-US" dirty="0"/>
              <a:t>decision making    </a:t>
            </a:r>
            <a:r>
              <a:rPr lang="en-US" dirty="0" smtClean="0"/>
              <a:t>           d</a:t>
            </a:r>
            <a:r>
              <a:rPr lang="en-US" dirty="0"/>
              <a:t>. problem solving</a:t>
            </a:r>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a:t>3</a:t>
            </a:r>
            <a:r>
              <a:rPr lang="en-US" dirty="0" smtClean="0"/>
              <a:t>. A </a:t>
            </a:r>
            <a:r>
              <a:rPr lang="en-US" dirty="0"/>
              <a:t>hypothesis becomes a theory if it is</a:t>
            </a:r>
          </a:p>
          <a:p>
            <a:pPr lvl="0">
              <a:buNone/>
            </a:pPr>
            <a:r>
              <a:rPr lang="en-US" dirty="0" smtClean="0"/>
              <a:t>a.  A </a:t>
            </a:r>
            <a:r>
              <a:rPr lang="en-US" dirty="0"/>
              <a:t>result of an invention                  </a:t>
            </a:r>
            <a:r>
              <a:rPr lang="en-US" dirty="0" smtClean="0"/>
              <a:t> </a:t>
            </a:r>
            <a:endParaRPr lang="en-US" dirty="0"/>
          </a:p>
          <a:p>
            <a:pPr lvl="0">
              <a:buNone/>
            </a:pPr>
            <a:r>
              <a:rPr lang="en-US" dirty="0" smtClean="0"/>
              <a:t>b. Tested </a:t>
            </a:r>
            <a:r>
              <a:rPr lang="en-US" dirty="0"/>
              <a:t>in an experiment </a:t>
            </a:r>
            <a:endParaRPr lang="en-US" dirty="0" smtClean="0"/>
          </a:p>
          <a:p>
            <a:pPr marL="514350" lvl="0" indent="-514350">
              <a:buAutoNum type="alphaLcPeriod" startAt="3"/>
            </a:pPr>
            <a:r>
              <a:rPr lang="en-US" dirty="0" smtClean="0"/>
              <a:t>Supported by repeated evidence              </a:t>
            </a:r>
          </a:p>
          <a:p>
            <a:pPr marL="514350" lvl="0" indent="-514350">
              <a:buNone/>
            </a:pPr>
            <a:r>
              <a:rPr lang="en-US" dirty="0" smtClean="0"/>
              <a:t>d.  </a:t>
            </a:r>
            <a:r>
              <a:rPr lang="en-US" dirty="0"/>
              <a:t>A</a:t>
            </a:r>
            <a:r>
              <a:rPr lang="en-US" dirty="0" smtClean="0"/>
              <a:t>n </a:t>
            </a:r>
            <a:r>
              <a:rPr lang="en-US" dirty="0"/>
              <a:t>improvement of a previous finding</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a:t>3</a:t>
            </a:r>
            <a:r>
              <a:rPr lang="en-US" dirty="0" smtClean="0"/>
              <a:t>. A </a:t>
            </a:r>
            <a:r>
              <a:rPr lang="en-US" dirty="0"/>
              <a:t>hypothesis becomes a theory if it is</a:t>
            </a:r>
          </a:p>
          <a:p>
            <a:pPr lvl="0">
              <a:buNone/>
            </a:pPr>
            <a:r>
              <a:rPr lang="en-US" dirty="0" smtClean="0"/>
              <a:t>a.  A </a:t>
            </a:r>
            <a:r>
              <a:rPr lang="en-US" dirty="0"/>
              <a:t>result of an invention                  </a:t>
            </a:r>
            <a:r>
              <a:rPr lang="en-US" dirty="0" smtClean="0"/>
              <a:t> </a:t>
            </a:r>
            <a:endParaRPr lang="en-US" dirty="0"/>
          </a:p>
          <a:p>
            <a:pPr lvl="0">
              <a:buNone/>
            </a:pPr>
            <a:r>
              <a:rPr lang="en-US" dirty="0" smtClean="0"/>
              <a:t>b. Tested </a:t>
            </a:r>
            <a:r>
              <a:rPr lang="en-US" dirty="0"/>
              <a:t>in an experiment </a:t>
            </a:r>
            <a:endParaRPr lang="en-US" dirty="0" smtClean="0"/>
          </a:p>
          <a:p>
            <a:pPr marL="514350" lvl="0" indent="-514350">
              <a:buAutoNum type="alphaLcPeriod" startAt="3"/>
            </a:pPr>
            <a:r>
              <a:rPr lang="en-US" dirty="0" smtClean="0">
                <a:solidFill>
                  <a:srgbClr val="FF0000"/>
                </a:solidFill>
              </a:rPr>
              <a:t>Supported by repeated evidence              </a:t>
            </a:r>
          </a:p>
          <a:p>
            <a:pPr marL="514350" lvl="0" indent="-514350">
              <a:buNone/>
            </a:pPr>
            <a:r>
              <a:rPr lang="en-US" dirty="0" smtClean="0"/>
              <a:t>d.  </a:t>
            </a:r>
            <a:r>
              <a:rPr lang="en-US" dirty="0"/>
              <a:t>A</a:t>
            </a:r>
            <a:r>
              <a:rPr lang="en-US" dirty="0" smtClean="0"/>
              <a:t>n </a:t>
            </a:r>
            <a:r>
              <a:rPr lang="en-US" dirty="0"/>
              <a:t>improvement of a previous finding</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a:t>4</a:t>
            </a:r>
            <a:r>
              <a:rPr lang="en-US" dirty="0" smtClean="0"/>
              <a:t>. Bridget </a:t>
            </a:r>
            <a:r>
              <a:rPr lang="en-US" dirty="0"/>
              <a:t>and Benedict are pet lovers. They have beautiful, healthy “guinea pigs”.  They feed their pets  with freshly cut </a:t>
            </a:r>
            <a:r>
              <a:rPr lang="en-US" dirty="0" err="1"/>
              <a:t>carabao</a:t>
            </a:r>
            <a:r>
              <a:rPr lang="en-US" dirty="0"/>
              <a:t> grasses every morning. One morning, they cut </a:t>
            </a:r>
            <a:r>
              <a:rPr lang="en-US" dirty="0" err="1"/>
              <a:t>carabao</a:t>
            </a:r>
            <a:r>
              <a:rPr lang="en-US" dirty="0"/>
              <a:t> grasses growing near one of their neighbors’ house and feed it to their pets. To their surprise, their pets are already dead when they visited it in the afternoon. To find out what causes the death of their pets, Bridget and Benedict decided to use scientific method in their investigation. What would be their first step?</a:t>
            </a:r>
          </a:p>
          <a:p>
            <a:pPr lvl="0">
              <a:buNone/>
            </a:pPr>
            <a:r>
              <a:rPr lang="en-US" dirty="0" smtClean="0"/>
              <a:t>a. Formulate </a:t>
            </a:r>
            <a:r>
              <a:rPr lang="en-US" dirty="0"/>
              <a:t>scientific guess</a:t>
            </a:r>
          </a:p>
          <a:p>
            <a:pPr lvl="0">
              <a:buNone/>
            </a:pPr>
            <a:r>
              <a:rPr lang="en-US" dirty="0" smtClean="0"/>
              <a:t>b. Conducts </a:t>
            </a:r>
            <a:r>
              <a:rPr lang="en-US" dirty="0"/>
              <a:t>preliminary interview from their neighbor</a:t>
            </a:r>
          </a:p>
          <a:p>
            <a:pPr lvl="0">
              <a:buNone/>
            </a:pPr>
            <a:r>
              <a:rPr lang="en-US" dirty="0" smtClean="0"/>
              <a:t>c. State </a:t>
            </a:r>
            <a:r>
              <a:rPr lang="en-US" dirty="0"/>
              <a:t>the problem</a:t>
            </a:r>
          </a:p>
          <a:p>
            <a:pPr lvl="0">
              <a:buNone/>
            </a:pPr>
            <a:r>
              <a:rPr lang="en-US" dirty="0" smtClean="0"/>
              <a:t>d. Dissect </a:t>
            </a:r>
            <a:r>
              <a:rPr lang="en-US" dirty="0"/>
              <a:t>the pets to see what’s inside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a:t>4</a:t>
            </a:r>
            <a:r>
              <a:rPr lang="en-US" dirty="0" smtClean="0"/>
              <a:t>. Bridget </a:t>
            </a:r>
            <a:r>
              <a:rPr lang="en-US" dirty="0"/>
              <a:t>and Benedict are pet lovers. They have beautiful, healthy “guinea pigs”.  They feed their pets  with freshly cut </a:t>
            </a:r>
            <a:r>
              <a:rPr lang="en-US" dirty="0" err="1"/>
              <a:t>carabao</a:t>
            </a:r>
            <a:r>
              <a:rPr lang="en-US" dirty="0"/>
              <a:t> grasses every morning. One morning, they cut </a:t>
            </a:r>
            <a:r>
              <a:rPr lang="en-US" dirty="0" err="1"/>
              <a:t>carabao</a:t>
            </a:r>
            <a:r>
              <a:rPr lang="en-US" dirty="0"/>
              <a:t> grasses growing near one of their neighbors’ house and feed it to their pets. To their surprise, their pets are already dead when they visited it in the afternoon. To find out what causes the death of their pets, Bridget and Benedict decided to use scientific method in their investigation. What would be their first step?</a:t>
            </a:r>
          </a:p>
          <a:p>
            <a:pPr lvl="0">
              <a:buNone/>
            </a:pPr>
            <a:r>
              <a:rPr lang="en-US" dirty="0" smtClean="0"/>
              <a:t>a. Formulate </a:t>
            </a:r>
            <a:r>
              <a:rPr lang="en-US" dirty="0"/>
              <a:t>scientific guess</a:t>
            </a:r>
          </a:p>
          <a:p>
            <a:pPr lvl="0">
              <a:buNone/>
            </a:pPr>
            <a:r>
              <a:rPr lang="en-US" dirty="0" smtClean="0"/>
              <a:t>b. Conducts </a:t>
            </a:r>
            <a:r>
              <a:rPr lang="en-US" dirty="0"/>
              <a:t>preliminary interview from their neighbor</a:t>
            </a:r>
          </a:p>
          <a:p>
            <a:pPr lvl="0">
              <a:buNone/>
            </a:pPr>
            <a:r>
              <a:rPr lang="en-US" dirty="0" smtClean="0">
                <a:solidFill>
                  <a:srgbClr val="FF0000"/>
                </a:solidFill>
              </a:rPr>
              <a:t>c. State </a:t>
            </a:r>
            <a:r>
              <a:rPr lang="en-US" dirty="0">
                <a:solidFill>
                  <a:srgbClr val="FF0000"/>
                </a:solidFill>
              </a:rPr>
              <a:t>the problem</a:t>
            </a:r>
          </a:p>
          <a:p>
            <a:pPr lvl="0">
              <a:buNone/>
            </a:pPr>
            <a:r>
              <a:rPr lang="en-US" dirty="0" smtClean="0"/>
              <a:t>d. Dissect </a:t>
            </a:r>
            <a:r>
              <a:rPr lang="en-US" dirty="0"/>
              <a:t>the pets to see what’s inside</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a:t>5</a:t>
            </a:r>
            <a:r>
              <a:rPr lang="en-US" dirty="0" smtClean="0"/>
              <a:t>. To </a:t>
            </a:r>
            <a:r>
              <a:rPr lang="en-US" dirty="0"/>
              <a:t>obtain accurate results from their experiment, Bridget and Benedict should conduct</a:t>
            </a:r>
          </a:p>
          <a:p>
            <a:pPr lvl="0">
              <a:buNone/>
            </a:pPr>
            <a:r>
              <a:rPr lang="en-US" dirty="0" smtClean="0"/>
              <a:t>a. A </a:t>
            </a:r>
            <a:r>
              <a:rPr lang="en-US" dirty="0"/>
              <a:t>controlled </a:t>
            </a:r>
            <a:r>
              <a:rPr lang="en-US" dirty="0" smtClean="0"/>
              <a:t>experiment</a:t>
            </a:r>
            <a:endParaRPr lang="en-US" dirty="0"/>
          </a:p>
          <a:p>
            <a:pPr lvl="0">
              <a:buNone/>
            </a:pPr>
            <a:r>
              <a:rPr lang="en-US" dirty="0" smtClean="0"/>
              <a:t>b. A </a:t>
            </a:r>
            <a:r>
              <a:rPr lang="en-US" dirty="0"/>
              <a:t>trial and error experiment                             </a:t>
            </a:r>
            <a:endParaRPr lang="en-US" dirty="0" smtClean="0"/>
          </a:p>
          <a:p>
            <a:pPr lvl="0">
              <a:buNone/>
            </a:pPr>
            <a:r>
              <a:rPr lang="en-US" dirty="0" smtClean="0"/>
              <a:t>c. uncontrolled experiment</a:t>
            </a:r>
          </a:p>
          <a:p>
            <a:pPr lvl="0">
              <a:buNone/>
            </a:pPr>
            <a:r>
              <a:rPr lang="en-US" dirty="0" smtClean="0"/>
              <a:t>d</a:t>
            </a:r>
            <a:r>
              <a:rPr lang="en-US" dirty="0"/>
              <a:t>. a structured laboratory activity</a:t>
            </a:r>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a:t>5</a:t>
            </a:r>
            <a:r>
              <a:rPr lang="en-US" dirty="0" smtClean="0"/>
              <a:t>. To </a:t>
            </a:r>
            <a:r>
              <a:rPr lang="en-US" dirty="0"/>
              <a:t>obtain accurate results from their experiment, Bridget and Benedict should conduct</a:t>
            </a:r>
          </a:p>
          <a:p>
            <a:pPr lvl="0">
              <a:buNone/>
            </a:pPr>
            <a:r>
              <a:rPr lang="en-US" dirty="0" smtClean="0"/>
              <a:t>a</a:t>
            </a:r>
            <a:r>
              <a:rPr lang="en-US" dirty="0" smtClean="0">
                <a:solidFill>
                  <a:srgbClr val="FF0000"/>
                </a:solidFill>
              </a:rPr>
              <a:t>. A </a:t>
            </a:r>
            <a:r>
              <a:rPr lang="en-US" dirty="0">
                <a:solidFill>
                  <a:srgbClr val="FF0000"/>
                </a:solidFill>
              </a:rPr>
              <a:t>controlled </a:t>
            </a:r>
            <a:r>
              <a:rPr lang="en-US" dirty="0" smtClean="0">
                <a:solidFill>
                  <a:srgbClr val="FF0000"/>
                </a:solidFill>
              </a:rPr>
              <a:t>experiment</a:t>
            </a:r>
            <a:endParaRPr lang="en-US" dirty="0">
              <a:solidFill>
                <a:srgbClr val="FF0000"/>
              </a:solidFill>
            </a:endParaRPr>
          </a:p>
          <a:p>
            <a:pPr lvl="0">
              <a:buNone/>
            </a:pPr>
            <a:r>
              <a:rPr lang="en-US" dirty="0" smtClean="0"/>
              <a:t>b. A </a:t>
            </a:r>
            <a:r>
              <a:rPr lang="en-US" dirty="0"/>
              <a:t>trial and error experiment                             </a:t>
            </a:r>
            <a:endParaRPr lang="en-US" dirty="0" smtClean="0"/>
          </a:p>
          <a:p>
            <a:pPr lvl="0">
              <a:buNone/>
            </a:pPr>
            <a:r>
              <a:rPr lang="en-US" dirty="0" smtClean="0"/>
              <a:t>c. uncontrolled experiment</a:t>
            </a:r>
          </a:p>
          <a:p>
            <a:pPr lvl="0">
              <a:buNone/>
            </a:pPr>
            <a:r>
              <a:rPr lang="en-US" dirty="0" smtClean="0"/>
              <a:t>d</a:t>
            </a:r>
            <a:r>
              <a:rPr lang="en-US" dirty="0"/>
              <a:t>. a structured laboratory activity</a:t>
            </a: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 In </a:t>
            </a:r>
            <a:r>
              <a:rPr lang="en-US" dirty="0"/>
              <a:t>an experiment designed to determine how the duration of daylight exposure in a 24-hour period affects the flowering of poinsettia plants,  the different durations of daylight at which the experimental groups of poinsettia plants are exposed are the _______.</a:t>
            </a:r>
          </a:p>
          <a:p>
            <a:pPr marL="514350" lvl="0" indent="-514350">
              <a:buAutoNum type="alphaLcPeriod"/>
            </a:pPr>
            <a:r>
              <a:rPr lang="en-US" dirty="0" smtClean="0"/>
              <a:t>Controlled </a:t>
            </a:r>
            <a:r>
              <a:rPr lang="en-US" dirty="0"/>
              <a:t>variable   </a:t>
            </a:r>
            <a:r>
              <a:rPr lang="en-US" dirty="0" smtClean="0"/>
              <a:t>   </a:t>
            </a:r>
            <a:r>
              <a:rPr lang="en-US" dirty="0"/>
              <a:t>b. dependent variable  </a:t>
            </a:r>
            <a:endParaRPr lang="en-US" dirty="0" smtClean="0"/>
          </a:p>
          <a:p>
            <a:pPr marL="514350" lvl="0" indent="-514350">
              <a:buNone/>
            </a:pPr>
            <a:r>
              <a:rPr lang="en-US" dirty="0" smtClean="0"/>
              <a:t>c.  </a:t>
            </a:r>
            <a:r>
              <a:rPr lang="en-US" dirty="0"/>
              <a:t>independent variable </a:t>
            </a:r>
            <a:r>
              <a:rPr lang="en-US" dirty="0" smtClean="0"/>
              <a:t> d</a:t>
            </a:r>
            <a:r>
              <a:rPr lang="en-US" dirty="0"/>
              <a:t>.  growth variable</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 In </a:t>
            </a:r>
            <a:r>
              <a:rPr lang="en-US" dirty="0"/>
              <a:t>an experiment designed to determine how the duration of daylight exposure in a 24-hour period affects the flowering of poinsettia plants,  the different durations of daylight at which the experimental groups of poinsettia plants are exposed are the _______.</a:t>
            </a:r>
          </a:p>
          <a:p>
            <a:pPr marL="514350" lvl="0" indent="-514350">
              <a:buAutoNum type="alphaLcPeriod"/>
            </a:pPr>
            <a:r>
              <a:rPr lang="en-US" dirty="0" smtClean="0"/>
              <a:t>Controlled </a:t>
            </a:r>
            <a:r>
              <a:rPr lang="en-US" dirty="0"/>
              <a:t>variable   </a:t>
            </a:r>
            <a:r>
              <a:rPr lang="en-US" dirty="0" smtClean="0"/>
              <a:t>   </a:t>
            </a:r>
            <a:r>
              <a:rPr lang="en-US" dirty="0"/>
              <a:t>b. dependent variable  </a:t>
            </a:r>
            <a:endParaRPr lang="en-US" dirty="0" smtClean="0"/>
          </a:p>
          <a:p>
            <a:pPr marL="514350" lvl="0" indent="-514350">
              <a:buNone/>
            </a:pPr>
            <a:r>
              <a:rPr lang="en-US" dirty="0" smtClean="0"/>
              <a:t>c</a:t>
            </a:r>
            <a:r>
              <a:rPr lang="en-US" dirty="0" smtClean="0">
                <a:solidFill>
                  <a:srgbClr val="FF0000"/>
                </a:solidFill>
              </a:rPr>
              <a:t>.  </a:t>
            </a:r>
            <a:r>
              <a:rPr lang="en-US" dirty="0">
                <a:solidFill>
                  <a:srgbClr val="FF0000"/>
                </a:solidFill>
              </a:rPr>
              <a:t>independent variable </a:t>
            </a:r>
            <a:r>
              <a:rPr lang="en-US" dirty="0" smtClean="0">
                <a:solidFill>
                  <a:srgbClr val="FF0000"/>
                </a:solidFill>
              </a:rPr>
              <a:t> </a:t>
            </a:r>
            <a:r>
              <a:rPr lang="en-US" dirty="0" smtClean="0"/>
              <a:t>d</a:t>
            </a:r>
            <a:r>
              <a:rPr lang="en-US" dirty="0"/>
              <a:t>.  growth variable</a:t>
            </a:r>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7. It has been observed that all frogs, like bullfrogs, are carnivorous animals. In their natural habitat, frogs are highly dependent on small animals that constantly move, like worms , insects and fishes as their sources of food. To raise bullfrog in commercial quantities, it is necessary to change their feeding habits. Biologists suggest that bullfrog can be taught to eat dead feeds if the feeds are in motion.  The suggested statement is an example of a ________.</a:t>
            </a:r>
          </a:p>
          <a:p>
            <a:pPr lvl="0">
              <a:buNone/>
            </a:pPr>
            <a:r>
              <a:rPr lang="en-US" dirty="0" smtClean="0"/>
              <a:t>a. Result     b.   theory        c. procedure       d. hypothesis</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7. It </a:t>
            </a:r>
            <a:r>
              <a:rPr lang="en-US" dirty="0"/>
              <a:t>has been observed that all frogs, like bullfrogs, are carnivorous animals. In their natural habitat, frogs are highly dependent on small animals that constantly move, like worms , insects and fishes as their sources of food. To raise bullfrog in commercial quantities, it is necessary to change their feeding habits. Biologists suggest that bullfrog can be taught to eat dead feeds if the feeds are in motion.  The suggested statement is an example of a ________.</a:t>
            </a:r>
          </a:p>
          <a:p>
            <a:pPr lvl="0">
              <a:buNone/>
            </a:pPr>
            <a:r>
              <a:rPr lang="en-US" dirty="0" smtClean="0"/>
              <a:t>a. Result     b</a:t>
            </a:r>
            <a:r>
              <a:rPr lang="en-US" dirty="0"/>
              <a:t>.   theory      </a:t>
            </a:r>
            <a:r>
              <a:rPr lang="en-US" dirty="0" smtClean="0"/>
              <a:t>  </a:t>
            </a:r>
            <a:r>
              <a:rPr lang="en-US" dirty="0"/>
              <a:t>c. procedure     </a:t>
            </a:r>
            <a:r>
              <a:rPr lang="en-US" dirty="0" smtClean="0"/>
              <a:t>  </a:t>
            </a:r>
            <a:r>
              <a:rPr lang="en-US" dirty="0">
                <a:solidFill>
                  <a:srgbClr val="FF0000"/>
                </a:solidFill>
              </a:rPr>
              <a:t>d. hypothesis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371600"/>
            <a:ext cx="8229600" cy="4525963"/>
          </a:xfrm>
        </p:spPr>
        <p:txBody>
          <a:bodyPr>
            <a:normAutofit lnSpcReduction="10000"/>
          </a:bodyPr>
          <a:lstStyle/>
          <a:p>
            <a:pPr lvl="0">
              <a:buNone/>
            </a:pPr>
            <a:r>
              <a:rPr lang="en-US" dirty="0" smtClean="0"/>
              <a:t>8. When </a:t>
            </a:r>
            <a:r>
              <a:rPr lang="en-US" dirty="0"/>
              <a:t>volcano erupts, it destroys the biotic communities in the area. After a certain period of time biotic communities appear again. Which is the most likely order of succession in the repopulation of the area?</a:t>
            </a:r>
          </a:p>
          <a:p>
            <a:pPr marL="514350" lvl="0" indent="-514350">
              <a:buAutoNum type="alphaLcPeriod"/>
            </a:pPr>
            <a:r>
              <a:rPr lang="en-US" dirty="0" smtClean="0"/>
              <a:t>Lichens- </a:t>
            </a:r>
            <a:r>
              <a:rPr lang="en-US" dirty="0"/>
              <a:t>grasses- shrubs- trees               </a:t>
            </a:r>
          </a:p>
          <a:p>
            <a:pPr lvl="0">
              <a:buNone/>
            </a:pPr>
            <a:r>
              <a:rPr lang="en-US" dirty="0" smtClean="0"/>
              <a:t>b.  Mosses- </a:t>
            </a:r>
            <a:r>
              <a:rPr lang="en-US" dirty="0"/>
              <a:t>grasses- lichens- </a:t>
            </a:r>
            <a:r>
              <a:rPr lang="en-US" dirty="0" smtClean="0"/>
              <a:t>trees</a:t>
            </a:r>
          </a:p>
          <a:p>
            <a:pPr lvl="0">
              <a:buNone/>
            </a:pPr>
            <a:r>
              <a:rPr lang="en-US" dirty="0" smtClean="0"/>
              <a:t>c.   Grasses- trees- mosses- lichens</a:t>
            </a:r>
          </a:p>
          <a:p>
            <a:pPr lvl="0">
              <a:buNone/>
            </a:pPr>
            <a:r>
              <a:rPr lang="en-US" dirty="0" smtClean="0"/>
              <a:t> d. Shrubs- </a:t>
            </a:r>
            <a:r>
              <a:rPr lang="en-US" dirty="0"/>
              <a:t>grasses- trees- lichens</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371600"/>
            <a:ext cx="8229600" cy="4525963"/>
          </a:xfrm>
        </p:spPr>
        <p:txBody>
          <a:bodyPr>
            <a:normAutofit lnSpcReduction="10000"/>
          </a:bodyPr>
          <a:lstStyle/>
          <a:p>
            <a:pPr lvl="0">
              <a:buNone/>
            </a:pPr>
            <a:r>
              <a:rPr lang="en-US" dirty="0" smtClean="0"/>
              <a:t>8. When </a:t>
            </a:r>
            <a:r>
              <a:rPr lang="en-US" dirty="0"/>
              <a:t>volcano erupts, it destroys the biotic communities in the area. After a certain period of time biotic communities appear again. Which is the most likely order of succession in the repopulation of the area?</a:t>
            </a:r>
          </a:p>
          <a:p>
            <a:pPr marL="514350" lvl="0" indent="-514350">
              <a:buAutoNum type="alphaLcPeriod"/>
            </a:pPr>
            <a:r>
              <a:rPr lang="en-US" dirty="0" smtClean="0">
                <a:solidFill>
                  <a:srgbClr val="FF0000"/>
                </a:solidFill>
              </a:rPr>
              <a:t>Lichens- </a:t>
            </a:r>
            <a:r>
              <a:rPr lang="en-US" dirty="0">
                <a:solidFill>
                  <a:srgbClr val="FF0000"/>
                </a:solidFill>
              </a:rPr>
              <a:t>grasses- shrubs- trees               </a:t>
            </a:r>
          </a:p>
          <a:p>
            <a:pPr lvl="0">
              <a:buNone/>
            </a:pPr>
            <a:r>
              <a:rPr lang="en-US" dirty="0" smtClean="0"/>
              <a:t>b.  Mosses- </a:t>
            </a:r>
            <a:r>
              <a:rPr lang="en-US" dirty="0"/>
              <a:t>grasses- lichens- </a:t>
            </a:r>
            <a:r>
              <a:rPr lang="en-US" dirty="0" smtClean="0"/>
              <a:t>trees</a:t>
            </a:r>
          </a:p>
          <a:p>
            <a:pPr lvl="0">
              <a:buNone/>
            </a:pPr>
            <a:r>
              <a:rPr lang="en-US" dirty="0" smtClean="0"/>
              <a:t>c.   Grasses- trees- mosses- lichens</a:t>
            </a:r>
          </a:p>
          <a:p>
            <a:pPr lvl="0">
              <a:buNone/>
            </a:pPr>
            <a:r>
              <a:rPr lang="en-US" dirty="0" smtClean="0"/>
              <a:t> d. Shrubs- </a:t>
            </a:r>
            <a:r>
              <a:rPr lang="en-US" dirty="0"/>
              <a:t>grasses- trees- lichens</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9. Water</a:t>
            </a:r>
            <a:r>
              <a:rPr lang="en-US" dirty="0"/>
              <a:t>, oxygen, carbon dioxide and glucose can pass through the cell membrane of the Red Blood Cell while other substances are blocked from entering. This cell membrane is described as</a:t>
            </a:r>
          </a:p>
          <a:p>
            <a:pPr marL="514350" lvl="0" indent="-514350">
              <a:buAutoNum type="alphaLcPeriod"/>
            </a:pPr>
            <a:r>
              <a:rPr lang="en-US" dirty="0" smtClean="0"/>
              <a:t>Perforated                      b</a:t>
            </a:r>
            <a:r>
              <a:rPr lang="en-US" dirty="0"/>
              <a:t>. permeable       </a:t>
            </a:r>
            <a:r>
              <a:rPr lang="en-US" dirty="0" smtClean="0"/>
              <a:t> </a:t>
            </a:r>
          </a:p>
          <a:p>
            <a:pPr marL="514350" lvl="0" indent="-514350">
              <a:buNone/>
            </a:pPr>
            <a:r>
              <a:rPr lang="en-US" dirty="0" smtClean="0"/>
              <a:t>c. semi-permeable             </a:t>
            </a:r>
            <a:r>
              <a:rPr lang="en-US" dirty="0"/>
              <a:t>d. non-conductive</a:t>
            </a: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9. Water</a:t>
            </a:r>
            <a:r>
              <a:rPr lang="en-US" dirty="0"/>
              <a:t>, oxygen, carbon dioxide and glucose can pass through the cell membrane of the Red Blood Cell while other substances are blocked from entering. This cell membrane is described as</a:t>
            </a:r>
          </a:p>
          <a:p>
            <a:pPr marL="514350" lvl="0" indent="-514350">
              <a:buAutoNum type="alphaLcPeriod"/>
            </a:pPr>
            <a:r>
              <a:rPr lang="en-US" dirty="0" smtClean="0"/>
              <a:t>Perforated                      b</a:t>
            </a:r>
            <a:r>
              <a:rPr lang="en-US" dirty="0"/>
              <a:t>. permeable       </a:t>
            </a:r>
            <a:r>
              <a:rPr lang="en-US" dirty="0" smtClean="0"/>
              <a:t> </a:t>
            </a:r>
          </a:p>
          <a:p>
            <a:pPr marL="514350" lvl="0" indent="-514350">
              <a:buNone/>
            </a:pPr>
            <a:r>
              <a:rPr lang="en-US" dirty="0" smtClean="0"/>
              <a:t>c</a:t>
            </a:r>
            <a:r>
              <a:rPr lang="en-US" dirty="0" smtClean="0">
                <a:solidFill>
                  <a:srgbClr val="FF0000"/>
                </a:solidFill>
              </a:rPr>
              <a:t>. semi-permeable             </a:t>
            </a:r>
            <a:r>
              <a:rPr lang="en-US" dirty="0"/>
              <a:t>d. non-conductive</a:t>
            </a:r>
          </a:p>
          <a:p>
            <a:pPr>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10. What </a:t>
            </a:r>
            <a:r>
              <a:rPr lang="en-US" dirty="0"/>
              <a:t>causes tomatoes to ripen much more slowly in a refrigerator than they do if left </a:t>
            </a:r>
          </a:p>
          <a:p>
            <a:pPr>
              <a:buNone/>
            </a:pPr>
            <a:r>
              <a:rPr lang="en-US" dirty="0" smtClean="0"/>
              <a:t>    on </a:t>
            </a:r>
            <a:r>
              <a:rPr lang="en-US" dirty="0"/>
              <a:t>a table at room temperature?  </a:t>
            </a:r>
          </a:p>
          <a:p>
            <a:pPr lvl="0">
              <a:buNone/>
            </a:pPr>
            <a:r>
              <a:rPr lang="en-US" dirty="0"/>
              <a:t>a</a:t>
            </a:r>
            <a:r>
              <a:rPr lang="en-US" dirty="0" smtClean="0"/>
              <a:t>. Tomatoes </a:t>
            </a:r>
            <a:r>
              <a:rPr lang="en-US" dirty="0"/>
              <a:t>need sunlight to ripen</a:t>
            </a:r>
          </a:p>
          <a:p>
            <a:pPr lvl="0">
              <a:buNone/>
            </a:pPr>
            <a:r>
              <a:rPr lang="en-US" dirty="0"/>
              <a:t>b</a:t>
            </a:r>
            <a:r>
              <a:rPr lang="en-US" dirty="0" smtClean="0"/>
              <a:t>.  </a:t>
            </a:r>
            <a:r>
              <a:rPr lang="en-US" dirty="0"/>
              <a:t>Humidity accelerates the ripening process</a:t>
            </a:r>
          </a:p>
          <a:p>
            <a:pPr lvl="0">
              <a:buNone/>
            </a:pPr>
            <a:r>
              <a:rPr lang="en-US" dirty="0"/>
              <a:t>c</a:t>
            </a:r>
            <a:r>
              <a:rPr lang="en-US" dirty="0" smtClean="0"/>
              <a:t>.  </a:t>
            </a:r>
            <a:r>
              <a:rPr lang="en-US" dirty="0"/>
              <a:t>Low temperatures reduce the action of ripening enzymes </a:t>
            </a:r>
          </a:p>
          <a:p>
            <a:pPr lvl="0">
              <a:buNone/>
            </a:pPr>
            <a:r>
              <a:rPr lang="en-US" dirty="0"/>
              <a:t>d</a:t>
            </a:r>
            <a:r>
              <a:rPr lang="en-US" dirty="0" smtClean="0"/>
              <a:t>.  </a:t>
            </a:r>
            <a:r>
              <a:rPr lang="en-US" dirty="0"/>
              <a:t>Enzymes produced by bacteria inhibit ripening</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10. What </a:t>
            </a:r>
            <a:r>
              <a:rPr lang="en-US" dirty="0"/>
              <a:t>causes tomatoes to ripen much more slowly in a refrigerator than they do if left </a:t>
            </a:r>
          </a:p>
          <a:p>
            <a:pPr>
              <a:buNone/>
            </a:pPr>
            <a:r>
              <a:rPr lang="en-US" dirty="0" smtClean="0"/>
              <a:t>    on </a:t>
            </a:r>
            <a:r>
              <a:rPr lang="en-US" dirty="0"/>
              <a:t>a table at room temperature?  </a:t>
            </a:r>
          </a:p>
          <a:p>
            <a:pPr lvl="0">
              <a:buNone/>
            </a:pPr>
            <a:r>
              <a:rPr lang="en-US" dirty="0"/>
              <a:t>a</a:t>
            </a:r>
            <a:r>
              <a:rPr lang="en-US" dirty="0" smtClean="0"/>
              <a:t>. Tomatoes </a:t>
            </a:r>
            <a:r>
              <a:rPr lang="en-US" dirty="0"/>
              <a:t>need sunlight to ripen</a:t>
            </a:r>
          </a:p>
          <a:p>
            <a:pPr lvl="0">
              <a:buNone/>
            </a:pPr>
            <a:r>
              <a:rPr lang="en-US" dirty="0"/>
              <a:t>b</a:t>
            </a:r>
            <a:r>
              <a:rPr lang="en-US" dirty="0" smtClean="0"/>
              <a:t>.  </a:t>
            </a:r>
            <a:r>
              <a:rPr lang="en-US" dirty="0"/>
              <a:t>Humidity accelerates the ripening process</a:t>
            </a:r>
          </a:p>
          <a:p>
            <a:pPr lvl="0">
              <a:buNone/>
            </a:pPr>
            <a:r>
              <a:rPr lang="en-US" dirty="0">
                <a:solidFill>
                  <a:srgbClr val="FF0000"/>
                </a:solidFill>
              </a:rPr>
              <a:t>c</a:t>
            </a:r>
            <a:r>
              <a:rPr lang="en-US" dirty="0" smtClean="0">
                <a:solidFill>
                  <a:srgbClr val="FF0000"/>
                </a:solidFill>
              </a:rPr>
              <a:t>.  </a:t>
            </a:r>
            <a:r>
              <a:rPr lang="en-US" dirty="0">
                <a:solidFill>
                  <a:srgbClr val="FF0000"/>
                </a:solidFill>
              </a:rPr>
              <a:t>Low temperatures reduce the action of ripening enzymes </a:t>
            </a:r>
          </a:p>
          <a:p>
            <a:pPr lvl="0">
              <a:buNone/>
            </a:pPr>
            <a:r>
              <a:rPr lang="en-US" dirty="0"/>
              <a:t>d</a:t>
            </a:r>
            <a:r>
              <a:rPr lang="en-US" dirty="0" smtClean="0"/>
              <a:t>.  </a:t>
            </a:r>
            <a:r>
              <a:rPr lang="en-US" dirty="0"/>
              <a:t>Enzymes produced by bacteria inhibit ripening</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11. </a:t>
            </a:r>
            <a:r>
              <a:rPr lang="en-US" dirty="0"/>
              <a:t>Eukaryotic cells are differentiated from prokaryotic cells because eukaryotic cells</a:t>
            </a:r>
          </a:p>
          <a:p>
            <a:pPr marL="514350" lvl="0" indent="-514350">
              <a:buNone/>
            </a:pPr>
            <a:r>
              <a:rPr lang="en-US" dirty="0" smtClean="0"/>
              <a:t>a. Have </a:t>
            </a:r>
            <a:r>
              <a:rPr lang="en-US" dirty="0" err="1"/>
              <a:t>nucleoid</a:t>
            </a:r>
            <a:r>
              <a:rPr lang="en-US" dirty="0"/>
              <a:t>                                     </a:t>
            </a:r>
          </a:p>
          <a:p>
            <a:pPr lvl="0">
              <a:buNone/>
            </a:pPr>
            <a:r>
              <a:rPr lang="en-US" dirty="0" smtClean="0"/>
              <a:t>b. Have </a:t>
            </a:r>
            <a:r>
              <a:rPr lang="en-US" dirty="0"/>
              <a:t>no cell membrane   </a:t>
            </a:r>
            <a:endParaRPr lang="en-US" dirty="0" smtClean="0"/>
          </a:p>
          <a:p>
            <a:pPr lvl="0">
              <a:buNone/>
            </a:pPr>
            <a:r>
              <a:rPr lang="en-US" dirty="0" smtClean="0"/>
              <a:t>c. Have higher rate of reproduction</a:t>
            </a:r>
          </a:p>
          <a:p>
            <a:pPr lvl="0">
              <a:buNone/>
            </a:pPr>
            <a:r>
              <a:rPr lang="en-US" dirty="0" smtClean="0"/>
              <a:t>d</a:t>
            </a:r>
            <a:r>
              <a:rPr lang="en-US" dirty="0"/>
              <a:t>. </a:t>
            </a:r>
            <a:r>
              <a:rPr lang="en-US" dirty="0" smtClean="0"/>
              <a:t>Have </a:t>
            </a:r>
            <a:r>
              <a:rPr lang="en-US" dirty="0"/>
              <a:t>true nucleus and membrane-bounded organelles</a:t>
            </a:r>
          </a:p>
          <a:p>
            <a:pPr>
              <a:buNone/>
            </a:pP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11. </a:t>
            </a:r>
            <a:r>
              <a:rPr lang="en-US" dirty="0"/>
              <a:t>Eukaryotic cells are differentiated from prokaryotic cells because eukaryotic cells</a:t>
            </a:r>
          </a:p>
          <a:p>
            <a:pPr marL="514350" lvl="0" indent="-514350">
              <a:buNone/>
            </a:pPr>
            <a:r>
              <a:rPr lang="en-US" dirty="0" smtClean="0"/>
              <a:t>a. Have </a:t>
            </a:r>
            <a:r>
              <a:rPr lang="en-US" dirty="0" err="1"/>
              <a:t>nucleoid</a:t>
            </a:r>
            <a:r>
              <a:rPr lang="en-US" dirty="0"/>
              <a:t>                                     </a:t>
            </a:r>
          </a:p>
          <a:p>
            <a:pPr lvl="0">
              <a:buNone/>
            </a:pPr>
            <a:r>
              <a:rPr lang="en-US" dirty="0" smtClean="0"/>
              <a:t>b. Have </a:t>
            </a:r>
            <a:r>
              <a:rPr lang="en-US" dirty="0"/>
              <a:t>no cell membrane   </a:t>
            </a:r>
            <a:endParaRPr lang="en-US" dirty="0" smtClean="0"/>
          </a:p>
          <a:p>
            <a:pPr lvl="0">
              <a:buNone/>
            </a:pPr>
            <a:r>
              <a:rPr lang="en-US" dirty="0" smtClean="0"/>
              <a:t>c. Have higher rate of reproduction</a:t>
            </a:r>
          </a:p>
          <a:p>
            <a:pPr lvl="0">
              <a:buNone/>
            </a:pPr>
            <a:r>
              <a:rPr lang="en-US" dirty="0" smtClean="0">
                <a:solidFill>
                  <a:srgbClr val="FF0000"/>
                </a:solidFill>
              </a:rPr>
              <a:t>d</a:t>
            </a:r>
            <a:r>
              <a:rPr lang="en-US" dirty="0">
                <a:solidFill>
                  <a:srgbClr val="FF0000"/>
                </a:solidFill>
              </a:rPr>
              <a:t>. </a:t>
            </a:r>
            <a:r>
              <a:rPr lang="en-US" dirty="0" smtClean="0">
                <a:solidFill>
                  <a:srgbClr val="FF0000"/>
                </a:solidFill>
              </a:rPr>
              <a:t>Have </a:t>
            </a:r>
            <a:r>
              <a:rPr lang="en-US" dirty="0">
                <a:solidFill>
                  <a:srgbClr val="FF0000"/>
                </a:solidFill>
              </a:rPr>
              <a:t>true nucleus and membrane-bounded organelles</a:t>
            </a:r>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12. </a:t>
            </a:r>
            <a:r>
              <a:rPr lang="en-US" dirty="0"/>
              <a:t>Which of these are prokaryotes?</a:t>
            </a:r>
          </a:p>
          <a:p>
            <a:pPr lvl="0">
              <a:buNone/>
            </a:pPr>
            <a:r>
              <a:rPr lang="en-US" dirty="0" smtClean="0"/>
              <a:t>a. Bacteria </a:t>
            </a:r>
            <a:r>
              <a:rPr lang="en-US" dirty="0"/>
              <a:t>and </a:t>
            </a:r>
            <a:r>
              <a:rPr lang="en-US" dirty="0" err="1"/>
              <a:t>cyanobacteria</a:t>
            </a:r>
            <a:r>
              <a:rPr lang="en-US" dirty="0"/>
              <a:t>                </a:t>
            </a:r>
          </a:p>
          <a:p>
            <a:pPr lvl="0">
              <a:buNone/>
            </a:pPr>
            <a:r>
              <a:rPr lang="en-US" dirty="0" smtClean="0"/>
              <a:t>b. Frogs  </a:t>
            </a:r>
            <a:r>
              <a:rPr lang="en-US" dirty="0"/>
              <a:t>and snakes   </a:t>
            </a:r>
            <a:endParaRPr lang="en-US" dirty="0" smtClean="0"/>
          </a:p>
          <a:p>
            <a:pPr lvl="0">
              <a:buNone/>
            </a:pPr>
            <a:r>
              <a:rPr lang="en-US" dirty="0" smtClean="0"/>
              <a:t>c. Man and gorilla</a:t>
            </a:r>
          </a:p>
          <a:p>
            <a:pPr lvl="0">
              <a:buNone/>
            </a:pPr>
            <a:r>
              <a:rPr lang="en-US" dirty="0" smtClean="0"/>
              <a:t>d</a:t>
            </a:r>
            <a:r>
              <a:rPr lang="en-US" dirty="0"/>
              <a:t>. </a:t>
            </a:r>
            <a:r>
              <a:rPr lang="en-US" dirty="0" smtClean="0"/>
              <a:t>birds and </a:t>
            </a:r>
            <a:r>
              <a:rPr lang="en-US" dirty="0"/>
              <a:t>snakes</a:t>
            </a:r>
          </a:p>
          <a:p>
            <a:pPr>
              <a:buNone/>
            </a:pPr>
            <a:endParaRPr 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12. </a:t>
            </a:r>
            <a:r>
              <a:rPr lang="en-US" dirty="0"/>
              <a:t>Which of these are prokaryotes?</a:t>
            </a:r>
          </a:p>
          <a:p>
            <a:pPr lvl="0">
              <a:buNone/>
            </a:pPr>
            <a:r>
              <a:rPr lang="en-US" dirty="0" smtClean="0">
                <a:solidFill>
                  <a:srgbClr val="FF0000"/>
                </a:solidFill>
              </a:rPr>
              <a:t>a. Bacteria </a:t>
            </a:r>
            <a:r>
              <a:rPr lang="en-US" dirty="0">
                <a:solidFill>
                  <a:srgbClr val="FF0000"/>
                </a:solidFill>
              </a:rPr>
              <a:t>and </a:t>
            </a:r>
            <a:r>
              <a:rPr lang="en-US" dirty="0" err="1">
                <a:solidFill>
                  <a:srgbClr val="FF0000"/>
                </a:solidFill>
              </a:rPr>
              <a:t>cyanobacteria</a:t>
            </a:r>
            <a:r>
              <a:rPr lang="en-US" dirty="0">
                <a:solidFill>
                  <a:srgbClr val="FF0000"/>
                </a:solidFill>
              </a:rPr>
              <a:t>                </a:t>
            </a:r>
          </a:p>
          <a:p>
            <a:pPr lvl="0">
              <a:buNone/>
            </a:pPr>
            <a:r>
              <a:rPr lang="en-US" dirty="0" smtClean="0"/>
              <a:t>b. Frogs  </a:t>
            </a:r>
            <a:r>
              <a:rPr lang="en-US" dirty="0"/>
              <a:t>and snakes   </a:t>
            </a:r>
            <a:endParaRPr lang="en-US" dirty="0" smtClean="0"/>
          </a:p>
          <a:p>
            <a:pPr lvl="0">
              <a:buNone/>
            </a:pPr>
            <a:r>
              <a:rPr lang="en-US" dirty="0" smtClean="0"/>
              <a:t>c. Man and gorilla</a:t>
            </a:r>
          </a:p>
          <a:p>
            <a:pPr lvl="0">
              <a:buNone/>
            </a:pPr>
            <a:r>
              <a:rPr lang="en-US" dirty="0" smtClean="0"/>
              <a:t>d</a:t>
            </a:r>
            <a:r>
              <a:rPr lang="en-US" dirty="0"/>
              <a:t>. </a:t>
            </a:r>
            <a:r>
              <a:rPr lang="en-US" dirty="0" smtClean="0"/>
              <a:t>birds and </a:t>
            </a:r>
            <a:r>
              <a:rPr lang="en-US" dirty="0"/>
              <a:t>snakes</a:t>
            </a:r>
          </a:p>
          <a:p>
            <a:pPr>
              <a:buNone/>
            </a:pPr>
            <a:endParaRPr lang="en-US"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13.</a:t>
            </a:r>
            <a:r>
              <a:rPr lang="en-US" dirty="0"/>
              <a:t> Which of the following organelles  is responsible in packaging the proteins  secreted by the cell?</a:t>
            </a:r>
          </a:p>
          <a:p>
            <a:pPr lvl="0">
              <a:buNone/>
            </a:pPr>
            <a:r>
              <a:rPr lang="en-US" dirty="0" err="1" smtClean="0"/>
              <a:t>a.Mitochondria</a:t>
            </a:r>
            <a:r>
              <a:rPr lang="en-US" dirty="0" smtClean="0"/>
              <a:t>          </a:t>
            </a:r>
            <a:r>
              <a:rPr lang="en-US" dirty="0"/>
              <a:t>b.  </a:t>
            </a:r>
            <a:r>
              <a:rPr lang="en-US" dirty="0" err="1"/>
              <a:t>ribosomes</a:t>
            </a:r>
            <a:r>
              <a:rPr lang="en-US" dirty="0"/>
              <a:t>           </a:t>
            </a:r>
            <a:endParaRPr lang="en-US" dirty="0" smtClean="0"/>
          </a:p>
          <a:p>
            <a:pPr lvl="0">
              <a:buNone/>
            </a:pPr>
            <a:r>
              <a:rPr lang="en-US" dirty="0" smtClean="0"/>
              <a:t>c</a:t>
            </a:r>
            <a:r>
              <a:rPr lang="en-US" dirty="0"/>
              <a:t>. cytoskeleton         </a:t>
            </a:r>
            <a:r>
              <a:rPr lang="en-US" dirty="0" smtClean="0"/>
              <a:t> </a:t>
            </a:r>
            <a:r>
              <a:rPr lang="en-US" dirty="0"/>
              <a:t>d. </a:t>
            </a:r>
            <a:r>
              <a:rPr lang="en-US" dirty="0" err="1"/>
              <a:t>golgi</a:t>
            </a:r>
            <a:r>
              <a:rPr lang="en-US" dirty="0"/>
              <a:t> bodies</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13.</a:t>
            </a:r>
            <a:r>
              <a:rPr lang="en-US" dirty="0"/>
              <a:t> Which of the following organelles  is responsible in packaging the proteins  secreted by the cell?</a:t>
            </a:r>
          </a:p>
          <a:p>
            <a:pPr lvl="0">
              <a:buNone/>
            </a:pPr>
            <a:r>
              <a:rPr lang="en-US" dirty="0" err="1" smtClean="0"/>
              <a:t>a.Mitochondria</a:t>
            </a:r>
            <a:r>
              <a:rPr lang="en-US" dirty="0" smtClean="0"/>
              <a:t>          </a:t>
            </a:r>
            <a:r>
              <a:rPr lang="en-US" dirty="0"/>
              <a:t>b.  </a:t>
            </a:r>
            <a:r>
              <a:rPr lang="en-US" dirty="0" err="1"/>
              <a:t>ribosomes</a:t>
            </a:r>
            <a:r>
              <a:rPr lang="en-US" dirty="0"/>
              <a:t>           </a:t>
            </a:r>
            <a:endParaRPr lang="en-US" dirty="0" smtClean="0"/>
          </a:p>
          <a:p>
            <a:pPr lvl="0">
              <a:buNone/>
            </a:pPr>
            <a:r>
              <a:rPr lang="en-US" dirty="0" smtClean="0"/>
              <a:t>c</a:t>
            </a:r>
            <a:r>
              <a:rPr lang="en-US" dirty="0"/>
              <a:t>. cytoskeleton         </a:t>
            </a:r>
            <a:r>
              <a:rPr lang="en-US" dirty="0" smtClean="0"/>
              <a:t> </a:t>
            </a:r>
            <a:r>
              <a:rPr lang="en-US" dirty="0">
                <a:solidFill>
                  <a:srgbClr val="FF0000"/>
                </a:solidFill>
              </a:rPr>
              <a:t>d. </a:t>
            </a:r>
            <a:r>
              <a:rPr lang="en-US" dirty="0" err="1">
                <a:solidFill>
                  <a:srgbClr val="FF0000"/>
                </a:solidFill>
              </a:rPr>
              <a:t>golgi</a:t>
            </a:r>
            <a:r>
              <a:rPr lang="en-US" dirty="0">
                <a:solidFill>
                  <a:srgbClr val="FF0000"/>
                </a:solidFill>
              </a:rPr>
              <a:t> bodies</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14.</a:t>
            </a:r>
            <a:r>
              <a:rPr lang="en-US" dirty="0"/>
              <a:t> The radiant energy in the sunlight is first captured by the molecule in the plant cells called</a:t>
            </a:r>
          </a:p>
          <a:p>
            <a:pPr marL="514350" lvl="0" indent="-514350">
              <a:buAutoNum type="alphaLcPeriod"/>
            </a:pPr>
            <a:r>
              <a:rPr lang="en-US" dirty="0" smtClean="0"/>
              <a:t>Chlorophyll</a:t>
            </a:r>
            <a:r>
              <a:rPr lang="en-US" dirty="0" smtClean="0">
                <a:solidFill>
                  <a:srgbClr val="FF0000"/>
                </a:solidFill>
              </a:rPr>
              <a:t> </a:t>
            </a:r>
            <a:r>
              <a:rPr lang="en-US" dirty="0" smtClean="0"/>
              <a:t>          </a:t>
            </a:r>
            <a:r>
              <a:rPr lang="en-US" dirty="0"/>
              <a:t>b.  glucose        </a:t>
            </a:r>
            <a:endParaRPr lang="en-US" dirty="0" smtClean="0"/>
          </a:p>
          <a:p>
            <a:pPr marL="514350" lvl="0" indent="-514350">
              <a:buNone/>
            </a:pPr>
            <a:r>
              <a:rPr lang="en-US" dirty="0" smtClean="0"/>
              <a:t> </a:t>
            </a:r>
            <a:r>
              <a:rPr lang="en-US" dirty="0"/>
              <a:t>c. </a:t>
            </a:r>
            <a:r>
              <a:rPr lang="en-US" dirty="0" smtClean="0"/>
              <a:t>  water                   d</a:t>
            </a:r>
            <a:r>
              <a:rPr lang="en-US" dirty="0"/>
              <a:t>. adenosine </a:t>
            </a:r>
            <a:r>
              <a:rPr lang="en-US" dirty="0" err="1"/>
              <a:t>triphosphate</a:t>
            </a:r>
            <a:endParaRPr lang="en-US" dirty="0"/>
          </a:p>
          <a:p>
            <a:pPr>
              <a:buNone/>
            </a:pP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14.</a:t>
            </a:r>
            <a:r>
              <a:rPr lang="en-US" dirty="0"/>
              <a:t> The radiant energy in the sunlight is first captured by the molecule in the plant cells called</a:t>
            </a:r>
          </a:p>
          <a:p>
            <a:pPr marL="514350" lvl="0" indent="-514350">
              <a:buAutoNum type="alphaLcPeriod"/>
            </a:pPr>
            <a:r>
              <a:rPr lang="en-US" dirty="0" smtClean="0">
                <a:solidFill>
                  <a:srgbClr val="FF0000"/>
                </a:solidFill>
              </a:rPr>
              <a:t>Chlorophyll </a:t>
            </a:r>
            <a:r>
              <a:rPr lang="en-US" dirty="0" smtClean="0"/>
              <a:t>          </a:t>
            </a:r>
            <a:r>
              <a:rPr lang="en-US" dirty="0"/>
              <a:t>b.  glucose        </a:t>
            </a:r>
            <a:endParaRPr lang="en-US" dirty="0" smtClean="0"/>
          </a:p>
          <a:p>
            <a:pPr marL="514350" lvl="0" indent="-514350">
              <a:buNone/>
            </a:pPr>
            <a:r>
              <a:rPr lang="en-US" dirty="0" smtClean="0"/>
              <a:t> </a:t>
            </a:r>
            <a:r>
              <a:rPr lang="en-US" dirty="0"/>
              <a:t>c. </a:t>
            </a:r>
            <a:r>
              <a:rPr lang="en-US" dirty="0" smtClean="0"/>
              <a:t>  water                   d</a:t>
            </a:r>
            <a:r>
              <a:rPr lang="en-US" dirty="0"/>
              <a:t>. adenosine </a:t>
            </a:r>
            <a:r>
              <a:rPr lang="en-US" dirty="0" err="1"/>
              <a:t>triphosphate</a:t>
            </a:r>
            <a:endParaRPr lang="en-US" dirty="0"/>
          </a:p>
          <a:p>
            <a:pPr>
              <a:buNone/>
            </a:pP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dirty="0" smtClean="0"/>
              <a:t>15. </a:t>
            </a:r>
            <a:r>
              <a:rPr lang="en-US" dirty="0"/>
              <a:t>The function of a vacuole is most similar to that of</a:t>
            </a:r>
          </a:p>
          <a:p>
            <a:pPr marL="514350" lvl="0" indent="-514350">
              <a:buAutoNum type="alphaLcPeriod"/>
            </a:pPr>
            <a:r>
              <a:rPr lang="en-US" dirty="0" smtClean="0"/>
              <a:t>An </a:t>
            </a:r>
            <a:r>
              <a:rPr lang="en-US" dirty="0"/>
              <a:t>incubator           b. an engine     </a:t>
            </a:r>
            <a:endParaRPr lang="en-US" dirty="0" smtClean="0"/>
          </a:p>
          <a:p>
            <a:pPr marL="514350" lvl="0" indent="-514350">
              <a:buNone/>
            </a:pPr>
            <a:r>
              <a:rPr lang="en-US" dirty="0" smtClean="0"/>
              <a:t>c</a:t>
            </a:r>
            <a:r>
              <a:rPr lang="en-US" dirty="0"/>
              <a:t>. </a:t>
            </a:r>
            <a:r>
              <a:rPr lang="en-US" dirty="0" smtClean="0"/>
              <a:t> a </a:t>
            </a:r>
            <a:r>
              <a:rPr lang="en-US" dirty="0"/>
              <a:t>director         </a:t>
            </a:r>
            <a:r>
              <a:rPr lang="en-US" dirty="0" smtClean="0"/>
              <a:t>        d</a:t>
            </a:r>
            <a:r>
              <a:rPr lang="en-US" dirty="0"/>
              <a:t>. a storage tank</a:t>
            </a:r>
          </a:p>
          <a:p>
            <a:pPr>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dirty="0" smtClean="0"/>
              <a:t>15. </a:t>
            </a:r>
            <a:r>
              <a:rPr lang="en-US" dirty="0"/>
              <a:t>The function of a vacuole is most similar to that of</a:t>
            </a:r>
          </a:p>
          <a:p>
            <a:pPr marL="514350" lvl="0" indent="-514350">
              <a:buAutoNum type="alphaLcPeriod"/>
            </a:pPr>
            <a:r>
              <a:rPr lang="en-US" dirty="0" smtClean="0"/>
              <a:t>An </a:t>
            </a:r>
            <a:r>
              <a:rPr lang="en-US" dirty="0"/>
              <a:t>incubator           b. an engine     </a:t>
            </a:r>
            <a:endParaRPr lang="en-US" dirty="0" smtClean="0"/>
          </a:p>
          <a:p>
            <a:pPr marL="514350" lvl="0" indent="-514350">
              <a:buNone/>
            </a:pPr>
            <a:r>
              <a:rPr lang="en-US" dirty="0" smtClean="0"/>
              <a:t>c</a:t>
            </a:r>
            <a:r>
              <a:rPr lang="en-US" dirty="0"/>
              <a:t>. </a:t>
            </a:r>
            <a:r>
              <a:rPr lang="en-US" dirty="0" smtClean="0"/>
              <a:t> a </a:t>
            </a:r>
            <a:r>
              <a:rPr lang="en-US" dirty="0"/>
              <a:t>director         </a:t>
            </a:r>
            <a:r>
              <a:rPr lang="en-US" dirty="0" smtClean="0"/>
              <a:t>        </a:t>
            </a:r>
            <a:r>
              <a:rPr lang="en-US" dirty="0" smtClean="0">
                <a:solidFill>
                  <a:srgbClr val="FF0000"/>
                </a:solidFill>
              </a:rPr>
              <a:t>d</a:t>
            </a:r>
            <a:r>
              <a:rPr lang="en-US" dirty="0">
                <a:solidFill>
                  <a:srgbClr val="FF0000"/>
                </a:solidFill>
              </a:rPr>
              <a:t>. a storage tank</a:t>
            </a:r>
          </a:p>
          <a:p>
            <a:pPr>
              <a:buNone/>
            </a:pP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16.</a:t>
            </a:r>
            <a:r>
              <a:rPr lang="en-US" dirty="0"/>
              <a:t> Which of these structures is present in a plant cell but absent in an animal cell?</a:t>
            </a:r>
          </a:p>
          <a:p>
            <a:pPr lvl="0">
              <a:buNone/>
            </a:pPr>
            <a:r>
              <a:rPr lang="en-US" dirty="0" smtClean="0"/>
              <a:t>A. Cell </a:t>
            </a:r>
            <a:r>
              <a:rPr lang="en-US" dirty="0"/>
              <a:t>wall      </a:t>
            </a:r>
            <a:r>
              <a:rPr lang="en-US" dirty="0" smtClean="0"/>
              <a:t> </a:t>
            </a:r>
            <a:r>
              <a:rPr lang="en-US" dirty="0"/>
              <a:t>B. Cell membrane        C.  Vacuole</a:t>
            </a:r>
          </a:p>
          <a:p>
            <a:pPr>
              <a:buNone/>
            </a:pPr>
            <a:r>
              <a:rPr lang="en-US" dirty="0" smtClean="0"/>
              <a:t> </a:t>
            </a:r>
          </a:p>
          <a:p>
            <a:pPr marL="514350" indent="-514350">
              <a:buAutoNum type="alphaLcPeriod"/>
            </a:pPr>
            <a:r>
              <a:rPr lang="en-US" dirty="0" smtClean="0"/>
              <a:t>A only                          b. B only       </a:t>
            </a:r>
          </a:p>
          <a:p>
            <a:pPr marL="514350" indent="-514350">
              <a:buNone/>
            </a:pPr>
            <a:r>
              <a:rPr lang="en-US" dirty="0" smtClean="0"/>
              <a:t>c.  C only                           d. A and C only</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16.</a:t>
            </a:r>
            <a:r>
              <a:rPr lang="en-US" dirty="0"/>
              <a:t> Which of these structures is present in a plant cell but absent in an animal cell?</a:t>
            </a:r>
          </a:p>
          <a:p>
            <a:pPr lvl="0">
              <a:buNone/>
            </a:pPr>
            <a:r>
              <a:rPr lang="en-US" dirty="0" smtClean="0"/>
              <a:t>A. Cell </a:t>
            </a:r>
            <a:r>
              <a:rPr lang="en-US" dirty="0"/>
              <a:t>wall      </a:t>
            </a:r>
            <a:r>
              <a:rPr lang="en-US" dirty="0" smtClean="0"/>
              <a:t> </a:t>
            </a:r>
            <a:r>
              <a:rPr lang="en-US" dirty="0"/>
              <a:t>B. Cell membrane        C.  Vacuole</a:t>
            </a:r>
          </a:p>
          <a:p>
            <a:pPr>
              <a:buNone/>
            </a:pPr>
            <a:r>
              <a:rPr lang="en-US" dirty="0" smtClean="0"/>
              <a:t> </a:t>
            </a:r>
          </a:p>
          <a:p>
            <a:pPr marL="514350" indent="-514350">
              <a:buAutoNum type="alphaLcPeriod"/>
            </a:pPr>
            <a:r>
              <a:rPr lang="en-US" dirty="0" smtClean="0">
                <a:solidFill>
                  <a:srgbClr val="FF0000"/>
                </a:solidFill>
              </a:rPr>
              <a:t>A only                          </a:t>
            </a:r>
            <a:r>
              <a:rPr lang="en-US" dirty="0" smtClean="0"/>
              <a:t>b. B only       </a:t>
            </a:r>
          </a:p>
          <a:p>
            <a:pPr marL="514350" indent="-514350">
              <a:buNone/>
            </a:pPr>
            <a:r>
              <a:rPr lang="en-US" dirty="0" smtClean="0"/>
              <a:t>c.  C only                           d. A and C only</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17. </a:t>
            </a:r>
            <a:r>
              <a:rPr lang="en-US" dirty="0"/>
              <a:t>In which of the following processes does the cell membrane change its shape?</a:t>
            </a:r>
          </a:p>
          <a:p>
            <a:pPr marL="514350" lvl="0" indent="-514350">
              <a:buAutoNum type="alphaLcPeriod"/>
            </a:pPr>
            <a:r>
              <a:rPr lang="en-US" dirty="0" smtClean="0"/>
              <a:t>Direct </a:t>
            </a:r>
            <a:r>
              <a:rPr lang="en-US" dirty="0"/>
              <a:t>absorption      b. </a:t>
            </a:r>
            <a:r>
              <a:rPr lang="en-US" dirty="0" err="1"/>
              <a:t>pinocytosis</a:t>
            </a:r>
            <a:r>
              <a:rPr lang="en-US" dirty="0"/>
              <a:t>   </a:t>
            </a:r>
            <a:endParaRPr lang="en-US" dirty="0" smtClean="0"/>
          </a:p>
          <a:p>
            <a:pPr marL="514350" lvl="0" indent="-514350">
              <a:buNone/>
            </a:pPr>
            <a:r>
              <a:rPr lang="en-US" dirty="0" smtClean="0"/>
              <a:t>c</a:t>
            </a:r>
            <a:r>
              <a:rPr lang="en-US" dirty="0"/>
              <a:t>. </a:t>
            </a:r>
            <a:r>
              <a:rPr lang="en-US" dirty="0" smtClean="0"/>
              <a:t>  </a:t>
            </a:r>
            <a:r>
              <a:rPr lang="en-US" dirty="0" err="1" smtClean="0"/>
              <a:t>phagocytosis</a:t>
            </a:r>
            <a:r>
              <a:rPr lang="en-US" dirty="0" smtClean="0"/>
              <a:t>              </a:t>
            </a:r>
            <a:r>
              <a:rPr lang="en-US" dirty="0"/>
              <a:t>d. both b &amp; c</a:t>
            </a:r>
          </a:p>
          <a:p>
            <a:pPr>
              <a:buNone/>
            </a:pP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17. </a:t>
            </a:r>
            <a:r>
              <a:rPr lang="en-US" dirty="0"/>
              <a:t>In which of the following processes does the cell membrane change its shape?</a:t>
            </a:r>
          </a:p>
          <a:p>
            <a:pPr marL="514350" lvl="0" indent="-514350">
              <a:buAutoNum type="alphaLcPeriod"/>
            </a:pPr>
            <a:r>
              <a:rPr lang="en-US" dirty="0" smtClean="0"/>
              <a:t>Direct </a:t>
            </a:r>
            <a:r>
              <a:rPr lang="en-US" dirty="0"/>
              <a:t>absorption      b. </a:t>
            </a:r>
            <a:r>
              <a:rPr lang="en-US" dirty="0" err="1"/>
              <a:t>pinocytosis</a:t>
            </a:r>
            <a:r>
              <a:rPr lang="en-US" dirty="0"/>
              <a:t>   </a:t>
            </a:r>
            <a:endParaRPr lang="en-US" dirty="0" smtClean="0"/>
          </a:p>
          <a:p>
            <a:pPr marL="514350" lvl="0" indent="-514350">
              <a:buNone/>
            </a:pPr>
            <a:r>
              <a:rPr lang="en-US" dirty="0" smtClean="0"/>
              <a:t>c</a:t>
            </a:r>
            <a:r>
              <a:rPr lang="en-US" dirty="0"/>
              <a:t>. </a:t>
            </a:r>
            <a:r>
              <a:rPr lang="en-US" dirty="0" smtClean="0"/>
              <a:t>  </a:t>
            </a:r>
            <a:r>
              <a:rPr lang="en-US" dirty="0" err="1" smtClean="0"/>
              <a:t>phagocytosis</a:t>
            </a:r>
            <a:r>
              <a:rPr lang="en-US" dirty="0" smtClean="0"/>
              <a:t>              </a:t>
            </a:r>
            <a:r>
              <a:rPr lang="en-US" dirty="0">
                <a:solidFill>
                  <a:srgbClr val="FF0000"/>
                </a:solidFill>
              </a:rPr>
              <a:t>d. both b &amp; c</a:t>
            </a:r>
          </a:p>
          <a:p>
            <a:pPr>
              <a:buNone/>
            </a:pP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18. All of the following are involved in movement </a:t>
            </a:r>
            <a:r>
              <a:rPr lang="en-US" b="1" dirty="0" smtClean="0"/>
              <a:t>except</a:t>
            </a:r>
          </a:p>
          <a:p>
            <a:pPr marL="514350" lvl="0" indent="-514350">
              <a:buAutoNum type="alphaLcPeriod"/>
            </a:pPr>
            <a:r>
              <a:rPr lang="en-US" dirty="0" smtClean="0"/>
              <a:t>Cilia                                   b. flagella     </a:t>
            </a:r>
          </a:p>
          <a:p>
            <a:pPr marL="514350" lvl="0" indent="-514350">
              <a:buNone/>
            </a:pPr>
            <a:r>
              <a:rPr lang="en-US" dirty="0" smtClean="0"/>
              <a:t>c.   pseudopodia                   d. cell wall</a:t>
            </a:r>
          </a:p>
          <a:p>
            <a:pPr>
              <a:buNone/>
            </a:pPr>
            <a:endParaRPr lang="en-US" dirty="0">
              <a:solidFill>
                <a:srgbClr val="FF0000"/>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18. </a:t>
            </a:r>
            <a:r>
              <a:rPr lang="en-US" dirty="0"/>
              <a:t>All of the following are involved in movement </a:t>
            </a:r>
            <a:r>
              <a:rPr lang="en-US" b="1" dirty="0"/>
              <a:t>except</a:t>
            </a:r>
          </a:p>
          <a:p>
            <a:pPr marL="514350" lvl="0" indent="-514350">
              <a:buAutoNum type="alphaLcPeriod"/>
            </a:pPr>
            <a:r>
              <a:rPr lang="en-US" dirty="0" smtClean="0"/>
              <a:t>Cilia                                   </a:t>
            </a:r>
            <a:r>
              <a:rPr lang="en-US" dirty="0"/>
              <a:t>b. flagella     </a:t>
            </a:r>
            <a:endParaRPr lang="en-US" dirty="0" smtClean="0"/>
          </a:p>
          <a:p>
            <a:pPr marL="514350" lvl="0" indent="-514350">
              <a:buNone/>
            </a:pPr>
            <a:r>
              <a:rPr lang="en-US" dirty="0" smtClean="0"/>
              <a:t>c</a:t>
            </a:r>
            <a:r>
              <a:rPr lang="en-US" dirty="0"/>
              <a:t>. </a:t>
            </a:r>
            <a:r>
              <a:rPr lang="en-US" dirty="0" smtClean="0"/>
              <a:t>  pseudopodia                   </a:t>
            </a:r>
            <a:r>
              <a:rPr lang="en-US" dirty="0">
                <a:solidFill>
                  <a:srgbClr val="FF0000"/>
                </a:solidFill>
              </a:rPr>
              <a:t>d. cell wall</a:t>
            </a:r>
          </a:p>
          <a:p>
            <a:pPr>
              <a:buNone/>
            </a:pPr>
            <a:endParaRPr lang="en-US" dirty="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19.</a:t>
            </a:r>
            <a:r>
              <a:rPr lang="en-US" dirty="0"/>
              <a:t> What is a cell?</a:t>
            </a:r>
          </a:p>
          <a:p>
            <a:pPr lvl="0">
              <a:buNone/>
            </a:pPr>
            <a:r>
              <a:rPr lang="en-US" dirty="0" smtClean="0"/>
              <a:t>a. A </a:t>
            </a:r>
            <a:r>
              <a:rPr lang="en-US" dirty="0"/>
              <a:t>living organism that is neither a plant or </a:t>
            </a:r>
            <a:r>
              <a:rPr lang="en-US" dirty="0" smtClean="0"/>
              <a:t>an animal</a:t>
            </a:r>
            <a:endParaRPr lang="en-US" dirty="0"/>
          </a:p>
          <a:p>
            <a:pPr lvl="0">
              <a:buNone/>
            </a:pPr>
            <a:r>
              <a:rPr lang="en-US" dirty="0" smtClean="0"/>
              <a:t>b. The </a:t>
            </a:r>
            <a:r>
              <a:rPr lang="en-US" dirty="0"/>
              <a:t>smallest unit of living and nonliving matter</a:t>
            </a:r>
          </a:p>
          <a:p>
            <a:pPr lvl="0">
              <a:buNone/>
            </a:pPr>
            <a:r>
              <a:rPr lang="en-US" dirty="0" smtClean="0"/>
              <a:t>c. The </a:t>
            </a:r>
            <a:r>
              <a:rPr lang="en-US" dirty="0"/>
              <a:t>smallest part of an organism that can carry out life functions</a:t>
            </a:r>
          </a:p>
          <a:p>
            <a:pPr lvl="0">
              <a:buNone/>
            </a:pPr>
            <a:r>
              <a:rPr lang="en-US" dirty="0" smtClean="0"/>
              <a:t>d. A </a:t>
            </a:r>
            <a:r>
              <a:rPr lang="en-US" dirty="0"/>
              <a:t>living unit that always specializes in a particular function of an organism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19.</a:t>
            </a:r>
            <a:r>
              <a:rPr lang="en-US" dirty="0"/>
              <a:t> What is a cell?</a:t>
            </a:r>
          </a:p>
          <a:p>
            <a:pPr lvl="0">
              <a:buNone/>
            </a:pPr>
            <a:r>
              <a:rPr lang="en-US" dirty="0" smtClean="0"/>
              <a:t>a. A </a:t>
            </a:r>
            <a:r>
              <a:rPr lang="en-US" dirty="0"/>
              <a:t>living organism that is neither a plant or </a:t>
            </a:r>
            <a:r>
              <a:rPr lang="en-US" dirty="0" smtClean="0"/>
              <a:t>an animal</a:t>
            </a:r>
            <a:endParaRPr lang="en-US" dirty="0"/>
          </a:p>
          <a:p>
            <a:pPr lvl="0">
              <a:buNone/>
            </a:pPr>
            <a:r>
              <a:rPr lang="en-US" dirty="0" smtClean="0"/>
              <a:t>b. The </a:t>
            </a:r>
            <a:r>
              <a:rPr lang="en-US" dirty="0"/>
              <a:t>smallest unit of living and nonliving matter</a:t>
            </a:r>
          </a:p>
          <a:p>
            <a:pPr lvl="0">
              <a:buNone/>
            </a:pPr>
            <a:r>
              <a:rPr lang="en-US" dirty="0" smtClean="0">
                <a:solidFill>
                  <a:srgbClr val="FF0000"/>
                </a:solidFill>
              </a:rPr>
              <a:t>c. The </a:t>
            </a:r>
            <a:r>
              <a:rPr lang="en-US" dirty="0">
                <a:solidFill>
                  <a:srgbClr val="FF0000"/>
                </a:solidFill>
              </a:rPr>
              <a:t>smallest part of an organism that can carry out life functions</a:t>
            </a:r>
          </a:p>
          <a:p>
            <a:pPr lvl="0">
              <a:buNone/>
            </a:pPr>
            <a:r>
              <a:rPr lang="en-US" dirty="0" smtClean="0"/>
              <a:t>d. A </a:t>
            </a:r>
            <a:r>
              <a:rPr lang="en-US" dirty="0"/>
              <a:t>living unit that always specializes in a particular function of an organism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20. </a:t>
            </a:r>
            <a:r>
              <a:rPr lang="en-US" dirty="0"/>
              <a:t>Which of the following is the main function of the chromosomes?</a:t>
            </a:r>
          </a:p>
          <a:p>
            <a:pPr lvl="0">
              <a:buNone/>
            </a:pPr>
            <a:r>
              <a:rPr lang="en-US" dirty="0" smtClean="0"/>
              <a:t>a. Provide </a:t>
            </a:r>
            <a:r>
              <a:rPr lang="en-US" dirty="0"/>
              <a:t>nutrients necessary for development</a:t>
            </a:r>
          </a:p>
          <a:p>
            <a:pPr lvl="0">
              <a:buNone/>
            </a:pPr>
            <a:r>
              <a:rPr lang="en-US" dirty="0" smtClean="0"/>
              <a:t>b. Provide </a:t>
            </a:r>
            <a:r>
              <a:rPr lang="en-US" dirty="0"/>
              <a:t>energy needed for growth to maturity</a:t>
            </a:r>
          </a:p>
          <a:p>
            <a:pPr lvl="0">
              <a:buNone/>
            </a:pPr>
            <a:r>
              <a:rPr lang="en-US" dirty="0" smtClean="0"/>
              <a:t>c. Provide </a:t>
            </a:r>
            <a:r>
              <a:rPr lang="en-US" dirty="0"/>
              <a:t>proteins required by the genes</a:t>
            </a:r>
          </a:p>
          <a:p>
            <a:pPr lvl="0">
              <a:buNone/>
            </a:pPr>
            <a:r>
              <a:rPr lang="en-US" dirty="0" smtClean="0"/>
              <a:t>d. Provide </a:t>
            </a:r>
            <a:r>
              <a:rPr lang="en-US" dirty="0"/>
              <a:t>information needed for proper growth and development</a:t>
            </a:r>
          </a:p>
          <a:p>
            <a:pPr>
              <a:buNone/>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20. </a:t>
            </a:r>
            <a:r>
              <a:rPr lang="en-US" dirty="0"/>
              <a:t>Which of the following is the main function of the chromosomes?</a:t>
            </a:r>
          </a:p>
          <a:p>
            <a:pPr lvl="0">
              <a:buNone/>
            </a:pPr>
            <a:r>
              <a:rPr lang="en-US" dirty="0" smtClean="0"/>
              <a:t>a. Provide </a:t>
            </a:r>
            <a:r>
              <a:rPr lang="en-US" dirty="0"/>
              <a:t>nutrients necessary for development</a:t>
            </a:r>
          </a:p>
          <a:p>
            <a:pPr lvl="0">
              <a:buNone/>
            </a:pPr>
            <a:r>
              <a:rPr lang="en-US" dirty="0" smtClean="0"/>
              <a:t>b. Provide </a:t>
            </a:r>
            <a:r>
              <a:rPr lang="en-US" dirty="0"/>
              <a:t>energy needed for growth to maturity</a:t>
            </a:r>
          </a:p>
          <a:p>
            <a:pPr lvl="0">
              <a:buNone/>
            </a:pPr>
            <a:r>
              <a:rPr lang="en-US" dirty="0" smtClean="0"/>
              <a:t>c. Provide </a:t>
            </a:r>
            <a:r>
              <a:rPr lang="en-US" dirty="0"/>
              <a:t>proteins required by the genes</a:t>
            </a:r>
          </a:p>
          <a:p>
            <a:pPr lvl="0">
              <a:buNone/>
            </a:pPr>
            <a:r>
              <a:rPr lang="en-US" dirty="0" smtClean="0">
                <a:solidFill>
                  <a:srgbClr val="FF0000"/>
                </a:solidFill>
              </a:rPr>
              <a:t>d. Provide </a:t>
            </a:r>
            <a:r>
              <a:rPr lang="en-US" dirty="0">
                <a:solidFill>
                  <a:srgbClr val="FF0000"/>
                </a:solidFill>
              </a:rPr>
              <a:t>information needed for proper growth and development</a:t>
            </a:r>
          </a:p>
          <a:p>
            <a:pPr>
              <a:buNone/>
            </a:pP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21. </a:t>
            </a:r>
            <a:r>
              <a:rPr lang="en-US" dirty="0"/>
              <a:t>Which of the following best describes the position of the chromosomes during </a:t>
            </a:r>
            <a:r>
              <a:rPr lang="en-US" dirty="0" smtClean="0"/>
              <a:t>metaphase?</a:t>
            </a:r>
          </a:p>
          <a:p>
            <a:pPr lvl="0">
              <a:buNone/>
            </a:pPr>
            <a:r>
              <a:rPr lang="en-US" dirty="0" smtClean="0"/>
              <a:t>a. Aligned at the equatorial plate          </a:t>
            </a:r>
          </a:p>
          <a:p>
            <a:pPr lvl="0">
              <a:buNone/>
            </a:pPr>
            <a:r>
              <a:rPr lang="en-US" dirty="0" smtClean="0"/>
              <a:t>b. Clustered </a:t>
            </a:r>
            <a:r>
              <a:rPr lang="en-US" dirty="0"/>
              <a:t>at each pole of the cell </a:t>
            </a:r>
            <a:endParaRPr lang="en-US" dirty="0" smtClean="0"/>
          </a:p>
          <a:p>
            <a:pPr lvl="0">
              <a:buNone/>
            </a:pPr>
            <a:r>
              <a:rPr lang="en-US" dirty="0" smtClean="0"/>
              <a:t>c. Arranged randomly in the cytoplasm         </a:t>
            </a:r>
          </a:p>
          <a:p>
            <a:pPr lvl="0">
              <a:buNone/>
            </a:pPr>
            <a:r>
              <a:rPr lang="en-US" dirty="0" smtClean="0"/>
              <a:t>d</a:t>
            </a:r>
            <a:r>
              <a:rPr lang="en-US" dirty="0"/>
              <a:t>. arranged randomly in the nucleus</a:t>
            </a:r>
          </a:p>
          <a:p>
            <a:pPr>
              <a:buNone/>
            </a:pP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21. </a:t>
            </a:r>
            <a:r>
              <a:rPr lang="en-US" dirty="0"/>
              <a:t>Which of the following best describes the position of the chromosomes during </a:t>
            </a:r>
            <a:r>
              <a:rPr lang="en-US" dirty="0" smtClean="0"/>
              <a:t>metaphase?</a:t>
            </a:r>
          </a:p>
          <a:p>
            <a:pPr lvl="0">
              <a:buNone/>
            </a:pPr>
            <a:r>
              <a:rPr lang="en-US" dirty="0" smtClean="0">
                <a:solidFill>
                  <a:srgbClr val="FF0000"/>
                </a:solidFill>
              </a:rPr>
              <a:t>a. Aligned at the equatorial plate          </a:t>
            </a:r>
          </a:p>
          <a:p>
            <a:pPr lvl="0">
              <a:buNone/>
            </a:pPr>
            <a:r>
              <a:rPr lang="en-US" dirty="0" smtClean="0"/>
              <a:t>b. Clustered </a:t>
            </a:r>
            <a:r>
              <a:rPr lang="en-US" dirty="0"/>
              <a:t>at each pole of the cell </a:t>
            </a:r>
            <a:endParaRPr lang="en-US" dirty="0" smtClean="0"/>
          </a:p>
          <a:p>
            <a:pPr lvl="0">
              <a:buNone/>
            </a:pPr>
            <a:r>
              <a:rPr lang="en-US" dirty="0" smtClean="0"/>
              <a:t>c. Arranged randomly in the cytoplasm         </a:t>
            </a:r>
          </a:p>
          <a:p>
            <a:pPr lvl="0">
              <a:buNone/>
            </a:pPr>
            <a:r>
              <a:rPr lang="en-US" dirty="0" smtClean="0"/>
              <a:t>d</a:t>
            </a:r>
            <a:r>
              <a:rPr lang="en-US" dirty="0"/>
              <a:t>. arranged randomly in the nucleus</a:t>
            </a:r>
          </a:p>
          <a:p>
            <a:pPr>
              <a:buNone/>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22. </a:t>
            </a:r>
            <a:r>
              <a:rPr lang="en-US" dirty="0"/>
              <a:t>Damaged muscle tissue is normally replaced by the cell through what process?</a:t>
            </a:r>
          </a:p>
          <a:p>
            <a:pPr lvl="0">
              <a:buNone/>
            </a:pPr>
            <a:r>
              <a:rPr lang="en-US" dirty="0" smtClean="0"/>
              <a:t>a. </a:t>
            </a:r>
            <a:r>
              <a:rPr lang="en-US" dirty="0" err="1" smtClean="0"/>
              <a:t>Phagocytosis</a:t>
            </a:r>
            <a:r>
              <a:rPr lang="en-US" dirty="0" smtClean="0"/>
              <a:t>                    </a:t>
            </a:r>
            <a:r>
              <a:rPr lang="en-US" dirty="0"/>
              <a:t>b. mitosis          </a:t>
            </a:r>
            <a:endParaRPr lang="en-US" dirty="0" smtClean="0"/>
          </a:p>
          <a:p>
            <a:pPr lvl="0">
              <a:buNone/>
            </a:pPr>
            <a:r>
              <a:rPr lang="en-US" dirty="0" smtClean="0"/>
              <a:t> </a:t>
            </a:r>
            <a:r>
              <a:rPr lang="en-US" dirty="0"/>
              <a:t>c. meiosis       </a:t>
            </a:r>
            <a:r>
              <a:rPr lang="en-US" dirty="0" smtClean="0"/>
              <a:t>                     d</a:t>
            </a:r>
            <a:r>
              <a:rPr lang="en-US" dirty="0"/>
              <a:t>. </a:t>
            </a:r>
            <a:r>
              <a:rPr lang="en-US" dirty="0" err="1"/>
              <a:t>exocytosis</a:t>
            </a:r>
            <a:endParaRPr lang="en-US" dirty="0"/>
          </a:p>
          <a:p>
            <a:pPr>
              <a:buNone/>
            </a:pP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22. </a:t>
            </a:r>
            <a:r>
              <a:rPr lang="en-US" dirty="0"/>
              <a:t>Damaged muscle tissue is normally replaced by the cell through what process?</a:t>
            </a:r>
          </a:p>
          <a:p>
            <a:pPr lvl="0">
              <a:buNone/>
            </a:pPr>
            <a:r>
              <a:rPr lang="en-US" dirty="0" smtClean="0"/>
              <a:t>a. </a:t>
            </a:r>
            <a:r>
              <a:rPr lang="en-US" dirty="0" err="1" smtClean="0"/>
              <a:t>Phagocytosis</a:t>
            </a:r>
            <a:r>
              <a:rPr lang="en-US" dirty="0" smtClean="0"/>
              <a:t>                    </a:t>
            </a:r>
            <a:r>
              <a:rPr lang="en-US" dirty="0">
                <a:solidFill>
                  <a:srgbClr val="FF0000"/>
                </a:solidFill>
              </a:rPr>
              <a:t>b. mitosis          </a:t>
            </a:r>
            <a:endParaRPr lang="en-US" dirty="0" smtClean="0">
              <a:solidFill>
                <a:srgbClr val="FF0000"/>
              </a:solidFill>
            </a:endParaRPr>
          </a:p>
          <a:p>
            <a:pPr lvl="0">
              <a:buNone/>
            </a:pPr>
            <a:r>
              <a:rPr lang="en-US" dirty="0" smtClean="0"/>
              <a:t> </a:t>
            </a:r>
            <a:r>
              <a:rPr lang="en-US" dirty="0"/>
              <a:t>c. meiosis       </a:t>
            </a:r>
            <a:r>
              <a:rPr lang="en-US" dirty="0" smtClean="0"/>
              <a:t>                     d</a:t>
            </a:r>
            <a:r>
              <a:rPr lang="en-US" dirty="0"/>
              <a:t>. </a:t>
            </a:r>
            <a:r>
              <a:rPr lang="en-US" dirty="0" err="1"/>
              <a:t>exocytosis</a:t>
            </a:r>
            <a:endParaRPr lang="en-US" dirty="0"/>
          </a:p>
          <a:p>
            <a:pPr>
              <a:buNone/>
            </a:pP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23.</a:t>
            </a:r>
            <a:r>
              <a:rPr lang="en-US" dirty="0"/>
              <a:t> If there are 5 cells undergoing mitotic division, how many daughter cells will be produced?</a:t>
            </a:r>
          </a:p>
          <a:p>
            <a:pPr lvl="0">
              <a:buNone/>
            </a:pPr>
            <a:r>
              <a:rPr lang="en-US" dirty="0" smtClean="0"/>
              <a:t>a. 5           </a:t>
            </a:r>
            <a:r>
              <a:rPr lang="en-US" dirty="0"/>
              <a:t>b. 10         c. 15           d. 20</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23.</a:t>
            </a:r>
            <a:r>
              <a:rPr lang="en-US" dirty="0"/>
              <a:t> If there are 5 cells undergoing mitotic division, how many daughter cells will be produced?</a:t>
            </a:r>
          </a:p>
          <a:p>
            <a:pPr lvl="0">
              <a:buNone/>
            </a:pPr>
            <a:r>
              <a:rPr lang="en-US" dirty="0" smtClean="0"/>
              <a:t>a. 5           </a:t>
            </a:r>
            <a:r>
              <a:rPr lang="en-US" dirty="0">
                <a:solidFill>
                  <a:srgbClr val="FF0000"/>
                </a:solidFill>
              </a:rPr>
              <a:t>b. 10         </a:t>
            </a:r>
            <a:r>
              <a:rPr lang="en-US" dirty="0"/>
              <a:t>c. 15           d. 20</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24.</a:t>
            </a:r>
            <a:r>
              <a:rPr lang="en-US" dirty="0"/>
              <a:t> A dog </a:t>
            </a:r>
            <a:r>
              <a:rPr lang="en-US" i="1" dirty="0"/>
              <a:t>(</a:t>
            </a:r>
            <a:r>
              <a:rPr lang="en-US" i="1" dirty="0" err="1"/>
              <a:t>Canis</a:t>
            </a:r>
            <a:r>
              <a:rPr lang="en-US" i="1" dirty="0"/>
              <a:t> </a:t>
            </a:r>
            <a:r>
              <a:rPr lang="en-US" i="1" dirty="0" err="1"/>
              <a:t>familiaris</a:t>
            </a:r>
            <a:r>
              <a:rPr lang="en-US" i="1" dirty="0"/>
              <a:t>)</a:t>
            </a:r>
            <a:r>
              <a:rPr lang="en-US" dirty="0"/>
              <a:t> has 78 chromosomes in all cells except the sex cells which </a:t>
            </a:r>
            <a:r>
              <a:rPr lang="en-US" dirty="0" smtClean="0"/>
              <a:t>have</a:t>
            </a:r>
          </a:p>
          <a:p>
            <a:pPr lvl="0">
              <a:buNone/>
            </a:pPr>
            <a:endParaRPr lang="en-US" dirty="0"/>
          </a:p>
          <a:p>
            <a:pPr lvl="0">
              <a:buNone/>
            </a:pPr>
            <a:r>
              <a:rPr lang="en-US" dirty="0" smtClean="0"/>
              <a:t>a. 26            </a:t>
            </a:r>
            <a:r>
              <a:rPr lang="en-US" dirty="0"/>
              <a:t>b. 39              c.79                   d. 156</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24.</a:t>
            </a:r>
            <a:r>
              <a:rPr lang="en-US" dirty="0"/>
              <a:t> A dog </a:t>
            </a:r>
            <a:r>
              <a:rPr lang="en-US" i="1" dirty="0"/>
              <a:t>(</a:t>
            </a:r>
            <a:r>
              <a:rPr lang="en-US" i="1" dirty="0" err="1"/>
              <a:t>Canis</a:t>
            </a:r>
            <a:r>
              <a:rPr lang="en-US" i="1" dirty="0"/>
              <a:t> </a:t>
            </a:r>
            <a:r>
              <a:rPr lang="en-US" i="1" dirty="0" err="1"/>
              <a:t>familiaris</a:t>
            </a:r>
            <a:r>
              <a:rPr lang="en-US" i="1" dirty="0"/>
              <a:t>)</a:t>
            </a:r>
            <a:r>
              <a:rPr lang="en-US" dirty="0"/>
              <a:t> has 78 chromosomes in all cells except the sex cells which </a:t>
            </a:r>
            <a:r>
              <a:rPr lang="en-US" dirty="0" smtClean="0"/>
              <a:t>have</a:t>
            </a:r>
          </a:p>
          <a:p>
            <a:pPr lvl="0">
              <a:buNone/>
            </a:pPr>
            <a:endParaRPr lang="en-US" dirty="0"/>
          </a:p>
          <a:p>
            <a:pPr lvl="0">
              <a:buNone/>
            </a:pPr>
            <a:r>
              <a:rPr lang="en-US" dirty="0" smtClean="0"/>
              <a:t>a. 26            </a:t>
            </a:r>
            <a:r>
              <a:rPr lang="en-US" dirty="0">
                <a:solidFill>
                  <a:srgbClr val="FF0000"/>
                </a:solidFill>
              </a:rPr>
              <a:t>b. 39              </a:t>
            </a:r>
            <a:r>
              <a:rPr lang="en-US" dirty="0"/>
              <a:t>c.79                   d. 156</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25.</a:t>
            </a:r>
            <a:r>
              <a:rPr lang="en-US" dirty="0"/>
              <a:t> Plants take in carbon dioxide and release oxygen during photosynthesis. This indicates that the plants</a:t>
            </a:r>
          </a:p>
          <a:p>
            <a:pPr lvl="0">
              <a:buNone/>
            </a:pPr>
            <a:r>
              <a:rPr lang="en-US" dirty="0" smtClean="0"/>
              <a:t>a. Affect </a:t>
            </a:r>
            <a:r>
              <a:rPr lang="en-US" dirty="0"/>
              <a:t>the balance of gases in the atmosphere</a:t>
            </a:r>
          </a:p>
          <a:p>
            <a:pPr lvl="0">
              <a:buNone/>
            </a:pPr>
            <a:r>
              <a:rPr lang="en-US" dirty="0" smtClean="0"/>
              <a:t>b. Take </a:t>
            </a:r>
            <a:r>
              <a:rPr lang="en-US" dirty="0"/>
              <a:t>oxygen from the air the same as in the animals</a:t>
            </a:r>
          </a:p>
          <a:p>
            <a:pPr lvl="0">
              <a:buNone/>
            </a:pPr>
            <a:r>
              <a:rPr lang="en-US" dirty="0" smtClean="0"/>
              <a:t>c. Compete </a:t>
            </a:r>
            <a:r>
              <a:rPr lang="en-US" dirty="0"/>
              <a:t>with animals in the supply of oxygen in the atmosphere</a:t>
            </a:r>
          </a:p>
          <a:p>
            <a:pPr lvl="0">
              <a:buNone/>
            </a:pPr>
            <a:r>
              <a:rPr lang="en-US" dirty="0" smtClean="0"/>
              <a:t>d. Rely </a:t>
            </a:r>
            <a:r>
              <a:rPr lang="en-US" dirty="0"/>
              <a:t>on the sun as their source of energy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25.</a:t>
            </a:r>
            <a:r>
              <a:rPr lang="en-US" dirty="0"/>
              <a:t> Plants take in carbon dioxide and release oxygen during photosynthesis. This indicates that the plants</a:t>
            </a:r>
          </a:p>
          <a:p>
            <a:pPr lvl="0">
              <a:buNone/>
            </a:pPr>
            <a:r>
              <a:rPr lang="en-US" dirty="0" smtClean="0">
                <a:solidFill>
                  <a:srgbClr val="FF0000"/>
                </a:solidFill>
              </a:rPr>
              <a:t>a. Affect </a:t>
            </a:r>
            <a:r>
              <a:rPr lang="en-US" dirty="0">
                <a:solidFill>
                  <a:srgbClr val="FF0000"/>
                </a:solidFill>
              </a:rPr>
              <a:t>the balance of gases in the atmosphere</a:t>
            </a:r>
          </a:p>
          <a:p>
            <a:pPr lvl="0">
              <a:buNone/>
            </a:pPr>
            <a:r>
              <a:rPr lang="en-US" dirty="0" smtClean="0"/>
              <a:t>b. Take </a:t>
            </a:r>
            <a:r>
              <a:rPr lang="en-US" dirty="0"/>
              <a:t>oxygen from the air the same as in the animals</a:t>
            </a:r>
          </a:p>
          <a:p>
            <a:pPr lvl="0">
              <a:buNone/>
            </a:pPr>
            <a:r>
              <a:rPr lang="en-US" dirty="0" smtClean="0"/>
              <a:t>c. Compete </a:t>
            </a:r>
            <a:r>
              <a:rPr lang="en-US" dirty="0"/>
              <a:t>with animals in the supply of oxygen in the atmosphere</a:t>
            </a:r>
          </a:p>
          <a:p>
            <a:pPr lvl="0">
              <a:buNone/>
            </a:pPr>
            <a:r>
              <a:rPr lang="en-US" dirty="0" smtClean="0"/>
              <a:t>d. Rely </a:t>
            </a:r>
            <a:r>
              <a:rPr lang="en-US" dirty="0"/>
              <a:t>on the sun as their source of energy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dirty="0" smtClean="0"/>
              <a:t>26. </a:t>
            </a:r>
            <a:r>
              <a:rPr lang="en-US" dirty="0"/>
              <a:t>A plant placed in an airtight glass container and watered without allowing air into and out of the container will eventually die because of the lack of</a:t>
            </a:r>
          </a:p>
          <a:p>
            <a:pPr marL="514350" lvl="0" indent="-514350">
              <a:buAutoNum type="alphaLcPeriod"/>
            </a:pPr>
            <a:r>
              <a:rPr lang="en-US" dirty="0" smtClean="0"/>
              <a:t>Oxygen                       b</a:t>
            </a:r>
            <a:r>
              <a:rPr lang="en-US" dirty="0"/>
              <a:t>. water       </a:t>
            </a:r>
            <a:endParaRPr lang="en-US" dirty="0" smtClean="0"/>
          </a:p>
          <a:p>
            <a:pPr marL="514350" lvl="0" indent="-514350">
              <a:buNone/>
            </a:pPr>
            <a:r>
              <a:rPr lang="en-US" dirty="0" smtClean="0"/>
              <a:t>c</a:t>
            </a:r>
            <a:r>
              <a:rPr lang="en-US" dirty="0"/>
              <a:t>. </a:t>
            </a:r>
            <a:r>
              <a:rPr lang="en-US" dirty="0" smtClean="0"/>
              <a:t>  light                            d</a:t>
            </a:r>
            <a:r>
              <a:rPr lang="en-US" dirty="0"/>
              <a:t>. carbon dioxide</a:t>
            </a:r>
          </a:p>
          <a:p>
            <a:pPr>
              <a:buNone/>
            </a:pP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dirty="0" smtClean="0"/>
              <a:t>26. </a:t>
            </a:r>
            <a:r>
              <a:rPr lang="en-US" dirty="0"/>
              <a:t>A plant placed in an airtight glass container and watered without allowing air into and out of the container will eventually die because of the lack of</a:t>
            </a:r>
          </a:p>
          <a:p>
            <a:pPr marL="514350" lvl="0" indent="-514350">
              <a:buAutoNum type="alphaLcPeriod"/>
            </a:pPr>
            <a:r>
              <a:rPr lang="en-US" dirty="0" smtClean="0"/>
              <a:t>Oxygen                       b</a:t>
            </a:r>
            <a:r>
              <a:rPr lang="en-US" dirty="0"/>
              <a:t>. water       </a:t>
            </a:r>
            <a:endParaRPr lang="en-US" dirty="0" smtClean="0"/>
          </a:p>
          <a:p>
            <a:pPr marL="514350" lvl="0" indent="-514350">
              <a:buNone/>
            </a:pPr>
            <a:r>
              <a:rPr lang="en-US" dirty="0" smtClean="0"/>
              <a:t>c</a:t>
            </a:r>
            <a:r>
              <a:rPr lang="en-US" dirty="0"/>
              <a:t>. </a:t>
            </a:r>
            <a:r>
              <a:rPr lang="en-US" dirty="0" smtClean="0"/>
              <a:t>  light                            </a:t>
            </a:r>
            <a:r>
              <a:rPr lang="en-US" dirty="0" smtClean="0">
                <a:solidFill>
                  <a:srgbClr val="FF0000"/>
                </a:solidFill>
              </a:rPr>
              <a:t>d</a:t>
            </a:r>
            <a:r>
              <a:rPr lang="en-US" dirty="0">
                <a:solidFill>
                  <a:srgbClr val="FF0000"/>
                </a:solidFill>
              </a:rPr>
              <a:t>. carbon dioxide</a:t>
            </a:r>
          </a:p>
          <a:p>
            <a:pPr>
              <a:buNone/>
            </a:pP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27.</a:t>
            </a:r>
            <a:r>
              <a:rPr lang="en-US" dirty="0"/>
              <a:t> The products of photosynthesis are the raw materials of respiration. This suggests that photosynthesis and respiration form</a:t>
            </a:r>
          </a:p>
          <a:p>
            <a:pPr marL="514350" lvl="0" indent="-514350">
              <a:buAutoNum type="alphaLcPeriod"/>
            </a:pPr>
            <a:r>
              <a:rPr lang="en-US" dirty="0" smtClean="0"/>
              <a:t>A </a:t>
            </a:r>
            <a:r>
              <a:rPr lang="en-US" dirty="0"/>
              <a:t>cycle           </a:t>
            </a:r>
            <a:r>
              <a:rPr lang="en-US" dirty="0" smtClean="0"/>
              <a:t>                </a:t>
            </a:r>
            <a:r>
              <a:rPr lang="en-US" dirty="0"/>
              <a:t>b.  an event       </a:t>
            </a:r>
            <a:endParaRPr lang="en-US" dirty="0" smtClean="0"/>
          </a:p>
          <a:p>
            <a:pPr marL="514350" lvl="0" indent="-514350">
              <a:buNone/>
            </a:pPr>
            <a:r>
              <a:rPr lang="en-US" dirty="0" smtClean="0"/>
              <a:t>c</a:t>
            </a:r>
            <a:r>
              <a:rPr lang="en-US" dirty="0"/>
              <a:t>. </a:t>
            </a:r>
            <a:r>
              <a:rPr lang="en-US" dirty="0" smtClean="0"/>
              <a:t> a </a:t>
            </a:r>
            <a:r>
              <a:rPr lang="en-US" dirty="0"/>
              <a:t>sequence  </a:t>
            </a:r>
            <a:r>
              <a:rPr lang="en-US" dirty="0" smtClean="0"/>
              <a:t>                 d</a:t>
            </a:r>
            <a:r>
              <a:rPr lang="en-US" dirty="0"/>
              <a:t>.  a timeline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27.</a:t>
            </a:r>
            <a:r>
              <a:rPr lang="en-US" dirty="0"/>
              <a:t> The products of photosynthesis are the raw materials of respiration. This suggests that photosynthesis and respiration form</a:t>
            </a:r>
          </a:p>
          <a:p>
            <a:pPr marL="514350" lvl="0" indent="-514350">
              <a:buAutoNum type="alphaLcPeriod"/>
            </a:pPr>
            <a:r>
              <a:rPr lang="en-US" dirty="0" smtClean="0">
                <a:solidFill>
                  <a:srgbClr val="FF0000"/>
                </a:solidFill>
              </a:rPr>
              <a:t>A </a:t>
            </a:r>
            <a:r>
              <a:rPr lang="en-US" dirty="0">
                <a:solidFill>
                  <a:srgbClr val="FF0000"/>
                </a:solidFill>
              </a:rPr>
              <a:t>cycle           </a:t>
            </a:r>
            <a:r>
              <a:rPr lang="en-US" dirty="0" smtClean="0">
                <a:solidFill>
                  <a:srgbClr val="FF0000"/>
                </a:solidFill>
              </a:rPr>
              <a:t>                </a:t>
            </a:r>
            <a:r>
              <a:rPr lang="en-US" dirty="0"/>
              <a:t>b.  an event       </a:t>
            </a:r>
            <a:endParaRPr lang="en-US" dirty="0" smtClean="0"/>
          </a:p>
          <a:p>
            <a:pPr marL="514350" lvl="0" indent="-514350">
              <a:buNone/>
            </a:pPr>
            <a:r>
              <a:rPr lang="en-US" dirty="0" smtClean="0"/>
              <a:t>c</a:t>
            </a:r>
            <a:r>
              <a:rPr lang="en-US" dirty="0"/>
              <a:t>. </a:t>
            </a:r>
            <a:r>
              <a:rPr lang="en-US" dirty="0" smtClean="0"/>
              <a:t> a </a:t>
            </a:r>
            <a:r>
              <a:rPr lang="en-US" dirty="0"/>
              <a:t>sequence  </a:t>
            </a:r>
            <a:r>
              <a:rPr lang="en-US" dirty="0" smtClean="0"/>
              <a:t>                 d</a:t>
            </a:r>
            <a:r>
              <a:rPr lang="en-US" dirty="0"/>
              <a:t>.  a timeline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28.</a:t>
            </a:r>
            <a:r>
              <a:rPr lang="en-US" dirty="0"/>
              <a:t> The following are functions of plant’s roots </a:t>
            </a:r>
            <a:r>
              <a:rPr lang="en-US" b="1" dirty="0"/>
              <a:t>except</a:t>
            </a:r>
          </a:p>
          <a:p>
            <a:pPr marL="514350" lvl="0" indent="-514350">
              <a:buAutoNum type="alphaLcPeriod"/>
            </a:pPr>
            <a:r>
              <a:rPr lang="en-US" dirty="0" smtClean="0"/>
              <a:t>Absorbing </a:t>
            </a:r>
            <a:r>
              <a:rPr lang="en-US" dirty="0"/>
              <a:t>water and minerals                    </a:t>
            </a:r>
          </a:p>
          <a:p>
            <a:pPr lvl="0">
              <a:buNone/>
            </a:pPr>
            <a:r>
              <a:rPr lang="en-US" dirty="0" smtClean="0"/>
              <a:t>b. Providing </a:t>
            </a:r>
            <a:r>
              <a:rPr lang="en-US" dirty="0"/>
              <a:t>stable foundation for growth   </a:t>
            </a:r>
            <a:endParaRPr lang="en-US" dirty="0" smtClean="0"/>
          </a:p>
          <a:p>
            <a:pPr lvl="0">
              <a:buNone/>
            </a:pPr>
            <a:r>
              <a:rPr lang="en-US" dirty="0" smtClean="0"/>
              <a:t>c. Breaking down food into nutrients  </a:t>
            </a:r>
          </a:p>
          <a:p>
            <a:pPr lvl="0">
              <a:buNone/>
            </a:pPr>
            <a:r>
              <a:rPr lang="en-US" dirty="0" smtClean="0"/>
              <a:t> </a:t>
            </a:r>
            <a:r>
              <a:rPr lang="en-US" dirty="0"/>
              <a:t>d. anchoring the plant in the soil</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28.</a:t>
            </a:r>
            <a:r>
              <a:rPr lang="en-US" dirty="0"/>
              <a:t> The following are functions of plant’s roots </a:t>
            </a:r>
            <a:r>
              <a:rPr lang="en-US" b="1" dirty="0"/>
              <a:t>except</a:t>
            </a:r>
          </a:p>
          <a:p>
            <a:pPr marL="514350" lvl="0" indent="-514350">
              <a:buAutoNum type="alphaLcPeriod"/>
            </a:pPr>
            <a:r>
              <a:rPr lang="en-US" dirty="0" smtClean="0"/>
              <a:t>Absorbing </a:t>
            </a:r>
            <a:r>
              <a:rPr lang="en-US" dirty="0"/>
              <a:t>water and minerals                    </a:t>
            </a:r>
          </a:p>
          <a:p>
            <a:pPr lvl="0">
              <a:buNone/>
            </a:pPr>
            <a:r>
              <a:rPr lang="en-US" dirty="0" smtClean="0"/>
              <a:t>b. Providing </a:t>
            </a:r>
            <a:r>
              <a:rPr lang="en-US" dirty="0"/>
              <a:t>stable foundation for growth   </a:t>
            </a:r>
            <a:endParaRPr lang="en-US" dirty="0" smtClean="0"/>
          </a:p>
          <a:p>
            <a:pPr lvl="0">
              <a:buNone/>
            </a:pPr>
            <a:r>
              <a:rPr lang="en-US" dirty="0" smtClean="0">
                <a:solidFill>
                  <a:srgbClr val="FF0000"/>
                </a:solidFill>
              </a:rPr>
              <a:t>c. Breaking down food into nutrients  </a:t>
            </a:r>
          </a:p>
          <a:p>
            <a:pPr lvl="0">
              <a:buNone/>
            </a:pPr>
            <a:r>
              <a:rPr lang="en-US" dirty="0" smtClean="0"/>
              <a:t> </a:t>
            </a:r>
            <a:r>
              <a:rPr lang="en-US" dirty="0"/>
              <a:t>d. anchoring the plant in the soil</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29.</a:t>
            </a:r>
            <a:r>
              <a:rPr lang="en-US" dirty="0"/>
              <a:t> Xylem : water     ;     _________ :     food </a:t>
            </a:r>
            <a:r>
              <a:rPr lang="en-US" dirty="0" smtClean="0"/>
              <a:t> </a:t>
            </a:r>
            <a:endParaRPr lang="en-US" dirty="0"/>
          </a:p>
          <a:p>
            <a:pPr marL="514350" lvl="0" indent="-514350">
              <a:buAutoNum type="alphaLcPeriod"/>
            </a:pPr>
            <a:r>
              <a:rPr lang="en-US" dirty="0" smtClean="0"/>
              <a:t>fibers                     </a:t>
            </a:r>
            <a:r>
              <a:rPr lang="en-US" dirty="0"/>
              <a:t>b.  phloem       </a:t>
            </a:r>
            <a:endParaRPr lang="en-US" dirty="0" smtClean="0"/>
          </a:p>
          <a:p>
            <a:pPr marL="514350" lvl="0" indent="-514350">
              <a:buNone/>
            </a:pPr>
            <a:r>
              <a:rPr lang="en-US" dirty="0" smtClean="0"/>
              <a:t>c</a:t>
            </a:r>
            <a:r>
              <a:rPr lang="en-US" dirty="0"/>
              <a:t>.  </a:t>
            </a:r>
            <a:r>
              <a:rPr lang="en-US" dirty="0" smtClean="0"/>
              <a:t> stem </a:t>
            </a:r>
            <a:r>
              <a:rPr lang="en-US" dirty="0"/>
              <a:t>tissue     </a:t>
            </a:r>
            <a:r>
              <a:rPr lang="en-US" dirty="0" smtClean="0"/>
              <a:t>     </a:t>
            </a:r>
            <a:r>
              <a:rPr lang="en-US" dirty="0"/>
              <a:t>d. intercalary </a:t>
            </a:r>
            <a:r>
              <a:rPr lang="en-US" dirty="0" err="1"/>
              <a:t>meristem</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29.</a:t>
            </a:r>
            <a:r>
              <a:rPr lang="en-US" dirty="0"/>
              <a:t> Xylem : water     ;     _________ :     food </a:t>
            </a:r>
            <a:r>
              <a:rPr lang="en-US" dirty="0" smtClean="0"/>
              <a:t> </a:t>
            </a:r>
            <a:endParaRPr lang="en-US" dirty="0"/>
          </a:p>
          <a:p>
            <a:pPr marL="514350" lvl="0" indent="-514350">
              <a:buAutoNum type="alphaLcPeriod"/>
            </a:pPr>
            <a:r>
              <a:rPr lang="en-US" dirty="0" smtClean="0"/>
              <a:t>fibers                     </a:t>
            </a:r>
            <a:r>
              <a:rPr lang="en-US" dirty="0">
                <a:solidFill>
                  <a:srgbClr val="FF0000"/>
                </a:solidFill>
              </a:rPr>
              <a:t>b.  phloem       </a:t>
            </a:r>
            <a:endParaRPr lang="en-US" dirty="0" smtClean="0">
              <a:solidFill>
                <a:srgbClr val="FF0000"/>
              </a:solidFill>
            </a:endParaRPr>
          </a:p>
          <a:p>
            <a:pPr marL="514350" lvl="0" indent="-514350">
              <a:buNone/>
            </a:pPr>
            <a:r>
              <a:rPr lang="en-US" dirty="0" smtClean="0"/>
              <a:t>c</a:t>
            </a:r>
            <a:r>
              <a:rPr lang="en-US" dirty="0"/>
              <a:t>.  </a:t>
            </a:r>
            <a:r>
              <a:rPr lang="en-US" dirty="0" smtClean="0"/>
              <a:t> stem </a:t>
            </a:r>
            <a:r>
              <a:rPr lang="en-US" dirty="0"/>
              <a:t>tissue     </a:t>
            </a:r>
            <a:r>
              <a:rPr lang="en-US" dirty="0" smtClean="0"/>
              <a:t>     </a:t>
            </a:r>
            <a:r>
              <a:rPr lang="en-US" dirty="0"/>
              <a:t>d. intercalary </a:t>
            </a:r>
            <a:r>
              <a:rPr lang="en-US" dirty="0" err="1"/>
              <a:t>meristem</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30.</a:t>
            </a:r>
            <a:r>
              <a:rPr lang="en-US" dirty="0"/>
              <a:t> The original source of energy in the food chain is in the form of</a:t>
            </a:r>
          </a:p>
          <a:p>
            <a:pPr lvl="0">
              <a:buNone/>
            </a:pPr>
            <a:r>
              <a:rPr lang="en-US" dirty="0" smtClean="0"/>
              <a:t>a. chemicals </a:t>
            </a:r>
            <a:r>
              <a:rPr lang="en-US" dirty="0"/>
              <a:t>obtained from digested food</a:t>
            </a:r>
          </a:p>
          <a:p>
            <a:pPr lvl="0">
              <a:buNone/>
            </a:pPr>
            <a:r>
              <a:rPr lang="en-US" dirty="0" smtClean="0"/>
              <a:t>b. light </a:t>
            </a:r>
            <a:r>
              <a:rPr lang="en-US" dirty="0"/>
              <a:t>which is energy from the sun</a:t>
            </a:r>
          </a:p>
          <a:p>
            <a:pPr lvl="0">
              <a:buNone/>
            </a:pPr>
            <a:r>
              <a:rPr lang="en-US" dirty="0" smtClean="0"/>
              <a:t>c. animals </a:t>
            </a:r>
            <a:r>
              <a:rPr lang="en-US" dirty="0"/>
              <a:t>which use energy for their life functions</a:t>
            </a:r>
          </a:p>
          <a:p>
            <a:pPr lvl="0">
              <a:buNone/>
            </a:pPr>
            <a:r>
              <a:rPr lang="en-US" dirty="0" smtClean="0"/>
              <a:t>d. plants </a:t>
            </a:r>
            <a:r>
              <a:rPr lang="en-US" dirty="0"/>
              <a:t>which obtain food from other plants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30.</a:t>
            </a:r>
            <a:r>
              <a:rPr lang="en-US" dirty="0"/>
              <a:t> The original source of energy in the food chain is in the form of</a:t>
            </a:r>
          </a:p>
          <a:p>
            <a:pPr lvl="0">
              <a:buNone/>
            </a:pPr>
            <a:r>
              <a:rPr lang="en-US" dirty="0" smtClean="0"/>
              <a:t>a. chemicals </a:t>
            </a:r>
            <a:r>
              <a:rPr lang="en-US" dirty="0"/>
              <a:t>obtained from digested food</a:t>
            </a:r>
          </a:p>
          <a:p>
            <a:pPr lvl="0">
              <a:buNone/>
            </a:pPr>
            <a:r>
              <a:rPr lang="en-US" dirty="0" smtClean="0">
                <a:solidFill>
                  <a:srgbClr val="FF0000"/>
                </a:solidFill>
              </a:rPr>
              <a:t>b. light </a:t>
            </a:r>
            <a:r>
              <a:rPr lang="en-US" dirty="0">
                <a:solidFill>
                  <a:srgbClr val="FF0000"/>
                </a:solidFill>
              </a:rPr>
              <a:t>which is energy from the sun</a:t>
            </a:r>
          </a:p>
          <a:p>
            <a:pPr lvl="0">
              <a:buNone/>
            </a:pPr>
            <a:r>
              <a:rPr lang="en-US" dirty="0" smtClean="0"/>
              <a:t>c. animals </a:t>
            </a:r>
            <a:r>
              <a:rPr lang="en-US" dirty="0"/>
              <a:t>which use energy for their life functions</a:t>
            </a:r>
          </a:p>
          <a:p>
            <a:pPr lvl="0">
              <a:buNone/>
            </a:pPr>
            <a:r>
              <a:rPr lang="en-US" dirty="0" smtClean="0"/>
              <a:t>d. plants </a:t>
            </a:r>
            <a:r>
              <a:rPr lang="en-US" dirty="0"/>
              <a:t>which obtain food from other plants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31.</a:t>
            </a:r>
            <a:r>
              <a:rPr lang="en-US" dirty="0"/>
              <a:t> The  rat eats rice and is eaten by the hawk. In this food chain, the hawk is the</a:t>
            </a:r>
          </a:p>
          <a:p>
            <a:pPr marL="514350" lvl="0" indent="-514350">
              <a:buAutoNum type="alphaLcPeriod"/>
            </a:pPr>
            <a:r>
              <a:rPr lang="en-US" dirty="0" smtClean="0"/>
              <a:t>Producer                        </a:t>
            </a:r>
            <a:r>
              <a:rPr lang="en-US" dirty="0"/>
              <a:t>b. primary consumer     </a:t>
            </a:r>
            <a:endParaRPr lang="en-US" dirty="0" smtClean="0"/>
          </a:p>
          <a:p>
            <a:pPr marL="514350" lvl="0" indent="-514350">
              <a:buNone/>
            </a:pPr>
            <a:r>
              <a:rPr lang="en-US" dirty="0" smtClean="0"/>
              <a:t> </a:t>
            </a:r>
            <a:r>
              <a:rPr lang="en-US" dirty="0"/>
              <a:t>c. secondary consumer    d. decomposer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31.</a:t>
            </a:r>
            <a:r>
              <a:rPr lang="en-US" dirty="0"/>
              <a:t> The  rat eats rice and is eaten by the hawk. In this food chain, the hawk is the</a:t>
            </a:r>
          </a:p>
          <a:p>
            <a:pPr marL="514350" lvl="0" indent="-514350">
              <a:buAutoNum type="alphaLcPeriod"/>
            </a:pPr>
            <a:r>
              <a:rPr lang="en-US" dirty="0" smtClean="0"/>
              <a:t>Producer                        </a:t>
            </a:r>
            <a:r>
              <a:rPr lang="en-US" dirty="0"/>
              <a:t>b. primary consumer     </a:t>
            </a:r>
            <a:endParaRPr lang="en-US" dirty="0" smtClean="0"/>
          </a:p>
          <a:p>
            <a:pPr marL="514350" lvl="0" indent="-514350">
              <a:buNone/>
            </a:pPr>
            <a:r>
              <a:rPr lang="en-US" dirty="0" smtClean="0"/>
              <a:t> </a:t>
            </a:r>
            <a:r>
              <a:rPr lang="en-US" dirty="0">
                <a:solidFill>
                  <a:srgbClr val="FF0000"/>
                </a:solidFill>
              </a:rPr>
              <a:t>c. secondary consumer    </a:t>
            </a:r>
            <a:r>
              <a:rPr lang="en-US" dirty="0"/>
              <a:t>d. decomposer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32.</a:t>
            </a:r>
            <a:r>
              <a:rPr lang="en-US" dirty="0"/>
              <a:t> Which of the following is true about the energy in the food chain?</a:t>
            </a:r>
          </a:p>
          <a:p>
            <a:pPr marL="514350" lvl="0" indent="-514350">
              <a:buAutoNum type="alphaLcPeriod"/>
            </a:pPr>
            <a:r>
              <a:rPr lang="en-US" dirty="0" smtClean="0"/>
              <a:t>It </a:t>
            </a:r>
            <a:r>
              <a:rPr lang="en-US" dirty="0"/>
              <a:t>increases steadily                    </a:t>
            </a:r>
          </a:p>
          <a:p>
            <a:pPr lvl="0">
              <a:buNone/>
            </a:pPr>
            <a:r>
              <a:rPr lang="en-US" dirty="0" smtClean="0"/>
              <a:t>b.   It </a:t>
            </a:r>
            <a:r>
              <a:rPr lang="en-US" dirty="0"/>
              <a:t>decreases steadily    </a:t>
            </a:r>
            <a:endParaRPr lang="en-US" dirty="0" smtClean="0"/>
          </a:p>
          <a:p>
            <a:pPr lvl="0">
              <a:buNone/>
            </a:pPr>
            <a:r>
              <a:rPr lang="en-US" dirty="0" smtClean="0"/>
              <a:t>c.    It remains the same at all levels</a:t>
            </a:r>
          </a:p>
          <a:p>
            <a:pPr lvl="0">
              <a:buNone/>
            </a:pPr>
            <a:r>
              <a:rPr lang="en-US" dirty="0" smtClean="0"/>
              <a:t>d.    </a:t>
            </a:r>
            <a:r>
              <a:rPr lang="en-US" dirty="0"/>
              <a:t>I</a:t>
            </a:r>
            <a:r>
              <a:rPr lang="en-US" dirty="0" smtClean="0"/>
              <a:t>t </a:t>
            </a:r>
            <a:r>
              <a:rPr lang="en-US" dirty="0"/>
              <a:t>is created by decomposers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32.</a:t>
            </a:r>
            <a:r>
              <a:rPr lang="en-US" dirty="0"/>
              <a:t> Which of the following is true about the energy in the food chain?</a:t>
            </a:r>
          </a:p>
          <a:p>
            <a:pPr marL="514350" lvl="0" indent="-514350">
              <a:buAutoNum type="alphaLcPeriod"/>
            </a:pPr>
            <a:r>
              <a:rPr lang="en-US" dirty="0" smtClean="0"/>
              <a:t>It </a:t>
            </a:r>
            <a:r>
              <a:rPr lang="en-US" dirty="0"/>
              <a:t>increases steadily                    </a:t>
            </a:r>
          </a:p>
          <a:p>
            <a:pPr lvl="0">
              <a:buNone/>
            </a:pPr>
            <a:r>
              <a:rPr lang="en-US" dirty="0" smtClean="0">
                <a:solidFill>
                  <a:srgbClr val="FF0000"/>
                </a:solidFill>
              </a:rPr>
              <a:t>b.   It </a:t>
            </a:r>
            <a:r>
              <a:rPr lang="en-US" dirty="0">
                <a:solidFill>
                  <a:srgbClr val="FF0000"/>
                </a:solidFill>
              </a:rPr>
              <a:t>decreases steadily    </a:t>
            </a:r>
            <a:endParaRPr lang="en-US" dirty="0" smtClean="0">
              <a:solidFill>
                <a:srgbClr val="FF0000"/>
              </a:solidFill>
            </a:endParaRPr>
          </a:p>
          <a:p>
            <a:pPr lvl="0">
              <a:buNone/>
            </a:pPr>
            <a:r>
              <a:rPr lang="en-US" dirty="0" smtClean="0"/>
              <a:t>c.    It remains the same at all levels</a:t>
            </a:r>
          </a:p>
          <a:p>
            <a:pPr lvl="0">
              <a:buNone/>
            </a:pPr>
            <a:r>
              <a:rPr lang="en-US" dirty="0" smtClean="0"/>
              <a:t>d.    </a:t>
            </a:r>
            <a:r>
              <a:rPr lang="en-US" dirty="0"/>
              <a:t>I</a:t>
            </a:r>
            <a:r>
              <a:rPr lang="en-US" dirty="0" smtClean="0"/>
              <a:t>t </a:t>
            </a:r>
            <a:r>
              <a:rPr lang="en-US" dirty="0"/>
              <a:t>is created by decomposers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smtClean="0"/>
              <a:t>33.</a:t>
            </a:r>
            <a:r>
              <a:rPr lang="en-US" dirty="0"/>
              <a:t> In the given diagram, what does it illustrate?</a:t>
            </a:r>
          </a:p>
          <a:p>
            <a:pPr>
              <a:buNone/>
            </a:pPr>
            <a:r>
              <a:rPr lang="en-US" dirty="0"/>
              <a:t>                         Maya Bird                      Eagle                 </a:t>
            </a:r>
          </a:p>
          <a:p>
            <a:pPr>
              <a:buNone/>
            </a:pPr>
            <a:r>
              <a:rPr lang="en-US" dirty="0"/>
              <a:t> </a:t>
            </a:r>
          </a:p>
          <a:p>
            <a:pPr>
              <a:buNone/>
            </a:pPr>
            <a:r>
              <a:rPr lang="en-US" dirty="0" smtClean="0"/>
              <a:t/>
            </a:r>
            <a:br>
              <a:rPr lang="en-US" dirty="0" smtClean="0"/>
            </a:br>
            <a:r>
              <a:rPr lang="en-US" dirty="0"/>
              <a:t>Corn </a:t>
            </a:r>
            <a:r>
              <a:rPr lang="en-US" dirty="0" smtClean="0"/>
              <a:t>plant        </a:t>
            </a:r>
            <a:r>
              <a:rPr lang="en-US" dirty="0"/>
              <a:t>butterfly     </a:t>
            </a:r>
            <a:r>
              <a:rPr lang="en-US" dirty="0" smtClean="0"/>
              <a:t>      </a:t>
            </a:r>
            <a:r>
              <a:rPr lang="en-US" dirty="0"/>
              <a:t>Frog       </a:t>
            </a:r>
            <a:r>
              <a:rPr lang="en-US" dirty="0" smtClean="0"/>
              <a:t> Snake  Decomposer</a:t>
            </a:r>
            <a:endParaRPr lang="en-US" dirty="0"/>
          </a:p>
          <a:p>
            <a:pPr>
              <a:buNone/>
            </a:pPr>
            <a:r>
              <a:rPr lang="en-US" dirty="0"/>
              <a:t>               </a:t>
            </a:r>
          </a:p>
          <a:p>
            <a:pPr>
              <a:buNone/>
            </a:pPr>
            <a:r>
              <a:rPr lang="en-US" dirty="0"/>
              <a:t>                                  Rat          Hawk       </a:t>
            </a:r>
          </a:p>
          <a:p>
            <a:pPr>
              <a:buNone/>
            </a:pPr>
            <a:r>
              <a:rPr lang="en-US" dirty="0"/>
              <a:t> </a:t>
            </a:r>
          </a:p>
          <a:p>
            <a:pPr marL="514350" lvl="0" indent="-514350">
              <a:buAutoNum type="alphaLcPeriod"/>
            </a:pPr>
            <a:r>
              <a:rPr lang="en-US" dirty="0" smtClean="0"/>
              <a:t>a </a:t>
            </a:r>
            <a:r>
              <a:rPr lang="en-US" dirty="0"/>
              <a:t>food chain   </a:t>
            </a:r>
            <a:r>
              <a:rPr lang="en-US" dirty="0" smtClean="0"/>
              <a:t>                    </a:t>
            </a:r>
            <a:r>
              <a:rPr lang="en-US" dirty="0"/>
              <a:t>b. a food web     </a:t>
            </a:r>
            <a:endParaRPr lang="en-US" dirty="0" smtClean="0"/>
          </a:p>
          <a:p>
            <a:pPr marL="514350" lvl="0" indent="-514350">
              <a:buNone/>
            </a:pPr>
            <a:r>
              <a:rPr lang="en-US" dirty="0" smtClean="0"/>
              <a:t>c</a:t>
            </a:r>
            <a:r>
              <a:rPr lang="en-US" dirty="0"/>
              <a:t>.  </a:t>
            </a:r>
            <a:r>
              <a:rPr lang="en-US" dirty="0" smtClean="0"/>
              <a:t>   their </a:t>
            </a:r>
            <a:r>
              <a:rPr lang="en-US" dirty="0"/>
              <a:t>habitat      </a:t>
            </a:r>
            <a:r>
              <a:rPr lang="en-US" dirty="0" smtClean="0"/>
              <a:t>                </a:t>
            </a:r>
            <a:r>
              <a:rPr lang="en-US" dirty="0"/>
              <a:t>d. ecological pyramid  </a:t>
            </a:r>
          </a:p>
          <a:p>
            <a:pPr>
              <a:buNone/>
            </a:pPr>
            <a:r>
              <a:rPr lang="en-US" dirty="0" smtClean="0"/>
              <a:t> </a:t>
            </a:r>
            <a:endParaRPr lang="en-US" dirty="0"/>
          </a:p>
        </p:txBody>
      </p:sp>
      <p:cxnSp>
        <p:nvCxnSpPr>
          <p:cNvPr id="5" name="Straight Arrow Connector 4"/>
          <p:cNvCxnSpPr/>
          <p:nvPr/>
        </p:nvCxnSpPr>
        <p:spPr>
          <a:xfrm flipV="1">
            <a:off x="1371600" y="23622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886200" y="21336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581400" y="2362200"/>
            <a:ext cx="19050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019800" y="2209800"/>
            <a:ext cx="1066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286000" y="3276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752600" y="3352800"/>
            <a:ext cx="1066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3505200" y="2438400"/>
            <a:ext cx="17526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3581400" y="39624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038600" y="3200400"/>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486400" y="32004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6629400" y="32004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4876800" y="3429000"/>
            <a:ext cx="23622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10800000" flipV="1">
            <a:off x="5105400" y="34290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smtClean="0"/>
              <a:t>33.</a:t>
            </a:r>
            <a:r>
              <a:rPr lang="en-US" dirty="0"/>
              <a:t> In the given diagram, what does it illustrate?</a:t>
            </a:r>
          </a:p>
          <a:p>
            <a:pPr>
              <a:buNone/>
            </a:pPr>
            <a:r>
              <a:rPr lang="en-US" dirty="0"/>
              <a:t>                         Maya Bird                      Eagle                 </a:t>
            </a:r>
          </a:p>
          <a:p>
            <a:pPr>
              <a:buNone/>
            </a:pPr>
            <a:r>
              <a:rPr lang="en-US" dirty="0"/>
              <a:t> </a:t>
            </a:r>
          </a:p>
          <a:p>
            <a:pPr>
              <a:buNone/>
            </a:pPr>
            <a:r>
              <a:rPr lang="en-US" dirty="0" smtClean="0"/>
              <a:t/>
            </a:r>
            <a:br>
              <a:rPr lang="en-US" dirty="0" smtClean="0"/>
            </a:br>
            <a:r>
              <a:rPr lang="en-US" dirty="0"/>
              <a:t>Corn </a:t>
            </a:r>
            <a:r>
              <a:rPr lang="en-US" dirty="0" smtClean="0"/>
              <a:t>plant        </a:t>
            </a:r>
            <a:r>
              <a:rPr lang="en-US" dirty="0"/>
              <a:t>butterfly     </a:t>
            </a:r>
            <a:r>
              <a:rPr lang="en-US" dirty="0" smtClean="0"/>
              <a:t>      </a:t>
            </a:r>
            <a:r>
              <a:rPr lang="en-US" dirty="0"/>
              <a:t>Frog       </a:t>
            </a:r>
            <a:r>
              <a:rPr lang="en-US" dirty="0" smtClean="0"/>
              <a:t> Snake  Decomposer</a:t>
            </a:r>
            <a:endParaRPr lang="en-US" dirty="0"/>
          </a:p>
          <a:p>
            <a:pPr>
              <a:buNone/>
            </a:pPr>
            <a:r>
              <a:rPr lang="en-US" dirty="0"/>
              <a:t>               </a:t>
            </a:r>
          </a:p>
          <a:p>
            <a:pPr>
              <a:buNone/>
            </a:pPr>
            <a:r>
              <a:rPr lang="en-US" dirty="0"/>
              <a:t>                                  Rat          Hawk       </a:t>
            </a:r>
          </a:p>
          <a:p>
            <a:pPr>
              <a:buNone/>
            </a:pPr>
            <a:r>
              <a:rPr lang="en-US" dirty="0"/>
              <a:t> </a:t>
            </a:r>
          </a:p>
          <a:p>
            <a:pPr marL="514350" lvl="0" indent="-514350">
              <a:buAutoNum type="alphaLcPeriod"/>
            </a:pPr>
            <a:r>
              <a:rPr lang="en-US" dirty="0" smtClean="0"/>
              <a:t>a </a:t>
            </a:r>
            <a:r>
              <a:rPr lang="en-US" dirty="0"/>
              <a:t>food chain   </a:t>
            </a:r>
            <a:r>
              <a:rPr lang="en-US" dirty="0" smtClean="0"/>
              <a:t>                    </a:t>
            </a:r>
            <a:r>
              <a:rPr lang="en-US" dirty="0">
                <a:solidFill>
                  <a:srgbClr val="FF0000"/>
                </a:solidFill>
              </a:rPr>
              <a:t>b. a food web     </a:t>
            </a:r>
            <a:endParaRPr lang="en-US" dirty="0" smtClean="0">
              <a:solidFill>
                <a:srgbClr val="FF0000"/>
              </a:solidFill>
            </a:endParaRPr>
          </a:p>
          <a:p>
            <a:pPr marL="514350" lvl="0" indent="-514350">
              <a:buNone/>
            </a:pPr>
            <a:r>
              <a:rPr lang="en-US" dirty="0" smtClean="0"/>
              <a:t>c</a:t>
            </a:r>
            <a:r>
              <a:rPr lang="en-US" dirty="0"/>
              <a:t>.  </a:t>
            </a:r>
            <a:r>
              <a:rPr lang="en-US" dirty="0" smtClean="0"/>
              <a:t>   their </a:t>
            </a:r>
            <a:r>
              <a:rPr lang="en-US" dirty="0"/>
              <a:t>habitat      </a:t>
            </a:r>
            <a:r>
              <a:rPr lang="en-US" dirty="0" smtClean="0"/>
              <a:t>                </a:t>
            </a:r>
            <a:r>
              <a:rPr lang="en-US" dirty="0"/>
              <a:t>d. ecological pyramid  </a:t>
            </a:r>
          </a:p>
          <a:p>
            <a:pPr>
              <a:buNone/>
            </a:pPr>
            <a:r>
              <a:rPr lang="en-US" dirty="0" smtClean="0"/>
              <a:t> </a:t>
            </a:r>
            <a:endParaRPr lang="en-US" dirty="0"/>
          </a:p>
        </p:txBody>
      </p:sp>
      <p:cxnSp>
        <p:nvCxnSpPr>
          <p:cNvPr id="5" name="Straight Arrow Connector 4"/>
          <p:cNvCxnSpPr/>
          <p:nvPr/>
        </p:nvCxnSpPr>
        <p:spPr>
          <a:xfrm flipV="1">
            <a:off x="1371600" y="23622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886200" y="21336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581400" y="2362200"/>
            <a:ext cx="19050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019800" y="2209800"/>
            <a:ext cx="1066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286000" y="3276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752600" y="3352800"/>
            <a:ext cx="1066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3505200" y="2438400"/>
            <a:ext cx="17526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3581400" y="39624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038600" y="3200400"/>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486400" y="32004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6629400" y="32004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4876800" y="3429000"/>
            <a:ext cx="23622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10800000" flipV="1">
            <a:off x="5105400" y="34290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34. </a:t>
            </a:r>
            <a:r>
              <a:rPr lang="en-US" dirty="0"/>
              <a:t>In the illustration above, which one is true?</a:t>
            </a:r>
          </a:p>
          <a:p>
            <a:pPr lvl="0">
              <a:buNone/>
            </a:pPr>
            <a:r>
              <a:rPr lang="en-US" dirty="0" smtClean="0"/>
              <a:t>a. The </a:t>
            </a:r>
            <a:r>
              <a:rPr lang="en-US" dirty="0"/>
              <a:t>snake is a second order and third order consumer</a:t>
            </a:r>
          </a:p>
          <a:p>
            <a:pPr lvl="0">
              <a:buNone/>
            </a:pPr>
            <a:r>
              <a:rPr lang="en-US" dirty="0" smtClean="0"/>
              <a:t>b. Maya </a:t>
            </a:r>
            <a:r>
              <a:rPr lang="en-US" dirty="0"/>
              <a:t>bird eats the snake</a:t>
            </a:r>
          </a:p>
          <a:p>
            <a:pPr lvl="0">
              <a:buNone/>
            </a:pPr>
            <a:r>
              <a:rPr lang="en-US" dirty="0" smtClean="0"/>
              <a:t>c. The </a:t>
            </a:r>
            <a:r>
              <a:rPr lang="en-US" dirty="0"/>
              <a:t>frog is the third order consumer</a:t>
            </a:r>
          </a:p>
          <a:p>
            <a:pPr lvl="0">
              <a:buNone/>
            </a:pPr>
            <a:r>
              <a:rPr lang="en-US" dirty="0" smtClean="0"/>
              <a:t>d. The </a:t>
            </a:r>
            <a:r>
              <a:rPr lang="en-US" dirty="0"/>
              <a:t>hawk is eaten by the frog and rat</a:t>
            </a:r>
          </a:p>
          <a:p>
            <a:pPr>
              <a:buNone/>
            </a:pP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34. </a:t>
            </a:r>
            <a:r>
              <a:rPr lang="en-US" dirty="0"/>
              <a:t>In the illustration above, which one is true?</a:t>
            </a:r>
          </a:p>
          <a:p>
            <a:pPr lvl="0">
              <a:buNone/>
            </a:pPr>
            <a:r>
              <a:rPr lang="en-US" dirty="0" smtClean="0">
                <a:solidFill>
                  <a:srgbClr val="FF0000"/>
                </a:solidFill>
              </a:rPr>
              <a:t>a. The </a:t>
            </a:r>
            <a:r>
              <a:rPr lang="en-US" dirty="0">
                <a:solidFill>
                  <a:srgbClr val="FF0000"/>
                </a:solidFill>
              </a:rPr>
              <a:t>snake is a second order and third order consumer</a:t>
            </a:r>
          </a:p>
          <a:p>
            <a:pPr lvl="0">
              <a:buNone/>
            </a:pPr>
            <a:r>
              <a:rPr lang="en-US" dirty="0" smtClean="0"/>
              <a:t>b. Maya </a:t>
            </a:r>
            <a:r>
              <a:rPr lang="en-US" dirty="0"/>
              <a:t>bird eats the snake</a:t>
            </a:r>
          </a:p>
          <a:p>
            <a:pPr lvl="0">
              <a:buNone/>
            </a:pPr>
            <a:r>
              <a:rPr lang="en-US" dirty="0" smtClean="0"/>
              <a:t>c. The </a:t>
            </a:r>
            <a:r>
              <a:rPr lang="en-US" dirty="0"/>
              <a:t>frog is the third order consumer</a:t>
            </a:r>
          </a:p>
          <a:p>
            <a:pPr lvl="0">
              <a:buNone/>
            </a:pPr>
            <a:r>
              <a:rPr lang="en-US" dirty="0" smtClean="0"/>
              <a:t>d. The </a:t>
            </a:r>
            <a:r>
              <a:rPr lang="en-US" dirty="0"/>
              <a:t>hawk is eaten by the frog and rat</a:t>
            </a:r>
          </a:p>
          <a:p>
            <a:pPr>
              <a:buNone/>
            </a:pP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35.</a:t>
            </a:r>
            <a:r>
              <a:rPr lang="en-US" dirty="0"/>
              <a:t> Which of the following is the correct sequence of biological organization from lowest to highest?</a:t>
            </a:r>
          </a:p>
          <a:p>
            <a:pPr lvl="0">
              <a:buNone/>
            </a:pPr>
            <a:r>
              <a:rPr lang="en-US" dirty="0" smtClean="0"/>
              <a:t>a. Cell </a:t>
            </a:r>
            <a:r>
              <a:rPr lang="en-US" dirty="0"/>
              <a:t>– organ – community – population- ecosystem</a:t>
            </a:r>
          </a:p>
          <a:p>
            <a:pPr lvl="0">
              <a:buNone/>
            </a:pPr>
            <a:r>
              <a:rPr lang="en-US" dirty="0" smtClean="0"/>
              <a:t>b. Molecules- </a:t>
            </a:r>
            <a:r>
              <a:rPr lang="en-US" dirty="0"/>
              <a:t>cell- organ – population- community</a:t>
            </a:r>
          </a:p>
          <a:p>
            <a:pPr lvl="0">
              <a:buNone/>
            </a:pPr>
            <a:r>
              <a:rPr lang="en-US" dirty="0" smtClean="0"/>
              <a:t>c. Molecules- </a:t>
            </a:r>
            <a:r>
              <a:rPr lang="en-US" dirty="0"/>
              <a:t>organ – ecosystem – community- biosphere</a:t>
            </a:r>
          </a:p>
          <a:p>
            <a:pPr lvl="0">
              <a:buNone/>
            </a:pPr>
            <a:r>
              <a:rPr lang="en-US" dirty="0" smtClean="0"/>
              <a:t>d. Cell- </a:t>
            </a:r>
            <a:r>
              <a:rPr lang="en-US" dirty="0"/>
              <a:t>organ – system – community – biosphere – ecosystem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35.</a:t>
            </a:r>
            <a:r>
              <a:rPr lang="en-US" dirty="0"/>
              <a:t> Which of the following is the correct sequence of biological organization from lowest to highest?</a:t>
            </a:r>
          </a:p>
          <a:p>
            <a:pPr lvl="0">
              <a:buNone/>
            </a:pPr>
            <a:r>
              <a:rPr lang="en-US" dirty="0" smtClean="0"/>
              <a:t>a. Cell </a:t>
            </a:r>
            <a:r>
              <a:rPr lang="en-US" dirty="0"/>
              <a:t>– organ – community – population- ecosystem</a:t>
            </a:r>
          </a:p>
          <a:p>
            <a:pPr lvl="0">
              <a:buNone/>
            </a:pPr>
            <a:r>
              <a:rPr lang="en-US" dirty="0" smtClean="0">
                <a:solidFill>
                  <a:srgbClr val="FF0000"/>
                </a:solidFill>
              </a:rPr>
              <a:t>b. Molecules- </a:t>
            </a:r>
            <a:r>
              <a:rPr lang="en-US" dirty="0">
                <a:solidFill>
                  <a:srgbClr val="FF0000"/>
                </a:solidFill>
              </a:rPr>
              <a:t>cell- organ – population- community</a:t>
            </a:r>
          </a:p>
          <a:p>
            <a:pPr lvl="0">
              <a:buNone/>
            </a:pPr>
            <a:r>
              <a:rPr lang="en-US" dirty="0" smtClean="0"/>
              <a:t>c. Molecules- </a:t>
            </a:r>
            <a:r>
              <a:rPr lang="en-US" dirty="0"/>
              <a:t>organ – ecosystem – community- biosphere</a:t>
            </a:r>
          </a:p>
          <a:p>
            <a:pPr lvl="0">
              <a:buNone/>
            </a:pPr>
            <a:r>
              <a:rPr lang="en-US" dirty="0" smtClean="0"/>
              <a:t>d. Cell- </a:t>
            </a:r>
            <a:r>
              <a:rPr lang="en-US" dirty="0"/>
              <a:t>organ – system – community – biosphere – ecosystem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36.</a:t>
            </a:r>
            <a:r>
              <a:rPr lang="en-US" dirty="0"/>
              <a:t> In  a certain plant, flower may either be red (R) or white  (r) , and stem texture may either be smooth (S) or rough (s).  A  plant with white flowers and rough stem when crossed with plants with red flowers and smooth stem, produced offspring with all red flowers and smooth stem. Which best represents the genotype of the offspring?</a:t>
            </a:r>
          </a:p>
          <a:p>
            <a:pPr lvl="0">
              <a:buNone/>
            </a:pPr>
            <a:r>
              <a:rPr lang="en-US" dirty="0" smtClean="0"/>
              <a:t>a. RRSs                </a:t>
            </a:r>
            <a:r>
              <a:rPr lang="en-US" dirty="0"/>
              <a:t>b.  </a:t>
            </a:r>
            <a:r>
              <a:rPr lang="en-US" dirty="0" err="1"/>
              <a:t>RrSS</a:t>
            </a:r>
            <a:r>
              <a:rPr lang="en-US" dirty="0"/>
              <a:t>              c. </a:t>
            </a:r>
            <a:r>
              <a:rPr lang="en-US" dirty="0" err="1"/>
              <a:t>RrSs</a:t>
            </a:r>
            <a:r>
              <a:rPr lang="en-US" dirty="0"/>
              <a:t>            d. </a:t>
            </a:r>
            <a:r>
              <a:rPr lang="en-US" dirty="0" err="1"/>
              <a:t>rrSs</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36.</a:t>
            </a:r>
            <a:r>
              <a:rPr lang="en-US" dirty="0"/>
              <a:t> In  a certain plant, flower may either be red (R) or white  (r) , and stem texture may either be smooth (S) or rough (s).  A  plant with white flowers and rough stem when crossed with plants with red flowers and smooth stem, produced offspring with all red flowers and smooth stem. Which best represents the genotype of the offspring?</a:t>
            </a:r>
          </a:p>
          <a:p>
            <a:pPr lvl="0">
              <a:buNone/>
            </a:pPr>
            <a:r>
              <a:rPr lang="en-US" dirty="0" smtClean="0"/>
              <a:t>a. RRSs                </a:t>
            </a:r>
            <a:r>
              <a:rPr lang="en-US" dirty="0"/>
              <a:t>b.  </a:t>
            </a:r>
            <a:r>
              <a:rPr lang="en-US" dirty="0" err="1"/>
              <a:t>RrSS</a:t>
            </a:r>
            <a:r>
              <a:rPr lang="en-US" dirty="0"/>
              <a:t>              </a:t>
            </a:r>
            <a:r>
              <a:rPr lang="en-US" dirty="0">
                <a:solidFill>
                  <a:srgbClr val="FF0000"/>
                </a:solidFill>
              </a:rPr>
              <a:t>c. </a:t>
            </a:r>
            <a:r>
              <a:rPr lang="en-US" dirty="0" err="1">
                <a:solidFill>
                  <a:srgbClr val="FF0000"/>
                </a:solidFill>
              </a:rPr>
              <a:t>RrSs</a:t>
            </a:r>
            <a:r>
              <a:rPr lang="en-US" dirty="0">
                <a:solidFill>
                  <a:srgbClr val="FF0000"/>
                </a:solidFill>
              </a:rPr>
              <a:t>            </a:t>
            </a:r>
            <a:r>
              <a:rPr lang="en-US" dirty="0"/>
              <a:t>d. </a:t>
            </a:r>
            <a:r>
              <a:rPr lang="en-US" dirty="0" err="1"/>
              <a:t>rrSs</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37.</a:t>
            </a:r>
            <a:r>
              <a:rPr lang="en-US" dirty="0"/>
              <a:t> If you are given a plant which is a product of a genetic experiment , which of the following you are most likely accurate of describing?</a:t>
            </a:r>
          </a:p>
          <a:p>
            <a:pPr marL="514350" lvl="0" indent="-514350">
              <a:buAutoNum type="alphaLcPeriod"/>
            </a:pPr>
            <a:r>
              <a:rPr lang="en-US" dirty="0" smtClean="0"/>
              <a:t>It’s  </a:t>
            </a:r>
            <a:r>
              <a:rPr lang="en-US" dirty="0"/>
              <a:t>genotype   </a:t>
            </a:r>
            <a:r>
              <a:rPr lang="en-US" dirty="0" smtClean="0"/>
              <a:t>            b</a:t>
            </a:r>
            <a:r>
              <a:rPr lang="en-US" dirty="0"/>
              <a:t>. it’s phenotype    </a:t>
            </a:r>
            <a:endParaRPr lang="en-US" dirty="0" smtClean="0"/>
          </a:p>
          <a:p>
            <a:pPr marL="514350" lvl="0" indent="-514350">
              <a:buNone/>
            </a:pPr>
            <a:r>
              <a:rPr lang="en-US" dirty="0" smtClean="0"/>
              <a:t>c</a:t>
            </a:r>
            <a:r>
              <a:rPr lang="en-US" dirty="0"/>
              <a:t>. </a:t>
            </a:r>
            <a:r>
              <a:rPr lang="en-US" dirty="0" smtClean="0"/>
              <a:t>  it’s </a:t>
            </a:r>
            <a:r>
              <a:rPr lang="en-US" dirty="0"/>
              <a:t>recessive genes    d. it’s dominant genes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37.</a:t>
            </a:r>
            <a:r>
              <a:rPr lang="en-US" dirty="0"/>
              <a:t> If you are given a plant which is a product of a genetic experiment , which of the following you are most likely accurate of describing?</a:t>
            </a:r>
          </a:p>
          <a:p>
            <a:pPr marL="514350" lvl="0" indent="-514350">
              <a:buAutoNum type="alphaLcPeriod"/>
            </a:pPr>
            <a:r>
              <a:rPr lang="en-US" dirty="0" smtClean="0"/>
              <a:t>It’s  </a:t>
            </a:r>
            <a:r>
              <a:rPr lang="en-US" dirty="0"/>
              <a:t>genotype   </a:t>
            </a:r>
            <a:r>
              <a:rPr lang="en-US" dirty="0" smtClean="0"/>
              <a:t>            </a:t>
            </a:r>
            <a:r>
              <a:rPr lang="en-US" dirty="0" smtClean="0">
                <a:solidFill>
                  <a:srgbClr val="FF0000"/>
                </a:solidFill>
              </a:rPr>
              <a:t>b</a:t>
            </a:r>
            <a:r>
              <a:rPr lang="en-US" dirty="0">
                <a:solidFill>
                  <a:srgbClr val="FF0000"/>
                </a:solidFill>
              </a:rPr>
              <a:t>. it’s phenotype    </a:t>
            </a:r>
            <a:endParaRPr lang="en-US" dirty="0" smtClean="0">
              <a:solidFill>
                <a:srgbClr val="FF0000"/>
              </a:solidFill>
            </a:endParaRPr>
          </a:p>
          <a:p>
            <a:pPr marL="514350" lvl="0" indent="-514350">
              <a:buNone/>
            </a:pPr>
            <a:r>
              <a:rPr lang="en-US" dirty="0" smtClean="0"/>
              <a:t>c</a:t>
            </a:r>
            <a:r>
              <a:rPr lang="en-US" dirty="0"/>
              <a:t>. </a:t>
            </a:r>
            <a:r>
              <a:rPr lang="en-US" dirty="0" smtClean="0"/>
              <a:t>  it’s </a:t>
            </a:r>
            <a:r>
              <a:rPr lang="en-US" dirty="0"/>
              <a:t>recessive genes    d. it’s dominant genes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38.</a:t>
            </a:r>
            <a:r>
              <a:rPr lang="en-US" dirty="0"/>
              <a:t> In a pea plant, inflated pod (I) is dominant over constricted pod (</a:t>
            </a:r>
            <a:r>
              <a:rPr lang="en-US" dirty="0" err="1"/>
              <a:t>i</a:t>
            </a:r>
            <a:r>
              <a:rPr lang="en-US" dirty="0"/>
              <a:t>). In a cross  between a heterozygous plant with inflated pod and a plant with constricted pod, what would be the phenotype of the offspring?</a:t>
            </a:r>
          </a:p>
          <a:p>
            <a:pPr marL="514350" lvl="0" indent="-514350">
              <a:buAutoNum type="alphaLcPeriod"/>
            </a:pPr>
            <a:r>
              <a:rPr lang="en-US" dirty="0" smtClean="0"/>
              <a:t>All </a:t>
            </a:r>
            <a:r>
              <a:rPr lang="en-US" dirty="0"/>
              <a:t>with inflated </a:t>
            </a:r>
            <a:r>
              <a:rPr lang="en-US" dirty="0" smtClean="0"/>
              <a:t>pod</a:t>
            </a:r>
          </a:p>
          <a:p>
            <a:pPr marL="514350" lvl="0" indent="-514350">
              <a:buAutoNum type="alphaLcPeriod" startAt="2"/>
            </a:pPr>
            <a:r>
              <a:rPr lang="en-US" dirty="0" smtClean="0"/>
              <a:t>All with constricted pod                 </a:t>
            </a:r>
          </a:p>
          <a:p>
            <a:pPr marL="514350" lvl="0" indent="-514350">
              <a:buNone/>
            </a:pPr>
            <a:r>
              <a:rPr lang="en-US" dirty="0" smtClean="0"/>
              <a:t>c</a:t>
            </a:r>
            <a:r>
              <a:rPr lang="en-US" dirty="0"/>
              <a:t>. 50 % with inflated pod and 50% with constricted pod</a:t>
            </a:r>
          </a:p>
          <a:p>
            <a:pPr lvl="0">
              <a:buNone/>
            </a:pPr>
            <a:r>
              <a:rPr lang="en-US" dirty="0" smtClean="0"/>
              <a:t>d</a:t>
            </a:r>
            <a:r>
              <a:rPr lang="en-US" dirty="0"/>
              <a:t>. 25 % with inflated pod and 75% with constricted pod</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38.</a:t>
            </a:r>
            <a:r>
              <a:rPr lang="en-US" dirty="0"/>
              <a:t> In a pea plant, inflated pod (I) is dominant over constricted pod (</a:t>
            </a:r>
            <a:r>
              <a:rPr lang="en-US" dirty="0" err="1"/>
              <a:t>i</a:t>
            </a:r>
            <a:r>
              <a:rPr lang="en-US" dirty="0"/>
              <a:t>). In a cross  between a heterozygous plant with inflated pod and a plant with constricted pod, what would be the phenotype of the offspring?</a:t>
            </a:r>
          </a:p>
          <a:p>
            <a:pPr marL="514350" lvl="0" indent="-514350">
              <a:buAutoNum type="alphaLcPeriod"/>
            </a:pPr>
            <a:r>
              <a:rPr lang="en-US" dirty="0" smtClean="0"/>
              <a:t>All </a:t>
            </a:r>
            <a:r>
              <a:rPr lang="en-US" dirty="0"/>
              <a:t>with inflated </a:t>
            </a:r>
            <a:r>
              <a:rPr lang="en-US" dirty="0" smtClean="0"/>
              <a:t>pod</a:t>
            </a:r>
          </a:p>
          <a:p>
            <a:pPr marL="514350" lvl="0" indent="-514350">
              <a:buAutoNum type="alphaLcPeriod" startAt="2"/>
            </a:pPr>
            <a:r>
              <a:rPr lang="en-US" dirty="0" smtClean="0"/>
              <a:t>All with constricted pod                 </a:t>
            </a:r>
          </a:p>
          <a:p>
            <a:pPr marL="514350" lvl="0" indent="-514350">
              <a:buNone/>
            </a:pPr>
            <a:r>
              <a:rPr lang="en-US" dirty="0" smtClean="0">
                <a:solidFill>
                  <a:srgbClr val="FF0000"/>
                </a:solidFill>
              </a:rPr>
              <a:t>c</a:t>
            </a:r>
            <a:r>
              <a:rPr lang="en-US" dirty="0">
                <a:solidFill>
                  <a:srgbClr val="FF0000"/>
                </a:solidFill>
              </a:rPr>
              <a:t>. 50 % with inflated pod and 50% with constricted pod</a:t>
            </a:r>
          </a:p>
          <a:p>
            <a:pPr lvl="0">
              <a:buNone/>
            </a:pPr>
            <a:r>
              <a:rPr lang="en-US" dirty="0" smtClean="0"/>
              <a:t>d</a:t>
            </a:r>
            <a:r>
              <a:rPr lang="en-US" dirty="0"/>
              <a:t>. 25 % with inflated pod and 75% with constricted pod</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buNone/>
            </a:pPr>
            <a:r>
              <a:rPr lang="en-US" dirty="0" smtClean="0"/>
              <a:t>39.</a:t>
            </a:r>
            <a:r>
              <a:rPr lang="en-US" dirty="0"/>
              <a:t> Brian planted a seed upside down such that the root end is facing up while the shoot end is facing down, but after germination, the root grows downward and the shoot grows upward. Which of the following is described above?</a:t>
            </a:r>
          </a:p>
          <a:p>
            <a:pPr marL="514350" lvl="0" indent="-514350">
              <a:buAutoNum type="alphaLcPeriod"/>
            </a:pPr>
            <a:r>
              <a:rPr lang="en-US" dirty="0" err="1" smtClean="0"/>
              <a:t>Thigmotropism</a:t>
            </a:r>
            <a:r>
              <a:rPr lang="en-US" dirty="0" smtClean="0"/>
              <a:t>       </a:t>
            </a:r>
            <a:r>
              <a:rPr lang="en-US" dirty="0"/>
              <a:t>b. geotropism        </a:t>
            </a:r>
            <a:endParaRPr lang="en-US" dirty="0" smtClean="0"/>
          </a:p>
          <a:p>
            <a:pPr marL="514350" lvl="0" indent="-514350">
              <a:buNone/>
            </a:pPr>
            <a:r>
              <a:rPr lang="en-US" dirty="0" smtClean="0"/>
              <a:t>c</a:t>
            </a:r>
            <a:r>
              <a:rPr lang="en-US" dirty="0"/>
              <a:t>.    phototropism      </a:t>
            </a:r>
            <a:r>
              <a:rPr lang="en-US" dirty="0" smtClean="0"/>
              <a:t>  d</a:t>
            </a:r>
            <a:r>
              <a:rPr lang="en-US" dirty="0"/>
              <a:t>. both b &amp; c</a:t>
            </a:r>
          </a:p>
          <a:p>
            <a:pPr>
              <a:buNone/>
            </a:pPr>
            <a:r>
              <a:rPr lang="en-US" dirty="0" smtClean="0">
                <a:solidFill>
                  <a:srgbClr val="FF0000"/>
                </a:solidFill>
              </a:rPr>
              <a:t>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buNone/>
            </a:pPr>
            <a:r>
              <a:rPr lang="en-US" dirty="0" smtClean="0"/>
              <a:t>39.</a:t>
            </a:r>
            <a:r>
              <a:rPr lang="en-US" dirty="0"/>
              <a:t> Brian planted a seed upside down such that the root end is facing up while the shoot end is facing down, but after germination, the root grows downward and the shoot grows upward. Which of the following is described above?</a:t>
            </a:r>
          </a:p>
          <a:p>
            <a:pPr marL="514350" lvl="0" indent="-514350">
              <a:buAutoNum type="alphaLcPeriod"/>
            </a:pPr>
            <a:r>
              <a:rPr lang="en-US" dirty="0" err="1" smtClean="0"/>
              <a:t>Thigmotropism</a:t>
            </a:r>
            <a:r>
              <a:rPr lang="en-US" dirty="0" smtClean="0"/>
              <a:t>       </a:t>
            </a:r>
            <a:r>
              <a:rPr lang="en-US" dirty="0"/>
              <a:t>b. geotropism        </a:t>
            </a:r>
            <a:endParaRPr lang="en-US" dirty="0" smtClean="0"/>
          </a:p>
          <a:p>
            <a:pPr marL="514350" lvl="0" indent="-514350">
              <a:buNone/>
            </a:pPr>
            <a:r>
              <a:rPr lang="en-US" dirty="0" smtClean="0"/>
              <a:t>c</a:t>
            </a:r>
            <a:r>
              <a:rPr lang="en-US" dirty="0"/>
              <a:t>.    phototropism      </a:t>
            </a:r>
            <a:r>
              <a:rPr lang="en-US" dirty="0" smtClean="0"/>
              <a:t>  </a:t>
            </a:r>
            <a:r>
              <a:rPr lang="en-US" dirty="0" smtClean="0">
                <a:solidFill>
                  <a:srgbClr val="FF0000"/>
                </a:solidFill>
              </a:rPr>
              <a:t>d</a:t>
            </a:r>
            <a:r>
              <a:rPr lang="en-US" dirty="0">
                <a:solidFill>
                  <a:srgbClr val="FF0000"/>
                </a:solidFill>
              </a:rPr>
              <a:t>. both b &amp; c</a:t>
            </a:r>
          </a:p>
          <a:p>
            <a:pPr>
              <a:buNone/>
            </a:pPr>
            <a:r>
              <a:rPr lang="en-US" dirty="0" smtClean="0">
                <a:solidFill>
                  <a:srgbClr val="FF0000"/>
                </a:solidFill>
              </a:rPr>
              <a:t>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40.</a:t>
            </a:r>
            <a:r>
              <a:rPr lang="en-US" dirty="0"/>
              <a:t> Ichthyology : fishes  ; </a:t>
            </a:r>
            <a:r>
              <a:rPr lang="en-US" dirty="0" smtClean="0"/>
              <a:t>Ornithology :______</a:t>
            </a:r>
            <a:endParaRPr lang="en-US" dirty="0"/>
          </a:p>
          <a:p>
            <a:pPr marL="514350" lvl="0" indent="-514350">
              <a:buAutoNum type="alphaLcPeriod"/>
            </a:pPr>
            <a:r>
              <a:rPr lang="en-US" dirty="0" smtClean="0"/>
              <a:t>insects                               </a:t>
            </a:r>
            <a:r>
              <a:rPr lang="en-US" dirty="0"/>
              <a:t>b. birds       </a:t>
            </a:r>
            <a:endParaRPr lang="en-US" dirty="0" smtClean="0"/>
          </a:p>
          <a:p>
            <a:pPr marL="514350" lvl="0" indent="-514350">
              <a:buNone/>
            </a:pPr>
            <a:r>
              <a:rPr lang="en-US" dirty="0" smtClean="0"/>
              <a:t>c</a:t>
            </a:r>
            <a:r>
              <a:rPr lang="en-US" dirty="0"/>
              <a:t>.  algae  </a:t>
            </a:r>
            <a:r>
              <a:rPr lang="en-US" dirty="0" smtClean="0"/>
              <a:t>                                </a:t>
            </a:r>
            <a:r>
              <a:rPr lang="en-US" dirty="0"/>
              <a:t>d.  fungi</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40.</a:t>
            </a:r>
            <a:r>
              <a:rPr lang="en-US" dirty="0"/>
              <a:t> Ichthyology : fishes  ; </a:t>
            </a:r>
            <a:r>
              <a:rPr lang="en-US" dirty="0" smtClean="0"/>
              <a:t>Ornithology :______</a:t>
            </a:r>
            <a:endParaRPr lang="en-US" dirty="0"/>
          </a:p>
          <a:p>
            <a:pPr marL="514350" lvl="0" indent="-514350">
              <a:buAutoNum type="alphaLcPeriod"/>
            </a:pPr>
            <a:r>
              <a:rPr lang="en-US" dirty="0" smtClean="0"/>
              <a:t>insects                               </a:t>
            </a:r>
            <a:r>
              <a:rPr lang="en-US" dirty="0">
                <a:solidFill>
                  <a:srgbClr val="FF0000"/>
                </a:solidFill>
              </a:rPr>
              <a:t>b. birds       </a:t>
            </a:r>
            <a:endParaRPr lang="en-US" dirty="0" smtClean="0">
              <a:solidFill>
                <a:srgbClr val="FF0000"/>
              </a:solidFill>
            </a:endParaRPr>
          </a:p>
          <a:p>
            <a:pPr marL="514350" lvl="0" indent="-514350">
              <a:buNone/>
            </a:pPr>
            <a:r>
              <a:rPr lang="en-US" dirty="0" smtClean="0"/>
              <a:t>c</a:t>
            </a:r>
            <a:r>
              <a:rPr lang="en-US" dirty="0"/>
              <a:t>.  algae  </a:t>
            </a:r>
            <a:r>
              <a:rPr lang="en-US" dirty="0" smtClean="0"/>
              <a:t>                                </a:t>
            </a:r>
            <a:r>
              <a:rPr lang="en-US" dirty="0"/>
              <a:t>d.  fungi</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41. </a:t>
            </a:r>
            <a:r>
              <a:rPr lang="en-US" dirty="0"/>
              <a:t>which of the following is mismatched?</a:t>
            </a:r>
          </a:p>
          <a:p>
            <a:pPr marL="514350" lvl="0" indent="-514350">
              <a:buAutoNum type="alphaLcPeriod"/>
            </a:pPr>
            <a:r>
              <a:rPr lang="en-US" dirty="0" smtClean="0"/>
              <a:t>Genetics </a:t>
            </a:r>
            <a:r>
              <a:rPr lang="en-US" dirty="0"/>
              <a:t>: Heredity and variation    </a:t>
            </a:r>
            <a:endParaRPr lang="en-US" dirty="0" smtClean="0"/>
          </a:p>
          <a:p>
            <a:pPr marL="514350" lvl="0" indent="-514350">
              <a:buAutoNum type="alphaLcPeriod"/>
            </a:pPr>
            <a:r>
              <a:rPr lang="en-US" dirty="0" smtClean="0"/>
              <a:t>Physiology : Life functions     </a:t>
            </a:r>
          </a:p>
          <a:p>
            <a:pPr marL="514350" lvl="0" indent="-514350">
              <a:buNone/>
            </a:pPr>
            <a:r>
              <a:rPr lang="en-US" dirty="0" smtClean="0"/>
              <a:t>c.   </a:t>
            </a:r>
            <a:r>
              <a:rPr lang="en-US" dirty="0"/>
              <a:t>Evolution : Change through </a:t>
            </a:r>
            <a:r>
              <a:rPr lang="en-US" dirty="0" smtClean="0"/>
              <a:t>time                   </a:t>
            </a:r>
          </a:p>
          <a:p>
            <a:pPr marL="514350" lvl="0" indent="-514350">
              <a:buNone/>
            </a:pPr>
            <a:r>
              <a:rPr lang="en-US" dirty="0" smtClean="0"/>
              <a:t>d.  </a:t>
            </a:r>
            <a:r>
              <a:rPr lang="en-US" dirty="0"/>
              <a:t>Morphology :    Cells and Tissues</a:t>
            </a:r>
          </a:p>
          <a:p>
            <a:pPr>
              <a:buNone/>
            </a:pPr>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41. </a:t>
            </a:r>
            <a:r>
              <a:rPr lang="en-US" dirty="0"/>
              <a:t>which of the following is mismatched?</a:t>
            </a:r>
          </a:p>
          <a:p>
            <a:pPr marL="514350" lvl="0" indent="-514350">
              <a:buAutoNum type="alphaLcPeriod"/>
            </a:pPr>
            <a:r>
              <a:rPr lang="en-US" dirty="0" smtClean="0"/>
              <a:t>Genetics </a:t>
            </a:r>
            <a:r>
              <a:rPr lang="en-US" dirty="0"/>
              <a:t>: Heredity and variation    </a:t>
            </a:r>
            <a:endParaRPr lang="en-US" dirty="0" smtClean="0"/>
          </a:p>
          <a:p>
            <a:pPr marL="514350" lvl="0" indent="-514350">
              <a:buAutoNum type="alphaLcPeriod"/>
            </a:pPr>
            <a:r>
              <a:rPr lang="en-US" dirty="0" smtClean="0"/>
              <a:t>Physiology : Life functions     </a:t>
            </a:r>
          </a:p>
          <a:p>
            <a:pPr marL="514350" lvl="0" indent="-514350">
              <a:buNone/>
            </a:pPr>
            <a:r>
              <a:rPr lang="en-US" dirty="0" smtClean="0"/>
              <a:t>c.   </a:t>
            </a:r>
            <a:r>
              <a:rPr lang="en-US" dirty="0"/>
              <a:t>Evolution : Change through </a:t>
            </a:r>
            <a:r>
              <a:rPr lang="en-US" dirty="0" smtClean="0"/>
              <a:t>time                   </a:t>
            </a:r>
          </a:p>
          <a:p>
            <a:pPr marL="514350" lvl="0" indent="-514350">
              <a:buNone/>
            </a:pPr>
            <a:r>
              <a:rPr lang="en-US" dirty="0" smtClean="0">
                <a:solidFill>
                  <a:srgbClr val="FF0000"/>
                </a:solidFill>
              </a:rPr>
              <a:t>d.  </a:t>
            </a:r>
            <a:r>
              <a:rPr lang="en-US" dirty="0">
                <a:solidFill>
                  <a:srgbClr val="FF0000"/>
                </a:solidFill>
              </a:rPr>
              <a:t>Morphology :    Cells and Tissues</a:t>
            </a:r>
          </a:p>
          <a:p>
            <a:pPr>
              <a:buNone/>
            </a:pP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42.</a:t>
            </a:r>
            <a:r>
              <a:rPr lang="en-US" dirty="0"/>
              <a:t> Environmental problems such as floods, soil erosion and depletion of wildlife resources can be traced to</a:t>
            </a:r>
          </a:p>
          <a:p>
            <a:pPr marL="514350" lvl="0" indent="-514350">
              <a:buAutoNum type="alphaLcPeriod"/>
            </a:pPr>
            <a:r>
              <a:rPr lang="en-US" dirty="0" smtClean="0"/>
              <a:t>Deforestation</a:t>
            </a:r>
            <a:r>
              <a:rPr lang="en-US" dirty="0" smtClean="0">
                <a:solidFill>
                  <a:srgbClr val="FF0000"/>
                </a:solidFill>
              </a:rPr>
              <a:t> </a:t>
            </a:r>
            <a:r>
              <a:rPr lang="en-US" dirty="0" smtClean="0"/>
              <a:t>       </a:t>
            </a:r>
            <a:r>
              <a:rPr lang="en-US" dirty="0"/>
              <a:t>b. acid precipitation  </a:t>
            </a:r>
            <a:endParaRPr lang="en-US" dirty="0" smtClean="0"/>
          </a:p>
          <a:p>
            <a:pPr marL="514350" lvl="0" indent="-514350">
              <a:buNone/>
            </a:pPr>
            <a:r>
              <a:rPr lang="en-US" dirty="0" smtClean="0"/>
              <a:t>c</a:t>
            </a:r>
            <a:r>
              <a:rPr lang="en-US" dirty="0"/>
              <a:t>. </a:t>
            </a:r>
            <a:r>
              <a:rPr lang="en-US" dirty="0" smtClean="0"/>
              <a:t> </a:t>
            </a:r>
            <a:r>
              <a:rPr lang="en-US" dirty="0" err="1" smtClean="0"/>
              <a:t>eutrophication</a:t>
            </a:r>
            <a:r>
              <a:rPr lang="en-US" dirty="0" smtClean="0"/>
              <a:t>      </a:t>
            </a:r>
            <a:r>
              <a:rPr lang="en-US" dirty="0"/>
              <a:t>d. global warming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42.</a:t>
            </a:r>
            <a:r>
              <a:rPr lang="en-US" dirty="0"/>
              <a:t> Environmental problems such as floods, soil erosion and depletion of wildlife resources can be traced to</a:t>
            </a:r>
          </a:p>
          <a:p>
            <a:pPr marL="514350" lvl="0" indent="-514350">
              <a:buAutoNum type="alphaLcPeriod"/>
            </a:pPr>
            <a:r>
              <a:rPr lang="en-US" dirty="0" smtClean="0">
                <a:solidFill>
                  <a:srgbClr val="FF0000"/>
                </a:solidFill>
              </a:rPr>
              <a:t>Deforestation </a:t>
            </a:r>
            <a:r>
              <a:rPr lang="en-US" dirty="0" smtClean="0"/>
              <a:t>       </a:t>
            </a:r>
            <a:r>
              <a:rPr lang="en-US" dirty="0"/>
              <a:t>b. acid precipitation  </a:t>
            </a:r>
            <a:endParaRPr lang="en-US" dirty="0" smtClean="0"/>
          </a:p>
          <a:p>
            <a:pPr marL="514350" lvl="0" indent="-514350">
              <a:buNone/>
            </a:pPr>
            <a:r>
              <a:rPr lang="en-US" dirty="0" smtClean="0"/>
              <a:t>c</a:t>
            </a:r>
            <a:r>
              <a:rPr lang="en-US" dirty="0"/>
              <a:t>. </a:t>
            </a:r>
            <a:r>
              <a:rPr lang="en-US" dirty="0" smtClean="0"/>
              <a:t> </a:t>
            </a:r>
            <a:r>
              <a:rPr lang="en-US" dirty="0" err="1" smtClean="0"/>
              <a:t>eutrophication</a:t>
            </a:r>
            <a:r>
              <a:rPr lang="en-US" dirty="0" smtClean="0"/>
              <a:t>      </a:t>
            </a:r>
            <a:r>
              <a:rPr lang="en-US" dirty="0"/>
              <a:t>d. global warming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43. Which </a:t>
            </a:r>
            <a:r>
              <a:rPr lang="en-US" dirty="0"/>
              <a:t>of the choices is a monocot?</a:t>
            </a:r>
          </a:p>
          <a:p>
            <a:pPr marL="514350" lvl="0" indent="-514350">
              <a:buAutoNum type="alphaLcPeriod"/>
            </a:pPr>
            <a:r>
              <a:rPr lang="en-US" dirty="0" smtClean="0"/>
              <a:t>  Guava        </a:t>
            </a:r>
          </a:p>
          <a:p>
            <a:pPr marL="514350" lvl="0" indent="-514350">
              <a:buNone/>
            </a:pPr>
            <a:r>
              <a:rPr lang="en-US" dirty="0" smtClean="0"/>
              <a:t>b</a:t>
            </a:r>
            <a:r>
              <a:rPr lang="en-US" dirty="0"/>
              <a:t>.     banana   </a:t>
            </a:r>
            <a:endParaRPr lang="en-US" dirty="0" smtClean="0"/>
          </a:p>
          <a:p>
            <a:pPr marL="514350" lvl="0" indent="-514350">
              <a:buNone/>
            </a:pPr>
            <a:r>
              <a:rPr lang="en-US" dirty="0" smtClean="0"/>
              <a:t>c.      </a:t>
            </a:r>
            <a:r>
              <a:rPr lang="en-US" dirty="0"/>
              <a:t>star apple    </a:t>
            </a:r>
            <a:endParaRPr lang="en-US" dirty="0" smtClean="0"/>
          </a:p>
          <a:p>
            <a:pPr marL="514350" lvl="0" indent="-514350">
              <a:buNone/>
            </a:pPr>
            <a:r>
              <a:rPr lang="en-US" dirty="0" smtClean="0"/>
              <a:t>d</a:t>
            </a:r>
            <a:r>
              <a:rPr lang="en-US" dirty="0"/>
              <a:t>.   </a:t>
            </a:r>
            <a:r>
              <a:rPr lang="en-US" dirty="0" err="1" smtClean="0"/>
              <a:t>gumamela</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43. Which </a:t>
            </a:r>
            <a:r>
              <a:rPr lang="en-US" dirty="0"/>
              <a:t>of the choices is a monocot?</a:t>
            </a:r>
          </a:p>
          <a:p>
            <a:pPr marL="514350" lvl="0" indent="-514350">
              <a:buAutoNum type="alphaLcPeriod"/>
            </a:pPr>
            <a:r>
              <a:rPr lang="en-US" dirty="0" smtClean="0"/>
              <a:t>  Guava        </a:t>
            </a:r>
          </a:p>
          <a:p>
            <a:pPr marL="514350" lvl="0" indent="-514350">
              <a:buNone/>
            </a:pPr>
            <a:r>
              <a:rPr lang="en-US" dirty="0" smtClean="0">
                <a:solidFill>
                  <a:srgbClr val="FF0000"/>
                </a:solidFill>
              </a:rPr>
              <a:t>b</a:t>
            </a:r>
            <a:r>
              <a:rPr lang="en-US" dirty="0">
                <a:solidFill>
                  <a:srgbClr val="FF0000"/>
                </a:solidFill>
              </a:rPr>
              <a:t>.     banana   </a:t>
            </a:r>
            <a:endParaRPr lang="en-US" dirty="0" smtClean="0">
              <a:solidFill>
                <a:srgbClr val="FF0000"/>
              </a:solidFill>
            </a:endParaRPr>
          </a:p>
          <a:p>
            <a:pPr marL="514350" lvl="0" indent="-514350">
              <a:buNone/>
            </a:pPr>
            <a:r>
              <a:rPr lang="en-US" dirty="0" smtClean="0"/>
              <a:t>c.      </a:t>
            </a:r>
            <a:r>
              <a:rPr lang="en-US" dirty="0"/>
              <a:t>star apple    </a:t>
            </a:r>
            <a:endParaRPr lang="en-US" dirty="0" smtClean="0"/>
          </a:p>
          <a:p>
            <a:pPr marL="514350" lvl="0" indent="-514350">
              <a:buNone/>
            </a:pPr>
            <a:r>
              <a:rPr lang="en-US" dirty="0" smtClean="0"/>
              <a:t>d</a:t>
            </a:r>
            <a:r>
              <a:rPr lang="en-US" dirty="0"/>
              <a:t>.   </a:t>
            </a:r>
            <a:r>
              <a:rPr lang="en-US" dirty="0" err="1" smtClean="0"/>
              <a:t>gumamela</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44. </a:t>
            </a:r>
            <a:r>
              <a:rPr lang="en-US" dirty="0"/>
              <a:t>Which of the choices is a </a:t>
            </a:r>
            <a:r>
              <a:rPr lang="en-US" dirty="0" err="1"/>
              <a:t>dicot</a:t>
            </a:r>
            <a:r>
              <a:rPr lang="en-US" dirty="0"/>
              <a:t>?</a:t>
            </a:r>
          </a:p>
          <a:p>
            <a:pPr marL="514350" lvl="0" indent="-514350">
              <a:buAutoNum type="alphaLcPeriod"/>
            </a:pPr>
            <a:r>
              <a:rPr lang="en-US" dirty="0" smtClean="0"/>
              <a:t>Sugarcane    </a:t>
            </a:r>
          </a:p>
          <a:p>
            <a:pPr marL="514350" lvl="0" indent="-514350">
              <a:buNone/>
            </a:pPr>
            <a:r>
              <a:rPr lang="en-US" dirty="0" smtClean="0"/>
              <a:t> </a:t>
            </a:r>
            <a:r>
              <a:rPr lang="en-US" dirty="0"/>
              <a:t>b</a:t>
            </a:r>
            <a:r>
              <a:rPr lang="en-US" dirty="0" smtClean="0"/>
              <a:t>.  </a:t>
            </a:r>
            <a:r>
              <a:rPr lang="en-US" dirty="0"/>
              <a:t>grass         </a:t>
            </a:r>
            <a:endParaRPr lang="en-US" dirty="0" smtClean="0"/>
          </a:p>
          <a:p>
            <a:pPr marL="514350" lvl="0" indent="-514350">
              <a:buNone/>
            </a:pPr>
            <a:r>
              <a:rPr lang="en-US" dirty="0" smtClean="0"/>
              <a:t> </a:t>
            </a:r>
            <a:r>
              <a:rPr lang="en-US" dirty="0"/>
              <a:t>c. </a:t>
            </a:r>
            <a:r>
              <a:rPr lang="en-US" dirty="0" smtClean="0"/>
              <a:t>  </a:t>
            </a:r>
            <a:r>
              <a:rPr lang="en-US" dirty="0"/>
              <a:t>coconut       </a:t>
            </a:r>
            <a:endParaRPr lang="en-US" dirty="0" smtClean="0"/>
          </a:p>
          <a:p>
            <a:pPr marL="514350" lvl="0" indent="-514350">
              <a:buNone/>
            </a:pPr>
            <a:r>
              <a:rPr lang="en-US" dirty="0" smtClean="0"/>
              <a:t>d</a:t>
            </a:r>
            <a:r>
              <a:rPr lang="en-US" dirty="0"/>
              <a:t>.  </a:t>
            </a:r>
            <a:r>
              <a:rPr lang="en-US" dirty="0" smtClean="0"/>
              <a:t> mango</a:t>
            </a:r>
            <a:endParaRPr lang="en-US" dirty="0"/>
          </a:p>
          <a:p>
            <a:pPr>
              <a:buNone/>
            </a:pP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44. </a:t>
            </a:r>
            <a:r>
              <a:rPr lang="en-US" dirty="0"/>
              <a:t>Which of the choices is a </a:t>
            </a:r>
            <a:r>
              <a:rPr lang="en-US" dirty="0" err="1"/>
              <a:t>dicot</a:t>
            </a:r>
            <a:r>
              <a:rPr lang="en-US" dirty="0"/>
              <a:t>?</a:t>
            </a:r>
          </a:p>
          <a:p>
            <a:pPr marL="514350" lvl="0" indent="-514350">
              <a:buAutoNum type="alphaLcPeriod"/>
            </a:pPr>
            <a:r>
              <a:rPr lang="en-US" dirty="0" smtClean="0"/>
              <a:t>Sugarcane    </a:t>
            </a:r>
          </a:p>
          <a:p>
            <a:pPr marL="514350" lvl="0" indent="-514350">
              <a:buNone/>
            </a:pPr>
            <a:r>
              <a:rPr lang="en-US" dirty="0" smtClean="0"/>
              <a:t> </a:t>
            </a:r>
            <a:r>
              <a:rPr lang="en-US" dirty="0"/>
              <a:t>b</a:t>
            </a:r>
            <a:r>
              <a:rPr lang="en-US" dirty="0" smtClean="0"/>
              <a:t>.  </a:t>
            </a:r>
            <a:r>
              <a:rPr lang="en-US" dirty="0"/>
              <a:t>grass         </a:t>
            </a:r>
            <a:endParaRPr lang="en-US" dirty="0" smtClean="0"/>
          </a:p>
          <a:p>
            <a:pPr marL="514350" lvl="0" indent="-514350">
              <a:buNone/>
            </a:pPr>
            <a:r>
              <a:rPr lang="en-US" dirty="0" smtClean="0"/>
              <a:t> </a:t>
            </a:r>
            <a:r>
              <a:rPr lang="en-US" dirty="0"/>
              <a:t>c. </a:t>
            </a:r>
            <a:r>
              <a:rPr lang="en-US" dirty="0" smtClean="0"/>
              <a:t>  </a:t>
            </a:r>
            <a:r>
              <a:rPr lang="en-US" dirty="0"/>
              <a:t>coconut       </a:t>
            </a:r>
            <a:endParaRPr lang="en-US" dirty="0" smtClean="0"/>
          </a:p>
          <a:p>
            <a:pPr marL="514350" lvl="0" indent="-514350">
              <a:buNone/>
            </a:pPr>
            <a:r>
              <a:rPr lang="en-US" dirty="0" smtClean="0">
                <a:solidFill>
                  <a:srgbClr val="FF0000"/>
                </a:solidFill>
              </a:rPr>
              <a:t>d</a:t>
            </a:r>
            <a:r>
              <a:rPr lang="en-US" dirty="0">
                <a:solidFill>
                  <a:srgbClr val="FF0000"/>
                </a:solidFill>
              </a:rPr>
              <a:t>.  </a:t>
            </a:r>
            <a:r>
              <a:rPr lang="en-US" dirty="0" smtClean="0">
                <a:solidFill>
                  <a:srgbClr val="FF0000"/>
                </a:solidFill>
              </a:rPr>
              <a:t> mango</a:t>
            </a:r>
            <a:endParaRPr lang="en-US" dirty="0">
              <a:solidFill>
                <a:srgbClr val="FF0000"/>
              </a:solidFill>
            </a:endParaRPr>
          </a:p>
          <a:p>
            <a:pPr>
              <a:buNone/>
            </a:pP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45. </a:t>
            </a:r>
            <a:r>
              <a:rPr lang="en-US" dirty="0"/>
              <a:t>Which of the following is NOT a mammal?</a:t>
            </a:r>
          </a:p>
          <a:p>
            <a:pPr marL="514350" lvl="0" indent="-514350">
              <a:buAutoNum type="alphaLcPeriod"/>
            </a:pPr>
            <a:r>
              <a:rPr lang="en-US" dirty="0" smtClean="0"/>
              <a:t>Kangaroo    </a:t>
            </a:r>
          </a:p>
          <a:p>
            <a:pPr marL="514350" lvl="0" indent="-514350">
              <a:buNone/>
            </a:pPr>
            <a:r>
              <a:rPr lang="en-US" dirty="0" smtClean="0"/>
              <a:t> </a:t>
            </a:r>
            <a:r>
              <a:rPr lang="en-US" dirty="0"/>
              <a:t>b. </a:t>
            </a:r>
            <a:r>
              <a:rPr lang="en-US" dirty="0" smtClean="0"/>
              <a:t> sea </a:t>
            </a:r>
            <a:r>
              <a:rPr lang="en-US" dirty="0"/>
              <a:t>horse    </a:t>
            </a:r>
            <a:endParaRPr lang="en-US" dirty="0" smtClean="0"/>
          </a:p>
          <a:p>
            <a:pPr marL="514350" lvl="0" indent="-514350">
              <a:buNone/>
            </a:pPr>
            <a:r>
              <a:rPr lang="en-US" dirty="0" smtClean="0"/>
              <a:t> </a:t>
            </a:r>
            <a:r>
              <a:rPr lang="en-US" dirty="0"/>
              <a:t>c. </a:t>
            </a:r>
            <a:r>
              <a:rPr lang="en-US" dirty="0" smtClean="0"/>
              <a:t> whale      </a:t>
            </a:r>
          </a:p>
          <a:p>
            <a:pPr marL="514350" lvl="0" indent="-514350">
              <a:buNone/>
            </a:pPr>
            <a:r>
              <a:rPr lang="en-US" dirty="0" smtClean="0"/>
              <a:t>d</a:t>
            </a:r>
            <a:r>
              <a:rPr lang="en-US" dirty="0"/>
              <a:t>. </a:t>
            </a:r>
            <a:r>
              <a:rPr lang="en-US" dirty="0" smtClean="0"/>
              <a:t>  bat</a:t>
            </a:r>
            <a:endParaRPr lang="en-US" dirty="0"/>
          </a:p>
          <a:p>
            <a:pPr>
              <a:buNone/>
            </a:pP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45. </a:t>
            </a:r>
            <a:r>
              <a:rPr lang="en-US" dirty="0"/>
              <a:t>Which of the following is NOT a mammal?</a:t>
            </a:r>
          </a:p>
          <a:p>
            <a:pPr marL="514350" lvl="0" indent="-514350">
              <a:buAutoNum type="alphaLcPeriod"/>
            </a:pPr>
            <a:r>
              <a:rPr lang="en-US" dirty="0" smtClean="0"/>
              <a:t>Kangaroo    </a:t>
            </a:r>
          </a:p>
          <a:p>
            <a:pPr marL="514350" lvl="0" indent="-514350">
              <a:buNone/>
            </a:pPr>
            <a:r>
              <a:rPr lang="en-US" dirty="0" smtClean="0"/>
              <a:t> </a:t>
            </a:r>
            <a:r>
              <a:rPr lang="en-US" dirty="0">
                <a:solidFill>
                  <a:srgbClr val="FF0000"/>
                </a:solidFill>
              </a:rPr>
              <a:t>b. </a:t>
            </a:r>
            <a:r>
              <a:rPr lang="en-US" dirty="0" smtClean="0">
                <a:solidFill>
                  <a:srgbClr val="FF0000"/>
                </a:solidFill>
              </a:rPr>
              <a:t> sea </a:t>
            </a:r>
            <a:r>
              <a:rPr lang="en-US" dirty="0">
                <a:solidFill>
                  <a:srgbClr val="FF0000"/>
                </a:solidFill>
              </a:rPr>
              <a:t>horse    </a:t>
            </a:r>
            <a:endParaRPr lang="en-US" dirty="0" smtClean="0">
              <a:solidFill>
                <a:srgbClr val="FF0000"/>
              </a:solidFill>
            </a:endParaRPr>
          </a:p>
          <a:p>
            <a:pPr marL="514350" lvl="0" indent="-514350">
              <a:buNone/>
            </a:pPr>
            <a:r>
              <a:rPr lang="en-US" dirty="0" smtClean="0"/>
              <a:t> </a:t>
            </a:r>
            <a:r>
              <a:rPr lang="en-US" dirty="0"/>
              <a:t>c. </a:t>
            </a:r>
            <a:r>
              <a:rPr lang="en-US" dirty="0" smtClean="0"/>
              <a:t> whale      </a:t>
            </a:r>
          </a:p>
          <a:p>
            <a:pPr marL="514350" lvl="0" indent="-514350">
              <a:buNone/>
            </a:pPr>
            <a:r>
              <a:rPr lang="en-US" dirty="0" smtClean="0"/>
              <a:t>d</a:t>
            </a:r>
            <a:r>
              <a:rPr lang="en-US" dirty="0"/>
              <a:t>. </a:t>
            </a:r>
            <a:r>
              <a:rPr lang="en-US" dirty="0" smtClean="0"/>
              <a:t>  bat</a:t>
            </a:r>
            <a:endParaRPr lang="en-US" dirty="0"/>
          </a:p>
          <a:p>
            <a:pPr>
              <a:buNone/>
            </a:pP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46.</a:t>
            </a:r>
            <a:r>
              <a:rPr lang="en-US" dirty="0"/>
              <a:t> Which of the following pairs of organisms is MOST related?</a:t>
            </a:r>
          </a:p>
          <a:p>
            <a:pPr lvl="0">
              <a:buNone/>
            </a:pPr>
            <a:r>
              <a:rPr lang="en-US" dirty="0" smtClean="0"/>
              <a:t>a. Bacteria </a:t>
            </a:r>
            <a:r>
              <a:rPr lang="en-US" dirty="0"/>
              <a:t>and </a:t>
            </a:r>
            <a:r>
              <a:rPr lang="en-US" dirty="0" err="1"/>
              <a:t>cyanobacteria</a:t>
            </a:r>
            <a:r>
              <a:rPr lang="en-US" dirty="0"/>
              <a:t> because  both belong to kingdom </a:t>
            </a:r>
            <a:r>
              <a:rPr lang="en-US" dirty="0" err="1"/>
              <a:t>monera</a:t>
            </a:r>
            <a:endParaRPr lang="en-US" dirty="0"/>
          </a:p>
          <a:p>
            <a:pPr lvl="0">
              <a:buNone/>
            </a:pPr>
            <a:r>
              <a:rPr lang="en-US" dirty="0" smtClean="0"/>
              <a:t>b. Man </a:t>
            </a:r>
            <a:r>
              <a:rPr lang="en-US" dirty="0"/>
              <a:t>and chimpanzee because  both belong to class </a:t>
            </a:r>
            <a:r>
              <a:rPr lang="en-US" dirty="0" err="1"/>
              <a:t>mammalia</a:t>
            </a:r>
            <a:endParaRPr lang="en-US" dirty="0"/>
          </a:p>
          <a:p>
            <a:pPr lvl="0">
              <a:buNone/>
            </a:pPr>
            <a:r>
              <a:rPr lang="en-US" dirty="0" smtClean="0"/>
              <a:t>c. Earthworm </a:t>
            </a:r>
            <a:r>
              <a:rPr lang="en-US" dirty="0"/>
              <a:t>and leech because both belong to phylum annelid</a:t>
            </a:r>
          </a:p>
          <a:p>
            <a:pPr lvl="0">
              <a:buNone/>
            </a:pPr>
            <a:r>
              <a:rPr lang="en-US" dirty="0" smtClean="0"/>
              <a:t>d. Dogs </a:t>
            </a:r>
            <a:r>
              <a:rPr lang="en-US" dirty="0"/>
              <a:t>and cats because  both belong to order </a:t>
            </a:r>
            <a:r>
              <a:rPr lang="en-US" dirty="0" err="1" smtClean="0"/>
              <a:t>carnivora</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buNone/>
            </a:pPr>
            <a:r>
              <a:rPr lang="en-US" dirty="0" smtClean="0"/>
              <a:t>46.</a:t>
            </a:r>
            <a:r>
              <a:rPr lang="en-US" dirty="0"/>
              <a:t> Which of the following pairs of organisms is MOST related?</a:t>
            </a:r>
          </a:p>
          <a:p>
            <a:pPr lvl="0">
              <a:buNone/>
            </a:pPr>
            <a:r>
              <a:rPr lang="en-US" dirty="0" smtClean="0"/>
              <a:t>a. Bacteria </a:t>
            </a:r>
            <a:r>
              <a:rPr lang="en-US" dirty="0"/>
              <a:t>and </a:t>
            </a:r>
            <a:r>
              <a:rPr lang="en-US" dirty="0" err="1"/>
              <a:t>cyanobacteria</a:t>
            </a:r>
            <a:r>
              <a:rPr lang="en-US" dirty="0"/>
              <a:t> because  both belong to kingdom </a:t>
            </a:r>
            <a:r>
              <a:rPr lang="en-US" dirty="0" err="1"/>
              <a:t>monera</a:t>
            </a:r>
            <a:endParaRPr lang="en-US" dirty="0"/>
          </a:p>
          <a:p>
            <a:pPr lvl="0">
              <a:buNone/>
            </a:pPr>
            <a:r>
              <a:rPr lang="en-US" dirty="0" smtClean="0"/>
              <a:t>b. Man </a:t>
            </a:r>
            <a:r>
              <a:rPr lang="en-US" dirty="0"/>
              <a:t>and chimpanzee because  both belong to class </a:t>
            </a:r>
            <a:r>
              <a:rPr lang="en-US" dirty="0" err="1"/>
              <a:t>mammalia</a:t>
            </a:r>
            <a:endParaRPr lang="en-US" dirty="0"/>
          </a:p>
          <a:p>
            <a:pPr lvl="0">
              <a:buNone/>
            </a:pPr>
            <a:r>
              <a:rPr lang="en-US" dirty="0" smtClean="0"/>
              <a:t>c. Earthworm </a:t>
            </a:r>
            <a:r>
              <a:rPr lang="en-US" dirty="0"/>
              <a:t>and leech because both belong to phylum annelid</a:t>
            </a:r>
          </a:p>
          <a:p>
            <a:pPr lvl="0">
              <a:buNone/>
            </a:pPr>
            <a:r>
              <a:rPr lang="en-US" dirty="0" smtClean="0">
                <a:solidFill>
                  <a:srgbClr val="FF0000"/>
                </a:solidFill>
              </a:rPr>
              <a:t>d. Dogs </a:t>
            </a:r>
            <a:r>
              <a:rPr lang="en-US" dirty="0">
                <a:solidFill>
                  <a:srgbClr val="FF0000"/>
                </a:solidFill>
              </a:rPr>
              <a:t>and cats because  both belong to order </a:t>
            </a:r>
            <a:r>
              <a:rPr lang="en-US" dirty="0" err="1" smtClean="0">
                <a:solidFill>
                  <a:srgbClr val="FF0000"/>
                </a:solidFill>
              </a:rPr>
              <a:t>carnivora</a:t>
            </a:r>
            <a:endParaRPr lang="en-US" dirty="0">
              <a:solidFill>
                <a:srgbClr val="FF0000"/>
              </a:solidFill>
            </a:endParaRP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47.</a:t>
            </a:r>
            <a:r>
              <a:rPr lang="en-US" dirty="0"/>
              <a:t> Which of the following best describes a symbiotic relationship?</a:t>
            </a:r>
          </a:p>
          <a:p>
            <a:pPr lvl="0">
              <a:buNone/>
            </a:pPr>
            <a:r>
              <a:rPr lang="en-US" dirty="0" smtClean="0"/>
              <a:t>a. Both </a:t>
            </a:r>
            <a:r>
              <a:rPr lang="en-US" dirty="0"/>
              <a:t>organisms benefit each other</a:t>
            </a:r>
          </a:p>
          <a:p>
            <a:pPr lvl="0">
              <a:buNone/>
            </a:pPr>
            <a:r>
              <a:rPr lang="en-US" dirty="0" smtClean="0"/>
              <a:t>b. One </a:t>
            </a:r>
            <a:r>
              <a:rPr lang="en-US" dirty="0"/>
              <a:t>organism is benefited while the other is harmed</a:t>
            </a:r>
          </a:p>
          <a:p>
            <a:pPr lvl="0">
              <a:buNone/>
            </a:pPr>
            <a:r>
              <a:rPr lang="en-US" dirty="0" smtClean="0"/>
              <a:t>c. Two </a:t>
            </a:r>
            <a:r>
              <a:rPr lang="en-US" dirty="0"/>
              <a:t>organisms live closely to each other</a:t>
            </a:r>
          </a:p>
          <a:p>
            <a:pPr lvl="0">
              <a:buNone/>
            </a:pPr>
            <a:r>
              <a:rPr lang="en-US" dirty="0" smtClean="0"/>
              <a:t>d. One </a:t>
            </a:r>
            <a:r>
              <a:rPr lang="en-US" dirty="0"/>
              <a:t>can exists in the absence of the other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47.</a:t>
            </a:r>
            <a:r>
              <a:rPr lang="en-US" dirty="0"/>
              <a:t> Which of the following best describes a symbiotic relationship?</a:t>
            </a:r>
          </a:p>
          <a:p>
            <a:pPr lvl="0">
              <a:buNone/>
            </a:pPr>
            <a:r>
              <a:rPr lang="en-US" dirty="0" smtClean="0"/>
              <a:t>a. Both </a:t>
            </a:r>
            <a:r>
              <a:rPr lang="en-US" dirty="0"/>
              <a:t>organisms benefit each other</a:t>
            </a:r>
          </a:p>
          <a:p>
            <a:pPr lvl="0">
              <a:buNone/>
            </a:pPr>
            <a:r>
              <a:rPr lang="en-US" dirty="0" smtClean="0"/>
              <a:t>b. One </a:t>
            </a:r>
            <a:r>
              <a:rPr lang="en-US" dirty="0"/>
              <a:t>organism is benefited while the other is harmed</a:t>
            </a:r>
          </a:p>
          <a:p>
            <a:pPr lvl="0">
              <a:buNone/>
            </a:pPr>
            <a:r>
              <a:rPr lang="en-US" dirty="0" smtClean="0">
                <a:solidFill>
                  <a:srgbClr val="FF0000"/>
                </a:solidFill>
              </a:rPr>
              <a:t>c. Two </a:t>
            </a:r>
            <a:r>
              <a:rPr lang="en-US" dirty="0">
                <a:solidFill>
                  <a:srgbClr val="FF0000"/>
                </a:solidFill>
              </a:rPr>
              <a:t>organisms live closely to each other</a:t>
            </a:r>
          </a:p>
          <a:p>
            <a:pPr lvl="0">
              <a:buNone/>
            </a:pPr>
            <a:r>
              <a:rPr lang="en-US" dirty="0" smtClean="0"/>
              <a:t>d. One </a:t>
            </a:r>
            <a:r>
              <a:rPr lang="en-US" dirty="0"/>
              <a:t>can exists in the absence of the other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lvl="0">
              <a:buNone/>
            </a:pPr>
            <a:r>
              <a:rPr lang="en-US" dirty="0" smtClean="0"/>
              <a:t>48.</a:t>
            </a:r>
            <a:r>
              <a:rPr lang="en-US" dirty="0"/>
              <a:t> Salt and sugar are often used as food preservatives. Preserved  foods like jam, salted fish and eggs do not easily spoil because of the high amount of sugar and salt which </a:t>
            </a:r>
          </a:p>
          <a:p>
            <a:pPr lvl="0">
              <a:buNone/>
            </a:pPr>
            <a:r>
              <a:rPr lang="en-US" dirty="0" smtClean="0"/>
              <a:t>a. Is </a:t>
            </a:r>
            <a:r>
              <a:rPr lang="en-US" dirty="0"/>
              <a:t>toxic to microorganisms</a:t>
            </a:r>
          </a:p>
          <a:p>
            <a:pPr lvl="0">
              <a:buNone/>
            </a:pPr>
            <a:r>
              <a:rPr lang="en-US" dirty="0" smtClean="0"/>
              <a:t>b. Can </a:t>
            </a:r>
            <a:r>
              <a:rPr lang="en-US" dirty="0"/>
              <a:t>enter the cells of microorganisms causing them to swell and burst</a:t>
            </a:r>
          </a:p>
          <a:p>
            <a:pPr lvl="0">
              <a:buNone/>
            </a:pPr>
            <a:r>
              <a:rPr lang="en-US" dirty="0" smtClean="0"/>
              <a:t>c. Prevents </a:t>
            </a:r>
            <a:r>
              <a:rPr lang="en-US" dirty="0"/>
              <a:t>the entry of nutrients to the microorganisms causing them to die</a:t>
            </a:r>
          </a:p>
          <a:p>
            <a:pPr lvl="0">
              <a:buNone/>
            </a:pPr>
            <a:r>
              <a:rPr lang="en-US" dirty="0" smtClean="0"/>
              <a:t>d. Prevents </a:t>
            </a:r>
            <a:r>
              <a:rPr lang="en-US" dirty="0"/>
              <a:t>the entry of water to the microorganisms that makes the cell </a:t>
            </a:r>
            <a:r>
              <a:rPr lang="en-US" dirty="0" err="1"/>
              <a:t>plasmolyzed</a:t>
            </a:r>
            <a:r>
              <a:rPr lang="en-US" dirty="0"/>
              <a:t> and die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lvl="0">
              <a:buNone/>
            </a:pPr>
            <a:r>
              <a:rPr lang="en-US" dirty="0" smtClean="0"/>
              <a:t>48.</a:t>
            </a:r>
            <a:r>
              <a:rPr lang="en-US" dirty="0"/>
              <a:t> Salt and sugar are often used as food preservatives. Preserved  foods like jam, salted fish and eggs do not easily spoil because of the high amount of sugar and salt which </a:t>
            </a:r>
          </a:p>
          <a:p>
            <a:pPr lvl="0">
              <a:buNone/>
            </a:pPr>
            <a:r>
              <a:rPr lang="en-US" dirty="0" smtClean="0"/>
              <a:t>a. Is </a:t>
            </a:r>
            <a:r>
              <a:rPr lang="en-US" dirty="0"/>
              <a:t>toxic to microorganisms</a:t>
            </a:r>
          </a:p>
          <a:p>
            <a:pPr lvl="0">
              <a:buNone/>
            </a:pPr>
            <a:r>
              <a:rPr lang="en-US" dirty="0" smtClean="0"/>
              <a:t>b. Can </a:t>
            </a:r>
            <a:r>
              <a:rPr lang="en-US" dirty="0"/>
              <a:t>enter the cells of microorganisms causing them to swell and burst</a:t>
            </a:r>
          </a:p>
          <a:p>
            <a:pPr lvl="0">
              <a:buNone/>
            </a:pPr>
            <a:r>
              <a:rPr lang="en-US" dirty="0" smtClean="0"/>
              <a:t>c. Prevents </a:t>
            </a:r>
            <a:r>
              <a:rPr lang="en-US" dirty="0"/>
              <a:t>the entry of nutrients to the microorganisms causing them to die</a:t>
            </a:r>
          </a:p>
          <a:p>
            <a:pPr lvl="0">
              <a:buNone/>
            </a:pPr>
            <a:r>
              <a:rPr lang="en-US" dirty="0" smtClean="0">
                <a:solidFill>
                  <a:srgbClr val="FF0000"/>
                </a:solidFill>
              </a:rPr>
              <a:t>d. Prevents </a:t>
            </a:r>
            <a:r>
              <a:rPr lang="en-US" dirty="0">
                <a:solidFill>
                  <a:srgbClr val="FF0000"/>
                </a:solidFill>
              </a:rPr>
              <a:t>the entry of water to the microorganisms that makes the cell </a:t>
            </a:r>
            <a:r>
              <a:rPr lang="en-US" dirty="0" err="1">
                <a:solidFill>
                  <a:srgbClr val="FF0000"/>
                </a:solidFill>
              </a:rPr>
              <a:t>plasmolyzed</a:t>
            </a:r>
            <a:r>
              <a:rPr lang="en-US" dirty="0">
                <a:solidFill>
                  <a:srgbClr val="FF0000"/>
                </a:solidFill>
              </a:rPr>
              <a:t> and die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49.</a:t>
            </a:r>
            <a:r>
              <a:rPr lang="en-US" dirty="0"/>
              <a:t> Dengue is a dreaded disease.  In its advanced stage, it causes internal bleeding of which in most cases, it is fatal. What causes this disease?</a:t>
            </a:r>
          </a:p>
          <a:p>
            <a:pPr marL="514350" lvl="0" indent="-514350">
              <a:buAutoNum type="alphaLcPeriod"/>
            </a:pPr>
            <a:r>
              <a:rPr lang="en-US" dirty="0" smtClean="0"/>
              <a:t>A </a:t>
            </a:r>
            <a:r>
              <a:rPr lang="en-US" dirty="0"/>
              <a:t>certain kind of virus                         </a:t>
            </a:r>
            <a:r>
              <a:rPr lang="en-US" dirty="0" smtClean="0"/>
              <a:t>                </a:t>
            </a:r>
          </a:p>
          <a:p>
            <a:pPr marL="514350" lvl="0" indent="-514350">
              <a:buNone/>
            </a:pPr>
            <a:r>
              <a:rPr lang="en-US" dirty="0" smtClean="0"/>
              <a:t>c.  </a:t>
            </a:r>
            <a:r>
              <a:rPr lang="en-US" dirty="0"/>
              <a:t>a certain kind of protozoa</a:t>
            </a:r>
          </a:p>
          <a:p>
            <a:pPr lvl="0">
              <a:buNone/>
            </a:pPr>
            <a:r>
              <a:rPr lang="en-US" dirty="0" smtClean="0"/>
              <a:t>b.  A </a:t>
            </a:r>
            <a:r>
              <a:rPr lang="en-US" dirty="0"/>
              <a:t>certain species of mosquito         </a:t>
            </a:r>
            <a:r>
              <a:rPr lang="en-US" dirty="0" smtClean="0"/>
              <a:t>                 </a:t>
            </a:r>
          </a:p>
          <a:p>
            <a:pPr lvl="0">
              <a:buNone/>
            </a:pPr>
            <a:r>
              <a:rPr lang="en-US" dirty="0" smtClean="0"/>
              <a:t>d</a:t>
            </a:r>
            <a:r>
              <a:rPr lang="en-US" dirty="0"/>
              <a:t>.  a certain strain of bacterium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49.</a:t>
            </a:r>
            <a:r>
              <a:rPr lang="en-US" dirty="0"/>
              <a:t> Dengue is a dreaded disease.  In its advanced stage, it causes internal bleeding of which in most cases, it is fatal. What causes this disease?</a:t>
            </a:r>
          </a:p>
          <a:p>
            <a:pPr marL="514350" lvl="0" indent="-514350">
              <a:buAutoNum type="alphaLcPeriod"/>
            </a:pPr>
            <a:r>
              <a:rPr lang="en-US" dirty="0" smtClean="0">
                <a:solidFill>
                  <a:srgbClr val="FF0000"/>
                </a:solidFill>
              </a:rPr>
              <a:t>A </a:t>
            </a:r>
            <a:r>
              <a:rPr lang="en-US" dirty="0">
                <a:solidFill>
                  <a:srgbClr val="FF0000"/>
                </a:solidFill>
              </a:rPr>
              <a:t>certain kind of virus                         </a:t>
            </a:r>
            <a:r>
              <a:rPr lang="en-US" dirty="0" smtClean="0">
                <a:solidFill>
                  <a:srgbClr val="FF0000"/>
                </a:solidFill>
              </a:rPr>
              <a:t>                </a:t>
            </a:r>
          </a:p>
          <a:p>
            <a:pPr marL="514350" lvl="0" indent="-514350">
              <a:buNone/>
            </a:pPr>
            <a:r>
              <a:rPr lang="en-US" dirty="0" smtClean="0"/>
              <a:t>c.  </a:t>
            </a:r>
            <a:r>
              <a:rPr lang="en-US" dirty="0"/>
              <a:t>a certain kind of protozoa</a:t>
            </a:r>
          </a:p>
          <a:p>
            <a:pPr lvl="0">
              <a:buNone/>
            </a:pPr>
            <a:r>
              <a:rPr lang="en-US" dirty="0" smtClean="0"/>
              <a:t>b.  A </a:t>
            </a:r>
            <a:r>
              <a:rPr lang="en-US" dirty="0"/>
              <a:t>certain species of mosquito         </a:t>
            </a:r>
            <a:r>
              <a:rPr lang="en-US" dirty="0" smtClean="0"/>
              <a:t>                 </a:t>
            </a:r>
          </a:p>
          <a:p>
            <a:pPr lvl="0">
              <a:buNone/>
            </a:pPr>
            <a:r>
              <a:rPr lang="en-US" dirty="0" smtClean="0"/>
              <a:t>d</a:t>
            </a:r>
            <a:r>
              <a:rPr lang="en-US" dirty="0"/>
              <a:t>.  a certain strain of bacterium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50.</a:t>
            </a:r>
            <a:r>
              <a:rPr lang="en-US" dirty="0"/>
              <a:t> A pitcher plant traps insect inside its pitcher-like structure. This describes an ecological relationship known as</a:t>
            </a:r>
          </a:p>
          <a:p>
            <a:pPr marL="514350" lvl="0" indent="-514350">
              <a:buAutoNum type="alphaLcPeriod"/>
            </a:pPr>
            <a:r>
              <a:rPr lang="en-US" dirty="0" smtClean="0"/>
              <a:t>Predation </a:t>
            </a:r>
            <a:r>
              <a:rPr lang="en-US" dirty="0" smtClean="0">
                <a:solidFill>
                  <a:srgbClr val="FF0000"/>
                </a:solidFill>
              </a:rPr>
              <a:t>  </a:t>
            </a:r>
            <a:r>
              <a:rPr lang="en-US" dirty="0" smtClean="0"/>
              <a:t>           </a:t>
            </a:r>
            <a:r>
              <a:rPr lang="en-US" dirty="0"/>
              <a:t>b.  parasitism        </a:t>
            </a:r>
            <a:endParaRPr lang="en-US" dirty="0" smtClean="0"/>
          </a:p>
          <a:p>
            <a:pPr marL="514350" lvl="0" indent="-514350">
              <a:buNone/>
            </a:pPr>
            <a:r>
              <a:rPr lang="en-US" dirty="0" smtClean="0"/>
              <a:t>c</a:t>
            </a:r>
            <a:r>
              <a:rPr lang="en-US" dirty="0"/>
              <a:t>. competition          d. commensalism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50.</a:t>
            </a:r>
            <a:r>
              <a:rPr lang="en-US" dirty="0"/>
              <a:t> A pitcher plant traps insect inside its pitcher-like structure. This describes an ecological relationship known as</a:t>
            </a:r>
          </a:p>
          <a:p>
            <a:pPr marL="514350" lvl="0" indent="-514350">
              <a:buAutoNum type="alphaLcPeriod"/>
            </a:pPr>
            <a:r>
              <a:rPr lang="en-US" dirty="0" smtClean="0">
                <a:solidFill>
                  <a:srgbClr val="FF0000"/>
                </a:solidFill>
              </a:rPr>
              <a:t>Predation   </a:t>
            </a:r>
            <a:r>
              <a:rPr lang="en-US" dirty="0" smtClean="0"/>
              <a:t>           </a:t>
            </a:r>
            <a:r>
              <a:rPr lang="en-US" dirty="0"/>
              <a:t>b.  parasitism        </a:t>
            </a:r>
            <a:endParaRPr lang="en-US" dirty="0" smtClean="0"/>
          </a:p>
          <a:p>
            <a:pPr marL="514350" lvl="0" indent="-514350">
              <a:buNone/>
            </a:pPr>
            <a:r>
              <a:rPr lang="en-US" dirty="0" smtClean="0"/>
              <a:t>c</a:t>
            </a:r>
            <a:r>
              <a:rPr lang="en-US" dirty="0"/>
              <a:t>. competition          d. commensalism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51.</a:t>
            </a:r>
            <a:r>
              <a:rPr lang="en-US" dirty="0"/>
              <a:t> Which of these is </a:t>
            </a:r>
            <a:r>
              <a:rPr lang="en-US" dirty="0" smtClean="0"/>
              <a:t>shows </a:t>
            </a:r>
            <a:r>
              <a:rPr lang="en-US" dirty="0"/>
              <a:t>mutualism?</a:t>
            </a:r>
          </a:p>
          <a:p>
            <a:pPr marL="514350" lvl="0" indent="-514350">
              <a:buAutoNum type="alphaLcPeriod"/>
            </a:pPr>
            <a:r>
              <a:rPr lang="en-US" dirty="0" err="1" smtClean="0"/>
              <a:t>Carabao</a:t>
            </a:r>
            <a:r>
              <a:rPr lang="en-US" dirty="0" smtClean="0"/>
              <a:t> </a:t>
            </a:r>
            <a:r>
              <a:rPr lang="en-US" dirty="0"/>
              <a:t>and </a:t>
            </a:r>
            <a:r>
              <a:rPr lang="en-US" dirty="0" err="1"/>
              <a:t>carabao</a:t>
            </a:r>
            <a:r>
              <a:rPr lang="en-US" dirty="0"/>
              <a:t> egret         </a:t>
            </a:r>
          </a:p>
          <a:p>
            <a:pPr lvl="0">
              <a:buNone/>
            </a:pPr>
            <a:r>
              <a:rPr lang="en-US" dirty="0" smtClean="0"/>
              <a:t>b.  Moss </a:t>
            </a:r>
            <a:r>
              <a:rPr lang="en-US" dirty="0"/>
              <a:t>on the tree trunk </a:t>
            </a:r>
            <a:endParaRPr lang="en-US" dirty="0" smtClean="0"/>
          </a:p>
          <a:p>
            <a:pPr lvl="0">
              <a:buNone/>
            </a:pPr>
            <a:r>
              <a:rPr lang="en-US" dirty="0" smtClean="0"/>
              <a:t>c.  Man and body louse                                     </a:t>
            </a:r>
            <a:endParaRPr lang="en-US" dirty="0"/>
          </a:p>
          <a:p>
            <a:pPr lvl="0">
              <a:buNone/>
            </a:pPr>
            <a:r>
              <a:rPr lang="en-US" dirty="0" smtClean="0"/>
              <a:t>d</a:t>
            </a:r>
            <a:r>
              <a:rPr lang="en-US" dirty="0"/>
              <a:t>. </a:t>
            </a:r>
            <a:r>
              <a:rPr lang="en-US" dirty="0" smtClean="0"/>
              <a:t> rice </a:t>
            </a:r>
            <a:r>
              <a:rPr lang="en-US" dirty="0"/>
              <a:t>and weeds in the rice fields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51.</a:t>
            </a:r>
            <a:r>
              <a:rPr lang="en-US" dirty="0"/>
              <a:t> Which of these </a:t>
            </a:r>
            <a:r>
              <a:rPr lang="en-US" dirty="0" smtClean="0"/>
              <a:t> shows </a:t>
            </a:r>
            <a:r>
              <a:rPr lang="en-US" dirty="0"/>
              <a:t>mutualism?</a:t>
            </a:r>
          </a:p>
          <a:p>
            <a:pPr marL="514350" lvl="0" indent="-514350">
              <a:buAutoNum type="alphaLcPeriod"/>
            </a:pPr>
            <a:r>
              <a:rPr lang="en-US" dirty="0" err="1" smtClean="0">
                <a:solidFill>
                  <a:srgbClr val="FF0000"/>
                </a:solidFill>
              </a:rPr>
              <a:t>Carabao</a:t>
            </a:r>
            <a:r>
              <a:rPr lang="en-US" dirty="0" smtClean="0">
                <a:solidFill>
                  <a:srgbClr val="FF0000"/>
                </a:solidFill>
              </a:rPr>
              <a:t> </a:t>
            </a:r>
            <a:r>
              <a:rPr lang="en-US" dirty="0">
                <a:solidFill>
                  <a:srgbClr val="FF0000"/>
                </a:solidFill>
              </a:rPr>
              <a:t>and </a:t>
            </a:r>
            <a:r>
              <a:rPr lang="en-US" dirty="0" err="1">
                <a:solidFill>
                  <a:srgbClr val="FF0000"/>
                </a:solidFill>
              </a:rPr>
              <a:t>carabao</a:t>
            </a:r>
            <a:r>
              <a:rPr lang="en-US" dirty="0">
                <a:solidFill>
                  <a:srgbClr val="FF0000"/>
                </a:solidFill>
              </a:rPr>
              <a:t> egret         </a:t>
            </a:r>
            <a:endParaRPr lang="en-US" dirty="0"/>
          </a:p>
          <a:p>
            <a:pPr lvl="0">
              <a:buNone/>
            </a:pPr>
            <a:r>
              <a:rPr lang="en-US" dirty="0" smtClean="0"/>
              <a:t>b.  Moss </a:t>
            </a:r>
            <a:r>
              <a:rPr lang="en-US" dirty="0"/>
              <a:t>on the tree trunk </a:t>
            </a:r>
            <a:endParaRPr lang="en-US" dirty="0" smtClean="0"/>
          </a:p>
          <a:p>
            <a:pPr lvl="0">
              <a:buNone/>
            </a:pPr>
            <a:r>
              <a:rPr lang="en-US" dirty="0" smtClean="0"/>
              <a:t>c.  Man and body louse                                     </a:t>
            </a:r>
            <a:endParaRPr lang="en-US" dirty="0"/>
          </a:p>
          <a:p>
            <a:pPr lvl="0">
              <a:buNone/>
            </a:pPr>
            <a:r>
              <a:rPr lang="en-US" dirty="0" smtClean="0"/>
              <a:t>d</a:t>
            </a:r>
            <a:r>
              <a:rPr lang="en-US" dirty="0"/>
              <a:t>. </a:t>
            </a:r>
            <a:r>
              <a:rPr lang="en-US" dirty="0" smtClean="0"/>
              <a:t> rice </a:t>
            </a:r>
            <a:r>
              <a:rPr lang="en-US" dirty="0"/>
              <a:t>and weeds in the rice fields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52.</a:t>
            </a:r>
            <a:r>
              <a:rPr lang="en-US" dirty="0"/>
              <a:t> Nitrogen is taken in by plants and animals to make proteins. Animals get it from the food they eat while plants get nitrogen from</a:t>
            </a:r>
          </a:p>
          <a:p>
            <a:pPr marL="514350" lvl="0" indent="-514350">
              <a:buAutoNum type="alphaLcPeriod"/>
            </a:pPr>
            <a:r>
              <a:rPr lang="en-US" dirty="0" smtClean="0"/>
              <a:t>Other </a:t>
            </a:r>
            <a:r>
              <a:rPr lang="en-US" dirty="0"/>
              <a:t>plants        b. other animals   </a:t>
            </a:r>
            <a:endParaRPr lang="en-US" dirty="0" smtClean="0"/>
          </a:p>
          <a:p>
            <a:pPr marL="514350" lvl="0" indent="-514350">
              <a:buNone/>
            </a:pPr>
            <a:r>
              <a:rPr lang="en-US" dirty="0" smtClean="0"/>
              <a:t>c</a:t>
            </a:r>
            <a:r>
              <a:rPr lang="en-US" dirty="0"/>
              <a:t>. </a:t>
            </a:r>
            <a:r>
              <a:rPr lang="en-US" dirty="0" smtClean="0"/>
              <a:t>  the </a:t>
            </a:r>
            <a:r>
              <a:rPr lang="en-US" dirty="0"/>
              <a:t>soil      </a:t>
            </a:r>
            <a:r>
              <a:rPr lang="en-US" dirty="0" smtClean="0"/>
              <a:t>          d</a:t>
            </a:r>
            <a:r>
              <a:rPr lang="en-US" dirty="0"/>
              <a:t>. the atmosphere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52.</a:t>
            </a:r>
            <a:r>
              <a:rPr lang="en-US" dirty="0"/>
              <a:t> Nitrogen is taken in by plants and animals to make proteins. Animals get it from the food they eat while plants get nitrogen from</a:t>
            </a:r>
          </a:p>
          <a:p>
            <a:pPr marL="514350" lvl="0" indent="-514350">
              <a:buAutoNum type="alphaLcPeriod"/>
            </a:pPr>
            <a:r>
              <a:rPr lang="en-US" dirty="0" smtClean="0"/>
              <a:t>Other </a:t>
            </a:r>
            <a:r>
              <a:rPr lang="en-US" dirty="0"/>
              <a:t>plants        b. other animals   </a:t>
            </a:r>
            <a:endParaRPr lang="en-US" dirty="0" smtClean="0"/>
          </a:p>
          <a:p>
            <a:pPr marL="514350" lvl="0" indent="-514350">
              <a:buNone/>
            </a:pPr>
            <a:r>
              <a:rPr lang="en-US" dirty="0" smtClean="0">
                <a:solidFill>
                  <a:srgbClr val="FF0000"/>
                </a:solidFill>
              </a:rPr>
              <a:t>c</a:t>
            </a:r>
            <a:r>
              <a:rPr lang="en-US" dirty="0">
                <a:solidFill>
                  <a:srgbClr val="FF0000"/>
                </a:solidFill>
              </a:rPr>
              <a:t>. </a:t>
            </a:r>
            <a:r>
              <a:rPr lang="en-US" dirty="0" smtClean="0">
                <a:solidFill>
                  <a:srgbClr val="FF0000"/>
                </a:solidFill>
              </a:rPr>
              <a:t>  the </a:t>
            </a:r>
            <a:r>
              <a:rPr lang="en-US" dirty="0">
                <a:solidFill>
                  <a:srgbClr val="FF0000"/>
                </a:solidFill>
              </a:rPr>
              <a:t>soil      </a:t>
            </a:r>
            <a:r>
              <a:rPr lang="en-US" dirty="0" smtClean="0">
                <a:solidFill>
                  <a:srgbClr val="FF0000"/>
                </a:solidFill>
              </a:rPr>
              <a:t>          </a:t>
            </a:r>
            <a:r>
              <a:rPr lang="en-US" dirty="0" smtClean="0"/>
              <a:t>d</a:t>
            </a:r>
            <a:r>
              <a:rPr lang="en-US" dirty="0"/>
              <a:t>. the atmosphere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53.</a:t>
            </a:r>
            <a:r>
              <a:rPr lang="en-US" dirty="0"/>
              <a:t> Living things respond to stimuli and adjust to the new environment. These show  the characteristics</a:t>
            </a:r>
          </a:p>
          <a:p>
            <a:pPr lvl="0">
              <a:buNone/>
            </a:pPr>
            <a:r>
              <a:rPr lang="en-US" dirty="0" smtClean="0"/>
              <a:t>a. Homeostasis </a:t>
            </a:r>
            <a:r>
              <a:rPr lang="en-US" dirty="0"/>
              <a:t>and reproduction, respectively </a:t>
            </a:r>
            <a:endParaRPr lang="en-US" dirty="0" smtClean="0"/>
          </a:p>
          <a:p>
            <a:pPr lvl="0">
              <a:buNone/>
            </a:pPr>
            <a:r>
              <a:rPr lang="en-US" dirty="0" smtClean="0"/>
              <a:t>b. Irritability and adaptation, respectively </a:t>
            </a:r>
          </a:p>
          <a:p>
            <a:pPr lvl="0">
              <a:buNone/>
            </a:pPr>
            <a:r>
              <a:rPr lang="en-US" dirty="0" smtClean="0"/>
              <a:t>c</a:t>
            </a:r>
            <a:r>
              <a:rPr lang="en-US" dirty="0"/>
              <a:t>. metabolism and adaptation, respectively</a:t>
            </a:r>
          </a:p>
          <a:p>
            <a:pPr lvl="0">
              <a:buNone/>
            </a:pPr>
            <a:r>
              <a:rPr lang="en-US" dirty="0" smtClean="0"/>
              <a:t>d</a:t>
            </a:r>
            <a:r>
              <a:rPr lang="en-US" dirty="0"/>
              <a:t>. adaptation and irritability, respectively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53.</a:t>
            </a:r>
            <a:r>
              <a:rPr lang="en-US" dirty="0"/>
              <a:t> Living things respond to stimuli and adjust to the new environment. These show  the characteristics</a:t>
            </a:r>
          </a:p>
          <a:p>
            <a:pPr lvl="0">
              <a:buNone/>
            </a:pPr>
            <a:r>
              <a:rPr lang="en-US" dirty="0" smtClean="0"/>
              <a:t>a. Homeostasis </a:t>
            </a:r>
            <a:r>
              <a:rPr lang="en-US" dirty="0"/>
              <a:t>and reproduction, respectively </a:t>
            </a:r>
            <a:endParaRPr lang="en-US" dirty="0" smtClean="0"/>
          </a:p>
          <a:p>
            <a:pPr lvl="0">
              <a:buNone/>
            </a:pPr>
            <a:r>
              <a:rPr lang="en-US" dirty="0" smtClean="0">
                <a:solidFill>
                  <a:srgbClr val="FF0000"/>
                </a:solidFill>
              </a:rPr>
              <a:t>b. Irritability and adaptation, respectively </a:t>
            </a:r>
          </a:p>
          <a:p>
            <a:pPr lvl="0">
              <a:buNone/>
            </a:pPr>
            <a:r>
              <a:rPr lang="en-US" dirty="0" smtClean="0"/>
              <a:t>c</a:t>
            </a:r>
            <a:r>
              <a:rPr lang="en-US" dirty="0"/>
              <a:t>. metabolism and adaptation, respectively</a:t>
            </a:r>
          </a:p>
          <a:p>
            <a:pPr lvl="0">
              <a:buNone/>
            </a:pPr>
            <a:r>
              <a:rPr lang="en-US" dirty="0" smtClean="0"/>
              <a:t>d</a:t>
            </a:r>
            <a:r>
              <a:rPr lang="en-US" dirty="0"/>
              <a:t>. adaptation and irritability, respectively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54. </a:t>
            </a:r>
            <a:r>
              <a:rPr lang="en-US" dirty="0"/>
              <a:t>Which shows the correct sequence of the stages of mitosis?</a:t>
            </a:r>
          </a:p>
          <a:p>
            <a:pPr lvl="0">
              <a:buNone/>
            </a:pPr>
            <a:r>
              <a:rPr lang="en-US" dirty="0" smtClean="0"/>
              <a:t>a. </a:t>
            </a:r>
            <a:r>
              <a:rPr lang="en-US" dirty="0" err="1" smtClean="0"/>
              <a:t>Interphase</a:t>
            </a:r>
            <a:r>
              <a:rPr lang="en-US" dirty="0"/>
              <a:t>, prophase, metaphase, anaphase</a:t>
            </a:r>
          </a:p>
          <a:p>
            <a:pPr lvl="0">
              <a:buNone/>
            </a:pPr>
            <a:r>
              <a:rPr lang="en-US" dirty="0" smtClean="0"/>
              <a:t>b. Prophase</a:t>
            </a:r>
            <a:r>
              <a:rPr lang="en-US" dirty="0"/>
              <a:t>, metaphase, anaphase, </a:t>
            </a:r>
            <a:r>
              <a:rPr lang="en-US" dirty="0" err="1"/>
              <a:t>telophase</a:t>
            </a:r>
            <a:endParaRPr lang="en-US" dirty="0"/>
          </a:p>
          <a:p>
            <a:pPr lvl="0">
              <a:buNone/>
            </a:pPr>
            <a:r>
              <a:rPr lang="en-US" dirty="0" smtClean="0"/>
              <a:t>c. Metaphase</a:t>
            </a:r>
            <a:r>
              <a:rPr lang="en-US" dirty="0"/>
              <a:t>, anaphase, prophase, </a:t>
            </a:r>
            <a:r>
              <a:rPr lang="en-US" dirty="0" err="1"/>
              <a:t>telophase</a:t>
            </a:r>
            <a:endParaRPr lang="en-US" dirty="0"/>
          </a:p>
          <a:p>
            <a:pPr lvl="0">
              <a:buNone/>
            </a:pPr>
            <a:r>
              <a:rPr lang="en-US" dirty="0" smtClean="0"/>
              <a:t>d. Prophase</a:t>
            </a:r>
            <a:r>
              <a:rPr lang="en-US" dirty="0"/>
              <a:t>, metaphase, anaphase, </a:t>
            </a:r>
            <a:r>
              <a:rPr lang="en-US" dirty="0" err="1"/>
              <a:t>telophase</a:t>
            </a:r>
            <a:r>
              <a:rPr lang="en-US" dirty="0"/>
              <a:t>, </a:t>
            </a:r>
            <a:r>
              <a:rPr lang="en-US" dirty="0" err="1"/>
              <a:t>interphase</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54. </a:t>
            </a:r>
            <a:r>
              <a:rPr lang="en-US" dirty="0"/>
              <a:t>Which shows the correct sequence of the stages of mitosis?</a:t>
            </a:r>
          </a:p>
          <a:p>
            <a:pPr lvl="0">
              <a:buNone/>
            </a:pPr>
            <a:r>
              <a:rPr lang="en-US" dirty="0" smtClean="0"/>
              <a:t>a. </a:t>
            </a:r>
            <a:r>
              <a:rPr lang="en-US" dirty="0" err="1" smtClean="0"/>
              <a:t>Interphase</a:t>
            </a:r>
            <a:r>
              <a:rPr lang="en-US" dirty="0"/>
              <a:t>, prophase, metaphase, anaphase</a:t>
            </a:r>
          </a:p>
          <a:p>
            <a:pPr lvl="0">
              <a:buNone/>
            </a:pPr>
            <a:r>
              <a:rPr lang="en-US" dirty="0" smtClean="0">
                <a:solidFill>
                  <a:srgbClr val="FF0000"/>
                </a:solidFill>
              </a:rPr>
              <a:t>b. Prophase</a:t>
            </a:r>
            <a:r>
              <a:rPr lang="en-US" dirty="0">
                <a:solidFill>
                  <a:srgbClr val="FF0000"/>
                </a:solidFill>
              </a:rPr>
              <a:t>, metaphase, anaphase, </a:t>
            </a:r>
            <a:r>
              <a:rPr lang="en-US" dirty="0" err="1">
                <a:solidFill>
                  <a:srgbClr val="FF0000"/>
                </a:solidFill>
              </a:rPr>
              <a:t>telophase</a:t>
            </a:r>
            <a:endParaRPr lang="en-US" dirty="0">
              <a:solidFill>
                <a:srgbClr val="FF0000"/>
              </a:solidFill>
            </a:endParaRPr>
          </a:p>
          <a:p>
            <a:pPr lvl="0">
              <a:buNone/>
            </a:pPr>
            <a:r>
              <a:rPr lang="en-US" dirty="0" smtClean="0"/>
              <a:t>c. Metaphase</a:t>
            </a:r>
            <a:r>
              <a:rPr lang="en-US" dirty="0"/>
              <a:t>, anaphase, prophase, </a:t>
            </a:r>
            <a:r>
              <a:rPr lang="en-US" dirty="0" err="1"/>
              <a:t>telophase</a:t>
            </a:r>
            <a:endParaRPr lang="en-US" dirty="0"/>
          </a:p>
          <a:p>
            <a:pPr lvl="0">
              <a:buNone/>
            </a:pPr>
            <a:r>
              <a:rPr lang="en-US" dirty="0" smtClean="0"/>
              <a:t>d. Prophase</a:t>
            </a:r>
            <a:r>
              <a:rPr lang="en-US" dirty="0"/>
              <a:t>, metaphase, anaphase, </a:t>
            </a:r>
            <a:r>
              <a:rPr lang="en-US" dirty="0" err="1"/>
              <a:t>telophase</a:t>
            </a:r>
            <a:r>
              <a:rPr lang="en-US" dirty="0"/>
              <a:t>, </a:t>
            </a:r>
            <a:r>
              <a:rPr lang="en-US" dirty="0" err="1"/>
              <a:t>interphase</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55.</a:t>
            </a:r>
            <a:r>
              <a:rPr lang="en-US" dirty="0"/>
              <a:t> The process in which water evaporates from the plant leaves</a:t>
            </a:r>
          </a:p>
          <a:p>
            <a:pPr marL="514350" lvl="0" indent="-514350">
              <a:buAutoNum type="alphaLcPeriod"/>
            </a:pPr>
            <a:r>
              <a:rPr lang="en-US" dirty="0" smtClean="0"/>
              <a:t>Perspiration            b</a:t>
            </a:r>
            <a:r>
              <a:rPr lang="en-US" dirty="0"/>
              <a:t>. condensation     </a:t>
            </a:r>
            <a:endParaRPr lang="en-US" dirty="0" smtClean="0"/>
          </a:p>
          <a:p>
            <a:pPr marL="514350" lvl="0" indent="-514350">
              <a:buNone/>
            </a:pPr>
            <a:r>
              <a:rPr lang="en-US" dirty="0" smtClean="0"/>
              <a:t>c.   photosynthesis      d. transpiration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55.</a:t>
            </a:r>
            <a:r>
              <a:rPr lang="en-US" dirty="0"/>
              <a:t> The process in which water evaporates from the plant leaves</a:t>
            </a:r>
          </a:p>
          <a:p>
            <a:pPr marL="514350" lvl="0" indent="-514350">
              <a:buAutoNum type="alphaLcPeriod"/>
            </a:pPr>
            <a:r>
              <a:rPr lang="en-US" dirty="0" smtClean="0"/>
              <a:t>Perspiration            b</a:t>
            </a:r>
            <a:r>
              <a:rPr lang="en-US" dirty="0"/>
              <a:t>. condensation     </a:t>
            </a:r>
            <a:endParaRPr lang="en-US" dirty="0" smtClean="0"/>
          </a:p>
          <a:p>
            <a:pPr marL="514350" lvl="0" indent="-514350">
              <a:buNone/>
            </a:pPr>
            <a:r>
              <a:rPr lang="en-US" dirty="0" smtClean="0"/>
              <a:t>c.   photosynthesis      </a:t>
            </a:r>
            <a:r>
              <a:rPr lang="en-US" dirty="0" smtClean="0">
                <a:solidFill>
                  <a:srgbClr val="FF0000"/>
                </a:solidFill>
              </a:rPr>
              <a:t>d. transpiration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56. </a:t>
            </a:r>
            <a:r>
              <a:rPr lang="en-US" dirty="0"/>
              <a:t>A structure that has a definite form and performs a certain function for the body</a:t>
            </a:r>
          </a:p>
          <a:p>
            <a:pPr marL="514350" lvl="0" indent="-514350">
              <a:buAutoNum type="alphaLcPeriod"/>
            </a:pPr>
            <a:r>
              <a:rPr lang="en-US" dirty="0" smtClean="0"/>
              <a:t>Cell            </a:t>
            </a:r>
          </a:p>
          <a:p>
            <a:pPr marL="514350" lvl="0" indent="-514350">
              <a:buNone/>
            </a:pPr>
            <a:r>
              <a:rPr lang="en-US" dirty="0" smtClean="0"/>
              <a:t>b</a:t>
            </a:r>
            <a:r>
              <a:rPr lang="en-US" dirty="0"/>
              <a:t>. </a:t>
            </a:r>
            <a:r>
              <a:rPr lang="en-US" dirty="0" smtClean="0"/>
              <a:t> Tissue               </a:t>
            </a:r>
          </a:p>
          <a:p>
            <a:pPr marL="514350" lvl="0" indent="-514350">
              <a:buNone/>
            </a:pPr>
            <a:r>
              <a:rPr lang="en-US" dirty="0" smtClean="0"/>
              <a:t>c</a:t>
            </a:r>
            <a:r>
              <a:rPr lang="en-US" dirty="0"/>
              <a:t>. </a:t>
            </a:r>
            <a:r>
              <a:rPr lang="en-US" dirty="0" smtClean="0"/>
              <a:t> Organ      </a:t>
            </a:r>
          </a:p>
          <a:p>
            <a:pPr marL="514350" lvl="0" indent="-514350">
              <a:buNone/>
            </a:pPr>
            <a:r>
              <a:rPr lang="en-US" dirty="0" smtClean="0"/>
              <a:t>d.  System</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56. </a:t>
            </a:r>
            <a:r>
              <a:rPr lang="en-US" dirty="0"/>
              <a:t>A structure that has a definite form and performs a certain function for the body</a:t>
            </a:r>
          </a:p>
          <a:p>
            <a:pPr marL="514350" lvl="0" indent="-514350">
              <a:buAutoNum type="alphaLcPeriod"/>
            </a:pPr>
            <a:r>
              <a:rPr lang="en-US" dirty="0" smtClean="0"/>
              <a:t>Cell            </a:t>
            </a:r>
          </a:p>
          <a:p>
            <a:pPr marL="514350" lvl="0" indent="-514350">
              <a:buNone/>
            </a:pPr>
            <a:r>
              <a:rPr lang="en-US" dirty="0" smtClean="0"/>
              <a:t>b</a:t>
            </a:r>
            <a:r>
              <a:rPr lang="en-US" dirty="0"/>
              <a:t>. </a:t>
            </a:r>
            <a:r>
              <a:rPr lang="en-US" dirty="0" smtClean="0"/>
              <a:t> Tissue               </a:t>
            </a:r>
          </a:p>
          <a:p>
            <a:pPr marL="514350" lvl="0" indent="-514350">
              <a:buNone/>
            </a:pPr>
            <a:r>
              <a:rPr lang="en-US" dirty="0" smtClean="0">
                <a:solidFill>
                  <a:srgbClr val="FF0000"/>
                </a:solidFill>
              </a:rPr>
              <a:t>c</a:t>
            </a:r>
            <a:r>
              <a:rPr lang="en-US" dirty="0">
                <a:solidFill>
                  <a:srgbClr val="FF0000"/>
                </a:solidFill>
              </a:rPr>
              <a:t>. </a:t>
            </a:r>
            <a:r>
              <a:rPr lang="en-US" dirty="0" smtClean="0">
                <a:solidFill>
                  <a:srgbClr val="FF0000"/>
                </a:solidFill>
              </a:rPr>
              <a:t> Organ      </a:t>
            </a:r>
          </a:p>
          <a:p>
            <a:pPr marL="514350" lvl="0" indent="-514350">
              <a:buNone/>
            </a:pPr>
            <a:r>
              <a:rPr lang="en-US" dirty="0" smtClean="0"/>
              <a:t>d.  System</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57.</a:t>
            </a:r>
            <a:r>
              <a:rPr lang="en-US" dirty="0"/>
              <a:t> Which of these is INCORRECTLY  matched?</a:t>
            </a:r>
          </a:p>
          <a:p>
            <a:pPr marL="514350" lvl="0" indent="-514350">
              <a:buAutoNum type="alphaLcPeriod"/>
            </a:pPr>
            <a:r>
              <a:rPr lang="en-US" dirty="0" smtClean="0"/>
              <a:t>Carnivore </a:t>
            </a:r>
            <a:r>
              <a:rPr lang="en-US" dirty="0"/>
              <a:t>– lion    </a:t>
            </a:r>
            <a:r>
              <a:rPr lang="en-US" dirty="0" smtClean="0"/>
              <a:t>   b</a:t>
            </a:r>
            <a:r>
              <a:rPr lang="en-US" dirty="0"/>
              <a:t>. producer – algae     </a:t>
            </a:r>
            <a:endParaRPr lang="en-US" dirty="0" smtClean="0"/>
          </a:p>
          <a:p>
            <a:pPr marL="514350" lvl="0" indent="-514350">
              <a:buNone/>
            </a:pPr>
            <a:r>
              <a:rPr lang="en-US" dirty="0" smtClean="0"/>
              <a:t>c</a:t>
            </a:r>
            <a:r>
              <a:rPr lang="en-US" dirty="0"/>
              <a:t>. herbivore – rabbit     d. omnivore – </a:t>
            </a:r>
            <a:r>
              <a:rPr lang="en-US" dirty="0" err="1"/>
              <a:t>carabao</a:t>
            </a:r>
            <a:endParaRPr lang="en-US" dirty="0"/>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57.</a:t>
            </a:r>
            <a:r>
              <a:rPr lang="en-US" dirty="0"/>
              <a:t> Which of these is INCORRECTLY  matched?</a:t>
            </a:r>
          </a:p>
          <a:p>
            <a:pPr marL="514350" lvl="0" indent="-514350">
              <a:buAutoNum type="alphaLcPeriod"/>
            </a:pPr>
            <a:r>
              <a:rPr lang="en-US" dirty="0" smtClean="0"/>
              <a:t>Carnivore </a:t>
            </a:r>
            <a:r>
              <a:rPr lang="en-US" dirty="0"/>
              <a:t>– lion    </a:t>
            </a:r>
            <a:r>
              <a:rPr lang="en-US" dirty="0" smtClean="0"/>
              <a:t>   b</a:t>
            </a:r>
            <a:r>
              <a:rPr lang="en-US" dirty="0"/>
              <a:t>. producer – algae     </a:t>
            </a:r>
            <a:endParaRPr lang="en-US" dirty="0" smtClean="0"/>
          </a:p>
          <a:p>
            <a:pPr marL="514350" lvl="0" indent="-514350">
              <a:buNone/>
            </a:pPr>
            <a:r>
              <a:rPr lang="en-US" dirty="0" smtClean="0"/>
              <a:t>c</a:t>
            </a:r>
            <a:r>
              <a:rPr lang="en-US" dirty="0"/>
              <a:t>. herbivore – rabbit     </a:t>
            </a:r>
            <a:r>
              <a:rPr lang="en-US" dirty="0">
                <a:solidFill>
                  <a:srgbClr val="FF0000"/>
                </a:solidFill>
              </a:rPr>
              <a:t>d. omnivore – </a:t>
            </a:r>
            <a:r>
              <a:rPr lang="en-US" dirty="0" err="1">
                <a:solidFill>
                  <a:srgbClr val="FF0000"/>
                </a:solidFill>
              </a:rPr>
              <a:t>carabao</a:t>
            </a:r>
            <a:endParaRPr lang="en-US" dirty="0">
              <a:solidFill>
                <a:srgbClr val="FF0000"/>
              </a:solidFill>
            </a:endParaRP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58.</a:t>
            </a:r>
            <a:r>
              <a:rPr lang="en-US" dirty="0"/>
              <a:t> In angiosperm, fertilization occurs when</a:t>
            </a:r>
          </a:p>
          <a:p>
            <a:pPr marL="514350" lvl="0" indent="-514350">
              <a:buAutoNum type="alphaLcPeriod"/>
            </a:pPr>
            <a:r>
              <a:rPr lang="en-US" dirty="0" smtClean="0"/>
              <a:t>A </a:t>
            </a:r>
            <a:r>
              <a:rPr lang="en-US" dirty="0"/>
              <a:t>pollen grain joins the stigma                       </a:t>
            </a:r>
          </a:p>
          <a:p>
            <a:pPr lvl="0">
              <a:buNone/>
            </a:pPr>
            <a:r>
              <a:rPr lang="en-US" dirty="0" smtClean="0"/>
              <a:t>b. A </a:t>
            </a:r>
            <a:r>
              <a:rPr lang="en-US" dirty="0"/>
              <a:t>pollen germinates to form tube  </a:t>
            </a:r>
            <a:endParaRPr lang="en-US" dirty="0" smtClean="0"/>
          </a:p>
          <a:p>
            <a:pPr lvl="0">
              <a:buNone/>
            </a:pPr>
            <a:r>
              <a:rPr lang="en-US" dirty="0" smtClean="0"/>
              <a:t>c. A sperm nucleus joins the egg cell               </a:t>
            </a:r>
          </a:p>
          <a:p>
            <a:pPr lvl="0">
              <a:buNone/>
            </a:pPr>
            <a:r>
              <a:rPr lang="en-US" dirty="0" smtClean="0"/>
              <a:t>d</a:t>
            </a:r>
            <a:r>
              <a:rPr lang="en-US" dirty="0"/>
              <a:t>. a seed sprouts and grows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58.</a:t>
            </a:r>
            <a:r>
              <a:rPr lang="en-US" dirty="0"/>
              <a:t> In angiosperm, fertilization occurs when</a:t>
            </a:r>
          </a:p>
          <a:p>
            <a:pPr marL="514350" lvl="0" indent="-514350">
              <a:buAutoNum type="alphaLcPeriod"/>
            </a:pPr>
            <a:r>
              <a:rPr lang="en-US" dirty="0" smtClean="0"/>
              <a:t>A </a:t>
            </a:r>
            <a:r>
              <a:rPr lang="en-US" dirty="0"/>
              <a:t>pollen grain joins the stigma                       </a:t>
            </a:r>
          </a:p>
          <a:p>
            <a:pPr lvl="0">
              <a:buNone/>
            </a:pPr>
            <a:r>
              <a:rPr lang="en-US" dirty="0" smtClean="0"/>
              <a:t>b. A </a:t>
            </a:r>
            <a:r>
              <a:rPr lang="en-US" dirty="0"/>
              <a:t>pollen germinates to form tube  </a:t>
            </a:r>
            <a:endParaRPr lang="en-US" dirty="0" smtClean="0"/>
          </a:p>
          <a:p>
            <a:pPr lvl="0">
              <a:buNone/>
            </a:pPr>
            <a:r>
              <a:rPr lang="en-US" dirty="0" smtClean="0">
                <a:solidFill>
                  <a:srgbClr val="FF0000"/>
                </a:solidFill>
              </a:rPr>
              <a:t>c. A sperm nucleus joins the egg cell               </a:t>
            </a:r>
          </a:p>
          <a:p>
            <a:pPr lvl="0">
              <a:buNone/>
            </a:pPr>
            <a:r>
              <a:rPr lang="en-US" dirty="0" smtClean="0"/>
              <a:t>d</a:t>
            </a:r>
            <a:r>
              <a:rPr lang="en-US" dirty="0"/>
              <a:t>. a seed sprouts and grows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59. </a:t>
            </a:r>
            <a:r>
              <a:rPr lang="en-US" dirty="0"/>
              <a:t>A green grasshopper hides in the grassland to escape from </a:t>
            </a:r>
            <a:r>
              <a:rPr lang="en-US" dirty="0" smtClean="0"/>
              <a:t>its </a:t>
            </a:r>
            <a:r>
              <a:rPr lang="en-US" dirty="0"/>
              <a:t>enemies.  This adaptation is </a:t>
            </a:r>
          </a:p>
          <a:p>
            <a:pPr marL="514350" lvl="0" indent="-514350">
              <a:buAutoNum type="alphaLcPeriod"/>
            </a:pPr>
            <a:r>
              <a:rPr lang="en-US" dirty="0" smtClean="0"/>
              <a:t>protective </a:t>
            </a:r>
            <a:r>
              <a:rPr lang="en-US" dirty="0"/>
              <a:t>coloration</a:t>
            </a:r>
            <a:r>
              <a:rPr lang="en-US" dirty="0">
                <a:solidFill>
                  <a:srgbClr val="FF0000"/>
                </a:solidFill>
              </a:rPr>
              <a:t>   </a:t>
            </a:r>
            <a:r>
              <a:rPr lang="en-US" dirty="0" smtClean="0">
                <a:solidFill>
                  <a:srgbClr val="FF0000"/>
                </a:solidFill>
              </a:rPr>
              <a:t>    </a:t>
            </a:r>
            <a:r>
              <a:rPr lang="en-US" dirty="0"/>
              <a:t>b. mimicry        </a:t>
            </a:r>
            <a:endParaRPr lang="en-US" dirty="0" smtClean="0"/>
          </a:p>
          <a:p>
            <a:pPr marL="514350" lvl="0" indent="-514350">
              <a:buNone/>
            </a:pPr>
            <a:r>
              <a:rPr lang="en-US" dirty="0" smtClean="0"/>
              <a:t>c</a:t>
            </a:r>
            <a:r>
              <a:rPr lang="en-US" dirty="0"/>
              <a:t>. </a:t>
            </a:r>
            <a:r>
              <a:rPr lang="en-US" dirty="0" smtClean="0"/>
              <a:t>  </a:t>
            </a:r>
            <a:r>
              <a:rPr lang="en-US" dirty="0" err="1" smtClean="0"/>
              <a:t>phenocopy</a:t>
            </a:r>
            <a:r>
              <a:rPr lang="en-US" dirty="0" smtClean="0"/>
              <a:t>                         d</a:t>
            </a:r>
            <a:r>
              <a:rPr lang="en-US" dirty="0"/>
              <a:t>.  exposure</a:t>
            </a:r>
          </a:p>
          <a:p>
            <a:pPr>
              <a:buNone/>
            </a:pPr>
            <a:endParaRPr lang="en-US"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59. </a:t>
            </a:r>
            <a:r>
              <a:rPr lang="en-US" dirty="0"/>
              <a:t>A green grasshopper hides in the grassland to escape from </a:t>
            </a:r>
            <a:r>
              <a:rPr lang="en-US" dirty="0" smtClean="0"/>
              <a:t>its </a:t>
            </a:r>
            <a:r>
              <a:rPr lang="en-US" dirty="0"/>
              <a:t>enemies.  This adaptation is </a:t>
            </a:r>
          </a:p>
          <a:p>
            <a:pPr marL="514350" lvl="0" indent="-514350">
              <a:buAutoNum type="alphaLcPeriod"/>
            </a:pPr>
            <a:r>
              <a:rPr lang="en-US" dirty="0" smtClean="0">
                <a:solidFill>
                  <a:srgbClr val="FF0000"/>
                </a:solidFill>
              </a:rPr>
              <a:t>protective </a:t>
            </a:r>
            <a:r>
              <a:rPr lang="en-US" dirty="0">
                <a:solidFill>
                  <a:srgbClr val="FF0000"/>
                </a:solidFill>
              </a:rPr>
              <a:t>coloration   </a:t>
            </a:r>
            <a:r>
              <a:rPr lang="en-US" dirty="0" smtClean="0">
                <a:solidFill>
                  <a:srgbClr val="FF0000"/>
                </a:solidFill>
              </a:rPr>
              <a:t>    </a:t>
            </a:r>
            <a:r>
              <a:rPr lang="en-US" dirty="0"/>
              <a:t>b. mimicry        </a:t>
            </a:r>
            <a:endParaRPr lang="en-US" dirty="0" smtClean="0"/>
          </a:p>
          <a:p>
            <a:pPr marL="514350" lvl="0" indent="-514350">
              <a:buNone/>
            </a:pPr>
            <a:r>
              <a:rPr lang="en-US" dirty="0" smtClean="0"/>
              <a:t>c</a:t>
            </a:r>
            <a:r>
              <a:rPr lang="en-US" dirty="0"/>
              <a:t>. </a:t>
            </a:r>
            <a:r>
              <a:rPr lang="en-US" dirty="0" smtClean="0"/>
              <a:t>  </a:t>
            </a:r>
            <a:r>
              <a:rPr lang="en-US" dirty="0" err="1" smtClean="0"/>
              <a:t>phenocopy</a:t>
            </a:r>
            <a:r>
              <a:rPr lang="en-US" dirty="0" smtClean="0"/>
              <a:t>                         d</a:t>
            </a:r>
            <a:r>
              <a:rPr lang="en-US" dirty="0"/>
              <a:t>.  exposure</a:t>
            </a:r>
          </a:p>
          <a:p>
            <a:pPr>
              <a:buNone/>
            </a:pPr>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buNone/>
            </a:pPr>
            <a:r>
              <a:rPr lang="en-US" dirty="0" smtClean="0"/>
              <a:t>60.</a:t>
            </a:r>
            <a:r>
              <a:rPr lang="en-US" dirty="0"/>
              <a:t> When is observation considered good observation?</a:t>
            </a:r>
          </a:p>
          <a:p>
            <a:pPr marL="514350" lvl="0" indent="-514350">
              <a:buAutoNum type="alphaLcPeriod"/>
            </a:pPr>
            <a:r>
              <a:rPr lang="en-US" dirty="0" smtClean="0"/>
              <a:t>When </a:t>
            </a:r>
            <a:r>
              <a:rPr lang="en-US" dirty="0"/>
              <a:t>you use an instrument       </a:t>
            </a:r>
            <a:endParaRPr lang="en-US" dirty="0" smtClean="0"/>
          </a:p>
          <a:p>
            <a:pPr marL="514350" lvl="0" indent="-514350">
              <a:buNone/>
            </a:pPr>
            <a:r>
              <a:rPr lang="en-US" dirty="0" smtClean="0"/>
              <a:t>c</a:t>
            </a:r>
            <a:r>
              <a:rPr lang="en-US" dirty="0"/>
              <a:t>. </a:t>
            </a:r>
            <a:r>
              <a:rPr lang="en-US" dirty="0" smtClean="0"/>
              <a:t>  when </a:t>
            </a:r>
            <a:r>
              <a:rPr lang="en-US" dirty="0"/>
              <a:t>you record only what is actually there</a:t>
            </a:r>
          </a:p>
          <a:p>
            <a:pPr lvl="0">
              <a:buNone/>
            </a:pPr>
            <a:r>
              <a:rPr lang="en-US" dirty="0" smtClean="0"/>
              <a:t>b.  When </a:t>
            </a:r>
            <a:r>
              <a:rPr lang="en-US" dirty="0"/>
              <a:t>you wear eyeglasses          </a:t>
            </a:r>
            <a:endParaRPr lang="en-US" dirty="0" smtClean="0"/>
          </a:p>
          <a:p>
            <a:pPr lvl="0">
              <a:buNone/>
            </a:pPr>
            <a:r>
              <a:rPr lang="en-US" dirty="0" smtClean="0"/>
              <a:t>d</a:t>
            </a:r>
            <a:r>
              <a:rPr lang="en-US" dirty="0"/>
              <a:t>. </a:t>
            </a:r>
            <a:r>
              <a:rPr lang="en-US" dirty="0" smtClean="0"/>
              <a:t> when </a:t>
            </a:r>
            <a:r>
              <a:rPr lang="en-US" dirty="0"/>
              <a:t>you record things as you would like </a:t>
            </a:r>
            <a:r>
              <a:rPr lang="en-US" dirty="0" smtClean="0"/>
              <a:t>   them </a:t>
            </a:r>
            <a:r>
              <a:rPr lang="en-US" dirty="0"/>
              <a:t>to appear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buNone/>
            </a:pPr>
            <a:r>
              <a:rPr lang="en-US" dirty="0" smtClean="0"/>
              <a:t>60.</a:t>
            </a:r>
            <a:r>
              <a:rPr lang="en-US" dirty="0"/>
              <a:t> When is observation considered good observation?</a:t>
            </a:r>
          </a:p>
          <a:p>
            <a:pPr marL="514350" lvl="0" indent="-514350">
              <a:buAutoNum type="alphaLcPeriod"/>
            </a:pPr>
            <a:r>
              <a:rPr lang="en-US" dirty="0" smtClean="0"/>
              <a:t>When </a:t>
            </a:r>
            <a:r>
              <a:rPr lang="en-US" dirty="0"/>
              <a:t>you use an instrument       </a:t>
            </a:r>
            <a:endParaRPr lang="en-US" dirty="0" smtClean="0"/>
          </a:p>
          <a:p>
            <a:pPr marL="514350" lvl="0" indent="-514350">
              <a:buNone/>
            </a:pPr>
            <a:r>
              <a:rPr lang="en-US" dirty="0" smtClean="0">
                <a:solidFill>
                  <a:srgbClr val="FF0000"/>
                </a:solidFill>
              </a:rPr>
              <a:t>c</a:t>
            </a:r>
            <a:r>
              <a:rPr lang="en-US" dirty="0">
                <a:solidFill>
                  <a:srgbClr val="FF0000"/>
                </a:solidFill>
              </a:rPr>
              <a:t>. </a:t>
            </a:r>
            <a:r>
              <a:rPr lang="en-US" dirty="0" smtClean="0">
                <a:solidFill>
                  <a:srgbClr val="FF0000"/>
                </a:solidFill>
              </a:rPr>
              <a:t>  when </a:t>
            </a:r>
            <a:r>
              <a:rPr lang="en-US" dirty="0">
                <a:solidFill>
                  <a:srgbClr val="FF0000"/>
                </a:solidFill>
              </a:rPr>
              <a:t>you record only what is actually there</a:t>
            </a:r>
          </a:p>
          <a:p>
            <a:pPr lvl="0">
              <a:buNone/>
            </a:pPr>
            <a:r>
              <a:rPr lang="en-US" dirty="0" smtClean="0"/>
              <a:t>b.  When </a:t>
            </a:r>
            <a:r>
              <a:rPr lang="en-US" dirty="0"/>
              <a:t>you wear eyeglasses          </a:t>
            </a:r>
            <a:endParaRPr lang="en-US" dirty="0" smtClean="0"/>
          </a:p>
          <a:p>
            <a:pPr lvl="0">
              <a:buNone/>
            </a:pPr>
            <a:r>
              <a:rPr lang="en-US" dirty="0" smtClean="0"/>
              <a:t>d</a:t>
            </a:r>
            <a:r>
              <a:rPr lang="en-US" dirty="0"/>
              <a:t>. </a:t>
            </a:r>
            <a:r>
              <a:rPr lang="en-US" dirty="0" smtClean="0"/>
              <a:t> when </a:t>
            </a:r>
            <a:r>
              <a:rPr lang="en-US" dirty="0"/>
              <a:t>you record things as you would like </a:t>
            </a:r>
            <a:r>
              <a:rPr lang="en-US" dirty="0" smtClean="0"/>
              <a:t>   them </a:t>
            </a:r>
            <a:r>
              <a:rPr lang="en-US" dirty="0"/>
              <a:t>to appear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61.</a:t>
            </a:r>
            <a:r>
              <a:rPr lang="en-US" dirty="0"/>
              <a:t> These are marine animals covered with spines</a:t>
            </a:r>
          </a:p>
          <a:p>
            <a:pPr marL="514350" lvl="0" indent="-514350">
              <a:buAutoNum type="alphaLcPeriod"/>
            </a:pPr>
            <a:r>
              <a:rPr lang="en-US" dirty="0" smtClean="0"/>
              <a:t>Amphibians    </a:t>
            </a:r>
          </a:p>
          <a:p>
            <a:pPr marL="514350" lvl="0" indent="-514350">
              <a:buNone/>
            </a:pPr>
            <a:r>
              <a:rPr lang="en-US" dirty="0" smtClean="0"/>
              <a:t>b</a:t>
            </a:r>
            <a:r>
              <a:rPr lang="en-US" dirty="0"/>
              <a:t>. </a:t>
            </a:r>
            <a:r>
              <a:rPr lang="en-US" dirty="0" smtClean="0"/>
              <a:t> mollusks   </a:t>
            </a:r>
          </a:p>
          <a:p>
            <a:pPr marL="514350" lvl="0" indent="-514350">
              <a:buAutoNum type="alphaLcPeriod" startAt="3"/>
            </a:pPr>
            <a:r>
              <a:rPr lang="en-US" dirty="0" smtClean="0"/>
              <a:t>coelenterates     </a:t>
            </a:r>
          </a:p>
          <a:p>
            <a:pPr marL="514350" lvl="0" indent="-514350">
              <a:buNone/>
            </a:pPr>
            <a:r>
              <a:rPr lang="en-US" dirty="0" smtClean="0"/>
              <a:t>d</a:t>
            </a:r>
            <a:r>
              <a:rPr lang="en-US" dirty="0"/>
              <a:t>. </a:t>
            </a:r>
            <a:r>
              <a:rPr lang="en-US" dirty="0" smtClean="0"/>
              <a:t> echinoderms</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61.</a:t>
            </a:r>
            <a:r>
              <a:rPr lang="en-US" dirty="0"/>
              <a:t> These are marine animals covered with spines</a:t>
            </a:r>
          </a:p>
          <a:p>
            <a:pPr marL="514350" lvl="0" indent="-514350">
              <a:buAutoNum type="alphaLcPeriod"/>
            </a:pPr>
            <a:r>
              <a:rPr lang="en-US" dirty="0" smtClean="0"/>
              <a:t>Amphibians    </a:t>
            </a:r>
          </a:p>
          <a:p>
            <a:pPr marL="514350" lvl="0" indent="-514350">
              <a:buNone/>
            </a:pPr>
            <a:r>
              <a:rPr lang="en-US" dirty="0" smtClean="0"/>
              <a:t>b</a:t>
            </a:r>
            <a:r>
              <a:rPr lang="en-US" dirty="0"/>
              <a:t>. </a:t>
            </a:r>
            <a:r>
              <a:rPr lang="en-US" dirty="0" smtClean="0"/>
              <a:t> mollusks   </a:t>
            </a:r>
          </a:p>
          <a:p>
            <a:pPr marL="514350" lvl="0" indent="-514350">
              <a:buAutoNum type="alphaLcPeriod" startAt="3"/>
            </a:pPr>
            <a:r>
              <a:rPr lang="en-US" dirty="0" smtClean="0"/>
              <a:t>coelenterates     </a:t>
            </a:r>
          </a:p>
          <a:p>
            <a:pPr marL="514350" lvl="0" indent="-514350">
              <a:buNone/>
            </a:pPr>
            <a:r>
              <a:rPr lang="en-US" dirty="0" smtClean="0">
                <a:solidFill>
                  <a:srgbClr val="FF0000"/>
                </a:solidFill>
              </a:rPr>
              <a:t>d</a:t>
            </a:r>
            <a:r>
              <a:rPr lang="en-US" dirty="0">
                <a:solidFill>
                  <a:srgbClr val="FF0000"/>
                </a:solidFill>
              </a:rPr>
              <a:t>. </a:t>
            </a:r>
            <a:r>
              <a:rPr lang="en-US" dirty="0" smtClean="0">
                <a:solidFill>
                  <a:srgbClr val="FF0000"/>
                </a:solidFill>
              </a:rPr>
              <a:t> echinoderms</a:t>
            </a:r>
            <a:endParaRPr lang="en-US" dirty="0">
              <a:solidFill>
                <a:srgbClr val="FF0000"/>
              </a:solidFill>
            </a:endParaRP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62.</a:t>
            </a:r>
            <a:r>
              <a:rPr lang="en-US" dirty="0"/>
              <a:t> Which of the following </a:t>
            </a:r>
            <a:r>
              <a:rPr lang="en-US" dirty="0" smtClean="0"/>
              <a:t>statements </a:t>
            </a:r>
            <a:r>
              <a:rPr lang="en-US" dirty="0"/>
              <a:t>is FALSE?</a:t>
            </a:r>
          </a:p>
          <a:p>
            <a:pPr lvl="0">
              <a:buNone/>
            </a:pPr>
            <a:r>
              <a:rPr lang="en-US" dirty="0" smtClean="0"/>
              <a:t>a. The </a:t>
            </a:r>
            <a:r>
              <a:rPr lang="en-US" dirty="0"/>
              <a:t>PH of an acid ranges from 1-6</a:t>
            </a:r>
          </a:p>
          <a:p>
            <a:pPr lvl="0">
              <a:buNone/>
            </a:pPr>
            <a:r>
              <a:rPr lang="en-US" dirty="0" smtClean="0"/>
              <a:t>b. The </a:t>
            </a:r>
            <a:r>
              <a:rPr lang="en-US" dirty="0"/>
              <a:t>ligaments connect bones to bones</a:t>
            </a:r>
          </a:p>
          <a:p>
            <a:pPr lvl="0">
              <a:buNone/>
            </a:pPr>
            <a:r>
              <a:rPr lang="en-US" dirty="0" smtClean="0"/>
              <a:t>c. Melanin </a:t>
            </a:r>
            <a:r>
              <a:rPr lang="en-US" dirty="0"/>
              <a:t>is the green pigment found in plants</a:t>
            </a:r>
          </a:p>
          <a:p>
            <a:pPr lvl="0">
              <a:buNone/>
            </a:pPr>
            <a:r>
              <a:rPr lang="en-US" dirty="0" smtClean="0"/>
              <a:t>d. Sepals </a:t>
            </a:r>
            <a:r>
              <a:rPr lang="en-US" dirty="0"/>
              <a:t>are </a:t>
            </a:r>
            <a:r>
              <a:rPr lang="en-US" dirty="0" err="1"/>
              <a:t>leaflike</a:t>
            </a:r>
            <a:r>
              <a:rPr lang="en-US" dirty="0"/>
              <a:t> structures that surround the petals of a flower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62.</a:t>
            </a:r>
            <a:r>
              <a:rPr lang="en-US" dirty="0"/>
              <a:t> Which of the following </a:t>
            </a:r>
            <a:r>
              <a:rPr lang="en-US" dirty="0" smtClean="0"/>
              <a:t>statements </a:t>
            </a:r>
            <a:r>
              <a:rPr lang="en-US" dirty="0"/>
              <a:t>is FALSE?</a:t>
            </a:r>
          </a:p>
          <a:p>
            <a:pPr lvl="0">
              <a:buNone/>
            </a:pPr>
            <a:r>
              <a:rPr lang="en-US" dirty="0" smtClean="0"/>
              <a:t>a. The </a:t>
            </a:r>
            <a:r>
              <a:rPr lang="en-US" dirty="0"/>
              <a:t>PH of an acid ranges from 1-6</a:t>
            </a:r>
          </a:p>
          <a:p>
            <a:pPr lvl="0">
              <a:buNone/>
            </a:pPr>
            <a:r>
              <a:rPr lang="en-US" dirty="0" smtClean="0"/>
              <a:t>b. The </a:t>
            </a:r>
            <a:r>
              <a:rPr lang="en-US" dirty="0"/>
              <a:t>ligaments connect bones to bones</a:t>
            </a:r>
          </a:p>
          <a:p>
            <a:pPr lvl="0">
              <a:buNone/>
            </a:pPr>
            <a:r>
              <a:rPr lang="en-US" dirty="0" smtClean="0">
                <a:solidFill>
                  <a:srgbClr val="FF0000"/>
                </a:solidFill>
              </a:rPr>
              <a:t>c. Melanin </a:t>
            </a:r>
            <a:r>
              <a:rPr lang="en-US" dirty="0">
                <a:solidFill>
                  <a:srgbClr val="FF0000"/>
                </a:solidFill>
              </a:rPr>
              <a:t>is the green pigment found in plants</a:t>
            </a:r>
          </a:p>
          <a:p>
            <a:pPr lvl="0">
              <a:buNone/>
            </a:pPr>
            <a:r>
              <a:rPr lang="en-US" dirty="0" smtClean="0"/>
              <a:t>d. Sepals </a:t>
            </a:r>
            <a:r>
              <a:rPr lang="en-US" dirty="0"/>
              <a:t>are </a:t>
            </a:r>
            <a:r>
              <a:rPr lang="en-US" dirty="0" err="1"/>
              <a:t>leaflike</a:t>
            </a:r>
            <a:r>
              <a:rPr lang="en-US" dirty="0"/>
              <a:t> structures that surround the petals of a flower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63.</a:t>
            </a:r>
            <a:r>
              <a:rPr lang="en-US" dirty="0"/>
              <a:t> Where is ATP produced?</a:t>
            </a:r>
          </a:p>
          <a:p>
            <a:pPr marL="514350" lvl="0" indent="-514350">
              <a:buAutoNum type="alphaLcPeriod"/>
            </a:pPr>
            <a:r>
              <a:rPr lang="en-US" dirty="0" smtClean="0"/>
              <a:t>In </a:t>
            </a:r>
            <a:r>
              <a:rPr lang="en-US" dirty="0"/>
              <a:t>the nucleus   </a:t>
            </a:r>
            <a:r>
              <a:rPr lang="en-US" dirty="0" smtClean="0"/>
              <a:t>    </a:t>
            </a:r>
            <a:r>
              <a:rPr lang="en-US" dirty="0"/>
              <a:t>b. in the nucleolus     </a:t>
            </a:r>
            <a:endParaRPr lang="en-US" dirty="0" smtClean="0"/>
          </a:p>
          <a:p>
            <a:pPr marL="514350" lvl="0" indent="-514350">
              <a:buNone/>
            </a:pPr>
            <a:r>
              <a:rPr lang="en-US" dirty="0" smtClean="0"/>
              <a:t>c</a:t>
            </a:r>
            <a:r>
              <a:rPr lang="en-US" dirty="0"/>
              <a:t>. </a:t>
            </a:r>
            <a:r>
              <a:rPr lang="en-US" dirty="0" smtClean="0"/>
              <a:t> in </a:t>
            </a:r>
            <a:r>
              <a:rPr lang="en-US" dirty="0"/>
              <a:t>the ribosome     d. in the mitochondrion</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63.</a:t>
            </a:r>
            <a:r>
              <a:rPr lang="en-US" dirty="0"/>
              <a:t> Where is ATP produced?</a:t>
            </a:r>
          </a:p>
          <a:p>
            <a:pPr marL="514350" lvl="0" indent="-514350">
              <a:buAutoNum type="alphaLcPeriod"/>
            </a:pPr>
            <a:r>
              <a:rPr lang="en-US" dirty="0" smtClean="0"/>
              <a:t>In </a:t>
            </a:r>
            <a:r>
              <a:rPr lang="en-US" dirty="0"/>
              <a:t>the nucleus   </a:t>
            </a:r>
            <a:r>
              <a:rPr lang="en-US" dirty="0" smtClean="0"/>
              <a:t>    </a:t>
            </a:r>
            <a:r>
              <a:rPr lang="en-US" dirty="0"/>
              <a:t>b. in the nucleolus     </a:t>
            </a:r>
            <a:endParaRPr lang="en-US" dirty="0" smtClean="0"/>
          </a:p>
          <a:p>
            <a:pPr marL="514350" lvl="0" indent="-514350">
              <a:buNone/>
            </a:pPr>
            <a:r>
              <a:rPr lang="en-US" dirty="0" smtClean="0"/>
              <a:t>c</a:t>
            </a:r>
            <a:r>
              <a:rPr lang="en-US" dirty="0"/>
              <a:t>. </a:t>
            </a:r>
            <a:r>
              <a:rPr lang="en-US" dirty="0" smtClean="0"/>
              <a:t> in </a:t>
            </a:r>
            <a:r>
              <a:rPr lang="en-US" dirty="0"/>
              <a:t>the ribosome     </a:t>
            </a:r>
            <a:r>
              <a:rPr lang="en-US" dirty="0">
                <a:solidFill>
                  <a:srgbClr val="FF0000"/>
                </a:solidFill>
              </a:rPr>
              <a:t>d. in the mitochondrion</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64.</a:t>
            </a:r>
            <a:r>
              <a:rPr lang="en-US" dirty="0"/>
              <a:t> Which of these is an example of the </a:t>
            </a:r>
            <a:r>
              <a:rPr lang="en-US" dirty="0" err="1"/>
              <a:t>abiotic</a:t>
            </a:r>
            <a:r>
              <a:rPr lang="en-US" dirty="0"/>
              <a:t> factor in a habitat?</a:t>
            </a:r>
          </a:p>
          <a:p>
            <a:pPr marL="514350" lvl="0" indent="-514350">
              <a:buAutoNum type="alphaLcPeriod"/>
            </a:pPr>
            <a:r>
              <a:rPr lang="en-US" dirty="0" smtClean="0"/>
              <a:t>Population </a:t>
            </a:r>
            <a:r>
              <a:rPr lang="en-US" dirty="0"/>
              <a:t>of grasses                         </a:t>
            </a:r>
            <a:endParaRPr lang="en-US" dirty="0" smtClean="0"/>
          </a:p>
          <a:p>
            <a:pPr marL="514350" lvl="0" indent="-514350">
              <a:buNone/>
            </a:pPr>
            <a:r>
              <a:rPr lang="en-US" dirty="0" smtClean="0"/>
              <a:t>c</a:t>
            </a:r>
            <a:r>
              <a:rPr lang="en-US" dirty="0"/>
              <a:t>.  population of birds</a:t>
            </a:r>
          </a:p>
          <a:p>
            <a:pPr lvl="0">
              <a:buNone/>
            </a:pPr>
            <a:r>
              <a:rPr lang="en-US" dirty="0" smtClean="0"/>
              <a:t>b. Population </a:t>
            </a:r>
            <a:r>
              <a:rPr lang="en-US" dirty="0"/>
              <a:t>of insects                          </a:t>
            </a:r>
            <a:endParaRPr lang="en-US" dirty="0" smtClean="0"/>
          </a:p>
          <a:p>
            <a:pPr lvl="0">
              <a:buNone/>
            </a:pPr>
            <a:r>
              <a:rPr lang="en-US" dirty="0" smtClean="0"/>
              <a:t>d</a:t>
            </a:r>
            <a:r>
              <a:rPr lang="en-US" dirty="0"/>
              <a:t>. acid-base balance of the soil</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64.</a:t>
            </a:r>
            <a:r>
              <a:rPr lang="en-US" dirty="0"/>
              <a:t> Which of these is an example of the </a:t>
            </a:r>
            <a:r>
              <a:rPr lang="en-US" dirty="0" err="1"/>
              <a:t>abiotic</a:t>
            </a:r>
            <a:r>
              <a:rPr lang="en-US" dirty="0"/>
              <a:t> factor in a habitat?</a:t>
            </a:r>
          </a:p>
          <a:p>
            <a:pPr marL="514350" lvl="0" indent="-514350">
              <a:buAutoNum type="alphaLcPeriod"/>
            </a:pPr>
            <a:r>
              <a:rPr lang="en-US" dirty="0" smtClean="0"/>
              <a:t>Population </a:t>
            </a:r>
            <a:r>
              <a:rPr lang="en-US" dirty="0"/>
              <a:t>of grasses                         </a:t>
            </a:r>
            <a:endParaRPr lang="en-US" dirty="0" smtClean="0"/>
          </a:p>
          <a:p>
            <a:pPr marL="514350" lvl="0" indent="-514350">
              <a:buNone/>
            </a:pPr>
            <a:r>
              <a:rPr lang="en-US" dirty="0" smtClean="0"/>
              <a:t>c</a:t>
            </a:r>
            <a:r>
              <a:rPr lang="en-US" dirty="0"/>
              <a:t>.  population of birds</a:t>
            </a:r>
          </a:p>
          <a:p>
            <a:pPr lvl="0">
              <a:buNone/>
            </a:pPr>
            <a:r>
              <a:rPr lang="en-US" dirty="0" smtClean="0"/>
              <a:t>b. Population </a:t>
            </a:r>
            <a:r>
              <a:rPr lang="en-US" dirty="0"/>
              <a:t>of insects                          </a:t>
            </a:r>
            <a:endParaRPr lang="en-US" dirty="0" smtClean="0"/>
          </a:p>
          <a:p>
            <a:pPr lvl="0">
              <a:buNone/>
            </a:pPr>
            <a:r>
              <a:rPr lang="en-US" dirty="0" smtClean="0">
                <a:solidFill>
                  <a:srgbClr val="FF0000"/>
                </a:solidFill>
              </a:rPr>
              <a:t>d</a:t>
            </a:r>
            <a:r>
              <a:rPr lang="en-US" dirty="0">
                <a:solidFill>
                  <a:srgbClr val="FF0000"/>
                </a:solidFill>
              </a:rPr>
              <a:t>. acid-base balance of the soil</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smtClean="0"/>
              <a:t>65.</a:t>
            </a:r>
            <a:r>
              <a:rPr lang="en-US" dirty="0"/>
              <a:t> Morgan suggested that chromosomes are composed of units called genes which control specific traits. If a certain gene controlling a certain trait changes during cell division,  which of the following conclusion is correct?</a:t>
            </a:r>
          </a:p>
          <a:p>
            <a:pPr lvl="0">
              <a:buNone/>
            </a:pPr>
            <a:r>
              <a:rPr lang="en-US" dirty="0" smtClean="0"/>
              <a:t>a. The </a:t>
            </a:r>
            <a:r>
              <a:rPr lang="en-US" dirty="0"/>
              <a:t>process of cell division will stop</a:t>
            </a:r>
          </a:p>
          <a:p>
            <a:pPr lvl="0">
              <a:buNone/>
            </a:pPr>
            <a:r>
              <a:rPr lang="en-US" dirty="0" smtClean="0"/>
              <a:t>b. The </a:t>
            </a:r>
            <a:r>
              <a:rPr lang="en-US" dirty="0"/>
              <a:t>trait in the daughter cells will be different than in the parent cell</a:t>
            </a:r>
          </a:p>
          <a:p>
            <a:pPr lvl="0">
              <a:buNone/>
            </a:pPr>
            <a:r>
              <a:rPr lang="en-US" dirty="0" smtClean="0"/>
              <a:t>c. The </a:t>
            </a:r>
            <a:r>
              <a:rPr lang="en-US" dirty="0"/>
              <a:t>daughter cells will exhibit unchanged </a:t>
            </a:r>
            <a:r>
              <a:rPr lang="en-US" dirty="0" smtClean="0"/>
              <a:t>gene</a:t>
            </a:r>
          </a:p>
          <a:p>
            <a:pPr>
              <a:buNone/>
            </a:pPr>
            <a:r>
              <a:rPr lang="en-US" dirty="0" smtClean="0"/>
              <a:t>d. the </a:t>
            </a:r>
            <a:r>
              <a:rPr lang="en-US" dirty="0"/>
              <a:t>daughter cells will inherit the original, unchanged gene</a:t>
            </a:r>
          </a:p>
          <a:p>
            <a:pPr lvl="0">
              <a:buNone/>
            </a:pP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dirty="0" smtClean="0"/>
              <a:t>65.</a:t>
            </a:r>
            <a:r>
              <a:rPr lang="en-US" dirty="0"/>
              <a:t> Morgan suggested that chromosomes are composed of units called genes which control specific traits. If a certain gene controlling a certain trait changes during cell division,  which of the following conclusion is correct?</a:t>
            </a:r>
          </a:p>
          <a:p>
            <a:pPr lvl="0">
              <a:buNone/>
            </a:pPr>
            <a:r>
              <a:rPr lang="en-US" dirty="0" smtClean="0"/>
              <a:t>a. The </a:t>
            </a:r>
            <a:r>
              <a:rPr lang="en-US" dirty="0"/>
              <a:t>process of cell division will stop</a:t>
            </a:r>
          </a:p>
          <a:p>
            <a:pPr lvl="0">
              <a:buNone/>
            </a:pPr>
            <a:r>
              <a:rPr lang="en-US" dirty="0" smtClean="0">
                <a:solidFill>
                  <a:srgbClr val="FF0000"/>
                </a:solidFill>
              </a:rPr>
              <a:t>b. The </a:t>
            </a:r>
            <a:r>
              <a:rPr lang="en-US" dirty="0">
                <a:solidFill>
                  <a:srgbClr val="FF0000"/>
                </a:solidFill>
              </a:rPr>
              <a:t>trait in the daughter cells will be different than in the parent cell</a:t>
            </a:r>
          </a:p>
          <a:p>
            <a:pPr lvl="0">
              <a:buNone/>
            </a:pPr>
            <a:r>
              <a:rPr lang="en-US" dirty="0" smtClean="0"/>
              <a:t>c. The </a:t>
            </a:r>
            <a:r>
              <a:rPr lang="en-US" dirty="0"/>
              <a:t>daughter cells will exhibit unchanged </a:t>
            </a:r>
            <a:r>
              <a:rPr lang="en-US" dirty="0" smtClean="0"/>
              <a:t>gene</a:t>
            </a:r>
          </a:p>
          <a:p>
            <a:pPr>
              <a:buNone/>
            </a:pPr>
            <a:r>
              <a:rPr lang="en-US" dirty="0" smtClean="0"/>
              <a:t>d. the </a:t>
            </a:r>
            <a:r>
              <a:rPr lang="en-US" dirty="0"/>
              <a:t>daughter cells will inherit the original, unchanged gene</a:t>
            </a:r>
          </a:p>
          <a:p>
            <a:pPr lvl="0">
              <a:buNone/>
            </a:pP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66.</a:t>
            </a:r>
            <a:r>
              <a:rPr lang="en-US" dirty="0"/>
              <a:t> skin cancer is caused by ultraviolet rays of the sun. Over many years, exposure to ultraviolet rays causes damage to skin cells, and they begin to reproduce uncontrollably. From the passage, what is the best way to prevent skin cancer?</a:t>
            </a:r>
          </a:p>
          <a:p>
            <a:pPr lvl="0">
              <a:buNone/>
            </a:pPr>
            <a:r>
              <a:rPr lang="en-US" dirty="0" smtClean="0"/>
              <a:t>a. Get </a:t>
            </a:r>
            <a:r>
              <a:rPr lang="en-US" dirty="0"/>
              <a:t>regular medical check up</a:t>
            </a:r>
          </a:p>
          <a:p>
            <a:pPr lvl="0">
              <a:buNone/>
            </a:pPr>
            <a:r>
              <a:rPr lang="en-US" dirty="0" smtClean="0"/>
              <a:t>b. Avoid </a:t>
            </a:r>
            <a:r>
              <a:rPr lang="en-US" dirty="0"/>
              <a:t>exposure to ultraviolet light </a:t>
            </a:r>
          </a:p>
          <a:p>
            <a:pPr lvl="0">
              <a:buNone/>
            </a:pPr>
            <a:r>
              <a:rPr lang="en-US" dirty="0" smtClean="0"/>
              <a:t>c. Stop </a:t>
            </a:r>
            <a:r>
              <a:rPr lang="en-US" dirty="0"/>
              <a:t>skin cells to reproduce</a:t>
            </a:r>
          </a:p>
          <a:p>
            <a:pPr lvl="0">
              <a:buNone/>
            </a:pPr>
            <a:r>
              <a:rPr lang="en-US" dirty="0" smtClean="0"/>
              <a:t>d. Sunbathe </a:t>
            </a:r>
            <a:r>
              <a:rPr lang="en-US" dirty="0"/>
              <a:t>evenly on all parts of the body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66.</a:t>
            </a:r>
            <a:r>
              <a:rPr lang="en-US" dirty="0"/>
              <a:t> skin cancer is caused by ultraviolet rays of the sun. Over many years, exposure to ultraviolet rays causes damage to skin cells, and they begin to reproduce uncontrollably. From the passage, what is the best way to prevent skin cancer?</a:t>
            </a:r>
          </a:p>
          <a:p>
            <a:pPr lvl="0">
              <a:buNone/>
            </a:pPr>
            <a:r>
              <a:rPr lang="en-US" dirty="0" smtClean="0"/>
              <a:t>a. Get </a:t>
            </a:r>
            <a:r>
              <a:rPr lang="en-US" dirty="0"/>
              <a:t>regular medical check up</a:t>
            </a:r>
          </a:p>
          <a:p>
            <a:pPr lvl="0">
              <a:buNone/>
            </a:pPr>
            <a:r>
              <a:rPr lang="en-US" dirty="0" smtClean="0">
                <a:solidFill>
                  <a:srgbClr val="FF0000"/>
                </a:solidFill>
              </a:rPr>
              <a:t>b. Avoid </a:t>
            </a:r>
            <a:r>
              <a:rPr lang="en-US" dirty="0">
                <a:solidFill>
                  <a:srgbClr val="FF0000"/>
                </a:solidFill>
              </a:rPr>
              <a:t>exposure to ultraviolet light </a:t>
            </a:r>
          </a:p>
          <a:p>
            <a:pPr lvl="0">
              <a:buNone/>
            </a:pPr>
            <a:r>
              <a:rPr lang="en-US" dirty="0" smtClean="0"/>
              <a:t>c. Stop </a:t>
            </a:r>
            <a:r>
              <a:rPr lang="en-US" dirty="0"/>
              <a:t>skin cells to reproduce</a:t>
            </a:r>
          </a:p>
          <a:p>
            <a:pPr lvl="0">
              <a:buNone/>
            </a:pPr>
            <a:r>
              <a:rPr lang="en-US" dirty="0" smtClean="0"/>
              <a:t>d. Sunbathe </a:t>
            </a:r>
            <a:r>
              <a:rPr lang="en-US" dirty="0"/>
              <a:t>evenly on all parts of the body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67.</a:t>
            </a:r>
            <a:r>
              <a:rPr lang="en-US" dirty="0"/>
              <a:t> A Biology student makes a detailed study of a cheek cell in a prepared slide under the microscope. Which part of the microscope would he use?</a:t>
            </a:r>
          </a:p>
          <a:p>
            <a:pPr marL="514350" lvl="0" indent="-514350">
              <a:buAutoNum type="alphaLcPeriod"/>
            </a:pPr>
            <a:r>
              <a:rPr lang="en-US" dirty="0" smtClean="0"/>
              <a:t>Diaphragm                                                          </a:t>
            </a:r>
          </a:p>
          <a:p>
            <a:pPr marL="514350" lvl="0" indent="-514350">
              <a:buNone/>
            </a:pPr>
            <a:r>
              <a:rPr lang="en-US" dirty="0" smtClean="0"/>
              <a:t>b.   </a:t>
            </a:r>
            <a:r>
              <a:rPr lang="en-US" dirty="0"/>
              <a:t>very low power objective lens</a:t>
            </a:r>
          </a:p>
          <a:p>
            <a:pPr lvl="0">
              <a:buNone/>
            </a:pPr>
            <a:r>
              <a:rPr lang="en-US" dirty="0" smtClean="0"/>
              <a:t>c.   Low </a:t>
            </a:r>
            <a:r>
              <a:rPr lang="en-US" dirty="0"/>
              <a:t>power objective lens                                  </a:t>
            </a:r>
            <a:endParaRPr lang="en-US" dirty="0" smtClean="0"/>
          </a:p>
          <a:p>
            <a:pPr lvl="0">
              <a:buNone/>
            </a:pPr>
            <a:r>
              <a:rPr lang="en-US" dirty="0" smtClean="0"/>
              <a:t>d</a:t>
            </a:r>
            <a:r>
              <a:rPr lang="en-US" dirty="0"/>
              <a:t>. </a:t>
            </a:r>
            <a:r>
              <a:rPr lang="en-US" dirty="0" smtClean="0"/>
              <a:t>  High </a:t>
            </a:r>
            <a:r>
              <a:rPr lang="en-US" dirty="0"/>
              <a:t>power objective lens</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dirty="0" smtClean="0"/>
              <a:t>67.</a:t>
            </a:r>
            <a:r>
              <a:rPr lang="en-US" dirty="0"/>
              <a:t> A Biology student makes a detailed study of a cheek cell in a prepared slide under the microscope. Which part of the microscope would he use?</a:t>
            </a:r>
          </a:p>
          <a:p>
            <a:pPr marL="514350" lvl="0" indent="-514350">
              <a:buAutoNum type="alphaLcPeriod"/>
            </a:pPr>
            <a:r>
              <a:rPr lang="en-US" dirty="0" smtClean="0"/>
              <a:t>Diaphragm                                                          </a:t>
            </a:r>
          </a:p>
          <a:p>
            <a:pPr marL="514350" lvl="0" indent="-514350">
              <a:buNone/>
            </a:pPr>
            <a:r>
              <a:rPr lang="en-US" dirty="0" smtClean="0"/>
              <a:t>b.   </a:t>
            </a:r>
            <a:r>
              <a:rPr lang="en-US" dirty="0"/>
              <a:t>very low power objective lens</a:t>
            </a:r>
          </a:p>
          <a:p>
            <a:pPr lvl="0">
              <a:buNone/>
            </a:pPr>
            <a:r>
              <a:rPr lang="en-US" dirty="0" smtClean="0"/>
              <a:t>c.   Low </a:t>
            </a:r>
            <a:r>
              <a:rPr lang="en-US" dirty="0"/>
              <a:t>power objective lens                                  </a:t>
            </a:r>
            <a:endParaRPr lang="en-US" dirty="0" smtClean="0"/>
          </a:p>
          <a:p>
            <a:pPr lvl="0">
              <a:buNone/>
            </a:pPr>
            <a:r>
              <a:rPr lang="en-US" dirty="0" smtClean="0">
                <a:solidFill>
                  <a:srgbClr val="FF0000"/>
                </a:solidFill>
              </a:rPr>
              <a:t>d</a:t>
            </a:r>
            <a:r>
              <a:rPr lang="en-US" dirty="0">
                <a:solidFill>
                  <a:srgbClr val="FF0000"/>
                </a:solidFill>
              </a:rPr>
              <a:t>. </a:t>
            </a:r>
            <a:r>
              <a:rPr lang="en-US" dirty="0" smtClean="0">
                <a:solidFill>
                  <a:srgbClr val="FF0000"/>
                </a:solidFill>
              </a:rPr>
              <a:t>  High </a:t>
            </a:r>
            <a:r>
              <a:rPr lang="en-US" dirty="0">
                <a:solidFill>
                  <a:srgbClr val="FF0000"/>
                </a:solidFill>
              </a:rPr>
              <a:t>power objective lens</a:t>
            </a:r>
          </a:p>
          <a:p>
            <a:pPr>
              <a:buNone/>
            </a:pPr>
            <a:r>
              <a:rPr lang="en-US" dirty="0" smtClean="0">
                <a:solidFill>
                  <a:srgbClr val="FF0000"/>
                </a:solidFill>
              </a:rPr>
              <a: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68.</a:t>
            </a:r>
            <a:r>
              <a:rPr lang="en-US" dirty="0"/>
              <a:t> What is the function of the diaphragm of the microscope?</a:t>
            </a:r>
          </a:p>
          <a:p>
            <a:pPr lvl="0">
              <a:buNone/>
            </a:pPr>
            <a:r>
              <a:rPr lang="en-US" dirty="0" smtClean="0"/>
              <a:t>a. Reflects </a:t>
            </a:r>
            <a:r>
              <a:rPr lang="en-US" dirty="0"/>
              <a:t>light towards the eyepiece</a:t>
            </a:r>
          </a:p>
          <a:p>
            <a:pPr lvl="0">
              <a:buNone/>
            </a:pPr>
            <a:r>
              <a:rPr lang="en-US" dirty="0" smtClean="0"/>
              <a:t>b. Regulates </a:t>
            </a:r>
            <a:r>
              <a:rPr lang="en-US" dirty="0"/>
              <a:t>the amount of light towards the eyepiece</a:t>
            </a:r>
          </a:p>
          <a:p>
            <a:pPr lvl="0">
              <a:buNone/>
            </a:pPr>
            <a:r>
              <a:rPr lang="en-US" dirty="0" smtClean="0"/>
              <a:t>c. Moves </a:t>
            </a:r>
            <a:r>
              <a:rPr lang="en-US" dirty="0"/>
              <a:t>the body tube up and down to focus the image</a:t>
            </a:r>
          </a:p>
          <a:p>
            <a:pPr lvl="0">
              <a:buNone/>
            </a:pPr>
            <a:r>
              <a:rPr lang="en-US" dirty="0" smtClean="0"/>
              <a:t>d. Moves </a:t>
            </a:r>
            <a:r>
              <a:rPr lang="en-US" dirty="0"/>
              <a:t>the body tube slowly to bring the image into sharp focus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dirty="0" smtClean="0"/>
              <a:t>68.</a:t>
            </a:r>
            <a:r>
              <a:rPr lang="en-US" dirty="0"/>
              <a:t> What is the function of the diaphragm of the microscope?</a:t>
            </a:r>
          </a:p>
          <a:p>
            <a:pPr lvl="0">
              <a:buNone/>
            </a:pPr>
            <a:r>
              <a:rPr lang="en-US" dirty="0" smtClean="0"/>
              <a:t>a. Reflects </a:t>
            </a:r>
            <a:r>
              <a:rPr lang="en-US" dirty="0"/>
              <a:t>light towards the eyepiece</a:t>
            </a:r>
          </a:p>
          <a:p>
            <a:pPr lvl="0">
              <a:buNone/>
            </a:pPr>
            <a:r>
              <a:rPr lang="en-US" dirty="0" smtClean="0">
                <a:solidFill>
                  <a:srgbClr val="FF0000"/>
                </a:solidFill>
              </a:rPr>
              <a:t>b. Regulates </a:t>
            </a:r>
            <a:r>
              <a:rPr lang="en-US" dirty="0">
                <a:solidFill>
                  <a:srgbClr val="FF0000"/>
                </a:solidFill>
              </a:rPr>
              <a:t>the amount of light towards the eyepiece</a:t>
            </a:r>
          </a:p>
          <a:p>
            <a:pPr lvl="0">
              <a:buNone/>
            </a:pPr>
            <a:r>
              <a:rPr lang="en-US" dirty="0" smtClean="0"/>
              <a:t>c. Moves </a:t>
            </a:r>
            <a:r>
              <a:rPr lang="en-US" dirty="0"/>
              <a:t>the body tube up and down to focus the image</a:t>
            </a:r>
          </a:p>
          <a:p>
            <a:pPr lvl="0">
              <a:buNone/>
            </a:pPr>
            <a:r>
              <a:rPr lang="en-US" dirty="0" smtClean="0"/>
              <a:t>d. Moves </a:t>
            </a:r>
            <a:r>
              <a:rPr lang="en-US" dirty="0"/>
              <a:t>the body tube slowly to bring the image into sharp focus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0"/>
            <a:ext cx="8229600" cy="4525963"/>
          </a:xfrm>
        </p:spPr>
        <p:txBody>
          <a:bodyPr>
            <a:normAutofit fontScale="92500" lnSpcReduction="10000"/>
          </a:bodyPr>
          <a:lstStyle/>
          <a:p>
            <a:pPr lvl="0">
              <a:buNone/>
            </a:pPr>
            <a:r>
              <a:rPr lang="en-US" dirty="0" smtClean="0"/>
              <a:t>69.</a:t>
            </a:r>
            <a:r>
              <a:rPr lang="en-US" dirty="0"/>
              <a:t> What was the contribution of </a:t>
            </a:r>
            <a:r>
              <a:rPr lang="en-US" dirty="0" err="1"/>
              <a:t>Gregor</a:t>
            </a:r>
            <a:r>
              <a:rPr lang="en-US" dirty="0"/>
              <a:t> Mendel in the field of biology?</a:t>
            </a:r>
          </a:p>
          <a:p>
            <a:pPr>
              <a:buNone/>
            </a:pPr>
            <a:r>
              <a:rPr lang="en-US" dirty="0"/>
              <a:t>a. He formulated the basic principles of heredity</a:t>
            </a:r>
          </a:p>
          <a:p>
            <a:pPr>
              <a:buNone/>
            </a:pPr>
            <a:r>
              <a:rPr lang="en-US" dirty="0"/>
              <a:t>b. He described the structure of the DNA molecule</a:t>
            </a:r>
          </a:p>
          <a:p>
            <a:pPr>
              <a:buNone/>
            </a:pPr>
            <a:r>
              <a:rPr lang="en-US" dirty="0"/>
              <a:t>c. He developed the binomial system of </a:t>
            </a:r>
            <a:r>
              <a:rPr lang="en-US" dirty="0" smtClean="0"/>
              <a:t>naming organisms</a:t>
            </a:r>
            <a:endParaRPr lang="en-US" dirty="0"/>
          </a:p>
          <a:p>
            <a:pPr>
              <a:buNone/>
            </a:pPr>
            <a:r>
              <a:rPr lang="en-US" dirty="0"/>
              <a:t>d. He discovered the mechanism of human blood circulation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0"/>
            <a:ext cx="8229600" cy="4525963"/>
          </a:xfrm>
        </p:spPr>
        <p:txBody>
          <a:bodyPr>
            <a:normAutofit fontScale="92500" lnSpcReduction="10000"/>
          </a:bodyPr>
          <a:lstStyle/>
          <a:p>
            <a:pPr lvl="0">
              <a:buNone/>
            </a:pPr>
            <a:r>
              <a:rPr lang="en-US" dirty="0" smtClean="0"/>
              <a:t>69.</a:t>
            </a:r>
            <a:r>
              <a:rPr lang="en-US" dirty="0"/>
              <a:t> What was the contribution of </a:t>
            </a:r>
            <a:r>
              <a:rPr lang="en-US" dirty="0" err="1"/>
              <a:t>Gregor</a:t>
            </a:r>
            <a:r>
              <a:rPr lang="en-US" dirty="0"/>
              <a:t> Mendel in the field of biology?</a:t>
            </a:r>
          </a:p>
          <a:p>
            <a:pPr>
              <a:buNone/>
            </a:pPr>
            <a:r>
              <a:rPr lang="en-US" dirty="0">
                <a:solidFill>
                  <a:srgbClr val="FF0000"/>
                </a:solidFill>
              </a:rPr>
              <a:t>a. He formulated the basic principles of heredity</a:t>
            </a:r>
          </a:p>
          <a:p>
            <a:pPr>
              <a:buNone/>
            </a:pPr>
            <a:r>
              <a:rPr lang="en-US" dirty="0"/>
              <a:t>b. He described the structure of the DNA molecule</a:t>
            </a:r>
          </a:p>
          <a:p>
            <a:pPr>
              <a:buNone/>
            </a:pPr>
            <a:r>
              <a:rPr lang="en-US" dirty="0"/>
              <a:t>c. He developed the binomial system of </a:t>
            </a:r>
            <a:r>
              <a:rPr lang="en-US" dirty="0" smtClean="0"/>
              <a:t>naming organisms</a:t>
            </a:r>
            <a:endParaRPr lang="en-US" dirty="0"/>
          </a:p>
          <a:p>
            <a:pPr>
              <a:buNone/>
            </a:pPr>
            <a:r>
              <a:rPr lang="en-US" dirty="0"/>
              <a:t>d. He discovered the mechanism of human blood circulation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70 </a:t>
            </a:r>
            <a:r>
              <a:rPr lang="en-US" dirty="0"/>
              <a:t>. what is common to osmosis and diffusion</a:t>
            </a:r>
            <a:r>
              <a:rPr lang="en-US" dirty="0" smtClean="0"/>
              <a:t>?</a:t>
            </a:r>
          </a:p>
          <a:p>
            <a:pPr>
              <a:buNone/>
            </a:pPr>
            <a:r>
              <a:rPr lang="en-US" dirty="0" smtClean="0"/>
              <a:t>a</a:t>
            </a:r>
            <a:r>
              <a:rPr lang="en-US" dirty="0"/>
              <a:t>. both require expenditure of </a:t>
            </a:r>
            <a:r>
              <a:rPr lang="en-US" dirty="0" smtClean="0"/>
              <a:t>energy</a:t>
            </a:r>
          </a:p>
          <a:p>
            <a:pPr>
              <a:buNone/>
            </a:pPr>
            <a:r>
              <a:rPr lang="en-US" dirty="0" smtClean="0"/>
              <a:t>b</a:t>
            </a:r>
            <a:r>
              <a:rPr lang="en-US" dirty="0"/>
              <a:t>. both move molecules against the concentration </a:t>
            </a:r>
            <a:r>
              <a:rPr lang="en-US" dirty="0" smtClean="0"/>
              <a:t>gradient</a:t>
            </a:r>
          </a:p>
          <a:p>
            <a:pPr>
              <a:buNone/>
            </a:pPr>
            <a:r>
              <a:rPr lang="en-US" dirty="0" smtClean="0"/>
              <a:t>c. both require movement of molecules across semi -permeable membrane</a:t>
            </a:r>
          </a:p>
          <a:p>
            <a:pPr>
              <a:buNone/>
            </a:pPr>
            <a:r>
              <a:rPr lang="en-US" dirty="0" smtClean="0"/>
              <a:t>d. both allow molecules to move from an area of greater concentration to an area of lower       </a:t>
            </a:r>
          </a:p>
          <a:p>
            <a:pPr>
              <a:buNone/>
            </a:pPr>
            <a:r>
              <a:rPr lang="en-US" dirty="0" smtClean="0"/>
              <a:t>                  </a:t>
            </a:r>
            <a:r>
              <a:rPr lang="en-US" dirty="0"/>
              <a:t>concentration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70 </a:t>
            </a:r>
            <a:r>
              <a:rPr lang="en-US" dirty="0"/>
              <a:t>. what is common to osmosis and diffusion</a:t>
            </a:r>
            <a:r>
              <a:rPr lang="en-US" dirty="0" smtClean="0"/>
              <a:t>?</a:t>
            </a:r>
          </a:p>
          <a:p>
            <a:pPr>
              <a:buNone/>
            </a:pPr>
            <a:r>
              <a:rPr lang="en-US" dirty="0" smtClean="0"/>
              <a:t>a</a:t>
            </a:r>
            <a:r>
              <a:rPr lang="en-US" dirty="0"/>
              <a:t>. both require expenditure of </a:t>
            </a:r>
            <a:r>
              <a:rPr lang="en-US" dirty="0" smtClean="0"/>
              <a:t>energy</a:t>
            </a:r>
          </a:p>
          <a:p>
            <a:pPr>
              <a:buNone/>
            </a:pPr>
            <a:r>
              <a:rPr lang="en-US" dirty="0" smtClean="0"/>
              <a:t>b</a:t>
            </a:r>
            <a:r>
              <a:rPr lang="en-US" dirty="0"/>
              <a:t>. both move molecules against the concentration </a:t>
            </a:r>
            <a:r>
              <a:rPr lang="en-US" dirty="0" smtClean="0"/>
              <a:t>gradient</a:t>
            </a:r>
          </a:p>
          <a:p>
            <a:pPr>
              <a:buNone/>
            </a:pPr>
            <a:r>
              <a:rPr lang="en-US" dirty="0" smtClean="0"/>
              <a:t>c. both require movement of molecules across semi -permeable membrane</a:t>
            </a:r>
          </a:p>
          <a:p>
            <a:pPr>
              <a:buNone/>
            </a:pPr>
            <a:r>
              <a:rPr lang="en-US" dirty="0" smtClean="0">
                <a:solidFill>
                  <a:srgbClr val="FF0000"/>
                </a:solidFill>
              </a:rPr>
              <a:t>d. both allow molecules to move from an area of greater concentration to an area of lower       </a:t>
            </a:r>
          </a:p>
          <a:p>
            <a:pPr>
              <a:buNone/>
            </a:pPr>
            <a:r>
              <a:rPr lang="en-US" dirty="0" smtClean="0">
                <a:solidFill>
                  <a:srgbClr val="FF0000"/>
                </a:solidFill>
              </a:rPr>
              <a:t>                  </a:t>
            </a:r>
            <a:r>
              <a:rPr lang="en-US" dirty="0">
                <a:solidFill>
                  <a:srgbClr val="FF0000"/>
                </a:solidFill>
              </a:rPr>
              <a:t>concentration</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lvl="0">
              <a:buNone/>
            </a:pPr>
            <a:r>
              <a:rPr lang="en-US" dirty="0" smtClean="0"/>
              <a:t>71.</a:t>
            </a:r>
            <a:r>
              <a:rPr lang="en-US" dirty="0"/>
              <a:t> Which two statements describe asexual reproduction ?</a:t>
            </a:r>
          </a:p>
          <a:p>
            <a:pPr lvl="0">
              <a:buNone/>
            </a:pPr>
            <a:r>
              <a:rPr lang="en-US" dirty="0" smtClean="0"/>
              <a:t>A. It </a:t>
            </a:r>
            <a:r>
              <a:rPr lang="en-US" dirty="0"/>
              <a:t>involves the union of gametes</a:t>
            </a:r>
          </a:p>
          <a:p>
            <a:pPr lvl="0">
              <a:buNone/>
            </a:pPr>
            <a:r>
              <a:rPr lang="en-US" dirty="0" smtClean="0"/>
              <a:t>B. It </a:t>
            </a:r>
            <a:r>
              <a:rPr lang="en-US" dirty="0"/>
              <a:t>forms individual without involving gametes</a:t>
            </a:r>
          </a:p>
          <a:p>
            <a:pPr lvl="0">
              <a:buNone/>
            </a:pPr>
            <a:r>
              <a:rPr lang="en-US" dirty="0" smtClean="0"/>
              <a:t>C. It </a:t>
            </a:r>
            <a:r>
              <a:rPr lang="en-US" dirty="0"/>
              <a:t>produces offspring that is genetically identical with its single parent</a:t>
            </a:r>
          </a:p>
          <a:p>
            <a:pPr lvl="0">
              <a:buNone/>
            </a:pPr>
            <a:r>
              <a:rPr lang="en-US" dirty="0" smtClean="0"/>
              <a:t>D. It </a:t>
            </a:r>
            <a:r>
              <a:rPr lang="en-US" dirty="0"/>
              <a:t>produces an offspring resulting from a chance combination of genes derived from two different </a:t>
            </a:r>
            <a:r>
              <a:rPr lang="en-US" dirty="0" smtClean="0"/>
              <a:t>gametes</a:t>
            </a:r>
          </a:p>
          <a:p>
            <a:pPr lvl="0">
              <a:buNone/>
            </a:pPr>
            <a:r>
              <a:rPr lang="en-US" dirty="0" smtClean="0"/>
              <a:t>a. A and D    b. B and C     </a:t>
            </a:r>
            <a:r>
              <a:rPr lang="en-US" dirty="0" err="1" smtClean="0"/>
              <a:t>c</a:t>
            </a:r>
            <a:r>
              <a:rPr lang="en-US" dirty="0" smtClean="0"/>
              <a:t>. C and D     </a:t>
            </a:r>
            <a:r>
              <a:rPr lang="en-US" dirty="0" err="1" smtClean="0"/>
              <a:t>d</a:t>
            </a:r>
            <a:r>
              <a:rPr lang="en-US" dirty="0" smtClean="0"/>
              <a:t>. A and B</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lvl="0">
              <a:buNone/>
            </a:pPr>
            <a:r>
              <a:rPr lang="en-US" dirty="0" smtClean="0"/>
              <a:t>71.</a:t>
            </a:r>
            <a:r>
              <a:rPr lang="en-US" dirty="0"/>
              <a:t> Which two statements describe asexual reproduction ?</a:t>
            </a:r>
          </a:p>
          <a:p>
            <a:pPr lvl="0">
              <a:buNone/>
            </a:pPr>
            <a:r>
              <a:rPr lang="en-US" dirty="0" smtClean="0"/>
              <a:t>A. It </a:t>
            </a:r>
            <a:r>
              <a:rPr lang="en-US" dirty="0"/>
              <a:t>involves the union of gametes</a:t>
            </a:r>
          </a:p>
          <a:p>
            <a:pPr lvl="0">
              <a:buNone/>
            </a:pPr>
            <a:r>
              <a:rPr lang="en-US" dirty="0" smtClean="0"/>
              <a:t>B. It </a:t>
            </a:r>
            <a:r>
              <a:rPr lang="en-US" dirty="0"/>
              <a:t>forms individual without involving gametes</a:t>
            </a:r>
          </a:p>
          <a:p>
            <a:pPr lvl="0">
              <a:buNone/>
            </a:pPr>
            <a:r>
              <a:rPr lang="en-US" dirty="0" smtClean="0"/>
              <a:t>C. It </a:t>
            </a:r>
            <a:r>
              <a:rPr lang="en-US" dirty="0"/>
              <a:t>produces offspring that is genetically identical with its single parent</a:t>
            </a:r>
          </a:p>
          <a:p>
            <a:pPr lvl="0">
              <a:buNone/>
            </a:pPr>
            <a:r>
              <a:rPr lang="en-US" dirty="0" smtClean="0"/>
              <a:t>D. It </a:t>
            </a:r>
            <a:r>
              <a:rPr lang="en-US" dirty="0"/>
              <a:t>produces an offspring resulting from a chance combination of genes derived from two different </a:t>
            </a:r>
            <a:r>
              <a:rPr lang="en-US" dirty="0" smtClean="0"/>
              <a:t>gametes</a:t>
            </a:r>
          </a:p>
          <a:p>
            <a:pPr lvl="0">
              <a:buNone/>
            </a:pPr>
            <a:r>
              <a:rPr lang="en-US" dirty="0" smtClean="0"/>
              <a:t>a. A and D    </a:t>
            </a:r>
            <a:r>
              <a:rPr lang="en-US" dirty="0" smtClean="0">
                <a:solidFill>
                  <a:srgbClr val="FF0000"/>
                </a:solidFill>
              </a:rPr>
              <a:t>b. B and C     </a:t>
            </a:r>
            <a:r>
              <a:rPr lang="en-US" dirty="0" err="1" smtClean="0"/>
              <a:t>c</a:t>
            </a:r>
            <a:r>
              <a:rPr lang="en-US" dirty="0" smtClean="0"/>
              <a:t>. C and D     </a:t>
            </a:r>
            <a:r>
              <a:rPr lang="en-US" dirty="0" err="1" smtClean="0"/>
              <a:t>d</a:t>
            </a:r>
            <a:r>
              <a:rPr lang="en-US" dirty="0" smtClean="0"/>
              <a:t>. A and B</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5791200"/>
          </a:xfrm>
        </p:spPr>
        <p:txBody>
          <a:bodyPr>
            <a:normAutofit fontScale="92500" lnSpcReduction="10000"/>
          </a:bodyPr>
          <a:lstStyle/>
          <a:p>
            <a:pPr lvl="0">
              <a:buNone/>
            </a:pPr>
            <a:r>
              <a:rPr lang="en-US" dirty="0" smtClean="0"/>
              <a:t>72. </a:t>
            </a:r>
            <a:r>
              <a:rPr lang="en-US" dirty="0"/>
              <a:t>Refer to the table below:</a:t>
            </a:r>
          </a:p>
          <a:p>
            <a:pPr>
              <a:buNone/>
            </a:pPr>
            <a:endParaRPr lang="en-US" dirty="0" smtClean="0"/>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smtClean="0"/>
          </a:p>
          <a:p>
            <a:pPr>
              <a:buNone/>
            </a:pPr>
            <a:r>
              <a:rPr lang="en-US" sz="2600" dirty="0"/>
              <a:t>Jane is Type B heterozygous. She married  Jake who is heterozygous type A. What could be the    </a:t>
            </a:r>
          </a:p>
          <a:p>
            <a:pPr>
              <a:buNone/>
            </a:pPr>
            <a:r>
              <a:rPr lang="en-US" sz="2600" dirty="0"/>
              <a:t>              blood type of her children?</a:t>
            </a:r>
          </a:p>
          <a:p>
            <a:pPr lvl="0">
              <a:buNone/>
            </a:pPr>
            <a:r>
              <a:rPr lang="en-US" sz="2600" dirty="0" smtClean="0"/>
              <a:t>a.50</a:t>
            </a:r>
            <a:r>
              <a:rPr lang="en-US" sz="2600" dirty="0"/>
              <a:t>% Type A and 50% Type B               c. Any of the blood types</a:t>
            </a:r>
          </a:p>
          <a:p>
            <a:pPr lvl="0">
              <a:buNone/>
            </a:pPr>
            <a:r>
              <a:rPr lang="en-US" sz="2600" dirty="0" smtClean="0"/>
              <a:t>b. All </a:t>
            </a:r>
            <a:r>
              <a:rPr lang="en-US" sz="2600" dirty="0"/>
              <a:t>heterozygous Type B                       d. All Type AB</a:t>
            </a:r>
          </a:p>
          <a:p>
            <a:pPr>
              <a:buNone/>
            </a:pPr>
            <a:endParaRPr lang="en-US" dirty="0"/>
          </a:p>
        </p:txBody>
      </p:sp>
      <p:graphicFrame>
        <p:nvGraphicFramePr>
          <p:cNvPr id="4" name="Table 3"/>
          <p:cNvGraphicFramePr>
            <a:graphicFrameLocks noGrp="1"/>
          </p:cNvGraphicFramePr>
          <p:nvPr/>
        </p:nvGraphicFramePr>
        <p:xfrm>
          <a:off x="1295400" y="1066800"/>
          <a:ext cx="6096000" cy="2885638"/>
        </p:xfrm>
        <a:graphic>
          <a:graphicData uri="http://schemas.openxmlformats.org/drawingml/2006/table">
            <a:tbl>
              <a:tblPr firstRow="1" bandRow="1">
                <a:tableStyleId>{5C22544A-7EE6-4342-B048-85BDC9FD1C3A}</a:tableStyleId>
              </a:tblPr>
              <a:tblGrid>
                <a:gridCol w="3048000"/>
                <a:gridCol w="3048000"/>
              </a:tblGrid>
              <a:tr h="361894">
                <a:tc>
                  <a:txBody>
                    <a:bodyPr/>
                    <a:lstStyle/>
                    <a:p>
                      <a:pPr marL="0" marR="0" algn="ctr">
                        <a:lnSpc>
                          <a:spcPct val="115000"/>
                        </a:lnSpc>
                        <a:spcBef>
                          <a:spcPts val="0"/>
                        </a:spcBef>
                        <a:spcAft>
                          <a:spcPts val="0"/>
                        </a:spcAft>
                      </a:pPr>
                      <a:r>
                        <a:rPr lang="en-US" sz="1100" dirty="0">
                          <a:latin typeface="Calibri"/>
                          <a:ea typeface="Calibri"/>
                          <a:cs typeface="Times New Roman"/>
                        </a:rPr>
                        <a:t>Blood Type</a:t>
                      </a:r>
                    </a:p>
                  </a:txBody>
                  <a:tcPr marL="68580" marR="68580" marT="0" marB="0"/>
                </a:tc>
                <a:tc>
                  <a:txBody>
                    <a:bodyPr/>
                    <a:lstStyle/>
                    <a:p>
                      <a:pPr marL="0" marR="0" algn="ctr">
                        <a:lnSpc>
                          <a:spcPct val="115000"/>
                        </a:lnSpc>
                        <a:spcBef>
                          <a:spcPts val="0"/>
                        </a:spcBef>
                        <a:spcAft>
                          <a:spcPts val="0"/>
                        </a:spcAft>
                      </a:pPr>
                      <a:r>
                        <a:rPr lang="en-US" sz="1100">
                          <a:latin typeface="Calibri"/>
                          <a:ea typeface="Calibri"/>
                          <a:cs typeface="Times New Roman"/>
                        </a:rPr>
                        <a:t>Genotype</a:t>
                      </a: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A</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a:t>
                      </a:r>
                      <a:r>
                        <a:rPr lang="en-US" sz="2400" dirty="0">
                          <a:latin typeface="Calibri"/>
                          <a:ea typeface="Calibri"/>
                          <a:cs typeface="Times New Roman"/>
                        </a:rPr>
                        <a:t> </a:t>
                      </a:r>
                      <a:r>
                        <a:rPr lang="en-US" sz="2400" dirty="0" err="1">
                          <a:latin typeface="Calibri"/>
                          <a:ea typeface="Calibri"/>
                          <a:cs typeface="Times New Roman"/>
                        </a:rPr>
                        <a:t>I</a:t>
                      </a:r>
                      <a:r>
                        <a:rPr lang="en-US" sz="2400" baseline="30000" dirty="0" err="1">
                          <a:latin typeface="Calibri"/>
                          <a:ea typeface="Calibri"/>
                          <a:cs typeface="Times New Roman"/>
                        </a:rPr>
                        <a:t>A</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A</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 </a:t>
                      </a:r>
                      <a:r>
                        <a:rPr lang="en-US" sz="2400" dirty="0" err="1">
                          <a:latin typeface="Calibri"/>
                          <a:ea typeface="Calibri"/>
                          <a:cs typeface="Times New Roman"/>
                        </a:rPr>
                        <a:t>i</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a:latin typeface="Calibri"/>
                          <a:ea typeface="Calibri"/>
                          <a:cs typeface="Times New Roman"/>
                        </a:rPr>
                        <a:t>Type 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B </a:t>
                      </a:r>
                      <a:r>
                        <a:rPr lang="en-US" sz="2400" dirty="0" err="1">
                          <a:latin typeface="Calibri"/>
                          <a:ea typeface="Calibri"/>
                          <a:cs typeface="Times New Roman"/>
                        </a:rPr>
                        <a:t>I</a:t>
                      </a:r>
                      <a:r>
                        <a:rPr lang="en-US" sz="2400" baseline="30000" dirty="0" err="1">
                          <a:latin typeface="Calibri"/>
                          <a:ea typeface="Calibri"/>
                          <a:cs typeface="Times New Roman"/>
                        </a:rPr>
                        <a:t>B</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a:latin typeface="Calibri"/>
                          <a:ea typeface="Calibri"/>
                          <a:cs typeface="Times New Roman"/>
                        </a:rPr>
                        <a:t>Type 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B </a:t>
                      </a:r>
                      <a:r>
                        <a:rPr lang="en-US" sz="2400" dirty="0" err="1">
                          <a:latin typeface="Calibri"/>
                          <a:ea typeface="Calibri"/>
                          <a:cs typeface="Times New Roman"/>
                        </a:rPr>
                        <a:t>i</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AB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 </a:t>
                      </a:r>
                      <a:r>
                        <a:rPr lang="en-US" sz="2400" dirty="0">
                          <a:latin typeface="Calibri"/>
                          <a:ea typeface="Calibri"/>
                          <a:cs typeface="Times New Roman"/>
                        </a:rPr>
                        <a:t>I</a:t>
                      </a:r>
                      <a:r>
                        <a:rPr lang="en-US" sz="2400" baseline="30000" dirty="0">
                          <a:latin typeface="Calibri"/>
                          <a:ea typeface="Calibri"/>
                          <a:cs typeface="Times New Roman"/>
                        </a:rPr>
                        <a:t>B</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O</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ii</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5791200"/>
          </a:xfrm>
        </p:spPr>
        <p:txBody>
          <a:bodyPr>
            <a:normAutofit fontScale="92500" lnSpcReduction="10000"/>
          </a:bodyPr>
          <a:lstStyle/>
          <a:p>
            <a:pPr lvl="0">
              <a:buNone/>
            </a:pPr>
            <a:r>
              <a:rPr lang="en-US" dirty="0" smtClean="0"/>
              <a:t>72. </a:t>
            </a:r>
            <a:r>
              <a:rPr lang="en-US" dirty="0"/>
              <a:t>Refer to the table below:</a:t>
            </a:r>
          </a:p>
          <a:p>
            <a:pPr>
              <a:buNone/>
            </a:pPr>
            <a:endParaRPr lang="en-US" dirty="0" smtClean="0"/>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smtClean="0"/>
          </a:p>
          <a:p>
            <a:pPr>
              <a:buNone/>
            </a:pPr>
            <a:r>
              <a:rPr lang="en-US" sz="2600" dirty="0"/>
              <a:t>Jane is Type B heterozygous. She married  Jake who is heterozygous type A. What could be the    </a:t>
            </a:r>
          </a:p>
          <a:p>
            <a:pPr>
              <a:buNone/>
            </a:pPr>
            <a:r>
              <a:rPr lang="en-US" sz="2600" dirty="0"/>
              <a:t>              blood type of her children?</a:t>
            </a:r>
          </a:p>
          <a:p>
            <a:pPr lvl="0">
              <a:buNone/>
            </a:pPr>
            <a:r>
              <a:rPr lang="en-US" sz="2600" dirty="0" smtClean="0"/>
              <a:t>a.50</a:t>
            </a:r>
            <a:r>
              <a:rPr lang="en-US" sz="2600" dirty="0"/>
              <a:t>% Type A and 50% Type B               </a:t>
            </a:r>
            <a:r>
              <a:rPr lang="en-US" sz="2600" dirty="0">
                <a:solidFill>
                  <a:srgbClr val="FF0000"/>
                </a:solidFill>
              </a:rPr>
              <a:t>c. Any of the blood types</a:t>
            </a:r>
          </a:p>
          <a:p>
            <a:pPr lvl="0">
              <a:buNone/>
            </a:pPr>
            <a:r>
              <a:rPr lang="en-US" sz="2600" dirty="0" smtClean="0"/>
              <a:t>b. All </a:t>
            </a:r>
            <a:r>
              <a:rPr lang="en-US" sz="2600" dirty="0"/>
              <a:t>heterozygous Type B                       d. All Type AB</a:t>
            </a:r>
          </a:p>
          <a:p>
            <a:pPr>
              <a:buNone/>
            </a:pPr>
            <a:endParaRPr lang="en-US" dirty="0"/>
          </a:p>
        </p:txBody>
      </p:sp>
      <p:graphicFrame>
        <p:nvGraphicFramePr>
          <p:cNvPr id="4" name="Table 3"/>
          <p:cNvGraphicFramePr>
            <a:graphicFrameLocks noGrp="1"/>
          </p:cNvGraphicFramePr>
          <p:nvPr/>
        </p:nvGraphicFramePr>
        <p:xfrm>
          <a:off x="1295400" y="1066800"/>
          <a:ext cx="6096000" cy="2885638"/>
        </p:xfrm>
        <a:graphic>
          <a:graphicData uri="http://schemas.openxmlformats.org/drawingml/2006/table">
            <a:tbl>
              <a:tblPr firstRow="1" bandRow="1">
                <a:tableStyleId>{5C22544A-7EE6-4342-B048-85BDC9FD1C3A}</a:tableStyleId>
              </a:tblPr>
              <a:tblGrid>
                <a:gridCol w="3048000"/>
                <a:gridCol w="3048000"/>
              </a:tblGrid>
              <a:tr h="361894">
                <a:tc>
                  <a:txBody>
                    <a:bodyPr/>
                    <a:lstStyle/>
                    <a:p>
                      <a:pPr marL="0" marR="0" algn="ctr">
                        <a:lnSpc>
                          <a:spcPct val="115000"/>
                        </a:lnSpc>
                        <a:spcBef>
                          <a:spcPts val="0"/>
                        </a:spcBef>
                        <a:spcAft>
                          <a:spcPts val="0"/>
                        </a:spcAft>
                      </a:pPr>
                      <a:r>
                        <a:rPr lang="en-US" sz="1100" dirty="0">
                          <a:latin typeface="Calibri"/>
                          <a:ea typeface="Calibri"/>
                          <a:cs typeface="Times New Roman"/>
                        </a:rPr>
                        <a:t>Blood Type</a:t>
                      </a:r>
                    </a:p>
                  </a:txBody>
                  <a:tcPr marL="68580" marR="68580" marT="0" marB="0"/>
                </a:tc>
                <a:tc>
                  <a:txBody>
                    <a:bodyPr/>
                    <a:lstStyle/>
                    <a:p>
                      <a:pPr marL="0" marR="0" algn="ctr">
                        <a:lnSpc>
                          <a:spcPct val="115000"/>
                        </a:lnSpc>
                        <a:spcBef>
                          <a:spcPts val="0"/>
                        </a:spcBef>
                        <a:spcAft>
                          <a:spcPts val="0"/>
                        </a:spcAft>
                      </a:pPr>
                      <a:r>
                        <a:rPr lang="en-US" sz="1100">
                          <a:latin typeface="Calibri"/>
                          <a:ea typeface="Calibri"/>
                          <a:cs typeface="Times New Roman"/>
                        </a:rPr>
                        <a:t>Genotype</a:t>
                      </a: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A</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a:t>
                      </a:r>
                      <a:r>
                        <a:rPr lang="en-US" sz="2400" dirty="0">
                          <a:latin typeface="Calibri"/>
                          <a:ea typeface="Calibri"/>
                          <a:cs typeface="Times New Roman"/>
                        </a:rPr>
                        <a:t> </a:t>
                      </a:r>
                      <a:r>
                        <a:rPr lang="en-US" sz="2400" dirty="0" err="1">
                          <a:latin typeface="Calibri"/>
                          <a:ea typeface="Calibri"/>
                          <a:cs typeface="Times New Roman"/>
                        </a:rPr>
                        <a:t>I</a:t>
                      </a:r>
                      <a:r>
                        <a:rPr lang="en-US" sz="2400" baseline="30000" dirty="0" err="1">
                          <a:latin typeface="Calibri"/>
                          <a:ea typeface="Calibri"/>
                          <a:cs typeface="Times New Roman"/>
                        </a:rPr>
                        <a:t>A</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A</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 </a:t>
                      </a:r>
                      <a:r>
                        <a:rPr lang="en-US" sz="2400" dirty="0" err="1">
                          <a:latin typeface="Calibri"/>
                          <a:ea typeface="Calibri"/>
                          <a:cs typeface="Times New Roman"/>
                        </a:rPr>
                        <a:t>i</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a:latin typeface="Calibri"/>
                          <a:ea typeface="Calibri"/>
                          <a:cs typeface="Times New Roman"/>
                        </a:rPr>
                        <a:t>Type 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B </a:t>
                      </a:r>
                      <a:r>
                        <a:rPr lang="en-US" sz="2400" dirty="0" err="1">
                          <a:latin typeface="Calibri"/>
                          <a:ea typeface="Calibri"/>
                          <a:cs typeface="Times New Roman"/>
                        </a:rPr>
                        <a:t>I</a:t>
                      </a:r>
                      <a:r>
                        <a:rPr lang="en-US" sz="2400" baseline="30000" dirty="0" err="1">
                          <a:latin typeface="Calibri"/>
                          <a:ea typeface="Calibri"/>
                          <a:cs typeface="Times New Roman"/>
                        </a:rPr>
                        <a:t>B</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a:latin typeface="Calibri"/>
                          <a:ea typeface="Calibri"/>
                          <a:cs typeface="Times New Roman"/>
                        </a:rPr>
                        <a:t>Type 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B </a:t>
                      </a:r>
                      <a:r>
                        <a:rPr lang="en-US" sz="2400" dirty="0" err="1">
                          <a:latin typeface="Calibri"/>
                          <a:ea typeface="Calibri"/>
                          <a:cs typeface="Times New Roman"/>
                        </a:rPr>
                        <a:t>i</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a:latin typeface="Calibri"/>
                          <a:ea typeface="Calibri"/>
                          <a:cs typeface="Times New Roman"/>
                        </a:rPr>
                        <a:t>Type AB</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a:t>
                      </a:r>
                      <a:r>
                        <a:rPr lang="en-US" sz="2400" baseline="30000" dirty="0">
                          <a:latin typeface="Calibri"/>
                          <a:ea typeface="Calibri"/>
                          <a:cs typeface="Times New Roman"/>
                        </a:rPr>
                        <a:t>A </a:t>
                      </a:r>
                      <a:r>
                        <a:rPr lang="en-US" sz="2400" dirty="0">
                          <a:latin typeface="Calibri"/>
                          <a:ea typeface="Calibri"/>
                          <a:cs typeface="Times New Roman"/>
                        </a:rPr>
                        <a:t>I</a:t>
                      </a:r>
                      <a:r>
                        <a:rPr lang="en-US" sz="2400" baseline="30000" dirty="0">
                          <a:latin typeface="Calibri"/>
                          <a:ea typeface="Calibri"/>
                          <a:cs typeface="Times New Roman"/>
                        </a:rPr>
                        <a:t>B</a:t>
                      </a:r>
                      <a:endParaRPr lang="en-US" sz="2400" dirty="0">
                        <a:latin typeface="Calibri"/>
                        <a:ea typeface="Calibri"/>
                        <a:cs typeface="Times New Roman"/>
                      </a:endParaRPr>
                    </a:p>
                  </a:txBody>
                  <a:tcPr marL="68580" marR="68580" marT="0" marB="0"/>
                </a:tc>
              </a:tr>
              <a:tr h="359314">
                <a:tc>
                  <a:txBody>
                    <a:bodyPr/>
                    <a:lstStyle/>
                    <a:p>
                      <a:pPr marL="0" marR="0" algn="ctr">
                        <a:lnSpc>
                          <a:spcPct val="115000"/>
                        </a:lnSpc>
                        <a:spcBef>
                          <a:spcPts val="0"/>
                        </a:spcBef>
                        <a:spcAft>
                          <a:spcPts val="0"/>
                        </a:spcAft>
                      </a:pPr>
                      <a:r>
                        <a:rPr lang="en-US" sz="2400" dirty="0">
                          <a:latin typeface="Calibri"/>
                          <a:ea typeface="Calibri"/>
                          <a:cs typeface="Times New Roman"/>
                        </a:rPr>
                        <a:t>Type O</a:t>
                      </a:r>
                    </a:p>
                  </a:txBody>
                  <a:tcPr marL="68580" marR="68580" marT="0" marB="0"/>
                </a:tc>
                <a:tc>
                  <a:txBody>
                    <a:bodyPr/>
                    <a:lstStyle/>
                    <a:p>
                      <a:pPr marL="0" marR="0" algn="ctr">
                        <a:lnSpc>
                          <a:spcPct val="115000"/>
                        </a:lnSpc>
                        <a:spcBef>
                          <a:spcPts val="0"/>
                        </a:spcBef>
                        <a:spcAft>
                          <a:spcPts val="0"/>
                        </a:spcAft>
                      </a:pPr>
                      <a:r>
                        <a:rPr lang="en-US" sz="2400" dirty="0">
                          <a:latin typeface="Calibri"/>
                          <a:ea typeface="Calibri"/>
                          <a:cs typeface="Times New Roman"/>
                        </a:rPr>
                        <a:t>ii</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73.</a:t>
            </a:r>
            <a:r>
              <a:rPr lang="en-US" dirty="0"/>
              <a:t> When both kidneys fail to function, which of these technologies should the affected person immediately undergo?</a:t>
            </a:r>
          </a:p>
          <a:p>
            <a:pPr marL="514350" lvl="0" indent="-514350">
              <a:buAutoNum type="alphaLcPeriod"/>
            </a:pPr>
            <a:r>
              <a:rPr lang="en-US" dirty="0" smtClean="0"/>
              <a:t>Dialysis</a:t>
            </a:r>
            <a:r>
              <a:rPr lang="en-US" dirty="0" smtClean="0">
                <a:solidFill>
                  <a:srgbClr val="FF0000"/>
                </a:solidFill>
              </a:rPr>
              <a:t>   </a:t>
            </a:r>
            <a:r>
              <a:rPr lang="en-US" dirty="0" smtClean="0"/>
              <a:t>                                                                          </a:t>
            </a:r>
          </a:p>
          <a:p>
            <a:pPr marL="514350" lvl="0" indent="-514350">
              <a:buNone/>
            </a:pPr>
            <a:r>
              <a:rPr lang="en-US" dirty="0" smtClean="0"/>
              <a:t>b.  attachment of a pacemaker </a:t>
            </a:r>
          </a:p>
          <a:p>
            <a:pPr marL="514350" lvl="0" indent="-514350">
              <a:buNone/>
            </a:pPr>
            <a:r>
              <a:rPr lang="en-US" dirty="0" smtClean="0"/>
              <a:t>c.  </a:t>
            </a:r>
            <a:r>
              <a:rPr lang="en-US" dirty="0"/>
              <a:t>injection with insulin     </a:t>
            </a:r>
          </a:p>
          <a:p>
            <a:pPr lvl="0">
              <a:buNone/>
            </a:pPr>
            <a:r>
              <a:rPr lang="en-US" dirty="0" smtClean="0"/>
              <a:t>d</a:t>
            </a:r>
            <a:r>
              <a:rPr lang="en-US" dirty="0"/>
              <a:t>. </a:t>
            </a:r>
            <a:r>
              <a:rPr lang="en-US" dirty="0" smtClean="0"/>
              <a:t> removal </a:t>
            </a:r>
            <a:r>
              <a:rPr lang="en-US" dirty="0"/>
              <a:t>of the defective kidney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73.</a:t>
            </a:r>
            <a:r>
              <a:rPr lang="en-US" dirty="0"/>
              <a:t> When both kidneys fail to function, which of these technologies should the affected person immediately undergo?</a:t>
            </a:r>
          </a:p>
          <a:p>
            <a:pPr marL="514350" lvl="0" indent="-514350">
              <a:buAutoNum type="alphaLcPeriod"/>
            </a:pPr>
            <a:r>
              <a:rPr lang="en-US" dirty="0" smtClean="0">
                <a:solidFill>
                  <a:srgbClr val="FF0000"/>
                </a:solidFill>
              </a:rPr>
              <a:t>Dialysis   </a:t>
            </a:r>
            <a:r>
              <a:rPr lang="en-US" dirty="0" smtClean="0"/>
              <a:t>                                                                          </a:t>
            </a:r>
          </a:p>
          <a:p>
            <a:pPr marL="514350" lvl="0" indent="-514350">
              <a:buNone/>
            </a:pPr>
            <a:r>
              <a:rPr lang="en-US" dirty="0" smtClean="0"/>
              <a:t>b.  attachment of a pacemaker </a:t>
            </a:r>
          </a:p>
          <a:p>
            <a:pPr marL="514350" lvl="0" indent="-514350">
              <a:buNone/>
            </a:pPr>
            <a:r>
              <a:rPr lang="en-US" dirty="0" smtClean="0"/>
              <a:t>c.  </a:t>
            </a:r>
            <a:r>
              <a:rPr lang="en-US" dirty="0"/>
              <a:t>injection with insulin     </a:t>
            </a:r>
          </a:p>
          <a:p>
            <a:pPr lvl="0">
              <a:buNone/>
            </a:pPr>
            <a:r>
              <a:rPr lang="en-US" dirty="0" smtClean="0"/>
              <a:t>d</a:t>
            </a:r>
            <a:r>
              <a:rPr lang="en-US" dirty="0"/>
              <a:t>. </a:t>
            </a:r>
            <a:r>
              <a:rPr lang="en-US" dirty="0" smtClean="0"/>
              <a:t> removal </a:t>
            </a:r>
            <a:r>
              <a:rPr lang="en-US" dirty="0"/>
              <a:t>of the defective kidney</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74.</a:t>
            </a:r>
            <a:r>
              <a:rPr lang="en-US" dirty="0"/>
              <a:t> If a person has a stomach ulcer, which of the following instruments could be used to view the interior of his body?</a:t>
            </a:r>
          </a:p>
          <a:p>
            <a:pPr marL="514350" lvl="0" indent="-514350">
              <a:buAutoNum type="alphaLcPeriod"/>
            </a:pPr>
            <a:r>
              <a:rPr lang="en-US" dirty="0" smtClean="0"/>
              <a:t>Microscope       </a:t>
            </a:r>
            <a:r>
              <a:rPr lang="en-US" dirty="0"/>
              <a:t>b.  stethoscope        </a:t>
            </a:r>
            <a:endParaRPr lang="en-US" dirty="0" smtClean="0"/>
          </a:p>
          <a:p>
            <a:pPr marL="514350" lvl="0" indent="-514350">
              <a:buNone/>
            </a:pPr>
            <a:r>
              <a:rPr lang="en-US" dirty="0" smtClean="0"/>
              <a:t>c</a:t>
            </a:r>
            <a:r>
              <a:rPr lang="en-US" dirty="0"/>
              <a:t>.  laser beam        d. </a:t>
            </a:r>
            <a:r>
              <a:rPr lang="en-US" dirty="0" smtClean="0"/>
              <a:t> endoscope</a:t>
            </a:r>
            <a:endParaRPr lang="en-US" dirty="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74.</a:t>
            </a:r>
            <a:r>
              <a:rPr lang="en-US" dirty="0"/>
              <a:t> If a person has a stomach ulcer, which of the following instruments could be used to view the interior of his body?</a:t>
            </a:r>
          </a:p>
          <a:p>
            <a:pPr marL="514350" lvl="0" indent="-514350">
              <a:buAutoNum type="alphaLcPeriod"/>
            </a:pPr>
            <a:r>
              <a:rPr lang="en-US" dirty="0" smtClean="0"/>
              <a:t>Microscope       </a:t>
            </a:r>
            <a:r>
              <a:rPr lang="en-US" dirty="0"/>
              <a:t>b.  stethoscope        </a:t>
            </a:r>
            <a:endParaRPr lang="en-US" dirty="0" smtClean="0"/>
          </a:p>
          <a:p>
            <a:pPr marL="514350" lvl="0" indent="-514350">
              <a:buNone/>
            </a:pPr>
            <a:r>
              <a:rPr lang="en-US" dirty="0" smtClean="0"/>
              <a:t>c</a:t>
            </a:r>
            <a:r>
              <a:rPr lang="en-US" dirty="0"/>
              <a:t>.  laser beam        </a:t>
            </a:r>
            <a:r>
              <a:rPr lang="en-US" dirty="0">
                <a:solidFill>
                  <a:srgbClr val="FF0000"/>
                </a:solidFill>
              </a:rPr>
              <a:t>d. </a:t>
            </a:r>
            <a:r>
              <a:rPr lang="en-US" dirty="0" smtClean="0">
                <a:solidFill>
                  <a:srgbClr val="FF0000"/>
                </a:solidFill>
              </a:rPr>
              <a:t> endoscope</a:t>
            </a:r>
            <a:endParaRPr lang="en-US" dirty="0">
              <a:solidFill>
                <a:srgbClr val="FF0000"/>
              </a:solidFill>
            </a:endParaRP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75.</a:t>
            </a:r>
            <a:r>
              <a:rPr lang="en-US" dirty="0"/>
              <a:t> If mitosis takes place in non-reproductive cells, where does meiosis take place?</a:t>
            </a:r>
          </a:p>
          <a:p>
            <a:pPr marL="514350" lvl="0" indent="-514350">
              <a:buAutoNum type="alphaLcPeriod"/>
            </a:pPr>
            <a:r>
              <a:rPr lang="en-US" dirty="0" smtClean="0"/>
              <a:t>Body </a:t>
            </a:r>
            <a:r>
              <a:rPr lang="en-US" dirty="0"/>
              <a:t>cells  </a:t>
            </a:r>
            <a:endParaRPr lang="en-US" dirty="0" smtClean="0"/>
          </a:p>
          <a:p>
            <a:pPr marL="514350" lvl="0" indent="-514350">
              <a:buNone/>
            </a:pPr>
            <a:r>
              <a:rPr lang="en-US" dirty="0" smtClean="0"/>
              <a:t>b</a:t>
            </a:r>
            <a:r>
              <a:rPr lang="en-US" dirty="0"/>
              <a:t>. </a:t>
            </a:r>
            <a:r>
              <a:rPr lang="en-US" dirty="0" smtClean="0"/>
              <a:t> bone </a:t>
            </a:r>
            <a:r>
              <a:rPr lang="en-US" dirty="0"/>
              <a:t>cells     </a:t>
            </a:r>
            <a:endParaRPr lang="en-US" dirty="0" smtClean="0"/>
          </a:p>
          <a:p>
            <a:pPr marL="514350" lvl="0" indent="-514350">
              <a:buAutoNum type="alphaLcPeriod" startAt="3"/>
            </a:pPr>
            <a:r>
              <a:rPr lang="en-US" dirty="0" smtClean="0"/>
              <a:t>roots </a:t>
            </a:r>
            <a:r>
              <a:rPr lang="en-US" dirty="0"/>
              <a:t>and stem      </a:t>
            </a:r>
            <a:endParaRPr lang="en-US" dirty="0" smtClean="0"/>
          </a:p>
          <a:p>
            <a:pPr marL="514350" lvl="0" indent="-514350">
              <a:buNone/>
            </a:pPr>
            <a:r>
              <a:rPr lang="en-US" dirty="0" smtClean="0"/>
              <a:t>d</a:t>
            </a:r>
            <a:r>
              <a:rPr lang="en-US" dirty="0"/>
              <a:t>. </a:t>
            </a:r>
            <a:r>
              <a:rPr lang="en-US" dirty="0" smtClean="0"/>
              <a:t> testis </a:t>
            </a:r>
            <a:r>
              <a:rPr lang="en-US" dirty="0"/>
              <a:t>and ovaries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75.</a:t>
            </a:r>
            <a:r>
              <a:rPr lang="en-US" dirty="0"/>
              <a:t> If mitosis takes place in non-reproductive cells, where does meiosis take place?</a:t>
            </a:r>
          </a:p>
          <a:p>
            <a:pPr marL="514350" lvl="0" indent="-514350">
              <a:buAutoNum type="alphaLcPeriod"/>
            </a:pPr>
            <a:r>
              <a:rPr lang="en-US" dirty="0" smtClean="0"/>
              <a:t>Body </a:t>
            </a:r>
            <a:r>
              <a:rPr lang="en-US" dirty="0"/>
              <a:t>cells  </a:t>
            </a:r>
            <a:endParaRPr lang="en-US" dirty="0" smtClean="0"/>
          </a:p>
          <a:p>
            <a:pPr marL="514350" lvl="0" indent="-514350">
              <a:buNone/>
            </a:pPr>
            <a:r>
              <a:rPr lang="en-US" dirty="0" smtClean="0"/>
              <a:t>b</a:t>
            </a:r>
            <a:r>
              <a:rPr lang="en-US" dirty="0"/>
              <a:t>. </a:t>
            </a:r>
            <a:r>
              <a:rPr lang="en-US" dirty="0" smtClean="0"/>
              <a:t> bone </a:t>
            </a:r>
            <a:r>
              <a:rPr lang="en-US" dirty="0"/>
              <a:t>cells     </a:t>
            </a:r>
            <a:endParaRPr lang="en-US" dirty="0" smtClean="0"/>
          </a:p>
          <a:p>
            <a:pPr marL="514350" lvl="0" indent="-514350">
              <a:buAutoNum type="alphaLcPeriod" startAt="3"/>
            </a:pPr>
            <a:r>
              <a:rPr lang="en-US" dirty="0" smtClean="0"/>
              <a:t>roots </a:t>
            </a:r>
            <a:r>
              <a:rPr lang="en-US" dirty="0"/>
              <a:t>and stem      </a:t>
            </a:r>
            <a:endParaRPr lang="en-US" dirty="0" smtClean="0"/>
          </a:p>
          <a:p>
            <a:pPr marL="514350" lvl="0" indent="-514350">
              <a:buNone/>
            </a:pPr>
            <a:r>
              <a:rPr lang="en-US" dirty="0" smtClean="0">
                <a:solidFill>
                  <a:srgbClr val="FF0000"/>
                </a:solidFill>
              </a:rPr>
              <a:t>d</a:t>
            </a:r>
            <a:r>
              <a:rPr lang="en-US" dirty="0">
                <a:solidFill>
                  <a:srgbClr val="FF0000"/>
                </a:solidFill>
              </a:rPr>
              <a:t>. </a:t>
            </a:r>
            <a:r>
              <a:rPr lang="en-US" dirty="0" smtClean="0">
                <a:solidFill>
                  <a:srgbClr val="FF0000"/>
                </a:solidFill>
              </a:rPr>
              <a:t> testis </a:t>
            </a:r>
            <a:r>
              <a:rPr lang="en-US" dirty="0">
                <a:solidFill>
                  <a:srgbClr val="FF0000"/>
                </a:solidFill>
              </a:rPr>
              <a:t>and ovaries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76.</a:t>
            </a:r>
            <a:r>
              <a:rPr lang="en-US" dirty="0"/>
              <a:t> If Darwin had the Theory of Natural Selection, what did Lamarck </a:t>
            </a:r>
            <a:r>
              <a:rPr lang="en-US" dirty="0" smtClean="0"/>
              <a:t>have?</a:t>
            </a:r>
          </a:p>
          <a:p>
            <a:pPr lvl="0">
              <a:buNone/>
            </a:pPr>
            <a:r>
              <a:rPr lang="en-US" dirty="0"/>
              <a:t>A</a:t>
            </a:r>
            <a:r>
              <a:rPr lang="en-US" dirty="0" smtClean="0"/>
              <a:t>. Theory </a:t>
            </a:r>
            <a:r>
              <a:rPr lang="en-US" dirty="0"/>
              <a:t>of inheritance of Acquired Characteristics</a:t>
            </a:r>
          </a:p>
          <a:p>
            <a:pPr lvl="0">
              <a:buNone/>
            </a:pPr>
            <a:r>
              <a:rPr lang="en-US" dirty="0"/>
              <a:t>B</a:t>
            </a:r>
            <a:r>
              <a:rPr lang="en-US" dirty="0" smtClean="0"/>
              <a:t>. Principle </a:t>
            </a:r>
            <a:r>
              <a:rPr lang="en-US" dirty="0"/>
              <a:t>of Use and Disuse</a:t>
            </a:r>
          </a:p>
          <a:p>
            <a:pPr lvl="0">
              <a:buNone/>
            </a:pPr>
            <a:r>
              <a:rPr lang="en-US" dirty="0"/>
              <a:t>C</a:t>
            </a:r>
            <a:r>
              <a:rPr lang="en-US" dirty="0" smtClean="0"/>
              <a:t>. Principle </a:t>
            </a:r>
            <a:r>
              <a:rPr lang="en-US" dirty="0"/>
              <a:t>of heredity</a:t>
            </a:r>
          </a:p>
          <a:p>
            <a:pPr lvl="0">
              <a:buNone/>
            </a:pPr>
            <a:r>
              <a:rPr lang="en-US" dirty="0"/>
              <a:t>D</a:t>
            </a:r>
            <a:r>
              <a:rPr lang="en-US" dirty="0" smtClean="0"/>
              <a:t>. Survival </a:t>
            </a:r>
            <a:r>
              <a:rPr lang="en-US" dirty="0"/>
              <a:t>of the fittest</a:t>
            </a:r>
          </a:p>
          <a:p>
            <a:pPr lvl="0">
              <a:buNone/>
            </a:pPr>
            <a:r>
              <a:rPr lang="en-US" dirty="0" smtClean="0"/>
              <a:t> </a:t>
            </a:r>
            <a:r>
              <a:rPr lang="en-US" dirty="0"/>
              <a:t> </a:t>
            </a:r>
            <a:r>
              <a:rPr lang="en-US" dirty="0" smtClean="0"/>
              <a:t>a. A </a:t>
            </a:r>
            <a:r>
              <a:rPr lang="en-US" dirty="0"/>
              <a:t>and B          </a:t>
            </a:r>
            <a:r>
              <a:rPr lang="en-US" dirty="0" smtClean="0"/>
              <a:t>          </a:t>
            </a:r>
            <a:r>
              <a:rPr lang="en-US" dirty="0" err="1"/>
              <a:t>b</a:t>
            </a:r>
            <a:r>
              <a:rPr lang="en-US" dirty="0"/>
              <a:t>. A and C           </a:t>
            </a:r>
            <a:endParaRPr lang="en-US" dirty="0" smtClean="0"/>
          </a:p>
          <a:p>
            <a:pPr lvl="0">
              <a:buNone/>
            </a:pPr>
            <a:r>
              <a:rPr lang="en-US" dirty="0" smtClean="0"/>
              <a:t>  c</a:t>
            </a:r>
            <a:r>
              <a:rPr lang="en-US" dirty="0"/>
              <a:t>. C and D        </a:t>
            </a:r>
            <a:r>
              <a:rPr lang="en-US" dirty="0" smtClean="0"/>
              <a:t>            </a:t>
            </a:r>
            <a:r>
              <a:rPr lang="en-US" dirty="0" err="1" smtClean="0"/>
              <a:t>d</a:t>
            </a:r>
            <a:r>
              <a:rPr lang="en-US" dirty="0"/>
              <a:t>. B and D</a:t>
            </a:r>
          </a:p>
          <a:p>
            <a:pPr>
              <a:buNone/>
            </a:pPr>
            <a:endParaRPr lang="en-US" dirty="0"/>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buNone/>
            </a:pPr>
            <a:r>
              <a:rPr lang="en-US" dirty="0" smtClean="0"/>
              <a:t>76.</a:t>
            </a:r>
            <a:r>
              <a:rPr lang="en-US" dirty="0"/>
              <a:t> If Darwin had the Theory of Natural Selection, what did Lamarck </a:t>
            </a:r>
            <a:r>
              <a:rPr lang="en-US" dirty="0" smtClean="0"/>
              <a:t>have?</a:t>
            </a:r>
          </a:p>
          <a:p>
            <a:pPr lvl="0">
              <a:buNone/>
            </a:pPr>
            <a:r>
              <a:rPr lang="en-US" dirty="0"/>
              <a:t>A</a:t>
            </a:r>
            <a:r>
              <a:rPr lang="en-US" dirty="0" smtClean="0"/>
              <a:t>. Theory </a:t>
            </a:r>
            <a:r>
              <a:rPr lang="en-US" dirty="0"/>
              <a:t>of inheritance of Acquired Characteristics</a:t>
            </a:r>
          </a:p>
          <a:p>
            <a:pPr lvl="0">
              <a:buNone/>
            </a:pPr>
            <a:r>
              <a:rPr lang="en-US" dirty="0"/>
              <a:t>B</a:t>
            </a:r>
            <a:r>
              <a:rPr lang="en-US" dirty="0" smtClean="0"/>
              <a:t>. Principle </a:t>
            </a:r>
            <a:r>
              <a:rPr lang="en-US" dirty="0"/>
              <a:t>of Use and Disuse</a:t>
            </a:r>
          </a:p>
          <a:p>
            <a:pPr lvl="0">
              <a:buNone/>
            </a:pPr>
            <a:r>
              <a:rPr lang="en-US" dirty="0"/>
              <a:t>C</a:t>
            </a:r>
            <a:r>
              <a:rPr lang="en-US" dirty="0" smtClean="0"/>
              <a:t>. Principle </a:t>
            </a:r>
            <a:r>
              <a:rPr lang="en-US" dirty="0"/>
              <a:t>of heredity</a:t>
            </a:r>
          </a:p>
          <a:p>
            <a:pPr lvl="0">
              <a:buNone/>
            </a:pPr>
            <a:r>
              <a:rPr lang="en-US" dirty="0"/>
              <a:t>D</a:t>
            </a:r>
            <a:r>
              <a:rPr lang="en-US" dirty="0" smtClean="0"/>
              <a:t>. Survival </a:t>
            </a:r>
            <a:r>
              <a:rPr lang="en-US" dirty="0"/>
              <a:t>of the fittest</a:t>
            </a:r>
          </a:p>
          <a:p>
            <a:pPr lvl="0">
              <a:buNone/>
            </a:pPr>
            <a:r>
              <a:rPr lang="en-US" dirty="0" smtClean="0"/>
              <a:t> </a:t>
            </a:r>
            <a:r>
              <a:rPr lang="en-US" dirty="0"/>
              <a:t> </a:t>
            </a:r>
            <a:r>
              <a:rPr lang="en-US" dirty="0" smtClean="0">
                <a:solidFill>
                  <a:srgbClr val="FF0000"/>
                </a:solidFill>
              </a:rPr>
              <a:t>a. A </a:t>
            </a:r>
            <a:r>
              <a:rPr lang="en-US" dirty="0">
                <a:solidFill>
                  <a:srgbClr val="FF0000"/>
                </a:solidFill>
              </a:rPr>
              <a:t>and B          </a:t>
            </a:r>
            <a:r>
              <a:rPr lang="en-US" dirty="0" smtClean="0">
                <a:solidFill>
                  <a:srgbClr val="FF0000"/>
                </a:solidFill>
              </a:rPr>
              <a:t>          </a:t>
            </a:r>
            <a:r>
              <a:rPr lang="en-US" dirty="0" err="1"/>
              <a:t>b</a:t>
            </a:r>
            <a:r>
              <a:rPr lang="en-US" dirty="0"/>
              <a:t>. A and C           </a:t>
            </a:r>
            <a:endParaRPr lang="en-US" dirty="0" smtClean="0"/>
          </a:p>
          <a:p>
            <a:pPr lvl="0">
              <a:buNone/>
            </a:pPr>
            <a:r>
              <a:rPr lang="en-US" dirty="0" smtClean="0"/>
              <a:t>  c</a:t>
            </a:r>
            <a:r>
              <a:rPr lang="en-US" dirty="0"/>
              <a:t>. C and D        </a:t>
            </a:r>
            <a:r>
              <a:rPr lang="en-US" dirty="0" smtClean="0"/>
              <a:t>            </a:t>
            </a:r>
            <a:r>
              <a:rPr lang="en-US" dirty="0" err="1" smtClean="0"/>
              <a:t>d</a:t>
            </a:r>
            <a:r>
              <a:rPr lang="en-US" dirty="0"/>
              <a:t>. B and D</a:t>
            </a:r>
          </a:p>
          <a:p>
            <a:pPr>
              <a:buNone/>
            </a:pPr>
            <a:endParaRPr lang="en-US"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77.</a:t>
            </a:r>
            <a:r>
              <a:rPr lang="en-US" dirty="0"/>
              <a:t> Which of these does not describe a tropical rain forest?</a:t>
            </a:r>
          </a:p>
          <a:p>
            <a:pPr lvl="0">
              <a:buNone/>
            </a:pPr>
            <a:r>
              <a:rPr lang="en-US" dirty="0" smtClean="0"/>
              <a:t>a. Annual </a:t>
            </a:r>
            <a:r>
              <a:rPr lang="en-US" dirty="0"/>
              <a:t>rainfall measures up to 350 cm</a:t>
            </a:r>
          </a:p>
          <a:p>
            <a:pPr lvl="0">
              <a:buNone/>
            </a:pPr>
            <a:r>
              <a:rPr lang="en-US" dirty="0" smtClean="0"/>
              <a:t>b. Annual </a:t>
            </a:r>
            <a:r>
              <a:rPr lang="en-US" dirty="0"/>
              <a:t>rainfall is less than 30 cm</a:t>
            </a:r>
          </a:p>
          <a:p>
            <a:pPr lvl="0">
              <a:buNone/>
            </a:pPr>
            <a:r>
              <a:rPr lang="en-US" dirty="0" smtClean="0"/>
              <a:t>c. The </a:t>
            </a:r>
            <a:r>
              <a:rPr lang="en-US" dirty="0"/>
              <a:t>richest of all the biomes on earth</a:t>
            </a:r>
          </a:p>
          <a:p>
            <a:pPr lvl="0">
              <a:buNone/>
            </a:pPr>
            <a:r>
              <a:rPr lang="en-US" dirty="0" smtClean="0"/>
              <a:t>d. Trees </a:t>
            </a:r>
            <a:r>
              <a:rPr lang="en-US" dirty="0"/>
              <a:t>provide thick canopy</a:t>
            </a:r>
          </a:p>
          <a:p>
            <a:pPr>
              <a:buNone/>
            </a:pPr>
            <a:endParaRPr lang="en-US" dirty="0"/>
          </a:p>
          <a:p>
            <a:pPr>
              <a:buNone/>
            </a:pPr>
            <a:endParaRPr lang="en-US" dirty="0"/>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dirty="0" smtClean="0"/>
              <a:t>77.</a:t>
            </a:r>
            <a:r>
              <a:rPr lang="en-US" dirty="0"/>
              <a:t> Which of these does not describe a tropical rain forest?</a:t>
            </a:r>
          </a:p>
          <a:p>
            <a:pPr lvl="0">
              <a:buNone/>
            </a:pPr>
            <a:r>
              <a:rPr lang="en-US" dirty="0" smtClean="0"/>
              <a:t>a. Annual </a:t>
            </a:r>
            <a:r>
              <a:rPr lang="en-US" dirty="0"/>
              <a:t>rainfall measures up to 350 cm</a:t>
            </a:r>
          </a:p>
          <a:p>
            <a:pPr lvl="0">
              <a:buNone/>
            </a:pPr>
            <a:r>
              <a:rPr lang="en-US" dirty="0" smtClean="0">
                <a:solidFill>
                  <a:srgbClr val="FF0000"/>
                </a:solidFill>
              </a:rPr>
              <a:t>b. Annual </a:t>
            </a:r>
            <a:r>
              <a:rPr lang="en-US" dirty="0">
                <a:solidFill>
                  <a:srgbClr val="FF0000"/>
                </a:solidFill>
              </a:rPr>
              <a:t>rainfall is less than 30 cm</a:t>
            </a:r>
          </a:p>
          <a:p>
            <a:pPr lvl="0">
              <a:buNone/>
            </a:pPr>
            <a:r>
              <a:rPr lang="en-US" dirty="0" smtClean="0"/>
              <a:t>c. The </a:t>
            </a:r>
            <a:r>
              <a:rPr lang="en-US" dirty="0"/>
              <a:t>richest of all the biomes on earth</a:t>
            </a:r>
          </a:p>
          <a:p>
            <a:pPr lvl="0">
              <a:buNone/>
            </a:pPr>
            <a:r>
              <a:rPr lang="en-US" dirty="0" smtClean="0"/>
              <a:t>d. Trees </a:t>
            </a:r>
            <a:r>
              <a:rPr lang="en-US" dirty="0"/>
              <a:t>provide thick canopy</a:t>
            </a:r>
          </a:p>
          <a:p>
            <a:pPr>
              <a:buNone/>
            </a:pPr>
            <a:endParaRPr lang="en-US" dirty="0"/>
          </a:p>
          <a:p>
            <a:pPr>
              <a:buNone/>
            </a:pPr>
            <a:endParaRPr 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78. During periods in increased global temperatures, which of the following is most likely to occur?</a:t>
            </a:r>
          </a:p>
          <a:p>
            <a:pPr marL="514350" indent="-514350">
              <a:buAutoNum type="alphaLcPeriod"/>
            </a:pPr>
            <a:r>
              <a:rPr lang="en-US" dirty="0" smtClean="0"/>
              <a:t>A decrease in earthquake</a:t>
            </a:r>
          </a:p>
          <a:p>
            <a:pPr marL="514350" indent="-514350">
              <a:buAutoNum type="alphaLcPeriod"/>
            </a:pPr>
            <a:r>
              <a:rPr lang="en-US" dirty="0" smtClean="0"/>
              <a:t>An increase in earthquake</a:t>
            </a:r>
          </a:p>
          <a:p>
            <a:pPr marL="514350" indent="-514350">
              <a:buAutoNum type="alphaLcPeriod"/>
            </a:pPr>
            <a:r>
              <a:rPr lang="en-US" dirty="0" smtClean="0"/>
              <a:t>A decrease in atmospheric Carbon dioxide</a:t>
            </a:r>
          </a:p>
          <a:p>
            <a:pPr marL="514350" indent="-514350">
              <a:buAutoNum type="alphaLcPeriod"/>
            </a:pPr>
            <a:r>
              <a:rPr lang="en-US" dirty="0" smtClean="0"/>
              <a:t>An increase in atmospheric carbon dioxide</a:t>
            </a:r>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78. During periods in increased global temperatures, which of the following is most likely to occur?</a:t>
            </a:r>
          </a:p>
          <a:p>
            <a:pPr marL="514350" indent="-514350">
              <a:buAutoNum type="alphaLcPeriod"/>
            </a:pPr>
            <a:r>
              <a:rPr lang="en-US" dirty="0" smtClean="0"/>
              <a:t>A decrease in earthquake</a:t>
            </a:r>
          </a:p>
          <a:p>
            <a:pPr marL="514350" indent="-514350">
              <a:buAutoNum type="alphaLcPeriod"/>
            </a:pPr>
            <a:r>
              <a:rPr lang="en-US" dirty="0" smtClean="0"/>
              <a:t>An increase in earthquake</a:t>
            </a:r>
          </a:p>
          <a:p>
            <a:pPr marL="514350" indent="-514350">
              <a:buAutoNum type="alphaLcPeriod"/>
            </a:pPr>
            <a:r>
              <a:rPr lang="en-US" dirty="0" smtClean="0"/>
              <a:t>A decrease in atmospheric Carbon dioxide</a:t>
            </a:r>
          </a:p>
          <a:p>
            <a:pPr marL="514350" indent="-514350">
              <a:buAutoNum type="alphaLcPeriod"/>
            </a:pPr>
            <a:r>
              <a:rPr lang="en-US" dirty="0" smtClean="0">
                <a:solidFill>
                  <a:srgbClr val="FF0000"/>
                </a:solidFill>
              </a:rPr>
              <a:t>An increase in atmospheric carbon dioxide</a:t>
            </a:r>
          </a:p>
          <a:p>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543800" cy="411162"/>
          </a:xfrm>
        </p:spPr>
        <p:txBody>
          <a:bodyPr>
            <a:normAutofit fontScale="90000"/>
          </a:bodyPr>
          <a:lstStyle/>
          <a:p>
            <a:endParaRPr lang="en-US" dirty="0"/>
          </a:p>
        </p:txBody>
      </p:sp>
      <p:sp>
        <p:nvSpPr>
          <p:cNvPr id="3" name="Content Placeholder 2"/>
          <p:cNvSpPr>
            <a:spLocks noGrp="1"/>
          </p:cNvSpPr>
          <p:nvPr>
            <p:ph idx="1"/>
          </p:nvPr>
        </p:nvSpPr>
        <p:spPr>
          <a:xfrm>
            <a:off x="457200" y="762000"/>
            <a:ext cx="8229600" cy="5364163"/>
          </a:xfrm>
        </p:spPr>
        <p:txBody>
          <a:bodyPr/>
          <a:lstStyle/>
          <a:p>
            <a:pPr>
              <a:buNone/>
            </a:pPr>
            <a:r>
              <a:rPr lang="en-US" dirty="0" smtClean="0"/>
              <a:t>79. Which of the following human activities reduces the level of ozone in the atmosphere?</a:t>
            </a:r>
          </a:p>
          <a:p>
            <a:pPr marL="514350" indent="-514350">
              <a:buAutoNum type="alphaLcPeriod"/>
            </a:pPr>
            <a:r>
              <a:rPr lang="en-US" dirty="0" smtClean="0"/>
              <a:t>Using large banks of solar cells for energy production</a:t>
            </a:r>
          </a:p>
          <a:p>
            <a:pPr marL="514350" indent="-514350">
              <a:buAutoNum type="alphaLcPeriod"/>
            </a:pPr>
            <a:r>
              <a:rPr lang="en-US" dirty="0" smtClean="0"/>
              <a:t>Using articles lighting in scientific polar stations</a:t>
            </a:r>
          </a:p>
          <a:p>
            <a:pPr marL="514350" indent="-514350">
              <a:buAutoNum type="alphaLcPeriod"/>
            </a:pPr>
            <a:r>
              <a:rPr lang="en-US" dirty="0" smtClean="0"/>
              <a:t>Releasing of chlorofluorocarbons from aerosol cans</a:t>
            </a:r>
          </a:p>
          <a:p>
            <a:pPr marL="514350" indent="-514350">
              <a:buAutoNum type="alphaLcPeriod"/>
            </a:pPr>
            <a:r>
              <a:rPr lang="en-US" dirty="0" smtClean="0"/>
              <a:t>Destroying large areas of the equatorial rain forests</a:t>
            </a:r>
          </a:p>
          <a:p>
            <a:pPr marL="514350" indent="-514350">
              <a:buAutoNum type="alphaLcPeriod"/>
            </a:pPr>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7543800" cy="381000"/>
          </a:xfrm>
        </p:spPr>
        <p:txBody>
          <a:bodyPr>
            <a:normAutofit fontScale="90000"/>
          </a:bodyPr>
          <a:lstStyle/>
          <a:p>
            <a:endParaRPr lang="en-US"/>
          </a:p>
        </p:txBody>
      </p:sp>
      <p:sp>
        <p:nvSpPr>
          <p:cNvPr id="3" name="Content Placeholder 2"/>
          <p:cNvSpPr>
            <a:spLocks noGrp="1"/>
          </p:cNvSpPr>
          <p:nvPr>
            <p:ph idx="1"/>
          </p:nvPr>
        </p:nvSpPr>
        <p:spPr>
          <a:xfrm>
            <a:off x="533400" y="990600"/>
            <a:ext cx="8153400" cy="5135563"/>
          </a:xfrm>
        </p:spPr>
        <p:txBody>
          <a:bodyPr>
            <a:normAutofit fontScale="92500"/>
          </a:bodyPr>
          <a:lstStyle/>
          <a:p>
            <a:pPr>
              <a:buNone/>
            </a:pPr>
            <a:r>
              <a:rPr lang="en-US" dirty="0" smtClean="0"/>
              <a:t>79. Which of the following human activities reduces the level of ozone in the atmosphere?</a:t>
            </a:r>
          </a:p>
          <a:p>
            <a:pPr marL="514350" indent="-514350">
              <a:buAutoNum type="alphaLcPeriod"/>
            </a:pPr>
            <a:r>
              <a:rPr lang="en-US" dirty="0" smtClean="0"/>
              <a:t>Using large banks of solar cells for energy production</a:t>
            </a:r>
          </a:p>
          <a:p>
            <a:pPr marL="514350" indent="-514350">
              <a:buAutoNum type="alphaLcPeriod"/>
            </a:pPr>
            <a:r>
              <a:rPr lang="en-US" dirty="0" smtClean="0"/>
              <a:t>Using articles lighting in scientific polar stations</a:t>
            </a:r>
          </a:p>
          <a:p>
            <a:pPr marL="514350" indent="-514350">
              <a:buAutoNum type="alphaLcPeriod"/>
            </a:pPr>
            <a:r>
              <a:rPr lang="en-US" dirty="0" smtClean="0">
                <a:solidFill>
                  <a:srgbClr val="FF0000"/>
                </a:solidFill>
              </a:rPr>
              <a:t>Releasing of chlorofluorocarbons from aerosol cans</a:t>
            </a:r>
          </a:p>
          <a:p>
            <a:pPr marL="514350" indent="-514350">
              <a:buAutoNum type="alphaLcPeriod"/>
            </a:pPr>
            <a:r>
              <a:rPr lang="en-US" dirty="0" smtClean="0"/>
              <a:t>Destroying large areas of the equatorial rain forests</a:t>
            </a:r>
          </a:p>
          <a:p>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80. What is the most significant cause of dwindling biodiversity?</a:t>
            </a:r>
          </a:p>
          <a:p>
            <a:pPr marL="514350" indent="-514350">
              <a:buAutoNum type="alphaLcPeriod"/>
            </a:pPr>
            <a:r>
              <a:rPr lang="en-US" dirty="0" smtClean="0"/>
              <a:t>Global warming</a:t>
            </a:r>
          </a:p>
          <a:p>
            <a:pPr marL="514350" indent="-514350">
              <a:buAutoNum type="alphaLcPeriod"/>
            </a:pPr>
            <a:r>
              <a:rPr lang="en-US" dirty="0" smtClean="0"/>
              <a:t>Destruction of habitat</a:t>
            </a:r>
          </a:p>
          <a:p>
            <a:pPr marL="514350" indent="-514350">
              <a:buAutoNum type="alphaLcPeriod"/>
            </a:pPr>
            <a:r>
              <a:rPr lang="en-US" dirty="0" smtClean="0"/>
              <a:t>Depletion of ozone layer</a:t>
            </a:r>
          </a:p>
          <a:p>
            <a:pPr marL="514350" indent="-514350">
              <a:buAutoNum type="alphaLcPeriod"/>
            </a:pPr>
            <a:r>
              <a:rPr lang="en-US" dirty="0" smtClean="0"/>
              <a:t>Large plant consumption</a:t>
            </a: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80. What is the most significant cause of dwindling biodiversity?</a:t>
            </a:r>
          </a:p>
          <a:p>
            <a:pPr marL="514350" indent="-514350">
              <a:buAutoNum type="alphaLcPeriod"/>
            </a:pPr>
            <a:r>
              <a:rPr lang="en-US" dirty="0" smtClean="0"/>
              <a:t>Global warming</a:t>
            </a:r>
          </a:p>
          <a:p>
            <a:pPr marL="514350" indent="-514350">
              <a:buAutoNum type="alphaLcPeriod"/>
            </a:pPr>
            <a:r>
              <a:rPr lang="en-US" dirty="0" smtClean="0"/>
              <a:t>Destruction of habitat</a:t>
            </a:r>
          </a:p>
          <a:p>
            <a:pPr marL="514350" indent="-514350">
              <a:buAutoNum type="alphaLcPeriod"/>
            </a:pPr>
            <a:r>
              <a:rPr lang="en-US" dirty="0" smtClean="0">
                <a:solidFill>
                  <a:srgbClr val="FF0000"/>
                </a:solidFill>
              </a:rPr>
              <a:t>Depletion of ozone layer</a:t>
            </a:r>
          </a:p>
          <a:p>
            <a:pPr marL="514350" indent="-514350">
              <a:buAutoNum type="alphaLcPeriod"/>
            </a:pPr>
            <a:r>
              <a:rPr lang="en-US" dirty="0" smtClean="0"/>
              <a:t>Large plant consumption</a:t>
            </a:r>
          </a:p>
          <a:p>
            <a:endParaRPr 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81. Why is incineration not favored as a method of waste disposal?</a:t>
            </a:r>
          </a:p>
          <a:p>
            <a:pPr marL="514350" indent="-514350">
              <a:buAutoNum type="alphaLcPeriod"/>
            </a:pPr>
            <a:r>
              <a:rPr lang="en-US" dirty="0" smtClean="0"/>
              <a:t>It is expensive for a country like ours</a:t>
            </a:r>
          </a:p>
          <a:p>
            <a:pPr marL="514350" indent="-514350">
              <a:buAutoNum type="alphaLcPeriod"/>
            </a:pPr>
            <a:r>
              <a:rPr lang="en-US" dirty="0" smtClean="0"/>
              <a:t>The country lacks fund to install incinerators</a:t>
            </a:r>
          </a:p>
          <a:p>
            <a:pPr marL="514350" indent="-514350">
              <a:buAutoNum type="alphaLcPeriod"/>
            </a:pPr>
            <a:r>
              <a:rPr lang="en-US" dirty="0" smtClean="0"/>
              <a:t>It requires large energy expenditures</a:t>
            </a:r>
          </a:p>
          <a:p>
            <a:pPr marL="514350" indent="-514350">
              <a:buAutoNum type="alphaLcPeriod"/>
            </a:pPr>
            <a:r>
              <a:rPr lang="en-US" dirty="0" smtClean="0"/>
              <a:t>It releases noxious gases</a:t>
            </a:r>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81. Why is incineration not favored as a method of waste disposal?</a:t>
            </a:r>
          </a:p>
          <a:p>
            <a:pPr marL="514350" indent="-514350">
              <a:buAutoNum type="alphaLcPeriod"/>
            </a:pPr>
            <a:r>
              <a:rPr lang="en-US" dirty="0" smtClean="0"/>
              <a:t>It is expensive for a country like ours</a:t>
            </a:r>
          </a:p>
          <a:p>
            <a:pPr marL="514350" indent="-514350">
              <a:buAutoNum type="alphaLcPeriod"/>
            </a:pPr>
            <a:r>
              <a:rPr lang="en-US" dirty="0" smtClean="0"/>
              <a:t>The country lacks fund to install incinerators</a:t>
            </a:r>
          </a:p>
          <a:p>
            <a:pPr marL="514350" indent="-514350">
              <a:buAutoNum type="alphaLcPeriod"/>
            </a:pPr>
            <a:r>
              <a:rPr lang="en-US" dirty="0" smtClean="0"/>
              <a:t>It requires large energy expenditures</a:t>
            </a:r>
          </a:p>
          <a:p>
            <a:pPr marL="514350" indent="-514350">
              <a:buAutoNum type="alphaLcPeriod"/>
            </a:pPr>
            <a:r>
              <a:rPr lang="en-US" dirty="0" smtClean="0">
                <a:solidFill>
                  <a:srgbClr val="FF0000"/>
                </a:solidFill>
              </a:rPr>
              <a:t>It releases noxious gases</a:t>
            </a:r>
          </a:p>
          <a:p>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82. Which of the following activities help reduce water pollution?</a:t>
            </a:r>
          </a:p>
          <a:p>
            <a:pPr marL="514350" indent="-514350">
              <a:buAutoNum type="alphaLcPeriod"/>
            </a:pPr>
            <a:r>
              <a:rPr lang="en-US" dirty="0" smtClean="0"/>
              <a:t>Throwing only liquid wastes</a:t>
            </a:r>
          </a:p>
          <a:p>
            <a:pPr marL="514350" indent="-514350">
              <a:buAutoNum type="alphaLcPeriod"/>
            </a:pPr>
            <a:r>
              <a:rPr lang="en-US" dirty="0" smtClean="0"/>
              <a:t>Cleaning with soaps instead of detergents</a:t>
            </a:r>
          </a:p>
          <a:p>
            <a:pPr marL="514350" indent="-514350">
              <a:buAutoNum type="alphaLcPeriod"/>
            </a:pPr>
            <a:r>
              <a:rPr lang="en-US" dirty="0" smtClean="0"/>
              <a:t>Treating wastewater before it is discharged</a:t>
            </a:r>
          </a:p>
          <a:p>
            <a:pPr marL="514350" indent="-514350">
              <a:buAutoNum type="alphaLcPeriod"/>
            </a:pPr>
            <a:r>
              <a:rPr lang="en-US" dirty="0" smtClean="0"/>
              <a:t>Using organic fertilizers in farms</a:t>
            </a:r>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82. Which of the following activities help reduce water pollution?</a:t>
            </a:r>
          </a:p>
          <a:p>
            <a:pPr marL="514350" indent="-514350">
              <a:buAutoNum type="alphaLcPeriod"/>
            </a:pPr>
            <a:r>
              <a:rPr lang="en-US" dirty="0" smtClean="0"/>
              <a:t>Throwing only liquid wastes</a:t>
            </a:r>
          </a:p>
          <a:p>
            <a:pPr marL="514350" indent="-514350">
              <a:buAutoNum type="alphaLcPeriod"/>
            </a:pPr>
            <a:r>
              <a:rPr lang="en-US" dirty="0" smtClean="0"/>
              <a:t>Cleaning with soaps instead of detergents</a:t>
            </a:r>
          </a:p>
          <a:p>
            <a:pPr marL="514350" indent="-514350">
              <a:buAutoNum type="alphaLcPeriod"/>
            </a:pPr>
            <a:r>
              <a:rPr lang="en-US" dirty="0" smtClean="0">
                <a:solidFill>
                  <a:srgbClr val="FF0000"/>
                </a:solidFill>
              </a:rPr>
              <a:t>Treating wastewater before it is discharged</a:t>
            </a:r>
          </a:p>
          <a:p>
            <a:pPr marL="514350" indent="-514350">
              <a:buAutoNum type="alphaLcPeriod"/>
            </a:pPr>
            <a:r>
              <a:rPr lang="en-US" dirty="0" smtClean="0"/>
              <a:t>Using organic fertilizers in farms</a:t>
            </a:r>
          </a:p>
          <a:p>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563562"/>
          </a:xfrm>
        </p:spPr>
        <p:txBody>
          <a:bodyPr>
            <a:normAutofit fontScale="90000"/>
          </a:bodyPr>
          <a:lstStyle/>
          <a:p>
            <a:endParaRPr lang="en-US" dirty="0"/>
          </a:p>
        </p:txBody>
      </p:sp>
      <p:sp>
        <p:nvSpPr>
          <p:cNvPr id="3" name="Content Placeholder 2"/>
          <p:cNvSpPr>
            <a:spLocks noGrp="1"/>
          </p:cNvSpPr>
          <p:nvPr>
            <p:ph idx="1"/>
          </p:nvPr>
        </p:nvSpPr>
        <p:spPr>
          <a:xfrm>
            <a:off x="914400" y="914400"/>
            <a:ext cx="7772400" cy="5211763"/>
          </a:xfrm>
        </p:spPr>
        <p:txBody>
          <a:bodyPr>
            <a:normAutofit fontScale="92500"/>
          </a:bodyPr>
          <a:lstStyle/>
          <a:p>
            <a:pPr>
              <a:buNone/>
            </a:pPr>
            <a:r>
              <a:rPr lang="en-US" dirty="0" smtClean="0"/>
              <a:t>83. Teacher Ann showed the class the potted plants placed on the window sills. She asked them to observe the direction of their growth. The pupils observed that the plants tended to grow outward. Teacher Ann then asked the class this question: why do you think they grow outward? What was Teacher Ann engaging the pupils to do?</a:t>
            </a:r>
          </a:p>
          <a:p>
            <a:pPr marL="514350" indent="-514350">
              <a:buAutoNum type="alphaLcPeriod"/>
            </a:pPr>
            <a:r>
              <a:rPr lang="en-US" dirty="0" smtClean="0"/>
              <a:t>Observe                    c. formulate hypothesis</a:t>
            </a:r>
          </a:p>
          <a:p>
            <a:pPr marL="514350" indent="-514350">
              <a:buAutoNum type="alphaLcPeriod"/>
            </a:pPr>
            <a:r>
              <a:rPr lang="en-US" dirty="0" smtClean="0"/>
              <a:t>Draw conclusion      d. design an experiment</a:t>
            </a:r>
          </a:p>
          <a:p>
            <a:pPr marL="514350" indent="-514350">
              <a:buNone/>
            </a:pPr>
            <a:endParaRPr lang="en-US" dirty="0" smtClean="0"/>
          </a:p>
          <a:p>
            <a:pPr marL="514350" indent="-514350">
              <a:buAutoNum type="alphaLcPeriod"/>
            </a:pPr>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838200"/>
            <a:ext cx="8229600" cy="5287963"/>
          </a:xfrm>
        </p:spPr>
        <p:txBody>
          <a:bodyPr>
            <a:normAutofit/>
          </a:bodyPr>
          <a:lstStyle/>
          <a:p>
            <a:pPr>
              <a:buNone/>
            </a:pPr>
            <a:r>
              <a:rPr lang="en-US" dirty="0" smtClean="0"/>
              <a:t>83. Teacher Ann showed the class the potted plants placed on the window sills. She asked them to observe the direction of their growth. The pupils observed that the plants tended to grow outward. Teacher Ann then asked the class this question: why do you think they grow outward? What was Teacher Ann engaging the pupils to do?</a:t>
            </a:r>
          </a:p>
          <a:p>
            <a:pPr marL="514350" indent="-514350">
              <a:buAutoNum type="alphaLcPeriod"/>
            </a:pPr>
            <a:r>
              <a:rPr lang="en-US" dirty="0" smtClean="0"/>
              <a:t>Observe                    c. </a:t>
            </a:r>
            <a:r>
              <a:rPr lang="en-US" dirty="0" smtClean="0">
                <a:solidFill>
                  <a:srgbClr val="FF0000"/>
                </a:solidFill>
              </a:rPr>
              <a:t>formulate hypothesis</a:t>
            </a:r>
          </a:p>
          <a:p>
            <a:pPr marL="514350" indent="-514350">
              <a:buAutoNum type="alphaLcPeriod"/>
            </a:pPr>
            <a:r>
              <a:rPr lang="en-US" dirty="0" smtClean="0"/>
              <a:t>Draw conclusion      d. design an experiment</a:t>
            </a:r>
          </a:p>
          <a:p>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715962"/>
          </a:xfrm>
        </p:spPr>
        <p:txBody>
          <a:bodyPr>
            <a:normAutofit fontScale="90000"/>
          </a:bodyPr>
          <a:lstStyle/>
          <a:p>
            <a:endParaRPr lang="en-US" dirty="0"/>
          </a:p>
        </p:txBody>
      </p:sp>
      <p:sp>
        <p:nvSpPr>
          <p:cNvPr id="3" name="Content Placeholder 2"/>
          <p:cNvSpPr>
            <a:spLocks noGrp="1"/>
          </p:cNvSpPr>
          <p:nvPr>
            <p:ph idx="1"/>
          </p:nvPr>
        </p:nvSpPr>
        <p:spPr>
          <a:xfrm>
            <a:off x="457200" y="990600"/>
            <a:ext cx="8153400" cy="5135563"/>
          </a:xfrm>
        </p:spPr>
        <p:txBody>
          <a:bodyPr/>
          <a:lstStyle/>
          <a:p>
            <a:pPr>
              <a:buNone/>
            </a:pPr>
            <a:r>
              <a:rPr lang="en-US" dirty="0" smtClean="0"/>
              <a:t>84. Doctors can declare dengue fever as an epidemic in a place:</a:t>
            </a:r>
          </a:p>
          <a:p>
            <a:pPr marL="514350" indent="-514350">
              <a:buAutoNum type="alphaLcPeriod"/>
            </a:pPr>
            <a:r>
              <a:rPr lang="en-US" dirty="0" smtClean="0"/>
              <a:t>When two are hospitalized from the neighborhood</a:t>
            </a:r>
          </a:p>
          <a:p>
            <a:pPr marL="514350" indent="-514350">
              <a:buAutoNum type="alphaLcPeriod"/>
            </a:pPr>
            <a:r>
              <a:rPr lang="en-US" dirty="0" smtClean="0"/>
              <a:t>When everyone is suffering from colds</a:t>
            </a:r>
          </a:p>
          <a:p>
            <a:pPr marL="514350" indent="-514350">
              <a:buAutoNum type="alphaLcPeriod"/>
            </a:pPr>
            <a:r>
              <a:rPr lang="en-US" dirty="0" smtClean="0"/>
              <a:t>When every households of five houses is sick with high fever</a:t>
            </a:r>
          </a:p>
          <a:p>
            <a:pPr marL="514350" indent="-514350">
              <a:buAutoNum type="alphaLcPeriod"/>
            </a:pPr>
            <a:r>
              <a:rPr lang="en-US" dirty="0" smtClean="0"/>
              <a:t>When the proportion of patients reaches at least 15% of the population </a:t>
            </a:r>
            <a:endParaRPr 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7848600" cy="792162"/>
          </a:xfrm>
        </p:spPr>
        <p:txBody>
          <a:bodyPr/>
          <a:lstStyle/>
          <a:p>
            <a:endParaRPr lang="en-US"/>
          </a:p>
        </p:txBody>
      </p:sp>
      <p:sp>
        <p:nvSpPr>
          <p:cNvPr id="3" name="Content Placeholder 2"/>
          <p:cNvSpPr>
            <a:spLocks noGrp="1"/>
          </p:cNvSpPr>
          <p:nvPr>
            <p:ph idx="1"/>
          </p:nvPr>
        </p:nvSpPr>
        <p:spPr>
          <a:xfrm>
            <a:off x="457200" y="1295400"/>
            <a:ext cx="8229600" cy="4830763"/>
          </a:xfrm>
        </p:spPr>
        <p:txBody>
          <a:bodyPr>
            <a:normAutofit lnSpcReduction="10000"/>
          </a:bodyPr>
          <a:lstStyle/>
          <a:p>
            <a:pPr>
              <a:buNone/>
            </a:pPr>
            <a:r>
              <a:rPr lang="en-US" dirty="0" smtClean="0"/>
              <a:t>84. Doctors can declare dengue fever as an epidemic in a place:</a:t>
            </a:r>
          </a:p>
          <a:p>
            <a:pPr marL="514350" indent="-514350">
              <a:buAutoNum type="alphaLcPeriod"/>
            </a:pPr>
            <a:r>
              <a:rPr lang="en-US" dirty="0" smtClean="0"/>
              <a:t>When two are hospitalized from the neighborhood</a:t>
            </a:r>
          </a:p>
          <a:p>
            <a:pPr marL="514350" indent="-514350">
              <a:buAutoNum type="alphaLcPeriod"/>
            </a:pPr>
            <a:r>
              <a:rPr lang="en-US" dirty="0" smtClean="0"/>
              <a:t>When everyone is suffering from colds</a:t>
            </a:r>
          </a:p>
          <a:p>
            <a:pPr marL="514350" indent="-514350">
              <a:buAutoNum type="alphaLcPeriod"/>
            </a:pPr>
            <a:r>
              <a:rPr lang="en-US" dirty="0" smtClean="0"/>
              <a:t>When every households of five houses is sick with high fever</a:t>
            </a:r>
          </a:p>
          <a:p>
            <a:pPr marL="514350" indent="-514350">
              <a:buAutoNum type="alphaLcPeriod"/>
            </a:pPr>
            <a:r>
              <a:rPr lang="en-US" dirty="0" smtClean="0">
                <a:solidFill>
                  <a:srgbClr val="FF0000"/>
                </a:solidFill>
              </a:rPr>
              <a:t>When the proportion of patients reaches at least 15% of the population </a:t>
            </a:r>
          </a:p>
          <a:p>
            <a:endParaRPr lang="en-US"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85. These are professionals who are experts in handling animal diseases.</a:t>
            </a:r>
          </a:p>
          <a:p>
            <a:pPr marL="514350" indent="-514350">
              <a:buAutoNum type="alphaLcPeriod"/>
            </a:pPr>
            <a:r>
              <a:rPr lang="en-US" dirty="0" smtClean="0"/>
              <a:t>Veterinarians</a:t>
            </a:r>
          </a:p>
          <a:p>
            <a:pPr marL="514350" indent="-514350">
              <a:buAutoNum type="alphaLcPeriod"/>
            </a:pPr>
            <a:r>
              <a:rPr lang="en-US" dirty="0" smtClean="0"/>
              <a:t>Doctors of </a:t>
            </a:r>
            <a:r>
              <a:rPr lang="en-US" dirty="0" err="1" smtClean="0"/>
              <a:t>cattles</a:t>
            </a:r>
            <a:endParaRPr lang="en-US" dirty="0" smtClean="0"/>
          </a:p>
          <a:p>
            <a:pPr marL="514350" indent="-514350">
              <a:buAutoNum type="alphaLcPeriod"/>
            </a:pPr>
            <a:r>
              <a:rPr lang="en-US" dirty="0" smtClean="0"/>
              <a:t>Animal husbandry</a:t>
            </a:r>
          </a:p>
          <a:p>
            <a:pPr marL="514350" indent="-514350">
              <a:buAutoNum type="alphaLcPeriod"/>
            </a:pPr>
            <a:r>
              <a:rPr lang="en-US" dirty="0" smtClean="0"/>
              <a:t>Doctors of medicine</a:t>
            </a: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85. These are professionals who are experts in handling animal diseases.</a:t>
            </a:r>
          </a:p>
          <a:p>
            <a:pPr marL="514350" indent="-514350">
              <a:buAutoNum type="alphaLcPeriod"/>
            </a:pPr>
            <a:r>
              <a:rPr lang="en-US" dirty="0" smtClean="0">
                <a:solidFill>
                  <a:srgbClr val="FF0000"/>
                </a:solidFill>
              </a:rPr>
              <a:t>Veterinarians</a:t>
            </a:r>
          </a:p>
          <a:p>
            <a:pPr marL="514350" indent="-514350">
              <a:buAutoNum type="alphaLcPeriod"/>
            </a:pPr>
            <a:r>
              <a:rPr lang="en-US" dirty="0" smtClean="0"/>
              <a:t>Doctors of </a:t>
            </a:r>
            <a:r>
              <a:rPr lang="en-US" dirty="0" err="1" smtClean="0"/>
              <a:t>cattles</a:t>
            </a:r>
            <a:endParaRPr lang="en-US" dirty="0" smtClean="0"/>
          </a:p>
          <a:p>
            <a:pPr marL="514350" indent="-514350">
              <a:buAutoNum type="alphaLcPeriod"/>
            </a:pPr>
            <a:r>
              <a:rPr lang="en-US" dirty="0" smtClean="0"/>
              <a:t>Animal husbandry</a:t>
            </a:r>
          </a:p>
          <a:p>
            <a:pPr marL="514350" indent="-514350">
              <a:buAutoNum type="alphaLcPeriod"/>
            </a:pPr>
            <a:r>
              <a:rPr lang="en-US" dirty="0" smtClean="0"/>
              <a:t>Doctors of medicine</a:t>
            </a:r>
          </a:p>
          <a:p>
            <a:pPr>
              <a:buNone/>
            </a:pPr>
            <a:endParaRPr 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86. A lot of malnourished children in Africa are found to have poor teeth and eyesight. This is believed to be caused by:</a:t>
            </a:r>
          </a:p>
          <a:p>
            <a:pPr marL="514350" indent="-514350">
              <a:buAutoNum type="alphaLcPeriod"/>
            </a:pPr>
            <a:r>
              <a:rPr lang="en-US" dirty="0" smtClean="0"/>
              <a:t>Deficiency in protein</a:t>
            </a:r>
          </a:p>
          <a:p>
            <a:pPr marL="514350" indent="-514350">
              <a:buAutoNum type="alphaLcPeriod"/>
            </a:pPr>
            <a:r>
              <a:rPr lang="en-US" dirty="0" smtClean="0"/>
              <a:t>Deficiency in iron</a:t>
            </a:r>
          </a:p>
          <a:p>
            <a:pPr marL="514350" indent="-514350">
              <a:buAutoNum type="alphaLcPeriod"/>
            </a:pPr>
            <a:r>
              <a:rPr lang="en-US" dirty="0" smtClean="0"/>
              <a:t>Deficiency in vitamin B</a:t>
            </a:r>
          </a:p>
          <a:p>
            <a:pPr marL="514350" indent="-514350">
              <a:buAutoNum type="alphaLcPeriod"/>
            </a:pPr>
            <a:r>
              <a:rPr lang="en-US" dirty="0" smtClean="0"/>
              <a:t>Deficiency in vitamin A and D</a:t>
            </a:r>
          </a:p>
          <a:p>
            <a:pPr marL="514350" indent="-514350">
              <a:buAutoNum type="alphaLcPeriod"/>
            </a:pPr>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86. A lot of malnourished children in Africa are found to have poor teeth and eyesight. This is believed to be caused by:</a:t>
            </a:r>
          </a:p>
          <a:p>
            <a:pPr marL="514350" indent="-514350">
              <a:buAutoNum type="alphaLcPeriod"/>
            </a:pPr>
            <a:r>
              <a:rPr lang="en-US" dirty="0" smtClean="0"/>
              <a:t>Deficiency in protein</a:t>
            </a:r>
          </a:p>
          <a:p>
            <a:pPr marL="514350" indent="-514350">
              <a:buAutoNum type="alphaLcPeriod"/>
            </a:pPr>
            <a:r>
              <a:rPr lang="en-US" dirty="0" smtClean="0"/>
              <a:t>Deficiency in iron</a:t>
            </a:r>
          </a:p>
          <a:p>
            <a:pPr marL="514350" indent="-514350">
              <a:buAutoNum type="alphaLcPeriod"/>
            </a:pPr>
            <a:r>
              <a:rPr lang="en-US" dirty="0" smtClean="0"/>
              <a:t>Deficiency in vitamin B</a:t>
            </a:r>
          </a:p>
          <a:p>
            <a:pPr marL="514350" indent="-514350">
              <a:buAutoNum type="alphaLcPeriod"/>
            </a:pPr>
            <a:r>
              <a:rPr lang="en-US" dirty="0" smtClean="0">
                <a:solidFill>
                  <a:srgbClr val="FF0000"/>
                </a:solidFill>
              </a:rPr>
              <a:t>Deficiency in vitamin A and D</a:t>
            </a:r>
          </a:p>
          <a:p>
            <a:pPr>
              <a:buNone/>
            </a:pPr>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87. Deficiency in the secretion of this hormone causes simple goiter.</a:t>
            </a:r>
          </a:p>
          <a:p>
            <a:pPr marL="514350" indent="-514350">
              <a:buAutoNum type="alphaLcPeriod"/>
            </a:pPr>
            <a:r>
              <a:rPr lang="en-US" dirty="0" smtClean="0"/>
              <a:t>Estrogen</a:t>
            </a:r>
          </a:p>
          <a:p>
            <a:pPr marL="514350" indent="-514350">
              <a:buAutoNum type="alphaLcPeriod"/>
            </a:pPr>
            <a:r>
              <a:rPr lang="en-US" dirty="0" smtClean="0"/>
              <a:t>Testosterone</a:t>
            </a:r>
          </a:p>
          <a:p>
            <a:pPr marL="514350" indent="-514350">
              <a:buAutoNum type="alphaLcPeriod"/>
            </a:pPr>
            <a:r>
              <a:rPr lang="en-US" dirty="0" smtClean="0"/>
              <a:t>Adrenalin</a:t>
            </a:r>
          </a:p>
          <a:p>
            <a:pPr marL="514350" indent="-514350">
              <a:buAutoNum type="alphaLcPeriod"/>
            </a:pPr>
            <a:r>
              <a:rPr lang="en-US" dirty="0" smtClean="0"/>
              <a:t>thyroxin</a:t>
            </a:r>
          </a:p>
          <a:p>
            <a:pPr marL="514350" indent="-514350">
              <a:buNone/>
            </a:pPr>
            <a:endParaRPr 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87. Deficiency in the secretion of this hormone causes simple goiter.</a:t>
            </a:r>
          </a:p>
          <a:p>
            <a:pPr marL="514350" indent="-514350">
              <a:buAutoNum type="alphaLcPeriod"/>
            </a:pPr>
            <a:r>
              <a:rPr lang="en-US" dirty="0" smtClean="0"/>
              <a:t>Estrogen</a:t>
            </a:r>
          </a:p>
          <a:p>
            <a:pPr marL="514350" indent="-514350">
              <a:buAutoNum type="alphaLcPeriod"/>
            </a:pPr>
            <a:r>
              <a:rPr lang="en-US" dirty="0" smtClean="0"/>
              <a:t>Testosterone</a:t>
            </a:r>
          </a:p>
          <a:p>
            <a:pPr marL="514350" indent="-514350">
              <a:buAutoNum type="alphaLcPeriod"/>
            </a:pPr>
            <a:r>
              <a:rPr lang="en-US" dirty="0" smtClean="0"/>
              <a:t>Adrenalin</a:t>
            </a:r>
          </a:p>
          <a:p>
            <a:pPr marL="514350" indent="-514350">
              <a:buAutoNum type="alphaLcPeriod"/>
            </a:pPr>
            <a:r>
              <a:rPr lang="en-US" dirty="0" smtClean="0">
                <a:solidFill>
                  <a:srgbClr val="FF0000"/>
                </a:solidFill>
              </a:rPr>
              <a:t>thyroxin</a:t>
            </a:r>
          </a:p>
          <a:p>
            <a:pPr>
              <a:buNone/>
            </a:pPr>
            <a:endParaRPr 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88. Which among the processes are more related with technology than with science?</a:t>
            </a:r>
          </a:p>
          <a:p>
            <a:pPr marL="514350" indent="-514350">
              <a:buAutoNum type="alphaLcPeriod"/>
            </a:pPr>
            <a:r>
              <a:rPr lang="en-US" dirty="0" smtClean="0"/>
              <a:t>Discovering forms of matter</a:t>
            </a:r>
          </a:p>
          <a:p>
            <a:pPr marL="514350" indent="-514350">
              <a:buAutoNum type="alphaLcPeriod"/>
            </a:pPr>
            <a:r>
              <a:rPr lang="en-US" dirty="0" smtClean="0"/>
              <a:t>Designing a workable system</a:t>
            </a:r>
          </a:p>
          <a:p>
            <a:pPr marL="514350" indent="-514350">
              <a:buAutoNum type="alphaLcPeriod"/>
            </a:pPr>
            <a:r>
              <a:rPr lang="en-US" dirty="0" smtClean="0"/>
              <a:t>Constructing concepts and laws</a:t>
            </a:r>
          </a:p>
          <a:p>
            <a:pPr marL="514350" indent="-514350">
              <a:buAutoNum type="alphaLcPeriod"/>
            </a:pPr>
            <a:r>
              <a:rPr lang="en-US" dirty="0" smtClean="0"/>
              <a:t>Observing natural phenomena</a:t>
            </a:r>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88. Which among the processes are more related with technology than with science?</a:t>
            </a:r>
          </a:p>
          <a:p>
            <a:pPr marL="514350" indent="-514350">
              <a:buAutoNum type="alphaLcPeriod"/>
            </a:pPr>
            <a:r>
              <a:rPr lang="en-US" dirty="0" smtClean="0"/>
              <a:t>Discovering forms of matter</a:t>
            </a:r>
          </a:p>
          <a:p>
            <a:pPr marL="514350" indent="-514350">
              <a:buAutoNum type="alphaLcPeriod"/>
            </a:pPr>
            <a:r>
              <a:rPr lang="en-US" dirty="0" smtClean="0">
                <a:solidFill>
                  <a:srgbClr val="FF0000"/>
                </a:solidFill>
              </a:rPr>
              <a:t>Designing a workable system</a:t>
            </a:r>
          </a:p>
          <a:p>
            <a:pPr marL="514350" indent="-514350">
              <a:buAutoNum type="alphaLcPeriod"/>
            </a:pPr>
            <a:r>
              <a:rPr lang="en-US" dirty="0" smtClean="0"/>
              <a:t>Constructing concepts and laws</a:t>
            </a:r>
          </a:p>
          <a:p>
            <a:pPr marL="514350" indent="-514350">
              <a:buAutoNum type="alphaLcPeriod"/>
            </a:pPr>
            <a:r>
              <a:rPr lang="en-US" dirty="0" smtClean="0"/>
              <a:t>Observing natural phenomena</a:t>
            </a:r>
          </a:p>
          <a:p>
            <a:pPr>
              <a:buNone/>
            </a:pPr>
            <a:endParaRPr lang="en-US"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89. What part of the brain functions whenever we think, study and react consciously?</a:t>
            </a:r>
          </a:p>
          <a:p>
            <a:pPr marL="514350" indent="-514350">
              <a:buAutoNum type="alphaLcPeriod"/>
            </a:pPr>
            <a:r>
              <a:rPr lang="en-US" dirty="0" smtClean="0"/>
              <a:t>Cortex</a:t>
            </a:r>
          </a:p>
          <a:p>
            <a:pPr marL="514350" indent="-514350">
              <a:buAutoNum type="alphaLcPeriod"/>
            </a:pPr>
            <a:r>
              <a:rPr lang="en-US" dirty="0" smtClean="0"/>
              <a:t>Cerebellum</a:t>
            </a:r>
          </a:p>
          <a:p>
            <a:pPr marL="514350" indent="-514350">
              <a:buAutoNum type="alphaLcPeriod"/>
            </a:pPr>
            <a:r>
              <a:rPr lang="en-US" dirty="0" smtClean="0"/>
              <a:t>Cerebrum</a:t>
            </a:r>
          </a:p>
          <a:p>
            <a:pPr marL="514350" indent="-514350">
              <a:buAutoNum type="alphaLcPeriod"/>
            </a:pPr>
            <a:r>
              <a:rPr lang="en-US" dirty="0" smtClean="0"/>
              <a:t>thalamus</a:t>
            </a:r>
            <a:endParaRPr 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89. What part of the brain functions whenever we think, study and react consciously?</a:t>
            </a:r>
          </a:p>
          <a:p>
            <a:pPr marL="514350" indent="-514350">
              <a:buAutoNum type="alphaLcPeriod"/>
            </a:pPr>
            <a:r>
              <a:rPr lang="en-US" dirty="0" smtClean="0"/>
              <a:t>Cortex</a:t>
            </a:r>
          </a:p>
          <a:p>
            <a:pPr marL="514350" indent="-514350">
              <a:buAutoNum type="alphaLcPeriod"/>
            </a:pPr>
            <a:r>
              <a:rPr lang="en-US" dirty="0" smtClean="0"/>
              <a:t>Cerebellum</a:t>
            </a:r>
          </a:p>
          <a:p>
            <a:pPr marL="514350" indent="-514350">
              <a:buAutoNum type="alphaLcPeriod"/>
            </a:pPr>
            <a:r>
              <a:rPr lang="en-US" dirty="0" smtClean="0">
                <a:solidFill>
                  <a:srgbClr val="FF0000"/>
                </a:solidFill>
              </a:rPr>
              <a:t>Cerebrum</a:t>
            </a:r>
          </a:p>
          <a:p>
            <a:pPr marL="514350" indent="-514350">
              <a:buAutoNum type="alphaLcPeriod"/>
            </a:pPr>
            <a:r>
              <a:rPr lang="en-US" dirty="0" smtClean="0"/>
              <a:t>thalamus</a:t>
            </a:r>
          </a:p>
          <a:p>
            <a:pPr>
              <a:buNone/>
            </a:pPr>
            <a:endParaRPr 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90. Molds are under what kingdom?</a:t>
            </a:r>
          </a:p>
          <a:p>
            <a:pPr marL="514350" indent="-514350">
              <a:buAutoNum type="alphaLcPeriod"/>
            </a:pPr>
            <a:r>
              <a:rPr lang="en-US" dirty="0" err="1" smtClean="0"/>
              <a:t>Protista</a:t>
            </a:r>
            <a:endParaRPr lang="en-US" dirty="0" smtClean="0"/>
          </a:p>
          <a:p>
            <a:pPr marL="514350" indent="-514350">
              <a:buAutoNum type="alphaLcPeriod"/>
            </a:pPr>
            <a:r>
              <a:rPr lang="en-US" dirty="0" err="1" smtClean="0"/>
              <a:t>Plantae</a:t>
            </a:r>
            <a:endParaRPr lang="en-US" dirty="0" smtClean="0"/>
          </a:p>
          <a:p>
            <a:pPr marL="514350" indent="-514350">
              <a:buAutoNum type="alphaLcPeriod"/>
            </a:pPr>
            <a:r>
              <a:rPr lang="en-US" dirty="0" smtClean="0"/>
              <a:t>Fungi</a:t>
            </a:r>
          </a:p>
          <a:p>
            <a:pPr marL="514350" indent="-514350">
              <a:buAutoNum type="alphaLcPeriod"/>
            </a:pPr>
            <a:r>
              <a:rPr lang="en-US" dirty="0" err="1" smtClean="0"/>
              <a:t>Animalia</a:t>
            </a:r>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90. Molds are under what kingdom?</a:t>
            </a:r>
          </a:p>
          <a:p>
            <a:pPr marL="514350" indent="-514350">
              <a:buAutoNum type="alphaLcPeriod"/>
            </a:pPr>
            <a:r>
              <a:rPr lang="en-US" dirty="0" err="1" smtClean="0"/>
              <a:t>Protista</a:t>
            </a:r>
            <a:endParaRPr lang="en-US" dirty="0" smtClean="0"/>
          </a:p>
          <a:p>
            <a:pPr marL="514350" indent="-514350">
              <a:buAutoNum type="alphaLcPeriod"/>
            </a:pPr>
            <a:r>
              <a:rPr lang="en-US" dirty="0" err="1" smtClean="0"/>
              <a:t>Plantae</a:t>
            </a:r>
            <a:endParaRPr lang="en-US" dirty="0" smtClean="0"/>
          </a:p>
          <a:p>
            <a:pPr marL="514350" indent="-514350">
              <a:buAutoNum type="alphaLcPeriod"/>
            </a:pPr>
            <a:r>
              <a:rPr lang="en-US" dirty="0" smtClean="0">
                <a:solidFill>
                  <a:srgbClr val="FF0000"/>
                </a:solidFill>
              </a:rPr>
              <a:t>Fungi</a:t>
            </a:r>
          </a:p>
          <a:p>
            <a:pPr marL="514350" indent="-514350">
              <a:buAutoNum type="alphaLcPeriod"/>
            </a:pPr>
            <a:r>
              <a:rPr lang="en-US" dirty="0" err="1" smtClean="0"/>
              <a:t>Animalia</a:t>
            </a:r>
            <a:endParaRPr lang="en-US" dirty="0" smtClean="0"/>
          </a:p>
          <a:p>
            <a:pPr>
              <a:buNone/>
            </a:pPr>
            <a:endParaRPr 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91. Streptococcus is under what kingdom?</a:t>
            </a:r>
          </a:p>
          <a:p>
            <a:pPr marL="514350" indent="-514350">
              <a:buAutoNum type="alphaLcPeriod"/>
            </a:pPr>
            <a:r>
              <a:rPr lang="en-US" dirty="0" err="1" smtClean="0"/>
              <a:t>Protista</a:t>
            </a:r>
            <a:endParaRPr lang="en-US" dirty="0" smtClean="0"/>
          </a:p>
          <a:p>
            <a:pPr marL="514350" indent="-514350">
              <a:buAutoNum type="alphaLcPeriod"/>
            </a:pPr>
            <a:r>
              <a:rPr lang="en-US" dirty="0" err="1" smtClean="0"/>
              <a:t>Plantae</a:t>
            </a:r>
            <a:endParaRPr lang="en-US" dirty="0" smtClean="0"/>
          </a:p>
          <a:p>
            <a:pPr marL="514350" indent="-514350">
              <a:buAutoNum type="alphaLcPeriod"/>
            </a:pPr>
            <a:r>
              <a:rPr lang="en-US" dirty="0" smtClean="0"/>
              <a:t>Fungi</a:t>
            </a:r>
          </a:p>
          <a:p>
            <a:pPr marL="514350" indent="-514350">
              <a:buAutoNum type="alphaLcPeriod"/>
            </a:pPr>
            <a:r>
              <a:rPr lang="en-US" dirty="0" err="1" smtClean="0"/>
              <a:t>Monera</a:t>
            </a:r>
            <a:endParaRPr lang="en-US"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91. Streptococcus is under what kingdom?</a:t>
            </a:r>
          </a:p>
          <a:p>
            <a:pPr marL="514350" indent="-514350">
              <a:buAutoNum type="alphaLcPeriod"/>
            </a:pPr>
            <a:r>
              <a:rPr lang="en-US" dirty="0" err="1" smtClean="0"/>
              <a:t>Protista</a:t>
            </a:r>
            <a:endParaRPr lang="en-US" dirty="0" smtClean="0"/>
          </a:p>
          <a:p>
            <a:pPr marL="514350" indent="-514350">
              <a:buAutoNum type="alphaLcPeriod"/>
            </a:pPr>
            <a:r>
              <a:rPr lang="en-US" dirty="0" err="1" smtClean="0"/>
              <a:t>Plantae</a:t>
            </a:r>
            <a:endParaRPr lang="en-US" dirty="0" smtClean="0"/>
          </a:p>
          <a:p>
            <a:pPr marL="514350" indent="-514350">
              <a:buAutoNum type="alphaLcPeriod"/>
            </a:pPr>
            <a:r>
              <a:rPr lang="en-US" dirty="0" smtClean="0"/>
              <a:t>Fungi</a:t>
            </a:r>
          </a:p>
          <a:p>
            <a:pPr marL="514350" indent="-514350">
              <a:buAutoNum type="alphaLcPeriod"/>
            </a:pPr>
            <a:r>
              <a:rPr lang="en-US" dirty="0" err="1" smtClean="0">
                <a:solidFill>
                  <a:srgbClr val="FF0000"/>
                </a:solidFill>
              </a:rPr>
              <a:t>Monera</a:t>
            </a:r>
            <a:endParaRPr lang="en-US" dirty="0" smtClean="0">
              <a:solidFill>
                <a:srgbClr val="FF0000"/>
              </a:solidFill>
            </a:endParaRPr>
          </a:p>
          <a:p>
            <a:pPr>
              <a:buNone/>
            </a:pPr>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92. A person with type “A” blood can accept what blood type/s?</a:t>
            </a:r>
          </a:p>
          <a:p>
            <a:pPr marL="514350" indent="-514350">
              <a:buAutoNum type="alphaLcPeriod"/>
            </a:pPr>
            <a:r>
              <a:rPr lang="en-US" dirty="0" smtClean="0"/>
              <a:t>Only types B and O</a:t>
            </a:r>
          </a:p>
          <a:p>
            <a:pPr marL="514350" indent="-514350">
              <a:buAutoNum type="alphaLcPeriod"/>
            </a:pPr>
            <a:r>
              <a:rPr lang="en-US" dirty="0" smtClean="0"/>
              <a:t>Only types A and O</a:t>
            </a:r>
          </a:p>
          <a:p>
            <a:pPr marL="514350" indent="-514350">
              <a:buAutoNum type="alphaLcPeriod"/>
            </a:pPr>
            <a:r>
              <a:rPr lang="en-US" dirty="0" smtClean="0"/>
              <a:t>Only types A and AB</a:t>
            </a:r>
          </a:p>
          <a:p>
            <a:pPr marL="514350" indent="-514350">
              <a:buAutoNum type="alphaLcPeriod"/>
            </a:pPr>
            <a:r>
              <a:rPr lang="en-US" dirty="0" smtClean="0"/>
              <a:t>Only type O</a:t>
            </a:r>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92. A person with type “A” blood can accept what blood type/s?</a:t>
            </a:r>
          </a:p>
          <a:p>
            <a:pPr marL="514350" indent="-514350">
              <a:buAutoNum type="alphaLcPeriod"/>
            </a:pPr>
            <a:r>
              <a:rPr lang="en-US" dirty="0" smtClean="0"/>
              <a:t>Only types B and O</a:t>
            </a:r>
          </a:p>
          <a:p>
            <a:pPr marL="514350" indent="-514350">
              <a:buAutoNum type="alphaLcPeriod"/>
            </a:pPr>
            <a:r>
              <a:rPr lang="en-US" dirty="0" smtClean="0">
                <a:solidFill>
                  <a:srgbClr val="FF0000"/>
                </a:solidFill>
              </a:rPr>
              <a:t>Only types A and O</a:t>
            </a:r>
          </a:p>
          <a:p>
            <a:pPr marL="514350" indent="-514350">
              <a:buAutoNum type="alphaLcPeriod"/>
            </a:pPr>
            <a:r>
              <a:rPr lang="en-US" dirty="0" smtClean="0"/>
              <a:t>Only types A and AB</a:t>
            </a:r>
          </a:p>
          <a:p>
            <a:pPr marL="514350" indent="-514350">
              <a:buAutoNum type="alphaLcPeriod"/>
            </a:pPr>
            <a:r>
              <a:rPr lang="en-US" dirty="0" smtClean="0"/>
              <a:t>Only type O</a:t>
            </a:r>
          </a:p>
          <a:p>
            <a:pPr>
              <a:buNone/>
            </a:pPr>
            <a:r>
              <a:rPr lang="en-US" dirty="0" smtClean="0"/>
              <a:t> </a:t>
            </a:r>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93. What is needed for an organism to live in the longest possible time?</a:t>
            </a:r>
          </a:p>
          <a:p>
            <a:pPr marL="514350" indent="-514350">
              <a:buAutoNum type="alphaLcPeriod"/>
            </a:pPr>
            <a:r>
              <a:rPr lang="en-US" dirty="0" smtClean="0"/>
              <a:t>Oxygen</a:t>
            </a:r>
          </a:p>
          <a:p>
            <a:pPr marL="514350" indent="-514350">
              <a:buAutoNum type="alphaLcPeriod"/>
            </a:pPr>
            <a:r>
              <a:rPr lang="en-US" dirty="0" smtClean="0"/>
              <a:t>Nitrates</a:t>
            </a:r>
          </a:p>
          <a:p>
            <a:pPr marL="514350" indent="-514350">
              <a:buAutoNum type="alphaLcPeriod"/>
            </a:pPr>
            <a:r>
              <a:rPr lang="en-US" dirty="0" smtClean="0"/>
              <a:t>Carbon dioxide</a:t>
            </a:r>
          </a:p>
          <a:p>
            <a:pPr marL="514350" indent="-514350">
              <a:buAutoNum type="alphaLcPeriod"/>
            </a:pPr>
            <a:r>
              <a:rPr lang="en-US" dirty="0" smtClean="0"/>
              <a:t>Light energy</a:t>
            </a:r>
            <a:endParaRPr 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93. What is needed for an organism to live in the longest possible time?</a:t>
            </a:r>
          </a:p>
          <a:p>
            <a:pPr marL="514350" indent="-514350">
              <a:buAutoNum type="alphaLcPeriod"/>
            </a:pPr>
            <a:r>
              <a:rPr lang="en-US" dirty="0" smtClean="0">
                <a:solidFill>
                  <a:srgbClr val="FF0000"/>
                </a:solidFill>
              </a:rPr>
              <a:t>Oxygen</a:t>
            </a:r>
          </a:p>
          <a:p>
            <a:pPr marL="514350" indent="-514350">
              <a:buAutoNum type="alphaLcPeriod"/>
            </a:pPr>
            <a:r>
              <a:rPr lang="en-US" dirty="0" smtClean="0"/>
              <a:t>Nitrates</a:t>
            </a:r>
          </a:p>
          <a:p>
            <a:pPr marL="514350" indent="-514350">
              <a:buAutoNum type="alphaLcPeriod"/>
            </a:pPr>
            <a:r>
              <a:rPr lang="en-US" dirty="0" smtClean="0"/>
              <a:t>Carbon dioxide</a:t>
            </a:r>
          </a:p>
          <a:p>
            <a:pPr marL="514350" indent="-514350">
              <a:buAutoNum type="alphaLcPeriod"/>
            </a:pPr>
            <a:r>
              <a:rPr lang="en-US" dirty="0" smtClean="0"/>
              <a:t>Light energy</a:t>
            </a:r>
          </a:p>
          <a:p>
            <a:pPr>
              <a:buNone/>
            </a:pPr>
            <a:endParaRPr lang="en-US"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94. Which of these provides the most variety of offspring?</a:t>
            </a:r>
          </a:p>
          <a:p>
            <a:pPr marL="514350" indent="-514350">
              <a:buAutoNum type="alphaLcPeriod"/>
            </a:pPr>
            <a:r>
              <a:rPr lang="en-US" dirty="0" smtClean="0"/>
              <a:t>Cloning</a:t>
            </a:r>
          </a:p>
          <a:p>
            <a:pPr marL="514350" indent="-514350">
              <a:buAutoNum type="alphaLcPeriod"/>
            </a:pPr>
            <a:r>
              <a:rPr lang="en-US" dirty="0" smtClean="0"/>
              <a:t>Sexual reproduction</a:t>
            </a:r>
          </a:p>
          <a:p>
            <a:pPr marL="514350" indent="-514350">
              <a:buAutoNum type="alphaLcPeriod"/>
            </a:pPr>
            <a:r>
              <a:rPr lang="en-US" dirty="0" smtClean="0"/>
              <a:t>Asexual reproduction</a:t>
            </a:r>
          </a:p>
          <a:p>
            <a:pPr marL="514350" indent="-514350">
              <a:buAutoNum type="alphaLcPeriod"/>
            </a:pPr>
            <a:r>
              <a:rPr lang="en-US" dirty="0" smtClean="0"/>
              <a:t>Cellular reproduction</a:t>
            </a:r>
          </a:p>
          <a:p>
            <a:pPr>
              <a:buNone/>
            </a:pPr>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94. Which of these provides the most variety of offspring?</a:t>
            </a:r>
          </a:p>
          <a:p>
            <a:pPr marL="514350" indent="-514350">
              <a:buAutoNum type="alphaLcPeriod"/>
            </a:pPr>
            <a:r>
              <a:rPr lang="en-US" dirty="0" smtClean="0"/>
              <a:t>Cloning</a:t>
            </a:r>
          </a:p>
          <a:p>
            <a:pPr marL="514350" indent="-514350">
              <a:buAutoNum type="alphaLcPeriod"/>
            </a:pPr>
            <a:r>
              <a:rPr lang="en-US" dirty="0" smtClean="0">
                <a:solidFill>
                  <a:srgbClr val="FF0000"/>
                </a:solidFill>
              </a:rPr>
              <a:t>Sexual reproduction</a:t>
            </a:r>
          </a:p>
          <a:p>
            <a:pPr marL="514350" indent="-514350">
              <a:buAutoNum type="alphaLcPeriod"/>
            </a:pPr>
            <a:r>
              <a:rPr lang="en-US" dirty="0" smtClean="0"/>
              <a:t>Asexual reproduction</a:t>
            </a:r>
          </a:p>
          <a:p>
            <a:pPr marL="514350" indent="-514350">
              <a:buAutoNum type="alphaLcPeriod"/>
            </a:pPr>
            <a:r>
              <a:rPr lang="en-US" dirty="0" smtClean="0"/>
              <a:t>Cellular reproduction</a:t>
            </a:r>
          </a:p>
          <a:p>
            <a:pPr>
              <a:buNone/>
            </a:pPr>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95. Chloroplasts enable plants to create their own food. Animal cell’s don’t have chloroplasts and so we can say that ________.</a:t>
            </a:r>
          </a:p>
          <a:p>
            <a:pPr marL="514350" indent="-514350">
              <a:buAutoNum type="alphaLcPeriod"/>
            </a:pPr>
            <a:r>
              <a:rPr lang="en-US" dirty="0" smtClean="0"/>
              <a:t>Plant cells are more complex than the animal cells</a:t>
            </a:r>
          </a:p>
          <a:p>
            <a:pPr marL="514350" indent="-514350">
              <a:buAutoNum type="alphaLcPeriod"/>
            </a:pPr>
            <a:r>
              <a:rPr lang="en-US" dirty="0" smtClean="0"/>
              <a:t>Animal must obtain food from outside sources</a:t>
            </a:r>
          </a:p>
          <a:p>
            <a:pPr marL="514350" indent="-514350">
              <a:buAutoNum type="alphaLcPeriod"/>
            </a:pPr>
            <a:r>
              <a:rPr lang="en-US" dirty="0" smtClean="0"/>
              <a:t>Animal cells are more complex than plant cells</a:t>
            </a:r>
          </a:p>
          <a:p>
            <a:pPr marL="514350" indent="-514350">
              <a:buAutoNum type="alphaLcPeriod"/>
            </a:pPr>
            <a:r>
              <a:rPr lang="en-US" dirty="0" smtClean="0"/>
              <a:t>Animal cells prey upon plant cells as a food source</a:t>
            </a:r>
            <a:endParaRPr lang="en-US"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95. Chloroplasts enable plants to create their own food. Animal cell’s don’t have chloroplasts and so we can say that ________.</a:t>
            </a:r>
          </a:p>
          <a:p>
            <a:pPr marL="514350" indent="-514350">
              <a:buAutoNum type="alphaLcPeriod"/>
            </a:pPr>
            <a:r>
              <a:rPr lang="en-US" dirty="0" smtClean="0"/>
              <a:t>Plant cells are more complex than the animal cells</a:t>
            </a:r>
          </a:p>
          <a:p>
            <a:pPr marL="514350" indent="-514350">
              <a:buAutoNum type="alphaLcPeriod"/>
            </a:pPr>
            <a:r>
              <a:rPr lang="en-US" dirty="0" smtClean="0"/>
              <a:t>Animal must obtain food from outside sources</a:t>
            </a:r>
          </a:p>
          <a:p>
            <a:pPr marL="514350" indent="-514350">
              <a:buAutoNum type="alphaLcPeriod"/>
            </a:pPr>
            <a:r>
              <a:rPr lang="en-US" dirty="0" smtClean="0"/>
              <a:t>Animal cells are more complex than plant cells</a:t>
            </a:r>
          </a:p>
          <a:p>
            <a:pPr marL="514350" indent="-514350">
              <a:buAutoNum type="alphaLcPeriod"/>
            </a:pPr>
            <a:r>
              <a:rPr lang="en-US" dirty="0" smtClean="0">
                <a:solidFill>
                  <a:srgbClr val="FF0000"/>
                </a:solidFill>
              </a:rPr>
              <a:t>Animal cells prey upon plant cells as a food source</a:t>
            </a:r>
            <a:endParaRPr lang="en-US" dirty="0">
              <a:solidFill>
                <a:srgbClr val="FF0000"/>
              </a:solidFill>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96. A couple has 4 children-all girls. The fifth child is a boy. This might be a result of:</a:t>
            </a:r>
          </a:p>
          <a:p>
            <a:pPr marL="514350" indent="-514350">
              <a:buAutoNum type="alphaLcPeriod"/>
            </a:pPr>
            <a:r>
              <a:rPr lang="en-US" dirty="0" smtClean="0"/>
              <a:t>Conception classes taken by the parents</a:t>
            </a:r>
          </a:p>
          <a:p>
            <a:pPr marL="514350" indent="-514350">
              <a:buAutoNum type="alphaLcPeriod"/>
            </a:pPr>
            <a:r>
              <a:rPr lang="en-US" dirty="0" smtClean="0"/>
              <a:t>The timing of the fertility cycles</a:t>
            </a:r>
          </a:p>
          <a:p>
            <a:pPr marL="514350" indent="-514350">
              <a:buAutoNum type="alphaLcPeriod"/>
            </a:pPr>
            <a:r>
              <a:rPr lang="en-US" dirty="0" smtClean="0"/>
              <a:t>The father’s contribution of a “Y” chromosome</a:t>
            </a:r>
          </a:p>
          <a:p>
            <a:pPr marL="514350" indent="-514350">
              <a:buAutoNum type="alphaLcPeriod"/>
            </a:pPr>
            <a:r>
              <a:rPr lang="en-US" dirty="0" smtClean="0"/>
              <a:t>The mother’s contribution of a “Y” chromosome</a:t>
            </a:r>
          </a:p>
          <a:p>
            <a:pPr marL="514350" indent="-514350">
              <a:buAutoNum type="alphaLcPeriod"/>
            </a:pPr>
            <a:endParaRPr lang="en-US"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96. A couple has 4 children-all girls. The fifth child is a boy. This might be a result of:</a:t>
            </a:r>
          </a:p>
          <a:p>
            <a:pPr marL="514350" indent="-514350">
              <a:buAutoNum type="alphaLcPeriod"/>
            </a:pPr>
            <a:r>
              <a:rPr lang="en-US" dirty="0" smtClean="0"/>
              <a:t>Conception classes taken by the parents</a:t>
            </a:r>
          </a:p>
          <a:p>
            <a:pPr marL="514350" indent="-514350">
              <a:buAutoNum type="alphaLcPeriod"/>
            </a:pPr>
            <a:r>
              <a:rPr lang="en-US" dirty="0" smtClean="0"/>
              <a:t>The timing of the fertility cycles</a:t>
            </a:r>
          </a:p>
          <a:p>
            <a:pPr marL="514350" indent="-514350">
              <a:buAutoNum type="alphaLcPeriod"/>
            </a:pPr>
            <a:r>
              <a:rPr lang="en-US" dirty="0" smtClean="0">
                <a:solidFill>
                  <a:srgbClr val="FF0000"/>
                </a:solidFill>
              </a:rPr>
              <a:t>The father’s contribution of a “Y” chromosome</a:t>
            </a:r>
          </a:p>
          <a:p>
            <a:pPr marL="514350" indent="-514350">
              <a:buAutoNum type="alphaLcPeriod"/>
            </a:pPr>
            <a:r>
              <a:rPr lang="en-US" dirty="0" smtClean="0"/>
              <a:t>The mother’s contribution of a “Y” chromosome</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smtClean="0"/>
              <a:t>97. The change in the base coding of a DNA molecule that alters the trait associated with the gene is called ______. This change is also the reason why an organism may appear different from the parents.</a:t>
            </a:r>
          </a:p>
          <a:p>
            <a:pPr marL="514350" indent="-514350">
              <a:buAutoNum type="alphaLcPeriod"/>
            </a:pPr>
            <a:r>
              <a:rPr lang="en-US" dirty="0" smtClean="0"/>
              <a:t>Gene mutation</a:t>
            </a:r>
          </a:p>
          <a:p>
            <a:pPr marL="514350" indent="-514350">
              <a:buAutoNum type="alphaLcPeriod"/>
            </a:pPr>
            <a:r>
              <a:rPr lang="en-US" dirty="0" smtClean="0"/>
              <a:t>Gene meiosis</a:t>
            </a:r>
          </a:p>
          <a:p>
            <a:pPr marL="514350" indent="-514350">
              <a:buAutoNum type="alphaLcPeriod"/>
            </a:pPr>
            <a:r>
              <a:rPr lang="en-US" dirty="0" smtClean="0"/>
              <a:t>Trait linkage</a:t>
            </a:r>
          </a:p>
          <a:p>
            <a:pPr marL="514350" indent="-514350">
              <a:buAutoNum type="alphaLcPeriod"/>
            </a:pPr>
            <a:r>
              <a:rPr lang="en-US" dirty="0" smtClean="0"/>
              <a:t>Sex-linked inheritance</a:t>
            </a:r>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smtClean="0"/>
              <a:t>97. The change in the base coding of a DNA molecule that alters the trait associated with the gene is called ______. This change is also the reason why an organism may appear different from the parents.</a:t>
            </a:r>
          </a:p>
          <a:p>
            <a:pPr marL="514350" indent="-514350">
              <a:buAutoNum type="alphaLcPeriod"/>
            </a:pPr>
            <a:r>
              <a:rPr lang="en-US" dirty="0" smtClean="0">
                <a:solidFill>
                  <a:srgbClr val="FF0000"/>
                </a:solidFill>
              </a:rPr>
              <a:t>Gene mutation</a:t>
            </a:r>
          </a:p>
          <a:p>
            <a:pPr marL="514350" indent="-514350">
              <a:buAutoNum type="alphaLcPeriod"/>
            </a:pPr>
            <a:r>
              <a:rPr lang="en-US" dirty="0" smtClean="0"/>
              <a:t>Gene meiosis</a:t>
            </a:r>
          </a:p>
          <a:p>
            <a:pPr marL="514350" indent="-514350">
              <a:buAutoNum type="alphaLcPeriod"/>
            </a:pPr>
            <a:r>
              <a:rPr lang="en-US" dirty="0" smtClean="0"/>
              <a:t>Trait linkage</a:t>
            </a:r>
          </a:p>
          <a:p>
            <a:pPr marL="514350" indent="-514350">
              <a:buAutoNum type="alphaLcPeriod"/>
            </a:pPr>
            <a:r>
              <a:rPr lang="en-US" dirty="0" smtClean="0"/>
              <a:t>Sex-linked inheritance</a:t>
            </a:r>
          </a:p>
          <a:p>
            <a:pPr>
              <a:buNone/>
            </a:pPr>
            <a:endParaRPr 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98. This term is used to describe an organism, which depends its subsistence on others.</a:t>
            </a:r>
          </a:p>
          <a:p>
            <a:pPr marL="514350" indent="-514350">
              <a:buAutoNum type="alphaLcPeriod"/>
            </a:pPr>
            <a:r>
              <a:rPr lang="en-US" dirty="0" smtClean="0"/>
              <a:t>Medium</a:t>
            </a:r>
          </a:p>
          <a:p>
            <a:pPr marL="514350" indent="-514350">
              <a:buAutoNum type="alphaLcPeriod"/>
            </a:pPr>
            <a:r>
              <a:rPr lang="en-US" dirty="0" smtClean="0"/>
              <a:t>Host</a:t>
            </a:r>
          </a:p>
          <a:p>
            <a:pPr marL="514350" indent="-514350">
              <a:buAutoNum type="alphaLcPeriod"/>
            </a:pPr>
            <a:r>
              <a:rPr lang="en-US" dirty="0" smtClean="0"/>
              <a:t>Parasite</a:t>
            </a:r>
          </a:p>
          <a:p>
            <a:pPr marL="514350" indent="-514350">
              <a:buAutoNum type="alphaLcPeriod"/>
            </a:pPr>
            <a:r>
              <a:rPr lang="en-US" dirty="0" err="1" smtClean="0"/>
              <a:t>commensal</a:t>
            </a:r>
            <a:endParaRPr lang="en-US"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98. This term is used to describe an organism, which depends its subsistence on others.</a:t>
            </a:r>
          </a:p>
          <a:p>
            <a:pPr marL="514350" indent="-514350">
              <a:buAutoNum type="alphaLcPeriod"/>
            </a:pPr>
            <a:r>
              <a:rPr lang="en-US" dirty="0" smtClean="0"/>
              <a:t>Medium</a:t>
            </a:r>
          </a:p>
          <a:p>
            <a:pPr marL="514350" indent="-514350">
              <a:buAutoNum type="alphaLcPeriod"/>
            </a:pPr>
            <a:r>
              <a:rPr lang="en-US" dirty="0" smtClean="0"/>
              <a:t>Host</a:t>
            </a:r>
          </a:p>
          <a:p>
            <a:pPr marL="514350" indent="-514350">
              <a:buAutoNum type="alphaLcPeriod"/>
            </a:pPr>
            <a:r>
              <a:rPr lang="en-US" dirty="0" smtClean="0">
                <a:solidFill>
                  <a:srgbClr val="FF0000"/>
                </a:solidFill>
              </a:rPr>
              <a:t>Parasite</a:t>
            </a:r>
          </a:p>
          <a:p>
            <a:pPr marL="514350" indent="-514350">
              <a:buAutoNum type="alphaLcPeriod"/>
            </a:pPr>
            <a:r>
              <a:rPr lang="en-US" dirty="0" err="1" smtClean="0"/>
              <a:t>commensal</a:t>
            </a:r>
            <a:endParaRPr lang="en-US" dirty="0" smtClean="0"/>
          </a:p>
          <a:p>
            <a:pPr>
              <a:buNone/>
            </a:pPr>
            <a:endParaRPr 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99. Which of the following magnifies an object?</a:t>
            </a:r>
          </a:p>
          <a:p>
            <a:pPr>
              <a:buNone/>
            </a:pPr>
            <a:r>
              <a:rPr lang="en-US" dirty="0" smtClean="0"/>
              <a:t>a. Microscope</a:t>
            </a:r>
          </a:p>
          <a:p>
            <a:pPr>
              <a:buNone/>
            </a:pPr>
            <a:r>
              <a:rPr lang="en-US" dirty="0" smtClean="0"/>
              <a:t>b. </a:t>
            </a:r>
            <a:r>
              <a:rPr lang="en-US" dirty="0" err="1" smtClean="0"/>
              <a:t>petri</a:t>
            </a:r>
            <a:r>
              <a:rPr lang="en-US" dirty="0" smtClean="0"/>
              <a:t>-dish</a:t>
            </a:r>
          </a:p>
          <a:p>
            <a:pPr>
              <a:buNone/>
            </a:pPr>
            <a:r>
              <a:rPr lang="en-US" dirty="0" smtClean="0"/>
              <a:t>c. Glass slide</a:t>
            </a:r>
          </a:p>
          <a:p>
            <a:pPr>
              <a:buNone/>
            </a:pPr>
            <a:r>
              <a:rPr lang="en-US" dirty="0" smtClean="0"/>
              <a:t>d. Cover slip</a:t>
            </a:r>
            <a:endParaRPr lang="en-US"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99. Which of the following magnifies an object?</a:t>
            </a:r>
          </a:p>
          <a:p>
            <a:pPr>
              <a:buNone/>
            </a:pPr>
            <a:r>
              <a:rPr lang="en-US" dirty="0" smtClean="0"/>
              <a:t>a. </a:t>
            </a:r>
            <a:r>
              <a:rPr lang="en-US" dirty="0" smtClean="0">
                <a:solidFill>
                  <a:srgbClr val="FF0000"/>
                </a:solidFill>
              </a:rPr>
              <a:t>Microscope</a:t>
            </a:r>
          </a:p>
          <a:p>
            <a:pPr>
              <a:buNone/>
            </a:pPr>
            <a:r>
              <a:rPr lang="en-US" dirty="0" smtClean="0"/>
              <a:t>b. </a:t>
            </a:r>
            <a:r>
              <a:rPr lang="en-US" dirty="0" err="1" smtClean="0"/>
              <a:t>petri</a:t>
            </a:r>
            <a:r>
              <a:rPr lang="en-US" dirty="0" smtClean="0"/>
              <a:t>-dish</a:t>
            </a:r>
          </a:p>
          <a:p>
            <a:pPr>
              <a:buNone/>
            </a:pPr>
            <a:r>
              <a:rPr lang="en-US" dirty="0" smtClean="0"/>
              <a:t>c. Glass slide</a:t>
            </a:r>
          </a:p>
          <a:p>
            <a:pPr>
              <a:buNone/>
            </a:pPr>
            <a:r>
              <a:rPr lang="en-US" dirty="0" smtClean="0"/>
              <a:t>d. Cover slip</a:t>
            </a:r>
            <a:endParaRPr lang="en-US"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100. A diet full of animal fat usually come up with patients found ill of:</a:t>
            </a:r>
          </a:p>
          <a:p>
            <a:pPr marL="514350" indent="-514350">
              <a:buAutoNum type="alphaLcPeriod"/>
            </a:pPr>
            <a:r>
              <a:rPr lang="en-US" dirty="0" err="1" smtClean="0"/>
              <a:t>Diabetis</a:t>
            </a:r>
            <a:endParaRPr lang="en-US" dirty="0" smtClean="0"/>
          </a:p>
          <a:p>
            <a:pPr marL="514350" indent="-514350">
              <a:buAutoNum type="alphaLcPeriod"/>
            </a:pPr>
            <a:r>
              <a:rPr lang="en-US" dirty="0" smtClean="0"/>
              <a:t>Osteoporosis</a:t>
            </a:r>
          </a:p>
          <a:p>
            <a:pPr marL="514350" indent="-514350">
              <a:buAutoNum type="alphaLcPeriod"/>
            </a:pPr>
            <a:r>
              <a:rPr lang="en-US" dirty="0" smtClean="0"/>
              <a:t>Hypertension</a:t>
            </a:r>
          </a:p>
          <a:p>
            <a:pPr marL="514350" indent="-514350">
              <a:buAutoNum type="alphaLcPeriod"/>
            </a:pPr>
            <a:r>
              <a:rPr lang="en-US" dirty="0" smtClean="0"/>
              <a:t>Kidney malfunction</a:t>
            </a:r>
            <a:endParaRPr lang="en-US"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100. A diet full of animal fat usually come up with patients found ill of:</a:t>
            </a:r>
          </a:p>
          <a:p>
            <a:pPr marL="514350" indent="-514350">
              <a:buAutoNum type="alphaLcPeriod"/>
            </a:pPr>
            <a:r>
              <a:rPr lang="en-US" dirty="0" err="1" smtClean="0"/>
              <a:t>Diabetis</a:t>
            </a:r>
            <a:endParaRPr lang="en-US" dirty="0" smtClean="0"/>
          </a:p>
          <a:p>
            <a:pPr marL="514350" indent="-514350">
              <a:buAutoNum type="alphaLcPeriod"/>
            </a:pPr>
            <a:r>
              <a:rPr lang="en-US" dirty="0" smtClean="0"/>
              <a:t>Osteoporosis</a:t>
            </a:r>
          </a:p>
          <a:p>
            <a:pPr marL="514350" indent="-514350">
              <a:buAutoNum type="alphaLcPeriod"/>
            </a:pPr>
            <a:r>
              <a:rPr lang="en-US" dirty="0" smtClean="0">
                <a:solidFill>
                  <a:srgbClr val="FF0000"/>
                </a:solidFill>
              </a:rPr>
              <a:t>Hypertension</a:t>
            </a:r>
          </a:p>
          <a:p>
            <a:pPr marL="514350" indent="-514350">
              <a:buAutoNum type="alphaLcPeriod"/>
            </a:pPr>
            <a:r>
              <a:rPr lang="en-US" dirty="0" smtClean="0"/>
              <a:t>Kidney malfunction</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8580</Words>
  <Application>Microsoft Office PowerPoint</Application>
  <PresentationFormat>On-screen Show (4:3)</PresentationFormat>
  <Paragraphs>1026</Paragraphs>
  <Slides>201</Slides>
  <Notes>0</Notes>
  <HiddenSlides>0</HiddenSlides>
  <MMClips>0</MMClips>
  <ScaleCrop>false</ScaleCrop>
  <HeadingPairs>
    <vt:vector size="4" baseType="variant">
      <vt:variant>
        <vt:lpstr>Theme</vt:lpstr>
      </vt:variant>
      <vt:variant>
        <vt:i4>1</vt:i4>
      </vt:variant>
      <vt:variant>
        <vt:lpstr>Slide Titles</vt:lpstr>
      </vt:variant>
      <vt:variant>
        <vt:i4>201</vt:i4>
      </vt:variant>
    </vt:vector>
  </HeadingPairs>
  <TitlesOfParts>
    <vt:vector size="202" baseType="lpstr">
      <vt:lpstr>Office Theme</vt:lpstr>
      <vt:lpstr>LET REVIEW QUESTIONS  GEN. ED. BIOLOGY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 REVIEW QUESTIONS – GEN ED BIOLOGY</dc:title>
  <dc:creator>user</dc:creator>
  <cp:lastModifiedBy>user</cp:lastModifiedBy>
  <cp:revision>60</cp:revision>
  <dcterms:created xsi:type="dcterms:W3CDTF">2013-02-12T15:50:25Z</dcterms:created>
  <dcterms:modified xsi:type="dcterms:W3CDTF">2014-03-10T22:12:11Z</dcterms:modified>
</cp:coreProperties>
</file>