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3"/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PH"/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G0" fmla="+- 12083 0 0"/>
                <a:gd name="G1" fmla="+- -32000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44083" y="2368"/>
                </a:cxn>
                <a:cxn ang="0">
                  <a:pos x="64000" y="32000"/>
                </a:cxn>
                <a:cxn ang="0">
                  <a:pos x="44083" y="61631"/>
                </a:cxn>
                <a:cxn ang="0">
                  <a:pos x="44083" y="61631"/>
                </a:cxn>
                <a:cxn ang="0">
                  <a:pos x="44082" y="61631"/>
                </a:cxn>
                <a:cxn ang="0">
                  <a:pos x="44083" y="61632"/>
                </a:cxn>
                <a:cxn ang="0">
                  <a:pos x="44083" y="2368"/>
                </a:cxn>
                <a:cxn ang="0">
                  <a:pos x="44082" y="2368"/>
                </a:cxn>
                <a:cxn ang="0">
                  <a:pos x="44083" y="2368"/>
                </a:cxn>
              </a:cxnLst>
              <a:rect l="T13" t="T15" r="T17" b="T19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7373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3735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C0C229-F480-414F-8106-912A9B25EBBC}" type="datetimeFigureOut">
              <a:rPr lang="en-US" smtClean="0"/>
              <a:pPr/>
              <a:t>8/31/2017</a:t>
            </a:fld>
            <a:endParaRPr lang="en-PH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PH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3C937-B32C-40C6-B97A-D1ED29A16D84}" type="slidenum">
              <a:rPr lang="en-PH" smtClean="0"/>
              <a:pPr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C0C229-F480-414F-8106-912A9B25EBBC}" type="datetimeFigureOut">
              <a:rPr lang="en-US" smtClean="0"/>
              <a:pPr/>
              <a:t>8/31/2017</a:t>
            </a:fld>
            <a:endParaRPr lang="en-PH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PH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33C937-B32C-40C6-B97A-D1ED29A16D84}" type="slidenum">
              <a:rPr lang="en-PH" smtClean="0"/>
              <a:pPr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C0C229-F480-414F-8106-912A9B25EBBC}" type="datetimeFigureOut">
              <a:rPr lang="en-US" smtClean="0"/>
              <a:pPr/>
              <a:t>8/31/2017</a:t>
            </a:fld>
            <a:endParaRPr lang="en-PH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PH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33C937-B32C-40C6-B97A-D1ED29A16D84}" type="slidenum">
              <a:rPr lang="en-PH" smtClean="0"/>
              <a:pPr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C0C229-F480-414F-8106-912A9B25EBBC}" type="datetimeFigureOut">
              <a:rPr lang="en-US" smtClean="0"/>
              <a:pPr/>
              <a:t>8/31/2017</a:t>
            </a:fld>
            <a:endParaRPr lang="en-PH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PH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33C937-B32C-40C6-B97A-D1ED29A16D84}" type="slidenum">
              <a:rPr lang="en-PH" smtClean="0"/>
              <a:pPr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C0C229-F480-414F-8106-912A9B25EBBC}" type="datetimeFigureOut">
              <a:rPr lang="en-US" smtClean="0"/>
              <a:pPr/>
              <a:t>8/31/2017</a:t>
            </a:fld>
            <a:endParaRPr lang="en-PH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PH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33C937-B32C-40C6-B97A-D1ED29A16D84}" type="slidenum">
              <a:rPr lang="en-PH" smtClean="0"/>
              <a:pPr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C0C229-F480-414F-8106-912A9B25EBBC}" type="datetimeFigureOut">
              <a:rPr lang="en-US" smtClean="0"/>
              <a:pPr/>
              <a:t>8/31/2017</a:t>
            </a:fld>
            <a:endParaRPr lang="en-PH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PH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33C937-B32C-40C6-B97A-D1ED29A16D84}" type="slidenum">
              <a:rPr lang="en-PH" smtClean="0"/>
              <a:pPr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C0C229-F480-414F-8106-912A9B25EBBC}" type="datetimeFigureOut">
              <a:rPr lang="en-US" smtClean="0"/>
              <a:pPr/>
              <a:t>8/31/2017</a:t>
            </a:fld>
            <a:endParaRPr lang="en-PH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PH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33C937-B32C-40C6-B97A-D1ED29A16D84}" type="slidenum">
              <a:rPr lang="en-PH" smtClean="0"/>
              <a:pPr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C0C229-F480-414F-8106-912A9B25EBBC}" type="datetimeFigureOut">
              <a:rPr lang="en-US" smtClean="0"/>
              <a:pPr/>
              <a:t>8/31/2017</a:t>
            </a:fld>
            <a:endParaRPr lang="en-PH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PH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33C937-B32C-40C6-B97A-D1ED29A16D84}" type="slidenum">
              <a:rPr lang="en-PH" smtClean="0"/>
              <a:pPr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PH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C0C229-F480-414F-8106-912A9B25EBBC}" type="datetimeFigureOut">
              <a:rPr lang="en-US" smtClean="0"/>
              <a:pPr/>
              <a:t>8/31/2017</a:t>
            </a:fld>
            <a:endParaRPr lang="en-PH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PH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33C937-B32C-40C6-B97A-D1ED29A16D84}" type="slidenum">
              <a:rPr lang="en-PH" smtClean="0"/>
              <a:pPr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C0C229-F480-414F-8106-912A9B25EBBC}" type="datetimeFigureOut">
              <a:rPr lang="en-US" smtClean="0"/>
              <a:pPr/>
              <a:t>8/31/2017</a:t>
            </a:fld>
            <a:endParaRPr lang="en-PH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PH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33C937-B32C-40C6-B97A-D1ED29A16D84}" type="slidenum">
              <a:rPr lang="en-PH" smtClean="0"/>
              <a:pPr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C0C229-F480-414F-8106-912A9B25EBBC}" type="datetimeFigureOut">
              <a:rPr lang="en-US" smtClean="0"/>
              <a:pPr/>
              <a:t>8/31/2017</a:t>
            </a:fld>
            <a:endParaRPr lang="en-PH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PH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33C937-B32C-40C6-B97A-D1ED29A16D84}" type="slidenum">
              <a:rPr lang="en-PH" smtClean="0"/>
              <a:pPr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C0C229-F480-414F-8106-912A9B25EBBC}" type="datetimeFigureOut">
              <a:rPr lang="en-US" smtClean="0"/>
              <a:pPr/>
              <a:t>8/31/2017</a:t>
            </a:fld>
            <a:endParaRPr lang="en-PH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PH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33C937-B32C-40C6-B97A-D1ED29A16D84}" type="slidenum">
              <a:rPr lang="en-PH" smtClean="0"/>
              <a:pPr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370013" y="301625"/>
            <a:ext cx="7313612" cy="56403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C0C229-F480-414F-8106-912A9B25EBBC}" type="datetimeFigureOut">
              <a:rPr lang="en-US" smtClean="0"/>
              <a:pPr/>
              <a:t>8/31/2017</a:t>
            </a:fld>
            <a:endParaRPr lang="en-PH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PH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33C937-B32C-40C6-B97A-D1ED29A16D84}" type="slidenum">
              <a:rPr lang="en-PH" smtClean="0"/>
              <a:pPr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70013" y="1827213"/>
            <a:ext cx="7313612" cy="4114800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PH" noProof="0" smtClean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C0C229-F480-414F-8106-912A9B25EBBC}" type="datetimeFigureOut">
              <a:rPr lang="en-US" smtClean="0"/>
              <a:pPr/>
              <a:t>8/31/2017</a:t>
            </a:fld>
            <a:endParaRPr lang="en-PH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PH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33C937-B32C-40C6-B97A-D1ED29A16D84}" type="slidenum">
              <a:rPr lang="en-PH" smtClean="0"/>
              <a:pPr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72707" name="AutoShape 3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G0" fmla="+- 18296 0 0"/>
                <a:gd name="G1" fmla="+- -30880 0 0"/>
                <a:gd name="G2" fmla="+- 31512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296" y="5746"/>
                </a:cxn>
                <a:cxn ang="0">
                  <a:pos x="64000" y="32000"/>
                </a:cxn>
                <a:cxn ang="0">
                  <a:pos x="50296" y="58253"/>
                </a:cxn>
                <a:cxn ang="0">
                  <a:pos x="50296" y="58253"/>
                </a:cxn>
                <a:cxn ang="0">
                  <a:pos x="50295" y="58253"/>
                </a:cxn>
                <a:cxn ang="0">
                  <a:pos x="50296" y="58254"/>
                </a:cxn>
                <a:cxn ang="0">
                  <a:pos x="50296" y="5746"/>
                </a:cxn>
                <a:cxn ang="0">
                  <a:pos x="50295" y="5746"/>
                </a:cxn>
                <a:cxn ang="0">
                  <a:pos x="50296" y="5746"/>
                </a:cxn>
              </a:cxnLst>
              <a:rect l="T13" t="T15" r="T17" b="T19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72708" name="AutoShape 4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G0" fmla="+- 18077 0 0"/>
                <a:gd name="G1" fmla="+- -30880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077" y="5595"/>
                </a:cxn>
                <a:cxn ang="0">
                  <a:pos x="64000" y="32000"/>
                </a:cxn>
                <a:cxn ang="0">
                  <a:pos x="50077" y="58404"/>
                </a:cxn>
                <a:cxn ang="0">
                  <a:pos x="50077" y="58404"/>
                </a:cxn>
                <a:cxn ang="0">
                  <a:pos x="50076" y="58404"/>
                </a:cxn>
                <a:cxn ang="0">
                  <a:pos x="50077" y="58405"/>
                </a:cxn>
                <a:cxn ang="0">
                  <a:pos x="50077" y="5595"/>
                </a:cxn>
                <a:cxn ang="0">
                  <a:pos x="50076" y="5595"/>
                </a:cxn>
                <a:cxn ang="0">
                  <a:pos x="50077" y="5595"/>
                </a:cxn>
              </a:cxnLst>
              <a:rect l="T13" t="T15" r="T17" b="T19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72709" name="Line 5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PH"/>
            </a:p>
          </p:txBody>
        </p:sp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271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fld id="{FAC0C229-F480-414F-8106-912A9B25EBBC}" type="datetimeFigureOut">
              <a:rPr lang="en-US" smtClean="0"/>
              <a:pPr/>
              <a:t>8/31/2017</a:t>
            </a:fld>
            <a:endParaRPr lang="en-PH"/>
          </a:p>
        </p:txBody>
      </p:sp>
      <p:sp>
        <p:nvSpPr>
          <p:cNvPr id="7271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endParaRPr lang="en-PH"/>
          </a:p>
        </p:txBody>
      </p:sp>
      <p:sp>
        <p:nvSpPr>
          <p:cNvPr id="7271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533C937-B32C-40C6-B97A-D1ED29A16D84}" type="slidenum">
              <a:rPr lang="en-PH" smtClean="0"/>
              <a:pPr/>
              <a:t>‹#›</a:t>
            </a:fld>
            <a:endParaRPr lang="en-P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 smtClean="0"/>
              <a:t>Soil Fertility and Management</a:t>
            </a:r>
            <a:endParaRPr lang="en-PH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Soil fertility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0013" y="1827212"/>
            <a:ext cx="7313612" cy="4573587"/>
          </a:xfrm>
        </p:spPr>
        <p:txBody>
          <a:bodyPr/>
          <a:lstStyle/>
          <a:p>
            <a:r>
              <a:rPr lang="en-PH" dirty="0" smtClean="0"/>
              <a:t>Potential of the soil for supplying nutrient elements in the amounts, forms, and proportion required for the normal growth of specified plants.</a:t>
            </a:r>
          </a:p>
          <a:p>
            <a:r>
              <a:rPr lang="en-PH" dirty="0" smtClean="0"/>
              <a:t>Concept of soil productivity but refers specifically only to the content, balance and availability of the chemical compounds in the soil that influence plant growth.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The essential elements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0013" y="1600200"/>
            <a:ext cx="7313612" cy="5030788"/>
          </a:xfrm>
        </p:spPr>
        <p:txBody>
          <a:bodyPr/>
          <a:lstStyle/>
          <a:p>
            <a:r>
              <a:rPr lang="en-PH" dirty="0" smtClean="0"/>
              <a:t>Essential elements are elements required by plants for their life processes. Three of the criteria used in establishing the essentiality of the plant nutrient are</a:t>
            </a:r>
          </a:p>
          <a:p>
            <a:pPr lvl="1"/>
            <a:r>
              <a:rPr lang="en-PH" dirty="0" smtClean="0"/>
              <a:t>Its necessity for the plant to complete its life cycle</a:t>
            </a:r>
          </a:p>
          <a:p>
            <a:pPr lvl="1"/>
            <a:r>
              <a:rPr lang="en-PH" dirty="0" smtClean="0"/>
              <a:t>Its direct involvement in the nutrition of the plant</a:t>
            </a:r>
          </a:p>
          <a:p>
            <a:pPr lvl="1"/>
            <a:r>
              <a:rPr lang="en-PH" dirty="0" smtClean="0"/>
              <a:t>The element must be completely irreplaceable by another element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Nutrient mobility in plant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 smtClean="0"/>
              <a:t>Mobile nutrients – symptoms of deficiency appear on the lower leaves</a:t>
            </a:r>
          </a:p>
          <a:p>
            <a:r>
              <a:rPr lang="en-PH" dirty="0" smtClean="0"/>
              <a:t>Nutrients with limited mobility -  symptoms appear in the new leaves or growing points.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Sources and available forms of nutrients/essential elements</a:t>
            </a:r>
            <a:endParaRPr lang="en-PH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14400" y="1524000"/>
          <a:ext cx="8077200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4717"/>
                <a:gridCol w="216248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 smtClean="0">
                          <a:solidFill>
                            <a:schemeClr val="tx1"/>
                          </a:solidFill>
                        </a:rPr>
                        <a:t>Source/kind</a:t>
                      </a:r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of essential elements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dirty="0" smtClean="0">
                          <a:solidFill>
                            <a:schemeClr val="tx1"/>
                          </a:solidFill>
                        </a:rPr>
                        <a:t>Available form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PH" dirty="0" smtClean="0">
                          <a:solidFill>
                            <a:schemeClr val="tx1"/>
                          </a:solidFill>
                        </a:rPr>
                        <a:t>Those derived</a:t>
                      </a:r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from air and water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1. carbon from carbon dioxide in air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2. oxygen from carbon dioxide in air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3. hydrogen from water 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PH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PH" dirty="0" smtClean="0">
                          <a:solidFill>
                            <a:schemeClr val="tx1"/>
                          </a:solidFill>
                        </a:rPr>
                        <a:t>Gas</a:t>
                      </a:r>
                    </a:p>
                    <a:p>
                      <a:r>
                        <a:rPr lang="en-PH" dirty="0" smtClean="0">
                          <a:solidFill>
                            <a:schemeClr val="tx1"/>
                          </a:solidFill>
                        </a:rPr>
                        <a:t>Gas</a:t>
                      </a:r>
                    </a:p>
                    <a:p>
                      <a:r>
                        <a:rPr lang="en-PH" dirty="0" smtClean="0">
                          <a:solidFill>
                            <a:schemeClr val="tx1"/>
                          </a:solidFill>
                        </a:rPr>
                        <a:t>Absorbed</a:t>
                      </a:r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as H</a:t>
                      </a:r>
                      <a:r>
                        <a:rPr lang="en-PH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Those derived from soil solids (organic and mineral matter)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a. Macronutrients – nutrients that are              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    needed by plants in large amount 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    1. Nitrogen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    2. Phosphorus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    3. Potassium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    4. Calcium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    5. Magnesium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    6. Sulfur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            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PH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PH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PH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PH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PH" dirty="0" smtClean="0">
                          <a:solidFill>
                            <a:schemeClr val="tx1"/>
                          </a:solidFill>
                        </a:rPr>
                        <a:t>NH</a:t>
                      </a:r>
                      <a:r>
                        <a:rPr lang="en-PH" baseline="-25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en-PH" baseline="3000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, NO</a:t>
                      </a:r>
                      <a:r>
                        <a:rPr lang="en-PH" baseline="-25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PH" baseline="300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H</a:t>
                      </a:r>
                      <a:r>
                        <a:rPr lang="en-PH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PO</a:t>
                      </a:r>
                      <a:r>
                        <a:rPr lang="en-PH" baseline="-25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en-PH" baseline="30000" dirty="0" smtClean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, HPO</a:t>
                      </a:r>
                      <a:r>
                        <a:rPr lang="en-PH" baseline="-25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en-PH" baseline="30000" dirty="0" smtClean="0">
                          <a:solidFill>
                            <a:schemeClr val="tx1"/>
                          </a:solidFill>
                        </a:rPr>
                        <a:t>= </a:t>
                      </a:r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en-PH" baseline="3000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Ca</a:t>
                      </a:r>
                      <a:r>
                        <a:rPr lang="en-PH" baseline="30000" dirty="0" smtClean="0">
                          <a:solidFill>
                            <a:schemeClr val="tx1"/>
                          </a:solidFill>
                        </a:rPr>
                        <a:t>2+       </a:t>
                      </a:r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Mg</a:t>
                      </a:r>
                      <a:r>
                        <a:rPr lang="en-PH" baseline="30000" dirty="0" smtClean="0">
                          <a:solidFill>
                            <a:schemeClr val="tx1"/>
                          </a:solidFill>
                        </a:rPr>
                        <a:t>++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SO</a:t>
                      </a:r>
                      <a:r>
                        <a:rPr lang="en-PH" baseline="-25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en-PH" baseline="300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09600" y="1518920"/>
          <a:ext cx="80772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4717"/>
                <a:gridCol w="216248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dirty="0" smtClean="0">
                          <a:solidFill>
                            <a:schemeClr val="tx1"/>
                          </a:solidFill>
                        </a:rPr>
                        <a:t>Source/kind</a:t>
                      </a:r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of essential elements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dirty="0" smtClean="0">
                          <a:solidFill>
                            <a:schemeClr val="tx1"/>
                          </a:solidFill>
                        </a:rPr>
                        <a:t>Available form</a:t>
                      </a:r>
                      <a:endParaRPr lang="en-P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a. Micronutrients – nutrients that are              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    needed by plants in small amount 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    1. Copper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    2. Iron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    3. Manganese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    4. Zinc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    5. Boron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    6. Chlorine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    7. </a:t>
                      </a:r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Molybdenum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     8. Nickel                                        Ni</a:t>
                      </a:r>
                      <a:r>
                        <a:rPr lang="en-PH" baseline="30000" dirty="0" smtClean="0">
                          <a:solidFill>
                            <a:schemeClr val="tx1"/>
                          </a:solidFill>
                        </a:rPr>
                        <a:t>2+</a:t>
                      </a:r>
                      <a:endParaRPr lang="en-PH" baseline="3000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                 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PH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PH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Cu</a:t>
                      </a:r>
                      <a:r>
                        <a:rPr lang="en-PH" baseline="30000" dirty="0" smtClean="0">
                          <a:solidFill>
                            <a:schemeClr val="tx1"/>
                          </a:solidFill>
                        </a:rPr>
                        <a:t>2+</a:t>
                      </a:r>
                      <a:endParaRPr lang="en-PH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Fe</a:t>
                      </a:r>
                      <a:r>
                        <a:rPr lang="en-PH" baseline="30000" dirty="0" smtClean="0">
                          <a:solidFill>
                            <a:schemeClr val="tx1"/>
                          </a:solidFill>
                        </a:rPr>
                        <a:t>+++</a:t>
                      </a:r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, Fe</a:t>
                      </a:r>
                      <a:r>
                        <a:rPr lang="en-PH" baseline="30000" dirty="0" smtClean="0">
                          <a:solidFill>
                            <a:schemeClr val="tx1"/>
                          </a:solidFill>
                        </a:rPr>
                        <a:t>++ </a:t>
                      </a:r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</a:t>
                      </a:r>
                    </a:p>
                    <a:p>
                      <a:r>
                        <a:rPr lang="en-PH" baseline="0" dirty="0" err="1" smtClean="0">
                          <a:solidFill>
                            <a:schemeClr val="tx1"/>
                          </a:solidFill>
                        </a:rPr>
                        <a:t>Mn</a:t>
                      </a:r>
                      <a:r>
                        <a:rPr lang="en-PH" baseline="30000" dirty="0" smtClean="0">
                          <a:solidFill>
                            <a:schemeClr val="tx1"/>
                          </a:solidFill>
                        </a:rPr>
                        <a:t>++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Zn</a:t>
                      </a:r>
                      <a:r>
                        <a:rPr lang="en-PH" baseline="30000" dirty="0" smtClean="0">
                          <a:solidFill>
                            <a:schemeClr val="tx1"/>
                          </a:solidFill>
                        </a:rPr>
                        <a:t>++       </a:t>
                      </a:r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 </a:t>
                      </a:r>
                    </a:p>
                    <a:p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H</a:t>
                      </a:r>
                      <a:r>
                        <a:rPr lang="en-PH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BO</a:t>
                      </a:r>
                      <a:r>
                        <a:rPr lang="en-PH" baseline="-25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PH" baseline="300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, HBO</a:t>
                      </a:r>
                      <a:r>
                        <a:rPr lang="en-PH" baseline="-25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PH" baseline="3000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</a:p>
                    <a:p>
                      <a:r>
                        <a:rPr lang="en-PH" baseline="0" dirty="0" err="1" smtClean="0">
                          <a:solidFill>
                            <a:schemeClr val="tx1"/>
                          </a:solidFill>
                        </a:rPr>
                        <a:t>Cl</a:t>
                      </a:r>
                      <a:r>
                        <a:rPr lang="en-PH" baseline="30000" dirty="0" smtClean="0">
                          <a:solidFill>
                            <a:schemeClr val="tx1"/>
                          </a:solidFill>
                        </a:rPr>
                        <a:t>-        </a:t>
                      </a:r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r>
                        <a:rPr lang="en-PH" baseline="300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PH" baseline="0" dirty="0" smtClean="0">
                          <a:solidFill>
                            <a:schemeClr val="tx1"/>
                          </a:solidFill>
                        </a:rPr>
                        <a:t> MoO</a:t>
                      </a:r>
                      <a:r>
                        <a:rPr lang="en-PH" baseline="-25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en-PH" baseline="3000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</a:p>
                    <a:p>
                      <a:endParaRPr lang="en-PH" baseline="300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Nutrient Availability Factors 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 smtClean="0"/>
              <a:t>Availability factor </a:t>
            </a:r>
            <a:r>
              <a:rPr lang="en-PH" dirty="0" smtClean="0"/>
              <a:t>– the relative ease in which a nutrient element is supplied by the soil to the plant</a:t>
            </a:r>
            <a:r>
              <a:rPr lang="en-PH" dirty="0" smtClean="0"/>
              <a:t>.</a:t>
            </a:r>
          </a:p>
          <a:p>
            <a:r>
              <a:rPr lang="en-PH" dirty="0" smtClean="0"/>
              <a:t>Capacity factor- refers to the capacity of the plants to absorb the nutrients</a:t>
            </a:r>
          </a:p>
          <a:p>
            <a:r>
              <a:rPr lang="en-PH" dirty="0" smtClean="0"/>
              <a:t>Rate factor- refers to the rate of replenishments</a:t>
            </a:r>
          </a:p>
          <a:p>
            <a:endParaRPr lang="en-PH" dirty="0" smtClean="0"/>
          </a:p>
          <a:p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Mechanisms of supply of nutrients to plant root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0013" y="1600200"/>
            <a:ext cx="7313612" cy="4800600"/>
          </a:xfrm>
        </p:spPr>
        <p:txBody>
          <a:bodyPr/>
          <a:lstStyle/>
          <a:p>
            <a:r>
              <a:rPr lang="en-PH" sz="2800" dirty="0" smtClean="0"/>
              <a:t>Root interception – the nutrients absorbed by the root as they ramify through the soil</a:t>
            </a:r>
          </a:p>
          <a:p>
            <a:r>
              <a:rPr lang="en-PH" sz="2800" dirty="0" smtClean="0"/>
              <a:t>Mass flow – nutrients dissolved in soil water are transported to the root surface</a:t>
            </a:r>
          </a:p>
          <a:p>
            <a:r>
              <a:rPr lang="en-PH" sz="2800" dirty="0" smtClean="0"/>
              <a:t>Diffusion – movement of nutrient ions through the soil water and from the exchange site to exchange site along the surface of soil particles.  </a:t>
            </a:r>
            <a:endParaRPr lang="en-PH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Nutrient uptake by plants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u="sng" dirty="0" smtClean="0"/>
              <a:t>Passive ion uptake.</a:t>
            </a:r>
            <a:r>
              <a:rPr lang="en-PH" dirty="0" smtClean="0"/>
              <a:t> Uptake or absorption of ions /nutrients that occur in the outer space thru diffusion or contact exchange</a:t>
            </a:r>
          </a:p>
          <a:p>
            <a:r>
              <a:rPr lang="en-PH" u="sng" dirty="0" smtClean="0"/>
              <a:t>Active ion uptake.</a:t>
            </a:r>
            <a:r>
              <a:rPr lang="en-PH" dirty="0" smtClean="0"/>
              <a:t> uptake or absorption of nutrients that involves use of energy</a:t>
            </a:r>
          </a:p>
          <a:p>
            <a:endParaRPr lang="en-PH" u="sng" dirty="0" smtClean="0"/>
          </a:p>
          <a:p>
            <a:endParaRPr lang="en-PH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Quantitative expression of plant growth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PH" dirty="0" smtClean="0"/>
              <a:t>Growth, G, may be expressed as being equal to the product of the average rate, R, and then t (time) or </a:t>
            </a:r>
          </a:p>
          <a:p>
            <a:pPr>
              <a:buNone/>
            </a:pPr>
            <a:r>
              <a:rPr lang="en-PH" dirty="0" smtClean="0"/>
              <a:t>			G = R x t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Soil fertility management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1" y="1827213"/>
            <a:ext cx="7391399" cy="4114800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Factors affecting decline of soil fertility</a:t>
            </a:r>
          </a:p>
          <a:p>
            <a:pPr>
              <a:buNone/>
            </a:pPr>
            <a:r>
              <a:rPr lang="en-PH" dirty="0" smtClean="0"/>
              <a:t>	1. Crop removal of </a:t>
            </a:r>
            <a:r>
              <a:rPr lang="en-PH" dirty="0" err="1" smtClean="0"/>
              <a:t>nutients</a:t>
            </a:r>
            <a:endParaRPr lang="en-PH" dirty="0" smtClean="0"/>
          </a:p>
          <a:p>
            <a:pPr>
              <a:buNone/>
            </a:pPr>
            <a:r>
              <a:rPr lang="en-PH" dirty="0" smtClean="0"/>
              <a:t>	2. Leaching of nutrients</a:t>
            </a:r>
          </a:p>
          <a:p>
            <a:pPr>
              <a:buNone/>
            </a:pPr>
            <a:r>
              <a:rPr lang="en-PH" dirty="0" smtClean="0"/>
              <a:t>	3. Gaseous losses of nutrients</a:t>
            </a:r>
          </a:p>
          <a:p>
            <a:pPr>
              <a:buNone/>
            </a:pPr>
            <a:r>
              <a:rPr lang="en-PH" dirty="0" smtClean="0"/>
              <a:t>	4. Soil erosion losses </a:t>
            </a:r>
          </a:p>
          <a:p>
            <a:pPr>
              <a:buNone/>
            </a:pP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Methods of assessing or evaluating soil fertility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 smtClean="0"/>
              <a:t>Visual symptoms of nutrient deficiency</a:t>
            </a:r>
          </a:p>
          <a:p>
            <a:r>
              <a:rPr lang="en-PH" dirty="0" smtClean="0"/>
              <a:t>Plant analysis</a:t>
            </a:r>
          </a:p>
          <a:p>
            <a:r>
              <a:rPr lang="en-PH" dirty="0" smtClean="0"/>
              <a:t>Soil analysis</a:t>
            </a:r>
          </a:p>
          <a:p>
            <a:r>
              <a:rPr lang="en-PH" dirty="0" smtClean="0"/>
              <a:t>Pot or field fertilizer trials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Soil fertility management practices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0012" y="1827213"/>
            <a:ext cx="7621587" cy="4114800"/>
          </a:xfrm>
        </p:spPr>
        <p:txBody>
          <a:bodyPr/>
          <a:lstStyle/>
          <a:p>
            <a:r>
              <a:rPr lang="en-PH" dirty="0" smtClean="0"/>
              <a:t>Liming acid soils</a:t>
            </a:r>
          </a:p>
          <a:p>
            <a:pPr lvl="1"/>
            <a:r>
              <a:rPr lang="en-PH" sz="2600" dirty="0" smtClean="0"/>
              <a:t>Liming materials</a:t>
            </a:r>
          </a:p>
          <a:p>
            <a:pPr lvl="1">
              <a:buNone/>
            </a:pPr>
            <a:r>
              <a:rPr lang="en-PH" dirty="0" smtClean="0"/>
              <a:t>	a. agricultural limestone</a:t>
            </a:r>
          </a:p>
          <a:p>
            <a:pPr lvl="1">
              <a:buNone/>
            </a:pPr>
            <a:r>
              <a:rPr lang="en-PH" dirty="0" smtClean="0"/>
              <a:t>		 – CaCO</a:t>
            </a:r>
            <a:r>
              <a:rPr lang="en-PH" baseline="-25000" dirty="0" smtClean="0"/>
              <a:t>3</a:t>
            </a:r>
            <a:r>
              <a:rPr lang="en-PH" dirty="0" smtClean="0"/>
              <a:t>, </a:t>
            </a:r>
            <a:r>
              <a:rPr lang="en-PH" dirty="0" err="1" smtClean="0"/>
              <a:t>CaMg</a:t>
            </a:r>
            <a:r>
              <a:rPr lang="en-PH" dirty="0" smtClean="0"/>
              <a:t> (CO)</a:t>
            </a:r>
            <a:r>
              <a:rPr lang="en-PH" baseline="-25000" dirty="0" smtClean="0"/>
              <a:t>3</a:t>
            </a:r>
            <a:endParaRPr lang="en-PH" dirty="0" smtClean="0"/>
          </a:p>
          <a:p>
            <a:pPr lvl="1">
              <a:buNone/>
            </a:pPr>
            <a:r>
              <a:rPr lang="en-PH" dirty="0" smtClean="0"/>
              <a:t>	b. oxides of lime </a:t>
            </a:r>
          </a:p>
          <a:p>
            <a:pPr lvl="1">
              <a:buNone/>
            </a:pPr>
            <a:r>
              <a:rPr lang="en-PH" dirty="0" smtClean="0"/>
              <a:t>		 – </a:t>
            </a:r>
            <a:r>
              <a:rPr lang="en-PH" dirty="0" err="1" smtClean="0"/>
              <a:t>CaO</a:t>
            </a:r>
            <a:r>
              <a:rPr lang="en-PH" dirty="0" smtClean="0"/>
              <a:t>, </a:t>
            </a:r>
            <a:r>
              <a:rPr lang="en-PH" dirty="0" err="1" smtClean="0"/>
              <a:t>MgO</a:t>
            </a:r>
            <a:r>
              <a:rPr lang="en-PH" dirty="0" smtClean="0"/>
              <a:t> </a:t>
            </a:r>
          </a:p>
          <a:p>
            <a:pPr lvl="1">
              <a:buNone/>
            </a:pPr>
            <a:r>
              <a:rPr lang="en-PH" dirty="0" smtClean="0"/>
              <a:t>	c. hydroxides of lime </a:t>
            </a:r>
          </a:p>
          <a:p>
            <a:pPr lvl="1">
              <a:buNone/>
            </a:pPr>
            <a:r>
              <a:rPr lang="en-PH" dirty="0" smtClean="0"/>
              <a:t>		 – Ca(OH)</a:t>
            </a:r>
            <a:r>
              <a:rPr lang="en-PH" baseline="-25000" dirty="0" smtClean="0"/>
              <a:t>2</a:t>
            </a:r>
            <a:r>
              <a:rPr lang="en-PH" dirty="0" smtClean="0"/>
              <a:t>, Mg(OH)</a:t>
            </a:r>
            <a:r>
              <a:rPr lang="en-PH" baseline="-25000" dirty="0" smtClean="0"/>
              <a:t>2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7213"/>
            <a:ext cx="8763000" cy="4114800"/>
          </a:xfrm>
        </p:spPr>
        <p:txBody>
          <a:bodyPr/>
          <a:lstStyle/>
          <a:p>
            <a:pPr lvl="1"/>
            <a:r>
              <a:rPr lang="en-PH" dirty="0" smtClean="0"/>
              <a:t>Relative neutralizing power (RNP) of different forms of lime</a:t>
            </a:r>
          </a:p>
          <a:p>
            <a:pPr lvl="1">
              <a:buNone/>
            </a:pPr>
            <a:endParaRPr lang="en-PH" dirty="0" smtClean="0"/>
          </a:p>
          <a:p>
            <a:pPr lvl="1">
              <a:buNone/>
            </a:pPr>
            <a:r>
              <a:rPr lang="en-PH" dirty="0" smtClean="0"/>
              <a:t>RNP  of lime =			 		  X 100</a:t>
            </a:r>
            <a:endParaRPr lang="en-PH" dirty="0"/>
          </a:p>
        </p:txBody>
      </p:sp>
      <p:sp>
        <p:nvSpPr>
          <p:cNvPr id="5" name="TextBox 4"/>
          <p:cNvSpPr txBox="1"/>
          <p:nvPr/>
        </p:nvSpPr>
        <p:spPr>
          <a:xfrm>
            <a:off x="3733800" y="28956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smtClean="0"/>
              <a:t>Molecular weight of CaCO</a:t>
            </a:r>
            <a:r>
              <a:rPr lang="en-PH" baseline="-25000" dirty="0" smtClean="0"/>
              <a:t>3</a:t>
            </a:r>
            <a:endParaRPr lang="en-PH" dirty="0"/>
          </a:p>
        </p:txBody>
      </p:sp>
      <p:sp>
        <p:nvSpPr>
          <p:cNvPr id="6" name="TextBox 5"/>
          <p:cNvSpPr txBox="1"/>
          <p:nvPr/>
        </p:nvSpPr>
        <p:spPr>
          <a:xfrm>
            <a:off x="3124200" y="3429000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 smtClean="0"/>
              <a:t>Molecular weight of any liming material</a:t>
            </a:r>
            <a:endParaRPr lang="en-PH" dirty="0"/>
          </a:p>
        </p:txBody>
      </p:sp>
      <p:cxnSp>
        <p:nvCxnSpPr>
          <p:cNvPr id="8" name="Straight Connector 7"/>
          <p:cNvCxnSpPr/>
          <p:nvPr/>
        </p:nvCxnSpPr>
        <p:spPr bwMode="auto">
          <a:xfrm>
            <a:off x="3124200" y="3352800"/>
            <a:ext cx="46482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85800" y="1524000"/>
          <a:ext cx="8305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092569"/>
                <a:gridCol w="255563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LIMING</a:t>
                      </a:r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 MATERIAL</a:t>
                      </a:r>
                      <a:endParaRPr lang="en-PH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Formula </a:t>
                      </a:r>
                      <a:endParaRPr lang="en-PH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Neutralizing power</a:t>
                      </a:r>
                      <a:endParaRPr lang="en-PH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Calcium</a:t>
                      </a:r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 Carbonate</a:t>
                      </a:r>
                    </a:p>
                    <a:p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Calcium</a:t>
                      </a:r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 Hydroxide</a:t>
                      </a:r>
                    </a:p>
                    <a:p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Calcium Oxide</a:t>
                      </a:r>
                    </a:p>
                    <a:p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Magnesium Carbonate</a:t>
                      </a:r>
                    </a:p>
                    <a:p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Magnesium</a:t>
                      </a:r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 Hydroxide</a:t>
                      </a:r>
                    </a:p>
                    <a:p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Magnesium Oxide</a:t>
                      </a:r>
                    </a:p>
                    <a:p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Dolomite </a:t>
                      </a:r>
                      <a:endParaRPr lang="en-PH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CaCO</a:t>
                      </a:r>
                      <a:r>
                        <a:rPr lang="en-PH" sz="2400" baseline="-25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     </a:t>
                      </a:r>
                    </a:p>
                    <a:p>
                      <a:pPr algn="ctr"/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Ca(OH)</a:t>
                      </a:r>
                      <a:r>
                        <a:rPr lang="en-PH" sz="24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PH" sz="2400" baseline="0" dirty="0" err="1" smtClean="0">
                          <a:solidFill>
                            <a:schemeClr val="tx1"/>
                          </a:solidFill>
                        </a:rPr>
                        <a:t>CaO</a:t>
                      </a:r>
                      <a:endParaRPr lang="en-PH" sz="24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MgCO</a:t>
                      </a:r>
                      <a:r>
                        <a:rPr lang="en-PH" sz="2400" baseline="-25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Mg(OH)</a:t>
                      </a:r>
                      <a:r>
                        <a:rPr lang="en-PH" sz="24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PH" sz="2400" baseline="0" dirty="0" err="1" smtClean="0">
                          <a:solidFill>
                            <a:schemeClr val="tx1"/>
                          </a:solidFill>
                        </a:rPr>
                        <a:t>MgO</a:t>
                      </a:r>
                      <a:endParaRPr lang="en-PH" sz="24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PH" sz="2400" baseline="0" dirty="0" err="1" smtClean="0">
                          <a:solidFill>
                            <a:schemeClr val="tx1"/>
                          </a:solidFill>
                        </a:rPr>
                        <a:t>CaMg</a:t>
                      </a:r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(CO</a:t>
                      </a:r>
                      <a:r>
                        <a:rPr lang="en-PH" sz="2400" baseline="-25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PH" sz="240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PH" sz="240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135</a:t>
                      </a:r>
                    </a:p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179</a:t>
                      </a:r>
                    </a:p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119</a:t>
                      </a:r>
                    </a:p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172</a:t>
                      </a:r>
                    </a:p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250</a:t>
                      </a:r>
                    </a:p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109</a:t>
                      </a:r>
                      <a:endParaRPr lang="en-PH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6800" y="341293"/>
            <a:ext cx="79996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 smtClean="0"/>
              <a:t>The neutralizing power of some liming material in their pure form </a:t>
            </a:r>
            <a:endParaRPr lang="en-PH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Methods of determining lime requirement of soils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None/>
            </a:pPr>
            <a:r>
              <a:rPr lang="en-PH" dirty="0" smtClean="0"/>
              <a:t>1. </a:t>
            </a:r>
            <a:r>
              <a:rPr lang="en-PH" dirty="0" err="1" smtClean="0"/>
              <a:t>Veitch</a:t>
            </a:r>
            <a:r>
              <a:rPr lang="en-PH" dirty="0" smtClean="0"/>
              <a:t> Method</a:t>
            </a:r>
          </a:p>
          <a:p>
            <a:pPr marL="914400" lvl="1" indent="-514350">
              <a:buNone/>
            </a:pPr>
            <a:r>
              <a:rPr lang="en-PH" dirty="0" smtClean="0"/>
              <a:t>	- addition of increasing amounts of 0.04N Ca(OH)</a:t>
            </a:r>
            <a:r>
              <a:rPr lang="en-PH" baseline="-25000" dirty="0" smtClean="0"/>
              <a:t>2</a:t>
            </a:r>
            <a:r>
              <a:rPr lang="en-PH" dirty="0" smtClean="0"/>
              <a:t> to the soil samples, allowing them to stand for 30 minutes and their pH’s would be determined.</a:t>
            </a:r>
          </a:p>
          <a:p>
            <a:pPr marL="514350" indent="-514350">
              <a:buNone/>
            </a:pPr>
            <a:r>
              <a:rPr lang="en-PH" dirty="0" smtClean="0"/>
              <a:t>2.Calcium carbonate incubation in the laboratory</a:t>
            </a:r>
          </a:p>
          <a:p>
            <a:pPr marL="514350" indent="-514350">
              <a:buNone/>
            </a:pPr>
            <a:r>
              <a:rPr lang="en-PH" dirty="0" smtClean="0"/>
              <a:t>3. Field or pot lime trials</a:t>
            </a:r>
          </a:p>
          <a:p>
            <a:pPr marL="514350" indent="-514350">
              <a:buNone/>
            </a:pPr>
            <a:r>
              <a:rPr lang="en-PH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PH" dirty="0" smtClean="0"/>
              <a:t>4. Exchangeable aluminum index method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L.R. = #me Al/100g x 1.5</a:t>
            </a:r>
          </a:p>
          <a:p>
            <a:pPr>
              <a:buNone/>
            </a:pPr>
            <a:r>
              <a:rPr lang="en-PH" dirty="0" smtClean="0"/>
              <a:t>		  = me CaCO</a:t>
            </a:r>
            <a:r>
              <a:rPr lang="en-PH" baseline="-25000" dirty="0" smtClean="0"/>
              <a:t>3</a:t>
            </a:r>
            <a:r>
              <a:rPr lang="en-PH" dirty="0" smtClean="0"/>
              <a:t>/100g</a:t>
            </a:r>
          </a:p>
          <a:p>
            <a:pPr>
              <a:buNone/>
            </a:pPr>
            <a:r>
              <a:rPr lang="en-PH" dirty="0" smtClean="0"/>
              <a:t>5. Aluminum saturation method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Soil processes and conditions affected by liming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7213"/>
            <a:ext cx="8077200" cy="4114800"/>
          </a:xfrm>
        </p:spPr>
        <p:txBody>
          <a:bodyPr/>
          <a:lstStyle/>
          <a:p>
            <a:r>
              <a:rPr lang="en-PH" dirty="0" smtClean="0"/>
              <a:t>Volatilization of ammonia from ammonium-containing fertilizers</a:t>
            </a:r>
          </a:p>
          <a:p>
            <a:pPr>
              <a:buNone/>
            </a:pPr>
            <a:r>
              <a:rPr lang="en-PH" sz="2400" dirty="0" smtClean="0"/>
              <a:t>Ca(OH)</a:t>
            </a:r>
            <a:r>
              <a:rPr lang="en-PH" sz="2400" baseline="-25000" dirty="0" smtClean="0"/>
              <a:t>2</a:t>
            </a:r>
            <a:r>
              <a:rPr lang="en-PH" sz="2400" dirty="0" smtClean="0"/>
              <a:t> + (NH</a:t>
            </a:r>
            <a:r>
              <a:rPr lang="en-PH" sz="2400" baseline="-25000" dirty="0" smtClean="0"/>
              <a:t>4</a:t>
            </a:r>
            <a:r>
              <a:rPr lang="en-PH" sz="2400" dirty="0" smtClean="0"/>
              <a:t>)</a:t>
            </a:r>
            <a:r>
              <a:rPr lang="en-PH" sz="2400" baseline="-25000" dirty="0" smtClean="0"/>
              <a:t>2</a:t>
            </a:r>
            <a:r>
              <a:rPr lang="en-PH" sz="2400" dirty="0" smtClean="0"/>
              <a:t>SO</a:t>
            </a:r>
            <a:r>
              <a:rPr lang="en-PH" sz="2400" baseline="-25000" dirty="0" smtClean="0"/>
              <a:t>4</a:t>
            </a:r>
            <a:r>
              <a:rPr lang="en-PH" sz="2400" dirty="0" smtClean="0"/>
              <a:t>        CaSO</a:t>
            </a:r>
            <a:r>
              <a:rPr lang="en-PH" sz="2400" baseline="-25000" dirty="0" smtClean="0"/>
              <a:t>4</a:t>
            </a:r>
            <a:r>
              <a:rPr lang="en-PH" sz="2400" dirty="0" smtClean="0"/>
              <a:t> + 2H</a:t>
            </a:r>
            <a:r>
              <a:rPr lang="en-PH" sz="2400" baseline="-25000" dirty="0" smtClean="0"/>
              <a:t>2</a:t>
            </a:r>
            <a:r>
              <a:rPr lang="en-PH" sz="2400" dirty="0" smtClean="0"/>
              <a:t>O + 2NH</a:t>
            </a:r>
            <a:r>
              <a:rPr lang="en-PH" sz="2400" baseline="-25000" dirty="0" smtClean="0"/>
              <a:t>3</a:t>
            </a:r>
          </a:p>
          <a:p>
            <a:endParaRPr lang="en-PH" dirty="0" smtClean="0"/>
          </a:p>
          <a:p>
            <a:r>
              <a:rPr lang="en-PH" dirty="0" smtClean="0"/>
              <a:t>Phosphorus fixation</a:t>
            </a:r>
          </a:p>
          <a:p>
            <a:pPr>
              <a:buNone/>
            </a:pPr>
            <a:r>
              <a:rPr lang="en-PH" dirty="0" smtClean="0"/>
              <a:t>2Al(OH)</a:t>
            </a:r>
            <a:r>
              <a:rPr lang="en-PH" baseline="-25000" dirty="0" smtClean="0"/>
              <a:t>2</a:t>
            </a:r>
            <a:r>
              <a:rPr lang="en-PH" baseline="30000" dirty="0" smtClean="0"/>
              <a:t>+</a:t>
            </a:r>
            <a:r>
              <a:rPr lang="en-PH" dirty="0" smtClean="0"/>
              <a:t> + 2H</a:t>
            </a:r>
            <a:r>
              <a:rPr lang="en-PH" baseline="-25000" dirty="0" smtClean="0"/>
              <a:t>2</a:t>
            </a:r>
            <a:r>
              <a:rPr lang="en-PH" dirty="0" smtClean="0"/>
              <a:t>PO</a:t>
            </a:r>
            <a:r>
              <a:rPr lang="en-PH" baseline="-25000" dirty="0" smtClean="0"/>
              <a:t>4</a:t>
            </a:r>
            <a:r>
              <a:rPr lang="en-PH" baseline="30000" dirty="0" smtClean="0"/>
              <a:t>-  </a:t>
            </a:r>
            <a:r>
              <a:rPr lang="en-PH" dirty="0" smtClean="0"/>
              <a:t>         2Al(OH)</a:t>
            </a:r>
            <a:r>
              <a:rPr lang="en-PH" baseline="-25000" dirty="0" smtClean="0"/>
              <a:t>2</a:t>
            </a:r>
            <a:r>
              <a:rPr lang="en-PH" dirty="0" smtClean="0"/>
              <a:t>PO</a:t>
            </a:r>
            <a:r>
              <a:rPr lang="en-PH" baseline="-25000" dirty="0" smtClean="0"/>
              <a:t>4</a:t>
            </a:r>
            <a:endParaRPr lang="en-PH" dirty="0" smtClean="0"/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4419600" y="3048000"/>
            <a:ext cx="609600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 rot="5400000" flipH="1" flipV="1">
            <a:off x="8496300" y="2933700"/>
            <a:ext cx="381000" cy="1588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>
            <a:off x="4953000" y="4495800"/>
            <a:ext cx="990600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rot="10800000">
            <a:off x="4953000" y="4648200"/>
            <a:ext cx="990600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Forms and General Characteristics of Fertilizers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7847012" cy="4114800"/>
          </a:xfrm>
        </p:spPr>
        <p:txBody>
          <a:bodyPr/>
          <a:lstStyle/>
          <a:p>
            <a:pPr marL="514350" indent="-514350"/>
            <a:r>
              <a:rPr lang="en-PH" dirty="0" smtClean="0"/>
              <a:t>Organic Fertilizer – are fertilizers that are either plant or animal origin</a:t>
            </a:r>
          </a:p>
          <a:p>
            <a:pPr marL="514350" indent="-514350"/>
            <a:r>
              <a:rPr lang="en-PH" dirty="0" smtClean="0"/>
              <a:t>Inorganic Fertilizer – these are fertilizers out of minerals or are products of chemical reactions of raw materials</a:t>
            </a:r>
          </a:p>
          <a:p>
            <a:pPr marL="514350" indent="-514350"/>
            <a:r>
              <a:rPr lang="en-PH" dirty="0" smtClean="0"/>
              <a:t>Liquid Foliar Fertilizer – these are solution of nutrients</a:t>
            </a:r>
          </a:p>
          <a:p>
            <a:pPr marL="514350" indent="-514350">
              <a:buNone/>
            </a:pPr>
            <a:endParaRPr lang="en-PH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General Characteristics of Organic and Synthetic Inorganic Fertilizers</a:t>
            </a:r>
            <a:endParaRPr lang="en-PH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" y="1981200"/>
          <a:ext cx="8839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2895600"/>
                <a:gridCol w="25908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Parameter</a:t>
                      </a:r>
                      <a:endParaRPr lang="en-PH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  Inorganic</a:t>
                      </a:r>
                      <a:endParaRPr lang="en-PH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Organic</a:t>
                      </a:r>
                      <a:endParaRPr lang="en-PH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86766">
                <a:tc>
                  <a:txBody>
                    <a:bodyPr/>
                    <a:lstStyle/>
                    <a:p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Nutrient Analysis</a:t>
                      </a:r>
                      <a:endParaRPr lang="en-PH" sz="24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Nutrient Availability</a:t>
                      </a:r>
                      <a:endParaRPr lang="en-PH" sz="24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Essential</a:t>
                      </a:r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 Elements </a:t>
                      </a:r>
                    </a:p>
                    <a:p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Present</a:t>
                      </a:r>
                      <a:endParaRPr lang="en-PH" sz="240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Amount of Fertilizer </a:t>
                      </a:r>
                    </a:p>
                    <a:p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Needed</a:t>
                      </a:r>
                    </a:p>
                    <a:p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Effect on Soil</a:t>
                      </a:r>
                      <a:endParaRPr lang="en-PH" sz="240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High</a:t>
                      </a:r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    </a:t>
                      </a:r>
                    </a:p>
                    <a:p>
                      <a:pPr algn="ctr"/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Rapid</a:t>
                      </a:r>
                    </a:p>
                    <a:p>
                      <a:pPr algn="ctr"/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N, P and K</a:t>
                      </a:r>
                    </a:p>
                    <a:p>
                      <a:pPr algn="ctr"/>
                      <a:endParaRPr lang="en-PH" sz="24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Less</a:t>
                      </a:r>
                    </a:p>
                    <a:p>
                      <a:pPr algn="ctr"/>
                      <a:endParaRPr lang="en-PH" sz="24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Acidifying Effect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Slow</a:t>
                      </a:r>
                    </a:p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All</a:t>
                      </a:r>
                    </a:p>
                    <a:p>
                      <a:pPr algn="ctr"/>
                      <a:endParaRPr lang="en-PH" sz="24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More</a:t>
                      </a:r>
                    </a:p>
                    <a:p>
                      <a:pPr algn="ctr"/>
                      <a:endParaRPr lang="en-PH" sz="24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PH" sz="2400" dirty="0" smtClean="0">
                          <a:solidFill>
                            <a:schemeClr val="tx1"/>
                          </a:solidFill>
                        </a:rPr>
                        <a:t>Improves</a:t>
                      </a:r>
                      <a:r>
                        <a:rPr lang="en-PH" sz="2400" baseline="0" dirty="0" smtClean="0">
                          <a:solidFill>
                            <a:schemeClr val="tx1"/>
                          </a:solidFill>
                        </a:rPr>
                        <a:t> Soil properties</a:t>
                      </a:r>
                      <a:endParaRPr lang="en-PH" sz="24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Some Organic Fertilizers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 smtClean="0"/>
              <a:t>Farm Manures</a:t>
            </a:r>
          </a:p>
          <a:p>
            <a:r>
              <a:rPr lang="en-PH" dirty="0" smtClean="0"/>
              <a:t>Compost</a:t>
            </a:r>
          </a:p>
          <a:p>
            <a:r>
              <a:rPr lang="en-PH" dirty="0" smtClean="0"/>
              <a:t>Crop Residues</a:t>
            </a:r>
          </a:p>
          <a:p>
            <a:r>
              <a:rPr lang="en-PH" dirty="0" smtClean="0"/>
              <a:t>Green Manures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Inorganic Fertilizers</a:t>
            </a:r>
            <a:endParaRPr lang="en-PH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09600" y="1676400"/>
            <a:ext cx="8074025" cy="4800599"/>
          </a:xfrm>
        </p:spPr>
        <p:txBody>
          <a:bodyPr/>
          <a:lstStyle/>
          <a:p>
            <a:r>
              <a:rPr lang="en-PH" dirty="0" smtClean="0"/>
              <a:t>The inorganic fertilizers that are commonly sold in the market are mostly synthetic.</a:t>
            </a:r>
          </a:p>
          <a:p>
            <a:r>
              <a:rPr lang="en-PH" dirty="0" smtClean="0"/>
              <a:t>Undergone physical and chemical processing</a:t>
            </a:r>
          </a:p>
          <a:p>
            <a:r>
              <a:rPr lang="en-PH" dirty="0" smtClean="0"/>
              <a:t>Analysis grade is the minimum guarantee of the nutrient content of the material expressed as % nitrogen (%N), % phosphorus as P</a:t>
            </a:r>
            <a:r>
              <a:rPr lang="en-PH" baseline="-25000" dirty="0" smtClean="0"/>
              <a:t>2</a:t>
            </a:r>
            <a:r>
              <a:rPr lang="en-PH" dirty="0" smtClean="0"/>
              <a:t>O</a:t>
            </a:r>
            <a:r>
              <a:rPr lang="en-PH" baseline="-25000" dirty="0" smtClean="0"/>
              <a:t>5</a:t>
            </a:r>
            <a:r>
              <a:rPr lang="en-PH" dirty="0" smtClean="0"/>
              <a:t> (% P</a:t>
            </a:r>
            <a:r>
              <a:rPr lang="en-PH" baseline="-25000" dirty="0" smtClean="0"/>
              <a:t>2</a:t>
            </a:r>
            <a:r>
              <a:rPr lang="en-PH" dirty="0" smtClean="0"/>
              <a:t>O</a:t>
            </a:r>
            <a:r>
              <a:rPr lang="en-PH" baseline="-25000" dirty="0" smtClean="0"/>
              <a:t>5</a:t>
            </a:r>
            <a:r>
              <a:rPr lang="en-PH" dirty="0" smtClean="0"/>
              <a:t>), % potassium as K</a:t>
            </a:r>
            <a:r>
              <a:rPr lang="en-PH" baseline="-25000" dirty="0" smtClean="0"/>
              <a:t>2</a:t>
            </a:r>
            <a:r>
              <a:rPr lang="en-PH" dirty="0" smtClean="0"/>
              <a:t>O (% K</a:t>
            </a:r>
            <a:r>
              <a:rPr lang="en-PH" baseline="-25000" dirty="0" smtClean="0"/>
              <a:t>2</a:t>
            </a:r>
            <a:r>
              <a:rPr lang="en-PH" dirty="0" smtClean="0"/>
              <a:t>O).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In fertilizer calculation, a sample formula to use is the following: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76400"/>
            <a:ext cx="8839200" cy="4876800"/>
          </a:xfrm>
        </p:spPr>
        <p:txBody>
          <a:bodyPr/>
          <a:lstStyle/>
          <a:p>
            <a:pPr>
              <a:buNone/>
            </a:pPr>
            <a:r>
              <a:rPr lang="en-PH" sz="2400" dirty="0" smtClean="0"/>
              <a:t>                                       Wt. of the nutrient needed</a:t>
            </a:r>
          </a:p>
          <a:p>
            <a:pPr>
              <a:buNone/>
            </a:pPr>
            <a:r>
              <a:rPr lang="en-PH" sz="2400" dirty="0" smtClean="0"/>
              <a:t>Wt. of fertilizer materials=</a:t>
            </a:r>
          </a:p>
          <a:p>
            <a:pPr>
              <a:buNone/>
            </a:pPr>
            <a:r>
              <a:rPr lang="en-PH" sz="2400" dirty="0" smtClean="0"/>
              <a:t>                                             Nutrient content, %</a:t>
            </a:r>
          </a:p>
          <a:p>
            <a:pPr>
              <a:buNone/>
            </a:pPr>
            <a:endParaRPr lang="en-PH" sz="2400" dirty="0" smtClean="0"/>
          </a:p>
          <a:p>
            <a:pPr>
              <a:buNone/>
            </a:pPr>
            <a:r>
              <a:rPr lang="en-PH" sz="2400" dirty="0" smtClean="0"/>
              <a:t>Problem:</a:t>
            </a:r>
          </a:p>
          <a:p>
            <a:pPr algn="just">
              <a:buNone/>
            </a:pPr>
            <a:r>
              <a:rPr lang="en-PH" sz="2400" dirty="0" smtClean="0"/>
              <a:t>		A fertilizer recommendation calls for the application of 90-60-30 kg of N, P</a:t>
            </a:r>
            <a:r>
              <a:rPr lang="en-PH" sz="2400" baseline="-25000" dirty="0" smtClean="0"/>
              <a:t>2</a:t>
            </a:r>
            <a:r>
              <a:rPr lang="en-PH" sz="2400" dirty="0" smtClean="0"/>
              <a:t>O</a:t>
            </a:r>
            <a:r>
              <a:rPr lang="en-PH" sz="2400" baseline="-25000" dirty="0" smtClean="0"/>
              <a:t>5</a:t>
            </a:r>
            <a:r>
              <a:rPr lang="en-PH" sz="2400" dirty="0" smtClean="0"/>
              <a:t> and K</a:t>
            </a:r>
            <a:r>
              <a:rPr lang="en-PH" sz="2400" baseline="-25000" dirty="0" smtClean="0"/>
              <a:t>2</a:t>
            </a:r>
            <a:r>
              <a:rPr lang="en-PH" sz="2400" dirty="0" smtClean="0"/>
              <a:t>O per ha.</a:t>
            </a:r>
          </a:p>
          <a:p>
            <a:pPr algn="just">
              <a:buNone/>
            </a:pPr>
            <a:r>
              <a:rPr lang="en-PH" sz="2400" dirty="0" smtClean="0"/>
              <a:t>Calculate the weight of ammonium sulfate (20-0-0), ordinary superphosphate (0-20-0) and muriate of potash (0-0-60) needed for one hectare. (note: 1 bag of fertilizer = 50 kg).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4495800" y="2362200"/>
            <a:ext cx="4038600" cy="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64770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PH" dirty="0" smtClean="0"/>
              <a:t>                                </a:t>
            </a:r>
            <a:r>
              <a:rPr lang="en-PH" sz="2400" dirty="0" smtClean="0"/>
              <a:t>90</a:t>
            </a:r>
            <a:r>
              <a:rPr lang="en-PH" dirty="0" smtClean="0"/>
              <a:t>     </a:t>
            </a:r>
          </a:p>
          <a:p>
            <a:pPr>
              <a:spcBef>
                <a:spcPts val="0"/>
              </a:spcBef>
              <a:buNone/>
            </a:pPr>
            <a:r>
              <a:rPr lang="en-PH" sz="2300" dirty="0" smtClean="0"/>
              <a:t>Wt. of ammonium sulfate</a:t>
            </a:r>
            <a:r>
              <a:rPr lang="en-PH" dirty="0" smtClean="0"/>
              <a:t>=     = </a:t>
            </a:r>
            <a:r>
              <a:rPr lang="en-PH" sz="2300" dirty="0" smtClean="0"/>
              <a:t>428.57 kg/ha or 9 bags                             </a:t>
            </a:r>
          </a:p>
          <a:p>
            <a:pPr>
              <a:spcBef>
                <a:spcPts val="0"/>
              </a:spcBef>
              <a:buNone/>
            </a:pPr>
            <a:r>
              <a:rPr lang="en-PH" sz="2300" dirty="0" smtClean="0"/>
              <a:t>                                       0.21    </a:t>
            </a:r>
          </a:p>
          <a:p>
            <a:pPr>
              <a:spcBef>
                <a:spcPts val="0"/>
              </a:spcBef>
              <a:buNone/>
            </a:pPr>
            <a:endParaRPr lang="en-PH" sz="2300" dirty="0" smtClean="0"/>
          </a:p>
          <a:p>
            <a:pPr>
              <a:spcBef>
                <a:spcPts val="0"/>
              </a:spcBef>
              <a:buNone/>
            </a:pPr>
            <a:r>
              <a:rPr lang="en-PH" sz="2400" dirty="0" smtClean="0"/>
              <a:t>                                                60     </a:t>
            </a:r>
          </a:p>
          <a:p>
            <a:pPr>
              <a:spcBef>
                <a:spcPts val="0"/>
              </a:spcBef>
              <a:buNone/>
            </a:pPr>
            <a:r>
              <a:rPr lang="en-PH" sz="2300" dirty="0" smtClean="0"/>
              <a:t>Wt. of ordinary superphosphate </a:t>
            </a:r>
            <a:r>
              <a:rPr lang="en-PH" sz="2400" dirty="0" smtClean="0"/>
              <a:t>=      = </a:t>
            </a:r>
            <a:r>
              <a:rPr lang="en-PH" sz="2300" dirty="0" smtClean="0"/>
              <a:t>300 kg or 6 bags                             </a:t>
            </a:r>
          </a:p>
          <a:p>
            <a:pPr>
              <a:spcBef>
                <a:spcPts val="0"/>
              </a:spcBef>
              <a:buNone/>
            </a:pPr>
            <a:r>
              <a:rPr lang="en-PH" sz="2300" dirty="0" smtClean="0"/>
              <a:t>                                                 0.20</a:t>
            </a:r>
          </a:p>
          <a:p>
            <a:pPr>
              <a:spcBef>
                <a:spcPts val="0"/>
              </a:spcBef>
              <a:buNone/>
            </a:pPr>
            <a:endParaRPr lang="en-PH" sz="2300" dirty="0" smtClean="0"/>
          </a:p>
          <a:p>
            <a:pPr>
              <a:spcBef>
                <a:spcPts val="0"/>
              </a:spcBef>
              <a:buNone/>
            </a:pPr>
            <a:r>
              <a:rPr lang="en-PH" sz="2300" dirty="0" smtClean="0"/>
              <a:t>                                        30</a:t>
            </a:r>
          </a:p>
          <a:p>
            <a:pPr>
              <a:spcBef>
                <a:spcPts val="0"/>
              </a:spcBef>
              <a:buNone/>
            </a:pPr>
            <a:r>
              <a:rPr lang="en-PH" sz="2300" dirty="0" smtClean="0"/>
              <a:t>Wt. of muriate of potash </a:t>
            </a:r>
            <a:r>
              <a:rPr lang="en-PH" sz="2400" dirty="0" smtClean="0"/>
              <a:t>=      = </a:t>
            </a:r>
            <a:r>
              <a:rPr lang="en-PH" sz="2300" dirty="0" smtClean="0"/>
              <a:t>50 kg or 1 bag                             </a:t>
            </a:r>
          </a:p>
          <a:p>
            <a:pPr>
              <a:spcBef>
                <a:spcPts val="0"/>
              </a:spcBef>
              <a:buNone/>
            </a:pPr>
            <a:r>
              <a:rPr lang="en-PH" sz="2300" dirty="0" smtClean="0"/>
              <a:t>                                       0.60</a:t>
            </a:r>
          </a:p>
          <a:p>
            <a:pPr>
              <a:spcBef>
                <a:spcPts val="0"/>
              </a:spcBef>
              <a:buNone/>
            </a:pPr>
            <a:endParaRPr lang="en-PH" sz="2300" dirty="0" smtClean="0"/>
          </a:p>
          <a:p>
            <a:pPr>
              <a:spcBef>
                <a:spcPts val="0"/>
              </a:spcBef>
              <a:buNone/>
            </a:pPr>
            <a:r>
              <a:rPr lang="en-PH" sz="2300" dirty="0" smtClean="0"/>
              <a:t> The quantities of fertilizers needed per hectare are the ff:</a:t>
            </a:r>
          </a:p>
          <a:p>
            <a:pPr>
              <a:spcBef>
                <a:spcPts val="0"/>
              </a:spcBef>
              <a:buNone/>
            </a:pPr>
            <a:endParaRPr lang="en-PH" sz="2300" dirty="0" smtClean="0"/>
          </a:p>
          <a:p>
            <a:pPr>
              <a:spcBef>
                <a:spcPts val="0"/>
              </a:spcBef>
              <a:buNone/>
            </a:pPr>
            <a:r>
              <a:rPr lang="en-PH" sz="2300" dirty="0" smtClean="0"/>
              <a:t>		428.57 kg ammonium sulfate</a:t>
            </a:r>
          </a:p>
          <a:p>
            <a:pPr>
              <a:spcBef>
                <a:spcPts val="0"/>
              </a:spcBef>
              <a:buNone/>
            </a:pPr>
            <a:r>
              <a:rPr lang="en-PH" sz="2300" dirty="0" smtClean="0"/>
              <a:t>		300 kg ordinary superphosphate </a:t>
            </a:r>
          </a:p>
          <a:p>
            <a:pPr>
              <a:spcBef>
                <a:spcPts val="0"/>
              </a:spcBef>
              <a:buNone/>
            </a:pPr>
            <a:r>
              <a:rPr lang="en-PH" sz="2300" dirty="0" smtClean="0"/>
              <a:t>		50 kg muriate of potash </a:t>
            </a:r>
            <a:endParaRPr lang="en-PH" sz="2300" dirty="0"/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5334000" y="2362200"/>
            <a:ext cx="533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/>
          <p:cNvCxnSpPr/>
          <p:nvPr/>
        </p:nvCxnSpPr>
        <p:spPr bwMode="auto">
          <a:xfrm>
            <a:off x="4343400" y="914400"/>
            <a:ext cx="533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>
            <a:off x="4267200" y="3810000"/>
            <a:ext cx="533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Methods of Fertilizer Application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 smtClean="0"/>
              <a:t>Broadcast</a:t>
            </a:r>
          </a:p>
          <a:p>
            <a:r>
              <a:rPr lang="en-PH" dirty="0" smtClean="0"/>
              <a:t>Band</a:t>
            </a:r>
          </a:p>
          <a:p>
            <a:r>
              <a:rPr lang="en-PH" dirty="0" smtClean="0"/>
              <a:t>Foliar</a:t>
            </a:r>
          </a:p>
          <a:p>
            <a:r>
              <a:rPr lang="en-PH" dirty="0" smtClean="0"/>
              <a:t>Ring Method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1625"/>
            <a:ext cx="8074025" cy="1143000"/>
          </a:xfrm>
        </p:spPr>
        <p:txBody>
          <a:bodyPr/>
          <a:lstStyle/>
          <a:p>
            <a:r>
              <a:rPr lang="en-PH" dirty="0" smtClean="0"/>
              <a:t>Maintenance of Soil Organic Matter may be Accomplished by: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029200"/>
          </a:xfrm>
        </p:spPr>
        <p:txBody>
          <a:bodyPr/>
          <a:lstStyle/>
          <a:p>
            <a:r>
              <a:rPr lang="en-PH" dirty="0" smtClean="0"/>
              <a:t>Use of farm manures</a:t>
            </a:r>
          </a:p>
          <a:p>
            <a:r>
              <a:rPr lang="en-PH" dirty="0" smtClean="0"/>
              <a:t>Use of poultry manures</a:t>
            </a:r>
          </a:p>
          <a:p>
            <a:r>
              <a:rPr lang="en-PH" dirty="0" smtClean="0"/>
              <a:t>Use of green manures</a:t>
            </a:r>
          </a:p>
          <a:p>
            <a:r>
              <a:rPr lang="en-PH" dirty="0" smtClean="0"/>
              <a:t>Use of crop residues</a:t>
            </a:r>
          </a:p>
          <a:p>
            <a:r>
              <a:rPr lang="en-PH" dirty="0" smtClean="0"/>
              <a:t>Use of composts</a:t>
            </a:r>
          </a:p>
          <a:p>
            <a:r>
              <a:rPr lang="en-PH" dirty="0" smtClean="0"/>
              <a:t>Cover cropping</a:t>
            </a:r>
          </a:p>
          <a:p>
            <a:r>
              <a:rPr lang="en-PH" dirty="0" smtClean="0"/>
              <a:t>Fallowing</a:t>
            </a:r>
          </a:p>
          <a:p>
            <a:r>
              <a:rPr lang="en-PH" dirty="0" smtClean="0"/>
              <a:t>Mulching</a:t>
            </a:r>
          </a:p>
          <a:p>
            <a:r>
              <a:rPr lang="en-PH" sz="2800" dirty="0" smtClean="0"/>
              <a:t>Use of industrial and municipal by-products</a:t>
            </a:r>
          </a:p>
          <a:p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H" dirty="0" smtClean="0"/>
              <a:t>Review Questions for Soil Fertility and Management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7845425" cy="4724400"/>
          </a:xfrm>
        </p:spPr>
        <p:txBody>
          <a:bodyPr/>
          <a:lstStyle/>
          <a:p>
            <a:pPr marL="514350" indent="-514350">
              <a:buNone/>
            </a:pPr>
            <a:r>
              <a:rPr lang="en-PH" dirty="0" smtClean="0"/>
              <a:t>1. The Haber Bosch process for making N fertilizer</a:t>
            </a:r>
          </a:p>
          <a:p>
            <a:pPr marL="514350" indent="-514350">
              <a:buNone/>
            </a:pPr>
            <a:r>
              <a:rPr lang="en-PH" dirty="0" smtClean="0"/>
              <a:t>	a. N</a:t>
            </a:r>
            <a:r>
              <a:rPr lang="en-PH" baseline="-25000" dirty="0" smtClean="0"/>
              <a:t>2</a:t>
            </a:r>
            <a:r>
              <a:rPr lang="en-PH" dirty="0" smtClean="0"/>
              <a:t> + N</a:t>
            </a:r>
            <a:r>
              <a:rPr lang="en-PH" baseline="-25000" dirty="0" smtClean="0"/>
              <a:t>2</a:t>
            </a:r>
            <a:r>
              <a:rPr lang="en-PH" dirty="0" smtClean="0"/>
              <a:t>O            NH</a:t>
            </a:r>
            <a:r>
              <a:rPr lang="en-PH" baseline="-25000" dirty="0" smtClean="0"/>
              <a:t>3</a:t>
            </a:r>
            <a:endParaRPr lang="en-PH" dirty="0" smtClean="0"/>
          </a:p>
          <a:p>
            <a:pPr marL="514350" indent="-514350">
              <a:buNone/>
            </a:pPr>
            <a:r>
              <a:rPr lang="en-PH" dirty="0" smtClean="0"/>
              <a:t>	b. N</a:t>
            </a:r>
            <a:r>
              <a:rPr lang="en-PH" baseline="-25000" dirty="0" smtClean="0"/>
              <a:t>2</a:t>
            </a:r>
            <a:r>
              <a:rPr lang="en-PH" dirty="0" smtClean="0"/>
              <a:t> + 3N</a:t>
            </a:r>
            <a:r>
              <a:rPr lang="en-PH" baseline="-25000" dirty="0" smtClean="0"/>
              <a:t>2</a:t>
            </a:r>
            <a:r>
              <a:rPr lang="en-PH" dirty="0" smtClean="0"/>
              <a:t>           2NH</a:t>
            </a:r>
            <a:r>
              <a:rPr lang="en-PH" baseline="-25000" dirty="0" smtClean="0"/>
              <a:t>3</a:t>
            </a:r>
            <a:endParaRPr lang="en-PH" dirty="0" smtClean="0"/>
          </a:p>
          <a:p>
            <a:pPr marL="514350" indent="-514350">
              <a:buNone/>
            </a:pPr>
            <a:r>
              <a:rPr lang="en-PH" dirty="0" smtClean="0"/>
              <a:t>	c. N</a:t>
            </a:r>
            <a:r>
              <a:rPr lang="en-PH" baseline="-25000" dirty="0" smtClean="0"/>
              <a:t>2</a:t>
            </a:r>
            <a:r>
              <a:rPr lang="en-PH" dirty="0" smtClean="0"/>
              <a:t> + 2O</a:t>
            </a:r>
            <a:r>
              <a:rPr lang="en-PH" baseline="-25000" dirty="0" smtClean="0"/>
              <a:t>2</a:t>
            </a:r>
            <a:r>
              <a:rPr lang="en-PH" dirty="0" smtClean="0"/>
              <a:t>           NO</a:t>
            </a:r>
            <a:r>
              <a:rPr lang="en-PH" baseline="-25000" dirty="0" smtClean="0"/>
              <a:t>3                 </a:t>
            </a:r>
            <a:endParaRPr lang="en-PH" dirty="0" smtClean="0"/>
          </a:p>
          <a:p>
            <a:pPr marL="514350" indent="-514350">
              <a:buNone/>
            </a:pPr>
            <a:r>
              <a:rPr lang="en-PH" dirty="0" smtClean="0"/>
              <a:t>	d. N</a:t>
            </a:r>
            <a:r>
              <a:rPr lang="en-PH" baseline="-25000" dirty="0" smtClean="0"/>
              <a:t>2</a:t>
            </a:r>
            <a:r>
              <a:rPr lang="en-PH" dirty="0" smtClean="0"/>
              <a:t> + H</a:t>
            </a:r>
            <a:r>
              <a:rPr lang="en-PH" baseline="-25000" dirty="0" smtClean="0"/>
              <a:t>2</a:t>
            </a:r>
            <a:r>
              <a:rPr lang="en-PH" dirty="0" smtClean="0"/>
              <a:t>O           NO</a:t>
            </a:r>
            <a:r>
              <a:rPr lang="en-PH" baseline="-25000" dirty="0" smtClean="0"/>
              <a:t>3</a:t>
            </a:r>
            <a:endParaRPr lang="en-PH" dirty="0"/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3886200" y="2819400"/>
            <a:ext cx="1066800" cy="1588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>
            <a:off x="3886200" y="3352800"/>
            <a:ext cx="1066800" cy="1588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3810000" y="3962400"/>
            <a:ext cx="1066800" cy="1588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>
            <a:off x="3886200" y="4495800"/>
            <a:ext cx="1066800" cy="1588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827212"/>
            <a:ext cx="7693025" cy="4421187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2. The highest analysis (grade) solid N fertilizer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ammonium sulfate</a:t>
            </a:r>
          </a:p>
          <a:p>
            <a:pPr>
              <a:buNone/>
            </a:pPr>
            <a:r>
              <a:rPr lang="en-PH" dirty="0" smtClean="0"/>
              <a:t>	b. anhydrous ammonia</a:t>
            </a:r>
          </a:p>
          <a:p>
            <a:pPr>
              <a:buNone/>
            </a:pPr>
            <a:r>
              <a:rPr lang="en-PH" dirty="0" smtClean="0"/>
              <a:t>	c. urea</a:t>
            </a:r>
          </a:p>
          <a:p>
            <a:pPr>
              <a:buNone/>
            </a:pPr>
            <a:r>
              <a:rPr lang="en-PH" dirty="0" smtClean="0"/>
              <a:t>	d. ammonium nitrate</a:t>
            </a:r>
          </a:p>
          <a:p>
            <a:pPr>
              <a:buNone/>
            </a:pPr>
            <a:r>
              <a:rPr lang="en-PH" dirty="0" smtClean="0"/>
              <a:t>	</a:t>
            </a:r>
          </a:p>
          <a:p>
            <a:pPr>
              <a:buNone/>
            </a:pP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27212"/>
            <a:ext cx="8153400" cy="4421187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3. The reaction during biological N fixation</a:t>
            </a:r>
          </a:p>
          <a:p>
            <a:pPr>
              <a:spcBef>
                <a:spcPts val="0"/>
              </a:spcBef>
              <a:buNone/>
            </a:pPr>
            <a:r>
              <a:rPr lang="en-PH" dirty="0" smtClean="0"/>
              <a:t>                    </a:t>
            </a:r>
          </a:p>
          <a:p>
            <a:pPr>
              <a:spcBef>
                <a:spcPts val="0"/>
              </a:spcBef>
              <a:buNone/>
            </a:pPr>
            <a:r>
              <a:rPr lang="en-PH" dirty="0" smtClean="0"/>
              <a:t>	a. N</a:t>
            </a:r>
            <a:r>
              <a:rPr lang="en-PH" baseline="-25000" dirty="0" smtClean="0"/>
              <a:t>2</a:t>
            </a:r>
            <a:r>
              <a:rPr lang="en-PH" dirty="0" smtClean="0"/>
              <a:t>       </a:t>
            </a:r>
            <a:r>
              <a:rPr lang="en-PH" dirty="0" err="1" smtClean="0"/>
              <a:t>nitrogenase</a:t>
            </a:r>
            <a:r>
              <a:rPr lang="en-PH" dirty="0" smtClean="0"/>
              <a:t>    NH</a:t>
            </a:r>
            <a:r>
              <a:rPr lang="en-PH" baseline="-25000" dirty="0" smtClean="0"/>
              <a:t>3</a:t>
            </a:r>
          </a:p>
          <a:p>
            <a:pPr>
              <a:spcBef>
                <a:spcPts val="0"/>
              </a:spcBef>
              <a:buNone/>
            </a:pPr>
            <a:endParaRPr lang="en-PH" baseline="-25000" dirty="0" smtClean="0"/>
          </a:p>
          <a:p>
            <a:pPr>
              <a:spcBef>
                <a:spcPts val="0"/>
              </a:spcBef>
              <a:buNone/>
            </a:pPr>
            <a:r>
              <a:rPr lang="en-PH" baseline="-25000" dirty="0" smtClean="0"/>
              <a:t> </a:t>
            </a:r>
            <a:r>
              <a:rPr lang="en-PH" dirty="0" smtClean="0"/>
              <a:t>  b. N</a:t>
            </a:r>
            <a:r>
              <a:rPr lang="en-PH" baseline="-25000" dirty="0" smtClean="0"/>
              <a:t>2</a:t>
            </a:r>
            <a:r>
              <a:rPr lang="en-PH" dirty="0" smtClean="0"/>
              <a:t> + H</a:t>
            </a:r>
            <a:r>
              <a:rPr lang="en-PH" baseline="-25000" dirty="0" smtClean="0"/>
              <a:t>2</a:t>
            </a:r>
            <a:r>
              <a:rPr lang="en-PH" dirty="0" smtClean="0"/>
              <a:t>O              amino acid</a:t>
            </a:r>
          </a:p>
          <a:p>
            <a:pPr>
              <a:spcBef>
                <a:spcPts val="0"/>
              </a:spcBef>
              <a:buNone/>
            </a:pPr>
            <a:endParaRPr lang="en-PH" baseline="-25000" dirty="0" smtClean="0"/>
          </a:p>
          <a:p>
            <a:pPr>
              <a:spcBef>
                <a:spcPts val="0"/>
              </a:spcBef>
              <a:buNone/>
            </a:pPr>
            <a:r>
              <a:rPr lang="en-PH" baseline="-25000" dirty="0" smtClean="0"/>
              <a:t>  </a:t>
            </a:r>
            <a:r>
              <a:rPr lang="en-PH" dirty="0" smtClean="0"/>
              <a:t>  c. N</a:t>
            </a:r>
            <a:r>
              <a:rPr lang="en-PH" baseline="-25000" dirty="0" smtClean="0"/>
              <a:t>2</a:t>
            </a:r>
            <a:r>
              <a:rPr lang="en-PH" dirty="0" smtClean="0"/>
              <a:t> + H</a:t>
            </a:r>
            <a:r>
              <a:rPr lang="en-PH" baseline="-25000" dirty="0" smtClean="0"/>
              <a:t>2</a:t>
            </a:r>
            <a:r>
              <a:rPr lang="en-PH" dirty="0" smtClean="0"/>
              <a:t>O              protein</a:t>
            </a:r>
          </a:p>
          <a:p>
            <a:pPr>
              <a:spcBef>
                <a:spcPts val="0"/>
              </a:spcBef>
              <a:buNone/>
            </a:pPr>
            <a:endParaRPr lang="en-PH" baseline="-25000" dirty="0" smtClean="0"/>
          </a:p>
          <a:p>
            <a:pPr>
              <a:spcBef>
                <a:spcPts val="0"/>
              </a:spcBef>
              <a:buNone/>
            </a:pPr>
            <a:r>
              <a:rPr lang="en-PH" baseline="-25000" dirty="0" smtClean="0"/>
              <a:t> </a:t>
            </a:r>
            <a:r>
              <a:rPr lang="en-PH" dirty="0" smtClean="0"/>
              <a:t>   d. N</a:t>
            </a:r>
            <a:r>
              <a:rPr lang="en-PH" baseline="-25000" dirty="0" smtClean="0"/>
              <a:t>2</a:t>
            </a:r>
            <a:r>
              <a:rPr lang="en-PH" dirty="0" smtClean="0"/>
              <a:t> + H</a:t>
            </a:r>
            <a:r>
              <a:rPr lang="en-PH" baseline="-25000" dirty="0" smtClean="0"/>
              <a:t>2 </a:t>
            </a:r>
            <a:r>
              <a:rPr lang="en-PH" dirty="0" smtClean="0"/>
              <a:t>               ammonium sulfate</a:t>
            </a:r>
            <a:r>
              <a:rPr lang="en-PH" baseline="-25000" dirty="0" smtClean="0"/>
              <a:t>                      </a:t>
            </a:r>
            <a:r>
              <a:rPr lang="en-PH" dirty="0" smtClean="0"/>
              <a:t>  </a:t>
            </a:r>
            <a:endParaRPr lang="en-PH" baseline="-25000" dirty="0" smtClean="0"/>
          </a:p>
          <a:p>
            <a:pPr>
              <a:buNone/>
            </a:pPr>
            <a:endParaRPr lang="en-PH" baseline="-25000" dirty="0" smtClean="0"/>
          </a:p>
          <a:p>
            <a:pPr>
              <a:buNone/>
            </a:pPr>
            <a:endParaRPr lang="en-PH" baseline="-25000" dirty="0" smtClean="0"/>
          </a:p>
          <a:p>
            <a:pPr>
              <a:buNone/>
            </a:pPr>
            <a:endParaRPr lang="en-PH" baseline="-25000" dirty="0" smtClean="0"/>
          </a:p>
          <a:p>
            <a:pPr>
              <a:buNone/>
            </a:pPr>
            <a:endParaRPr lang="en-PH" baseline="-25000" dirty="0" smtClean="0"/>
          </a:p>
          <a:p>
            <a:pPr>
              <a:buNone/>
            </a:pPr>
            <a:endParaRPr lang="en-PH" baseline="-25000" dirty="0" smtClean="0"/>
          </a:p>
          <a:p>
            <a:pPr>
              <a:buNone/>
            </a:pPr>
            <a:endParaRPr lang="en-PH" baseline="-25000" dirty="0" smtClean="0"/>
          </a:p>
          <a:p>
            <a:pPr>
              <a:buNone/>
            </a:pPr>
            <a:r>
              <a:rPr lang="en-PH" baseline="-25000" dirty="0" smtClean="0"/>
              <a:t>	</a:t>
            </a:r>
            <a:endParaRPr lang="en-PH" dirty="0"/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2971800" y="3200400"/>
            <a:ext cx="2209800" cy="1588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>
            <a:off x="3429000" y="3733800"/>
            <a:ext cx="1524000" cy="1588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>
            <a:off x="3429000" y="4495800"/>
            <a:ext cx="1524000" cy="1588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3352800" y="5257800"/>
            <a:ext cx="1524000" cy="1588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7212"/>
            <a:ext cx="7845425" cy="4421187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4. The enzyme needed to transform urea to (NH</a:t>
            </a:r>
            <a:r>
              <a:rPr lang="en-PH" baseline="-25000" dirty="0" smtClean="0"/>
              <a:t>4</a:t>
            </a:r>
            <a:r>
              <a:rPr lang="en-PH" dirty="0" smtClean="0"/>
              <a:t>)</a:t>
            </a:r>
            <a:r>
              <a:rPr lang="en-PH" baseline="-25000" dirty="0" smtClean="0"/>
              <a:t>2</a:t>
            </a:r>
            <a:r>
              <a:rPr lang="en-PH" dirty="0" smtClean="0"/>
              <a:t>CO</a:t>
            </a:r>
            <a:r>
              <a:rPr lang="en-PH" baseline="-25000" dirty="0" smtClean="0"/>
              <a:t>3</a:t>
            </a:r>
            <a:r>
              <a:rPr lang="en-PH" dirty="0" smtClean="0"/>
              <a:t> in soil.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</a:t>
            </a:r>
            <a:r>
              <a:rPr lang="en-PH" dirty="0" err="1" smtClean="0"/>
              <a:t>carboxylase</a:t>
            </a:r>
            <a:endParaRPr lang="en-PH" dirty="0" smtClean="0"/>
          </a:p>
          <a:p>
            <a:pPr>
              <a:buNone/>
            </a:pPr>
            <a:r>
              <a:rPr lang="en-PH" dirty="0" smtClean="0"/>
              <a:t>	b. </a:t>
            </a:r>
            <a:r>
              <a:rPr lang="en-PH" dirty="0" err="1" smtClean="0"/>
              <a:t>anhydrase</a:t>
            </a:r>
            <a:endParaRPr lang="en-PH" dirty="0" smtClean="0"/>
          </a:p>
          <a:p>
            <a:pPr>
              <a:buNone/>
            </a:pPr>
            <a:r>
              <a:rPr lang="en-PH" dirty="0" smtClean="0"/>
              <a:t>	c. uric acid</a:t>
            </a:r>
          </a:p>
          <a:p>
            <a:pPr>
              <a:buNone/>
            </a:pPr>
            <a:r>
              <a:rPr lang="en-PH" dirty="0" smtClean="0"/>
              <a:t>	d. </a:t>
            </a:r>
            <a:r>
              <a:rPr lang="en-PH" dirty="0" err="1" smtClean="0"/>
              <a:t>silicic</a:t>
            </a:r>
            <a:r>
              <a:rPr lang="en-PH" dirty="0" smtClean="0"/>
              <a:t> acid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153400" cy="4341813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5. The weak acid formed upon hydrolysis and subsequent reaction of urea in soils.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acetic acid</a:t>
            </a:r>
          </a:p>
          <a:p>
            <a:pPr>
              <a:buNone/>
            </a:pPr>
            <a:r>
              <a:rPr lang="en-PH" dirty="0" smtClean="0"/>
              <a:t>	b. carbonic acid</a:t>
            </a:r>
          </a:p>
          <a:p>
            <a:pPr>
              <a:buNone/>
            </a:pPr>
            <a:r>
              <a:rPr lang="en-PH" dirty="0" smtClean="0"/>
              <a:t>	c. uric acid</a:t>
            </a:r>
          </a:p>
          <a:p>
            <a:pPr>
              <a:buNone/>
            </a:pPr>
            <a:r>
              <a:rPr lang="en-PH" dirty="0" smtClean="0"/>
              <a:t>	d. </a:t>
            </a:r>
            <a:r>
              <a:rPr lang="en-PH" dirty="0" err="1" smtClean="0"/>
              <a:t>silicic</a:t>
            </a:r>
            <a:r>
              <a:rPr lang="en-PH" dirty="0" smtClean="0"/>
              <a:t> acid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76400"/>
            <a:ext cx="8229600" cy="4265613"/>
          </a:xfrm>
        </p:spPr>
        <p:txBody>
          <a:bodyPr/>
          <a:lstStyle/>
          <a:p>
            <a:pPr algn="just">
              <a:buNone/>
            </a:pPr>
            <a:r>
              <a:rPr lang="en-PH" dirty="0" smtClean="0"/>
              <a:t>6. The other essential nutrient element present in ammonium sulfate but absent in urea.</a:t>
            </a:r>
          </a:p>
          <a:p>
            <a:pPr algn="just">
              <a:buNone/>
            </a:pPr>
            <a:endParaRPr lang="en-PH" dirty="0" smtClean="0"/>
          </a:p>
          <a:p>
            <a:pPr algn="just">
              <a:buNone/>
            </a:pPr>
            <a:r>
              <a:rPr lang="en-PH" dirty="0" smtClean="0"/>
              <a:t>	a. calcium</a:t>
            </a:r>
          </a:p>
          <a:p>
            <a:pPr algn="just">
              <a:buNone/>
            </a:pPr>
            <a:r>
              <a:rPr lang="en-PH" dirty="0" smtClean="0"/>
              <a:t>	b. sulfur</a:t>
            </a:r>
          </a:p>
          <a:p>
            <a:pPr algn="just">
              <a:buNone/>
            </a:pPr>
            <a:r>
              <a:rPr lang="en-PH" dirty="0" smtClean="0"/>
              <a:t>	c. iron</a:t>
            </a:r>
          </a:p>
          <a:p>
            <a:pPr algn="just">
              <a:buNone/>
            </a:pPr>
            <a:r>
              <a:rPr lang="en-PH" dirty="0" smtClean="0"/>
              <a:t>	d. magnesium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7213"/>
            <a:ext cx="7845425" cy="4114800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7. The percent N, P</a:t>
            </a:r>
            <a:r>
              <a:rPr lang="en-PH" baseline="-25000" dirty="0" smtClean="0"/>
              <a:t>2</a:t>
            </a:r>
            <a:r>
              <a:rPr lang="en-PH" dirty="0" smtClean="0"/>
              <a:t>O</a:t>
            </a:r>
            <a:r>
              <a:rPr lang="en-PH" baseline="-25000" dirty="0" smtClean="0"/>
              <a:t>5</a:t>
            </a:r>
            <a:r>
              <a:rPr lang="en-PH" dirty="0" smtClean="0"/>
              <a:t> and K</a:t>
            </a:r>
            <a:r>
              <a:rPr lang="en-PH" baseline="-25000" dirty="0" smtClean="0"/>
              <a:t>2</a:t>
            </a:r>
            <a:r>
              <a:rPr lang="en-PH" dirty="0" smtClean="0"/>
              <a:t>O in a fertilizer is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fertilizer ratio</a:t>
            </a:r>
          </a:p>
          <a:p>
            <a:pPr>
              <a:buNone/>
            </a:pPr>
            <a:r>
              <a:rPr lang="en-PH" dirty="0" smtClean="0"/>
              <a:t>	b. fertilizer grade</a:t>
            </a:r>
          </a:p>
          <a:p>
            <a:pPr>
              <a:buNone/>
            </a:pPr>
            <a:r>
              <a:rPr lang="en-PH" dirty="0" smtClean="0"/>
              <a:t>	c. fertilizer recommendation</a:t>
            </a:r>
          </a:p>
          <a:p>
            <a:pPr>
              <a:buNone/>
            </a:pPr>
            <a:r>
              <a:rPr lang="en-PH" dirty="0" smtClean="0"/>
              <a:t>	d. fertilizer brand</a:t>
            </a:r>
          </a:p>
          <a:p>
            <a:pPr>
              <a:buNone/>
            </a:pPr>
            <a:endParaRPr lang="en-PH" baseline="-25000" dirty="0" smtClean="0"/>
          </a:p>
          <a:p>
            <a:pPr>
              <a:buNone/>
            </a:pP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827213"/>
            <a:ext cx="7921625" cy="4114800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8. A single-element or straight fertilizer.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complete fertilizer (14-14-14)</a:t>
            </a:r>
          </a:p>
          <a:p>
            <a:pPr>
              <a:buNone/>
            </a:pPr>
            <a:r>
              <a:rPr lang="en-PH" dirty="0" smtClean="0"/>
              <a:t>	b. ammonium phosphate</a:t>
            </a:r>
          </a:p>
          <a:p>
            <a:pPr>
              <a:buNone/>
            </a:pPr>
            <a:r>
              <a:rPr lang="en-PH" dirty="0" smtClean="0"/>
              <a:t>	c. urea</a:t>
            </a:r>
          </a:p>
          <a:p>
            <a:pPr>
              <a:buNone/>
            </a:pPr>
            <a:r>
              <a:rPr lang="en-PH" dirty="0" smtClean="0"/>
              <a:t>	d. all of the above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827213"/>
            <a:ext cx="8077200" cy="4114800"/>
          </a:xfrm>
        </p:spPr>
        <p:txBody>
          <a:bodyPr/>
          <a:lstStyle/>
          <a:p>
            <a:pPr algn="just">
              <a:buNone/>
            </a:pPr>
            <a:r>
              <a:rPr lang="en-PH" dirty="0" smtClean="0"/>
              <a:t>9. The fertilizer nutrients that are generally applied all at planting time (basal).</a:t>
            </a:r>
          </a:p>
          <a:p>
            <a:pPr algn="just">
              <a:buNone/>
            </a:pPr>
            <a:endParaRPr lang="en-PH" dirty="0" smtClean="0"/>
          </a:p>
          <a:p>
            <a:pPr algn="just">
              <a:buNone/>
            </a:pPr>
            <a:r>
              <a:rPr lang="en-PH" dirty="0" smtClean="0"/>
              <a:t>	a. N and P</a:t>
            </a:r>
          </a:p>
          <a:p>
            <a:pPr algn="just">
              <a:buNone/>
            </a:pPr>
            <a:r>
              <a:rPr lang="en-PH" dirty="0" smtClean="0"/>
              <a:t>	b. P and K</a:t>
            </a:r>
          </a:p>
          <a:p>
            <a:pPr algn="just">
              <a:buNone/>
            </a:pPr>
            <a:r>
              <a:rPr lang="en-PH" dirty="0" smtClean="0"/>
              <a:t>	c. N and K</a:t>
            </a:r>
          </a:p>
          <a:p>
            <a:pPr algn="just">
              <a:buNone/>
            </a:pPr>
            <a:r>
              <a:rPr lang="en-PH" dirty="0" smtClean="0"/>
              <a:t>	d. P and Ca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7213"/>
            <a:ext cx="7845425" cy="4114800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10. The fertilizer nutrients which are usually split applied.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N and K</a:t>
            </a:r>
          </a:p>
          <a:p>
            <a:pPr>
              <a:buNone/>
            </a:pPr>
            <a:r>
              <a:rPr lang="en-PH" dirty="0" smtClean="0"/>
              <a:t>	b. P and K</a:t>
            </a:r>
          </a:p>
          <a:p>
            <a:pPr>
              <a:buNone/>
            </a:pPr>
            <a:r>
              <a:rPr lang="en-PH" dirty="0" smtClean="0"/>
              <a:t>	c. N and P</a:t>
            </a:r>
          </a:p>
          <a:p>
            <a:pPr>
              <a:buNone/>
            </a:pPr>
            <a:r>
              <a:rPr lang="en-PH" dirty="0" smtClean="0"/>
              <a:t>	d. N and S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153400" cy="5029200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11. The available form of nitrogen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N</a:t>
            </a:r>
            <a:r>
              <a:rPr lang="en-PH" baseline="-25000" dirty="0" smtClean="0"/>
              <a:t>2</a:t>
            </a:r>
            <a:r>
              <a:rPr lang="en-PH" dirty="0" smtClean="0"/>
              <a:t>      b. N</a:t>
            </a:r>
            <a:r>
              <a:rPr lang="en-PH" baseline="-25000" dirty="0" smtClean="0"/>
              <a:t>2</a:t>
            </a:r>
            <a:r>
              <a:rPr lang="en-PH" dirty="0" smtClean="0"/>
              <a:t>O    c. NH</a:t>
            </a:r>
            <a:r>
              <a:rPr lang="en-PH" baseline="-25000" dirty="0" smtClean="0"/>
              <a:t>4</a:t>
            </a:r>
            <a:r>
              <a:rPr lang="en-PH" baseline="30000" dirty="0" smtClean="0"/>
              <a:t>+</a:t>
            </a:r>
            <a:r>
              <a:rPr lang="en-PH" dirty="0" smtClean="0"/>
              <a:t>  d. NH</a:t>
            </a:r>
            <a:r>
              <a:rPr lang="en-PH" baseline="-25000" dirty="0" smtClean="0"/>
              <a:t>3 </a:t>
            </a:r>
            <a:r>
              <a:rPr lang="en-PH" dirty="0" smtClean="0"/>
              <a:t>  </a:t>
            </a:r>
            <a:r>
              <a:rPr lang="en-PH" baseline="-25000" dirty="0" smtClean="0"/>
              <a:t> </a:t>
            </a:r>
            <a:r>
              <a:rPr lang="en-PH" dirty="0" smtClean="0"/>
              <a:t>  </a:t>
            </a:r>
          </a:p>
          <a:p>
            <a:pPr>
              <a:buNone/>
            </a:pPr>
            <a:endParaRPr lang="en-PH" dirty="0" smtClean="0"/>
          </a:p>
          <a:p>
            <a:pPr algn="just">
              <a:buNone/>
            </a:pPr>
            <a:r>
              <a:rPr lang="en-PH" dirty="0" smtClean="0"/>
              <a:t>12. Enzyme in nitrogen transformation in legumes.</a:t>
            </a:r>
          </a:p>
          <a:p>
            <a:pPr algn="just">
              <a:buNone/>
            </a:pPr>
            <a:endParaRPr lang="en-PH" dirty="0" smtClean="0"/>
          </a:p>
          <a:p>
            <a:pPr algn="just">
              <a:buNone/>
            </a:pPr>
            <a:r>
              <a:rPr lang="en-PH" dirty="0" smtClean="0"/>
              <a:t>	a. </a:t>
            </a:r>
            <a:r>
              <a:rPr lang="en-PH" dirty="0" err="1" smtClean="0"/>
              <a:t>Nitrogenase</a:t>
            </a:r>
            <a:r>
              <a:rPr lang="en-PH" dirty="0" smtClean="0"/>
              <a:t>            c. </a:t>
            </a:r>
            <a:r>
              <a:rPr lang="en-PH" dirty="0" err="1" smtClean="0"/>
              <a:t>decarboxylase</a:t>
            </a:r>
            <a:endParaRPr lang="en-PH" dirty="0" smtClean="0"/>
          </a:p>
          <a:p>
            <a:pPr algn="just">
              <a:buNone/>
            </a:pPr>
            <a:r>
              <a:rPr lang="en-PH" dirty="0" smtClean="0"/>
              <a:t>	b. </a:t>
            </a:r>
            <a:r>
              <a:rPr lang="en-PH" dirty="0" err="1" smtClean="0"/>
              <a:t>dehydrogenase</a:t>
            </a:r>
            <a:r>
              <a:rPr lang="en-PH" dirty="0" smtClean="0"/>
              <a:t>       d. </a:t>
            </a:r>
            <a:r>
              <a:rPr lang="en-PH" dirty="0" err="1" smtClean="0"/>
              <a:t>anhydrase</a:t>
            </a:r>
            <a:endParaRPr lang="en-PH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7921625" cy="5029200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13. This ratio determines mineralization rate of organic matter.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N/S     b. C/N     c. P/N      d. N/K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14. Application of N fertilizer in Alkaline soils causes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NH</a:t>
            </a:r>
            <a:r>
              <a:rPr lang="en-PH" baseline="-25000" dirty="0" smtClean="0"/>
              <a:t>3</a:t>
            </a:r>
            <a:r>
              <a:rPr lang="en-PH" dirty="0" smtClean="0"/>
              <a:t> volatilization     c. </a:t>
            </a:r>
            <a:r>
              <a:rPr lang="en-PH" dirty="0" err="1" smtClean="0"/>
              <a:t>denitrification</a:t>
            </a:r>
            <a:endParaRPr lang="en-PH" dirty="0" smtClean="0"/>
          </a:p>
          <a:p>
            <a:pPr>
              <a:buNone/>
            </a:pPr>
            <a:r>
              <a:rPr lang="en-PH" dirty="0" smtClean="0"/>
              <a:t>	b. nitrification</a:t>
            </a:r>
          </a:p>
          <a:p>
            <a:pPr>
              <a:buNone/>
            </a:pPr>
            <a:r>
              <a:rPr lang="en-PH" dirty="0" smtClean="0"/>
              <a:t> 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305800" cy="5029199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15. This is an acid forming reaction of NH</a:t>
            </a:r>
            <a:r>
              <a:rPr lang="en-PH" baseline="-25000" dirty="0" smtClean="0"/>
              <a:t>4</a:t>
            </a:r>
            <a:r>
              <a:rPr lang="en-PH" baseline="30000" dirty="0" smtClean="0"/>
              <a:t>+</a:t>
            </a:r>
          </a:p>
          <a:p>
            <a:pPr>
              <a:buNone/>
            </a:pPr>
            <a:endParaRPr lang="en-PH" baseline="30000" dirty="0" smtClean="0"/>
          </a:p>
          <a:p>
            <a:pPr>
              <a:buNone/>
            </a:pPr>
            <a:r>
              <a:rPr lang="en-PH" baseline="30000" dirty="0" smtClean="0"/>
              <a:t> </a:t>
            </a:r>
            <a:r>
              <a:rPr lang="en-PH" dirty="0" smtClean="0"/>
              <a:t>  a. nitrification           c. </a:t>
            </a:r>
            <a:r>
              <a:rPr lang="en-PH" dirty="0" err="1" smtClean="0"/>
              <a:t>ammonification</a:t>
            </a:r>
            <a:endParaRPr lang="en-PH" dirty="0" smtClean="0"/>
          </a:p>
          <a:p>
            <a:pPr>
              <a:buNone/>
            </a:pPr>
            <a:r>
              <a:rPr lang="en-PH" dirty="0" smtClean="0"/>
              <a:t>	b. </a:t>
            </a:r>
            <a:r>
              <a:rPr lang="en-PH" dirty="0" err="1" smtClean="0"/>
              <a:t>denitrification</a:t>
            </a:r>
            <a:r>
              <a:rPr lang="en-PH" dirty="0" smtClean="0"/>
              <a:t>        d. mineralization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16. This metal ion is usually present in toxic amounts in strongly acidic soils.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aluminum             c. potassium</a:t>
            </a:r>
          </a:p>
          <a:p>
            <a:pPr>
              <a:buNone/>
            </a:pPr>
            <a:r>
              <a:rPr lang="en-PH" dirty="0" smtClean="0"/>
              <a:t>	b. calcium                d. magnesium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827213"/>
            <a:ext cx="7921625" cy="4114800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17. Binding of an organic compound and metal ion.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coordination</a:t>
            </a:r>
          </a:p>
          <a:p>
            <a:pPr>
              <a:buNone/>
            </a:pPr>
            <a:r>
              <a:rPr lang="en-PH" dirty="0" smtClean="0"/>
              <a:t>	b. </a:t>
            </a:r>
            <a:r>
              <a:rPr lang="en-PH" dirty="0" err="1" smtClean="0"/>
              <a:t>complexation</a:t>
            </a:r>
            <a:endParaRPr lang="en-PH" dirty="0" smtClean="0"/>
          </a:p>
          <a:p>
            <a:pPr>
              <a:buNone/>
            </a:pPr>
            <a:r>
              <a:rPr lang="en-PH" dirty="0" smtClean="0"/>
              <a:t>	c. </a:t>
            </a:r>
            <a:r>
              <a:rPr lang="en-PH" dirty="0" err="1" smtClean="0"/>
              <a:t>chelation</a:t>
            </a:r>
            <a:endParaRPr lang="en-PH" dirty="0" smtClean="0"/>
          </a:p>
          <a:p>
            <a:pPr>
              <a:buNone/>
            </a:pPr>
            <a:r>
              <a:rPr lang="en-PH" dirty="0" smtClean="0"/>
              <a:t>	d. oxidation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27212"/>
            <a:ext cx="7924800" cy="4573587"/>
          </a:xfrm>
        </p:spPr>
        <p:txBody>
          <a:bodyPr/>
          <a:lstStyle/>
          <a:p>
            <a:pPr algn="just">
              <a:buNone/>
            </a:pPr>
            <a:r>
              <a:rPr lang="en-PH" dirty="0" smtClean="0"/>
              <a:t>18. Most micronutrients become less available at.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decreasing soil pH</a:t>
            </a:r>
          </a:p>
          <a:p>
            <a:pPr>
              <a:buNone/>
            </a:pPr>
            <a:r>
              <a:rPr lang="en-PH" dirty="0" smtClean="0"/>
              <a:t>	b. increasing pH   </a:t>
            </a:r>
          </a:p>
          <a:p>
            <a:pPr>
              <a:buNone/>
            </a:pPr>
            <a:r>
              <a:rPr lang="en-PH" dirty="0" smtClean="0"/>
              <a:t>	c. neutral pH     </a:t>
            </a:r>
          </a:p>
          <a:p>
            <a:pPr>
              <a:buNone/>
            </a:pPr>
            <a:r>
              <a:rPr lang="en-PH" dirty="0" smtClean="0"/>
              <a:t>	d. strongly acid pH 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827213"/>
            <a:ext cx="8458200" cy="4114800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19. When nutrients are immobile, deficiency first shows up in.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youngest leaves</a:t>
            </a:r>
          </a:p>
          <a:p>
            <a:pPr>
              <a:buNone/>
            </a:pPr>
            <a:r>
              <a:rPr lang="en-PH" dirty="0" smtClean="0"/>
              <a:t>	b. oldest leaves</a:t>
            </a:r>
          </a:p>
          <a:p>
            <a:pPr>
              <a:buNone/>
            </a:pPr>
            <a:r>
              <a:rPr lang="en-PH" dirty="0" smtClean="0"/>
              <a:t>	c. senescent leaves</a:t>
            </a:r>
          </a:p>
          <a:p>
            <a:pPr>
              <a:buNone/>
            </a:pPr>
            <a:r>
              <a:rPr lang="en-PH" dirty="0" smtClean="0"/>
              <a:t>	d. stems</a:t>
            </a:r>
          </a:p>
          <a:p>
            <a:pPr>
              <a:buNone/>
            </a:pP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696200" cy="4419600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20. Deficiency of these elements causes </a:t>
            </a:r>
            <a:r>
              <a:rPr lang="en-PH" dirty="0" err="1" smtClean="0"/>
              <a:t>chlorosis</a:t>
            </a:r>
            <a:r>
              <a:rPr lang="en-PH" dirty="0" smtClean="0"/>
              <a:t>.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N and Ca		</a:t>
            </a:r>
          </a:p>
          <a:p>
            <a:pPr>
              <a:buNone/>
            </a:pPr>
            <a:r>
              <a:rPr lang="en-PH" dirty="0" smtClean="0"/>
              <a:t>	b. P and Ca		</a:t>
            </a:r>
          </a:p>
          <a:p>
            <a:pPr>
              <a:buNone/>
            </a:pPr>
            <a:r>
              <a:rPr lang="en-PH" dirty="0" smtClean="0"/>
              <a:t>	c. N and S</a:t>
            </a:r>
          </a:p>
          <a:p>
            <a:pPr>
              <a:buNone/>
            </a:pPr>
            <a:r>
              <a:rPr lang="en-PH" dirty="0" smtClean="0"/>
              <a:t>	d. Fe and </a:t>
            </a:r>
            <a:r>
              <a:rPr lang="en-PH" dirty="0" err="1" smtClean="0"/>
              <a:t>Cl</a:t>
            </a:r>
            <a:endParaRPr lang="en-PH" dirty="0" smtClean="0"/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</a:t>
            </a:r>
          </a:p>
          <a:p>
            <a:pPr>
              <a:buNone/>
            </a:pPr>
            <a:r>
              <a:rPr lang="en-PH" dirty="0" smtClean="0"/>
              <a:t>	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827213"/>
            <a:ext cx="7921625" cy="4114800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21. Deficiency of sulfur first shows up as </a:t>
            </a:r>
            <a:r>
              <a:rPr lang="en-PH" dirty="0" err="1" smtClean="0"/>
              <a:t>chlorosis</a:t>
            </a:r>
            <a:r>
              <a:rPr lang="en-PH" dirty="0" smtClean="0"/>
              <a:t> of.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oldest leaves</a:t>
            </a:r>
          </a:p>
          <a:p>
            <a:pPr>
              <a:buNone/>
            </a:pPr>
            <a:r>
              <a:rPr lang="en-PH" dirty="0" smtClean="0"/>
              <a:t>	b. youngest leaves</a:t>
            </a:r>
          </a:p>
          <a:p>
            <a:pPr>
              <a:buNone/>
            </a:pPr>
            <a:r>
              <a:rPr lang="en-PH" dirty="0" smtClean="0"/>
              <a:t>	c. middle leaves</a:t>
            </a:r>
          </a:p>
          <a:p>
            <a:pPr>
              <a:buNone/>
            </a:pPr>
            <a:r>
              <a:rPr lang="en-PH" dirty="0" smtClean="0"/>
              <a:t>	d. stems</a:t>
            </a:r>
          </a:p>
          <a:p>
            <a:pPr>
              <a:buNone/>
            </a:pP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27213"/>
            <a:ext cx="7997825" cy="4114800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22. The suitable fertilizer for an alkaline N deficient soil.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anhydrous NH</a:t>
            </a:r>
            <a:r>
              <a:rPr lang="en-PH" baseline="-25000" dirty="0" smtClean="0"/>
              <a:t>3</a:t>
            </a:r>
            <a:r>
              <a:rPr lang="en-PH" dirty="0" smtClean="0"/>
              <a:t> </a:t>
            </a:r>
          </a:p>
          <a:p>
            <a:pPr>
              <a:buNone/>
            </a:pPr>
            <a:r>
              <a:rPr lang="en-PH" dirty="0" smtClean="0"/>
              <a:t>	b. urea</a:t>
            </a:r>
          </a:p>
          <a:p>
            <a:pPr>
              <a:buNone/>
            </a:pPr>
            <a:r>
              <a:rPr lang="en-PH" dirty="0" smtClean="0"/>
              <a:t>	c. calcium nitrate</a:t>
            </a:r>
          </a:p>
          <a:p>
            <a:pPr>
              <a:buNone/>
            </a:pPr>
            <a:r>
              <a:rPr lang="en-PH" dirty="0" smtClean="0"/>
              <a:t>	d.  Ammonium sulfate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827213"/>
            <a:ext cx="7921625" cy="4114800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23. The appropriate N fertilizer for a sulfur deficient soil.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urea</a:t>
            </a:r>
          </a:p>
          <a:p>
            <a:pPr>
              <a:buNone/>
            </a:pPr>
            <a:r>
              <a:rPr lang="en-PH" dirty="0" smtClean="0"/>
              <a:t>	b. ammonium nitrate</a:t>
            </a:r>
          </a:p>
          <a:p>
            <a:pPr>
              <a:buNone/>
            </a:pPr>
            <a:r>
              <a:rPr lang="en-PH" dirty="0" smtClean="0"/>
              <a:t>	c. potassium nitrate</a:t>
            </a:r>
          </a:p>
          <a:p>
            <a:pPr>
              <a:buNone/>
            </a:pPr>
            <a:r>
              <a:rPr lang="en-PH" dirty="0" smtClean="0"/>
              <a:t>	d. ammonium sulfate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382000" cy="5181600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24. Application of fertilizer at planting.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topdressing		c. band</a:t>
            </a:r>
          </a:p>
          <a:p>
            <a:pPr>
              <a:buNone/>
            </a:pPr>
            <a:r>
              <a:rPr lang="en-PH" dirty="0" smtClean="0"/>
              <a:t>	b. foliar				d. basal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25. Application of fertilizer after plant emergence 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basal                     c. foliar</a:t>
            </a:r>
          </a:p>
          <a:p>
            <a:pPr>
              <a:buNone/>
            </a:pPr>
            <a:r>
              <a:rPr lang="en-PH" dirty="0" smtClean="0"/>
              <a:t>	b. topdressing            d. deep placement</a:t>
            </a:r>
          </a:p>
          <a:p>
            <a:pPr>
              <a:buNone/>
            </a:pPr>
            <a:r>
              <a:rPr lang="en-PH" dirty="0" smtClean="0"/>
              <a:t>	</a:t>
            </a:r>
          </a:p>
          <a:p>
            <a:pPr>
              <a:buNone/>
            </a:pPr>
            <a:r>
              <a:rPr lang="en-PH" dirty="0" smtClean="0"/>
              <a:t>	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827213"/>
            <a:ext cx="8077200" cy="4114800"/>
          </a:xfrm>
        </p:spPr>
        <p:txBody>
          <a:bodyPr/>
          <a:lstStyle/>
          <a:p>
            <a:pPr algn="just">
              <a:buNone/>
            </a:pPr>
            <a:r>
              <a:rPr lang="en-PH" dirty="0" smtClean="0"/>
              <a:t>26. Major agent of soil erosion in the Philippines.</a:t>
            </a:r>
          </a:p>
          <a:p>
            <a:pPr algn="just">
              <a:buNone/>
            </a:pPr>
            <a:endParaRPr lang="en-PH" dirty="0" smtClean="0"/>
          </a:p>
          <a:p>
            <a:pPr algn="just">
              <a:buNone/>
            </a:pPr>
            <a:r>
              <a:rPr lang="en-PH" dirty="0" smtClean="0"/>
              <a:t>	a. wind</a:t>
            </a:r>
          </a:p>
          <a:p>
            <a:pPr algn="just">
              <a:buNone/>
            </a:pPr>
            <a:r>
              <a:rPr lang="en-PH" dirty="0" smtClean="0"/>
              <a:t>	b. water/rainfall</a:t>
            </a:r>
          </a:p>
          <a:p>
            <a:pPr algn="just">
              <a:buNone/>
            </a:pPr>
            <a:r>
              <a:rPr lang="en-PH" dirty="0" smtClean="0"/>
              <a:t>	c. animal traffic</a:t>
            </a:r>
          </a:p>
          <a:p>
            <a:pPr algn="just">
              <a:buNone/>
            </a:pPr>
            <a:r>
              <a:rPr lang="en-PH" dirty="0" smtClean="0"/>
              <a:t>	d. wind and water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827213"/>
            <a:ext cx="7921625" cy="4114800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27. This conservation practice dissipates raindrop impact.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terracing</a:t>
            </a:r>
          </a:p>
          <a:p>
            <a:pPr>
              <a:buNone/>
            </a:pPr>
            <a:r>
              <a:rPr lang="en-PH" dirty="0" smtClean="0"/>
              <a:t>	b. contour </a:t>
            </a:r>
            <a:r>
              <a:rPr lang="en-PH" dirty="0" err="1" smtClean="0"/>
              <a:t>plowing</a:t>
            </a:r>
            <a:endParaRPr lang="en-PH" dirty="0" smtClean="0"/>
          </a:p>
          <a:p>
            <a:pPr>
              <a:buNone/>
            </a:pPr>
            <a:r>
              <a:rPr lang="en-PH" dirty="0" smtClean="0"/>
              <a:t>	c. mulching</a:t>
            </a:r>
          </a:p>
          <a:p>
            <a:pPr>
              <a:buNone/>
            </a:pPr>
            <a:r>
              <a:rPr lang="en-PH" dirty="0" smtClean="0"/>
              <a:t>	d. grassed waterways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27213"/>
            <a:ext cx="7997825" cy="4114800"/>
          </a:xfrm>
        </p:spPr>
        <p:txBody>
          <a:bodyPr/>
          <a:lstStyle/>
          <a:p>
            <a:pPr>
              <a:buNone/>
            </a:pPr>
            <a:r>
              <a:rPr lang="en-PH" dirty="0" smtClean="0"/>
              <a:t>28. The first stage in soil erosion is.</a:t>
            </a:r>
          </a:p>
          <a:p>
            <a:pPr>
              <a:buNone/>
            </a:pPr>
            <a:endParaRPr lang="en-PH" dirty="0" smtClean="0"/>
          </a:p>
          <a:p>
            <a:pPr>
              <a:buNone/>
            </a:pPr>
            <a:r>
              <a:rPr lang="en-PH" dirty="0" smtClean="0"/>
              <a:t>	a. soil particle detachment</a:t>
            </a:r>
          </a:p>
          <a:p>
            <a:pPr>
              <a:buNone/>
            </a:pPr>
            <a:r>
              <a:rPr lang="en-PH" dirty="0" smtClean="0"/>
              <a:t>	b. entrainment</a:t>
            </a:r>
          </a:p>
          <a:p>
            <a:pPr>
              <a:buNone/>
            </a:pPr>
            <a:r>
              <a:rPr lang="en-PH" dirty="0" smtClean="0"/>
              <a:t>	c. deposition</a:t>
            </a:r>
          </a:p>
          <a:p>
            <a:pPr>
              <a:buNone/>
            </a:pPr>
            <a:r>
              <a:rPr lang="en-PH" dirty="0" smtClean="0"/>
              <a:t>	d. water infiltration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827213"/>
            <a:ext cx="8077200" cy="4114800"/>
          </a:xfrm>
        </p:spPr>
        <p:txBody>
          <a:bodyPr/>
          <a:lstStyle/>
          <a:p>
            <a:pPr algn="just">
              <a:buNone/>
            </a:pPr>
            <a:r>
              <a:rPr lang="en-PH" dirty="0" smtClean="0"/>
              <a:t>29. Soil conservation practice where hedges are grown along the contour lines.</a:t>
            </a:r>
          </a:p>
          <a:p>
            <a:pPr algn="just">
              <a:buNone/>
            </a:pPr>
            <a:endParaRPr lang="en-PH" dirty="0" smtClean="0"/>
          </a:p>
          <a:p>
            <a:pPr algn="just">
              <a:buNone/>
            </a:pPr>
            <a:r>
              <a:rPr lang="en-PH" dirty="0" smtClean="0"/>
              <a:t>	a. bench terracing</a:t>
            </a:r>
          </a:p>
          <a:p>
            <a:pPr algn="just">
              <a:buNone/>
            </a:pPr>
            <a:r>
              <a:rPr lang="en-PH" dirty="0" smtClean="0"/>
              <a:t>	b. cover cropping</a:t>
            </a:r>
          </a:p>
          <a:p>
            <a:pPr algn="just">
              <a:buNone/>
            </a:pPr>
            <a:r>
              <a:rPr lang="en-PH" dirty="0" smtClean="0"/>
              <a:t>	c. alley cropping</a:t>
            </a:r>
          </a:p>
          <a:p>
            <a:pPr algn="just">
              <a:buNone/>
            </a:pPr>
            <a:r>
              <a:rPr lang="en-PH" dirty="0" smtClean="0"/>
              <a:t>	d. farm pond construction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827213"/>
            <a:ext cx="7921625" cy="4114800"/>
          </a:xfrm>
        </p:spPr>
        <p:txBody>
          <a:bodyPr/>
          <a:lstStyle/>
          <a:p>
            <a:pPr algn="just">
              <a:buNone/>
            </a:pPr>
            <a:r>
              <a:rPr lang="en-PH" dirty="0" smtClean="0"/>
              <a:t>30. Soil loss through erosion can be calculated by the.</a:t>
            </a:r>
          </a:p>
          <a:p>
            <a:pPr algn="just">
              <a:buNone/>
            </a:pPr>
            <a:endParaRPr lang="en-PH" dirty="0" smtClean="0"/>
          </a:p>
          <a:p>
            <a:pPr algn="just">
              <a:buNone/>
            </a:pPr>
            <a:r>
              <a:rPr lang="en-PH" dirty="0" smtClean="0"/>
              <a:t>	a. </a:t>
            </a:r>
            <a:r>
              <a:rPr lang="en-PH" dirty="0" err="1" smtClean="0"/>
              <a:t>Mitscherlich</a:t>
            </a:r>
            <a:r>
              <a:rPr lang="en-PH" dirty="0" smtClean="0"/>
              <a:t> equation</a:t>
            </a:r>
          </a:p>
          <a:p>
            <a:pPr algn="just">
              <a:buNone/>
            </a:pPr>
            <a:r>
              <a:rPr lang="en-PH" dirty="0" smtClean="0"/>
              <a:t>	b. Universal soil loss equation</a:t>
            </a:r>
          </a:p>
          <a:p>
            <a:pPr algn="just">
              <a:buNone/>
            </a:pPr>
            <a:r>
              <a:rPr lang="en-PH" dirty="0" smtClean="0"/>
              <a:t>	c. Einstein’s relativity equation</a:t>
            </a:r>
          </a:p>
          <a:p>
            <a:pPr algn="just">
              <a:buNone/>
            </a:pPr>
            <a:r>
              <a:rPr lang="en-PH" dirty="0" smtClean="0"/>
              <a:t>	d. trigonometric equation.</a:t>
            </a:r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31. Sum of all tillage operation to conserve soil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A) Soil Conservation	</a:t>
            </a:r>
          </a:p>
          <a:p>
            <a:r>
              <a:rPr lang="en-US" dirty="0" smtClean="0"/>
              <a:t>B) Soil Management</a:t>
            </a:r>
          </a:p>
          <a:p>
            <a:r>
              <a:rPr lang="en-US" dirty="0" smtClean="0"/>
              <a:t>C) Soil </a:t>
            </a:r>
            <a:r>
              <a:rPr lang="en-US" dirty="0" err="1" smtClean="0"/>
              <a:t>tilth</a:t>
            </a:r>
            <a:endParaRPr lang="en-US" dirty="0" smtClean="0"/>
          </a:p>
          <a:p>
            <a:r>
              <a:rPr lang="en-US" dirty="0" smtClean="0"/>
              <a:t>All of the above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32. Natural process of erosion which is responsible for the formation of landscape</a:t>
            </a:r>
          </a:p>
          <a:p>
            <a:endParaRPr lang="en-US" dirty="0" smtClean="0"/>
          </a:p>
          <a:p>
            <a:pPr marL="514350" indent="-514350">
              <a:buAutoNum type="alphaLcParenR"/>
            </a:pPr>
            <a:r>
              <a:rPr lang="en-US" dirty="0" smtClean="0"/>
              <a:t>Geologic</a:t>
            </a:r>
          </a:p>
          <a:p>
            <a:pPr marL="514350" indent="-514350">
              <a:buAutoNum type="alphaLcParenR"/>
            </a:pPr>
            <a:r>
              <a:rPr lang="en-US" dirty="0" smtClean="0"/>
              <a:t>Accelerated</a:t>
            </a:r>
          </a:p>
          <a:p>
            <a:pPr marL="514350" indent="-514350">
              <a:buAutoNum type="alphaLcParenR"/>
            </a:pPr>
            <a:r>
              <a:rPr lang="en-US" dirty="0" smtClean="0"/>
              <a:t>Geologic/accelerated</a:t>
            </a:r>
          </a:p>
          <a:p>
            <a:pPr marL="514350" indent="-514350">
              <a:buAutoNum type="alphaLcParenR"/>
            </a:pPr>
            <a:r>
              <a:rPr lang="en-US" dirty="0" smtClean="0"/>
              <a:t>none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first stage of erosion</a:t>
            </a:r>
          </a:p>
          <a:p>
            <a:pPr lvl="1"/>
            <a:r>
              <a:rPr lang="en-US" dirty="0" smtClean="0"/>
              <a:t>A) splash</a:t>
            </a:r>
          </a:p>
          <a:p>
            <a:pPr lvl="1"/>
            <a:r>
              <a:rPr lang="en-US" dirty="0" smtClean="0"/>
              <a:t>B) stream bank erosion</a:t>
            </a:r>
          </a:p>
          <a:p>
            <a:pPr lvl="1"/>
            <a:r>
              <a:rPr lang="en-US" dirty="0" smtClean="0"/>
              <a:t>C) gully</a:t>
            </a:r>
          </a:p>
          <a:p>
            <a:pPr lvl="1"/>
            <a:r>
              <a:rPr lang="en-US" dirty="0" smtClean="0"/>
              <a:t>D) sheet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34. The upper part of soil is washed away in more or less uniform layers</a:t>
            </a:r>
          </a:p>
          <a:p>
            <a:pPr lvl="1"/>
            <a:r>
              <a:rPr lang="en-US" dirty="0" smtClean="0"/>
              <a:t>A) splash</a:t>
            </a:r>
          </a:p>
          <a:p>
            <a:pPr lvl="1"/>
            <a:r>
              <a:rPr lang="en-US" dirty="0" smtClean="0"/>
              <a:t>B) stream bank erosion</a:t>
            </a:r>
          </a:p>
          <a:p>
            <a:pPr lvl="1"/>
            <a:r>
              <a:rPr lang="en-US" dirty="0" smtClean="0"/>
              <a:t>C) gully</a:t>
            </a:r>
          </a:p>
          <a:p>
            <a:pPr lvl="1"/>
            <a:r>
              <a:rPr lang="en-US" dirty="0" smtClean="0"/>
              <a:t>D) sheet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35. Small yet well-defined channels are formed</a:t>
            </a:r>
          </a:p>
          <a:p>
            <a:pPr lvl="1"/>
            <a:r>
              <a:rPr lang="en-US" dirty="0" smtClean="0"/>
              <a:t>A) rill</a:t>
            </a:r>
          </a:p>
          <a:p>
            <a:pPr lvl="1"/>
            <a:r>
              <a:rPr lang="en-US" dirty="0" smtClean="0"/>
              <a:t>B) stream bank erosion</a:t>
            </a:r>
          </a:p>
          <a:p>
            <a:pPr lvl="1"/>
            <a:r>
              <a:rPr lang="en-US" dirty="0" smtClean="0"/>
              <a:t>C) gully</a:t>
            </a:r>
          </a:p>
          <a:p>
            <a:pPr lvl="1"/>
            <a:r>
              <a:rPr lang="en-US" dirty="0" smtClean="0"/>
              <a:t>D) sheet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36. It is the advanced stage of rill erosion where farm implements cannot function its normal operation</a:t>
            </a:r>
          </a:p>
          <a:p>
            <a:pPr lvl="1"/>
            <a:r>
              <a:rPr lang="en-US" dirty="0" smtClean="0"/>
              <a:t>A) rill</a:t>
            </a:r>
          </a:p>
          <a:p>
            <a:pPr lvl="1"/>
            <a:r>
              <a:rPr lang="en-US" dirty="0" smtClean="0"/>
              <a:t>B) stream bank erosion</a:t>
            </a:r>
          </a:p>
          <a:p>
            <a:pPr lvl="1"/>
            <a:r>
              <a:rPr lang="en-US" dirty="0" smtClean="0"/>
              <a:t>C) gully</a:t>
            </a:r>
          </a:p>
          <a:p>
            <a:pPr lvl="1"/>
            <a:r>
              <a:rPr lang="en-US" dirty="0" smtClean="0"/>
              <a:t>D) sheet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37. Erosion caused by meandering of streams/rivers</a:t>
            </a:r>
          </a:p>
          <a:p>
            <a:pPr lvl="1"/>
            <a:r>
              <a:rPr lang="en-US" dirty="0" smtClean="0"/>
              <a:t>A) rill</a:t>
            </a:r>
          </a:p>
          <a:p>
            <a:pPr lvl="1"/>
            <a:r>
              <a:rPr lang="en-US" dirty="0" smtClean="0"/>
              <a:t>B) stream bank erosion</a:t>
            </a:r>
          </a:p>
          <a:p>
            <a:pPr lvl="1"/>
            <a:r>
              <a:rPr lang="en-US" dirty="0" smtClean="0"/>
              <a:t>C) gully</a:t>
            </a:r>
          </a:p>
          <a:p>
            <a:pPr lvl="1"/>
            <a:r>
              <a:rPr lang="en-US" dirty="0" smtClean="0"/>
              <a:t>D) sheet</a:t>
            </a:r>
          </a:p>
          <a:p>
            <a:r>
              <a:rPr lang="en-US" dirty="0" smtClean="0"/>
              <a:t> 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38. Factors of soil erosion which refers to rainfall </a:t>
            </a:r>
            <a:r>
              <a:rPr lang="en-US" dirty="0" err="1" smtClean="0"/>
              <a:t>erosivity</a:t>
            </a:r>
            <a:endParaRPr lang="en-US" dirty="0" smtClean="0"/>
          </a:p>
          <a:p>
            <a:pPr lvl="1"/>
            <a:r>
              <a:rPr lang="en-US" dirty="0" smtClean="0"/>
              <a:t>A) R</a:t>
            </a:r>
          </a:p>
          <a:p>
            <a:pPr lvl="1"/>
            <a:r>
              <a:rPr lang="en-US" dirty="0" smtClean="0"/>
              <a:t>B) K</a:t>
            </a:r>
          </a:p>
          <a:p>
            <a:pPr lvl="1"/>
            <a:r>
              <a:rPr lang="en-US" dirty="0" smtClean="0"/>
              <a:t>C) L</a:t>
            </a:r>
          </a:p>
          <a:p>
            <a:pPr lvl="1"/>
            <a:r>
              <a:rPr lang="en-US" dirty="0" smtClean="0"/>
              <a:t>D) 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39. Factors of soil erosion which refers to soil </a:t>
            </a:r>
            <a:r>
              <a:rPr lang="en-US" dirty="0" err="1" smtClean="0"/>
              <a:t>erodibility</a:t>
            </a:r>
            <a:endParaRPr lang="en-US" dirty="0" smtClean="0"/>
          </a:p>
          <a:p>
            <a:pPr lvl="1"/>
            <a:r>
              <a:rPr lang="en-US" dirty="0" smtClean="0"/>
              <a:t>A) R</a:t>
            </a:r>
          </a:p>
          <a:p>
            <a:pPr lvl="1"/>
            <a:r>
              <a:rPr lang="en-US" dirty="0" smtClean="0"/>
              <a:t>B) K</a:t>
            </a:r>
          </a:p>
          <a:p>
            <a:pPr lvl="1"/>
            <a:r>
              <a:rPr lang="en-US" dirty="0" smtClean="0"/>
              <a:t>C) L</a:t>
            </a:r>
          </a:p>
          <a:p>
            <a:pPr lvl="1"/>
            <a:r>
              <a:rPr lang="en-US" dirty="0" smtClean="0"/>
              <a:t>D) S</a:t>
            </a:r>
          </a:p>
          <a:p>
            <a:pPr>
              <a:buNone/>
            </a:pPr>
            <a:r>
              <a:rPr lang="en-US" dirty="0" smtClean="0"/>
              <a:t>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39. Factors of soil erosion which refers to length of slope</a:t>
            </a:r>
          </a:p>
          <a:p>
            <a:pPr lvl="1"/>
            <a:r>
              <a:rPr lang="en-US" dirty="0" smtClean="0"/>
              <a:t>A) R</a:t>
            </a:r>
          </a:p>
          <a:p>
            <a:pPr lvl="1"/>
            <a:r>
              <a:rPr lang="en-US" dirty="0" smtClean="0"/>
              <a:t>B) K</a:t>
            </a:r>
          </a:p>
          <a:p>
            <a:pPr lvl="1"/>
            <a:r>
              <a:rPr lang="en-US" dirty="0" smtClean="0"/>
              <a:t>C) L</a:t>
            </a:r>
          </a:p>
          <a:p>
            <a:pPr lvl="1"/>
            <a:r>
              <a:rPr lang="en-US" dirty="0" smtClean="0"/>
              <a:t>D) 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of the on-site effects of soil erosion</a:t>
            </a:r>
          </a:p>
          <a:p>
            <a:r>
              <a:rPr lang="en-US" dirty="0" smtClean="0"/>
              <a:t>A) loss of topsoil</a:t>
            </a:r>
          </a:p>
          <a:p>
            <a:r>
              <a:rPr lang="en-US" dirty="0" smtClean="0"/>
              <a:t>B) increased flood flows</a:t>
            </a:r>
          </a:p>
          <a:p>
            <a:r>
              <a:rPr lang="en-US" dirty="0" smtClean="0"/>
              <a:t>C) Siltation of dam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Eclipse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Eclips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362</TotalTime>
  <Words>1520</Words>
  <Application>Microsoft Office PowerPoint</Application>
  <PresentationFormat>On-screen Show (4:3)</PresentationFormat>
  <Paragraphs>466</Paragraphs>
  <Slides>64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5" baseType="lpstr">
      <vt:lpstr>Theme1</vt:lpstr>
      <vt:lpstr>Soil Fertility and Management</vt:lpstr>
      <vt:lpstr>Soil fertility</vt:lpstr>
      <vt:lpstr>The essential elements</vt:lpstr>
      <vt:lpstr>Nutrient mobility in plant</vt:lpstr>
      <vt:lpstr>Sources and available forms of nutrients/essential elements</vt:lpstr>
      <vt:lpstr>Slide 6</vt:lpstr>
      <vt:lpstr>Nutrient Availability Factors </vt:lpstr>
      <vt:lpstr>Mechanisms of supply of nutrients to plant root</vt:lpstr>
      <vt:lpstr>Nutrient uptake by plants</vt:lpstr>
      <vt:lpstr>Quantitative expression of plant growth</vt:lpstr>
      <vt:lpstr>Soil fertility management</vt:lpstr>
      <vt:lpstr>Methods of assessing or evaluating soil fertility</vt:lpstr>
      <vt:lpstr>Soil fertility management practices</vt:lpstr>
      <vt:lpstr>Slide 14</vt:lpstr>
      <vt:lpstr>Slide 15</vt:lpstr>
      <vt:lpstr>Methods of determining lime requirement of soils</vt:lpstr>
      <vt:lpstr>Slide 17</vt:lpstr>
      <vt:lpstr>Soil processes and conditions affected by liming</vt:lpstr>
      <vt:lpstr>Forms and General Characteristics of Fertilizers</vt:lpstr>
      <vt:lpstr>General Characteristics of Organic and Synthetic Inorganic Fertilizers</vt:lpstr>
      <vt:lpstr>Some Organic Fertilizers</vt:lpstr>
      <vt:lpstr>Inorganic Fertilizers</vt:lpstr>
      <vt:lpstr>In fertilizer calculation, a sample formula to use is the following:</vt:lpstr>
      <vt:lpstr>Slide 24</vt:lpstr>
      <vt:lpstr>Methods of Fertilizer Application</vt:lpstr>
      <vt:lpstr>Maintenance of Soil Organic Matter may be Accomplished by:</vt:lpstr>
      <vt:lpstr>Review Questions for Soil Fertility and Management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Soil Fertility and Management</dc:title>
  <dc:creator> </dc:creator>
  <cp:lastModifiedBy>User</cp:lastModifiedBy>
  <cp:revision>28</cp:revision>
  <dcterms:created xsi:type="dcterms:W3CDTF">2011-04-28T01:04:36Z</dcterms:created>
  <dcterms:modified xsi:type="dcterms:W3CDTF">2017-08-31T20:51:22Z</dcterms:modified>
</cp:coreProperties>
</file>