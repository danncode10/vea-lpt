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0" r:id="rId4"/>
    <p:sldId id="258" r:id="rId5"/>
    <p:sldId id="301" r:id="rId6"/>
    <p:sldId id="259" r:id="rId7"/>
    <p:sldId id="302" r:id="rId8"/>
    <p:sldId id="260" r:id="rId9"/>
    <p:sldId id="303" r:id="rId10"/>
    <p:sldId id="261" r:id="rId11"/>
    <p:sldId id="304" r:id="rId12"/>
    <p:sldId id="262" r:id="rId13"/>
    <p:sldId id="305" r:id="rId14"/>
    <p:sldId id="263" r:id="rId15"/>
    <p:sldId id="306" r:id="rId16"/>
    <p:sldId id="264" r:id="rId17"/>
    <p:sldId id="307" r:id="rId18"/>
    <p:sldId id="265" r:id="rId19"/>
    <p:sldId id="308" r:id="rId20"/>
    <p:sldId id="266" r:id="rId21"/>
    <p:sldId id="309" r:id="rId22"/>
    <p:sldId id="267" r:id="rId23"/>
    <p:sldId id="310" r:id="rId24"/>
    <p:sldId id="268" r:id="rId25"/>
    <p:sldId id="311" r:id="rId26"/>
    <p:sldId id="269" r:id="rId27"/>
    <p:sldId id="312" r:id="rId28"/>
    <p:sldId id="270" r:id="rId29"/>
    <p:sldId id="313" r:id="rId30"/>
    <p:sldId id="271" r:id="rId31"/>
    <p:sldId id="314" r:id="rId32"/>
    <p:sldId id="272" r:id="rId33"/>
    <p:sldId id="315" r:id="rId34"/>
    <p:sldId id="273" r:id="rId35"/>
    <p:sldId id="316" r:id="rId36"/>
    <p:sldId id="274" r:id="rId37"/>
    <p:sldId id="317" r:id="rId38"/>
    <p:sldId id="275" r:id="rId39"/>
    <p:sldId id="318" r:id="rId40"/>
    <p:sldId id="276" r:id="rId41"/>
    <p:sldId id="319" r:id="rId42"/>
    <p:sldId id="277" r:id="rId43"/>
    <p:sldId id="320" r:id="rId44"/>
    <p:sldId id="278" r:id="rId45"/>
    <p:sldId id="321" r:id="rId46"/>
    <p:sldId id="279" r:id="rId47"/>
    <p:sldId id="322" r:id="rId48"/>
    <p:sldId id="280" r:id="rId49"/>
    <p:sldId id="323" r:id="rId50"/>
    <p:sldId id="281" r:id="rId51"/>
    <p:sldId id="324" r:id="rId52"/>
    <p:sldId id="282" r:id="rId53"/>
    <p:sldId id="325" r:id="rId54"/>
    <p:sldId id="283" r:id="rId55"/>
    <p:sldId id="326" r:id="rId56"/>
    <p:sldId id="284" r:id="rId57"/>
    <p:sldId id="327" r:id="rId58"/>
    <p:sldId id="285" r:id="rId59"/>
    <p:sldId id="328" r:id="rId60"/>
    <p:sldId id="286" r:id="rId61"/>
    <p:sldId id="329" r:id="rId62"/>
    <p:sldId id="287" r:id="rId63"/>
    <p:sldId id="330" r:id="rId64"/>
    <p:sldId id="288" r:id="rId65"/>
    <p:sldId id="331" r:id="rId66"/>
    <p:sldId id="289" r:id="rId67"/>
    <p:sldId id="332" r:id="rId68"/>
    <p:sldId id="290" r:id="rId69"/>
    <p:sldId id="333" r:id="rId70"/>
    <p:sldId id="291" r:id="rId71"/>
    <p:sldId id="334" r:id="rId72"/>
    <p:sldId id="292" r:id="rId73"/>
    <p:sldId id="335" r:id="rId74"/>
    <p:sldId id="293" r:id="rId75"/>
    <p:sldId id="336" r:id="rId76"/>
    <p:sldId id="294" r:id="rId77"/>
    <p:sldId id="337" r:id="rId78"/>
    <p:sldId id="295" r:id="rId79"/>
    <p:sldId id="338" r:id="rId80"/>
    <p:sldId id="296" r:id="rId81"/>
    <p:sldId id="339" r:id="rId82"/>
    <p:sldId id="297" r:id="rId83"/>
    <p:sldId id="340" r:id="rId84"/>
    <p:sldId id="298" r:id="rId85"/>
    <p:sldId id="345" r:id="rId86"/>
    <p:sldId id="341" r:id="rId87"/>
    <p:sldId id="346" r:id="rId88"/>
    <p:sldId id="342" r:id="rId89"/>
    <p:sldId id="347" r:id="rId90"/>
    <p:sldId id="343" r:id="rId91"/>
    <p:sldId id="348" r:id="rId92"/>
    <p:sldId id="344" r:id="rId93"/>
    <p:sldId id="349" r:id="rId94"/>
    <p:sldId id="299" r:id="rId95"/>
    <p:sldId id="356" r:id="rId96"/>
    <p:sldId id="350" r:id="rId97"/>
    <p:sldId id="357" r:id="rId98"/>
    <p:sldId id="351" r:id="rId99"/>
    <p:sldId id="358" r:id="rId100"/>
    <p:sldId id="352" r:id="rId101"/>
    <p:sldId id="359" r:id="rId10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45" d="100"/>
          <a:sy n="45" d="100"/>
        </p:scale>
        <p:origin x="-73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87D05EC-30E8-455D-A853-1764C30D7CBF}" type="datetimeFigureOut">
              <a:rPr lang="en-US" smtClean="0"/>
              <a:t>1/2/2001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7D05EC-30E8-455D-A853-1764C30D7CBF}" type="datetimeFigureOut">
              <a:rPr lang="en-US" smtClean="0"/>
              <a:t>1/2/2001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7D05EC-30E8-455D-A853-1764C30D7CBF}" type="datetimeFigureOut">
              <a:rPr lang="en-US" smtClean="0"/>
              <a:t>1/2/2001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87D05EC-30E8-455D-A853-1764C30D7CBF}" type="datetimeFigureOut">
              <a:rPr lang="en-US" smtClean="0"/>
              <a:t>1/2/2001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87D05EC-30E8-455D-A853-1764C30D7CBF}" type="datetimeFigureOut">
              <a:rPr lang="en-US" smtClean="0"/>
              <a:t>1/2/2001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87D05EC-30E8-455D-A853-1764C30D7CBF}" type="datetimeFigureOut">
              <a:rPr lang="en-US" smtClean="0"/>
              <a:t>1/2/2001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7D05EC-30E8-455D-A853-1764C30D7CBF}" type="datetimeFigureOut">
              <a:rPr lang="en-US" smtClean="0"/>
              <a:t>1/2/2001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7D05EC-30E8-455D-A853-1764C30D7CBF}" type="datetimeFigureOut">
              <a:rPr lang="en-US" smtClean="0"/>
              <a:t>1/2/2001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7D05EC-30E8-455D-A853-1764C30D7CBF}" type="datetimeFigureOut">
              <a:rPr lang="en-US" smtClean="0"/>
              <a:t>1/2/2001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7D05EC-30E8-455D-A853-1764C30D7CBF}" type="datetimeFigureOut">
              <a:rPr lang="en-US" smtClean="0"/>
              <a:t>1/2/2001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7D05EC-30E8-455D-A853-1764C30D7CBF}" type="datetimeFigureOut">
              <a:rPr lang="en-US" smtClean="0"/>
              <a:t>1/2/2001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21994C-A872-4A97-9C73-4B97C2C0401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7D05EC-30E8-455D-A853-1764C30D7CBF}" type="datetimeFigureOut">
              <a:rPr lang="en-US" smtClean="0"/>
              <a:t>1/2/2001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21994C-A872-4A97-9C73-4B97C2C0401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ChildAndAdol</a:t>
            </a:r>
            <a:r>
              <a:rPr lang="en-US" dirty="0" smtClean="0"/>
              <a:t> NCBTS</a:t>
            </a:r>
            <a:endParaRPr lang="en-US" dirty="0"/>
          </a:p>
        </p:txBody>
      </p:sp>
      <p:sp>
        <p:nvSpPr>
          <p:cNvPr id="3" name="Subtitle 2"/>
          <p:cNvSpPr>
            <a:spLocks noGrp="1"/>
          </p:cNvSpPr>
          <p:nvPr>
            <p:ph type="subTitle" idx="1"/>
          </p:nvPr>
        </p:nvSpPr>
        <p:spPr/>
        <p:txBody>
          <a:bodyPr/>
          <a:lstStyle/>
          <a:p>
            <a:r>
              <a:rPr lang="en-US" dirty="0" err="1" smtClean="0"/>
              <a:t>krshnlvr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32037"/>
            <a:ext cx="8229600" cy="4525963"/>
          </a:xfrm>
        </p:spPr>
        <p:txBody>
          <a:bodyPr/>
          <a:lstStyle/>
          <a:p>
            <a:pPr>
              <a:buNone/>
            </a:pPr>
            <a:r>
              <a:rPr lang="en-US" dirty="0"/>
              <a:t>1. Who is likely to be more focused on the wring activity and why?</a:t>
            </a:r>
          </a:p>
          <a:p>
            <a:pPr lvl="0"/>
            <a:r>
              <a:rPr lang="en-US" dirty="0"/>
              <a:t>Greta, because she is intrinsically motivated.</a:t>
            </a:r>
          </a:p>
          <a:p>
            <a:pPr lvl="0"/>
            <a:r>
              <a:rPr lang="en-US" dirty="0"/>
              <a:t>Nita, because she is extrinsically motivated.</a:t>
            </a:r>
          </a:p>
          <a:p>
            <a:pPr lvl="0"/>
            <a:r>
              <a:rPr lang="en-US" dirty="0"/>
              <a:t>Both, because they are both motivated anyway.</a:t>
            </a:r>
          </a:p>
          <a:p>
            <a:pPr lvl="0"/>
            <a:r>
              <a:rPr lang="en-US" dirty="0"/>
              <a:t>It cannot be determined. Motivation is fluctuates.</a:t>
            </a:r>
          </a:p>
          <a:p>
            <a:pPr>
              <a:buNone/>
            </a:pPr>
            <a:endParaRPr lang="en-US" dirty="0"/>
          </a:p>
        </p:txBody>
      </p:sp>
      <p:sp>
        <p:nvSpPr>
          <p:cNvPr id="1026" name="Text Box 2"/>
          <p:cNvSpPr txBox="1">
            <a:spLocks noChangeArrowheads="1"/>
          </p:cNvSpPr>
          <p:nvPr/>
        </p:nvSpPr>
        <p:spPr bwMode="auto">
          <a:xfrm>
            <a:off x="152400" y="287338"/>
            <a:ext cx="8991600" cy="17700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dirty="0" smtClean="0"/>
          </a:p>
          <a:p>
            <a:r>
              <a:rPr lang="en-US" dirty="0"/>
              <a:t> </a:t>
            </a:r>
          </a:p>
          <a:p>
            <a:r>
              <a:rPr lang="en-US" dirty="0"/>
              <a:t>Situation: Read the following then answer question.</a:t>
            </a:r>
            <a:r>
              <a:rPr lang="en-US" dirty="0" smtClean="0"/>
              <a:t> </a:t>
            </a:r>
            <a:r>
              <a:rPr lang="en-US" i="1" dirty="0"/>
              <a:t>Nita</a:t>
            </a:r>
            <a:r>
              <a:rPr lang="en-US" dirty="0"/>
              <a:t> doesn’t enjoy writing but can’t escape from it. She has to finish it in order to graduate.</a:t>
            </a:r>
            <a:endParaRPr lang="en-US" dirty="0" smtClean="0"/>
          </a:p>
          <a:p>
            <a:r>
              <a:rPr lang="en-US" i="1" dirty="0"/>
              <a:t>Greta</a:t>
            </a:r>
            <a:r>
              <a:rPr lang="en-US" dirty="0"/>
              <a:t> has always liked to write. She really likes to become a better writer because wants to be a journalist.</a:t>
            </a:r>
            <a:endParaRPr lang="en-US" dirty="0" smtClean="0"/>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32037"/>
            <a:ext cx="8229600" cy="4525963"/>
          </a:xfrm>
        </p:spPr>
        <p:txBody>
          <a:bodyPr/>
          <a:lstStyle/>
          <a:p>
            <a:pPr>
              <a:buNone/>
            </a:pPr>
            <a:r>
              <a:rPr lang="en-US" dirty="0"/>
              <a:t>1. Who is likely to be more focused on the wring activity and why?</a:t>
            </a:r>
          </a:p>
          <a:p>
            <a:pPr lvl="0"/>
            <a:r>
              <a:rPr lang="en-US" b="1" dirty="0"/>
              <a:t>Greta, because she is intrinsically motivated.</a:t>
            </a:r>
          </a:p>
          <a:p>
            <a:pPr lvl="0"/>
            <a:r>
              <a:rPr lang="en-US" dirty="0"/>
              <a:t>Nita, because she is extrinsically motivated.</a:t>
            </a:r>
          </a:p>
          <a:p>
            <a:pPr lvl="0"/>
            <a:r>
              <a:rPr lang="en-US" dirty="0"/>
              <a:t>Both, because they are both motivated anyway.</a:t>
            </a:r>
          </a:p>
          <a:p>
            <a:pPr lvl="0"/>
            <a:r>
              <a:rPr lang="en-US" dirty="0"/>
              <a:t>It cannot be determined. Motivation is fluctuates.</a:t>
            </a:r>
          </a:p>
          <a:p>
            <a:pPr>
              <a:buNone/>
            </a:pPr>
            <a:endParaRPr lang="en-US" dirty="0"/>
          </a:p>
        </p:txBody>
      </p:sp>
      <p:sp>
        <p:nvSpPr>
          <p:cNvPr id="1026" name="Text Box 2"/>
          <p:cNvSpPr txBox="1">
            <a:spLocks noChangeArrowheads="1"/>
          </p:cNvSpPr>
          <p:nvPr/>
        </p:nvSpPr>
        <p:spPr bwMode="auto">
          <a:xfrm>
            <a:off x="152400" y="287338"/>
            <a:ext cx="8991600" cy="17700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dirty="0" smtClean="0"/>
          </a:p>
          <a:p>
            <a:r>
              <a:rPr lang="en-US" dirty="0"/>
              <a:t> </a:t>
            </a:r>
          </a:p>
          <a:p>
            <a:r>
              <a:rPr lang="en-US" dirty="0"/>
              <a:t>Situation: Read the following then answer question.</a:t>
            </a:r>
            <a:r>
              <a:rPr lang="en-US" dirty="0" smtClean="0"/>
              <a:t> </a:t>
            </a:r>
            <a:r>
              <a:rPr lang="en-US" i="1" dirty="0"/>
              <a:t>Nita</a:t>
            </a:r>
            <a:r>
              <a:rPr lang="en-US" dirty="0"/>
              <a:t> doesn’t enjoy writing but can’t escape from it. She has to finish it in order to graduate.</a:t>
            </a:r>
            <a:endParaRPr lang="en-US" dirty="0" smtClean="0"/>
          </a:p>
          <a:p>
            <a:r>
              <a:rPr lang="en-US" i="1" dirty="0"/>
              <a:t>Greta</a:t>
            </a:r>
            <a:r>
              <a:rPr lang="en-US" dirty="0"/>
              <a:t> has always liked to write. She really likes to become a better writer because wants to be a journalist.</a:t>
            </a:r>
            <a:endParaRPr lang="en-US" dirty="0" smtClean="0"/>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2. What is/are more like to happen when a student gets intrinsically motivated?</a:t>
            </a:r>
          </a:p>
          <a:p>
            <a:r>
              <a:rPr lang="en-US" dirty="0"/>
              <a:t>I. Tackles assigned task willingly</a:t>
            </a:r>
          </a:p>
          <a:p>
            <a:r>
              <a:rPr lang="en-US" dirty="0"/>
              <a:t>II. Eager to learn in classroom material</a:t>
            </a:r>
          </a:p>
          <a:p>
            <a:r>
              <a:rPr lang="en-US" dirty="0"/>
              <a:t>III. Engage meaningful learning</a:t>
            </a:r>
          </a:p>
          <a:p>
            <a:pPr lvl="0">
              <a:buNone/>
            </a:pPr>
            <a:r>
              <a:rPr lang="en-US" dirty="0" err="1" smtClean="0"/>
              <a:t>a.I</a:t>
            </a:r>
            <a:r>
              <a:rPr lang="en-US" dirty="0"/>
              <a:t>, II, </a:t>
            </a:r>
            <a:r>
              <a:rPr lang="en-US" dirty="0" smtClean="0"/>
              <a:t>III</a:t>
            </a:r>
          </a:p>
          <a:p>
            <a:pPr lvl="0">
              <a:buNone/>
            </a:pPr>
            <a:r>
              <a:rPr lang="en-US" dirty="0" err="1" smtClean="0"/>
              <a:t>b.I</a:t>
            </a:r>
            <a:r>
              <a:rPr lang="en-US" dirty="0" smtClean="0"/>
              <a:t> </a:t>
            </a:r>
            <a:r>
              <a:rPr lang="en-US" dirty="0"/>
              <a:t>and II only</a:t>
            </a:r>
          </a:p>
          <a:p>
            <a:pPr lvl="0">
              <a:buNone/>
            </a:pPr>
            <a:r>
              <a:rPr lang="en-US" dirty="0" err="1" smtClean="0"/>
              <a:t>c.I</a:t>
            </a:r>
            <a:r>
              <a:rPr lang="en-US" dirty="0" smtClean="0"/>
              <a:t> </a:t>
            </a:r>
            <a:r>
              <a:rPr lang="en-US" dirty="0"/>
              <a:t>and II</a:t>
            </a:r>
          </a:p>
          <a:p>
            <a:pPr lvl="0">
              <a:buNone/>
            </a:pPr>
            <a:r>
              <a:rPr lang="en-US" dirty="0" smtClean="0"/>
              <a:t>d. II </a:t>
            </a:r>
            <a:r>
              <a:rPr lang="en-US" dirty="0"/>
              <a:t>and III</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2. What is/are more like to happen when a student gets intrinsically motivated?</a:t>
            </a:r>
          </a:p>
          <a:p>
            <a:r>
              <a:rPr lang="en-US" dirty="0"/>
              <a:t>I. Tackles assigned task willingly</a:t>
            </a:r>
          </a:p>
          <a:p>
            <a:r>
              <a:rPr lang="en-US" dirty="0"/>
              <a:t>II. Eager to learn in classroom material</a:t>
            </a:r>
          </a:p>
          <a:p>
            <a:r>
              <a:rPr lang="en-US" dirty="0"/>
              <a:t>III. Engage meaningful learning</a:t>
            </a:r>
          </a:p>
          <a:p>
            <a:pPr lvl="0">
              <a:buNone/>
            </a:pPr>
            <a:r>
              <a:rPr lang="en-US" b="1" dirty="0" err="1" smtClean="0"/>
              <a:t>a.I</a:t>
            </a:r>
            <a:r>
              <a:rPr lang="en-US" b="1" dirty="0"/>
              <a:t>, II, </a:t>
            </a:r>
            <a:r>
              <a:rPr lang="en-US" b="1" dirty="0" smtClean="0"/>
              <a:t>III</a:t>
            </a:r>
          </a:p>
          <a:p>
            <a:pPr lvl="0">
              <a:buNone/>
            </a:pPr>
            <a:r>
              <a:rPr lang="en-US" dirty="0" err="1" smtClean="0"/>
              <a:t>b.I</a:t>
            </a:r>
            <a:r>
              <a:rPr lang="en-US" dirty="0" smtClean="0"/>
              <a:t> </a:t>
            </a:r>
            <a:r>
              <a:rPr lang="en-US" dirty="0"/>
              <a:t>and II only</a:t>
            </a:r>
          </a:p>
          <a:p>
            <a:pPr lvl="0">
              <a:buNone/>
            </a:pPr>
            <a:r>
              <a:rPr lang="en-US" dirty="0" err="1" smtClean="0"/>
              <a:t>c.I</a:t>
            </a:r>
            <a:r>
              <a:rPr lang="en-US" dirty="0" smtClean="0"/>
              <a:t> </a:t>
            </a:r>
            <a:r>
              <a:rPr lang="en-US" dirty="0"/>
              <a:t>and II</a:t>
            </a:r>
          </a:p>
          <a:p>
            <a:pPr lvl="0">
              <a:buNone/>
            </a:pPr>
            <a:r>
              <a:rPr lang="en-US" dirty="0" smtClean="0"/>
              <a:t>d. II </a:t>
            </a:r>
            <a:r>
              <a:rPr lang="en-US" dirty="0"/>
              <a:t>and III</a:t>
            </a: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None/>
            </a:pPr>
            <a:r>
              <a:rPr lang="en-US" dirty="0"/>
              <a:t>3. Which apply/applies to extrinsically motivated learners?</a:t>
            </a:r>
          </a:p>
          <a:p>
            <a:r>
              <a:rPr lang="en-US" dirty="0"/>
              <a:t>I. Tend to process superficially</a:t>
            </a:r>
          </a:p>
          <a:p>
            <a:r>
              <a:rPr lang="en-US" dirty="0"/>
              <a:t>II. Tend to be content meeting minimum requirements</a:t>
            </a:r>
          </a:p>
          <a:p>
            <a:r>
              <a:rPr lang="en-US" dirty="0"/>
              <a:t>III. Achieve at high level intrinsic</a:t>
            </a:r>
          </a:p>
          <a:p>
            <a:pPr>
              <a:buNone/>
            </a:pPr>
            <a:r>
              <a:rPr lang="en-US" dirty="0"/>
              <a:t>A. I and II</a:t>
            </a:r>
          </a:p>
          <a:p>
            <a:pPr>
              <a:buNone/>
            </a:pPr>
            <a:r>
              <a:rPr lang="en-US" dirty="0"/>
              <a:t>B. II only</a:t>
            </a:r>
          </a:p>
          <a:p>
            <a:pPr>
              <a:buNone/>
            </a:pPr>
            <a:r>
              <a:rPr lang="en-US" dirty="0"/>
              <a:t>C. I and III</a:t>
            </a:r>
          </a:p>
          <a:p>
            <a:pPr>
              <a:buNone/>
            </a:pPr>
            <a:r>
              <a:rPr lang="en-US" dirty="0"/>
              <a:t> </a:t>
            </a:r>
            <a:r>
              <a:rPr lang="en-US" dirty="0" smtClean="0"/>
              <a:t>D</a:t>
            </a:r>
            <a:r>
              <a:rPr lang="en-US" dirty="0"/>
              <a:t>. I only</a:t>
            </a:r>
            <a:r>
              <a:rPr lang="en-US" dirty="0" smtClean="0"/>
              <a:t>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None/>
            </a:pPr>
            <a:r>
              <a:rPr lang="en-US" dirty="0"/>
              <a:t>3. Which apply/applies to extrinsically motivated learners?</a:t>
            </a:r>
          </a:p>
          <a:p>
            <a:r>
              <a:rPr lang="en-US" dirty="0"/>
              <a:t>I. Tend to process superficially</a:t>
            </a:r>
          </a:p>
          <a:p>
            <a:r>
              <a:rPr lang="en-US" dirty="0"/>
              <a:t>II. Tend to be content meeting minimum requirements</a:t>
            </a:r>
          </a:p>
          <a:p>
            <a:r>
              <a:rPr lang="en-US" dirty="0"/>
              <a:t>III. Achieve at high level intrinsic</a:t>
            </a:r>
          </a:p>
          <a:p>
            <a:pPr>
              <a:buNone/>
            </a:pPr>
            <a:r>
              <a:rPr lang="en-US" b="1" dirty="0"/>
              <a:t>A. I and II</a:t>
            </a:r>
          </a:p>
          <a:p>
            <a:pPr>
              <a:buNone/>
            </a:pPr>
            <a:r>
              <a:rPr lang="en-US" dirty="0"/>
              <a:t>B. II only</a:t>
            </a:r>
          </a:p>
          <a:p>
            <a:pPr>
              <a:buNone/>
            </a:pPr>
            <a:r>
              <a:rPr lang="en-US" dirty="0"/>
              <a:t>C. I and III</a:t>
            </a:r>
          </a:p>
          <a:p>
            <a:pPr>
              <a:buNone/>
            </a:pPr>
            <a:r>
              <a:rPr lang="en-US" dirty="0"/>
              <a:t> </a:t>
            </a:r>
            <a:r>
              <a:rPr lang="en-US" dirty="0" smtClean="0"/>
              <a:t>D</a:t>
            </a:r>
            <a:r>
              <a:rPr lang="en-US" dirty="0"/>
              <a:t>. I only</a:t>
            </a:r>
            <a:r>
              <a:rPr lang="en-US" dirty="0" smtClean="0"/>
              <a:t>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4. Which statement about Joe is CORRECT?</a:t>
            </a:r>
          </a:p>
          <a:p>
            <a:pPr lvl="0">
              <a:buNone/>
            </a:pPr>
            <a:r>
              <a:rPr lang="en-US" dirty="0" err="1" smtClean="0"/>
              <a:t>a.Has</a:t>
            </a:r>
            <a:r>
              <a:rPr lang="en-US" dirty="0" smtClean="0"/>
              <a:t> </a:t>
            </a:r>
            <a:r>
              <a:rPr lang="en-US" dirty="0"/>
              <a:t>a low sense of self- efficacy</a:t>
            </a:r>
          </a:p>
          <a:p>
            <a:pPr lvl="0">
              <a:buNone/>
            </a:pPr>
            <a:r>
              <a:rPr lang="en-US" dirty="0" err="1" smtClean="0"/>
              <a:t>b.Has</a:t>
            </a:r>
            <a:r>
              <a:rPr lang="en-US" dirty="0" smtClean="0"/>
              <a:t> </a:t>
            </a:r>
            <a:r>
              <a:rPr lang="en-US" dirty="0"/>
              <a:t>a high sense of self- efficacy</a:t>
            </a:r>
          </a:p>
          <a:p>
            <a:pPr lvl="0">
              <a:buNone/>
            </a:pPr>
            <a:r>
              <a:rPr lang="en-US" dirty="0" err="1" smtClean="0"/>
              <a:t>c.Has</a:t>
            </a:r>
            <a:r>
              <a:rPr lang="en-US" dirty="0" smtClean="0"/>
              <a:t> </a:t>
            </a:r>
            <a:r>
              <a:rPr lang="en-US" dirty="0"/>
              <a:t>no sense of self- efficacy</a:t>
            </a:r>
          </a:p>
          <a:p>
            <a:pPr lvl="0">
              <a:buNone/>
            </a:pPr>
            <a:r>
              <a:rPr lang="en-US" dirty="0" err="1" smtClean="0"/>
              <a:t>d.Wants</a:t>
            </a:r>
            <a:r>
              <a:rPr lang="en-US" dirty="0" smtClean="0"/>
              <a:t> </a:t>
            </a:r>
            <a:r>
              <a:rPr lang="en-US" dirty="0"/>
              <a:t>to be sure of his self- efficacy</a:t>
            </a:r>
          </a:p>
          <a:p>
            <a:pPr>
              <a:buNone/>
            </a:pPr>
            <a:endParaRPr lang="en-US" dirty="0"/>
          </a:p>
        </p:txBody>
      </p:sp>
      <p:sp>
        <p:nvSpPr>
          <p:cNvPr id="45057" name="Rectangle 1"/>
          <p:cNvSpPr>
            <a:spLocks noChangeArrowheads="1"/>
          </p:cNvSpPr>
          <p:nvPr/>
        </p:nvSpPr>
        <p:spPr bwMode="auto">
          <a:xfrm>
            <a:off x="0" y="0"/>
            <a:ext cx="9144000"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0" algn="l"/>
                <a:tab pos="68580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Read the following then answer questions.</a:t>
            </a:r>
          </a:p>
          <a:p>
            <a:pPr marL="0" marR="0" lvl="0" indent="0" algn="just" defTabSz="914400" rtl="0" eaLnBrk="0" fontAlgn="base" latinLnBrk="0" hangingPunct="0">
              <a:lnSpc>
                <a:spcPct val="100000"/>
              </a:lnSpc>
              <a:spcBef>
                <a:spcPct val="0"/>
              </a:spcBef>
              <a:spcAft>
                <a:spcPct val="0"/>
              </a:spcAft>
              <a:buClrTx/>
              <a:buSzTx/>
              <a:buFontTx/>
              <a:buNone/>
              <a:tabLst>
                <a:tab pos="0" algn="l"/>
                <a:tab pos="68580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Ask to do a learning task. Joe hesitates and says, “</a:t>
            </a:r>
            <a:r>
              <a:rPr kumimoji="0" lang="en-US" sz="1800" b="0" i="0" u="none" strike="noStrike" cap="none" normalizeH="0" baseline="0" dirty="0" err="1" smtClean="0">
                <a:ln>
                  <a:noFill/>
                </a:ln>
                <a:solidFill>
                  <a:schemeClr val="tx1"/>
                </a:solidFill>
                <a:effectLst/>
                <a:latin typeface="Arial" pitchFamily="34" charset="0"/>
                <a:cs typeface="Arial" pitchFamily="34" charset="0"/>
              </a:rPr>
              <a:t>Mahirap</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00" b="0" i="0" u="none" strike="noStrike" cap="none" normalizeH="0" baseline="0" dirty="0" err="1" smtClean="0">
                <a:ln>
                  <a:noFill/>
                </a:ln>
                <a:solidFill>
                  <a:schemeClr val="tx1"/>
                </a:solidFill>
                <a:effectLst/>
                <a:latin typeface="Arial" pitchFamily="34" charset="0"/>
                <a:cs typeface="Arial" pitchFamily="34" charset="0"/>
              </a:rPr>
              <a:t>Ayaw</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00" b="0" i="0" u="none" strike="noStrike" cap="none" normalizeH="0" baseline="0" dirty="0" err="1" smtClean="0">
                <a:ln>
                  <a:noFill/>
                </a:ln>
                <a:solidFill>
                  <a:schemeClr val="tx1"/>
                </a:solidFill>
                <a:effectLst/>
                <a:latin typeface="Arial" pitchFamily="34" charset="0"/>
                <a:cs typeface="Arial" pitchFamily="34" charset="0"/>
              </a:rPr>
              <a:t>ko</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00" b="0" i="0" u="none" strike="noStrike" cap="none" normalizeH="0" baseline="0" dirty="0" err="1" smtClean="0">
                <a:ln>
                  <a:noFill/>
                </a:ln>
                <a:solidFill>
                  <a:schemeClr val="tx1"/>
                </a:solidFill>
                <a:effectLst/>
                <a:latin typeface="Arial" pitchFamily="34" charset="0"/>
                <a:cs typeface="Arial" pitchFamily="34" charset="0"/>
              </a:rPr>
              <a:t>Diko</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00" b="0" i="0" u="none" strike="noStrike" cap="none" normalizeH="0" baseline="0" dirty="0" err="1" smtClean="0">
                <a:ln>
                  <a:noFill/>
                </a:ln>
                <a:solidFill>
                  <a:schemeClr val="tx1"/>
                </a:solidFill>
                <a:effectLst/>
                <a:latin typeface="Arial" pitchFamily="34" charset="0"/>
                <a:cs typeface="Arial" pitchFamily="34" charset="0"/>
              </a:rPr>
              <a:t>kaya</a:t>
            </a:r>
            <a:r>
              <a:rPr kumimoji="0" lang="en-US" sz="1800" b="0" i="0" u="none" strike="noStrike" cap="none" normalizeH="0" baseline="0" dirty="0" smtClean="0">
                <a:ln>
                  <a:noFill/>
                </a:ln>
                <a:solidFill>
                  <a:schemeClr val="tx1"/>
                </a:solidFill>
                <a:effectLst/>
                <a:latin typeface="Arial" pitchFamily="34" charset="0"/>
                <a:cs typeface="Arial"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tab pos="0" algn="l"/>
                <a:tab pos="68580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(It’s difficult, I don’t like it, I can’t do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4. Which statement about Joe is CORRECT?</a:t>
            </a:r>
          </a:p>
          <a:p>
            <a:pPr lvl="0">
              <a:buNone/>
            </a:pPr>
            <a:r>
              <a:rPr lang="en-US" b="1" dirty="0" err="1" smtClean="0"/>
              <a:t>a.Has</a:t>
            </a:r>
            <a:r>
              <a:rPr lang="en-US" b="1" dirty="0" smtClean="0"/>
              <a:t> </a:t>
            </a:r>
            <a:r>
              <a:rPr lang="en-US" b="1" dirty="0"/>
              <a:t>a low sense of self- efficacy</a:t>
            </a:r>
          </a:p>
          <a:p>
            <a:pPr lvl="0">
              <a:buNone/>
            </a:pPr>
            <a:r>
              <a:rPr lang="en-US" dirty="0" err="1" smtClean="0"/>
              <a:t>b.Has</a:t>
            </a:r>
            <a:r>
              <a:rPr lang="en-US" dirty="0" smtClean="0"/>
              <a:t> </a:t>
            </a:r>
            <a:r>
              <a:rPr lang="en-US" dirty="0"/>
              <a:t>a high sense of self- efficacy</a:t>
            </a:r>
          </a:p>
          <a:p>
            <a:pPr lvl="0">
              <a:buNone/>
            </a:pPr>
            <a:r>
              <a:rPr lang="en-US" dirty="0" err="1" smtClean="0"/>
              <a:t>c.Has</a:t>
            </a:r>
            <a:r>
              <a:rPr lang="en-US" dirty="0" smtClean="0"/>
              <a:t> </a:t>
            </a:r>
            <a:r>
              <a:rPr lang="en-US" dirty="0"/>
              <a:t>no sense of self- efficacy</a:t>
            </a:r>
          </a:p>
          <a:p>
            <a:pPr lvl="0">
              <a:buNone/>
            </a:pPr>
            <a:r>
              <a:rPr lang="en-US" dirty="0" err="1" smtClean="0"/>
              <a:t>d.Wants</a:t>
            </a:r>
            <a:r>
              <a:rPr lang="en-US" dirty="0" smtClean="0"/>
              <a:t> </a:t>
            </a:r>
            <a:r>
              <a:rPr lang="en-US" dirty="0"/>
              <a:t>to be sure of his self- efficacy</a:t>
            </a:r>
          </a:p>
          <a:p>
            <a:pPr>
              <a:buNone/>
            </a:pPr>
            <a:endParaRPr lang="en-US" dirty="0"/>
          </a:p>
        </p:txBody>
      </p:sp>
      <p:sp>
        <p:nvSpPr>
          <p:cNvPr id="45057" name="Rectangle 1"/>
          <p:cNvSpPr>
            <a:spLocks noChangeArrowheads="1"/>
          </p:cNvSpPr>
          <p:nvPr/>
        </p:nvSpPr>
        <p:spPr bwMode="auto">
          <a:xfrm>
            <a:off x="0" y="0"/>
            <a:ext cx="9144000"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0" algn="l"/>
                <a:tab pos="68580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Read the following then answer questions.</a:t>
            </a:r>
          </a:p>
          <a:p>
            <a:pPr marL="0" marR="0" lvl="0" indent="0" algn="just" defTabSz="914400" rtl="0" eaLnBrk="0" fontAlgn="base" latinLnBrk="0" hangingPunct="0">
              <a:lnSpc>
                <a:spcPct val="100000"/>
              </a:lnSpc>
              <a:spcBef>
                <a:spcPct val="0"/>
              </a:spcBef>
              <a:spcAft>
                <a:spcPct val="0"/>
              </a:spcAft>
              <a:buClrTx/>
              <a:buSzTx/>
              <a:buFontTx/>
              <a:buNone/>
              <a:tabLst>
                <a:tab pos="0" algn="l"/>
                <a:tab pos="68580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Ask to do a learning task. Joe hesitates and says, “</a:t>
            </a:r>
            <a:r>
              <a:rPr kumimoji="0" lang="en-US" sz="1800" b="0" i="0" u="none" strike="noStrike" cap="none" normalizeH="0" baseline="0" dirty="0" err="1" smtClean="0">
                <a:ln>
                  <a:noFill/>
                </a:ln>
                <a:solidFill>
                  <a:schemeClr val="tx1"/>
                </a:solidFill>
                <a:effectLst/>
                <a:latin typeface="Arial" pitchFamily="34" charset="0"/>
                <a:cs typeface="Arial" pitchFamily="34" charset="0"/>
              </a:rPr>
              <a:t>Mahirap</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00" b="0" i="0" u="none" strike="noStrike" cap="none" normalizeH="0" baseline="0" dirty="0" err="1" smtClean="0">
                <a:ln>
                  <a:noFill/>
                </a:ln>
                <a:solidFill>
                  <a:schemeClr val="tx1"/>
                </a:solidFill>
                <a:effectLst/>
                <a:latin typeface="Arial" pitchFamily="34" charset="0"/>
                <a:cs typeface="Arial" pitchFamily="34" charset="0"/>
              </a:rPr>
              <a:t>Ayaw</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00" b="0" i="0" u="none" strike="noStrike" cap="none" normalizeH="0" baseline="0" dirty="0" err="1" smtClean="0">
                <a:ln>
                  <a:noFill/>
                </a:ln>
                <a:solidFill>
                  <a:schemeClr val="tx1"/>
                </a:solidFill>
                <a:effectLst/>
                <a:latin typeface="Arial" pitchFamily="34" charset="0"/>
                <a:cs typeface="Arial" pitchFamily="34" charset="0"/>
              </a:rPr>
              <a:t>ko</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00" b="0" i="0" u="none" strike="noStrike" cap="none" normalizeH="0" baseline="0" dirty="0" err="1" smtClean="0">
                <a:ln>
                  <a:noFill/>
                </a:ln>
                <a:solidFill>
                  <a:schemeClr val="tx1"/>
                </a:solidFill>
                <a:effectLst/>
                <a:latin typeface="Arial" pitchFamily="34" charset="0"/>
                <a:cs typeface="Arial" pitchFamily="34" charset="0"/>
              </a:rPr>
              <a:t>Diko</a:t>
            </a:r>
            <a:r>
              <a:rPr kumimoji="0" lang="en-US" sz="1800" b="0" i="0" u="none" strike="noStrike" cap="none" normalizeH="0" baseline="0" dirty="0" smtClean="0">
                <a:ln>
                  <a:noFill/>
                </a:ln>
                <a:solidFill>
                  <a:schemeClr val="tx1"/>
                </a:solidFill>
                <a:effectLst/>
                <a:latin typeface="Arial" pitchFamily="34" charset="0"/>
                <a:cs typeface="Arial" pitchFamily="34" charset="0"/>
              </a:rPr>
              <a:t> </a:t>
            </a:r>
            <a:r>
              <a:rPr kumimoji="0" lang="en-US" sz="1800" b="0" i="0" u="none" strike="noStrike" cap="none" normalizeH="0" baseline="0" dirty="0" err="1" smtClean="0">
                <a:ln>
                  <a:noFill/>
                </a:ln>
                <a:solidFill>
                  <a:schemeClr val="tx1"/>
                </a:solidFill>
                <a:effectLst/>
                <a:latin typeface="Arial" pitchFamily="34" charset="0"/>
                <a:cs typeface="Arial" pitchFamily="34" charset="0"/>
              </a:rPr>
              <a:t>kaya</a:t>
            </a:r>
            <a:r>
              <a:rPr kumimoji="0" lang="en-US" sz="1800" b="0" i="0" u="none" strike="noStrike" cap="none" normalizeH="0" baseline="0" dirty="0" smtClean="0">
                <a:ln>
                  <a:noFill/>
                </a:ln>
                <a:solidFill>
                  <a:schemeClr val="tx1"/>
                </a:solidFill>
                <a:effectLst/>
                <a:latin typeface="Arial" pitchFamily="34" charset="0"/>
                <a:cs typeface="Arial"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tab pos="0" algn="l"/>
                <a:tab pos="68580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(It’s difficult, I don’t like it, I can’t do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5. Which drive can motivate him to perform the learning task? The drive to  </a:t>
            </a:r>
            <a:r>
              <a:rPr lang="en-US" dirty="0" smtClean="0"/>
              <a:t>____.</a:t>
            </a:r>
          </a:p>
          <a:p>
            <a:r>
              <a:rPr lang="en-US" dirty="0" smtClean="0"/>
              <a:t>achieve</a:t>
            </a:r>
            <a:endParaRPr lang="en-US" dirty="0"/>
          </a:p>
          <a:p>
            <a:pPr lvl="0"/>
            <a:r>
              <a:rPr lang="en-US" dirty="0"/>
              <a:t>have power</a:t>
            </a:r>
          </a:p>
          <a:p>
            <a:pPr lvl="0"/>
            <a:r>
              <a:rPr lang="en-US" dirty="0"/>
              <a:t>affiliate</a:t>
            </a:r>
          </a:p>
          <a:p>
            <a:pPr lvl="0"/>
            <a:r>
              <a:rPr lang="en-US" dirty="0"/>
              <a:t>to be free</a:t>
            </a: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5. Which drive can motivate him to perform the learning task? The drive to  </a:t>
            </a:r>
            <a:r>
              <a:rPr lang="en-US" dirty="0" smtClean="0"/>
              <a:t>____.</a:t>
            </a:r>
          </a:p>
          <a:p>
            <a:r>
              <a:rPr lang="en-US" b="1" dirty="0" smtClean="0"/>
              <a:t>achieve</a:t>
            </a:r>
            <a:endParaRPr lang="en-US" b="1" dirty="0"/>
          </a:p>
          <a:p>
            <a:pPr lvl="0"/>
            <a:r>
              <a:rPr lang="en-US" dirty="0"/>
              <a:t>have power</a:t>
            </a:r>
          </a:p>
          <a:p>
            <a:pPr lvl="0"/>
            <a:r>
              <a:rPr lang="en-US" dirty="0"/>
              <a:t>affiliate</a:t>
            </a:r>
          </a:p>
          <a:p>
            <a:pPr lvl="0"/>
            <a:r>
              <a:rPr lang="en-US" dirty="0"/>
              <a:t>to be free</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6. To which factor can you attribute his perceive inability to perform the task? To a factor ____.</a:t>
            </a:r>
          </a:p>
          <a:p>
            <a:pPr lvl="0">
              <a:buNone/>
            </a:pPr>
            <a:r>
              <a:rPr lang="en-US" dirty="0" err="1" smtClean="0"/>
              <a:t>i.within</a:t>
            </a:r>
            <a:r>
              <a:rPr lang="en-US" dirty="0" smtClean="0"/>
              <a:t> </a:t>
            </a:r>
            <a:r>
              <a:rPr lang="en-US" dirty="0"/>
              <a:t>him</a:t>
            </a:r>
          </a:p>
          <a:p>
            <a:pPr lvl="0">
              <a:buNone/>
            </a:pPr>
            <a:r>
              <a:rPr lang="en-US" dirty="0" err="1" smtClean="0"/>
              <a:t>ii.outside</a:t>
            </a:r>
            <a:r>
              <a:rPr lang="en-US" dirty="0" smtClean="0"/>
              <a:t> </a:t>
            </a:r>
            <a:r>
              <a:rPr lang="en-US" dirty="0"/>
              <a:t>his control</a:t>
            </a:r>
          </a:p>
          <a:p>
            <a:pPr lvl="0">
              <a:buNone/>
            </a:pPr>
            <a:r>
              <a:rPr lang="en-US" dirty="0" err="1" smtClean="0"/>
              <a:t>iii.which</a:t>
            </a:r>
            <a:r>
              <a:rPr lang="en-US" dirty="0" smtClean="0"/>
              <a:t> </a:t>
            </a:r>
            <a:r>
              <a:rPr lang="en-US" dirty="0"/>
              <a:t>is stable</a:t>
            </a:r>
          </a:p>
          <a:p>
            <a:pPr lvl="0">
              <a:buNone/>
            </a:pPr>
            <a:r>
              <a:rPr lang="en-US" dirty="0" err="1" smtClean="0"/>
              <a:t>iv.within</a:t>
            </a:r>
            <a:r>
              <a:rPr lang="en-US" dirty="0" smtClean="0"/>
              <a:t> </a:t>
            </a:r>
            <a:r>
              <a:rPr lang="en-US" dirty="0"/>
              <a:t>his </a:t>
            </a:r>
            <a:r>
              <a:rPr lang="en-US" dirty="0" smtClean="0"/>
              <a:t>control</a:t>
            </a:r>
          </a:p>
          <a:p>
            <a:pPr lvl="0">
              <a:buNone/>
            </a:pPr>
            <a:r>
              <a:rPr lang="en-US" dirty="0" err="1" smtClean="0"/>
              <a:t>a.I</a:t>
            </a:r>
            <a:r>
              <a:rPr lang="en-US" dirty="0" smtClean="0"/>
              <a:t> </a:t>
            </a:r>
            <a:r>
              <a:rPr lang="en-US" dirty="0"/>
              <a:t>and IV</a:t>
            </a:r>
          </a:p>
          <a:p>
            <a:pPr lvl="0">
              <a:buNone/>
            </a:pPr>
            <a:r>
              <a:rPr lang="en-US" dirty="0" smtClean="0"/>
              <a:t>b. II </a:t>
            </a:r>
            <a:r>
              <a:rPr lang="en-US" dirty="0"/>
              <a:t>and III</a:t>
            </a:r>
          </a:p>
          <a:p>
            <a:pPr lvl="0">
              <a:buNone/>
            </a:pPr>
            <a:r>
              <a:rPr lang="en-US" dirty="0" smtClean="0"/>
              <a:t>c. I </a:t>
            </a:r>
            <a:r>
              <a:rPr lang="en-US" dirty="0"/>
              <a:t>only</a:t>
            </a:r>
          </a:p>
          <a:p>
            <a:pPr lvl="0">
              <a:buNone/>
            </a:pPr>
            <a:r>
              <a:rPr lang="en-US" dirty="0" err="1" smtClean="0"/>
              <a:t>d.IV</a:t>
            </a:r>
            <a:r>
              <a:rPr lang="en-US" dirty="0" smtClean="0"/>
              <a:t> </a:t>
            </a:r>
            <a:r>
              <a:rPr lang="en-US" dirty="0"/>
              <a:t>only</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6. To which factor can you attribute his perceive inability to perform the task? To a factor ____.</a:t>
            </a:r>
          </a:p>
          <a:p>
            <a:pPr lvl="0">
              <a:buNone/>
            </a:pPr>
            <a:r>
              <a:rPr lang="en-US" dirty="0" err="1" smtClean="0"/>
              <a:t>i.within</a:t>
            </a:r>
            <a:r>
              <a:rPr lang="en-US" dirty="0" smtClean="0"/>
              <a:t> </a:t>
            </a:r>
            <a:r>
              <a:rPr lang="en-US" dirty="0"/>
              <a:t>him</a:t>
            </a:r>
          </a:p>
          <a:p>
            <a:pPr lvl="0">
              <a:buNone/>
            </a:pPr>
            <a:r>
              <a:rPr lang="en-US" dirty="0" err="1" smtClean="0"/>
              <a:t>ii.outside</a:t>
            </a:r>
            <a:r>
              <a:rPr lang="en-US" dirty="0" smtClean="0"/>
              <a:t> </a:t>
            </a:r>
            <a:r>
              <a:rPr lang="en-US" dirty="0"/>
              <a:t>his control</a:t>
            </a:r>
          </a:p>
          <a:p>
            <a:pPr lvl="0">
              <a:buNone/>
            </a:pPr>
            <a:r>
              <a:rPr lang="en-US" dirty="0" err="1" smtClean="0"/>
              <a:t>iii.which</a:t>
            </a:r>
            <a:r>
              <a:rPr lang="en-US" dirty="0" smtClean="0"/>
              <a:t> </a:t>
            </a:r>
            <a:r>
              <a:rPr lang="en-US" dirty="0"/>
              <a:t>is stable</a:t>
            </a:r>
          </a:p>
          <a:p>
            <a:pPr lvl="0">
              <a:buNone/>
            </a:pPr>
            <a:r>
              <a:rPr lang="en-US" dirty="0" err="1" smtClean="0"/>
              <a:t>iv.within</a:t>
            </a:r>
            <a:r>
              <a:rPr lang="en-US" dirty="0" smtClean="0"/>
              <a:t> </a:t>
            </a:r>
            <a:r>
              <a:rPr lang="en-US" dirty="0"/>
              <a:t>his </a:t>
            </a:r>
            <a:r>
              <a:rPr lang="en-US" dirty="0" smtClean="0"/>
              <a:t>control</a:t>
            </a:r>
          </a:p>
          <a:p>
            <a:pPr lvl="0">
              <a:buNone/>
            </a:pPr>
            <a:r>
              <a:rPr lang="en-US" b="1" dirty="0" err="1" smtClean="0"/>
              <a:t>a.I</a:t>
            </a:r>
            <a:r>
              <a:rPr lang="en-US" b="1" dirty="0" smtClean="0"/>
              <a:t> </a:t>
            </a:r>
            <a:r>
              <a:rPr lang="en-US" b="1" dirty="0"/>
              <a:t>and IV</a:t>
            </a:r>
          </a:p>
          <a:p>
            <a:pPr lvl="0">
              <a:buNone/>
            </a:pPr>
            <a:r>
              <a:rPr lang="en-US" dirty="0" smtClean="0"/>
              <a:t>b. II </a:t>
            </a:r>
            <a:r>
              <a:rPr lang="en-US" dirty="0"/>
              <a:t>and III</a:t>
            </a:r>
          </a:p>
          <a:p>
            <a:pPr lvl="0">
              <a:buNone/>
            </a:pPr>
            <a:r>
              <a:rPr lang="en-US" dirty="0" smtClean="0"/>
              <a:t>c. I </a:t>
            </a:r>
            <a:r>
              <a:rPr lang="en-US" dirty="0"/>
              <a:t>only</a:t>
            </a:r>
          </a:p>
          <a:p>
            <a:pPr lvl="0">
              <a:buNone/>
            </a:pPr>
            <a:r>
              <a:rPr lang="en-US" dirty="0" err="1" smtClean="0"/>
              <a:t>d.IV</a:t>
            </a:r>
            <a:r>
              <a:rPr lang="en-US" dirty="0" smtClean="0"/>
              <a:t> </a:t>
            </a:r>
            <a:r>
              <a:rPr lang="en-US" dirty="0"/>
              <a:t>only</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7. Is it possible to motivate this type of student?</a:t>
            </a:r>
          </a:p>
          <a:p>
            <a:pPr lvl="0"/>
            <a:r>
              <a:rPr lang="en-US" dirty="0"/>
              <a:t>Yes, he can do something with his ability.</a:t>
            </a:r>
          </a:p>
          <a:p>
            <a:pPr lvl="0"/>
            <a:r>
              <a:rPr lang="en-US" dirty="0"/>
              <a:t>Yes, he can change the nature of the job.</a:t>
            </a:r>
          </a:p>
          <a:p>
            <a:pPr lvl="0"/>
            <a:r>
              <a:rPr lang="en-US" dirty="0"/>
              <a:t>No, it is impossible to motivate a student who himself is not motivated.</a:t>
            </a:r>
          </a:p>
          <a:p>
            <a:pPr lvl="0"/>
            <a:r>
              <a:rPr lang="en-US" dirty="0"/>
              <a:t>No, motivation is totally dependent on the student. No person outside him can influence him.</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7. Is it possible to motivate this type of student?</a:t>
            </a:r>
          </a:p>
          <a:p>
            <a:pPr lvl="0"/>
            <a:r>
              <a:rPr lang="en-US" b="1" dirty="0"/>
              <a:t>Yes, he can do something with his ability.</a:t>
            </a:r>
          </a:p>
          <a:p>
            <a:pPr lvl="0"/>
            <a:r>
              <a:rPr lang="en-US" dirty="0"/>
              <a:t>Yes, he can change the nature of the job.</a:t>
            </a:r>
          </a:p>
          <a:p>
            <a:pPr lvl="0"/>
            <a:r>
              <a:rPr lang="en-US" dirty="0"/>
              <a:t>No, it is impossible to motivate a student who himself is not motivated.</a:t>
            </a:r>
          </a:p>
          <a:p>
            <a:pPr lvl="0"/>
            <a:r>
              <a:rPr lang="en-US" dirty="0"/>
              <a:t>No, motivation is totally dependent on the student. No person outside him can influence him.</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8. To which problem does the case of the student allude?</a:t>
            </a:r>
          </a:p>
          <a:p>
            <a:pPr lvl="0"/>
            <a:r>
              <a:rPr lang="en-US" dirty="0"/>
              <a:t>Unmotivated students</a:t>
            </a:r>
          </a:p>
          <a:p>
            <a:pPr lvl="0"/>
            <a:r>
              <a:rPr lang="en-US" dirty="0"/>
              <a:t>Uncaring </a:t>
            </a:r>
            <a:r>
              <a:rPr lang="en-US" dirty="0" smtClean="0"/>
              <a:t>teachers</a:t>
            </a:r>
            <a:endParaRPr lang="en-US" dirty="0"/>
          </a:p>
          <a:p>
            <a:pPr lvl="0"/>
            <a:r>
              <a:rPr lang="en-US" dirty="0"/>
              <a:t>Extremely difficult learning tasks</a:t>
            </a:r>
          </a:p>
          <a:p>
            <a:pPr lvl="0"/>
            <a:r>
              <a:rPr lang="en-US" dirty="0"/>
              <a:t>Incompetent </a:t>
            </a:r>
            <a:r>
              <a:rPr lang="en-US" dirty="0" smtClean="0"/>
              <a:t>teachers</a:t>
            </a:r>
          </a:p>
          <a:p>
            <a:pPr lvl="0">
              <a:buNone/>
            </a:pPr>
            <a:endParaRPr lang="en-US" dirty="0"/>
          </a:p>
          <a:p>
            <a:pPr lvl="0"/>
            <a:r>
              <a:rPr lang="en-US" dirty="0"/>
              <a:t>I and III</a:t>
            </a:r>
          </a:p>
          <a:p>
            <a:pPr lvl="0"/>
            <a:r>
              <a:rPr lang="en-US" dirty="0"/>
              <a:t>I and II</a:t>
            </a:r>
          </a:p>
          <a:p>
            <a:pPr lvl="0"/>
            <a:r>
              <a:rPr lang="en-US" dirty="0"/>
              <a:t>II and </a:t>
            </a:r>
            <a:r>
              <a:rPr lang="en-US" dirty="0" smtClean="0"/>
              <a:t>III</a:t>
            </a:r>
            <a:r>
              <a:rPr lang="en-US" dirty="0"/>
              <a:t> </a:t>
            </a:r>
          </a:p>
          <a:p>
            <a:r>
              <a:rPr lang="en-US" dirty="0"/>
              <a:t>I II III and IV</a:t>
            </a:r>
            <a:r>
              <a:rPr lang="en-US" dirty="0" smtClean="0"/>
              <a:t>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8. To which problem does the case of the student allude?</a:t>
            </a:r>
          </a:p>
          <a:p>
            <a:pPr lvl="0"/>
            <a:r>
              <a:rPr lang="en-US" dirty="0"/>
              <a:t>Unmotivated students</a:t>
            </a:r>
          </a:p>
          <a:p>
            <a:pPr lvl="0"/>
            <a:r>
              <a:rPr lang="en-US" dirty="0"/>
              <a:t>Uncaring </a:t>
            </a:r>
            <a:r>
              <a:rPr lang="en-US" dirty="0" smtClean="0"/>
              <a:t>teachers</a:t>
            </a:r>
            <a:endParaRPr lang="en-US" dirty="0"/>
          </a:p>
          <a:p>
            <a:pPr lvl="0"/>
            <a:r>
              <a:rPr lang="en-US" dirty="0"/>
              <a:t>Extremely difficult learning tasks</a:t>
            </a:r>
          </a:p>
          <a:p>
            <a:pPr lvl="0"/>
            <a:r>
              <a:rPr lang="en-US" dirty="0"/>
              <a:t>Incompetent </a:t>
            </a:r>
            <a:r>
              <a:rPr lang="en-US" dirty="0" smtClean="0"/>
              <a:t>teachers</a:t>
            </a:r>
          </a:p>
          <a:p>
            <a:pPr lvl="0">
              <a:buNone/>
            </a:pPr>
            <a:endParaRPr lang="en-US" dirty="0"/>
          </a:p>
          <a:p>
            <a:pPr lvl="0"/>
            <a:r>
              <a:rPr lang="en-US" b="1" dirty="0"/>
              <a:t>I and III</a:t>
            </a:r>
          </a:p>
          <a:p>
            <a:pPr lvl="0"/>
            <a:r>
              <a:rPr lang="en-US" dirty="0"/>
              <a:t>I and II</a:t>
            </a:r>
          </a:p>
          <a:p>
            <a:pPr lvl="0"/>
            <a:r>
              <a:rPr lang="en-US" dirty="0"/>
              <a:t>II and </a:t>
            </a:r>
            <a:r>
              <a:rPr lang="en-US" dirty="0" smtClean="0"/>
              <a:t>III</a:t>
            </a:r>
            <a:r>
              <a:rPr lang="en-US" dirty="0"/>
              <a:t> </a:t>
            </a:r>
          </a:p>
          <a:p>
            <a:r>
              <a:rPr lang="en-US" dirty="0"/>
              <a:t>I II III and IV</a:t>
            </a:r>
            <a:r>
              <a:rPr lang="en-US" dirty="0" smtClean="0"/>
              <a:t>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dirty="0"/>
              <a:t>9. Which does he/she want his/her teachers to do?</a:t>
            </a:r>
          </a:p>
          <a:p>
            <a:pPr lvl="0"/>
            <a:r>
              <a:rPr lang="en-US" dirty="0"/>
              <a:t>Make her students derive meaning from what is presented</a:t>
            </a:r>
          </a:p>
          <a:p>
            <a:pPr lvl="0"/>
            <a:r>
              <a:rPr lang="en-US" dirty="0"/>
              <a:t>Give the meaning of what she presents</a:t>
            </a:r>
          </a:p>
          <a:p>
            <a:pPr lvl="0"/>
            <a:r>
              <a:rPr lang="en-US" dirty="0"/>
              <a:t>Let her students construct meaningful sentences based on the lesson</a:t>
            </a:r>
          </a:p>
          <a:p>
            <a:pPr lvl="0"/>
            <a:r>
              <a:rPr lang="en-US" dirty="0"/>
              <a:t>Require her students to come up with a construct of the lesson</a:t>
            </a:r>
          </a:p>
          <a:p>
            <a:pPr>
              <a:buNone/>
            </a:pPr>
            <a:endParaRPr lang="en-US" dirty="0"/>
          </a:p>
        </p:txBody>
      </p:sp>
      <p:sp>
        <p:nvSpPr>
          <p:cNvPr id="3993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0" algn="l"/>
                <a:tab pos="628650" algn="l"/>
                <a:tab pos="685800" algn="l"/>
                <a:tab pos="742950" algn="l"/>
                <a:tab pos="914400" algn="l"/>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9937" name="Text Box 1"/>
          <p:cNvSpPr txBox="1">
            <a:spLocks noChangeArrowheads="1"/>
          </p:cNvSpPr>
          <p:nvPr/>
        </p:nvSpPr>
        <p:spPr bwMode="auto">
          <a:xfrm>
            <a:off x="-60325" y="458788"/>
            <a:ext cx="8366125" cy="45561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9939" name="Rectangle 3"/>
          <p:cNvSpPr>
            <a:spLocks noChangeArrowheads="1"/>
          </p:cNvSpPr>
          <p:nvPr/>
        </p:nvSpPr>
        <p:spPr bwMode="auto">
          <a:xfrm>
            <a:off x="0" y="457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Read the answer.</a:t>
            </a:r>
          </a:p>
          <a:p>
            <a:pPr marL="0" marR="0" lvl="0" indent="0" algn="just" defTabSz="914400" rtl="0" eaLnBrk="0" fontAlgn="base" latinLnBrk="0" hangingPunct="0">
              <a:lnSpc>
                <a:spcPct val="100000"/>
              </a:lnSpc>
              <a:spcBef>
                <a:spcPct val="0"/>
              </a:spcBef>
              <a:spcAft>
                <a:spcPct val="0"/>
              </a:spcAft>
              <a:buClrTx/>
              <a:buSzTx/>
              <a:buFontTx/>
              <a:buNone/>
              <a:tabLst>
                <a:tab pos="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Principal A wants her teachers to be constructivist in their teaching orientation.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dirty="0"/>
              <a:t>9. Which does he/she want his/her teachers to do?</a:t>
            </a:r>
          </a:p>
          <a:p>
            <a:pPr lvl="0"/>
            <a:r>
              <a:rPr lang="en-US" b="1" dirty="0"/>
              <a:t>Make her students derive meaning from what is presented</a:t>
            </a:r>
          </a:p>
          <a:p>
            <a:pPr lvl="0"/>
            <a:r>
              <a:rPr lang="en-US" dirty="0"/>
              <a:t>Give the meaning of what she presents</a:t>
            </a:r>
          </a:p>
          <a:p>
            <a:pPr lvl="0"/>
            <a:r>
              <a:rPr lang="en-US" dirty="0"/>
              <a:t>Let her students construct meaningful sentences based on the lesson</a:t>
            </a:r>
          </a:p>
          <a:p>
            <a:pPr lvl="0"/>
            <a:r>
              <a:rPr lang="en-US" dirty="0"/>
              <a:t>Require her students to come up with a construct of the lesson</a:t>
            </a:r>
          </a:p>
          <a:p>
            <a:pPr>
              <a:buNone/>
            </a:pPr>
            <a:endParaRPr lang="en-US" dirty="0"/>
          </a:p>
        </p:txBody>
      </p:sp>
      <p:sp>
        <p:nvSpPr>
          <p:cNvPr id="3993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0" algn="l"/>
                <a:tab pos="628650" algn="l"/>
                <a:tab pos="685800" algn="l"/>
                <a:tab pos="742950" algn="l"/>
                <a:tab pos="914400" algn="l"/>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9937" name="Text Box 1"/>
          <p:cNvSpPr txBox="1">
            <a:spLocks noChangeArrowheads="1"/>
          </p:cNvSpPr>
          <p:nvPr/>
        </p:nvSpPr>
        <p:spPr bwMode="auto">
          <a:xfrm>
            <a:off x="-60325" y="458788"/>
            <a:ext cx="8366125" cy="45561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9939" name="Rectangle 3"/>
          <p:cNvSpPr>
            <a:spLocks noChangeArrowheads="1"/>
          </p:cNvSpPr>
          <p:nvPr/>
        </p:nvSpPr>
        <p:spPr bwMode="auto">
          <a:xfrm>
            <a:off x="0" y="457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Read the answer.</a:t>
            </a:r>
          </a:p>
          <a:p>
            <a:pPr marL="0" marR="0" lvl="0" indent="0" algn="just" defTabSz="914400" rtl="0" eaLnBrk="0" fontAlgn="base" latinLnBrk="0" hangingPunct="0">
              <a:lnSpc>
                <a:spcPct val="100000"/>
              </a:lnSpc>
              <a:spcBef>
                <a:spcPct val="0"/>
              </a:spcBef>
              <a:spcAft>
                <a:spcPct val="0"/>
              </a:spcAft>
              <a:buClrTx/>
              <a:buSzTx/>
              <a:buFontTx/>
              <a:buNone/>
              <a:tabLst>
                <a:tab pos="0" algn="l"/>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Principal A wants her teachers to be constructivist in their teaching orientation.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10</a:t>
            </a:r>
            <a:r>
              <a:rPr lang="en-US" dirty="0"/>
              <a:t>. Which one should teachers then avoid? Students’____</a:t>
            </a:r>
          </a:p>
          <a:p>
            <a:pPr lvl="0"/>
            <a:r>
              <a:rPr lang="en-US" dirty="0"/>
              <a:t>reflection</a:t>
            </a:r>
          </a:p>
          <a:p>
            <a:pPr lvl="0"/>
            <a:r>
              <a:rPr lang="en-US" dirty="0"/>
              <a:t>memorization of facts for testing</a:t>
            </a:r>
          </a:p>
          <a:p>
            <a:pPr lvl="0"/>
            <a:r>
              <a:rPr lang="en-US" dirty="0"/>
              <a:t>inquiry</a:t>
            </a:r>
          </a:p>
          <a:p>
            <a:pPr lvl="0"/>
            <a:r>
              <a:rPr lang="en-US" dirty="0"/>
              <a:t>self – directed learning</a:t>
            </a:r>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10</a:t>
            </a:r>
            <a:r>
              <a:rPr lang="en-US" dirty="0"/>
              <a:t>. Which one should teachers then avoid? Students’____</a:t>
            </a:r>
          </a:p>
          <a:p>
            <a:pPr lvl="0"/>
            <a:r>
              <a:rPr lang="en-US" dirty="0"/>
              <a:t>reflection</a:t>
            </a:r>
          </a:p>
          <a:p>
            <a:pPr lvl="0"/>
            <a:r>
              <a:rPr lang="en-US" b="1" dirty="0"/>
              <a:t>memorization of facts for testing</a:t>
            </a:r>
          </a:p>
          <a:p>
            <a:pPr lvl="0"/>
            <a:r>
              <a:rPr lang="en-US" dirty="0"/>
              <a:t>inquiry</a:t>
            </a:r>
          </a:p>
          <a:p>
            <a:pPr lvl="0"/>
            <a:r>
              <a:rPr lang="en-US" dirty="0"/>
              <a:t>self – directed learning</a:t>
            </a:r>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11</a:t>
            </a:r>
            <a:r>
              <a:rPr lang="en-US" dirty="0"/>
              <a:t>. Which material will teachers most likely to use?</a:t>
            </a:r>
          </a:p>
          <a:p>
            <a:pPr lvl="0"/>
            <a:r>
              <a:rPr lang="en-US" dirty="0"/>
              <a:t>Facts</a:t>
            </a:r>
          </a:p>
          <a:p>
            <a:pPr lvl="0"/>
            <a:r>
              <a:rPr lang="en-US" dirty="0"/>
              <a:t>Laws</a:t>
            </a:r>
          </a:p>
          <a:p>
            <a:pPr lvl="0"/>
            <a:r>
              <a:rPr lang="en-US" dirty="0"/>
              <a:t>Time – tested principles</a:t>
            </a:r>
          </a:p>
          <a:p>
            <a:pPr lvl="0"/>
            <a:r>
              <a:rPr lang="en-US" dirty="0"/>
              <a:t>Hypothesis</a:t>
            </a:r>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11</a:t>
            </a:r>
            <a:r>
              <a:rPr lang="en-US" dirty="0"/>
              <a:t>. Which material will teachers most likely to use?</a:t>
            </a:r>
          </a:p>
          <a:p>
            <a:pPr lvl="0"/>
            <a:r>
              <a:rPr lang="en-US" dirty="0"/>
              <a:t>Facts</a:t>
            </a:r>
          </a:p>
          <a:p>
            <a:pPr lvl="0"/>
            <a:r>
              <a:rPr lang="en-US" dirty="0"/>
              <a:t>Laws</a:t>
            </a:r>
          </a:p>
          <a:p>
            <a:pPr lvl="0"/>
            <a:r>
              <a:rPr lang="en-US" dirty="0"/>
              <a:t>Time – tested principles</a:t>
            </a:r>
          </a:p>
          <a:p>
            <a:pPr lvl="0"/>
            <a:r>
              <a:rPr lang="en-US" b="1" dirty="0"/>
              <a:t>Hypothesis</a:t>
            </a:r>
          </a:p>
          <a:p>
            <a:pP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12. Which material will teachers most likely AVOID?</a:t>
            </a:r>
          </a:p>
          <a:p>
            <a:pPr lvl="0"/>
            <a:r>
              <a:rPr lang="en-US" dirty="0"/>
              <a:t>Controversial issues</a:t>
            </a:r>
          </a:p>
          <a:p>
            <a:pPr lvl="0"/>
            <a:r>
              <a:rPr lang="en-US" dirty="0"/>
              <a:t>Unquestionable laws</a:t>
            </a:r>
          </a:p>
          <a:p>
            <a:pPr lvl="0"/>
            <a:r>
              <a:rPr lang="en-US" dirty="0"/>
              <a:t>Open – ended topics</a:t>
            </a:r>
          </a:p>
          <a:p>
            <a:pPr lvl="0"/>
            <a:r>
              <a:rPr lang="en-US" dirty="0"/>
              <a:t>Problem or cases</a:t>
            </a:r>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12. Which material will teachers most likely AVOID?</a:t>
            </a:r>
          </a:p>
          <a:p>
            <a:pPr lvl="0"/>
            <a:r>
              <a:rPr lang="en-US" dirty="0"/>
              <a:t>Controversial issues</a:t>
            </a:r>
          </a:p>
          <a:p>
            <a:pPr lvl="0"/>
            <a:r>
              <a:rPr lang="en-US" b="1" dirty="0"/>
              <a:t>Unquestionable laws</a:t>
            </a:r>
          </a:p>
          <a:p>
            <a:pPr lvl="0"/>
            <a:r>
              <a:rPr lang="en-US" dirty="0"/>
              <a:t>Open – ended topics</a:t>
            </a:r>
          </a:p>
          <a:p>
            <a:pPr lvl="0"/>
            <a:r>
              <a:rPr lang="en-US" dirty="0"/>
              <a:t>Problem or cases</a:t>
            </a:r>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buNone/>
            </a:pPr>
            <a:r>
              <a:rPr lang="en-US" dirty="0"/>
              <a:t>13. On which assumption/s is the principal’s action anchored?</a:t>
            </a:r>
          </a:p>
          <a:p>
            <a:pPr lvl="0"/>
            <a:r>
              <a:rPr lang="en-US" dirty="0"/>
              <a:t>Students learn by personally constructing meaning of what is taught.</a:t>
            </a:r>
          </a:p>
          <a:p>
            <a:pPr lvl="0"/>
            <a:r>
              <a:rPr lang="en-US" dirty="0"/>
              <a:t>Students construct and reconstruct meanings based on experiences.</a:t>
            </a:r>
          </a:p>
          <a:p>
            <a:pPr lvl="0"/>
            <a:r>
              <a:rPr lang="en-US" dirty="0"/>
              <a:t>Students derive meaning from the meaning that the teacher gives</a:t>
            </a:r>
            <a:r>
              <a:rPr lang="en-US" dirty="0" smtClean="0"/>
              <a:t>.</a:t>
            </a:r>
          </a:p>
          <a:p>
            <a:pPr lvl="0">
              <a:buNone/>
            </a:pPr>
            <a:endParaRPr lang="en-US" dirty="0"/>
          </a:p>
          <a:p>
            <a:pPr lvl="0"/>
            <a:r>
              <a:rPr lang="en-US" dirty="0"/>
              <a:t>I and III</a:t>
            </a:r>
          </a:p>
          <a:p>
            <a:pPr lvl="0"/>
            <a:r>
              <a:rPr lang="en-US" dirty="0"/>
              <a:t>I only</a:t>
            </a:r>
          </a:p>
          <a:p>
            <a:pPr lvl="0"/>
            <a:r>
              <a:rPr lang="en-US" dirty="0"/>
              <a:t>I and II</a:t>
            </a:r>
          </a:p>
          <a:p>
            <a:pPr lvl="0"/>
            <a:r>
              <a:rPr lang="en-US" dirty="0"/>
              <a:t>II only</a:t>
            </a:r>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buNone/>
            </a:pPr>
            <a:r>
              <a:rPr lang="en-US" dirty="0"/>
              <a:t>13. On which assumption/s is the principal’s action anchored?</a:t>
            </a:r>
          </a:p>
          <a:p>
            <a:pPr lvl="0"/>
            <a:r>
              <a:rPr lang="en-US" dirty="0"/>
              <a:t>Students learn by personally constructing meaning of what is taught.</a:t>
            </a:r>
          </a:p>
          <a:p>
            <a:pPr lvl="0"/>
            <a:r>
              <a:rPr lang="en-US" dirty="0"/>
              <a:t>Students construct and reconstruct meanings based on experiences.</a:t>
            </a:r>
          </a:p>
          <a:p>
            <a:pPr lvl="0"/>
            <a:r>
              <a:rPr lang="en-US" dirty="0"/>
              <a:t>Students derive meaning from the meaning that the teacher gives</a:t>
            </a:r>
            <a:r>
              <a:rPr lang="en-US" dirty="0" smtClean="0"/>
              <a:t>.</a:t>
            </a:r>
          </a:p>
          <a:p>
            <a:pPr lvl="0">
              <a:buNone/>
            </a:pPr>
            <a:endParaRPr lang="en-US" dirty="0"/>
          </a:p>
          <a:p>
            <a:pPr lvl="0"/>
            <a:r>
              <a:rPr lang="en-US" dirty="0"/>
              <a:t>I and III</a:t>
            </a:r>
          </a:p>
          <a:p>
            <a:pPr lvl="0"/>
            <a:r>
              <a:rPr lang="en-US" dirty="0"/>
              <a:t>I only</a:t>
            </a:r>
          </a:p>
          <a:p>
            <a:pPr lvl="0"/>
            <a:r>
              <a:rPr lang="en-US" b="1" dirty="0"/>
              <a:t>I and II</a:t>
            </a:r>
          </a:p>
          <a:p>
            <a:pPr lvl="0"/>
            <a:r>
              <a:rPr lang="en-US" dirty="0"/>
              <a:t>II only</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14. What do the school campus expressions “</a:t>
            </a:r>
            <a:r>
              <a:rPr lang="en-US" dirty="0" err="1"/>
              <a:t>promdi</a:t>
            </a:r>
            <a:r>
              <a:rPr lang="en-US" dirty="0"/>
              <a:t>” and “</a:t>
            </a:r>
            <a:r>
              <a:rPr lang="en-US" dirty="0" err="1"/>
              <a:t>barriotic</a:t>
            </a:r>
            <a:r>
              <a:rPr lang="en-US" dirty="0"/>
              <a:t>” indicate?</a:t>
            </a:r>
            <a:endParaRPr lang="en-US" dirty="0" smtClean="0"/>
          </a:p>
          <a:p>
            <a:pPr marL="514350" indent="-514350">
              <a:buAutoNum type="alphaUcPeriod"/>
            </a:pPr>
            <a:r>
              <a:rPr lang="en-US" dirty="0" smtClean="0"/>
              <a:t>The </a:t>
            </a:r>
            <a:r>
              <a:rPr lang="en-US" dirty="0"/>
              <a:t>powerlessness of the </a:t>
            </a:r>
            <a:r>
              <a:rPr lang="en-US" dirty="0" smtClean="0"/>
              <a:t>poor</a:t>
            </a:r>
          </a:p>
          <a:p>
            <a:pPr marL="514350" indent="-514350">
              <a:buNone/>
            </a:pPr>
            <a:r>
              <a:rPr lang="en-US" dirty="0" smtClean="0"/>
              <a:t>B</a:t>
            </a:r>
            <a:r>
              <a:rPr lang="en-US" dirty="0"/>
              <a:t>. Low literacy rate of the country</a:t>
            </a:r>
            <a:endParaRPr lang="en-US" dirty="0" smtClean="0"/>
          </a:p>
          <a:p>
            <a:pPr>
              <a:buNone/>
            </a:pPr>
            <a:r>
              <a:rPr lang="en-US" dirty="0" smtClean="0"/>
              <a:t>C</a:t>
            </a:r>
            <a:r>
              <a:rPr lang="en-US" dirty="0"/>
              <a:t>. The power of the rich</a:t>
            </a:r>
            <a:endParaRPr lang="en-US" dirty="0" smtClean="0"/>
          </a:p>
          <a:p>
            <a:pPr>
              <a:buNone/>
            </a:pPr>
            <a:r>
              <a:rPr lang="en-US" dirty="0" smtClean="0"/>
              <a:t>D</a:t>
            </a:r>
            <a:r>
              <a:rPr lang="en-US" dirty="0"/>
              <a:t>. The prevalence of ethnocentrism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14. What do the school campus expressions “</a:t>
            </a:r>
            <a:r>
              <a:rPr lang="en-US" dirty="0" err="1"/>
              <a:t>promdi</a:t>
            </a:r>
            <a:r>
              <a:rPr lang="en-US" dirty="0"/>
              <a:t>” and “</a:t>
            </a:r>
            <a:r>
              <a:rPr lang="en-US" dirty="0" err="1"/>
              <a:t>barriotic</a:t>
            </a:r>
            <a:r>
              <a:rPr lang="en-US" dirty="0"/>
              <a:t>” indicate?</a:t>
            </a:r>
            <a:endParaRPr lang="en-US" dirty="0" smtClean="0"/>
          </a:p>
          <a:p>
            <a:pPr marL="514350" indent="-514350">
              <a:buAutoNum type="alphaUcPeriod"/>
            </a:pPr>
            <a:r>
              <a:rPr lang="en-US" dirty="0" smtClean="0"/>
              <a:t>The </a:t>
            </a:r>
            <a:r>
              <a:rPr lang="en-US" dirty="0"/>
              <a:t>powerlessness of the </a:t>
            </a:r>
            <a:r>
              <a:rPr lang="en-US" dirty="0" smtClean="0"/>
              <a:t>poor</a:t>
            </a:r>
          </a:p>
          <a:p>
            <a:pPr marL="514350" indent="-514350">
              <a:buNone/>
            </a:pPr>
            <a:r>
              <a:rPr lang="en-US" dirty="0" smtClean="0"/>
              <a:t>B</a:t>
            </a:r>
            <a:r>
              <a:rPr lang="en-US" dirty="0"/>
              <a:t>. Low literacy rate of the country</a:t>
            </a:r>
            <a:endParaRPr lang="en-US" dirty="0" smtClean="0"/>
          </a:p>
          <a:p>
            <a:pPr>
              <a:buNone/>
            </a:pPr>
            <a:r>
              <a:rPr lang="en-US" dirty="0" smtClean="0"/>
              <a:t>C</a:t>
            </a:r>
            <a:r>
              <a:rPr lang="en-US" dirty="0"/>
              <a:t>. The power of the rich</a:t>
            </a:r>
            <a:endParaRPr lang="en-US" dirty="0" smtClean="0"/>
          </a:p>
          <a:p>
            <a:pPr>
              <a:buNone/>
            </a:pPr>
            <a:r>
              <a:rPr lang="en-US" b="1" dirty="0" smtClean="0"/>
              <a:t>D</a:t>
            </a:r>
            <a:r>
              <a:rPr lang="en-US" b="1" dirty="0"/>
              <a:t>. The prevalence of ethnocentrism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dirty="0"/>
              <a:t>15. Professor B once said: “We talk of developing critical thinking among our students, but when they disagree with us, we get offended.” To which Filipino trait does this point?</a:t>
            </a:r>
            <a:endParaRPr lang="en-US" dirty="0" smtClean="0"/>
          </a:p>
          <a:p>
            <a:pPr>
              <a:buNone/>
            </a:pPr>
            <a:r>
              <a:rPr lang="en-US" dirty="0" smtClean="0"/>
              <a:t>A</a:t>
            </a:r>
            <a:r>
              <a:rPr lang="en-US" dirty="0"/>
              <a:t>. Inquisitiveness of the Filipino Youth</a:t>
            </a:r>
            <a:endParaRPr lang="en-US" dirty="0" smtClean="0"/>
          </a:p>
          <a:p>
            <a:pPr>
              <a:buNone/>
            </a:pPr>
            <a:r>
              <a:rPr lang="en-US" dirty="0" smtClean="0"/>
              <a:t>B</a:t>
            </a:r>
            <a:r>
              <a:rPr lang="en-US" dirty="0"/>
              <a:t>. The lack of seriousness among Filipinos</a:t>
            </a:r>
            <a:endParaRPr lang="en-US" dirty="0" smtClean="0"/>
          </a:p>
          <a:p>
            <a:pPr>
              <a:buNone/>
            </a:pPr>
            <a:r>
              <a:rPr lang="en-US" dirty="0" smtClean="0"/>
              <a:t>C</a:t>
            </a:r>
            <a:r>
              <a:rPr lang="en-US" dirty="0"/>
              <a:t>. Extreme authoritarianism</a:t>
            </a:r>
            <a:endParaRPr lang="en-US" dirty="0" smtClean="0"/>
          </a:p>
          <a:p>
            <a:pPr>
              <a:buNone/>
            </a:pPr>
            <a:r>
              <a:rPr lang="en-US" dirty="0" smtClean="0"/>
              <a:t>D</a:t>
            </a:r>
            <a:r>
              <a:rPr lang="en-US" dirty="0"/>
              <a:t>. Lack of subjectivity</a:t>
            </a:r>
            <a:endParaRPr lang="en-US" dirty="0" smtClean="0"/>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dirty="0"/>
              <a:t>15. Professor B once said: “We talk of developing critical thinking among our students, but when they disagree with us, we get offended.” To which Filipino trait does this point?</a:t>
            </a:r>
            <a:endParaRPr lang="en-US" dirty="0" smtClean="0"/>
          </a:p>
          <a:p>
            <a:pPr>
              <a:buNone/>
            </a:pPr>
            <a:r>
              <a:rPr lang="en-US" dirty="0" smtClean="0"/>
              <a:t>A</a:t>
            </a:r>
            <a:r>
              <a:rPr lang="en-US" dirty="0"/>
              <a:t>. Inquisitiveness of the Filipino Youth</a:t>
            </a:r>
            <a:endParaRPr lang="en-US" dirty="0" smtClean="0"/>
          </a:p>
          <a:p>
            <a:pPr>
              <a:buNone/>
            </a:pPr>
            <a:r>
              <a:rPr lang="en-US" dirty="0" smtClean="0"/>
              <a:t>B</a:t>
            </a:r>
            <a:r>
              <a:rPr lang="en-US" dirty="0"/>
              <a:t>. The lack of seriousness among Filipinos</a:t>
            </a:r>
            <a:endParaRPr lang="en-US" dirty="0" smtClean="0"/>
          </a:p>
          <a:p>
            <a:pPr>
              <a:buNone/>
            </a:pPr>
            <a:r>
              <a:rPr lang="en-US" b="1" dirty="0" smtClean="0"/>
              <a:t>C</a:t>
            </a:r>
            <a:r>
              <a:rPr lang="en-US" b="1" dirty="0"/>
              <a:t>. Extreme authoritarianism</a:t>
            </a:r>
            <a:endParaRPr lang="en-US" b="1" dirty="0" smtClean="0"/>
          </a:p>
          <a:p>
            <a:pPr>
              <a:buNone/>
            </a:pPr>
            <a:r>
              <a:rPr lang="en-US" dirty="0" smtClean="0"/>
              <a:t>D</a:t>
            </a:r>
            <a:r>
              <a:rPr lang="en-US" dirty="0"/>
              <a:t>. Lack of subjectivity</a:t>
            </a:r>
            <a:endParaRPr lang="en-US" dirty="0" smtClean="0"/>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16. Between pursuing a college course where there is no demand and a vocational course which is highly in demand, the students usually opt for college course. Which Filipino value is demonstrated?</a:t>
            </a:r>
          </a:p>
          <a:p>
            <a:r>
              <a:rPr lang="en-US" dirty="0"/>
              <a:t>A. Importance of education</a:t>
            </a:r>
          </a:p>
          <a:p>
            <a:r>
              <a:rPr lang="en-US" dirty="0"/>
              <a:t>B. Penchant for a college diploma</a:t>
            </a:r>
          </a:p>
          <a:p>
            <a:r>
              <a:rPr lang="en-US" dirty="0"/>
              <a:t>C. Desire for entrepreneurship</a:t>
            </a:r>
          </a:p>
          <a:p>
            <a:r>
              <a:rPr lang="en-US" dirty="0"/>
              <a:t>D. Interest to obtain a skill</a:t>
            </a:r>
          </a:p>
          <a:p>
            <a:pPr>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16. Between pursuing a college course where there is no demand and a vocational course which is highly in demand, the students usually opt for college course. Which Filipino value is demonstrated?</a:t>
            </a:r>
          </a:p>
          <a:p>
            <a:r>
              <a:rPr lang="en-US" dirty="0"/>
              <a:t>A. Importance of education</a:t>
            </a:r>
          </a:p>
          <a:p>
            <a:r>
              <a:rPr lang="en-US" b="1" dirty="0"/>
              <a:t>B. Penchant for a college diploma</a:t>
            </a:r>
          </a:p>
          <a:p>
            <a:r>
              <a:rPr lang="en-US" dirty="0"/>
              <a:t>C. Desire for entrepreneurship</a:t>
            </a:r>
          </a:p>
          <a:p>
            <a:r>
              <a:rPr lang="en-US" dirty="0"/>
              <a:t>D. Interest to obtain a skill</a:t>
            </a:r>
          </a:p>
          <a:p>
            <a:pPr>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17. Lecturer C narrates: “I observe that when there is an English-speaking foreigner in class, more often than not, his classmates perceive him to be superior.” To which Filipino trait does this point?</a:t>
            </a:r>
          </a:p>
          <a:p>
            <a:r>
              <a:rPr lang="en-US" dirty="0"/>
              <a:t>A. Hospitality</a:t>
            </a:r>
          </a:p>
          <a:p>
            <a:r>
              <a:rPr lang="en-US" dirty="0"/>
              <a:t>B. Friendliness</a:t>
            </a:r>
          </a:p>
          <a:p>
            <a:r>
              <a:rPr lang="en-US" dirty="0"/>
              <a:t>C. Colonial mentality</a:t>
            </a:r>
          </a:p>
          <a:p>
            <a:r>
              <a:rPr lang="en-US" dirty="0"/>
              <a:t>D. Lack of confidence</a:t>
            </a:r>
          </a:p>
          <a:p>
            <a:pPr>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17. Lecturer C narrates: “I observe that when there is an English-speaking foreigner in class, more often than not, his classmates perceive him to be superior.” To which Filipino trait does this point?</a:t>
            </a:r>
          </a:p>
          <a:p>
            <a:r>
              <a:rPr lang="en-US" dirty="0"/>
              <a:t>A. Hospitality</a:t>
            </a:r>
          </a:p>
          <a:p>
            <a:r>
              <a:rPr lang="en-US" dirty="0"/>
              <a:t>B. Friendliness</a:t>
            </a:r>
          </a:p>
          <a:p>
            <a:r>
              <a:rPr lang="en-US" b="1" dirty="0"/>
              <a:t>C. Colonial mentality</a:t>
            </a:r>
          </a:p>
          <a:p>
            <a:r>
              <a:rPr lang="en-US" dirty="0"/>
              <a:t>D. Lack of confidence</a:t>
            </a:r>
          </a:p>
          <a:p>
            <a:pPr>
              <a:buNone/>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18. To ensure that all Filipino children are functionally literate, which mechanism is meant to reach out to children who come from a </a:t>
            </a:r>
            <a:r>
              <a:rPr lang="en-US" dirty="0" err="1"/>
              <a:t>barangay</a:t>
            </a:r>
            <a:r>
              <a:rPr lang="en-US" dirty="0"/>
              <a:t> without a school?</a:t>
            </a:r>
          </a:p>
          <a:p>
            <a:r>
              <a:rPr lang="en-US" dirty="0"/>
              <a:t>A. Mobile teacher</a:t>
            </a:r>
          </a:p>
          <a:p>
            <a:r>
              <a:rPr lang="en-US" dirty="0"/>
              <a:t>B. Multi-level classroom</a:t>
            </a:r>
          </a:p>
          <a:p>
            <a:r>
              <a:rPr lang="en-US" dirty="0"/>
              <a:t>C. Multi-grade classroom</a:t>
            </a:r>
          </a:p>
          <a:p>
            <a:r>
              <a:rPr lang="en-US" dirty="0"/>
              <a:t>D. Sine </a:t>
            </a:r>
            <a:r>
              <a:rPr lang="en-US" dirty="0" err="1"/>
              <a:t>Eskwela</a:t>
            </a:r>
            <a:endParaRPr lang="en-US" dirty="0"/>
          </a:p>
          <a:p>
            <a:pPr>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18. To ensure that all Filipino children are functionally literate, which mechanism is meant to reach out to children who come from a </a:t>
            </a:r>
            <a:r>
              <a:rPr lang="en-US" dirty="0" err="1"/>
              <a:t>barangay</a:t>
            </a:r>
            <a:r>
              <a:rPr lang="en-US" dirty="0"/>
              <a:t> without a school?</a:t>
            </a:r>
          </a:p>
          <a:p>
            <a:r>
              <a:rPr lang="en-US" b="1" dirty="0"/>
              <a:t>A. Mobile teacher</a:t>
            </a:r>
          </a:p>
          <a:p>
            <a:r>
              <a:rPr lang="en-US" dirty="0"/>
              <a:t>B. Multi-level classroom</a:t>
            </a:r>
          </a:p>
          <a:p>
            <a:r>
              <a:rPr lang="en-US" dirty="0"/>
              <a:t>C. Multi-grade classroom</a:t>
            </a:r>
          </a:p>
          <a:p>
            <a:r>
              <a:rPr lang="en-US" dirty="0"/>
              <a:t>D. Sine </a:t>
            </a:r>
            <a:r>
              <a:rPr lang="en-US" dirty="0" err="1"/>
              <a:t>Eskwela</a:t>
            </a:r>
            <a:endParaRPr lang="en-US" dirty="0"/>
          </a:p>
          <a:p>
            <a:pPr>
              <a:buNone/>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19. Which program of the Department of Education is an offshoot of the Filipino </a:t>
            </a:r>
            <a:r>
              <a:rPr lang="en-US" dirty="0" err="1"/>
              <a:t>bayanihan</a:t>
            </a:r>
            <a:r>
              <a:rPr lang="en-US" dirty="0"/>
              <a:t> spirit?</a:t>
            </a:r>
          </a:p>
          <a:p>
            <a:r>
              <a:rPr lang="en-US" dirty="0"/>
              <a:t>A. Every Child A Reader Program (ECARP)</a:t>
            </a:r>
          </a:p>
          <a:p>
            <a:r>
              <a:rPr lang="en-US" dirty="0"/>
              <a:t>B. </a:t>
            </a:r>
            <a:r>
              <a:rPr lang="en-US" dirty="0" err="1"/>
              <a:t>Brigada</a:t>
            </a:r>
            <a:r>
              <a:rPr lang="en-US" dirty="0"/>
              <a:t> </a:t>
            </a:r>
            <a:r>
              <a:rPr lang="en-US" dirty="0" err="1"/>
              <a:t>Eskwela</a:t>
            </a:r>
            <a:endParaRPr lang="en-US" dirty="0"/>
          </a:p>
          <a:p>
            <a:r>
              <a:rPr lang="en-US" dirty="0"/>
              <a:t>C. Child-Friendly School System</a:t>
            </a:r>
          </a:p>
          <a:p>
            <a:r>
              <a:rPr lang="en-US" dirty="0"/>
              <a:t>D. The Basic Education Curriculum</a:t>
            </a:r>
          </a:p>
          <a:p>
            <a:pPr>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19. Which program of the Department of Education is an offshoot of the Filipino </a:t>
            </a:r>
            <a:r>
              <a:rPr lang="en-US" dirty="0" err="1"/>
              <a:t>bayanihan</a:t>
            </a:r>
            <a:r>
              <a:rPr lang="en-US" dirty="0"/>
              <a:t> spirit?</a:t>
            </a:r>
          </a:p>
          <a:p>
            <a:r>
              <a:rPr lang="en-US" dirty="0"/>
              <a:t>A. Every Child A Reader Program (ECARP)</a:t>
            </a:r>
          </a:p>
          <a:p>
            <a:r>
              <a:rPr lang="en-US" b="1" dirty="0"/>
              <a:t>B. </a:t>
            </a:r>
            <a:r>
              <a:rPr lang="en-US" b="1" dirty="0" err="1"/>
              <a:t>Brigada</a:t>
            </a:r>
            <a:r>
              <a:rPr lang="en-US" b="1" dirty="0"/>
              <a:t> </a:t>
            </a:r>
            <a:r>
              <a:rPr lang="en-US" b="1" dirty="0" err="1"/>
              <a:t>Eskwela</a:t>
            </a:r>
            <a:endParaRPr lang="en-US" b="1" dirty="0"/>
          </a:p>
          <a:p>
            <a:r>
              <a:rPr lang="en-US" dirty="0"/>
              <a:t>C. Child-Friendly School System</a:t>
            </a:r>
          </a:p>
          <a:p>
            <a:r>
              <a:rPr lang="en-US" dirty="0"/>
              <a:t>D. The Basic Education Curriculum</a:t>
            </a:r>
          </a:p>
          <a:p>
            <a:pPr>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20. Which developmental principle is NOT TRUE?</a:t>
            </a:r>
          </a:p>
          <a:p>
            <a:r>
              <a:rPr lang="en-US" dirty="0"/>
              <a:t>A. Children’s development is a function of environment and heredity.</a:t>
            </a:r>
          </a:p>
          <a:p>
            <a:r>
              <a:rPr lang="en-US" dirty="0"/>
              <a:t>B. Children develop at different rates.</a:t>
            </a:r>
          </a:p>
          <a:p>
            <a:r>
              <a:rPr lang="en-US" dirty="0"/>
              <a:t>C. Children develop in a predictable manner.</a:t>
            </a:r>
          </a:p>
          <a:p>
            <a:r>
              <a:rPr lang="en-US" dirty="0"/>
              <a:t>D .Children develop skills and abilities in an unpredictable manner.</a:t>
            </a:r>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20. Which developmental principle is NOT TRUE?</a:t>
            </a:r>
          </a:p>
          <a:p>
            <a:r>
              <a:rPr lang="en-US" dirty="0"/>
              <a:t>A. Children’s development is a function of environment and heredity.</a:t>
            </a:r>
          </a:p>
          <a:p>
            <a:r>
              <a:rPr lang="en-US" dirty="0"/>
              <a:t>B. Children develop at different rates.</a:t>
            </a:r>
          </a:p>
          <a:p>
            <a:r>
              <a:rPr lang="en-US" dirty="0"/>
              <a:t>C. Children develop in a predictable manner.</a:t>
            </a:r>
          </a:p>
          <a:p>
            <a:r>
              <a:rPr lang="en-US" b="1" dirty="0"/>
              <a:t>D .Children develop skills and abilities in an unpredictable manner.</a:t>
            </a:r>
          </a:p>
          <a:p>
            <a:pPr>
              <a:buNone/>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21. Which type of parenting style is most beneficial to the development of children, according to research?</a:t>
            </a:r>
          </a:p>
          <a:p>
            <a:r>
              <a:rPr lang="en-US" dirty="0"/>
              <a:t>A. Authoritarian</a:t>
            </a:r>
          </a:p>
          <a:p>
            <a:r>
              <a:rPr lang="en-US" dirty="0"/>
              <a:t>B. Permissive</a:t>
            </a:r>
          </a:p>
          <a:p>
            <a:r>
              <a:rPr lang="en-US" dirty="0"/>
              <a:t>C. Authoritative</a:t>
            </a:r>
          </a:p>
          <a:p>
            <a:r>
              <a:rPr lang="en-US" dirty="0"/>
              <a:t>D. Uninvolved</a:t>
            </a:r>
          </a:p>
          <a:p>
            <a:pPr>
              <a:buNone/>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21. Which type of parenting style is most beneficial to the development of children, according to research?</a:t>
            </a:r>
          </a:p>
          <a:p>
            <a:r>
              <a:rPr lang="en-US" dirty="0"/>
              <a:t>A. Authoritarian</a:t>
            </a:r>
          </a:p>
          <a:p>
            <a:r>
              <a:rPr lang="en-US" dirty="0"/>
              <a:t>B. Permissive</a:t>
            </a:r>
            <a:endParaRPr lang="en-US" b="1" dirty="0"/>
          </a:p>
          <a:p>
            <a:r>
              <a:rPr lang="en-US" b="1" dirty="0"/>
              <a:t>C. Authoritative</a:t>
            </a:r>
          </a:p>
          <a:p>
            <a:r>
              <a:rPr lang="en-US" dirty="0"/>
              <a:t>D. Uninvolved</a:t>
            </a:r>
          </a:p>
          <a:p>
            <a:pPr>
              <a:buNone/>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22. According to Erikson, what years are critical for the development of self-confidence?</a:t>
            </a:r>
          </a:p>
          <a:p>
            <a:r>
              <a:rPr lang="en-US" dirty="0"/>
              <a:t>A. High school years</a:t>
            </a:r>
          </a:p>
          <a:p>
            <a:r>
              <a:rPr lang="en-US" dirty="0"/>
              <a:t>B. Elementary school years</a:t>
            </a:r>
          </a:p>
          <a:p>
            <a:r>
              <a:rPr lang="en-US" dirty="0"/>
              <a:t>C. Preschool years</a:t>
            </a:r>
          </a:p>
          <a:p>
            <a:r>
              <a:rPr lang="en-US" dirty="0"/>
              <a:t>D. College years</a:t>
            </a:r>
          </a:p>
          <a:p>
            <a:pPr>
              <a:buNone/>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22. According to Erikson, what years are critical for the development of self-confidence?</a:t>
            </a:r>
          </a:p>
          <a:p>
            <a:r>
              <a:rPr lang="en-US" dirty="0"/>
              <a:t>A. High school years</a:t>
            </a:r>
          </a:p>
          <a:p>
            <a:r>
              <a:rPr lang="en-US" dirty="0"/>
              <a:t>B. Elementary school years</a:t>
            </a:r>
          </a:p>
          <a:p>
            <a:r>
              <a:rPr lang="en-US" b="1" dirty="0"/>
              <a:t>C. Preschool years</a:t>
            </a:r>
          </a:p>
          <a:p>
            <a:r>
              <a:rPr lang="en-US" dirty="0"/>
              <a:t>D. College years</a:t>
            </a:r>
          </a:p>
          <a:p>
            <a:pPr>
              <a:buNone/>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23. At the high school level, Kohlberg’s advice to teachers is for them to begin discussing with students about abstract principles such as justice and human rights. On the average, in which moral development stage are high school students supposed to be?</a:t>
            </a:r>
          </a:p>
          <a:p>
            <a:r>
              <a:rPr lang="en-US" dirty="0"/>
              <a:t>A. Post conventional stage</a:t>
            </a:r>
          </a:p>
          <a:p>
            <a:r>
              <a:rPr lang="en-US" dirty="0"/>
              <a:t>B. Conventional stage</a:t>
            </a:r>
          </a:p>
          <a:p>
            <a:r>
              <a:rPr lang="en-US" dirty="0"/>
              <a:t>C. In between conventional and post conventional stage</a:t>
            </a:r>
          </a:p>
          <a:p>
            <a:r>
              <a:rPr lang="en-US" dirty="0"/>
              <a:t>D. That depends on the school culture</a:t>
            </a:r>
          </a:p>
          <a:p>
            <a:pPr>
              <a:buNone/>
            </a:pP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23. At the high school level, Kohlberg’s advice to teachers is for them to begin discussing with students about abstract principles such as justice and human rights. On the average, in which moral development stage are high school students supposed to be?</a:t>
            </a:r>
          </a:p>
          <a:p>
            <a:r>
              <a:rPr lang="en-US" b="1" dirty="0"/>
              <a:t>A. Post conventional stage</a:t>
            </a:r>
          </a:p>
          <a:p>
            <a:r>
              <a:rPr lang="en-US" dirty="0"/>
              <a:t>B. Conventional stage</a:t>
            </a:r>
          </a:p>
          <a:p>
            <a:r>
              <a:rPr lang="en-US" dirty="0"/>
              <a:t>C. In between conventional and post conventional stage</a:t>
            </a:r>
          </a:p>
          <a:p>
            <a:r>
              <a:rPr lang="en-US" dirty="0"/>
              <a:t>D. That depends on the school culture</a:t>
            </a:r>
          </a:p>
          <a:p>
            <a:pPr>
              <a:buNone/>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24. Which is the ideal stage of moral development?</a:t>
            </a:r>
          </a:p>
          <a:p>
            <a:r>
              <a:rPr lang="en-US" dirty="0"/>
              <a:t>A. Social contract</a:t>
            </a:r>
          </a:p>
          <a:p>
            <a:r>
              <a:rPr lang="en-US" dirty="0"/>
              <a:t>B. Universal ethical principle</a:t>
            </a:r>
          </a:p>
          <a:p>
            <a:r>
              <a:rPr lang="en-US" dirty="0"/>
              <a:t>C. Law and order</a:t>
            </a:r>
          </a:p>
          <a:p>
            <a:r>
              <a:rPr lang="en-US" dirty="0"/>
              <a:t>D. Good boy/good girl</a:t>
            </a:r>
          </a:p>
          <a:p>
            <a:pPr>
              <a:buNone/>
            </a:pP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24. Which is the ideal stage of moral development?</a:t>
            </a:r>
          </a:p>
          <a:p>
            <a:r>
              <a:rPr lang="en-US" dirty="0"/>
              <a:t>A. Social contract</a:t>
            </a:r>
          </a:p>
          <a:p>
            <a:r>
              <a:rPr lang="en-US" b="1" dirty="0"/>
              <a:t>B. Universal ethical principle</a:t>
            </a:r>
          </a:p>
          <a:p>
            <a:r>
              <a:rPr lang="en-US" dirty="0"/>
              <a:t>C. Law and order</a:t>
            </a:r>
          </a:p>
          <a:p>
            <a:r>
              <a:rPr lang="en-US" dirty="0"/>
              <a:t>D. Good boy/good girl</a:t>
            </a:r>
          </a:p>
          <a:p>
            <a:pPr>
              <a:buNone/>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25. Based on Freud’s theory, which operate/s when a student strikes a classmate at the height of anger?</a:t>
            </a:r>
          </a:p>
          <a:p>
            <a:r>
              <a:rPr lang="en-US" dirty="0"/>
              <a:t>A. Id</a:t>
            </a:r>
          </a:p>
          <a:p>
            <a:r>
              <a:rPr lang="en-US" dirty="0"/>
              <a:t>B. Superego</a:t>
            </a:r>
          </a:p>
          <a:p>
            <a:r>
              <a:rPr lang="en-US" dirty="0"/>
              <a:t>C. Ego</a:t>
            </a:r>
          </a:p>
          <a:p>
            <a:r>
              <a:rPr lang="en-US" dirty="0"/>
              <a:t>D. Id and Ego interact</a:t>
            </a:r>
          </a:p>
          <a:p>
            <a:pPr>
              <a:buNone/>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25. Based on Freud’s theory, which operate/s when a student strikes a classmate at the height of anger?</a:t>
            </a:r>
          </a:p>
          <a:p>
            <a:r>
              <a:rPr lang="en-US" b="1" dirty="0"/>
              <a:t>A. Id</a:t>
            </a:r>
          </a:p>
          <a:p>
            <a:r>
              <a:rPr lang="en-US" dirty="0"/>
              <a:t>B. Superego</a:t>
            </a:r>
          </a:p>
          <a:p>
            <a:r>
              <a:rPr lang="en-US" dirty="0"/>
              <a:t>C. Ego</a:t>
            </a:r>
          </a:p>
          <a:p>
            <a:r>
              <a:rPr lang="en-US" dirty="0"/>
              <a:t>D. Id and Ego interact</a:t>
            </a:r>
          </a:p>
          <a:p>
            <a:pPr>
              <a:buNone/>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26. “Do not cheat. Cheating does not pay. If you do, you cheat yourself” says the voiceless from within you.” In the context of Freud’s theory, which is/are at work?</a:t>
            </a:r>
          </a:p>
          <a:p>
            <a:pPr lvl="0"/>
            <a:r>
              <a:rPr lang="en-US" dirty="0"/>
              <a:t>Id</a:t>
            </a:r>
          </a:p>
          <a:p>
            <a:pPr lvl="0"/>
            <a:r>
              <a:rPr lang="en-US" dirty="0"/>
              <a:t>Superego</a:t>
            </a:r>
          </a:p>
          <a:p>
            <a:pPr lvl="0"/>
            <a:r>
              <a:rPr lang="en-US" dirty="0"/>
              <a:t>Ego</a:t>
            </a:r>
          </a:p>
          <a:p>
            <a:pPr lvl="0"/>
            <a:r>
              <a:rPr lang="en-US" dirty="0"/>
              <a:t>Id and Ego interact</a:t>
            </a:r>
          </a:p>
          <a:p>
            <a:pPr>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26. “Do not cheat. Cheating does not pay. If you do, you cheat yourself” says the voiceless from within you.” In the context of Freud’s theory, which is/are at work?</a:t>
            </a:r>
          </a:p>
          <a:p>
            <a:pPr lvl="0"/>
            <a:r>
              <a:rPr lang="en-US" dirty="0"/>
              <a:t>Id</a:t>
            </a:r>
          </a:p>
          <a:p>
            <a:pPr lvl="0"/>
            <a:r>
              <a:rPr lang="en-US" b="1" dirty="0"/>
              <a:t>Superego</a:t>
            </a:r>
          </a:p>
          <a:p>
            <a:pPr lvl="0"/>
            <a:r>
              <a:rPr lang="en-US" dirty="0"/>
              <a:t>Ego</a:t>
            </a:r>
          </a:p>
          <a:p>
            <a:pPr lvl="0"/>
            <a:r>
              <a:rPr lang="en-US" dirty="0"/>
              <a:t>Id and Ego interact</a:t>
            </a:r>
          </a:p>
          <a:p>
            <a:pPr>
              <a:buNone/>
            </a:pP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27. What is referred to as the “looking glass self” of Cooley?</a:t>
            </a:r>
          </a:p>
          <a:p>
            <a:r>
              <a:rPr lang="en-US" dirty="0"/>
              <a:t>A. It is how l look at myself through the eyes of others.</a:t>
            </a:r>
            <a:endParaRPr lang="en-US" dirty="0" smtClean="0"/>
          </a:p>
          <a:p>
            <a:r>
              <a:rPr lang="en-US" dirty="0"/>
              <a:t>B. It is how others look at myself.</a:t>
            </a:r>
            <a:endParaRPr lang="en-US" dirty="0" smtClean="0"/>
          </a:p>
          <a:p>
            <a:r>
              <a:rPr lang="en-US" dirty="0"/>
              <a:t>C. It is how others affect me.</a:t>
            </a:r>
            <a:endParaRPr lang="en-US" dirty="0" smtClean="0"/>
          </a:p>
          <a:p>
            <a:r>
              <a:rPr lang="en-US" dirty="0"/>
              <a:t>D. It is how l influence others.</a:t>
            </a:r>
            <a:endParaRPr lang="en-US" dirty="0" smtClean="0"/>
          </a:p>
          <a:p>
            <a:pPr>
              <a:buNone/>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27. What is referred to as the “looking glass self” of Cooley?</a:t>
            </a:r>
          </a:p>
          <a:p>
            <a:r>
              <a:rPr lang="en-US" b="1" dirty="0"/>
              <a:t>A. It is how l look at myself through the eyes of others.</a:t>
            </a:r>
            <a:endParaRPr lang="en-US" b="1" dirty="0" smtClean="0"/>
          </a:p>
          <a:p>
            <a:r>
              <a:rPr lang="en-US" dirty="0"/>
              <a:t>B. It is how others look at myself.</a:t>
            </a:r>
            <a:endParaRPr lang="en-US" dirty="0" smtClean="0"/>
          </a:p>
          <a:p>
            <a:r>
              <a:rPr lang="en-US" dirty="0"/>
              <a:t>C. It is how others affect me.</a:t>
            </a:r>
            <a:endParaRPr lang="en-US" dirty="0" smtClean="0"/>
          </a:p>
          <a:p>
            <a:r>
              <a:rPr lang="en-US" dirty="0"/>
              <a:t>D. It is how l influence others.</a:t>
            </a:r>
            <a:endParaRPr lang="en-US" dirty="0" smtClean="0"/>
          </a:p>
          <a:p>
            <a:pPr>
              <a:buNone/>
            </a:pP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28. You will understand when a pre-school boy asserts that two rows of five coins similarly spaced have equal amounts; but when one row is spread out so that it is longer than the other, he says it has more coins. Based on Piaget’s theory, which ability does he lack?</a:t>
            </a:r>
          </a:p>
          <a:p>
            <a:pPr lvl="0"/>
            <a:r>
              <a:rPr lang="en-US" dirty="0"/>
              <a:t>Multiple classification</a:t>
            </a:r>
          </a:p>
          <a:p>
            <a:pPr lvl="0"/>
            <a:r>
              <a:rPr lang="en-US" dirty="0"/>
              <a:t>Perspective thinking</a:t>
            </a:r>
          </a:p>
          <a:p>
            <a:pPr lvl="0"/>
            <a:r>
              <a:rPr lang="en-US" dirty="0"/>
              <a:t>Reversibility</a:t>
            </a:r>
          </a:p>
          <a:p>
            <a:pPr lvl="0"/>
            <a:r>
              <a:rPr lang="en-US" dirty="0"/>
              <a:t>Conservation</a:t>
            </a:r>
          </a:p>
          <a:p>
            <a:pPr>
              <a:buNone/>
            </a:pP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28. You will understand when a pre-school boy asserts that two rows of five coins similarly spaced have equal amounts; but when one row is spread out so that it is longer than the other, he says it has more coins. Based on Piaget’s theory, which ability does he lack?</a:t>
            </a:r>
          </a:p>
          <a:p>
            <a:pPr lvl="0"/>
            <a:r>
              <a:rPr lang="en-US" dirty="0"/>
              <a:t>Multiple classification</a:t>
            </a:r>
          </a:p>
          <a:p>
            <a:pPr lvl="0"/>
            <a:r>
              <a:rPr lang="en-US" dirty="0"/>
              <a:t>Perspective thinking</a:t>
            </a:r>
          </a:p>
          <a:p>
            <a:pPr lvl="0"/>
            <a:r>
              <a:rPr lang="en-US" dirty="0"/>
              <a:t>Reversibility</a:t>
            </a:r>
          </a:p>
          <a:p>
            <a:pPr lvl="0"/>
            <a:r>
              <a:rPr lang="en-US" b="1" dirty="0"/>
              <a:t>Conservation</a:t>
            </a:r>
          </a:p>
          <a:p>
            <a:pPr>
              <a:buNone/>
            </a:pP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29. When asked about her order, a little girl tells the waiter “</a:t>
            </a:r>
            <a:r>
              <a:rPr lang="en-US" dirty="0" err="1"/>
              <a:t>yong</a:t>
            </a:r>
            <a:r>
              <a:rPr lang="en-US" dirty="0"/>
              <a:t> </a:t>
            </a:r>
            <a:r>
              <a:rPr lang="en-US" dirty="0" err="1"/>
              <a:t>kagaya</a:t>
            </a:r>
            <a:r>
              <a:rPr lang="en-US" dirty="0"/>
              <a:t> </a:t>
            </a:r>
            <a:r>
              <a:rPr lang="en-US" dirty="0" err="1"/>
              <a:t>kahapon</a:t>
            </a:r>
            <a:r>
              <a:rPr lang="en-US" dirty="0"/>
              <a:t>.” With Piaget’s theory in mind, what is the little girl’s behavior called?</a:t>
            </a:r>
          </a:p>
          <a:p>
            <a:pPr lvl="0"/>
            <a:r>
              <a:rPr lang="en-US" dirty="0"/>
              <a:t>Pre-operational egocentrism</a:t>
            </a:r>
          </a:p>
          <a:p>
            <a:pPr lvl="0"/>
            <a:r>
              <a:rPr lang="en-US" dirty="0"/>
              <a:t>Conservation</a:t>
            </a:r>
          </a:p>
          <a:p>
            <a:pPr lvl="0"/>
            <a:r>
              <a:rPr lang="en-US" dirty="0"/>
              <a:t>Reversibility</a:t>
            </a:r>
          </a:p>
          <a:p>
            <a:pPr lvl="0"/>
            <a:r>
              <a:rPr lang="en-US" dirty="0" err="1"/>
              <a:t>Transductive</a:t>
            </a:r>
            <a:r>
              <a:rPr lang="en-US" dirty="0"/>
              <a:t> reasoning</a:t>
            </a:r>
          </a:p>
          <a:p>
            <a:pPr>
              <a:buNone/>
            </a:pP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29. When asked about her order, a little girl tells the waiter “</a:t>
            </a:r>
            <a:r>
              <a:rPr lang="en-US" dirty="0" err="1"/>
              <a:t>yong</a:t>
            </a:r>
            <a:r>
              <a:rPr lang="en-US" dirty="0"/>
              <a:t> </a:t>
            </a:r>
            <a:r>
              <a:rPr lang="en-US" dirty="0" err="1"/>
              <a:t>kagaya</a:t>
            </a:r>
            <a:r>
              <a:rPr lang="en-US" dirty="0"/>
              <a:t> </a:t>
            </a:r>
            <a:r>
              <a:rPr lang="en-US" dirty="0" err="1"/>
              <a:t>kahapon</a:t>
            </a:r>
            <a:r>
              <a:rPr lang="en-US" dirty="0"/>
              <a:t>.” With Piaget’s theory in mind, what is the little girl’s behavior called?</a:t>
            </a:r>
          </a:p>
          <a:p>
            <a:pPr lvl="0"/>
            <a:r>
              <a:rPr lang="en-US" b="1" dirty="0"/>
              <a:t>Pre-operational egocentrism</a:t>
            </a:r>
          </a:p>
          <a:p>
            <a:pPr lvl="0"/>
            <a:r>
              <a:rPr lang="en-US" dirty="0"/>
              <a:t>Conservation</a:t>
            </a:r>
          </a:p>
          <a:p>
            <a:pPr lvl="0"/>
            <a:r>
              <a:rPr lang="en-US" dirty="0"/>
              <a:t>Reversibility</a:t>
            </a:r>
          </a:p>
          <a:p>
            <a:pPr lvl="0"/>
            <a:r>
              <a:rPr lang="en-US" dirty="0" err="1"/>
              <a:t>Transductive</a:t>
            </a:r>
            <a:r>
              <a:rPr lang="en-US" dirty="0"/>
              <a:t> reasoning</a:t>
            </a:r>
          </a:p>
          <a:p>
            <a:pPr>
              <a:buNone/>
            </a:pP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dirty="0"/>
              <a:t>30. In the context of Piaget’s theory answer this analogy:</a:t>
            </a:r>
          </a:p>
          <a:p>
            <a:pPr>
              <a:buNone/>
            </a:pPr>
            <a:r>
              <a:rPr lang="en-US" dirty="0"/>
              <a:t>Preoperational stage: </a:t>
            </a:r>
            <a:r>
              <a:rPr lang="en-US" dirty="0" err="1"/>
              <a:t>Transductive</a:t>
            </a:r>
            <a:r>
              <a:rPr lang="en-US" dirty="0"/>
              <a:t> reasoning</a:t>
            </a:r>
            <a:endParaRPr lang="en-US" dirty="0" smtClean="0"/>
          </a:p>
          <a:p>
            <a:pPr>
              <a:buNone/>
            </a:pPr>
            <a:r>
              <a:rPr lang="en-US" dirty="0"/>
              <a:t>Concrete operational stage: ____.</a:t>
            </a:r>
            <a:endParaRPr lang="en-US" dirty="0" smtClean="0"/>
          </a:p>
          <a:p>
            <a:pPr lvl="0"/>
            <a:r>
              <a:rPr lang="en-US" dirty="0"/>
              <a:t>Proportional reasoning</a:t>
            </a:r>
          </a:p>
          <a:p>
            <a:pPr lvl="0"/>
            <a:r>
              <a:rPr lang="en-US" dirty="0"/>
              <a:t>Deductive reasoning</a:t>
            </a:r>
          </a:p>
          <a:p>
            <a:pPr lvl="0"/>
            <a:r>
              <a:rPr lang="en-US" dirty="0"/>
              <a:t>Inductive reasoning</a:t>
            </a:r>
          </a:p>
          <a:p>
            <a:pPr lvl="0"/>
            <a:r>
              <a:rPr lang="en-US" dirty="0"/>
              <a:t>Logical reasoning</a:t>
            </a:r>
          </a:p>
          <a:p>
            <a:pPr>
              <a:buNone/>
            </a:pP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dirty="0"/>
              <a:t>30. In the context of Piaget’s theory answer this analogy:</a:t>
            </a:r>
          </a:p>
          <a:p>
            <a:pPr>
              <a:buNone/>
            </a:pPr>
            <a:r>
              <a:rPr lang="en-US" dirty="0"/>
              <a:t>Preoperational stage: </a:t>
            </a:r>
            <a:r>
              <a:rPr lang="en-US" dirty="0" err="1"/>
              <a:t>Transductive</a:t>
            </a:r>
            <a:r>
              <a:rPr lang="en-US" dirty="0"/>
              <a:t> reasoning</a:t>
            </a:r>
            <a:endParaRPr lang="en-US" dirty="0" smtClean="0"/>
          </a:p>
          <a:p>
            <a:pPr>
              <a:buNone/>
            </a:pPr>
            <a:r>
              <a:rPr lang="en-US" dirty="0"/>
              <a:t>Concrete operational stage: ____.</a:t>
            </a:r>
            <a:endParaRPr lang="en-US" dirty="0" smtClean="0"/>
          </a:p>
          <a:p>
            <a:pPr lvl="0"/>
            <a:r>
              <a:rPr lang="en-US" dirty="0"/>
              <a:t>Proportional reasoning</a:t>
            </a:r>
          </a:p>
          <a:p>
            <a:pPr lvl="0"/>
            <a:r>
              <a:rPr lang="en-US" b="1" dirty="0"/>
              <a:t>Deductive reasoning</a:t>
            </a:r>
          </a:p>
          <a:p>
            <a:pPr lvl="0"/>
            <a:r>
              <a:rPr lang="en-US" dirty="0"/>
              <a:t>Inductive reasoning</a:t>
            </a:r>
          </a:p>
          <a:p>
            <a:pPr lvl="0"/>
            <a:r>
              <a:rPr lang="en-US" dirty="0"/>
              <a:t>Logical reasoning</a:t>
            </a:r>
          </a:p>
          <a:p>
            <a:pPr>
              <a:buNone/>
            </a:pP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31. In which order does cognitive development proceed, according to Piaget?</a:t>
            </a:r>
          </a:p>
          <a:p>
            <a:pPr>
              <a:buNone/>
            </a:pPr>
            <a:r>
              <a:rPr lang="en-US" dirty="0" smtClean="0"/>
              <a:t>  </a:t>
            </a:r>
            <a:r>
              <a:rPr lang="en-US" dirty="0"/>
              <a:t>I.     Formal operations stage</a:t>
            </a:r>
          </a:p>
          <a:p>
            <a:pPr>
              <a:buNone/>
            </a:pPr>
            <a:r>
              <a:rPr lang="en-US" dirty="0" smtClean="0"/>
              <a:t> </a:t>
            </a:r>
            <a:r>
              <a:rPr lang="en-US" dirty="0"/>
              <a:t>ll.    </a:t>
            </a:r>
            <a:r>
              <a:rPr lang="en-US" dirty="0" err="1"/>
              <a:t>Sensorimotor</a:t>
            </a:r>
            <a:r>
              <a:rPr lang="en-US" dirty="0"/>
              <a:t> stage</a:t>
            </a:r>
            <a:endParaRPr lang="en-US" dirty="0" smtClean="0"/>
          </a:p>
          <a:p>
            <a:pPr>
              <a:buNone/>
            </a:pPr>
            <a:r>
              <a:rPr lang="en-US" dirty="0" smtClean="0"/>
              <a:t> </a:t>
            </a:r>
            <a:r>
              <a:rPr lang="en-US" dirty="0" err="1"/>
              <a:t>lll</a:t>
            </a:r>
            <a:r>
              <a:rPr lang="en-US" dirty="0"/>
              <a:t>.   Preoperational </a:t>
            </a:r>
            <a:r>
              <a:rPr lang="en-US" dirty="0" smtClean="0"/>
              <a:t>stage</a:t>
            </a:r>
            <a:endParaRPr lang="en-US" dirty="0"/>
          </a:p>
          <a:p>
            <a:pPr>
              <a:buNone/>
            </a:pPr>
            <a:r>
              <a:rPr lang="en-US" dirty="0" smtClean="0"/>
              <a:t>  </a:t>
            </a:r>
            <a:r>
              <a:rPr lang="en-US" dirty="0" err="1"/>
              <a:t>lV.</a:t>
            </a:r>
            <a:r>
              <a:rPr lang="en-US" dirty="0"/>
              <a:t>  Concrete operations </a:t>
            </a:r>
            <a:r>
              <a:rPr lang="en-US" dirty="0" smtClean="0"/>
              <a:t>stage</a:t>
            </a:r>
            <a:endParaRPr lang="en-US" dirty="0"/>
          </a:p>
          <a:p>
            <a:pPr marL="514350" indent="-514350">
              <a:buAutoNum type="alphaUcPeriod"/>
            </a:pPr>
            <a:r>
              <a:rPr lang="en-US" dirty="0" err="1" smtClean="0"/>
              <a:t>ll</a:t>
            </a:r>
            <a:r>
              <a:rPr lang="en-US" dirty="0"/>
              <a:t>, </a:t>
            </a:r>
            <a:r>
              <a:rPr lang="en-US" dirty="0" err="1"/>
              <a:t>lll</a:t>
            </a:r>
            <a:r>
              <a:rPr lang="en-US" dirty="0"/>
              <a:t>, </a:t>
            </a:r>
            <a:r>
              <a:rPr lang="en-US" dirty="0" err="1"/>
              <a:t>lV</a:t>
            </a:r>
            <a:r>
              <a:rPr lang="en-US" dirty="0"/>
              <a:t>, </a:t>
            </a:r>
            <a:r>
              <a:rPr lang="en-US" dirty="0" smtClean="0"/>
              <a:t>l</a:t>
            </a:r>
          </a:p>
          <a:p>
            <a:pPr marL="514350" indent="-514350">
              <a:buAutoNum type="alphaUcPeriod"/>
            </a:pPr>
            <a:r>
              <a:rPr lang="en-US" dirty="0" smtClean="0"/>
              <a:t>B</a:t>
            </a:r>
            <a:r>
              <a:rPr lang="en-US" dirty="0"/>
              <a:t>. </a:t>
            </a:r>
            <a:r>
              <a:rPr lang="en-US" dirty="0" err="1"/>
              <a:t>ll</a:t>
            </a:r>
            <a:r>
              <a:rPr lang="en-US" dirty="0"/>
              <a:t>, </a:t>
            </a:r>
            <a:r>
              <a:rPr lang="en-US" dirty="0" err="1"/>
              <a:t>lll</a:t>
            </a:r>
            <a:r>
              <a:rPr lang="en-US" dirty="0"/>
              <a:t>, l, </a:t>
            </a:r>
            <a:r>
              <a:rPr lang="en-US" dirty="0" err="1" smtClean="0"/>
              <a:t>lV</a:t>
            </a:r>
            <a:endParaRPr lang="en-US" dirty="0"/>
          </a:p>
          <a:p>
            <a:pPr>
              <a:buNone/>
            </a:pPr>
            <a:r>
              <a:rPr lang="en-US" dirty="0" smtClean="0"/>
              <a:t>C</a:t>
            </a:r>
            <a:r>
              <a:rPr lang="en-US" dirty="0"/>
              <a:t>. </a:t>
            </a:r>
            <a:r>
              <a:rPr lang="en-US" dirty="0" err="1"/>
              <a:t>ll</a:t>
            </a:r>
            <a:r>
              <a:rPr lang="en-US" dirty="0"/>
              <a:t>, l, </a:t>
            </a:r>
            <a:r>
              <a:rPr lang="en-US" dirty="0" err="1"/>
              <a:t>lll</a:t>
            </a:r>
            <a:r>
              <a:rPr lang="en-US" dirty="0"/>
              <a:t>, </a:t>
            </a:r>
            <a:r>
              <a:rPr lang="en-US" dirty="0" err="1" smtClean="0"/>
              <a:t>lV</a:t>
            </a:r>
            <a:endParaRPr lang="en-US" dirty="0"/>
          </a:p>
          <a:p>
            <a:pPr>
              <a:buNone/>
            </a:pPr>
            <a:r>
              <a:rPr lang="en-US" dirty="0" smtClean="0"/>
              <a:t> </a:t>
            </a:r>
            <a:r>
              <a:rPr lang="en-US" dirty="0"/>
              <a:t>D. </a:t>
            </a:r>
            <a:r>
              <a:rPr lang="en-US" dirty="0" err="1"/>
              <a:t>ll</a:t>
            </a:r>
            <a:r>
              <a:rPr lang="en-US" dirty="0"/>
              <a:t>, l, </a:t>
            </a:r>
            <a:r>
              <a:rPr lang="en-US" dirty="0" err="1"/>
              <a:t>lV</a:t>
            </a:r>
            <a:r>
              <a:rPr lang="en-US" dirty="0"/>
              <a:t>, </a:t>
            </a:r>
            <a:r>
              <a:rPr lang="en-US" dirty="0" err="1"/>
              <a:t>lll</a:t>
            </a:r>
            <a:endParaRPr lang="en-US" dirty="0" smtClean="0"/>
          </a:p>
          <a:p>
            <a:pPr>
              <a:buNone/>
            </a:pP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31. In which order does cognitive development proceed, according to Piaget?</a:t>
            </a:r>
          </a:p>
          <a:p>
            <a:pPr>
              <a:buNone/>
            </a:pPr>
            <a:r>
              <a:rPr lang="en-US" dirty="0" smtClean="0"/>
              <a:t>  </a:t>
            </a:r>
            <a:r>
              <a:rPr lang="en-US" dirty="0"/>
              <a:t>I.     Formal operations stage</a:t>
            </a:r>
          </a:p>
          <a:p>
            <a:pPr>
              <a:buNone/>
            </a:pPr>
            <a:r>
              <a:rPr lang="en-US" dirty="0" smtClean="0"/>
              <a:t> </a:t>
            </a:r>
            <a:r>
              <a:rPr lang="en-US" dirty="0"/>
              <a:t>ll.    </a:t>
            </a:r>
            <a:r>
              <a:rPr lang="en-US" dirty="0" err="1"/>
              <a:t>Sensorimotor</a:t>
            </a:r>
            <a:r>
              <a:rPr lang="en-US" dirty="0"/>
              <a:t> stage</a:t>
            </a:r>
            <a:endParaRPr lang="en-US" dirty="0" smtClean="0"/>
          </a:p>
          <a:p>
            <a:pPr>
              <a:buNone/>
            </a:pPr>
            <a:r>
              <a:rPr lang="en-US" dirty="0" smtClean="0"/>
              <a:t> </a:t>
            </a:r>
            <a:r>
              <a:rPr lang="en-US" dirty="0" err="1"/>
              <a:t>lll</a:t>
            </a:r>
            <a:r>
              <a:rPr lang="en-US" dirty="0"/>
              <a:t>.   Preoperational </a:t>
            </a:r>
            <a:r>
              <a:rPr lang="en-US" dirty="0" smtClean="0"/>
              <a:t>stage</a:t>
            </a:r>
            <a:endParaRPr lang="en-US" dirty="0"/>
          </a:p>
          <a:p>
            <a:pPr>
              <a:buNone/>
            </a:pPr>
            <a:r>
              <a:rPr lang="en-US" dirty="0" smtClean="0"/>
              <a:t>  </a:t>
            </a:r>
            <a:r>
              <a:rPr lang="en-US" dirty="0" err="1"/>
              <a:t>lV.</a:t>
            </a:r>
            <a:r>
              <a:rPr lang="en-US" dirty="0"/>
              <a:t>  Concrete operations </a:t>
            </a:r>
            <a:r>
              <a:rPr lang="en-US" dirty="0" smtClean="0"/>
              <a:t>stage</a:t>
            </a:r>
            <a:endParaRPr lang="en-US" dirty="0"/>
          </a:p>
          <a:p>
            <a:pPr marL="514350" indent="-514350">
              <a:buAutoNum type="alphaUcPeriod"/>
            </a:pPr>
            <a:r>
              <a:rPr lang="en-US" b="1" dirty="0" err="1" smtClean="0"/>
              <a:t>ll</a:t>
            </a:r>
            <a:r>
              <a:rPr lang="en-US" b="1" dirty="0" smtClean="0"/>
              <a:t>, </a:t>
            </a:r>
            <a:r>
              <a:rPr lang="en-US" b="1" dirty="0" err="1" smtClean="0"/>
              <a:t>lll</a:t>
            </a:r>
            <a:r>
              <a:rPr lang="en-US" b="1" dirty="0" smtClean="0"/>
              <a:t>, </a:t>
            </a:r>
            <a:r>
              <a:rPr lang="en-US" b="1" dirty="0" err="1" smtClean="0"/>
              <a:t>lV</a:t>
            </a:r>
            <a:r>
              <a:rPr lang="en-US" b="1" dirty="0" smtClean="0"/>
              <a:t>, l</a:t>
            </a:r>
          </a:p>
          <a:p>
            <a:pPr marL="514350" indent="-514350">
              <a:buAutoNum type="alphaUcPeriod"/>
            </a:pPr>
            <a:r>
              <a:rPr lang="en-US" dirty="0" smtClean="0"/>
              <a:t>B</a:t>
            </a:r>
            <a:r>
              <a:rPr lang="en-US" dirty="0"/>
              <a:t>. </a:t>
            </a:r>
            <a:r>
              <a:rPr lang="en-US" dirty="0" err="1"/>
              <a:t>ll</a:t>
            </a:r>
            <a:r>
              <a:rPr lang="en-US" dirty="0"/>
              <a:t>, </a:t>
            </a:r>
            <a:r>
              <a:rPr lang="en-US" dirty="0" err="1"/>
              <a:t>lll</a:t>
            </a:r>
            <a:r>
              <a:rPr lang="en-US" dirty="0"/>
              <a:t>, l, </a:t>
            </a:r>
            <a:r>
              <a:rPr lang="en-US" dirty="0" err="1" smtClean="0"/>
              <a:t>lV</a:t>
            </a:r>
            <a:endParaRPr lang="en-US" dirty="0"/>
          </a:p>
          <a:p>
            <a:pPr>
              <a:buNone/>
            </a:pPr>
            <a:r>
              <a:rPr lang="en-US" dirty="0" smtClean="0"/>
              <a:t>C</a:t>
            </a:r>
            <a:r>
              <a:rPr lang="en-US" dirty="0"/>
              <a:t>. </a:t>
            </a:r>
            <a:r>
              <a:rPr lang="en-US" dirty="0" err="1"/>
              <a:t>ll</a:t>
            </a:r>
            <a:r>
              <a:rPr lang="en-US" dirty="0"/>
              <a:t>, l, </a:t>
            </a:r>
            <a:r>
              <a:rPr lang="en-US" dirty="0" err="1"/>
              <a:t>lll</a:t>
            </a:r>
            <a:r>
              <a:rPr lang="en-US" dirty="0"/>
              <a:t>, </a:t>
            </a:r>
            <a:r>
              <a:rPr lang="en-US" dirty="0" err="1" smtClean="0"/>
              <a:t>lV</a:t>
            </a:r>
            <a:endParaRPr lang="en-US" dirty="0"/>
          </a:p>
          <a:p>
            <a:pPr>
              <a:buNone/>
            </a:pPr>
            <a:r>
              <a:rPr lang="en-US" dirty="0" smtClean="0"/>
              <a:t> </a:t>
            </a:r>
            <a:r>
              <a:rPr lang="en-US" dirty="0"/>
              <a:t>D. </a:t>
            </a:r>
            <a:r>
              <a:rPr lang="en-US" dirty="0" err="1"/>
              <a:t>ll</a:t>
            </a:r>
            <a:r>
              <a:rPr lang="en-US" dirty="0"/>
              <a:t>, l, </a:t>
            </a:r>
            <a:r>
              <a:rPr lang="en-US" dirty="0" err="1"/>
              <a:t>lV</a:t>
            </a:r>
            <a:r>
              <a:rPr lang="en-US" dirty="0"/>
              <a:t>, </a:t>
            </a:r>
            <a:r>
              <a:rPr lang="en-US" dirty="0" err="1"/>
              <a:t>lll</a:t>
            </a:r>
            <a:endParaRPr lang="en-US" dirty="0" smtClean="0"/>
          </a:p>
          <a:p>
            <a:pPr>
              <a:buNone/>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32. Teacher H begins a lesson on tumbling by demonstrating front and back somersaults in slow motion and physically guiding his students through the correct movements. As his students become more skillful, he stands back from the mat and gives verbal feedback about how to </a:t>
            </a:r>
            <a:r>
              <a:rPr lang="en-US" dirty="0" err="1" smtClean="0"/>
              <a:t>improve.With</a:t>
            </a:r>
            <a:r>
              <a:rPr lang="en-US" dirty="0" smtClean="0"/>
              <a:t> </a:t>
            </a:r>
            <a:r>
              <a:rPr lang="en-US" dirty="0" err="1"/>
              <a:t>Vygotsky’s</a:t>
            </a:r>
            <a:r>
              <a:rPr lang="en-US" dirty="0"/>
              <a:t> theory in mind, what did teacher H do?</a:t>
            </a:r>
          </a:p>
          <a:p>
            <a:pPr lvl="0"/>
            <a:r>
              <a:rPr lang="en-US" dirty="0"/>
              <a:t>Guided participation</a:t>
            </a:r>
          </a:p>
          <a:p>
            <a:pPr lvl="0"/>
            <a:r>
              <a:rPr lang="en-US" dirty="0"/>
              <a:t>Peer interaction</a:t>
            </a:r>
          </a:p>
          <a:p>
            <a:pPr lvl="0"/>
            <a:r>
              <a:rPr lang="en-US" dirty="0"/>
              <a:t>Apprenticeship</a:t>
            </a:r>
          </a:p>
          <a:p>
            <a:pPr lvl="0"/>
            <a:r>
              <a:rPr lang="en-US" dirty="0"/>
              <a:t>Scaffolding</a:t>
            </a:r>
          </a:p>
          <a:p>
            <a:pPr>
              <a:buNone/>
            </a:pP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32. Teacher H begins a lesson on tumbling by demonstrating front and back somersaults in slow motion and physically guiding his students through the correct movements. As his students become more skillful, he stands back from the mat and gives verbal feedback about how to </a:t>
            </a:r>
            <a:r>
              <a:rPr lang="en-US" dirty="0" err="1" smtClean="0"/>
              <a:t>improve.With</a:t>
            </a:r>
            <a:r>
              <a:rPr lang="en-US" dirty="0" smtClean="0"/>
              <a:t> </a:t>
            </a:r>
            <a:r>
              <a:rPr lang="en-US" dirty="0" err="1"/>
              <a:t>Vygotsky’s</a:t>
            </a:r>
            <a:r>
              <a:rPr lang="en-US" dirty="0"/>
              <a:t> theory in mind, what did teacher H do?</a:t>
            </a:r>
          </a:p>
          <a:p>
            <a:pPr lvl="0"/>
            <a:r>
              <a:rPr lang="en-US" dirty="0"/>
              <a:t>Guided participation</a:t>
            </a:r>
          </a:p>
          <a:p>
            <a:pPr lvl="0"/>
            <a:r>
              <a:rPr lang="en-US" dirty="0"/>
              <a:t>Peer interaction</a:t>
            </a:r>
          </a:p>
          <a:p>
            <a:pPr lvl="0"/>
            <a:r>
              <a:rPr lang="en-US" dirty="0"/>
              <a:t>Apprenticeship</a:t>
            </a:r>
          </a:p>
          <a:p>
            <a:pPr lvl="0"/>
            <a:r>
              <a:rPr lang="en-US" b="1" dirty="0"/>
              <a:t>Scaffolding</a:t>
            </a:r>
          </a:p>
          <a:p>
            <a:pPr>
              <a:buNone/>
            </a:pP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33. Which is essential in the cognitive development of persons according to </a:t>
            </a:r>
            <a:r>
              <a:rPr lang="en-US" dirty="0" err="1"/>
              <a:t>Vygotsky</a:t>
            </a:r>
            <a:r>
              <a:rPr lang="en-US" dirty="0"/>
              <a:t>?</a:t>
            </a:r>
          </a:p>
          <a:p>
            <a:r>
              <a:rPr lang="en-US" dirty="0"/>
              <a:t>A. Independent thinking</a:t>
            </a:r>
            <a:endParaRPr lang="en-US" dirty="0" smtClean="0"/>
          </a:p>
          <a:p>
            <a:r>
              <a:rPr lang="en-US" dirty="0"/>
              <a:t>B. Social interaction</a:t>
            </a:r>
            <a:endParaRPr lang="en-US" dirty="0" smtClean="0"/>
          </a:p>
          <a:p>
            <a:r>
              <a:rPr lang="en-US" dirty="0"/>
              <a:t>C. Individual mental work</a:t>
            </a:r>
            <a:endParaRPr lang="en-US" dirty="0" smtClean="0"/>
          </a:p>
          <a:p>
            <a:r>
              <a:rPr lang="en-US" dirty="0"/>
              <a:t>D. Scientific thinking</a:t>
            </a:r>
            <a:endParaRPr lang="en-US" dirty="0" smtClean="0"/>
          </a:p>
          <a:p>
            <a:pPr>
              <a:buNone/>
            </a:pP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33. Which is essential in the cognitive development of persons according to </a:t>
            </a:r>
            <a:r>
              <a:rPr lang="en-US" dirty="0" err="1"/>
              <a:t>Vygotsky</a:t>
            </a:r>
            <a:r>
              <a:rPr lang="en-US" dirty="0"/>
              <a:t>?</a:t>
            </a:r>
          </a:p>
          <a:p>
            <a:r>
              <a:rPr lang="en-US" dirty="0"/>
              <a:t>A. Independent thinking</a:t>
            </a:r>
            <a:endParaRPr lang="en-US" dirty="0" smtClean="0"/>
          </a:p>
          <a:p>
            <a:r>
              <a:rPr lang="en-US" b="1" dirty="0"/>
              <a:t>B. Social interaction</a:t>
            </a:r>
            <a:endParaRPr lang="en-US" b="1" dirty="0" smtClean="0"/>
          </a:p>
          <a:p>
            <a:r>
              <a:rPr lang="en-US" dirty="0"/>
              <a:t>C. Individual mental work</a:t>
            </a:r>
            <a:endParaRPr lang="en-US" dirty="0" smtClean="0"/>
          </a:p>
          <a:p>
            <a:r>
              <a:rPr lang="en-US" dirty="0"/>
              <a:t>D. Scientific thinking</a:t>
            </a:r>
            <a:endParaRPr lang="en-US" dirty="0" smtClean="0"/>
          </a:p>
          <a:p>
            <a:pPr>
              <a:buNone/>
            </a:pP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buNone/>
            </a:pPr>
            <a:r>
              <a:rPr lang="en-US" dirty="0"/>
              <a:t>34. Teacher X asked her students to describe how their families celebrate holidays. Student can discover that people celebrate holidays differently. Which principle on cognitive development governs Teacher X’s teaching activity?</a:t>
            </a:r>
          </a:p>
          <a:p>
            <a:r>
              <a:rPr lang="en-US" dirty="0"/>
              <a:t>A. Social interaction is essential for cognitive development.</a:t>
            </a:r>
            <a:endParaRPr lang="en-US" dirty="0" smtClean="0"/>
          </a:p>
          <a:p>
            <a:r>
              <a:rPr lang="en-US" dirty="0"/>
              <a:t>B. Children often think in different ways at different ages.</a:t>
            </a:r>
            <a:endParaRPr lang="en-US" dirty="0" smtClean="0"/>
          </a:p>
          <a:p>
            <a:r>
              <a:rPr lang="en-US" dirty="0"/>
              <a:t>C. Cognitive development involves relating new information to prior knowledge.</a:t>
            </a:r>
            <a:endParaRPr lang="en-US" dirty="0" smtClean="0"/>
          </a:p>
          <a:p>
            <a:r>
              <a:rPr lang="en-US" dirty="0"/>
              <a:t>D. Children actively construct their knowledge.</a:t>
            </a:r>
            <a:endParaRPr lang="en-US" dirty="0" smtClean="0"/>
          </a:p>
          <a:p>
            <a:pPr>
              <a:buNone/>
            </a:pP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buNone/>
            </a:pPr>
            <a:r>
              <a:rPr lang="en-US" dirty="0"/>
              <a:t>34. Teacher X asked her students to describe how their families celebrate holidays. Student can discover that people celebrate holidays differently. Which principle on cognitive development governs Teacher X’s teaching activity?</a:t>
            </a:r>
          </a:p>
          <a:p>
            <a:r>
              <a:rPr lang="en-US" dirty="0"/>
              <a:t>A. Social interaction is essential for cognitive development.</a:t>
            </a:r>
            <a:endParaRPr lang="en-US" dirty="0" smtClean="0"/>
          </a:p>
          <a:p>
            <a:r>
              <a:rPr lang="en-US" dirty="0"/>
              <a:t>B. Children often think in different ways at different ages.</a:t>
            </a:r>
            <a:endParaRPr lang="en-US" dirty="0" smtClean="0"/>
          </a:p>
          <a:p>
            <a:r>
              <a:rPr lang="en-US" b="1" dirty="0"/>
              <a:t>C. Cognitive development involves relating new information to prior knowledge.</a:t>
            </a:r>
            <a:endParaRPr lang="en-US" b="1" dirty="0" smtClean="0"/>
          </a:p>
          <a:p>
            <a:r>
              <a:rPr lang="en-US" dirty="0"/>
              <a:t>D. Children actively construct their knowledge.</a:t>
            </a:r>
            <a:endParaRPr lang="en-US" dirty="0" smtClean="0"/>
          </a:p>
          <a:p>
            <a:pPr>
              <a:buNone/>
            </a:pP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35. Social exposure to various cultures expands a child’s pool of knowledge. Which statements go/</a:t>
            </a:r>
            <a:r>
              <a:rPr lang="en-US" dirty="0" err="1"/>
              <a:t>es</a:t>
            </a:r>
            <a:r>
              <a:rPr lang="en-US" dirty="0"/>
              <a:t> with this sentence?</a:t>
            </a:r>
          </a:p>
          <a:p>
            <a:r>
              <a:rPr lang="en-US" dirty="0"/>
              <a:t>l.   The less experiences a child has the more disciplined he/she becomes.</a:t>
            </a:r>
            <a:endParaRPr lang="en-US" dirty="0" smtClean="0"/>
          </a:p>
          <a:p>
            <a:r>
              <a:rPr lang="en-US" dirty="0"/>
              <a:t>ll.  The more experiences a child has the richer his/her world becomes</a:t>
            </a:r>
            <a:endParaRPr lang="en-US" dirty="0" smtClean="0"/>
          </a:p>
          <a:p>
            <a:r>
              <a:rPr lang="en-US" dirty="0" err="1"/>
              <a:t>lll</a:t>
            </a:r>
            <a:r>
              <a:rPr lang="en-US" dirty="0"/>
              <a:t>. The more selective parents in the exposure of the child, the more challenged the child becomes.</a:t>
            </a:r>
            <a:endParaRPr lang="en-US" dirty="0" smtClean="0"/>
          </a:p>
          <a:p>
            <a:pPr lvl="0"/>
            <a:r>
              <a:rPr lang="en-US" dirty="0"/>
              <a:t>l only                      	C.I and </a:t>
            </a:r>
            <a:r>
              <a:rPr lang="en-US" dirty="0" err="1"/>
              <a:t>ll</a:t>
            </a:r>
            <a:endParaRPr lang="en-US" dirty="0"/>
          </a:p>
          <a:p>
            <a:pPr lvl="0"/>
            <a:r>
              <a:rPr lang="en-US" dirty="0" err="1"/>
              <a:t>ll</a:t>
            </a:r>
            <a:r>
              <a:rPr lang="en-US" dirty="0"/>
              <a:t> only                    	D. </a:t>
            </a:r>
            <a:r>
              <a:rPr lang="en-US" dirty="0" err="1"/>
              <a:t>lll</a:t>
            </a:r>
            <a:r>
              <a:rPr lang="en-US" dirty="0"/>
              <a:t> only</a:t>
            </a:r>
          </a:p>
          <a:p>
            <a:pPr>
              <a:buNone/>
            </a:pP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35. Social exposure to various cultures expands a child’s pool of knowledge. Which statements go/</a:t>
            </a:r>
            <a:r>
              <a:rPr lang="en-US" dirty="0" err="1"/>
              <a:t>es</a:t>
            </a:r>
            <a:r>
              <a:rPr lang="en-US" dirty="0"/>
              <a:t> with this sentence?</a:t>
            </a:r>
          </a:p>
          <a:p>
            <a:r>
              <a:rPr lang="en-US" dirty="0"/>
              <a:t>l.   The less experiences a child has the more disciplined he/she becomes.</a:t>
            </a:r>
            <a:endParaRPr lang="en-US" dirty="0" smtClean="0"/>
          </a:p>
          <a:p>
            <a:r>
              <a:rPr lang="en-US" dirty="0"/>
              <a:t>ll.  The more experiences a child has the richer his/her world becomes</a:t>
            </a:r>
            <a:endParaRPr lang="en-US" dirty="0" smtClean="0"/>
          </a:p>
          <a:p>
            <a:r>
              <a:rPr lang="en-US" dirty="0" err="1"/>
              <a:t>lll</a:t>
            </a:r>
            <a:r>
              <a:rPr lang="en-US" dirty="0"/>
              <a:t>. The more selective parents in the exposure of the child, the more challenged the child becomes.</a:t>
            </a:r>
            <a:endParaRPr lang="en-US" dirty="0" smtClean="0"/>
          </a:p>
          <a:p>
            <a:pPr lvl="0"/>
            <a:r>
              <a:rPr lang="en-US" dirty="0"/>
              <a:t>l only                      	C.I and </a:t>
            </a:r>
            <a:r>
              <a:rPr lang="en-US" dirty="0" err="1"/>
              <a:t>ll</a:t>
            </a:r>
            <a:endParaRPr lang="en-US" dirty="0"/>
          </a:p>
          <a:p>
            <a:pPr lvl="0"/>
            <a:r>
              <a:rPr lang="en-US" b="1" dirty="0" err="1"/>
              <a:t>ll</a:t>
            </a:r>
            <a:r>
              <a:rPr lang="en-US" b="1" dirty="0"/>
              <a:t> only                    </a:t>
            </a:r>
            <a:r>
              <a:rPr lang="en-US" dirty="0"/>
              <a:t>	D. </a:t>
            </a:r>
            <a:r>
              <a:rPr lang="en-US" dirty="0" err="1"/>
              <a:t>lll</a:t>
            </a:r>
            <a:r>
              <a:rPr lang="en-US" dirty="0"/>
              <a:t> only</a:t>
            </a:r>
          </a:p>
          <a:p>
            <a:pPr>
              <a:buNone/>
            </a:pP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36. </a:t>
            </a:r>
            <a:r>
              <a:rPr lang="en-US" dirty="0" err="1"/>
              <a:t>Rodel</a:t>
            </a:r>
            <a:r>
              <a:rPr lang="en-US" dirty="0"/>
              <a:t> gave a wrong answer. Teacher said “Wrong! You are way off.” As a consequence other students in the class were afraid to answer questions. Which of the following is illustrated by the event?</a:t>
            </a:r>
          </a:p>
          <a:p>
            <a:pPr lvl="0"/>
            <a:r>
              <a:rPr lang="en-US" dirty="0"/>
              <a:t>Ripple effect     		 C. Severity error</a:t>
            </a:r>
          </a:p>
          <a:p>
            <a:r>
              <a:rPr lang="en-US" dirty="0"/>
              <a:t>Halo effect  		 D. Central tendency error</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36. </a:t>
            </a:r>
            <a:r>
              <a:rPr lang="en-US" dirty="0" err="1"/>
              <a:t>Rodel</a:t>
            </a:r>
            <a:r>
              <a:rPr lang="en-US" dirty="0"/>
              <a:t> gave a wrong answer. Teacher said “Wrong! You are way off.” As a consequence other students in the class were afraid to answer questions. Which of the following is illustrated by the event?</a:t>
            </a:r>
          </a:p>
          <a:p>
            <a:pPr lvl="0"/>
            <a:r>
              <a:rPr lang="en-US" b="1" dirty="0"/>
              <a:t>Ripple effect     </a:t>
            </a:r>
            <a:r>
              <a:rPr lang="en-US" dirty="0"/>
              <a:t>		 C. Severity error</a:t>
            </a:r>
          </a:p>
          <a:p>
            <a:r>
              <a:rPr lang="en-US" dirty="0"/>
              <a:t>Halo effect  		 D. Central tendency error</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828800"/>
            <a:ext cx="8229600" cy="4525963"/>
          </a:xfrm>
        </p:spPr>
        <p:txBody>
          <a:bodyPr/>
          <a:lstStyle/>
          <a:p>
            <a:r>
              <a:rPr lang="en-US" dirty="0"/>
              <a:t>37. Which material will her teachers least prefer?</a:t>
            </a:r>
          </a:p>
          <a:p>
            <a:pPr>
              <a:buNone/>
            </a:pPr>
            <a:r>
              <a:rPr lang="en-US" dirty="0" smtClean="0"/>
              <a:t>A</a:t>
            </a:r>
            <a:r>
              <a:rPr lang="en-US" dirty="0"/>
              <a:t>. Unquestionable laws   C. </a:t>
            </a:r>
            <a:r>
              <a:rPr lang="en-US" dirty="0" smtClean="0"/>
              <a:t>Open-</a:t>
            </a:r>
            <a:r>
              <a:rPr lang="en-US" dirty="0" err="1" smtClean="0"/>
              <a:t>endedtopics</a:t>
            </a:r>
            <a:endParaRPr lang="en-US" dirty="0" smtClean="0"/>
          </a:p>
          <a:p>
            <a:pPr>
              <a:buNone/>
            </a:pPr>
            <a:r>
              <a:rPr lang="en-US" dirty="0" smtClean="0"/>
              <a:t>B</a:t>
            </a:r>
            <a:r>
              <a:rPr lang="en-US" dirty="0"/>
              <a:t>. Controversial issues    D. Problems or cases</a:t>
            </a:r>
            <a:endParaRPr lang="en-US" dirty="0" smtClean="0"/>
          </a:p>
          <a:p>
            <a:pPr>
              <a:buNone/>
            </a:pPr>
            <a:endParaRPr lang="en-US" dirty="0"/>
          </a:p>
        </p:txBody>
      </p:sp>
      <p:sp>
        <p:nvSpPr>
          <p:cNvPr id="11265" name="Rectangle 1"/>
          <p:cNvSpPr>
            <a:spLocks noChangeArrowheads="1"/>
          </p:cNvSpPr>
          <p:nvPr/>
        </p:nvSpPr>
        <p:spPr bwMode="auto">
          <a:xfrm>
            <a:off x="0" y="0"/>
            <a:ext cx="9144000" cy="181588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pitchFamily="34" charset="0"/>
                <a:cs typeface="Arial" pitchFamily="34" charset="0"/>
              </a:rPr>
              <a:t>Read the following and answer.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pitchFamily="34" charset="0"/>
                <a:cs typeface="Arial" pitchFamily="34" charset="0"/>
              </a:rPr>
              <a:t>SITUATION.</a:t>
            </a:r>
            <a:endParaRPr kumimoji="0" lang="en-US" sz="2800" b="0" i="0" u="none" strike="noStrike" cap="none" normalizeH="0" baseline="0" dirty="0" smtClean="0">
              <a:ln>
                <a:noFill/>
              </a:ln>
              <a:solidFill>
                <a:schemeClr val="tx1"/>
              </a:solidFill>
              <a:effectLst/>
              <a:latin typeface="Arial" pitchFamily="34" charset="0"/>
              <a:ea typeface="Calibri"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pitchFamily="34" charset="0"/>
                <a:ea typeface="Calibri" pitchFamily="34" charset="0"/>
                <a:cs typeface="Arial" pitchFamily="34" charset="0"/>
              </a:rPr>
              <a:t>Principal Emilia wants her teachers to apply constructivism in teaching.</a:t>
            </a:r>
            <a:r>
              <a:rPr kumimoji="0" lang="en-US" sz="28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828800"/>
            <a:ext cx="8229600" cy="4525963"/>
          </a:xfrm>
        </p:spPr>
        <p:txBody>
          <a:bodyPr/>
          <a:lstStyle/>
          <a:p>
            <a:r>
              <a:rPr lang="en-US" dirty="0"/>
              <a:t>37. Which material will her teachers least prefer?</a:t>
            </a:r>
          </a:p>
          <a:p>
            <a:pPr>
              <a:buNone/>
            </a:pPr>
            <a:r>
              <a:rPr lang="en-US" b="1" dirty="0" smtClean="0"/>
              <a:t>A</a:t>
            </a:r>
            <a:r>
              <a:rPr lang="en-US" b="1" dirty="0"/>
              <a:t>. Unquestionable laws   </a:t>
            </a:r>
            <a:r>
              <a:rPr lang="en-US" dirty="0"/>
              <a:t>C. </a:t>
            </a:r>
            <a:r>
              <a:rPr lang="en-US" dirty="0" smtClean="0"/>
              <a:t>Open-</a:t>
            </a:r>
            <a:r>
              <a:rPr lang="en-US" dirty="0" err="1" smtClean="0"/>
              <a:t>endedtopics</a:t>
            </a:r>
            <a:endParaRPr lang="en-US" dirty="0" smtClean="0"/>
          </a:p>
          <a:p>
            <a:pPr>
              <a:buNone/>
            </a:pPr>
            <a:r>
              <a:rPr lang="en-US" dirty="0" smtClean="0"/>
              <a:t>B</a:t>
            </a:r>
            <a:r>
              <a:rPr lang="en-US" dirty="0"/>
              <a:t>. Controversial issues    D. Problems or cases</a:t>
            </a:r>
            <a:endParaRPr lang="en-US" dirty="0" smtClean="0"/>
          </a:p>
          <a:p>
            <a:pPr>
              <a:buNone/>
            </a:pPr>
            <a:endParaRPr lang="en-US" dirty="0"/>
          </a:p>
        </p:txBody>
      </p:sp>
      <p:sp>
        <p:nvSpPr>
          <p:cNvPr id="11265" name="Rectangle 1"/>
          <p:cNvSpPr>
            <a:spLocks noChangeArrowheads="1"/>
          </p:cNvSpPr>
          <p:nvPr/>
        </p:nvSpPr>
        <p:spPr bwMode="auto">
          <a:xfrm>
            <a:off x="0" y="0"/>
            <a:ext cx="9144000" cy="181588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pitchFamily="34" charset="0"/>
                <a:cs typeface="Arial" pitchFamily="34" charset="0"/>
              </a:rPr>
              <a:t>Read the following and answer.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pitchFamily="34" charset="0"/>
                <a:cs typeface="Arial" pitchFamily="34" charset="0"/>
              </a:rPr>
              <a:t>SITUATION.</a:t>
            </a:r>
            <a:endParaRPr kumimoji="0" lang="en-US" sz="2800" b="0" i="0" u="none" strike="noStrike" cap="none" normalizeH="0" baseline="0" dirty="0" smtClean="0">
              <a:ln>
                <a:noFill/>
              </a:ln>
              <a:solidFill>
                <a:schemeClr val="tx1"/>
              </a:solidFill>
              <a:effectLst/>
              <a:latin typeface="Arial" pitchFamily="34" charset="0"/>
              <a:ea typeface="Calibri"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pitchFamily="34" charset="0"/>
                <a:ea typeface="Calibri" pitchFamily="34" charset="0"/>
                <a:cs typeface="Arial" pitchFamily="34" charset="0"/>
              </a:rPr>
              <a:t>Principal Emilia wants her teachers to apply constructivism in teaching.</a:t>
            </a:r>
            <a:r>
              <a:rPr kumimoji="0" lang="en-US" sz="2800" b="0" i="0" u="none" strike="noStrike" cap="none" normalizeH="0" baseline="0" dirty="0" smtClean="0">
                <a:ln>
                  <a:noFill/>
                </a:ln>
                <a:solidFill>
                  <a:schemeClr val="tx1"/>
                </a:solidFill>
                <a:effectLst/>
                <a:latin typeface="Arial" pitchFamily="34" charset="0"/>
                <a:cs typeface="Arial" pitchFamily="34" charset="0"/>
              </a:rPr>
              <a:t>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38. On which assumption/s is the principal’s action anchored?</a:t>
            </a:r>
          </a:p>
          <a:p>
            <a:r>
              <a:rPr lang="en-US" dirty="0"/>
              <a:t>I.  Students learn by personally constructing meaning of what is taught.</a:t>
            </a:r>
            <a:endParaRPr lang="en-US" dirty="0" smtClean="0"/>
          </a:p>
          <a:p>
            <a:r>
              <a:rPr lang="en-US" dirty="0"/>
              <a:t>ll. Students construct and reconstruct meaning based on experiences.</a:t>
            </a:r>
            <a:endParaRPr lang="en-US" dirty="0" smtClean="0"/>
          </a:p>
          <a:p>
            <a:r>
              <a:rPr lang="en-US" dirty="0" err="1"/>
              <a:t>lll.Students</a:t>
            </a:r>
            <a:r>
              <a:rPr lang="en-US" dirty="0"/>
              <a:t> derive meaning from the meaning that the teacher gives.</a:t>
            </a:r>
            <a:endParaRPr lang="en-US" dirty="0" smtClean="0"/>
          </a:p>
          <a:p>
            <a:pPr lvl="0"/>
            <a:r>
              <a:rPr lang="en-US" dirty="0"/>
              <a:t>l and </a:t>
            </a:r>
            <a:r>
              <a:rPr lang="en-US" dirty="0" err="1"/>
              <a:t>ll</a:t>
            </a:r>
            <a:r>
              <a:rPr lang="en-US" dirty="0"/>
              <a:t>         	C. l, </a:t>
            </a:r>
            <a:r>
              <a:rPr lang="en-US" dirty="0" err="1"/>
              <a:t>ll</a:t>
            </a:r>
            <a:r>
              <a:rPr lang="en-US" dirty="0"/>
              <a:t>, </a:t>
            </a:r>
            <a:r>
              <a:rPr lang="en-US" dirty="0" err="1"/>
              <a:t>lll</a:t>
            </a:r>
            <a:endParaRPr lang="en-US" dirty="0"/>
          </a:p>
          <a:p>
            <a:pPr lvl="0"/>
            <a:r>
              <a:rPr lang="en-US" dirty="0"/>
              <a:t>l                   	D. </a:t>
            </a:r>
            <a:r>
              <a:rPr lang="en-US" dirty="0" err="1"/>
              <a:t>ll</a:t>
            </a:r>
            <a:endParaRPr lang="en-US" dirty="0"/>
          </a:p>
          <a:p>
            <a:pPr>
              <a:buNone/>
            </a:pP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38. On which assumption/s is the principal’s action anchored?</a:t>
            </a:r>
          </a:p>
          <a:p>
            <a:r>
              <a:rPr lang="en-US" dirty="0"/>
              <a:t>I.  Students learn by personally constructing meaning of what is taught.</a:t>
            </a:r>
            <a:endParaRPr lang="en-US" dirty="0" smtClean="0"/>
          </a:p>
          <a:p>
            <a:r>
              <a:rPr lang="en-US" dirty="0"/>
              <a:t>ll. Students construct and reconstruct meaning based on experiences.</a:t>
            </a:r>
            <a:endParaRPr lang="en-US" dirty="0" smtClean="0"/>
          </a:p>
          <a:p>
            <a:r>
              <a:rPr lang="en-US" dirty="0" err="1"/>
              <a:t>lll.Students</a:t>
            </a:r>
            <a:r>
              <a:rPr lang="en-US" dirty="0"/>
              <a:t> derive meaning from the meaning that the teacher gives.</a:t>
            </a:r>
            <a:endParaRPr lang="en-US" dirty="0" smtClean="0"/>
          </a:p>
          <a:p>
            <a:pPr lvl="0"/>
            <a:r>
              <a:rPr lang="en-US" b="1" dirty="0"/>
              <a:t>l and </a:t>
            </a:r>
            <a:r>
              <a:rPr lang="en-US" b="1" dirty="0" err="1"/>
              <a:t>ll</a:t>
            </a:r>
            <a:r>
              <a:rPr lang="en-US" b="1" dirty="0"/>
              <a:t>         </a:t>
            </a:r>
            <a:r>
              <a:rPr lang="en-US" dirty="0"/>
              <a:t>	C. l, </a:t>
            </a:r>
            <a:r>
              <a:rPr lang="en-US" dirty="0" err="1"/>
              <a:t>ll</a:t>
            </a:r>
            <a:r>
              <a:rPr lang="en-US" dirty="0"/>
              <a:t>, </a:t>
            </a:r>
            <a:r>
              <a:rPr lang="en-US" dirty="0" err="1"/>
              <a:t>lll</a:t>
            </a:r>
            <a:endParaRPr lang="en-US" dirty="0"/>
          </a:p>
          <a:p>
            <a:pPr lvl="0"/>
            <a:r>
              <a:rPr lang="en-US" dirty="0"/>
              <a:t>l                   	D. </a:t>
            </a:r>
            <a:r>
              <a:rPr lang="en-US" dirty="0" err="1"/>
              <a:t>ll</a:t>
            </a:r>
            <a:endParaRPr lang="en-US" dirty="0"/>
          </a:p>
          <a:p>
            <a:pPr>
              <a:buNone/>
            </a:pP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t>39</a:t>
            </a:r>
            <a:r>
              <a:rPr lang="en-US" dirty="0"/>
              <a:t>. Which concept/s of the learner will Principal Emilia as a constructivist NOT accept?</a:t>
            </a:r>
          </a:p>
          <a:p>
            <a:r>
              <a:rPr lang="en-US" dirty="0"/>
              <a:t>l.    “Empty vessel”</a:t>
            </a:r>
            <a:endParaRPr lang="en-US" dirty="0" smtClean="0"/>
          </a:p>
          <a:p>
            <a:r>
              <a:rPr lang="en-US" dirty="0"/>
              <a:t>ll.   “Tabula rasa”</a:t>
            </a:r>
            <a:endParaRPr lang="en-US" dirty="0" smtClean="0"/>
          </a:p>
          <a:p>
            <a:r>
              <a:rPr lang="en-US" dirty="0" err="1"/>
              <a:t>lll</a:t>
            </a:r>
            <a:r>
              <a:rPr lang="en-US" dirty="0"/>
              <a:t>.    Candle to be lighted</a:t>
            </a:r>
            <a:endParaRPr lang="en-US" dirty="0" smtClean="0"/>
          </a:p>
          <a:p>
            <a:pPr lvl="0"/>
            <a:r>
              <a:rPr lang="en-US" dirty="0"/>
              <a:t>l only                C. </a:t>
            </a:r>
            <a:r>
              <a:rPr lang="en-US" dirty="0" err="1"/>
              <a:t>ll</a:t>
            </a:r>
            <a:r>
              <a:rPr lang="en-US" dirty="0"/>
              <a:t> only</a:t>
            </a:r>
          </a:p>
          <a:p>
            <a:pPr lvl="0"/>
            <a:r>
              <a:rPr lang="en-US" dirty="0"/>
              <a:t>l, </a:t>
            </a:r>
            <a:r>
              <a:rPr lang="en-US" dirty="0" err="1"/>
              <a:t>ll</a:t>
            </a:r>
            <a:r>
              <a:rPr lang="en-US" dirty="0"/>
              <a:t>                    D. </a:t>
            </a:r>
            <a:r>
              <a:rPr lang="en-US" dirty="0" err="1"/>
              <a:t>lll</a:t>
            </a:r>
            <a:r>
              <a:rPr lang="en-US" dirty="0"/>
              <a:t> only</a:t>
            </a:r>
          </a:p>
          <a:p>
            <a:pPr>
              <a:buNone/>
            </a:pP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t>39</a:t>
            </a:r>
            <a:r>
              <a:rPr lang="en-US" dirty="0"/>
              <a:t>. Which concept/s of the learner will Principal Emilia as a constructivist NOT accept?</a:t>
            </a:r>
          </a:p>
          <a:p>
            <a:r>
              <a:rPr lang="en-US" dirty="0"/>
              <a:t>l.    “Empty vessel”</a:t>
            </a:r>
            <a:endParaRPr lang="en-US" dirty="0" smtClean="0"/>
          </a:p>
          <a:p>
            <a:r>
              <a:rPr lang="en-US" dirty="0"/>
              <a:t>ll.   “Tabula rasa”</a:t>
            </a:r>
            <a:endParaRPr lang="en-US" dirty="0" smtClean="0"/>
          </a:p>
          <a:p>
            <a:r>
              <a:rPr lang="en-US" dirty="0" err="1"/>
              <a:t>lll</a:t>
            </a:r>
            <a:r>
              <a:rPr lang="en-US" dirty="0"/>
              <a:t>.    Candle to be lighted</a:t>
            </a:r>
            <a:endParaRPr lang="en-US" dirty="0" smtClean="0"/>
          </a:p>
          <a:p>
            <a:pPr lvl="0"/>
            <a:r>
              <a:rPr lang="en-US" dirty="0"/>
              <a:t>l only                C. </a:t>
            </a:r>
            <a:r>
              <a:rPr lang="en-US" dirty="0" err="1"/>
              <a:t>ll</a:t>
            </a:r>
            <a:r>
              <a:rPr lang="en-US" dirty="0"/>
              <a:t> only</a:t>
            </a:r>
          </a:p>
          <a:p>
            <a:pPr lvl="0"/>
            <a:r>
              <a:rPr lang="en-US" b="1" dirty="0"/>
              <a:t>l, </a:t>
            </a:r>
            <a:r>
              <a:rPr lang="en-US" b="1" dirty="0" err="1"/>
              <a:t>ll</a:t>
            </a:r>
            <a:r>
              <a:rPr lang="en-US" b="1" dirty="0"/>
              <a:t>                    </a:t>
            </a:r>
            <a:r>
              <a:rPr lang="en-US" dirty="0"/>
              <a:t>D. </a:t>
            </a:r>
            <a:r>
              <a:rPr lang="en-US" dirty="0" err="1"/>
              <a:t>lll</a:t>
            </a:r>
            <a:r>
              <a:rPr lang="en-US" dirty="0"/>
              <a:t> only</a:t>
            </a:r>
          </a:p>
          <a:p>
            <a:pPr>
              <a:buNone/>
            </a:pP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40. All of the following describe the development of children aged 11 to 13 EXCEPT__________________.</a:t>
            </a:r>
            <a:endParaRPr lang="en-US" dirty="0" smtClean="0"/>
          </a:p>
          <a:p>
            <a:r>
              <a:rPr lang="en-US" dirty="0"/>
              <a:t>A. sex differences in IQ becomes more evident</a:t>
            </a:r>
            <a:endParaRPr lang="en-US" dirty="0" smtClean="0"/>
          </a:p>
          <a:p>
            <a:r>
              <a:rPr lang="en-US" dirty="0"/>
              <a:t>B. they shift from impulsivity to adaptive ability</a:t>
            </a:r>
            <a:endParaRPr lang="en-US" dirty="0" smtClean="0"/>
          </a:p>
          <a:p>
            <a:r>
              <a:rPr lang="en-US" dirty="0"/>
              <a:t>C. they exhibit increased objectivity in thinking</a:t>
            </a:r>
            <a:endParaRPr lang="en-US" dirty="0" smtClean="0"/>
          </a:p>
          <a:p>
            <a:r>
              <a:rPr lang="en-US" dirty="0"/>
              <a:t> D. they show abstract thinking and judgment</a:t>
            </a:r>
            <a:endParaRPr lang="en-US" dirty="0" smtClean="0"/>
          </a:p>
          <a:p>
            <a:pPr>
              <a:buNone/>
            </a:pP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40. All of the following describe the development of children aged 11 to 13 EXCEPT__________________.</a:t>
            </a:r>
            <a:endParaRPr lang="en-US" dirty="0" smtClean="0"/>
          </a:p>
          <a:p>
            <a:r>
              <a:rPr lang="en-US" b="1" dirty="0"/>
              <a:t>A. sex differences in IQ becomes more eviden</a:t>
            </a:r>
            <a:r>
              <a:rPr lang="en-US" dirty="0"/>
              <a:t>t</a:t>
            </a:r>
            <a:endParaRPr lang="en-US" dirty="0" smtClean="0"/>
          </a:p>
          <a:p>
            <a:r>
              <a:rPr lang="en-US" dirty="0"/>
              <a:t>B. they shift from impulsivity to adaptive ability</a:t>
            </a:r>
            <a:endParaRPr lang="en-US" dirty="0" smtClean="0"/>
          </a:p>
          <a:p>
            <a:r>
              <a:rPr lang="en-US" dirty="0"/>
              <a:t>C. they exhibit increased objectivity in thinking</a:t>
            </a:r>
            <a:endParaRPr lang="en-US" dirty="0" smtClean="0"/>
          </a:p>
          <a:p>
            <a:r>
              <a:rPr lang="en-US" dirty="0"/>
              <a:t> D. they show abstract thinking and judgment</a:t>
            </a:r>
            <a:endParaRPr lang="en-US" dirty="0" smtClean="0"/>
          </a:p>
          <a:p>
            <a:pPr>
              <a:buNone/>
            </a:pP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41. A grade 6 twelve-year-old boy comes from a dysfunctional family and has been abused and neglected. He has been to orphanages and three different elementary schools. He can decode at the second grade level, but he can comprehend orally materials at the fourth or fifth grade level. The most probable cause/s of this students reading problem is/are _____________.</a:t>
            </a:r>
            <a:endParaRPr lang="en-US" dirty="0" smtClean="0"/>
          </a:p>
          <a:p>
            <a:r>
              <a:rPr lang="en-US" dirty="0"/>
              <a:t>A. immaturity                          C. neurological factors</a:t>
            </a:r>
            <a:endParaRPr lang="en-US" dirty="0" smtClean="0"/>
          </a:p>
          <a:p>
            <a:r>
              <a:rPr lang="en-US" dirty="0"/>
              <a:t>B. emotional factors               D. poor teaching</a:t>
            </a:r>
            <a:endParaRPr lang="en-US" dirty="0" smtClean="0"/>
          </a:p>
          <a:p>
            <a:pPr>
              <a:buNone/>
            </a:pP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41. A grade 6 twelve-year-old boy comes from a dysfunctional family and has been abused and neglected. He has been to orphanages and three different elementary schools. He can decode at the second grade level, but he can comprehend orally materials at the fourth or fifth grade level. The most probable cause/s of this students reading problem is/are _____________.</a:t>
            </a:r>
            <a:endParaRPr lang="en-US" dirty="0" smtClean="0"/>
          </a:p>
          <a:p>
            <a:r>
              <a:rPr lang="en-US" dirty="0"/>
              <a:t>A. immaturity                          C. neurological factors</a:t>
            </a:r>
            <a:endParaRPr lang="en-US" dirty="0" smtClean="0"/>
          </a:p>
          <a:p>
            <a:r>
              <a:rPr lang="en-US" b="1" dirty="0"/>
              <a:t>B. emotional factors               </a:t>
            </a:r>
            <a:r>
              <a:rPr lang="en-US" dirty="0"/>
              <a:t>D. poor teaching</a:t>
            </a:r>
            <a:endParaRPr lang="en-US" dirty="0" smtClean="0"/>
          </a:p>
          <a:p>
            <a:pPr>
              <a:buNone/>
            </a:pP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42</a:t>
            </a:r>
            <a:r>
              <a:rPr lang="en-US" dirty="0"/>
              <a:t>. The role of play in the preschool and early childhood years is that it___________.</a:t>
            </a:r>
            <a:endParaRPr lang="en-US" dirty="0" smtClean="0"/>
          </a:p>
          <a:p>
            <a:r>
              <a:rPr lang="en-US" dirty="0"/>
              <a:t>A. develops competitive spirit</a:t>
            </a:r>
            <a:endParaRPr lang="en-US" dirty="0" smtClean="0"/>
          </a:p>
          <a:p>
            <a:r>
              <a:rPr lang="en-US" dirty="0"/>
              <a:t>B. separates reality from fantasy</a:t>
            </a:r>
            <a:endParaRPr lang="en-US" dirty="0" smtClean="0"/>
          </a:p>
          <a:p>
            <a:r>
              <a:rPr lang="en-US" dirty="0"/>
              <a:t>C. develops the upper and lower limbs</a:t>
            </a:r>
            <a:endParaRPr lang="en-US" dirty="0" smtClean="0"/>
          </a:p>
          <a:p>
            <a:r>
              <a:rPr lang="en-US" dirty="0"/>
              <a:t>D. increases imagination due to expanding knowledge and emotional range</a:t>
            </a:r>
            <a:endParaRPr lang="en-US" dirty="0" smtClean="0"/>
          </a:p>
          <a:p>
            <a:pPr>
              <a:buNone/>
            </a:pP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42</a:t>
            </a:r>
            <a:r>
              <a:rPr lang="en-US" dirty="0"/>
              <a:t>. The role of play in the preschool and early childhood years is that it___________.</a:t>
            </a:r>
            <a:endParaRPr lang="en-US" dirty="0" smtClean="0"/>
          </a:p>
          <a:p>
            <a:r>
              <a:rPr lang="en-US" dirty="0"/>
              <a:t>A. develops competitive spirit</a:t>
            </a:r>
            <a:endParaRPr lang="en-US" dirty="0" smtClean="0"/>
          </a:p>
          <a:p>
            <a:r>
              <a:rPr lang="en-US" dirty="0"/>
              <a:t>B. separates reality from fantasy</a:t>
            </a:r>
            <a:endParaRPr lang="en-US" dirty="0" smtClean="0"/>
          </a:p>
          <a:p>
            <a:r>
              <a:rPr lang="en-US" dirty="0"/>
              <a:t>C. develops the upper and lower limbs</a:t>
            </a:r>
            <a:endParaRPr lang="en-US" dirty="0" smtClean="0"/>
          </a:p>
          <a:p>
            <a:r>
              <a:rPr lang="en-US" b="1" dirty="0"/>
              <a:t>D. increases imagination due to expanding knowledge and emotional range</a:t>
            </a:r>
            <a:endParaRPr lang="en-US" b="1" dirty="0" smtClean="0"/>
          </a:p>
          <a:p>
            <a:pPr>
              <a:buNone/>
            </a:pP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43. Who of the following authors would most help Teacher </a:t>
            </a:r>
            <a:r>
              <a:rPr lang="en-US" dirty="0" err="1"/>
              <a:t>Lito</a:t>
            </a:r>
            <a:r>
              <a:rPr lang="en-US" dirty="0"/>
              <a:t> to understand the underlying effects of </a:t>
            </a:r>
            <a:r>
              <a:rPr lang="en-US" dirty="0" smtClean="0"/>
              <a:t> </a:t>
            </a:r>
            <a:r>
              <a:rPr lang="en-US" dirty="0"/>
              <a:t>poverty on academic achievement?</a:t>
            </a:r>
            <a:endParaRPr lang="en-US" dirty="0" smtClean="0"/>
          </a:p>
          <a:p>
            <a:pPr marL="514350" indent="-514350">
              <a:buAutoNum type="alphaUcPeriod"/>
            </a:pPr>
            <a:r>
              <a:rPr lang="en-US" dirty="0" smtClean="0"/>
              <a:t>Maslow                                   C</a:t>
            </a:r>
            <a:r>
              <a:rPr lang="en-US" dirty="0"/>
              <a:t>. </a:t>
            </a:r>
            <a:r>
              <a:rPr lang="en-US" dirty="0" smtClean="0"/>
              <a:t>Piaget</a:t>
            </a:r>
          </a:p>
          <a:p>
            <a:pPr marL="514350" indent="-514350">
              <a:buAutoNum type="alphaUcPeriod"/>
            </a:pPr>
            <a:r>
              <a:rPr lang="en-US" dirty="0" smtClean="0"/>
              <a:t> </a:t>
            </a:r>
            <a:r>
              <a:rPr lang="en-US" dirty="0"/>
              <a:t>Dewey                                                           </a:t>
            </a:r>
            <a:endParaRPr lang="en-US" dirty="0" smtClean="0"/>
          </a:p>
          <a:p>
            <a:pPr marL="514350" indent="-514350">
              <a:buNone/>
            </a:pPr>
            <a:r>
              <a:rPr lang="en-US" dirty="0" err="1" smtClean="0"/>
              <a:t>D.Kohlberg</a:t>
            </a:r>
            <a:endParaRPr lang="en-US" dirty="0" smtClean="0"/>
          </a:p>
          <a:p>
            <a:pPr>
              <a:buNone/>
            </a:pP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43. Who of the following authors would most help Teacher </a:t>
            </a:r>
            <a:r>
              <a:rPr lang="en-US" dirty="0" err="1"/>
              <a:t>Lito</a:t>
            </a:r>
            <a:r>
              <a:rPr lang="en-US" dirty="0"/>
              <a:t> to understand the underlying effects of </a:t>
            </a:r>
            <a:r>
              <a:rPr lang="en-US" dirty="0" smtClean="0"/>
              <a:t> </a:t>
            </a:r>
            <a:r>
              <a:rPr lang="en-US" dirty="0"/>
              <a:t>poverty on academic achievement?</a:t>
            </a:r>
            <a:endParaRPr lang="en-US" dirty="0" smtClean="0"/>
          </a:p>
          <a:p>
            <a:pPr marL="514350" indent="-514350">
              <a:buAutoNum type="alphaUcPeriod"/>
            </a:pPr>
            <a:r>
              <a:rPr lang="en-US" b="1" dirty="0" smtClean="0"/>
              <a:t>Maslow     </a:t>
            </a:r>
            <a:r>
              <a:rPr lang="en-US" dirty="0" smtClean="0"/>
              <a:t>                              C</a:t>
            </a:r>
            <a:r>
              <a:rPr lang="en-US" dirty="0"/>
              <a:t>. </a:t>
            </a:r>
            <a:r>
              <a:rPr lang="en-US" dirty="0" smtClean="0"/>
              <a:t>Piaget</a:t>
            </a:r>
          </a:p>
          <a:p>
            <a:pPr marL="514350" indent="-514350">
              <a:buAutoNum type="alphaUcPeriod"/>
            </a:pPr>
            <a:r>
              <a:rPr lang="en-US" dirty="0" smtClean="0"/>
              <a:t> </a:t>
            </a:r>
            <a:r>
              <a:rPr lang="en-US" dirty="0"/>
              <a:t>Dewey                                                           </a:t>
            </a:r>
            <a:endParaRPr lang="en-US" dirty="0" smtClean="0"/>
          </a:p>
          <a:p>
            <a:pPr marL="514350" indent="-514350">
              <a:buNone/>
            </a:pPr>
            <a:r>
              <a:rPr lang="en-US" dirty="0" err="1" smtClean="0"/>
              <a:t>D.Kohlberg</a:t>
            </a:r>
            <a:endParaRPr lang="en-US" dirty="0" smtClean="0"/>
          </a:p>
          <a:p>
            <a:pPr>
              <a:buNone/>
            </a:pP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44. In a well-known experiment, psychologists frustrate young children by placing a wire fence between the children and a pile of toys. When finally allowed to play with the toys, the children smashed and destroyed them. Which reaction was demonstrated?</a:t>
            </a:r>
            <a:endParaRPr lang="en-US" dirty="0" smtClean="0"/>
          </a:p>
          <a:p>
            <a:r>
              <a:rPr lang="en-US" dirty="0"/>
              <a:t>A. Rational aggression       </a:t>
            </a:r>
            <a:r>
              <a:rPr lang="en-US" dirty="0" smtClean="0"/>
              <a:t>C</a:t>
            </a:r>
            <a:r>
              <a:rPr lang="en-US" dirty="0"/>
              <a:t>. dormant aggression</a:t>
            </a:r>
            <a:endParaRPr lang="en-US" dirty="0" smtClean="0"/>
          </a:p>
          <a:p>
            <a:r>
              <a:rPr lang="en-US" dirty="0"/>
              <a:t>B. Displaced aggression    </a:t>
            </a:r>
            <a:r>
              <a:rPr lang="en-US" dirty="0" smtClean="0"/>
              <a:t> </a:t>
            </a:r>
            <a:r>
              <a:rPr lang="en-US" dirty="0"/>
              <a:t>D. Sustained aggression</a:t>
            </a:r>
            <a:endParaRPr lang="en-US" dirty="0" smtClean="0"/>
          </a:p>
          <a:p>
            <a:pPr>
              <a:buNone/>
            </a:pP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44. In a well-known experiment, psychologists frustrate young children by placing a wire fence between the children and a pile of toys. When finally allowed to play with the toys, the children smashed and destroyed them. Which reaction was demonstrated?</a:t>
            </a:r>
            <a:endParaRPr lang="en-US" dirty="0" smtClean="0"/>
          </a:p>
          <a:p>
            <a:r>
              <a:rPr lang="en-US" dirty="0"/>
              <a:t>A. Rational aggression       </a:t>
            </a:r>
            <a:r>
              <a:rPr lang="en-US" dirty="0" smtClean="0"/>
              <a:t>C</a:t>
            </a:r>
            <a:r>
              <a:rPr lang="en-US" dirty="0"/>
              <a:t>. dormant aggression</a:t>
            </a:r>
            <a:endParaRPr lang="en-US" dirty="0" smtClean="0"/>
          </a:p>
          <a:p>
            <a:r>
              <a:rPr lang="en-US" b="1" dirty="0"/>
              <a:t>B. Displaced aggression    </a:t>
            </a:r>
            <a:r>
              <a:rPr lang="en-US" b="1" dirty="0" smtClean="0"/>
              <a:t> </a:t>
            </a:r>
            <a:r>
              <a:rPr lang="en-US" dirty="0"/>
              <a:t>D. Sustained aggression</a:t>
            </a:r>
            <a:endParaRPr lang="en-US" dirty="0" smtClean="0"/>
          </a:p>
          <a:p>
            <a:pPr>
              <a:buNone/>
            </a:pP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t>45</a:t>
            </a:r>
            <a:r>
              <a:rPr lang="en-US" dirty="0"/>
              <a:t>. In a social studies class, Teacher P presents a morally ambiguous situation and asks students what they would do. On whose theory is Teacher P’s technique based?</a:t>
            </a:r>
            <a:endParaRPr lang="en-US" dirty="0" smtClean="0"/>
          </a:p>
          <a:p>
            <a:r>
              <a:rPr lang="en-US" dirty="0"/>
              <a:t>A. Bruner                                                                    C. Kohlberg</a:t>
            </a:r>
            <a:endParaRPr lang="en-US" dirty="0" smtClean="0"/>
          </a:p>
          <a:p>
            <a:r>
              <a:rPr lang="en-US" dirty="0"/>
              <a:t>B. Piaget                                                                      D. </a:t>
            </a:r>
            <a:r>
              <a:rPr lang="en-US" dirty="0" err="1"/>
              <a:t>Bandura</a:t>
            </a:r>
            <a:endParaRPr lang="en-US" dirty="0" smtClean="0"/>
          </a:p>
          <a:p>
            <a:pPr>
              <a:buNone/>
            </a:pP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t>45</a:t>
            </a:r>
            <a:r>
              <a:rPr lang="en-US" dirty="0"/>
              <a:t>. In a social studies class, Teacher P presents a morally ambiguous situation and asks students what they would do. On whose theory is Teacher P’s technique based?</a:t>
            </a:r>
            <a:endParaRPr lang="en-US" dirty="0" smtClean="0"/>
          </a:p>
          <a:p>
            <a:r>
              <a:rPr lang="en-US" dirty="0"/>
              <a:t>A. Bruner                                                                    </a:t>
            </a:r>
            <a:r>
              <a:rPr lang="en-US" b="1" dirty="0"/>
              <a:t>C. Kohlberg</a:t>
            </a:r>
            <a:endParaRPr lang="en-US" b="1" dirty="0" smtClean="0"/>
          </a:p>
          <a:p>
            <a:r>
              <a:rPr lang="en-US" dirty="0"/>
              <a:t>B. Piaget                                                                      D. </a:t>
            </a:r>
            <a:r>
              <a:rPr lang="en-US" dirty="0" err="1"/>
              <a:t>Bandura</a:t>
            </a:r>
            <a:endParaRPr lang="en-US" dirty="0" smtClean="0"/>
          </a:p>
          <a:p>
            <a:pPr>
              <a:buNone/>
            </a:pP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46. Which educational issue can be clarified by understanding Maslow’s Needs Theory?</a:t>
            </a:r>
            <a:endParaRPr lang="en-US" dirty="0" smtClean="0"/>
          </a:p>
          <a:p>
            <a:r>
              <a:rPr lang="en-US" dirty="0"/>
              <a:t>A. Sex education issues in school</a:t>
            </a:r>
            <a:endParaRPr lang="en-US" dirty="0" smtClean="0"/>
          </a:p>
          <a:p>
            <a:r>
              <a:rPr lang="en-US" dirty="0"/>
              <a:t>B. Delinquency in the public schools</a:t>
            </a:r>
            <a:endParaRPr lang="en-US" dirty="0" smtClean="0"/>
          </a:p>
          <a:p>
            <a:r>
              <a:rPr lang="en-US" dirty="0"/>
              <a:t>C. The effects of different classroom structures</a:t>
            </a:r>
            <a:endParaRPr lang="en-US" dirty="0" smtClean="0"/>
          </a:p>
          <a:p>
            <a:r>
              <a:rPr lang="en-US" dirty="0"/>
              <a:t>D. The effect of poverty on academic achievement</a:t>
            </a:r>
            <a:endParaRPr lang="en-US" dirty="0" smtClean="0"/>
          </a:p>
          <a:p>
            <a:pPr>
              <a:buNone/>
            </a:pP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46. Which educational issue can be clarified by understanding Maslow’s Needs Theory?</a:t>
            </a:r>
            <a:endParaRPr lang="en-US" dirty="0" smtClean="0"/>
          </a:p>
          <a:p>
            <a:r>
              <a:rPr lang="en-US" dirty="0"/>
              <a:t>A. Sex education issues in school</a:t>
            </a:r>
            <a:endParaRPr lang="en-US" dirty="0" smtClean="0"/>
          </a:p>
          <a:p>
            <a:r>
              <a:rPr lang="en-US" dirty="0"/>
              <a:t>B. Delinquency in the public schools</a:t>
            </a:r>
            <a:endParaRPr lang="en-US" dirty="0" smtClean="0"/>
          </a:p>
          <a:p>
            <a:r>
              <a:rPr lang="en-US" dirty="0"/>
              <a:t>C. The effects of different classroom structures</a:t>
            </a:r>
            <a:endParaRPr lang="en-US" dirty="0" smtClean="0"/>
          </a:p>
          <a:p>
            <a:r>
              <a:rPr lang="en-US" b="1" dirty="0"/>
              <a:t>D. The effect of poverty on academic achievement</a:t>
            </a:r>
            <a:endParaRPr lang="en-US" b="1" dirty="0" smtClean="0"/>
          </a:p>
          <a:p>
            <a:pPr>
              <a:buNone/>
            </a:pP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47. You are convinced that whenever a student performs desired behaviors provide reinforcement and soon the student learns to perform the behavior on her own. On which principle is your conviction based?</a:t>
            </a:r>
            <a:endParaRPr lang="en-US" dirty="0" smtClean="0"/>
          </a:p>
          <a:p>
            <a:r>
              <a:rPr lang="en-US" dirty="0"/>
              <a:t>A. Relativism                                                               C. Constructivism</a:t>
            </a:r>
            <a:endParaRPr lang="en-US" dirty="0" smtClean="0"/>
          </a:p>
          <a:p>
            <a:r>
              <a:rPr lang="en-US" dirty="0"/>
              <a:t>B. Behaviorism                                                            D. Environmentalism</a:t>
            </a:r>
            <a:endParaRPr lang="en-US" dirty="0" smtClean="0"/>
          </a:p>
          <a:p>
            <a:pPr>
              <a:buNone/>
            </a:pP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47. You are convinced that whenever a student performs desired behaviors provide reinforcement and soon the student learns to perform the behavior on her own. On which principle is your conviction based?</a:t>
            </a:r>
            <a:endParaRPr lang="en-US" dirty="0" smtClean="0"/>
          </a:p>
          <a:p>
            <a:r>
              <a:rPr lang="en-US" dirty="0"/>
              <a:t>A. Relativism                                                               C. Constructivism</a:t>
            </a:r>
            <a:endParaRPr lang="en-US" dirty="0" smtClean="0"/>
          </a:p>
          <a:p>
            <a:r>
              <a:rPr lang="en-US" b="1" dirty="0"/>
              <a:t>B. Behaviorism                                                            </a:t>
            </a:r>
            <a:r>
              <a:rPr lang="en-US" dirty="0"/>
              <a:t>D. Environmentalism</a:t>
            </a:r>
            <a:endParaRPr lang="en-US" dirty="0" smtClean="0"/>
          </a:p>
          <a:p>
            <a:pPr>
              <a:buNone/>
            </a:pP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48. William </a:t>
            </a:r>
            <a:r>
              <a:rPr lang="en-US" dirty="0" err="1"/>
              <a:t>Glasser’s</a:t>
            </a:r>
            <a:r>
              <a:rPr lang="en-US" dirty="0"/>
              <a:t> control theory states that behavior is inspired by what satisfies person’s want at any given time. What then must a teacher do to motivate students to learn?</a:t>
            </a:r>
            <a:endParaRPr lang="en-US" dirty="0" smtClean="0"/>
          </a:p>
          <a:p>
            <a:r>
              <a:rPr lang="en-US" dirty="0"/>
              <a:t>A. Make schoolwork relevant to students’ basic human needs</a:t>
            </a:r>
            <a:endParaRPr lang="en-US" dirty="0" smtClean="0"/>
          </a:p>
          <a:p>
            <a:r>
              <a:rPr lang="en-US" dirty="0"/>
              <a:t>B. Avoid giving assignments</a:t>
            </a:r>
            <a:endParaRPr lang="en-US" dirty="0" smtClean="0"/>
          </a:p>
          <a:p>
            <a:r>
              <a:rPr lang="en-US" dirty="0"/>
              <a:t>C. Make teaching-learning interactive</a:t>
            </a:r>
            <a:endParaRPr lang="en-US" dirty="0" smtClean="0"/>
          </a:p>
          <a:p>
            <a:r>
              <a:rPr lang="en-US" dirty="0"/>
              <a:t>D. Organize a curriculum in a spiral manner</a:t>
            </a:r>
            <a:endParaRPr lang="en-US" dirty="0" smtClean="0"/>
          </a:p>
          <a:p>
            <a:pPr>
              <a:buNone/>
            </a:pP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48. William </a:t>
            </a:r>
            <a:r>
              <a:rPr lang="en-US" dirty="0" err="1"/>
              <a:t>Glasser’s</a:t>
            </a:r>
            <a:r>
              <a:rPr lang="en-US" dirty="0"/>
              <a:t> control theory states that behavior is inspired by what satisfies person’s want at any given time. What then must a teacher do to motivate students to learn?</a:t>
            </a:r>
            <a:endParaRPr lang="en-US" dirty="0" smtClean="0"/>
          </a:p>
          <a:p>
            <a:r>
              <a:rPr lang="en-US" b="1" dirty="0"/>
              <a:t>A. Make schoolwork relevant to students’ basic human needs</a:t>
            </a:r>
            <a:endParaRPr lang="en-US" b="1" dirty="0" smtClean="0"/>
          </a:p>
          <a:p>
            <a:r>
              <a:rPr lang="en-US" dirty="0"/>
              <a:t>B. Avoid giving assignments</a:t>
            </a:r>
            <a:endParaRPr lang="en-US" dirty="0" smtClean="0"/>
          </a:p>
          <a:p>
            <a:r>
              <a:rPr lang="en-US" dirty="0"/>
              <a:t>C. Make teaching-learning interactive</a:t>
            </a:r>
            <a:endParaRPr lang="en-US" dirty="0" smtClean="0"/>
          </a:p>
          <a:p>
            <a:r>
              <a:rPr lang="en-US" dirty="0"/>
              <a:t>D. Organize a curriculum in a spiral manner</a:t>
            </a:r>
            <a:endParaRPr lang="en-US" dirty="0" smtClean="0"/>
          </a:p>
          <a:p>
            <a:pPr>
              <a:buNone/>
            </a:pP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49</a:t>
            </a:r>
            <a:r>
              <a:rPr lang="en-US" dirty="0"/>
              <a:t>. Which psychological theory states that the mind insists on finding patterns in things that contribute to the development of insight?</a:t>
            </a:r>
            <a:endParaRPr lang="en-US" dirty="0" smtClean="0"/>
          </a:p>
          <a:p>
            <a:r>
              <a:rPr lang="en-US" dirty="0"/>
              <a:t>A. Piaget’s psychology                                                      C. Gestalt psychology</a:t>
            </a:r>
            <a:endParaRPr lang="en-US" dirty="0" smtClean="0"/>
          </a:p>
          <a:p>
            <a:r>
              <a:rPr lang="en-US" dirty="0"/>
              <a:t>B. Kohlberg psychology                                                    D. Bruner’s theory</a:t>
            </a:r>
            <a:endParaRPr lang="en-US" dirty="0" smtClean="0"/>
          </a:p>
          <a:p>
            <a:pPr>
              <a:buNone/>
            </a:pP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49</a:t>
            </a:r>
            <a:r>
              <a:rPr lang="en-US" dirty="0"/>
              <a:t>. Which psychological theory states that the mind insists on finding patterns in things that contribute to the development of insight?</a:t>
            </a:r>
            <a:endParaRPr lang="en-US" dirty="0" smtClean="0"/>
          </a:p>
          <a:p>
            <a:r>
              <a:rPr lang="en-US" dirty="0"/>
              <a:t>A. Piaget’s psychology                                                      </a:t>
            </a:r>
            <a:r>
              <a:rPr lang="en-US" b="1" dirty="0"/>
              <a:t>C. Gestalt psychology</a:t>
            </a:r>
            <a:endParaRPr lang="en-US" b="1" dirty="0" smtClean="0"/>
          </a:p>
          <a:p>
            <a:r>
              <a:rPr lang="en-US" dirty="0"/>
              <a:t>B. Kohlberg psychology                                                    D. Bruner’s theory</a:t>
            </a:r>
            <a:endParaRPr lang="en-US" dirty="0" smtClean="0"/>
          </a:p>
          <a:p>
            <a:pPr>
              <a:buNone/>
            </a:pP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50</a:t>
            </a:r>
            <a:r>
              <a:rPr lang="en-US" dirty="0"/>
              <a:t>. When small children call all animals “dogs”, what process is illustrated based on Piaget’s cognitive development theory?</a:t>
            </a:r>
            <a:endParaRPr lang="en-US" dirty="0" smtClean="0"/>
          </a:p>
          <a:p>
            <a:r>
              <a:rPr lang="en-US" dirty="0"/>
              <a:t>A. Conservation                                                                 C. Accommodation</a:t>
            </a:r>
            <a:endParaRPr lang="en-US" dirty="0" smtClean="0"/>
          </a:p>
          <a:p>
            <a:r>
              <a:rPr lang="en-US" dirty="0"/>
              <a:t>B. Assimilation                                                                   D. Reversion</a:t>
            </a:r>
            <a:endParaRPr lang="en-US" dirty="0" smtClean="0"/>
          </a:p>
          <a:p>
            <a:pPr>
              <a:buNone/>
            </a:pP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50</a:t>
            </a:r>
            <a:r>
              <a:rPr lang="en-US" dirty="0"/>
              <a:t>. When small children call all animals “dogs”, what process is illustrated based on Piaget’s cognitive development theory?</a:t>
            </a:r>
            <a:endParaRPr lang="en-US" dirty="0" smtClean="0"/>
          </a:p>
          <a:p>
            <a:r>
              <a:rPr lang="en-US" dirty="0"/>
              <a:t>A. Conservation                                                                 C. Accommodation</a:t>
            </a:r>
            <a:endParaRPr lang="en-US" dirty="0" smtClean="0"/>
          </a:p>
          <a:p>
            <a:r>
              <a:rPr lang="en-US" b="1" dirty="0"/>
              <a:t>B. Assimilation                                                                   </a:t>
            </a:r>
            <a:r>
              <a:rPr lang="en-US" dirty="0"/>
              <a:t>D. Reversion</a:t>
            </a:r>
            <a:endParaRPr lang="en-US" dirty="0" smtClean="0"/>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4829</Words>
  <Application>Microsoft Office PowerPoint</Application>
  <PresentationFormat>On-screen Show (4:3)</PresentationFormat>
  <Paragraphs>548</Paragraphs>
  <Slides>101</Slides>
  <Notes>0</Notes>
  <HiddenSlides>0</HiddenSlides>
  <MMClips>0</MMClips>
  <ScaleCrop>false</ScaleCrop>
  <HeadingPairs>
    <vt:vector size="4" baseType="variant">
      <vt:variant>
        <vt:lpstr>Theme</vt:lpstr>
      </vt:variant>
      <vt:variant>
        <vt:i4>1</vt:i4>
      </vt:variant>
      <vt:variant>
        <vt:lpstr>Slide Titles</vt:lpstr>
      </vt:variant>
      <vt:variant>
        <vt:i4>101</vt:i4>
      </vt:variant>
    </vt:vector>
  </HeadingPairs>
  <TitlesOfParts>
    <vt:vector size="102" baseType="lpstr">
      <vt:lpstr>Office Theme</vt:lpstr>
      <vt:lpstr>ChildAndAdol NCBTS</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ChildAndAdol NCBTS</dc:title>
  <dc:creator>NEO VIVID</dc:creator>
  <cp:lastModifiedBy>NEO VIVID</cp:lastModifiedBy>
  <cp:revision>3</cp:revision>
  <dcterms:created xsi:type="dcterms:W3CDTF">2001-01-01T20:22:12Z</dcterms:created>
  <dcterms:modified xsi:type="dcterms:W3CDTF">2001-01-01T21:49:49Z</dcterms:modified>
</cp:coreProperties>
</file>