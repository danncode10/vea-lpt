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notesMasterIdLst>
    <p:notesMasterId r:id="rId108"/>
  </p:notesMasterIdLst>
  <p:sldIdLst>
    <p:sldId id="256" r:id="rId2"/>
    <p:sldId id="332" r:id="rId3"/>
    <p:sldId id="257" r:id="rId4"/>
    <p:sldId id="365" r:id="rId5"/>
    <p:sldId id="287" r:id="rId6"/>
    <p:sldId id="288" r:id="rId7"/>
    <p:sldId id="258" r:id="rId8"/>
    <p:sldId id="289" r:id="rId9"/>
    <p:sldId id="290" r:id="rId10"/>
    <p:sldId id="259" r:id="rId11"/>
    <p:sldId id="291" r:id="rId12"/>
    <p:sldId id="260" r:id="rId13"/>
    <p:sldId id="323" r:id="rId14"/>
    <p:sldId id="324" r:id="rId15"/>
    <p:sldId id="333" r:id="rId16"/>
    <p:sldId id="335" r:id="rId17"/>
    <p:sldId id="337" r:id="rId18"/>
    <p:sldId id="338" r:id="rId19"/>
    <p:sldId id="336" r:id="rId20"/>
    <p:sldId id="325" r:id="rId21"/>
    <p:sldId id="292" r:id="rId22"/>
    <p:sldId id="317" r:id="rId23"/>
    <p:sldId id="318" r:id="rId24"/>
    <p:sldId id="320" r:id="rId25"/>
    <p:sldId id="319" r:id="rId26"/>
    <p:sldId id="293" r:id="rId27"/>
    <p:sldId id="294" r:id="rId28"/>
    <p:sldId id="295" r:id="rId29"/>
    <p:sldId id="321" r:id="rId30"/>
    <p:sldId id="322" r:id="rId31"/>
    <p:sldId id="296" r:id="rId32"/>
    <p:sldId id="326" r:id="rId33"/>
    <p:sldId id="339" r:id="rId34"/>
    <p:sldId id="340" r:id="rId35"/>
    <p:sldId id="341" r:id="rId36"/>
    <p:sldId id="342" r:id="rId37"/>
    <p:sldId id="366" r:id="rId38"/>
    <p:sldId id="261" r:id="rId39"/>
    <p:sldId id="262" r:id="rId40"/>
    <p:sldId id="301" r:id="rId41"/>
    <p:sldId id="343" r:id="rId42"/>
    <p:sldId id="263" r:id="rId43"/>
    <p:sldId id="298" r:id="rId44"/>
    <p:sldId id="299" r:id="rId45"/>
    <p:sldId id="300" r:id="rId46"/>
    <p:sldId id="264" r:id="rId47"/>
    <p:sldId id="265" r:id="rId48"/>
    <p:sldId id="327" r:id="rId49"/>
    <p:sldId id="305" r:id="rId50"/>
    <p:sldId id="344" r:id="rId51"/>
    <p:sldId id="345" r:id="rId52"/>
    <p:sldId id="346" r:id="rId53"/>
    <p:sldId id="347" r:id="rId54"/>
    <p:sldId id="302" r:id="rId55"/>
    <p:sldId id="266" r:id="rId56"/>
    <p:sldId id="352" r:id="rId57"/>
    <p:sldId id="367" r:id="rId58"/>
    <p:sldId id="353" r:id="rId59"/>
    <p:sldId id="267" r:id="rId60"/>
    <p:sldId id="268" r:id="rId61"/>
    <p:sldId id="269" r:id="rId62"/>
    <p:sldId id="270" r:id="rId63"/>
    <p:sldId id="271" r:id="rId64"/>
    <p:sldId id="303" r:id="rId65"/>
    <p:sldId id="272" r:id="rId66"/>
    <p:sldId id="273" r:id="rId67"/>
    <p:sldId id="275" r:id="rId68"/>
    <p:sldId id="330" r:id="rId69"/>
    <p:sldId id="348" r:id="rId70"/>
    <p:sldId id="349" r:id="rId71"/>
    <p:sldId id="350" r:id="rId72"/>
    <p:sldId id="351" r:id="rId73"/>
    <p:sldId id="357" r:id="rId74"/>
    <p:sldId id="356" r:id="rId75"/>
    <p:sldId id="276" r:id="rId76"/>
    <p:sldId id="307" r:id="rId77"/>
    <p:sldId id="308" r:id="rId78"/>
    <p:sldId id="309" r:id="rId79"/>
    <p:sldId id="310" r:id="rId80"/>
    <p:sldId id="311" r:id="rId81"/>
    <p:sldId id="312" r:id="rId82"/>
    <p:sldId id="313" r:id="rId83"/>
    <p:sldId id="314" r:id="rId84"/>
    <p:sldId id="277" r:id="rId85"/>
    <p:sldId id="315" r:id="rId86"/>
    <p:sldId id="278" r:id="rId87"/>
    <p:sldId id="316" r:id="rId88"/>
    <p:sldId id="279" r:id="rId89"/>
    <p:sldId id="280" r:id="rId90"/>
    <p:sldId id="281" r:id="rId91"/>
    <p:sldId id="282" r:id="rId92"/>
    <p:sldId id="329" r:id="rId93"/>
    <p:sldId id="283" r:id="rId94"/>
    <p:sldId id="328" r:id="rId95"/>
    <p:sldId id="284" r:id="rId96"/>
    <p:sldId id="363" r:id="rId97"/>
    <p:sldId id="285" r:id="rId98"/>
    <p:sldId id="286" r:id="rId99"/>
    <p:sldId id="354" r:id="rId100"/>
    <p:sldId id="355" r:id="rId101"/>
    <p:sldId id="358" r:id="rId102"/>
    <p:sldId id="359" r:id="rId103"/>
    <p:sldId id="360" r:id="rId104"/>
    <p:sldId id="361" r:id="rId105"/>
    <p:sldId id="362" r:id="rId106"/>
    <p:sldId id="364" r:id="rId10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43" autoAdjust="0"/>
    <p:restoredTop sz="94660"/>
  </p:normalViewPr>
  <p:slideViewPr>
    <p:cSldViewPr>
      <p:cViewPr varScale="1">
        <p:scale>
          <a:sx n="82" d="100"/>
          <a:sy n="82" d="100"/>
        </p:scale>
        <p:origin x="1507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110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presProps" Target="presProp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D8C9FD-6589-4F31-A6CD-F7F51FDF657E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PH"/>
        </a:p>
      </dgm:t>
    </dgm:pt>
    <dgm:pt modelId="{9D69BCE7-29D8-4140-949F-5E5ECFCC87EF}">
      <dgm:prSet phldrT="[Text]" custT="1"/>
      <dgm:spPr/>
      <dgm:t>
        <a:bodyPr/>
        <a:lstStyle/>
        <a:p>
          <a:r>
            <a:rPr lang="en-PH" sz="1800" b="1" dirty="0"/>
            <a:t>Need &amp; Interest </a:t>
          </a:r>
          <a:r>
            <a:rPr lang="en-PH" sz="1800" b="1" dirty="0" err="1"/>
            <a:t>Identifi-cation</a:t>
          </a:r>
          <a:endParaRPr lang="en-PH" sz="1800" b="1" dirty="0"/>
        </a:p>
      </dgm:t>
    </dgm:pt>
    <dgm:pt modelId="{5768599F-FDC7-48E9-A653-FFD4B5010184}" type="parTrans" cxnId="{C1378268-4490-4D3F-AB0A-BF526A2BAB43}">
      <dgm:prSet/>
      <dgm:spPr/>
      <dgm:t>
        <a:bodyPr/>
        <a:lstStyle/>
        <a:p>
          <a:endParaRPr lang="en-PH"/>
        </a:p>
      </dgm:t>
    </dgm:pt>
    <dgm:pt modelId="{D29D7ACD-B879-4BAC-B0E9-A6C27B395AC1}" type="sibTrans" cxnId="{C1378268-4490-4D3F-AB0A-BF526A2BAB43}">
      <dgm:prSet/>
      <dgm:spPr/>
      <dgm:t>
        <a:bodyPr/>
        <a:lstStyle/>
        <a:p>
          <a:endParaRPr lang="en-PH"/>
        </a:p>
      </dgm:t>
    </dgm:pt>
    <dgm:pt modelId="{3BADFC5F-1AE6-4B1E-A159-28F704AD14ED}">
      <dgm:prSet phldrT="[Text]" custT="1"/>
      <dgm:spPr/>
      <dgm:t>
        <a:bodyPr/>
        <a:lstStyle/>
        <a:p>
          <a:r>
            <a:rPr lang="en-PH" sz="1800" b="1" dirty="0"/>
            <a:t>Writing the Plan</a:t>
          </a:r>
        </a:p>
      </dgm:t>
    </dgm:pt>
    <dgm:pt modelId="{A978989B-039B-4E71-AC8D-B9CE58736B8F}" type="parTrans" cxnId="{43FB5F68-E107-4EB8-A3A8-A715FC321693}">
      <dgm:prSet/>
      <dgm:spPr/>
      <dgm:t>
        <a:bodyPr/>
        <a:lstStyle/>
        <a:p>
          <a:endParaRPr lang="en-PH"/>
        </a:p>
      </dgm:t>
    </dgm:pt>
    <dgm:pt modelId="{0392276C-AA02-4A19-9401-B23383AEB437}" type="sibTrans" cxnId="{43FB5F68-E107-4EB8-A3A8-A715FC321693}">
      <dgm:prSet/>
      <dgm:spPr/>
      <dgm:t>
        <a:bodyPr/>
        <a:lstStyle/>
        <a:p>
          <a:endParaRPr lang="en-PH"/>
        </a:p>
      </dgm:t>
    </dgm:pt>
    <dgm:pt modelId="{7CCA0187-A15C-4ADF-AEC2-0842015D8600}">
      <dgm:prSet phldrT="[Text]" custT="1"/>
      <dgm:spPr/>
      <dgm:t>
        <a:bodyPr/>
        <a:lstStyle/>
        <a:p>
          <a:r>
            <a:rPr lang="en-PH" sz="1400" b="1" dirty="0"/>
            <a:t>Teaching</a:t>
          </a:r>
        </a:p>
      </dgm:t>
    </dgm:pt>
    <dgm:pt modelId="{80505B74-9AD6-4855-B35C-9BB27B1819B6}" type="parTrans" cxnId="{C18585B3-B34B-4F0C-8E93-FAB116703077}">
      <dgm:prSet/>
      <dgm:spPr/>
      <dgm:t>
        <a:bodyPr/>
        <a:lstStyle/>
        <a:p>
          <a:endParaRPr lang="en-PH"/>
        </a:p>
      </dgm:t>
    </dgm:pt>
    <dgm:pt modelId="{2E8CBE51-B83F-4BB6-A083-986A2522EFB2}" type="sibTrans" cxnId="{C18585B3-B34B-4F0C-8E93-FAB116703077}">
      <dgm:prSet/>
      <dgm:spPr/>
      <dgm:t>
        <a:bodyPr/>
        <a:lstStyle/>
        <a:p>
          <a:endParaRPr lang="en-PH"/>
        </a:p>
      </dgm:t>
    </dgm:pt>
    <dgm:pt modelId="{85D0D3A9-AFDF-4E46-AD75-BBBC86D22337}">
      <dgm:prSet phldrT="[Text]" custT="1"/>
      <dgm:spPr/>
      <dgm:t>
        <a:bodyPr/>
        <a:lstStyle/>
        <a:p>
          <a:r>
            <a:rPr lang="en-PH" sz="1600" b="1" dirty="0"/>
            <a:t>A</a:t>
          </a:r>
          <a:r>
            <a:rPr lang="en-PH" sz="1200" b="1" dirty="0"/>
            <a:t>ssessmen</a:t>
          </a:r>
          <a:r>
            <a:rPr lang="en-PH" sz="1600" b="1" dirty="0"/>
            <a:t>t of Learning</a:t>
          </a:r>
        </a:p>
      </dgm:t>
    </dgm:pt>
    <dgm:pt modelId="{74DE6AB9-9185-4D40-B05C-0CC57058FACE}" type="parTrans" cxnId="{AA6A58C3-A6E3-41F4-A2C4-7F6271108548}">
      <dgm:prSet/>
      <dgm:spPr/>
      <dgm:t>
        <a:bodyPr/>
        <a:lstStyle/>
        <a:p>
          <a:endParaRPr lang="en-PH"/>
        </a:p>
      </dgm:t>
    </dgm:pt>
    <dgm:pt modelId="{6CC7EACA-E663-4520-9A36-DF6CC86C10E1}" type="sibTrans" cxnId="{AA6A58C3-A6E3-41F4-A2C4-7F6271108548}">
      <dgm:prSet/>
      <dgm:spPr/>
      <dgm:t>
        <a:bodyPr/>
        <a:lstStyle/>
        <a:p>
          <a:endParaRPr lang="en-PH"/>
        </a:p>
      </dgm:t>
    </dgm:pt>
    <dgm:pt modelId="{FF8AD049-F65D-47BE-BEA4-58A1E0F5463F}">
      <dgm:prSet phldrT="[Text]" custT="1"/>
      <dgm:spPr/>
      <dgm:t>
        <a:bodyPr/>
        <a:lstStyle/>
        <a:p>
          <a:r>
            <a:rPr lang="en-PH" sz="1400" b="1" dirty="0"/>
            <a:t>Objectives &amp; Subject matter </a:t>
          </a:r>
          <a:r>
            <a:rPr lang="en-PH" sz="1100" b="1" dirty="0"/>
            <a:t>Development</a:t>
          </a:r>
        </a:p>
      </dgm:t>
    </dgm:pt>
    <dgm:pt modelId="{82AA4D42-60AA-43BE-978D-6404A64B3859}" type="sibTrans" cxnId="{F366D6FD-2C59-4140-B027-7A1F892BE50A}">
      <dgm:prSet/>
      <dgm:spPr/>
      <dgm:t>
        <a:bodyPr/>
        <a:lstStyle/>
        <a:p>
          <a:endParaRPr lang="en-PH"/>
        </a:p>
      </dgm:t>
    </dgm:pt>
    <dgm:pt modelId="{FC3BBD3D-69D0-4459-A95D-672548A46725}" type="parTrans" cxnId="{F366D6FD-2C59-4140-B027-7A1F892BE50A}">
      <dgm:prSet/>
      <dgm:spPr/>
      <dgm:t>
        <a:bodyPr/>
        <a:lstStyle/>
        <a:p>
          <a:endParaRPr lang="en-PH"/>
        </a:p>
      </dgm:t>
    </dgm:pt>
    <dgm:pt modelId="{BF5C1886-D558-470D-A3FB-2D558E2B6FEB}" type="pres">
      <dgm:prSet presAssocID="{30D8C9FD-6589-4F31-A6CD-F7F51FDF657E}" presName="cycle" presStyleCnt="0">
        <dgm:presLayoutVars>
          <dgm:dir/>
          <dgm:resizeHandles val="exact"/>
        </dgm:presLayoutVars>
      </dgm:prSet>
      <dgm:spPr/>
    </dgm:pt>
    <dgm:pt modelId="{006350B9-1A90-48A7-A2A2-9ECB8F209268}" type="pres">
      <dgm:prSet presAssocID="{9D69BCE7-29D8-4140-949F-5E5ECFCC87EF}" presName="node" presStyleLbl="node1" presStyleIdx="0" presStyleCnt="5" custRadScaleRad="110129" custRadScaleInc="-27842">
        <dgm:presLayoutVars>
          <dgm:bulletEnabled val="1"/>
        </dgm:presLayoutVars>
      </dgm:prSet>
      <dgm:spPr/>
    </dgm:pt>
    <dgm:pt modelId="{B62FA4F0-4CFD-4F67-8C29-144F49D1F6EC}" type="pres">
      <dgm:prSet presAssocID="{D29D7ACD-B879-4BAC-B0E9-A6C27B395AC1}" presName="sibTrans" presStyleLbl="sibTrans2D1" presStyleIdx="0" presStyleCnt="5"/>
      <dgm:spPr/>
    </dgm:pt>
    <dgm:pt modelId="{D95CAF1E-EAE9-4131-9BD4-98D709E7877C}" type="pres">
      <dgm:prSet presAssocID="{D29D7ACD-B879-4BAC-B0E9-A6C27B395AC1}" presName="connectorText" presStyleLbl="sibTrans2D1" presStyleIdx="0" presStyleCnt="5"/>
      <dgm:spPr/>
    </dgm:pt>
    <dgm:pt modelId="{51695B69-E2BE-4CAE-B758-35670C45752C}" type="pres">
      <dgm:prSet presAssocID="{FF8AD049-F65D-47BE-BEA4-58A1E0F5463F}" presName="node" presStyleLbl="node1" presStyleIdx="1" presStyleCnt="5" custScaleX="120348" custScaleY="105533" custRadScaleRad="85535" custRadScaleInc="-52709">
        <dgm:presLayoutVars>
          <dgm:bulletEnabled val="1"/>
        </dgm:presLayoutVars>
      </dgm:prSet>
      <dgm:spPr/>
    </dgm:pt>
    <dgm:pt modelId="{57A56012-892B-478A-A70B-C718EF795F0C}" type="pres">
      <dgm:prSet presAssocID="{82AA4D42-60AA-43BE-978D-6404A64B3859}" presName="sibTrans" presStyleLbl="sibTrans2D1" presStyleIdx="1" presStyleCnt="5"/>
      <dgm:spPr/>
    </dgm:pt>
    <dgm:pt modelId="{35000F88-1E0B-40EE-934B-423883F59DA3}" type="pres">
      <dgm:prSet presAssocID="{82AA4D42-60AA-43BE-978D-6404A64B3859}" presName="connectorText" presStyleLbl="sibTrans2D1" presStyleIdx="1" presStyleCnt="5"/>
      <dgm:spPr/>
    </dgm:pt>
    <dgm:pt modelId="{CCFB35A9-2330-40F5-A1D1-B46D25F54A7F}" type="pres">
      <dgm:prSet presAssocID="{3BADFC5F-1AE6-4B1E-A159-28F704AD14ED}" presName="node" presStyleLbl="node1" presStyleIdx="2" presStyleCnt="5" custScaleX="122627" custRadScaleRad="86394" custRadScaleInc="-845">
        <dgm:presLayoutVars>
          <dgm:bulletEnabled val="1"/>
        </dgm:presLayoutVars>
      </dgm:prSet>
      <dgm:spPr/>
    </dgm:pt>
    <dgm:pt modelId="{2C9C9C16-D484-4AD0-84DC-3243A99E63EC}" type="pres">
      <dgm:prSet presAssocID="{0392276C-AA02-4A19-9401-B23383AEB437}" presName="sibTrans" presStyleLbl="sibTrans2D1" presStyleIdx="2" presStyleCnt="5"/>
      <dgm:spPr/>
    </dgm:pt>
    <dgm:pt modelId="{E1367537-9855-4055-8AEB-69FA4665F58E}" type="pres">
      <dgm:prSet presAssocID="{0392276C-AA02-4A19-9401-B23383AEB437}" presName="connectorText" presStyleLbl="sibTrans2D1" presStyleIdx="2" presStyleCnt="5"/>
      <dgm:spPr/>
    </dgm:pt>
    <dgm:pt modelId="{88292A53-A3A2-4947-8C4E-9E38F3B096F3}" type="pres">
      <dgm:prSet presAssocID="{7CCA0187-A15C-4ADF-AEC2-0842015D8600}" presName="node" presStyleLbl="node1" presStyleIdx="3" presStyleCnt="5" custRadScaleRad="94039" custRadScaleInc="34554">
        <dgm:presLayoutVars>
          <dgm:bulletEnabled val="1"/>
        </dgm:presLayoutVars>
      </dgm:prSet>
      <dgm:spPr/>
    </dgm:pt>
    <dgm:pt modelId="{35C864D5-4DFF-4166-B631-226939F07747}" type="pres">
      <dgm:prSet presAssocID="{2E8CBE51-B83F-4BB6-A083-986A2522EFB2}" presName="sibTrans" presStyleLbl="sibTrans2D1" presStyleIdx="3" presStyleCnt="5"/>
      <dgm:spPr/>
    </dgm:pt>
    <dgm:pt modelId="{05CB6CAA-BC82-4FAF-B8E0-2290CC966832}" type="pres">
      <dgm:prSet presAssocID="{2E8CBE51-B83F-4BB6-A083-986A2522EFB2}" presName="connectorText" presStyleLbl="sibTrans2D1" presStyleIdx="3" presStyleCnt="5"/>
      <dgm:spPr/>
    </dgm:pt>
    <dgm:pt modelId="{A077FFF1-0C5F-45E3-9712-7D5AFC018BC9}" type="pres">
      <dgm:prSet presAssocID="{85D0D3A9-AFDF-4E46-AD75-BBBC86D22337}" presName="node" presStyleLbl="node1" presStyleIdx="4" presStyleCnt="5" custScaleX="114470" custRadScaleRad="114595" custRadScaleInc="2002">
        <dgm:presLayoutVars>
          <dgm:bulletEnabled val="1"/>
        </dgm:presLayoutVars>
      </dgm:prSet>
      <dgm:spPr/>
    </dgm:pt>
    <dgm:pt modelId="{BF2CFD34-3C13-4848-96AE-D7E83DF7B14A}" type="pres">
      <dgm:prSet presAssocID="{6CC7EACA-E663-4520-9A36-DF6CC86C10E1}" presName="sibTrans" presStyleLbl="sibTrans2D1" presStyleIdx="4" presStyleCnt="5" custLinFactNeighborX="-53367" custLinFactNeighborY="-55320"/>
      <dgm:spPr/>
    </dgm:pt>
    <dgm:pt modelId="{E3EBD0E6-F1EA-4192-AA7B-59FEED776C86}" type="pres">
      <dgm:prSet presAssocID="{6CC7EACA-E663-4520-9A36-DF6CC86C10E1}" presName="connectorText" presStyleLbl="sibTrans2D1" presStyleIdx="4" presStyleCnt="5"/>
      <dgm:spPr/>
    </dgm:pt>
  </dgm:ptLst>
  <dgm:cxnLst>
    <dgm:cxn modelId="{E7C7B704-EA04-493F-8C1B-6B62422E00BC}" type="presOf" srcId="{2E8CBE51-B83F-4BB6-A083-986A2522EFB2}" destId="{35C864D5-4DFF-4166-B631-226939F07747}" srcOrd="0" destOrd="0" presId="urn:microsoft.com/office/officeart/2005/8/layout/cycle2"/>
    <dgm:cxn modelId="{C38ADB04-6902-4D44-BED6-AB3A9401D2EB}" type="presOf" srcId="{82AA4D42-60AA-43BE-978D-6404A64B3859}" destId="{35000F88-1E0B-40EE-934B-423883F59DA3}" srcOrd="1" destOrd="0" presId="urn:microsoft.com/office/officeart/2005/8/layout/cycle2"/>
    <dgm:cxn modelId="{237D861C-C90D-45EB-A591-1E9A2767248D}" type="presOf" srcId="{82AA4D42-60AA-43BE-978D-6404A64B3859}" destId="{57A56012-892B-478A-A70B-C718EF795F0C}" srcOrd="0" destOrd="0" presId="urn:microsoft.com/office/officeart/2005/8/layout/cycle2"/>
    <dgm:cxn modelId="{3981842A-7E47-4504-990C-7D2CF29D3B98}" type="presOf" srcId="{6CC7EACA-E663-4520-9A36-DF6CC86C10E1}" destId="{E3EBD0E6-F1EA-4192-AA7B-59FEED776C86}" srcOrd="1" destOrd="0" presId="urn:microsoft.com/office/officeart/2005/8/layout/cycle2"/>
    <dgm:cxn modelId="{8BF33B5F-5FA6-46E7-A4E4-C1EB20CEC292}" type="presOf" srcId="{D29D7ACD-B879-4BAC-B0E9-A6C27B395AC1}" destId="{B62FA4F0-4CFD-4F67-8C29-144F49D1F6EC}" srcOrd="0" destOrd="0" presId="urn:microsoft.com/office/officeart/2005/8/layout/cycle2"/>
    <dgm:cxn modelId="{AFCA4443-BC32-4F37-A6BA-8D2699ABF32D}" type="presOf" srcId="{D29D7ACD-B879-4BAC-B0E9-A6C27B395AC1}" destId="{D95CAF1E-EAE9-4131-9BD4-98D709E7877C}" srcOrd="1" destOrd="0" presId="urn:microsoft.com/office/officeart/2005/8/layout/cycle2"/>
    <dgm:cxn modelId="{43FB5F68-E107-4EB8-A3A8-A715FC321693}" srcId="{30D8C9FD-6589-4F31-A6CD-F7F51FDF657E}" destId="{3BADFC5F-1AE6-4B1E-A159-28F704AD14ED}" srcOrd="2" destOrd="0" parTransId="{A978989B-039B-4E71-AC8D-B9CE58736B8F}" sibTransId="{0392276C-AA02-4A19-9401-B23383AEB437}"/>
    <dgm:cxn modelId="{C1378268-4490-4D3F-AB0A-BF526A2BAB43}" srcId="{30D8C9FD-6589-4F31-A6CD-F7F51FDF657E}" destId="{9D69BCE7-29D8-4140-949F-5E5ECFCC87EF}" srcOrd="0" destOrd="0" parTransId="{5768599F-FDC7-48E9-A653-FFD4B5010184}" sibTransId="{D29D7ACD-B879-4BAC-B0E9-A6C27B395AC1}"/>
    <dgm:cxn modelId="{5A3E806B-BC9E-40A3-870E-73FF2931CCFE}" type="presOf" srcId="{2E8CBE51-B83F-4BB6-A083-986A2522EFB2}" destId="{05CB6CAA-BC82-4FAF-B8E0-2290CC966832}" srcOrd="1" destOrd="0" presId="urn:microsoft.com/office/officeart/2005/8/layout/cycle2"/>
    <dgm:cxn modelId="{F41DA379-F223-4B99-8382-665B3196D0A3}" type="presOf" srcId="{9D69BCE7-29D8-4140-949F-5E5ECFCC87EF}" destId="{006350B9-1A90-48A7-A2A2-9ECB8F209268}" srcOrd="0" destOrd="0" presId="urn:microsoft.com/office/officeart/2005/8/layout/cycle2"/>
    <dgm:cxn modelId="{328F6792-C87C-4B3F-B0BA-FA97F9CBEA9B}" type="presOf" srcId="{30D8C9FD-6589-4F31-A6CD-F7F51FDF657E}" destId="{BF5C1886-D558-470D-A3FB-2D558E2B6FEB}" srcOrd="0" destOrd="0" presId="urn:microsoft.com/office/officeart/2005/8/layout/cycle2"/>
    <dgm:cxn modelId="{262E9BA1-D3AA-47CC-8744-A8D359D2993F}" type="presOf" srcId="{85D0D3A9-AFDF-4E46-AD75-BBBC86D22337}" destId="{A077FFF1-0C5F-45E3-9712-7D5AFC018BC9}" srcOrd="0" destOrd="0" presId="urn:microsoft.com/office/officeart/2005/8/layout/cycle2"/>
    <dgm:cxn modelId="{C18585B3-B34B-4F0C-8E93-FAB116703077}" srcId="{30D8C9FD-6589-4F31-A6CD-F7F51FDF657E}" destId="{7CCA0187-A15C-4ADF-AEC2-0842015D8600}" srcOrd="3" destOrd="0" parTransId="{80505B74-9AD6-4855-B35C-9BB27B1819B6}" sibTransId="{2E8CBE51-B83F-4BB6-A083-986A2522EFB2}"/>
    <dgm:cxn modelId="{928204B6-BA18-4BAB-88F3-BBE095D1668C}" type="presOf" srcId="{3BADFC5F-1AE6-4B1E-A159-28F704AD14ED}" destId="{CCFB35A9-2330-40F5-A1D1-B46D25F54A7F}" srcOrd="0" destOrd="0" presId="urn:microsoft.com/office/officeart/2005/8/layout/cycle2"/>
    <dgm:cxn modelId="{AA6A58C3-A6E3-41F4-A2C4-7F6271108548}" srcId="{30D8C9FD-6589-4F31-A6CD-F7F51FDF657E}" destId="{85D0D3A9-AFDF-4E46-AD75-BBBC86D22337}" srcOrd="4" destOrd="0" parTransId="{74DE6AB9-9185-4D40-B05C-0CC57058FACE}" sibTransId="{6CC7EACA-E663-4520-9A36-DF6CC86C10E1}"/>
    <dgm:cxn modelId="{E808B1C5-C9E4-4311-92A6-3F63D6D55AB1}" type="presOf" srcId="{7CCA0187-A15C-4ADF-AEC2-0842015D8600}" destId="{88292A53-A3A2-4947-8C4E-9E38F3B096F3}" srcOrd="0" destOrd="0" presId="urn:microsoft.com/office/officeart/2005/8/layout/cycle2"/>
    <dgm:cxn modelId="{921A1DC8-6934-45BD-839B-09A10A60A4AE}" type="presOf" srcId="{6CC7EACA-E663-4520-9A36-DF6CC86C10E1}" destId="{BF2CFD34-3C13-4848-96AE-D7E83DF7B14A}" srcOrd="0" destOrd="0" presId="urn:microsoft.com/office/officeart/2005/8/layout/cycle2"/>
    <dgm:cxn modelId="{294EF8C8-ABB3-4B04-B98B-975E1CD523B5}" type="presOf" srcId="{FF8AD049-F65D-47BE-BEA4-58A1E0F5463F}" destId="{51695B69-E2BE-4CAE-B758-35670C45752C}" srcOrd="0" destOrd="0" presId="urn:microsoft.com/office/officeart/2005/8/layout/cycle2"/>
    <dgm:cxn modelId="{F366D6FD-2C59-4140-B027-7A1F892BE50A}" srcId="{30D8C9FD-6589-4F31-A6CD-F7F51FDF657E}" destId="{FF8AD049-F65D-47BE-BEA4-58A1E0F5463F}" srcOrd="1" destOrd="0" parTransId="{FC3BBD3D-69D0-4459-A95D-672548A46725}" sibTransId="{82AA4D42-60AA-43BE-978D-6404A64B3859}"/>
    <dgm:cxn modelId="{6D42EAFD-0CD1-4763-8AEA-F3141D80B93C}" type="presOf" srcId="{0392276C-AA02-4A19-9401-B23383AEB437}" destId="{2C9C9C16-D484-4AD0-84DC-3243A99E63EC}" srcOrd="0" destOrd="0" presId="urn:microsoft.com/office/officeart/2005/8/layout/cycle2"/>
    <dgm:cxn modelId="{552E84FF-6E42-4008-A9F1-9DB4EDAC125C}" type="presOf" srcId="{0392276C-AA02-4A19-9401-B23383AEB437}" destId="{E1367537-9855-4055-8AEB-69FA4665F58E}" srcOrd="1" destOrd="0" presId="urn:microsoft.com/office/officeart/2005/8/layout/cycle2"/>
    <dgm:cxn modelId="{F5FFB43B-4044-4A58-8DBA-774F6AD5BA80}" type="presParOf" srcId="{BF5C1886-D558-470D-A3FB-2D558E2B6FEB}" destId="{006350B9-1A90-48A7-A2A2-9ECB8F209268}" srcOrd="0" destOrd="0" presId="urn:microsoft.com/office/officeart/2005/8/layout/cycle2"/>
    <dgm:cxn modelId="{BF93A9B2-A728-4BF1-B061-C0A48025D718}" type="presParOf" srcId="{BF5C1886-D558-470D-A3FB-2D558E2B6FEB}" destId="{B62FA4F0-4CFD-4F67-8C29-144F49D1F6EC}" srcOrd="1" destOrd="0" presId="urn:microsoft.com/office/officeart/2005/8/layout/cycle2"/>
    <dgm:cxn modelId="{52B6C9CF-38BE-407D-A5F9-1649DF74A8EA}" type="presParOf" srcId="{B62FA4F0-4CFD-4F67-8C29-144F49D1F6EC}" destId="{D95CAF1E-EAE9-4131-9BD4-98D709E7877C}" srcOrd="0" destOrd="0" presId="urn:microsoft.com/office/officeart/2005/8/layout/cycle2"/>
    <dgm:cxn modelId="{88127408-1FD6-4EAC-A7F9-4C8A8281287E}" type="presParOf" srcId="{BF5C1886-D558-470D-A3FB-2D558E2B6FEB}" destId="{51695B69-E2BE-4CAE-B758-35670C45752C}" srcOrd="2" destOrd="0" presId="urn:microsoft.com/office/officeart/2005/8/layout/cycle2"/>
    <dgm:cxn modelId="{3742E119-3B8F-49F4-8CEF-7154F3447D79}" type="presParOf" srcId="{BF5C1886-D558-470D-A3FB-2D558E2B6FEB}" destId="{57A56012-892B-478A-A70B-C718EF795F0C}" srcOrd="3" destOrd="0" presId="urn:microsoft.com/office/officeart/2005/8/layout/cycle2"/>
    <dgm:cxn modelId="{12090E07-1845-46B3-A96C-32A24C2A9298}" type="presParOf" srcId="{57A56012-892B-478A-A70B-C718EF795F0C}" destId="{35000F88-1E0B-40EE-934B-423883F59DA3}" srcOrd="0" destOrd="0" presId="urn:microsoft.com/office/officeart/2005/8/layout/cycle2"/>
    <dgm:cxn modelId="{3BED1E98-E709-4CF1-B9C9-D98ACDD94365}" type="presParOf" srcId="{BF5C1886-D558-470D-A3FB-2D558E2B6FEB}" destId="{CCFB35A9-2330-40F5-A1D1-B46D25F54A7F}" srcOrd="4" destOrd="0" presId="urn:microsoft.com/office/officeart/2005/8/layout/cycle2"/>
    <dgm:cxn modelId="{B22D9929-9BFA-43FF-BBC4-AF8C1B5C4AA0}" type="presParOf" srcId="{BF5C1886-D558-470D-A3FB-2D558E2B6FEB}" destId="{2C9C9C16-D484-4AD0-84DC-3243A99E63EC}" srcOrd="5" destOrd="0" presId="urn:microsoft.com/office/officeart/2005/8/layout/cycle2"/>
    <dgm:cxn modelId="{C10731B9-F92B-445D-BA5F-3D9BB9EBB157}" type="presParOf" srcId="{2C9C9C16-D484-4AD0-84DC-3243A99E63EC}" destId="{E1367537-9855-4055-8AEB-69FA4665F58E}" srcOrd="0" destOrd="0" presId="urn:microsoft.com/office/officeart/2005/8/layout/cycle2"/>
    <dgm:cxn modelId="{4A3502ED-CC61-4AE6-8209-BDC433B82BFB}" type="presParOf" srcId="{BF5C1886-D558-470D-A3FB-2D558E2B6FEB}" destId="{88292A53-A3A2-4947-8C4E-9E38F3B096F3}" srcOrd="6" destOrd="0" presId="urn:microsoft.com/office/officeart/2005/8/layout/cycle2"/>
    <dgm:cxn modelId="{813CC7A3-214D-44EE-98FB-2299BDEBA395}" type="presParOf" srcId="{BF5C1886-D558-470D-A3FB-2D558E2B6FEB}" destId="{35C864D5-4DFF-4166-B631-226939F07747}" srcOrd="7" destOrd="0" presId="urn:microsoft.com/office/officeart/2005/8/layout/cycle2"/>
    <dgm:cxn modelId="{5975943C-8E6C-440A-B881-7830F295D032}" type="presParOf" srcId="{35C864D5-4DFF-4166-B631-226939F07747}" destId="{05CB6CAA-BC82-4FAF-B8E0-2290CC966832}" srcOrd="0" destOrd="0" presId="urn:microsoft.com/office/officeart/2005/8/layout/cycle2"/>
    <dgm:cxn modelId="{C0F41B33-32E3-41DA-8B8C-370ABF7B1123}" type="presParOf" srcId="{BF5C1886-D558-470D-A3FB-2D558E2B6FEB}" destId="{A077FFF1-0C5F-45E3-9712-7D5AFC018BC9}" srcOrd="8" destOrd="0" presId="urn:microsoft.com/office/officeart/2005/8/layout/cycle2"/>
    <dgm:cxn modelId="{CB28C483-49F4-434D-BD80-B05CA1A8070B}" type="presParOf" srcId="{BF5C1886-D558-470D-A3FB-2D558E2B6FEB}" destId="{BF2CFD34-3C13-4848-96AE-D7E83DF7B14A}" srcOrd="9" destOrd="0" presId="urn:microsoft.com/office/officeart/2005/8/layout/cycle2"/>
    <dgm:cxn modelId="{449EDD74-3336-4DF1-98CC-1242D837EC78}" type="presParOf" srcId="{BF2CFD34-3C13-4848-96AE-D7E83DF7B14A}" destId="{E3EBD0E6-F1EA-4192-AA7B-59FEED776C86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6350B9-1A90-48A7-A2A2-9ECB8F209268}">
      <dsp:nvSpPr>
        <dsp:cNvPr id="0" name=""/>
        <dsp:cNvSpPr/>
      </dsp:nvSpPr>
      <dsp:spPr>
        <a:xfrm>
          <a:off x="3026944" y="0"/>
          <a:ext cx="1432545" cy="143254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800" b="1" kern="1200" dirty="0"/>
            <a:t>Need &amp; Interest </a:t>
          </a:r>
          <a:r>
            <a:rPr lang="en-PH" sz="1800" b="1" kern="1200" dirty="0" err="1"/>
            <a:t>Identifi-cation</a:t>
          </a:r>
          <a:endParaRPr lang="en-PH" sz="1800" b="1" kern="1200" dirty="0"/>
        </a:p>
      </dsp:txBody>
      <dsp:txXfrm>
        <a:off x="3236735" y="209791"/>
        <a:ext cx="1012963" cy="1012963"/>
      </dsp:txXfrm>
    </dsp:sp>
    <dsp:sp modelId="{B62FA4F0-4CFD-4F67-8C29-144F49D1F6EC}">
      <dsp:nvSpPr>
        <dsp:cNvPr id="0" name=""/>
        <dsp:cNvSpPr/>
      </dsp:nvSpPr>
      <dsp:spPr>
        <a:xfrm rot="1744958">
          <a:off x="4413951" y="889130"/>
          <a:ext cx="149373" cy="4834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H" sz="2000" kern="1200"/>
        </a:p>
      </dsp:txBody>
      <dsp:txXfrm>
        <a:off x="4416776" y="974936"/>
        <a:ext cx="104561" cy="290089"/>
      </dsp:txXfrm>
    </dsp:sp>
    <dsp:sp modelId="{51695B69-E2BE-4CAE-B758-35670C45752C}">
      <dsp:nvSpPr>
        <dsp:cNvPr id="0" name=""/>
        <dsp:cNvSpPr/>
      </dsp:nvSpPr>
      <dsp:spPr>
        <a:xfrm>
          <a:off x="4481404" y="850397"/>
          <a:ext cx="1724039" cy="151180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400" b="1" kern="1200" dirty="0"/>
            <a:t>Objectives &amp; Subject matter </a:t>
          </a:r>
          <a:r>
            <a:rPr lang="en-PH" sz="1100" b="1" kern="1200" dirty="0"/>
            <a:t>Development</a:t>
          </a:r>
        </a:p>
      </dsp:txBody>
      <dsp:txXfrm>
        <a:off x="4733884" y="1071796"/>
        <a:ext cx="1219079" cy="1069009"/>
      </dsp:txXfrm>
    </dsp:sp>
    <dsp:sp modelId="{57A56012-892B-478A-A70B-C718EF795F0C}">
      <dsp:nvSpPr>
        <dsp:cNvPr id="0" name=""/>
        <dsp:cNvSpPr/>
      </dsp:nvSpPr>
      <dsp:spPr>
        <a:xfrm rot="5884641">
          <a:off x="4983770" y="2479629"/>
          <a:ext cx="402809" cy="4834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H" sz="2000" kern="1200"/>
        </a:p>
      </dsp:txBody>
      <dsp:txXfrm rot="10800000">
        <a:off x="5052681" y="2516504"/>
        <a:ext cx="281966" cy="290089"/>
      </dsp:txXfrm>
    </dsp:sp>
    <dsp:sp modelId="{CCFB35A9-2330-40F5-A1D1-B46D25F54A7F}">
      <dsp:nvSpPr>
        <dsp:cNvPr id="0" name=""/>
        <dsp:cNvSpPr/>
      </dsp:nvSpPr>
      <dsp:spPr>
        <a:xfrm>
          <a:off x="4150857" y="3104148"/>
          <a:ext cx="1756687" cy="143254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800" b="1" kern="1200" dirty="0"/>
            <a:t>Writing the Plan</a:t>
          </a:r>
        </a:p>
      </dsp:txBody>
      <dsp:txXfrm>
        <a:off x="4408118" y="3313939"/>
        <a:ext cx="1242165" cy="1012963"/>
      </dsp:txXfrm>
    </dsp:sp>
    <dsp:sp modelId="{2C9C9C16-D484-4AD0-84DC-3243A99E63EC}">
      <dsp:nvSpPr>
        <dsp:cNvPr id="0" name=""/>
        <dsp:cNvSpPr/>
      </dsp:nvSpPr>
      <dsp:spPr>
        <a:xfrm rot="11004498">
          <a:off x="3679445" y="3508272"/>
          <a:ext cx="335163" cy="4834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H" sz="2000" kern="1200"/>
        </a:p>
      </dsp:txBody>
      <dsp:txXfrm rot="10800000">
        <a:off x="3779905" y="3607958"/>
        <a:ext cx="234614" cy="290089"/>
      </dsp:txXfrm>
    </dsp:sp>
    <dsp:sp modelId="{88292A53-A3A2-4947-8C4E-9E38F3B096F3}">
      <dsp:nvSpPr>
        <dsp:cNvPr id="0" name=""/>
        <dsp:cNvSpPr/>
      </dsp:nvSpPr>
      <dsp:spPr>
        <a:xfrm>
          <a:off x="2090647" y="2971797"/>
          <a:ext cx="1432545" cy="143254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400" b="1" kern="1200" dirty="0"/>
            <a:t>Teaching</a:t>
          </a:r>
        </a:p>
      </dsp:txBody>
      <dsp:txXfrm>
        <a:off x="2300438" y="3181588"/>
        <a:ext cx="1012963" cy="1012963"/>
      </dsp:txXfrm>
    </dsp:sp>
    <dsp:sp modelId="{35C864D5-4DFF-4166-B631-226939F07747}">
      <dsp:nvSpPr>
        <dsp:cNvPr id="0" name=""/>
        <dsp:cNvSpPr/>
      </dsp:nvSpPr>
      <dsp:spPr>
        <a:xfrm rot="14936959">
          <a:off x="2330261" y="2551775"/>
          <a:ext cx="264725" cy="4834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H" sz="2000" kern="1200"/>
        </a:p>
      </dsp:txBody>
      <dsp:txXfrm rot="10800000">
        <a:off x="2384233" y="2685530"/>
        <a:ext cx="185308" cy="290089"/>
      </dsp:txXfrm>
    </dsp:sp>
    <dsp:sp modelId="{A077FFF1-0C5F-45E3-9712-7D5AFC018BC9}">
      <dsp:nvSpPr>
        <dsp:cNvPr id="0" name=""/>
        <dsp:cNvSpPr/>
      </dsp:nvSpPr>
      <dsp:spPr>
        <a:xfrm>
          <a:off x="1289006" y="1158253"/>
          <a:ext cx="1639834" cy="143254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600" b="1" kern="1200" dirty="0"/>
            <a:t>A</a:t>
          </a:r>
          <a:r>
            <a:rPr lang="en-PH" sz="1200" b="1" kern="1200" dirty="0"/>
            <a:t>ssessmen</a:t>
          </a:r>
          <a:r>
            <a:rPr lang="en-PH" sz="1600" b="1" kern="1200" dirty="0"/>
            <a:t>t of Learning</a:t>
          </a:r>
        </a:p>
      </dsp:txBody>
      <dsp:txXfrm>
        <a:off x="1529154" y="1368044"/>
        <a:ext cx="1159538" cy="1012963"/>
      </dsp:txXfrm>
    </dsp:sp>
    <dsp:sp modelId="{BF2CFD34-3C13-4848-96AE-D7E83DF7B14A}">
      <dsp:nvSpPr>
        <dsp:cNvPr id="0" name=""/>
        <dsp:cNvSpPr/>
      </dsp:nvSpPr>
      <dsp:spPr>
        <a:xfrm rot="19480445">
          <a:off x="2668607" y="772038"/>
          <a:ext cx="268399" cy="4834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H" sz="2000" kern="1200"/>
        </a:p>
      </dsp:txBody>
      <dsp:txXfrm>
        <a:off x="2676020" y="892014"/>
        <a:ext cx="187879" cy="2900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8C9F78-B74D-44FF-A0B4-258E189866D7}" type="datetimeFigureOut">
              <a:rPr lang="en-PH" smtClean="0"/>
              <a:t>25/08/2018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21A678-A732-4ECA-AA73-E437336D1A5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45660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21A678-A732-4ECA-AA73-E437336D1A5F}" type="slidenum">
              <a:rPr lang="en-PH" smtClean="0"/>
              <a:t>14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75031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21A678-A732-4ECA-AA73-E437336D1A5F}" type="slidenum">
              <a:rPr lang="en-PH" smtClean="0"/>
              <a:t>18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90525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Oval 8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1" y="2222624"/>
            <a:ext cx="5917679" cy="2554758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1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7500385" y="1828799"/>
            <a:ext cx="990599" cy="228659"/>
          </a:xfrm>
        </p:spPr>
        <p:txBody>
          <a:bodyPr anchor="t" anchorCtr="0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CD91FDA9-9357-4EFE-B5C7-2C976083AF05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6236209" y="3264406"/>
            <a:ext cx="3859795" cy="2286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PH"/>
              <a:t>Sir Pabs- UA Review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5279" y="292609"/>
            <a:ext cx="628813" cy="767687"/>
          </a:xfrm>
        </p:spPr>
        <p:txBody>
          <a:bodyPr/>
          <a:lstStyle>
            <a:lvl1pPr>
              <a:defRPr sz="2800" b="0" i="0" baseline="0">
                <a:latin typeface="+mj-lt"/>
              </a:defRPr>
            </a:lvl1pPr>
          </a:lstStyle>
          <a:p>
            <a:fld id="{CC1931C8-C94A-4D98-B326-CB54E7ECB847}" type="slidenum">
              <a:rPr lang="en-PH" smtClean="0"/>
              <a:pPr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84615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148A7-B2BF-46A6-AF33-9C56DC9CC2E9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0483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Rectangle 6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7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2257588"/>
            <a:ext cx="3101765" cy="3020343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54653" cy="302034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FD06B-862B-4D9A-90D3-E3CD06DCF414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91077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199"/>
            <a:ext cx="3636980" cy="353060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0" y="2489199"/>
            <a:ext cx="3636981" cy="35306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B8F10-E3E2-4AC7-A8DC-D27D612FD5D6}" type="datetime1">
              <a:rPr lang="en-PH" smtClean="0"/>
              <a:t>25/08/2018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58837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3636979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1" y="3248490"/>
            <a:ext cx="3636978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80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8490"/>
            <a:ext cx="3636979" cy="277131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DE41E-ABF9-45FF-9940-5CAC71C62472}" type="datetime1">
              <a:rPr lang="en-PH" smtClean="0"/>
              <a:t>25/08/2018</a:t>
            </a:fld>
            <a:endParaRPr lang="en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81855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EC65F-3A25-4C7F-9BA6-3776E9CE11FE}" type="datetime1">
              <a:rPr lang="en-PH" smtClean="0"/>
              <a:t>25/08/2018</a:t>
            </a:fld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19338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6CFA0-F415-4404-9CEC-B78C8C6CFD03}" type="datetime1">
              <a:rPr lang="en-PH" smtClean="0"/>
              <a:t>25/08/2018</a:t>
            </a:fld>
            <a:endParaRPr lang="en-P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98113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97437"/>
            <a:ext cx="2712589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52881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086844"/>
            <a:ext cx="2712590" cy="2925413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9F697-BCC6-400B-9AD3-3D8C625C55E3}" type="datetime1">
              <a:rPr lang="en-PH" smtClean="0"/>
              <a:t>25/08/2018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60733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362190"/>
            <a:ext cx="2987087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1591" y="3088562"/>
            <a:ext cx="3001938" cy="244863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FF669-598B-48C7-B8E5-EF62E906480D}" type="datetime1">
              <a:rPr lang="en-PH" smtClean="0"/>
              <a:t>25/08/2018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88487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9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961453"/>
            <a:ext cx="6422002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528191"/>
            <a:ext cx="6422003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E1E55-B933-43BA-BD07-C642F7D6C3FC}" type="datetime1">
              <a:rPr lang="en-PH" smtClean="0"/>
              <a:t>25/08/2018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69305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Rectangle 13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7100"/>
            <a:ext cx="6422004" cy="1653117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509006"/>
            <a:ext cx="6422003" cy="2515873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7049C-5D6C-4E40-99D3-25FAD6B5D2FC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765303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36" name="Freeform 35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10" name="TextBox 9"/>
          <p:cNvSpPr txBox="1"/>
          <p:nvPr/>
        </p:nvSpPr>
        <p:spPr>
          <a:xfrm>
            <a:off x="644721" y="654263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8000" dirty="0"/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7454" y="2900539"/>
            <a:ext cx="5389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8000" dirty="0"/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59" y="914401"/>
            <a:ext cx="6160385" cy="289487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87279" y="3814473"/>
            <a:ext cx="5646142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5"/>
            <a:ext cx="6422005" cy="1024065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fld id="{F857917F-E5B4-4A5A-99D0-F0171AFB6903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PH"/>
              <a:t>Sir Pabs- UA Review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334816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11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2057399"/>
            <a:ext cx="6422004" cy="209550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159399"/>
            <a:ext cx="6422004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0D06A-464C-46C3-A1FC-F511523A3B9F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534416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884" y="927101"/>
            <a:ext cx="6423592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8884" y="2489199"/>
            <a:ext cx="231098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8884" y="3147164"/>
            <a:ext cx="2310988" cy="287771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8471" y="2489201"/>
            <a:ext cx="232675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2" y="3147164"/>
            <a:ext cx="2326750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0" y="2489200"/>
            <a:ext cx="2313740" cy="657961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3820" y="3147162"/>
            <a:ext cx="2313739" cy="2888368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4354D-6145-47D2-B14D-FAEE677961EE}" type="datetime1">
              <a:rPr lang="en-PH" smtClean="0"/>
              <a:t>25/08/2018</a:t>
            </a:fld>
            <a:endParaRPr lang="en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864247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36973"/>
            <a:ext cx="6423592" cy="699992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39" y="4188546"/>
            <a:ext cx="2314064" cy="649011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21261" y="2489200"/>
            <a:ext cx="2012937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8" y="4837558"/>
            <a:ext cx="2309280" cy="1187322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4317" y="4188546"/>
            <a:ext cx="2330903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16"/>
          </p:nvPr>
        </p:nvSpPr>
        <p:spPr>
          <a:xfrm>
            <a:off x="3550622" y="2489200"/>
            <a:ext cx="2025182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04317" y="4846509"/>
            <a:ext cx="2330904" cy="1178372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0" y="4184814"/>
            <a:ext cx="229949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17"/>
          </p:nvPr>
        </p:nvSpPr>
        <p:spPr>
          <a:xfrm>
            <a:off x="6104945" y="2489200"/>
            <a:ext cx="2018839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63820" y="4846510"/>
            <a:ext cx="2299492" cy="1189020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6EFF9-C053-4869-A53E-D9EAD33633A8}" type="datetime1">
              <a:rPr lang="en-PH" smtClean="0"/>
              <a:t>25/08/2018</a:t>
            </a:fld>
            <a:endParaRPr lang="en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683019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441" y="2489200"/>
            <a:ext cx="6343201" cy="35306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7FB35-6AAD-4699-AAD6-CEE36C4D0D9C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020923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Rectangle 6"/>
            <p:cNvSpPr/>
            <p:nvPr/>
          </p:nvSpPr>
          <p:spPr>
            <a:xfrm>
              <a:off x="414867" y="402165"/>
              <a:ext cx="46105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7"/>
            <p:cNvSpPr/>
            <p:nvPr/>
          </p:nvSpPr>
          <p:spPr bwMode="gray">
            <a:xfrm rot="5400000">
              <a:off x="1299309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68970" y="1447799"/>
            <a:ext cx="1119474" cy="4571999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48235" y="1447799"/>
            <a:ext cx="4435439" cy="4571999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E7D22-3E92-4140-9AD7-E4634F5624D6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6164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13"/>
            <p:cNvSpPr/>
            <p:nvPr/>
          </p:nvSpPr>
          <p:spPr bwMode="gray">
            <a:xfrm>
              <a:off x="485023" y="1854142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3564" y="925605"/>
            <a:ext cx="6346078" cy="7113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2489200"/>
            <a:ext cx="6343201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2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r>
              <a:rPr lang="en-PH"/>
              <a:t>Sir Pabs- UA Review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71444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36303A17-1E5E-4355-8E46-DBAB8140B8DD}" type="datetime1">
              <a:rPr lang="en-PH" smtClean="0"/>
              <a:t>25/08/2018</a:t>
            </a:fld>
            <a:endParaRPr lang="en-PH"/>
          </a:p>
        </p:txBody>
      </p:sp>
      <p:sp>
        <p:nvSpPr>
          <p:cNvPr id="17" name="Rectangle 1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CC1931C8-C94A-4D98-B326-CB54E7ECB847}" type="slidenum">
              <a:rPr lang="en-PH" smtClean="0"/>
              <a:pPr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20115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1" y="2057400"/>
            <a:ext cx="5917679" cy="1752600"/>
          </a:xfrm>
        </p:spPr>
        <p:txBody>
          <a:bodyPr/>
          <a:lstStyle/>
          <a:p>
            <a:r>
              <a:rPr lang="en-PH" b="1" dirty="0"/>
              <a:t>ASSESSMENT OF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PH" sz="2400" b="1" dirty="0">
                <a:solidFill>
                  <a:schemeClr val="bg1"/>
                </a:solidFill>
              </a:rPr>
              <a:t>UNIVERSITY OF ANTIQUE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DD288-21EF-46AF-8576-B2FE96C1CEF9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1</a:t>
            </a:fld>
            <a:endParaRPr lang="en-PH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441" y="2489200"/>
            <a:ext cx="7528800" cy="3530600"/>
          </a:xfrm>
        </p:spPr>
        <p:txBody>
          <a:bodyPr>
            <a:normAutofit/>
          </a:bodyPr>
          <a:lstStyle/>
          <a:p>
            <a:r>
              <a:rPr lang="en-PH" sz="3200" b="1" dirty="0"/>
              <a:t>1.Discuss the role of assessment in the educative process.</a:t>
            </a:r>
          </a:p>
          <a:p>
            <a:r>
              <a:rPr lang="en-PH" sz="3200" b="1" dirty="0"/>
              <a:t>2. Explain the teaching cycle</a:t>
            </a:r>
          </a:p>
          <a:p>
            <a:r>
              <a:rPr lang="en-PH" sz="3200" b="1" dirty="0"/>
              <a:t>3. Define by giving examples, the term measurement, assessment &amp; evaluation</a:t>
            </a:r>
            <a:r>
              <a:rPr lang="en-PH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068D5-825D-4360-81C2-8ECD6FD2CD6D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83335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1447800"/>
          </a:xfrm>
        </p:spPr>
        <p:txBody>
          <a:bodyPr/>
          <a:lstStyle/>
          <a:p>
            <a:r>
              <a:rPr lang="en-PH" dirty="0"/>
              <a:t>THE TEACHING CYCLE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7538179"/>
              </p:ext>
            </p:extLst>
          </p:nvPr>
        </p:nvGraphicFramePr>
        <p:xfrm>
          <a:off x="457200" y="1828800"/>
          <a:ext cx="8229600" cy="47450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7" name="Straight Arrow Connector 6"/>
          <p:cNvCxnSpPr/>
          <p:nvPr/>
        </p:nvCxnSpPr>
        <p:spPr>
          <a:xfrm>
            <a:off x="3352800" y="3599052"/>
            <a:ext cx="1676400" cy="76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3543300" y="3733800"/>
            <a:ext cx="1295400" cy="990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3352800" y="3801559"/>
            <a:ext cx="228600" cy="1143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77B3A-0E32-4C41-86B9-E0165AA48F38}" type="datetime1">
              <a:rPr lang="en-PH" smtClean="0"/>
              <a:t>25/08/2018</a:t>
            </a:fld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3</a:t>
            </a:fld>
            <a:endParaRPr lang="en-PH"/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C890E-8DFB-43DF-ABE1-32450D52D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EC6912-13EE-4E82-AE8C-75E18F415F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441" y="2489200"/>
            <a:ext cx="7528800" cy="3530600"/>
          </a:xfrm>
        </p:spPr>
        <p:txBody>
          <a:bodyPr>
            <a:normAutofit/>
          </a:bodyPr>
          <a:lstStyle/>
          <a:p>
            <a:r>
              <a:rPr lang="en-PH" sz="2400" b="1" dirty="0"/>
              <a:t>Can a teacher begin a class with a test?</a:t>
            </a:r>
          </a:p>
          <a:p>
            <a:pPr>
              <a:buAutoNum type="alphaUcPeriod"/>
            </a:pPr>
            <a:r>
              <a:rPr lang="en-PH" sz="2400" b="1" dirty="0"/>
              <a:t>Yes, definitely.</a:t>
            </a:r>
          </a:p>
          <a:p>
            <a:pPr>
              <a:buAutoNum type="alphaUcPeriod"/>
            </a:pPr>
            <a:r>
              <a:rPr lang="en-PH" sz="2400" b="1" dirty="0"/>
              <a:t>No, absolutely.</a:t>
            </a:r>
          </a:p>
          <a:p>
            <a:pPr>
              <a:buAutoNum type="alphaUcPeriod"/>
            </a:pPr>
            <a:r>
              <a:rPr lang="en-PH" sz="2400" b="1" dirty="0"/>
              <a:t>Yes, to determine the entry knowledge of the students.</a:t>
            </a:r>
          </a:p>
          <a:p>
            <a:pPr>
              <a:buAutoNum type="alphaUcPeriod"/>
            </a:pPr>
            <a:r>
              <a:rPr lang="en-PH" sz="2400" b="1" dirty="0"/>
              <a:t>Yes, to compare the performance of one class against another.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74D9C2-3009-4F75-ADBD-CB491A562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148A7-B2BF-46A6-AF33-9C56DC9CC2E9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72B48-9F2A-44FE-B8CB-57647FE48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9A14F4-279E-4A39-89A1-B53C81F4C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9456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PH" b="1" dirty="0"/>
              <a:t>THE ROLE OF ASSESSMENT IN THE TEACHING-LEARNING PROCESS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441" y="2489200"/>
            <a:ext cx="7820359" cy="3530600"/>
          </a:xfrm>
        </p:spPr>
        <p:txBody>
          <a:bodyPr>
            <a:normAutofit lnSpcReduction="10000"/>
          </a:bodyPr>
          <a:lstStyle/>
          <a:p>
            <a:pPr algn="just"/>
            <a:r>
              <a:rPr lang="en-PH" sz="3200" b="1" dirty="0"/>
              <a:t>THE OBJECT OF TEACHING IS LEARNING. WE CAN ALSO SAY THAT WE HAVE TAUGHT WHEN OUR STUDENTS HAVE LEARNED. </a:t>
            </a:r>
          </a:p>
          <a:p>
            <a:pPr algn="just"/>
            <a:r>
              <a:rPr lang="en-PH" sz="3200" b="1" dirty="0"/>
              <a:t>AN ACCURATE PICTURE OF WHETHER OR NOT OUR STUDENTS HAVE LEARNED THEREFORE IS IMPERATIVE</a:t>
            </a:r>
            <a:endParaRPr lang="en-PH" sz="3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0B1B0-5C33-42B6-A6D6-5ACB44DD07F6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5</a:t>
            </a:fld>
            <a:endParaRPr lang="en-PH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441" y="2489200"/>
            <a:ext cx="7210759" cy="3530600"/>
          </a:xfrm>
        </p:spPr>
        <p:txBody>
          <a:bodyPr>
            <a:normAutofit/>
          </a:bodyPr>
          <a:lstStyle/>
          <a:p>
            <a:r>
              <a:rPr lang="en-PH" sz="3600" dirty="0"/>
              <a:t>THE GOAL OF ASSESSMENT IS </a:t>
            </a:r>
            <a:r>
              <a:rPr lang="en-PH" sz="3600" b="1" u="sng" dirty="0"/>
              <a:t>TO IMPROVE EDUCATIONAL OUTCOMES, TO IMPROVE THE TEACHING LEARNING PROCESS</a:t>
            </a:r>
            <a:r>
              <a:rPr lang="en-PH" sz="3600" dirty="0"/>
              <a:t>.</a:t>
            </a:r>
          </a:p>
          <a:p>
            <a:endParaRPr lang="en-PH" sz="3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DD38A-CE89-4A43-A0B2-8A1E8E6AD605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6</a:t>
            </a:fld>
            <a:endParaRPr lang="en-PH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MEASUREMENT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2489200"/>
            <a:ext cx="7924800" cy="35306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PH" sz="4000" b="1" dirty="0"/>
              <a:t>THE PROCESS BY WHICH THE INFORMATION ABOUT THE ATTRIBUTES OR CHARACTERISTICS OF THINGS ARE DETERMINED AND DIFFERENTIATED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36C2A-7714-4FCA-BDA1-376643EA48D4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7</a:t>
            </a:fld>
            <a:endParaRPr lang="en-PH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pic>
        <p:nvPicPr>
          <p:cNvPr id="4" name="Content Placeholder 3" descr="measurement1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914400" y="2209800"/>
            <a:ext cx="7620000" cy="3962400"/>
          </a:xfr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5EA0E-15DC-47F5-88CD-ABD7FB53AF98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8</a:t>
            </a:fld>
            <a:endParaRPr lang="en-PH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pic>
        <p:nvPicPr>
          <p:cNvPr id="4" name="Content Placeholder 3" descr="measurement2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600200" y="2362200"/>
            <a:ext cx="6172200" cy="3581399"/>
          </a:xfr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5CCDB-2903-4674-8526-C356019FB80B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9</a:t>
            </a:fld>
            <a:endParaRPr lang="en-PH"/>
          </a:p>
        </p:txBody>
      </p:sp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2489200"/>
            <a:ext cx="8077200" cy="3530600"/>
          </a:xfrm>
        </p:spPr>
        <p:txBody>
          <a:bodyPr>
            <a:noAutofit/>
          </a:bodyPr>
          <a:lstStyle/>
          <a:p>
            <a:pPr algn="just">
              <a:buNone/>
            </a:pPr>
            <a:r>
              <a:rPr lang="en-PH" sz="2800" b="1" dirty="0"/>
              <a:t>THE PROCESS OF DETERMINING THE QUALITY OR WORTH OF ACHIEVEMENT IN TERMS OF CERTAIN STANDARDS, THE END VIEW IS THE IMPROVEMENT OF EDUCATIONAL OUTCOMES.</a:t>
            </a:r>
          </a:p>
          <a:p>
            <a:pPr algn="just">
              <a:buNone/>
            </a:pPr>
            <a:r>
              <a:rPr lang="en-PH" sz="2800" b="1" dirty="0"/>
              <a:t>	THE PROCESS OF GIVING MEANING OR INTERPRETATION TO THE RESULT OF MEASUREMENTS.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7E0A7-CA37-482E-8AE9-E2557B3F4E4E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10</a:t>
            </a:fld>
            <a:endParaRPr lang="en-PH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pic>
        <p:nvPicPr>
          <p:cNvPr id="4" name="Content Placeholder 3" descr="evaluation1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524000" y="2286000"/>
            <a:ext cx="6172200" cy="3962400"/>
          </a:xfr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E1FEE-9098-4751-A09C-0501B4237074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11</a:t>
            </a:fld>
            <a:endParaRPr lang="en-PH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441" y="2489200"/>
            <a:ext cx="8048959" cy="35306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PH" sz="3600" b="1" dirty="0"/>
              <a:t>THE COLLECTION OF DATA TO DESCRIBE AN ISSUE OR BETTER UNDERSTAND AN ISSUE. </a:t>
            </a:r>
            <a:r>
              <a:rPr lang="en-PH" sz="3600" b="1" i="1" u="sng" dirty="0"/>
              <a:t>IT IS A PROCESS OF GATHERING DATA AND ORGANIZING DATA INTO INTERPRETABLE FORM</a:t>
            </a:r>
            <a:r>
              <a:rPr lang="en-PH" sz="3600" b="1" dirty="0"/>
              <a:t> TO HAVE </a:t>
            </a:r>
            <a:r>
              <a:rPr lang="en-PH" sz="3600" b="1" dirty="0">
                <a:cs typeface="Aharoni" pitchFamily="2" charset="-79"/>
              </a:rPr>
              <a:t>A BETTER UNDERSTANDING OF ISSUES</a:t>
            </a:r>
            <a:r>
              <a:rPr lang="en-PH" sz="3600" b="1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B57E0-6F64-4067-AA02-5A991F36EFF5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12</a:t>
            </a:fld>
            <a:endParaRPr lang="en-PH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Question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489200"/>
            <a:ext cx="8000999" cy="3530600"/>
          </a:xfrm>
        </p:spPr>
        <p:txBody>
          <a:bodyPr>
            <a:noAutofit/>
          </a:bodyPr>
          <a:lstStyle/>
          <a:p>
            <a:r>
              <a:rPr lang="en-PH" sz="2800" b="1" dirty="0"/>
              <a:t>Which of the following statements speak of assessment?</a:t>
            </a:r>
          </a:p>
          <a:p>
            <a:pPr>
              <a:buAutoNum type="alphaUcPeriod"/>
            </a:pPr>
            <a:r>
              <a:rPr lang="en-PH" sz="2800" b="1" dirty="0"/>
              <a:t>Your score is 15 out of 20.</a:t>
            </a:r>
          </a:p>
          <a:p>
            <a:pPr>
              <a:buAutoNum type="alphaUcPeriod"/>
            </a:pPr>
            <a:r>
              <a:rPr lang="en-PH" sz="2800" b="1" dirty="0"/>
              <a:t>You pass the test.</a:t>
            </a:r>
          </a:p>
          <a:p>
            <a:pPr>
              <a:buAutoNum type="alphaUcPeriod"/>
            </a:pPr>
            <a:r>
              <a:rPr lang="en-PH" sz="2800" b="1" dirty="0"/>
              <a:t>The result of your test shows that you understand the lesson.</a:t>
            </a:r>
          </a:p>
          <a:p>
            <a:pPr>
              <a:buAutoNum type="alphaUcPeriod"/>
            </a:pPr>
            <a:r>
              <a:rPr lang="en-PH" sz="2800" b="1" dirty="0"/>
              <a:t>You are a very bright student.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B4C69-42C0-4CAE-92CC-8233637F16FB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13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70620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Question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441" y="2489200"/>
            <a:ext cx="7439359" cy="3530600"/>
          </a:xfrm>
        </p:spPr>
        <p:txBody>
          <a:bodyPr>
            <a:noAutofit/>
          </a:bodyPr>
          <a:lstStyle/>
          <a:p>
            <a:r>
              <a:rPr lang="en-PH" sz="2800" b="1" dirty="0"/>
              <a:t>Why do we assess learning?</a:t>
            </a:r>
          </a:p>
          <a:p>
            <a:pPr>
              <a:buAutoNum type="alphaUcPeriod"/>
            </a:pPr>
            <a:r>
              <a:rPr lang="en-PH" sz="2800" b="1" dirty="0"/>
              <a:t>To improve learning outcomes.</a:t>
            </a:r>
          </a:p>
          <a:p>
            <a:pPr>
              <a:buAutoNum type="alphaUcPeriod"/>
            </a:pPr>
            <a:r>
              <a:rPr lang="en-PH" sz="2800" b="1" dirty="0"/>
              <a:t>To evaluate success of learning.</a:t>
            </a:r>
          </a:p>
          <a:p>
            <a:pPr>
              <a:buAutoNum type="alphaUcPeriod"/>
            </a:pPr>
            <a:r>
              <a:rPr lang="en-PH" sz="2800" b="1" dirty="0"/>
              <a:t>To check if objectives are achieved</a:t>
            </a:r>
          </a:p>
          <a:p>
            <a:pPr>
              <a:buAutoNum type="alphaUcPeriod"/>
            </a:pPr>
            <a:r>
              <a:rPr lang="en-PH" sz="2800" b="1" dirty="0"/>
              <a:t>To make sure that it becomes an integral component of the educative process.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19972-FF52-436E-AED7-4455CAA16988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14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84098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3.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PH" sz="4000" b="1" dirty="0"/>
              <a:t>NORMS are useful in</a:t>
            </a:r>
          </a:p>
          <a:p>
            <a:pPr>
              <a:buAutoNum type="alphaLcPeriod"/>
            </a:pPr>
            <a:r>
              <a:rPr lang="en-PH" sz="4000" b="1" dirty="0"/>
              <a:t>Measurement</a:t>
            </a:r>
          </a:p>
          <a:p>
            <a:pPr>
              <a:buAutoNum type="alphaLcPeriod"/>
            </a:pPr>
            <a:r>
              <a:rPr lang="en-PH" sz="4000" b="1" dirty="0"/>
              <a:t>Evaluation</a:t>
            </a:r>
          </a:p>
          <a:p>
            <a:pPr>
              <a:buAutoNum type="alphaLcPeriod"/>
            </a:pPr>
            <a:r>
              <a:rPr lang="en-PH" sz="4000" b="1" dirty="0"/>
              <a:t>Assessment</a:t>
            </a:r>
          </a:p>
          <a:p>
            <a:pPr>
              <a:buAutoNum type="alphaLcPeriod"/>
            </a:pPr>
            <a:r>
              <a:rPr lang="en-PH" sz="4000" b="1" dirty="0"/>
              <a:t>Testing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924DB-87D6-48DB-8E85-3E57018CF456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15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5277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PH" dirty="0"/>
              <a:t>4. Which of these statements are correct?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1" y="2133600"/>
            <a:ext cx="8305800" cy="3886200"/>
          </a:xfrm>
        </p:spPr>
        <p:txBody>
          <a:bodyPr>
            <a:noAutofit/>
          </a:bodyPr>
          <a:lstStyle/>
          <a:p>
            <a:r>
              <a:rPr lang="en-PH" sz="2400" b="1" dirty="0"/>
              <a:t>I. Testing is a process where an instrument is used to measure attribute.</a:t>
            </a:r>
          </a:p>
          <a:p>
            <a:r>
              <a:rPr lang="en-PH" sz="2400" b="1" dirty="0"/>
              <a:t>II. Measurement is a process of qualifying a given characteristics.</a:t>
            </a:r>
          </a:p>
          <a:p>
            <a:r>
              <a:rPr lang="en-PH" sz="2400" b="1" dirty="0"/>
              <a:t>III. Evaluation is the analysis of qualitative and quantitative aspects.</a:t>
            </a:r>
          </a:p>
          <a:p>
            <a:r>
              <a:rPr lang="en-PH" sz="2400" b="1" dirty="0"/>
              <a:t>IV. Assessment is the gathering of qualitative and quantitative data</a:t>
            </a:r>
          </a:p>
          <a:p>
            <a:pPr marL="0" indent="0">
              <a:buNone/>
            </a:pPr>
            <a:r>
              <a:rPr lang="en-PH" sz="2400" b="1" dirty="0"/>
              <a:t>			A. I &amp; II Only		C. I, II &amp; III</a:t>
            </a:r>
          </a:p>
          <a:p>
            <a:pPr marL="0" indent="0">
              <a:buNone/>
            </a:pPr>
            <a:r>
              <a:rPr lang="en-PH" sz="2400" b="1" dirty="0"/>
              <a:t>			B. II &amp; IV 			D. I, III &amp; IV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2FB0F-88A3-4BF2-996F-C68F56DD8068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16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92292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25605"/>
            <a:ext cx="7391400" cy="711359"/>
          </a:xfrm>
        </p:spPr>
        <p:txBody>
          <a:bodyPr>
            <a:noAutofit/>
          </a:bodyPr>
          <a:lstStyle/>
          <a:p>
            <a:r>
              <a:rPr lang="en-PH" b="1" dirty="0"/>
              <a:t>5. Why are test norms established?</a:t>
            </a:r>
            <a:br>
              <a:rPr lang="en-PH" b="1" dirty="0"/>
            </a:br>
            <a:r>
              <a:rPr lang="en-PH" b="1" dirty="0"/>
              <a:t> To have a basis for ___________.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1" y="2489200"/>
            <a:ext cx="8305800" cy="3530600"/>
          </a:xfrm>
        </p:spPr>
        <p:txBody>
          <a:bodyPr>
            <a:normAutofit fontScale="92500"/>
          </a:bodyPr>
          <a:lstStyle/>
          <a:p>
            <a:r>
              <a:rPr lang="en-PH" sz="4200" b="1" dirty="0" err="1"/>
              <a:t>A.</a:t>
            </a:r>
            <a:r>
              <a:rPr lang="en-PH" sz="4400" b="1" dirty="0" err="1"/>
              <a:t>computing</a:t>
            </a:r>
            <a:r>
              <a:rPr lang="en-PH" sz="4400" b="1" dirty="0"/>
              <a:t> grades</a:t>
            </a:r>
          </a:p>
          <a:p>
            <a:r>
              <a:rPr lang="en-PH" sz="4400" b="1" dirty="0"/>
              <a:t>B. interpreting test results</a:t>
            </a:r>
          </a:p>
          <a:p>
            <a:r>
              <a:rPr lang="en-PH" sz="4400" b="1" dirty="0"/>
              <a:t>C. establishing learning goals</a:t>
            </a:r>
          </a:p>
          <a:p>
            <a:r>
              <a:rPr lang="en-PH" sz="4400" b="1" dirty="0"/>
              <a:t>D. identifying pupil’s difficulties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E1E5F-8347-4705-ACEB-1CA7E44E3EE6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17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14200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3564" y="925605"/>
            <a:ext cx="7701478" cy="711359"/>
          </a:xfrm>
        </p:spPr>
        <p:txBody>
          <a:bodyPr/>
          <a:lstStyle/>
          <a:p>
            <a:r>
              <a:rPr lang="en-PH" dirty="0"/>
              <a:t>II. Tell whether the following speaks of </a:t>
            </a:r>
            <a:r>
              <a:rPr lang="en-PH" b="1" dirty="0"/>
              <a:t>Measurement, Assessment or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0842" y="2489200"/>
            <a:ext cx="8095957" cy="3530600"/>
          </a:xfrm>
        </p:spPr>
        <p:txBody>
          <a:bodyPr>
            <a:noAutofit/>
          </a:bodyPr>
          <a:lstStyle/>
          <a:p>
            <a:r>
              <a:rPr lang="en-PH" sz="2800" b="1" dirty="0"/>
              <a:t>1. You did great in the examination.</a:t>
            </a:r>
          </a:p>
          <a:p>
            <a:r>
              <a:rPr lang="en-PH" sz="2800" b="1" dirty="0"/>
              <a:t>2. The result of the LET showed that UA graduates perform better than other graduates taken as whole.</a:t>
            </a:r>
          </a:p>
          <a:p>
            <a:r>
              <a:rPr lang="en-PH" sz="2800" b="1" dirty="0"/>
              <a:t>3. You have higher score than Peter.</a:t>
            </a:r>
          </a:p>
          <a:p>
            <a:r>
              <a:rPr lang="en-PH" sz="2800" b="1" dirty="0"/>
              <a:t>4. You have satisfactory performed what is required of you.</a:t>
            </a:r>
          </a:p>
          <a:p>
            <a:r>
              <a:rPr lang="en-PH" sz="2800" b="1" dirty="0"/>
              <a:t>5. I love you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D7485-9116-4B42-AD9F-C58DE897F101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18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12505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3564" y="925605"/>
            <a:ext cx="6985036" cy="711359"/>
          </a:xfrm>
        </p:spPr>
        <p:txBody>
          <a:bodyPr/>
          <a:lstStyle/>
          <a:p>
            <a:r>
              <a:rPr lang="en-PH" b="1" dirty="0"/>
              <a:t>II. Measurement, Assessment or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0842" y="2489200"/>
            <a:ext cx="8324557" cy="3530600"/>
          </a:xfrm>
        </p:spPr>
        <p:txBody>
          <a:bodyPr>
            <a:noAutofit/>
          </a:bodyPr>
          <a:lstStyle/>
          <a:p>
            <a:r>
              <a:rPr lang="en-PH" sz="3200" b="1" dirty="0"/>
              <a:t>6. You got a perfect score.</a:t>
            </a:r>
          </a:p>
          <a:p>
            <a:r>
              <a:rPr lang="en-PH" sz="3200" b="1" dirty="0"/>
              <a:t>7. You are bright.</a:t>
            </a:r>
          </a:p>
          <a:p>
            <a:r>
              <a:rPr lang="en-PH" sz="3200" b="1" dirty="0"/>
              <a:t>8. Your IQ test revealed that you are above average.</a:t>
            </a:r>
          </a:p>
          <a:p>
            <a:r>
              <a:rPr lang="en-PH" sz="3200" b="1" dirty="0"/>
              <a:t>9. More effort is needed for you to improve your score.</a:t>
            </a:r>
          </a:p>
          <a:p>
            <a:r>
              <a:rPr lang="en-PH" sz="3200" b="1" dirty="0"/>
              <a:t>10. You are beautiful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58089-81EA-408F-862B-1F32FFABA33F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19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9076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ASSESSMENT NUANCES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PH" sz="3600" b="1" dirty="0"/>
              <a:t>ASSESSMENT FOR LEARNING</a:t>
            </a:r>
          </a:p>
          <a:p>
            <a:r>
              <a:rPr lang="en-PH" sz="3600" b="1" dirty="0"/>
              <a:t> ASSESSMENT OF LEARNING</a:t>
            </a:r>
          </a:p>
          <a:p>
            <a:r>
              <a:rPr lang="en-PH" sz="3600" b="1" dirty="0"/>
              <a:t> ASSESSMENT AS LEARNING</a:t>
            </a:r>
          </a:p>
          <a:p>
            <a:endParaRPr lang="en-PH" sz="36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6643B-5818-4A79-BA79-766320EDA773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20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62851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pic>
        <p:nvPicPr>
          <p:cNvPr id="4" name="Content Placeholder 3" descr="assessment1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828800" y="2209800"/>
            <a:ext cx="5105400" cy="3733800"/>
          </a:xfr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5F991-2807-4B8E-8FD8-658907B18050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21</a:t>
            </a:fld>
            <a:endParaRPr lang="en-PH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sz="3600" b="1" dirty="0"/>
              <a:t>Assessment FOR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286000"/>
            <a:ext cx="7820359" cy="3733800"/>
          </a:xfrm>
        </p:spPr>
        <p:txBody>
          <a:bodyPr>
            <a:noAutofit/>
          </a:bodyPr>
          <a:lstStyle/>
          <a:p>
            <a:r>
              <a:rPr lang="en-PH" sz="3200" b="1" dirty="0"/>
              <a:t>In assessment for learning, you begin by identifying the measurable evidence or criteria  which would demonstrate students learning.</a:t>
            </a:r>
          </a:p>
          <a:p>
            <a:r>
              <a:rPr lang="en-PH" sz="3200" b="1" dirty="0"/>
              <a:t>Objectives- Outcomes- Learning activities</a:t>
            </a:r>
          </a:p>
          <a:p>
            <a:r>
              <a:rPr lang="en-PH" sz="3200" b="1" dirty="0"/>
              <a:t>Backward planning</a:t>
            </a:r>
            <a:r>
              <a:rPr lang="en-PH" sz="2800" b="1" dirty="0"/>
              <a:t>. (</a:t>
            </a:r>
            <a:r>
              <a:rPr lang="en-PH" sz="2800" b="1" dirty="0" err="1"/>
              <a:t>UbD</a:t>
            </a:r>
            <a:r>
              <a:rPr lang="en-PH" sz="2800" b="1" dirty="0"/>
              <a:t>- Understanding by Design)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BE6E8-E87D-419F-B408-D349E81B9235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22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99243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Assessment for Learning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6274373"/>
              </p:ext>
            </p:extLst>
          </p:nvPr>
        </p:nvGraphicFramePr>
        <p:xfrm>
          <a:off x="685800" y="2489200"/>
          <a:ext cx="7848600" cy="38946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1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68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51467">
                <a:tc>
                  <a:txBody>
                    <a:bodyPr/>
                    <a:lstStyle/>
                    <a:p>
                      <a:endParaRPr lang="en-PH" sz="2400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PH" sz="2400" b="1" dirty="0">
                          <a:solidFill>
                            <a:schemeClr val="tx1"/>
                          </a:solidFill>
                        </a:rPr>
                        <a:t>OBJECTIVES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sz="2400" b="1" dirty="0">
                          <a:solidFill>
                            <a:schemeClr val="tx1"/>
                          </a:solidFill>
                        </a:rPr>
                        <a:t>To deliver a speech with</a:t>
                      </a:r>
                      <a:r>
                        <a:rPr lang="en-PH" sz="2400" b="1" baseline="0" dirty="0">
                          <a:solidFill>
                            <a:schemeClr val="tx1"/>
                          </a:solidFill>
                        </a:rPr>
                        <a:t> no preparation at all.</a:t>
                      </a:r>
                      <a:endParaRPr lang="en-PH" sz="2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51467">
                <a:tc>
                  <a:txBody>
                    <a:bodyPr/>
                    <a:lstStyle/>
                    <a:p>
                      <a:endParaRPr lang="en-PH" sz="2400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PH" sz="2400" b="1" dirty="0">
                          <a:solidFill>
                            <a:schemeClr val="tx1"/>
                          </a:solidFill>
                        </a:rPr>
                        <a:t>ASSESSMENT/</a:t>
                      </a:r>
                    </a:p>
                    <a:p>
                      <a:r>
                        <a:rPr lang="en-PH" sz="2400" b="1" dirty="0">
                          <a:solidFill>
                            <a:schemeClr val="tx1"/>
                          </a:solidFill>
                        </a:rPr>
                        <a:t>EVIDENCE</a:t>
                      </a:r>
                      <a:r>
                        <a:rPr lang="en-PH" sz="2400" b="1" baseline="0" dirty="0">
                          <a:solidFill>
                            <a:schemeClr val="tx1"/>
                          </a:solidFill>
                        </a:rPr>
                        <a:t> OF LEARNING</a:t>
                      </a:r>
                      <a:endParaRPr lang="en-PH" sz="2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 sz="2400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PH" sz="2400" b="1" dirty="0">
                          <a:solidFill>
                            <a:schemeClr val="tx1"/>
                          </a:solidFill>
                        </a:rPr>
                        <a:t>Impromptu</a:t>
                      </a:r>
                      <a:r>
                        <a:rPr lang="en-PH" sz="2400" b="1" baseline="0" dirty="0">
                          <a:solidFill>
                            <a:schemeClr val="tx1"/>
                          </a:solidFill>
                        </a:rPr>
                        <a:t> Speech</a:t>
                      </a:r>
                      <a:endParaRPr lang="en-PH" sz="2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51467">
                <a:tc>
                  <a:txBody>
                    <a:bodyPr/>
                    <a:lstStyle/>
                    <a:p>
                      <a:endParaRPr lang="en-PH" sz="2400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PH" sz="2400" b="1" dirty="0">
                          <a:solidFill>
                            <a:schemeClr val="tx1"/>
                          </a:solidFill>
                        </a:rPr>
                        <a:t>LEARNING ACTIVITIES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 sz="2400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PH" sz="2400" b="1" dirty="0">
                          <a:solidFill>
                            <a:schemeClr val="tx1"/>
                          </a:solidFill>
                        </a:rPr>
                        <a:t>Mechanics and Tips in Impromptu Speaking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CC5B1-B878-4755-ABF4-7563A0036863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23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906040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593669"/>
              </p:ext>
            </p:extLst>
          </p:nvPr>
        </p:nvGraphicFramePr>
        <p:xfrm>
          <a:off x="866773" y="2362200"/>
          <a:ext cx="7286626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94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7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20588">
                <a:tc>
                  <a:txBody>
                    <a:bodyPr/>
                    <a:lstStyle/>
                    <a:p>
                      <a:r>
                        <a:rPr lang="en-PH" dirty="0"/>
                        <a:t>LEARNING</a:t>
                      </a:r>
                      <a:r>
                        <a:rPr lang="en-PH" baseline="0" dirty="0"/>
                        <a:t> OBJECTIVES</a:t>
                      </a:r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SUCCESS CRITERIA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9412">
                <a:tc>
                  <a:txBody>
                    <a:bodyPr/>
                    <a:lstStyle/>
                    <a:p>
                      <a:r>
                        <a:rPr lang="en-PH" sz="2400" b="1" dirty="0"/>
                        <a:t>To recognize and name equivalent fractions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sz="2400" b="1" dirty="0"/>
                        <a:t>*  Use objects or drawings to show equivalent fraction;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PH" sz="2400" b="1" dirty="0"/>
                        <a:t>Show examples of equivalent fractions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PH" sz="2400" b="1" dirty="0"/>
                        <a:t>Write a</a:t>
                      </a:r>
                      <a:r>
                        <a:rPr lang="en-PH" sz="2400" b="1" baseline="0" dirty="0"/>
                        <a:t> story about equivalent fraction</a:t>
                      </a:r>
                      <a:endParaRPr lang="en-PH" sz="2400" b="1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PH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8E137-DC7C-4785-8226-F5542245A242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24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843606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In assessment FOR learning, the focus is on: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2489200"/>
            <a:ext cx="7772400" cy="3530600"/>
          </a:xfrm>
        </p:spPr>
        <p:txBody>
          <a:bodyPr>
            <a:normAutofit/>
          </a:bodyPr>
          <a:lstStyle/>
          <a:p>
            <a:r>
              <a:rPr lang="en-PH" sz="3600" b="1" dirty="0"/>
              <a:t>Ways how to improve learning</a:t>
            </a:r>
          </a:p>
          <a:p>
            <a:r>
              <a:rPr lang="en-PH" sz="3600" b="1" dirty="0"/>
              <a:t>New policies and procedures to improve learning </a:t>
            </a:r>
          </a:p>
          <a:p>
            <a:r>
              <a:rPr lang="en-PH" sz="3600" b="1" dirty="0"/>
              <a:t>Formative assessment, diagnostic, aptitude evaluation</a:t>
            </a:r>
          </a:p>
          <a:p>
            <a:endParaRPr lang="en-PH" sz="36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C7CE9-67DB-46CF-9734-2D7BD57A1AC0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25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20343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 dirty="0"/>
          </a:p>
        </p:txBody>
      </p:sp>
      <p:pic>
        <p:nvPicPr>
          <p:cNvPr id="4" name="Content Placeholder 3" descr="assessment2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524000" y="2590800"/>
            <a:ext cx="5486399" cy="3200399"/>
          </a:xfr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C0FBD-EE18-43E8-9157-86D564EA1A4F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26</a:t>
            </a:fld>
            <a:endParaRPr lang="en-PH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Assessment of Learning</a:t>
            </a:r>
          </a:p>
        </p:txBody>
      </p:sp>
      <p:pic>
        <p:nvPicPr>
          <p:cNvPr id="4" name="Content Placeholder 3" descr="assessment3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914400" y="2362200"/>
            <a:ext cx="7010399" cy="3657600"/>
          </a:xfr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B8F55-B04C-4898-ACF3-72CB89FC32DB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27</a:t>
            </a:fld>
            <a:endParaRPr lang="en-PH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In </a:t>
            </a:r>
            <a:r>
              <a:rPr lang="en-PH" b="1" dirty="0"/>
              <a:t>Assessment OF learning: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441" y="2489200"/>
            <a:ext cx="7286959" cy="3530600"/>
          </a:xfrm>
        </p:spPr>
        <p:txBody>
          <a:bodyPr>
            <a:normAutofit lnSpcReduction="10000"/>
          </a:bodyPr>
          <a:lstStyle/>
          <a:p>
            <a:r>
              <a:rPr lang="en-PH" sz="3600" b="1" dirty="0"/>
              <a:t>Focus is on test, on outcomes </a:t>
            </a:r>
          </a:p>
          <a:p>
            <a:r>
              <a:rPr lang="en-PH" sz="3600" b="1" dirty="0"/>
              <a:t>Focus is on </a:t>
            </a:r>
            <a:r>
              <a:rPr lang="en-PH" sz="3600" b="1" u="sng" dirty="0"/>
              <a:t>performance and grades, achievement</a:t>
            </a:r>
          </a:p>
          <a:p>
            <a:r>
              <a:rPr lang="en-PH" sz="3600" b="1" dirty="0"/>
              <a:t>Here, you teach and then you administer test to find out if the students have learned.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04D4C-B85F-46AB-B059-E94E5313A033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28</a:t>
            </a:fld>
            <a:endParaRPr lang="en-PH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441" y="2489200"/>
            <a:ext cx="7515559" cy="3530600"/>
          </a:xfrm>
        </p:spPr>
        <p:txBody>
          <a:bodyPr>
            <a:normAutofit/>
          </a:bodyPr>
          <a:lstStyle/>
          <a:p>
            <a:r>
              <a:rPr lang="en-PH" sz="4400" b="1" dirty="0"/>
              <a:t>Includes summative evaluation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20D12-CB85-42D3-A11F-3F051B643BC3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29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808551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sz="4000" b="1" dirty="0"/>
              <a:t>Assessment AS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441" y="2489200"/>
            <a:ext cx="7744159" cy="3530600"/>
          </a:xfrm>
        </p:spPr>
        <p:txBody>
          <a:bodyPr/>
          <a:lstStyle/>
          <a:p>
            <a:r>
              <a:rPr lang="en-PH" sz="3600" b="1" dirty="0"/>
              <a:t>This is used by students.</a:t>
            </a:r>
          </a:p>
          <a:p>
            <a:r>
              <a:rPr lang="en-PH" sz="3600" b="1" dirty="0"/>
              <a:t>Here, the students use the result of his or her exam to improve his performance</a:t>
            </a:r>
            <a:r>
              <a:rPr lang="en-PH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1A557-6360-45A4-B64A-4A7D19697162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30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340438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pic>
        <p:nvPicPr>
          <p:cNvPr id="4" name="Content Placeholder 3" descr="kinds of assessment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838200" y="2057400"/>
            <a:ext cx="6781800" cy="4191000"/>
          </a:xfr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2C764-59FF-42F3-9E19-B9711BA4C998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31</a:t>
            </a:fld>
            <a:endParaRPr lang="en-PH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33600"/>
            <a:ext cx="7803041" cy="3886200"/>
          </a:xfrm>
        </p:spPr>
        <p:txBody>
          <a:bodyPr>
            <a:noAutofit/>
          </a:bodyPr>
          <a:lstStyle/>
          <a:p>
            <a:r>
              <a:rPr lang="en-PH" sz="2800" b="1" dirty="0"/>
              <a:t>1. Which of the following a teacher strives to achieve when (s)he assess for students learning? </a:t>
            </a:r>
          </a:p>
          <a:p>
            <a:pPr>
              <a:buAutoNum type="alphaUcPeriod"/>
            </a:pPr>
            <a:r>
              <a:rPr lang="en-PH" sz="2800" b="1" dirty="0"/>
              <a:t>The level of performance</a:t>
            </a:r>
          </a:p>
          <a:p>
            <a:pPr>
              <a:buAutoNum type="alphaUcPeriod"/>
            </a:pPr>
            <a:r>
              <a:rPr lang="en-PH" sz="2800" b="1" dirty="0"/>
              <a:t>The accuracy of the grades.</a:t>
            </a:r>
          </a:p>
          <a:p>
            <a:pPr>
              <a:buAutoNum type="alphaUcPeriod"/>
            </a:pPr>
            <a:r>
              <a:rPr lang="en-PH" sz="2800" b="1" dirty="0"/>
              <a:t>The validity of the measuring instrument.</a:t>
            </a:r>
          </a:p>
          <a:p>
            <a:pPr>
              <a:buAutoNum type="alphaUcPeriod"/>
            </a:pPr>
            <a:r>
              <a:rPr lang="en-PH" sz="2800" b="1" dirty="0"/>
              <a:t>The appropriateness of the criteria that will serve as evidence of learning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D9E1A-C662-4D61-A4D5-3C611950D279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32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78835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286000"/>
            <a:ext cx="8001000" cy="3809999"/>
          </a:xfrm>
        </p:spPr>
        <p:txBody>
          <a:bodyPr>
            <a:noAutofit/>
          </a:bodyPr>
          <a:lstStyle/>
          <a:p>
            <a:r>
              <a:rPr lang="en-PH" sz="3200" b="1" dirty="0"/>
              <a:t>2.  How is “assessment for learning” different from “assessment of learning”?</a:t>
            </a:r>
          </a:p>
          <a:p>
            <a:r>
              <a:rPr lang="en-PH" sz="3200" b="1" dirty="0"/>
              <a:t>A. It is for determining student grades.</a:t>
            </a:r>
          </a:p>
          <a:p>
            <a:r>
              <a:rPr lang="en-PH" sz="3200" b="1" dirty="0"/>
              <a:t>B. It is for enhancing learning</a:t>
            </a:r>
          </a:p>
          <a:p>
            <a:r>
              <a:rPr lang="en-PH" sz="3200" b="1" dirty="0"/>
              <a:t>C. It is for rating class performance</a:t>
            </a:r>
          </a:p>
          <a:p>
            <a:r>
              <a:rPr lang="en-PH" sz="3200" b="1" dirty="0"/>
              <a:t>D. It is for determining class standing</a:t>
            </a:r>
          </a:p>
        </p:txBody>
      </p:sp>
    </p:spTree>
    <p:extLst>
      <p:ext uri="{BB962C8B-B14F-4D97-AF65-F5344CB8AC3E}">
        <p14:creationId xmlns:p14="http://schemas.microsoft.com/office/powerpoint/2010/main" val="2025657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3564" y="925605"/>
            <a:ext cx="7747036" cy="711359"/>
          </a:xfrm>
        </p:spPr>
        <p:txBody>
          <a:bodyPr>
            <a:normAutofit fontScale="90000"/>
          </a:bodyPr>
          <a:lstStyle/>
          <a:p>
            <a:r>
              <a:rPr lang="en-PH" dirty="0"/>
              <a:t>3</a:t>
            </a:r>
            <a:r>
              <a:rPr lang="en-PH" sz="3600" b="1" dirty="0"/>
              <a:t>. Which of these should a teacher do when she assesses of students learning?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590800"/>
            <a:ext cx="7924800" cy="3530600"/>
          </a:xfrm>
        </p:spPr>
        <p:txBody>
          <a:bodyPr>
            <a:noAutofit/>
          </a:bodyPr>
          <a:lstStyle/>
          <a:p>
            <a:r>
              <a:rPr lang="en-PH" sz="2800" b="1" dirty="0"/>
              <a:t>A. Designing her instruction.</a:t>
            </a:r>
          </a:p>
          <a:p>
            <a:r>
              <a:rPr lang="en-PH" sz="2800" b="1" dirty="0"/>
              <a:t>B. Certifying students achievement.</a:t>
            </a:r>
          </a:p>
          <a:p>
            <a:r>
              <a:rPr lang="en-PH" sz="2800" b="1" dirty="0"/>
              <a:t>C. Determine the areas of interest of students.</a:t>
            </a:r>
          </a:p>
          <a:p>
            <a:r>
              <a:rPr lang="en-PH" sz="2800" b="1" dirty="0"/>
              <a:t>Giving immediate feedback to students regarding strength and weaknesses.</a:t>
            </a:r>
          </a:p>
          <a:p>
            <a:endParaRPr lang="en-PH" sz="2800" b="1" dirty="0"/>
          </a:p>
        </p:txBody>
      </p:sp>
    </p:spTree>
    <p:extLst>
      <p:ext uri="{BB962C8B-B14F-4D97-AF65-F5344CB8AC3E}">
        <p14:creationId xmlns:p14="http://schemas.microsoft.com/office/powerpoint/2010/main" val="3398343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0843" y="2209800"/>
            <a:ext cx="8248358" cy="3810000"/>
          </a:xfrm>
        </p:spPr>
        <p:txBody>
          <a:bodyPr>
            <a:noAutofit/>
          </a:bodyPr>
          <a:lstStyle/>
          <a:p>
            <a:r>
              <a:rPr lang="en-PH" sz="2800" b="1" dirty="0"/>
              <a:t>4. Jenny, a COTED student, uses the result of her long test in determining what to study or improve for the mid or final term examination. This is ____. </a:t>
            </a:r>
          </a:p>
          <a:p>
            <a:pPr>
              <a:buAutoNum type="alphaUcPeriod"/>
            </a:pPr>
            <a:r>
              <a:rPr lang="en-PH" sz="2800" b="1" dirty="0"/>
              <a:t>Assessment of Learning</a:t>
            </a:r>
          </a:p>
          <a:p>
            <a:pPr>
              <a:buAutoNum type="alphaUcPeriod"/>
            </a:pPr>
            <a:r>
              <a:rPr lang="en-PH" sz="2800" b="1" dirty="0"/>
              <a:t>Assessment as Learning</a:t>
            </a:r>
          </a:p>
          <a:p>
            <a:pPr>
              <a:buAutoNum type="alphaUcPeriod"/>
            </a:pPr>
            <a:r>
              <a:rPr lang="en-PH" sz="2800" b="1" dirty="0"/>
              <a:t>Assessment for Learning</a:t>
            </a:r>
          </a:p>
          <a:p>
            <a:pPr>
              <a:buAutoNum type="alphaUcPeriod"/>
            </a:pPr>
            <a:r>
              <a:rPr lang="en-PH" sz="2800" b="1" dirty="0"/>
              <a:t>A &amp; C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148A7-B2BF-46A6-AF33-9C56DC9CC2E9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35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7501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2489200"/>
            <a:ext cx="7879242" cy="3530600"/>
          </a:xfrm>
        </p:spPr>
        <p:txBody>
          <a:bodyPr>
            <a:noAutofit/>
          </a:bodyPr>
          <a:lstStyle/>
          <a:p>
            <a:r>
              <a:rPr lang="en-PH" sz="3600" b="1" dirty="0"/>
              <a:t>5. The statement “test to teach” is consistent with ___________.</a:t>
            </a:r>
          </a:p>
          <a:p>
            <a:pPr>
              <a:buAutoNum type="alphaUcPeriod"/>
            </a:pPr>
            <a:r>
              <a:rPr lang="en-PH" sz="3600" b="1" dirty="0"/>
              <a:t>Assessment of Learning</a:t>
            </a:r>
          </a:p>
          <a:p>
            <a:pPr>
              <a:buAutoNum type="alphaUcPeriod"/>
            </a:pPr>
            <a:r>
              <a:rPr lang="en-PH" sz="3600" b="1" dirty="0"/>
              <a:t>Assessment for Learning</a:t>
            </a:r>
          </a:p>
          <a:p>
            <a:pPr>
              <a:buAutoNum type="alphaUcPeriod"/>
            </a:pPr>
            <a:r>
              <a:rPr lang="en-PH" sz="3600" b="1" dirty="0"/>
              <a:t>Assessment as Learning</a:t>
            </a:r>
          </a:p>
          <a:p>
            <a:pPr>
              <a:buAutoNum type="alphaUcPeriod"/>
            </a:pPr>
            <a:r>
              <a:rPr lang="en-PH" sz="3600" b="1" dirty="0"/>
              <a:t>Assessment with Learning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148A7-B2BF-46A6-AF33-9C56DC9CC2E9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36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92227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51FF2-1314-49C6-8585-A37DE83C4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07807-02B9-4FCE-AA75-8C2E28F77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441" y="2489200"/>
            <a:ext cx="7591759" cy="3530600"/>
          </a:xfrm>
        </p:spPr>
        <p:txBody>
          <a:bodyPr>
            <a:normAutofit/>
          </a:bodyPr>
          <a:lstStyle/>
          <a:p>
            <a:r>
              <a:rPr lang="en-PH" sz="3200" b="1" dirty="0"/>
              <a:t>Which of the following is consistent with assessment of learning?</a:t>
            </a:r>
          </a:p>
          <a:p>
            <a:r>
              <a:rPr lang="en-PH" sz="3200" b="1" dirty="0"/>
              <a:t>A. Diagnostic Test</a:t>
            </a:r>
          </a:p>
          <a:p>
            <a:r>
              <a:rPr lang="en-PH" sz="3200" b="1" dirty="0"/>
              <a:t>B. Aptitude Test</a:t>
            </a:r>
          </a:p>
          <a:p>
            <a:r>
              <a:rPr lang="en-PH" sz="3200" b="1" dirty="0"/>
              <a:t>C. Diagnostic Test</a:t>
            </a:r>
          </a:p>
          <a:p>
            <a:r>
              <a:rPr lang="en-PH" sz="3200" b="1" dirty="0"/>
              <a:t>D. Summative Test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A1519D-708F-4890-BC09-9500EB150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148A7-B2BF-46A6-AF33-9C56DC9CC2E9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656AC-9C28-4438-B4FD-FEE0910B2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E6F2AB-83B6-4A9F-B33D-9A97BD9B0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37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93275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PH" sz="3600" b="1" dirty="0"/>
              <a:t>WHAT MAKES EDUCATIONAL MEASUREMENT &amp; EVALUATION DIFFICULT</a:t>
            </a:r>
            <a:r>
              <a:rPr lang="en-PH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89200"/>
            <a:ext cx="8381999" cy="3530600"/>
          </a:xfrm>
        </p:spPr>
        <p:txBody>
          <a:bodyPr>
            <a:noAutofit/>
          </a:bodyPr>
          <a:lstStyle/>
          <a:p>
            <a:pPr marL="624078" indent="-514350" algn="just">
              <a:buAutoNum type="arabicPeriod"/>
            </a:pPr>
            <a:r>
              <a:rPr lang="en-PH" sz="2800" b="1" dirty="0"/>
              <a:t>MANY OBJECTS OF MEASUREMENT ARE ABSTRACT.</a:t>
            </a:r>
          </a:p>
          <a:p>
            <a:pPr marL="624078" indent="-514350" algn="just">
              <a:buAutoNum type="arabicPeriod"/>
            </a:pPr>
            <a:r>
              <a:rPr lang="en-PH" sz="2800" b="1" dirty="0"/>
              <a:t>MANY OBJECTS OF MEASUREMENT THAT ARE MEASURED AS DISTINCT BY THEMSELVES MAY ACTUALLY REFER TO THE SAME THING.</a:t>
            </a:r>
          </a:p>
          <a:p>
            <a:pPr marL="624078" indent="-514350" algn="just">
              <a:buAutoNum type="arabicPeriod"/>
            </a:pPr>
            <a:r>
              <a:rPr lang="en-PH" sz="2800" b="1" dirty="0"/>
              <a:t>MANY OF THE OBJECTS OF MEASUREMENT ARE BEHAVIOR AND BEHAVIOR ARE SUBJECT TO CHANGE.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21285-ED4C-490A-A7B9-3D2B78DBE5F9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38</a:t>
            </a:fld>
            <a:endParaRPr lang="en-PH"/>
          </a:p>
        </p:txBody>
      </p:sp>
    </p:spTree>
  </p:cSld>
  <p:clrMapOvr>
    <a:masterClrMapping/>
  </p:clrMapOvr>
  <p:transition spd="slow">
    <p:wheel spokes="1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PH" sz="3200" b="1" dirty="0"/>
              <a:t>WHAT MAKES EDUCATIONAL MEASUREMENT &amp; EVALUATION DIFFICULT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2489200"/>
            <a:ext cx="7924800" cy="3530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PH" sz="2800" b="1" dirty="0"/>
              <a:t>   4. THERE IS NO TRUE ZERO POINT TO START MEASUREMENT FROM.</a:t>
            </a:r>
          </a:p>
          <a:p>
            <a:pPr>
              <a:buNone/>
            </a:pPr>
            <a:r>
              <a:rPr lang="en-PH" sz="2800" b="1" dirty="0"/>
              <a:t>    5. THERE IS A SCARCITY OF MEASURING INSTRUMENTS TO GIVE ACCURATE MEASUREMENT.</a:t>
            </a:r>
          </a:p>
          <a:p>
            <a:pPr>
              <a:buNone/>
            </a:pPr>
            <a:r>
              <a:rPr lang="en-PH" sz="2800" b="1" dirty="0"/>
              <a:t>   6. ENVIRONMENTAL FACTORS.</a:t>
            </a:r>
          </a:p>
          <a:p>
            <a:pPr>
              <a:buNone/>
            </a:pPr>
            <a:r>
              <a:rPr lang="en-PH" sz="2800" b="1" dirty="0"/>
              <a:t>   7. HEALTH AFFECTS</a:t>
            </a:r>
          </a:p>
          <a:p>
            <a:pPr>
              <a:buNone/>
            </a:pPr>
            <a:r>
              <a:rPr lang="en-PH" sz="2800" b="1" dirty="0"/>
              <a:t>   8. CHEATING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8E52F-7F6D-441C-BE96-44248E61E4A4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39</a:t>
            </a:fld>
            <a:endParaRPr lang="en-PH"/>
          </a:p>
        </p:txBody>
      </p:sp>
    </p:spTree>
  </p:cSld>
  <p:clrMapOvr>
    <a:masterClrMapping/>
  </p:clrMapOvr>
  <p:transition spd="slow">
    <p:wheel spokes="1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441" y="2489200"/>
            <a:ext cx="7134559" cy="3530600"/>
          </a:xfrm>
        </p:spPr>
        <p:txBody>
          <a:bodyPr>
            <a:normAutofit/>
          </a:bodyPr>
          <a:lstStyle/>
          <a:p>
            <a:r>
              <a:rPr lang="en-PH" sz="3600" b="1" dirty="0"/>
              <a:t>SCORE OR ANY. VALUE DERIVED FROM MEASUREMENTIS IS </a:t>
            </a:r>
            <a:r>
              <a:rPr lang="en-PH" sz="3600" b="1" u="sng" dirty="0"/>
              <a:t>RELATIVE</a:t>
            </a:r>
            <a:r>
              <a:rPr lang="en-PH" sz="3600" b="1" dirty="0"/>
              <a:t>. THEY HAVE TO BE INTERPRETED BASED ON THE INSTRUMENT USED IN EVALUATION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36F67-478A-4B4C-9E03-4DB0300F4A26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40</a:t>
            </a:fld>
            <a:endParaRPr lang="en-PH"/>
          </a:p>
        </p:txBody>
      </p:sp>
    </p:spTree>
  </p:cSld>
  <p:clrMapOvr>
    <a:masterClrMapping/>
  </p:clrMapOvr>
  <p:transition spd="slow">
    <p:push dir="u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362200"/>
            <a:ext cx="7633241" cy="3657600"/>
          </a:xfrm>
        </p:spPr>
        <p:txBody>
          <a:bodyPr>
            <a:noAutofit/>
          </a:bodyPr>
          <a:lstStyle/>
          <a:p>
            <a:r>
              <a:rPr lang="en-PH" sz="2800" b="1" dirty="0"/>
              <a:t>A student got a perfect score in a test. The most that we could say in this case is, _________.  </a:t>
            </a:r>
          </a:p>
          <a:p>
            <a:pPr>
              <a:buAutoNum type="alphaUcPeriod"/>
            </a:pPr>
            <a:r>
              <a:rPr lang="en-PH" sz="2800" b="1" dirty="0"/>
              <a:t>he/se is a prodigy.</a:t>
            </a:r>
          </a:p>
          <a:p>
            <a:pPr>
              <a:buAutoNum type="alphaUcPeriod"/>
            </a:pPr>
            <a:r>
              <a:rPr lang="en-PH" sz="2800" b="1" dirty="0"/>
              <a:t>he/she is very diligent in the class</a:t>
            </a:r>
          </a:p>
          <a:p>
            <a:pPr>
              <a:buAutoNum type="alphaUcPeriod"/>
            </a:pPr>
            <a:r>
              <a:rPr lang="en-PH" sz="2800" b="1" dirty="0"/>
              <a:t>he/she has mastered the objectives.</a:t>
            </a:r>
          </a:p>
          <a:p>
            <a:pPr>
              <a:buAutoNum type="alphaUcPeriod"/>
            </a:pPr>
            <a:r>
              <a:rPr lang="en-PH" sz="2800" b="1" dirty="0"/>
              <a:t>he/she answered all the questions correctly.</a:t>
            </a:r>
          </a:p>
          <a:p>
            <a:pPr marL="0" indent="0">
              <a:buNone/>
            </a:pPr>
            <a:endParaRPr lang="en-PH" sz="28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148A7-B2BF-46A6-AF33-9C56DC9CC2E9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41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44405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HISTORY OF M &amp; 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3564" y="2501900"/>
            <a:ext cx="6343201" cy="3530600"/>
          </a:xfrm>
        </p:spPr>
        <p:txBody>
          <a:bodyPr/>
          <a:lstStyle/>
          <a:p>
            <a:r>
              <a:rPr lang="en-PH" sz="2800" b="1" dirty="0"/>
              <a:t>CHINESE and public examination</a:t>
            </a:r>
          </a:p>
          <a:p>
            <a:r>
              <a:rPr lang="en-PH" sz="2800" b="1" dirty="0"/>
              <a:t>Rev. James Fisher</a:t>
            </a:r>
          </a:p>
          <a:p>
            <a:r>
              <a:rPr lang="en-PH" sz="2800" b="1" dirty="0"/>
              <a:t>Edward Lee Thorndike</a:t>
            </a:r>
          </a:p>
          <a:p>
            <a:endParaRPr lang="en-PH" dirty="0"/>
          </a:p>
          <a:p>
            <a:pPr>
              <a:buNone/>
            </a:pPr>
            <a:endParaRPr lang="en-PH" dirty="0"/>
          </a:p>
        </p:txBody>
      </p:sp>
      <p:pic>
        <p:nvPicPr>
          <p:cNvPr id="1026" name="Picture 2" descr="C:\Users\ACER\Downloads\thorndik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4267200"/>
            <a:ext cx="6096000" cy="1905000"/>
          </a:xfrm>
          <a:prstGeom prst="rect">
            <a:avLst/>
          </a:prstGeom>
          <a:noFill/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125B0-8C4F-4D8B-842A-6358FC5B6874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42</a:t>
            </a:fld>
            <a:endParaRPr lang="en-PH"/>
          </a:p>
        </p:txBody>
      </p:sp>
    </p:spTree>
  </p:cSld>
  <p:clrMapOvr>
    <a:masterClrMapping/>
  </p:clrMapOvr>
  <p:transition spd="slow">
    <p:wip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3564" y="2514600"/>
            <a:ext cx="6343201" cy="3530600"/>
          </a:xfrm>
        </p:spPr>
        <p:txBody>
          <a:bodyPr>
            <a:normAutofit/>
          </a:bodyPr>
          <a:lstStyle/>
          <a:p>
            <a:r>
              <a:rPr lang="en-PH" sz="2800" b="1" dirty="0" err="1"/>
              <a:t>Binet</a:t>
            </a:r>
            <a:r>
              <a:rPr lang="en-PH" sz="2800" b="1" dirty="0"/>
              <a:t>-Simon Intelligence Scale Test</a:t>
            </a:r>
          </a:p>
        </p:txBody>
      </p:sp>
      <p:pic>
        <p:nvPicPr>
          <p:cNvPr id="2051" name="Picture 3" descr="C:\Users\ACER\Downloads\Bine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62200" y="2971800"/>
            <a:ext cx="4495800" cy="3124200"/>
          </a:xfrm>
          <a:prstGeom prst="rect">
            <a:avLst/>
          </a:prstGeom>
          <a:noFill/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E56BA-BDDF-44DC-9BC7-30EB86EA37F0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43</a:t>
            </a:fld>
            <a:endParaRPr lang="en-PH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H" sz="3200" dirty="0"/>
              <a:t>Army Alpha &amp; Army Beta</a:t>
            </a:r>
          </a:p>
          <a:p>
            <a:endParaRPr lang="en-PH" dirty="0"/>
          </a:p>
        </p:txBody>
      </p:sp>
      <p:pic>
        <p:nvPicPr>
          <p:cNvPr id="3074" name="Picture 2" descr="C:\Users\ACER\Downloads\army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3124200"/>
            <a:ext cx="4876799" cy="2895600"/>
          </a:xfrm>
          <a:prstGeom prst="rect">
            <a:avLst/>
          </a:prstGeom>
          <a:noFill/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2BA7B-8D5D-4F78-A4D7-4D2BA4C7407B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44</a:t>
            </a:fld>
            <a:endParaRPr lang="en-PH"/>
          </a:p>
        </p:txBody>
      </p:sp>
    </p:spTree>
  </p:cSld>
  <p:clrMapOvr>
    <a:masterClrMapping/>
  </p:clrMapOvr>
  <p:transition spd="slow">
    <p:randomBar dir="vert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pic>
        <p:nvPicPr>
          <p:cNvPr id="4" name="Content Placeholder 3" descr="army alpha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800600" y="2438400"/>
            <a:ext cx="3657599" cy="3581400"/>
          </a:xfrm>
        </p:spPr>
      </p:pic>
      <p:pic>
        <p:nvPicPr>
          <p:cNvPr id="4098" name="Picture 2" descr="C:\Users\ACER\Downloads\army al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438400"/>
            <a:ext cx="5105400" cy="3657600"/>
          </a:xfrm>
          <a:prstGeom prst="rect">
            <a:avLst/>
          </a:prstGeom>
          <a:noFill/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CEC94-C7CE-4091-992C-AAB16E68300A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45</a:t>
            </a:fld>
            <a:endParaRPr lang="en-PH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PRINCIPLES OF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PH" sz="6600" dirty="0"/>
              <a:t>1. SIGNIFICANCE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DDFF7-752A-47D0-9461-3F758A557277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46</a:t>
            </a:fld>
            <a:endParaRPr lang="en-PH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PRINCIPLES OF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441" y="2057400"/>
            <a:ext cx="6343201" cy="3962400"/>
          </a:xfrm>
        </p:spPr>
        <p:txBody>
          <a:bodyPr>
            <a:normAutofit/>
          </a:bodyPr>
          <a:lstStyle/>
          <a:p>
            <a:r>
              <a:rPr lang="en-PH" sz="3200" dirty="0"/>
              <a:t>2. CONTINUITY</a:t>
            </a:r>
          </a:p>
          <a:p>
            <a:endParaRPr lang="en-PH" sz="32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488150"/>
              </p:ext>
            </p:extLst>
          </p:nvPr>
        </p:nvGraphicFramePr>
        <p:xfrm>
          <a:off x="609600" y="2895600"/>
          <a:ext cx="8001000" cy="358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95350">
                <a:tc>
                  <a:txBody>
                    <a:bodyPr/>
                    <a:lstStyle/>
                    <a:p>
                      <a:r>
                        <a:rPr lang="en-PH" sz="2000" b="1" dirty="0"/>
                        <a:t>WHEN TO CONDUCT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sz="2000" b="1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sz="2000" b="1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5350">
                <a:tc>
                  <a:txBody>
                    <a:bodyPr/>
                    <a:lstStyle/>
                    <a:p>
                      <a:r>
                        <a:rPr lang="en-PH" sz="2000" b="1" dirty="0"/>
                        <a:t>1.PRIOR TO INSTRUCTION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sz="2000" b="1" dirty="0"/>
                        <a:t>1.Diagnostic </a:t>
                      </a:r>
                    </a:p>
                    <a:p>
                      <a:r>
                        <a:rPr lang="en-PH" sz="2000" b="1" dirty="0"/>
                        <a:t>2.Aptitude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sz="2000" b="1" dirty="0"/>
                        <a:t>Readiness 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5350">
                <a:tc>
                  <a:txBody>
                    <a:bodyPr/>
                    <a:lstStyle/>
                    <a:p>
                      <a:r>
                        <a:rPr lang="en-PH" sz="2000" b="1" dirty="0"/>
                        <a:t>2.DURING</a:t>
                      </a:r>
                    </a:p>
                    <a:p>
                      <a:r>
                        <a:rPr lang="en-PH" sz="2000" b="1" dirty="0"/>
                        <a:t>INSTRUCTION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sz="2000" b="1" dirty="0"/>
                        <a:t>FORMATIVE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sz="2000" b="1" dirty="0"/>
                        <a:t>Quiz</a:t>
                      </a:r>
                    </a:p>
                    <a:p>
                      <a:r>
                        <a:rPr lang="en-PH" sz="2000" b="1" dirty="0"/>
                        <a:t>Recitation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5350">
                <a:tc>
                  <a:txBody>
                    <a:bodyPr/>
                    <a:lstStyle/>
                    <a:p>
                      <a:r>
                        <a:rPr lang="en-PH" sz="2000" b="1" dirty="0"/>
                        <a:t>3.AFTER </a:t>
                      </a:r>
                    </a:p>
                    <a:p>
                      <a:r>
                        <a:rPr lang="en-PH" sz="2000" b="1" dirty="0"/>
                        <a:t>INSTRUCTION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sz="2000" b="1" dirty="0"/>
                        <a:t>SUMMATIVE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sz="2000" b="1" dirty="0"/>
                        <a:t>Unit Test</a:t>
                      </a:r>
                    </a:p>
                    <a:p>
                      <a:r>
                        <a:rPr lang="en-PH" sz="2000" b="1" dirty="0"/>
                        <a:t>Periodic Exam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45479-3CAD-44B6-A682-A54788569BFC}" type="datetime1">
              <a:rPr lang="en-PH" smtClean="0"/>
              <a:t>25/08/2018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47</a:t>
            </a:fld>
            <a:endParaRPr lang="en-PH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0843" y="2286000"/>
            <a:ext cx="7867358" cy="3733800"/>
          </a:xfrm>
        </p:spPr>
        <p:txBody>
          <a:bodyPr>
            <a:noAutofit/>
          </a:bodyPr>
          <a:lstStyle/>
          <a:p>
            <a:r>
              <a:rPr lang="en-PH" sz="3200" b="1" dirty="0"/>
              <a:t>1.Which of the following should a teacher focus if (s)he wants to assess of students learning?</a:t>
            </a:r>
          </a:p>
          <a:p>
            <a:pPr>
              <a:buAutoNum type="alphaUcPeriod"/>
            </a:pPr>
            <a:r>
              <a:rPr lang="en-PH" sz="3200" b="1" dirty="0"/>
              <a:t>Diagnostic Evaluation</a:t>
            </a:r>
          </a:p>
          <a:p>
            <a:pPr>
              <a:buAutoNum type="alphaUcPeriod"/>
            </a:pPr>
            <a:r>
              <a:rPr lang="en-PH" sz="3200" b="1" dirty="0"/>
              <a:t>Aptitude Evaluation</a:t>
            </a:r>
          </a:p>
          <a:p>
            <a:pPr>
              <a:buAutoNum type="alphaUcPeriod"/>
            </a:pPr>
            <a:r>
              <a:rPr lang="en-PH" sz="3200" b="1" dirty="0"/>
              <a:t>Formative evaluation</a:t>
            </a:r>
          </a:p>
          <a:p>
            <a:pPr>
              <a:buAutoNum type="alphaUcPeriod"/>
            </a:pPr>
            <a:r>
              <a:rPr lang="en-PH" sz="3200" b="1" dirty="0"/>
              <a:t>Summative Evaluation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5552E-493F-4752-8A28-974CA41D6FA2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48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05778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sz="4800" b="1" dirty="0"/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2362200"/>
            <a:ext cx="8153400" cy="3657600"/>
          </a:xfrm>
        </p:spPr>
        <p:txBody>
          <a:bodyPr>
            <a:normAutofit/>
          </a:bodyPr>
          <a:lstStyle/>
          <a:p>
            <a:r>
              <a:rPr lang="en-PH" sz="3200" b="1" dirty="0"/>
              <a:t>2.The teacher without waiting the class to be over ask the students of their understanding of the concept. </a:t>
            </a:r>
          </a:p>
          <a:p>
            <a:r>
              <a:rPr lang="en-PH" sz="3200" b="1" dirty="0" err="1"/>
              <a:t>A.formative</a:t>
            </a:r>
            <a:r>
              <a:rPr lang="en-PH" sz="3200" b="1" dirty="0"/>
              <a:t>		C. summative</a:t>
            </a:r>
          </a:p>
          <a:p>
            <a:r>
              <a:rPr lang="en-PH" sz="3200" b="1" dirty="0"/>
              <a:t>B. Diagnostic	D. Aptitude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52C6D-9D31-4FB9-B5C9-D079513BC099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49</a:t>
            </a:fld>
            <a:endParaRPr lang="en-PH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441" y="2489200"/>
            <a:ext cx="7698601" cy="3530600"/>
          </a:xfrm>
        </p:spPr>
        <p:txBody>
          <a:bodyPr>
            <a:normAutofit/>
          </a:bodyPr>
          <a:lstStyle/>
          <a:p>
            <a:r>
              <a:rPr lang="en-PH" sz="3600" b="1" dirty="0"/>
              <a:t>3. Assessment of Learning is said to have started in _______.</a:t>
            </a:r>
          </a:p>
          <a:p>
            <a:pPr>
              <a:buAutoNum type="alphaUcPeriod"/>
            </a:pPr>
            <a:r>
              <a:rPr lang="en-PH" sz="3600" b="1" dirty="0"/>
              <a:t>Japan			C. China</a:t>
            </a:r>
          </a:p>
          <a:p>
            <a:pPr>
              <a:buAutoNum type="alphaUcPeriod"/>
            </a:pPr>
            <a:r>
              <a:rPr lang="en-PH" sz="3600" b="1" dirty="0"/>
              <a:t>Egypt			D. USA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148A7-B2BF-46A6-AF33-9C56DC9CC2E9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50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11234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441" y="2489200"/>
            <a:ext cx="7363159" cy="3530600"/>
          </a:xfrm>
        </p:spPr>
        <p:txBody>
          <a:bodyPr>
            <a:normAutofit/>
          </a:bodyPr>
          <a:lstStyle/>
          <a:p>
            <a:r>
              <a:rPr lang="en-PH" sz="4400" b="1" dirty="0"/>
              <a:t>4. A quiz is ___________ evaluation.</a:t>
            </a:r>
          </a:p>
          <a:p>
            <a:pPr>
              <a:buAutoNum type="alphaUcPeriod"/>
            </a:pPr>
            <a:r>
              <a:rPr lang="en-PH" sz="4400" b="1" dirty="0"/>
              <a:t>Summative	C. Formative</a:t>
            </a:r>
          </a:p>
          <a:p>
            <a:pPr>
              <a:buAutoNum type="alphaUcPeriod"/>
            </a:pPr>
            <a:r>
              <a:rPr lang="en-PH" sz="4400" b="1" dirty="0"/>
              <a:t>Diagnostic	C. Aptitude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148A7-B2BF-46A6-AF33-9C56DC9CC2E9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51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00403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441" y="2489200"/>
            <a:ext cx="7820359" cy="3530600"/>
          </a:xfrm>
        </p:spPr>
        <p:txBody>
          <a:bodyPr>
            <a:noAutofit/>
          </a:bodyPr>
          <a:lstStyle/>
          <a:p>
            <a:r>
              <a:rPr lang="en-PH" sz="3600" b="1" dirty="0"/>
              <a:t>5. Readiness test is an example of ________.</a:t>
            </a:r>
          </a:p>
          <a:p>
            <a:pPr>
              <a:buAutoNum type="alphaUcPeriod"/>
            </a:pPr>
            <a:r>
              <a:rPr lang="en-PH" sz="3600" b="1" dirty="0"/>
              <a:t>Diagnostic evaluation</a:t>
            </a:r>
          </a:p>
          <a:p>
            <a:pPr>
              <a:buAutoNum type="alphaUcPeriod"/>
            </a:pPr>
            <a:r>
              <a:rPr lang="en-PH" sz="3600" b="1" dirty="0"/>
              <a:t>Summative evaluation</a:t>
            </a:r>
          </a:p>
          <a:p>
            <a:pPr>
              <a:buAutoNum type="alphaUcPeriod"/>
            </a:pPr>
            <a:r>
              <a:rPr lang="en-PH" sz="3600" b="1" dirty="0"/>
              <a:t>Aptitude evaluation</a:t>
            </a:r>
          </a:p>
          <a:p>
            <a:pPr>
              <a:buAutoNum type="alphaUcPeriod"/>
            </a:pPr>
            <a:r>
              <a:rPr lang="en-PH" sz="3600" b="1" dirty="0"/>
              <a:t>Formative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148A7-B2BF-46A6-AF33-9C56DC9CC2E9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52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49242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0842" y="2489200"/>
            <a:ext cx="7804399" cy="3530600"/>
          </a:xfrm>
        </p:spPr>
        <p:txBody>
          <a:bodyPr>
            <a:noAutofit/>
          </a:bodyPr>
          <a:lstStyle/>
          <a:p>
            <a:r>
              <a:rPr lang="en-PH" sz="3200" b="1" dirty="0"/>
              <a:t>6. A test which is useful in predicting potential failure or success is __________.</a:t>
            </a:r>
          </a:p>
          <a:p>
            <a:pPr>
              <a:buAutoNum type="alphaUcPeriod"/>
            </a:pPr>
            <a:r>
              <a:rPr lang="en-PH" sz="3200" b="1" dirty="0"/>
              <a:t>Summative</a:t>
            </a:r>
          </a:p>
          <a:p>
            <a:pPr>
              <a:buAutoNum type="alphaUcPeriod"/>
            </a:pPr>
            <a:r>
              <a:rPr lang="en-PH" sz="3200" b="1" dirty="0"/>
              <a:t>Formative</a:t>
            </a:r>
          </a:p>
          <a:p>
            <a:pPr>
              <a:buAutoNum type="alphaUcPeriod"/>
            </a:pPr>
            <a:r>
              <a:rPr lang="en-PH" sz="3200" b="1" dirty="0"/>
              <a:t>Aptitude</a:t>
            </a:r>
          </a:p>
          <a:p>
            <a:pPr>
              <a:buAutoNum type="alphaUcPeriod"/>
            </a:pPr>
            <a:r>
              <a:rPr lang="en-PH" sz="3200" b="1" dirty="0"/>
              <a:t>Prognostic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148A7-B2BF-46A6-AF33-9C56DC9CC2E9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53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82292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pic>
        <p:nvPicPr>
          <p:cNvPr id="4" name="Content Placeholder 3" descr="SUMMA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371600" y="2362200"/>
            <a:ext cx="6019800" cy="3581400"/>
          </a:xfr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8FA2F-6297-4E2B-85FE-5D4D40786412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54</a:t>
            </a:fld>
            <a:endParaRPr lang="en-PH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PRINCIPLES OF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PH" sz="6000" b="1" dirty="0"/>
              <a:t>3.SCOPE/</a:t>
            </a:r>
          </a:p>
          <a:p>
            <a:r>
              <a:rPr lang="en-PH" sz="6000" b="1" dirty="0"/>
              <a:t>COVERAGE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A0A52-58DA-41AF-A729-1F0A0696997F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55</a:t>
            </a:fld>
            <a:endParaRPr lang="en-PH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sz="4400" b="1" dirty="0"/>
              <a:t>Is this valid?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3729539"/>
              </p:ext>
            </p:extLst>
          </p:nvPr>
        </p:nvGraphicFramePr>
        <p:xfrm>
          <a:off x="866773" y="2489200"/>
          <a:ext cx="6829426" cy="33917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47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47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0333">
                <a:tc>
                  <a:txBody>
                    <a:bodyPr/>
                    <a:lstStyle/>
                    <a:p>
                      <a:pPr algn="ctr"/>
                      <a:endParaRPr lang="en-PH" b="1" dirty="0"/>
                    </a:p>
                    <a:p>
                      <a:pPr algn="ctr"/>
                      <a:r>
                        <a:rPr lang="en-PH" b="1" dirty="0"/>
                        <a:t>TOPIC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b="1" dirty="0"/>
                    </a:p>
                    <a:p>
                      <a:pPr algn="ctr"/>
                      <a:r>
                        <a:rPr lang="en-PH" b="1" dirty="0"/>
                        <a:t>ITEMS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333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333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0333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0333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0333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148A7-B2BF-46A6-AF33-9C56DC9CC2E9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56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8623014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B7F5F-AEF4-4F83-86F2-8B717F8BE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Is this valid?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AAE50423-08F2-4706-B060-A05177A38F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6408836"/>
              </p:ext>
            </p:extLst>
          </p:nvPr>
        </p:nvGraphicFramePr>
        <p:xfrm>
          <a:off x="866775" y="2489200"/>
          <a:ext cx="6343650" cy="3682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1825">
                  <a:extLst>
                    <a:ext uri="{9D8B030D-6E8A-4147-A177-3AD203B41FA5}">
                      <a16:colId xmlns:a16="http://schemas.microsoft.com/office/drawing/2014/main" val="1555213425"/>
                    </a:ext>
                  </a:extLst>
                </a:gridCol>
                <a:gridCol w="3171825">
                  <a:extLst>
                    <a:ext uri="{9D8B030D-6E8A-4147-A177-3AD203B41FA5}">
                      <a16:colId xmlns:a16="http://schemas.microsoft.com/office/drawing/2014/main" val="1788877376"/>
                    </a:ext>
                  </a:extLst>
                </a:gridCol>
              </a:tblGrid>
              <a:tr h="613833">
                <a:tc>
                  <a:txBody>
                    <a:bodyPr/>
                    <a:lstStyle/>
                    <a:p>
                      <a:r>
                        <a:rPr lang="en-PH" dirty="0"/>
                        <a:t>TOPIC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ITEMS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774348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    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 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96617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    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 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8763928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    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1828438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    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8409432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     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7856652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5491BC-56D2-4FE0-AAFD-F6557DC2E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148A7-B2BF-46A6-AF33-9C56DC9CC2E9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608D5-DAEF-4173-8429-EB11C4835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375DAE-FB60-43CA-9742-236D3AE5D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57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2189489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 </a:t>
            </a:r>
            <a:r>
              <a:rPr lang="en-PH" b="1" dirty="0"/>
              <a:t>TABLE OF SPECIFICATION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457200" y="2249488"/>
          <a:ext cx="8229599" cy="447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85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09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29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PH" dirty="0"/>
                        <a:t>TOPICS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sz="1400" dirty="0"/>
                        <a:t>OBJECTIVES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 dirty="0"/>
                        <a:t>Time </a:t>
                      </a:r>
                    </a:p>
                    <a:p>
                      <a:pPr algn="ctr"/>
                      <a:r>
                        <a:rPr lang="en-PH" sz="1400" dirty="0"/>
                        <a:t>Allotment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RW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sz="1600" dirty="0"/>
                        <a:t>Number </a:t>
                      </a:r>
                    </a:p>
                    <a:p>
                      <a:r>
                        <a:rPr lang="en-PH" sz="1600" dirty="0"/>
                        <a:t>Of</a:t>
                      </a:r>
                      <a:r>
                        <a:rPr lang="en-PH" sz="1600" baseline="0" dirty="0"/>
                        <a:t> Items</a:t>
                      </a:r>
                      <a:endParaRPr lang="en-PH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Test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Item Locator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>
                        <a:buAutoNum type="romanUcPeriod"/>
                      </a:pPr>
                      <a:r>
                        <a:rPr lang="en-PH" dirty="0"/>
                        <a:t>A</a:t>
                      </a:r>
                    </a:p>
                    <a:p>
                      <a:pPr marL="342900" indent="-342900">
                        <a:buNone/>
                      </a:pPr>
                      <a:endParaRPr lang="en-PH" dirty="0"/>
                    </a:p>
                    <a:p>
                      <a:pPr marL="342900" indent="-342900">
                        <a:buNone/>
                      </a:pPr>
                      <a:r>
                        <a:rPr lang="en-PH" dirty="0"/>
                        <a:t>    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3 hrs </a:t>
                      </a:r>
                    </a:p>
                    <a:p>
                      <a:endParaRPr lang="en-PH" dirty="0"/>
                    </a:p>
                    <a:p>
                      <a:r>
                        <a:rPr lang="en-PH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0.11 </a:t>
                      </a:r>
                    </a:p>
                    <a:p>
                      <a:endParaRPr lang="en-PH" dirty="0"/>
                    </a:p>
                    <a:p>
                      <a:r>
                        <a:rPr lang="en-PH" dirty="0"/>
                        <a:t>0.07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8</a:t>
                      </a:r>
                    </a:p>
                    <a:p>
                      <a:endParaRPr lang="en-PH" dirty="0"/>
                    </a:p>
                    <a:p>
                      <a:r>
                        <a:rPr lang="en-PH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sz="1600" dirty="0"/>
                        <a:t>MCQ</a:t>
                      </a:r>
                    </a:p>
                    <a:p>
                      <a:r>
                        <a:rPr lang="en-PH" sz="1600" dirty="0"/>
                        <a:t>T/F</a:t>
                      </a:r>
                    </a:p>
                    <a:p>
                      <a:endParaRPr lang="en-PH" sz="1600" dirty="0"/>
                    </a:p>
                    <a:p>
                      <a:r>
                        <a:rPr lang="en-PH" sz="1600" dirty="0"/>
                        <a:t>MCQ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sz="1200" dirty="0"/>
                        <a:t>1,</a:t>
                      </a:r>
                      <a:r>
                        <a:rPr lang="en-PH" sz="1200" baseline="0" dirty="0"/>
                        <a:t> 3,8,9, 11 </a:t>
                      </a:r>
                    </a:p>
                    <a:p>
                      <a:endParaRPr lang="en-PH" sz="1200" baseline="0" dirty="0"/>
                    </a:p>
                    <a:p>
                      <a:r>
                        <a:rPr lang="en-PH" sz="1200" baseline="0" dirty="0"/>
                        <a:t>2,5,7   </a:t>
                      </a:r>
                    </a:p>
                    <a:p>
                      <a:endParaRPr lang="en-PH" sz="1200" baseline="0" dirty="0"/>
                    </a:p>
                    <a:p>
                      <a:r>
                        <a:rPr lang="en-PH" sz="1200" baseline="0" dirty="0"/>
                        <a:t>2,4,6,7,10</a:t>
                      </a:r>
                      <a:endParaRPr lang="en-PH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PH" dirty="0"/>
                        <a:t>II. 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12*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PH" dirty="0"/>
                        <a:t>III. A</a:t>
                      </a:r>
                    </a:p>
                    <a:p>
                      <a:r>
                        <a:rPr lang="en-PH" dirty="0"/>
                        <a:t>    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2 </a:t>
                      </a:r>
                    </a:p>
                    <a:p>
                      <a:r>
                        <a:rPr lang="en-PH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0.07</a:t>
                      </a:r>
                    </a:p>
                    <a:p>
                      <a:r>
                        <a:rPr lang="en-PH" dirty="0"/>
                        <a:t>0.07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 5</a:t>
                      </a:r>
                    </a:p>
                    <a:p>
                      <a:r>
                        <a:rPr lang="en-PH" dirty="0"/>
                        <a:t> </a:t>
                      </a:r>
                      <a:r>
                        <a:rPr lang="en-PH" baseline="0" dirty="0"/>
                        <a:t>5</a:t>
                      </a:r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PH" dirty="0"/>
                        <a:t>IV.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0.22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 17*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PH" dirty="0"/>
                        <a:t>V. A</a:t>
                      </a:r>
                    </a:p>
                    <a:p>
                      <a:r>
                        <a:rPr lang="en-PH" dirty="0"/>
                        <a:t>   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2 </a:t>
                      </a:r>
                    </a:p>
                    <a:p>
                      <a:r>
                        <a:rPr lang="en-PH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0.07 </a:t>
                      </a:r>
                    </a:p>
                    <a:p>
                      <a:r>
                        <a:rPr lang="en-PH" dirty="0"/>
                        <a:t>0.11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 5  </a:t>
                      </a:r>
                    </a:p>
                    <a:p>
                      <a:r>
                        <a:rPr lang="en-PH" dirty="0"/>
                        <a:t> 9*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PH" dirty="0"/>
                        <a:t>VI.A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0.11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 9*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PH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b="1" dirty="0"/>
                        <a:t> 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898080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PRINCIPLES OF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PH" sz="5400" b="1" dirty="0"/>
              <a:t>4.COMPATIBILITY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CFAA4-532E-4CBD-999E-753BA7D0403B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59</a:t>
            </a:fld>
            <a:endParaRPr lang="en-PH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PRINCIPLES OF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0"/>
            <a:ext cx="8305799" cy="3733800"/>
          </a:xfrm>
        </p:spPr>
        <p:txBody>
          <a:bodyPr>
            <a:normAutofit lnSpcReduction="10000"/>
          </a:bodyPr>
          <a:lstStyle/>
          <a:p>
            <a:r>
              <a:rPr lang="en-PH" sz="4000" b="1" dirty="0"/>
              <a:t>5  VALIDITY</a:t>
            </a:r>
          </a:p>
          <a:p>
            <a:pPr>
              <a:buNone/>
            </a:pPr>
            <a:r>
              <a:rPr lang="en-PH" sz="2400" b="1" dirty="0"/>
              <a:t>Which of the following test items is valid to measure the objective: </a:t>
            </a:r>
            <a:r>
              <a:rPr lang="en-PH" sz="2400" b="1" i="1" dirty="0"/>
              <a:t>to solve problems involving percent?</a:t>
            </a:r>
          </a:p>
          <a:p>
            <a:pPr>
              <a:buNone/>
            </a:pPr>
            <a:r>
              <a:rPr lang="en-PH" sz="2400" b="1" dirty="0"/>
              <a:t>	A. What is percent?</a:t>
            </a:r>
          </a:p>
          <a:p>
            <a:pPr>
              <a:buNone/>
            </a:pPr>
            <a:r>
              <a:rPr lang="en-PH" sz="2400" b="1" dirty="0"/>
              <a:t>	B. John got 75% in a test. Is this a good score?</a:t>
            </a:r>
          </a:p>
          <a:p>
            <a:pPr>
              <a:buNone/>
            </a:pPr>
            <a:r>
              <a:rPr lang="en-PH" sz="2400" b="1" dirty="0"/>
              <a:t>	C. What is ¾ to percent?</a:t>
            </a:r>
          </a:p>
          <a:p>
            <a:pPr>
              <a:buNone/>
            </a:pPr>
            <a:r>
              <a:rPr lang="en-PH" sz="2400" b="1" dirty="0"/>
              <a:t>	D. Mark got 8 baskets in 10 attempts. What percent did he miss?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C5202-6381-44ED-B8B7-DE7F5ECC1223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60</a:t>
            </a:fld>
            <a:endParaRPr lang="en-PH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PRINCIPLES OF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PH" sz="5400" b="1" dirty="0"/>
              <a:t>6.OBJECTIVITY</a:t>
            </a:r>
          </a:p>
          <a:p>
            <a:pPr>
              <a:buNone/>
            </a:pPr>
            <a:r>
              <a:rPr lang="en-PH" sz="4800" b="1" dirty="0"/>
              <a:t>(FAIRNESS)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9AC4D-DBF5-4C68-A7D3-0464F265649F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61</a:t>
            </a:fld>
            <a:endParaRPr lang="en-PH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PRINCIPLES OF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441" y="2489200"/>
            <a:ext cx="7286959" cy="3530600"/>
          </a:xfrm>
        </p:spPr>
        <p:txBody>
          <a:bodyPr>
            <a:normAutofit/>
          </a:bodyPr>
          <a:lstStyle/>
          <a:p>
            <a:r>
              <a:rPr lang="en-PH" sz="7200" dirty="0"/>
              <a:t>7 RELIABILITY</a:t>
            </a:r>
          </a:p>
          <a:p>
            <a:pPr marL="0" indent="0">
              <a:buNone/>
            </a:pPr>
            <a:r>
              <a:rPr lang="en-PH" sz="7200" dirty="0"/>
              <a:t>=</a:t>
            </a:r>
            <a:r>
              <a:rPr lang="en-PH" sz="7200" b="1" dirty="0" err="1"/>
              <a:t>Consisteny</a:t>
            </a:r>
            <a:r>
              <a:rPr lang="en-PH" sz="7200" b="1" dirty="0"/>
              <a:t>/  Stability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21D89-C3EC-4AA5-AB3F-CE477EED31D5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62</a:t>
            </a:fld>
            <a:endParaRPr lang="en-PH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PRINCIPLES OF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PH" sz="7200" dirty="0"/>
              <a:t>8 </a:t>
            </a:r>
            <a:r>
              <a:rPr lang="en-PH" sz="7200" b="1" dirty="0"/>
              <a:t>DIAGNOSTIC VALUE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003E0-1FBE-416E-AA6B-7288B4DD36BC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63</a:t>
            </a:fld>
            <a:endParaRPr lang="en-PH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441" y="2489200"/>
            <a:ext cx="7744159" cy="3530600"/>
          </a:xfrm>
        </p:spPr>
        <p:txBody>
          <a:bodyPr>
            <a:normAutofit/>
          </a:bodyPr>
          <a:lstStyle/>
          <a:p>
            <a:r>
              <a:rPr lang="en-PH" sz="3200" b="1" dirty="0"/>
              <a:t>Which test has the diagnostic value as its greatest strength?</a:t>
            </a:r>
          </a:p>
          <a:p>
            <a:pPr>
              <a:buNone/>
            </a:pPr>
            <a:r>
              <a:rPr lang="en-PH" sz="3200" b="1" dirty="0"/>
              <a:t>		A. Multiple Choice	</a:t>
            </a:r>
          </a:p>
          <a:p>
            <a:pPr>
              <a:buNone/>
            </a:pPr>
            <a:r>
              <a:rPr lang="en-PH" sz="3200" b="1" dirty="0"/>
              <a:t>    B. Essay</a:t>
            </a:r>
          </a:p>
          <a:p>
            <a:pPr>
              <a:buNone/>
            </a:pPr>
            <a:r>
              <a:rPr lang="en-PH" sz="3200" b="1" dirty="0"/>
              <a:t>    C. True/False		</a:t>
            </a:r>
          </a:p>
          <a:p>
            <a:pPr>
              <a:buNone/>
            </a:pPr>
            <a:r>
              <a:rPr lang="en-PH" sz="3200" b="1" dirty="0"/>
              <a:t>    D. Matching Type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9A15A-95E9-4CBB-A826-33E7169B9E92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64</a:t>
            </a:fld>
            <a:endParaRPr lang="en-PH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PRINCIPLES OF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PH" sz="6600" dirty="0"/>
              <a:t>9 </a:t>
            </a:r>
            <a:r>
              <a:rPr lang="en-PH" sz="6000" dirty="0"/>
              <a:t>PARTICIPATION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9BD5C-FB80-4166-A1D4-E4DC9610F45A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65</a:t>
            </a:fld>
            <a:endParaRPr lang="en-PH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PRINCIPLES OF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PH" sz="8000" dirty="0"/>
              <a:t>10. VARIETY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A7FB3-8ADF-482B-AE1B-2932DB03EAE0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66</a:t>
            </a:fld>
            <a:endParaRPr lang="en-PH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PURPOSES OF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624078" indent="-514350">
              <a:buAutoNum type="arabicPeriod"/>
            </a:pPr>
            <a:r>
              <a:rPr lang="en-PH" sz="3600" b="1" dirty="0"/>
              <a:t>Instructional</a:t>
            </a:r>
          </a:p>
          <a:p>
            <a:pPr marL="624078" indent="-514350">
              <a:buAutoNum type="arabicPeriod"/>
            </a:pPr>
            <a:r>
              <a:rPr lang="en-PH" sz="3600" b="1" dirty="0"/>
              <a:t>Grading</a:t>
            </a:r>
          </a:p>
          <a:p>
            <a:pPr marL="624078" indent="-514350">
              <a:buAutoNum type="arabicPeriod"/>
            </a:pPr>
            <a:r>
              <a:rPr lang="en-PH" sz="3600" b="1" dirty="0"/>
              <a:t>Selection</a:t>
            </a:r>
          </a:p>
          <a:p>
            <a:pPr marL="624078" indent="-514350">
              <a:buAutoNum type="arabicPeriod"/>
            </a:pPr>
            <a:r>
              <a:rPr lang="en-PH" sz="3600" b="1" dirty="0"/>
              <a:t>Counselling &amp; Guidance</a:t>
            </a:r>
          </a:p>
          <a:p>
            <a:pPr marL="624078" indent="-514350">
              <a:buAutoNum type="arabicPeriod"/>
            </a:pPr>
            <a:r>
              <a:rPr lang="en-PH" sz="3600" b="1" dirty="0"/>
              <a:t>Curriculum</a:t>
            </a:r>
          </a:p>
          <a:p>
            <a:pPr marL="624078" indent="-514350">
              <a:buAutoNum type="arabicPeriod"/>
            </a:pPr>
            <a:r>
              <a:rPr lang="en-PH" sz="3600" b="1" dirty="0"/>
              <a:t>Administrative Policy</a:t>
            </a:r>
          </a:p>
          <a:p>
            <a:pPr marL="624078" indent="-514350">
              <a:buAutoNum type="arabicPeriod"/>
            </a:pPr>
            <a:r>
              <a:rPr lang="en-PH" sz="3600" b="1" dirty="0"/>
              <a:t>Certification</a:t>
            </a:r>
          </a:p>
          <a:p>
            <a:pPr marL="624078" indent="-514350">
              <a:buAutoNum type="arabicPeriod"/>
            </a:pPr>
            <a:endParaRPr lang="en-PH" sz="36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C854-A928-4E2F-BCEA-2E6C553C0047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67</a:t>
            </a:fld>
            <a:endParaRPr lang="en-PH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286000"/>
            <a:ext cx="8000999" cy="3733800"/>
          </a:xfrm>
        </p:spPr>
        <p:txBody>
          <a:bodyPr>
            <a:normAutofit/>
          </a:bodyPr>
          <a:lstStyle/>
          <a:p>
            <a:r>
              <a:rPr lang="en-PH" sz="2400" b="1" dirty="0"/>
              <a:t>An assessment test is given to BSHRM students designed to measure whether or not they have the competency to do the job. What purpose is this test trying to satisfy?</a:t>
            </a:r>
          </a:p>
          <a:p>
            <a:r>
              <a:rPr lang="en-PH" sz="2400" b="1" dirty="0"/>
              <a:t>A. Instructional</a:t>
            </a:r>
          </a:p>
          <a:p>
            <a:r>
              <a:rPr lang="en-PH" sz="2400" b="1" dirty="0"/>
              <a:t>B. Curriculum</a:t>
            </a:r>
          </a:p>
          <a:p>
            <a:r>
              <a:rPr lang="en-PH" sz="2400" b="1" dirty="0"/>
              <a:t>C. Certification</a:t>
            </a:r>
          </a:p>
          <a:p>
            <a:r>
              <a:rPr lang="en-PH" sz="2400" b="1" dirty="0"/>
              <a:t>D. Selection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73840-5B7A-4B54-A83E-15494701F628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68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64596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441" y="2133600"/>
            <a:ext cx="7439359" cy="38862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PH" sz="3600" b="1" dirty="0"/>
              <a:t>2. A teacher made test items from a topic he likes teaching but excluded other topics in the test. Which principle of assessment was violated?</a:t>
            </a:r>
          </a:p>
          <a:p>
            <a:pPr>
              <a:buAutoNum type="alphaUcPeriod"/>
            </a:pPr>
            <a:r>
              <a:rPr lang="en-PH" sz="3600" b="1" dirty="0"/>
              <a:t>Compatibility     C. Scope</a:t>
            </a:r>
          </a:p>
          <a:p>
            <a:pPr>
              <a:buAutoNum type="alphaUcPeriod"/>
            </a:pPr>
            <a:r>
              <a:rPr lang="en-PH" sz="3600" b="1" dirty="0" err="1"/>
              <a:t>Realibility</a:t>
            </a:r>
            <a:r>
              <a:rPr lang="en-PH" sz="3600" b="1" dirty="0"/>
              <a:t>	     D. Objectivity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148A7-B2BF-46A6-AF33-9C56DC9CC2E9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69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40525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441" y="2209800"/>
            <a:ext cx="7698601" cy="3810000"/>
          </a:xfrm>
        </p:spPr>
        <p:txBody>
          <a:bodyPr>
            <a:normAutofit/>
          </a:bodyPr>
          <a:lstStyle/>
          <a:p>
            <a:r>
              <a:rPr lang="en-PH" sz="2800" b="1" dirty="0"/>
              <a:t>3. A test is fair when ________.</a:t>
            </a:r>
          </a:p>
          <a:p>
            <a:pPr>
              <a:buAutoNum type="alphaUcPeriod"/>
            </a:pPr>
            <a:r>
              <a:rPr lang="en-PH" sz="2800" b="1" dirty="0"/>
              <a:t>It is not essay type.</a:t>
            </a:r>
          </a:p>
          <a:p>
            <a:pPr>
              <a:buAutoNum type="alphaUcPeriod"/>
            </a:pPr>
            <a:r>
              <a:rPr lang="en-PH" sz="2800" b="1" dirty="0"/>
              <a:t>It is objective type.</a:t>
            </a:r>
          </a:p>
          <a:p>
            <a:pPr>
              <a:buAutoNum type="alphaUcPeriod"/>
            </a:pPr>
            <a:r>
              <a:rPr lang="en-PH" sz="2800" b="1" dirty="0"/>
              <a:t>The teacher is not to think when scoring.</a:t>
            </a:r>
          </a:p>
          <a:p>
            <a:pPr>
              <a:buAutoNum type="alphaUcPeriod"/>
            </a:pPr>
            <a:r>
              <a:rPr lang="en-PH" sz="2800" b="1" dirty="0"/>
              <a:t>The teacher’s opinion or idea does not affect how the paper is scored.</a:t>
            </a:r>
          </a:p>
          <a:p>
            <a:pPr>
              <a:buAutoNum type="alphaUcPeriod"/>
            </a:pPr>
            <a:endParaRPr lang="en-PH" sz="28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148A7-B2BF-46A6-AF33-9C56DC9CC2E9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70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06837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441" y="2362200"/>
            <a:ext cx="7820359" cy="3657600"/>
          </a:xfrm>
        </p:spPr>
        <p:txBody>
          <a:bodyPr>
            <a:normAutofit/>
          </a:bodyPr>
          <a:lstStyle/>
          <a:p>
            <a:r>
              <a:rPr lang="en-PH" sz="3600" b="1" dirty="0"/>
              <a:t>4. A test which produces more or less the same scores when conducted twice is said to be ________. </a:t>
            </a:r>
          </a:p>
          <a:p>
            <a:pPr>
              <a:buAutoNum type="alphaUcPeriod"/>
            </a:pPr>
            <a:r>
              <a:rPr lang="en-PH" sz="3600" b="1" dirty="0"/>
              <a:t>Valid               C. reliable</a:t>
            </a:r>
          </a:p>
          <a:p>
            <a:pPr>
              <a:buAutoNum type="alphaUcPeriod"/>
            </a:pPr>
            <a:r>
              <a:rPr lang="en-PH" sz="3600" b="1" dirty="0"/>
              <a:t>Objective	D. appropriate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148A7-B2BF-46A6-AF33-9C56DC9CC2E9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71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65201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441" y="2489200"/>
            <a:ext cx="6899987" cy="3530600"/>
          </a:xfrm>
        </p:spPr>
        <p:txBody>
          <a:bodyPr>
            <a:noAutofit/>
          </a:bodyPr>
          <a:lstStyle/>
          <a:p>
            <a:r>
              <a:rPr lang="en-PH" sz="2800" b="1" dirty="0"/>
              <a:t>5. A teacher has to make a test. What should the teacher has to do first?</a:t>
            </a:r>
          </a:p>
          <a:p>
            <a:r>
              <a:rPr lang="en-PH" sz="2800" b="1" dirty="0"/>
              <a:t>A. Determine number of items.</a:t>
            </a:r>
          </a:p>
          <a:p>
            <a:r>
              <a:rPr lang="en-PH" sz="2800" b="1" dirty="0"/>
              <a:t>B. Determine the test type.</a:t>
            </a:r>
          </a:p>
          <a:p>
            <a:r>
              <a:rPr lang="en-PH" sz="2800" b="1" dirty="0"/>
              <a:t>C. Review the objectives</a:t>
            </a:r>
          </a:p>
          <a:p>
            <a:r>
              <a:rPr lang="en-PH" sz="2800" b="1" dirty="0"/>
              <a:t>D. Make a TOS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148A7-B2BF-46A6-AF33-9C56DC9CC2E9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72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7488601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441" y="2489200"/>
            <a:ext cx="7286959" cy="3530600"/>
          </a:xfrm>
        </p:spPr>
        <p:txBody>
          <a:bodyPr>
            <a:normAutofit/>
          </a:bodyPr>
          <a:lstStyle/>
          <a:p>
            <a:r>
              <a:rPr lang="en-PH" sz="3200" b="1" dirty="0"/>
              <a:t>6. Where is the proper time to give the test?</a:t>
            </a:r>
          </a:p>
          <a:p>
            <a:pPr>
              <a:buAutoNum type="alphaUcPeriod"/>
            </a:pPr>
            <a:r>
              <a:rPr lang="en-PH" sz="3200" b="1" dirty="0"/>
              <a:t>Before the start of the class</a:t>
            </a:r>
          </a:p>
          <a:p>
            <a:pPr>
              <a:buAutoNum type="alphaUcPeriod"/>
            </a:pPr>
            <a:r>
              <a:rPr lang="en-PH" sz="3200" b="1" dirty="0"/>
              <a:t>During the class discussion</a:t>
            </a:r>
          </a:p>
          <a:p>
            <a:pPr>
              <a:buAutoNum type="alphaUcPeriod"/>
            </a:pPr>
            <a:r>
              <a:rPr lang="en-PH" sz="3200" b="1" dirty="0"/>
              <a:t>After the class discussion</a:t>
            </a:r>
          </a:p>
          <a:p>
            <a:pPr>
              <a:buAutoNum type="alphaUcPeriod"/>
            </a:pPr>
            <a:r>
              <a:rPr lang="en-PH" sz="3200" b="1" dirty="0"/>
              <a:t>Anywhere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148A7-B2BF-46A6-AF33-9C56DC9CC2E9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 dirty="0"/>
              <a:t>Sir </a:t>
            </a:r>
            <a:r>
              <a:rPr lang="en-PH" dirty="0" err="1"/>
              <a:t>Pabs</a:t>
            </a:r>
            <a:r>
              <a:rPr lang="en-PH" dirty="0"/>
              <a:t>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73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00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MEASURING INSTRUMENTS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866775" y="2489200"/>
          <a:ext cx="7515224" cy="369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7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7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PH" sz="2800" dirty="0">
                          <a:solidFill>
                            <a:schemeClr val="tx1"/>
                          </a:solidFill>
                        </a:rPr>
                        <a:t>CONVENTIONAL ASSESSMENT</a:t>
                      </a:r>
                      <a:r>
                        <a:rPr lang="en-PH" sz="2800" baseline="0" dirty="0">
                          <a:solidFill>
                            <a:schemeClr val="tx1"/>
                          </a:solidFill>
                        </a:rPr>
                        <a:t> TOOLS:</a:t>
                      </a:r>
                    </a:p>
                    <a:p>
                      <a:endParaRPr lang="en-PH" sz="2800" baseline="0" dirty="0">
                        <a:solidFill>
                          <a:schemeClr val="tx1"/>
                        </a:solidFill>
                      </a:endParaRPr>
                    </a:p>
                    <a:p>
                      <a:endParaRPr lang="en-PH" sz="2800" baseline="0" dirty="0">
                        <a:solidFill>
                          <a:schemeClr val="tx1"/>
                        </a:solidFill>
                      </a:endParaRPr>
                    </a:p>
                    <a:p>
                      <a:endParaRPr lang="en-PH" sz="2000" baseline="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PH" sz="2000" baseline="0" dirty="0">
                          <a:solidFill>
                            <a:schemeClr val="tx1"/>
                          </a:solidFill>
                        </a:rPr>
                        <a:t>REFERS TO THE PAPER &amp; PENCIL TEST AND OTHER COMMON MODE OF ASSESSMENT</a:t>
                      </a:r>
                      <a:endParaRPr lang="en-PH" sz="2000" dirty="0">
                        <a:solidFill>
                          <a:schemeClr val="tx1"/>
                        </a:solidFill>
                      </a:endParaRPr>
                    </a:p>
                  </a:txBody>
                  <a:tcPr marL="70485" marR="70485"/>
                </a:tc>
                <a:tc>
                  <a:txBody>
                    <a:bodyPr/>
                    <a:lstStyle/>
                    <a:p>
                      <a:r>
                        <a:rPr lang="en-PH" sz="3200" dirty="0">
                          <a:solidFill>
                            <a:schemeClr val="tx1"/>
                          </a:solidFill>
                        </a:rPr>
                        <a:t>AUTHENTIC</a:t>
                      </a:r>
                      <a:r>
                        <a:rPr lang="en-PH" sz="3200" baseline="0" dirty="0">
                          <a:solidFill>
                            <a:schemeClr val="tx1"/>
                          </a:solidFill>
                        </a:rPr>
                        <a:t> ASSESSMENT TOOLS</a:t>
                      </a:r>
                    </a:p>
                    <a:p>
                      <a:endParaRPr lang="en-PH" sz="3200" baseline="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PH" sz="2400" b="1" baseline="0" dirty="0">
                          <a:solidFill>
                            <a:schemeClr val="tx1"/>
                          </a:solidFill>
                        </a:rPr>
                        <a:t>THIS REQUIRE THE STUDENTS TO DO A SPECIFIC TASK</a:t>
                      </a:r>
                    </a:p>
                  </a:txBody>
                  <a:tcPr marL="70485" marR="7048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PH" dirty="0">
                        <a:solidFill>
                          <a:schemeClr val="tx1"/>
                        </a:solidFill>
                      </a:endParaRPr>
                    </a:p>
                  </a:txBody>
                  <a:tcPr marL="70485" marR="70485"/>
                </a:tc>
                <a:tc>
                  <a:txBody>
                    <a:bodyPr/>
                    <a:lstStyle/>
                    <a:p>
                      <a:endParaRPr lang="en-PH" dirty="0">
                        <a:solidFill>
                          <a:schemeClr val="tx1"/>
                        </a:solidFill>
                      </a:endParaRPr>
                    </a:p>
                  </a:txBody>
                  <a:tcPr marL="70485" marR="7048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2AA71-623A-4CC3-ABC1-E47B488237DF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74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327409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PH" dirty="0"/>
              <a:t>TYPES OF TEST: According to </a:t>
            </a:r>
            <a:r>
              <a:rPr lang="en-PH" b="1" dirty="0"/>
              <a:t>Function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8766693"/>
              </p:ext>
            </p:extLst>
          </p:nvPr>
        </p:nvGraphicFramePr>
        <p:xfrm>
          <a:off x="457200" y="2133600"/>
          <a:ext cx="8229599" cy="46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4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0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1380">
                <a:tc>
                  <a:txBody>
                    <a:bodyPr/>
                    <a:lstStyle/>
                    <a:p>
                      <a:r>
                        <a:rPr lang="en-PH" dirty="0"/>
                        <a:t>EDUCATIONAL TESTS</a:t>
                      </a:r>
                    </a:p>
                  </a:txBody>
                  <a:tcPr marL="70485" marR="70485"/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PSYCHOLOGICAL TESTS</a:t>
                      </a:r>
                    </a:p>
                  </a:txBody>
                  <a:tcPr marL="70485" marR="7048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9704">
                <a:tc>
                  <a:txBody>
                    <a:bodyPr/>
                    <a:lstStyle/>
                    <a:p>
                      <a:endParaRPr lang="en-PH" dirty="0"/>
                    </a:p>
                    <a:p>
                      <a:r>
                        <a:rPr lang="en-PH" dirty="0"/>
                        <a:t>Measures Educational Outcomes</a:t>
                      </a:r>
                    </a:p>
                  </a:txBody>
                  <a:tcPr marL="70485" marR="70485"/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Measures intangible aspects of learners’ </a:t>
                      </a:r>
                      <a:r>
                        <a:rPr lang="en-PH" dirty="0" err="1"/>
                        <a:t>behavior</a:t>
                      </a:r>
                      <a:endParaRPr lang="en-PH" dirty="0"/>
                    </a:p>
                    <a:p>
                      <a:r>
                        <a:rPr lang="en-PH" dirty="0"/>
                        <a:t>Example:</a:t>
                      </a:r>
                    </a:p>
                  </a:txBody>
                  <a:tcPr marL="70485" marR="7048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2792">
                <a:tc>
                  <a:txBody>
                    <a:bodyPr/>
                    <a:lstStyle/>
                    <a:p>
                      <a:endParaRPr lang="en-PH"/>
                    </a:p>
                  </a:txBody>
                  <a:tcPr marL="70485" marR="70485"/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1. </a:t>
                      </a:r>
                      <a:r>
                        <a:rPr lang="en-PH" b="1" dirty="0"/>
                        <a:t>Intelligence Test-</a:t>
                      </a:r>
                      <a:r>
                        <a:rPr lang="en-PH" b="1" baseline="0" dirty="0"/>
                        <a:t> </a:t>
                      </a:r>
                      <a:r>
                        <a:rPr lang="en-PH" baseline="0" dirty="0"/>
                        <a:t>Measures general mental ability</a:t>
                      </a:r>
                      <a:endParaRPr lang="en-PH" dirty="0"/>
                    </a:p>
                  </a:txBody>
                  <a:tcPr marL="70485" marR="7048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2792">
                <a:tc>
                  <a:txBody>
                    <a:bodyPr/>
                    <a:lstStyle/>
                    <a:p>
                      <a:endParaRPr lang="en-PH"/>
                    </a:p>
                  </a:txBody>
                  <a:tcPr marL="70485" marR="70485"/>
                </a:tc>
                <a:tc>
                  <a:txBody>
                    <a:bodyPr/>
                    <a:lstStyle/>
                    <a:p>
                      <a:r>
                        <a:rPr lang="en-PH" b="1" dirty="0"/>
                        <a:t>2.Aptitude Test </a:t>
                      </a:r>
                      <a:r>
                        <a:rPr lang="en-PH" dirty="0"/>
                        <a:t>– predicts future performance</a:t>
                      </a:r>
                    </a:p>
                  </a:txBody>
                  <a:tcPr marL="70485" marR="7048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2792">
                <a:tc>
                  <a:txBody>
                    <a:bodyPr/>
                    <a:lstStyle/>
                    <a:p>
                      <a:endParaRPr lang="en-PH"/>
                    </a:p>
                  </a:txBody>
                  <a:tcPr marL="70485" marR="70485"/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3. </a:t>
                      </a:r>
                      <a:r>
                        <a:rPr lang="en-PH" b="1" dirty="0"/>
                        <a:t>Personality Test  </a:t>
                      </a:r>
                      <a:r>
                        <a:rPr lang="en-PH" dirty="0"/>
                        <a:t>- measures intangible aspects of personality:</a:t>
                      </a:r>
                    </a:p>
                  </a:txBody>
                  <a:tcPr marL="70485" marR="7048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1380">
                <a:tc>
                  <a:txBody>
                    <a:bodyPr/>
                    <a:lstStyle/>
                    <a:p>
                      <a:endParaRPr lang="en-PH"/>
                    </a:p>
                  </a:txBody>
                  <a:tcPr marL="70485" marR="70485"/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        a. Rating Scale</a:t>
                      </a:r>
                    </a:p>
                  </a:txBody>
                  <a:tcPr marL="70485" marR="7048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138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 marL="70485" marR="70485"/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        b. Personality Inventory</a:t>
                      </a:r>
                    </a:p>
                  </a:txBody>
                  <a:tcPr marL="70485" marR="7048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1380">
                <a:tc>
                  <a:txBody>
                    <a:bodyPr/>
                    <a:lstStyle/>
                    <a:p>
                      <a:endParaRPr lang="en-PH"/>
                    </a:p>
                  </a:txBody>
                  <a:tcPr marL="70485" marR="70485"/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        c. Projective Techniques</a:t>
                      </a:r>
                    </a:p>
                  </a:txBody>
                  <a:tcPr marL="70485" marR="7048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8D989-3751-4AFC-863D-8462852E0DFA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75</a:t>
            </a:fld>
            <a:endParaRPr lang="en-PH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pic>
        <p:nvPicPr>
          <p:cNvPr id="4" name="Content Placeholder 3" descr="IQ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219200" y="2438400"/>
            <a:ext cx="6629400" cy="2706687"/>
          </a:xfr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3528-6768-4978-BF81-8A3212C66DE2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76</a:t>
            </a:fld>
            <a:endParaRPr lang="en-PH"/>
          </a:p>
        </p:txBody>
      </p:sp>
    </p:spTree>
  </p:cSld>
  <p:clrMapOvr>
    <a:masterClrMapping/>
  </p:clrMapOvr>
  <p:transition spd="slow">
    <p:push dir="u"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Rating Scale</a:t>
            </a:r>
          </a:p>
        </p:txBody>
      </p:sp>
      <p:pic>
        <p:nvPicPr>
          <p:cNvPr id="4" name="Content Placeholder 3" descr="rating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752601" y="2438400"/>
            <a:ext cx="4953000" cy="2478087"/>
          </a:xfr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69C34-9BB8-4768-94B5-AD5FC5CAA0D8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77</a:t>
            </a:fld>
            <a:endParaRPr lang="en-PH"/>
          </a:p>
        </p:txBody>
      </p:sp>
    </p:spTree>
  </p:cSld>
  <p:clrMapOvr>
    <a:masterClrMapping/>
  </p:clrMapOvr>
  <p:transition spd="slow">
    <p:push dir="u"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pic>
        <p:nvPicPr>
          <p:cNvPr id="4" name="Content Placeholder 3" descr="semantic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066800" y="2743200"/>
            <a:ext cx="6629400" cy="2187575"/>
          </a:xfr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55B98-F04A-42BD-B386-BECA46427AA7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78</a:t>
            </a:fld>
            <a:endParaRPr lang="en-PH"/>
          </a:p>
        </p:txBody>
      </p:sp>
    </p:spTree>
  </p:cSld>
  <p:clrMapOvr>
    <a:masterClrMapping/>
  </p:clrMapOvr>
  <p:transition spd="slow">
    <p:push dir="u"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pic>
        <p:nvPicPr>
          <p:cNvPr id="4" name="Content Placeholder 3" descr="persona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066800" y="2590800"/>
            <a:ext cx="6858000" cy="3276600"/>
          </a:xfr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2435E-1DA2-4EBF-9C00-A57BEF7DB752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79</a:t>
            </a:fld>
            <a:endParaRPr lang="en-PH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Rorschach Inkblots</a:t>
            </a:r>
          </a:p>
        </p:txBody>
      </p:sp>
      <p:pic>
        <p:nvPicPr>
          <p:cNvPr id="4" name="Content Placeholder 3" descr="rorschach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752600" y="2362200"/>
            <a:ext cx="5791200" cy="3429000"/>
          </a:xfr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954BA-B5A3-4AEE-92AF-B561BEBF4153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80</a:t>
            </a:fld>
            <a:endParaRPr lang="en-PH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pic>
        <p:nvPicPr>
          <p:cNvPr id="4" name="Content Placeholder 3" descr="ror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805112" y="3330575"/>
            <a:ext cx="2466975" cy="1847850"/>
          </a:xfr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ABD89-787A-408A-A02B-F7F294E1A291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81</a:t>
            </a:fld>
            <a:endParaRPr lang="en-PH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Thematic Apperception Test</a:t>
            </a:r>
          </a:p>
        </p:txBody>
      </p:sp>
      <p:pic>
        <p:nvPicPr>
          <p:cNvPr id="4" name="Content Placeholder 3" descr="TAT1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447800" y="2438400"/>
            <a:ext cx="6346078" cy="2782887"/>
          </a:xfr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33125-3AAD-4A40-9F01-52DA0CBE345D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82</a:t>
            </a:fld>
            <a:endParaRPr lang="en-PH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pic>
        <p:nvPicPr>
          <p:cNvPr id="4" name="Content Placeholder 3" descr="TAT2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066800" y="2362200"/>
            <a:ext cx="6934200" cy="3111500"/>
          </a:xfr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B207B-68AC-4652-BDE9-74244E39E55D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83</a:t>
            </a:fld>
            <a:endParaRPr lang="en-PH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PH" dirty="0"/>
              <a:t>TYPES OF TEST: According to </a:t>
            </a:r>
            <a:r>
              <a:rPr lang="en-PH" b="1" dirty="0"/>
              <a:t>Language Mode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3343034"/>
              </p:ext>
            </p:extLst>
          </p:nvPr>
        </p:nvGraphicFramePr>
        <p:xfrm>
          <a:off x="863563" y="1905000"/>
          <a:ext cx="77014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0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50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1679">
                <a:tc>
                  <a:txBody>
                    <a:bodyPr/>
                    <a:lstStyle/>
                    <a:p>
                      <a:endParaRPr lang="en-PH" sz="2400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PH" sz="2400" b="1" dirty="0">
                          <a:solidFill>
                            <a:schemeClr val="tx1"/>
                          </a:solidFill>
                        </a:rPr>
                        <a:t>VERBAL TESTS</a:t>
                      </a:r>
                    </a:p>
                  </a:txBody>
                  <a:tcPr marL="70485" marR="70485"/>
                </a:tc>
                <a:tc>
                  <a:txBody>
                    <a:bodyPr/>
                    <a:lstStyle/>
                    <a:p>
                      <a:endParaRPr lang="en-PH" sz="2400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PH" sz="2400" b="1" dirty="0">
                          <a:solidFill>
                            <a:schemeClr val="tx1"/>
                          </a:solidFill>
                        </a:rPr>
                        <a:t>NON-VERBAL TESTS</a:t>
                      </a:r>
                    </a:p>
                  </a:txBody>
                  <a:tcPr marL="70485" marR="7048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5793">
                <a:tc>
                  <a:txBody>
                    <a:bodyPr/>
                    <a:lstStyle/>
                    <a:p>
                      <a:endParaRPr lang="en-PH" sz="3600" b="1" dirty="0"/>
                    </a:p>
                    <a:p>
                      <a:r>
                        <a:rPr lang="en-PH" sz="3600" b="1" dirty="0"/>
                        <a:t>Consists of words and entails reading, writing or speaking</a:t>
                      </a:r>
                    </a:p>
                  </a:txBody>
                  <a:tcPr marL="70485" marR="70485"/>
                </a:tc>
                <a:tc>
                  <a:txBody>
                    <a:bodyPr/>
                    <a:lstStyle/>
                    <a:p>
                      <a:endParaRPr lang="en-PH" sz="3600" b="1" dirty="0"/>
                    </a:p>
                    <a:p>
                      <a:r>
                        <a:rPr lang="en-PH" sz="3600" b="1" dirty="0"/>
                        <a:t>Composed of numerals or drawing</a:t>
                      </a:r>
                    </a:p>
                  </a:txBody>
                  <a:tcPr marL="70485" marR="7048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93629-E8C0-4FF9-871A-2AB4BDC392BF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84</a:t>
            </a:fld>
            <a:endParaRPr lang="en-PH"/>
          </a:p>
        </p:txBody>
      </p:sp>
    </p:spTree>
  </p:cSld>
  <p:clrMapOvr>
    <a:masterClrMapping/>
  </p:clrMapOvr>
  <p:transition spd="slow">
    <p:push dir="u"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pic>
        <p:nvPicPr>
          <p:cNvPr id="4" name="Content Placeholder 3" descr="non-verbal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371600" y="2438400"/>
            <a:ext cx="6858000" cy="2892425"/>
          </a:xfr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DB20C-485E-41E6-A8FE-E94BEEA683D1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85</a:t>
            </a:fld>
            <a:endParaRPr lang="en-PH"/>
          </a:p>
        </p:txBody>
      </p:sp>
    </p:spTree>
  </p:cSld>
  <p:clrMapOvr>
    <a:masterClrMapping/>
  </p:clrMapOvr>
  <p:transition spd="slow">
    <p:push dir="u"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PH" dirty="0"/>
              <a:t>TYPES OF TEST: According to </a:t>
            </a:r>
            <a:r>
              <a:rPr lang="en-PH" b="1" dirty="0"/>
              <a:t>Nature and Manner of Administration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2248951"/>
              </p:ext>
            </p:extLst>
          </p:nvPr>
        </p:nvGraphicFramePr>
        <p:xfrm>
          <a:off x="380999" y="2057400"/>
          <a:ext cx="7848600" cy="4762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788">
                <a:tc>
                  <a:txBody>
                    <a:bodyPr/>
                    <a:lstStyle/>
                    <a:p>
                      <a:r>
                        <a:rPr lang="en-PH" sz="2400" b="1" dirty="0"/>
                        <a:t>TEACHER-MADE TESTS</a:t>
                      </a:r>
                    </a:p>
                  </a:txBody>
                  <a:tcPr marL="70485" marR="70485"/>
                </a:tc>
                <a:tc>
                  <a:txBody>
                    <a:bodyPr/>
                    <a:lstStyle/>
                    <a:p>
                      <a:r>
                        <a:rPr lang="en-PH" sz="2400" b="1" dirty="0"/>
                        <a:t>STANDARDIZED TESTS</a:t>
                      </a:r>
                    </a:p>
                  </a:txBody>
                  <a:tcPr marL="70485" marR="7048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0941">
                <a:tc>
                  <a:txBody>
                    <a:bodyPr/>
                    <a:lstStyle/>
                    <a:p>
                      <a:r>
                        <a:rPr lang="en-PH" sz="2000" b="1" dirty="0"/>
                        <a:t>1. Construct by teachers</a:t>
                      </a:r>
                    </a:p>
                  </a:txBody>
                  <a:tcPr marL="70485" marR="70485"/>
                </a:tc>
                <a:tc>
                  <a:txBody>
                    <a:bodyPr/>
                    <a:lstStyle/>
                    <a:p>
                      <a:r>
                        <a:rPr lang="en-PH" sz="2000" b="1" dirty="0"/>
                        <a:t>1. Constructed by experts</a:t>
                      </a:r>
                      <a:r>
                        <a:rPr lang="en-PH" sz="2000" b="1" baseline="0" dirty="0"/>
                        <a:t> over a period of years</a:t>
                      </a:r>
                      <a:endParaRPr lang="en-PH" sz="2000" b="1" dirty="0"/>
                    </a:p>
                  </a:txBody>
                  <a:tcPr marL="70485" marR="7048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5395">
                <a:tc>
                  <a:txBody>
                    <a:bodyPr/>
                    <a:lstStyle/>
                    <a:p>
                      <a:r>
                        <a:rPr lang="en-PH" sz="2000" b="1" dirty="0"/>
                        <a:t>2. Measure specific objectives</a:t>
                      </a:r>
                    </a:p>
                  </a:txBody>
                  <a:tcPr marL="70485" marR="70485"/>
                </a:tc>
                <a:tc>
                  <a:txBody>
                    <a:bodyPr/>
                    <a:lstStyle/>
                    <a:p>
                      <a:r>
                        <a:rPr lang="en-PH" sz="2000" b="1" dirty="0"/>
                        <a:t>2. Measure broad objectives</a:t>
                      </a:r>
                    </a:p>
                  </a:txBody>
                  <a:tcPr marL="70485" marR="7048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0941">
                <a:tc>
                  <a:txBody>
                    <a:bodyPr/>
                    <a:lstStyle/>
                    <a:p>
                      <a:r>
                        <a:rPr lang="en-PH" sz="2000" b="1" dirty="0"/>
                        <a:t>3. Measure performance</a:t>
                      </a:r>
                    </a:p>
                  </a:txBody>
                  <a:tcPr marL="70485" marR="70485"/>
                </a:tc>
                <a:tc>
                  <a:txBody>
                    <a:bodyPr/>
                    <a:lstStyle/>
                    <a:p>
                      <a:r>
                        <a:rPr lang="en-PH" sz="2000" b="1" dirty="0"/>
                        <a:t>3.Measure performance</a:t>
                      </a:r>
                      <a:r>
                        <a:rPr lang="en-PH" sz="2000" b="1" baseline="0" dirty="0"/>
                        <a:t> &amp; innate potentials</a:t>
                      </a:r>
                      <a:endParaRPr lang="en-PH" sz="2000" b="1" dirty="0"/>
                    </a:p>
                  </a:txBody>
                  <a:tcPr marL="70485" marR="7048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41325">
                <a:tc>
                  <a:txBody>
                    <a:bodyPr/>
                    <a:lstStyle/>
                    <a:p>
                      <a:r>
                        <a:rPr lang="en-PH" sz="2000" b="1" dirty="0"/>
                        <a:t>4. No normative data; not copyrighted; administered to class</a:t>
                      </a:r>
                    </a:p>
                  </a:txBody>
                  <a:tcPr marL="70485" marR="70485"/>
                </a:tc>
                <a:tc>
                  <a:txBody>
                    <a:bodyPr/>
                    <a:lstStyle/>
                    <a:p>
                      <a:r>
                        <a:rPr lang="en-PH" sz="2000" b="1" dirty="0"/>
                        <a:t>4. Often has normative data; usually copyrighted; administered to  hundreds or thousands of examinees</a:t>
                      </a:r>
                    </a:p>
                  </a:txBody>
                  <a:tcPr marL="70485" marR="7048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0941">
                <a:tc>
                  <a:txBody>
                    <a:bodyPr/>
                    <a:lstStyle/>
                    <a:p>
                      <a:r>
                        <a:rPr lang="en-PH" sz="2000" b="1" dirty="0"/>
                        <a:t>5. Procedure in</a:t>
                      </a:r>
                      <a:r>
                        <a:rPr lang="en-PH" sz="2000" b="1" baseline="0" dirty="0"/>
                        <a:t> test-taking is often dictated by teachers</a:t>
                      </a:r>
                      <a:endParaRPr lang="en-PH" sz="2000" b="1" dirty="0"/>
                    </a:p>
                  </a:txBody>
                  <a:tcPr marL="70485" marR="70485"/>
                </a:tc>
                <a:tc>
                  <a:txBody>
                    <a:bodyPr/>
                    <a:lstStyle/>
                    <a:p>
                      <a:r>
                        <a:rPr lang="en-PH" sz="2000" b="1" dirty="0"/>
                        <a:t>5. Administered  using</a:t>
                      </a:r>
                      <a:r>
                        <a:rPr lang="en-PH" sz="2000" b="1" baseline="0" dirty="0"/>
                        <a:t> uniform procedure</a:t>
                      </a:r>
                      <a:endParaRPr lang="en-PH" sz="2000" b="1" dirty="0"/>
                    </a:p>
                  </a:txBody>
                  <a:tcPr marL="70485" marR="7048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CDE1D-6B8D-4EFD-97FA-32FDAF141513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86</a:t>
            </a:fld>
            <a:endParaRPr lang="en-PH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pic>
        <p:nvPicPr>
          <p:cNvPr id="4" name="Content Placeholder 3" descr="standardized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524000" y="2362200"/>
            <a:ext cx="6400800" cy="3733799"/>
          </a:xfr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A9123-889F-46BF-B856-53200FE163D0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87</a:t>
            </a:fld>
            <a:endParaRPr lang="en-PH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PH" dirty="0"/>
              <a:t>TYPES OF TEST: According to Interpretation of Scores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6192317"/>
              </p:ext>
            </p:extLst>
          </p:nvPr>
        </p:nvGraphicFramePr>
        <p:xfrm>
          <a:off x="457197" y="1828799"/>
          <a:ext cx="8305802" cy="48069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529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29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1330">
                <a:tc>
                  <a:txBody>
                    <a:bodyPr/>
                    <a:lstStyle/>
                    <a:p>
                      <a:r>
                        <a:rPr lang="en-PH" sz="2400" dirty="0"/>
                        <a:t>CRITERION-REFERENCED TEST</a:t>
                      </a:r>
                    </a:p>
                  </a:txBody>
                  <a:tcPr marL="70485" marR="70485"/>
                </a:tc>
                <a:tc>
                  <a:txBody>
                    <a:bodyPr/>
                    <a:lstStyle/>
                    <a:p>
                      <a:r>
                        <a:rPr lang="en-PH" sz="2400" dirty="0"/>
                        <a:t>NORM-REFERENCED TEST</a:t>
                      </a:r>
                    </a:p>
                  </a:txBody>
                  <a:tcPr marL="70485" marR="7048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6537">
                <a:tc>
                  <a:txBody>
                    <a:bodyPr/>
                    <a:lstStyle/>
                    <a:p>
                      <a:r>
                        <a:rPr lang="en-PH" sz="2400" dirty="0"/>
                        <a:t>Scores are interpreted in regard to a certain </a:t>
                      </a:r>
                      <a:r>
                        <a:rPr lang="en-PH" sz="2400" b="1" dirty="0"/>
                        <a:t>criterion,</a:t>
                      </a:r>
                      <a:r>
                        <a:rPr lang="en-PH" sz="2400" dirty="0"/>
                        <a:t> often stated in the objective</a:t>
                      </a:r>
                    </a:p>
                  </a:txBody>
                  <a:tcPr marL="70485" marR="70485"/>
                </a:tc>
                <a:tc>
                  <a:txBody>
                    <a:bodyPr/>
                    <a:lstStyle/>
                    <a:p>
                      <a:r>
                        <a:rPr lang="en-PH" sz="2400" dirty="0"/>
                        <a:t>Describe</a:t>
                      </a:r>
                      <a:r>
                        <a:rPr lang="en-PH" sz="2400" baseline="0" dirty="0"/>
                        <a:t> the performance of the  examinees in terms of  the relative position in the </a:t>
                      </a:r>
                      <a:r>
                        <a:rPr lang="en-PH" sz="2400" b="1" baseline="0" dirty="0"/>
                        <a:t>group</a:t>
                      </a:r>
                      <a:endParaRPr lang="en-PH" sz="2400" b="1" dirty="0"/>
                    </a:p>
                  </a:txBody>
                  <a:tcPr marL="70485" marR="7048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8813">
                <a:tc>
                  <a:txBody>
                    <a:bodyPr/>
                    <a:lstStyle/>
                    <a:p>
                      <a:r>
                        <a:rPr lang="en-PH" sz="1800" dirty="0"/>
                        <a:t>1. You can make 6 knots in 2 minutes</a:t>
                      </a:r>
                    </a:p>
                  </a:txBody>
                  <a:tcPr marL="70485" marR="70485"/>
                </a:tc>
                <a:tc>
                  <a:txBody>
                    <a:bodyPr/>
                    <a:lstStyle/>
                    <a:p>
                      <a:r>
                        <a:rPr lang="en-PH" sz="1800" dirty="0"/>
                        <a:t>  1. You</a:t>
                      </a:r>
                      <a:r>
                        <a:rPr lang="en-PH" sz="1800" baseline="0" dirty="0"/>
                        <a:t> topped the test</a:t>
                      </a:r>
                      <a:endParaRPr lang="en-PH" sz="1800" dirty="0"/>
                    </a:p>
                  </a:txBody>
                  <a:tcPr marL="70485" marR="7048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8813">
                <a:tc>
                  <a:txBody>
                    <a:bodyPr/>
                    <a:lstStyle/>
                    <a:p>
                      <a:r>
                        <a:rPr lang="en-PH" sz="1800" dirty="0"/>
                        <a:t>2. You have named 11 of 15 parts of a microscope</a:t>
                      </a:r>
                    </a:p>
                  </a:txBody>
                  <a:tcPr marL="70485" marR="70485"/>
                </a:tc>
                <a:tc>
                  <a:txBody>
                    <a:bodyPr/>
                    <a:lstStyle/>
                    <a:p>
                      <a:r>
                        <a:rPr lang="en-PH" sz="1800" dirty="0"/>
                        <a:t>  2. You are the lowest</a:t>
                      </a:r>
                    </a:p>
                  </a:txBody>
                  <a:tcPr marL="70485" marR="7048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036">
                <a:tc>
                  <a:txBody>
                    <a:bodyPr/>
                    <a:lstStyle/>
                    <a:p>
                      <a:r>
                        <a:rPr lang="en-PH" sz="1800" dirty="0"/>
                        <a:t>3. Your</a:t>
                      </a:r>
                      <a:r>
                        <a:rPr lang="en-PH" sz="1800" baseline="0" dirty="0"/>
                        <a:t> score is 15</a:t>
                      </a:r>
                      <a:endParaRPr lang="en-PH" sz="1800" dirty="0"/>
                    </a:p>
                  </a:txBody>
                  <a:tcPr marL="70485" marR="70485"/>
                </a:tc>
                <a:tc>
                  <a:txBody>
                    <a:bodyPr/>
                    <a:lstStyle/>
                    <a:p>
                      <a:r>
                        <a:rPr lang="en-PH" sz="1800" dirty="0"/>
                        <a:t>   3. Your z-score is +2.</a:t>
                      </a:r>
                    </a:p>
                  </a:txBody>
                  <a:tcPr marL="70485" marR="7048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036">
                <a:tc>
                  <a:txBody>
                    <a:bodyPr/>
                    <a:lstStyle/>
                    <a:p>
                      <a:endParaRPr lang="en-PH" sz="1800" dirty="0"/>
                    </a:p>
                  </a:txBody>
                  <a:tcPr marL="70485" marR="70485"/>
                </a:tc>
                <a:tc>
                  <a:txBody>
                    <a:bodyPr/>
                    <a:lstStyle/>
                    <a:p>
                      <a:r>
                        <a:rPr lang="en-PH" sz="1800" dirty="0"/>
                        <a:t>   4. Your</a:t>
                      </a:r>
                      <a:r>
                        <a:rPr lang="en-PH" sz="1800" baseline="0" dirty="0"/>
                        <a:t> score is equal to 80%ile</a:t>
                      </a:r>
                      <a:endParaRPr lang="en-PH" sz="1800" dirty="0"/>
                    </a:p>
                  </a:txBody>
                  <a:tcPr marL="70485" marR="7048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036">
                <a:tc>
                  <a:txBody>
                    <a:bodyPr/>
                    <a:lstStyle/>
                    <a:p>
                      <a:endParaRPr lang="en-PH" sz="1800" dirty="0"/>
                    </a:p>
                  </a:txBody>
                  <a:tcPr marL="70485" marR="70485"/>
                </a:tc>
                <a:tc>
                  <a:txBody>
                    <a:bodyPr/>
                    <a:lstStyle/>
                    <a:p>
                      <a:endParaRPr lang="en-PH" sz="1800" dirty="0"/>
                    </a:p>
                  </a:txBody>
                  <a:tcPr marL="70485" marR="7048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B072E-5FE5-41D3-A1BE-17368208CDB8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88</a:t>
            </a:fld>
            <a:endParaRPr lang="en-PH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Consider this objective: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441" y="2489200"/>
            <a:ext cx="7515559" cy="3530600"/>
          </a:xfrm>
        </p:spPr>
        <p:txBody>
          <a:bodyPr>
            <a:normAutofit fontScale="92500"/>
          </a:bodyPr>
          <a:lstStyle/>
          <a:p>
            <a:r>
              <a:rPr lang="en-PH" sz="4400" i="1" dirty="0">
                <a:latin typeface="Algerian" pitchFamily="82" charset="0"/>
              </a:rPr>
              <a:t>After a demonstration using the microscope</a:t>
            </a:r>
            <a:r>
              <a:rPr lang="en-PH" sz="4400" dirty="0"/>
              <a:t>, the students must be able </a:t>
            </a:r>
            <a:r>
              <a:rPr lang="en-PH" sz="4400" dirty="0">
                <a:latin typeface="Aharoni" pitchFamily="2" charset="-79"/>
                <a:cs typeface="Aharoni" pitchFamily="2" charset="-79"/>
              </a:rPr>
              <a:t>to name </a:t>
            </a:r>
            <a:r>
              <a:rPr lang="en-PH" sz="4400" i="1" dirty="0">
                <a:latin typeface="Arial Black" pitchFamily="34" charset="0"/>
              </a:rPr>
              <a:t>at least 12 of 16</a:t>
            </a:r>
            <a:r>
              <a:rPr lang="en-PH" sz="4400" dirty="0"/>
              <a:t> parts of the microscope</a:t>
            </a:r>
            <a:r>
              <a:rPr lang="en-PH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01199-AAB2-4AFE-9CA7-A8D0578838CF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89</a:t>
            </a:fld>
            <a:endParaRPr lang="en-PH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441" y="2489200"/>
            <a:ext cx="7896559" cy="3530600"/>
          </a:xfrm>
        </p:spPr>
        <p:txBody>
          <a:bodyPr>
            <a:normAutofit/>
          </a:bodyPr>
          <a:lstStyle/>
          <a:p>
            <a:r>
              <a:rPr lang="en-PH" sz="3600" b="1" dirty="0"/>
              <a:t>WITH THE USE OF PERIODIC TABLE</a:t>
            </a:r>
            <a:r>
              <a:rPr lang="en-PH" sz="3600" dirty="0"/>
              <a:t>, THE STUDENTS MUST BE ABLE </a:t>
            </a:r>
            <a:r>
              <a:rPr lang="en-PH" sz="3600" b="1" i="1" dirty="0"/>
              <a:t>TO IDENTIFY WHETHER THE ELEMENTS ARE METALS, NON-METALS OR METALLOIDS </a:t>
            </a:r>
            <a:r>
              <a:rPr lang="en-PH" sz="3600" dirty="0"/>
              <a:t>WITH </a:t>
            </a:r>
            <a:r>
              <a:rPr lang="en-PH" sz="3600" b="1" u="sng" dirty="0">
                <a:latin typeface="Algerian" pitchFamily="82" charset="0"/>
              </a:rPr>
              <a:t>COMPLETE ACCURACY.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F3A9B-40A8-49D5-B105-A5D3A4AAE9CD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90</a:t>
            </a:fld>
            <a:endParaRPr lang="en-PH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441" y="2489200"/>
            <a:ext cx="7515559" cy="3530600"/>
          </a:xfrm>
        </p:spPr>
        <p:txBody>
          <a:bodyPr>
            <a:normAutofit/>
          </a:bodyPr>
          <a:lstStyle/>
          <a:p>
            <a:r>
              <a:rPr lang="en-PH" sz="4000" b="1" dirty="0"/>
              <a:t>AFTER THE DISCUSSION ON THE CHARACTERISTICS OF A RUBRIC, THE STUDENTS MUST BE ABLE TO RATE A RUBRIC THAT THEY HAVE MADE.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0A5C0-C8BD-4DB1-A31F-BD79614FA374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91</a:t>
            </a:fld>
            <a:endParaRPr lang="en-PH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PERCENTILE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PH" sz="4000" b="1" dirty="0"/>
              <a:t>Is a score below which a number of cases lie.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5F48D-3A45-4A69-A64D-E753D98F6474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92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2102975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PH" sz="5400" b="1" dirty="0"/>
              <a:t>RUBY’S PERCENTILE RANK IN A TEST IS 80. What does it mean</a:t>
            </a:r>
            <a:r>
              <a:rPr lang="en-PH" sz="5400" dirty="0"/>
              <a:t>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5B1A1-30CB-4731-B488-F9BBEE404313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93</a:t>
            </a:fld>
            <a:endParaRPr lang="en-PH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Question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441" y="2489200"/>
            <a:ext cx="7439359" cy="3530600"/>
          </a:xfrm>
        </p:spPr>
        <p:txBody>
          <a:bodyPr>
            <a:normAutofit/>
          </a:bodyPr>
          <a:lstStyle/>
          <a:p>
            <a:r>
              <a:rPr lang="en-PH" sz="3200" b="1" dirty="0"/>
              <a:t>In a test, the score of  Peter is 72 which is equivalent to 85percentile. What percent of the class  have scores lower than 72? </a:t>
            </a:r>
          </a:p>
          <a:p>
            <a:r>
              <a:rPr lang="en-PH" sz="3200" b="1" dirty="0"/>
              <a:t>A. 72							B. 85</a:t>
            </a:r>
          </a:p>
          <a:p>
            <a:r>
              <a:rPr lang="en-PH" sz="3200" b="1" dirty="0"/>
              <a:t>B. 27							D. 86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5B9C8-D7D3-4436-A7C7-B4DD089467D5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94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8835176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PH" dirty="0"/>
              <a:t>TYPES OF TEST: According to Time Requirement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0122985"/>
              </p:ext>
            </p:extLst>
          </p:nvPr>
        </p:nvGraphicFramePr>
        <p:xfrm>
          <a:off x="866775" y="2489200"/>
          <a:ext cx="7528466" cy="3870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42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42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PH" sz="3600" dirty="0"/>
                        <a:t>Power test</a:t>
                      </a:r>
                    </a:p>
                  </a:txBody>
                  <a:tcPr marL="70485" marR="70485"/>
                </a:tc>
                <a:tc>
                  <a:txBody>
                    <a:bodyPr/>
                    <a:lstStyle/>
                    <a:p>
                      <a:r>
                        <a:rPr lang="en-PH" sz="3600" dirty="0"/>
                        <a:t>Speed test</a:t>
                      </a:r>
                    </a:p>
                  </a:txBody>
                  <a:tcPr marL="70485" marR="7048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PH" sz="4000" dirty="0"/>
                        <a:t>Time is often</a:t>
                      </a:r>
                      <a:r>
                        <a:rPr lang="en-PH" sz="4000" baseline="0" dirty="0"/>
                        <a:t> not really followed</a:t>
                      </a:r>
                      <a:endParaRPr lang="en-PH" sz="4000" dirty="0"/>
                    </a:p>
                  </a:txBody>
                  <a:tcPr marL="70485" marR="70485"/>
                </a:tc>
                <a:tc>
                  <a:txBody>
                    <a:bodyPr/>
                    <a:lstStyle/>
                    <a:p>
                      <a:r>
                        <a:rPr lang="en-PH" sz="4000" dirty="0"/>
                        <a:t>Have strict time limit </a:t>
                      </a:r>
                    </a:p>
                  </a:txBody>
                  <a:tcPr marL="70485" marR="7048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PH" sz="4000" dirty="0"/>
                        <a:t>Measures accuracy</a:t>
                      </a:r>
                    </a:p>
                  </a:txBody>
                  <a:tcPr marL="70485" marR="70485"/>
                </a:tc>
                <a:tc>
                  <a:txBody>
                    <a:bodyPr/>
                    <a:lstStyle/>
                    <a:p>
                      <a:r>
                        <a:rPr lang="en-PH" sz="4000" dirty="0"/>
                        <a:t>Measures speed</a:t>
                      </a:r>
                    </a:p>
                  </a:txBody>
                  <a:tcPr marL="70485" marR="7048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2B501-046F-4AFD-BCFD-F95121C6E3A5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95</a:t>
            </a:fld>
            <a:endParaRPr lang="en-PH"/>
          </a:p>
        </p:txBody>
      </p:sp>
    </p:spTree>
  </p:cSld>
  <p:clrMapOvr>
    <a:masterClrMapping/>
  </p:clrMapOvr>
  <p:transition spd="slow">
    <p:push dir="u"/>
  </p:transition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7609109"/>
              </p:ext>
            </p:extLst>
          </p:nvPr>
        </p:nvGraphicFramePr>
        <p:xfrm>
          <a:off x="866771" y="1828800"/>
          <a:ext cx="7591428" cy="45843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5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5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55958">
                <a:tc>
                  <a:txBody>
                    <a:bodyPr/>
                    <a:lstStyle/>
                    <a:p>
                      <a:endParaRPr lang="en-PH" sz="2000" b="1" dirty="0"/>
                    </a:p>
                    <a:p>
                      <a:r>
                        <a:rPr lang="en-PH" sz="2000" b="1" dirty="0"/>
                        <a:t>SPEED</a:t>
                      </a:r>
                      <a:r>
                        <a:rPr lang="en-PH" sz="2000" b="1" baseline="0" dirty="0"/>
                        <a:t> TEST</a:t>
                      </a:r>
                      <a:endParaRPr lang="en-PH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 sz="2000" b="1" dirty="0"/>
                    </a:p>
                    <a:p>
                      <a:r>
                        <a:rPr lang="en-PH" sz="2000" b="1" dirty="0"/>
                        <a:t>POWER</a:t>
                      </a:r>
                      <a:r>
                        <a:rPr lang="en-PH" sz="2000" b="1" baseline="0" dirty="0"/>
                        <a:t> TEST</a:t>
                      </a:r>
                      <a:endParaRPr lang="en-PH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5146">
                <a:tc>
                  <a:txBody>
                    <a:bodyPr/>
                    <a:lstStyle/>
                    <a:p>
                      <a:endParaRPr lang="en-PH" sz="2000" b="1" dirty="0"/>
                    </a:p>
                    <a:p>
                      <a:r>
                        <a:rPr lang="en-PH" sz="2000" b="1" dirty="0"/>
                        <a:t>Set</a:t>
                      </a:r>
                      <a:r>
                        <a:rPr lang="en-PH" sz="2000" b="1" baseline="0" dirty="0"/>
                        <a:t> A (20 items) = 10 minutes</a:t>
                      </a:r>
                      <a:endParaRPr lang="en-PH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sz="2000" b="1" dirty="0"/>
                        <a:t>The test is 100 items</a:t>
                      </a:r>
                      <a:r>
                        <a:rPr lang="en-PH" sz="2000" b="1" baseline="0" dirty="0"/>
                        <a:t> and good for 60- minutes or 1 hour.</a:t>
                      </a:r>
                      <a:endParaRPr lang="en-PH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83676">
                <a:tc>
                  <a:txBody>
                    <a:bodyPr/>
                    <a:lstStyle/>
                    <a:p>
                      <a:endParaRPr lang="en-PH" sz="2000" b="1" dirty="0"/>
                    </a:p>
                    <a:p>
                      <a:r>
                        <a:rPr lang="en-PH" sz="2000" b="1" dirty="0"/>
                        <a:t>Set B (50 items)=  30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sz="2000" b="1" dirty="0"/>
                        <a:t>You are free to adjust your time</a:t>
                      </a:r>
                      <a:r>
                        <a:rPr lang="en-PH" sz="2000" b="1" baseline="0" dirty="0"/>
                        <a:t> such that you could answer the test in the prescribed time.</a:t>
                      </a:r>
                      <a:endParaRPr lang="en-PH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5958">
                <a:tc>
                  <a:txBody>
                    <a:bodyPr/>
                    <a:lstStyle/>
                    <a:p>
                      <a:r>
                        <a:rPr lang="en-PH" sz="2000" b="1" dirty="0"/>
                        <a:t>Set C (10 items) = 5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5958">
                <a:tc>
                  <a:txBody>
                    <a:bodyPr/>
                    <a:lstStyle/>
                    <a:p>
                      <a:r>
                        <a:rPr lang="en-PH" sz="2000" b="1" dirty="0"/>
                        <a:t>Set D</a:t>
                      </a:r>
                      <a:r>
                        <a:rPr lang="en-PH" sz="2000" b="1" baseline="0" dirty="0"/>
                        <a:t> (20 items)= 15 minutes</a:t>
                      </a:r>
                      <a:endParaRPr lang="en-PH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148A7-B2BF-46A6-AF33-9C56DC9CC2E9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96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5659743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PH" dirty="0"/>
              <a:t>TYPES OF TEST: According to Item Format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1830864"/>
              </p:ext>
            </p:extLst>
          </p:nvPr>
        </p:nvGraphicFramePr>
        <p:xfrm>
          <a:off x="866773" y="2133601"/>
          <a:ext cx="7286626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3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33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9373">
                <a:tc>
                  <a:txBody>
                    <a:bodyPr/>
                    <a:lstStyle/>
                    <a:p>
                      <a:r>
                        <a:rPr lang="en-PH" sz="2800" dirty="0"/>
                        <a:t>SUPPLY TYPE</a:t>
                      </a:r>
                    </a:p>
                  </a:txBody>
                  <a:tcPr marL="70485" marR="70485"/>
                </a:tc>
                <a:tc>
                  <a:txBody>
                    <a:bodyPr/>
                    <a:lstStyle/>
                    <a:p>
                      <a:r>
                        <a:rPr lang="en-PH" sz="2800" dirty="0"/>
                        <a:t>SELECTIVE</a:t>
                      </a:r>
                      <a:r>
                        <a:rPr lang="en-PH" sz="2800" baseline="0" dirty="0"/>
                        <a:t> TYPE</a:t>
                      </a:r>
                      <a:endParaRPr lang="en-PH" sz="2800" dirty="0"/>
                    </a:p>
                  </a:txBody>
                  <a:tcPr marL="70485" marR="7048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1426">
                <a:tc>
                  <a:txBody>
                    <a:bodyPr/>
                    <a:lstStyle/>
                    <a:p>
                      <a:r>
                        <a:rPr lang="en-PH" sz="2800" b="1" dirty="0"/>
                        <a:t>Require the examinees to provide answer from the given</a:t>
                      </a:r>
                      <a:r>
                        <a:rPr lang="en-PH" sz="2800" b="1" baseline="0" dirty="0"/>
                        <a:t> options</a:t>
                      </a:r>
                      <a:endParaRPr lang="en-PH" sz="2800" b="1" dirty="0"/>
                    </a:p>
                  </a:txBody>
                  <a:tcPr marL="70485" marR="70485"/>
                </a:tc>
                <a:tc>
                  <a:txBody>
                    <a:bodyPr/>
                    <a:lstStyle/>
                    <a:p>
                      <a:r>
                        <a:rPr lang="en-PH" sz="2800" b="1" dirty="0"/>
                        <a:t>Ask the examinees</a:t>
                      </a:r>
                      <a:r>
                        <a:rPr lang="en-PH" sz="2800" b="1" baseline="0" dirty="0"/>
                        <a:t> to provide answer from the given options</a:t>
                      </a:r>
                      <a:endParaRPr lang="en-PH" sz="2800" b="1" dirty="0"/>
                    </a:p>
                  </a:txBody>
                  <a:tcPr marL="70485" marR="7048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r>
                        <a:rPr lang="en-PH" b="1" dirty="0"/>
                        <a:t>Ex</a:t>
                      </a:r>
                      <a:r>
                        <a:rPr lang="en-PH" sz="2800" b="1" dirty="0"/>
                        <a:t>: Simple Recall, Labelling, Completion test</a:t>
                      </a:r>
                    </a:p>
                  </a:txBody>
                  <a:tcPr marL="70485" marR="70485"/>
                </a:tc>
                <a:tc>
                  <a:txBody>
                    <a:bodyPr/>
                    <a:lstStyle/>
                    <a:p>
                      <a:r>
                        <a:rPr lang="en-PH" b="1" dirty="0"/>
                        <a:t>EX; </a:t>
                      </a:r>
                      <a:r>
                        <a:rPr lang="en-PH" sz="2400" b="1" dirty="0"/>
                        <a:t>MCQ, MATCHING TEST, TRUE/FALSE</a:t>
                      </a:r>
                    </a:p>
                  </a:txBody>
                  <a:tcPr marL="70485" marR="7048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9A349-B045-4C7D-AE09-B47E67462A5C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97</a:t>
            </a:fld>
            <a:endParaRPr lang="en-PH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PH" dirty="0"/>
              <a:t>TYPES OF TEST: According to </a:t>
            </a:r>
            <a:r>
              <a:rPr lang="en-PH" b="1" dirty="0"/>
              <a:t>DOMAIN OR TARGET MEASURED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6321620"/>
              </p:ext>
            </p:extLst>
          </p:nvPr>
        </p:nvGraphicFramePr>
        <p:xfrm>
          <a:off x="866774" y="2489200"/>
          <a:ext cx="7362825" cy="2322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4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4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4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67904">
                <a:tc>
                  <a:txBody>
                    <a:bodyPr/>
                    <a:lstStyle/>
                    <a:p>
                      <a:r>
                        <a:rPr lang="en-PH" sz="2800" dirty="0"/>
                        <a:t>COGNITIVE TEST</a:t>
                      </a:r>
                    </a:p>
                  </a:txBody>
                  <a:tcPr marL="70485" marR="70485"/>
                </a:tc>
                <a:tc>
                  <a:txBody>
                    <a:bodyPr/>
                    <a:lstStyle/>
                    <a:p>
                      <a:r>
                        <a:rPr lang="en-PH" sz="2800" dirty="0"/>
                        <a:t>AFFECTIVE TEST</a:t>
                      </a:r>
                    </a:p>
                  </a:txBody>
                  <a:tcPr marL="70485" marR="70485"/>
                </a:tc>
                <a:tc>
                  <a:txBody>
                    <a:bodyPr/>
                    <a:lstStyle/>
                    <a:p>
                      <a:r>
                        <a:rPr lang="en-PH" sz="2800" dirty="0"/>
                        <a:t>PSYCHOMO- TOR TEST</a:t>
                      </a:r>
                    </a:p>
                  </a:txBody>
                  <a:tcPr marL="70485" marR="7048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4608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 marL="70485" marR="70485"/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 marL="70485" marR="70485"/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 marL="70485" marR="7048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9AC2F-0222-474F-AF1C-02FF8B9A001F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98</a:t>
            </a:fld>
            <a:endParaRPr lang="en-PH"/>
          </a:p>
        </p:txBody>
      </p:sp>
    </p:spTree>
  </p:cSld>
  <p:clrMapOvr>
    <a:masterClrMapping/>
  </p:clrMapOvr>
  <p:transition spd="slow">
    <p:push dir="u"/>
  </p:transition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441" y="2489200"/>
            <a:ext cx="7698601" cy="3530600"/>
          </a:xfrm>
        </p:spPr>
        <p:txBody>
          <a:bodyPr>
            <a:normAutofit/>
          </a:bodyPr>
          <a:lstStyle/>
          <a:p>
            <a:r>
              <a:rPr lang="en-PH" sz="4000" b="1" dirty="0"/>
              <a:t>1. What is presented in the thematic apperception test?</a:t>
            </a:r>
          </a:p>
          <a:p>
            <a:pPr marL="0" indent="0">
              <a:buNone/>
            </a:pPr>
            <a:r>
              <a:rPr lang="en-PH" sz="4000" b="1" dirty="0"/>
              <a:t>A. inkblots	C. abstract image</a:t>
            </a:r>
          </a:p>
          <a:p>
            <a:pPr marL="0" indent="0">
              <a:buNone/>
            </a:pPr>
            <a:r>
              <a:rPr lang="en-PH" sz="4000" b="1" dirty="0"/>
              <a:t>B. pictures	D. objects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148A7-B2BF-46A6-AF33-9C56DC9CC2E9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99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47394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441" y="2489200"/>
            <a:ext cx="7698601" cy="3530600"/>
          </a:xfrm>
        </p:spPr>
        <p:txBody>
          <a:bodyPr>
            <a:noAutofit/>
          </a:bodyPr>
          <a:lstStyle/>
          <a:p>
            <a:r>
              <a:rPr lang="en-PH" sz="2800" b="1" dirty="0"/>
              <a:t>2. When the test goes to completion without any student asking how to answer it, then the test _____.</a:t>
            </a:r>
          </a:p>
          <a:p>
            <a:pPr>
              <a:buAutoNum type="alphaUcPeriod"/>
            </a:pPr>
            <a:r>
              <a:rPr lang="en-PH" sz="2800" b="1" dirty="0"/>
              <a:t>Is valid</a:t>
            </a:r>
          </a:p>
          <a:p>
            <a:pPr>
              <a:buAutoNum type="alphaUcPeriod"/>
            </a:pPr>
            <a:r>
              <a:rPr lang="en-PH" sz="2800" b="1" dirty="0"/>
              <a:t>Is </a:t>
            </a:r>
            <a:r>
              <a:rPr lang="en-PH" sz="2800" b="1" dirty="0" err="1"/>
              <a:t>realiable</a:t>
            </a:r>
            <a:endParaRPr lang="en-PH" sz="2800" b="1" dirty="0"/>
          </a:p>
          <a:p>
            <a:pPr>
              <a:buAutoNum type="alphaUcPeriod"/>
            </a:pPr>
            <a:r>
              <a:rPr lang="en-PH" sz="2800" b="1" dirty="0"/>
              <a:t>Is objective</a:t>
            </a:r>
          </a:p>
          <a:p>
            <a:pPr>
              <a:buAutoNum type="alphaUcPeriod"/>
            </a:pPr>
            <a:r>
              <a:rPr lang="en-PH" sz="2800" b="1" dirty="0"/>
              <a:t>Is good in </a:t>
            </a:r>
            <a:r>
              <a:rPr lang="en-PH" sz="2800" b="1" dirty="0" err="1"/>
              <a:t>administrability</a:t>
            </a:r>
            <a:endParaRPr lang="en-PH" sz="28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148A7-B2BF-46A6-AF33-9C56DC9CC2E9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100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49102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441" y="2489200"/>
            <a:ext cx="7528800" cy="3530600"/>
          </a:xfrm>
        </p:spPr>
        <p:txBody>
          <a:bodyPr>
            <a:normAutofit/>
          </a:bodyPr>
          <a:lstStyle/>
          <a:p>
            <a:r>
              <a:rPr lang="en-PH" sz="2400" b="1" dirty="0"/>
              <a:t>3. A test is designed in such a way that passing or failing depends on the relative performance of the students compared to the group. This test is _________.</a:t>
            </a:r>
          </a:p>
          <a:p>
            <a:r>
              <a:rPr lang="en-PH" sz="2400" b="1" dirty="0"/>
              <a:t>A. norm-referenced</a:t>
            </a:r>
          </a:p>
          <a:p>
            <a:r>
              <a:rPr lang="en-PH" sz="2400" b="1" dirty="0"/>
              <a:t>B. criterion-referenced</a:t>
            </a:r>
          </a:p>
          <a:p>
            <a:r>
              <a:rPr lang="en-PH" sz="2400" b="1" dirty="0"/>
              <a:t>C. standardized</a:t>
            </a:r>
          </a:p>
          <a:p>
            <a:r>
              <a:rPr lang="en-PH" sz="2400" b="1" dirty="0"/>
              <a:t>D. teacher-made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42A5E-ACB5-47EF-A288-93824B7AF87A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101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76674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441" y="2489200"/>
            <a:ext cx="7528800" cy="3530600"/>
          </a:xfrm>
        </p:spPr>
        <p:txBody>
          <a:bodyPr>
            <a:noAutofit/>
          </a:bodyPr>
          <a:lstStyle/>
          <a:p>
            <a:r>
              <a:rPr lang="en-PH" sz="2800" b="1" dirty="0"/>
              <a:t>4. Which of the following information is necessary when reporting to parents the result of a norm-reference test?</a:t>
            </a:r>
          </a:p>
          <a:p>
            <a:pPr>
              <a:buAutoNum type="alphaUcPeriod"/>
            </a:pPr>
            <a:r>
              <a:rPr lang="en-PH" sz="2800" b="1" dirty="0"/>
              <a:t>The passing score.</a:t>
            </a:r>
          </a:p>
          <a:p>
            <a:pPr>
              <a:buAutoNum type="alphaUcPeriod"/>
            </a:pPr>
            <a:r>
              <a:rPr lang="en-PH" sz="2800" b="1" dirty="0"/>
              <a:t>The score that signifies mastery.</a:t>
            </a:r>
          </a:p>
          <a:p>
            <a:pPr>
              <a:buAutoNum type="alphaUcPeriod"/>
            </a:pPr>
            <a:r>
              <a:rPr lang="en-PH" sz="2800" b="1" dirty="0"/>
              <a:t>The group who took the test.</a:t>
            </a:r>
          </a:p>
          <a:p>
            <a:pPr>
              <a:buAutoNum type="alphaUcPeriod"/>
            </a:pPr>
            <a:r>
              <a:rPr lang="en-PH" sz="2800" b="1" dirty="0"/>
              <a:t>The value that indicates adequate performance</a:t>
            </a:r>
          </a:p>
          <a:p>
            <a:pPr>
              <a:buAutoNum type="alphaUcPeriod"/>
            </a:pPr>
            <a:endParaRPr lang="en-PH" sz="28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148A7-B2BF-46A6-AF33-9C56DC9CC2E9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102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78188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441" y="2489200"/>
            <a:ext cx="7528800" cy="3530600"/>
          </a:xfrm>
        </p:spPr>
        <p:txBody>
          <a:bodyPr>
            <a:noAutofit/>
          </a:bodyPr>
          <a:lstStyle/>
          <a:p>
            <a:r>
              <a:rPr lang="en-PH" sz="2800" b="1" dirty="0"/>
              <a:t>5. What is in the teacher-test which a standardized test cannot replace?</a:t>
            </a:r>
          </a:p>
          <a:p>
            <a:r>
              <a:rPr lang="en-PH" sz="2800" b="1" dirty="0"/>
              <a:t>A. Its being valid and reliable.</a:t>
            </a:r>
          </a:p>
          <a:p>
            <a:r>
              <a:rPr lang="en-PH" sz="2800" b="1" dirty="0"/>
              <a:t>B. Its </a:t>
            </a:r>
            <a:r>
              <a:rPr lang="en-PH" sz="2800" b="1" dirty="0" err="1"/>
              <a:t>beind</a:t>
            </a:r>
            <a:r>
              <a:rPr lang="en-PH" sz="2800" b="1" dirty="0"/>
              <a:t> easy to score.</a:t>
            </a:r>
          </a:p>
          <a:p>
            <a:r>
              <a:rPr lang="en-PH" sz="2800" b="1" dirty="0"/>
              <a:t>C. Its ability to measure specific classroom objectives.</a:t>
            </a:r>
          </a:p>
          <a:p>
            <a:r>
              <a:rPr lang="en-PH" sz="2800" b="1" dirty="0"/>
              <a:t>D. Its ability to measure both innate abilities and performance.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148A7-B2BF-46A6-AF33-9C56DC9CC2E9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103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36000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441" y="2489200"/>
            <a:ext cx="7363159" cy="3530600"/>
          </a:xfrm>
        </p:spPr>
        <p:txBody>
          <a:bodyPr>
            <a:noAutofit/>
          </a:bodyPr>
          <a:lstStyle/>
          <a:p>
            <a:r>
              <a:rPr lang="en-PH" sz="2800" b="1" dirty="0"/>
              <a:t>6. A teacher gave an enumeration test to measure whether the students have attained the objective</a:t>
            </a:r>
            <a:r>
              <a:rPr lang="en-PH" sz="2800" b="1" i="1" u="sng" dirty="0"/>
              <a:t>, to name all the parts of the cell.</a:t>
            </a:r>
          </a:p>
          <a:p>
            <a:r>
              <a:rPr lang="en-PH" sz="2800" b="1" dirty="0"/>
              <a:t>If Paul missed one part of the cell, thus committing one mistake, is his score passing? </a:t>
            </a:r>
          </a:p>
          <a:p>
            <a:r>
              <a:rPr lang="en-PH" sz="2800" b="1" dirty="0"/>
              <a:t>A. NO		C. YES</a:t>
            </a:r>
          </a:p>
          <a:p>
            <a:r>
              <a:rPr lang="en-PH" sz="2800" b="1" dirty="0"/>
              <a:t>B. Maybe	D. It </a:t>
            </a:r>
            <a:r>
              <a:rPr lang="en-PH" sz="2800" b="1" dirty="0" err="1"/>
              <a:t>depens</a:t>
            </a:r>
            <a:endParaRPr lang="en-PH" sz="28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148A7-B2BF-46A6-AF33-9C56DC9CC2E9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104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96469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441" y="2133600"/>
            <a:ext cx="7698601" cy="3886200"/>
          </a:xfrm>
        </p:spPr>
        <p:txBody>
          <a:bodyPr>
            <a:normAutofit/>
          </a:bodyPr>
          <a:lstStyle/>
          <a:p>
            <a:r>
              <a:rPr lang="en-PH" sz="2400" b="1" dirty="0"/>
              <a:t>7. Which of the following is a norm-referenced interpretation?</a:t>
            </a:r>
          </a:p>
          <a:p>
            <a:r>
              <a:rPr lang="en-PH" sz="2400" b="1" dirty="0" err="1"/>
              <a:t>A.”Passing</a:t>
            </a:r>
            <a:r>
              <a:rPr lang="en-PH" sz="2400" b="1" dirty="0"/>
              <a:t> in this test is 10”</a:t>
            </a:r>
          </a:p>
          <a:p>
            <a:r>
              <a:rPr lang="en-PH" sz="2400" b="1" dirty="0"/>
              <a:t>B. “You have to make 5 knots in 2 minutes”.</a:t>
            </a:r>
          </a:p>
          <a:p>
            <a:r>
              <a:rPr lang="en-PH" sz="2400" b="1" dirty="0"/>
              <a:t>C. “You must be able to encode 300 words in 7 minutes without mistake”.</a:t>
            </a:r>
          </a:p>
          <a:p>
            <a:r>
              <a:rPr lang="en-PH" sz="2400" b="1" dirty="0"/>
              <a:t>D. “Only the top 40 scorers will be admitted in the scholarship”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148A7-B2BF-46A6-AF33-9C56DC9CC2E9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105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6208015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441" y="2209800"/>
            <a:ext cx="7528800" cy="3810000"/>
          </a:xfrm>
        </p:spPr>
        <p:txBody>
          <a:bodyPr>
            <a:noAutofit/>
          </a:bodyPr>
          <a:lstStyle/>
          <a:p>
            <a:r>
              <a:rPr lang="en-PH" sz="3600" b="1" dirty="0"/>
              <a:t>8. Which of the following does not belong to the group?</a:t>
            </a:r>
          </a:p>
          <a:p>
            <a:r>
              <a:rPr lang="en-PH" sz="3600" b="1" dirty="0"/>
              <a:t>A. MCQ</a:t>
            </a:r>
          </a:p>
          <a:p>
            <a:r>
              <a:rPr lang="en-PH" sz="3600" b="1" dirty="0" err="1"/>
              <a:t>B.True</a:t>
            </a:r>
            <a:r>
              <a:rPr lang="en-PH" sz="3600" b="1" dirty="0"/>
              <a:t>/False</a:t>
            </a:r>
          </a:p>
          <a:p>
            <a:r>
              <a:rPr lang="en-PH" sz="3600" b="1" dirty="0"/>
              <a:t>C. Simple Recall</a:t>
            </a:r>
          </a:p>
          <a:p>
            <a:r>
              <a:rPr lang="en-PH" sz="3600" b="1" dirty="0"/>
              <a:t>D. Completion Test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148A7-B2BF-46A6-AF33-9C56DC9CC2E9}" type="datetime1">
              <a:rPr lang="en-PH" smtClean="0"/>
              <a:t>25/08/2018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PH"/>
              <a:t>Sir Pabs- UA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931C8-C94A-4D98-B326-CB54E7ECB847}" type="slidenum">
              <a:rPr lang="en-PH" smtClean="0"/>
              <a:pPr/>
              <a:t>106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34064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tint val="100000"/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F1C4790-FE3C-4020-8CA7-00621DA7BB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4267</TotalTime>
  <Words>3378</Words>
  <Application>Microsoft Office PowerPoint</Application>
  <PresentationFormat>On-screen Show (4:3)</PresentationFormat>
  <Paragraphs>815</Paragraphs>
  <Slides>106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106</vt:i4>
      </vt:variant>
    </vt:vector>
  </HeadingPairs>
  <TitlesOfParts>
    <vt:vector size="114" baseType="lpstr">
      <vt:lpstr>Aharoni</vt:lpstr>
      <vt:lpstr>Algerian</vt:lpstr>
      <vt:lpstr>Arial</vt:lpstr>
      <vt:lpstr>Arial Black</vt:lpstr>
      <vt:lpstr>Calibri</vt:lpstr>
      <vt:lpstr>Century Gothic</vt:lpstr>
      <vt:lpstr>Wingdings 3</vt:lpstr>
      <vt:lpstr>Ion Boardroom</vt:lpstr>
      <vt:lpstr>ASSESSMENT OF LEARNING</vt:lpstr>
      <vt:lpstr>Objectives</vt:lpstr>
      <vt:lpstr>THE TEACHING CYCLE</vt:lpstr>
      <vt:lpstr>PowerPoint Presentation</vt:lpstr>
      <vt:lpstr>THE ROLE OF ASSESSMENT IN THE TEACHING-LEARNING PROCESS</vt:lpstr>
      <vt:lpstr>PowerPoint Presentation</vt:lpstr>
      <vt:lpstr>MEASUREMENT</vt:lpstr>
      <vt:lpstr>PowerPoint Presentation</vt:lpstr>
      <vt:lpstr>PowerPoint Presentation</vt:lpstr>
      <vt:lpstr>EVALUATION</vt:lpstr>
      <vt:lpstr>PowerPoint Presentation</vt:lpstr>
      <vt:lpstr>ASSESSMENT</vt:lpstr>
      <vt:lpstr>Question 1</vt:lpstr>
      <vt:lpstr>Question 2</vt:lpstr>
      <vt:lpstr>3.</vt:lpstr>
      <vt:lpstr>4. Which of these statements are correct?</vt:lpstr>
      <vt:lpstr>5. Why are test norms established?  To have a basis for ___________.</vt:lpstr>
      <vt:lpstr>II. Tell whether the following speaks of Measurement, Assessment or Evaluation</vt:lpstr>
      <vt:lpstr>II. Measurement, Assessment or Evaluation</vt:lpstr>
      <vt:lpstr>ASSESSMENT NUANCES </vt:lpstr>
      <vt:lpstr>PowerPoint Presentation</vt:lpstr>
      <vt:lpstr>Assessment FOR Learning</vt:lpstr>
      <vt:lpstr>Assessment for Learning</vt:lpstr>
      <vt:lpstr>PowerPoint Presentation</vt:lpstr>
      <vt:lpstr>In assessment FOR learning, the focus is on:</vt:lpstr>
      <vt:lpstr>PowerPoint Presentation</vt:lpstr>
      <vt:lpstr>Assessment of Learning</vt:lpstr>
      <vt:lpstr>In Assessment OF learning:</vt:lpstr>
      <vt:lpstr>PowerPoint Presentation</vt:lpstr>
      <vt:lpstr>Assessment AS Learning</vt:lpstr>
      <vt:lpstr>PowerPoint Presentation</vt:lpstr>
      <vt:lpstr>QUESTION</vt:lpstr>
      <vt:lpstr>QUESTION</vt:lpstr>
      <vt:lpstr>3. Which of these should a teacher do when she assesses of students learning? </vt:lpstr>
      <vt:lpstr>PowerPoint Presentation</vt:lpstr>
      <vt:lpstr>PowerPoint Presentation</vt:lpstr>
      <vt:lpstr>PowerPoint Presentation</vt:lpstr>
      <vt:lpstr>WHAT MAKES EDUCATIONAL MEASUREMENT &amp; EVALUATION DIFFICULT?</vt:lpstr>
      <vt:lpstr>WHAT MAKES EDUCATIONAL MEASUREMENT &amp; EVALUATION DIFFICULT</vt:lpstr>
      <vt:lpstr>PowerPoint Presentation</vt:lpstr>
      <vt:lpstr>PowerPoint Presentation</vt:lpstr>
      <vt:lpstr>HISTORY OF M &amp; E:</vt:lpstr>
      <vt:lpstr>PowerPoint Presentation</vt:lpstr>
      <vt:lpstr>PowerPoint Presentation</vt:lpstr>
      <vt:lpstr>PowerPoint Presentation</vt:lpstr>
      <vt:lpstr>PRINCIPLES OF ASSESSMENT</vt:lpstr>
      <vt:lpstr>PRINCIPLES OF EVALUATION</vt:lpstr>
      <vt:lpstr>Question</vt:lpstr>
      <vt:lpstr>Question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PRINCIPLES OF EVALUATION</vt:lpstr>
      <vt:lpstr>Is this valid?</vt:lpstr>
      <vt:lpstr>Is this valid?</vt:lpstr>
      <vt:lpstr> TABLE OF SPECIFICATION</vt:lpstr>
      <vt:lpstr>PRINCIPLES OF EVALUATION</vt:lpstr>
      <vt:lpstr>PRINCIPLES OF EVALUATION</vt:lpstr>
      <vt:lpstr>PRINCIPLES OF EVALUATION</vt:lpstr>
      <vt:lpstr>PRINCIPLES OF EVALUATION</vt:lpstr>
      <vt:lpstr>PRINCIPLES OF EVALUATION</vt:lpstr>
      <vt:lpstr>PowerPoint Presentation</vt:lpstr>
      <vt:lpstr>PRINCIPLES OF EVALUATION</vt:lpstr>
      <vt:lpstr>PRINCIPLES OF EVALUATION</vt:lpstr>
      <vt:lpstr>PURPOSES OF TEST</vt:lpstr>
      <vt:lpstr>Question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MEASURING INSTRUMENTS</vt:lpstr>
      <vt:lpstr>TYPES OF TEST: According to Function</vt:lpstr>
      <vt:lpstr>PowerPoint Presentation</vt:lpstr>
      <vt:lpstr>Rating Scale</vt:lpstr>
      <vt:lpstr>PowerPoint Presentation</vt:lpstr>
      <vt:lpstr>PowerPoint Presentation</vt:lpstr>
      <vt:lpstr>Rorschach Inkblots</vt:lpstr>
      <vt:lpstr>PowerPoint Presentation</vt:lpstr>
      <vt:lpstr>Thematic Apperception Test</vt:lpstr>
      <vt:lpstr>PowerPoint Presentation</vt:lpstr>
      <vt:lpstr>TYPES OF TEST: According to Language Mode</vt:lpstr>
      <vt:lpstr>PowerPoint Presentation</vt:lpstr>
      <vt:lpstr>TYPES OF TEST: According to Nature and Manner of Administration</vt:lpstr>
      <vt:lpstr>PowerPoint Presentation</vt:lpstr>
      <vt:lpstr>TYPES OF TEST: According to Interpretation of Scores</vt:lpstr>
      <vt:lpstr>Consider this objective:</vt:lpstr>
      <vt:lpstr>PowerPoint Presentation</vt:lpstr>
      <vt:lpstr>PowerPoint Presentation</vt:lpstr>
      <vt:lpstr>PERCENTILE</vt:lpstr>
      <vt:lpstr>PowerPoint Presentation</vt:lpstr>
      <vt:lpstr>Question </vt:lpstr>
      <vt:lpstr>TYPES OF TEST: According to Time Requirement</vt:lpstr>
      <vt:lpstr>PowerPoint Presentation</vt:lpstr>
      <vt:lpstr>TYPES OF TEST: According to Item Format</vt:lpstr>
      <vt:lpstr>TYPES OF TEST: According to DOMAIN OR TARGET MEASURED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ASSESSMENT OF LEARNING</dc:title>
  <dc:creator>ACER</dc:creator>
  <cp:lastModifiedBy> </cp:lastModifiedBy>
  <cp:revision>59</cp:revision>
  <dcterms:created xsi:type="dcterms:W3CDTF">2013-08-16T15:10:31Z</dcterms:created>
  <dcterms:modified xsi:type="dcterms:W3CDTF">2018-08-25T04:30:12Z</dcterms:modified>
</cp:coreProperties>
</file>