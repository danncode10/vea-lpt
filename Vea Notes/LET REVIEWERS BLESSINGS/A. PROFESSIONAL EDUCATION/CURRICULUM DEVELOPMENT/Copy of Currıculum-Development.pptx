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7" r:id="rId3"/>
    <p:sldId id="278" r:id="rId4"/>
    <p:sldId id="280" r:id="rId5"/>
    <p:sldId id="331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2" r:id="rId14"/>
    <p:sldId id="293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7" r:id="rId23"/>
    <p:sldId id="308" r:id="rId24"/>
    <p:sldId id="309" r:id="rId25"/>
    <p:sldId id="310" r:id="rId26"/>
    <p:sldId id="311" r:id="rId27"/>
    <p:sldId id="312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5" r:id="rId39"/>
    <p:sldId id="332" r:id="rId40"/>
    <p:sldId id="326" r:id="rId41"/>
    <p:sldId id="327" r:id="rId42"/>
    <p:sldId id="328" r:id="rId43"/>
    <p:sldId id="333" r:id="rId44"/>
    <p:sldId id="329" r:id="rId45"/>
    <p:sldId id="330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-12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9CADDB40-039E-4EAC-8073-4156B3DCB970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EA820-3052-46A4-A5C3-C5ED8F41A6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55CD9-E3E2-45DE-8292-2D3C21F6C55D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50C21-C5E7-4069-9FCA-A964DCCB0A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C7358-8E57-410C-B556-E138BF7FD030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BE9078-06D9-42E2-8FC6-45251AFBF7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ECBEC-FE0B-459C-8039-5B164308B5CF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EE922-4930-493C-9D6C-F998E0218D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4A793-922B-43A5-9A16-C7326DC9A56C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054FF-D1FA-4581-869C-3C342A9F4E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C2AB4-FDDE-465E-A512-821323FC73F2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77F8D-498C-4E0E-B2B0-92219D926B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CF2C8-B32C-4AAF-8ECD-77D880B35B7A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0803C-2CAE-41D8-A7C2-69087E7D12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7944F-C9E3-40BB-BE50-149E4A7E81DC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14697-ADFC-4725-8BE4-66A42237D1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FE9E6-47AB-4FAC-98FE-87A53E6EE826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5DA51-4475-49AB-AEE2-554CF701C2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667D7-8487-42F6-8372-FE01488E3426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00A83-8CD8-41E2-A9AD-A63FDE3E06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83908-8177-4307-B5B4-532AF060E12D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F3604-1063-4F29-A6FF-3684BB5477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626C52B-B3B9-4D1F-BF8D-1210BD906BC6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E9DEA1F1-5DC1-4918-B107-97CB4CD241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3" r:id="rId2"/>
    <p:sldLayoutId id="2147483708" r:id="rId3"/>
    <p:sldLayoutId id="2147483704" r:id="rId4"/>
    <p:sldLayoutId id="2147483705" r:id="rId5"/>
    <p:sldLayoutId id="2147483709" r:id="rId6"/>
    <p:sldLayoutId id="2147483710" r:id="rId7"/>
    <p:sldLayoutId id="2147483711" r:id="rId8"/>
    <p:sldLayoutId id="2147483712" r:id="rId9"/>
    <p:sldLayoutId id="2147483706" r:id="rId10"/>
    <p:sldLayoutId id="214748371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CURRICULUM DEVELOPMENT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3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Curriculum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x-none" smtClean="0"/>
              <a:t>Is a </a:t>
            </a:r>
            <a:r>
              <a:rPr lang="x-none" b="1" smtClean="0"/>
              <a:t>process</a:t>
            </a:r>
            <a:r>
              <a:rPr lang="x-none" smtClean="0"/>
              <a:t> </a:t>
            </a:r>
            <a:r>
              <a:rPr lang="en-US" dirty="0" smtClean="0"/>
              <a:t>that </a:t>
            </a:r>
            <a:r>
              <a:rPr lang="x-none" smtClean="0"/>
              <a:t>creates educational experiences to meet the intentions of planners(Wiles and Bondi, 1998), which include total </a:t>
            </a:r>
            <a:r>
              <a:rPr lang="x-none" b="1" smtClean="0"/>
              <a:t>development of learners</a:t>
            </a:r>
            <a:r>
              <a:rPr lang="en-US" b="1" dirty="0" smtClean="0"/>
              <a:t>.</a:t>
            </a:r>
            <a:endParaRPr lang="en-US" dirty="0" smtClean="0"/>
          </a:p>
          <a:p>
            <a:pPr lvl="0"/>
            <a:r>
              <a:rPr lang="x-none" smtClean="0"/>
              <a:t>A </a:t>
            </a:r>
            <a:r>
              <a:rPr lang="x-none" smtClean="0"/>
              <a:t>process </a:t>
            </a:r>
            <a:r>
              <a:rPr lang="en-US" dirty="0" smtClean="0"/>
              <a:t>of </a:t>
            </a:r>
            <a:r>
              <a:rPr lang="x-none" smtClean="0"/>
              <a:t>designing </a:t>
            </a:r>
            <a:r>
              <a:rPr lang="x-none" smtClean="0"/>
              <a:t>a program of experiences for the student and for which the school accepts responsibility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Phases of Curriculum </a:t>
            </a:r>
            <a:r>
              <a:rPr lang="en-US" dirty="0" err="1" smtClean="0"/>
              <a:t>Dev’t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x-none" sz="4000" smtClean="0"/>
              <a:t>Curriculum planning</a:t>
            </a:r>
            <a:r>
              <a:rPr lang="x-none" sz="4000" smtClean="0"/>
              <a:t>, </a:t>
            </a:r>
            <a:endParaRPr lang="en-US" sz="4000" dirty="0" smtClean="0"/>
          </a:p>
          <a:p>
            <a:pPr lvl="0"/>
            <a:r>
              <a:rPr lang="en-US" sz="4000" dirty="0" smtClean="0"/>
              <a:t>Curriculum </a:t>
            </a:r>
            <a:r>
              <a:rPr lang="x-none" sz="4000" smtClean="0"/>
              <a:t>design </a:t>
            </a:r>
            <a:r>
              <a:rPr lang="x-none" sz="4000" smtClean="0"/>
              <a:t>and organization, </a:t>
            </a:r>
            <a:endParaRPr lang="en-US" sz="4000" dirty="0" smtClean="0"/>
          </a:p>
          <a:p>
            <a:pPr lvl="0"/>
            <a:r>
              <a:rPr lang="en-US" sz="4000" dirty="0" smtClean="0"/>
              <a:t>Curriculum </a:t>
            </a:r>
            <a:r>
              <a:rPr lang="x-none" sz="4000" smtClean="0"/>
              <a:t>implementation</a:t>
            </a:r>
            <a:r>
              <a:rPr lang="x-none" sz="4000" smtClean="0"/>
              <a:t>, </a:t>
            </a:r>
            <a:endParaRPr lang="en-US" sz="4000" dirty="0" smtClean="0"/>
          </a:p>
          <a:p>
            <a:pPr lvl="0"/>
            <a:r>
              <a:rPr lang="en-US" sz="4000" dirty="0" smtClean="0"/>
              <a:t>Curriculum </a:t>
            </a:r>
            <a:r>
              <a:rPr lang="x-none" sz="4000" smtClean="0"/>
              <a:t>evaluation</a:t>
            </a:r>
            <a:r>
              <a:rPr lang="x-none" sz="4000" smtClean="0"/>
              <a:t>, and </a:t>
            </a:r>
            <a:endParaRPr lang="en-US" sz="4000" dirty="0" smtClean="0"/>
          </a:p>
          <a:p>
            <a:pPr lvl="0"/>
            <a:r>
              <a:rPr lang="en-US" sz="4000" dirty="0" smtClean="0"/>
              <a:t>Curriculum </a:t>
            </a:r>
            <a:r>
              <a:rPr lang="x-none" sz="4000" smtClean="0"/>
              <a:t>change </a:t>
            </a:r>
            <a:r>
              <a:rPr lang="x-none" sz="4000" smtClean="0"/>
              <a:t>and/or improvement.</a:t>
            </a:r>
            <a:endParaRPr lang="en-US" sz="4000" dirty="0" smtClean="0"/>
          </a:p>
          <a:p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Stakeholders in Curriculum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x-none" smtClean="0"/>
              <a:t>Include </a:t>
            </a:r>
            <a:r>
              <a:rPr lang="x-none" b="1" smtClean="0"/>
              <a:t>individuals</a:t>
            </a:r>
            <a:r>
              <a:rPr lang="x-none" smtClean="0"/>
              <a:t> and </a:t>
            </a:r>
            <a:r>
              <a:rPr lang="x-none" b="1" smtClean="0"/>
              <a:t>groups</a:t>
            </a:r>
            <a:r>
              <a:rPr lang="x-none" smtClean="0"/>
              <a:t> who influence and make important contributions to the curriculum</a:t>
            </a:r>
            <a:endParaRPr lang="en-US" dirty="0" smtClean="0"/>
          </a:p>
          <a:p>
            <a:pPr lvl="0"/>
            <a:r>
              <a:rPr lang="x-none" smtClean="0"/>
              <a:t>May be categorized as </a:t>
            </a:r>
            <a:r>
              <a:rPr lang="x-none" b="1" smtClean="0"/>
              <a:t>community-based</a:t>
            </a:r>
            <a:r>
              <a:rPr lang="x-none" smtClean="0"/>
              <a:t>, whose influence on the curriculum is at societal and institutional levels; or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b="1" smtClean="0"/>
              <a:t>school-based</a:t>
            </a:r>
            <a:r>
              <a:rPr lang="x-none" smtClean="0"/>
              <a:t>, whose contributions to the curriculum are either on the institutional level, instructional level, or experiential level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Specific role of different stakeholders in curriculum development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4400" b="1" dirty="0" smtClean="0">
                <a:solidFill>
                  <a:srgbClr val="0070C0"/>
                </a:solidFill>
              </a:rPr>
              <a:t>1. Community-at-large: </a:t>
            </a:r>
            <a:endParaRPr lang="en-US" sz="44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4000" i="1" dirty="0" smtClean="0"/>
              <a:t>a. often dictates the </a:t>
            </a:r>
            <a:r>
              <a:rPr lang="en-US" sz="4000" b="1" i="1" dirty="0" smtClean="0"/>
              <a:t>purposes, goals</a:t>
            </a:r>
            <a:r>
              <a:rPr lang="en-US" sz="4000" i="1" dirty="0" smtClean="0"/>
              <a:t>, and </a:t>
            </a:r>
            <a:r>
              <a:rPr lang="en-US" sz="4000" b="1" i="1" dirty="0" smtClean="0"/>
              <a:t>content</a:t>
            </a:r>
            <a:r>
              <a:rPr lang="en-US" sz="4000" i="1" dirty="0" smtClean="0"/>
              <a:t> of school curricula; </a:t>
            </a:r>
          </a:p>
          <a:p>
            <a:pPr>
              <a:buNone/>
            </a:pPr>
            <a:r>
              <a:rPr lang="en-US" sz="4000" i="1" dirty="0" smtClean="0"/>
              <a:t>b. recommend </a:t>
            </a:r>
            <a:r>
              <a:rPr lang="en-US" sz="4000" b="1" i="1" dirty="0" smtClean="0"/>
              <a:t>direction</a:t>
            </a:r>
            <a:r>
              <a:rPr lang="en-US" sz="4000" i="1" dirty="0" smtClean="0"/>
              <a:t> and </a:t>
            </a:r>
            <a:r>
              <a:rPr lang="en-US" sz="4000" b="1" i="1" dirty="0" smtClean="0"/>
              <a:t>changes</a:t>
            </a:r>
            <a:r>
              <a:rPr lang="en-US" sz="4000" i="1" dirty="0" smtClean="0"/>
              <a:t> in the curriculum (e.g. professional groups, civic groups, business and industry)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2. </a:t>
            </a:r>
            <a:r>
              <a:rPr lang="en-US" sz="4000" b="1" dirty="0" smtClean="0">
                <a:solidFill>
                  <a:srgbClr val="0070C0"/>
                </a:solidFill>
              </a:rPr>
              <a:t>Law-makers/government </a:t>
            </a:r>
            <a:r>
              <a:rPr lang="en-US" sz="4000" b="1" dirty="0" smtClean="0">
                <a:solidFill>
                  <a:srgbClr val="0070C0"/>
                </a:solidFill>
              </a:rPr>
              <a:t>officials:</a:t>
            </a:r>
            <a:endParaRPr lang="en-US" sz="40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4400" i="1" dirty="0" smtClean="0"/>
              <a:t>a. authorize school </a:t>
            </a:r>
            <a:r>
              <a:rPr lang="en-US" sz="4400" b="1" i="1" dirty="0" smtClean="0"/>
              <a:t>budget</a:t>
            </a:r>
            <a:r>
              <a:rPr lang="en-US" sz="4400" i="1" dirty="0" smtClean="0"/>
              <a:t>;</a:t>
            </a:r>
          </a:p>
          <a:p>
            <a:pPr>
              <a:buNone/>
            </a:pPr>
            <a:r>
              <a:rPr lang="en-US" sz="4400" i="1" dirty="0" smtClean="0"/>
              <a:t>b. </a:t>
            </a:r>
            <a:r>
              <a:rPr lang="en-US" sz="4400" b="1" i="1" dirty="0" smtClean="0"/>
              <a:t>enact</a:t>
            </a:r>
            <a:r>
              <a:rPr lang="en-US" sz="4400" i="1" dirty="0" smtClean="0"/>
              <a:t> legislation to effect curriculum change or improvement; </a:t>
            </a:r>
          </a:p>
          <a:p>
            <a:pPr>
              <a:buNone/>
            </a:pPr>
            <a:r>
              <a:rPr lang="en-US" sz="4400" i="1" dirty="0" smtClean="0"/>
              <a:t>c. issue guidelines in designing and implementing curriculum proposals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300" b="1" dirty="0" smtClean="0">
                <a:solidFill>
                  <a:srgbClr val="0070C0"/>
                </a:solidFill>
              </a:rPr>
              <a:t>3. Governing/school boards: </a:t>
            </a:r>
          </a:p>
          <a:p>
            <a:pPr>
              <a:buNone/>
            </a:pPr>
            <a:r>
              <a:rPr lang="en-US" dirty="0" smtClean="0"/>
              <a:t>a. either make important decision on, or oversee/manage school operation;</a:t>
            </a:r>
          </a:p>
          <a:p>
            <a:pPr>
              <a:buNone/>
            </a:pPr>
            <a:r>
              <a:rPr lang="en-US" dirty="0" smtClean="0"/>
              <a:t>b. conduct public hearings to either inform or solicit information on curriculum matters; </a:t>
            </a:r>
          </a:p>
          <a:p>
            <a:pPr>
              <a:buNone/>
            </a:pPr>
            <a:r>
              <a:rPr lang="en-US" dirty="0" smtClean="0"/>
              <a:t>c. authorize school expenditure for curriculum development, implementation and evaluation as needed in the distinct or school; consider and adopt 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300" b="1" dirty="0" smtClean="0"/>
              <a:t>4. Parents/Guardians: </a:t>
            </a:r>
            <a:endParaRPr lang="en-US" sz="4300" dirty="0" smtClean="0"/>
          </a:p>
          <a:p>
            <a:pPr>
              <a:buNone/>
            </a:pPr>
            <a:r>
              <a:rPr lang="en-US" dirty="0" smtClean="0"/>
              <a:t>a. support and participate in parent-school organizations where priorities for the curriculum are often set (instructional materials, learning experiences to provide etc.)</a:t>
            </a:r>
          </a:p>
          <a:p>
            <a:pPr>
              <a:buNone/>
            </a:pPr>
            <a:r>
              <a:rPr lang="en-US" sz="4300" b="1" dirty="0" smtClean="0"/>
              <a:t>5. Publishers: </a:t>
            </a:r>
            <a:endParaRPr lang="en-US" sz="4300" dirty="0" smtClean="0"/>
          </a:p>
          <a:p>
            <a:pPr>
              <a:buNone/>
            </a:pPr>
            <a:r>
              <a:rPr lang="en-US" dirty="0" smtClean="0"/>
              <a:t>a. support development  of instructional materials based on the curriculum developed;</a:t>
            </a:r>
          </a:p>
          <a:p>
            <a:pPr>
              <a:buNone/>
            </a:pPr>
            <a:r>
              <a:rPr lang="en-US" dirty="0" smtClean="0"/>
              <a:t>b.  helped in the implementation of curriculum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300" b="1" dirty="0" smtClean="0"/>
              <a:t>6. Teachers: </a:t>
            </a:r>
            <a:endParaRPr lang="en-US" sz="4300" dirty="0" smtClean="0"/>
          </a:p>
          <a:p>
            <a:pPr marL="411163" indent="-411163">
              <a:buSzPct val="100000"/>
              <a:buFont typeface="+mj-lt"/>
              <a:buAutoNum type="alphaLcPeriod"/>
            </a:pPr>
            <a:r>
              <a:rPr lang="en-US" sz="3900" dirty="0" smtClean="0"/>
              <a:t>establish </a:t>
            </a:r>
            <a:r>
              <a:rPr lang="en-US" sz="3900" dirty="0" smtClean="0"/>
              <a:t>direction and implementation of a particular program; select content to be emphasized; </a:t>
            </a:r>
          </a:p>
          <a:p>
            <a:pPr marL="411163" indent="-411163">
              <a:buSzPct val="100000"/>
              <a:buFont typeface="+mj-lt"/>
              <a:buAutoNum type="alphaLcPeriod"/>
            </a:pPr>
            <a:r>
              <a:rPr lang="en-US" sz="3900" dirty="0" smtClean="0"/>
              <a:t>attend </a:t>
            </a:r>
            <a:r>
              <a:rPr lang="en-US" sz="3900" dirty="0" smtClean="0"/>
              <a:t>to pedagogical concerns such that they may modify the curriculum to suit the needs of the learners;</a:t>
            </a:r>
          </a:p>
          <a:p>
            <a:pPr marL="411163" indent="-411163">
              <a:buSzPct val="100000"/>
              <a:buFont typeface="+mj-lt"/>
              <a:buAutoNum type="alphaLcPeriod"/>
            </a:pPr>
            <a:r>
              <a:rPr lang="en-US" sz="3900" dirty="0" smtClean="0"/>
              <a:t>help </a:t>
            </a:r>
            <a:r>
              <a:rPr lang="en-US" sz="3900" dirty="0" smtClean="0"/>
              <a:t>in evaluating the effectiveness of curriculum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7. Learners: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a. the primary stakeholders of the curriculum, whose needs and abilities are the basis of curriculum content selection and</a:t>
            </a:r>
          </a:p>
          <a:p>
            <a:pPr>
              <a:buNone/>
            </a:pPr>
            <a:r>
              <a:rPr lang="en-US" smtClean="0"/>
              <a:t>b</a:t>
            </a:r>
            <a:r>
              <a:rPr lang="en-US" dirty="0" smtClean="0"/>
              <a:t>. whose achievement level measure  the effectiveness of the curriculum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Approaches to Curriculum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Technical approach</a:t>
            </a:r>
            <a:endParaRPr lang="en-US" dirty="0" smtClean="0"/>
          </a:p>
          <a:p>
            <a:pPr lvl="0"/>
            <a:r>
              <a:rPr lang="x-none" smtClean="0"/>
              <a:t>Considered as the traditional way developing curricula; which heavily relies on curriculum </a:t>
            </a:r>
            <a:r>
              <a:rPr lang="x-none" b="1" smtClean="0"/>
              <a:t>knowledge from non-teachers;</a:t>
            </a:r>
            <a:r>
              <a:rPr lang="x-none" smtClean="0"/>
              <a:t> not concerned about the context in which it will be used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Non-Technical Approach</a:t>
            </a:r>
            <a:endParaRPr lang="en-US" dirty="0" smtClean="0"/>
          </a:p>
          <a:p>
            <a:pPr lvl="0"/>
            <a:r>
              <a:rPr lang="x-none" smtClean="0"/>
              <a:t>Relies heavily on teachers as the major source of curriculum knowledge because they know their students and teaching contexts</a:t>
            </a:r>
            <a:endParaRPr lang="en-US" dirty="0" smtClean="0"/>
          </a:p>
          <a:p>
            <a:pPr lvl="0"/>
            <a:r>
              <a:rPr lang="x-none" smtClean="0"/>
              <a:t>Curricula using this approach do not initially have intended learning outcomes because what students are expected to learn is not easily predicted</a:t>
            </a:r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smtClean="0"/>
              <a:t>Teachers in this approach </a:t>
            </a:r>
            <a:r>
              <a:rPr lang="x-none" b="1" smtClean="0"/>
              <a:t>enact</a:t>
            </a:r>
            <a:r>
              <a:rPr lang="x-none" smtClean="0"/>
              <a:t>, rather </a:t>
            </a:r>
            <a:r>
              <a:rPr lang="x-none" b="1" smtClean="0"/>
              <a:t>than implement</a:t>
            </a:r>
            <a:r>
              <a:rPr lang="x-none" smtClean="0"/>
              <a:t>, the curriculum, which means that the teachers are involved in both development of curriculum and fitting the curriculum to specific context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Most Influential Models of Curriculum Development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1. Hilda </a:t>
            </a:r>
            <a:r>
              <a:rPr lang="en-US" b="1" dirty="0" err="1" smtClean="0"/>
              <a:t>Taba’s</a:t>
            </a:r>
            <a:r>
              <a:rPr lang="en-US" b="1" dirty="0" smtClean="0"/>
              <a:t> Inverted Model of Curriculum</a:t>
            </a:r>
            <a:endParaRPr lang="en-US" dirty="0" smtClean="0"/>
          </a:p>
          <a:p>
            <a:r>
              <a:rPr lang="en-US" dirty="0" smtClean="0"/>
              <a:t> Development includes the following steps:</a:t>
            </a:r>
          </a:p>
          <a:p>
            <a:pPr>
              <a:buNone/>
            </a:pPr>
            <a:r>
              <a:rPr lang="en-US" b="1" i="1" dirty="0" smtClean="0"/>
              <a:t>1. Diagnosing Needs- </a:t>
            </a:r>
            <a:r>
              <a:rPr lang="en-US" dirty="0" smtClean="0"/>
              <a:t>information on the community and its schools combined with existing data to form a comprehensive view of local needs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2.  </a:t>
            </a:r>
            <a:r>
              <a:rPr lang="en-US" b="1" i="1" dirty="0" smtClean="0"/>
              <a:t>Formulating learning objectives: </a:t>
            </a:r>
            <a:r>
              <a:rPr lang="en-US" dirty="0" smtClean="0"/>
              <a:t>objectives should include concepts, attitude, habits or skills to be learned and ways of thinking to be reinforced</a:t>
            </a:r>
          </a:p>
          <a:p>
            <a:pPr>
              <a:buNone/>
            </a:pPr>
            <a:r>
              <a:rPr lang="en-US" dirty="0" smtClean="0"/>
              <a:t>3.  </a:t>
            </a:r>
            <a:r>
              <a:rPr lang="en-US" b="1" i="1" dirty="0" smtClean="0"/>
              <a:t>Selecting content: </a:t>
            </a:r>
            <a:r>
              <a:rPr lang="en-US" dirty="0" smtClean="0"/>
              <a:t>include choosing of specific, necessary topics carefully, which should parallel students’ development levels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4. </a:t>
            </a:r>
            <a:r>
              <a:rPr lang="en-US" b="1" i="1" dirty="0" smtClean="0"/>
              <a:t>Organizing content: </a:t>
            </a:r>
            <a:r>
              <a:rPr lang="en-US" dirty="0" smtClean="0"/>
              <a:t>begins with simple topics and concepts that move to more complex ones such as generalizations and principles</a:t>
            </a:r>
          </a:p>
          <a:p>
            <a:pPr>
              <a:buNone/>
            </a:pPr>
            <a:r>
              <a:rPr lang="en-US" dirty="0" smtClean="0"/>
              <a:t>5. </a:t>
            </a:r>
            <a:r>
              <a:rPr lang="en-US" b="1" i="1" dirty="0" smtClean="0"/>
              <a:t>Selecting and 6. Organizing activities</a:t>
            </a:r>
            <a:r>
              <a:rPr lang="en-US" dirty="0" smtClean="0"/>
              <a:t> which must be based on the developmental levels of learners and in which variety, sequence, and links among activities must be considered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7. </a:t>
            </a:r>
            <a:r>
              <a:rPr lang="en-US" b="1" i="1" dirty="0" smtClean="0"/>
              <a:t>Evaluating lessons and units – </a:t>
            </a:r>
            <a:r>
              <a:rPr lang="en-US" dirty="0" smtClean="0"/>
              <a:t>it</a:t>
            </a:r>
            <a:r>
              <a:rPr lang="en-US" i="1" dirty="0" smtClean="0"/>
              <a:t> </a:t>
            </a:r>
            <a:r>
              <a:rPr lang="en-US" dirty="0" smtClean="0"/>
              <a:t>should be evaluated and reevaluated continuously to determine actual progress of learners using the curriculum as basis and </a:t>
            </a:r>
          </a:p>
          <a:p>
            <a:r>
              <a:rPr lang="en-US" dirty="0" smtClean="0"/>
              <a:t>includes what otherwise is the 8</a:t>
            </a:r>
            <a:r>
              <a:rPr lang="en-US" baseline="30000" dirty="0" smtClean="0"/>
              <a:t>th</a:t>
            </a:r>
            <a:r>
              <a:rPr lang="en-US" dirty="0" smtClean="0"/>
              <a:t> step, which is to check for </a:t>
            </a:r>
            <a:r>
              <a:rPr lang="en-US" b="1" i="1" dirty="0" smtClean="0"/>
              <a:t>balance and sequence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625475" lvl="0" indent="-625475"/>
            <a:r>
              <a:rPr lang="en-US" dirty="0" smtClean="0"/>
              <a:t>2. Ralph Tyler’s End- Means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742950" lvl="0" indent="-742950">
              <a:buClrTx/>
              <a:buSzPct val="100000"/>
              <a:buFont typeface="+mj-lt"/>
              <a:buAutoNum type="arabicPeriod"/>
            </a:pPr>
            <a:r>
              <a:rPr lang="x-none" smtClean="0"/>
              <a:t>Determining the school’s and teacher’s philosophy</a:t>
            </a:r>
            <a:endParaRPr lang="en-US" dirty="0" smtClean="0"/>
          </a:p>
          <a:p>
            <a:pPr marL="742950" lvl="0" indent="-742950">
              <a:buClrTx/>
              <a:buSzPct val="100000"/>
              <a:buFont typeface="+mj-lt"/>
              <a:buAutoNum type="arabicPeriod"/>
            </a:pPr>
            <a:r>
              <a:rPr lang="x-none" smtClean="0"/>
              <a:t>Identifying educational purposes</a:t>
            </a:r>
            <a:endParaRPr lang="en-US" dirty="0" smtClean="0"/>
          </a:p>
          <a:p>
            <a:pPr marL="742950" lvl="0" indent="-742950">
              <a:buClrTx/>
              <a:buSzPct val="100000"/>
              <a:buFont typeface="+mj-lt"/>
              <a:buAutoNum type="arabicPeriod"/>
            </a:pPr>
            <a:r>
              <a:rPr lang="x-none" smtClean="0"/>
              <a:t>Selecting and organizing content</a:t>
            </a:r>
            <a:endParaRPr lang="en-US" dirty="0" smtClean="0"/>
          </a:p>
          <a:p>
            <a:pPr marL="742950" lvl="0" indent="-742950">
              <a:buClrTx/>
              <a:buSzPct val="100000"/>
              <a:buFont typeface="+mj-lt"/>
              <a:buAutoNum type="arabicPeriod"/>
            </a:pPr>
            <a:r>
              <a:rPr lang="x-none" smtClean="0"/>
              <a:t>Evaluation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Tyler suggest to consider three important elements: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/>
              <a:t>1. learners</a:t>
            </a:r>
            <a:r>
              <a:rPr lang="en-US" dirty="0" smtClean="0"/>
              <a:t> (analyzing their needs and wants);</a:t>
            </a:r>
          </a:p>
          <a:p>
            <a:pPr>
              <a:buNone/>
            </a:pPr>
            <a:r>
              <a:rPr lang="en-US" dirty="0" smtClean="0"/>
              <a:t>2. </a:t>
            </a:r>
            <a:r>
              <a:rPr lang="en-US" b="1" dirty="0" smtClean="0"/>
              <a:t>society</a:t>
            </a:r>
            <a:r>
              <a:rPr lang="en-US" dirty="0" smtClean="0"/>
              <a:t> (so that learners will understand, be able to interact with, and help find ways of solving problems in the environment they are in), and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b="1" dirty="0" smtClean="0"/>
              <a:t>subject matter </a:t>
            </a:r>
            <a:r>
              <a:rPr lang="en-US" dirty="0" smtClean="0"/>
              <a:t>(has to be organized following a structure of knowledge and congruent with learners’ and society’s demands)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Linking Curriculum with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b="1" smtClean="0"/>
              <a:t>Curriculum and Instruction</a:t>
            </a:r>
            <a:r>
              <a:rPr lang="x-none" smtClean="0"/>
              <a:t>, as has been shown earlier, are inextricably related to each other</a:t>
            </a:r>
            <a:endParaRPr lang="en-US" dirty="0" smtClean="0"/>
          </a:p>
          <a:p>
            <a:pPr lvl="0"/>
            <a:r>
              <a:rPr lang="x-none" smtClean="0"/>
              <a:t>the </a:t>
            </a:r>
            <a:r>
              <a:rPr lang="x-none" b="1" smtClean="0"/>
              <a:t>basis for instruction </a:t>
            </a:r>
            <a:r>
              <a:rPr lang="x-none" smtClean="0"/>
              <a:t>is the </a:t>
            </a:r>
            <a:r>
              <a:rPr lang="x-none" b="1" smtClean="0"/>
              <a:t>curriculum</a:t>
            </a:r>
            <a:r>
              <a:rPr lang="x-none" smtClean="0"/>
              <a:t> and that curriculum has been developed primarily to be taught to learners in school, as terms, they are often used interchangeably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Phases/ Processes in Curriculum Development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 smtClean="0"/>
              <a:t>Curriculum Planning</a:t>
            </a:r>
            <a:r>
              <a:rPr lang="en-US" u="sng" dirty="0" smtClean="0"/>
              <a:t> </a:t>
            </a:r>
          </a:p>
          <a:p>
            <a:r>
              <a:rPr lang="x-none" smtClean="0"/>
              <a:t>A process that involves situation analysis, goal setting and need identification, budget determination, and decision-making regarding implementation and evaluation details</a:t>
            </a:r>
            <a:endParaRPr lang="en-US" sz="4400" dirty="0" smtClean="0"/>
          </a:p>
          <a:p>
            <a:r>
              <a:rPr lang="x-none" smtClean="0"/>
              <a:t>Situation Analysis</a:t>
            </a:r>
            <a:endParaRPr lang="en-US" sz="4400" dirty="0" smtClean="0"/>
          </a:p>
          <a:p>
            <a:pPr lvl="1"/>
            <a:r>
              <a:rPr lang="x-none" smtClean="0"/>
              <a:t>Points to the need to examine the nature of the situation, or learning context, to justify the selection of objectives and learning experiences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x-none" smtClean="0"/>
              <a:t>On the </a:t>
            </a:r>
            <a:r>
              <a:rPr lang="x-none" b="1" smtClean="0"/>
              <a:t>macro-level</a:t>
            </a:r>
            <a:r>
              <a:rPr lang="x-none" smtClean="0"/>
              <a:t> (societal, governmental), situation includes these </a:t>
            </a:r>
            <a:r>
              <a:rPr lang="x-none" b="1" smtClean="0"/>
              <a:t>factors</a:t>
            </a:r>
            <a:endParaRPr lang="en-US" sz="4400" b="1" dirty="0" smtClean="0"/>
          </a:p>
          <a:p>
            <a:r>
              <a:rPr lang="x-none" b="1" smtClean="0"/>
              <a:t>Cultural</a:t>
            </a:r>
            <a:r>
              <a:rPr lang="x-none" smtClean="0"/>
              <a:t> and </a:t>
            </a:r>
            <a:r>
              <a:rPr lang="x-none" b="1" smtClean="0"/>
              <a:t>social</a:t>
            </a:r>
            <a:r>
              <a:rPr lang="x-none" smtClean="0"/>
              <a:t> changes and expectation </a:t>
            </a:r>
            <a:r>
              <a:rPr lang="x-none" i="1" smtClean="0"/>
              <a:t>(e.g. parental expectations, employer requirements, community values, changing relationships and ideology)</a:t>
            </a:r>
            <a:endParaRPr lang="en-US" sz="4400" i="1" dirty="0" smtClean="0"/>
          </a:p>
          <a:p>
            <a:r>
              <a:rPr lang="x-none" b="1" smtClean="0"/>
              <a:t>Educational</a:t>
            </a:r>
            <a:r>
              <a:rPr lang="x-none" smtClean="0"/>
              <a:t> </a:t>
            </a:r>
            <a:r>
              <a:rPr lang="x-none" b="1" smtClean="0"/>
              <a:t>system</a:t>
            </a:r>
            <a:r>
              <a:rPr lang="x-none" smtClean="0"/>
              <a:t> </a:t>
            </a:r>
            <a:r>
              <a:rPr lang="x-none" b="1" smtClean="0"/>
              <a:t>requirements</a:t>
            </a:r>
            <a:r>
              <a:rPr lang="x-none" smtClean="0"/>
              <a:t> and challenges </a:t>
            </a:r>
            <a:r>
              <a:rPr lang="x-none" i="1" smtClean="0"/>
              <a:t>(e.g. policies, examinations, research, local authority and demands)</a:t>
            </a:r>
            <a:endParaRPr lang="en-US" sz="4400" i="1" dirty="0" smtClean="0"/>
          </a:p>
          <a:p>
            <a:r>
              <a:rPr lang="x-none" smtClean="0"/>
              <a:t>The </a:t>
            </a:r>
            <a:r>
              <a:rPr lang="x-none" b="1" smtClean="0"/>
              <a:t>changing nature of the subject matter </a:t>
            </a:r>
            <a:r>
              <a:rPr lang="x-none" smtClean="0"/>
              <a:t>to be taught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x-none" smtClean="0"/>
              <a:t>The potential contribution of teacher support systems </a:t>
            </a:r>
            <a:r>
              <a:rPr lang="x-none" i="1" smtClean="0"/>
              <a:t>(e.g. teacher-training institutions, research institutes)</a:t>
            </a:r>
            <a:endParaRPr lang="en-US" sz="4400" i="1" dirty="0" smtClean="0"/>
          </a:p>
          <a:p>
            <a:r>
              <a:rPr lang="x-none" smtClean="0"/>
              <a:t>Flow of resources into the school </a:t>
            </a:r>
            <a:endParaRPr lang="en-US" sz="4400" dirty="0" smtClean="0"/>
          </a:p>
          <a:p>
            <a:r>
              <a:rPr lang="x-none" smtClean="0"/>
              <a:t>On the </a:t>
            </a:r>
            <a:r>
              <a:rPr lang="x-none" b="1" smtClean="0"/>
              <a:t>micro level </a:t>
            </a:r>
            <a:r>
              <a:rPr lang="x-none" i="1" smtClean="0"/>
              <a:t>(school/classroom level)</a:t>
            </a:r>
            <a:r>
              <a:rPr lang="x-none" smtClean="0"/>
              <a:t> the factors that need to be analyzed include: </a:t>
            </a:r>
            <a:endParaRPr lang="en-US" sz="4400" dirty="0" smtClean="0"/>
          </a:p>
          <a:p>
            <a:pPr lvl="1"/>
            <a:r>
              <a:rPr lang="x-none" b="1" i="1" smtClean="0"/>
              <a:t>Pupils</a:t>
            </a:r>
            <a:r>
              <a:rPr lang="x-none" smtClean="0"/>
              <a:t>: Aptitudes, abilities, identified educational needs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x-none" b="1" i="1" smtClean="0"/>
              <a:t>Teachers</a:t>
            </a:r>
            <a:r>
              <a:rPr lang="x-none" smtClean="0"/>
              <a:t>: values, attitudes, skills, knowledge, experiences, special strengths and weaknesses, roles</a:t>
            </a:r>
            <a:endParaRPr lang="en-US" sz="4400" dirty="0" smtClean="0"/>
          </a:p>
          <a:p>
            <a:r>
              <a:rPr lang="x-none" b="1" i="1" smtClean="0"/>
              <a:t>School organizational climate and structure</a:t>
            </a:r>
            <a:r>
              <a:rPr lang="x-none" i="1" smtClean="0"/>
              <a:t>: </a:t>
            </a:r>
            <a:r>
              <a:rPr lang="x-none" smtClean="0"/>
              <a:t>traditions, power, distribution, authority relationships, and dealing with other school stakeholders</a:t>
            </a:r>
            <a:endParaRPr lang="en-US" sz="4400" dirty="0" smtClean="0"/>
          </a:p>
          <a:p>
            <a:r>
              <a:rPr lang="x-none" b="1" i="1" smtClean="0"/>
              <a:t>Material resources: </a:t>
            </a:r>
            <a:r>
              <a:rPr lang="x-none" smtClean="0"/>
              <a:t>buildings, plant, equipment and potential for enhancing these</a:t>
            </a:r>
            <a:endParaRPr lang="en-US" sz="4400" dirty="0" smtClean="0"/>
          </a:p>
          <a:p>
            <a:r>
              <a:rPr lang="x-none" b="1" i="1" smtClean="0"/>
              <a:t>Perceived and felt problems</a:t>
            </a:r>
            <a:r>
              <a:rPr lang="x-none" b="1" smtClean="0"/>
              <a:t> </a:t>
            </a:r>
            <a:r>
              <a:rPr lang="x-none" smtClean="0"/>
              <a:t>in existing curriculum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 smtClean="0"/>
              <a:t>Curriculum Organization and Design</a:t>
            </a:r>
            <a:endParaRPr lang="en-US" u="sng" dirty="0" smtClean="0"/>
          </a:p>
          <a:p>
            <a:pPr lvl="0"/>
            <a:r>
              <a:rPr lang="x-none" smtClean="0"/>
              <a:t>Involves the “form” design, pattern, or simply the </a:t>
            </a:r>
            <a:r>
              <a:rPr lang="x-none" b="1" smtClean="0"/>
              <a:t>arrangement of elements </a:t>
            </a:r>
            <a:r>
              <a:rPr lang="x-none" smtClean="0"/>
              <a:t>of curriculum used; based on one dominant source of curriculum content</a:t>
            </a:r>
            <a:endParaRPr lang="en-US" dirty="0" smtClean="0"/>
          </a:p>
          <a:p>
            <a:pPr lvl="0"/>
            <a:r>
              <a:rPr lang="x-none" smtClean="0"/>
              <a:t>Includes </a:t>
            </a:r>
            <a:r>
              <a:rPr lang="x-none" b="1" smtClean="0"/>
              <a:t>selection of content/subject </a:t>
            </a:r>
            <a:r>
              <a:rPr lang="x-none" smtClean="0"/>
              <a:t>matter/competencies/learning activities, grade placement, time allotment, and sequence of content/activities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b="1" smtClean="0"/>
              <a:t>Answers such questions as: </a:t>
            </a:r>
            <a:endParaRPr lang="en-US" b="1" dirty="0" smtClean="0"/>
          </a:p>
          <a:p>
            <a:r>
              <a:rPr lang="x-none" i="1" smtClean="0"/>
              <a:t>What is to be done?; </a:t>
            </a:r>
            <a:endParaRPr lang="en-US" i="1" dirty="0" smtClean="0"/>
          </a:p>
          <a:p>
            <a:r>
              <a:rPr lang="x-none" i="1" smtClean="0"/>
              <a:t>What </a:t>
            </a:r>
            <a:r>
              <a:rPr lang="x-none" b="1" i="1" smtClean="0"/>
              <a:t>subject matter </a:t>
            </a:r>
            <a:r>
              <a:rPr lang="x-none" i="1" smtClean="0"/>
              <a:t>is to be included?; </a:t>
            </a:r>
            <a:endParaRPr lang="en-US" i="1" dirty="0" smtClean="0"/>
          </a:p>
          <a:p>
            <a:r>
              <a:rPr lang="x-none" i="1" smtClean="0"/>
              <a:t>What </a:t>
            </a:r>
            <a:r>
              <a:rPr lang="x-none" b="1" i="1" smtClean="0"/>
              <a:t>instructional strategies</a:t>
            </a:r>
            <a:r>
              <a:rPr lang="x-none" i="1" smtClean="0"/>
              <a:t>, resources and activities will be employed?</a:t>
            </a:r>
            <a:endParaRPr lang="en-US" i="1" dirty="0" smtClean="0"/>
          </a:p>
          <a:p>
            <a:r>
              <a:rPr lang="x-none" i="1" smtClean="0"/>
              <a:t>What </a:t>
            </a:r>
            <a:r>
              <a:rPr lang="x-none" b="1" i="1" smtClean="0"/>
              <a:t>methods</a:t>
            </a:r>
            <a:r>
              <a:rPr lang="x-none" i="1" smtClean="0"/>
              <a:t> and </a:t>
            </a:r>
            <a:r>
              <a:rPr lang="x-none" b="1" i="1" smtClean="0"/>
              <a:t>instruments</a:t>
            </a:r>
            <a:r>
              <a:rPr lang="x-none" i="1" smtClean="0"/>
              <a:t> will be used to appraise the results of the curriculum?</a:t>
            </a:r>
            <a:endParaRPr lang="en-US" i="1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x-none" b="1" smtClean="0"/>
              <a:t>Criteria for selecting content</a:t>
            </a:r>
            <a:endParaRPr lang="en-US" sz="4400" b="1" dirty="0" smtClean="0"/>
          </a:p>
          <a:p>
            <a:r>
              <a:rPr lang="x-none" b="1" i="1" smtClean="0"/>
              <a:t>Validity-</a:t>
            </a:r>
            <a:r>
              <a:rPr lang="x-none" smtClean="0"/>
              <a:t> whether content is authentic and can achieve stated objective</a:t>
            </a:r>
            <a:endParaRPr lang="en-US" sz="4400" dirty="0" smtClean="0"/>
          </a:p>
          <a:p>
            <a:r>
              <a:rPr lang="x-none" b="1" i="1" smtClean="0"/>
              <a:t>Significance-</a:t>
            </a:r>
            <a:r>
              <a:rPr lang="x-none" smtClean="0"/>
              <a:t> whether content is fundamental to the subject in question; whether selected content allows for breadth and depth of treatment (</a:t>
            </a:r>
            <a:r>
              <a:rPr lang="x-none" i="1" smtClean="0"/>
              <a:t>flexibility</a:t>
            </a:r>
            <a:r>
              <a:rPr lang="x-none" smtClean="0"/>
              <a:t>)</a:t>
            </a:r>
            <a:endParaRPr lang="en-US" sz="4400" dirty="0" smtClean="0"/>
          </a:p>
          <a:p>
            <a:r>
              <a:rPr lang="x-none" b="1" i="1" smtClean="0"/>
              <a:t>Interest</a:t>
            </a:r>
            <a:r>
              <a:rPr lang="x-none" smtClean="0"/>
              <a:t>: whether content is easily learnable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x-none" b="1" i="1" smtClean="0"/>
              <a:t>Consistency</a:t>
            </a:r>
            <a:r>
              <a:rPr lang="x-none" smtClean="0"/>
              <a:t> with social realities: whether content represents most useful orientation</a:t>
            </a:r>
            <a:endParaRPr lang="en-US" sz="4400" dirty="0" smtClean="0"/>
          </a:p>
          <a:p>
            <a:r>
              <a:rPr lang="x-none" b="1" i="1" smtClean="0"/>
              <a:t>Integration</a:t>
            </a:r>
            <a:r>
              <a:rPr lang="x-none" smtClean="0"/>
              <a:t>: brings to a close relationship all concepts, skills and values contained in the curriculum</a:t>
            </a:r>
            <a:endParaRPr lang="en-US" sz="4400" dirty="0" smtClean="0"/>
          </a:p>
          <a:p>
            <a:r>
              <a:rPr lang="x-none" b="1" i="1" smtClean="0"/>
              <a:t>Utility</a:t>
            </a:r>
            <a:r>
              <a:rPr lang="x-none" smtClean="0"/>
              <a:t>: </a:t>
            </a:r>
            <a:r>
              <a:rPr lang="en-US" dirty="0" smtClean="0"/>
              <a:t> </a:t>
            </a:r>
            <a:r>
              <a:rPr lang="x-none" smtClean="0"/>
              <a:t>whether content is helpful to student in coping with real life</a:t>
            </a:r>
            <a:endParaRPr lang="en-US" sz="4400" dirty="0" smtClean="0"/>
          </a:p>
          <a:p>
            <a:r>
              <a:rPr lang="x-none" b="1" i="1" smtClean="0"/>
              <a:t>Scope</a:t>
            </a:r>
            <a:r>
              <a:rPr lang="x-none" smtClean="0"/>
              <a:t>: </a:t>
            </a:r>
            <a:r>
              <a:rPr lang="en-US" dirty="0" smtClean="0"/>
              <a:t> </a:t>
            </a:r>
            <a:r>
              <a:rPr lang="x-none" smtClean="0"/>
              <a:t>breadth of the curriculum at a given time; refers to the range of important ideas and concepts included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x-none" b="1" smtClean="0"/>
              <a:t>Elements </a:t>
            </a:r>
            <a:r>
              <a:rPr lang="x-none" b="1" smtClean="0"/>
              <a:t>of curriculum conten</a:t>
            </a:r>
            <a:r>
              <a:rPr lang="en-US" b="1" dirty="0" smtClean="0"/>
              <a:t>t</a:t>
            </a:r>
            <a:endParaRPr lang="en-US" sz="4400" b="1" dirty="0" smtClean="0"/>
          </a:p>
          <a:p>
            <a:r>
              <a:rPr lang="x-none" b="1" i="1" smtClean="0"/>
              <a:t>Sequence-</a:t>
            </a:r>
            <a:r>
              <a:rPr lang="x-none" smtClean="0"/>
              <a:t> may be form simple to complex, whole to part, chronological, concrete to abstract, from part to whole, close to remote, expository order based on perquisite learnings</a:t>
            </a:r>
            <a:endParaRPr lang="en-US" sz="4400" dirty="0" smtClean="0"/>
          </a:p>
          <a:p>
            <a:r>
              <a:rPr lang="x-none" b="1" i="1" smtClean="0"/>
              <a:t>Integration-</a:t>
            </a:r>
            <a:r>
              <a:rPr lang="x-none" smtClean="0"/>
              <a:t> horizontal relationship (e.g. Math- Science) or vertical integration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x-none" b="1" i="1" smtClean="0"/>
              <a:t>Focus-</a:t>
            </a:r>
            <a:r>
              <a:rPr lang="x-none" smtClean="0"/>
              <a:t> determining which content items are more important to cover excessive number of facts may hinder coverage of main ideas; </a:t>
            </a:r>
            <a:endParaRPr lang="en-US" sz="4400" dirty="0" smtClean="0"/>
          </a:p>
          <a:p>
            <a:r>
              <a:rPr lang="x-none" b="1" smtClean="0"/>
              <a:t>Grade placement</a:t>
            </a:r>
            <a:endParaRPr lang="en-US" sz="4400" b="1" dirty="0" smtClean="0"/>
          </a:p>
          <a:p>
            <a:r>
              <a:rPr lang="x-none" smtClean="0"/>
              <a:t>Allocation of content to definite grade capable of </a:t>
            </a:r>
            <a:r>
              <a:rPr lang="x-none" smtClean="0"/>
              <a:t>learning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x-none" b="1" smtClean="0"/>
              <a:t>Time allotment</a:t>
            </a:r>
            <a:endParaRPr lang="en-US" sz="4400" b="1" dirty="0" smtClean="0"/>
          </a:p>
          <a:p>
            <a:r>
              <a:rPr lang="x-none" smtClean="0"/>
              <a:t>Specification of definite time for subject/course; amount of time given to a subject</a:t>
            </a:r>
            <a:endParaRPr lang="en-US" sz="4400" dirty="0" smtClean="0"/>
          </a:p>
          <a:p>
            <a:r>
              <a:rPr lang="x-none" i="1" smtClean="0"/>
              <a:t>Factors to consider: </a:t>
            </a:r>
            <a:r>
              <a:rPr lang="x-none" smtClean="0"/>
              <a:t>importance of subject; child’s ability; grade level average number of days/hours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Curriculum Implementation</a:t>
            </a:r>
          </a:p>
          <a:p>
            <a:pPr lvl="0"/>
            <a:r>
              <a:rPr lang="x-none" smtClean="0"/>
              <a:t>A process by which curricula are used in schools; </a:t>
            </a:r>
            <a:endParaRPr lang="en-US" dirty="0" smtClean="0"/>
          </a:p>
          <a:p>
            <a:pPr lvl="0"/>
            <a:r>
              <a:rPr lang="x-none" smtClean="0"/>
              <a:t>this is the instructional phase of curriculum development process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x-none" b="1" i="1" smtClean="0"/>
              <a:t>Includes knowing the</a:t>
            </a:r>
            <a:r>
              <a:rPr lang="en-US" b="1" i="1" dirty="0" smtClean="0"/>
              <a:t>:</a:t>
            </a:r>
            <a:endParaRPr lang="en-US" sz="4400" b="1" i="1" dirty="0" smtClean="0"/>
          </a:p>
          <a:p>
            <a:r>
              <a:rPr lang="x-none" smtClean="0"/>
              <a:t>Scope and complexity of curricular changes</a:t>
            </a:r>
            <a:endParaRPr lang="en-US" sz="4400" dirty="0" smtClean="0"/>
          </a:p>
          <a:p>
            <a:r>
              <a:rPr lang="x-none" smtClean="0"/>
              <a:t>How curriculum content is disseminated</a:t>
            </a:r>
            <a:endParaRPr lang="en-US" sz="4400" dirty="0" smtClean="0"/>
          </a:p>
          <a:p>
            <a:r>
              <a:rPr lang="x-none" b="1" smtClean="0"/>
              <a:t>Professional development</a:t>
            </a:r>
            <a:endParaRPr lang="en-US" sz="4400" b="1" dirty="0" smtClean="0"/>
          </a:p>
          <a:p>
            <a:r>
              <a:rPr lang="x-none" smtClean="0"/>
              <a:t>Identification of resources requirement</a:t>
            </a:r>
            <a:endParaRPr lang="en-US" sz="4400" dirty="0" smtClean="0"/>
          </a:p>
          <a:p>
            <a:r>
              <a:rPr lang="x-none" smtClean="0"/>
              <a:t>Requires planning and managing the major operations that occur in </a:t>
            </a:r>
            <a:r>
              <a:rPr lang="en-US" dirty="0" smtClean="0"/>
              <a:t>u</a:t>
            </a:r>
            <a:r>
              <a:rPr lang="x-none" smtClean="0"/>
              <a:t>sing the curriculum in the classroom 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Curriculum Evaluation</a:t>
            </a:r>
          </a:p>
          <a:p>
            <a:pPr lvl="0"/>
            <a:r>
              <a:rPr lang="x-none" smtClean="0"/>
              <a:t>Refers </a:t>
            </a:r>
            <a:r>
              <a:rPr lang="x-none" smtClean="0"/>
              <a:t>to the formal determination of the quality, effectiveness, or value of a curriculum(Stufflebeam, 1991)</a:t>
            </a:r>
            <a:endParaRPr lang="en-US" dirty="0" smtClean="0"/>
          </a:p>
          <a:p>
            <a:r>
              <a:rPr lang="x-none" smtClean="0"/>
              <a:t>Involves value judgment about the curriculum</a:t>
            </a:r>
            <a:endParaRPr lang="en-US" dirty="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smtClean="0"/>
              <a:t>Consist of process and product assessment</a:t>
            </a:r>
            <a:endParaRPr lang="en-US" dirty="0" smtClean="0"/>
          </a:p>
          <a:p>
            <a:pPr marL="273050" lvl="2" indent="-27305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 smtClean="0"/>
              <a:t>1. </a:t>
            </a:r>
            <a:r>
              <a:rPr lang="x-none" b="1" i="1" smtClean="0"/>
              <a:t>Process </a:t>
            </a:r>
            <a:r>
              <a:rPr lang="x-none" b="1" i="1" smtClean="0"/>
              <a:t>evaluation- </a:t>
            </a:r>
            <a:r>
              <a:rPr lang="x-none" smtClean="0"/>
              <a:t>used to </a:t>
            </a:r>
            <a:endParaRPr lang="en-US" dirty="0" smtClean="0"/>
          </a:p>
          <a:p>
            <a:pPr marL="273050" lvl="2" indent="-273050">
              <a:spcBef>
                <a:spcPts val="600"/>
              </a:spcBef>
              <a:buClr>
                <a:schemeClr val="accent1"/>
              </a:buClr>
            </a:pPr>
            <a:r>
              <a:rPr lang="x-none" smtClean="0"/>
              <a:t>provide </a:t>
            </a:r>
            <a:r>
              <a:rPr lang="x-none" smtClean="0"/>
              <a:t>information about the extent to which plans for curriculum implementation are executed and the wise use of resources; </a:t>
            </a:r>
            <a:endParaRPr lang="en-US" dirty="0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i="1" dirty="0" smtClean="0"/>
              <a:t>2. Product evaluation- </a:t>
            </a:r>
            <a:endParaRPr lang="en-US" b="1" i="1" dirty="0" smtClean="0"/>
          </a:p>
          <a:p>
            <a:r>
              <a:rPr lang="en-US" dirty="0" smtClean="0"/>
              <a:t>to </a:t>
            </a:r>
            <a:r>
              <a:rPr lang="en-US" dirty="0" smtClean="0"/>
              <a:t>determine </a:t>
            </a:r>
            <a:r>
              <a:rPr lang="en-US" i="1" dirty="0" smtClean="0"/>
              <a:t>how well the curriculum meets the needs of the students </a:t>
            </a:r>
            <a:r>
              <a:rPr lang="en-US" dirty="0" smtClean="0"/>
              <a:t>it is intended to serve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Curriculum Improvement</a:t>
            </a:r>
            <a:endParaRPr lang="en-US" u="sng" dirty="0" smtClean="0"/>
          </a:p>
          <a:p>
            <a:r>
              <a:rPr lang="x-none" smtClean="0"/>
              <a:t>Refers to alteration of certain aspects of curriculum without changing the fundamental curriculum elements/ structures/ </a:t>
            </a:r>
            <a:r>
              <a:rPr lang="x-none" smtClean="0"/>
              <a:t>conception</a:t>
            </a:r>
            <a:endParaRPr lang="en-US" sz="4400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x-none" b="1" smtClean="0"/>
              <a:t>Involves five levels of operation:</a:t>
            </a:r>
            <a:endParaRPr lang="en-US" sz="4400" b="1" dirty="0" smtClean="0"/>
          </a:p>
          <a:p>
            <a:r>
              <a:rPr lang="x-none" b="1" i="1" smtClean="0"/>
              <a:t>substitution</a:t>
            </a:r>
            <a:r>
              <a:rPr lang="x-none" smtClean="0"/>
              <a:t> (new series </a:t>
            </a:r>
            <a:r>
              <a:rPr lang="en-US" dirty="0" smtClean="0"/>
              <a:t>in</a:t>
            </a:r>
            <a:r>
              <a:rPr lang="x-none" smtClean="0"/>
              <a:t> place of current series);</a:t>
            </a:r>
            <a:endParaRPr lang="en-US" sz="4400" dirty="0" smtClean="0"/>
          </a:p>
          <a:p>
            <a:r>
              <a:rPr lang="x-none" b="1" smtClean="0"/>
              <a:t>alteration</a:t>
            </a:r>
            <a:r>
              <a:rPr lang="x-none" smtClean="0"/>
              <a:t> (additional instructional time for a subject); </a:t>
            </a:r>
            <a:endParaRPr lang="en-US" sz="4400" dirty="0" smtClean="0"/>
          </a:p>
          <a:p>
            <a:r>
              <a:rPr lang="x-none" b="1" i="1" smtClean="0"/>
              <a:t>variation</a:t>
            </a:r>
            <a:r>
              <a:rPr lang="x-none" smtClean="0"/>
              <a:t> (adopting other school’s programs); </a:t>
            </a:r>
            <a:endParaRPr lang="en-US" sz="4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x-none" b="1" i="1" smtClean="0"/>
              <a:t>restructuring</a:t>
            </a:r>
            <a:r>
              <a:rPr lang="x-none" smtClean="0"/>
              <a:t> </a:t>
            </a:r>
            <a:r>
              <a:rPr lang="x-none" smtClean="0"/>
              <a:t>(organize teams o</a:t>
            </a:r>
            <a:r>
              <a:rPr lang="en-US" dirty="0" smtClean="0"/>
              <a:t>f</a:t>
            </a:r>
            <a:r>
              <a:rPr lang="x-none" smtClean="0"/>
              <a:t> subjects specialists, teachers and aids);</a:t>
            </a:r>
            <a:endParaRPr lang="en-US" sz="4400" dirty="0" smtClean="0"/>
          </a:p>
          <a:p>
            <a:r>
              <a:rPr lang="x-none" b="1" i="1" smtClean="0"/>
              <a:t>value orientation </a:t>
            </a:r>
            <a:r>
              <a:rPr lang="x-none" smtClean="0"/>
              <a:t>(some instructional routine matters made part of computer-assisted instruction)</a:t>
            </a:r>
            <a:endParaRPr lang="en-US" sz="4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Curriculum changes</a:t>
            </a:r>
          </a:p>
          <a:p>
            <a:r>
              <a:rPr lang="en-US" dirty="0" smtClean="0"/>
              <a:t>Refers to the basic alteration in the structure and design of learning experiences based on new conceptions, which may be at the school, district or national level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 smtClean="0"/>
              <a:t>Involves the following tasks:</a:t>
            </a:r>
          </a:p>
          <a:p>
            <a:pPr>
              <a:buNone/>
            </a:pPr>
            <a:r>
              <a:rPr lang="en-US" dirty="0" smtClean="0"/>
              <a:t>1. </a:t>
            </a:r>
            <a:r>
              <a:rPr lang="en-US" b="1" i="1" dirty="0" smtClean="0"/>
              <a:t>Identification</a:t>
            </a:r>
            <a:r>
              <a:rPr lang="en-US" dirty="0" smtClean="0"/>
              <a:t> of a particular need to change; may be based on evaluation results, or initiative from concerned individuals or groups</a:t>
            </a:r>
          </a:p>
          <a:p>
            <a:pPr>
              <a:buNone/>
            </a:pPr>
            <a:r>
              <a:rPr lang="en-US" dirty="0" smtClean="0"/>
              <a:t>2. study of </a:t>
            </a:r>
            <a:r>
              <a:rPr lang="en-US" b="1" i="1" dirty="0" smtClean="0"/>
              <a:t>alternative</a:t>
            </a:r>
            <a:r>
              <a:rPr lang="en-US" dirty="0" smtClean="0"/>
              <a:t> and proposals for change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b="1" i="1" dirty="0" smtClean="0"/>
              <a:t>selection</a:t>
            </a:r>
            <a:r>
              <a:rPr lang="en-US" dirty="0" smtClean="0"/>
              <a:t> of proposed change (either one subject only or in one school only)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4. </a:t>
            </a:r>
            <a:r>
              <a:rPr lang="en-US" b="1" i="1" dirty="0" smtClean="0"/>
              <a:t>Pilot study </a:t>
            </a:r>
            <a:r>
              <a:rPr lang="en-US" dirty="0" smtClean="0"/>
              <a:t>design (try out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5. </a:t>
            </a:r>
            <a:r>
              <a:rPr lang="en-US" b="1" i="1" dirty="0" smtClean="0"/>
              <a:t>Appraisal</a:t>
            </a:r>
            <a:r>
              <a:rPr lang="en-US" dirty="0" smtClean="0"/>
              <a:t> of data from pilot study, and the corresponding, necessary modification if any</a:t>
            </a:r>
          </a:p>
          <a:p>
            <a:pPr>
              <a:buNone/>
            </a:pPr>
            <a:r>
              <a:rPr lang="en-US" dirty="0" smtClean="0"/>
              <a:t>6. </a:t>
            </a:r>
            <a:r>
              <a:rPr lang="en-US" b="1" i="1" dirty="0" smtClean="0"/>
              <a:t>Continuous</a:t>
            </a:r>
            <a:r>
              <a:rPr lang="en-US" dirty="0" smtClean="0"/>
              <a:t> study by concerned staff through adequate in service activities and help of any consultant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7</a:t>
            </a:r>
            <a:r>
              <a:rPr lang="en-US" dirty="0" smtClean="0"/>
              <a:t>. </a:t>
            </a:r>
            <a:r>
              <a:rPr lang="en-US" b="1" i="1" dirty="0" smtClean="0"/>
              <a:t>Decision</a:t>
            </a:r>
            <a:r>
              <a:rPr lang="en-US" dirty="0" smtClean="0"/>
              <a:t> to adapt, adopt or reject</a:t>
            </a:r>
          </a:p>
          <a:p>
            <a:pPr>
              <a:buNone/>
            </a:pPr>
            <a:r>
              <a:rPr lang="en-US" dirty="0" smtClean="0"/>
              <a:t>8. </a:t>
            </a:r>
            <a:r>
              <a:rPr lang="en-US" b="1" i="1" dirty="0" smtClean="0"/>
              <a:t>Integration</a:t>
            </a:r>
            <a:r>
              <a:rPr lang="en-US" dirty="0" smtClean="0"/>
              <a:t> into school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VERY MUCH..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455</TotalTime>
  <Words>1728</Words>
  <Application>Microsoft Office PowerPoint</Application>
  <PresentationFormat>On-screen Show (4:3)</PresentationFormat>
  <Paragraphs>146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Origin</vt:lpstr>
      <vt:lpstr>CURRICULUM DEVELOPMENT</vt:lpstr>
      <vt:lpstr>What is Curriculum Development?</vt:lpstr>
      <vt:lpstr>Phases of Curriculum Dev’t.</vt:lpstr>
      <vt:lpstr>Stakeholders in Curriculum Development</vt:lpstr>
      <vt:lpstr>Slide 5</vt:lpstr>
      <vt:lpstr>Specific role of different stakeholders in curriculum development</vt:lpstr>
      <vt:lpstr>Slide 7</vt:lpstr>
      <vt:lpstr>Slide 8</vt:lpstr>
      <vt:lpstr>Slide 9</vt:lpstr>
      <vt:lpstr>Slide 10</vt:lpstr>
      <vt:lpstr>Slide 11</vt:lpstr>
      <vt:lpstr>Approaches to Curriculum Development</vt:lpstr>
      <vt:lpstr>Slide 13</vt:lpstr>
      <vt:lpstr>Slide 14</vt:lpstr>
      <vt:lpstr>Most Influential Models of Curriculum Development</vt:lpstr>
      <vt:lpstr>Slide 16</vt:lpstr>
      <vt:lpstr>Slide 17</vt:lpstr>
      <vt:lpstr>Slide 18</vt:lpstr>
      <vt:lpstr>2. Ralph Tyler’s End- Means Model</vt:lpstr>
      <vt:lpstr>Tyler suggest to consider three important elements:</vt:lpstr>
      <vt:lpstr>Linking Curriculum with instruction</vt:lpstr>
      <vt:lpstr>Phases/ Processes in Curriculum Development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THANK YOU VERY MUCH..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DEVELOPMENT</dc:title>
  <dc:creator>JORIZ</dc:creator>
  <cp:lastModifiedBy>JORIZ</cp:lastModifiedBy>
  <cp:revision>47</cp:revision>
  <dcterms:created xsi:type="dcterms:W3CDTF">2013-12-13T23:29:21Z</dcterms:created>
  <dcterms:modified xsi:type="dcterms:W3CDTF">2014-06-19T03:58:12Z</dcterms:modified>
</cp:coreProperties>
</file>