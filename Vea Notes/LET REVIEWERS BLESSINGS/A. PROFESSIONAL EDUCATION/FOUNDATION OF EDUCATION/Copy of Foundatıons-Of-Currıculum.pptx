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1308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D4CA4-24DE-4128-B47D-94D572D51FEE}" type="datetimeFigureOut">
              <a:rPr lang="en-US" smtClean="0"/>
              <a:t>6/18/2014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F31EF-ECD1-487B-AFD0-C97DC7D143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x-none" i="1" smtClean="0"/>
              <a:t>(motivation, retention, and transfer)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EF31EF-ECD1-487B-AFD0-C97DC7D14341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D478FE41-7BE4-4997-852D-AAA1F0A0C5BC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5A0C6-5EAB-45E2-B27C-C8642A74D5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093BD-34DA-47B4-AFB0-CE600DC11F60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08119-ED8C-43C7-984C-CBC9AF823E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4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ox(in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8611C-5054-4802-B57E-94B2DB566F54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88FD6-347C-4886-B3B8-58A5E1F732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BF005-7AC3-4771-85D3-FD7F7A1556F8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70A1D-8BBB-4BB9-815C-41F17DEFD0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BF9F8-8EBC-4D2B-A6CB-587C28BD447E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90EE6-BD5A-4569-AA89-881E0C7EBB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99F86-8A60-45A3-912B-0D22CBFE05A7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6739C-98A9-4C0B-A661-7F6BAF5DBA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96126-C343-4001-9D3F-78D283FB5AE6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0D0E8-D3DC-4D26-AF44-8BDD4E80AB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715C0-B7BE-47F2-AC5E-FC996BEB716C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653D5-8C21-44C8-A637-7C7AA7F01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A6D05-E68C-4497-A335-266586916A18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26F47-4583-4143-A60C-129BF9F2E3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3E118-402F-4B7D-A690-0E5A7B01358A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71862-D9E4-4598-8E96-41E11FE025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E8908-BBC2-4770-AF3C-2B992ECFB00B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7D47D-5C11-4540-9113-84A77864A6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43B0F3-6E37-4713-A954-6C1A43E88239}" type="datetimeFigureOut">
              <a:rPr lang="en-US"/>
              <a:pPr>
                <a:defRPr/>
              </a:pPr>
              <a:t>6/18/2014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8F9F6A9-C232-44FA-8F43-C29C315A65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1" r:id="rId2"/>
    <p:sldLayoutId id="2147483726" r:id="rId3"/>
    <p:sldLayoutId id="2147483722" r:id="rId4"/>
    <p:sldLayoutId id="2147483723" r:id="rId5"/>
    <p:sldLayoutId id="2147483727" r:id="rId6"/>
    <p:sldLayoutId id="2147483728" r:id="rId7"/>
    <p:sldLayoutId id="2147483729" r:id="rId8"/>
    <p:sldLayoutId id="2147483730" r:id="rId9"/>
    <p:sldLayoutId id="2147483724" r:id="rId10"/>
    <p:sldLayoutId id="21474837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b="1" dirty="0" smtClean="0"/>
              <a:t>FOUNDATIONS OF CURRICULUM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Foundations of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smtClean="0"/>
              <a:t>The curriculum needs to be securely established in </a:t>
            </a:r>
            <a:r>
              <a:rPr lang="x-none" b="1" smtClean="0"/>
              <a:t>socio – cultural, philosophical and psychological</a:t>
            </a:r>
            <a:r>
              <a:rPr lang="x-none" smtClean="0"/>
              <a:t> bases for all – around development of the </a:t>
            </a:r>
            <a:r>
              <a:rPr lang="x-none" smtClean="0"/>
              <a:t>learner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smtClean="0"/>
              <a:t>The philosophical and socio – cultural foundations provide answer to the question </a:t>
            </a:r>
            <a:r>
              <a:rPr lang="x-none" b="1" smtClean="0"/>
              <a:t>“Why do we need a curriculum?”; </a:t>
            </a:r>
            <a:endParaRPr lang="en-US" b="1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smtClean="0"/>
              <a:t>psychological foundations</a:t>
            </a:r>
            <a:r>
              <a:rPr lang="x-none" b="1" smtClean="0"/>
              <a:t>, “How would curriculum be used in schools?”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x-none" smtClean="0"/>
              <a:t>Sociological and Cultural Foundations</a:t>
            </a:r>
            <a:endParaRPr 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Society and culture relate to curriculum in the sense that they are part of the </a:t>
            </a:r>
            <a:r>
              <a:rPr lang="en-US" b="1" dirty="0" smtClean="0"/>
              <a:t>bases and sources of many curriculum matters and decisions. </a:t>
            </a:r>
          </a:p>
          <a:p>
            <a:pPr eaLnBrk="1" hangingPunct="1">
              <a:defRPr/>
            </a:pPr>
            <a:r>
              <a:rPr lang="en-US" dirty="0" smtClean="0"/>
              <a:t>Whatever </a:t>
            </a:r>
            <a:r>
              <a:rPr lang="en-US" b="1" dirty="0" smtClean="0"/>
              <a:t>changes</a:t>
            </a:r>
            <a:r>
              <a:rPr lang="en-US" dirty="0" smtClean="0"/>
              <a:t> there are in them, education in general and </a:t>
            </a:r>
            <a:r>
              <a:rPr lang="en-US" b="1" dirty="0" smtClean="0"/>
              <a:t>curriculum</a:t>
            </a:r>
            <a:r>
              <a:rPr lang="en-US" dirty="0" smtClean="0"/>
              <a:t> in particular are </a:t>
            </a:r>
            <a:r>
              <a:rPr lang="en-US" b="1" dirty="0" smtClean="0"/>
              <a:t>affected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Societal Forces that affect curriculum:</a:t>
            </a:r>
            <a:endParaRPr 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b="1" dirty="0" smtClean="0"/>
              <a:t>Cultural Tradition </a:t>
            </a:r>
            <a:r>
              <a:rPr lang="en-US" dirty="0" smtClean="0"/>
              <a:t>– may become a stumbling block to progress, especially because schools’ stakeholders are part of the </a:t>
            </a:r>
            <a:r>
              <a:rPr lang="en-US" b="1" dirty="0" smtClean="0"/>
              <a:t>community–at–large</a:t>
            </a:r>
          </a:p>
          <a:p>
            <a:pPr eaLnBrk="1" hangingPunct="1"/>
            <a:r>
              <a:rPr lang="en-US" b="1" dirty="0" smtClean="0"/>
              <a:t>Textbooks</a:t>
            </a:r>
            <a:r>
              <a:rPr lang="en-US" dirty="0" smtClean="0"/>
              <a:t> – determine to a large extent the curriculum because of its availability, organized structure and easy bases for test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Laws</a:t>
            </a:r>
            <a:r>
              <a:rPr lang="x-none" smtClean="0"/>
              <a:t> – affect curriculum in terms of funding, policies and programs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Moral Values </a:t>
            </a:r>
            <a:r>
              <a:rPr lang="x-none" smtClean="0"/>
              <a:t>– are reflected in the curriculum especially because of socio –cultural basis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Multicultural </a:t>
            </a:r>
            <a:r>
              <a:rPr lang="x-none" b="1" smtClean="0"/>
              <a:t>Concerns</a:t>
            </a:r>
            <a:endParaRPr lang="en-US" b="1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Poverty</a:t>
            </a:r>
            <a:endParaRPr lang="en-US" b="1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Family Changes</a:t>
            </a:r>
            <a:endParaRPr lang="en-US" b="1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Technologies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447800"/>
          </a:xfrm>
        </p:spPr>
        <p:txBody>
          <a:bodyPr>
            <a:noAutofit/>
          </a:bodyPr>
          <a:lstStyle/>
          <a:p>
            <a:pPr eaLnBrk="1" hangingPunct="1"/>
            <a:r>
              <a:rPr lang="x-none" sz="3200" smtClean="0"/>
              <a:t>The school influences society through </a:t>
            </a:r>
            <a:r>
              <a:rPr lang="en-US" sz="3200" dirty="0" smtClean="0"/>
              <a:t>the </a:t>
            </a:r>
            <a:r>
              <a:rPr lang="x-none" sz="3200" smtClean="0"/>
              <a:t>development among the learners of the following:</a:t>
            </a:r>
            <a:endParaRPr lang="en-US" sz="32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4037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Citizenship</a:t>
            </a:r>
            <a:r>
              <a:rPr lang="x-none" smtClean="0"/>
              <a:t> – 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smtClean="0"/>
              <a:t>includes the teaching of </a:t>
            </a:r>
            <a:r>
              <a:rPr lang="x-none" b="1" i="1" smtClean="0"/>
              <a:t>cultural heritage </a:t>
            </a:r>
            <a:r>
              <a:rPr lang="x-none" smtClean="0"/>
              <a:t>and the development of a desire to protect and </a:t>
            </a:r>
            <a:r>
              <a:rPr lang="x-none" b="1" i="1" smtClean="0"/>
              <a:t>improve society</a:t>
            </a:r>
            <a:r>
              <a:rPr lang="x-none" smtClean="0"/>
              <a:t>, as well as the development of a </a:t>
            </a:r>
            <a:r>
              <a:rPr lang="x-none" b="1" i="1" smtClean="0"/>
              <a:t>desirable values </a:t>
            </a:r>
            <a:r>
              <a:rPr lang="x-none" smtClean="0"/>
              <a:t>that reflect collaborative, democratic, and nationalistic group efforts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Intellectualism</a:t>
            </a:r>
            <a:r>
              <a:rPr lang="x-none" smtClean="0"/>
              <a:t> – another school responsibility that is reflected in the belief that intellectual development is essential to having an improved / developed national economy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b="1" smtClean="0"/>
              <a:t>Vocational Preparation </a:t>
            </a:r>
            <a:r>
              <a:rPr lang="x-none" smtClean="0"/>
              <a:t>–</a:t>
            </a:r>
            <a:r>
              <a:rPr lang="en-US" dirty="0" smtClean="0"/>
              <a:t> </a:t>
            </a:r>
            <a:r>
              <a:rPr lang="x-none" smtClean="0"/>
              <a:t>the school’s responsibility of developing group oriented, inquiry focused, problem solving , and abstraction skills among learners as they are simultaneously developed to become productive and self – reliant individuals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600" smtClean="0"/>
              <a:t>Philosophical Foundations of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smtClean="0"/>
              <a:t>What is </a:t>
            </a:r>
            <a:r>
              <a:rPr lang="x-none" b="1" smtClean="0"/>
              <a:t>Philosophy</a:t>
            </a:r>
            <a:r>
              <a:rPr lang="en-US" b="1" dirty="0" smtClean="0"/>
              <a:t>?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It</a:t>
            </a:r>
            <a:r>
              <a:rPr lang="x-none" smtClean="0"/>
              <a:t> gives direction to curriculum in terms of its goals and objectives; </a:t>
            </a: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x-none" smtClean="0"/>
              <a:t>the schools’ underlying beliefs and values have impact on curriculum content and choice of appropriate instructional strategies and learning activities in implementing the curriculum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Table 3"/>
          <p:cNvGraphicFramePr>
            <a:graphicFrameLocks noGrp="1"/>
          </p:cNvGraphicFramePr>
          <p:nvPr/>
        </p:nvGraphicFramePr>
        <p:xfrm>
          <a:off x="381000" y="381000"/>
          <a:ext cx="8229600" cy="5951538"/>
        </p:xfrm>
        <a:graphic>
          <a:graphicData uri="http://schemas.openxmlformats.org/drawingml/2006/table">
            <a:tbl>
              <a:tblPr/>
              <a:tblGrid>
                <a:gridCol w="1828800"/>
                <a:gridCol w="2819400"/>
                <a:gridCol w="3581400"/>
              </a:tblGrid>
              <a:tr h="830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Basic Philosophical Systems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Calibri" pitchFamily="34" charset="0"/>
                        <a:cs typeface="Tahoma" pitchFamily="34" charset="0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Fundamental Ideas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Calibri" pitchFamily="34" charset="0"/>
                        <a:cs typeface="Tahoma" pitchFamily="34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Curricular Implications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Calibri" pitchFamily="34" charset="0"/>
                        <a:cs typeface="Tahoma" pitchFamily="34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49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Metaphysics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Study of the foundation of reality.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Essence, existence and Nature of reality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Curriculum must go beyond its content; must consider the potential of  students 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Epistemology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Truth,  the nature of knowledge and the criteria of truth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Curriculum should be founded on truth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7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Logic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Focus on the validity, soundness and accurate of thought patterns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The goal of all curricula must be the development of critical, strategic, creative and logical thinking abilities of students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49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Axiology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Values and ethics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Curriculum  must develop  a sense of right and wrong, moral character sand strong sense of values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572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36" name="Table 3"/>
          <p:cNvSpPr>
            <a:spLocks noGrp="1"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4793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Basic Philosophical Systems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Fundamental Ideas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Implications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9538"/>
          <a:ext cx="8229600" cy="2208276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9586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Idealism (Plato)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Importance of mind and spirit and of developing them in the learner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Reality is in the ideas independent of sense and experience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Subject matter – or content focused, believing that this is essential to mental and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moral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development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81400"/>
          <a:ext cx="8229600" cy="2502472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1118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Realism (Aristotle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Truth can be tested / proven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Knowledge is derived from sense experience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Curriculum is subject centered, organized from simple to complex, and stressing mastery of facts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and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development of process and objective skills, critical analysis and attention to Science and Math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4793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Basic Philosophical Systems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Fundamental Ideas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Implications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79525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7989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Pragmatism (W. James, Dewey, Rousseau)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The world is a world of change; man can know anything within his experience; belief in “learning by doing’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Provisions for direct experiences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Activity / learner centered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Basis: problems of democratic society focus on problem solving inquiry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75038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7989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Verdana"/>
                          <a:ea typeface="Calibri"/>
                          <a:cs typeface="Times New Roman"/>
                        </a:rPr>
                        <a:t>Perennialism</a:t>
                      </a: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(Hutchins, Adler)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Human beings are rational and their existence remain the same throughout differing environments; includes knowledge that has endured through the years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Subject matter consists of perennial basic education of rational men: history , language, math, logic , classical literature, science , fine arts, cultural heritage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4793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Basic Philosophical Systems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Fundamental Ideas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Implications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1963" y="1273175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9586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Verdana"/>
                          <a:ea typeface="Calibri"/>
                          <a:cs typeface="Times New Roman"/>
                        </a:rPr>
                        <a:t>Existentialism (Kierkegaard, Marcel, Sartre)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Reality is a matter of individual existence. The meaning of life is what each individual makes; focus on conscious awareness of choice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Curriculum stresses activity; recognition of individual differences, opportunities for making choices and awareness of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consequence.</a:t>
                      </a:r>
                      <a:r>
                        <a:rPr lang="en-US" sz="1800" baseline="0" dirty="0" smtClean="0">
                          <a:latin typeface="Verdana"/>
                          <a:ea typeface="Calibri"/>
                          <a:cs typeface="Times New Roman"/>
                        </a:rPr>
                        <a:t> 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917825"/>
          <a:ext cx="822960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4793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Essentialism  (Bagley)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There are certain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ideas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that men should know for social stability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Curriculum focused on assimilation of prescribed basic subject matter, 3rs, history, science , math and language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91013"/>
          <a:ext cx="822960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3024554"/>
                <a:gridCol w="3376246"/>
              </a:tblGrid>
              <a:tr h="7989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Verdana"/>
                          <a:ea typeface="Calibri"/>
                          <a:cs typeface="Times New Roman"/>
                        </a:rPr>
                        <a:t>Reconstructionism</a:t>
                      </a: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 (Plato, Augustine, Dewy, Counts, </a:t>
                      </a:r>
                      <a:r>
                        <a:rPr lang="en-US" sz="1800" b="1" dirty="0" err="1">
                          <a:latin typeface="Verdana"/>
                          <a:ea typeface="Calibri"/>
                          <a:cs typeface="Times New Roman"/>
                        </a:rPr>
                        <a:t>Rugg</a:t>
                      </a: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)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Verdana"/>
                          <a:ea typeface="Calibri"/>
                          <a:cs typeface="Times New Roman"/>
                        </a:rPr>
                        <a:t>Societal reform needed towards experiencing the good life now and in the future; schools are the chief means for building new social orders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Curriculum should include subjects that deal with social and cultural crisis to prepare students to make become analyzer and ensure that democratic principles are followed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x-none" smtClean="0"/>
              <a:t>Historical Foundations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x-none" smtClean="0"/>
              <a:t>The historical foundation of curriculum reflects the educational focus prevalent during a particular development of recent years.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533400"/>
          <a:ext cx="8229600" cy="315468"/>
        </p:xfrm>
        <a:graphic>
          <a:graphicData uri="http://schemas.openxmlformats.org/drawingml/2006/table">
            <a:tbl>
              <a:tblPr/>
              <a:tblGrid>
                <a:gridCol w="1195754"/>
                <a:gridCol w="3305908"/>
                <a:gridCol w="3727938"/>
              </a:tblGrid>
              <a:tr h="1597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Period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Characteristics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Forms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825050"/>
          <a:ext cx="8229600" cy="2523744"/>
        </p:xfrm>
        <a:graphic>
          <a:graphicData uri="http://schemas.openxmlformats.org/drawingml/2006/table">
            <a:tbl>
              <a:tblPr/>
              <a:tblGrid>
                <a:gridCol w="1195754"/>
                <a:gridCol w="3305907"/>
                <a:gridCol w="3727939"/>
              </a:tblGrid>
              <a:tr h="7804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Pre Spanish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Focused on Practical training to satisfy basic needs for survival and to transmit social ideas, customs, beliefs and traditions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Training done in the homes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Broad ; not defined nor written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Prescriptive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Reading and writing in relation to the study of Koran for the </a:t>
                      </a:r>
                      <a:r>
                        <a:rPr lang="en-US" sz="1800" dirty="0" err="1">
                          <a:latin typeface="Verdana"/>
                          <a:ea typeface="Calibri"/>
                          <a:cs typeface="Times New Roman"/>
                        </a:rPr>
                        <a:t>Maguindanao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 Moslems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3337034"/>
          <a:ext cx="8229600" cy="1892808"/>
        </p:xfrm>
        <a:graphic>
          <a:graphicData uri="http://schemas.openxmlformats.org/drawingml/2006/table">
            <a:tbl>
              <a:tblPr/>
              <a:tblGrid>
                <a:gridCol w="1195754"/>
                <a:gridCol w="3305907"/>
                <a:gridCol w="3727939"/>
              </a:tblGrid>
              <a:tr h="63912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Spanish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Verdana"/>
                          <a:ea typeface="Calibri"/>
                          <a:cs typeface="Times New Roman"/>
                        </a:rPr>
                        <a:t>Focused on the learning of Christian Doctrines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Parochial schools: study of </a:t>
                      </a:r>
                      <a:r>
                        <a:rPr lang="en-US" sz="1800" dirty="0" err="1">
                          <a:latin typeface="Verdana"/>
                          <a:ea typeface="Calibri"/>
                          <a:cs typeface="Times New Roman"/>
                        </a:rPr>
                        <a:t>Doctrina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Cristiana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, arithmetic , music, arts, and trades ; </a:t>
                      </a:r>
                      <a:endParaRPr lang="en-US" sz="1800" dirty="0" smtClean="0">
                        <a:latin typeface="Verdana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vernacular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was the medium for instructions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533400"/>
          <a:ext cx="8229600" cy="315468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1597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Period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Characteristics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Forms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853966"/>
          <a:ext cx="8229600" cy="2208276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9586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American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Focused on establishing the public school system, highly influenced by the philosophy of John Dewey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Reading, writing, arithmetic, good manners and right conduct, civics, hygiene and sanitation, domestic science, American and Philippine history English as a medium for instruction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3063766"/>
          <a:ext cx="8229600" cy="3470148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11184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Commonwealth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Focused on the development of moral character, personal discipline, civic consciousness, and vocational efficiency as provided for in the 1935 constitution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 err="1">
                          <a:latin typeface="Verdana"/>
                          <a:ea typeface="Calibri"/>
                          <a:cs typeface="Times New Roman"/>
                        </a:rPr>
                        <a:t>Tagalog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 and later on Filipino, as another medium for instruction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Provided for 6 – year elementary schools; school entrance age at 7; compulsory attendance in grade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1;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introduction of double single sessions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Teaching of Filipino as a subject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533400"/>
          <a:ext cx="8229600" cy="315468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1597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Period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Characteristics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Forms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853966"/>
          <a:ext cx="8229600" cy="2839212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11184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Japanese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Focused on promoting the East Asia Co – Prosperity Sphere educational objective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Diffusion of elementary education with the promotion of vocational education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Fostering of new Filipino culture based on the awareness that Filipinos are Orientals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Termination of use of English as medium for Instruction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3689132"/>
          <a:ext cx="8229600" cy="2208276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79890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New Society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Focused on the national development goals;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man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power training; high level professions; self actualization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Promotion of Bilingual Education Policy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Development of moral character; self – discipline; scientific , technological and vocational efficiency; love of country and good citizenship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533400"/>
          <a:ext cx="8229600" cy="315468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1597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Period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Characteristics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Curricular Forms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838200"/>
          <a:ext cx="8229600" cy="1261872"/>
        </p:xfrm>
        <a:graphic>
          <a:graphicData uri="http://schemas.openxmlformats.org/drawingml/2006/table">
            <a:tbl>
              <a:tblPr/>
              <a:tblGrid>
                <a:gridCol w="1195754"/>
                <a:gridCol w="3071446"/>
                <a:gridCol w="3962400"/>
              </a:tblGrid>
              <a:tr h="63912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Verdana"/>
                          <a:ea typeface="Calibri"/>
                          <a:cs typeface="Times New Roman"/>
                        </a:rPr>
                        <a:t>Fourth Republic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Verdana"/>
                          <a:ea typeface="Calibri"/>
                          <a:cs typeface="Times New Roman"/>
                        </a:rPr>
                        <a:t>Focused on promotion of the rights of all citizens to quality education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Strengthening of the teaching of value; return to the basics in the new elementary and </a:t>
                      </a:r>
                      <a:r>
                        <a:rPr lang="en-US" sz="1800" dirty="0" smtClean="0">
                          <a:latin typeface="Verdana"/>
                          <a:ea typeface="Calibri"/>
                          <a:cs typeface="Times New Roman"/>
                        </a:rPr>
                        <a:t>secondary </a:t>
                      </a:r>
                      <a:r>
                        <a:rPr lang="en-US" sz="1800" dirty="0">
                          <a:latin typeface="Verdana"/>
                          <a:ea typeface="Calibri"/>
                          <a:cs typeface="Times New Roman"/>
                        </a:rPr>
                        <a:t>schools curriculum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523" marR="625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x-none" smtClean="0"/>
              <a:t>Psychological Foundations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x-none" smtClean="0"/>
              <a:t>The </a:t>
            </a:r>
            <a:r>
              <a:rPr lang="x-none" b="1" smtClean="0"/>
              <a:t>psychological</a:t>
            </a:r>
            <a:r>
              <a:rPr lang="x-none" smtClean="0"/>
              <a:t> foundations of curriculum stresses the need for </a:t>
            </a:r>
            <a:r>
              <a:rPr lang="x-none" b="1" smtClean="0"/>
              <a:t>curriculum development </a:t>
            </a:r>
            <a:r>
              <a:rPr lang="x-none" smtClean="0"/>
              <a:t>to be firmly anchored on the nature and characteristics of the learners for whom the curriculum is crafted, </a:t>
            </a:r>
            <a:endParaRPr lang="en-US" dirty="0" smtClean="0"/>
          </a:p>
          <a:p>
            <a:pPr lvl="0"/>
            <a:r>
              <a:rPr lang="x-none" smtClean="0"/>
              <a:t>as well as on the desirable conditions for the principles of learning and teaching – learning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x-none" smtClean="0"/>
              <a:t>The </a:t>
            </a:r>
            <a:r>
              <a:rPr lang="x-none" b="1" smtClean="0"/>
              <a:t>learners</a:t>
            </a:r>
            <a:r>
              <a:rPr lang="x-none" smtClean="0"/>
              <a:t> are the primary bases of curriculum development, they are the reason for its being </a:t>
            </a:r>
            <a:endParaRPr lang="en-US" dirty="0" smtClean="0"/>
          </a:p>
          <a:p>
            <a:pPr lvl="0"/>
            <a:r>
              <a:rPr lang="x-none" smtClean="0"/>
              <a:t>hence, the curriculum </a:t>
            </a:r>
            <a:r>
              <a:rPr lang="x-none" b="1" smtClean="0"/>
              <a:t>must suit</a:t>
            </a:r>
            <a:r>
              <a:rPr lang="x-none" smtClean="0"/>
              <a:t> the learners’ </a:t>
            </a:r>
            <a:r>
              <a:rPr lang="x-none" b="1" smtClean="0"/>
              <a:t>levels of development, characteristics, needs, interests, ability levels, motivation </a:t>
            </a:r>
            <a:r>
              <a:rPr lang="x-none" smtClean="0"/>
              <a:t>to learn in order that they can benefit from what the curriculum contains to the maximum level;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x-none" smtClean="0"/>
              <a:t>The learners, however, need to be helped in acquiring learning as prescribed in the curriculum hence, </a:t>
            </a:r>
            <a:endParaRPr lang="en-US" dirty="0" smtClean="0"/>
          </a:p>
          <a:p>
            <a:pPr lvl="0"/>
            <a:r>
              <a:rPr lang="x-none" smtClean="0"/>
              <a:t>A teacher has to have a firm understanding of the </a:t>
            </a:r>
            <a:r>
              <a:rPr lang="x-none" b="1" smtClean="0"/>
              <a:t>desirable conditions for learning </a:t>
            </a:r>
            <a:r>
              <a:rPr lang="x-none" smtClean="0"/>
              <a:t>as </a:t>
            </a:r>
            <a:r>
              <a:rPr lang="x-none" smtClean="0"/>
              <a:t>well as the </a:t>
            </a:r>
            <a:r>
              <a:rPr lang="x-none" b="1" smtClean="0"/>
              <a:t>principles of learning </a:t>
            </a:r>
            <a:r>
              <a:rPr lang="x-none" i="1" smtClean="0"/>
              <a:t>(reinforcement, exercise, practice, effect, feedback, active participation, socialization, and use of meaningful materials)</a:t>
            </a: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x-none" smtClean="0"/>
              <a:t>A teacher should also have deep knowledge of various </a:t>
            </a:r>
            <a:r>
              <a:rPr lang="x-none" b="1" smtClean="0"/>
              <a:t>teaching strategies and learning styles </a:t>
            </a:r>
            <a:r>
              <a:rPr lang="x-none" smtClean="0"/>
              <a:t>in such a way that these strategies become congruent with the learners’ characteristics, abilities, and needs.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COMPREHENSION CHECK…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218</TotalTime>
  <Words>1388</Words>
  <Application>Microsoft Office PowerPoint</Application>
  <PresentationFormat>On-screen Show (4:3)</PresentationFormat>
  <Paragraphs>131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Origin</vt:lpstr>
      <vt:lpstr>FOUNDATIONS OF CURRICULUM</vt:lpstr>
      <vt:lpstr>Foundations of Curriculum</vt:lpstr>
      <vt:lpstr>Slide 3</vt:lpstr>
      <vt:lpstr>Sociological and Cultural Foundations</vt:lpstr>
      <vt:lpstr>Societal Forces that affect curriculum:</vt:lpstr>
      <vt:lpstr>Slide 6</vt:lpstr>
      <vt:lpstr>The school influences society through the development among the learners of the following:</vt:lpstr>
      <vt:lpstr>Slide 8</vt:lpstr>
      <vt:lpstr>Philosophical Foundations of Curriculum</vt:lpstr>
      <vt:lpstr>Slide 10</vt:lpstr>
      <vt:lpstr>Slide 11</vt:lpstr>
      <vt:lpstr>Slide 12</vt:lpstr>
      <vt:lpstr>Slide 13</vt:lpstr>
      <vt:lpstr>Historical Foundations</vt:lpstr>
      <vt:lpstr>Slide 15</vt:lpstr>
      <vt:lpstr>Slide 16</vt:lpstr>
      <vt:lpstr>Slide 17</vt:lpstr>
      <vt:lpstr>Slide 18</vt:lpstr>
      <vt:lpstr>Psychological Foundations</vt:lpstr>
      <vt:lpstr>Slide 20</vt:lpstr>
      <vt:lpstr>Slide 21</vt:lpstr>
      <vt:lpstr>Slide 22</vt:lpstr>
      <vt:lpstr>COMPREHENSION CHECK…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DEVELOPMENT</dc:title>
  <dc:creator>JORIZ</dc:creator>
  <cp:lastModifiedBy>JORIZ</cp:lastModifiedBy>
  <cp:revision>19</cp:revision>
  <dcterms:created xsi:type="dcterms:W3CDTF">2013-12-13T23:29:21Z</dcterms:created>
  <dcterms:modified xsi:type="dcterms:W3CDTF">2014-06-19T04:09:01Z</dcterms:modified>
</cp:coreProperties>
</file>