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8" r:id="rId1"/>
  </p:sldMasterIdLst>
  <p:notesMasterIdLst>
    <p:notesMasterId r:id="rId57"/>
  </p:notesMasterIdLst>
  <p:sldIdLst>
    <p:sldId id="256" r:id="rId2"/>
    <p:sldId id="257" r:id="rId3"/>
    <p:sldId id="284" r:id="rId4"/>
    <p:sldId id="258" r:id="rId5"/>
    <p:sldId id="259" r:id="rId6"/>
    <p:sldId id="308" r:id="rId7"/>
    <p:sldId id="260" r:id="rId8"/>
    <p:sldId id="261" r:id="rId9"/>
    <p:sldId id="262" r:id="rId10"/>
    <p:sldId id="263" r:id="rId11"/>
    <p:sldId id="285" r:id="rId12"/>
    <p:sldId id="286" r:id="rId13"/>
    <p:sldId id="264" r:id="rId14"/>
    <p:sldId id="275" r:id="rId15"/>
    <p:sldId id="310" r:id="rId16"/>
    <p:sldId id="309" r:id="rId17"/>
    <p:sldId id="277" r:id="rId18"/>
    <p:sldId id="311" r:id="rId19"/>
    <p:sldId id="278" r:id="rId20"/>
    <p:sldId id="282" r:id="rId21"/>
    <p:sldId id="283" r:id="rId22"/>
    <p:sldId id="279" r:id="rId23"/>
    <p:sldId id="265" r:id="rId24"/>
    <p:sldId id="274" r:id="rId25"/>
    <p:sldId id="301" r:id="rId26"/>
    <p:sldId id="280" r:id="rId27"/>
    <p:sldId id="281" r:id="rId28"/>
    <p:sldId id="305" r:id="rId29"/>
    <p:sldId id="266" r:id="rId30"/>
    <p:sldId id="267" r:id="rId31"/>
    <p:sldId id="268" r:id="rId32"/>
    <p:sldId id="287" r:id="rId33"/>
    <p:sldId id="269" r:id="rId34"/>
    <p:sldId id="270" r:id="rId35"/>
    <p:sldId id="271" r:id="rId36"/>
    <p:sldId id="300" r:id="rId37"/>
    <p:sldId id="304" r:id="rId38"/>
    <p:sldId id="312" r:id="rId39"/>
    <p:sldId id="313"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2" r:id="rId53"/>
    <p:sldId id="303" r:id="rId54"/>
    <p:sldId id="306" r:id="rId55"/>
    <p:sldId id="307"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242" autoAdjust="0"/>
  </p:normalViewPr>
  <p:slideViewPr>
    <p:cSldViewPr>
      <p:cViewPr varScale="1">
        <p:scale>
          <a:sx n="80" d="100"/>
          <a:sy n="80" d="100"/>
        </p:scale>
        <p:origin x="152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3060C5-9128-4171-97BC-D3CA950913E8}" type="datetimeFigureOut">
              <a:rPr lang="en-PH" smtClean="0"/>
              <a:t>25/08/2018</a:t>
            </a:fld>
            <a:endParaRPr lang="en-PH"/>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3986BA-57D5-4BBD-BCE9-B92BF10DF841}" type="slidenum">
              <a:rPr lang="en-PH" smtClean="0"/>
              <a:t>‹#›</a:t>
            </a:fld>
            <a:endParaRPr lang="en-PH"/>
          </a:p>
        </p:txBody>
      </p:sp>
    </p:spTree>
    <p:extLst>
      <p:ext uri="{BB962C8B-B14F-4D97-AF65-F5344CB8AC3E}">
        <p14:creationId xmlns:p14="http://schemas.microsoft.com/office/powerpoint/2010/main" val="2319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10"/>
          </p:nvPr>
        </p:nvSpPr>
        <p:spPr/>
        <p:txBody>
          <a:bodyPr/>
          <a:lstStyle/>
          <a:p>
            <a:fld id="{B53986BA-57D5-4BBD-BCE9-B92BF10DF841}" type="slidenum">
              <a:rPr lang="en-PH" smtClean="0"/>
              <a:t>1</a:t>
            </a:fld>
            <a:endParaRPr lang="en-PH"/>
          </a:p>
        </p:txBody>
      </p:sp>
    </p:spTree>
    <p:extLst>
      <p:ext uri="{BB962C8B-B14F-4D97-AF65-F5344CB8AC3E}">
        <p14:creationId xmlns:p14="http://schemas.microsoft.com/office/powerpoint/2010/main" val="60036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B53986BA-57D5-4BBD-BCE9-B92BF10DF841}" type="slidenum">
              <a:rPr lang="en-PH" smtClean="0"/>
              <a:t>18</a:t>
            </a:fld>
            <a:endParaRPr lang="en-PH"/>
          </a:p>
        </p:txBody>
      </p:sp>
    </p:spTree>
    <p:extLst>
      <p:ext uri="{BB962C8B-B14F-4D97-AF65-F5344CB8AC3E}">
        <p14:creationId xmlns:p14="http://schemas.microsoft.com/office/powerpoint/2010/main" val="8787947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8" name="Rectangle 7"/>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Oval 10"/>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1" y="2222624"/>
            <a:ext cx="5917679" cy="2554758"/>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a:xfrm>
            <a:off x="866441" y="4777380"/>
            <a:ext cx="5917679"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7500385" y="1828799"/>
            <a:ext cx="990599" cy="228659"/>
          </a:xfrm>
        </p:spPr>
        <p:txBody>
          <a:bodyPr anchor="t" anchorCtr="0"/>
          <a:lstStyle>
            <a:lvl1pPr algn="l">
              <a:defRPr b="0" i="0">
                <a:solidFill>
                  <a:schemeClr val="bg1"/>
                </a:solidFill>
              </a:defRPr>
            </a:lvl1pPr>
          </a:lstStyle>
          <a:p>
            <a:fld id="{87EBA8FA-C5A7-413B-97C6-DA3E05C8D012}" type="datetime1">
              <a:rPr lang="en-PH" smtClean="0"/>
              <a:t>25/08/2018</a:t>
            </a:fld>
            <a:endParaRPr lang="en-PH"/>
          </a:p>
        </p:txBody>
      </p:sp>
      <p:sp>
        <p:nvSpPr>
          <p:cNvPr id="5" name="Footer Placeholder 4"/>
          <p:cNvSpPr>
            <a:spLocks noGrp="1"/>
          </p:cNvSpPr>
          <p:nvPr>
            <p:ph type="ftr" sz="quarter" idx="11"/>
          </p:nvPr>
        </p:nvSpPr>
        <p:spPr>
          <a:xfrm rot="5400000">
            <a:off x="6236209" y="3264406"/>
            <a:ext cx="3859795" cy="228660"/>
          </a:xfrm>
        </p:spPr>
        <p:txBody>
          <a:bodyPr/>
          <a:lstStyle>
            <a:lvl1pPr>
              <a:defRPr>
                <a:solidFill>
                  <a:schemeClr val="bg1"/>
                </a:solidFill>
              </a:defRPr>
            </a:lvl1pPr>
          </a:lstStyle>
          <a:p>
            <a:r>
              <a:rPr lang="en-PH"/>
              <a:t>Sir Crespo - UA Review</a:t>
            </a:r>
          </a:p>
        </p:txBody>
      </p:sp>
      <p:sp>
        <p:nvSpPr>
          <p:cNvPr id="10" name="Rectangle 9"/>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5279" y="292609"/>
            <a:ext cx="628813" cy="767687"/>
          </a:xfrm>
        </p:spPr>
        <p:txBody>
          <a:bodyPr/>
          <a:lstStyle>
            <a:lvl1pPr>
              <a:defRPr sz="2800" b="0" i="0" baseline="0">
                <a:latin typeface="+mj-lt"/>
              </a:defRPr>
            </a:lvl1pPr>
          </a:lstStyle>
          <a:p>
            <a:fld id="{853B7D28-E5F2-4AA3-9F25-AE0CE1E4F96C}" type="slidenum">
              <a:rPr lang="en-PH" smtClean="0"/>
              <a:pPr/>
              <a:t>‹#›</a:t>
            </a:fld>
            <a:endParaRPr lang="en-PH"/>
          </a:p>
        </p:txBody>
      </p:sp>
    </p:spTree>
    <p:extLst>
      <p:ext uri="{BB962C8B-B14F-4D97-AF65-F5344CB8AC3E}">
        <p14:creationId xmlns:p14="http://schemas.microsoft.com/office/powerpoint/2010/main" val="2421439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lvl1pPr>
              <a:defRPr sz="900"/>
            </a:lvl1p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3318497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0" name="Group 9"/>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Rectangle 6"/>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257588"/>
            <a:ext cx="3101765" cy="3020343"/>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8"/>
            <a:ext cx="3054653" cy="302034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6A59C2-1B3F-4C90-BAFC-F3391F9A04A3}"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13" name="Rectangle 1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279946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199"/>
            <a:ext cx="3636980" cy="353060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489199"/>
            <a:ext cx="3636981" cy="35306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55D434-2D14-4936-B727-6D4544ADD3EA}" type="datetime1">
              <a:rPr lang="en-PH" smtClean="0"/>
              <a:t>25/08/2018</a:t>
            </a:fld>
            <a:endParaRPr lang="en-PH"/>
          </a:p>
        </p:txBody>
      </p:sp>
      <p:sp>
        <p:nvSpPr>
          <p:cNvPr id="6" name="Footer Placeholder 5"/>
          <p:cNvSpPr>
            <a:spLocks noGrp="1"/>
          </p:cNvSpPr>
          <p:nvPr>
            <p:ph type="ftr" sz="quarter" idx="11"/>
          </p:nvPr>
        </p:nvSpPr>
        <p:spPr/>
        <p:txBody>
          <a:bodyPr/>
          <a:lstStyle/>
          <a:p>
            <a:r>
              <a:rPr lang="en-PH"/>
              <a:t>Sir Crespo - UA Review</a:t>
            </a:r>
          </a:p>
        </p:txBody>
      </p:sp>
      <p:sp>
        <p:nvSpPr>
          <p:cNvPr id="7" name="Slide Number Placeholder 6"/>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137829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440"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41" y="3248490"/>
            <a:ext cx="3636978"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8490"/>
            <a:ext cx="3636979" cy="277131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449B89-7151-40D8-864E-D6455ACEDEB7}" type="datetime1">
              <a:rPr lang="en-PH" smtClean="0"/>
              <a:t>25/08/2018</a:t>
            </a:fld>
            <a:endParaRPr lang="en-PH"/>
          </a:p>
        </p:txBody>
      </p:sp>
      <p:sp>
        <p:nvSpPr>
          <p:cNvPr id="8" name="Footer Placeholder 7"/>
          <p:cNvSpPr>
            <a:spLocks noGrp="1"/>
          </p:cNvSpPr>
          <p:nvPr>
            <p:ph type="ftr" sz="quarter" idx="11"/>
          </p:nvPr>
        </p:nvSpPr>
        <p:spPr/>
        <p:txBody>
          <a:bodyPr/>
          <a:lstStyle/>
          <a:p>
            <a:r>
              <a:rPr lang="en-PH"/>
              <a:t>Sir Crespo - UA Review</a:t>
            </a:r>
          </a:p>
        </p:txBody>
      </p:sp>
      <p:sp>
        <p:nvSpPr>
          <p:cNvPr id="9" name="Slide Number Placeholder 8"/>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2519793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2D5C5BA-6A91-4390-B902-0FB0FAB5797B}" type="datetime1">
              <a:rPr lang="en-PH" smtClean="0"/>
              <a:t>25/08/2018</a:t>
            </a:fld>
            <a:endParaRPr lang="en-PH"/>
          </a:p>
        </p:txBody>
      </p:sp>
      <p:sp>
        <p:nvSpPr>
          <p:cNvPr id="4" name="Footer Placeholder 3"/>
          <p:cNvSpPr>
            <a:spLocks noGrp="1"/>
          </p:cNvSpPr>
          <p:nvPr>
            <p:ph type="ftr" sz="quarter" idx="11"/>
          </p:nvPr>
        </p:nvSpPr>
        <p:spPr/>
        <p:txBody>
          <a:bodyPr/>
          <a:lstStyle/>
          <a:p>
            <a:r>
              <a:rPr lang="en-PH"/>
              <a:t>Sir Crespo - UA Review</a:t>
            </a:r>
          </a:p>
        </p:txBody>
      </p:sp>
      <p:sp>
        <p:nvSpPr>
          <p:cNvPr id="5" name="Slide Number Placeholder 4"/>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628800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F42A97-EC7C-4A75-907E-BE44CB02E26E}" type="datetime1">
              <a:rPr lang="en-PH" smtClean="0"/>
              <a:t>25/08/2018</a:t>
            </a:fld>
            <a:endParaRPr lang="en-PH"/>
          </a:p>
        </p:txBody>
      </p:sp>
      <p:sp>
        <p:nvSpPr>
          <p:cNvPr id="3" name="Footer Placeholder 2"/>
          <p:cNvSpPr>
            <a:spLocks noGrp="1"/>
          </p:cNvSpPr>
          <p:nvPr>
            <p:ph type="ftr" sz="quarter" idx="11"/>
          </p:nvPr>
        </p:nvSpPr>
        <p:spPr/>
        <p:txBody>
          <a:bodyPr/>
          <a:lstStyle/>
          <a:p>
            <a:r>
              <a:rPr lang="en-PH"/>
              <a:t>Sir Crespo - UA Review</a:t>
            </a:r>
          </a:p>
        </p:txBody>
      </p:sp>
      <p:sp>
        <p:nvSpPr>
          <p:cNvPr id="7" name="Rectangle 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1377644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97437"/>
            <a:ext cx="2712589"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52881"/>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086844"/>
            <a:ext cx="2712590" cy="2925413"/>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54A27B-87E6-4231-8BDF-326CEDD9834C}" type="datetime1">
              <a:rPr lang="en-PH" smtClean="0"/>
              <a:t>25/08/2018</a:t>
            </a:fld>
            <a:endParaRPr lang="en-PH"/>
          </a:p>
        </p:txBody>
      </p:sp>
      <p:sp>
        <p:nvSpPr>
          <p:cNvPr id="6" name="Footer Placeholder 5"/>
          <p:cNvSpPr>
            <a:spLocks noGrp="1"/>
          </p:cNvSpPr>
          <p:nvPr>
            <p:ph type="ftr" sz="quarter" idx="11"/>
          </p:nvPr>
        </p:nvSpPr>
        <p:spPr/>
        <p:txBody>
          <a:bodyPr/>
          <a:lstStyle/>
          <a:p>
            <a:r>
              <a:rPr lang="en-PH"/>
              <a:t>Sir Crespo - UA Review</a:t>
            </a:r>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2375205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2" y="1362190"/>
            <a:ext cx="2987087" cy="157480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51591" y="3088562"/>
            <a:ext cx="3001938" cy="2448637"/>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F3418A-B48A-43BE-B5F2-3DE97940AF7E}" type="datetime1">
              <a:rPr lang="en-PH" smtClean="0"/>
              <a:t>25/08/2018</a:t>
            </a:fld>
            <a:endParaRPr lang="en-PH"/>
          </a:p>
        </p:txBody>
      </p:sp>
      <p:sp>
        <p:nvSpPr>
          <p:cNvPr id="6" name="Footer Placeholder 5"/>
          <p:cNvSpPr>
            <a:spLocks noGrp="1"/>
          </p:cNvSpPr>
          <p:nvPr>
            <p:ph type="ftr" sz="quarter" idx="11"/>
          </p:nvPr>
        </p:nvSpPr>
        <p:spPr/>
        <p:txBody>
          <a:bodyPr/>
          <a:lstStyle/>
          <a:p>
            <a:r>
              <a:rPr lang="en-PH"/>
              <a:t>Sir Crespo - UA Review</a:t>
            </a:r>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2406818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1" name="Group 10"/>
          <p:cNvGrpSpPr/>
          <p:nvPr/>
        </p:nvGrpSpPr>
        <p:grpSpPr>
          <a:xfrm>
            <a:off x="0" y="-2308"/>
            <a:ext cx="9144000" cy="6860308"/>
            <a:chOff x="0" y="-2308"/>
            <a:chExt cx="9144000" cy="6860308"/>
          </a:xfrm>
        </p:grpSpPr>
        <p:sp>
          <p:nvSpPr>
            <p:cNvPr id="12" name="Rectangle 11"/>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Rectangle 8"/>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9"/>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3" y="4961453"/>
            <a:ext cx="642200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528191"/>
            <a:ext cx="6422003"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AC139B-26C0-4623-9712-D91BC84BC3EE}" type="datetime1">
              <a:rPr lang="en-PH" smtClean="0"/>
              <a:t>25/08/2018</a:t>
            </a:fld>
            <a:endParaRPr lang="en-PH"/>
          </a:p>
        </p:txBody>
      </p:sp>
      <p:sp>
        <p:nvSpPr>
          <p:cNvPr id="6" name="Footer Placeholder 5"/>
          <p:cNvSpPr>
            <a:spLocks noGrp="1"/>
          </p:cNvSpPr>
          <p:nvPr>
            <p:ph type="ftr" sz="quarter" idx="11"/>
          </p:nvPr>
        </p:nvSpPr>
        <p:spPr/>
        <p:txBody>
          <a:bodyPr/>
          <a:lstStyle/>
          <a:p>
            <a:r>
              <a:rPr lang="en-PH"/>
              <a:t>Sir Crespo - UA Review</a:t>
            </a:r>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4273371848"/>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Rectangle 13"/>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927100"/>
            <a:ext cx="6422004" cy="1653117"/>
          </a:xfrm>
        </p:spPr>
        <p:txBody>
          <a:bodyPr anchor="ct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1" y="3509006"/>
            <a:ext cx="6422003" cy="2515873"/>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1AC139B-26C0-4623-9712-D91BC84BC3EE}"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18" name="Rectangle 17"/>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3266484497"/>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2308"/>
            <a:ext cx="9144000" cy="6860308"/>
            <a:chOff x="0" y="-2308"/>
            <a:chExt cx="9144000" cy="6860308"/>
          </a:xfrm>
        </p:grpSpPr>
        <p:sp>
          <p:nvSpPr>
            <p:cNvPr id="13" name="Rectangle 12"/>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5"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36" name="Freeform 35"/>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1"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10" name="TextBox 9"/>
          <p:cNvSpPr txBox="1"/>
          <p:nvPr/>
        </p:nvSpPr>
        <p:spPr>
          <a:xfrm>
            <a:off x="644721" y="654263"/>
            <a:ext cx="601591"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11" name="TextBox 10"/>
          <p:cNvSpPr txBox="1"/>
          <p:nvPr/>
        </p:nvSpPr>
        <p:spPr>
          <a:xfrm>
            <a:off x="7227454" y="2900539"/>
            <a:ext cx="538973"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2" name="Title 1"/>
          <p:cNvSpPr>
            <a:spLocks noGrp="1"/>
          </p:cNvSpPr>
          <p:nvPr>
            <p:ph type="title"/>
          </p:nvPr>
        </p:nvSpPr>
        <p:spPr>
          <a:xfrm>
            <a:off x="1128059" y="914401"/>
            <a:ext cx="6160385" cy="2894878"/>
          </a:xfrm>
        </p:spPr>
        <p:txBody>
          <a:bodyP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a:xfrm>
            <a:off x="1387279" y="3814473"/>
            <a:ext cx="5646142" cy="333113"/>
          </a:xfrm>
        </p:spPr>
        <p:txBody>
          <a:bodyPr>
            <a:normAutofit/>
          </a:bodyPr>
          <a:lstStyle>
            <a:lvl1pPr marL="0" indent="0">
              <a:buNone/>
              <a:defRPr lang="en-US" sz="1400" b="0" i="0" kern="1200" cap="small" dirty="0">
                <a:solidFill>
                  <a:schemeClr val="accent1"/>
                </a:solidFill>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5"/>
            <a:ext cx="6422005" cy="1024065"/>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sz="900"/>
            </a:lvl1pPr>
          </a:lstStyle>
          <a:p>
            <a:fld id="{F1AC139B-26C0-4623-9712-D91BC84BC3EE}" type="datetime1">
              <a:rPr lang="en-PH" smtClean="0"/>
              <a:t>25/08/2018</a:t>
            </a:fld>
            <a:endParaRPr lang="en-PH"/>
          </a:p>
        </p:txBody>
      </p:sp>
      <p:sp>
        <p:nvSpPr>
          <p:cNvPr id="5" name="Footer Placeholder 4"/>
          <p:cNvSpPr>
            <a:spLocks noGrp="1"/>
          </p:cNvSpPr>
          <p:nvPr>
            <p:ph type="ftr" sz="quarter" idx="11"/>
          </p:nvPr>
        </p:nvSpPr>
        <p:spPr/>
        <p:txBody>
          <a:bodyPr/>
          <a:lstStyle>
            <a:lvl1pPr>
              <a:defRPr sz="900"/>
            </a:lvl1pPr>
          </a:lstStyle>
          <a:p>
            <a:r>
              <a:rPr lang="en-PH"/>
              <a:t>Sir Crespo - UA Review</a:t>
            </a:r>
          </a:p>
        </p:txBody>
      </p:sp>
      <p:sp>
        <p:nvSpPr>
          <p:cNvPr id="43" name="Rectangle 4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3217194099"/>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10" name="Rectangle 9"/>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11"/>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057399"/>
            <a:ext cx="6422004" cy="209550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159399"/>
            <a:ext cx="6422004"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AC139B-26C0-4623-9712-D91BC84BC3EE}"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15" name="Rectangle 14"/>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1930208567"/>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8884" y="927101"/>
            <a:ext cx="6423592"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8884" y="2489199"/>
            <a:ext cx="2310988"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8884" y="3147164"/>
            <a:ext cx="2310988" cy="287771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8471" y="2489201"/>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2" y="3147164"/>
            <a:ext cx="2326750"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2489200"/>
            <a:ext cx="2313740" cy="65796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3820" y="3147162"/>
            <a:ext cx="2313739" cy="2888368"/>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1AC139B-26C0-4623-9712-D91BC84BC3EE}" type="datetime1">
              <a:rPr lang="en-PH" smtClean="0"/>
              <a:t>25/08/2018</a:t>
            </a:fld>
            <a:endParaRPr lang="en-PH"/>
          </a:p>
        </p:txBody>
      </p:sp>
      <p:sp>
        <p:nvSpPr>
          <p:cNvPr id="8" name="Footer Placeholder 7"/>
          <p:cNvSpPr>
            <a:spLocks noGrp="1"/>
          </p:cNvSpPr>
          <p:nvPr>
            <p:ph type="ftr" sz="quarter" idx="11"/>
          </p:nvPr>
        </p:nvSpPr>
        <p:spPr/>
        <p:txBody>
          <a:bodyPr/>
          <a:lstStyle/>
          <a:p>
            <a:r>
              <a:rPr lang="en-PH"/>
              <a:t>Sir Crespo - UA Review</a:t>
            </a:r>
          </a:p>
        </p:txBody>
      </p:sp>
      <p:sp>
        <p:nvSpPr>
          <p:cNvPr id="9" name="Slide Number Placeholder 8"/>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1091635925"/>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36973"/>
            <a:ext cx="6423592" cy="699992"/>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39" y="4188546"/>
            <a:ext cx="2314064" cy="64901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021261" y="2489200"/>
            <a:ext cx="2012937"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8"/>
          </p:nvPr>
        </p:nvSpPr>
        <p:spPr>
          <a:xfrm>
            <a:off x="866438" y="4837558"/>
            <a:ext cx="2309280" cy="118732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4317" y="4188546"/>
            <a:ext cx="2330903"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16"/>
          </p:nvPr>
        </p:nvSpPr>
        <p:spPr>
          <a:xfrm>
            <a:off x="3550622" y="2489200"/>
            <a:ext cx="2025182"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04317" y="4846509"/>
            <a:ext cx="2330904" cy="117837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4184814"/>
            <a:ext cx="229949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17"/>
          </p:nvPr>
        </p:nvSpPr>
        <p:spPr>
          <a:xfrm>
            <a:off x="6104945" y="2489200"/>
            <a:ext cx="2018839"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63820" y="4846510"/>
            <a:ext cx="2299492" cy="1189020"/>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1" name="Straight Connector 20"/>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1AC139B-26C0-4623-9712-D91BC84BC3EE}" type="datetime1">
              <a:rPr lang="en-PH" smtClean="0"/>
              <a:t>25/08/2018</a:t>
            </a:fld>
            <a:endParaRPr lang="en-PH"/>
          </a:p>
        </p:txBody>
      </p:sp>
      <p:sp>
        <p:nvSpPr>
          <p:cNvPr id="8" name="Footer Placeholder 7"/>
          <p:cNvSpPr>
            <a:spLocks noGrp="1"/>
          </p:cNvSpPr>
          <p:nvPr>
            <p:ph type="ftr" sz="quarter" idx="11"/>
          </p:nvPr>
        </p:nvSpPr>
        <p:spPr/>
        <p:txBody>
          <a:bodyPr/>
          <a:lstStyle/>
          <a:p>
            <a:r>
              <a:rPr lang="en-PH"/>
              <a:t>Sir Crespo - UA Review</a:t>
            </a:r>
          </a:p>
        </p:txBody>
      </p:sp>
      <p:sp>
        <p:nvSpPr>
          <p:cNvPr id="9" name="Slide Number Placeholder 8"/>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778603812"/>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66441" y="2489200"/>
            <a:ext cx="6343201" cy="35306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ADB5DE-0922-4C1A-8527-A45543CAC9F4}" type="datetime1">
              <a:rPr lang="en-PH" smtClean="0"/>
              <a:t>25/08/2018</a:t>
            </a:fld>
            <a:endParaRPr lang="en-PH"/>
          </a:p>
        </p:txBody>
      </p:sp>
      <p:sp>
        <p:nvSpPr>
          <p:cNvPr id="5" name="Footer Placeholder 4"/>
          <p:cNvSpPr>
            <a:spLocks noGrp="1"/>
          </p:cNvSpPr>
          <p:nvPr>
            <p:ph type="ftr" sz="quarter" idx="11"/>
          </p:nvPr>
        </p:nvSpPr>
        <p:spPr/>
        <p:txBody>
          <a:bodyPr/>
          <a:lstStyle>
            <a:lvl1pPr>
              <a:defRPr sz="900"/>
            </a:lvl1p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1255611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0" name="Group 9"/>
          <p:cNvGrpSpPr/>
          <p:nvPr/>
        </p:nvGrpSpPr>
        <p:grpSpPr>
          <a:xfrm>
            <a:off x="0" y="-2308"/>
            <a:ext cx="9144000" cy="6860308"/>
            <a:chOff x="0" y="-2308"/>
            <a:chExt cx="9144000" cy="6860308"/>
          </a:xfrm>
        </p:grpSpPr>
        <p:sp>
          <p:nvSpPr>
            <p:cNvPr id="11" name="Rectangle 10"/>
            <p:cNvSpPr/>
            <p:nvPr/>
          </p:nvSpPr>
          <p:spPr>
            <a:xfrm>
              <a:off x="0" y="0"/>
              <a:ext cx="9144000" cy="6858000"/>
            </a:xfrm>
            <a:prstGeom prst="rect">
              <a:avLst/>
            </a:prstGeom>
            <a:blipFill>
              <a:blip r:embed="rId2">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Rectangle 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8"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119474" cy="457199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48235" y="1447799"/>
            <a:ext cx="4435439" cy="4571999"/>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7FF483-EAD2-4DE0-91CA-4EA011E361B4}"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13" name="Rectangle 12"/>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53B7D28-E5F2-4AA3-9F25-AE0CE1E4F96C}" type="slidenum">
              <a:rPr lang="en-PH" smtClean="0"/>
              <a:pPr/>
              <a:t>‹#›</a:t>
            </a:fld>
            <a:endParaRPr lang="en-PH"/>
          </a:p>
        </p:txBody>
      </p:sp>
    </p:spTree>
    <p:extLst>
      <p:ext uri="{BB962C8B-B14F-4D97-AF65-F5344CB8AC3E}">
        <p14:creationId xmlns:p14="http://schemas.microsoft.com/office/powerpoint/2010/main" val="1697084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2308"/>
            <a:ext cx="9144000" cy="6860308"/>
            <a:chOff x="0" y="-2308"/>
            <a:chExt cx="9144000" cy="6860308"/>
          </a:xfrm>
        </p:grpSpPr>
        <p:sp>
          <p:nvSpPr>
            <p:cNvPr id="15" name="Rectangle 14"/>
            <p:cNvSpPr/>
            <p:nvPr/>
          </p:nvSpPr>
          <p:spPr>
            <a:xfrm>
              <a:off x="0" y="0"/>
              <a:ext cx="9144000" cy="6858000"/>
            </a:xfrm>
            <a:prstGeom prst="rect">
              <a:avLst/>
            </a:prstGeom>
            <a:blipFill>
              <a:blip r:embed="rId19">
                <a:duotone>
                  <a:schemeClr val="dk2">
                    <a:shade val="42000"/>
                    <a:hueMod val="42000"/>
                    <a:satMod val="124000"/>
                    <a:lumMod val="62000"/>
                  </a:schemeClr>
                  <a:schemeClr val="dk2">
                    <a:tint val="96000"/>
                    <a:satMod val="130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Oval 21"/>
            <p:cNvSpPr/>
            <p:nvPr/>
          </p:nvSpPr>
          <p:spPr>
            <a:xfrm>
              <a:off x="6299432" y="1676400"/>
              <a:ext cx="2819400" cy="2819400"/>
            </a:xfrm>
            <a:prstGeom prst="ellipse">
              <a:avLst/>
            </a:prstGeom>
            <a:gradFill flip="none" rotWithShape="1">
              <a:gsLst>
                <a:gs pos="0">
                  <a:schemeClr val="accent1">
                    <a:lumMod val="60000"/>
                    <a:lumOff val="40000"/>
                    <a:alpha val="7000"/>
                  </a:schemeClr>
                </a:gs>
                <a:gs pos="69000">
                  <a:schemeClr val="accent1">
                    <a:lumMod val="60000"/>
                    <a:lumOff val="40000"/>
                    <a:alpha val="0"/>
                  </a:schemeClr>
                </a:gs>
                <a:gs pos="36000">
                  <a:schemeClr val="accent1">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618"/>
              <a:ext cx="1600200" cy="1600200"/>
            </a:xfrm>
            <a:prstGeom prst="ellipse">
              <a:avLst/>
            </a:prstGeom>
            <a:gradFill flip="none" rotWithShape="1">
              <a:gsLst>
                <a:gs pos="0">
                  <a:schemeClr val="accent1">
                    <a:lumMod val="60000"/>
                    <a:lumOff val="40000"/>
                    <a:alpha val="14000"/>
                  </a:schemeClr>
                </a:gs>
                <a:gs pos="73000">
                  <a:schemeClr val="accent1">
                    <a:lumMod val="60000"/>
                    <a:lumOff val="40000"/>
                    <a:alpha val="0"/>
                  </a:schemeClr>
                </a:gs>
                <a:gs pos="36000">
                  <a:schemeClr val="accent1">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65092"/>
              <a:ext cx="990600" cy="990600"/>
            </a:xfrm>
            <a:prstGeom prst="ellipse">
              <a:avLst/>
            </a:prstGeom>
            <a:gradFill flip="none" rotWithShape="1">
              <a:gsLst>
                <a:gs pos="0">
                  <a:schemeClr val="accent1">
                    <a:lumMod val="60000"/>
                    <a:lumOff val="40000"/>
                    <a:alpha val="10000"/>
                  </a:schemeClr>
                </a:gs>
                <a:gs pos="66000">
                  <a:schemeClr val="accent1">
                    <a:lumMod val="60000"/>
                    <a:lumOff val="40000"/>
                    <a:alpha val="0"/>
                  </a:schemeClr>
                </a:gs>
                <a:gs pos="31000">
                  <a:schemeClr val="accent1">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879" y="2667000"/>
              <a:ext cx="4191000" cy="4191000"/>
            </a:xfrm>
            <a:prstGeom prst="ellipse">
              <a:avLst/>
            </a:prstGeom>
            <a:gradFill flip="none" rotWithShape="1">
              <a:gsLst>
                <a:gs pos="0">
                  <a:schemeClr val="accent1">
                    <a:lumMod val="60000"/>
                    <a:lumOff val="40000"/>
                    <a:alpha val="11000"/>
                  </a:schemeClr>
                </a:gs>
                <a:gs pos="75000">
                  <a:schemeClr val="accent1">
                    <a:lumMod val="60000"/>
                    <a:lumOff val="40000"/>
                    <a:alpha val="0"/>
                  </a:schemeClr>
                </a:gs>
                <a:gs pos="36000">
                  <a:schemeClr val="accent1">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879" y="2895600"/>
              <a:ext cx="2362200" cy="2362200"/>
            </a:xfrm>
            <a:prstGeom prst="ellipse">
              <a:avLst/>
            </a:prstGeom>
            <a:gradFill flip="none" rotWithShape="1">
              <a:gsLst>
                <a:gs pos="0">
                  <a:schemeClr val="accent1">
                    <a:lumMod val="60000"/>
                    <a:lumOff val="40000"/>
                    <a:alpha val="8000"/>
                  </a:schemeClr>
                </a:gs>
                <a:gs pos="72000">
                  <a:schemeClr val="accent1">
                    <a:lumMod val="60000"/>
                    <a:lumOff val="40000"/>
                    <a:alpha val="0"/>
                  </a:schemeClr>
                </a:gs>
                <a:gs pos="36000">
                  <a:schemeClr val="accent1">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13"/>
            <p:cNvSpPr/>
            <p:nvPr/>
          </p:nvSpPr>
          <p:spPr bwMode="gray">
            <a:xfrm>
              <a:off x="485023" y="1854142"/>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6" name="Freeform 5"/>
            <p:cNvSpPr>
              <a:spLocks noEditPoints="1"/>
            </p:cNvSpPr>
            <p:nvPr/>
          </p:nvSpPr>
          <p:spPr bwMode="gray">
            <a:xfrm>
              <a:off x="0" y="-23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3564" y="925605"/>
            <a:ext cx="6346078" cy="711359"/>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441" y="2489200"/>
            <a:ext cx="6343201" cy="353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590842" y="6365497"/>
            <a:ext cx="3859795" cy="228660"/>
          </a:xfrm>
          <a:prstGeom prst="rect">
            <a:avLst/>
          </a:prstGeom>
        </p:spPr>
        <p:txBody>
          <a:bodyPr vert="horz" lIns="91440" tIns="45720" rIns="91440" bIns="45720" rtlCol="0" anchor="b"/>
          <a:lstStyle>
            <a:lvl1pPr algn="l">
              <a:defRPr sz="1000" b="1" i="0">
                <a:solidFill>
                  <a:schemeClr val="accent1"/>
                </a:solidFill>
              </a:defRPr>
            </a:lvl1pPr>
          </a:lstStyle>
          <a:p>
            <a:r>
              <a:rPr lang="en-PH"/>
              <a:t>Sir Crespo - UA Review</a:t>
            </a:r>
          </a:p>
        </p:txBody>
      </p:sp>
      <p:sp>
        <p:nvSpPr>
          <p:cNvPr id="4" name="Date Placeholder 3"/>
          <p:cNvSpPr>
            <a:spLocks noGrp="1"/>
          </p:cNvSpPr>
          <p:nvPr>
            <p:ph type="dt" sz="half" idx="2"/>
          </p:nvPr>
        </p:nvSpPr>
        <p:spPr>
          <a:xfrm>
            <a:off x="7574443" y="6371444"/>
            <a:ext cx="990599" cy="228659"/>
          </a:xfrm>
          <a:prstGeom prst="rect">
            <a:avLst/>
          </a:prstGeom>
        </p:spPr>
        <p:txBody>
          <a:bodyPr vert="horz" lIns="91440" tIns="45720" rIns="91440" bIns="45720" rtlCol="0" anchor="b"/>
          <a:lstStyle>
            <a:lvl1pPr algn="r">
              <a:defRPr sz="900" b="1" i="0">
                <a:solidFill>
                  <a:schemeClr val="accent1"/>
                </a:solidFill>
              </a:defRPr>
            </a:lvl1pPr>
          </a:lstStyle>
          <a:p>
            <a:fld id="{F1AC139B-26C0-4623-9712-D91BC84BC3EE}" type="datetime1">
              <a:rPr lang="en-PH" smtClean="0"/>
              <a:t>25/08/2018</a:t>
            </a:fld>
            <a:endParaRPr lang="en-PH"/>
          </a:p>
        </p:txBody>
      </p:sp>
      <p:sp>
        <p:nvSpPr>
          <p:cNvPr id="17" name="Rectangle 16"/>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7766428" y="295730"/>
            <a:ext cx="628813" cy="767687"/>
          </a:xfrm>
          <a:prstGeom prst="rect">
            <a:avLst/>
          </a:prstGeom>
        </p:spPr>
        <p:txBody>
          <a:bodyPr vert="horz" lIns="91440" tIns="45720" rIns="91440" bIns="45720" rtlCol="0" anchor="b"/>
          <a:lstStyle>
            <a:lvl1pPr algn="ctr">
              <a:defRPr sz="2800" b="0" i="0">
                <a:solidFill>
                  <a:schemeClr val="bg1"/>
                </a:solidFill>
              </a:defRPr>
            </a:lvl1pPr>
          </a:lstStyle>
          <a:p>
            <a:fld id="{853B7D28-E5F2-4AA3-9F25-AE0CE1E4F96C}" type="slidenum">
              <a:rPr lang="en-PH" smtClean="0"/>
              <a:pPr/>
              <a:t>‹#›</a:t>
            </a:fld>
            <a:endParaRPr lang="en-PH"/>
          </a:p>
        </p:txBody>
      </p:sp>
    </p:spTree>
    <p:extLst>
      <p:ext uri="{BB962C8B-B14F-4D97-AF65-F5344CB8AC3E}">
        <p14:creationId xmlns:p14="http://schemas.microsoft.com/office/powerpoint/2010/main" val="149520352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Lst>
  <p:hf hdr="0"/>
  <p:txStyles>
    <p:titleStyle>
      <a:lvl1pPr algn="l" defTabSz="457200" rtl="0" eaLnBrk="1" latinLnBrk="0" hangingPunct="1">
        <a:spcBef>
          <a:spcPct val="0"/>
        </a:spcBef>
        <a:buNone/>
        <a:defRPr sz="32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PH" b="1" dirty="0"/>
              <a:t>CHARACTERISTICS OF A GOOD TEST</a:t>
            </a:r>
          </a:p>
        </p:txBody>
      </p:sp>
      <p:sp>
        <p:nvSpPr>
          <p:cNvPr id="3" name="Subtitle 2"/>
          <p:cNvSpPr>
            <a:spLocks noGrp="1"/>
          </p:cNvSpPr>
          <p:nvPr>
            <p:ph type="subTitle" idx="1"/>
          </p:nvPr>
        </p:nvSpPr>
        <p:spPr/>
        <p:txBody>
          <a:bodyPr>
            <a:normAutofit/>
          </a:bodyPr>
          <a:lstStyle/>
          <a:p>
            <a:r>
              <a:rPr lang="en-PH" b="1" dirty="0">
                <a:solidFill>
                  <a:schemeClr val="bg1"/>
                </a:solidFill>
              </a:rPr>
              <a:t>ASSESSMENT OF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WHAT IS A GOOD TEST</a:t>
            </a:r>
            <a:r>
              <a:rPr lang="en-PH" dirty="0"/>
              <a:t>?</a:t>
            </a:r>
          </a:p>
        </p:txBody>
      </p:sp>
      <p:sp>
        <p:nvSpPr>
          <p:cNvPr id="3" name="Content Placeholder 2"/>
          <p:cNvSpPr>
            <a:spLocks noGrp="1"/>
          </p:cNvSpPr>
          <p:nvPr>
            <p:ph idx="1"/>
          </p:nvPr>
        </p:nvSpPr>
        <p:spPr>
          <a:xfrm flipH="1">
            <a:off x="761998" y="2209800"/>
            <a:ext cx="8077199" cy="3810000"/>
          </a:xfrm>
        </p:spPr>
        <p:txBody>
          <a:bodyPr>
            <a:normAutofit fontScale="85000" lnSpcReduction="20000"/>
          </a:bodyPr>
          <a:lstStyle/>
          <a:p>
            <a:pPr algn="just">
              <a:buNone/>
            </a:pPr>
            <a:r>
              <a:rPr lang="en-PH" sz="3200" dirty="0"/>
              <a:t>2 THINGS:</a:t>
            </a:r>
          </a:p>
          <a:p>
            <a:pPr marL="624078" indent="-514350" algn="just">
              <a:buAutoNum type="arabicPeriod"/>
            </a:pPr>
            <a:r>
              <a:rPr lang="en-PH" sz="3200" b="1" dirty="0"/>
              <a:t>PRIMARY CHARACTERISTICS</a:t>
            </a:r>
          </a:p>
          <a:p>
            <a:pPr marL="624078" indent="-514350" algn="just">
              <a:buNone/>
            </a:pPr>
            <a:r>
              <a:rPr lang="en-PH" sz="3200" b="1" dirty="0"/>
              <a:t>	1. Validity</a:t>
            </a:r>
          </a:p>
          <a:p>
            <a:pPr marL="624078" indent="-514350" algn="just">
              <a:buNone/>
            </a:pPr>
            <a:r>
              <a:rPr lang="en-PH" sz="3200" b="1" dirty="0"/>
              <a:t>	2. Reliability</a:t>
            </a:r>
          </a:p>
          <a:p>
            <a:pPr marL="624078" indent="-514350">
              <a:buAutoNum type="arabicPeriod" startAt="2"/>
            </a:pPr>
            <a:r>
              <a:rPr lang="en-PH" sz="3200" b="1" dirty="0"/>
              <a:t>SECONDARY CHARACTERISTICS (Efficiency)</a:t>
            </a:r>
          </a:p>
          <a:p>
            <a:pPr marL="624078" indent="-514350" algn="just">
              <a:buNone/>
            </a:pPr>
            <a:r>
              <a:rPr lang="en-PH" sz="3200" b="1" dirty="0"/>
              <a:t>	1. Economy</a:t>
            </a:r>
          </a:p>
          <a:p>
            <a:pPr marL="624078" indent="-514350" algn="just">
              <a:buNone/>
            </a:pPr>
            <a:r>
              <a:rPr lang="en-PH" sz="3200" b="1" dirty="0"/>
              <a:t>	2. </a:t>
            </a:r>
            <a:r>
              <a:rPr lang="en-PH" sz="3200" b="1" dirty="0" err="1"/>
              <a:t>Scorability</a:t>
            </a:r>
            <a:endParaRPr lang="en-PH" sz="3200" b="1" dirty="0"/>
          </a:p>
          <a:p>
            <a:pPr marL="624078" indent="-514350" algn="just">
              <a:buNone/>
            </a:pPr>
            <a:r>
              <a:rPr lang="en-PH" sz="3200" b="1" dirty="0"/>
              <a:t>	3. </a:t>
            </a:r>
            <a:r>
              <a:rPr lang="en-PH" sz="3200" b="1" dirty="0" err="1"/>
              <a:t>Administrability</a:t>
            </a:r>
            <a:r>
              <a:rPr lang="en-PH" sz="3200" b="1" dirty="0"/>
              <a:t> </a:t>
            </a:r>
          </a:p>
          <a:p>
            <a:pPr marL="624078" indent="-514350" algn="just">
              <a:buNone/>
            </a:pPr>
            <a:endParaRPr lang="en-PH" sz="3200" dirty="0"/>
          </a:p>
          <a:p>
            <a:pPr marL="624078" indent="-514350" algn="just">
              <a:buNone/>
            </a:pPr>
            <a:endParaRPr lang="en-PH" sz="3200" dirty="0"/>
          </a:p>
        </p:txBody>
      </p:sp>
      <p:sp>
        <p:nvSpPr>
          <p:cNvPr id="4" name="Date Placeholder 3"/>
          <p:cNvSpPr>
            <a:spLocks noGrp="1"/>
          </p:cNvSpPr>
          <p:nvPr>
            <p:ph type="dt" sz="half" idx="10"/>
          </p:nvPr>
        </p:nvSpPr>
        <p:spPr/>
        <p:txBody>
          <a:bodyPr/>
          <a:lstStyle/>
          <a:p>
            <a:fld id="{6AE9EDE7-0D40-4788-AB71-1B95DEC6D6E5}"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2</a:t>
            </a:fld>
            <a:endParaRPr lang="en-PH"/>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Question</a:t>
            </a:r>
          </a:p>
        </p:txBody>
      </p:sp>
      <p:sp>
        <p:nvSpPr>
          <p:cNvPr id="3" name="Content Placeholder 2"/>
          <p:cNvSpPr>
            <a:spLocks noGrp="1"/>
          </p:cNvSpPr>
          <p:nvPr>
            <p:ph idx="1"/>
          </p:nvPr>
        </p:nvSpPr>
        <p:spPr>
          <a:xfrm>
            <a:off x="866441" y="2489200"/>
            <a:ext cx="7528800" cy="3530600"/>
          </a:xfrm>
        </p:spPr>
        <p:txBody>
          <a:bodyPr>
            <a:normAutofit/>
          </a:bodyPr>
          <a:lstStyle/>
          <a:p>
            <a:pPr algn="just"/>
            <a:r>
              <a:rPr lang="en-PH" sz="3200" b="1" dirty="0"/>
              <a:t>A test end in completion without any student asking or clarifying how to answer the test. The test has a good ___________. </a:t>
            </a:r>
          </a:p>
          <a:p>
            <a:pPr algn="just"/>
            <a:r>
              <a:rPr lang="en-PH" sz="3200" b="1" dirty="0"/>
              <a:t>A. validity		C. </a:t>
            </a:r>
            <a:r>
              <a:rPr lang="en-PH" sz="3200" b="1" dirty="0" err="1"/>
              <a:t>scorability</a:t>
            </a:r>
            <a:endParaRPr lang="en-PH" sz="3200" b="1" dirty="0"/>
          </a:p>
          <a:p>
            <a:pPr algn="just"/>
            <a:r>
              <a:rPr lang="en-PH" sz="3200" b="1" dirty="0"/>
              <a:t>B. </a:t>
            </a:r>
            <a:r>
              <a:rPr lang="en-PH" sz="3200" b="1" dirty="0" err="1"/>
              <a:t>realibility</a:t>
            </a:r>
            <a:r>
              <a:rPr lang="en-PH" sz="3200" b="1" dirty="0"/>
              <a:t>		D. </a:t>
            </a:r>
            <a:r>
              <a:rPr lang="en-PH" sz="3200" b="1" dirty="0" err="1"/>
              <a:t>administrability</a:t>
            </a:r>
            <a:endParaRPr lang="en-PH" sz="3200" b="1" dirty="0"/>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3</a:t>
            </a:fld>
            <a:endParaRPr lang="en-PH"/>
          </a:p>
        </p:txBody>
      </p:sp>
    </p:spTree>
    <p:extLst>
      <p:ext uri="{BB962C8B-B14F-4D97-AF65-F5344CB8AC3E}">
        <p14:creationId xmlns:p14="http://schemas.microsoft.com/office/powerpoint/2010/main" val="2002960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VALIDITY</a:t>
            </a:r>
          </a:p>
        </p:txBody>
      </p:sp>
      <p:sp>
        <p:nvSpPr>
          <p:cNvPr id="3" name="Content Placeholder 2"/>
          <p:cNvSpPr>
            <a:spLocks noGrp="1"/>
          </p:cNvSpPr>
          <p:nvPr>
            <p:ph idx="1"/>
          </p:nvPr>
        </p:nvSpPr>
        <p:spPr>
          <a:xfrm>
            <a:off x="866441" y="2489200"/>
            <a:ext cx="7698601" cy="3530600"/>
          </a:xfrm>
        </p:spPr>
        <p:txBody>
          <a:bodyPr>
            <a:normAutofit fontScale="92500" lnSpcReduction="20000"/>
          </a:bodyPr>
          <a:lstStyle/>
          <a:p>
            <a:pPr algn="just">
              <a:buNone/>
            </a:pPr>
            <a:r>
              <a:rPr lang="en-PH" dirty="0"/>
              <a:t> 		</a:t>
            </a:r>
            <a:r>
              <a:rPr lang="en-PH" sz="3600" b="1" dirty="0"/>
              <a:t>Validity is the highest characteristics of the test. It is therefore given the primary consideration when constructing the test.</a:t>
            </a:r>
          </a:p>
          <a:p>
            <a:pPr algn="just">
              <a:buNone/>
            </a:pPr>
            <a:r>
              <a:rPr lang="en-PH" sz="3600" b="1" dirty="0"/>
              <a:t>	It is the accuracy of the test, the truthfulness, the appropriateness of the test.</a:t>
            </a:r>
          </a:p>
        </p:txBody>
      </p:sp>
      <p:sp>
        <p:nvSpPr>
          <p:cNvPr id="4" name="Date Placeholder 3"/>
          <p:cNvSpPr>
            <a:spLocks noGrp="1"/>
          </p:cNvSpPr>
          <p:nvPr>
            <p:ph type="dt" sz="half" idx="10"/>
          </p:nvPr>
        </p:nvSpPr>
        <p:spPr/>
        <p:txBody>
          <a:bodyPr/>
          <a:lstStyle/>
          <a:p>
            <a:fld id="{3E0A2870-9EA0-4C6D-B509-C1079DEE83D2}"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4</a:t>
            </a:fld>
            <a:endParaRPr lang="en-PH"/>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WHAT IS VALIDITY?</a:t>
            </a:r>
          </a:p>
        </p:txBody>
      </p:sp>
      <p:sp>
        <p:nvSpPr>
          <p:cNvPr id="3" name="Content Placeholder 2"/>
          <p:cNvSpPr>
            <a:spLocks noGrp="1"/>
          </p:cNvSpPr>
          <p:nvPr>
            <p:ph idx="1"/>
          </p:nvPr>
        </p:nvSpPr>
        <p:spPr>
          <a:xfrm>
            <a:off x="457201" y="2489200"/>
            <a:ext cx="8229600" cy="3530600"/>
          </a:xfrm>
        </p:spPr>
        <p:txBody>
          <a:bodyPr>
            <a:noAutofit/>
          </a:bodyPr>
          <a:lstStyle/>
          <a:p>
            <a:pPr algn="just">
              <a:buNone/>
            </a:pPr>
            <a:r>
              <a:rPr lang="en-PH" sz="3600" b="1" dirty="0"/>
              <a:t>It is the ability of the test to measure what it purports to measure. There is no such thing that is a valid test by itself. It only becomes valid if it can measure the objectives it mean to measure</a:t>
            </a:r>
            <a:r>
              <a:rPr lang="en-PH" sz="4000" b="1" dirty="0"/>
              <a:t>.</a:t>
            </a:r>
          </a:p>
        </p:txBody>
      </p:sp>
      <p:sp>
        <p:nvSpPr>
          <p:cNvPr id="4" name="Date Placeholder 3"/>
          <p:cNvSpPr>
            <a:spLocks noGrp="1"/>
          </p:cNvSpPr>
          <p:nvPr>
            <p:ph type="dt" sz="half" idx="10"/>
          </p:nvPr>
        </p:nvSpPr>
        <p:spPr/>
        <p:txBody>
          <a:bodyPr/>
          <a:lstStyle/>
          <a:p>
            <a:fld id="{1DCCFDF2-B36D-4334-A382-25BDE4B5D900}"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5</a:t>
            </a:fld>
            <a:endParaRPr lang="en-PH"/>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4135915468"/>
              </p:ext>
            </p:extLst>
          </p:nvPr>
        </p:nvGraphicFramePr>
        <p:xfrm>
          <a:off x="866774" y="1905000"/>
          <a:ext cx="7439025" cy="4541520"/>
        </p:xfrm>
        <a:graphic>
          <a:graphicData uri="http://schemas.openxmlformats.org/drawingml/2006/table">
            <a:tbl>
              <a:tblPr firstRow="1" bandRow="1">
                <a:tableStyleId>{5C22544A-7EE6-4342-B048-85BDC9FD1C3A}</a:tableStyleId>
              </a:tblPr>
              <a:tblGrid>
                <a:gridCol w="3686675">
                  <a:extLst>
                    <a:ext uri="{9D8B030D-6E8A-4147-A177-3AD203B41FA5}">
                      <a16:colId xmlns:a16="http://schemas.microsoft.com/office/drawing/2014/main" val="20000"/>
                    </a:ext>
                  </a:extLst>
                </a:gridCol>
                <a:gridCol w="3752350">
                  <a:extLst>
                    <a:ext uri="{9D8B030D-6E8A-4147-A177-3AD203B41FA5}">
                      <a16:colId xmlns:a16="http://schemas.microsoft.com/office/drawing/2014/main" val="20001"/>
                    </a:ext>
                  </a:extLst>
                </a:gridCol>
              </a:tblGrid>
              <a:tr h="1066800">
                <a:tc>
                  <a:txBody>
                    <a:bodyPr/>
                    <a:lstStyle/>
                    <a:p>
                      <a:r>
                        <a:rPr lang="en-PH" sz="3200" b="1" dirty="0"/>
                        <a:t>TYPES OF VALIDITY</a:t>
                      </a:r>
                    </a:p>
                  </a:txBody>
                  <a:tcPr/>
                </a:tc>
                <a:tc>
                  <a:txBody>
                    <a:bodyPr/>
                    <a:lstStyle/>
                    <a:p>
                      <a:r>
                        <a:rPr lang="en-PH" sz="3200" b="1" dirty="0"/>
                        <a:t>VARIANT</a:t>
                      </a:r>
                    </a:p>
                  </a:txBody>
                  <a:tcPr/>
                </a:tc>
                <a:extLst>
                  <a:ext uri="{0D108BD9-81ED-4DB2-BD59-A6C34878D82A}">
                    <a16:rowId xmlns:a16="http://schemas.microsoft.com/office/drawing/2014/main" val="10000"/>
                  </a:ext>
                </a:extLst>
              </a:tr>
              <a:tr h="370840">
                <a:tc>
                  <a:txBody>
                    <a:bodyPr/>
                    <a:lstStyle/>
                    <a:p>
                      <a:r>
                        <a:rPr lang="en-PH" sz="3200" b="1" dirty="0"/>
                        <a:t>1. Content</a:t>
                      </a:r>
                    </a:p>
                  </a:txBody>
                  <a:tcPr/>
                </a:tc>
                <a:tc>
                  <a:txBody>
                    <a:bodyPr/>
                    <a:lstStyle/>
                    <a:p>
                      <a:r>
                        <a:rPr lang="en-PH" sz="3200" b="1" dirty="0"/>
                        <a:t>a.</a:t>
                      </a:r>
                      <a:r>
                        <a:rPr lang="en-PH" sz="3200" b="1" baseline="0" dirty="0"/>
                        <a:t> Face</a:t>
                      </a:r>
                      <a:endParaRPr lang="en-PH" sz="3200" b="1" dirty="0"/>
                    </a:p>
                  </a:txBody>
                  <a:tcPr/>
                </a:tc>
                <a:extLst>
                  <a:ext uri="{0D108BD9-81ED-4DB2-BD59-A6C34878D82A}">
                    <a16:rowId xmlns:a16="http://schemas.microsoft.com/office/drawing/2014/main" val="10001"/>
                  </a:ext>
                </a:extLst>
              </a:tr>
              <a:tr h="370840">
                <a:tc>
                  <a:txBody>
                    <a:bodyPr/>
                    <a:lstStyle/>
                    <a:p>
                      <a:endParaRPr lang="en-PH" sz="3200" b="1" dirty="0"/>
                    </a:p>
                  </a:txBody>
                  <a:tcPr/>
                </a:tc>
                <a:tc>
                  <a:txBody>
                    <a:bodyPr/>
                    <a:lstStyle/>
                    <a:p>
                      <a:r>
                        <a:rPr lang="en-PH" sz="3200" b="1" dirty="0"/>
                        <a:t>b. Curricular</a:t>
                      </a:r>
                    </a:p>
                  </a:txBody>
                  <a:tcPr/>
                </a:tc>
                <a:extLst>
                  <a:ext uri="{0D108BD9-81ED-4DB2-BD59-A6C34878D82A}">
                    <a16:rowId xmlns:a16="http://schemas.microsoft.com/office/drawing/2014/main" val="10002"/>
                  </a:ext>
                </a:extLst>
              </a:tr>
              <a:tr h="370840">
                <a:tc>
                  <a:txBody>
                    <a:bodyPr/>
                    <a:lstStyle/>
                    <a:p>
                      <a:r>
                        <a:rPr lang="en-PH" sz="3200" b="1" dirty="0"/>
                        <a:t>2. Criterion</a:t>
                      </a:r>
                    </a:p>
                  </a:txBody>
                  <a:tcPr/>
                </a:tc>
                <a:tc>
                  <a:txBody>
                    <a:bodyPr/>
                    <a:lstStyle/>
                    <a:p>
                      <a:r>
                        <a:rPr lang="en-PH" sz="3200" b="1" dirty="0"/>
                        <a:t>a. Concurrent</a:t>
                      </a:r>
                    </a:p>
                  </a:txBody>
                  <a:tcPr/>
                </a:tc>
                <a:extLst>
                  <a:ext uri="{0D108BD9-81ED-4DB2-BD59-A6C34878D82A}">
                    <a16:rowId xmlns:a16="http://schemas.microsoft.com/office/drawing/2014/main" val="10003"/>
                  </a:ext>
                </a:extLst>
              </a:tr>
              <a:tr h="370840">
                <a:tc>
                  <a:txBody>
                    <a:bodyPr/>
                    <a:lstStyle/>
                    <a:p>
                      <a:endParaRPr lang="en-PH" sz="3200" b="1"/>
                    </a:p>
                  </a:txBody>
                  <a:tcPr/>
                </a:tc>
                <a:tc>
                  <a:txBody>
                    <a:bodyPr/>
                    <a:lstStyle/>
                    <a:p>
                      <a:r>
                        <a:rPr lang="en-PH" sz="3200" b="1" dirty="0"/>
                        <a:t>b. Predictive</a:t>
                      </a:r>
                    </a:p>
                  </a:txBody>
                  <a:tcPr/>
                </a:tc>
                <a:extLst>
                  <a:ext uri="{0D108BD9-81ED-4DB2-BD59-A6C34878D82A}">
                    <a16:rowId xmlns:a16="http://schemas.microsoft.com/office/drawing/2014/main" val="10004"/>
                  </a:ext>
                </a:extLst>
              </a:tr>
              <a:tr h="370840">
                <a:tc>
                  <a:txBody>
                    <a:bodyPr/>
                    <a:lstStyle/>
                    <a:p>
                      <a:r>
                        <a:rPr lang="en-PH" sz="3200" b="1" dirty="0"/>
                        <a:t>3. Construct</a:t>
                      </a:r>
                    </a:p>
                  </a:txBody>
                  <a:tcPr/>
                </a:tc>
                <a:tc>
                  <a:txBody>
                    <a:bodyPr/>
                    <a:lstStyle/>
                    <a:p>
                      <a:r>
                        <a:rPr lang="en-PH" sz="3200" b="1" dirty="0"/>
                        <a:t>a. Discriminate</a:t>
                      </a:r>
                    </a:p>
                  </a:txBody>
                  <a:tcPr/>
                </a:tc>
                <a:extLst>
                  <a:ext uri="{0D108BD9-81ED-4DB2-BD59-A6C34878D82A}">
                    <a16:rowId xmlns:a16="http://schemas.microsoft.com/office/drawing/2014/main" val="10005"/>
                  </a:ext>
                </a:extLst>
              </a:tr>
              <a:tr h="370840">
                <a:tc>
                  <a:txBody>
                    <a:bodyPr/>
                    <a:lstStyle/>
                    <a:p>
                      <a:endParaRPr lang="en-PH" sz="3200" b="1" dirty="0"/>
                    </a:p>
                  </a:txBody>
                  <a:tcPr/>
                </a:tc>
                <a:tc>
                  <a:txBody>
                    <a:bodyPr/>
                    <a:lstStyle/>
                    <a:p>
                      <a:r>
                        <a:rPr lang="en-PH" sz="3200" b="1" dirty="0"/>
                        <a:t>b. Convergent</a:t>
                      </a:r>
                    </a:p>
                  </a:txBody>
                  <a:tcPr/>
                </a:tc>
                <a:extLst>
                  <a:ext uri="{0D108BD9-81ED-4DB2-BD59-A6C34878D82A}">
                    <a16:rowId xmlns:a16="http://schemas.microsoft.com/office/drawing/2014/main" val="10006"/>
                  </a:ext>
                </a:extLst>
              </a:tr>
            </a:tbl>
          </a:graphicData>
        </a:graphic>
      </p:graphicFrame>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6</a:t>
            </a:fld>
            <a:endParaRPr lang="en-PH"/>
          </a:p>
        </p:txBody>
      </p:sp>
    </p:spTree>
    <p:extLst>
      <p:ext uri="{BB962C8B-B14F-4D97-AF65-F5344CB8AC3E}">
        <p14:creationId xmlns:p14="http://schemas.microsoft.com/office/powerpoint/2010/main" val="399679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TYPES OF VALIDITY</a:t>
            </a:r>
          </a:p>
        </p:txBody>
      </p:sp>
      <p:sp>
        <p:nvSpPr>
          <p:cNvPr id="3" name="Content Placeholder 2"/>
          <p:cNvSpPr>
            <a:spLocks noGrp="1"/>
          </p:cNvSpPr>
          <p:nvPr>
            <p:ph idx="1"/>
          </p:nvPr>
        </p:nvSpPr>
        <p:spPr>
          <a:xfrm>
            <a:off x="866441" y="2489200"/>
            <a:ext cx="7698601" cy="3530600"/>
          </a:xfrm>
        </p:spPr>
        <p:txBody>
          <a:bodyPr>
            <a:normAutofit fontScale="92500" lnSpcReduction="20000"/>
          </a:bodyPr>
          <a:lstStyle/>
          <a:p>
            <a:pPr algn="just">
              <a:buNone/>
            </a:pPr>
            <a:r>
              <a:rPr lang="en-PH" sz="3600" b="1" dirty="0"/>
              <a:t>1.CONTENT VALIDITY </a:t>
            </a:r>
            <a:r>
              <a:rPr lang="en-PH" sz="3600" dirty="0"/>
              <a:t>– the simplest type of validity. It is determined by simple inspection. </a:t>
            </a:r>
          </a:p>
          <a:p>
            <a:pPr algn="just">
              <a:buNone/>
            </a:pPr>
            <a:r>
              <a:rPr lang="en-PH" sz="3600" dirty="0"/>
              <a:t>			A test has a content validity if it covers what it suppose to covers; if it can measure what is suppose the objectives the test wants to measure</a:t>
            </a:r>
            <a:r>
              <a:rPr lang="en-PH" dirty="0"/>
              <a:t>.</a:t>
            </a:r>
          </a:p>
        </p:txBody>
      </p:sp>
      <p:sp>
        <p:nvSpPr>
          <p:cNvPr id="4" name="Date Placeholder 3"/>
          <p:cNvSpPr>
            <a:spLocks noGrp="1"/>
          </p:cNvSpPr>
          <p:nvPr>
            <p:ph type="dt" sz="half" idx="10"/>
          </p:nvPr>
        </p:nvSpPr>
        <p:spPr/>
        <p:txBody>
          <a:bodyPr/>
          <a:lstStyle/>
          <a:p>
            <a:fld id="{9C241002-CDAF-4016-94B6-230819B48A45}"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7</a:t>
            </a:fld>
            <a:endParaRPr lang="en-PH"/>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dirty="0"/>
              <a:t>Conditions that tell contest validity is ascertained.</a:t>
            </a:r>
          </a:p>
        </p:txBody>
      </p:sp>
      <p:sp>
        <p:nvSpPr>
          <p:cNvPr id="3" name="Content Placeholder 2"/>
          <p:cNvSpPr>
            <a:spLocks noGrp="1"/>
          </p:cNvSpPr>
          <p:nvPr>
            <p:ph idx="1"/>
          </p:nvPr>
        </p:nvSpPr>
        <p:spPr>
          <a:xfrm>
            <a:off x="457201" y="2489200"/>
            <a:ext cx="8534400" cy="3530600"/>
          </a:xfrm>
        </p:spPr>
        <p:txBody>
          <a:bodyPr>
            <a:normAutofit fontScale="92500" lnSpcReduction="10000"/>
          </a:bodyPr>
          <a:lstStyle/>
          <a:p>
            <a:pPr marL="624078" indent="-514350" algn="just">
              <a:buAutoNum type="arabicPeriod"/>
            </a:pPr>
            <a:r>
              <a:rPr lang="en-PH" sz="4000" b="1" dirty="0"/>
              <a:t>When the teacher makes a TOS (Table of Specification)</a:t>
            </a:r>
          </a:p>
          <a:p>
            <a:pPr marL="624078" indent="-514350" algn="just">
              <a:buAutoNum type="arabicPeriod" startAt="2"/>
            </a:pPr>
            <a:r>
              <a:rPr lang="en-PH" sz="4000" b="1" dirty="0"/>
              <a:t>When the teacher makes an achievement test.</a:t>
            </a:r>
          </a:p>
          <a:p>
            <a:pPr marL="624078" indent="-514350" algn="just">
              <a:buAutoNum type="arabicPeriod" startAt="2"/>
            </a:pPr>
            <a:r>
              <a:rPr lang="en-PH" sz="4000" b="1" dirty="0"/>
              <a:t>When the teacher submits the test for critique</a:t>
            </a:r>
          </a:p>
        </p:txBody>
      </p:sp>
      <p:sp>
        <p:nvSpPr>
          <p:cNvPr id="4" name="Date Placeholder 3"/>
          <p:cNvSpPr>
            <a:spLocks noGrp="1"/>
          </p:cNvSpPr>
          <p:nvPr>
            <p:ph type="dt" sz="half" idx="10"/>
          </p:nvPr>
        </p:nvSpPr>
        <p:spPr/>
        <p:txBody>
          <a:bodyPr/>
          <a:lstStyle/>
          <a:p>
            <a:fld id="{B5332068-265D-4346-A51F-13B842576899}"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8</a:t>
            </a:fld>
            <a:endParaRPr lang="en-PH"/>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Other forms of content validity</a:t>
            </a:r>
          </a:p>
        </p:txBody>
      </p:sp>
      <p:sp>
        <p:nvSpPr>
          <p:cNvPr id="3" name="Content Placeholder 2"/>
          <p:cNvSpPr>
            <a:spLocks noGrp="1"/>
          </p:cNvSpPr>
          <p:nvPr>
            <p:ph idx="1"/>
          </p:nvPr>
        </p:nvSpPr>
        <p:spPr/>
        <p:txBody>
          <a:bodyPr>
            <a:normAutofit/>
          </a:bodyPr>
          <a:lstStyle/>
          <a:p>
            <a:pPr marL="624078" indent="-514350">
              <a:buAutoNum type="arabicPeriod"/>
            </a:pPr>
            <a:r>
              <a:rPr lang="en-PH" sz="5400" dirty="0"/>
              <a:t>FACE VALIDITY</a:t>
            </a:r>
          </a:p>
          <a:p>
            <a:pPr marL="624078" indent="-514350">
              <a:buAutoNum type="arabicPeriod"/>
            </a:pPr>
            <a:r>
              <a:rPr lang="en-PH" sz="5400" dirty="0"/>
              <a:t>CURRICULAR VALIDITY</a:t>
            </a:r>
          </a:p>
        </p:txBody>
      </p:sp>
      <p:sp>
        <p:nvSpPr>
          <p:cNvPr id="4" name="Date Placeholder 3"/>
          <p:cNvSpPr>
            <a:spLocks noGrp="1"/>
          </p:cNvSpPr>
          <p:nvPr>
            <p:ph type="dt" sz="half" idx="10"/>
          </p:nvPr>
        </p:nvSpPr>
        <p:spPr/>
        <p:txBody>
          <a:bodyPr/>
          <a:lstStyle/>
          <a:p>
            <a:fld id="{2DA0C648-9F07-4719-9915-86AE113F607A}"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9</a:t>
            </a:fld>
            <a:endParaRPr lang="en-PH"/>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2.CRITERION VALIDITY</a:t>
            </a:r>
          </a:p>
        </p:txBody>
      </p:sp>
      <p:sp>
        <p:nvSpPr>
          <p:cNvPr id="3" name="Content Placeholder 2"/>
          <p:cNvSpPr>
            <a:spLocks noGrp="1"/>
          </p:cNvSpPr>
          <p:nvPr>
            <p:ph idx="1"/>
          </p:nvPr>
        </p:nvSpPr>
        <p:spPr>
          <a:xfrm>
            <a:off x="866441" y="2489200"/>
            <a:ext cx="7698601" cy="3530600"/>
          </a:xfrm>
        </p:spPr>
        <p:txBody>
          <a:bodyPr>
            <a:normAutofit fontScale="92500" lnSpcReduction="20000"/>
          </a:bodyPr>
          <a:lstStyle/>
          <a:p>
            <a:pPr algn="just">
              <a:buNone/>
            </a:pPr>
            <a:r>
              <a:rPr lang="en-PH" sz="2800" b="1" dirty="0"/>
              <a:t>THE CRITERION VALIDITY OF THE TEST IS DETERMINED BY </a:t>
            </a:r>
            <a:r>
              <a:rPr lang="en-PH" sz="2800" b="1" u="sng" dirty="0"/>
              <a:t>CORRELATING</a:t>
            </a:r>
            <a:r>
              <a:rPr lang="en-PH" sz="2800" b="1" dirty="0"/>
              <a:t> THE TEST TO ANOTHER TEST WHICH IS ALREADY KNOWN TO BE VALID AND RELIABLE.</a:t>
            </a:r>
          </a:p>
          <a:p>
            <a:pPr algn="just">
              <a:buNone/>
            </a:pPr>
            <a:r>
              <a:rPr lang="en-PH" b="1" dirty="0"/>
              <a:t>	</a:t>
            </a:r>
            <a:r>
              <a:rPr lang="en-PH" sz="3200" b="1" dirty="0"/>
              <a:t>This is determined statistically. The statistical tool commonly used is Pearson r. The r must be 0.75 for the test to be considered to have criterion validity.</a:t>
            </a:r>
          </a:p>
        </p:txBody>
      </p:sp>
      <p:sp>
        <p:nvSpPr>
          <p:cNvPr id="4" name="Date Placeholder 3"/>
          <p:cNvSpPr>
            <a:spLocks noGrp="1"/>
          </p:cNvSpPr>
          <p:nvPr>
            <p:ph type="dt" sz="half" idx="10"/>
          </p:nvPr>
        </p:nvSpPr>
        <p:spPr/>
        <p:txBody>
          <a:bodyPr/>
          <a:lstStyle/>
          <a:p>
            <a:fld id="{31FB9228-1D10-40CE-8490-40F8BF756E3E}"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10</a:t>
            </a:fld>
            <a:endParaRPr lang="en-PH"/>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1927114148"/>
              </p:ext>
            </p:extLst>
          </p:nvPr>
        </p:nvGraphicFramePr>
        <p:xfrm>
          <a:off x="2057399" y="2489200"/>
          <a:ext cx="5105402" cy="3378198"/>
        </p:xfrm>
        <a:graphic>
          <a:graphicData uri="http://schemas.openxmlformats.org/drawingml/2006/table">
            <a:tbl>
              <a:tblPr firstRow="1" bandRow="1">
                <a:tableStyleId>{5C22544A-7EE6-4342-B048-85BDC9FD1C3A}</a:tableStyleId>
              </a:tblPr>
              <a:tblGrid>
                <a:gridCol w="2552701">
                  <a:extLst>
                    <a:ext uri="{9D8B030D-6E8A-4147-A177-3AD203B41FA5}">
                      <a16:colId xmlns:a16="http://schemas.microsoft.com/office/drawing/2014/main" val="20000"/>
                    </a:ext>
                  </a:extLst>
                </a:gridCol>
                <a:gridCol w="2552701">
                  <a:extLst>
                    <a:ext uri="{9D8B030D-6E8A-4147-A177-3AD203B41FA5}">
                      <a16:colId xmlns:a16="http://schemas.microsoft.com/office/drawing/2014/main" val="20001"/>
                    </a:ext>
                  </a:extLst>
                </a:gridCol>
              </a:tblGrid>
              <a:tr h="563033">
                <a:tc>
                  <a:txBody>
                    <a:bodyPr/>
                    <a:lstStyle/>
                    <a:p>
                      <a:pPr algn="ctr"/>
                      <a:r>
                        <a:rPr lang="en-PH" b="1" dirty="0"/>
                        <a:t>ENTRANCE TEST</a:t>
                      </a:r>
                    </a:p>
                  </a:txBody>
                  <a:tcPr/>
                </a:tc>
                <a:tc>
                  <a:txBody>
                    <a:bodyPr/>
                    <a:lstStyle/>
                    <a:p>
                      <a:pPr algn="ctr"/>
                      <a:r>
                        <a:rPr lang="en-PH" b="1" dirty="0"/>
                        <a:t>NCAE</a:t>
                      </a:r>
                    </a:p>
                  </a:txBody>
                  <a:tcPr/>
                </a:tc>
                <a:extLst>
                  <a:ext uri="{0D108BD9-81ED-4DB2-BD59-A6C34878D82A}">
                    <a16:rowId xmlns:a16="http://schemas.microsoft.com/office/drawing/2014/main" val="10000"/>
                  </a:ext>
                </a:extLst>
              </a:tr>
              <a:tr h="563033">
                <a:tc>
                  <a:txBody>
                    <a:bodyPr/>
                    <a:lstStyle/>
                    <a:p>
                      <a:pPr algn="ctr"/>
                      <a:r>
                        <a:rPr lang="en-PH" sz="2400" b="1" dirty="0"/>
                        <a:t>87</a:t>
                      </a:r>
                    </a:p>
                  </a:txBody>
                  <a:tcPr/>
                </a:tc>
                <a:tc>
                  <a:txBody>
                    <a:bodyPr/>
                    <a:lstStyle/>
                    <a:p>
                      <a:pPr algn="ctr"/>
                      <a:r>
                        <a:rPr lang="en-PH" sz="2400" b="1" dirty="0"/>
                        <a:t>92</a:t>
                      </a:r>
                    </a:p>
                  </a:txBody>
                  <a:tcPr/>
                </a:tc>
                <a:extLst>
                  <a:ext uri="{0D108BD9-81ED-4DB2-BD59-A6C34878D82A}">
                    <a16:rowId xmlns:a16="http://schemas.microsoft.com/office/drawing/2014/main" val="10001"/>
                  </a:ext>
                </a:extLst>
              </a:tr>
              <a:tr h="563033">
                <a:tc>
                  <a:txBody>
                    <a:bodyPr/>
                    <a:lstStyle/>
                    <a:p>
                      <a:pPr algn="ctr"/>
                      <a:r>
                        <a:rPr lang="en-PH" sz="2400" b="1" dirty="0"/>
                        <a:t>78</a:t>
                      </a:r>
                    </a:p>
                  </a:txBody>
                  <a:tcPr/>
                </a:tc>
                <a:tc>
                  <a:txBody>
                    <a:bodyPr/>
                    <a:lstStyle/>
                    <a:p>
                      <a:pPr algn="ctr"/>
                      <a:r>
                        <a:rPr lang="en-PH" sz="2400" b="1" dirty="0"/>
                        <a:t>79</a:t>
                      </a:r>
                    </a:p>
                  </a:txBody>
                  <a:tcPr/>
                </a:tc>
                <a:extLst>
                  <a:ext uri="{0D108BD9-81ED-4DB2-BD59-A6C34878D82A}">
                    <a16:rowId xmlns:a16="http://schemas.microsoft.com/office/drawing/2014/main" val="10002"/>
                  </a:ext>
                </a:extLst>
              </a:tr>
              <a:tr h="563033">
                <a:tc>
                  <a:txBody>
                    <a:bodyPr/>
                    <a:lstStyle/>
                    <a:p>
                      <a:pPr algn="ctr"/>
                      <a:r>
                        <a:rPr lang="en-PH" sz="2400" b="1" dirty="0"/>
                        <a:t>90</a:t>
                      </a:r>
                    </a:p>
                  </a:txBody>
                  <a:tcPr/>
                </a:tc>
                <a:tc>
                  <a:txBody>
                    <a:bodyPr/>
                    <a:lstStyle/>
                    <a:p>
                      <a:pPr algn="ctr"/>
                      <a:r>
                        <a:rPr lang="en-PH" sz="2400" b="1" dirty="0"/>
                        <a:t>89</a:t>
                      </a:r>
                    </a:p>
                  </a:txBody>
                  <a:tcPr/>
                </a:tc>
                <a:extLst>
                  <a:ext uri="{0D108BD9-81ED-4DB2-BD59-A6C34878D82A}">
                    <a16:rowId xmlns:a16="http://schemas.microsoft.com/office/drawing/2014/main" val="10003"/>
                  </a:ext>
                </a:extLst>
              </a:tr>
              <a:tr h="563033">
                <a:tc>
                  <a:txBody>
                    <a:bodyPr/>
                    <a:lstStyle/>
                    <a:p>
                      <a:pPr algn="ctr"/>
                      <a:r>
                        <a:rPr lang="en-PH" sz="2400" b="1" dirty="0"/>
                        <a:t>84</a:t>
                      </a:r>
                    </a:p>
                  </a:txBody>
                  <a:tcPr/>
                </a:tc>
                <a:tc>
                  <a:txBody>
                    <a:bodyPr/>
                    <a:lstStyle/>
                    <a:p>
                      <a:pPr algn="ctr"/>
                      <a:r>
                        <a:rPr lang="en-PH" sz="2400" b="1" dirty="0"/>
                        <a:t>85</a:t>
                      </a:r>
                    </a:p>
                  </a:txBody>
                  <a:tcPr/>
                </a:tc>
                <a:extLst>
                  <a:ext uri="{0D108BD9-81ED-4DB2-BD59-A6C34878D82A}">
                    <a16:rowId xmlns:a16="http://schemas.microsoft.com/office/drawing/2014/main" val="10004"/>
                  </a:ext>
                </a:extLst>
              </a:tr>
              <a:tr h="563033">
                <a:tc>
                  <a:txBody>
                    <a:bodyPr/>
                    <a:lstStyle/>
                    <a:p>
                      <a:pPr algn="ctr"/>
                      <a:r>
                        <a:rPr lang="en-PH" sz="2400" b="1" dirty="0"/>
                        <a:t>87</a:t>
                      </a:r>
                    </a:p>
                  </a:txBody>
                  <a:tcPr/>
                </a:tc>
                <a:tc>
                  <a:txBody>
                    <a:bodyPr/>
                    <a:lstStyle/>
                    <a:p>
                      <a:pPr algn="ctr"/>
                      <a:r>
                        <a:rPr lang="en-PH" sz="2400" b="1" dirty="0"/>
                        <a:t>88</a:t>
                      </a:r>
                    </a:p>
                  </a:txBody>
                  <a:tcPr/>
                </a:tc>
                <a:extLst>
                  <a:ext uri="{0D108BD9-81ED-4DB2-BD59-A6C34878D82A}">
                    <a16:rowId xmlns:a16="http://schemas.microsoft.com/office/drawing/2014/main" val="10005"/>
                  </a:ext>
                </a:extLst>
              </a:tr>
            </a:tbl>
          </a:graphicData>
        </a:graphic>
      </p:graphicFrame>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11</a:t>
            </a:fld>
            <a:endParaRPr lang="en-PH"/>
          </a:p>
        </p:txBody>
      </p:sp>
    </p:spTree>
    <p:extLst>
      <p:ext uri="{BB962C8B-B14F-4D97-AF65-F5344CB8AC3E}">
        <p14:creationId xmlns:p14="http://schemas.microsoft.com/office/powerpoint/2010/main" val="3667426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405960654"/>
              </p:ext>
            </p:extLst>
          </p:nvPr>
        </p:nvGraphicFramePr>
        <p:xfrm>
          <a:off x="1904999" y="2489200"/>
          <a:ext cx="4800602" cy="3715172"/>
        </p:xfrm>
        <a:graphic>
          <a:graphicData uri="http://schemas.openxmlformats.org/drawingml/2006/table">
            <a:tbl>
              <a:tblPr firstRow="1" bandRow="1">
                <a:tableStyleId>{5C22544A-7EE6-4342-B048-85BDC9FD1C3A}</a:tableStyleId>
              </a:tblPr>
              <a:tblGrid>
                <a:gridCol w="2400301">
                  <a:extLst>
                    <a:ext uri="{9D8B030D-6E8A-4147-A177-3AD203B41FA5}">
                      <a16:colId xmlns:a16="http://schemas.microsoft.com/office/drawing/2014/main" val="20000"/>
                    </a:ext>
                  </a:extLst>
                </a:gridCol>
                <a:gridCol w="2400301">
                  <a:extLst>
                    <a:ext uri="{9D8B030D-6E8A-4147-A177-3AD203B41FA5}">
                      <a16:colId xmlns:a16="http://schemas.microsoft.com/office/drawing/2014/main" val="20001"/>
                    </a:ext>
                  </a:extLst>
                </a:gridCol>
              </a:tblGrid>
              <a:tr h="563033">
                <a:tc>
                  <a:txBody>
                    <a:bodyPr/>
                    <a:lstStyle/>
                    <a:p>
                      <a:endParaRPr lang="en-PH" dirty="0"/>
                    </a:p>
                    <a:p>
                      <a:r>
                        <a:rPr lang="en-PH" dirty="0"/>
                        <a:t>ENTRANCE</a:t>
                      </a:r>
                    </a:p>
                  </a:txBody>
                  <a:tcPr/>
                </a:tc>
                <a:tc>
                  <a:txBody>
                    <a:bodyPr/>
                    <a:lstStyle/>
                    <a:p>
                      <a:endParaRPr lang="en-PH" dirty="0"/>
                    </a:p>
                    <a:p>
                      <a:r>
                        <a:rPr lang="en-PH" dirty="0"/>
                        <a:t>GWA</a:t>
                      </a:r>
                    </a:p>
                  </a:txBody>
                  <a:tcPr/>
                </a:tc>
                <a:extLst>
                  <a:ext uri="{0D108BD9-81ED-4DB2-BD59-A6C34878D82A}">
                    <a16:rowId xmlns:a16="http://schemas.microsoft.com/office/drawing/2014/main" val="10000"/>
                  </a:ext>
                </a:extLst>
              </a:tr>
              <a:tr h="563033">
                <a:tc>
                  <a:txBody>
                    <a:bodyPr/>
                    <a:lstStyle/>
                    <a:p>
                      <a:pPr algn="ctr"/>
                      <a:endParaRPr lang="en-PH" sz="2400" b="1" dirty="0"/>
                    </a:p>
                    <a:p>
                      <a:pPr algn="ctr"/>
                      <a:r>
                        <a:rPr lang="en-PH" sz="2400" b="1" dirty="0"/>
                        <a:t>91</a:t>
                      </a:r>
                    </a:p>
                  </a:txBody>
                  <a:tcPr/>
                </a:tc>
                <a:tc>
                  <a:txBody>
                    <a:bodyPr/>
                    <a:lstStyle/>
                    <a:p>
                      <a:pPr algn="ctr"/>
                      <a:endParaRPr lang="en-PH" sz="2400" b="1" dirty="0"/>
                    </a:p>
                    <a:p>
                      <a:pPr algn="ctr"/>
                      <a:r>
                        <a:rPr lang="en-PH" sz="2400" b="1" dirty="0"/>
                        <a:t>90</a:t>
                      </a:r>
                    </a:p>
                  </a:txBody>
                  <a:tcPr/>
                </a:tc>
                <a:extLst>
                  <a:ext uri="{0D108BD9-81ED-4DB2-BD59-A6C34878D82A}">
                    <a16:rowId xmlns:a16="http://schemas.microsoft.com/office/drawing/2014/main" val="10001"/>
                  </a:ext>
                </a:extLst>
              </a:tr>
              <a:tr h="563033">
                <a:tc>
                  <a:txBody>
                    <a:bodyPr/>
                    <a:lstStyle/>
                    <a:p>
                      <a:pPr algn="ctr"/>
                      <a:r>
                        <a:rPr lang="en-PH" sz="2400" b="1" dirty="0"/>
                        <a:t>85</a:t>
                      </a:r>
                    </a:p>
                  </a:txBody>
                  <a:tcPr/>
                </a:tc>
                <a:tc>
                  <a:txBody>
                    <a:bodyPr/>
                    <a:lstStyle/>
                    <a:p>
                      <a:pPr algn="ctr"/>
                      <a:r>
                        <a:rPr lang="en-PH" sz="2400" b="1" dirty="0"/>
                        <a:t>83</a:t>
                      </a:r>
                    </a:p>
                  </a:txBody>
                  <a:tcPr/>
                </a:tc>
                <a:extLst>
                  <a:ext uri="{0D108BD9-81ED-4DB2-BD59-A6C34878D82A}">
                    <a16:rowId xmlns:a16="http://schemas.microsoft.com/office/drawing/2014/main" val="10002"/>
                  </a:ext>
                </a:extLst>
              </a:tr>
              <a:tr h="563033">
                <a:tc>
                  <a:txBody>
                    <a:bodyPr/>
                    <a:lstStyle/>
                    <a:p>
                      <a:pPr algn="ctr"/>
                      <a:r>
                        <a:rPr lang="en-PH" sz="2400" b="1" dirty="0"/>
                        <a:t>86</a:t>
                      </a:r>
                    </a:p>
                  </a:txBody>
                  <a:tcPr/>
                </a:tc>
                <a:tc>
                  <a:txBody>
                    <a:bodyPr/>
                    <a:lstStyle/>
                    <a:p>
                      <a:pPr algn="ctr"/>
                      <a:r>
                        <a:rPr lang="en-PH" sz="2400" b="1" dirty="0"/>
                        <a:t>88</a:t>
                      </a:r>
                    </a:p>
                  </a:txBody>
                  <a:tcPr/>
                </a:tc>
                <a:extLst>
                  <a:ext uri="{0D108BD9-81ED-4DB2-BD59-A6C34878D82A}">
                    <a16:rowId xmlns:a16="http://schemas.microsoft.com/office/drawing/2014/main" val="10003"/>
                  </a:ext>
                </a:extLst>
              </a:tr>
              <a:tr h="563033">
                <a:tc>
                  <a:txBody>
                    <a:bodyPr/>
                    <a:lstStyle/>
                    <a:p>
                      <a:pPr algn="ctr"/>
                      <a:r>
                        <a:rPr lang="en-PH" sz="2400" b="1" dirty="0"/>
                        <a:t>75</a:t>
                      </a:r>
                    </a:p>
                  </a:txBody>
                  <a:tcPr/>
                </a:tc>
                <a:tc>
                  <a:txBody>
                    <a:bodyPr/>
                    <a:lstStyle/>
                    <a:p>
                      <a:pPr algn="ctr"/>
                      <a:r>
                        <a:rPr lang="en-PH" sz="2400" b="1" dirty="0"/>
                        <a:t>77</a:t>
                      </a:r>
                    </a:p>
                  </a:txBody>
                  <a:tcPr/>
                </a:tc>
                <a:extLst>
                  <a:ext uri="{0D108BD9-81ED-4DB2-BD59-A6C34878D82A}">
                    <a16:rowId xmlns:a16="http://schemas.microsoft.com/office/drawing/2014/main" val="10004"/>
                  </a:ext>
                </a:extLst>
              </a:tr>
              <a:tr h="563033">
                <a:tc>
                  <a:txBody>
                    <a:bodyPr/>
                    <a:lstStyle/>
                    <a:p>
                      <a:pPr algn="ctr"/>
                      <a:r>
                        <a:rPr lang="en-PH" sz="2400" b="1" dirty="0"/>
                        <a:t>86</a:t>
                      </a:r>
                    </a:p>
                  </a:txBody>
                  <a:tcPr/>
                </a:tc>
                <a:tc>
                  <a:txBody>
                    <a:bodyPr/>
                    <a:lstStyle/>
                    <a:p>
                      <a:pPr algn="ctr"/>
                      <a:r>
                        <a:rPr lang="en-PH" sz="2400" b="1" dirty="0"/>
                        <a:t>86</a:t>
                      </a:r>
                    </a:p>
                  </a:txBody>
                  <a:tcPr/>
                </a:tc>
                <a:extLst>
                  <a:ext uri="{0D108BD9-81ED-4DB2-BD59-A6C34878D82A}">
                    <a16:rowId xmlns:a16="http://schemas.microsoft.com/office/drawing/2014/main" val="10005"/>
                  </a:ext>
                </a:extLst>
              </a:tr>
            </a:tbl>
          </a:graphicData>
        </a:graphic>
      </p:graphicFrame>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12</a:t>
            </a:fld>
            <a:endParaRPr lang="en-PH"/>
          </a:p>
        </p:txBody>
      </p:sp>
    </p:spTree>
    <p:extLst>
      <p:ext uri="{BB962C8B-B14F-4D97-AF65-F5344CB8AC3E}">
        <p14:creationId xmlns:p14="http://schemas.microsoft.com/office/powerpoint/2010/main" val="36508260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Kinds of CRITERION VALIDITY</a:t>
            </a:r>
          </a:p>
        </p:txBody>
      </p:sp>
      <p:sp>
        <p:nvSpPr>
          <p:cNvPr id="3" name="Content Placeholder 2"/>
          <p:cNvSpPr>
            <a:spLocks noGrp="1"/>
          </p:cNvSpPr>
          <p:nvPr>
            <p:ph idx="1"/>
          </p:nvPr>
        </p:nvSpPr>
        <p:spPr/>
        <p:txBody>
          <a:bodyPr/>
          <a:lstStyle/>
          <a:p>
            <a:pPr marL="624078" indent="-514350">
              <a:buAutoNum type="arabicPeriod"/>
            </a:pPr>
            <a:r>
              <a:rPr lang="en-PH" sz="4400" b="1" dirty="0"/>
              <a:t>CONCURRENT</a:t>
            </a:r>
          </a:p>
          <a:p>
            <a:pPr marL="624078" indent="-514350">
              <a:buAutoNum type="arabicPeriod"/>
            </a:pPr>
            <a:r>
              <a:rPr lang="en-PH" sz="4400" b="1" dirty="0"/>
              <a:t>PREDICTIVE</a:t>
            </a:r>
          </a:p>
        </p:txBody>
      </p:sp>
      <p:sp>
        <p:nvSpPr>
          <p:cNvPr id="4" name="Date Placeholder 3"/>
          <p:cNvSpPr>
            <a:spLocks noGrp="1"/>
          </p:cNvSpPr>
          <p:nvPr>
            <p:ph type="dt" sz="half" idx="10"/>
          </p:nvPr>
        </p:nvSpPr>
        <p:spPr/>
        <p:txBody>
          <a:bodyPr/>
          <a:lstStyle/>
          <a:p>
            <a:fld id="{49D5CDDA-0AD4-4DDA-A91A-F60D8247B62E}"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13</a:t>
            </a:fld>
            <a:endParaRPr lang="en-PH"/>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The Pearson r</a:t>
            </a:r>
          </a:p>
        </p:txBody>
      </p:sp>
      <p:pic>
        <p:nvPicPr>
          <p:cNvPr id="6" name="Content Placeholder 5" descr="R.jpg"/>
          <p:cNvPicPr>
            <a:picLocks noGrp="1" noChangeAspect="1"/>
          </p:cNvPicPr>
          <p:nvPr>
            <p:ph idx="1"/>
          </p:nvPr>
        </p:nvPicPr>
        <p:blipFill>
          <a:blip r:embed="rId2" cstate="print"/>
          <a:stretch>
            <a:fillRect/>
          </a:stretch>
        </p:blipFill>
        <p:spPr>
          <a:xfrm>
            <a:off x="1219199" y="2514600"/>
            <a:ext cx="7176041" cy="3048000"/>
          </a:xfrm>
        </p:spPr>
      </p:pic>
      <p:sp>
        <p:nvSpPr>
          <p:cNvPr id="3" name="Date Placeholder 2"/>
          <p:cNvSpPr>
            <a:spLocks noGrp="1"/>
          </p:cNvSpPr>
          <p:nvPr>
            <p:ph type="dt" sz="half" idx="10"/>
          </p:nvPr>
        </p:nvSpPr>
        <p:spPr/>
        <p:txBody>
          <a:bodyPr/>
          <a:lstStyle/>
          <a:p>
            <a:fld id="{A3FCC803-F589-4D31-A125-48A2054E9FB1}" type="datetime1">
              <a:rPr lang="en-PH" smtClean="0"/>
              <a:t>25/08/2018</a:t>
            </a:fld>
            <a:endParaRPr lang="en-PH"/>
          </a:p>
        </p:txBody>
      </p:sp>
      <p:sp>
        <p:nvSpPr>
          <p:cNvPr id="4" name="Footer Placeholder 3"/>
          <p:cNvSpPr>
            <a:spLocks noGrp="1"/>
          </p:cNvSpPr>
          <p:nvPr>
            <p:ph type="ftr" sz="quarter" idx="11"/>
          </p:nvPr>
        </p:nvSpPr>
        <p:spPr/>
        <p:txBody>
          <a:bodyPr/>
          <a:lstStyle/>
          <a:p>
            <a:r>
              <a:rPr lang="en-PH"/>
              <a:t>Sir Crespo - UA Review</a:t>
            </a:r>
          </a:p>
        </p:txBody>
      </p:sp>
      <p:sp>
        <p:nvSpPr>
          <p:cNvPr id="5" name="Slide Number Placeholder 4"/>
          <p:cNvSpPr>
            <a:spLocks noGrp="1"/>
          </p:cNvSpPr>
          <p:nvPr>
            <p:ph type="sldNum" sz="quarter" idx="12"/>
          </p:nvPr>
        </p:nvSpPr>
        <p:spPr/>
        <p:txBody>
          <a:bodyPr>
            <a:normAutofit/>
          </a:bodyPr>
          <a:lstStyle/>
          <a:p>
            <a:fld id="{853B7D28-E5F2-4AA3-9F25-AE0CE1E4F96C}" type="slidenum">
              <a:rPr lang="en-PH" smtClean="0"/>
              <a:pPr/>
              <a:t>14</a:t>
            </a:fld>
            <a:endParaRPr lang="en-PH"/>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590843" y="2286000"/>
            <a:ext cx="8248358" cy="3733800"/>
          </a:xfrm>
        </p:spPr>
        <p:txBody>
          <a:bodyPr>
            <a:normAutofit/>
          </a:bodyPr>
          <a:lstStyle/>
          <a:p>
            <a:r>
              <a:rPr lang="en-PH" sz="2800" b="1" dirty="0"/>
              <a:t>The Pearson r is a test for correlation. By correlation, we mean, if there is a relation between two variables and to what extent.</a:t>
            </a:r>
          </a:p>
          <a:p>
            <a:r>
              <a:rPr lang="en-PH" sz="2800" b="1" dirty="0"/>
              <a:t>Motivation &amp; Performance</a:t>
            </a:r>
          </a:p>
          <a:p>
            <a:r>
              <a:rPr lang="en-PH" sz="2800" b="1" dirty="0"/>
              <a:t>Math &amp; Physics</a:t>
            </a:r>
          </a:p>
          <a:p>
            <a:r>
              <a:rPr lang="en-PH" sz="2800" b="1" dirty="0"/>
              <a:t>Income &amp; Expense</a:t>
            </a:r>
          </a:p>
          <a:p>
            <a:r>
              <a:rPr lang="en-PH" sz="2800" b="1" dirty="0"/>
              <a:t>Mass &amp; Acceleration</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15</a:t>
            </a:fld>
            <a:endParaRPr lang="en-PH"/>
          </a:p>
        </p:txBody>
      </p:sp>
    </p:spTree>
    <p:extLst>
      <p:ext uri="{BB962C8B-B14F-4D97-AF65-F5344CB8AC3E}">
        <p14:creationId xmlns:p14="http://schemas.microsoft.com/office/powerpoint/2010/main" val="2305066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481455883"/>
              </p:ext>
            </p:extLst>
          </p:nvPr>
        </p:nvGraphicFramePr>
        <p:xfrm>
          <a:off x="866772" y="2209802"/>
          <a:ext cx="6899655" cy="3627120"/>
        </p:xfrm>
        <a:graphic>
          <a:graphicData uri="http://schemas.openxmlformats.org/drawingml/2006/table">
            <a:tbl>
              <a:tblPr firstRow="1" bandRow="1">
                <a:tableStyleId>{5C22544A-7EE6-4342-B048-85BDC9FD1C3A}</a:tableStyleId>
              </a:tblPr>
              <a:tblGrid>
                <a:gridCol w="1379931">
                  <a:extLst>
                    <a:ext uri="{9D8B030D-6E8A-4147-A177-3AD203B41FA5}">
                      <a16:colId xmlns:a16="http://schemas.microsoft.com/office/drawing/2014/main" val="20000"/>
                    </a:ext>
                  </a:extLst>
                </a:gridCol>
                <a:gridCol w="1379931">
                  <a:extLst>
                    <a:ext uri="{9D8B030D-6E8A-4147-A177-3AD203B41FA5}">
                      <a16:colId xmlns:a16="http://schemas.microsoft.com/office/drawing/2014/main" val="20001"/>
                    </a:ext>
                  </a:extLst>
                </a:gridCol>
                <a:gridCol w="1379931">
                  <a:extLst>
                    <a:ext uri="{9D8B030D-6E8A-4147-A177-3AD203B41FA5}">
                      <a16:colId xmlns:a16="http://schemas.microsoft.com/office/drawing/2014/main" val="20002"/>
                    </a:ext>
                  </a:extLst>
                </a:gridCol>
                <a:gridCol w="1379931">
                  <a:extLst>
                    <a:ext uri="{9D8B030D-6E8A-4147-A177-3AD203B41FA5}">
                      <a16:colId xmlns:a16="http://schemas.microsoft.com/office/drawing/2014/main" val="20003"/>
                    </a:ext>
                  </a:extLst>
                </a:gridCol>
                <a:gridCol w="1379931">
                  <a:extLst>
                    <a:ext uri="{9D8B030D-6E8A-4147-A177-3AD203B41FA5}">
                      <a16:colId xmlns:a16="http://schemas.microsoft.com/office/drawing/2014/main" val="20004"/>
                    </a:ext>
                  </a:extLst>
                </a:gridCol>
              </a:tblGrid>
              <a:tr h="511628">
                <a:tc>
                  <a:txBody>
                    <a:bodyPr/>
                    <a:lstStyle/>
                    <a:p>
                      <a:pPr algn="ctr"/>
                      <a:r>
                        <a:rPr lang="en-PH" sz="2800" b="1" dirty="0"/>
                        <a:t> x</a:t>
                      </a:r>
                    </a:p>
                  </a:txBody>
                  <a:tcPr/>
                </a:tc>
                <a:tc>
                  <a:txBody>
                    <a:bodyPr/>
                    <a:lstStyle/>
                    <a:p>
                      <a:pPr algn="ctr"/>
                      <a:r>
                        <a:rPr lang="en-PH" sz="2800" b="1" dirty="0"/>
                        <a:t>y</a:t>
                      </a:r>
                    </a:p>
                  </a:txBody>
                  <a:tcPr/>
                </a:tc>
                <a:tc>
                  <a:txBody>
                    <a:bodyPr/>
                    <a:lstStyle/>
                    <a:p>
                      <a:pPr algn="ctr"/>
                      <a:r>
                        <a:rPr lang="en-PH" sz="2800" b="1" dirty="0"/>
                        <a:t>x2</a:t>
                      </a:r>
                    </a:p>
                  </a:txBody>
                  <a:tcPr/>
                </a:tc>
                <a:tc>
                  <a:txBody>
                    <a:bodyPr/>
                    <a:lstStyle/>
                    <a:p>
                      <a:pPr algn="ctr"/>
                      <a:r>
                        <a:rPr lang="en-PH" sz="2800" b="1" dirty="0"/>
                        <a:t> y2</a:t>
                      </a:r>
                    </a:p>
                  </a:txBody>
                  <a:tcPr/>
                </a:tc>
                <a:tc>
                  <a:txBody>
                    <a:bodyPr/>
                    <a:lstStyle/>
                    <a:p>
                      <a:pPr algn="ctr"/>
                      <a:r>
                        <a:rPr lang="en-PH" sz="2800" b="1" dirty="0" err="1"/>
                        <a:t>xy</a:t>
                      </a:r>
                      <a:endParaRPr lang="en-PH" sz="2800" b="1" dirty="0"/>
                    </a:p>
                  </a:txBody>
                  <a:tcPr/>
                </a:tc>
                <a:extLst>
                  <a:ext uri="{0D108BD9-81ED-4DB2-BD59-A6C34878D82A}">
                    <a16:rowId xmlns:a16="http://schemas.microsoft.com/office/drawing/2014/main" val="10000"/>
                  </a:ext>
                </a:extLst>
              </a:tr>
              <a:tr h="511628">
                <a:tc>
                  <a:txBody>
                    <a:bodyPr/>
                    <a:lstStyle/>
                    <a:p>
                      <a:pPr algn="ctr"/>
                      <a:r>
                        <a:rPr lang="en-PH" sz="2800" b="1" dirty="0"/>
                        <a:t> 5</a:t>
                      </a:r>
                    </a:p>
                  </a:txBody>
                  <a:tcPr/>
                </a:tc>
                <a:tc>
                  <a:txBody>
                    <a:bodyPr/>
                    <a:lstStyle/>
                    <a:p>
                      <a:pPr algn="ctr"/>
                      <a:r>
                        <a:rPr lang="en-PH" sz="2800" b="1" dirty="0"/>
                        <a:t>5</a:t>
                      </a:r>
                    </a:p>
                  </a:txBody>
                  <a:tcPr/>
                </a:tc>
                <a:tc>
                  <a:txBody>
                    <a:bodyPr/>
                    <a:lstStyle/>
                    <a:p>
                      <a:pPr algn="ctr"/>
                      <a:r>
                        <a:rPr lang="en-PH" sz="2800" b="1" dirty="0"/>
                        <a:t>25</a:t>
                      </a:r>
                    </a:p>
                  </a:txBody>
                  <a:tcPr/>
                </a:tc>
                <a:tc>
                  <a:txBody>
                    <a:bodyPr/>
                    <a:lstStyle/>
                    <a:p>
                      <a:pPr algn="ctr"/>
                      <a:r>
                        <a:rPr lang="en-PH" sz="2800" b="1" dirty="0"/>
                        <a:t>25</a:t>
                      </a:r>
                    </a:p>
                  </a:txBody>
                  <a:tcPr/>
                </a:tc>
                <a:tc>
                  <a:txBody>
                    <a:bodyPr/>
                    <a:lstStyle/>
                    <a:p>
                      <a:pPr algn="ctr"/>
                      <a:r>
                        <a:rPr lang="en-PH" sz="2800" b="1" dirty="0"/>
                        <a:t>25</a:t>
                      </a:r>
                    </a:p>
                  </a:txBody>
                  <a:tcPr/>
                </a:tc>
                <a:extLst>
                  <a:ext uri="{0D108BD9-81ED-4DB2-BD59-A6C34878D82A}">
                    <a16:rowId xmlns:a16="http://schemas.microsoft.com/office/drawing/2014/main" val="10001"/>
                  </a:ext>
                </a:extLst>
              </a:tr>
              <a:tr h="511628">
                <a:tc>
                  <a:txBody>
                    <a:bodyPr/>
                    <a:lstStyle/>
                    <a:p>
                      <a:pPr algn="ctr"/>
                      <a:r>
                        <a:rPr lang="en-PH" sz="2800" b="1" dirty="0"/>
                        <a:t>4</a:t>
                      </a:r>
                    </a:p>
                  </a:txBody>
                  <a:tcPr/>
                </a:tc>
                <a:tc>
                  <a:txBody>
                    <a:bodyPr/>
                    <a:lstStyle/>
                    <a:p>
                      <a:pPr algn="ctr"/>
                      <a:r>
                        <a:rPr lang="en-PH" sz="2800" b="1" dirty="0"/>
                        <a:t>5</a:t>
                      </a:r>
                    </a:p>
                  </a:txBody>
                  <a:tcPr/>
                </a:tc>
                <a:tc>
                  <a:txBody>
                    <a:bodyPr/>
                    <a:lstStyle/>
                    <a:p>
                      <a:pPr algn="ctr"/>
                      <a:r>
                        <a:rPr lang="en-PH" sz="2800" b="1" dirty="0"/>
                        <a:t>16</a:t>
                      </a:r>
                    </a:p>
                  </a:txBody>
                  <a:tcPr/>
                </a:tc>
                <a:tc>
                  <a:txBody>
                    <a:bodyPr/>
                    <a:lstStyle/>
                    <a:p>
                      <a:pPr algn="ctr"/>
                      <a:r>
                        <a:rPr lang="en-PH" sz="2800" b="1" dirty="0"/>
                        <a:t>25</a:t>
                      </a:r>
                    </a:p>
                  </a:txBody>
                  <a:tcPr/>
                </a:tc>
                <a:tc>
                  <a:txBody>
                    <a:bodyPr/>
                    <a:lstStyle/>
                    <a:p>
                      <a:pPr algn="ctr"/>
                      <a:r>
                        <a:rPr lang="en-PH" sz="2800" b="1" dirty="0"/>
                        <a:t>20</a:t>
                      </a:r>
                    </a:p>
                  </a:txBody>
                  <a:tcPr/>
                </a:tc>
                <a:extLst>
                  <a:ext uri="{0D108BD9-81ED-4DB2-BD59-A6C34878D82A}">
                    <a16:rowId xmlns:a16="http://schemas.microsoft.com/office/drawing/2014/main" val="10002"/>
                  </a:ext>
                </a:extLst>
              </a:tr>
              <a:tr h="511628">
                <a:tc>
                  <a:txBody>
                    <a:bodyPr/>
                    <a:lstStyle/>
                    <a:p>
                      <a:pPr algn="ctr"/>
                      <a:r>
                        <a:rPr lang="en-PH" sz="2800" b="1" dirty="0"/>
                        <a:t>4</a:t>
                      </a:r>
                    </a:p>
                  </a:txBody>
                  <a:tcPr/>
                </a:tc>
                <a:tc>
                  <a:txBody>
                    <a:bodyPr/>
                    <a:lstStyle/>
                    <a:p>
                      <a:pPr algn="ctr"/>
                      <a:r>
                        <a:rPr lang="en-PH" sz="2800" b="1" dirty="0"/>
                        <a:t>3</a:t>
                      </a:r>
                    </a:p>
                  </a:txBody>
                  <a:tcPr/>
                </a:tc>
                <a:tc>
                  <a:txBody>
                    <a:bodyPr/>
                    <a:lstStyle/>
                    <a:p>
                      <a:pPr algn="ctr"/>
                      <a:r>
                        <a:rPr lang="en-PH" sz="2800" b="1" dirty="0"/>
                        <a:t>16</a:t>
                      </a:r>
                    </a:p>
                  </a:txBody>
                  <a:tcPr/>
                </a:tc>
                <a:tc>
                  <a:txBody>
                    <a:bodyPr/>
                    <a:lstStyle/>
                    <a:p>
                      <a:pPr algn="ctr"/>
                      <a:r>
                        <a:rPr lang="en-PH" sz="2800" b="1" dirty="0"/>
                        <a:t>9</a:t>
                      </a:r>
                    </a:p>
                  </a:txBody>
                  <a:tcPr/>
                </a:tc>
                <a:tc>
                  <a:txBody>
                    <a:bodyPr/>
                    <a:lstStyle/>
                    <a:p>
                      <a:pPr algn="ctr"/>
                      <a:r>
                        <a:rPr lang="en-PH" sz="2800" b="1" dirty="0"/>
                        <a:t>12</a:t>
                      </a:r>
                    </a:p>
                  </a:txBody>
                  <a:tcPr/>
                </a:tc>
                <a:extLst>
                  <a:ext uri="{0D108BD9-81ED-4DB2-BD59-A6C34878D82A}">
                    <a16:rowId xmlns:a16="http://schemas.microsoft.com/office/drawing/2014/main" val="10003"/>
                  </a:ext>
                </a:extLst>
              </a:tr>
              <a:tr h="511628">
                <a:tc>
                  <a:txBody>
                    <a:bodyPr/>
                    <a:lstStyle/>
                    <a:p>
                      <a:pPr algn="ctr"/>
                      <a:r>
                        <a:rPr lang="en-PH" sz="2800" b="1" dirty="0"/>
                        <a:t>5</a:t>
                      </a:r>
                    </a:p>
                  </a:txBody>
                  <a:tcPr/>
                </a:tc>
                <a:tc>
                  <a:txBody>
                    <a:bodyPr/>
                    <a:lstStyle/>
                    <a:p>
                      <a:pPr algn="ctr"/>
                      <a:r>
                        <a:rPr lang="en-PH" sz="2800" b="1" dirty="0"/>
                        <a:t>4</a:t>
                      </a:r>
                    </a:p>
                  </a:txBody>
                  <a:tcPr/>
                </a:tc>
                <a:tc>
                  <a:txBody>
                    <a:bodyPr/>
                    <a:lstStyle/>
                    <a:p>
                      <a:pPr algn="ctr"/>
                      <a:r>
                        <a:rPr lang="en-PH" sz="2800" b="1" dirty="0"/>
                        <a:t>25</a:t>
                      </a:r>
                    </a:p>
                  </a:txBody>
                  <a:tcPr/>
                </a:tc>
                <a:tc>
                  <a:txBody>
                    <a:bodyPr/>
                    <a:lstStyle/>
                    <a:p>
                      <a:pPr algn="ctr"/>
                      <a:r>
                        <a:rPr lang="en-PH" sz="2800" b="1" dirty="0"/>
                        <a:t>16</a:t>
                      </a:r>
                    </a:p>
                  </a:txBody>
                  <a:tcPr/>
                </a:tc>
                <a:tc>
                  <a:txBody>
                    <a:bodyPr/>
                    <a:lstStyle/>
                    <a:p>
                      <a:pPr algn="ctr"/>
                      <a:r>
                        <a:rPr lang="en-PH" sz="2800" b="1" dirty="0"/>
                        <a:t>20</a:t>
                      </a:r>
                    </a:p>
                  </a:txBody>
                  <a:tcPr/>
                </a:tc>
                <a:extLst>
                  <a:ext uri="{0D108BD9-81ED-4DB2-BD59-A6C34878D82A}">
                    <a16:rowId xmlns:a16="http://schemas.microsoft.com/office/drawing/2014/main" val="10004"/>
                  </a:ext>
                </a:extLst>
              </a:tr>
              <a:tr h="511628">
                <a:tc>
                  <a:txBody>
                    <a:bodyPr/>
                    <a:lstStyle/>
                    <a:p>
                      <a:pPr algn="ctr"/>
                      <a:r>
                        <a:rPr lang="en-PH" sz="2800" b="1" dirty="0"/>
                        <a:t>3</a:t>
                      </a:r>
                    </a:p>
                  </a:txBody>
                  <a:tcPr/>
                </a:tc>
                <a:tc>
                  <a:txBody>
                    <a:bodyPr/>
                    <a:lstStyle/>
                    <a:p>
                      <a:pPr algn="ctr"/>
                      <a:r>
                        <a:rPr lang="en-PH" sz="2800" b="1" dirty="0"/>
                        <a:t>3</a:t>
                      </a:r>
                    </a:p>
                  </a:txBody>
                  <a:tcPr/>
                </a:tc>
                <a:tc>
                  <a:txBody>
                    <a:bodyPr/>
                    <a:lstStyle/>
                    <a:p>
                      <a:pPr algn="ctr"/>
                      <a:r>
                        <a:rPr lang="en-PH" sz="2800" b="1" dirty="0"/>
                        <a:t>9</a:t>
                      </a:r>
                    </a:p>
                  </a:txBody>
                  <a:tcPr/>
                </a:tc>
                <a:tc>
                  <a:txBody>
                    <a:bodyPr/>
                    <a:lstStyle/>
                    <a:p>
                      <a:pPr algn="ctr"/>
                      <a:r>
                        <a:rPr lang="en-PH" sz="2800" b="1" dirty="0"/>
                        <a:t>9</a:t>
                      </a:r>
                    </a:p>
                  </a:txBody>
                  <a:tcPr/>
                </a:tc>
                <a:tc>
                  <a:txBody>
                    <a:bodyPr/>
                    <a:lstStyle/>
                    <a:p>
                      <a:pPr algn="ctr"/>
                      <a:r>
                        <a:rPr lang="en-PH" sz="2800" b="1" dirty="0"/>
                        <a:t>9</a:t>
                      </a:r>
                    </a:p>
                  </a:txBody>
                  <a:tcPr/>
                </a:tc>
                <a:extLst>
                  <a:ext uri="{0D108BD9-81ED-4DB2-BD59-A6C34878D82A}">
                    <a16:rowId xmlns:a16="http://schemas.microsoft.com/office/drawing/2014/main" val="10005"/>
                  </a:ext>
                </a:extLst>
              </a:tr>
              <a:tr h="511628">
                <a:tc>
                  <a:txBody>
                    <a:bodyPr/>
                    <a:lstStyle/>
                    <a:p>
                      <a:pPr algn="l"/>
                      <a:r>
                        <a:rPr lang="en-PH" sz="1400" b="1" dirty="0"/>
                        <a:t>Sum=  </a:t>
                      </a:r>
                      <a:r>
                        <a:rPr lang="en-PH" sz="2400" b="1" dirty="0"/>
                        <a:t>21</a:t>
                      </a:r>
                    </a:p>
                  </a:txBody>
                  <a:tcPr/>
                </a:tc>
                <a:tc>
                  <a:txBody>
                    <a:bodyPr/>
                    <a:lstStyle/>
                    <a:p>
                      <a:pPr algn="ctr"/>
                      <a:r>
                        <a:rPr lang="en-PH" sz="2800" b="1" dirty="0"/>
                        <a:t>20</a:t>
                      </a:r>
                    </a:p>
                  </a:txBody>
                  <a:tcPr/>
                </a:tc>
                <a:tc>
                  <a:txBody>
                    <a:bodyPr/>
                    <a:lstStyle/>
                    <a:p>
                      <a:pPr algn="ctr"/>
                      <a:r>
                        <a:rPr lang="en-PH" sz="2800" b="1" dirty="0"/>
                        <a:t>91</a:t>
                      </a:r>
                    </a:p>
                  </a:txBody>
                  <a:tcPr/>
                </a:tc>
                <a:tc>
                  <a:txBody>
                    <a:bodyPr/>
                    <a:lstStyle/>
                    <a:p>
                      <a:pPr algn="ctr"/>
                      <a:r>
                        <a:rPr lang="en-PH" sz="2800" b="1" dirty="0"/>
                        <a:t>84</a:t>
                      </a:r>
                    </a:p>
                  </a:txBody>
                  <a:tcPr/>
                </a:tc>
                <a:tc>
                  <a:txBody>
                    <a:bodyPr/>
                    <a:lstStyle/>
                    <a:p>
                      <a:pPr algn="ctr"/>
                      <a:r>
                        <a:rPr lang="en-PH" sz="2800" b="1" dirty="0"/>
                        <a:t>86</a:t>
                      </a:r>
                    </a:p>
                  </a:txBody>
                  <a:tcPr/>
                </a:tc>
                <a:extLst>
                  <a:ext uri="{0D108BD9-81ED-4DB2-BD59-A6C34878D82A}">
                    <a16:rowId xmlns:a16="http://schemas.microsoft.com/office/drawing/2014/main" val="10006"/>
                  </a:ext>
                </a:extLst>
              </a:tr>
            </a:tbl>
          </a:graphicData>
        </a:graphic>
      </p:graphicFrame>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16</a:t>
            </a:fld>
            <a:endParaRPr lang="en-PH"/>
          </a:p>
        </p:txBody>
      </p:sp>
    </p:spTree>
    <p:extLst>
      <p:ext uri="{BB962C8B-B14F-4D97-AF65-F5344CB8AC3E}">
        <p14:creationId xmlns:p14="http://schemas.microsoft.com/office/powerpoint/2010/main" val="3659073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577" y="536650"/>
            <a:ext cx="7020500" cy="401705"/>
          </a:xfrm>
        </p:spPr>
        <p:txBody>
          <a:bodyPr/>
          <a:lstStyle/>
          <a:p>
            <a:endParaRPr lang="en-PH"/>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147142685"/>
              </p:ext>
            </p:extLst>
          </p:nvPr>
        </p:nvGraphicFramePr>
        <p:xfrm>
          <a:off x="457200" y="1143000"/>
          <a:ext cx="8229600" cy="4411779"/>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963529">
                <a:tc>
                  <a:txBody>
                    <a:bodyPr/>
                    <a:lstStyle/>
                    <a:p>
                      <a:r>
                        <a:rPr lang="en-PH" sz="3200" dirty="0"/>
                        <a:t>+/- 1.0</a:t>
                      </a:r>
                    </a:p>
                  </a:txBody>
                  <a:tcPr marL="74632" marR="74632"/>
                </a:tc>
                <a:tc>
                  <a:txBody>
                    <a:bodyPr/>
                    <a:lstStyle/>
                    <a:p>
                      <a:r>
                        <a:rPr lang="en-PH" sz="2800" dirty="0"/>
                        <a:t>PERFECT CORRELATION</a:t>
                      </a:r>
                    </a:p>
                  </a:txBody>
                  <a:tcPr marL="74632" marR="74632"/>
                </a:tc>
                <a:extLst>
                  <a:ext uri="{0D108BD9-81ED-4DB2-BD59-A6C34878D82A}">
                    <a16:rowId xmlns:a16="http://schemas.microsoft.com/office/drawing/2014/main" val="10000"/>
                  </a:ext>
                </a:extLst>
              </a:tr>
              <a:tr h="789071">
                <a:tc>
                  <a:txBody>
                    <a:bodyPr/>
                    <a:lstStyle/>
                    <a:p>
                      <a:r>
                        <a:rPr lang="en-PH" sz="2800" b="1" dirty="0"/>
                        <a:t>+/- 0.81  -       +/-   0.99</a:t>
                      </a:r>
                    </a:p>
                  </a:txBody>
                  <a:tcPr marL="74632" marR="74632"/>
                </a:tc>
                <a:tc>
                  <a:txBody>
                    <a:bodyPr/>
                    <a:lstStyle/>
                    <a:p>
                      <a:r>
                        <a:rPr lang="en-PH" sz="2800" b="1" dirty="0"/>
                        <a:t>VERY</a:t>
                      </a:r>
                      <a:r>
                        <a:rPr lang="en-PH" sz="2800" b="1" baseline="0" dirty="0"/>
                        <a:t> HIGH </a:t>
                      </a:r>
                      <a:endParaRPr lang="en-PH" sz="2800" b="1" dirty="0"/>
                    </a:p>
                  </a:txBody>
                  <a:tcPr marL="74632" marR="74632"/>
                </a:tc>
                <a:extLst>
                  <a:ext uri="{0D108BD9-81ED-4DB2-BD59-A6C34878D82A}">
                    <a16:rowId xmlns:a16="http://schemas.microsoft.com/office/drawing/2014/main" val="10001"/>
                  </a:ext>
                </a:extLst>
              </a:tr>
              <a:tr h="528387">
                <a:tc>
                  <a:txBody>
                    <a:bodyPr/>
                    <a:lstStyle/>
                    <a:p>
                      <a:r>
                        <a:rPr lang="en-PH" sz="2800" b="1" dirty="0"/>
                        <a:t>+/- 0.61  -       +/-</a:t>
                      </a:r>
                      <a:r>
                        <a:rPr lang="en-PH" sz="2800" b="1" baseline="0" dirty="0"/>
                        <a:t>   0.80</a:t>
                      </a:r>
                      <a:endParaRPr lang="en-PH" sz="2800" b="1" dirty="0"/>
                    </a:p>
                  </a:txBody>
                  <a:tcPr marL="74632" marR="74632"/>
                </a:tc>
                <a:tc>
                  <a:txBody>
                    <a:bodyPr/>
                    <a:lstStyle/>
                    <a:p>
                      <a:r>
                        <a:rPr lang="en-PH" sz="2800" b="1" dirty="0"/>
                        <a:t>HIGH</a:t>
                      </a:r>
                      <a:r>
                        <a:rPr lang="en-PH" sz="2800" b="1" baseline="0" dirty="0"/>
                        <a:t> CORRELATION</a:t>
                      </a:r>
                      <a:endParaRPr lang="en-PH" sz="2800" b="1" dirty="0"/>
                    </a:p>
                  </a:txBody>
                  <a:tcPr marL="74632" marR="74632"/>
                </a:tc>
                <a:extLst>
                  <a:ext uri="{0D108BD9-81ED-4DB2-BD59-A6C34878D82A}">
                    <a16:rowId xmlns:a16="http://schemas.microsoft.com/office/drawing/2014/main" val="10002"/>
                  </a:ext>
                </a:extLst>
              </a:tr>
              <a:tr h="763604">
                <a:tc>
                  <a:txBody>
                    <a:bodyPr/>
                    <a:lstStyle/>
                    <a:p>
                      <a:r>
                        <a:rPr lang="en-PH" sz="2800" b="1" dirty="0"/>
                        <a:t>+/- 0.4</a:t>
                      </a:r>
                      <a:r>
                        <a:rPr lang="en-PH" sz="2800" b="1" baseline="0" dirty="0"/>
                        <a:t> </a:t>
                      </a:r>
                      <a:r>
                        <a:rPr lang="en-PH" sz="2800" b="1" dirty="0"/>
                        <a:t>   -       +/-</a:t>
                      </a:r>
                      <a:r>
                        <a:rPr lang="en-PH" sz="2800" b="1" baseline="0" dirty="0"/>
                        <a:t>  0.60</a:t>
                      </a:r>
                      <a:endParaRPr lang="en-PH" sz="2800" b="1" dirty="0"/>
                    </a:p>
                  </a:txBody>
                  <a:tcPr marL="74632" marR="74632"/>
                </a:tc>
                <a:tc>
                  <a:txBody>
                    <a:bodyPr/>
                    <a:lstStyle/>
                    <a:p>
                      <a:r>
                        <a:rPr lang="en-PH" sz="2800" b="1" dirty="0"/>
                        <a:t>MARK CORRELATION</a:t>
                      </a:r>
                    </a:p>
                  </a:txBody>
                  <a:tcPr marL="74632" marR="74632"/>
                </a:tc>
                <a:extLst>
                  <a:ext uri="{0D108BD9-81ED-4DB2-BD59-A6C34878D82A}">
                    <a16:rowId xmlns:a16="http://schemas.microsoft.com/office/drawing/2014/main" val="10003"/>
                  </a:ext>
                </a:extLst>
              </a:tr>
              <a:tr h="714475">
                <a:tc>
                  <a:txBody>
                    <a:bodyPr/>
                    <a:lstStyle/>
                    <a:p>
                      <a:r>
                        <a:rPr lang="en-PH" sz="2800" b="1" dirty="0"/>
                        <a:t>+/-</a:t>
                      </a:r>
                      <a:r>
                        <a:rPr lang="en-PH" sz="2800" b="1" baseline="0" dirty="0"/>
                        <a:t> 0.21  -       +/-  0.40</a:t>
                      </a:r>
                      <a:endParaRPr lang="en-PH" sz="2800" b="1" dirty="0"/>
                    </a:p>
                  </a:txBody>
                  <a:tcPr marL="74632" marR="74632"/>
                </a:tc>
                <a:tc>
                  <a:txBody>
                    <a:bodyPr/>
                    <a:lstStyle/>
                    <a:p>
                      <a:r>
                        <a:rPr lang="en-PH" sz="2800" b="1" dirty="0"/>
                        <a:t>SLIGHT</a:t>
                      </a:r>
                    </a:p>
                  </a:txBody>
                  <a:tcPr marL="74632" marR="74632"/>
                </a:tc>
                <a:extLst>
                  <a:ext uri="{0D108BD9-81ED-4DB2-BD59-A6C34878D82A}">
                    <a16:rowId xmlns:a16="http://schemas.microsoft.com/office/drawing/2014/main" val="10004"/>
                  </a:ext>
                </a:extLst>
              </a:tr>
              <a:tr h="652713">
                <a:tc>
                  <a:txBody>
                    <a:bodyPr/>
                    <a:lstStyle/>
                    <a:p>
                      <a:r>
                        <a:rPr lang="en-PH" sz="2800" b="1" dirty="0"/>
                        <a:t>0.00</a:t>
                      </a:r>
                      <a:r>
                        <a:rPr lang="en-PH" sz="2800" b="1" baseline="0" dirty="0"/>
                        <a:t>        -       +/-  0.20</a:t>
                      </a:r>
                      <a:endParaRPr lang="en-PH" sz="2800" b="1" dirty="0"/>
                    </a:p>
                  </a:txBody>
                  <a:tcPr marL="74632" marR="74632"/>
                </a:tc>
                <a:tc>
                  <a:txBody>
                    <a:bodyPr/>
                    <a:lstStyle/>
                    <a:p>
                      <a:r>
                        <a:rPr lang="en-PH" sz="2800" b="1" dirty="0"/>
                        <a:t>NEGLIGIBLE</a:t>
                      </a:r>
                    </a:p>
                  </a:txBody>
                  <a:tcPr marL="74632" marR="74632"/>
                </a:tc>
                <a:extLst>
                  <a:ext uri="{0D108BD9-81ED-4DB2-BD59-A6C34878D82A}">
                    <a16:rowId xmlns:a16="http://schemas.microsoft.com/office/drawing/2014/main" val="10005"/>
                  </a:ext>
                </a:extLst>
              </a:tr>
            </a:tbl>
          </a:graphicData>
        </a:graphic>
      </p:graphicFrame>
      <p:sp>
        <p:nvSpPr>
          <p:cNvPr id="3" name="Date Placeholder 2"/>
          <p:cNvSpPr>
            <a:spLocks noGrp="1"/>
          </p:cNvSpPr>
          <p:nvPr>
            <p:ph type="dt" sz="half" idx="10"/>
          </p:nvPr>
        </p:nvSpPr>
        <p:spPr>
          <a:xfrm>
            <a:off x="7363030" y="6060280"/>
            <a:ext cx="1095874" cy="129123"/>
          </a:xfrm>
        </p:spPr>
        <p:txBody>
          <a:bodyPr/>
          <a:lstStyle/>
          <a:p>
            <a:fld id="{D1046CB6-F278-4E10-B79E-30F5CB652510}" type="datetime1">
              <a:rPr lang="en-PH" smtClean="0"/>
              <a:t>25/08/2018</a:t>
            </a:fld>
            <a:endParaRPr lang="en-PH"/>
          </a:p>
        </p:txBody>
      </p:sp>
      <p:sp>
        <p:nvSpPr>
          <p:cNvPr id="5" name="Footer Placeholder 4"/>
          <p:cNvSpPr>
            <a:spLocks noGrp="1"/>
          </p:cNvSpPr>
          <p:nvPr>
            <p:ph type="ftr" sz="quarter" idx="11"/>
          </p:nvPr>
        </p:nvSpPr>
        <p:spPr>
          <a:xfrm>
            <a:off x="291259" y="6054333"/>
            <a:ext cx="4269990" cy="129124"/>
          </a:xfrm>
        </p:spPr>
        <p:txBody>
          <a:bodyPr/>
          <a:lstStyle/>
          <a:p>
            <a:r>
              <a:rPr lang="en-PH"/>
              <a:t>Sir Crespo - UA Review</a:t>
            </a:r>
          </a:p>
        </p:txBody>
      </p:sp>
      <p:sp>
        <p:nvSpPr>
          <p:cNvPr id="6" name="Slide Number Placeholder 5"/>
          <p:cNvSpPr>
            <a:spLocks noGrp="1"/>
          </p:cNvSpPr>
          <p:nvPr>
            <p:ph type="sldNum" sz="quarter" idx="12"/>
          </p:nvPr>
        </p:nvSpPr>
        <p:spPr>
          <a:xfrm>
            <a:off x="7566132" y="-102302"/>
            <a:ext cx="695639" cy="433512"/>
          </a:xfrm>
        </p:spPr>
        <p:txBody>
          <a:bodyPr>
            <a:normAutofit fontScale="92500" lnSpcReduction="20000"/>
          </a:bodyPr>
          <a:lstStyle/>
          <a:p>
            <a:fld id="{853B7D28-E5F2-4AA3-9F25-AE0CE1E4F96C}" type="slidenum">
              <a:rPr lang="en-PH" smtClean="0"/>
              <a:pPr/>
              <a:t>17</a:t>
            </a:fld>
            <a:endParaRPr lang="en-PH"/>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Class Project: Correlation of NCAE &amp; GWA</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360007346"/>
              </p:ext>
            </p:extLst>
          </p:nvPr>
        </p:nvGraphicFramePr>
        <p:xfrm>
          <a:off x="866771" y="2285997"/>
          <a:ext cx="7439028" cy="3775170"/>
        </p:xfrm>
        <a:graphic>
          <a:graphicData uri="http://schemas.openxmlformats.org/drawingml/2006/table">
            <a:tbl>
              <a:tblPr firstRow="1" bandRow="1">
                <a:tableStyleId>{5C22544A-7EE6-4342-B048-85BDC9FD1C3A}</a:tableStyleId>
              </a:tblPr>
              <a:tblGrid>
                <a:gridCol w="1239838">
                  <a:extLst>
                    <a:ext uri="{9D8B030D-6E8A-4147-A177-3AD203B41FA5}">
                      <a16:colId xmlns:a16="http://schemas.microsoft.com/office/drawing/2014/main" val="20000"/>
                    </a:ext>
                  </a:extLst>
                </a:gridCol>
                <a:gridCol w="1239838">
                  <a:extLst>
                    <a:ext uri="{9D8B030D-6E8A-4147-A177-3AD203B41FA5}">
                      <a16:colId xmlns:a16="http://schemas.microsoft.com/office/drawing/2014/main" val="20001"/>
                    </a:ext>
                  </a:extLst>
                </a:gridCol>
                <a:gridCol w="1239838">
                  <a:extLst>
                    <a:ext uri="{9D8B030D-6E8A-4147-A177-3AD203B41FA5}">
                      <a16:colId xmlns:a16="http://schemas.microsoft.com/office/drawing/2014/main" val="20002"/>
                    </a:ext>
                  </a:extLst>
                </a:gridCol>
                <a:gridCol w="1239838">
                  <a:extLst>
                    <a:ext uri="{9D8B030D-6E8A-4147-A177-3AD203B41FA5}">
                      <a16:colId xmlns:a16="http://schemas.microsoft.com/office/drawing/2014/main" val="20003"/>
                    </a:ext>
                  </a:extLst>
                </a:gridCol>
                <a:gridCol w="1239838">
                  <a:extLst>
                    <a:ext uri="{9D8B030D-6E8A-4147-A177-3AD203B41FA5}">
                      <a16:colId xmlns:a16="http://schemas.microsoft.com/office/drawing/2014/main" val="20004"/>
                    </a:ext>
                  </a:extLst>
                </a:gridCol>
                <a:gridCol w="1239838">
                  <a:extLst>
                    <a:ext uri="{9D8B030D-6E8A-4147-A177-3AD203B41FA5}">
                      <a16:colId xmlns:a16="http://schemas.microsoft.com/office/drawing/2014/main" val="20005"/>
                    </a:ext>
                  </a:extLst>
                </a:gridCol>
              </a:tblGrid>
              <a:tr h="522515">
                <a:tc>
                  <a:txBody>
                    <a:bodyPr/>
                    <a:lstStyle/>
                    <a:p>
                      <a:pPr algn="ctr"/>
                      <a:r>
                        <a:rPr lang="en-PH" b="1" dirty="0"/>
                        <a:t>STUDENT</a:t>
                      </a:r>
                    </a:p>
                  </a:txBody>
                  <a:tcPr/>
                </a:tc>
                <a:tc>
                  <a:txBody>
                    <a:bodyPr/>
                    <a:lstStyle/>
                    <a:p>
                      <a:pPr algn="ctr"/>
                      <a:r>
                        <a:rPr lang="en-PH" b="1" dirty="0"/>
                        <a:t>NCAE (x)</a:t>
                      </a:r>
                    </a:p>
                  </a:txBody>
                  <a:tcPr/>
                </a:tc>
                <a:tc>
                  <a:txBody>
                    <a:bodyPr/>
                    <a:lstStyle/>
                    <a:p>
                      <a:pPr algn="ctr"/>
                      <a:r>
                        <a:rPr lang="en-PH" b="1" dirty="0"/>
                        <a:t>GWA (y)</a:t>
                      </a:r>
                    </a:p>
                  </a:txBody>
                  <a:tcPr/>
                </a:tc>
                <a:tc>
                  <a:txBody>
                    <a:bodyPr/>
                    <a:lstStyle/>
                    <a:p>
                      <a:pPr algn="ctr"/>
                      <a:r>
                        <a:rPr lang="en-PH" b="1" dirty="0"/>
                        <a:t>x2</a:t>
                      </a:r>
                    </a:p>
                    <a:p>
                      <a:pPr algn="ctr"/>
                      <a:endParaRPr lang="en-PH" b="1" dirty="0"/>
                    </a:p>
                  </a:txBody>
                  <a:tcPr/>
                </a:tc>
                <a:tc>
                  <a:txBody>
                    <a:bodyPr/>
                    <a:lstStyle/>
                    <a:p>
                      <a:pPr algn="ctr"/>
                      <a:r>
                        <a:rPr lang="en-PH" b="1" dirty="0"/>
                        <a:t>y2</a:t>
                      </a:r>
                    </a:p>
                  </a:txBody>
                  <a:tcPr/>
                </a:tc>
                <a:tc>
                  <a:txBody>
                    <a:bodyPr/>
                    <a:lstStyle/>
                    <a:p>
                      <a:pPr algn="ctr"/>
                      <a:r>
                        <a:rPr lang="en-PH" b="1" dirty="0" err="1"/>
                        <a:t>xy</a:t>
                      </a:r>
                      <a:endParaRPr lang="en-PH" b="1" dirty="0"/>
                    </a:p>
                  </a:txBody>
                  <a:tcPr/>
                </a:tc>
                <a:extLst>
                  <a:ext uri="{0D108BD9-81ED-4DB2-BD59-A6C34878D82A}">
                    <a16:rowId xmlns:a16="http://schemas.microsoft.com/office/drawing/2014/main" val="10000"/>
                  </a:ext>
                </a:extLst>
              </a:tr>
              <a:tr h="522515">
                <a:tc>
                  <a:txBody>
                    <a:bodyPr/>
                    <a:lstStyle/>
                    <a:p>
                      <a:pPr algn="ctr"/>
                      <a:r>
                        <a:rPr lang="en-PH" b="1" dirty="0"/>
                        <a:t>A</a:t>
                      </a:r>
                    </a:p>
                  </a:txBody>
                  <a:tcPr/>
                </a:tc>
                <a:tc>
                  <a:txBody>
                    <a:bodyPr/>
                    <a:lstStyle/>
                    <a:p>
                      <a:pPr algn="ctr"/>
                      <a:endParaRPr lang="en-PH" b="1"/>
                    </a:p>
                  </a:txBody>
                  <a:tcPr/>
                </a:tc>
                <a:tc>
                  <a:txBody>
                    <a:bodyPr/>
                    <a:lstStyle/>
                    <a:p>
                      <a:pPr algn="ctr"/>
                      <a:endParaRPr lang="en-PH" b="1"/>
                    </a:p>
                  </a:txBody>
                  <a:tcPr/>
                </a:tc>
                <a:tc>
                  <a:txBody>
                    <a:bodyPr/>
                    <a:lstStyle/>
                    <a:p>
                      <a:pPr algn="ctr"/>
                      <a:endParaRPr lang="en-PH" b="1"/>
                    </a:p>
                  </a:txBody>
                  <a:tcPr/>
                </a:tc>
                <a:tc>
                  <a:txBody>
                    <a:bodyPr/>
                    <a:lstStyle/>
                    <a:p>
                      <a:pPr algn="ctr"/>
                      <a:endParaRPr lang="en-PH" b="1"/>
                    </a:p>
                  </a:txBody>
                  <a:tcPr/>
                </a:tc>
                <a:tc>
                  <a:txBody>
                    <a:bodyPr/>
                    <a:lstStyle/>
                    <a:p>
                      <a:pPr algn="ctr"/>
                      <a:endParaRPr lang="en-PH" b="1"/>
                    </a:p>
                  </a:txBody>
                  <a:tcPr/>
                </a:tc>
                <a:extLst>
                  <a:ext uri="{0D108BD9-81ED-4DB2-BD59-A6C34878D82A}">
                    <a16:rowId xmlns:a16="http://schemas.microsoft.com/office/drawing/2014/main" val="10001"/>
                  </a:ext>
                </a:extLst>
              </a:tr>
              <a:tr h="522515">
                <a:tc>
                  <a:txBody>
                    <a:bodyPr/>
                    <a:lstStyle/>
                    <a:p>
                      <a:pPr algn="ctr"/>
                      <a:r>
                        <a:rPr lang="en-PH" b="1" dirty="0"/>
                        <a:t>B</a:t>
                      </a:r>
                    </a:p>
                  </a:txBody>
                  <a:tcPr/>
                </a:tc>
                <a:tc>
                  <a:txBody>
                    <a:bodyPr/>
                    <a:lstStyle/>
                    <a:p>
                      <a:pPr algn="ctr"/>
                      <a:endParaRPr lang="en-PH" b="1"/>
                    </a:p>
                  </a:txBody>
                  <a:tcPr/>
                </a:tc>
                <a:tc>
                  <a:txBody>
                    <a:bodyPr/>
                    <a:lstStyle/>
                    <a:p>
                      <a:pPr algn="ctr"/>
                      <a:endParaRPr lang="en-PH" b="1"/>
                    </a:p>
                  </a:txBody>
                  <a:tcPr/>
                </a:tc>
                <a:tc>
                  <a:txBody>
                    <a:bodyPr/>
                    <a:lstStyle/>
                    <a:p>
                      <a:pPr algn="ctr"/>
                      <a:endParaRPr lang="en-PH" b="1"/>
                    </a:p>
                  </a:txBody>
                  <a:tcPr/>
                </a:tc>
                <a:tc>
                  <a:txBody>
                    <a:bodyPr/>
                    <a:lstStyle/>
                    <a:p>
                      <a:pPr algn="ctr"/>
                      <a:endParaRPr lang="en-PH" b="1"/>
                    </a:p>
                  </a:txBody>
                  <a:tcPr/>
                </a:tc>
                <a:tc>
                  <a:txBody>
                    <a:bodyPr/>
                    <a:lstStyle/>
                    <a:p>
                      <a:pPr algn="ctr"/>
                      <a:endParaRPr lang="en-PH" b="1"/>
                    </a:p>
                  </a:txBody>
                  <a:tcPr/>
                </a:tc>
                <a:extLst>
                  <a:ext uri="{0D108BD9-81ED-4DB2-BD59-A6C34878D82A}">
                    <a16:rowId xmlns:a16="http://schemas.microsoft.com/office/drawing/2014/main" val="10002"/>
                  </a:ext>
                </a:extLst>
              </a:tr>
              <a:tr h="522515">
                <a:tc>
                  <a:txBody>
                    <a:bodyPr/>
                    <a:lstStyle/>
                    <a:p>
                      <a:pPr algn="ctr"/>
                      <a:r>
                        <a:rPr lang="en-PH" b="1" dirty="0"/>
                        <a:t>C</a:t>
                      </a:r>
                    </a:p>
                  </a:txBody>
                  <a:tcPr/>
                </a:tc>
                <a:tc>
                  <a:txBody>
                    <a:bodyPr/>
                    <a:lstStyle/>
                    <a:p>
                      <a:pPr algn="ctr"/>
                      <a:endParaRPr lang="en-PH" b="1" dirty="0"/>
                    </a:p>
                  </a:txBody>
                  <a:tcPr/>
                </a:tc>
                <a:tc>
                  <a:txBody>
                    <a:bodyPr/>
                    <a:lstStyle/>
                    <a:p>
                      <a:pPr algn="ctr"/>
                      <a:endParaRPr lang="en-PH" b="1"/>
                    </a:p>
                  </a:txBody>
                  <a:tcPr/>
                </a:tc>
                <a:tc>
                  <a:txBody>
                    <a:bodyPr/>
                    <a:lstStyle/>
                    <a:p>
                      <a:pPr algn="ctr"/>
                      <a:endParaRPr lang="en-PH" b="1"/>
                    </a:p>
                  </a:txBody>
                  <a:tcPr/>
                </a:tc>
                <a:tc>
                  <a:txBody>
                    <a:bodyPr/>
                    <a:lstStyle/>
                    <a:p>
                      <a:pPr algn="ctr"/>
                      <a:endParaRPr lang="en-PH" b="1"/>
                    </a:p>
                  </a:txBody>
                  <a:tcPr/>
                </a:tc>
                <a:tc>
                  <a:txBody>
                    <a:bodyPr/>
                    <a:lstStyle/>
                    <a:p>
                      <a:pPr algn="ctr"/>
                      <a:endParaRPr lang="en-PH" b="1"/>
                    </a:p>
                  </a:txBody>
                  <a:tcPr/>
                </a:tc>
                <a:extLst>
                  <a:ext uri="{0D108BD9-81ED-4DB2-BD59-A6C34878D82A}">
                    <a16:rowId xmlns:a16="http://schemas.microsoft.com/office/drawing/2014/main" val="10003"/>
                  </a:ext>
                </a:extLst>
              </a:tr>
              <a:tr h="522515">
                <a:tc>
                  <a:txBody>
                    <a:bodyPr/>
                    <a:lstStyle/>
                    <a:p>
                      <a:pPr algn="ctr"/>
                      <a:r>
                        <a:rPr lang="en-PH" b="1" dirty="0"/>
                        <a:t>D</a:t>
                      </a:r>
                    </a:p>
                  </a:txBody>
                  <a:tcPr/>
                </a:tc>
                <a:tc>
                  <a:txBody>
                    <a:bodyPr/>
                    <a:lstStyle/>
                    <a:p>
                      <a:pPr algn="ctr"/>
                      <a:endParaRPr lang="en-PH" b="1" dirty="0"/>
                    </a:p>
                  </a:txBody>
                  <a:tcPr/>
                </a:tc>
                <a:tc>
                  <a:txBody>
                    <a:bodyPr/>
                    <a:lstStyle/>
                    <a:p>
                      <a:pPr algn="ctr"/>
                      <a:endParaRPr lang="en-PH" b="1"/>
                    </a:p>
                  </a:txBody>
                  <a:tcPr/>
                </a:tc>
                <a:tc>
                  <a:txBody>
                    <a:bodyPr/>
                    <a:lstStyle/>
                    <a:p>
                      <a:pPr algn="ctr"/>
                      <a:endParaRPr lang="en-PH" b="1"/>
                    </a:p>
                  </a:txBody>
                  <a:tcPr/>
                </a:tc>
                <a:tc>
                  <a:txBody>
                    <a:bodyPr/>
                    <a:lstStyle/>
                    <a:p>
                      <a:pPr algn="ctr"/>
                      <a:endParaRPr lang="en-PH" b="1"/>
                    </a:p>
                  </a:txBody>
                  <a:tcPr/>
                </a:tc>
                <a:tc>
                  <a:txBody>
                    <a:bodyPr/>
                    <a:lstStyle/>
                    <a:p>
                      <a:pPr algn="ctr"/>
                      <a:endParaRPr lang="en-PH" b="1"/>
                    </a:p>
                  </a:txBody>
                  <a:tcPr/>
                </a:tc>
                <a:extLst>
                  <a:ext uri="{0D108BD9-81ED-4DB2-BD59-A6C34878D82A}">
                    <a16:rowId xmlns:a16="http://schemas.microsoft.com/office/drawing/2014/main" val="10004"/>
                  </a:ext>
                </a:extLst>
              </a:tr>
              <a:tr h="522515">
                <a:tc>
                  <a:txBody>
                    <a:bodyPr/>
                    <a:lstStyle/>
                    <a:p>
                      <a:pPr algn="ctr"/>
                      <a:r>
                        <a:rPr lang="en-PH" b="1" dirty="0"/>
                        <a:t>E</a:t>
                      </a:r>
                    </a:p>
                  </a:txBody>
                  <a:tcPr/>
                </a:tc>
                <a:tc>
                  <a:txBody>
                    <a:bodyPr/>
                    <a:lstStyle/>
                    <a:p>
                      <a:pPr algn="ctr"/>
                      <a:endParaRPr lang="en-PH" b="1"/>
                    </a:p>
                  </a:txBody>
                  <a:tcPr/>
                </a:tc>
                <a:tc>
                  <a:txBody>
                    <a:bodyPr/>
                    <a:lstStyle/>
                    <a:p>
                      <a:pPr algn="ctr"/>
                      <a:endParaRPr lang="en-PH" b="1" dirty="0"/>
                    </a:p>
                  </a:txBody>
                  <a:tcPr/>
                </a:tc>
                <a:tc>
                  <a:txBody>
                    <a:bodyPr/>
                    <a:lstStyle/>
                    <a:p>
                      <a:pPr algn="ctr"/>
                      <a:endParaRPr lang="en-PH" b="1"/>
                    </a:p>
                  </a:txBody>
                  <a:tcPr/>
                </a:tc>
                <a:tc>
                  <a:txBody>
                    <a:bodyPr/>
                    <a:lstStyle/>
                    <a:p>
                      <a:pPr algn="ctr"/>
                      <a:endParaRPr lang="en-PH" b="1"/>
                    </a:p>
                  </a:txBody>
                  <a:tcPr/>
                </a:tc>
                <a:tc>
                  <a:txBody>
                    <a:bodyPr/>
                    <a:lstStyle/>
                    <a:p>
                      <a:pPr algn="ctr"/>
                      <a:endParaRPr lang="en-PH" b="1"/>
                    </a:p>
                  </a:txBody>
                  <a:tcPr/>
                </a:tc>
                <a:extLst>
                  <a:ext uri="{0D108BD9-81ED-4DB2-BD59-A6C34878D82A}">
                    <a16:rowId xmlns:a16="http://schemas.microsoft.com/office/drawing/2014/main" val="10005"/>
                  </a:ext>
                </a:extLst>
              </a:tr>
              <a:tr h="522515">
                <a:tc>
                  <a:txBody>
                    <a:bodyPr/>
                    <a:lstStyle/>
                    <a:p>
                      <a:pPr algn="ctr"/>
                      <a:r>
                        <a:rPr lang="en-PH" b="1" dirty="0"/>
                        <a:t>Sum=</a:t>
                      </a:r>
                    </a:p>
                  </a:txBody>
                  <a:tcPr/>
                </a:tc>
                <a:tc>
                  <a:txBody>
                    <a:bodyPr/>
                    <a:lstStyle/>
                    <a:p>
                      <a:pPr algn="ctr"/>
                      <a:r>
                        <a:rPr lang="en-PH" b="1" dirty="0"/>
                        <a:t>=</a:t>
                      </a:r>
                    </a:p>
                  </a:txBody>
                  <a:tcPr/>
                </a:tc>
                <a:tc>
                  <a:txBody>
                    <a:bodyPr/>
                    <a:lstStyle/>
                    <a:p>
                      <a:pPr algn="ctr"/>
                      <a:r>
                        <a:rPr lang="en-PH" b="1" dirty="0"/>
                        <a:t>=</a:t>
                      </a:r>
                    </a:p>
                  </a:txBody>
                  <a:tcPr/>
                </a:tc>
                <a:tc>
                  <a:txBody>
                    <a:bodyPr/>
                    <a:lstStyle/>
                    <a:p>
                      <a:pPr algn="ctr"/>
                      <a:r>
                        <a:rPr lang="en-PH" b="1" dirty="0"/>
                        <a:t>=</a:t>
                      </a:r>
                    </a:p>
                  </a:txBody>
                  <a:tcPr/>
                </a:tc>
                <a:tc>
                  <a:txBody>
                    <a:bodyPr/>
                    <a:lstStyle/>
                    <a:p>
                      <a:pPr algn="ctr"/>
                      <a:r>
                        <a:rPr lang="en-PH" b="1" dirty="0"/>
                        <a:t>=</a:t>
                      </a:r>
                    </a:p>
                  </a:txBody>
                  <a:tcPr/>
                </a:tc>
                <a:tc>
                  <a:txBody>
                    <a:bodyPr/>
                    <a:lstStyle/>
                    <a:p>
                      <a:pPr algn="ctr"/>
                      <a:r>
                        <a:rPr lang="en-PH" b="1" dirty="0"/>
                        <a:t>=</a:t>
                      </a:r>
                    </a:p>
                  </a:txBody>
                  <a:tcPr/>
                </a:tc>
                <a:extLst>
                  <a:ext uri="{0D108BD9-81ED-4DB2-BD59-A6C34878D82A}">
                    <a16:rowId xmlns:a16="http://schemas.microsoft.com/office/drawing/2014/main" val="10006"/>
                  </a:ext>
                </a:extLst>
              </a:tr>
            </a:tbl>
          </a:graphicData>
        </a:graphic>
      </p:graphicFrame>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18</a:t>
            </a:fld>
            <a:endParaRPr lang="en-PH"/>
          </a:p>
        </p:txBody>
      </p:sp>
    </p:spTree>
    <p:extLst>
      <p:ext uri="{BB962C8B-B14F-4D97-AF65-F5344CB8AC3E}">
        <p14:creationId xmlns:p14="http://schemas.microsoft.com/office/powerpoint/2010/main" val="1052520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489200"/>
            <a:ext cx="7363159" cy="3530600"/>
          </a:xfrm>
        </p:spPr>
        <p:txBody>
          <a:bodyPr>
            <a:normAutofit/>
          </a:bodyPr>
          <a:lstStyle/>
          <a:p>
            <a:r>
              <a:rPr lang="en-PH" sz="2800" b="1" dirty="0"/>
              <a:t>Which of these is not a possible r value?</a:t>
            </a:r>
          </a:p>
          <a:p>
            <a:r>
              <a:rPr lang="en-PH" sz="4800" dirty="0"/>
              <a:t>A. – 0.2  	C. + 0.99</a:t>
            </a:r>
          </a:p>
          <a:p>
            <a:r>
              <a:rPr lang="en-PH" sz="4800" dirty="0"/>
              <a:t>B. + 1.25	D. – 0. 99</a:t>
            </a:r>
          </a:p>
        </p:txBody>
      </p:sp>
      <p:sp>
        <p:nvSpPr>
          <p:cNvPr id="4" name="Date Placeholder 3"/>
          <p:cNvSpPr>
            <a:spLocks noGrp="1"/>
          </p:cNvSpPr>
          <p:nvPr>
            <p:ph type="dt" sz="half" idx="10"/>
          </p:nvPr>
        </p:nvSpPr>
        <p:spPr/>
        <p:txBody>
          <a:bodyPr/>
          <a:lstStyle/>
          <a:p>
            <a:fld id="{91494F7F-E77C-4AEF-9899-C3C48A27B3C1}"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19</a:t>
            </a:fld>
            <a:endParaRPr lang="en-PH"/>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859536"/>
          </a:xfrm>
        </p:spPr>
        <p:txBody>
          <a:bodyPr>
            <a:normAutofit/>
          </a:bodyPr>
          <a:lstStyle/>
          <a:p>
            <a:r>
              <a:rPr lang="en-PH" dirty="0"/>
              <a:t>Scatter plot: Graph of Correlation</a:t>
            </a:r>
          </a:p>
        </p:txBody>
      </p:sp>
      <p:pic>
        <p:nvPicPr>
          <p:cNvPr id="4" name="Content Placeholder 3" descr="scat.jpg"/>
          <p:cNvPicPr>
            <a:picLocks noGrp="1" noChangeAspect="1"/>
          </p:cNvPicPr>
          <p:nvPr>
            <p:ph idx="1"/>
          </p:nvPr>
        </p:nvPicPr>
        <p:blipFill>
          <a:blip r:embed="rId2" cstate="print"/>
          <a:stretch>
            <a:fillRect/>
          </a:stretch>
        </p:blipFill>
        <p:spPr>
          <a:xfrm>
            <a:off x="1676400" y="1981200"/>
            <a:ext cx="5410200" cy="3733800"/>
          </a:xfrm>
        </p:spPr>
      </p:pic>
      <p:sp>
        <p:nvSpPr>
          <p:cNvPr id="3" name="Date Placeholder 2"/>
          <p:cNvSpPr>
            <a:spLocks noGrp="1"/>
          </p:cNvSpPr>
          <p:nvPr>
            <p:ph type="dt" sz="half" idx="10"/>
          </p:nvPr>
        </p:nvSpPr>
        <p:spPr/>
        <p:txBody>
          <a:bodyPr/>
          <a:lstStyle/>
          <a:p>
            <a:fld id="{41104491-39C6-497B-B1DB-33F3C3F65870}"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20</a:t>
            </a:fld>
            <a:endParaRPr lang="en-PH"/>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Kinds of </a:t>
            </a:r>
            <a:r>
              <a:rPr lang="en-PH" dirty="0" err="1"/>
              <a:t>Scatterplot</a:t>
            </a:r>
            <a:endParaRPr lang="en-PH" dirty="0"/>
          </a:p>
        </p:txBody>
      </p:sp>
      <p:pic>
        <p:nvPicPr>
          <p:cNvPr id="4" name="Content Placeholder 3" descr="scatterplot.jpg"/>
          <p:cNvPicPr>
            <a:picLocks noGrp="1" noChangeAspect="1"/>
          </p:cNvPicPr>
          <p:nvPr>
            <p:ph idx="1"/>
          </p:nvPr>
        </p:nvPicPr>
        <p:blipFill>
          <a:blip r:embed="rId2" cstate="print"/>
          <a:stretch>
            <a:fillRect/>
          </a:stretch>
        </p:blipFill>
        <p:spPr>
          <a:xfrm>
            <a:off x="990600" y="2438399"/>
            <a:ext cx="7315200" cy="3733801"/>
          </a:xfrm>
        </p:spPr>
      </p:pic>
      <p:sp>
        <p:nvSpPr>
          <p:cNvPr id="3" name="Date Placeholder 2"/>
          <p:cNvSpPr>
            <a:spLocks noGrp="1"/>
          </p:cNvSpPr>
          <p:nvPr>
            <p:ph type="dt" sz="half" idx="10"/>
          </p:nvPr>
        </p:nvSpPr>
        <p:spPr/>
        <p:txBody>
          <a:bodyPr/>
          <a:lstStyle/>
          <a:p>
            <a:fld id="{091C58EF-20EE-489C-8085-84741D8F2B53}"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21</a:t>
            </a:fld>
            <a:endParaRPr lang="en-PH"/>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161896780"/>
              </p:ext>
            </p:extLst>
          </p:nvPr>
        </p:nvGraphicFramePr>
        <p:xfrm>
          <a:off x="866774" y="2133601"/>
          <a:ext cx="7439025" cy="3857154"/>
        </p:xfrm>
        <a:graphic>
          <a:graphicData uri="http://schemas.openxmlformats.org/drawingml/2006/table">
            <a:tbl>
              <a:tblPr firstRow="1" bandRow="1">
                <a:tableStyleId>{5C22544A-7EE6-4342-B048-85BDC9FD1C3A}</a:tableStyleId>
              </a:tblPr>
              <a:tblGrid>
                <a:gridCol w="1487805">
                  <a:extLst>
                    <a:ext uri="{9D8B030D-6E8A-4147-A177-3AD203B41FA5}">
                      <a16:colId xmlns:a16="http://schemas.microsoft.com/office/drawing/2014/main" val="20000"/>
                    </a:ext>
                  </a:extLst>
                </a:gridCol>
                <a:gridCol w="1487805">
                  <a:extLst>
                    <a:ext uri="{9D8B030D-6E8A-4147-A177-3AD203B41FA5}">
                      <a16:colId xmlns:a16="http://schemas.microsoft.com/office/drawing/2014/main" val="20001"/>
                    </a:ext>
                  </a:extLst>
                </a:gridCol>
                <a:gridCol w="1487805">
                  <a:extLst>
                    <a:ext uri="{9D8B030D-6E8A-4147-A177-3AD203B41FA5}">
                      <a16:colId xmlns:a16="http://schemas.microsoft.com/office/drawing/2014/main" val="20002"/>
                    </a:ext>
                  </a:extLst>
                </a:gridCol>
                <a:gridCol w="1487805">
                  <a:extLst>
                    <a:ext uri="{9D8B030D-6E8A-4147-A177-3AD203B41FA5}">
                      <a16:colId xmlns:a16="http://schemas.microsoft.com/office/drawing/2014/main" val="20003"/>
                    </a:ext>
                  </a:extLst>
                </a:gridCol>
                <a:gridCol w="1487805">
                  <a:extLst>
                    <a:ext uri="{9D8B030D-6E8A-4147-A177-3AD203B41FA5}">
                      <a16:colId xmlns:a16="http://schemas.microsoft.com/office/drawing/2014/main" val="20004"/>
                    </a:ext>
                  </a:extLst>
                </a:gridCol>
              </a:tblGrid>
              <a:tr h="1205394">
                <a:tc>
                  <a:txBody>
                    <a:bodyPr/>
                    <a:lstStyle/>
                    <a:p>
                      <a:pPr algn="ctr"/>
                      <a:r>
                        <a:rPr lang="en-PH" sz="2400" dirty="0"/>
                        <a:t>Entrance</a:t>
                      </a:r>
                      <a:r>
                        <a:rPr lang="en-PH" sz="2400" baseline="0" dirty="0"/>
                        <a:t>  Test Score</a:t>
                      </a:r>
                      <a:endParaRPr lang="en-PH" sz="2400" dirty="0"/>
                    </a:p>
                  </a:txBody>
                  <a:tcPr marL="74632" marR="74632"/>
                </a:tc>
                <a:tc>
                  <a:txBody>
                    <a:bodyPr/>
                    <a:lstStyle/>
                    <a:p>
                      <a:pPr algn="ctr"/>
                      <a:endParaRPr lang="en-PH" sz="2400" dirty="0"/>
                    </a:p>
                    <a:p>
                      <a:pPr algn="ctr"/>
                      <a:r>
                        <a:rPr lang="en-PH" sz="2400" dirty="0"/>
                        <a:t>NCAE</a:t>
                      </a:r>
                    </a:p>
                  </a:txBody>
                  <a:tcPr marL="74632" marR="74632"/>
                </a:tc>
                <a:tc>
                  <a:txBody>
                    <a:bodyPr/>
                    <a:lstStyle/>
                    <a:p>
                      <a:endParaRPr lang="en-PH" dirty="0"/>
                    </a:p>
                    <a:p>
                      <a:r>
                        <a:rPr lang="en-PH" dirty="0"/>
                        <a:t>x2</a:t>
                      </a:r>
                    </a:p>
                  </a:txBody>
                  <a:tcPr marL="74632" marR="74632"/>
                </a:tc>
                <a:tc>
                  <a:txBody>
                    <a:bodyPr/>
                    <a:lstStyle/>
                    <a:p>
                      <a:endParaRPr lang="en-PH" dirty="0"/>
                    </a:p>
                    <a:p>
                      <a:r>
                        <a:rPr lang="en-PH" dirty="0"/>
                        <a:t>y2</a:t>
                      </a:r>
                    </a:p>
                  </a:txBody>
                  <a:tcPr marL="74632" marR="74632"/>
                </a:tc>
                <a:tc>
                  <a:txBody>
                    <a:bodyPr/>
                    <a:lstStyle/>
                    <a:p>
                      <a:endParaRPr lang="en-PH" dirty="0"/>
                    </a:p>
                    <a:p>
                      <a:r>
                        <a:rPr lang="en-PH" dirty="0" err="1"/>
                        <a:t>xy</a:t>
                      </a:r>
                      <a:endParaRPr lang="en-PH" dirty="0"/>
                    </a:p>
                  </a:txBody>
                  <a:tcPr marL="74632" marR="74632"/>
                </a:tc>
                <a:extLst>
                  <a:ext uri="{0D108BD9-81ED-4DB2-BD59-A6C34878D82A}">
                    <a16:rowId xmlns:a16="http://schemas.microsoft.com/office/drawing/2014/main" val="10000"/>
                  </a:ext>
                </a:extLst>
              </a:tr>
              <a:tr h="642348">
                <a:tc>
                  <a:txBody>
                    <a:bodyPr/>
                    <a:lstStyle/>
                    <a:p>
                      <a:pPr algn="ctr"/>
                      <a:endParaRPr lang="en-PH" sz="2400" dirty="0"/>
                    </a:p>
                    <a:p>
                      <a:pPr algn="ctr"/>
                      <a:r>
                        <a:rPr lang="en-PH" sz="2400" dirty="0"/>
                        <a:t>45</a:t>
                      </a:r>
                    </a:p>
                  </a:txBody>
                  <a:tcPr marL="74632" marR="74632"/>
                </a:tc>
                <a:tc>
                  <a:txBody>
                    <a:bodyPr/>
                    <a:lstStyle/>
                    <a:p>
                      <a:pPr algn="ctr"/>
                      <a:endParaRPr lang="en-PH" sz="2400" dirty="0"/>
                    </a:p>
                    <a:p>
                      <a:pPr algn="ctr"/>
                      <a:r>
                        <a:rPr lang="en-PH" sz="2400" dirty="0"/>
                        <a:t>86</a:t>
                      </a:r>
                    </a:p>
                  </a:txBody>
                  <a:tcPr marL="74632" marR="74632"/>
                </a:tc>
                <a:tc>
                  <a:txBody>
                    <a:bodyPr/>
                    <a:lstStyle/>
                    <a:p>
                      <a:endParaRPr lang="en-PH"/>
                    </a:p>
                  </a:txBody>
                  <a:tcPr marL="74632" marR="74632"/>
                </a:tc>
                <a:tc>
                  <a:txBody>
                    <a:bodyPr/>
                    <a:lstStyle/>
                    <a:p>
                      <a:endParaRPr lang="en-PH"/>
                    </a:p>
                  </a:txBody>
                  <a:tcPr marL="74632" marR="74632"/>
                </a:tc>
                <a:tc>
                  <a:txBody>
                    <a:bodyPr/>
                    <a:lstStyle/>
                    <a:p>
                      <a:endParaRPr lang="en-PH"/>
                    </a:p>
                  </a:txBody>
                  <a:tcPr marL="74632" marR="74632"/>
                </a:tc>
                <a:extLst>
                  <a:ext uri="{0D108BD9-81ED-4DB2-BD59-A6C34878D82A}">
                    <a16:rowId xmlns:a16="http://schemas.microsoft.com/office/drawing/2014/main" val="10001"/>
                  </a:ext>
                </a:extLst>
              </a:tr>
              <a:tr h="376264">
                <a:tc>
                  <a:txBody>
                    <a:bodyPr/>
                    <a:lstStyle/>
                    <a:p>
                      <a:pPr algn="ctr"/>
                      <a:r>
                        <a:rPr lang="en-PH" sz="2400" dirty="0"/>
                        <a:t>33</a:t>
                      </a:r>
                    </a:p>
                  </a:txBody>
                  <a:tcPr marL="74632" marR="74632"/>
                </a:tc>
                <a:tc>
                  <a:txBody>
                    <a:bodyPr/>
                    <a:lstStyle/>
                    <a:p>
                      <a:pPr algn="ctr"/>
                      <a:r>
                        <a:rPr lang="en-PH" sz="2400" dirty="0"/>
                        <a:t>81</a:t>
                      </a:r>
                    </a:p>
                  </a:txBody>
                  <a:tcPr marL="74632" marR="74632"/>
                </a:tc>
                <a:tc>
                  <a:txBody>
                    <a:bodyPr/>
                    <a:lstStyle/>
                    <a:p>
                      <a:endParaRPr lang="en-PH" dirty="0"/>
                    </a:p>
                  </a:txBody>
                  <a:tcPr marL="74632" marR="74632"/>
                </a:tc>
                <a:tc>
                  <a:txBody>
                    <a:bodyPr/>
                    <a:lstStyle/>
                    <a:p>
                      <a:endParaRPr lang="en-PH"/>
                    </a:p>
                  </a:txBody>
                  <a:tcPr marL="74632" marR="74632"/>
                </a:tc>
                <a:tc>
                  <a:txBody>
                    <a:bodyPr/>
                    <a:lstStyle/>
                    <a:p>
                      <a:endParaRPr lang="en-PH"/>
                    </a:p>
                  </a:txBody>
                  <a:tcPr marL="74632" marR="74632"/>
                </a:tc>
                <a:extLst>
                  <a:ext uri="{0D108BD9-81ED-4DB2-BD59-A6C34878D82A}">
                    <a16:rowId xmlns:a16="http://schemas.microsoft.com/office/drawing/2014/main" val="10002"/>
                  </a:ext>
                </a:extLst>
              </a:tr>
              <a:tr h="376264">
                <a:tc>
                  <a:txBody>
                    <a:bodyPr/>
                    <a:lstStyle/>
                    <a:p>
                      <a:pPr algn="ctr"/>
                      <a:r>
                        <a:rPr lang="en-PH" sz="2400" dirty="0"/>
                        <a:t>54</a:t>
                      </a:r>
                    </a:p>
                  </a:txBody>
                  <a:tcPr marL="74632" marR="74632"/>
                </a:tc>
                <a:tc>
                  <a:txBody>
                    <a:bodyPr/>
                    <a:lstStyle/>
                    <a:p>
                      <a:pPr algn="ctr"/>
                      <a:r>
                        <a:rPr lang="en-PH" sz="2400" dirty="0"/>
                        <a:t>94</a:t>
                      </a:r>
                    </a:p>
                  </a:txBody>
                  <a:tcPr marL="74632" marR="74632"/>
                </a:tc>
                <a:tc>
                  <a:txBody>
                    <a:bodyPr/>
                    <a:lstStyle/>
                    <a:p>
                      <a:endParaRPr lang="en-PH"/>
                    </a:p>
                  </a:txBody>
                  <a:tcPr marL="74632" marR="74632"/>
                </a:tc>
                <a:tc>
                  <a:txBody>
                    <a:bodyPr/>
                    <a:lstStyle/>
                    <a:p>
                      <a:endParaRPr lang="en-PH"/>
                    </a:p>
                  </a:txBody>
                  <a:tcPr marL="74632" marR="74632"/>
                </a:tc>
                <a:tc>
                  <a:txBody>
                    <a:bodyPr/>
                    <a:lstStyle/>
                    <a:p>
                      <a:endParaRPr lang="en-PH"/>
                    </a:p>
                  </a:txBody>
                  <a:tcPr marL="74632" marR="74632"/>
                </a:tc>
                <a:extLst>
                  <a:ext uri="{0D108BD9-81ED-4DB2-BD59-A6C34878D82A}">
                    <a16:rowId xmlns:a16="http://schemas.microsoft.com/office/drawing/2014/main" val="10003"/>
                  </a:ext>
                </a:extLst>
              </a:tr>
              <a:tr h="376264">
                <a:tc>
                  <a:txBody>
                    <a:bodyPr/>
                    <a:lstStyle/>
                    <a:p>
                      <a:pPr algn="ctr"/>
                      <a:r>
                        <a:rPr lang="en-PH" sz="2400" dirty="0"/>
                        <a:t>46</a:t>
                      </a:r>
                    </a:p>
                  </a:txBody>
                  <a:tcPr marL="74632" marR="74632"/>
                </a:tc>
                <a:tc>
                  <a:txBody>
                    <a:bodyPr/>
                    <a:lstStyle/>
                    <a:p>
                      <a:pPr algn="ctr"/>
                      <a:r>
                        <a:rPr lang="en-PH" sz="2400" dirty="0"/>
                        <a:t>85</a:t>
                      </a:r>
                    </a:p>
                  </a:txBody>
                  <a:tcPr marL="74632" marR="74632"/>
                </a:tc>
                <a:tc>
                  <a:txBody>
                    <a:bodyPr/>
                    <a:lstStyle/>
                    <a:p>
                      <a:endParaRPr lang="en-PH" dirty="0"/>
                    </a:p>
                  </a:txBody>
                  <a:tcPr marL="74632" marR="74632"/>
                </a:tc>
                <a:tc>
                  <a:txBody>
                    <a:bodyPr/>
                    <a:lstStyle/>
                    <a:p>
                      <a:endParaRPr lang="en-PH"/>
                    </a:p>
                  </a:txBody>
                  <a:tcPr marL="74632" marR="74632"/>
                </a:tc>
                <a:tc>
                  <a:txBody>
                    <a:bodyPr/>
                    <a:lstStyle/>
                    <a:p>
                      <a:endParaRPr lang="en-PH"/>
                    </a:p>
                  </a:txBody>
                  <a:tcPr marL="74632" marR="74632"/>
                </a:tc>
                <a:extLst>
                  <a:ext uri="{0D108BD9-81ED-4DB2-BD59-A6C34878D82A}">
                    <a16:rowId xmlns:a16="http://schemas.microsoft.com/office/drawing/2014/main" val="10004"/>
                  </a:ext>
                </a:extLst>
              </a:tr>
              <a:tr h="376264">
                <a:tc>
                  <a:txBody>
                    <a:bodyPr/>
                    <a:lstStyle/>
                    <a:p>
                      <a:pPr algn="ctr"/>
                      <a:r>
                        <a:rPr lang="en-PH" sz="2400" dirty="0"/>
                        <a:t>37</a:t>
                      </a:r>
                    </a:p>
                  </a:txBody>
                  <a:tcPr marL="74632" marR="74632"/>
                </a:tc>
                <a:tc>
                  <a:txBody>
                    <a:bodyPr/>
                    <a:lstStyle/>
                    <a:p>
                      <a:pPr algn="ctr"/>
                      <a:r>
                        <a:rPr lang="en-PH" sz="2400" dirty="0"/>
                        <a:t>84</a:t>
                      </a:r>
                    </a:p>
                  </a:txBody>
                  <a:tcPr marL="74632" marR="74632"/>
                </a:tc>
                <a:tc>
                  <a:txBody>
                    <a:bodyPr/>
                    <a:lstStyle/>
                    <a:p>
                      <a:endParaRPr lang="en-PH"/>
                    </a:p>
                  </a:txBody>
                  <a:tcPr marL="74632" marR="74632"/>
                </a:tc>
                <a:tc>
                  <a:txBody>
                    <a:bodyPr/>
                    <a:lstStyle/>
                    <a:p>
                      <a:endParaRPr lang="en-PH"/>
                    </a:p>
                  </a:txBody>
                  <a:tcPr marL="74632" marR="74632"/>
                </a:tc>
                <a:tc>
                  <a:txBody>
                    <a:bodyPr/>
                    <a:lstStyle/>
                    <a:p>
                      <a:endParaRPr lang="en-PH" dirty="0"/>
                    </a:p>
                  </a:txBody>
                  <a:tcPr marL="74632" marR="74632"/>
                </a:tc>
                <a:extLst>
                  <a:ext uri="{0D108BD9-81ED-4DB2-BD59-A6C34878D82A}">
                    <a16:rowId xmlns:a16="http://schemas.microsoft.com/office/drawing/2014/main" val="10005"/>
                  </a:ext>
                </a:extLst>
              </a:tr>
            </a:tbl>
          </a:graphicData>
        </a:graphic>
      </p:graphicFrame>
      <p:sp>
        <p:nvSpPr>
          <p:cNvPr id="3" name="Date Placeholder 2"/>
          <p:cNvSpPr>
            <a:spLocks noGrp="1"/>
          </p:cNvSpPr>
          <p:nvPr>
            <p:ph type="dt" sz="half" idx="10"/>
          </p:nvPr>
        </p:nvSpPr>
        <p:spPr/>
        <p:txBody>
          <a:bodyPr/>
          <a:lstStyle/>
          <a:p>
            <a:fld id="{BD443A4E-9077-4568-8472-F72164043C8B}" type="datetime1">
              <a:rPr lang="en-PH" smtClean="0"/>
              <a:t>25/08/2018</a:t>
            </a:fld>
            <a:endParaRPr lang="en-PH"/>
          </a:p>
        </p:txBody>
      </p:sp>
      <p:sp>
        <p:nvSpPr>
          <p:cNvPr id="4" name="Footer Placeholder 3"/>
          <p:cNvSpPr>
            <a:spLocks noGrp="1"/>
          </p:cNvSpPr>
          <p:nvPr>
            <p:ph type="ftr" sz="quarter" idx="11"/>
          </p:nvPr>
        </p:nvSpPr>
        <p:spPr/>
        <p:txBody>
          <a:bodyPr/>
          <a:lstStyle/>
          <a:p>
            <a:r>
              <a:rPr lang="en-PH"/>
              <a:t>Sir Crespo - UA Review</a:t>
            </a:r>
          </a:p>
        </p:txBody>
      </p:sp>
      <p:sp>
        <p:nvSpPr>
          <p:cNvPr id="5" name="Slide Number Placeholder 4"/>
          <p:cNvSpPr>
            <a:spLocks noGrp="1"/>
          </p:cNvSpPr>
          <p:nvPr>
            <p:ph type="sldNum" sz="quarter" idx="12"/>
          </p:nvPr>
        </p:nvSpPr>
        <p:spPr/>
        <p:txBody>
          <a:bodyPr>
            <a:normAutofit/>
          </a:bodyPr>
          <a:lstStyle/>
          <a:p>
            <a:fld id="{853B7D28-E5F2-4AA3-9F25-AE0CE1E4F96C}" type="slidenum">
              <a:rPr lang="en-PH" smtClean="0"/>
              <a:pPr/>
              <a:t>22</a:t>
            </a:fld>
            <a:endParaRPr lang="en-PH"/>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CONSTRUCT VALIDITY</a:t>
            </a:r>
          </a:p>
        </p:txBody>
      </p:sp>
      <p:sp>
        <p:nvSpPr>
          <p:cNvPr id="3" name="Content Placeholder 2"/>
          <p:cNvSpPr>
            <a:spLocks noGrp="1"/>
          </p:cNvSpPr>
          <p:nvPr>
            <p:ph idx="1"/>
          </p:nvPr>
        </p:nvSpPr>
        <p:spPr>
          <a:xfrm>
            <a:off x="866441" y="2489200"/>
            <a:ext cx="7698601" cy="3530600"/>
          </a:xfrm>
        </p:spPr>
        <p:txBody>
          <a:bodyPr>
            <a:normAutofit lnSpcReduction="10000"/>
          </a:bodyPr>
          <a:lstStyle/>
          <a:p>
            <a:pPr algn="just">
              <a:buNone/>
            </a:pPr>
            <a:r>
              <a:rPr lang="en-PH" sz="4000" b="1" dirty="0"/>
              <a:t>This is determined psychologically. A test has a construct validity if the different constructs of the object being measured are represented in the test.</a:t>
            </a:r>
          </a:p>
        </p:txBody>
      </p:sp>
      <p:sp>
        <p:nvSpPr>
          <p:cNvPr id="4" name="Date Placeholder 3"/>
          <p:cNvSpPr>
            <a:spLocks noGrp="1"/>
          </p:cNvSpPr>
          <p:nvPr>
            <p:ph type="dt" sz="half" idx="10"/>
          </p:nvPr>
        </p:nvSpPr>
        <p:spPr/>
        <p:txBody>
          <a:bodyPr/>
          <a:lstStyle/>
          <a:p>
            <a:fld id="{7F65EAC7-F604-48E8-B05D-01CA4A2C84B6}"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23</a:t>
            </a:fld>
            <a:endParaRPr lang="en-PH"/>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p:txBody>
          <a:bodyPr/>
          <a:lstStyle/>
          <a:p>
            <a:r>
              <a:rPr lang="en-PH" sz="4800" b="1" dirty="0"/>
              <a:t>CONSTRUCTS</a:t>
            </a:r>
            <a:r>
              <a:rPr lang="en-PH" sz="4800" dirty="0"/>
              <a:t> ARE FACTORS MAKING UP A TRAIT OR A CHARACTERISTICS</a:t>
            </a:r>
            <a:r>
              <a:rPr lang="en-PH" dirty="0"/>
              <a:t>.</a:t>
            </a:r>
          </a:p>
        </p:txBody>
      </p:sp>
      <p:sp>
        <p:nvSpPr>
          <p:cNvPr id="4" name="Date Placeholder 3"/>
          <p:cNvSpPr>
            <a:spLocks noGrp="1"/>
          </p:cNvSpPr>
          <p:nvPr>
            <p:ph type="dt" sz="half" idx="10"/>
          </p:nvPr>
        </p:nvSpPr>
        <p:spPr/>
        <p:txBody>
          <a:bodyPr/>
          <a:lstStyle/>
          <a:p>
            <a:fld id="{D016B4B0-3B41-44CE-9A80-3FC7F86F43F1}"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24</a:t>
            </a:fld>
            <a:endParaRPr lang="en-PH"/>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Kinds of Construct Validity</a:t>
            </a:r>
          </a:p>
        </p:txBody>
      </p:sp>
      <p:sp>
        <p:nvSpPr>
          <p:cNvPr id="3" name="Content Placeholder 2"/>
          <p:cNvSpPr>
            <a:spLocks noGrp="1"/>
          </p:cNvSpPr>
          <p:nvPr>
            <p:ph idx="1"/>
          </p:nvPr>
        </p:nvSpPr>
        <p:spPr>
          <a:xfrm>
            <a:off x="866440" y="2489200"/>
            <a:ext cx="7820359" cy="3530600"/>
          </a:xfrm>
        </p:spPr>
        <p:txBody>
          <a:bodyPr>
            <a:normAutofit/>
          </a:bodyPr>
          <a:lstStyle/>
          <a:p>
            <a:r>
              <a:rPr lang="en-PH" sz="2800" b="1" dirty="0"/>
              <a:t>1. Discriminate Validity – occurs when a test’ s construct does not correlate significantly with other variables from which it should differ. </a:t>
            </a:r>
          </a:p>
          <a:p>
            <a:r>
              <a:rPr lang="en-PH" sz="2800" b="1" dirty="0"/>
              <a:t>2. Convergent Validity- occurs when a test correlates with other variables from which it should correlate</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25</a:t>
            </a:fld>
            <a:endParaRPr lang="en-PH"/>
          </a:p>
        </p:txBody>
      </p:sp>
    </p:spTree>
    <p:extLst>
      <p:ext uri="{BB962C8B-B14F-4D97-AF65-F5344CB8AC3E}">
        <p14:creationId xmlns:p14="http://schemas.microsoft.com/office/powerpoint/2010/main" val="1904819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multiple intelligence.jpg"/>
          <p:cNvPicPr>
            <a:picLocks noGrp="1" noChangeAspect="1"/>
          </p:cNvPicPr>
          <p:nvPr>
            <p:ph idx="1"/>
          </p:nvPr>
        </p:nvPicPr>
        <p:blipFill>
          <a:blip r:embed="rId2" cstate="print"/>
          <a:stretch>
            <a:fillRect/>
          </a:stretch>
        </p:blipFill>
        <p:spPr>
          <a:xfrm>
            <a:off x="1905000" y="2438400"/>
            <a:ext cx="6019800" cy="3733800"/>
          </a:xfrm>
        </p:spPr>
      </p:pic>
      <p:sp>
        <p:nvSpPr>
          <p:cNvPr id="3" name="Date Placeholder 2"/>
          <p:cNvSpPr>
            <a:spLocks noGrp="1"/>
          </p:cNvSpPr>
          <p:nvPr>
            <p:ph type="dt" sz="half" idx="10"/>
          </p:nvPr>
        </p:nvSpPr>
        <p:spPr/>
        <p:txBody>
          <a:bodyPr/>
          <a:lstStyle/>
          <a:p>
            <a:fld id="{12624A20-2B9F-46E3-9EFA-6B27C91F8E13}"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26</a:t>
            </a:fld>
            <a:endParaRPr lang="en-PH"/>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pic>
        <p:nvPicPr>
          <p:cNvPr id="4" name="Content Placeholder 3" descr="mul.jpg"/>
          <p:cNvPicPr>
            <a:picLocks noGrp="1" noChangeAspect="1"/>
          </p:cNvPicPr>
          <p:nvPr>
            <p:ph idx="1"/>
          </p:nvPr>
        </p:nvPicPr>
        <p:blipFill>
          <a:blip r:embed="rId2" cstate="print"/>
          <a:stretch>
            <a:fillRect/>
          </a:stretch>
        </p:blipFill>
        <p:spPr>
          <a:xfrm>
            <a:off x="2286000" y="2133600"/>
            <a:ext cx="4343400" cy="3810000"/>
          </a:xfrm>
        </p:spPr>
      </p:pic>
      <p:sp>
        <p:nvSpPr>
          <p:cNvPr id="3" name="Date Placeholder 2"/>
          <p:cNvSpPr>
            <a:spLocks noGrp="1"/>
          </p:cNvSpPr>
          <p:nvPr>
            <p:ph type="dt" sz="half" idx="10"/>
          </p:nvPr>
        </p:nvSpPr>
        <p:spPr/>
        <p:txBody>
          <a:bodyPr/>
          <a:lstStyle/>
          <a:p>
            <a:fld id="{985AF766-76C9-46EA-9F19-840D11C7061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27</a:t>
            </a:fld>
            <a:endParaRPr lang="en-PH"/>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Marital Satisfaction Test</a:t>
            </a:r>
          </a:p>
        </p:txBody>
      </p:sp>
      <p:sp>
        <p:nvSpPr>
          <p:cNvPr id="3" name="Content Placeholder 2"/>
          <p:cNvSpPr>
            <a:spLocks noGrp="1"/>
          </p:cNvSpPr>
          <p:nvPr>
            <p:ph idx="1"/>
          </p:nvPr>
        </p:nvSpPr>
        <p:spPr>
          <a:xfrm>
            <a:off x="866441" y="2286000"/>
            <a:ext cx="7363159" cy="3733800"/>
          </a:xfrm>
        </p:spPr>
        <p:txBody>
          <a:bodyPr>
            <a:normAutofit/>
          </a:bodyPr>
          <a:lstStyle/>
          <a:p>
            <a:r>
              <a:rPr lang="en-PH" sz="2800" b="1" dirty="0"/>
              <a:t>1. Are you sexually happy?</a:t>
            </a:r>
          </a:p>
          <a:p>
            <a:r>
              <a:rPr lang="en-PH" sz="2800" b="1" dirty="0"/>
              <a:t>2. Are you intimate with your spouse?</a:t>
            </a:r>
          </a:p>
          <a:p>
            <a:r>
              <a:rPr lang="en-PH" sz="2800" b="1" dirty="0"/>
              <a:t>3. How often would you do it?</a:t>
            </a:r>
          </a:p>
          <a:p>
            <a:r>
              <a:rPr lang="en-PH" sz="2800" b="1" dirty="0"/>
              <a:t>4. Where do you do it?</a:t>
            </a:r>
          </a:p>
          <a:p>
            <a:endParaRPr lang="en-PH" sz="2800" b="1" dirty="0"/>
          </a:p>
          <a:p>
            <a:r>
              <a:rPr lang="en-PH" sz="2800" b="1" dirty="0"/>
              <a:t>IS THE TEST VALID, construct wise?</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28</a:t>
            </a:fld>
            <a:endParaRPr lang="en-PH"/>
          </a:p>
        </p:txBody>
      </p:sp>
    </p:spTree>
    <p:extLst>
      <p:ext uri="{BB962C8B-B14F-4D97-AF65-F5344CB8AC3E}">
        <p14:creationId xmlns:p14="http://schemas.microsoft.com/office/powerpoint/2010/main" val="317422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RELIABILITY OF THE TEST</a:t>
            </a:r>
          </a:p>
        </p:txBody>
      </p:sp>
      <p:sp>
        <p:nvSpPr>
          <p:cNvPr id="3" name="Content Placeholder 2"/>
          <p:cNvSpPr>
            <a:spLocks noGrp="1"/>
          </p:cNvSpPr>
          <p:nvPr>
            <p:ph idx="1"/>
          </p:nvPr>
        </p:nvSpPr>
        <p:spPr>
          <a:xfrm>
            <a:off x="866441" y="2489200"/>
            <a:ext cx="7698601" cy="3530600"/>
          </a:xfrm>
        </p:spPr>
        <p:txBody>
          <a:bodyPr>
            <a:normAutofit/>
          </a:bodyPr>
          <a:lstStyle/>
          <a:p>
            <a:pPr>
              <a:buNone/>
            </a:pPr>
            <a:r>
              <a:rPr lang="en-PH" sz="4400" b="1" dirty="0"/>
              <a:t>It refers to the stability of the test or the consistency of the test. The reliability of the test is determined statistically</a:t>
            </a:r>
            <a:r>
              <a:rPr lang="en-PH" sz="4400" dirty="0"/>
              <a:t>.</a:t>
            </a:r>
          </a:p>
        </p:txBody>
      </p:sp>
      <p:sp>
        <p:nvSpPr>
          <p:cNvPr id="4" name="Date Placeholder 3"/>
          <p:cNvSpPr>
            <a:spLocks noGrp="1"/>
          </p:cNvSpPr>
          <p:nvPr>
            <p:ph type="dt" sz="half" idx="10"/>
          </p:nvPr>
        </p:nvSpPr>
        <p:spPr/>
        <p:txBody>
          <a:bodyPr/>
          <a:lstStyle/>
          <a:p>
            <a:fld id="{7598E767-9D37-4106-B308-537C95A9A3CA}"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29</a:t>
            </a:fld>
            <a:endParaRPr lang="en-PH"/>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Different Measures of Reliability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95843647"/>
              </p:ext>
            </p:extLst>
          </p:nvPr>
        </p:nvGraphicFramePr>
        <p:xfrm>
          <a:off x="457200" y="2438400"/>
          <a:ext cx="8229600" cy="40538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r>
                        <a:rPr lang="en-PH" sz="2400" dirty="0"/>
                        <a:t>MEASURE</a:t>
                      </a:r>
                    </a:p>
                  </a:txBody>
                  <a:tcPr/>
                </a:tc>
                <a:tc>
                  <a:txBody>
                    <a:bodyPr/>
                    <a:lstStyle/>
                    <a:p>
                      <a:r>
                        <a:rPr lang="en-PH" sz="2400" dirty="0"/>
                        <a:t>PROCEDURE</a:t>
                      </a:r>
                    </a:p>
                  </a:txBody>
                  <a:tcPr/>
                </a:tc>
                <a:tc>
                  <a:txBody>
                    <a:bodyPr/>
                    <a:lstStyle/>
                    <a:p>
                      <a:r>
                        <a:rPr lang="en-PH" sz="2400" dirty="0"/>
                        <a:t>DESCRIPTION</a:t>
                      </a:r>
                    </a:p>
                  </a:txBody>
                  <a:tcPr/>
                </a:tc>
                <a:extLst>
                  <a:ext uri="{0D108BD9-81ED-4DB2-BD59-A6C34878D82A}">
                    <a16:rowId xmlns:a16="http://schemas.microsoft.com/office/drawing/2014/main" val="10000"/>
                  </a:ext>
                </a:extLst>
              </a:tr>
              <a:tr h="370840">
                <a:tc>
                  <a:txBody>
                    <a:bodyPr/>
                    <a:lstStyle/>
                    <a:p>
                      <a:pPr marL="342900" indent="-342900">
                        <a:buAutoNum type="arabicPeriod"/>
                      </a:pPr>
                      <a:r>
                        <a:rPr lang="en-PH" sz="2800" b="1" dirty="0"/>
                        <a:t>Stability </a:t>
                      </a:r>
                    </a:p>
                    <a:p>
                      <a:pPr marL="342900" indent="-342900">
                        <a:buNone/>
                      </a:pPr>
                      <a:endParaRPr lang="en-PH" sz="2800" b="1" dirty="0"/>
                    </a:p>
                  </a:txBody>
                  <a:tcPr/>
                </a:tc>
                <a:tc>
                  <a:txBody>
                    <a:bodyPr/>
                    <a:lstStyle/>
                    <a:p>
                      <a:r>
                        <a:rPr lang="en-PH" sz="2800" b="1" dirty="0"/>
                        <a:t>TEST-RETEST</a:t>
                      </a:r>
                    </a:p>
                  </a:txBody>
                  <a:tcPr/>
                </a:tc>
                <a:tc>
                  <a:txBody>
                    <a:bodyPr/>
                    <a:lstStyle/>
                    <a:p>
                      <a:r>
                        <a:rPr lang="en-PH" sz="2800" b="1" dirty="0"/>
                        <a:t>CONDUCT ONE TEST TWICE, THEN CORRELATE</a:t>
                      </a:r>
                    </a:p>
                  </a:txBody>
                  <a:tcPr/>
                </a:tc>
                <a:extLst>
                  <a:ext uri="{0D108BD9-81ED-4DB2-BD59-A6C34878D82A}">
                    <a16:rowId xmlns:a16="http://schemas.microsoft.com/office/drawing/2014/main" val="10001"/>
                  </a:ext>
                </a:extLst>
              </a:tr>
              <a:tr h="370840">
                <a:tc>
                  <a:txBody>
                    <a:bodyPr/>
                    <a:lstStyle/>
                    <a:p>
                      <a:r>
                        <a:rPr lang="en-PH" sz="2800" b="1" dirty="0"/>
                        <a:t> 2. EQUIVALENCE</a:t>
                      </a:r>
                    </a:p>
                  </a:txBody>
                  <a:tcPr/>
                </a:tc>
                <a:tc>
                  <a:txBody>
                    <a:bodyPr/>
                    <a:lstStyle/>
                    <a:p>
                      <a:r>
                        <a:rPr lang="en-PH" sz="2800" b="1" dirty="0"/>
                        <a:t>PARALLEL FORM</a:t>
                      </a:r>
                    </a:p>
                  </a:txBody>
                  <a:tcPr/>
                </a:tc>
                <a:tc>
                  <a:txBody>
                    <a:bodyPr/>
                    <a:lstStyle/>
                    <a:p>
                      <a:r>
                        <a:rPr lang="en-PH" sz="2800" b="1" dirty="0"/>
                        <a:t>CONDUCT 2 SIMILAR TEST THEN CORRELATE</a:t>
                      </a:r>
                    </a:p>
                  </a:txBody>
                  <a:tcPr/>
                </a:tc>
                <a:extLst>
                  <a:ext uri="{0D108BD9-81ED-4DB2-BD59-A6C34878D82A}">
                    <a16:rowId xmlns:a16="http://schemas.microsoft.com/office/drawing/2014/main" val="10002"/>
                  </a:ext>
                </a:extLst>
              </a:tr>
            </a:tbl>
          </a:graphicData>
        </a:graphic>
      </p:graphicFrame>
      <p:sp>
        <p:nvSpPr>
          <p:cNvPr id="3" name="Date Placeholder 2"/>
          <p:cNvSpPr>
            <a:spLocks noGrp="1"/>
          </p:cNvSpPr>
          <p:nvPr>
            <p:ph type="dt" sz="half" idx="10"/>
          </p:nvPr>
        </p:nvSpPr>
        <p:spPr/>
        <p:txBody>
          <a:bodyPr/>
          <a:lstStyle/>
          <a:p>
            <a:fld id="{2E052C34-FDB4-449B-A844-0259461D3346}"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30</a:t>
            </a:fld>
            <a:endParaRPr lang="en-PH"/>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320413362"/>
              </p:ext>
            </p:extLst>
          </p:nvPr>
        </p:nvGraphicFramePr>
        <p:xfrm>
          <a:off x="590842" y="2057400"/>
          <a:ext cx="7804401" cy="4315639"/>
        </p:xfrm>
        <a:graphic>
          <a:graphicData uri="http://schemas.openxmlformats.org/drawingml/2006/table">
            <a:tbl>
              <a:tblPr firstRow="1" bandRow="1">
                <a:tableStyleId>{5C22544A-7EE6-4342-B048-85BDC9FD1C3A}</a:tableStyleId>
              </a:tblPr>
              <a:tblGrid>
                <a:gridCol w="2601467">
                  <a:extLst>
                    <a:ext uri="{9D8B030D-6E8A-4147-A177-3AD203B41FA5}">
                      <a16:colId xmlns:a16="http://schemas.microsoft.com/office/drawing/2014/main" val="20000"/>
                    </a:ext>
                  </a:extLst>
                </a:gridCol>
                <a:gridCol w="2601467">
                  <a:extLst>
                    <a:ext uri="{9D8B030D-6E8A-4147-A177-3AD203B41FA5}">
                      <a16:colId xmlns:a16="http://schemas.microsoft.com/office/drawing/2014/main" val="20001"/>
                    </a:ext>
                  </a:extLst>
                </a:gridCol>
                <a:gridCol w="2601467">
                  <a:extLst>
                    <a:ext uri="{9D8B030D-6E8A-4147-A177-3AD203B41FA5}">
                      <a16:colId xmlns:a16="http://schemas.microsoft.com/office/drawing/2014/main" val="20002"/>
                    </a:ext>
                  </a:extLst>
                </a:gridCol>
              </a:tblGrid>
              <a:tr h="932359">
                <a:tc>
                  <a:txBody>
                    <a:bodyPr/>
                    <a:lstStyle/>
                    <a:p>
                      <a:r>
                        <a:rPr lang="en-PH" sz="2400" dirty="0"/>
                        <a:t>MEASURE</a:t>
                      </a:r>
                    </a:p>
                  </a:txBody>
                  <a:tcPr marL="70486" marR="70486"/>
                </a:tc>
                <a:tc>
                  <a:txBody>
                    <a:bodyPr/>
                    <a:lstStyle/>
                    <a:p>
                      <a:r>
                        <a:rPr lang="en-PH" sz="2400" dirty="0"/>
                        <a:t>PROCEDURE</a:t>
                      </a:r>
                    </a:p>
                  </a:txBody>
                  <a:tcPr marL="70486" marR="70486"/>
                </a:tc>
                <a:tc>
                  <a:txBody>
                    <a:bodyPr/>
                    <a:lstStyle/>
                    <a:p>
                      <a:r>
                        <a:rPr lang="en-PH" sz="2400" dirty="0"/>
                        <a:t>DESCRIPTION</a:t>
                      </a:r>
                    </a:p>
                    <a:p>
                      <a:endParaRPr lang="en-PH" sz="2400" dirty="0"/>
                    </a:p>
                  </a:txBody>
                  <a:tcPr marL="70486" marR="70486"/>
                </a:tc>
                <a:extLst>
                  <a:ext uri="{0D108BD9-81ED-4DB2-BD59-A6C34878D82A}">
                    <a16:rowId xmlns:a16="http://schemas.microsoft.com/office/drawing/2014/main" val="10000"/>
                  </a:ext>
                </a:extLst>
              </a:tr>
              <a:tr h="3194473">
                <a:tc>
                  <a:txBody>
                    <a:bodyPr/>
                    <a:lstStyle/>
                    <a:p>
                      <a:endParaRPr lang="en-PH" sz="2800" b="1" dirty="0"/>
                    </a:p>
                    <a:p>
                      <a:r>
                        <a:rPr lang="en-PH" sz="2800" b="1" dirty="0"/>
                        <a:t>3.</a:t>
                      </a:r>
                    </a:p>
                    <a:p>
                      <a:r>
                        <a:rPr lang="en-PH" sz="2800" b="1" dirty="0"/>
                        <a:t>INTERNAL CONSISTENCY</a:t>
                      </a:r>
                    </a:p>
                  </a:txBody>
                  <a:tcPr marL="70486" marR="70486"/>
                </a:tc>
                <a:tc>
                  <a:txBody>
                    <a:bodyPr/>
                    <a:lstStyle/>
                    <a:p>
                      <a:r>
                        <a:rPr lang="en-PH" sz="2800" b="1" dirty="0"/>
                        <a:t> SPLIT-HALF</a:t>
                      </a:r>
                    </a:p>
                    <a:p>
                      <a:endParaRPr lang="en-PH" sz="2800" b="1" dirty="0"/>
                    </a:p>
                    <a:p>
                      <a:endParaRPr lang="en-PH" sz="2800" b="1" dirty="0"/>
                    </a:p>
                    <a:p>
                      <a:endParaRPr lang="en-PH" sz="2800" b="1" dirty="0"/>
                    </a:p>
                    <a:p>
                      <a:r>
                        <a:rPr lang="en-PH" sz="2800" b="1" dirty="0"/>
                        <a:t>KUDER-RICHARDSON</a:t>
                      </a:r>
                    </a:p>
                  </a:txBody>
                  <a:tcPr marL="70486" marR="70486"/>
                </a:tc>
                <a:tc>
                  <a:txBody>
                    <a:bodyPr/>
                    <a:lstStyle/>
                    <a:p>
                      <a:r>
                        <a:rPr lang="en-PH" sz="2400" b="1" dirty="0"/>
                        <a:t>CONDUCT ONE TEST ONCE</a:t>
                      </a:r>
                    </a:p>
                    <a:p>
                      <a:endParaRPr lang="en-PH" sz="2400" b="1" dirty="0"/>
                    </a:p>
                    <a:p>
                      <a:endParaRPr lang="en-PH" sz="2400" b="1" dirty="0"/>
                    </a:p>
                    <a:p>
                      <a:r>
                        <a:rPr lang="en-PH" sz="2400" b="1" dirty="0"/>
                        <a:t>USE THE PERCENTAGE CORRECT AND WRONG</a:t>
                      </a:r>
                    </a:p>
                    <a:p>
                      <a:endParaRPr lang="en-PH" sz="2400" b="1" dirty="0"/>
                    </a:p>
                  </a:txBody>
                  <a:tcPr marL="70486" marR="70486"/>
                </a:tc>
                <a:extLst>
                  <a:ext uri="{0D108BD9-81ED-4DB2-BD59-A6C34878D82A}">
                    <a16:rowId xmlns:a16="http://schemas.microsoft.com/office/drawing/2014/main" val="10001"/>
                  </a:ext>
                </a:extLst>
              </a:tr>
            </a:tbl>
          </a:graphicData>
        </a:graphic>
      </p:graphicFrame>
      <p:sp>
        <p:nvSpPr>
          <p:cNvPr id="3" name="Date Placeholder 2"/>
          <p:cNvSpPr>
            <a:spLocks noGrp="1"/>
          </p:cNvSpPr>
          <p:nvPr>
            <p:ph type="dt" sz="half" idx="10"/>
          </p:nvPr>
        </p:nvSpPr>
        <p:spPr/>
        <p:txBody>
          <a:bodyPr/>
          <a:lstStyle/>
          <a:p>
            <a:fld id="{7F3FC182-E026-46B4-8752-34145FA0DE01}" type="datetime1">
              <a:rPr lang="en-PH" smtClean="0"/>
              <a:t>25/08/2018</a:t>
            </a:fld>
            <a:endParaRPr lang="en-PH"/>
          </a:p>
        </p:txBody>
      </p:sp>
      <p:sp>
        <p:nvSpPr>
          <p:cNvPr id="4" name="Footer Placeholder 3"/>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31</a:t>
            </a:fld>
            <a:endParaRPr lang="en-PH"/>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SPLIT-HALF</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215931256"/>
              </p:ext>
            </p:extLst>
          </p:nvPr>
        </p:nvGraphicFramePr>
        <p:xfrm>
          <a:off x="381005" y="2209800"/>
          <a:ext cx="8534399" cy="4175171"/>
        </p:xfrm>
        <a:graphic>
          <a:graphicData uri="http://schemas.openxmlformats.org/drawingml/2006/table">
            <a:tbl>
              <a:tblPr firstRow="1" bandRow="1">
                <a:tableStyleId>{5C22544A-7EE6-4342-B048-85BDC9FD1C3A}</a:tableStyleId>
              </a:tblPr>
              <a:tblGrid>
                <a:gridCol w="657579">
                  <a:extLst>
                    <a:ext uri="{9D8B030D-6E8A-4147-A177-3AD203B41FA5}">
                      <a16:colId xmlns:a16="http://schemas.microsoft.com/office/drawing/2014/main" val="20000"/>
                    </a:ext>
                  </a:extLst>
                </a:gridCol>
                <a:gridCol w="657579">
                  <a:extLst>
                    <a:ext uri="{9D8B030D-6E8A-4147-A177-3AD203B41FA5}">
                      <a16:colId xmlns:a16="http://schemas.microsoft.com/office/drawing/2014/main" val="20001"/>
                    </a:ext>
                  </a:extLst>
                </a:gridCol>
                <a:gridCol w="657579">
                  <a:extLst>
                    <a:ext uri="{9D8B030D-6E8A-4147-A177-3AD203B41FA5}">
                      <a16:colId xmlns:a16="http://schemas.microsoft.com/office/drawing/2014/main" val="20002"/>
                    </a:ext>
                  </a:extLst>
                </a:gridCol>
                <a:gridCol w="657579">
                  <a:extLst>
                    <a:ext uri="{9D8B030D-6E8A-4147-A177-3AD203B41FA5}">
                      <a16:colId xmlns:a16="http://schemas.microsoft.com/office/drawing/2014/main" val="20003"/>
                    </a:ext>
                  </a:extLst>
                </a:gridCol>
                <a:gridCol w="657579">
                  <a:extLst>
                    <a:ext uri="{9D8B030D-6E8A-4147-A177-3AD203B41FA5}">
                      <a16:colId xmlns:a16="http://schemas.microsoft.com/office/drawing/2014/main" val="20004"/>
                    </a:ext>
                  </a:extLst>
                </a:gridCol>
                <a:gridCol w="657579">
                  <a:extLst>
                    <a:ext uri="{9D8B030D-6E8A-4147-A177-3AD203B41FA5}">
                      <a16:colId xmlns:a16="http://schemas.microsoft.com/office/drawing/2014/main" val="20005"/>
                    </a:ext>
                  </a:extLst>
                </a:gridCol>
                <a:gridCol w="657579">
                  <a:extLst>
                    <a:ext uri="{9D8B030D-6E8A-4147-A177-3AD203B41FA5}">
                      <a16:colId xmlns:a16="http://schemas.microsoft.com/office/drawing/2014/main" val="20006"/>
                    </a:ext>
                  </a:extLst>
                </a:gridCol>
                <a:gridCol w="657579">
                  <a:extLst>
                    <a:ext uri="{9D8B030D-6E8A-4147-A177-3AD203B41FA5}">
                      <a16:colId xmlns:a16="http://schemas.microsoft.com/office/drawing/2014/main" val="20007"/>
                    </a:ext>
                  </a:extLst>
                </a:gridCol>
                <a:gridCol w="657579">
                  <a:extLst>
                    <a:ext uri="{9D8B030D-6E8A-4147-A177-3AD203B41FA5}">
                      <a16:colId xmlns:a16="http://schemas.microsoft.com/office/drawing/2014/main" val="20008"/>
                    </a:ext>
                  </a:extLst>
                </a:gridCol>
                <a:gridCol w="657579">
                  <a:extLst>
                    <a:ext uri="{9D8B030D-6E8A-4147-A177-3AD203B41FA5}">
                      <a16:colId xmlns:a16="http://schemas.microsoft.com/office/drawing/2014/main" val="20009"/>
                    </a:ext>
                  </a:extLst>
                </a:gridCol>
                <a:gridCol w="657579">
                  <a:extLst>
                    <a:ext uri="{9D8B030D-6E8A-4147-A177-3AD203B41FA5}">
                      <a16:colId xmlns:a16="http://schemas.microsoft.com/office/drawing/2014/main" val="20010"/>
                    </a:ext>
                  </a:extLst>
                </a:gridCol>
                <a:gridCol w="657579">
                  <a:extLst>
                    <a:ext uri="{9D8B030D-6E8A-4147-A177-3AD203B41FA5}">
                      <a16:colId xmlns:a16="http://schemas.microsoft.com/office/drawing/2014/main" val="20011"/>
                    </a:ext>
                  </a:extLst>
                </a:gridCol>
                <a:gridCol w="643451">
                  <a:extLst>
                    <a:ext uri="{9D8B030D-6E8A-4147-A177-3AD203B41FA5}">
                      <a16:colId xmlns:a16="http://schemas.microsoft.com/office/drawing/2014/main" val="20012"/>
                    </a:ext>
                  </a:extLst>
                </a:gridCol>
              </a:tblGrid>
              <a:tr h="1075873">
                <a:tc>
                  <a:txBody>
                    <a:bodyPr/>
                    <a:lstStyle/>
                    <a:p>
                      <a:r>
                        <a:rPr lang="en-PH" b="1" dirty="0"/>
                        <a:t>STUDENT</a:t>
                      </a:r>
                    </a:p>
                  </a:txBody>
                  <a:tcPr/>
                </a:tc>
                <a:tc>
                  <a:txBody>
                    <a:bodyPr/>
                    <a:lstStyle/>
                    <a:p>
                      <a:endParaRPr lang="en-PH" b="1" dirty="0"/>
                    </a:p>
                    <a:p>
                      <a:endParaRPr lang="en-PH" b="1" dirty="0"/>
                    </a:p>
                    <a:p>
                      <a:r>
                        <a:rPr lang="en-PH" b="1" dirty="0"/>
                        <a:t>1</a:t>
                      </a:r>
                    </a:p>
                  </a:txBody>
                  <a:tcPr/>
                </a:tc>
                <a:tc>
                  <a:txBody>
                    <a:bodyPr/>
                    <a:lstStyle/>
                    <a:p>
                      <a:endParaRPr lang="en-PH" b="1" dirty="0"/>
                    </a:p>
                    <a:p>
                      <a:endParaRPr lang="en-PH" b="1" dirty="0"/>
                    </a:p>
                    <a:p>
                      <a:r>
                        <a:rPr lang="en-PH" b="1" dirty="0"/>
                        <a:t>2</a:t>
                      </a:r>
                    </a:p>
                  </a:txBody>
                  <a:tcPr/>
                </a:tc>
                <a:tc>
                  <a:txBody>
                    <a:bodyPr/>
                    <a:lstStyle/>
                    <a:p>
                      <a:endParaRPr lang="en-PH" b="1" dirty="0"/>
                    </a:p>
                    <a:p>
                      <a:endParaRPr lang="en-PH" b="1" dirty="0"/>
                    </a:p>
                    <a:p>
                      <a:r>
                        <a:rPr lang="en-PH" b="1" dirty="0"/>
                        <a:t>3</a:t>
                      </a:r>
                    </a:p>
                  </a:txBody>
                  <a:tcPr/>
                </a:tc>
                <a:tc>
                  <a:txBody>
                    <a:bodyPr/>
                    <a:lstStyle/>
                    <a:p>
                      <a:r>
                        <a:rPr lang="en-PH" b="1" dirty="0"/>
                        <a:t>I</a:t>
                      </a:r>
                    </a:p>
                    <a:p>
                      <a:endParaRPr lang="en-PH" b="1" dirty="0"/>
                    </a:p>
                    <a:p>
                      <a:r>
                        <a:rPr lang="en-PH" b="1" dirty="0"/>
                        <a:t>4</a:t>
                      </a:r>
                    </a:p>
                  </a:txBody>
                  <a:tcPr/>
                </a:tc>
                <a:tc>
                  <a:txBody>
                    <a:bodyPr/>
                    <a:lstStyle/>
                    <a:p>
                      <a:r>
                        <a:rPr lang="en-PH" b="1" dirty="0"/>
                        <a:t>T</a:t>
                      </a:r>
                    </a:p>
                    <a:p>
                      <a:endParaRPr lang="en-PH" b="1" dirty="0"/>
                    </a:p>
                    <a:p>
                      <a:r>
                        <a:rPr lang="en-PH" b="1" dirty="0"/>
                        <a:t>5</a:t>
                      </a:r>
                    </a:p>
                  </a:txBody>
                  <a:tcPr/>
                </a:tc>
                <a:tc>
                  <a:txBody>
                    <a:bodyPr/>
                    <a:lstStyle/>
                    <a:p>
                      <a:r>
                        <a:rPr lang="en-PH" b="1" dirty="0"/>
                        <a:t>E</a:t>
                      </a:r>
                    </a:p>
                    <a:p>
                      <a:endParaRPr lang="en-PH" b="1" dirty="0"/>
                    </a:p>
                    <a:p>
                      <a:r>
                        <a:rPr lang="en-PH" b="1" dirty="0"/>
                        <a:t>6</a:t>
                      </a:r>
                    </a:p>
                  </a:txBody>
                  <a:tcPr/>
                </a:tc>
                <a:tc>
                  <a:txBody>
                    <a:bodyPr/>
                    <a:lstStyle/>
                    <a:p>
                      <a:r>
                        <a:rPr lang="en-PH" b="1" dirty="0"/>
                        <a:t>M</a:t>
                      </a:r>
                    </a:p>
                    <a:p>
                      <a:endParaRPr lang="en-PH" b="1" dirty="0"/>
                    </a:p>
                    <a:p>
                      <a:r>
                        <a:rPr lang="en-PH" b="1" dirty="0"/>
                        <a:t>7</a:t>
                      </a:r>
                    </a:p>
                  </a:txBody>
                  <a:tcPr/>
                </a:tc>
                <a:tc>
                  <a:txBody>
                    <a:bodyPr/>
                    <a:lstStyle/>
                    <a:p>
                      <a:endParaRPr lang="en-PH" b="1" dirty="0"/>
                    </a:p>
                    <a:p>
                      <a:endParaRPr lang="en-PH" b="1" dirty="0"/>
                    </a:p>
                    <a:p>
                      <a:r>
                        <a:rPr lang="en-PH" b="1" dirty="0"/>
                        <a:t>8</a:t>
                      </a:r>
                    </a:p>
                  </a:txBody>
                  <a:tcPr/>
                </a:tc>
                <a:tc>
                  <a:txBody>
                    <a:bodyPr/>
                    <a:lstStyle/>
                    <a:p>
                      <a:endParaRPr lang="en-PH" b="1" dirty="0"/>
                    </a:p>
                    <a:p>
                      <a:endParaRPr lang="en-PH" b="1" dirty="0"/>
                    </a:p>
                    <a:p>
                      <a:r>
                        <a:rPr lang="en-PH" b="1" dirty="0"/>
                        <a:t>9</a:t>
                      </a:r>
                    </a:p>
                  </a:txBody>
                  <a:tcPr/>
                </a:tc>
                <a:tc>
                  <a:txBody>
                    <a:bodyPr/>
                    <a:lstStyle/>
                    <a:p>
                      <a:endParaRPr lang="en-PH" b="1" dirty="0"/>
                    </a:p>
                    <a:p>
                      <a:endParaRPr lang="en-PH" b="1" dirty="0"/>
                    </a:p>
                    <a:p>
                      <a:r>
                        <a:rPr lang="en-PH" b="1" dirty="0"/>
                        <a:t>10</a:t>
                      </a:r>
                    </a:p>
                  </a:txBody>
                  <a:tcPr/>
                </a:tc>
                <a:tc>
                  <a:txBody>
                    <a:bodyPr/>
                    <a:lstStyle/>
                    <a:p>
                      <a:endParaRPr lang="en-PH" b="1" dirty="0"/>
                    </a:p>
                    <a:p>
                      <a:endParaRPr lang="en-PH" b="1" dirty="0"/>
                    </a:p>
                    <a:p>
                      <a:r>
                        <a:rPr lang="en-PH" sz="1600" b="1" dirty="0"/>
                        <a:t>Odd</a:t>
                      </a:r>
                    </a:p>
                  </a:txBody>
                  <a:tcPr/>
                </a:tc>
                <a:tc>
                  <a:txBody>
                    <a:bodyPr/>
                    <a:lstStyle/>
                    <a:p>
                      <a:endParaRPr lang="en-PH" b="1" dirty="0"/>
                    </a:p>
                    <a:p>
                      <a:endParaRPr lang="en-PH" b="1" dirty="0"/>
                    </a:p>
                    <a:p>
                      <a:r>
                        <a:rPr lang="en-PH" sz="1400" b="1" dirty="0"/>
                        <a:t>Even</a:t>
                      </a:r>
                    </a:p>
                  </a:txBody>
                  <a:tcPr/>
                </a:tc>
                <a:extLst>
                  <a:ext uri="{0D108BD9-81ED-4DB2-BD59-A6C34878D82A}">
                    <a16:rowId xmlns:a16="http://schemas.microsoft.com/office/drawing/2014/main" val="10000"/>
                  </a:ext>
                </a:extLst>
              </a:tr>
              <a:tr h="579316">
                <a:tc>
                  <a:txBody>
                    <a:bodyPr/>
                    <a:lstStyle/>
                    <a:p>
                      <a:endParaRPr lang="en-PH" sz="2000" b="1" dirty="0"/>
                    </a:p>
                    <a:p>
                      <a:r>
                        <a:rPr lang="en-PH" sz="2000" b="1" dirty="0"/>
                        <a:t>A</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4</a:t>
                      </a:r>
                    </a:p>
                  </a:txBody>
                  <a:tcPr/>
                </a:tc>
                <a:tc>
                  <a:txBody>
                    <a:bodyPr/>
                    <a:lstStyle/>
                    <a:p>
                      <a:endParaRPr lang="en-PH" sz="2000" b="1" dirty="0"/>
                    </a:p>
                    <a:p>
                      <a:r>
                        <a:rPr lang="en-PH" sz="2000" b="1" dirty="0"/>
                        <a:t>3</a:t>
                      </a:r>
                    </a:p>
                  </a:txBody>
                  <a:tcPr/>
                </a:tc>
                <a:extLst>
                  <a:ext uri="{0D108BD9-81ED-4DB2-BD59-A6C34878D82A}">
                    <a16:rowId xmlns:a16="http://schemas.microsoft.com/office/drawing/2014/main" val="10001"/>
                  </a:ext>
                </a:extLst>
              </a:tr>
              <a:tr h="579316">
                <a:tc>
                  <a:txBody>
                    <a:bodyPr/>
                    <a:lstStyle/>
                    <a:p>
                      <a:endParaRPr lang="en-PH" sz="2000" b="1" dirty="0"/>
                    </a:p>
                    <a:p>
                      <a:r>
                        <a:rPr lang="en-PH" sz="2000" b="1" dirty="0"/>
                        <a:t>B</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5</a:t>
                      </a:r>
                    </a:p>
                  </a:txBody>
                  <a:tcPr/>
                </a:tc>
                <a:tc>
                  <a:txBody>
                    <a:bodyPr/>
                    <a:lstStyle/>
                    <a:p>
                      <a:endParaRPr lang="en-PH" sz="2000" b="1" dirty="0"/>
                    </a:p>
                    <a:p>
                      <a:r>
                        <a:rPr lang="en-PH" sz="2000" b="1" dirty="0"/>
                        <a:t>4</a:t>
                      </a:r>
                    </a:p>
                  </a:txBody>
                  <a:tcPr/>
                </a:tc>
                <a:extLst>
                  <a:ext uri="{0D108BD9-81ED-4DB2-BD59-A6C34878D82A}">
                    <a16:rowId xmlns:a16="http://schemas.microsoft.com/office/drawing/2014/main" val="10002"/>
                  </a:ext>
                </a:extLst>
              </a:tr>
              <a:tr h="539567">
                <a:tc>
                  <a:txBody>
                    <a:bodyPr/>
                    <a:lstStyle/>
                    <a:p>
                      <a:endParaRPr lang="en-PH" sz="2000" b="1" dirty="0"/>
                    </a:p>
                    <a:p>
                      <a:r>
                        <a:rPr lang="en-PH" sz="2000" b="1" dirty="0"/>
                        <a:t>C</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0</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tc>
                  <a:txBody>
                    <a:bodyPr/>
                    <a:lstStyle/>
                    <a:p>
                      <a:endParaRPr lang="en-PH" sz="2000" b="1" dirty="0"/>
                    </a:p>
                    <a:p>
                      <a:r>
                        <a:rPr lang="en-PH" sz="2000" b="1" dirty="0"/>
                        <a:t>1</a:t>
                      </a:r>
                    </a:p>
                  </a:txBody>
                  <a:tcPr/>
                </a:tc>
                <a:extLst>
                  <a:ext uri="{0D108BD9-81ED-4DB2-BD59-A6C34878D82A}">
                    <a16:rowId xmlns:a16="http://schemas.microsoft.com/office/drawing/2014/main" val="10003"/>
                  </a:ext>
                </a:extLst>
              </a:tr>
              <a:tr h="498089">
                <a:tc>
                  <a:txBody>
                    <a:bodyPr/>
                    <a:lstStyle/>
                    <a:p>
                      <a:r>
                        <a:rPr lang="en-PH" sz="2000" b="1" dirty="0"/>
                        <a:t>D</a:t>
                      </a:r>
                    </a:p>
                  </a:txBody>
                  <a:tcPr/>
                </a:tc>
                <a:tc>
                  <a:txBody>
                    <a:bodyPr/>
                    <a:lstStyle/>
                    <a:p>
                      <a:r>
                        <a:rPr lang="en-PH" sz="2000" b="1" dirty="0"/>
                        <a:t>0</a:t>
                      </a:r>
                    </a:p>
                  </a:txBody>
                  <a:tcPr/>
                </a:tc>
                <a:tc>
                  <a:txBody>
                    <a:bodyPr/>
                    <a:lstStyle/>
                    <a:p>
                      <a:r>
                        <a:rPr lang="en-PH" sz="2000" b="1" dirty="0"/>
                        <a:t>1</a:t>
                      </a:r>
                    </a:p>
                  </a:txBody>
                  <a:tcPr/>
                </a:tc>
                <a:tc>
                  <a:txBody>
                    <a:bodyPr/>
                    <a:lstStyle/>
                    <a:p>
                      <a:r>
                        <a:rPr lang="en-PH" sz="2000" b="1" dirty="0"/>
                        <a:t>1</a:t>
                      </a:r>
                    </a:p>
                  </a:txBody>
                  <a:tcPr/>
                </a:tc>
                <a:tc>
                  <a:txBody>
                    <a:bodyPr/>
                    <a:lstStyle/>
                    <a:p>
                      <a:r>
                        <a:rPr lang="en-PH" sz="2000" b="1" dirty="0"/>
                        <a:t>1</a:t>
                      </a:r>
                    </a:p>
                  </a:txBody>
                  <a:tcPr/>
                </a:tc>
                <a:tc>
                  <a:txBody>
                    <a:bodyPr/>
                    <a:lstStyle/>
                    <a:p>
                      <a:r>
                        <a:rPr lang="en-PH" sz="2000" b="1" dirty="0"/>
                        <a:t>0</a:t>
                      </a:r>
                    </a:p>
                  </a:txBody>
                  <a:tcPr/>
                </a:tc>
                <a:tc>
                  <a:txBody>
                    <a:bodyPr/>
                    <a:lstStyle/>
                    <a:p>
                      <a:r>
                        <a:rPr lang="en-PH" sz="2000" b="1" dirty="0"/>
                        <a:t>1</a:t>
                      </a:r>
                    </a:p>
                  </a:txBody>
                  <a:tcPr/>
                </a:tc>
                <a:tc>
                  <a:txBody>
                    <a:bodyPr/>
                    <a:lstStyle/>
                    <a:p>
                      <a:r>
                        <a:rPr lang="en-PH" sz="2000" b="1" dirty="0"/>
                        <a:t>0</a:t>
                      </a:r>
                    </a:p>
                  </a:txBody>
                  <a:tcPr/>
                </a:tc>
                <a:tc>
                  <a:txBody>
                    <a:bodyPr/>
                    <a:lstStyle/>
                    <a:p>
                      <a:r>
                        <a:rPr lang="en-PH" sz="2000" b="1" dirty="0"/>
                        <a:t>0</a:t>
                      </a:r>
                    </a:p>
                  </a:txBody>
                  <a:tcPr/>
                </a:tc>
                <a:tc>
                  <a:txBody>
                    <a:bodyPr/>
                    <a:lstStyle/>
                    <a:p>
                      <a:r>
                        <a:rPr lang="en-PH" sz="2000" b="1" dirty="0"/>
                        <a:t>1</a:t>
                      </a:r>
                    </a:p>
                  </a:txBody>
                  <a:tcPr/>
                </a:tc>
                <a:tc>
                  <a:txBody>
                    <a:bodyPr/>
                    <a:lstStyle/>
                    <a:p>
                      <a:r>
                        <a:rPr lang="en-PH" sz="2000" b="1" dirty="0"/>
                        <a:t>0</a:t>
                      </a:r>
                    </a:p>
                  </a:txBody>
                  <a:tcPr/>
                </a:tc>
                <a:tc>
                  <a:txBody>
                    <a:bodyPr/>
                    <a:lstStyle/>
                    <a:p>
                      <a:r>
                        <a:rPr lang="en-PH" sz="2000" b="1" dirty="0"/>
                        <a:t>2</a:t>
                      </a:r>
                    </a:p>
                  </a:txBody>
                  <a:tcPr/>
                </a:tc>
                <a:tc>
                  <a:txBody>
                    <a:bodyPr/>
                    <a:lstStyle/>
                    <a:p>
                      <a:r>
                        <a:rPr lang="en-PH" sz="2000" b="1" dirty="0"/>
                        <a:t>3</a:t>
                      </a:r>
                    </a:p>
                  </a:txBody>
                  <a:tcPr/>
                </a:tc>
                <a:extLst>
                  <a:ext uri="{0D108BD9-81ED-4DB2-BD59-A6C34878D82A}">
                    <a16:rowId xmlns:a16="http://schemas.microsoft.com/office/drawing/2014/main" val="10004"/>
                  </a:ext>
                </a:extLst>
              </a:tr>
              <a:tr h="498089">
                <a:tc>
                  <a:txBody>
                    <a:bodyPr/>
                    <a:lstStyle/>
                    <a:p>
                      <a:r>
                        <a:rPr lang="en-PH" sz="2000" b="1"/>
                        <a:t>E</a:t>
                      </a:r>
                    </a:p>
                  </a:txBody>
                  <a:tcPr/>
                </a:tc>
                <a:tc>
                  <a:txBody>
                    <a:bodyPr/>
                    <a:lstStyle/>
                    <a:p>
                      <a:r>
                        <a:rPr lang="en-PH" sz="2000" b="1" dirty="0"/>
                        <a:t>1</a:t>
                      </a:r>
                    </a:p>
                  </a:txBody>
                  <a:tcPr/>
                </a:tc>
                <a:tc>
                  <a:txBody>
                    <a:bodyPr/>
                    <a:lstStyle/>
                    <a:p>
                      <a:r>
                        <a:rPr lang="en-PH" sz="2000" b="1" dirty="0"/>
                        <a:t>1</a:t>
                      </a:r>
                    </a:p>
                  </a:txBody>
                  <a:tcPr/>
                </a:tc>
                <a:tc>
                  <a:txBody>
                    <a:bodyPr/>
                    <a:lstStyle/>
                    <a:p>
                      <a:r>
                        <a:rPr lang="en-PH" sz="2000" b="1" dirty="0"/>
                        <a:t>1</a:t>
                      </a:r>
                    </a:p>
                  </a:txBody>
                  <a:tcPr/>
                </a:tc>
                <a:tc>
                  <a:txBody>
                    <a:bodyPr/>
                    <a:lstStyle/>
                    <a:p>
                      <a:r>
                        <a:rPr lang="en-PH" sz="2000" b="1" dirty="0"/>
                        <a:t>1</a:t>
                      </a:r>
                    </a:p>
                  </a:txBody>
                  <a:tcPr/>
                </a:tc>
                <a:tc>
                  <a:txBody>
                    <a:bodyPr/>
                    <a:lstStyle/>
                    <a:p>
                      <a:r>
                        <a:rPr lang="en-PH" sz="2000" b="1" dirty="0"/>
                        <a:t>1</a:t>
                      </a:r>
                    </a:p>
                  </a:txBody>
                  <a:tcPr/>
                </a:tc>
                <a:tc>
                  <a:txBody>
                    <a:bodyPr/>
                    <a:lstStyle/>
                    <a:p>
                      <a:r>
                        <a:rPr lang="en-PH" sz="2000" b="1" dirty="0"/>
                        <a:t>1</a:t>
                      </a:r>
                    </a:p>
                  </a:txBody>
                  <a:tcPr/>
                </a:tc>
                <a:tc>
                  <a:txBody>
                    <a:bodyPr/>
                    <a:lstStyle/>
                    <a:p>
                      <a:r>
                        <a:rPr lang="en-PH" sz="2000" b="1" dirty="0"/>
                        <a:t>1</a:t>
                      </a:r>
                    </a:p>
                  </a:txBody>
                  <a:tcPr/>
                </a:tc>
                <a:tc>
                  <a:txBody>
                    <a:bodyPr/>
                    <a:lstStyle/>
                    <a:p>
                      <a:r>
                        <a:rPr lang="en-PH" sz="2000" b="1" dirty="0"/>
                        <a:t>1</a:t>
                      </a:r>
                    </a:p>
                  </a:txBody>
                  <a:tcPr/>
                </a:tc>
                <a:tc>
                  <a:txBody>
                    <a:bodyPr/>
                    <a:lstStyle/>
                    <a:p>
                      <a:r>
                        <a:rPr lang="en-PH" sz="2000" b="1" dirty="0"/>
                        <a:t>1</a:t>
                      </a:r>
                    </a:p>
                  </a:txBody>
                  <a:tcPr/>
                </a:tc>
                <a:tc>
                  <a:txBody>
                    <a:bodyPr/>
                    <a:lstStyle/>
                    <a:p>
                      <a:r>
                        <a:rPr lang="en-PH" sz="2000" b="1" dirty="0"/>
                        <a:t>1</a:t>
                      </a:r>
                    </a:p>
                  </a:txBody>
                  <a:tcPr/>
                </a:tc>
                <a:tc>
                  <a:txBody>
                    <a:bodyPr/>
                    <a:lstStyle/>
                    <a:p>
                      <a:r>
                        <a:rPr lang="en-PH" sz="2000" b="1" dirty="0"/>
                        <a:t>5</a:t>
                      </a:r>
                    </a:p>
                  </a:txBody>
                  <a:tcPr/>
                </a:tc>
                <a:tc>
                  <a:txBody>
                    <a:bodyPr/>
                    <a:lstStyle/>
                    <a:p>
                      <a:r>
                        <a:rPr lang="en-PH" sz="2000" b="1" dirty="0"/>
                        <a:t>5</a:t>
                      </a:r>
                    </a:p>
                  </a:txBody>
                  <a:tcPr/>
                </a:tc>
                <a:extLst>
                  <a:ext uri="{0D108BD9-81ED-4DB2-BD59-A6C34878D82A}">
                    <a16:rowId xmlns:a16="http://schemas.microsoft.com/office/drawing/2014/main" val="10005"/>
                  </a:ext>
                </a:extLst>
              </a:tr>
            </a:tbl>
          </a:graphicData>
        </a:graphic>
      </p:graphicFrame>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dirty="0"/>
              <a:t>Sir </a:t>
            </a:r>
            <a:r>
              <a:rPr lang="en-PH" dirty="0" err="1"/>
              <a:t>CreEspo</a:t>
            </a:r>
            <a:r>
              <a:rPr lang="en-PH" dirty="0"/>
              <a:t>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32</a:t>
            </a:fld>
            <a:endParaRPr lang="en-PH"/>
          </a:p>
        </p:txBody>
      </p:sp>
      <p:cxnSp>
        <p:nvCxnSpPr>
          <p:cNvPr id="8" name="Straight Connector 7"/>
          <p:cNvCxnSpPr/>
          <p:nvPr/>
        </p:nvCxnSpPr>
        <p:spPr>
          <a:xfrm>
            <a:off x="1066800" y="2667000"/>
            <a:ext cx="64008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962245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FACTORS AFFECTING VALIDITY</a:t>
            </a:r>
          </a:p>
        </p:txBody>
      </p:sp>
      <p:sp>
        <p:nvSpPr>
          <p:cNvPr id="3" name="Content Placeholder 2"/>
          <p:cNvSpPr>
            <a:spLocks noGrp="1"/>
          </p:cNvSpPr>
          <p:nvPr>
            <p:ph idx="1"/>
          </p:nvPr>
        </p:nvSpPr>
        <p:spPr>
          <a:xfrm>
            <a:off x="533400" y="2286000"/>
            <a:ext cx="8229599" cy="3733800"/>
          </a:xfrm>
        </p:spPr>
        <p:txBody>
          <a:bodyPr>
            <a:noAutofit/>
          </a:bodyPr>
          <a:lstStyle/>
          <a:p>
            <a:r>
              <a:rPr lang="en-PH" sz="2800" b="1" dirty="0"/>
              <a:t>1. Length of the test</a:t>
            </a:r>
          </a:p>
          <a:p>
            <a:r>
              <a:rPr lang="en-PH" sz="2800" b="1" dirty="0"/>
              <a:t>2. Difficult vocabulary and unfamiliar sentence structure</a:t>
            </a:r>
          </a:p>
          <a:p>
            <a:r>
              <a:rPr lang="en-PH" sz="2800" b="1" dirty="0"/>
              <a:t>3. Ambiguity of the test</a:t>
            </a:r>
          </a:p>
          <a:p>
            <a:r>
              <a:rPr lang="en-PH" sz="2800" b="1" dirty="0"/>
              <a:t>4. Inadequate time limit </a:t>
            </a:r>
          </a:p>
          <a:p>
            <a:r>
              <a:rPr lang="en-PH" sz="2800" b="1" dirty="0"/>
              <a:t>5. Ability grouping of students</a:t>
            </a:r>
          </a:p>
          <a:p>
            <a:r>
              <a:rPr lang="en-PH" sz="2800" b="1" dirty="0"/>
              <a:t>6. Personal factors like motivation &amp; interest</a:t>
            </a:r>
          </a:p>
        </p:txBody>
      </p:sp>
      <p:sp>
        <p:nvSpPr>
          <p:cNvPr id="4" name="Date Placeholder 3"/>
          <p:cNvSpPr>
            <a:spLocks noGrp="1"/>
          </p:cNvSpPr>
          <p:nvPr>
            <p:ph type="dt" sz="half" idx="10"/>
          </p:nvPr>
        </p:nvSpPr>
        <p:spPr/>
        <p:txBody>
          <a:bodyPr/>
          <a:lstStyle/>
          <a:p>
            <a:fld id="{242B7DA2-76C3-4E23-85A1-3246326EB5A9}"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33</a:t>
            </a:fld>
            <a:endParaRPr lang="en-PH"/>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dirty="0"/>
              <a:t>FACTORS AFFECTING RELIABILITY</a:t>
            </a:r>
          </a:p>
        </p:txBody>
      </p:sp>
      <p:sp>
        <p:nvSpPr>
          <p:cNvPr id="3" name="Content Placeholder 2"/>
          <p:cNvSpPr>
            <a:spLocks noGrp="1"/>
          </p:cNvSpPr>
          <p:nvPr>
            <p:ph idx="1"/>
          </p:nvPr>
        </p:nvSpPr>
        <p:spPr>
          <a:xfrm>
            <a:off x="866441" y="2438400"/>
            <a:ext cx="7698601" cy="3581400"/>
          </a:xfrm>
        </p:spPr>
        <p:txBody>
          <a:bodyPr>
            <a:noAutofit/>
          </a:bodyPr>
          <a:lstStyle/>
          <a:p>
            <a:r>
              <a:rPr lang="en-PH" sz="3600" b="1" dirty="0"/>
              <a:t>1. Length of the test</a:t>
            </a:r>
          </a:p>
          <a:p>
            <a:r>
              <a:rPr lang="en-PH" sz="3600" b="1" dirty="0"/>
              <a:t>2. Directions</a:t>
            </a:r>
          </a:p>
          <a:p>
            <a:r>
              <a:rPr lang="en-PH" sz="3600" b="1" dirty="0"/>
              <a:t>3. Mood of the teacher</a:t>
            </a:r>
          </a:p>
          <a:p>
            <a:r>
              <a:rPr lang="en-PH" sz="3600" b="1" dirty="0"/>
              <a:t>4. Personal factors of the test taker.</a:t>
            </a:r>
          </a:p>
          <a:p>
            <a:r>
              <a:rPr lang="en-PH" sz="3600" b="1" dirty="0"/>
              <a:t>5. History</a:t>
            </a:r>
          </a:p>
        </p:txBody>
      </p:sp>
      <p:sp>
        <p:nvSpPr>
          <p:cNvPr id="4" name="Date Placeholder 3"/>
          <p:cNvSpPr>
            <a:spLocks noGrp="1"/>
          </p:cNvSpPr>
          <p:nvPr>
            <p:ph type="dt" sz="half" idx="10"/>
          </p:nvPr>
        </p:nvSpPr>
        <p:spPr/>
        <p:txBody>
          <a:bodyPr/>
          <a:lstStyle/>
          <a:p>
            <a:fld id="{2A0BBC68-6C67-4F17-9ED8-993263F1B40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34</a:t>
            </a:fld>
            <a:endParaRPr lang="en-PH"/>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PH"/>
              <a:t>RELATIONSHIP BETWEEN VALIDITY AND RELIABILITY</a:t>
            </a:r>
          </a:p>
        </p:txBody>
      </p:sp>
      <p:pic>
        <p:nvPicPr>
          <p:cNvPr id="4" name="Content Placeholder 3" descr="v vs. r.jpg"/>
          <p:cNvPicPr>
            <a:picLocks noGrp="1" noChangeAspect="1"/>
          </p:cNvPicPr>
          <p:nvPr>
            <p:ph idx="1"/>
          </p:nvPr>
        </p:nvPicPr>
        <p:blipFill>
          <a:blip r:embed="rId2" cstate="print"/>
          <a:stretch>
            <a:fillRect/>
          </a:stretch>
        </p:blipFill>
        <p:spPr>
          <a:xfrm>
            <a:off x="1219200" y="1981200"/>
            <a:ext cx="6934200" cy="3429000"/>
          </a:xfrm>
        </p:spPr>
      </p:pic>
      <p:sp>
        <p:nvSpPr>
          <p:cNvPr id="3" name="Date Placeholder 2"/>
          <p:cNvSpPr>
            <a:spLocks noGrp="1"/>
          </p:cNvSpPr>
          <p:nvPr>
            <p:ph type="dt" sz="half" idx="10"/>
          </p:nvPr>
        </p:nvSpPr>
        <p:spPr/>
        <p:txBody>
          <a:bodyPr/>
          <a:lstStyle/>
          <a:p>
            <a:fld id="{A076041A-B6BE-4FA1-8F47-4E125746E253}"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normAutofit/>
          </a:bodyPr>
          <a:lstStyle/>
          <a:p>
            <a:fld id="{853B7D28-E5F2-4AA3-9F25-AE0CE1E4F96C}" type="slidenum">
              <a:rPr lang="en-PH" smtClean="0"/>
              <a:pPr/>
              <a:t>35</a:t>
            </a:fld>
            <a:endParaRPr lang="en-PH"/>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TRUE/FALSE</a:t>
            </a:r>
          </a:p>
        </p:txBody>
      </p:sp>
      <p:sp>
        <p:nvSpPr>
          <p:cNvPr id="3" name="Content Placeholder 2"/>
          <p:cNvSpPr>
            <a:spLocks noGrp="1"/>
          </p:cNvSpPr>
          <p:nvPr>
            <p:ph idx="1"/>
          </p:nvPr>
        </p:nvSpPr>
        <p:spPr>
          <a:xfrm>
            <a:off x="866441" y="2489200"/>
            <a:ext cx="7820359" cy="3530600"/>
          </a:xfrm>
        </p:spPr>
        <p:txBody>
          <a:bodyPr>
            <a:noAutofit/>
          </a:bodyPr>
          <a:lstStyle/>
          <a:p>
            <a:r>
              <a:rPr lang="en-PH" sz="3200" b="1" dirty="0"/>
              <a:t>1. A test could NOT be valid by itself.</a:t>
            </a:r>
          </a:p>
          <a:p>
            <a:r>
              <a:rPr lang="en-PH" sz="3200" b="1" dirty="0"/>
              <a:t>2. A reliable test is always a valid test.</a:t>
            </a:r>
          </a:p>
          <a:p>
            <a:r>
              <a:rPr lang="en-PH" sz="3200" b="1" dirty="0"/>
              <a:t>3. The criterion validity of the test is determined by simple inspection.</a:t>
            </a:r>
          </a:p>
          <a:p>
            <a:pPr marL="0" indent="0">
              <a:buNone/>
            </a:pPr>
            <a:r>
              <a:rPr lang="en-PH" sz="3200" b="1" dirty="0"/>
              <a:t> </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36</a:t>
            </a:fld>
            <a:endParaRPr lang="en-PH"/>
          </a:p>
        </p:txBody>
      </p:sp>
    </p:spTree>
    <p:extLst>
      <p:ext uri="{BB962C8B-B14F-4D97-AF65-F5344CB8AC3E}">
        <p14:creationId xmlns:p14="http://schemas.microsoft.com/office/powerpoint/2010/main" val="3557708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1143000" y="2362200"/>
            <a:ext cx="7315200" cy="3530600"/>
          </a:xfrm>
        </p:spPr>
        <p:txBody>
          <a:bodyPr>
            <a:normAutofit/>
          </a:bodyPr>
          <a:lstStyle/>
          <a:p>
            <a:r>
              <a:rPr lang="en-PH" sz="3200" b="1" dirty="0"/>
              <a:t>4. The motivation and the interest of the students may affect the validity of the tests.</a:t>
            </a:r>
          </a:p>
          <a:p>
            <a:r>
              <a:rPr lang="en-PH" sz="3200" b="1" dirty="0"/>
              <a:t>5. Conducting the test in a limited time lowers its validity.</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37</a:t>
            </a:fld>
            <a:endParaRPr lang="en-PH"/>
          </a:p>
        </p:txBody>
      </p:sp>
    </p:spTree>
    <p:extLst>
      <p:ext uri="{BB962C8B-B14F-4D97-AF65-F5344CB8AC3E}">
        <p14:creationId xmlns:p14="http://schemas.microsoft.com/office/powerpoint/2010/main" val="21596904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209800"/>
            <a:ext cx="7698601" cy="3810000"/>
          </a:xfrm>
        </p:spPr>
        <p:txBody>
          <a:bodyPr>
            <a:normAutofit/>
          </a:bodyPr>
          <a:lstStyle/>
          <a:p>
            <a:r>
              <a:rPr lang="en-PH" sz="3200" b="1" dirty="0"/>
              <a:t>6. In test-retest, two tests are conducted twice.</a:t>
            </a:r>
          </a:p>
          <a:p>
            <a:r>
              <a:rPr lang="en-PH" sz="3200" b="1" dirty="0"/>
              <a:t>7. For test of internal consistency, a test is conducted twice.</a:t>
            </a:r>
          </a:p>
          <a:p>
            <a:r>
              <a:rPr lang="en-PH" sz="3200" b="1" dirty="0"/>
              <a:t>8. Negative correlation means that the variables are inversely related.</a:t>
            </a:r>
          </a:p>
          <a:p>
            <a:endParaRPr lang="en-PH" sz="3200" b="1" dirty="0"/>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38</a:t>
            </a:fld>
            <a:endParaRPr lang="en-PH"/>
          </a:p>
        </p:txBody>
      </p:sp>
    </p:spTree>
    <p:extLst>
      <p:ext uri="{BB962C8B-B14F-4D97-AF65-F5344CB8AC3E}">
        <p14:creationId xmlns:p14="http://schemas.microsoft.com/office/powerpoint/2010/main" val="224464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362200"/>
            <a:ext cx="7591759" cy="3657600"/>
          </a:xfrm>
        </p:spPr>
        <p:txBody>
          <a:bodyPr>
            <a:normAutofit/>
          </a:bodyPr>
          <a:lstStyle/>
          <a:p>
            <a:r>
              <a:rPr lang="en-PH" sz="3600" b="1" dirty="0"/>
              <a:t>9. Zero is NOT a possible correlation value.</a:t>
            </a:r>
          </a:p>
          <a:p>
            <a:r>
              <a:rPr lang="en-PH" sz="3600" b="1" dirty="0"/>
              <a:t>10. Content validity is the simplest type of </a:t>
            </a:r>
            <a:r>
              <a:rPr lang="en-PH" sz="3600" b="1" dirty="0" err="1"/>
              <a:t>vality</a:t>
            </a:r>
            <a:r>
              <a:rPr lang="en-PH" sz="3600" b="1" dirty="0"/>
              <a:t> which could be determined by simple inspection.</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39</a:t>
            </a:fld>
            <a:endParaRPr lang="en-PH"/>
          </a:p>
        </p:txBody>
      </p:sp>
    </p:spTree>
    <p:extLst>
      <p:ext uri="{BB962C8B-B14F-4D97-AF65-F5344CB8AC3E}">
        <p14:creationId xmlns:p14="http://schemas.microsoft.com/office/powerpoint/2010/main" val="3463467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MCQ</a:t>
            </a:r>
          </a:p>
        </p:txBody>
      </p:sp>
      <p:sp>
        <p:nvSpPr>
          <p:cNvPr id="3" name="Content Placeholder 2"/>
          <p:cNvSpPr>
            <a:spLocks noGrp="1"/>
          </p:cNvSpPr>
          <p:nvPr>
            <p:ph idx="1"/>
          </p:nvPr>
        </p:nvSpPr>
        <p:spPr>
          <a:xfrm>
            <a:off x="866441" y="2489200"/>
            <a:ext cx="7528800" cy="3530600"/>
          </a:xfrm>
        </p:spPr>
        <p:txBody>
          <a:bodyPr>
            <a:noAutofit/>
          </a:bodyPr>
          <a:lstStyle/>
          <a:p>
            <a:r>
              <a:rPr lang="en-PH" sz="3600" b="1" dirty="0"/>
              <a:t>1. Which should be given primary consideration in constructing a test?</a:t>
            </a:r>
          </a:p>
          <a:p>
            <a:r>
              <a:rPr lang="en-PH" sz="3600" b="1" dirty="0"/>
              <a:t>A. Its validity	     C. Its reliability</a:t>
            </a:r>
          </a:p>
          <a:p>
            <a:r>
              <a:rPr lang="en-PH" sz="3600" b="1" dirty="0"/>
              <a:t>B. Its </a:t>
            </a:r>
            <a:r>
              <a:rPr lang="en-PH" sz="3600" b="1" dirty="0" err="1"/>
              <a:t>objectivityD</a:t>
            </a:r>
            <a:r>
              <a:rPr lang="en-PH" sz="3600" b="1" dirty="0"/>
              <a:t>. Its objectivity</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40</a:t>
            </a:fld>
            <a:endParaRPr lang="en-PH"/>
          </a:p>
        </p:txBody>
      </p:sp>
    </p:spTree>
    <p:extLst>
      <p:ext uri="{BB962C8B-B14F-4D97-AF65-F5344CB8AC3E}">
        <p14:creationId xmlns:p14="http://schemas.microsoft.com/office/powerpoint/2010/main" val="35904756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362200"/>
            <a:ext cx="7698601" cy="3657600"/>
          </a:xfrm>
        </p:spPr>
        <p:txBody>
          <a:bodyPr>
            <a:noAutofit/>
          </a:bodyPr>
          <a:lstStyle/>
          <a:p>
            <a:r>
              <a:rPr lang="en-PH" sz="2800" b="1" dirty="0"/>
              <a:t>2. The students of Teacher Ana learned how to do the cross stich. As an evaluation he asked the students to explain the steps in making the cross stich. What characteristics of the test is lacking in her assessment?</a:t>
            </a:r>
          </a:p>
          <a:p>
            <a:r>
              <a:rPr lang="en-PH" sz="2800" b="1" dirty="0"/>
              <a:t>A. Reliability		C. Validity</a:t>
            </a:r>
          </a:p>
          <a:p>
            <a:r>
              <a:rPr lang="en-PH" sz="2800" b="1" dirty="0"/>
              <a:t>B. Objectivity		D. Efficiency</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41</a:t>
            </a:fld>
            <a:endParaRPr lang="en-PH"/>
          </a:p>
        </p:txBody>
      </p:sp>
    </p:spTree>
    <p:extLst>
      <p:ext uri="{BB962C8B-B14F-4D97-AF65-F5344CB8AC3E}">
        <p14:creationId xmlns:p14="http://schemas.microsoft.com/office/powerpoint/2010/main" val="229369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533400" y="2489200"/>
            <a:ext cx="8305801" cy="3530600"/>
          </a:xfrm>
        </p:spPr>
        <p:txBody>
          <a:bodyPr>
            <a:normAutofit/>
          </a:bodyPr>
          <a:lstStyle/>
          <a:p>
            <a:r>
              <a:rPr lang="en-PH" sz="3200" b="1" dirty="0"/>
              <a:t>3. What type of validity is compromised when some topics are over-emphasized while others topics are played down?</a:t>
            </a:r>
          </a:p>
          <a:p>
            <a:r>
              <a:rPr lang="en-PH" sz="3200" b="1" dirty="0"/>
              <a:t>A. criterion		C. predictive</a:t>
            </a:r>
          </a:p>
          <a:p>
            <a:r>
              <a:rPr lang="en-PH" sz="3200" b="1" dirty="0"/>
              <a:t>B. construct		</a:t>
            </a:r>
            <a:r>
              <a:rPr lang="en-PH" sz="3200" b="1" dirty="0" err="1"/>
              <a:t>D.content</a:t>
            </a:r>
            <a:endParaRPr lang="en-PH" sz="3200" b="1" dirty="0"/>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42</a:t>
            </a:fld>
            <a:endParaRPr lang="en-PH"/>
          </a:p>
        </p:txBody>
      </p:sp>
    </p:spTree>
    <p:extLst>
      <p:ext uri="{BB962C8B-B14F-4D97-AF65-F5344CB8AC3E}">
        <p14:creationId xmlns:p14="http://schemas.microsoft.com/office/powerpoint/2010/main" val="1566229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489200"/>
            <a:ext cx="7528800" cy="3530600"/>
          </a:xfrm>
        </p:spPr>
        <p:txBody>
          <a:bodyPr>
            <a:normAutofit/>
          </a:bodyPr>
          <a:lstStyle/>
          <a:p>
            <a:r>
              <a:rPr lang="en-PH" sz="3200" b="1" dirty="0"/>
              <a:t>4. Which of the following does NOT describe validity?</a:t>
            </a:r>
          </a:p>
          <a:p>
            <a:pPr>
              <a:buAutoNum type="alphaUcPeriod"/>
            </a:pPr>
            <a:r>
              <a:rPr lang="en-PH" sz="3200" b="1" dirty="0"/>
              <a:t>Accuracy		B. Truthfulness</a:t>
            </a:r>
          </a:p>
          <a:p>
            <a:pPr>
              <a:buAutoNum type="alphaUcPeriod"/>
            </a:pPr>
            <a:r>
              <a:rPr lang="en-PH" sz="3200" b="1" dirty="0"/>
              <a:t>Precision			D. Appropriateness</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43</a:t>
            </a:fld>
            <a:endParaRPr lang="en-PH"/>
          </a:p>
        </p:txBody>
      </p:sp>
    </p:spTree>
    <p:extLst>
      <p:ext uri="{BB962C8B-B14F-4D97-AF65-F5344CB8AC3E}">
        <p14:creationId xmlns:p14="http://schemas.microsoft.com/office/powerpoint/2010/main" val="304164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590843" y="2286000"/>
            <a:ext cx="8172158" cy="3733800"/>
          </a:xfrm>
        </p:spPr>
        <p:txBody>
          <a:bodyPr>
            <a:noAutofit/>
          </a:bodyPr>
          <a:lstStyle/>
          <a:p>
            <a:r>
              <a:rPr lang="en-PH" sz="3200" b="1" dirty="0"/>
              <a:t>5. When the LET reviewees who have high score in the pre-board exam also have high scores in the actual LET, then the pre-board exam has what type of validity?</a:t>
            </a:r>
          </a:p>
          <a:p>
            <a:r>
              <a:rPr lang="en-PH" sz="3200" b="1" dirty="0"/>
              <a:t>A. Concurrent	C. Face</a:t>
            </a:r>
          </a:p>
          <a:p>
            <a:r>
              <a:rPr lang="en-PH" sz="3200" b="1" dirty="0"/>
              <a:t>B. Predictive		D. Predictive</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44</a:t>
            </a:fld>
            <a:endParaRPr lang="en-PH"/>
          </a:p>
        </p:txBody>
      </p:sp>
    </p:spTree>
    <p:extLst>
      <p:ext uri="{BB962C8B-B14F-4D97-AF65-F5344CB8AC3E}">
        <p14:creationId xmlns:p14="http://schemas.microsoft.com/office/powerpoint/2010/main" val="2112605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590842" y="2133600"/>
            <a:ext cx="8248357" cy="3886200"/>
          </a:xfrm>
        </p:spPr>
        <p:txBody>
          <a:bodyPr>
            <a:noAutofit/>
          </a:bodyPr>
          <a:lstStyle/>
          <a:p>
            <a:r>
              <a:rPr lang="en-PH" sz="2400" b="1" dirty="0"/>
              <a:t>6. The correlation of Geometry grade and Drawing is +0.79. This means that ___________ .</a:t>
            </a:r>
          </a:p>
          <a:p>
            <a:pPr>
              <a:buAutoNum type="alphaUcPeriod"/>
            </a:pPr>
            <a:r>
              <a:rPr lang="en-PH" sz="2400" b="1" dirty="0"/>
              <a:t>There is a relationship between Geometry &amp; Drawing.</a:t>
            </a:r>
          </a:p>
          <a:p>
            <a:pPr>
              <a:buAutoNum type="alphaUcPeriod"/>
            </a:pPr>
            <a:r>
              <a:rPr lang="en-PH" sz="2400" b="1" dirty="0"/>
              <a:t>The lower the Geometry grade, the higher is the Drawing grade.</a:t>
            </a:r>
          </a:p>
          <a:p>
            <a:pPr>
              <a:buAutoNum type="alphaUcPeriod"/>
            </a:pPr>
            <a:r>
              <a:rPr lang="en-PH" sz="2400" b="1" dirty="0"/>
              <a:t>The higher the Geometry grade, the lower the Drawing grade.</a:t>
            </a:r>
          </a:p>
          <a:p>
            <a:pPr>
              <a:buAutoNum type="alphaUcPeriod"/>
            </a:pPr>
            <a:r>
              <a:rPr lang="en-PH" sz="2400" b="1" dirty="0"/>
              <a:t>The lower the Geometry grade, the lower the Drawing grade.</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45</a:t>
            </a:fld>
            <a:endParaRPr lang="en-PH"/>
          </a:p>
        </p:txBody>
      </p:sp>
    </p:spTree>
    <p:extLst>
      <p:ext uri="{BB962C8B-B14F-4D97-AF65-F5344CB8AC3E}">
        <p14:creationId xmlns:p14="http://schemas.microsoft.com/office/powerpoint/2010/main" val="1319618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564" y="925605"/>
            <a:ext cx="6902864" cy="711359"/>
          </a:xfrm>
        </p:spPr>
        <p:txBody>
          <a:bodyPr/>
          <a:lstStyle/>
          <a:p>
            <a:r>
              <a:rPr lang="en-PH" b="1" dirty="0"/>
              <a:t>For 7-8, refer to this data</a:t>
            </a:r>
            <a:r>
              <a:rPr lang="en-PH" dirty="0"/>
              <a:t>:</a:t>
            </a:r>
          </a:p>
        </p:txBody>
      </p:sp>
      <p:sp>
        <p:nvSpPr>
          <p:cNvPr id="3" name="Content Placeholder 2"/>
          <p:cNvSpPr>
            <a:spLocks noGrp="1"/>
          </p:cNvSpPr>
          <p:nvPr>
            <p:ph idx="1"/>
          </p:nvPr>
        </p:nvSpPr>
        <p:spPr>
          <a:xfrm>
            <a:off x="866441" y="2209800"/>
            <a:ext cx="7698601" cy="3810000"/>
          </a:xfrm>
        </p:spPr>
        <p:txBody>
          <a:bodyPr/>
          <a:lstStyle/>
          <a:p>
            <a:pPr marL="0" indent="0">
              <a:buNone/>
            </a:pPr>
            <a:endParaRPr lang="en-PH" dirty="0"/>
          </a:p>
          <a:p>
            <a:pPr marL="0" indent="0">
              <a:buNone/>
            </a:pPr>
            <a:r>
              <a:rPr lang="en-PH" dirty="0"/>
              <a:t> </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46</a:t>
            </a:fld>
            <a:endParaRPr lang="en-PH"/>
          </a:p>
        </p:txBody>
      </p:sp>
      <p:graphicFrame>
        <p:nvGraphicFramePr>
          <p:cNvPr id="8" name="Table 7"/>
          <p:cNvGraphicFramePr>
            <a:graphicFrameLocks noGrp="1"/>
          </p:cNvGraphicFramePr>
          <p:nvPr>
            <p:extLst>
              <p:ext uri="{D42A27DB-BD31-4B8C-83A1-F6EECF244321}">
                <p14:modId xmlns:p14="http://schemas.microsoft.com/office/powerpoint/2010/main" val="3612368194"/>
              </p:ext>
            </p:extLst>
          </p:nvPr>
        </p:nvGraphicFramePr>
        <p:xfrm>
          <a:off x="1524000" y="2133600"/>
          <a:ext cx="6242427" cy="4231896"/>
        </p:xfrm>
        <a:graphic>
          <a:graphicData uri="http://schemas.openxmlformats.org/drawingml/2006/table">
            <a:tbl>
              <a:tblPr firstRow="1" bandRow="1">
                <a:tableStyleId>{5C22544A-7EE6-4342-B048-85BDC9FD1C3A}</a:tableStyleId>
              </a:tblPr>
              <a:tblGrid>
                <a:gridCol w="2080809">
                  <a:extLst>
                    <a:ext uri="{9D8B030D-6E8A-4147-A177-3AD203B41FA5}">
                      <a16:colId xmlns:a16="http://schemas.microsoft.com/office/drawing/2014/main" val="20000"/>
                    </a:ext>
                  </a:extLst>
                </a:gridCol>
                <a:gridCol w="2080809">
                  <a:extLst>
                    <a:ext uri="{9D8B030D-6E8A-4147-A177-3AD203B41FA5}">
                      <a16:colId xmlns:a16="http://schemas.microsoft.com/office/drawing/2014/main" val="20001"/>
                    </a:ext>
                  </a:extLst>
                </a:gridCol>
                <a:gridCol w="2080809">
                  <a:extLst>
                    <a:ext uri="{9D8B030D-6E8A-4147-A177-3AD203B41FA5}">
                      <a16:colId xmlns:a16="http://schemas.microsoft.com/office/drawing/2014/main" val="20002"/>
                    </a:ext>
                  </a:extLst>
                </a:gridCol>
              </a:tblGrid>
              <a:tr h="937061">
                <a:tc>
                  <a:txBody>
                    <a:bodyPr/>
                    <a:lstStyle/>
                    <a:p>
                      <a:pPr algn="ctr"/>
                      <a:endParaRPr lang="en-PH" sz="2000" b="1" dirty="0"/>
                    </a:p>
                    <a:p>
                      <a:pPr algn="ctr"/>
                      <a:r>
                        <a:rPr lang="en-PH" sz="2000" b="1" dirty="0"/>
                        <a:t>STUDENT</a:t>
                      </a:r>
                    </a:p>
                  </a:txBody>
                  <a:tcPr/>
                </a:tc>
                <a:tc>
                  <a:txBody>
                    <a:bodyPr/>
                    <a:lstStyle/>
                    <a:p>
                      <a:endParaRPr lang="en-PH" dirty="0"/>
                    </a:p>
                    <a:p>
                      <a:r>
                        <a:rPr lang="en-PH" dirty="0"/>
                        <a:t>PRE-TEST SCORE</a:t>
                      </a:r>
                    </a:p>
                  </a:txBody>
                  <a:tcPr/>
                </a:tc>
                <a:tc>
                  <a:txBody>
                    <a:bodyPr/>
                    <a:lstStyle/>
                    <a:p>
                      <a:endParaRPr lang="en-PH" dirty="0"/>
                    </a:p>
                    <a:p>
                      <a:r>
                        <a:rPr lang="en-PH" dirty="0"/>
                        <a:t>POST-TEST SCORE</a:t>
                      </a:r>
                    </a:p>
                  </a:txBody>
                  <a:tcPr/>
                </a:tc>
                <a:extLst>
                  <a:ext uri="{0D108BD9-81ED-4DB2-BD59-A6C34878D82A}">
                    <a16:rowId xmlns:a16="http://schemas.microsoft.com/office/drawing/2014/main" val="10000"/>
                  </a:ext>
                </a:extLst>
              </a:tr>
              <a:tr h="644105">
                <a:tc>
                  <a:txBody>
                    <a:bodyPr/>
                    <a:lstStyle/>
                    <a:p>
                      <a:pPr algn="ctr"/>
                      <a:r>
                        <a:rPr lang="en-PH" sz="3600" b="1" dirty="0"/>
                        <a:t>A</a:t>
                      </a:r>
                    </a:p>
                  </a:txBody>
                  <a:tcPr/>
                </a:tc>
                <a:tc>
                  <a:txBody>
                    <a:bodyPr/>
                    <a:lstStyle/>
                    <a:p>
                      <a:pPr algn="ctr"/>
                      <a:r>
                        <a:rPr lang="en-PH" sz="3600" b="1" dirty="0"/>
                        <a:t>1</a:t>
                      </a:r>
                    </a:p>
                  </a:txBody>
                  <a:tcPr/>
                </a:tc>
                <a:tc>
                  <a:txBody>
                    <a:bodyPr/>
                    <a:lstStyle/>
                    <a:p>
                      <a:pPr algn="ctr"/>
                      <a:r>
                        <a:rPr lang="en-PH" sz="3600" b="1" dirty="0"/>
                        <a:t>5</a:t>
                      </a:r>
                    </a:p>
                  </a:txBody>
                  <a:tcPr/>
                </a:tc>
                <a:extLst>
                  <a:ext uri="{0D108BD9-81ED-4DB2-BD59-A6C34878D82A}">
                    <a16:rowId xmlns:a16="http://schemas.microsoft.com/office/drawing/2014/main" val="10001"/>
                  </a:ext>
                </a:extLst>
              </a:tr>
              <a:tr h="644105">
                <a:tc>
                  <a:txBody>
                    <a:bodyPr/>
                    <a:lstStyle/>
                    <a:p>
                      <a:pPr algn="ctr"/>
                      <a:r>
                        <a:rPr lang="en-PH" sz="3600" b="1" dirty="0"/>
                        <a:t>B</a:t>
                      </a:r>
                    </a:p>
                  </a:txBody>
                  <a:tcPr/>
                </a:tc>
                <a:tc>
                  <a:txBody>
                    <a:bodyPr/>
                    <a:lstStyle/>
                    <a:p>
                      <a:pPr algn="ctr"/>
                      <a:r>
                        <a:rPr lang="en-PH" sz="3600" b="1" dirty="0"/>
                        <a:t>2</a:t>
                      </a:r>
                    </a:p>
                  </a:txBody>
                  <a:tcPr/>
                </a:tc>
                <a:tc>
                  <a:txBody>
                    <a:bodyPr/>
                    <a:lstStyle/>
                    <a:p>
                      <a:pPr algn="ctr"/>
                      <a:r>
                        <a:rPr lang="en-PH" sz="3600" b="1" dirty="0"/>
                        <a:t>4</a:t>
                      </a:r>
                    </a:p>
                  </a:txBody>
                  <a:tcPr/>
                </a:tc>
                <a:extLst>
                  <a:ext uri="{0D108BD9-81ED-4DB2-BD59-A6C34878D82A}">
                    <a16:rowId xmlns:a16="http://schemas.microsoft.com/office/drawing/2014/main" val="10002"/>
                  </a:ext>
                </a:extLst>
              </a:tr>
              <a:tr h="644105">
                <a:tc>
                  <a:txBody>
                    <a:bodyPr/>
                    <a:lstStyle/>
                    <a:p>
                      <a:pPr algn="ctr"/>
                      <a:r>
                        <a:rPr lang="en-PH" sz="3600" b="1" dirty="0"/>
                        <a:t>C</a:t>
                      </a:r>
                    </a:p>
                  </a:txBody>
                  <a:tcPr/>
                </a:tc>
                <a:tc>
                  <a:txBody>
                    <a:bodyPr/>
                    <a:lstStyle/>
                    <a:p>
                      <a:pPr algn="ctr"/>
                      <a:r>
                        <a:rPr lang="en-PH" sz="3600" b="1" dirty="0"/>
                        <a:t>3</a:t>
                      </a:r>
                    </a:p>
                  </a:txBody>
                  <a:tcPr/>
                </a:tc>
                <a:tc>
                  <a:txBody>
                    <a:bodyPr/>
                    <a:lstStyle/>
                    <a:p>
                      <a:pPr algn="ctr"/>
                      <a:r>
                        <a:rPr lang="en-PH" sz="3600" b="1" dirty="0"/>
                        <a:t>3</a:t>
                      </a:r>
                    </a:p>
                  </a:txBody>
                  <a:tcPr/>
                </a:tc>
                <a:extLst>
                  <a:ext uri="{0D108BD9-81ED-4DB2-BD59-A6C34878D82A}">
                    <a16:rowId xmlns:a16="http://schemas.microsoft.com/office/drawing/2014/main" val="10003"/>
                  </a:ext>
                </a:extLst>
              </a:tr>
              <a:tr h="644105">
                <a:tc>
                  <a:txBody>
                    <a:bodyPr/>
                    <a:lstStyle/>
                    <a:p>
                      <a:pPr algn="ctr"/>
                      <a:r>
                        <a:rPr lang="en-PH" sz="3600" b="1" dirty="0"/>
                        <a:t>D</a:t>
                      </a:r>
                    </a:p>
                  </a:txBody>
                  <a:tcPr/>
                </a:tc>
                <a:tc>
                  <a:txBody>
                    <a:bodyPr/>
                    <a:lstStyle/>
                    <a:p>
                      <a:pPr algn="ctr"/>
                      <a:r>
                        <a:rPr lang="en-PH" sz="3600" b="1" dirty="0"/>
                        <a:t>4</a:t>
                      </a:r>
                    </a:p>
                  </a:txBody>
                  <a:tcPr/>
                </a:tc>
                <a:tc>
                  <a:txBody>
                    <a:bodyPr/>
                    <a:lstStyle/>
                    <a:p>
                      <a:pPr algn="ctr"/>
                      <a:r>
                        <a:rPr lang="en-PH" sz="3600" b="1" dirty="0"/>
                        <a:t>2</a:t>
                      </a:r>
                    </a:p>
                  </a:txBody>
                  <a:tcPr/>
                </a:tc>
                <a:extLst>
                  <a:ext uri="{0D108BD9-81ED-4DB2-BD59-A6C34878D82A}">
                    <a16:rowId xmlns:a16="http://schemas.microsoft.com/office/drawing/2014/main" val="10004"/>
                  </a:ext>
                </a:extLst>
              </a:tr>
              <a:tr h="718415">
                <a:tc>
                  <a:txBody>
                    <a:bodyPr/>
                    <a:lstStyle/>
                    <a:p>
                      <a:pPr algn="ctr"/>
                      <a:r>
                        <a:rPr lang="en-PH" sz="3600" b="1" dirty="0"/>
                        <a:t>E</a:t>
                      </a:r>
                    </a:p>
                  </a:txBody>
                  <a:tcPr/>
                </a:tc>
                <a:tc>
                  <a:txBody>
                    <a:bodyPr/>
                    <a:lstStyle/>
                    <a:p>
                      <a:pPr algn="ctr"/>
                      <a:r>
                        <a:rPr lang="en-PH" sz="3600" b="1" dirty="0"/>
                        <a:t>5</a:t>
                      </a:r>
                    </a:p>
                  </a:txBody>
                  <a:tcPr/>
                </a:tc>
                <a:tc>
                  <a:txBody>
                    <a:bodyPr/>
                    <a:lstStyle/>
                    <a:p>
                      <a:pPr algn="ctr"/>
                      <a:r>
                        <a:rPr lang="en-PH" sz="3600" b="1" dirty="0"/>
                        <a:t>1</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683590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7</a:t>
            </a:r>
          </a:p>
        </p:txBody>
      </p:sp>
      <p:sp>
        <p:nvSpPr>
          <p:cNvPr id="3" name="Content Placeholder 2"/>
          <p:cNvSpPr>
            <a:spLocks noGrp="1"/>
          </p:cNvSpPr>
          <p:nvPr>
            <p:ph idx="1"/>
          </p:nvPr>
        </p:nvSpPr>
        <p:spPr>
          <a:xfrm>
            <a:off x="866441" y="2489200"/>
            <a:ext cx="7363159" cy="3530600"/>
          </a:xfrm>
        </p:spPr>
        <p:txBody>
          <a:bodyPr>
            <a:normAutofit/>
          </a:bodyPr>
          <a:lstStyle/>
          <a:p>
            <a:r>
              <a:rPr lang="en-PH" sz="3600" b="1" dirty="0"/>
              <a:t>What do you expect to be the correlation coefficient of these data?</a:t>
            </a:r>
          </a:p>
          <a:p>
            <a:pPr>
              <a:buAutoNum type="alphaUcPeriod"/>
            </a:pPr>
            <a:r>
              <a:rPr lang="en-PH" sz="3600" b="1" dirty="0"/>
              <a:t>+1				C. -1</a:t>
            </a:r>
          </a:p>
          <a:p>
            <a:pPr>
              <a:buAutoNum type="alphaUcPeriod"/>
            </a:pPr>
            <a:r>
              <a:rPr lang="en-PH" sz="3600" b="1" dirty="0"/>
              <a:t>-0.3			D. +0.3</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47</a:t>
            </a:fld>
            <a:endParaRPr lang="en-PH"/>
          </a:p>
        </p:txBody>
      </p:sp>
    </p:spTree>
    <p:extLst>
      <p:ext uri="{BB962C8B-B14F-4D97-AF65-F5344CB8AC3E}">
        <p14:creationId xmlns:p14="http://schemas.microsoft.com/office/powerpoint/2010/main" val="1654142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8</a:t>
            </a:r>
          </a:p>
        </p:txBody>
      </p:sp>
      <p:sp>
        <p:nvSpPr>
          <p:cNvPr id="3" name="Content Placeholder 2"/>
          <p:cNvSpPr>
            <a:spLocks noGrp="1"/>
          </p:cNvSpPr>
          <p:nvPr>
            <p:ph idx="1"/>
          </p:nvPr>
        </p:nvSpPr>
        <p:spPr>
          <a:xfrm>
            <a:off x="762001" y="2286000"/>
            <a:ext cx="7803042" cy="3733800"/>
          </a:xfrm>
        </p:spPr>
        <p:txBody>
          <a:bodyPr>
            <a:normAutofit/>
          </a:bodyPr>
          <a:lstStyle/>
          <a:p>
            <a:r>
              <a:rPr lang="en-PH" sz="3600" b="1" dirty="0"/>
              <a:t>How would you describe the test used in this test-retest procedure? </a:t>
            </a:r>
          </a:p>
          <a:p>
            <a:r>
              <a:rPr lang="en-PH" sz="3600" b="1" dirty="0"/>
              <a:t>A. Valid		       C. Reliable</a:t>
            </a:r>
          </a:p>
          <a:p>
            <a:r>
              <a:rPr lang="en-PH" sz="3600" b="1" dirty="0"/>
              <a:t>B. Not Valid	   D. Not Reliable</a:t>
            </a:r>
          </a:p>
          <a:p>
            <a:endParaRPr lang="en-PH" sz="3600" b="1" dirty="0"/>
          </a:p>
          <a:p>
            <a:endParaRPr lang="en-PH" sz="3600" b="1" dirty="0"/>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48</a:t>
            </a:fld>
            <a:endParaRPr lang="en-PH"/>
          </a:p>
        </p:txBody>
      </p:sp>
    </p:spTree>
    <p:extLst>
      <p:ext uri="{BB962C8B-B14F-4D97-AF65-F5344CB8AC3E}">
        <p14:creationId xmlns:p14="http://schemas.microsoft.com/office/powerpoint/2010/main" val="289674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9</a:t>
            </a:r>
          </a:p>
        </p:txBody>
      </p:sp>
      <p:sp>
        <p:nvSpPr>
          <p:cNvPr id="3" name="Content Placeholder 2"/>
          <p:cNvSpPr>
            <a:spLocks noGrp="1"/>
          </p:cNvSpPr>
          <p:nvPr>
            <p:ph idx="1"/>
          </p:nvPr>
        </p:nvSpPr>
        <p:spPr>
          <a:xfrm>
            <a:off x="762001" y="2286000"/>
            <a:ext cx="7924800" cy="3733800"/>
          </a:xfrm>
        </p:spPr>
        <p:txBody>
          <a:bodyPr>
            <a:normAutofit/>
          </a:bodyPr>
          <a:lstStyle/>
          <a:p>
            <a:r>
              <a:rPr lang="en-PH" sz="3600" b="1" dirty="0"/>
              <a:t>The reliability of the test can measure the test’____________ .</a:t>
            </a:r>
          </a:p>
          <a:p>
            <a:pPr marL="0" indent="0">
              <a:buNone/>
            </a:pPr>
            <a:r>
              <a:rPr lang="en-PH" sz="3600" b="1" dirty="0"/>
              <a:t>A. stability	    	B. equivalent</a:t>
            </a:r>
          </a:p>
          <a:p>
            <a:pPr marL="0" indent="0">
              <a:buNone/>
            </a:pPr>
            <a:r>
              <a:rPr lang="en-PH" sz="3600" b="1" dirty="0"/>
              <a:t>C. internal consistency  </a:t>
            </a:r>
          </a:p>
          <a:p>
            <a:pPr marL="0" indent="0">
              <a:buNone/>
            </a:pPr>
            <a:r>
              <a:rPr lang="en-PH" sz="3600" b="1" dirty="0"/>
              <a:t>D. All of these</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49</a:t>
            </a:fld>
            <a:endParaRPr lang="en-PH"/>
          </a:p>
        </p:txBody>
      </p:sp>
    </p:spTree>
    <p:extLst>
      <p:ext uri="{BB962C8B-B14F-4D97-AF65-F5344CB8AC3E}">
        <p14:creationId xmlns:p14="http://schemas.microsoft.com/office/powerpoint/2010/main" val="41796331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10. </a:t>
            </a:r>
          </a:p>
        </p:txBody>
      </p:sp>
      <p:sp>
        <p:nvSpPr>
          <p:cNvPr id="3" name="Content Placeholder 2"/>
          <p:cNvSpPr>
            <a:spLocks noGrp="1"/>
          </p:cNvSpPr>
          <p:nvPr>
            <p:ph idx="1"/>
          </p:nvPr>
        </p:nvSpPr>
        <p:spPr>
          <a:xfrm>
            <a:off x="762000" y="2057400"/>
            <a:ext cx="7543799" cy="3962400"/>
          </a:xfrm>
        </p:spPr>
        <p:txBody>
          <a:bodyPr>
            <a:normAutofit/>
          </a:bodyPr>
          <a:lstStyle/>
          <a:p>
            <a:r>
              <a:rPr lang="en-PH" sz="2800" b="1" dirty="0"/>
              <a:t>A test was conducted on Monday. The following week, the teacher conducted the same test to the same group of students. What is the teacher trying to determine? The test’ ____________. </a:t>
            </a:r>
          </a:p>
          <a:p>
            <a:r>
              <a:rPr lang="en-PH" sz="3000" b="1" dirty="0"/>
              <a:t>A. parallel form		  B. consistency</a:t>
            </a:r>
          </a:p>
          <a:p>
            <a:r>
              <a:rPr lang="en-PH" sz="3000" b="1" dirty="0"/>
              <a:t>C. stability			      D. accuracy</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50</a:t>
            </a:fld>
            <a:endParaRPr lang="en-PH"/>
          </a:p>
        </p:txBody>
      </p:sp>
    </p:spTree>
    <p:extLst>
      <p:ext uri="{BB962C8B-B14F-4D97-AF65-F5344CB8AC3E}">
        <p14:creationId xmlns:p14="http://schemas.microsoft.com/office/powerpoint/2010/main" val="29567268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b="1" dirty="0"/>
              <a:t>11</a:t>
            </a:r>
          </a:p>
        </p:txBody>
      </p:sp>
      <p:sp>
        <p:nvSpPr>
          <p:cNvPr id="3" name="Content Placeholder 2"/>
          <p:cNvSpPr>
            <a:spLocks noGrp="1"/>
          </p:cNvSpPr>
          <p:nvPr>
            <p:ph idx="1"/>
          </p:nvPr>
        </p:nvSpPr>
        <p:spPr>
          <a:xfrm>
            <a:off x="866441" y="2286000"/>
            <a:ext cx="7972759" cy="3733800"/>
          </a:xfrm>
        </p:spPr>
        <p:txBody>
          <a:bodyPr>
            <a:normAutofit/>
          </a:bodyPr>
          <a:lstStyle/>
          <a:p>
            <a:r>
              <a:rPr lang="en-PH" sz="3600" b="1" dirty="0"/>
              <a:t>Which of the following is primarily affected when the students cheat during examination?</a:t>
            </a:r>
          </a:p>
          <a:p>
            <a:pPr>
              <a:buAutoNum type="alphaUcPeriod"/>
            </a:pPr>
            <a:r>
              <a:rPr lang="en-PH" sz="3600" b="1" dirty="0"/>
              <a:t>Validity		B. Reliability</a:t>
            </a:r>
          </a:p>
          <a:p>
            <a:pPr>
              <a:buAutoNum type="alphaUcPeriod"/>
            </a:pPr>
            <a:r>
              <a:rPr lang="en-PH" sz="3600" b="1" dirty="0"/>
              <a:t>Objectivity     D. Efficiency</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51</a:t>
            </a:fld>
            <a:endParaRPr lang="en-PH"/>
          </a:p>
        </p:txBody>
      </p:sp>
    </p:spTree>
    <p:extLst>
      <p:ext uri="{BB962C8B-B14F-4D97-AF65-F5344CB8AC3E}">
        <p14:creationId xmlns:p14="http://schemas.microsoft.com/office/powerpoint/2010/main" val="419577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489200"/>
            <a:ext cx="8048959" cy="3530600"/>
          </a:xfrm>
        </p:spPr>
        <p:txBody>
          <a:bodyPr>
            <a:normAutofit/>
          </a:bodyPr>
          <a:lstStyle/>
          <a:p>
            <a:r>
              <a:rPr lang="en-PH" sz="3600" b="1" dirty="0"/>
              <a:t>12. Which type of validity is assured when a teacher makes a Table of Specification? </a:t>
            </a:r>
          </a:p>
          <a:p>
            <a:pPr>
              <a:buAutoNum type="alphaUcPeriod"/>
            </a:pPr>
            <a:r>
              <a:rPr lang="en-PH" sz="3600" b="1" dirty="0"/>
              <a:t>Content			B.  Criterion</a:t>
            </a:r>
          </a:p>
          <a:p>
            <a:pPr>
              <a:buAutoNum type="alphaUcPeriod"/>
            </a:pPr>
            <a:r>
              <a:rPr lang="en-PH" sz="3600" b="1" dirty="0"/>
              <a:t>Construct		D. Concurrent</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52</a:t>
            </a:fld>
            <a:endParaRPr lang="en-PH"/>
          </a:p>
        </p:txBody>
      </p:sp>
    </p:spTree>
    <p:extLst>
      <p:ext uri="{BB962C8B-B14F-4D97-AF65-F5344CB8AC3E}">
        <p14:creationId xmlns:p14="http://schemas.microsoft.com/office/powerpoint/2010/main" val="167471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590842" y="2286000"/>
            <a:ext cx="8400758" cy="3733800"/>
          </a:xfrm>
        </p:spPr>
        <p:txBody>
          <a:bodyPr>
            <a:noAutofit/>
          </a:bodyPr>
          <a:lstStyle/>
          <a:p>
            <a:r>
              <a:rPr lang="en-PH" sz="3200" b="1" dirty="0"/>
              <a:t>13. The validity and reliability of a test increases by _________. </a:t>
            </a:r>
          </a:p>
          <a:p>
            <a:r>
              <a:rPr lang="en-PH" sz="3200" b="1" dirty="0"/>
              <a:t>A. increasing the number of items.</a:t>
            </a:r>
          </a:p>
          <a:p>
            <a:r>
              <a:rPr lang="en-PH" sz="3200" b="1" dirty="0"/>
              <a:t>B. Increasing the length of the test.</a:t>
            </a:r>
          </a:p>
          <a:p>
            <a:r>
              <a:rPr lang="en-PH" sz="3200" b="1" dirty="0"/>
              <a:t>C. Increasing the number of words used.</a:t>
            </a:r>
          </a:p>
          <a:p>
            <a:r>
              <a:rPr lang="en-PH" sz="3200" b="1" dirty="0"/>
              <a:t>D. Increasing the number </a:t>
            </a:r>
            <a:r>
              <a:rPr lang="en-PH" sz="3200" b="1"/>
              <a:t>of options.</a:t>
            </a:r>
            <a:endParaRPr lang="en-PH" sz="3200" b="1" dirty="0"/>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53</a:t>
            </a:fld>
            <a:endParaRPr lang="en-PH"/>
          </a:p>
        </p:txBody>
      </p:sp>
    </p:spTree>
    <p:extLst>
      <p:ext uri="{BB962C8B-B14F-4D97-AF65-F5344CB8AC3E}">
        <p14:creationId xmlns:p14="http://schemas.microsoft.com/office/powerpoint/2010/main" val="18989695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0" y="2362200"/>
            <a:ext cx="7698601" cy="3657600"/>
          </a:xfrm>
        </p:spPr>
        <p:txBody>
          <a:bodyPr>
            <a:normAutofit/>
          </a:bodyPr>
          <a:lstStyle/>
          <a:p>
            <a:r>
              <a:rPr lang="en-PH" sz="3200" b="1" dirty="0"/>
              <a:t>14. Which type of validity is ascertained when a test scores is correlated to another test which is deemed to be valid and reliable?</a:t>
            </a:r>
          </a:p>
          <a:p>
            <a:r>
              <a:rPr lang="en-PH" sz="3200" b="1" dirty="0"/>
              <a:t>A. Content		B. Construct</a:t>
            </a:r>
          </a:p>
          <a:p>
            <a:r>
              <a:rPr lang="en-PH" sz="3200" b="1" dirty="0"/>
              <a:t>C. Criterion		D. Concurrent</a:t>
            </a:r>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54</a:t>
            </a:fld>
            <a:endParaRPr lang="en-PH"/>
          </a:p>
        </p:txBody>
      </p:sp>
    </p:spTree>
    <p:extLst>
      <p:ext uri="{BB962C8B-B14F-4D97-AF65-F5344CB8AC3E}">
        <p14:creationId xmlns:p14="http://schemas.microsoft.com/office/powerpoint/2010/main" val="3995913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PH"/>
          </a:p>
        </p:txBody>
      </p:sp>
      <p:sp>
        <p:nvSpPr>
          <p:cNvPr id="3" name="Content Placeholder 2"/>
          <p:cNvSpPr>
            <a:spLocks noGrp="1"/>
          </p:cNvSpPr>
          <p:nvPr>
            <p:ph idx="1"/>
          </p:nvPr>
        </p:nvSpPr>
        <p:spPr>
          <a:xfrm>
            <a:off x="866441" y="2209800"/>
            <a:ext cx="7972759" cy="3810000"/>
          </a:xfrm>
        </p:spPr>
        <p:txBody>
          <a:bodyPr>
            <a:normAutofit/>
          </a:bodyPr>
          <a:lstStyle/>
          <a:p>
            <a:r>
              <a:rPr lang="en-PH" sz="2800" b="1" dirty="0"/>
              <a:t>15. Teacher Marie made sure that her test is easy to administer, easy to score and not expensive. Which characteristic of test did she try to establish?</a:t>
            </a:r>
          </a:p>
          <a:p>
            <a:pPr>
              <a:buAutoNum type="alphaUcPeriod"/>
            </a:pPr>
            <a:r>
              <a:rPr lang="en-PH" sz="2800" b="1" dirty="0"/>
              <a:t>Validity		C. Efficiency</a:t>
            </a:r>
          </a:p>
          <a:p>
            <a:pPr>
              <a:buAutoNum type="alphaUcPeriod"/>
            </a:pPr>
            <a:r>
              <a:rPr lang="en-PH" sz="2800" b="1" dirty="0"/>
              <a:t>Objectivity     D. </a:t>
            </a:r>
            <a:r>
              <a:rPr lang="en-PH" sz="2800" b="1" dirty="0" err="1"/>
              <a:t>Administrability</a:t>
            </a:r>
            <a:endParaRPr lang="en-PH" sz="2800" b="1" dirty="0"/>
          </a:p>
        </p:txBody>
      </p:sp>
      <p:sp>
        <p:nvSpPr>
          <p:cNvPr id="4" name="Date Placeholder 3"/>
          <p:cNvSpPr>
            <a:spLocks noGrp="1"/>
          </p:cNvSpPr>
          <p:nvPr>
            <p:ph type="dt" sz="half" idx="10"/>
          </p:nvPr>
        </p:nvSpPr>
        <p:spPr/>
        <p:txBody>
          <a:bodyPr/>
          <a:lstStyle/>
          <a:p>
            <a:fld id="{29C0E83C-C3C6-47E1-8972-FA108E46C45D}" type="datetime1">
              <a:rPr lang="en-PH" smtClean="0"/>
              <a:t>25/08/2018</a:t>
            </a:fld>
            <a:endParaRPr lang="en-PH"/>
          </a:p>
        </p:txBody>
      </p:sp>
      <p:sp>
        <p:nvSpPr>
          <p:cNvPr id="5" name="Footer Placeholder 4"/>
          <p:cNvSpPr>
            <a:spLocks noGrp="1"/>
          </p:cNvSpPr>
          <p:nvPr>
            <p:ph type="ftr" sz="quarter" idx="11"/>
          </p:nvPr>
        </p:nvSpPr>
        <p:spPr/>
        <p:txBody>
          <a:bodyPr/>
          <a:lstStyle/>
          <a:p>
            <a:r>
              <a:rPr lang="en-PH"/>
              <a:t>Sir Crespo - UA Review</a:t>
            </a:r>
          </a:p>
        </p:txBody>
      </p:sp>
      <p:sp>
        <p:nvSpPr>
          <p:cNvPr id="6" name="Slide Number Placeholder 5"/>
          <p:cNvSpPr>
            <a:spLocks noGrp="1"/>
          </p:cNvSpPr>
          <p:nvPr>
            <p:ph type="sldNum" sz="quarter" idx="12"/>
          </p:nvPr>
        </p:nvSpPr>
        <p:spPr/>
        <p:txBody>
          <a:bodyPr/>
          <a:lstStyle/>
          <a:p>
            <a:fld id="{853B7D28-E5F2-4AA3-9F25-AE0CE1E4F96C}" type="slidenum">
              <a:rPr lang="en-PH" smtClean="0"/>
              <a:pPr/>
              <a:t>55</a:t>
            </a:fld>
            <a:endParaRPr lang="en-PH"/>
          </a:p>
        </p:txBody>
      </p:sp>
    </p:spTree>
    <p:extLst>
      <p:ext uri="{BB962C8B-B14F-4D97-AF65-F5344CB8AC3E}">
        <p14:creationId xmlns:p14="http://schemas.microsoft.com/office/powerpoint/2010/main" val="648940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EE5818"/>
      </a:dk2>
      <a:lt2>
        <a:srgbClr val="EBEBEB"/>
      </a:lt2>
      <a:accent1>
        <a:srgbClr val="F5A408"/>
      </a:accent1>
      <a:accent2>
        <a:srgbClr val="FA731A"/>
      </a:accent2>
      <a:accent3>
        <a:srgbClr val="AB9281"/>
      </a:accent3>
      <a:accent4>
        <a:srgbClr val="A18CD0"/>
      </a:accent4>
      <a:accent5>
        <a:srgbClr val="8EBBD2"/>
      </a:accent5>
      <a:accent6>
        <a:srgbClr val="ACC995"/>
      </a:accent6>
      <a:hlink>
        <a:srgbClr val="FAC96A"/>
      </a:hlink>
      <a:folHlink>
        <a:srgbClr val="FCDB9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04000"/>
                <a:satMod val="128000"/>
                <a:lumMod val="104000"/>
              </a:schemeClr>
            </a:gs>
            <a:gs pos="100000">
              <a:schemeClr val="phClr">
                <a:tint val="100000"/>
                <a:shade val="76000"/>
                <a:hueMod val="89000"/>
                <a:satMod val="164000"/>
                <a:lumMod val="68000"/>
              </a:schemeClr>
            </a:gs>
          </a:gsLst>
          <a:path path="circle">
            <a:fillToRect l="45000" t="65000" r="125000" b="100000"/>
          </a:path>
        </a:gradFill>
        <a:blipFill rotWithShape="1">
          <a:blip xmlns:r="http://schemas.openxmlformats.org/officeDocument/2006/relationships" r:embed="rId1">
            <a:duotone>
              <a:schemeClr val="phClr">
                <a:shade val="42000"/>
                <a:hueMod val="42000"/>
                <a:satMod val="124000"/>
                <a:lumMod val="62000"/>
              </a:schemeClr>
              <a:schemeClr val="phClr">
                <a:tint val="96000"/>
                <a:satMod val="130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F1C4790-FE3C-4020-8CA7-00621DA7BB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4967</TotalTime>
  <Words>1781</Words>
  <Application>Microsoft Office PowerPoint</Application>
  <PresentationFormat>On-screen Show (4:3)</PresentationFormat>
  <Paragraphs>624</Paragraphs>
  <Slides>55</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Calibri</vt:lpstr>
      <vt:lpstr>Century Gothic</vt:lpstr>
      <vt:lpstr>Wingdings 3</vt:lpstr>
      <vt:lpstr>Ion Boardroom</vt:lpstr>
      <vt:lpstr>CHARACTERISTICS OF A GOOD TEST</vt:lpstr>
      <vt:lpstr>WHAT IS A GOOD TEST?</vt:lpstr>
      <vt:lpstr>Question</vt:lpstr>
      <vt:lpstr>VALIDITY</vt:lpstr>
      <vt:lpstr>WHAT IS VALIDITY?</vt:lpstr>
      <vt:lpstr>PowerPoint Presentation</vt:lpstr>
      <vt:lpstr>TYPES OF VALIDITY</vt:lpstr>
      <vt:lpstr>Conditions that tell contest validity is ascertained.</vt:lpstr>
      <vt:lpstr>Other forms of content validity</vt:lpstr>
      <vt:lpstr>2.CRITERION VALIDITY</vt:lpstr>
      <vt:lpstr>PowerPoint Presentation</vt:lpstr>
      <vt:lpstr>PowerPoint Presentation</vt:lpstr>
      <vt:lpstr>Kinds of CRITERION VALIDITY</vt:lpstr>
      <vt:lpstr>The Pearson r</vt:lpstr>
      <vt:lpstr>PowerPoint Presentation</vt:lpstr>
      <vt:lpstr>PowerPoint Presentation</vt:lpstr>
      <vt:lpstr>PowerPoint Presentation</vt:lpstr>
      <vt:lpstr>Class Project: Correlation of NCAE &amp; GWA</vt:lpstr>
      <vt:lpstr>PowerPoint Presentation</vt:lpstr>
      <vt:lpstr>Scatter plot: Graph of Correlation</vt:lpstr>
      <vt:lpstr>Kinds of Scatterplot</vt:lpstr>
      <vt:lpstr>PowerPoint Presentation</vt:lpstr>
      <vt:lpstr>CONSTRUCT VALIDITY</vt:lpstr>
      <vt:lpstr>PowerPoint Presentation</vt:lpstr>
      <vt:lpstr>Kinds of Construct Validity</vt:lpstr>
      <vt:lpstr>PowerPoint Presentation</vt:lpstr>
      <vt:lpstr>PowerPoint Presentation</vt:lpstr>
      <vt:lpstr>Marital Satisfaction Test</vt:lpstr>
      <vt:lpstr>RELIABILITY OF THE TEST</vt:lpstr>
      <vt:lpstr>Different Measures of Reliability</vt:lpstr>
      <vt:lpstr>PowerPoint Presentation</vt:lpstr>
      <vt:lpstr>SPLIT-HALF</vt:lpstr>
      <vt:lpstr>FACTORS AFFECTING VALIDITY</vt:lpstr>
      <vt:lpstr>FACTORS AFFECTING RELIABILITY</vt:lpstr>
      <vt:lpstr>RELATIONSHIP BETWEEN VALIDITY AND RELIABILITY</vt:lpstr>
      <vt:lpstr>TRUE/FALSE</vt:lpstr>
      <vt:lpstr>PowerPoint Presentation</vt:lpstr>
      <vt:lpstr>PowerPoint Presentation</vt:lpstr>
      <vt:lpstr>PowerPoint Presentation</vt:lpstr>
      <vt:lpstr>MCQ</vt:lpstr>
      <vt:lpstr>PowerPoint Presentation</vt:lpstr>
      <vt:lpstr>PowerPoint Presentation</vt:lpstr>
      <vt:lpstr>PowerPoint Presentation</vt:lpstr>
      <vt:lpstr>PowerPoint Presentation</vt:lpstr>
      <vt:lpstr>PowerPoint Presentation</vt:lpstr>
      <vt:lpstr>For 7-8, refer to this data:</vt:lpstr>
      <vt:lpstr>7</vt:lpstr>
      <vt:lpstr>8</vt:lpstr>
      <vt:lpstr>9</vt:lpstr>
      <vt:lpstr>10. </vt:lpstr>
      <vt:lpstr>11</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CHARACTERISTICS OF A GOOD TEST</dc:title>
  <dc:creator>ACER</dc:creator>
  <cp:lastModifiedBy> </cp:lastModifiedBy>
  <cp:revision>50</cp:revision>
  <dcterms:created xsi:type="dcterms:W3CDTF">2013-08-15T04:51:18Z</dcterms:created>
  <dcterms:modified xsi:type="dcterms:W3CDTF">2018-08-25T04:32:26Z</dcterms:modified>
</cp:coreProperties>
</file>