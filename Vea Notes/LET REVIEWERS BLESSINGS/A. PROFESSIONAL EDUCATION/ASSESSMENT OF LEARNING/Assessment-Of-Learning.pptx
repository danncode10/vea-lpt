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34"/>
  </p:notesMasterIdLst>
  <p:sldIdLst>
    <p:sldId id="256" r:id="rId2"/>
    <p:sldId id="368" r:id="rId3"/>
    <p:sldId id="369" r:id="rId4"/>
    <p:sldId id="257" r:id="rId5"/>
    <p:sldId id="393" r:id="rId6"/>
    <p:sldId id="258" r:id="rId7"/>
    <p:sldId id="370" r:id="rId8"/>
    <p:sldId id="259" r:id="rId9"/>
    <p:sldId id="357" r:id="rId10"/>
    <p:sldId id="260" r:id="rId11"/>
    <p:sldId id="355" r:id="rId12"/>
    <p:sldId id="261" r:id="rId13"/>
    <p:sldId id="356" r:id="rId14"/>
    <p:sldId id="262" r:id="rId15"/>
    <p:sldId id="374" r:id="rId16"/>
    <p:sldId id="263" r:id="rId17"/>
    <p:sldId id="266" r:id="rId18"/>
    <p:sldId id="264" r:id="rId19"/>
    <p:sldId id="314" r:id="rId20"/>
    <p:sldId id="315" r:id="rId21"/>
    <p:sldId id="316" r:id="rId22"/>
    <p:sldId id="317" r:id="rId23"/>
    <p:sldId id="360" r:id="rId24"/>
    <p:sldId id="318" r:id="rId25"/>
    <p:sldId id="319" r:id="rId26"/>
    <p:sldId id="320" r:id="rId27"/>
    <p:sldId id="265" r:id="rId28"/>
    <p:sldId id="267" r:id="rId29"/>
    <p:sldId id="268" r:id="rId30"/>
    <p:sldId id="269" r:id="rId31"/>
    <p:sldId id="270" r:id="rId32"/>
    <p:sldId id="358" r:id="rId33"/>
    <p:sldId id="359" r:id="rId34"/>
    <p:sldId id="271" r:id="rId35"/>
    <p:sldId id="391" r:id="rId36"/>
    <p:sldId id="375" r:id="rId37"/>
    <p:sldId id="376" r:id="rId38"/>
    <p:sldId id="272" r:id="rId39"/>
    <p:sldId id="273" r:id="rId40"/>
    <p:sldId id="371" r:id="rId41"/>
    <p:sldId id="392" r:id="rId42"/>
    <p:sldId id="274" r:id="rId43"/>
    <p:sldId id="275" r:id="rId44"/>
    <p:sldId id="276" r:id="rId45"/>
    <p:sldId id="353" r:id="rId46"/>
    <p:sldId id="354" r:id="rId47"/>
    <p:sldId id="277" r:id="rId48"/>
    <p:sldId id="278" r:id="rId49"/>
    <p:sldId id="279" r:id="rId50"/>
    <p:sldId id="280" r:id="rId51"/>
    <p:sldId id="281" r:id="rId52"/>
    <p:sldId id="282" r:id="rId53"/>
    <p:sldId id="283" r:id="rId54"/>
    <p:sldId id="321" r:id="rId55"/>
    <p:sldId id="322" r:id="rId56"/>
    <p:sldId id="323" r:id="rId57"/>
    <p:sldId id="324" r:id="rId58"/>
    <p:sldId id="284" r:id="rId59"/>
    <p:sldId id="325" r:id="rId60"/>
    <p:sldId id="285" r:id="rId61"/>
    <p:sldId id="379" r:id="rId62"/>
    <p:sldId id="380" r:id="rId63"/>
    <p:sldId id="381" r:id="rId64"/>
    <p:sldId id="382" r:id="rId65"/>
    <p:sldId id="383" r:id="rId66"/>
    <p:sldId id="384" r:id="rId67"/>
    <p:sldId id="385" r:id="rId68"/>
    <p:sldId id="386" r:id="rId69"/>
    <p:sldId id="387" r:id="rId70"/>
    <p:sldId id="388" r:id="rId71"/>
    <p:sldId id="389" r:id="rId72"/>
    <p:sldId id="394" r:id="rId73"/>
    <p:sldId id="395" r:id="rId74"/>
    <p:sldId id="396" r:id="rId75"/>
    <p:sldId id="286" r:id="rId76"/>
    <p:sldId id="287" r:id="rId77"/>
    <p:sldId id="390" r:id="rId78"/>
    <p:sldId id="288" r:id="rId79"/>
    <p:sldId id="289" r:id="rId80"/>
    <p:sldId id="296" r:id="rId81"/>
    <p:sldId id="297" r:id="rId82"/>
    <p:sldId id="291" r:id="rId83"/>
    <p:sldId id="361" r:id="rId84"/>
    <p:sldId id="292" r:id="rId85"/>
    <p:sldId id="326" r:id="rId86"/>
    <p:sldId id="293" r:id="rId87"/>
    <p:sldId id="327" r:id="rId88"/>
    <p:sldId id="294" r:id="rId89"/>
    <p:sldId id="328" r:id="rId90"/>
    <p:sldId id="377" r:id="rId91"/>
    <p:sldId id="397" r:id="rId92"/>
    <p:sldId id="333" r:id="rId93"/>
    <p:sldId id="334" r:id="rId94"/>
    <p:sldId id="295" r:id="rId95"/>
    <p:sldId id="362" r:id="rId96"/>
    <p:sldId id="290" r:id="rId97"/>
    <p:sldId id="335" r:id="rId98"/>
    <p:sldId id="336" r:id="rId99"/>
    <p:sldId id="378" r:id="rId100"/>
    <p:sldId id="298" r:id="rId101"/>
    <p:sldId id="299" r:id="rId102"/>
    <p:sldId id="300" r:id="rId103"/>
    <p:sldId id="337" r:id="rId104"/>
    <p:sldId id="338" r:id="rId105"/>
    <p:sldId id="339" r:id="rId106"/>
    <p:sldId id="301" r:id="rId107"/>
    <p:sldId id="302" r:id="rId108"/>
    <p:sldId id="343" r:id="rId109"/>
    <p:sldId id="344" r:id="rId110"/>
    <p:sldId id="342" r:id="rId111"/>
    <p:sldId id="340" r:id="rId112"/>
    <p:sldId id="341" r:id="rId113"/>
    <p:sldId id="310" r:id="rId114"/>
    <p:sldId id="305" r:id="rId115"/>
    <p:sldId id="372" r:id="rId116"/>
    <p:sldId id="373" r:id="rId117"/>
    <p:sldId id="311" r:id="rId118"/>
    <p:sldId id="350" r:id="rId119"/>
    <p:sldId id="365" r:id="rId120"/>
    <p:sldId id="366" r:id="rId121"/>
    <p:sldId id="367" r:id="rId122"/>
    <p:sldId id="351" r:id="rId123"/>
    <p:sldId id="306" r:id="rId124"/>
    <p:sldId id="307" r:id="rId125"/>
    <p:sldId id="345" r:id="rId126"/>
    <p:sldId id="346" r:id="rId127"/>
    <p:sldId id="349" r:id="rId128"/>
    <p:sldId id="347" r:id="rId129"/>
    <p:sldId id="348" r:id="rId130"/>
    <p:sldId id="363" r:id="rId131"/>
    <p:sldId id="364" r:id="rId132"/>
    <p:sldId id="308" r:id="rId1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10" autoAdjust="0"/>
  </p:normalViewPr>
  <p:slideViewPr>
    <p:cSldViewPr>
      <p:cViewPr varScale="1">
        <p:scale>
          <a:sx n="79" d="100"/>
          <a:sy n="79" d="100"/>
        </p:scale>
        <p:origin x="15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ED1966-5CEF-4D6D-A139-F0F52E172ED6}" type="datetimeFigureOut">
              <a:rPr lang="en-PH" smtClean="0"/>
              <a:pPr/>
              <a:t>01/10/2017</a:t>
            </a:fld>
            <a:endParaRPr lang="en-P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3D8AB3-7F3B-4781-A715-3B6786C172ED}" type="slidenum">
              <a:rPr lang="en-PH" smtClean="0"/>
              <a:pPr/>
              <a:t>‹#›</a:t>
            </a:fld>
            <a:endParaRPr lang="en-PH"/>
          </a:p>
        </p:txBody>
      </p:sp>
    </p:spTree>
    <p:extLst>
      <p:ext uri="{BB962C8B-B14F-4D97-AF65-F5344CB8AC3E}">
        <p14:creationId xmlns:p14="http://schemas.microsoft.com/office/powerpoint/2010/main" val="4291366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1A3D8AB3-7F3B-4781-A715-3B6786C172ED}" type="slidenum">
              <a:rPr lang="en-PH" smtClean="0"/>
              <a:pPr/>
              <a:t>4</a:t>
            </a:fld>
            <a:endParaRPr lang="en-PH"/>
          </a:p>
        </p:txBody>
      </p:sp>
    </p:spTree>
    <p:extLst>
      <p:ext uri="{BB962C8B-B14F-4D97-AF65-F5344CB8AC3E}">
        <p14:creationId xmlns:p14="http://schemas.microsoft.com/office/powerpoint/2010/main" val="2636268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1A3D8AB3-7F3B-4781-A715-3B6786C172ED}" type="slidenum">
              <a:rPr lang="en-PH" smtClean="0"/>
              <a:pPr/>
              <a:t>9</a:t>
            </a:fld>
            <a:endParaRPr lang="en-PH"/>
          </a:p>
        </p:txBody>
      </p:sp>
    </p:spTree>
    <p:extLst>
      <p:ext uri="{BB962C8B-B14F-4D97-AF65-F5344CB8AC3E}">
        <p14:creationId xmlns:p14="http://schemas.microsoft.com/office/powerpoint/2010/main" val="1335503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1A3D8AB3-7F3B-4781-A715-3B6786C172ED}" type="slidenum">
              <a:rPr lang="en-PH" smtClean="0"/>
              <a:pPr/>
              <a:t>81</a:t>
            </a:fld>
            <a:endParaRPr lang="en-PH"/>
          </a:p>
        </p:txBody>
      </p:sp>
    </p:spTree>
    <p:extLst>
      <p:ext uri="{BB962C8B-B14F-4D97-AF65-F5344CB8AC3E}">
        <p14:creationId xmlns:p14="http://schemas.microsoft.com/office/powerpoint/2010/main" val="967050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1A3D8AB3-7F3B-4781-A715-3B6786C172ED}" type="slidenum">
              <a:rPr lang="en-PH" smtClean="0"/>
              <a:pPr/>
              <a:t>99</a:t>
            </a:fld>
            <a:endParaRPr lang="en-PH"/>
          </a:p>
        </p:txBody>
      </p:sp>
    </p:spTree>
    <p:extLst>
      <p:ext uri="{BB962C8B-B14F-4D97-AF65-F5344CB8AC3E}">
        <p14:creationId xmlns:p14="http://schemas.microsoft.com/office/powerpoint/2010/main" val="41728465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8" name="Rectangle 7"/>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4"/>
            <a:ext cx="5917679" cy="2554758"/>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7500385" y="1828799"/>
            <a:ext cx="990599" cy="228659"/>
          </a:xfrm>
        </p:spPr>
        <p:txBody>
          <a:bodyPr anchor="t" anchorCtr="0"/>
          <a:lstStyle>
            <a:lvl1pPr algn="l">
              <a:defRPr b="0" i="0">
                <a:solidFill>
                  <a:schemeClr val="bg1"/>
                </a:solidFill>
              </a:defRPr>
            </a:lvl1pPr>
          </a:lstStyle>
          <a:p>
            <a:fld id="{1A40A384-5A42-45B1-BC17-07A2AB7075BC}" type="datetime1">
              <a:rPr lang="en-PH" smtClean="0"/>
              <a:t>01/10/2017</a:t>
            </a:fld>
            <a:endParaRPr lang="en-PH"/>
          </a:p>
        </p:txBody>
      </p:sp>
      <p:sp>
        <p:nvSpPr>
          <p:cNvPr id="5" name="Footer Placeholder 4"/>
          <p:cNvSpPr>
            <a:spLocks noGrp="1"/>
          </p:cNvSpPr>
          <p:nvPr>
            <p:ph type="ftr" sz="quarter" idx="11"/>
          </p:nvPr>
        </p:nvSpPr>
        <p:spPr>
          <a:xfrm rot="5400000">
            <a:off x="6236209" y="3264406"/>
            <a:ext cx="3859795" cy="228660"/>
          </a:xfrm>
        </p:spPr>
        <p:txBody>
          <a:bodyPr/>
          <a:lstStyle>
            <a:lvl1pPr>
              <a:defRPr>
                <a:solidFill>
                  <a:schemeClr val="bg1"/>
                </a:solidFill>
              </a:defRPr>
            </a:lvl1pPr>
          </a:lstStyle>
          <a:p>
            <a:r>
              <a:rPr lang="en-PH" smtClean="0"/>
              <a:t>Sir Crespo- UA</a:t>
            </a:r>
            <a:endParaRPr lang="en-PH"/>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5279" y="292609"/>
            <a:ext cx="628813" cy="767687"/>
          </a:xfrm>
        </p:spPr>
        <p:txBody>
          <a:bodyPr/>
          <a:lstStyle>
            <a:lvl1pPr>
              <a:defRPr sz="2800" b="0" i="0" baseline="0">
                <a:latin typeface="+mj-lt"/>
              </a:defRPr>
            </a:lvl1pPr>
          </a:lstStyle>
          <a:p>
            <a:fld id="{A2AF10DC-0514-439A-9D3C-470D8338320C}" type="slidenum">
              <a:rPr lang="en-PH" smtClean="0"/>
              <a:pPr/>
              <a:t>‹#›</a:t>
            </a:fld>
            <a:endParaRPr lang="en-PH"/>
          </a:p>
        </p:txBody>
      </p:sp>
    </p:spTree>
    <p:extLst>
      <p:ext uri="{BB962C8B-B14F-4D97-AF65-F5344CB8AC3E}">
        <p14:creationId xmlns:p14="http://schemas.microsoft.com/office/powerpoint/2010/main" val="3323907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lvl1pPr>
              <a:defRPr sz="900"/>
            </a:lvl1p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33227289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D342A9A-C0EC-4372-822C-0E570EED5BDD}"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1110715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366AC82-0D85-4FF2-9D2C-900945186E26}" type="datetime1">
              <a:rPr lang="en-PH" smtClean="0"/>
              <a:t>01/10/2017</a:t>
            </a:fld>
            <a:endParaRPr lang="en-PH"/>
          </a:p>
        </p:txBody>
      </p:sp>
      <p:sp>
        <p:nvSpPr>
          <p:cNvPr id="6" name="Footer Placeholder 5"/>
          <p:cNvSpPr>
            <a:spLocks noGrp="1"/>
          </p:cNvSpPr>
          <p:nvPr>
            <p:ph type="ftr" sz="quarter" idx="11"/>
          </p:nvPr>
        </p:nvSpPr>
        <p:spPr/>
        <p:txBody>
          <a:bodyPr/>
          <a:lstStyle/>
          <a:p>
            <a:r>
              <a:rPr lang="en-PH" smtClean="0"/>
              <a:t>Sir Crespo- UA</a:t>
            </a:r>
            <a:endParaRPr lang="en-PH"/>
          </a:p>
        </p:txBody>
      </p:sp>
      <p:sp>
        <p:nvSpPr>
          <p:cNvPr id="7" name="Slide Number Placeholder 6"/>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9518602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66441" y="3248490"/>
            <a:ext cx="3636978" cy="277131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0581" y="3248490"/>
            <a:ext cx="3636979" cy="277131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135A337-2835-4740-BA1C-AAC50BFF61ED}" type="datetime1">
              <a:rPr lang="en-PH" smtClean="0"/>
              <a:t>01/10/2017</a:t>
            </a:fld>
            <a:endParaRPr lang="en-PH"/>
          </a:p>
        </p:txBody>
      </p:sp>
      <p:sp>
        <p:nvSpPr>
          <p:cNvPr id="8" name="Footer Placeholder 7"/>
          <p:cNvSpPr>
            <a:spLocks noGrp="1"/>
          </p:cNvSpPr>
          <p:nvPr>
            <p:ph type="ftr" sz="quarter" idx="11"/>
          </p:nvPr>
        </p:nvSpPr>
        <p:spPr/>
        <p:txBody>
          <a:bodyPr/>
          <a:lstStyle/>
          <a:p>
            <a:r>
              <a:rPr lang="en-PH" smtClean="0"/>
              <a:t>Sir Crespo- UA</a:t>
            </a:r>
            <a:endParaRPr lang="en-PH"/>
          </a:p>
        </p:txBody>
      </p:sp>
      <p:sp>
        <p:nvSpPr>
          <p:cNvPr id="9" name="Slide Number Placeholder 8"/>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21565626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578E316-06A9-4E35-8282-611D2E032B44}" type="datetime1">
              <a:rPr lang="en-PH" smtClean="0"/>
              <a:t>01/10/2017</a:t>
            </a:fld>
            <a:endParaRPr lang="en-PH"/>
          </a:p>
        </p:txBody>
      </p:sp>
      <p:sp>
        <p:nvSpPr>
          <p:cNvPr id="4" name="Footer Placeholder 3"/>
          <p:cNvSpPr>
            <a:spLocks noGrp="1"/>
          </p:cNvSpPr>
          <p:nvPr>
            <p:ph type="ftr" sz="quarter" idx="11"/>
          </p:nvPr>
        </p:nvSpPr>
        <p:spPr/>
        <p:txBody>
          <a:bodyPr/>
          <a:lstStyle/>
          <a:p>
            <a:r>
              <a:rPr lang="en-PH" smtClean="0"/>
              <a:t>Sir Crespo- UA</a:t>
            </a:r>
            <a:endParaRPr lang="en-PH"/>
          </a:p>
        </p:txBody>
      </p:sp>
      <p:sp>
        <p:nvSpPr>
          <p:cNvPr id="5" name="Slide Number Placeholder 4"/>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11908098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DBCE73-93C9-4774-8204-054E0571AEEF}" type="datetime1">
              <a:rPr lang="en-PH" smtClean="0"/>
              <a:t>01/10/2017</a:t>
            </a:fld>
            <a:endParaRPr lang="en-PH"/>
          </a:p>
        </p:txBody>
      </p:sp>
      <p:sp>
        <p:nvSpPr>
          <p:cNvPr id="3" name="Footer Placeholder 2"/>
          <p:cNvSpPr>
            <a:spLocks noGrp="1"/>
          </p:cNvSpPr>
          <p:nvPr>
            <p:ph type="ftr" sz="quarter" idx="11"/>
          </p:nvPr>
        </p:nvSpPr>
        <p:spPr/>
        <p:txBody>
          <a:bodyPr/>
          <a:lstStyle/>
          <a:p>
            <a:r>
              <a:rPr lang="en-PH" smtClean="0"/>
              <a:t>Sir Crespo- UA</a:t>
            </a:r>
            <a:endParaRPr lang="en-PH"/>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9765434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97437"/>
            <a:ext cx="2712589"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086844"/>
            <a:ext cx="2712590" cy="2925413"/>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07395F-B7DC-4162-9127-9B9EB547C2E7}" type="datetime1">
              <a:rPr lang="en-PH" smtClean="0"/>
              <a:t>01/10/2017</a:t>
            </a:fld>
            <a:endParaRPr lang="en-PH"/>
          </a:p>
        </p:txBody>
      </p:sp>
      <p:sp>
        <p:nvSpPr>
          <p:cNvPr id="6" name="Footer Placeholder 5"/>
          <p:cNvSpPr>
            <a:spLocks noGrp="1"/>
          </p:cNvSpPr>
          <p:nvPr>
            <p:ph type="ftr" sz="quarter" idx="11"/>
          </p:nvPr>
        </p:nvSpPr>
        <p:spPr/>
        <p:txBody>
          <a:bodyPr/>
          <a:lstStyle/>
          <a:p>
            <a:r>
              <a:rPr lang="en-PH" smtClean="0"/>
              <a:t>Sir Crespo- UA</a:t>
            </a:r>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35975239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2" y="1362190"/>
            <a:ext cx="2987087"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51591" y="3088562"/>
            <a:ext cx="3001938" cy="2448637"/>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0D4358-7A77-4586-9529-C59A7AAC695A}" type="datetime1">
              <a:rPr lang="en-PH" smtClean="0"/>
              <a:t>01/10/2017</a:t>
            </a:fld>
            <a:endParaRPr lang="en-PH"/>
          </a:p>
        </p:txBody>
      </p:sp>
      <p:sp>
        <p:nvSpPr>
          <p:cNvPr id="6" name="Footer Placeholder 5"/>
          <p:cNvSpPr>
            <a:spLocks noGrp="1"/>
          </p:cNvSpPr>
          <p:nvPr>
            <p:ph type="ftr" sz="quarter" idx="11"/>
          </p:nvPr>
        </p:nvSpPr>
        <p:spPr/>
        <p:txBody>
          <a:bodyPr/>
          <a:lstStyle/>
          <a:p>
            <a:r>
              <a:rPr lang="en-PH" smtClean="0"/>
              <a:t>Sir Crespo- UA</a:t>
            </a:r>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8679812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CDCD38-112B-4557-AA2C-A1B54E4E2469}" type="datetime1">
              <a:rPr lang="en-PH" smtClean="0"/>
              <a:t>01/10/2017</a:t>
            </a:fld>
            <a:endParaRPr lang="en-PH"/>
          </a:p>
        </p:txBody>
      </p:sp>
      <p:sp>
        <p:nvSpPr>
          <p:cNvPr id="6" name="Footer Placeholder 5"/>
          <p:cNvSpPr>
            <a:spLocks noGrp="1"/>
          </p:cNvSpPr>
          <p:nvPr>
            <p:ph type="ftr" sz="quarter" idx="11"/>
          </p:nvPr>
        </p:nvSpPr>
        <p:spPr/>
        <p:txBody>
          <a:bodyPr/>
          <a:lstStyle/>
          <a:p>
            <a:r>
              <a:rPr lang="en-PH" smtClean="0"/>
              <a:t>Sir Crespo- UA</a:t>
            </a:r>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12125413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Rectangle 13"/>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0"/>
            <a:ext cx="6422004" cy="1653117"/>
          </a:xfrm>
        </p:spPr>
        <p:txBody>
          <a:bodyPr anchor="ct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1" y="3509006"/>
            <a:ext cx="6422003" cy="2515873"/>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7B5722-F48D-484D-B4E7-D10ABEC6618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18" name="Rectangle 1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14028048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3" name="Rectangle 12"/>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5"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6" name="Freeform 35"/>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1"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0" name="TextBox 9"/>
          <p:cNvSpPr txBox="1"/>
          <p:nvPr/>
        </p:nvSpPr>
        <p:spPr>
          <a:xfrm>
            <a:off x="644721" y="654263"/>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a:xfrm>
            <a:off x="7227454" y="2900539"/>
            <a:ext cx="538973"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9" y="914401"/>
            <a:ext cx="6160385" cy="2894878"/>
          </a:xfrm>
        </p:spPr>
        <p:txBody>
          <a:bodyP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a:xfrm>
            <a:off x="1387279" y="3814473"/>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sz="900"/>
            </a:lvl1pPr>
          </a:lstStyle>
          <a:p>
            <a:fld id="{AE18AEC8-A266-4F5E-AA3F-05D8BC499584}" type="datetime1">
              <a:rPr lang="en-PH" smtClean="0"/>
              <a:t>01/10/2017</a:t>
            </a:fld>
            <a:endParaRPr lang="en-PH"/>
          </a:p>
        </p:txBody>
      </p:sp>
      <p:sp>
        <p:nvSpPr>
          <p:cNvPr id="5" name="Footer Placeholder 4"/>
          <p:cNvSpPr>
            <a:spLocks noGrp="1"/>
          </p:cNvSpPr>
          <p:nvPr>
            <p:ph type="ftr" sz="quarter" idx="11"/>
          </p:nvPr>
        </p:nvSpPr>
        <p:spPr/>
        <p:txBody>
          <a:bodyPr/>
          <a:lstStyle>
            <a:lvl1pPr>
              <a:defRPr sz="900"/>
            </a:lvl1pPr>
          </a:lstStyle>
          <a:p>
            <a:r>
              <a:rPr lang="en-PH" smtClean="0"/>
              <a:t>Sir Crespo- UA</a:t>
            </a:r>
            <a:endParaRPr lang="en-PH"/>
          </a:p>
        </p:txBody>
      </p:sp>
      <p:sp>
        <p:nvSpPr>
          <p:cNvPr id="43" name="Rectangle 4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30859019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0" name="Rectangle 9"/>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11"/>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399"/>
            <a:ext cx="6422004" cy="209550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913B764-08EA-4577-B59C-0499FB53C09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15" name="Rectangle 1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3593395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8884" y="927101"/>
            <a:ext cx="6423592"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8884" y="2489199"/>
            <a:ext cx="2310988"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2" name="Text Placeholder 3"/>
          <p:cNvSpPr>
            <a:spLocks noGrp="1"/>
          </p:cNvSpPr>
          <p:nvPr>
            <p:ph type="body" sz="half" idx="15"/>
          </p:nvPr>
        </p:nvSpPr>
        <p:spPr>
          <a:xfrm>
            <a:off x="868884" y="3147164"/>
            <a:ext cx="2310988" cy="287771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408471" y="2489201"/>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Text Placeholder 3"/>
          <p:cNvSpPr>
            <a:spLocks noGrp="1"/>
          </p:cNvSpPr>
          <p:nvPr>
            <p:ph type="body" sz="half" idx="16"/>
          </p:nvPr>
        </p:nvSpPr>
        <p:spPr>
          <a:xfrm>
            <a:off x="3408472" y="3147164"/>
            <a:ext cx="232675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963820" y="2489200"/>
            <a:ext cx="2313740"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4" name="Text Placeholder 3"/>
          <p:cNvSpPr>
            <a:spLocks noGrp="1"/>
          </p:cNvSpPr>
          <p:nvPr>
            <p:ph type="body" sz="half" idx="17"/>
          </p:nvPr>
        </p:nvSpPr>
        <p:spPr>
          <a:xfrm>
            <a:off x="5963820" y="3147162"/>
            <a:ext cx="2313739" cy="288836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1ED3391-BB15-4E9E-AFAF-F8F12EFCAF5C}" type="datetime1">
              <a:rPr lang="en-PH" smtClean="0"/>
              <a:t>01/10/2017</a:t>
            </a:fld>
            <a:endParaRPr lang="en-PH"/>
          </a:p>
        </p:txBody>
      </p:sp>
      <p:sp>
        <p:nvSpPr>
          <p:cNvPr id="8" name="Footer Placeholder 7"/>
          <p:cNvSpPr>
            <a:spLocks noGrp="1"/>
          </p:cNvSpPr>
          <p:nvPr>
            <p:ph type="ftr" sz="quarter" idx="11"/>
          </p:nvPr>
        </p:nvSpPr>
        <p:spPr/>
        <p:txBody>
          <a:bodyPr/>
          <a:lstStyle/>
          <a:p>
            <a:r>
              <a:rPr lang="en-PH" smtClean="0"/>
              <a:t>Sir Crespo- UA</a:t>
            </a:r>
            <a:endParaRPr lang="en-PH"/>
          </a:p>
        </p:txBody>
      </p:sp>
      <p:sp>
        <p:nvSpPr>
          <p:cNvPr id="9" name="Slide Number Placeholder 8"/>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9503663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36973"/>
            <a:ext cx="6423592" cy="699992"/>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39" y="4188546"/>
            <a:ext cx="2314064" cy="64901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8" y="4837558"/>
            <a:ext cx="2309280" cy="118732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404317" y="4188546"/>
            <a:ext cx="233090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16"/>
          </p:nvPr>
        </p:nvSpPr>
        <p:spPr>
          <a:xfrm>
            <a:off x="3550622" y="2489200"/>
            <a:ext cx="2025182"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04317" y="4846509"/>
            <a:ext cx="2330904" cy="11783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963820" y="4184814"/>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17"/>
          </p:nvPr>
        </p:nvSpPr>
        <p:spPr>
          <a:xfrm>
            <a:off x="6104945" y="2489200"/>
            <a:ext cx="2018839"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63820" y="4846510"/>
            <a:ext cx="2299492" cy="118902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1AEE355-5F2E-49F1-A283-02006E34C3D1}" type="datetime1">
              <a:rPr lang="en-PH" smtClean="0"/>
              <a:t>01/10/2017</a:t>
            </a:fld>
            <a:endParaRPr lang="en-PH"/>
          </a:p>
        </p:txBody>
      </p:sp>
      <p:sp>
        <p:nvSpPr>
          <p:cNvPr id="8" name="Footer Placeholder 7"/>
          <p:cNvSpPr>
            <a:spLocks noGrp="1"/>
          </p:cNvSpPr>
          <p:nvPr>
            <p:ph type="ftr" sz="quarter" idx="11"/>
          </p:nvPr>
        </p:nvSpPr>
        <p:spPr/>
        <p:txBody>
          <a:bodyPr/>
          <a:lstStyle/>
          <a:p>
            <a:r>
              <a:rPr lang="en-PH" smtClean="0"/>
              <a:t>Sir Crespo- UA</a:t>
            </a:r>
            <a:endParaRPr lang="en-PH"/>
          </a:p>
        </p:txBody>
      </p:sp>
      <p:sp>
        <p:nvSpPr>
          <p:cNvPr id="9" name="Slide Number Placeholder 8"/>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17534859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441" y="2489200"/>
            <a:ext cx="6343201" cy="35306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ACEDBF7-6F87-4FFD-BEF4-62A1B31A415B}" type="datetime1">
              <a:rPr lang="en-PH" smtClean="0"/>
              <a:t>01/10/2017</a:t>
            </a:fld>
            <a:endParaRPr lang="en-PH"/>
          </a:p>
        </p:txBody>
      </p:sp>
      <p:sp>
        <p:nvSpPr>
          <p:cNvPr id="5" name="Footer Placeholder 4"/>
          <p:cNvSpPr>
            <a:spLocks noGrp="1"/>
          </p:cNvSpPr>
          <p:nvPr>
            <p:ph type="ftr" sz="quarter" idx="11"/>
          </p:nvPr>
        </p:nvSpPr>
        <p:spPr/>
        <p:txBody>
          <a:bodyPr/>
          <a:lstStyle>
            <a:lvl1pPr>
              <a:defRPr sz="900"/>
            </a:lvl1p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4437430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48235" y="1447799"/>
            <a:ext cx="4435439" cy="45719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D6A48C-8FD8-454E-93C0-3217515F100D}"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AF10DC-0514-439A-9D3C-470D8338320C}" type="slidenum">
              <a:rPr lang="en-PH" smtClean="0"/>
              <a:pPr/>
              <a:t>‹#›</a:t>
            </a:fld>
            <a:endParaRPr lang="en-PH"/>
          </a:p>
        </p:txBody>
      </p:sp>
    </p:spTree>
    <p:extLst>
      <p:ext uri="{BB962C8B-B14F-4D97-AF65-F5344CB8AC3E}">
        <p14:creationId xmlns:p14="http://schemas.microsoft.com/office/powerpoint/2010/main" val="31743168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5" name="Rectangle 14"/>
            <p:cNvSpPr/>
            <p:nvPr/>
          </p:nvSpPr>
          <p:spPr>
            <a:xfrm>
              <a:off x="0" y="0"/>
              <a:ext cx="9144000" cy="6858000"/>
            </a:xfrm>
            <a:prstGeom prst="rect">
              <a:avLst/>
            </a:prstGeom>
            <a:blipFill>
              <a:blip r:embed="rId19">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1854142"/>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6"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3564" y="925605"/>
            <a:ext cx="6346078" cy="711359"/>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590842" y="6365497"/>
            <a:ext cx="3859795" cy="228660"/>
          </a:xfrm>
          <a:prstGeom prst="rect">
            <a:avLst/>
          </a:prstGeom>
        </p:spPr>
        <p:txBody>
          <a:bodyPr vert="horz" lIns="91440" tIns="45720" rIns="91440" bIns="45720" rtlCol="0" anchor="b"/>
          <a:lstStyle>
            <a:lvl1pPr algn="l">
              <a:defRPr sz="1000" b="1" i="0">
                <a:solidFill>
                  <a:schemeClr val="accent1"/>
                </a:solidFill>
              </a:defRPr>
            </a:lvl1pPr>
          </a:lstStyle>
          <a:p>
            <a:r>
              <a:rPr lang="en-PH" smtClean="0"/>
              <a:t>Sir Crespo- UA</a:t>
            </a:r>
            <a:endParaRPr lang="en-PH"/>
          </a:p>
        </p:txBody>
      </p:sp>
      <p:sp>
        <p:nvSpPr>
          <p:cNvPr id="4" name="Date Placeholder 3"/>
          <p:cNvSpPr>
            <a:spLocks noGrp="1"/>
          </p:cNvSpPr>
          <p:nvPr>
            <p:ph type="dt" sz="half" idx="2"/>
          </p:nvPr>
        </p:nvSpPr>
        <p:spPr>
          <a:xfrm>
            <a:off x="7574443" y="6371444"/>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5E579F1-D73B-4EAF-80EA-9CD75D725655}" type="datetime1">
              <a:rPr lang="en-PH" smtClean="0"/>
              <a:t>01/10/2017</a:t>
            </a:fld>
            <a:endParaRPr lang="en-PH"/>
          </a:p>
        </p:txBody>
      </p:sp>
      <p:sp>
        <p:nvSpPr>
          <p:cNvPr id="17" name="Rectangle 1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7766428" y="295730"/>
            <a:ext cx="628813" cy="767687"/>
          </a:xfrm>
          <a:prstGeom prst="rect">
            <a:avLst/>
          </a:prstGeom>
        </p:spPr>
        <p:txBody>
          <a:bodyPr vert="horz" lIns="91440" tIns="45720" rIns="91440" bIns="45720" rtlCol="0" anchor="b"/>
          <a:lstStyle>
            <a:lvl1pPr algn="ctr">
              <a:defRPr sz="2800" b="0" i="0">
                <a:solidFill>
                  <a:schemeClr val="bg1"/>
                </a:solidFill>
              </a:defRPr>
            </a:lvl1pPr>
          </a:lstStyle>
          <a:p>
            <a:fld id="{A2AF10DC-0514-439A-9D3C-470D8338320C}" type="slidenum">
              <a:rPr lang="en-PH" smtClean="0"/>
              <a:pPr/>
              <a:t>‹#›</a:t>
            </a:fld>
            <a:endParaRPr lang="en-PH"/>
          </a:p>
        </p:txBody>
      </p:sp>
    </p:spTree>
    <p:extLst>
      <p:ext uri="{BB962C8B-B14F-4D97-AF65-F5344CB8AC3E}">
        <p14:creationId xmlns:p14="http://schemas.microsoft.com/office/powerpoint/2010/main" val="143307520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hf hdr="0"/>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6441" y="2222624"/>
            <a:ext cx="6905959" cy="2554758"/>
          </a:xfrm>
        </p:spPr>
        <p:txBody>
          <a:bodyPr>
            <a:normAutofit/>
          </a:bodyPr>
          <a:lstStyle/>
          <a:p>
            <a:r>
              <a:rPr lang="en-PH" b="1" dirty="0" smtClean="0"/>
              <a:t>STATISTICAL ORGANIZATION OF SCORES</a:t>
            </a:r>
            <a:endParaRPr lang="en-PH" b="1" dirty="0"/>
          </a:p>
        </p:txBody>
      </p:sp>
      <p:sp>
        <p:nvSpPr>
          <p:cNvPr id="3" name="Subtitle 2"/>
          <p:cNvSpPr>
            <a:spLocks noGrp="1"/>
          </p:cNvSpPr>
          <p:nvPr>
            <p:ph type="subTitle" idx="1"/>
          </p:nvPr>
        </p:nvSpPr>
        <p:spPr/>
        <p:txBody>
          <a:bodyPr>
            <a:noAutofit/>
          </a:bodyPr>
          <a:lstStyle/>
          <a:p>
            <a:r>
              <a:rPr lang="en-PH" sz="2400" b="1" dirty="0" smtClean="0">
                <a:solidFill>
                  <a:schemeClr val="tx1"/>
                </a:solidFill>
              </a:rPr>
              <a:t>PABLO S. CRESPO, JR.</a:t>
            </a:r>
          </a:p>
          <a:p>
            <a:r>
              <a:rPr lang="en-PH" sz="2400" b="1" dirty="0" smtClean="0">
                <a:solidFill>
                  <a:schemeClr val="tx1"/>
                </a:solidFill>
              </a:rPr>
              <a:t>University of Antique</a:t>
            </a:r>
            <a:endParaRPr lang="en-PH" sz="2400" b="1" dirty="0">
              <a:solidFill>
                <a:schemeClr val="tx1"/>
              </a:solidFill>
            </a:endParaRPr>
          </a:p>
        </p:txBody>
      </p:sp>
      <p:sp>
        <p:nvSpPr>
          <p:cNvPr id="4" name="Date Placeholder 3"/>
          <p:cNvSpPr>
            <a:spLocks noGrp="1"/>
          </p:cNvSpPr>
          <p:nvPr>
            <p:ph type="dt" sz="half" idx="10"/>
          </p:nvPr>
        </p:nvSpPr>
        <p:spPr/>
        <p:txBody>
          <a:bodyPr/>
          <a:lstStyle/>
          <a:p>
            <a:fld id="{1A219610-5A9B-497C-B5E4-DC24D98217A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6982159" cy="3530600"/>
          </a:xfrm>
        </p:spPr>
        <p:txBody>
          <a:bodyPr>
            <a:normAutofit/>
          </a:bodyPr>
          <a:lstStyle/>
          <a:p>
            <a:r>
              <a:rPr lang="en-PH" sz="6000" b="1" dirty="0" smtClean="0"/>
              <a:t>RAW SCORES BY THEMSELVES ARE USELESS</a:t>
            </a:r>
            <a:endParaRPr lang="en-PH" sz="6000" b="1" dirty="0"/>
          </a:p>
        </p:txBody>
      </p:sp>
      <p:sp>
        <p:nvSpPr>
          <p:cNvPr id="4" name="Date Placeholder 3"/>
          <p:cNvSpPr>
            <a:spLocks noGrp="1"/>
          </p:cNvSpPr>
          <p:nvPr>
            <p:ph type="dt" sz="half" idx="10"/>
          </p:nvPr>
        </p:nvSpPr>
        <p:spPr/>
        <p:txBody>
          <a:bodyPr/>
          <a:lstStyle/>
          <a:p>
            <a:fld id="{59F873FB-B4F7-49EE-817A-F560A81165FB}"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228601" y="2489200"/>
            <a:ext cx="8686800" cy="3530600"/>
          </a:xfrm>
        </p:spPr>
        <p:txBody>
          <a:bodyPr>
            <a:noAutofit/>
          </a:bodyPr>
          <a:lstStyle/>
          <a:p>
            <a:pPr>
              <a:buNone/>
            </a:pPr>
            <a:r>
              <a:rPr lang="en-PH" sz="3200" b="1" dirty="0" smtClean="0"/>
              <a:t>The raw score of Gina in a test is 45. What does it mean?</a:t>
            </a:r>
          </a:p>
          <a:p>
            <a:pPr marL="596646" indent="-514350">
              <a:buAutoNum type="alphaUcPeriod"/>
            </a:pPr>
            <a:r>
              <a:rPr lang="en-PH" sz="3200" b="1" dirty="0" smtClean="0"/>
              <a:t>She is better than 45% of her classmates.</a:t>
            </a:r>
          </a:p>
          <a:p>
            <a:pPr marL="596646" indent="-514350">
              <a:buAutoNum type="alphaUcPeriod"/>
            </a:pPr>
            <a:r>
              <a:rPr lang="en-PH" sz="3200" b="1" dirty="0" smtClean="0"/>
              <a:t>She ranked number 45 in her batch.</a:t>
            </a:r>
          </a:p>
          <a:p>
            <a:pPr marL="596646" indent="-514350">
              <a:buAutoNum type="alphaUcPeriod"/>
            </a:pPr>
            <a:r>
              <a:rPr lang="en-PH" sz="3200" b="1" dirty="0" smtClean="0"/>
              <a:t>She got 45% correct answer in the test.</a:t>
            </a:r>
          </a:p>
          <a:p>
            <a:pPr marL="596646" indent="-514350">
              <a:buAutoNum type="alphaUcPeriod"/>
            </a:pPr>
            <a:r>
              <a:rPr lang="en-PH" sz="3200" b="1" dirty="0" smtClean="0"/>
              <a:t>She got 45 correct answers.</a:t>
            </a:r>
            <a:endParaRPr lang="en-PH" sz="3200" b="1" dirty="0"/>
          </a:p>
        </p:txBody>
      </p:sp>
      <p:sp>
        <p:nvSpPr>
          <p:cNvPr id="4" name="Date Placeholder 3"/>
          <p:cNvSpPr>
            <a:spLocks noGrp="1"/>
          </p:cNvSpPr>
          <p:nvPr>
            <p:ph type="dt" sz="half" idx="10"/>
          </p:nvPr>
        </p:nvSpPr>
        <p:spPr/>
        <p:txBody>
          <a:bodyPr/>
          <a:lstStyle/>
          <a:p>
            <a:fld id="{7FCA238C-31DF-4BBE-9903-610A012911B4}"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Raw scores by themselves are useless.</a:t>
            </a:r>
            <a:endParaRPr lang="en-PH" dirty="0"/>
          </a:p>
        </p:txBody>
      </p:sp>
      <p:sp>
        <p:nvSpPr>
          <p:cNvPr id="3" name="Content Placeholder 2"/>
          <p:cNvSpPr>
            <a:spLocks noGrp="1"/>
          </p:cNvSpPr>
          <p:nvPr>
            <p:ph idx="1"/>
          </p:nvPr>
        </p:nvSpPr>
        <p:spPr>
          <a:xfrm>
            <a:off x="866441" y="2489200"/>
            <a:ext cx="7972759" cy="3530600"/>
          </a:xfrm>
        </p:spPr>
        <p:txBody>
          <a:bodyPr>
            <a:normAutofit/>
          </a:bodyPr>
          <a:lstStyle/>
          <a:p>
            <a:r>
              <a:rPr lang="en-PH" sz="4000" b="1" dirty="0" smtClean="0"/>
              <a:t>INORDER TO GENERATE INFORMATION FROM RAW SCORES THEY MUST BE SUBJECTED TO STATISTICAL TREATMENT</a:t>
            </a:r>
            <a:endParaRPr lang="en-PH" sz="4000" b="1" dirty="0"/>
          </a:p>
        </p:txBody>
      </p:sp>
      <p:sp>
        <p:nvSpPr>
          <p:cNvPr id="4" name="Date Placeholder 3"/>
          <p:cNvSpPr>
            <a:spLocks noGrp="1"/>
          </p:cNvSpPr>
          <p:nvPr>
            <p:ph type="dt" sz="half" idx="10"/>
          </p:nvPr>
        </p:nvSpPr>
        <p:spPr/>
        <p:txBody>
          <a:bodyPr/>
          <a:lstStyle/>
          <a:p>
            <a:fld id="{C8C96703-DD76-4340-A8F4-C13F6EAFC9E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564" y="925605"/>
            <a:ext cx="7366036" cy="711359"/>
          </a:xfrm>
        </p:spPr>
        <p:txBody>
          <a:bodyPr/>
          <a:lstStyle/>
          <a:p>
            <a:r>
              <a:rPr lang="en-PH" b="1" dirty="0" smtClean="0"/>
              <a:t>COMMON STATISTICAL TREATMENT</a:t>
            </a:r>
            <a:endParaRPr lang="en-PH" b="1"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491078829"/>
              </p:ext>
            </p:extLst>
          </p:nvPr>
        </p:nvGraphicFramePr>
        <p:xfrm>
          <a:off x="685797" y="2286000"/>
          <a:ext cx="8001002" cy="3886200"/>
        </p:xfrm>
        <a:graphic>
          <a:graphicData uri="http://schemas.openxmlformats.org/drawingml/2006/table">
            <a:tbl>
              <a:tblPr firstRow="1" bandRow="1">
                <a:tableStyleId>{5C22544A-7EE6-4342-B048-85BDC9FD1C3A}</a:tableStyleId>
              </a:tblPr>
              <a:tblGrid>
                <a:gridCol w="4000501"/>
                <a:gridCol w="4000501"/>
              </a:tblGrid>
              <a:tr h="647700">
                <a:tc>
                  <a:txBody>
                    <a:bodyPr/>
                    <a:lstStyle/>
                    <a:p>
                      <a:r>
                        <a:rPr lang="en-PH" b="1" dirty="0" smtClean="0"/>
                        <a:t>STATISTICAL</a:t>
                      </a:r>
                      <a:r>
                        <a:rPr lang="en-PH" b="1" baseline="0" dirty="0" smtClean="0"/>
                        <a:t>  MEASURES</a:t>
                      </a:r>
                      <a:endParaRPr lang="en-PH" b="1" dirty="0"/>
                    </a:p>
                  </a:txBody>
                  <a:tcPr/>
                </a:tc>
                <a:tc>
                  <a:txBody>
                    <a:bodyPr/>
                    <a:lstStyle/>
                    <a:p>
                      <a:r>
                        <a:rPr lang="en-PH" b="1" dirty="0" smtClean="0"/>
                        <a:t>PURPOSE</a:t>
                      </a:r>
                      <a:endParaRPr lang="en-PH" b="1" dirty="0"/>
                    </a:p>
                  </a:txBody>
                  <a:tcPr/>
                </a:tc>
              </a:tr>
              <a:tr h="647700">
                <a:tc>
                  <a:txBody>
                    <a:bodyPr/>
                    <a:lstStyle/>
                    <a:p>
                      <a:r>
                        <a:rPr lang="en-PH" b="1" dirty="0" smtClean="0"/>
                        <a:t>1.Measures</a:t>
                      </a:r>
                      <a:r>
                        <a:rPr lang="en-PH" b="1" baseline="0" dirty="0" smtClean="0"/>
                        <a:t> of Central Tendency</a:t>
                      </a:r>
                      <a:endParaRPr lang="en-PH" b="1" dirty="0"/>
                    </a:p>
                  </a:txBody>
                  <a:tcPr/>
                </a:tc>
                <a:tc>
                  <a:txBody>
                    <a:bodyPr/>
                    <a:lstStyle/>
                    <a:p>
                      <a:r>
                        <a:rPr lang="en-PH" b="1" dirty="0" smtClean="0"/>
                        <a:t>To</a:t>
                      </a:r>
                      <a:r>
                        <a:rPr lang="en-PH" b="1" baseline="0" dirty="0" smtClean="0"/>
                        <a:t> measure performance</a:t>
                      </a:r>
                      <a:endParaRPr lang="en-PH" b="1" dirty="0"/>
                    </a:p>
                  </a:txBody>
                  <a:tcPr/>
                </a:tc>
              </a:tr>
              <a:tr h="647700">
                <a:tc>
                  <a:txBody>
                    <a:bodyPr/>
                    <a:lstStyle/>
                    <a:p>
                      <a:r>
                        <a:rPr lang="en-PH" b="1" dirty="0" smtClean="0"/>
                        <a:t>2. Measures</a:t>
                      </a:r>
                      <a:r>
                        <a:rPr lang="en-PH" b="1" baseline="0" dirty="0" smtClean="0"/>
                        <a:t> of Variability &amp; Dispersion</a:t>
                      </a:r>
                      <a:endParaRPr lang="en-PH" b="1" dirty="0"/>
                    </a:p>
                  </a:txBody>
                  <a:tcPr/>
                </a:tc>
                <a:tc>
                  <a:txBody>
                    <a:bodyPr/>
                    <a:lstStyle/>
                    <a:p>
                      <a:r>
                        <a:rPr lang="en-PH" b="1" dirty="0" smtClean="0"/>
                        <a:t>To measure dispersion or spread of scores</a:t>
                      </a:r>
                      <a:endParaRPr lang="en-PH" b="1" dirty="0"/>
                    </a:p>
                  </a:txBody>
                  <a:tcPr/>
                </a:tc>
              </a:tr>
              <a:tr h="647700">
                <a:tc>
                  <a:txBody>
                    <a:bodyPr/>
                    <a:lstStyle/>
                    <a:p>
                      <a:r>
                        <a:rPr lang="en-PH" b="1" dirty="0" smtClean="0"/>
                        <a:t>3. Measure of Correlations</a:t>
                      </a:r>
                      <a:endParaRPr lang="en-PH" b="1" dirty="0"/>
                    </a:p>
                  </a:txBody>
                  <a:tcPr/>
                </a:tc>
                <a:tc>
                  <a:txBody>
                    <a:bodyPr/>
                    <a:lstStyle/>
                    <a:p>
                      <a:r>
                        <a:rPr lang="en-PH" b="1" dirty="0" smtClean="0"/>
                        <a:t>To measure relationship</a:t>
                      </a:r>
                      <a:r>
                        <a:rPr lang="en-PH" b="1" baseline="0" dirty="0" smtClean="0"/>
                        <a:t> </a:t>
                      </a:r>
                      <a:endParaRPr lang="en-PH" b="1" dirty="0"/>
                    </a:p>
                  </a:txBody>
                  <a:tcPr/>
                </a:tc>
              </a:tr>
              <a:tr h="647700">
                <a:tc>
                  <a:txBody>
                    <a:bodyPr/>
                    <a:lstStyle/>
                    <a:p>
                      <a:r>
                        <a:rPr lang="en-PH" b="1" dirty="0" smtClean="0"/>
                        <a:t>4. Normal Distribution</a:t>
                      </a:r>
                      <a:endParaRPr lang="en-PH" b="1" dirty="0"/>
                    </a:p>
                  </a:txBody>
                  <a:tcPr/>
                </a:tc>
                <a:tc>
                  <a:txBody>
                    <a:bodyPr/>
                    <a:lstStyle/>
                    <a:p>
                      <a:endParaRPr lang="en-PH" b="1" dirty="0"/>
                    </a:p>
                  </a:txBody>
                  <a:tcPr/>
                </a:tc>
              </a:tr>
              <a:tr h="647700">
                <a:tc>
                  <a:txBody>
                    <a:bodyPr/>
                    <a:lstStyle/>
                    <a:p>
                      <a:r>
                        <a:rPr lang="en-PH" b="1" dirty="0" smtClean="0"/>
                        <a:t>5.Skewness &amp; Kurtosis</a:t>
                      </a:r>
                      <a:r>
                        <a:rPr lang="en-PH" b="1" baseline="0" dirty="0" smtClean="0"/>
                        <a:t> </a:t>
                      </a:r>
                      <a:endParaRPr lang="en-PH" b="1" dirty="0"/>
                    </a:p>
                  </a:txBody>
                  <a:tcPr/>
                </a:tc>
                <a:tc>
                  <a:txBody>
                    <a:bodyPr/>
                    <a:lstStyle/>
                    <a:p>
                      <a:endParaRPr lang="en-PH" b="1" dirty="0"/>
                    </a:p>
                  </a:txBody>
                  <a:tcPr/>
                </a:tc>
              </a:tr>
            </a:tbl>
          </a:graphicData>
        </a:graphic>
      </p:graphicFrame>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a:t>
            </a:fld>
            <a:endParaRPr lang="en-PH"/>
          </a:p>
        </p:txBody>
      </p:sp>
    </p:spTree>
    <p:extLst>
      <p:ext uri="{BB962C8B-B14F-4D97-AF65-F5344CB8AC3E}">
        <p14:creationId xmlns:p14="http://schemas.microsoft.com/office/powerpoint/2010/main" val="10442384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Types of Data/Level of Measurement</a:t>
            </a:r>
            <a:endParaRPr lang="en-PH" dirty="0"/>
          </a:p>
        </p:txBody>
      </p:sp>
      <p:sp>
        <p:nvSpPr>
          <p:cNvPr id="3" name="Content Placeholder 2"/>
          <p:cNvSpPr>
            <a:spLocks noGrp="1"/>
          </p:cNvSpPr>
          <p:nvPr>
            <p:ph idx="1"/>
          </p:nvPr>
        </p:nvSpPr>
        <p:spPr>
          <a:xfrm>
            <a:off x="866441" y="2489200"/>
            <a:ext cx="7744159" cy="3530600"/>
          </a:xfrm>
        </p:spPr>
        <p:txBody>
          <a:bodyPr>
            <a:normAutofit fontScale="92500" lnSpcReduction="10000"/>
          </a:bodyPr>
          <a:lstStyle/>
          <a:p>
            <a:r>
              <a:rPr lang="en-PH" sz="5400" dirty="0" smtClean="0"/>
              <a:t>The type of data you have generated or gathered determines the statistical scores you may apply.</a:t>
            </a:r>
            <a:endParaRPr lang="en-PH" sz="5400" dirty="0"/>
          </a:p>
        </p:txBody>
      </p:sp>
      <p:sp>
        <p:nvSpPr>
          <p:cNvPr id="4" name="Date Placeholder 3"/>
          <p:cNvSpPr>
            <a:spLocks noGrp="1"/>
          </p:cNvSpPr>
          <p:nvPr>
            <p:ph type="dt" sz="half" idx="10"/>
          </p:nvPr>
        </p:nvSpPr>
        <p:spPr/>
        <p:txBody>
          <a:bodyPr/>
          <a:lstStyle/>
          <a:p>
            <a:fld id="{5F520017-6B52-425C-8B52-A097DE780FA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types of Data.jpg"/>
          <p:cNvPicPr>
            <a:picLocks noGrp="1" noChangeAspect="1"/>
          </p:cNvPicPr>
          <p:nvPr>
            <p:ph idx="1"/>
          </p:nvPr>
        </p:nvPicPr>
        <p:blipFill>
          <a:blip r:embed="rId2" cstate="print"/>
          <a:stretch>
            <a:fillRect/>
          </a:stretch>
        </p:blipFill>
        <p:spPr>
          <a:xfrm>
            <a:off x="2057400" y="1600200"/>
            <a:ext cx="6400800" cy="4343401"/>
          </a:xfrm>
        </p:spPr>
      </p:pic>
      <p:sp>
        <p:nvSpPr>
          <p:cNvPr id="3" name="Date Placeholder 2"/>
          <p:cNvSpPr>
            <a:spLocks noGrp="1"/>
          </p:cNvSpPr>
          <p:nvPr>
            <p:ph type="dt" sz="half" idx="10"/>
          </p:nvPr>
        </p:nvSpPr>
        <p:spPr/>
        <p:txBody>
          <a:bodyPr/>
          <a:lstStyle/>
          <a:p>
            <a:fld id="{3605BC88-B4C6-48B1-8BC4-1A3DE4515E4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Types of Data</a:t>
            </a:r>
            <a:endParaRPr lang="en-PH" dirty="0"/>
          </a:p>
        </p:txBody>
      </p:sp>
      <p:sp>
        <p:nvSpPr>
          <p:cNvPr id="3" name="Content Placeholder 2"/>
          <p:cNvSpPr>
            <a:spLocks noGrp="1"/>
          </p:cNvSpPr>
          <p:nvPr>
            <p:ph idx="1"/>
          </p:nvPr>
        </p:nvSpPr>
        <p:spPr>
          <a:xfrm>
            <a:off x="457201" y="2362200"/>
            <a:ext cx="7924799" cy="2895600"/>
          </a:xfrm>
        </p:spPr>
        <p:txBody>
          <a:bodyPr>
            <a:noAutofit/>
          </a:bodyPr>
          <a:lstStyle/>
          <a:p>
            <a:pPr marL="550926" indent="-514350">
              <a:buAutoNum type="arabicPeriod"/>
            </a:pPr>
            <a:r>
              <a:rPr lang="en-PH" sz="2800" b="1" dirty="0" smtClean="0"/>
              <a:t>Nominal Data</a:t>
            </a:r>
            <a:r>
              <a:rPr lang="en-PH" sz="2800" dirty="0" smtClean="0"/>
              <a:t>. The data that are used to label, classify or categorize.</a:t>
            </a:r>
          </a:p>
          <a:p>
            <a:pPr marL="550926" indent="-514350">
              <a:buNone/>
            </a:pPr>
            <a:r>
              <a:rPr lang="en-PH" sz="2800" dirty="0" smtClean="0"/>
              <a:t>	( the lowest type of data)</a:t>
            </a:r>
          </a:p>
          <a:p>
            <a:pPr marL="550926" indent="-514350">
              <a:buNone/>
            </a:pPr>
            <a:r>
              <a:rPr lang="en-PH" sz="2800" dirty="0" smtClean="0"/>
              <a:t>		Examples: Course, Religion, Year </a:t>
            </a:r>
          </a:p>
          <a:p>
            <a:pPr marL="550926" indent="-514350">
              <a:buNone/>
            </a:pPr>
            <a:r>
              <a:rPr lang="en-PH" sz="2800" dirty="0" smtClean="0"/>
              <a:t>			Level, Nationality</a:t>
            </a:r>
          </a:p>
          <a:p>
            <a:pPr marL="550926" indent="-514350">
              <a:buNone/>
            </a:pPr>
            <a:r>
              <a:rPr lang="en-PH" sz="2800" dirty="0" smtClean="0"/>
              <a:t>			Numbers can also be nominal </a:t>
            </a:r>
          </a:p>
          <a:p>
            <a:pPr marL="550926" indent="-514350">
              <a:buNone/>
            </a:pPr>
            <a:r>
              <a:rPr lang="en-PH" sz="2800" dirty="0" smtClean="0"/>
              <a:t>	   data but they don’t have less than or</a:t>
            </a:r>
          </a:p>
          <a:p>
            <a:pPr marL="550926" indent="-514350">
              <a:buNone/>
            </a:pPr>
            <a:r>
              <a:rPr lang="en-PH" sz="2800" dirty="0" smtClean="0"/>
              <a:t>	   greater than relationship</a:t>
            </a:r>
          </a:p>
          <a:p>
            <a:pPr marL="550926" indent="-514350">
              <a:buNone/>
            </a:pPr>
            <a:r>
              <a:rPr lang="en-PH" sz="2800" dirty="0" smtClean="0"/>
              <a:t>	</a:t>
            </a:r>
          </a:p>
          <a:p>
            <a:pPr marL="550926" indent="-514350">
              <a:buNone/>
            </a:pPr>
            <a:r>
              <a:rPr lang="en-PH" sz="2800" dirty="0" smtClean="0"/>
              <a:t>	</a:t>
            </a:r>
            <a:endParaRPr lang="en-PH" sz="2800" dirty="0"/>
          </a:p>
        </p:txBody>
      </p:sp>
      <p:sp>
        <p:nvSpPr>
          <p:cNvPr id="4" name="Date Placeholder 3"/>
          <p:cNvSpPr>
            <a:spLocks noGrp="1"/>
          </p:cNvSpPr>
          <p:nvPr>
            <p:ph type="dt" sz="half" idx="10"/>
          </p:nvPr>
        </p:nvSpPr>
        <p:spPr/>
        <p:txBody>
          <a:bodyPr/>
          <a:lstStyle/>
          <a:p>
            <a:fld id="{3AB51D5F-5940-49E4-9AE6-19CE862F5C8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2067796"/>
              </p:ext>
            </p:extLst>
          </p:nvPr>
        </p:nvGraphicFramePr>
        <p:xfrm>
          <a:off x="1447800" y="1143001"/>
          <a:ext cx="6019800" cy="6035040"/>
        </p:xfrm>
        <a:graphic>
          <a:graphicData uri="http://schemas.openxmlformats.org/drawingml/2006/table">
            <a:tbl>
              <a:tblPr firstRow="1" bandRow="1">
                <a:tableStyleId>{5C22544A-7EE6-4342-B048-85BDC9FD1C3A}</a:tableStyleId>
              </a:tblPr>
              <a:tblGrid>
                <a:gridCol w="3283528"/>
                <a:gridCol w="2736272"/>
              </a:tblGrid>
              <a:tr h="553901">
                <a:tc>
                  <a:txBody>
                    <a:bodyPr/>
                    <a:lstStyle/>
                    <a:p>
                      <a:endParaRPr lang="en-PH" dirty="0" smtClean="0"/>
                    </a:p>
                    <a:p>
                      <a:r>
                        <a:rPr lang="en-PH" dirty="0" smtClean="0"/>
                        <a:t>RESPONDENT</a:t>
                      </a:r>
                      <a:endParaRPr lang="en-PH" dirty="0"/>
                    </a:p>
                  </a:txBody>
                  <a:tcPr/>
                </a:tc>
                <a:tc>
                  <a:txBody>
                    <a:bodyPr/>
                    <a:lstStyle/>
                    <a:p>
                      <a:endParaRPr lang="en-PH" dirty="0" smtClean="0"/>
                    </a:p>
                    <a:p>
                      <a:r>
                        <a:rPr lang="en-PH" dirty="0" smtClean="0"/>
                        <a:t>SEX</a:t>
                      </a:r>
                      <a:endParaRPr lang="en-PH" dirty="0"/>
                    </a:p>
                  </a:txBody>
                  <a:tcPr/>
                </a:tc>
              </a:tr>
              <a:tr h="712159">
                <a:tc>
                  <a:txBody>
                    <a:bodyPr/>
                    <a:lstStyle/>
                    <a:p>
                      <a:pPr algn="ctr"/>
                      <a:endParaRPr lang="en-PH" sz="2400" dirty="0" smtClean="0"/>
                    </a:p>
                    <a:p>
                      <a:pPr algn="ctr"/>
                      <a:r>
                        <a:rPr lang="en-PH" sz="2400" dirty="0" smtClean="0"/>
                        <a:t>A</a:t>
                      </a:r>
                      <a:endParaRPr lang="en-PH" sz="2400" dirty="0"/>
                    </a:p>
                  </a:txBody>
                  <a:tcPr/>
                </a:tc>
                <a:tc>
                  <a:txBody>
                    <a:bodyPr/>
                    <a:lstStyle/>
                    <a:p>
                      <a:pPr algn="ctr"/>
                      <a:endParaRPr lang="en-PH" sz="2400" dirty="0" smtClean="0"/>
                    </a:p>
                    <a:p>
                      <a:pPr algn="ctr"/>
                      <a:r>
                        <a:rPr lang="en-PH" sz="2400" dirty="0" smtClean="0"/>
                        <a:t>0</a:t>
                      </a:r>
                      <a:endParaRPr lang="en-PH" sz="2400" dirty="0"/>
                    </a:p>
                  </a:txBody>
                  <a:tcPr/>
                </a:tc>
              </a:tr>
              <a:tr h="712159">
                <a:tc>
                  <a:txBody>
                    <a:bodyPr/>
                    <a:lstStyle/>
                    <a:p>
                      <a:pPr algn="ctr"/>
                      <a:endParaRPr lang="en-PH" sz="2400" dirty="0" smtClean="0"/>
                    </a:p>
                    <a:p>
                      <a:pPr algn="ctr"/>
                      <a:r>
                        <a:rPr lang="en-PH" sz="2400" dirty="0" smtClean="0"/>
                        <a:t>B</a:t>
                      </a:r>
                      <a:endParaRPr lang="en-PH" sz="2400" dirty="0"/>
                    </a:p>
                  </a:txBody>
                  <a:tcPr/>
                </a:tc>
                <a:tc>
                  <a:txBody>
                    <a:bodyPr/>
                    <a:lstStyle/>
                    <a:p>
                      <a:pPr algn="ctr"/>
                      <a:endParaRPr lang="en-PH" sz="2400" dirty="0" smtClean="0"/>
                    </a:p>
                    <a:p>
                      <a:pPr algn="ctr"/>
                      <a:r>
                        <a:rPr lang="en-PH" sz="2400" dirty="0" smtClean="0"/>
                        <a:t>1</a:t>
                      </a:r>
                      <a:endParaRPr lang="en-PH" sz="2400" dirty="0"/>
                    </a:p>
                  </a:txBody>
                  <a:tcPr/>
                </a:tc>
              </a:tr>
              <a:tr h="712159">
                <a:tc>
                  <a:txBody>
                    <a:bodyPr/>
                    <a:lstStyle/>
                    <a:p>
                      <a:pPr algn="ctr"/>
                      <a:endParaRPr lang="en-PH" sz="2400" dirty="0" smtClean="0"/>
                    </a:p>
                    <a:p>
                      <a:pPr algn="ctr"/>
                      <a:r>
                        <a:rPr lang="en-PH" sz="2400" dirty="0" smtClean="0"/>
                        <a:t>C</a:t>
                      </a:r>
                      <a:endParaRPr lang="en-PH" sz="2400" dirty="0"/>
                    </a:p>
                  </a:txBody>
                  <a:tcPr/>
                </a:tc>
                <a:tc>
                  <a:txBody>
                    <a:bodyPr/>
                    <a:lstStyle/>
                    <a:p>
                      <a:pPr algn="ctr"/>
                      <a:endParaRPr lang="en-PH" sz="2400" dirty="0" smtClean="0"/>
                    </a:p>
                    <a:p>
                      <a:pPr algn="ctr"/>
                      <a:r>
                        <a:rPr lang="en-PH" sz="2400" dirty="0" smtClean="0"/>
                        <a:t>1</a:t>
                      </a:r>
                      <a:endParaRPr lang="en-PH" sz="2400" dirty="0"/>
                    </a:p>
                  </a:txBody>
                  <a:tcPr/>
                </a:tc>
              </a:tr>
              <a:tr h="712159">
                <a:tc>
                  <a:txBody>
                    <a:bodyPr/>
                    <a:lstStyle/>
                    <a:p>
                      <a:pPr algn="ctr"/>
                      <a:endParaRPr lang="en-PH" sz="2400" dirty="0" smtClean="0"/>
                    </a:p>
                    <a:p>
                      <a:pPr algn="ctr"/>
                      <a:r>
                        <a:rPr lang="en-PH" sz="2400" dirty="0" smtClean="0"/>
                        <a:t>D</a:t>
                      </a:r>
                      <a:endParaRPr lang="en-PH" sz="2400" dirty="0"/>
                    </a:p>
                  </a:txBody>
                  <a:tcPr/>
                </a:tc>
                <a:tc>
                  <a:txBody>
                    <a:bodyPr/>
                    <a:lstStyle/>
                    <a:p>
                      <a:pPr algn="ctr"/>
                      <a:endParaRPr lang="en-PH" sz="2400" dirty="0" smtClean="0"/>
                    </a:p>
                    <a:p>
                      <a:pPr algn="ctr"/>
                      <a:r>
                        <a:rPr lang="en-PH" sz="2400" dirty="0" smtClean="0"/>
                        <a:t>0</a:t>
                      </a:r>
                      <a:endParaRPr lang="en-PH" sz="2400" dirty="0"/>
                    </a:p>
                  </a:txBody>
                  <a:tcPr/>
                </a:tc>
              </a:tr>
              <a:tr h="712159">
                <a:tc>
                  <a:txBody>
                    <a:bodyPr/>
                    <a:lstStyle/>
                    <a:p>
                      <a:pPr algn="ctr"/>
                      <a:endParaRPr lang="en-PH" sz="2400" dirty="0" smtClean="0"/>
                    </a:p>
                    <a:p>
                      <a:pPr algn="ctr"/>
                      <a:r>
                        <a:rPr lang="en-PH" sz="2400" dirty="0" smtClean="0"/>
                        <a:t>E</a:t>
                      </a:r>
                      <a:endParaRPr lang="en-PH" sz="2400" dirty="0"/>
                    </a:p>
                  </a:txBody>
                  <a:tcPr/>
                </a:tc>
                <a:tc>
                  <a:txBody>
                    <a:bodyPr/>
                    <a:lstStyle/>
                    <a:p>
                      <a:pPr algn="ctr"/>
                      <a:endParaRPr lang="en-PH" sz="2400" dirty="0" smtClean="0"/>
                    </a:p>
                    <a:p>
                      <a:pPr algn="ctr"/>
                      <a:r>
                        <a:rPr lang="en-PH" sz="2400" dirty="0" smtClean="0"/>
                        <a:t>0</a:t>
                      </a:r>
                      <a:endParaRPr lang="en-PH" sz="2400" dirty="0"/>
                    </a:p>
                  </a:txBody>
                  <a:tcPr/>
                </a:tc>
              </a:tr>
              <a:tr h="712159">
                <a:tc>
                  <a:txBody>
                    <a:bodyPr/>
                    <a:lstStyle/>
                    <a:p>
                      <a:pPr algn="ctr"/>
                      <a:endParaRPr lang="en-PH" sz="2400" dirty="0" smtClean="0"/>
                    </a:p>
                    <a:p>
                      <a:pPr algn="ctr"/>
                      <a:r>
                        <a:rPr lang="en-PH" sz="2400" dirty="0" smtClean="0"/>
                        <a:t>F</a:t>
                      </a:r>
                      <a:endParaRPr lang="en-PH" sz="2400" dirty="0"/>
                    </a:p>
                  </a:txBody>
                  <a:tcPr/>
                </a:tc>
                <a:tc>
                  <a:txBody>
                    <a:bodyPr/>
                    <a:lstStyle/>
                    <a:p>
                      <a:pPr algn="ctr"/>
                      <a:endParaRPr lang="en-PH" sz="2400" dirty="0" smtClean="0"/>
                    </a:p>
                    <a:p>
                      <a:pPr algn="ctr"/>
                      <a:r>
                        <a:rPr lang="en-PH" sz="2400" dirty="0" smtClean="0"/>
                        <a:t>0</a:t>
                      </a:r>
                      <a:endParaRPr lang="en-PH" sz="2400" dirty="0"/>
                    </a:p>
                  </a:txBody>
                  <a:tcPr/>
                </a:tc>
              </a:tr>
              <a:tr h="395644">
                <a:tc>
                  <a:txBody>
                    <a:bodyPr/>
                    <a:lstStyle/>
                    <a:p>
                      <a:pPr algn="ctr"/>
                      <a:r>
                        <a:rPr lang="en-PH" sz="2400" dirty="0" smtClean="0"/>
                        <a:t>G</a:t>
                      </a:r>
                      <a:endParaRPr lang="en-PH" sz="2400" dirty="0"/>
                    </a:p>
                  </a:txBody>
                  <a:tcPr/>
                </a:tc>
                <a:tc>
                  <a:txBody>
                    <a:bodyPr/>
                    <a:lstStyle/>
                    <a:p>
                      <a:pPr algn="ctr"/>
                      <a:r>
                        <a:rPr lang="en-PH" sz="2400" dirty="0" smtClean="0"/>
                        <a:t>0</a:t>
                      </a:r>
                      <a:endParaRPr lang="en-PH" sz="2400" dirty="0"/>
                    </a:p>
                  </a:txBody>
                  <a:tcPr/>
                </a:tc>
              </a:tr>
            </a:tbl>
          </a:graphicData>
        </a:graphic>
      </p:graphicFrame>
      <p:sp>
        <p:nvSpPr>
          <p:cNvPr id="3" name="Date Placeholder 2"/>
          <p:cNvSpPr>
            <a:spLocks noGrp="1"/>
          </p:cNvSpPr>
          <p:nvPr>
            <p:ph type="dt" sz="half" idx="10"/>
          </p:nvPr>
        </p:nvSpPr>
        <p:spPr/>
        <p:txBody>
          <a:bodyPr/>
          <a:lstStyle/>
          <a:p>
            <a:fld id="{F7ABA551-FA5F-4787-9E84-74691E3BBE0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Types of Data</a:t>
            </a:r>
            <a:endParaRPr lang="en-PH" dirty="0"/>
          </a:p>
        </p:txBody>
      </p:sp>
      <p:sp>
        <p:nvSpPr>
          <p:cNvPr id="3" name="Content Placeholder 2"/>
          <p:cNvSpPr>
            <a:spLocks noGrp="1"/>
          </p:cNvSpPr>
          <p:nvPr>
            <p:ph idx="1"/>
          </p:nvPr>
        </p:nvSpPr>
        <p:spPr>
          <a:xfrm>
            <a:off x="866441" y="2489200"/>
            <a:ext cx="7744159" cy="3530600"/>
          </a:xfrm>
        </p:spPr>
        <p:txBody>
          <a:bodyPr>
            <a:normAutofit fontScale="92500" lnSpcReduction="10000"/>
          </a:bodyPr>
          <a:lstStyle/>
          <a:p>
            <a:pPr algn="just"/>
            <a:r>
              <a:rPr lang="en-PH" sz="3200" dirty="0" smtClean="0"/>
              <a:t>2. </a:t>
            </a:r>
            <a:r>
              <a:rPr lang="en-PH" sz="3200" b="1" dirty="0" smtClean="0"/>
              <a:t>ORDINAL DATA. </a:t>
            </a:r>
            <a:r>
              <a:rPr lang="en-PH" sz="3200" dirty="0" smtClean="0"/>
              <a:t>The data that tell less than or greater than relationship.</a:t>
            </a:r>
          </a:p>
          <a:p>
            <a:pPr algn="just">
              <a:buNone/>
            </a:pPr>
            <a:r>
              <a:rPr lang="en-PH" sz="3200" b="1" dirty="0" smtClean="0"/>
              <a:t>   </a:t>
            </a:r>
            <a:r>
              <a:rPr lang="en-PH" sz="3200" dirty="0" smtClean="0"/>
              <a:t>	The difference however is not equidistant that numbers here could not be subjected to mathematical computations.</a:t>
            </a:r>
          </a:p>
          <a:p>
            <a:pPr algn="just">
              <a:buNone/>
            </a:pPr>
            <a:r>
              <a:rPr lang="en-PH" sz="3200" b="1" dirty="0" smtClean="0"/>
              <a:t>	Examples: </a:t>
            </a:r>
            <a:r>
              <a:rPr lang="en-PH" sz="3200" dirty="0" smtClean="0"/>
              <a:t>Sibling Rank, </a:t>
            </a:r>
            <a:r>
              <a:rPr lang="en-PH" sz="3200" dirty="0" err="1" smtClean="0"/>
              <a:t>Honor</a:t>
            </a:r>
            <a:r>
              <a:rPr lang="en-PH" sz="3200" dirty="0" smtClean="0"/>
              <a:t> Rank</a:t>
            </a:r>
            <a:endParaRPr lang="en-PH" sz="3200" dirty="0"/>
          </a:p>
        </p:txBody>
      </p:sp>
      <p:sp>
        <p:nvSpPr>
          <p:cNvPr id="4" name="Date Placeholder 3"/>
          <p:cNvSpPr>
            <a:spLocks noGrp="1"/>
          </p:cNvSpPr>
          <p:nvPr>
            <p:ph type="dt" sz="half" idx="10"/>
          </p:nvPr>
        </p:nvSpPr>
        <p:spPr/>
        <p:txBody>
          <a:bodyPr/>
          <a:lstStyle/>
          <a:p>
            <a:fld id="{F6210D17-90BC-4B9F-BDD4-3DE39E29C34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Sibling Ranks</a:t>
            </a:r>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46702877"/>
              </p:ext>
            </p:extLst>
          </p:nvPr>
        </p:nvGraphicFramePr>
        <p:xfrm>
          <a:off x="866773" y="1981201"/>
          <a:ext cx="7439026" cy="4742852"/>
        </p:xfrm>
        <a:graphic>
          <a:graphicData uri="http://schemas.openxmlformats.org/drawingml/2006/table">
            <a:tbl>
              <a:tblPr firstRow="1" bandRow="1">
                <a:tableStyleId>{5C22544A-7EE6-4342-B048-85BDC9FD1C3A}</a:tableStyleId>
              </a:tblPr>
              <a:tblGrid>
                <a:gridCol w="3719513"/>
                <a:gridCol w="3719513"/>
              </a:tblGrid>
              <a:tr h="928376">
                <a:tc>
                  <a:txBody>
                    <a:bodyPr/>
                    <a:lstStyle/>
                    <a:p>
                      <a:endParaRPr lang="en-PH" sz="3200" dirty="0" smtClean="0"/>
                    </a:p>
                    <a:p>
                      <a:r>
                        <a:rPr lang="en-PH" sz="3200" dirty="0" smtClean="0"/>
                        <a:t>First</a:t>
                      </a:r>
                      <a:r>
                        <a:rPr lang="en-PH" sz="3200" baseline="0" dirty="0" smtClean="0"/>
                        <a:t> Child</a:t>
                      </a:r>
                      <a:endParaRPr lang="en-PH" sz="3200" dirty="0"/>
                    </a:p>
                  </a:txBody>
                  <a:tcPr marL="77348" marR="77348"/>
                </a:tc>
                <a:tc>
                  <a:txBody>
                    <a:bodyPr/>
                    <a:lstStyle/>
                    <a:p>
                      <a:endParaRPr lang="en-PH" dirty="0"/>
                    </a:p>
                  </a:txBody>
                  <a:tcPr marL="77348" marR="77348"/>
                </a:tc>
              </a:tr>
              <a:tr h="1034476">
                <a:tc>
                  <a:txBody>
                    <a:bodyPr/>
                    <a:lstStyle/>
                    <a:p>
                      <a:endParaRPr lang="en-PH" sz="3200" dirty="0" smtClean="0"/>
                    </a:p>
                    <a:p>
                      <a:r>
                        <a:rPr lang="en-PH" sz="3200" dirty="0" smtClean="0"/>
                        <a:t>2</a:t>
                      </a:r>
                      <a:r>
                        <a:rPr lang="en-PH" sz="3200" baseline="30000" dirty="0" smtClean="0"/>
                        <a:t>nd</a:t>
                      </a:r>
                      <a:r>
                        <a:rPr lang="en-PH" sz="3200" dirty="0" smtClean="0"/>
                        <a:t> child</a:t>
                      </a:r>
                      <a:endParaRPr lang="en-PH" sz="3200" dirty="0"/>
                    </a:p>
                  </a:txBody>
                  <a:tcPr marL="77348" marR="77348"/>
                </a:tc>
                <a:tc>
                  <a:txBody>
                    <a:bodyPr/>
                    <a:lstStyle/>
                    <a:p>
                      <a:endParaRPr lang="en-PH" sz="2400" dirty="0" smtClean="0"/>
                    </a:p>
                    <a:p>
                      <a:endParaRPr lang="en-PH" sz="2400" dirty="0" smtClean="0"/>
                    </a:p>
                    <a:p>
                      <a:r>
                        <a:rPr lang="en-PH" sz="2400" dirty="0" smtClean="0"/>
                        <a:t>9 months</a:t>
                      </a:r>
                      <a:endParaRPr lang="en-PH" sz="2400" dirty="0"/>
                    </a:p>
                  </a:txBody>
                  <a:tcPr marL="77348" marR="77348"/>
                </a:tc>
              </a:tr>
              <a:tr h="1034476">
                <a:tc>
                  <a:txBody>
                    <a:bodyPr/>
                    <a:lstStyle/>
                    <a:p>
                      <a:r>
                        <a:rPr lang="en-PH" sz="3200" dirty="0" smtClean="0"/>
                        <a:t>3</a:t>
                      </a:r>
                      <a:r>
                        <a:rPr lang="en-PH" sz="3200" baseline="30000" dirty="0" smtClean="0"/>
                        <a:t>rd</a:t>
                      </a:r>
                      <a:r>
                        <a:rPr lang="en-PH" sz="3200" dirty="0" smtClean="0"/>
                        <a:t> child</a:t>
                      </a:r>
                      <a:endParaRPr lang="en-PH" sz="3200" dirty="0"/>
                    </a:p>
                  </a:txBody>
                  <a:tcPr marL="77348" marR="77348"/>
                </a:tc>
                <a:tc>
                  <a:txBody>
                    <a:bodyPr/>
                    <a:lstStyle/>
                    <a:p>
                      <a:endParaRPr lang="en-PH" sz="2400" dirty="0" smtClean="0"/>
                    </a:p>
                    <a:p>
                      <a:r>
                        <a:rPr lang="en-PH" sz="2400" dirty="0" smtClean="0"/>
                        <a:t>1 year</a:t>
                      </a:r>
                      <a:r>
                        <a:rPr lang="en-PH" sz="2400" baseline="0" dirty="0" smtClean="0"/>
                        <a:t> and 2 months</a:t>
                      </a:r>
                      <a:endParaRPr lang="en-PH" sz="2400" dirty="0"/>
                    </a:p>
                  </a:txBody>
                  <a:tcPr marL="77348" marR="77348"/>
                </a:tc>
              </a:tr>
              <a:tr h="716175">
                <a:tc>
                  <a:txBody>
                    <a:bodyPr/>
                    <a:lstStyle/>
                    <a:p>
                      <a:r>
                        <a:rPr lang="en-PH" sz="3200" dirty="0" smtClean="0"/>
                        <a:t>4</a:t>
                      </a:r>
                      <a:r>
                        <a:rPr lang="en-PH" sz="3200" baseline="30000" dirty="0" smtClean="0"/>
                        <a:t>th</a:t>
                      </a:r>
                      <a:r>
                        <a:rPr lang="en-PH" sz="3200" dirty="0" smtClean="0"/>
                        <a:t> child</a:t>
                      </a:r>
                      <a:endParaRPr lang="en-PH" sz="3200" dirty="0"/>
                    </a:p>
                  </a:txBody>
                  <a:tcPr marL="77348" marR="77348"/>
                </a:tc>
                <a:tc>
                  <a:txBody>
                    <a:bodyPr/>
                    <a:lstStyle/>
                    <a:p>
                      <a:endParaRPr lang="en-PH" sz="2400" dirty="0" smtClean="0"/>
                    </a:p>
                    <a:p>
                      <a:r>
                        <a:rPr lang="en-PH" sz="2400" dirty="0" smtClean="0"/>
                        <a:t>3 years</a:t>
                      </a:r>
                      <a:endParaRPr lang="en-PH" sz="2400" dirty="0"/>
                    </a:p>
                  </a:txBody>
                  <a:tcPr marL="77348" marR="77348"/>
                </a:tc>
              </a:tr>
              <a:tr h="629896">
                <a:tc>
                  <a:txBody>
                    <a:bodyPr/>
                    <a:lstStyle/>
                    <a:p>
                      <a:r>
                        <a:rPr lang="en-PH" sz="3200" dirty="0" smtClean="0"/>
                        <a:t>5</a:t>
                      </a:r>
                      <a:r>
                        <a:rPr lang="en-PH" sz="3200" baseline="30000" dirty="0" smtClean="0"/>
                        <a:t>th</a:t>
                      </a:r>
                      <a:r>
                        <a:rPr lang="en-PH" sz="3200" dirty="0" smtClean="0"/>
                        <a:t> child</a:t>
                      </a:r>
                      <a:endParaRPr lang="en-PH" sz="3200" dirty="0"/>
                    </a:p>
                  </a:txBody>
                  <a:tcPr marL="77348" marR="77348"/>
                </a:tc>
                <a:tc>
                  <a:txBody>
                    <a:bodyPr/>
                    <a:lstStyle/>
                    <a:p>
                      <a:r>
                        <a:rPr lang="en-PH" sz="2400" dirty="0" smtClean="0"/>
                        <a:t>2 years</a:t>
                      </a:r>
                      <a:endParaRPr lang="en-PH" sz="2400" dirty="0"/>
                    </a:p>
                  </a:txBody>
                  <a:tcPr marL="77348" marR="77348"/>
                </a:tc>
              </a:tr>
            </a:tbl>
          </a:graphicData>
        </a:graphic>
      </p:graphicFrame>
      <p:sp>
        <p:nvSpPr>
          <p:cNvPr id="3" name="Date Placeholder 2"/>
          <p:cNvSpPr>
            <a:spLocks noGrp="1"/>
          </p:cNvSpPr>
          <p:nvPr>
            <p:ph type="dt" sz="half" idx="10"/>
          </p:nvPr>
        </p:nvSpPr>
        <p:spPr/>
        <p:txBody>
          <a:bodyPr/>
          <a:lstStyle/>
          <a:p>
            <a:fld id="{EEBBD8C1-A074-43C0-9C74-5DCA0F7EC6B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Types of Data</a:t>
            </a:r>
            <a:endParaRPr lang="en-PH" dirty="0"/>
          </a:p>
        </p:txBody>
      </p:sp>
      <p:sp>
        <p:nvSpPr>
          <p:cNvPr id="3" name="Content Placeholder 2"/>
          <p:cNvSpPr>
            <a:spLocks noGrp="1"/>
          </p:cNvSpPr>
          <p:nvPr>
            <p:ph idx="1"/>
          </p:nvPr>
        </p:nvSpPr>
        <p:spPr>
          <a:xfrm>
            <a:off x="866441" y="2489200"/>
            <a:ext cx="7820359" cy="3530600"/>
          </a:xfrm>
        </p:spPr>
        <p:txBody>
          <a:bodyPr>
            <a:normAutofit fontScale="92500" lnSpcReduction="10000"/>
          </a:bodyPr>
          <a:lstStyle/>
          <a:p>
            <a:pPr algn="just">
              <a:buNone/>
            </a:pPr>
            <a:r>
              <a:rPr lang="en-PH" sz="3600" dirty="0" smtClean="0"/>
              <a:t>3. </a:t>
            </a:r>
            <a:r>
              <a:rPr lang="en-PH" sz="3600" b="1" dirty="0" smtClean="0"/>
              <a:t>INTERVAL DATA. </a:t>
            </a:r>
            <a:r>
              <a:rPr lang="en-PH" sz="3600" dirty="0" smtClean="0"/>
              <a:t>The data that tell of less than and greater than relationship, the differences between and among data are equal (equidistant)</a:t>
            </a:r>
          </a:p>
          <a:p>
            <a:pPr algn="just">
              <a:buNone/>
            </a:pPr>
            <a:r>
              <a:rPr lang="en-PH" sz="3600" b="1" dirty="0" smtClean="0"/>
              <a:t>	Examples: </a:t>
            </a:r>
            <a:r>
              <a:rPr lang="en-PH" sz="3600" dirty="0" smtClean="0"/>
              <a:t>scores in test, Fahrenheit and Celsius Scale</a:t>
            </a:r>
            <a:endParaRPr lang="en-PH" sz="3600" dirty="0"/>
          </a:p>
        </p:txBody>
      </p:sp>
      <p:sp>
        <p:nvSpPr>
          <p:cNvPr id="4" name="Date Placeholder 3"/>
          <p:cNvSpPr>
            <a:spLocks noGrp="1"/>
          </p:cNvSpPr>
          <p:nvPr>
            <p:ph type="dt" sz="half" idx="10"/>
          </p:nvPr>
        </p:nvSpPr>
        <p:spPr/>
        <p:txBody>
          <a:bodyPr/>
          <a:lstStyle/>
          <a:p>
            <a:fld id="{2FD27AE8-B8FE-47B9-9754-60840C17452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Scores in a 10-item tests</a:t>
            </a:r>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63860938"/>
              </p:ext>
            </p:extLst>
          </p:nvPr>
        </p:nvGraphicFramePr>
        <p:xfrm>
          <a:off x="914400" y="1626326"/>
          <a:ext cx="7315200" cy="4724400"/>
        </p:xfrm>
        <a:graphic>
          <a:graphicData uri="http://schemas.openxmlformats.org/drawingml/2006/table">
            <a:tbl>
              <a:tblPr firstRow="1" bandRow="1">
                <a:tableStyleId>{5C22544A-7EE6-4342-B048-85BDC9FD1C3A}</a:tableStyleId>
              </a:tblPr>
              <a:tblGrid>
                <a:gridCol w="3657600"/>
                <a:gridCol w="3657600"/>
              </a:tblGrid>
              <a:tr h="429094">
                <a:tc>
                  <a:txBody>
                    <a:bodyPr/>
                    <a:lstStyle/>
                    <a:p>
                      <a:pPr algn="ctr"/>
                      <a:r>
                        <a:rPr lang="en-PH" sz="2800" dirty="0" smtClean="0"/>
                        <a:t>10</a:t>
                      </a:r>
                      <a:endParaRPr lang="en-PH" sz="2800" dirty="0"/>
                    </a:p>
                  </a:txBody>
                  <a:tcPr/>
                </a:tc>
                <a:tc>
                  <a:txBody>
                    <a:bodyPr/>
                    <a:lstStyle/>
                    <a:p>
                      <a:pPr algn="ctr"/>
                      <a:r>
                        <a:rPr lang="en-PH" sz="2000" dirty="0" smtClean="0"/>
                        <a:t>Gap</a:t>
                      </a:r>
                      <a:endParaRPr lang="en-PH" sz="2000" dirty="0"/>
                    </a:p>
                  </a:txBody>
                  <a:tcPr/>
                </a:tc>
              </a:tr>
              <a:tr h="580539">
                <a:tc>
                  <a:txBody>
                    <a:bodyPr/>
                    <a:lstStyle/>
                    <a:p>
                      <a:pPr algn="ctr"/>
                      <a:r>
                        <a:rPr lang="en-PH" sz="3200" dirty="0" smtClean="0"/>
                        <a:t>9</a:t>
                      </a:r>
                      <a:endParaRPr lang="en-PH" sz="3200" dirty="0"/>
                    </a:p>
                  </a:txBody>
                  <a:tcPr/>
                </a:tc>
                <a:tc>
                  <a:txBody>
                    <a:bodyPr/>
                    <a:lstStyle/>
                    <a:p>
                      <a:pPr algn="ctr"/>
                      <a:endParaRPr lang="en-PH" sz="2000" dirty="0" smtClean="0"/>
                    </a:p>
                    <a:p>
                      <a:pPr algn="ctr"/>
                      <a:r>
                        <a:rPr lang="en-PH" sz="2000" dirty="0" smtClean="0"/>
                        <a:t>1</a:t>
                      </a:r>
                      <a:endParaRPr lang="en-PH" sz="2000" dirty="0"/>
                    </a:p>
                  </a:txBody>
                  <a:tcPr/>
                </a:tc>
              </a:tr>
              <a:tr h="580539">
                <a:tc>
                  <a:txBody>
                    <a:bodyPr/>
                    <a:lstStyle/>
                    <a:p>
                      <a:pPr algn="ctr"/>
                      <a:r>
                        <a:rPr lang="en-PH" sz="3200" dirty="0" smtClean="0"/>
                        <a:t>8</a:t>
                      </a:r>
                      <a:endParaRPr lang="en-PH" sz="3200" dirty="0"/>
                    </a:p>
                  </a:txBody>
                  <a:tcPr/>
                </a:tc>
                <a:tc>
                  <a:txBody>
                    <a:bodyPr/>
                    <a:lstStyle/>
                    <a:p>
                      <a:pPr algn="ctr"/>
                      <a:endParaRPr lang="en-PH" sz="2000" dirty="0" smtClean="0"/>
                    </a:p>
                    <a:p>
                      <a:pPr algn="ctr"/>
                      <a:r>
                        <a:rPr lang="en-PH" sz="2000" dirty="0" smtClean="0"/>
                        <a:t>1</a:t>
                      </a:r>
                      <a:endParaRPr lang="en-PH" sz="2000" dirty="0"/>
                    </a:p>
                  </a:txBody>
                  <a:tcPr/>
                </a:tc>
              </a:tr>
              <a:tr h="580539">
                <a:tc>
                  <a:txBody>
                    <a:bodyPr/>
                    <a:lstStyle/>
                    <a:p>
                      <a:pPr algn="ctr"/>
                      <a:r>
                        <a:rPr lang="en-PH" sz="3200" dirty="0" smtClean="0"/>
                        <a:t>7</a:t>
                      </a:r>
                      <a:endParaRPr lang="en-PH" sz="3200" dirty="0"/>
                    </a:p>
                  </a:txBody>
                  <a:tcPr/>
                </a:tc>
                <a:tc>
                  <a:txBody>
                    <a:bodyPr/>
                    <a:lstStyle/>
                    <a:p>
                      <a:pPr algn="ctr"/>
                      <a:endParaRPr lang="en-PH" sz="2000" dirty="0" smtClean="0"/>
                    </a:p>
                    <a:p>
                      <a:pPr algn="ctr"/>
                      <a:r>
                        <a:rPr lang="en-PH" sz="2000" dirty="0" smtClean="0"/>
                        <a:t>1</a:t>
                      </a:r>
                      <a:endParaRPr lang="en-PH" sz="2000" dirty="0"/>
                    </a:p>
                  </a:txBody>
                  <a:tcPr/>
                </a:tc>
              </a:tr>
              <a:tr h="580539">
                <a:tc>
                  <a:txBody>
                    <a:bodyPr/>
                    <a:lstStyle/>
                    <a:p>
                      <a:pPr algn="ctr"/>
                      <a:r>
                        <a:rPr lang="en-PH" sz="3200" dirty="0" smtClean="0"/>
                        <a:t>6</a:t>
                      </a:r>
                      <a:endParaRPr lang="en-PH" sz="3200" dirty="0"/>
                    </a:p>
                  </a:txBody>
                  <a:tcPr/>
                </a:tc>
                <a:tc>
                  <a:txBody>
                    <a:bodyPr/>
                    <a:lstStyle/>
                    <a:p>
                      <a:pPr algn="ctr"/>
                      <a:endParaRPr lang="en-PH" sz="2000" dirty="0" smtClean="0"/>
                    </a:p>
                    <a:p>
                      <a:pPr algn="ctr"/>
                      <a:r>
                        <a:rPr lang="en-PH" sz="2000" dirty="0" smtClean="0"/>
                        <a:t>1</a:t>
                      </a:r>
                      <a:endParaRPr lang="en-PH" sz="2000" dirty="0"/>
                    </a:p>
                  </a:txBody>
                  <a:tcPr/>
                </a:tc>
              </a:tr>
              <a:tr h="580539">
                <a:tc>
                  <a:txBody>
                    <a:bodyPr/>
                    <a:lstStyle/>
                    <a:p>
                      <a:pPr algn="ctr"/>
                      <a:r>
                        <a:rPr lang="en-PH" sz="3200" dirty="0" smtClean="0"/>
                        <a:t>5</a:t>
                      </a:r>
                      <a:endParaRPr lang="en-PH" sz="3200" dirty="0"/>
                    </a:p>
                  </a:txBody>
                  <a:tcPr/>
                </a:tc>
                <a:tc>
                  <a:txBody>
                    <a:bodyPr/>
                    <a:lstStyle/>
                    <a:p>
                      <a:pPr algn="ctr"/>
                      <a:endParaRPr lang="en-PH" sz="2000" dirty="0" smtClean="0"/>
                    </a:p>
                    <a:p>
                      <a:pPr algn="ctr"/>
                      <a:r>
                        <a:rPr lang="en-PH" sz="2000" dirty="0" smtClean="0"/>
                        <a:t>1</a:t>
                      </a:r>
                      <a:endParaRPr lang="en-PH" sz="2000" dirty="0"/>
                    </a:p>
                  </a:txBody>
                  <a:tcPr/>
                </a:tc>
              </a:tr>
              <a:tr h="580539">
                <a:tc>
                  <a:txBody>
                    <a:bodyPr/>
                    <a:lstStyle/>
                    <a:p>
                      <a:pPr algn="ctr"/>
                      <a:r>
                        <a:rPr lang="en-PH" sz="3200" dirty="0" smtClean="0"/>
                        <a:t>4</a:t>
                      </a:r>
                      <a:endParaRPr lang="en-PH" sz="3200" dirty="0"/>
                    </a:p>
                  </a:txBody>
                  <a:tcPr/>
                </a:tc>
                <a:tc>
                  <a:txBody>
                    <a:bodyPr/>
                    <a:lstStyle/>
                    <a:p>
                      <a:pPr algn="ctr"/>
                      <a:endParaRPr lang="en-PH" sz="2000" dirty="0" smtClean="0"/>
                    </a:p>
                    <a:p>
                      <a:pPr algn="ctr"/>
                      <a:r>
                        <a:rPr lang="en-PH" sz="2000" dirty="0" smtClean="0"/>
                        <a:t>1</a:t>
                      </a:r>
                      <a:endParaRPr lang="en-PH" sz="2000" dirty="0"/>
                    </a:p>
                  </a:txBody>
                  <a:tcPr/>
                </a:tc>
              </a:tr>
            </a:tbl>
          </a:graphicData>
        </a:graphic>
      </p:graphicFrame>
      <p:sp>
        <p:nvSpPr>
          <p:cNvPr id="3" name="Date Placeholder 2"/>
          <p:cNvSpPr>
            <a:spLocks noGrp="1"/>
          </p:cNvSpPr>
          <p:nvPr>
            <p:ph type="dt" sz="half" idx="10"/>
          </p:nvPr>
        </p:nvSpPr>
        <p:spPr/>
        <p:txBody>
          <a:bodyPr/>
          <a:lstStyle/>
          <a:p>
            <a:fld id="{80D60123-3E84-4DAE-95E0-740938538BD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Types of Data</a:t>
            </a:r>
            <a:endParaRPr lang="en-PH" dirty="0"/>
          </a:p>
        </p:txBody>
      </p:sp>
      <p:sp>
        <p:nvSpPr>
          <p:cNvPr id="3" name="Content Placeholder 2"/>
          <p:cNvSpPr>
            <a:spLocks noGrp="1"/>
          </p:cNvSpPr>
          <p:nvPr>
            <p:ph idx="1"/>
          </p:nvPr>
        </p:nvSpPr>
        <p:spPr>
          <a:xfrm>
            <a:off x="866441" y="2489200"/>
            <a:ext cx="7667959" cy="3530600"/>
          </a:xfrm>
        </p:spPr>
        <p:txBody>
          <a:bodyPr>
            <a:normAutofit fontScale="92500" lnSpcReduction="10000"/>
          </a:bodyPr>
          <a:lstStyle/>
          <a:p>
            <a:pPr algn="just">
              <a:buNone/>
            </a:pPr>
            <a:r>
              <a:rPr lang="en-PH" dirty="0" smtClean="0"/>
              <a:t>4</a:t>
            </a:r>
            <a:r>
              <a:rPr lang="en-PH" sz="2800" dirty="0" smtClean="0"/>
              <a:t>. </a:t>
            </a:r>
            <a:r>
              <a:rPr lang="en-PH" sz="2800" b="1" dirty="0" smtClean="0"/>
              <a:t>RATIO DATA. </a:t>
            </a:r>
            <a:r>
              <a:rPr lang="en-PH" sz="2800" dirty="0" smtClean="0"/>
              <a:t>The highest type of data that combine the characteristics of other data. There is greater than and greater relationship and the gap is equidistant. The difference between and ratio and interval data is in the zero. The zero in ratio data is absolute.</a:t>
            </a:r>
          </a:p>
          <a:p>
            <a:pPr algn="just">
              <a:buNone/>
            </a:pPr>
            <a:r>
              <a:rPr lang="en-PH" sz="2800" b="1" dirty="0" smtClean="0"/>
              <a:t>	Example: </a:t>
            </a:r>
            <a:r>
              <a:rPr lang="en-PH" sz="2800" dirty="0" smtClean="0"/>
              <a:t>income, weight gain, Kelvin temperature scale</a:t>
            </a:r>
            <a:r>
              <a:rPr lang="en-PH" dirty="0" smtClean="0"/>
              <a:t>.</a:t>
            </a:r>
            <a:endParaRPr lang="en-PH" b="1" dirty="0"/>
          </a:p>
        </p:txBody>
      </p:sp>
      <p:sp>
        <p:nvSpPr>
          <p:cNvPr id="4" name="Date Placeholder 3"/>
          <p:cNvSpPr>
            <a:spLocks noGrp="1"/>
          </p:cNvSpPr>
          <p:nvPr>
            <p:ph type="dt" sz="half" idx="10"/>
          </p:nvPr>
        </p:nvSpPr>
        <p:spPr/>
        <p:txBody>
          <a:bodyPr/>
          <a:lstStyle/>
          <a:p>
            <a:fld id="{9B424C8F-F3E1-45BB-9427-368ACB373D7D}"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QUESTION</a:t>
            </a:r>
            <a:endParaRPr lang="en-PH" dirty="0"/>
          </a:p>
        </p:txBody>
      </p:sp>
      <p:sp>
        <p:nvSpPr>
          <p:cNvPr id="3" name="Content Placeholder 2"/>
          <p:cNvSpPr>
            <a:spLocks noGrp="1"/>
          </p:cNvSpPr>
          <p:nvPr>
            <p:ph idx="1"/>
          </p:nvPr>
        </p:nvSpPr>
        <p:spPr>
          <a:xfrm>
            <a:off x="866441" y="2489200"/>
            <a:ext cx="7515559" cy="3530600"/>
          </a:xfrm>
        </p:spPr>
        <p:txBody>
          <a:bodyPr>
            <a:normAutofit/>
          </a:bodyPr>
          <a:lstStyle/>
          <a:p>
            <a:r>
              <a:rPr lang="en-PH" sz="3200" b="1" dirty="0" smtClean="0"/>
              <a:t>The score of the students in the test is what kind of data?</a:t>
            </a:r>
          </a:p>
          <a:p>
            <a:r>
              <a:rPr lang="en-PH" sz="3200" b="1" dirty="0" smtClean="0"/>
              <a:t>A. Nominal</a:t>
            </a:r>
          </a:p>
          <a:p>
            <a:r>
              <a:rPr lang="en-PH" sz="3200" b="1" dirty="0" smtClean="0"/>
              <a:t>B. Interval </a:t>
            </a:r>
          </a:p>
          <a:p>
            <a:r>
              <a:rPr lang="en-PH" sz="3200" b="1" dirty="0" smtClean="0"/>
              <a:t>C. Ordinal</a:t>
            </a:r>
          </a:p>
          <a:p>
            <a:r>
              <a:rPr lang="en-PH" sz="3200" b="1" dirty="0" smtClean="0"/>
              <a:t>D. Ratio</a:t>
            </a:r>
            <a:endParaRPr lang="en-PH" sz="3200" b="1" dirty="0"/>
          </a:p>
        </p:txBody>
      </p:sp>
      <p:sp>
        <p:nvSpPr>
          <p:cNvPr id="4" name="Date Placeholder 3"/>
          <p:cNvSpPr>
            <a:spLocks noGrp="1"/>
          </p:cNvSpPr>
          <p:nvPr>
            <p:ph type="dt" sz="half" idx="10"/>
          </p:nvPr>
        </p:nvSpPr>
        <p:spPr/>
        <p:txBody>
          <a:bodyPr/>
          <a:lstStyle/>
          <a:p>
            <a:fld id="{8A10EF92-7FA0-4BFA-896B-6071534BC05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15</a:t>
            </a:fld>
            <a:endParaRPr lang="en-PH"/>
          </a:p>
        </p:txBody>
      </p:sp>
    </p:spTree>
    <p:extLst>
      <p:ext uri="{BB962C8B-B14F-4D97-AF65-F5344CB8AC3E}">
        <p14:creationId xmlns:p14="http://schemas.microsoft.com/office/powerpoint/2010/main" val="23197646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Other classification of data</a:t>
            </a:r>
            <a:endParaRPr lang="en-PH" dirty="0"/>
          </a:p>
        </p:txBody>
      </p:sp>
      <p:sp>
        <p:nvSpPr>
          <p:cNvPr id="3" name="Content Placeholder 2"/>
          <p:cNvSpPr>
            <a:spLocks noGrp="1"/>
          </p:cNvSpPr>
          <p:nvPr>
            <p:ph idx="1"/>
          </p:nvPr>
        </p:nvSpPr>
        <p:spPr/>
        <p:txBody>
          <a:bodyPr>
            <a:normAutofit/>
          </a:bodyPr>
          <a:lstStyle/>
          <a:p>
            <a:pPr marL="550926" indent="-514350">
              <a:buAutoNum type="arabicPeriod"/>
            </a:pPr>
            <a:r>
              <a:rPr lang="en-PH" sz="4400" dirty="0" smtClean="0"/>
              <a:t>DISCRETE</a:t>
            </a:r>
          </a:p>
          <a:p>
            <a:pPr marL="550926" indent="-514350">
              <a:buAutoNum type="arabicPeriod"/>
            </a:pPr>
            <a:r>
              <a:rPr lang="en-PH" sz="4400" dirty="0" smtClean="0"/>
              <a:t>CONTINUOUS</a:t>
            </a:r>
            <a:endParaRPr lang="en-PH" sz="4400" dirty="0"/>
          </a:p>
        </p:txBody>
      </p:sp>
      <p:sp>
        <p:nvSpPr>
          <p:cNvPr id="4" name="Date Placeholder 3"/>
          <p:cNvSpPr>
            <a:spLocks noGrp="1"/>
          </p:cNvSpPr>
          <p:nvPr>
            <p:ph type="dt" sz="half" idx="10"/>
          </p:nvPr>
        </p:nvSpPr>
        <p:spPr/>
        <p:txBody>
          <a:bodyPr/>
          <a:lstStyle/>
          <a:p>
            <a:fld id="{6461B9D4-4AF2-40B7-B1FE-953FFC8EE601}"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REMEMBER THESE PAIRINGS</a:t>
            </a:r>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29712277"/>
              </p:ext>
            </p:extLst>
          </p:nvPr>
        </p:nvGraphicFramePr>
        <p:xfrm>
          <a:off x="457199" y="2133600"/>
          <a:ext cx="8382000" cy="4495800"/>
        </p:xfrm>
        <a:graphic>
          <a:graphicData uri="http://schemas.openxmlformats.org/drawingml/2006/table">
            <a:tbl>
              <a:tblPr firstRow="1" bandRow="1">
                <a:tableStyleId>{5C22544A-7EE6-4342-B048-85BDC9FD1C3A}</a:tableStyleId>
              </a:tblPr>
              <a:tblGrid>
                <a:gridCol w="2480389"/>
                <a:gridCol w="3107611"/>
                <a:gridCol w="2794000"/>
              </a:tblGrid>
              <a:tr h="899160">
                <a:tc>
                  <a:txBody>
                    <a:bodyPr/>
                    <a:lstStyle/>
                    <a:p>
                      <a:r>
                        <a:rPr lang="en-PH" dirty="0" smtClean="0"/>
                        <a:t>DATA</a:t>
                      </a:r>
                      <a:endParaRPr lang="en-PH" dirty="0"/>
                    </a:p>
                  </a:txBody>
                  <a:tcPr marL="77677" marR="77677"/>
                </a:tc>
                <a:tc>
                  <a:txBody>
                    <a:bodyPr/>
                    <a:lstStyle/>
                    <a:p>
                      <a:r>
                        <a:rPr lang="en-PH" dirty="0" smtClean="0"/>
                        <a:t>MEASURES</a:t>
                      </a:r>
                      <a:r>
                        <a:rPr lang="en-PH" baseline="0" dirty="0" smtClean="0"/>
                        <a:t> OF CENTRAL TENDENCY</a:t>
                      </a:r>
                      <a:endParaRPr lang="en-PH" dirty="0"/>
                    </a:p>
                  </a:txBody>
                  <a:tcPr marL="77677" marR="77677"/>
                </a:tc>
                <a:tc>
                  <a:txBody>
                    <a:bodyPr/>
                    <a:lstStyle/>
                    <a:p>
                      <a:r>
                        <a:rPr lang="en-PH" dirty="0" smtClean="0"/>
                        <a:t>MEASURES OF VARIABILITY</a:t>
                      </a:r>
                      <a:endParaRPr lang="en-PH" dirty="0"/>
                    </a:p>
                  </a:txBody>
                  <a:tcPr marL="77677" marR="77677"/>
                </a:tc>
              </a:tr>
              <a:tr h="899160">
                <a:tc>
                  <a:txBody>
                    <a:bodyPr/>
                    <a:lstStyle/>
                    <a:p>
                      <a:pPr marL="342900" indent="-342900">
                        <a:buAutoNum type="arabicPeriod"/>
                      </a:pPr>
                      <a:r>
                        <a:rPr lang="en-PH" sz="2400" b="1" baseline="0" dirty="0" smtClean="0"/>
                        <a:t>NOMINAL</a:t>
                      </a:r>
                    </a:p>
                    <a:p>
                      <a:pPr marL="342900" indent="-342900">
                        <a:buNone/>
                      </a:pPr>
                      <a:endParaRPr lang="en-PH" sz="2400" b="1" dirty="0"/>
                    </a:p>
                  </a:txBody>
                  <a:tcPr marL="77677" marR="77677"/>
                </a:tc>
                <a:tc>
                  <a:txBody>
                    <a:bodyPr/>
                    <a:lstStyle/>
                    <a:p>
                      <a:r>
                        <a:rPr lang="en-PH" sz="2400" b="1" dirty="0" smtClean="0"/>
                        <a:t>MODE</a:t>
                      </a:r>
                      <a:endParaRPr lang="en-PH" sz="2400" b="1" dirty="0"/>
                    </a:p>
                  </a:txBody>
                  <a:tcPr marL="77677" marR="77677"/>
                </a:tc>
                <a:tc>
                  <a:txBody>
                    <a:bodyPr/>
                    <a:lstStyle/>
                    <a:p>
                      <a:r>
                        <a:rPr lang="en-PH" sz="2400" b="1" dirty="0" smtClean="0"/>
                        <a:t>RANGE</a:t>
                      </a:r>
                      <a:endParaRPr lang="en-PH" sz="2400" b="1" dirty="0"/>
                    </a:p>
                  </a:txBody>
                  <a:tcPr marL="77677" marR="77677"/>
                </a:tc>
              </a:tr>
              <a:tr h="899160">
                <a:tc>
                  <a:txBody>
                    <a:bodyPr/>
                    <a:lstStyle/>
                    <a:p>
                      <a:r>
                        <a:rPr lang="en-PH" sz="2400" b="1" dirty="0" smtClean="0"/>
                        <a:t>2.   ORDINAL</a:t>
                      </a:r>
                      <a:endParaRPr lang="en-PH" sz="2400" b="1" dirty="0"/>
                    </a:p>
                  </a:txBody>
                  <a:tcPr marL="77677" marR="77677"/>
                </a:tc>
                <a:tc>
                  <a:txBody>
                    <a:bodyPr/>
                    <a:lstStyle/>
                    <a:p>
                      <a:r>
                        <a:rPr lang="en-PH" sz="2400" b="1" dirty="0" smtClean="0"/>
                        <a:t>MEDIAN</a:t>
                      </a:r>
                      <a:endParaRPr lang="en-PH" sz="2400" b="1" dirty="0"/>
                    </a:p>
                  </a:txBody>
                  <a:tcPr marL="77677" marR="77677"/>
                </a:tc>
                <a:tc>
                  <a:txBody>
                    <a:bodyPr/>
                    <a:lstStyle/>
                    <a:p>
                      <a:r>
                        <a:rPr lang="en-PH" sz="2400" b="1" dirty="0" smtClean="0"/>
                        <a:t>QUARTILE DEVIATION</a:t>
                      </a:r>
                      <a:endParaRPr lang="en-PH" sz="2400" b="1" dirty="0"/>
                    </a:p>
                  </a:txBody>
                  <a:tcPr marL="77677" marR="77677"/>
                </a:tc>
              </a:tr>
              <a:tr h="899160">
                <a:tc>
                  <a:txBody>
                    <a:bodyPr/>
                    <a:lstStyle/>
                    <a:p>
                      <a:r>
                        <a:rPr lang="en-PH" sz="2400" b="1" dirty="0" smtClean="0"/>
                        <a:t>3.   INTERVAL</a:t>
                      </a:r>
                      <a:endParaRPr lang="en-PH" sz="2400" b="1" dirty="0"/>
                    </a:p>
                  </a:txBody>
                  <a:tcPr marL="77677" marR="77677"/>
                </a:tc>
                <a:tc>
                  <a:txBody>
                    <a:bodyPr/>
                    <a:lstStyle/>
                    <a:p>
                      <a:r>
                        <a:rPr lang="en-PH" sz="2400" b="1" dirty="0" smtClean="0"/>
                        <a:t>MEAN</a:t>
                      </a:r>
                      <a:endParaRPr lang="en-PH" sz="2400" b="1" dirty="0"/>
                    </a:p>
                  </a:txBody>
                  <a:tcPr marL="77677" marR="77677"/>
                </a:tc>
                <a:tc>
                  <a:txBody>
                    <a:bodyPr/>
                    <a:lstStyle/>
                    <a:p>
                      <a:r>
                        <a:rPr lang="en-PH" sz="2400" b="1" dirty="0" smtClean="0"/>
                        <a:t>STANDARD</a:t>
                      </a:r>
                      <a:r>
                        <a:rPr lang="en-PH" sz="2400" b="1" baseline="0" dirty="0" smtClean="0"/>
                        <a:t> DEVIATION</a:t>
                      </a:r>
                      <a:endParaRPr lang="en-PH" sz="2400" b="1" dirty="0"/>
                    </a:p>
                  </a:txBody>
                  <a:tcPr marL="77677" marR="77677"/>
                </a:tc>
              </a:tr>
              <a:tr h="899160">
                <a:tc>
                  <a:txBody>
                    <a:bodyPr/>
                    <a:lstStyle/>
                    <a:p>
                      <a:pPr marL="342900" indent="-342900">
                        <a:buAutoNum type="arabicPeriod" startAt="4"/>
                      </a:pPr>
                      <a:r>
                        <a:rPr lang="en-PH" sz="2400" b="1" dirty="0" smtClean="0"/>
                        <a:t>RATIO</a:t>
                      </a:r>
                    </a:p>
                    <a:p>
                      <a:pPr marL="342900" indent="-342900">
                        <a:buNone/>
                      </a:pPr>
                      <a:endParaRPr lang="en-PH" sz="2400" b="1" dirty="0"/>
                    </a:p>
                  </a:txBody>
                  <a:tcPr marL="77677" marR="77677"/>
                </a:tc>
                <a:tc>
                  <a:txBody>
                    <a:bodyPr/>
                    <a:lstStyle/>
                    <a:p>
                      <a:r>
                        <a:rPr lang="en-PH" sz="2400" b="1" dirty="0" smtClean="0"/>
                        <a:t>MEAN</a:t>
                      </a:r>
                      <a:endParaRPr lang="en-PH" sz="2400" b="1" dirty="0"/>
                    </a:p>
                  </a:txBody>
                  <a:tcPr marL="77677" marR="77677"/>
                </a:tc>
                <a:tc>
                  <a:txBody>
                    <a:bodyPr/>
                    <a:lstStyle/>
                    <a:p>
                      <a:r>
                        <a:rPr lang="en-PH" sz="2400" b="1" dirty="0" smtClean="0"/>
                        <a:t>STANDARD DEVIATION</a:t>
                      </a:r>
                      <a:endParaRPr lang="en-PH" sz="2400" b="1" dirty="0"/>
                    </a:p>
                  </a:txBody>
                  <a:tcPr marL="77677" marR="77677"/>
                </a:tc>
              </a:tr>
            </a:tbl>
          </a:graphicData>
        </a:graphic>
      </p:graphicFrame>
      <p:sp>
        <p:nvSpPr>
          <p:cNvPr id="3" name="Date Placeholder 2"/>
          <p:cNvSpPr>
            <a:spLocks noGrp="1"/>
          </p:cNvSpPr>
          <p:nvPr>
            <p:ph type="dt" sz="half" idx="10"/>
          </p:nvPr>
        </p:nvSpPr>
        <p:spPr/>
        <p:txBody>
          <a:bodyPr/>
          <a:lstStyle/>
          <a:p>
            <a:fld id="{BD2A3CDD-CD2F-4364-999B-CEC267B2C43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METHODS OF DATA REPRESENTATION</a:t>
            </a:r>
            <a:endParaRPr lang="en-PH" dirty="0"/>
          </a:p>
        </p:txBody>
      </p:sp>
      <p:sp>
        <p:nvSpPr>
          <p:cNvPr id="3" name="Content Placeholder 2"/>
          <p:cNvSpPr>
            <a:spLocks noGrp="1"/>
          </p:cNvSpPr>
          <p:nvPr>
            <p:ph idx="1"/>
          </p:nvPr>
        </p:nvSpPr>
        <p:spPr/>
        <p:txBody>
          <a:bodyPr>
            <a:normAutofit/>
          </a:bodyPr>
          <a:lstStyle/>
          <a:p>
            <a:pPr marL="550926" indent="-514350">
              <a:buAutoNum type="arabicPeriod"/>
            </a:pPr>
            <a:r>
              <a:rPr lang="en-PH" sz="4800" dirty="0" smtClean="0"/>
              <a:t>TEXTUAL</a:t>
            </a:r>
          </a:p>
          <a:p>
            <a:pPr marL="550926" indent="-514350">
              <a:buAutoNum type="arabicPeriod"/>
            </a:pPr>
            <a:r>
              <a:rPr lang="en-PH" sz="4800" dirty="0" smtClean="0"/>
              <a:t>GRAPHICAL</a:t>
            </a:r>
          </a:p>
          <a:p>
            <a:pPr marL="550926" indent="-514350">
              <a:buAutoNum type="arabicPeriod"/>
            </a:pPr>
            <a:r>
              <a:rPr lang="en-PH" sz="4800" dirty="0" smtClean="0"/>
              <a:t>TABULAR</a:t>
            </a:r>
            <a:endParaRPr lang="en-PH" sz="4800" dirty="0"/>
          </a:p>
        </p:txBody>
      </p:sp>
      <p:sp>
        <p:nvSpPr>
          <p:cNvPr id="4" name="Date Placeholder 3"/>
          <p:cNvSpPr>
            <a:spLocks noGrp="1"/>
          </p:cNvSpPr>
          <p:nvPr>
            <p:ph type="dt" sz="half" idx="10"/>
          </p:nvPr>
        </p:nvSpPr>
        <p:spPr/>
        <p:txBody>
          <a:bodyPr/>
          <a:lstStyle/>
          <a:p>
            <a:fld id="{526D0D30-9481-46F0-B03D-CB5DF7A49C2A}"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Textual Data Representation (Words) </a:t>
            </a:r>
            <a:endParaRPr lang="en-PH" dirty="0"/>
          </a:p>
        </p:txBody>
      </p:sp>
      <p:sp>
        <p:nvSpPr>
          <p:cNvPr id="3" name="Content Placeholder 2"/>
          <p:cNvSpPr>
            <a:spLocks noGrp="1"/>
          </p:cNvSpPr>
          <p:nvPr>
            <p:ph idx="1"/>
          </p:nvPr>
        </p:nvSpPr>
        <p:spPr/>
        <p:txBody>
          <a:bodyPr>
            <a:normAutofit/>
          </a:bodyPr>
          <a:lstStyle/>
          <a:p>
            <a:r>
              <a:rPr lang="en-PH" sz="5400" dirty="0" smtClean="0"/>
              <a:t>30 of 40 students or 75% got scores better than 15 in a test of 20 items.</a:t>
            </a:r>
            <a:endParaRPr lang="en-PH" sz="5400" dirty="0"/>
          </a:p>
        </p:txBody>
      </p:sp>
      <p:sp>
        <p:nvSpPr>
          <p:cNvPr id="4" name="Date Placeholder 3"/>
          <p:cNvSpPr>
            <a:spLocks noGrp="1"/>
          </p:cNvSpPr>
          <p:nvPr>
            <p:ph type="dt" sz="half" idx="10"/>
          </p:nvPr>
        </p:nvSpPr>
        <p:spPr/>
        <p:txBody>
          <a:bodyPr/>
          <a:lstStyle/>
          <a:p>
            <a:fld id="{58DA0112-5FB2-4236-86A6-194AF76587BD}"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Graphical Representation: Line Graph/Frequency Polygon</a:t>
            </a:r>
            <a:endParaRPr lang="en-PH" dirty="0"/>
          </a:p>
        </p:txBody>
      </p:sp>
      <p:pic>
        <p:nvPicPr>
          <p:cNvPr id="4" name="Content Placeholder 3" descr="line graph.jpg"/>
          <p:cNvPicPr>
            <a:picLocks noGrp="1" noChangeAspect="1"/>
          </p:cNvPicPr>
          <p:nvPr>
            <p:ph idx="1"/>
          </p:nvPr>
        </p:nvPicPr>
        <p:blipFill>
          <a:blip r:embed="rId2" cstate="print"/>
          <a:stretch>
            <a:fillRect/>
          </a:stretch>
        </p:blipFill>
        <p:spPr>
          <a:xfrm>
            <a:off x="1600200" y="1981200"/>
            <a:ext cx="6858000" cy="3810000"/>
          </a:xfrm>
        </p:spPr>
      </p:pic>
      <p:sp>
        <p:nvSpPr>
          <p:cNvPr id="3" name="Date Placeholder 2"/>
          <p:cNvSpPr>
            <a:spLocks noGrp="1"/>
          </p:cNvSpPr>
          <p:nvPr>
            <p:ph type="dt" sz="half" idx="10"/>
          </p:nvPr>
        </p:nvSpPr>
        <p:spPr/>
        <p:txBody>
          <a:bodyPr/>
          <a:lstStyle/>
          <a:p>
            <a:fld id="{FBDF27BD-D43F-4B59-84BA-06B8E5514EE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Bar Graph</a:t>
            </a:r>
            <a:endParaRPr lang="en-PH" dirty="0"/>
          </a:p>
        </p:txBody>
      </p:sp>
      <p:pic>
        <p:nvPicPr>
          <p:cNvPr id="1026" name="Picture 2" descr="C:\Users\ACER\Downloads\bar graph.jpg"/>
          <p:cNvPicPr>
            <a:picLocks noGrp="1" noChangeAspect="1" noChangeArrowheads="1"/>
          </p:cNvPicPr>
          <p:nvPr>
            <p:ph idx="1"/>
          </p:nvPr>
        </p:nvPicPr>
        <p:blipFill>
          <a:blip r:embed="rId2" cstate="print"/>
          <a:srcRect/>
          <a:stretch>
            <a:fillRect/>
          </a:stretch>
        </p:blipFill>
        <p:spPr bwMode="auto">
          <a:xfrm>
            <a:off x="1600200" y="1295400"/>
            <a:ext cx="6934200" cy="4800600"/>
          </a:xfrm>
          <a:prstGeom prst="rect">
            <a:avLst/>
          </a:prstGeom>
          <a:noFill/>
        </p:spPr>
      </p:pic>
      <p:sp>
        <p:nvSpPr>
          <p:cNvPr id="3" name="Date Placeholder 2"/>
          <p:cNvSpPr>
            <a:spLocks noGrp="1"/>
          </p:cNvSpPr>
          <p:nvPr>
            <p:ph type="dt" sz="half" idx="10"/>
          </p:nvPr>
        </p:nvSpPr>
        <p:spPr/>
        <p:txBody>
          <a:bodyPr/>
          <a:lstStyle/>
          <a:p>
            <a:fld id="{948F7131-9342-4F86-AD3D-E147AF89284D}" type="datetime1">
              <a:rPr lang="en-PH" smtClean="0"/>
              <a:t>01/10/2017</a:t>
            </a:fld>
            <a:endParaRPr lang="en-PH"/>
          </a:p>
        </p:txBody>
      </p:sp>
      <p:sp>
        <p:nvSpPr>
          <p:cNvPr id="4" name="Footer Placeholder 3"/>
          <p:cNvSpPr>
            <a:spLocks noGrp="1"/>
          </p:cNvSpPr>
          <p:nvPr>
            <p:ph type="ftr" sz="quarter" idx="11"/>
          </p:nvPr>
        </p:nvSpPr>
        <p:spPr/>
        <p:txBody>
          <a:bodyPr/>
          <a:lstStyle/>
          <a:p>
            <a:r>
              <a:rPr lang="en-PH" smtClean="0"/>
              <a:t>Sir Crespo- UA</a:t>
            </a:r>
            <a:endParaRPr lang="en-PH"/>
          </a:p>
        </p:txBody>
      </p:sp>
      <p:sp>
        <p:nvSpPr>
          <p:cNvPr id="5" name="Slide Number Placeholder 4"/>
          <p:cNvSpPr>
            <a:spLocks noGrp="1"/>
          </p:cNvSpPr>
          <p:nvPr>
            <p:ph type="sldNum" sz="quarter" idx="12"/>
          </p:nvPr>
        </p:nvSpPr>
        <p:spPr/>
        <p:txBody>
          <a:bodyPr/>
          <a:lstStyle/>
          <a:p>
            <a:fld id="{A2AF10DC-0514-439A-9D3C-470D8338320C}" type="slidenum">
              <a:rPr lang="en-PH" smtClean="0"/>
              <a:pPr/>
              <a:t>21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histogram.jpg"/>
          <p:cNvPicPr>
            <a:picLocks noGrp="1" noChangeAspect="1"/>
          </p:cNvPicPr>
          <p:nvPr>
            <p:ph idx="1"/>
          </p:nvPr>
        </p:nvPicPr>
        <p:blipFill>
          <a:blip r:embed="rId2" cstate="print"/>
          <a:stretch>
            <a:fillRect/>
          </a:stretch>
        </p:blipFill>
        <p:spPr>
          <a:xfrm>
            <a:off x="1600200" y="1752600"/>
            <a:ext cx="6629400" cy="4419600"/>
          </a:xfrm>
        </p:spPr>
      </p:pic>
      <p:sp>
        <p:nvSpPr>
          <p:cNvPr id="3" name="Date Placeholder 2"/>
          <p:cNvSpPr>
            <a:spLocks noGrp="1"/>
          </p:cNvSpPr>
          <p:nvPr>
            <p:ph type="dt" sz="half" idx="10"/>
          </p:nvPr>
        </p:nvSpPr>
        <p:spPr/>
        <p:txBody>
          <a:bodyPr/>
          <a:lstStyle/>
          <a:p>
            <a:fld id="{FF371E39-017D-48A4-B3D5-34703759DA4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Frequency Distribution</a:t>
            </a:r>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31380484"/>
              </p:ext>
            </p:extLst>
          </p:nvPr>
        </p:nvGraphicFramePr>
        <p:xfrm>
          <a:off x="866774" y="2489200"/>
          <a:ext cx="7134225" cy="4953000"/>
        </p:xfrm>
        <a:graphic>
          <a:graphicData uri="http://schemas.openxmlformats.org/drawingml/2006/table">
            <a:tbl>
              <a:tblPr firstRow="1" bandRow="1">
                <a:tableStyleId>{5C22544A-7EE6-4342-B048-85BDC9FD1C3A}</a:tableStyleId>
              </a:tblPr>
              <a:tblGrid>
                <a:gridCol w="1679352"/>
                <a:gridCol w="942370"/>
                <a:gridCol w="1087350"/>
                <a:gridCol w="1047079"/>
                <a:gridCol w="1189037"/>
                <a:gridCol w="1189037"/>
              </a:tblGrid>
              <a:tr h="825500">
                <a:tc>
                  <a:txBody>
                    <a:bodyPr/>
                    <a:lstStyle/>
                    <a:p>
                      <a:r>
                        <a:rPr lang="en-PH" dirty="0" smtClean="0"/>
                        <a:t>CLASS</a:t>
                      </a:r>
                    </a:p>
                    <a:p>
                      <a:r>
                        <a:rPr lang="en-PH" dirty="0" smtClean="0"/>
                        <a:t>INTERVAL</a:t>
                      </a:r>
                      <a:endParaRPr lang="en-PH" dirty="0"/>
                    </a:p>
                  </a:txBody>
                  <a:tcPr marL="77348" marR="77348"/>
                </a:tc>
                <a:tc>
                  <a:txBody>
                    <a:bodyPr/>
                    <a:lstStyle/>
                    <a:p>
                      <a:endParaRPr lang="en-PH" dirty="0" smtClean="0"/>
                    </a:p>
                    <a:p>
                      <a:r>
                        <a:rPr lang="en-PH" dirty="0" smtClean="0"/>
                        <a:t>    F</a:t>
                      </a:r>
                      <a:endParaRPr lang="en-PH" dirty="0"/>
                    </a:p>
                  </a:txBody>
                  <a:tcPr marL="77348" marR="77348"/>
                </a:tc>
                <a:tc>
                  <a:txBody>
                    <a:bodyPr/>
                    <a:lstStyle/>
                    <a:p>
                      <a:endParaRPr lang="en-PH" dirty="0" smtClean="0"/>
                    </a:p>
                    <a:p>
                      <a:r>
                        <a:rPr lang="en-PH" dirty="0" smtClean="0"/>
                        <a:t>    M</a:t>
                      </a:r>
                      <a:endParaRPr lang="en-PH" dirty="0"/>
                    </a:p>
                  </a:txBody>
                  <a:tcPr marL="77348" marR="77348"/>
                </a:tc>
                <a:tc>
                  <a:txBody>
                    <a:bodyPr/>
                    <a:lstStyle/>
                    <a:p>
                      <a:endParaRPr lang="en-PH" dirty="0" smtClean="0"/>
                    </a:p>
                    <a:p>
                      <a:r>
                        <a:rPr lang="en-PH" dirty="0" smtClean="0"/>
                        <a:t>CF&lt;</a:t>
                      </a:r>
                      <a:endParaRPr lang="en-PH" dirty="0"/>
                    </a:p>
                  </a:txBody>
                  <a:tcPr marL="77348" marR="77348"/>
                </a:tc>
                <a:tc>
                  <a:txBody>
                    <a:bodyPr/>
                    <a:lstStyle/>
                    <a:p>
                      <a:endParaRPr lang="en-PH" dirty="0" smtClean="0"/>
                    </a:p>
                    <a:p>
                      <a:r>
                        <a:rPr lang="en-PH" dirty="0" smtClean="0"/>
                        <a:t>CF&gt;</a:t>
                      </a:r>
                      <a:endParaRPr lang="en-PH" dirty="0"/>
                    </a:p>
                  </a:txBody>
                  <a:tcPr marL="77348" marR="77348"/>
                </a:tc>
                <a:tc>
                  <a:txBody>
                    <a:bodyPr/>
                    <a:lstStyle/>
                    <a:p>
                      <a:endParaRPr lang="en-PH"/>
                    </a:p>
                  </a:txBody>
                  <a:tcPr marL="77348" marR="77348"/>
                </a:tc>
              </a:tr>
              <a:tr h="825500">
                <a:tc>
                  <a:txBody>
                    <a:bodyPr/>
                    <a:lstStyle/>
                    <a:p>
                      <a:pPr algn="ctr"/>
                      <a:endParaRPr lang="en-PH" sz="2400" b="1" dirty="0" smtClean="0"/>
                    </a:p>
                    <a:p>
                      <a:pPr algn="ctr"/>
                      <a:r>
                        <a:rPr lang="en-PH" sz="2400" b="1" dirty="0" smtClean="0"/>
                        <a:t>31-35</a:t>
                      </a:r>
                      <a:endParaRPr lang="en-PH" sz="2400" b="1" dirty="0"/>
                    </a:p>
                  </a:txBody>
                  <a:tcPr marL="77348" marR="77348"/>
                </a:tc>
                <a:tc>
                  <a:txBody>
                    <a:bodyPr/>
                    <a:lstStyle/>
                    <a:p>
                      <a:pPr algn="ctr"/>
                      <a:endParaRPr lang="en-PH" sz="2400" dirty="0" smtClean="0"/>
                    </a:p>
                    <a:p>
                      <a:pPr algn="ctr"/>
                      <a:r>
                        <a:rPr lang="en-PH" sz="2400" dirty="0" smtClean="0"/>
                        <a:t>3</a:t>
                      </a:r>
                      <a:endParaRPr lang="en-PH" sz="2400" dirty="0"/>
                    </a:p>
                  </a:txBody>
                  <a:tcPr marL="77348" marR="77348"/>
                </a:tc>
                <a:tc>
                  <a:txBody>
                    <a:bodyPr/>
                    <a:lstStyle/>
                    <a:p>
                      <a:pPr algn="ctr"/>
                      <a:endParaRPr lang="en-PH" sz="2400" dirty="0" smtClean="0"/>
                    </a:p>
                    <a:p>
                      <a:pPr algn="ctr"/>
                      <a:r>
                        <a:rPr lang="en-PH" sz="2400" dirty="0" smtClean="0"/>
                        <a:t>33</a:t>
                      </a:r>
                      <a:endParaRPr lang="en-PH" sz="2400" dirty="0"/>
                    </a:p>
                  </a:txBody>
                  <a:tcPr marL="77348" marR="77348"/>
                </a:tc>
                <a:tc>
                  <a:txBody>
                    <a:bodyPr/>
                    <a:lstStyle/>
                    <a:p>
                      <a:pPr algn="ctr"/>
                      <a:endParaRPr lang="en-PH" sz="2400" dirty="0" smtClean="0"/>
                    </a:p>
                    <a:p>
                      <a:pPr algn="ctr"/>
                      <a:r>
                        <a:rPr lang="en-PH" sz="2400" dirty="0" smtClean="0"/>
                        <a:t>30</a:t>
                      </a:r>
                      <a:endParaRPr lang="en-PH" sz="2400" dirty="0"/>
                    </a:p>
                  </a:txBody>
                  <a:tcPr marL="77348" marR="77348"/>
                </a:tc>
                <a:tc>
                  <a:txBody>
                    <a:bodyPr/>
                    <a:lstStyle/>
                    <a:p>
                      <a:pPr algn="ctr"/>
                      <a:endParaRPr lang="en-PH" sz="2400" dirty="0" smtClean="0"/>
                    </a:p>
                    <a:p>
                      <a:pPr algn="ctr"/>
                      <a:r>
                        <a:rPr lang="en-PH" sz="2400" dirty="0" smtClean="0"/>
                        <a:t>3</a:t>
                      </a:r>
                      <a:endParaRPr lang="en-PH" sz="2400" dirty="0"/>
                    </a:p>
                  </a:txBody>
                  <a:tcPr marL="77348" marR="77348"/>
                </a:tc>
                <a:tc>
                  <a:txBody>
                    <a:bodyPr/>
                    <a:lstStyle/>
                    <a:p>
                      <a:endParaRPr lang="en-PH"/>
                    </a:p>
                  </a:txBody>
                  <a:tcPr marL="77348" marR="77348"/>
                </a:tc>
              </a:tr>
              <a:tr h="825500">
                <a:tc>
                  <a:txBody>
                    <a:bodyPr/>
                    <a:lstStyle/>
                    <a:p>
                      <a:pPr algn="ctr"/>
                      <a:endParaRPr lang="en-PH" sz="2400" b="1" dirty="0" smtClean="0"/>
                    </a:p>
                    <a:p>
                      <a:pPr algn="ctr"/>
                      <a:r>
                        <a:rPr lang="en-PH" sz="2400" b="1" dirty="0" smtClean="0"/>
                        <a:t>26-30</a:t>
                      </a:r>
                      <a:endParaRPr lang="en-PH" sz="2400" b="1" dirty="0"/>
                    </a:p>
                  </a:txBody>
                  <a:tcPr marL="77348" marR="77348"/>
                </a:tc>
                <a:tc>
                  <a:txBody>
                    <a:bodyPr/>
                    <a:lstStyle/>
                    <a:p>
                      <a:pPr algn="ctr"/>
                      <a:endParaRPr lang="en-PH" sz="2400" dirty="0" smtClean="0"/>
                    </a:p>
                    <a:p>
                      <a:pPr algn="ctr"/>
                      <a:r>
                        <a:rPr lang="en-PH" sz="2400" dirty="0" smtClean="0"/>
                        <a:t>7</a:t>
                      </a:r>
                      <a:endParaRPr lang="en-PH" sz="2400" dirty="0"/>
                    </a:p>
                  </a:txBody>
                  <a:tcPr marL="77348" marR="77348"/>
                </a:tc>
                <a:tc>
                  <a:txBody>
                    <a:bodyPr/>
                    <a:lstStyle/>
                    <a:p>
                      <a:pPr algn="ctr"/>
                      <a:endParaRPr lang="en-PH" sz="2400" dirty="0" smtClean="0"/>
                    </a:p>
                    <a:p>
                      <a:pPr algn="ctr"/>
                      <a:r>
                        <a:rPr lang="en-PH" sz="2400" dirty="0" smtClean="0"/>
                        <a:t>28</a:t>
                      </a:r>
                      <a:endParaRPr lang="en-PH" sz="2400" dirty="0"/>
                    </a:p>
                  </a:txBody>
                  <a:tcPr marL="77348" marR="77348"/>
                </a:tc>
                <a:tc>
                  <a:txBody>
                    <a:bodyPr/>
                    <a:lstStyle/>
                    <a:p>
                      <a:pPr algn="ctr"/>
                      <a:endParaRPr lang="en-PH" sz="2400" dirty="0" smtClean="0"/>
                    </a:p>
                    <a:p>
                      <a:pPr algn="ctr"/>
                      <a:r>
                        <a:rPr lang="en-PH" sz="2400" dirty="0" smtClean="0"/>
                        <a:t>27</a:t>
                      </a:r>
                      <a:endParaRPr lang="en-PH" sz="2400" dirty="0"/>
                    </a:p>
                  </a:txBody>
                  <a:tcPr marL="77348" marR="77348"/>
                </a:tc>
                <a:tc>
                  <a:txBody>
                    <a:bodyPr/>
                    <a:lstStyle/>
                    <a:p>
                      <a:pPr algn="ctr"/>
                      <a:endParaRPr lang="en-PH" sz="2400" dirty="0" smtClean="0"/>
                    </a:p>
                    <a:p>
                      <a:pPr algn="ctr"/>
                      <a:r>
                        <a:rPr lang="en-PH" sz="2400" dirty="0" smtClean="0"/>
                        <a:t>10</a:t>
                      </a:r>
                      <a:endParaRPr lang="en-PH" sz="2400" dirty="0"/>
                    </a:p>
                  </a:txBody>
                  <a:tcPr marL="77348" marR="77348"/>
                </a:tc>
                <a:tc>
                  <a:txBody>
                    <a:bodyPr/>
                    <a:lstStyle/>
                    <a:p>
                      <a:endParaRPr lang="en-PH"/>
                    </a:p>
                  </a:txBody>
                  <a:tcPr marL="77348" marR="77348"/>
                </a:tc>
              </a:tr>
              <a:tr h="825500">
                <a:tc>
                  <a:txBody>
                    <a:bodyPr/>
                    <a:lstStyle/>
                    <a:p>
                      <a:pPr algn="ctr"/>
                      <a:endParaRPr lang="en-PH" sz="2400" b="1" dirty="0" smtClean="0"/>
                    </a:p>
                    <a:p>
                      <a:pPr algn="ctr"/>
                      <a:r>
                        <a:rPr lang="en-PH" sz="2400" b="1" dirty="0" smtClean="0"/>
                        <a:t>21-25</a:t>
                      </a:r>
                      <a:endParaRPr lang="en-PH" sz="2400" b="1" dirty="0"/>
                    </a:p>
                  </a:txBody>
                  <a:tcPr marL="77348" marR="77348"/>
                </a:tc>
                <a:tc>
                  <a:txBody>
                    <a:bodyPr/>
                    <a:lstStyle/>
                    <a:p>
                      <a:pPr algn="ctr"/>
                      <a:endParaRPr lang="en-PH" sz="2400" dirty="0" smtClean="0"/>
                    </a:p>
                    <a:p>
                      <a:pPr algn="ctr"/>
                      <a:r>
                        <a:rPr lang="en-PH" sz="2400" dirty="0" smtClean="0"/>
                        <a:t>10</a:t>
                      </a:r>
                      <a:endParaRPr lang="en-PH" sz="2400" dirty="0"/>
                    </a:p>
                  </a:txBody>
                  <a:tcPr marL="77348" marR="77348"/>
                </a:tc>
                <a:tc>
                  <a:txBody>
                    <a:bodyPr/>
                    <a:lstStyle/>
                    <a:p>
                      <a:pPr algn="ctr"/>
                      <a:endParaRPr lang="en-PH" sz="2400" dirty="0" smtClean="0"/>
                    </a:p>
                    <a:p>
                      <a:pPr algn="ctr"/>
                      <a:r>
                        <a:rPr lang="en-PH" sz="2400" dirty="0" smtClean="0"/>
                        <a:t>21</a:t>
                      </a:r>
                      <a:endParaRPr lang="en-PH" sz="2400" dirty="0"/>
                    </a:p>
                  </a:txBody>
                  <a:tcPr marL="77348" marR="77348"/>
                </a:tc>
                <a:tc>
                  <a:txBody>
                    <a:bodyPr/>
                    <a:lstStyle/>
                    <a:p>
                      <a:pPr algn="ctr"/>
                      <a:endParaRPr lang="en-PH" sz="2400" dirty="0" smtClean="0"/>
                    </a:p>
                    <a:p>
                      <a:pPr algn="ctr"/>
                      <a:r>
                        <a:rPr lang="en-PH" sz="2400" dirty="0" smtClean="0"/>
                        <a:t>20</a:t>
                      </a:r>
                      <a:endParaRPr lang="en-PH" sz="2400" dirty="0"/>
                    </a:p>
                  </a:txBody>
                  <a:tcPr marL="77348" marR="77348"/>
                </a:tc>
                <a:tc>
                  <a:txBody>
                    <a:bodyPr/>
                    <a:lstStyle/>
                    <a:p>
                      <a:pPr algn="ctr"/>
                      <a:endParaRPr lang="en-PH" sz="2400" dirty="0" smtClean="0"/>
                    </a:p>
                    <a:p>
                      <a:pPr algn="ctr"/>
                      <a:r>
                        <a:rPr lang="en-PH" sz="2400" dirty="0" smtClean="0"/>
                        <a:t>20</a:t>
                      </a:r>
                      <a:endParaRPr lang="en-PH" sz="2400" dirty="0"/>
                    </a:p>
                  </a:txBody>
                  <a:tcPr marL="77348" marR="77348"/>
                </a:tc>
                <a:tc>
                  <a:txBody>
                    <a:bodyPr/>
                    <a:lstStyle/>
                    <a:p>
                      <a:endParaRPr lang="en-PH" dirty="0"/>
                    </a:p>
                  </a:txBody>
                  <a:tcPr marL="77348" marR="77348"/>
                </a:tc>
              </a:tr>
              <a:tr h="825500">
                <a:tc>
                  <a:txBody>
                    <a:bodyPr/>
                    <a:lstStyle/>
                    <a:p>
                      <a:pPr algn="ctr"/>
                      <a:endParaRPr lang="en-PH" sz="2400" b="1" dirty="0" smtClean="0"/>
                    </a:p>
                    <a:p>
                      <a:pPr algn="ctr"/>
                      <a:r>
                        <a:rPr lang="en-PH" sz="2400" b="1" dirty="0" smtClean="0"/>
                        <a:t>16-20</a:t>
                      </a:r>
                      <a:endParaRPr lang="en-PH" sz="2400" b="1" dirty="0"/>
                    </a:p>
                  </a:txBody>
                  <a:tcPr marL="77348" marR="77348"/>
                </a:tc>
                <a:tc>
                  <a:txBody>
                    <a:bodyPr/>
                    <a:lstStyle/>
                    <a:p>
                      <a:pPr algn="ctr"/>
                      <a:endParaRPr lang="en-PH" sz="2400" dirty="0" smtClean="0"/>
                    </a:p>
                    <a:p>
                      <a:pPr algn="ctr"/>
                      <a:r>
                        <a:rPr lang="en-PH" sz="2400" dirty="0" smtClean="0"/>
                        <a:t>6</a:t>
                      </a:r>
                      <a:endParaRPr lang="en-PH" sz="2400" dirty="0"/>
                    </a:p>
                  </a:txBody>
                  <a:tcPr marL="77348" marR="77348"/>
                </a:tc>
                <a:tc>
                  <a:txBody>
                    <a:bodyPr/>
                    <a:lstStyle/>
                    <a:p>
                      <a:pPr algn="ctr"/>
                      <a:endParaRPr lang="en-PH" sz="2400" dirty="0" smtClean="0"/>
                    </a:p>
                    <a:p>
                      <a:pPr algn="ctr"/>
                      <a:r>
                        <a:rPr lang="en-PH" sz="2400" dirty="0" smtClean="0"/>
                        <a:t>18</a:t>
                      </a:r>
                      <a:endParaRPr lang="en-PH" sz="2400" dirty="0"/>
                    </a:p>
                  </a:txBody>
                  <a:tcPr marL="77348" marR="77348"/>
                </a:tc>
                <a:tc>
                  <a:txBody>
                    <a:bodyPr/>
                    <a:lstStyle/>
                    <a:p>
                      <a:pPr algn="ctr"/>
                      <a:endParaRPr lang="en-PH" sz="2400" dirty="0" smtClean="0"/>
                    </a:p>
                    <a:p>
                      <a:pPr algn="ctr"/>
                      <a:r>
                        <a:rPr lang="en-PH" sz="2400" dirty="0" smtClean="0"/>
                        <a:t>10</a:t>
                      </a:r>
                      <a:endParaRPr lang="en-PH" sz="2400" dirty="0"/>
                    </a:p>
                  </a:txBody>
                  <a:tcPr marL="77348" marR="77348"/>
                </a:tc>
                <a:tc>
                  <a:txBody>
                    <a:bodyPr/>
                    <a:lstStyle/>
                    <a:p>
                      <a:pPr algn="ctr"/>
                      <a:endParaRPr lang="en-PH" sz="2400" dirty="0" smtClean="0"/>
                    </a:p>
                    <a:p>
                      <a:pPr algn="ctr"/>
                      <a:r>
                        <a:rPr lang="en-PH" sz="2400" dirty="0" smtClean="0"/>
                        <a:t>26</a:t>
                      </a:r>
                      <a:endParaRPr lang="en-PH" sz="2400" dirty="0"/>
                    </a:p>
                  </a:txBody>
                  <a:tcPr marL="77348" marR="77348"/>
                </a:tc>
                <a:tc>
                  <a:txBody>
                    <a:bodyPr/>
                    <a:lstStyle/>
                    <a:p>
                      <a:endParaRPr lang="en-PH"/>
                    </a:p>
                  </a:txBody>
                  <a:tcPr marL="77348" marR="77348"/>
                </a:tc>
              </a:tr>
              <a:tr h="825500">
                <a:tc>
                  <a:txBody>
                    <a:bodyPr/>
                    <a:lstStyle/>
                    <a:p>
                      <a:pPr algn="ctr"/>
                      <a:endParaRPr lang="en-PH" sz="2400" b="1" dirty="0" smtClean="0"/>
                    </a:p>
                    <a:p>
                      <a:pPr algn="ctr"/>
                      <a:r>
                        <a:rPr lang="en-PH" sz="2400" b="1" dirty="0" smtClean="0"/>
                        <a:t>11- 15</a:t>
                      </a:r>
                      <a:endParaRPr lang="en-PH" sz="2400" b="1" dirty="0"/>
                    </a:p>
                  </a:txBody>
                  <a:tcPr marL="77348" marR="77348"/>
                </a:tc>
                <a:tc>
                  <a:txBody>
                    <a:bodyPr/>
                    <a:lstStyle/>
                    <a:p>
                      <a:pPr algn="ctr"/>
                      <a:endParaRPr lang="en-PH" sz="2400" dirty="0" smtClean="0"/>
                    </a:p>
                    <a:p>
                      <a:pPr algn="ctr"/>
                      <a:r>
                        <a:rPr lang="en-PH" sz="2400" dirty="0" smtClean="0"/>
                        <a:t>4</a:t>
                      </a:r>
                      <a:endParaRPr lang="en-PH" sz="2400" dirty="0"/>
                    </a:p>
                  </a:txBody>
                  <a:tcPr marL="77348" marR="77348"/>
                </a:tc>
                <a:tc>
                  <a:txBody>
                    <a:bodyPr/>
                    <a:lstStyle/>
                    <a:p>
                      <a:pPr algn="ctr"/>
                      <a:endParaRPr lang="en-PH" sz="2400" dirty="0" smtClean="0"/>
                    </a:p>
                    <a:p>
                      <a:pPr algn="ctr"/>
                      <a:r>
                        <a:rPr lang="en-PH" sz="2400" dirty="0" smtClean="0"/>
                        <a:t>13</a:t>
                      </a:r>
                      <a:endParaRPr lang="en-PH" sz="2400" dirty="0"/>
                    </a:p>
                  </a:txBody>
                  <a:tcPr marL="77348" marR="77348"/>
                </a:tc>
                <a:tc>
                  <a:txBody>
                    <a:bodyPr/>
                    <a:lstStyle/>
                    <a:p>
                      <a:pPr algn="ctr"/>
                      <a:endParaRPr lang="en-PH" sz="2400" dirty="0" smtClean="0"/>
                    </a:p>
                    <a:p>
                      <a:pPr algn="ctr"/>
                      <a:r>
                        <a:rPr lang="en-PH" sz="2400" dirty="0" smtClean="0"/>
                        <a:t>4</a:t>
                      </a:r>
                      <a:endParaRPr lang="en-PH" sz="2400" dirty="0"/>
                    </a:p>
                  </a:txBody>
                  <a:tcPr marL="77348" marR="77348"/>
                </a:tc>
                <a:tc>
                  <a:txBody>
                    <a:bodyPr/>
                    <a:lstStyle/>
                    <a:p>
                      <a:pPr algn="ctr"/>
                      <a:endParaRPr lang="en-PH" sz="2400" dirty="0" smtClean="0"/>
                    </a:p>
                    <a:p>
                      <a:pPr algn="ctr"/>
                      <a:r>
                        <a:rPr lang="en-PH" sz="2400" dirty="0" smtClean="0"/>
                        <a:t>30</a:t>
                      </a:r>
                      <a:endParaRPr lang="en-PH" sz="2400" dirty="0"/>
                    </a:p>
                  </a:txBody>
                  <a:tcPr marL="77348" marR="77348"/>
                </a:tc>
                <a:tc>
                  <a:txBody>
                    <a:bodyPr/>
                    <a:lstStyle/>
                    <a:p>
                      <a:endParaRPr lang="en-PH" dirty="0"/>
                    </a:p>
                  </a:txBody>
                  <a:tcPr marL="77348" marR="77348"/>
                </a:tc>
              </a:tr>
            </a:tbl>
          </a:graphicData>
        </a:graphic>
      </p:graphicFrame>
      <p:sp>
        <p:nvSpPr>
          <p:cNvPr id="3" name="Date Placeholder 2"/>
          <p:cNvSpPr>
            <a:spLocks noGrp="1"/>
          </p:cNvSpPr>
          <p:nvPr>
            <p:ph type="dt" sz="half" idx="10"/>
          </p:nvPr>
        </p:nvSpPr>
        <p:spPr/>
        <p:txBody>
          <a:bodyPr/>
          <a:lstStyle/>
          <a:p>
            <a:fld id="{3A0CED88-94BB-4971-BBDB-76E5BD62298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Tabular Data Representation: Frequency Polygon</a:t>
            </a:r>
            <a:endParaRPr lang="en-PH" dirty="0"/>
          </a:p>
        </p:txBody>
      </p:sp>
      <p:pic>
        <p:nvPicPr>
          <p:cNvPr id="4" name="Content Placeholder 3" descr="FD.jpg"/>
          <p:cNvPicPr>
            <a:picLocks noGrp="1" noChangeAspect="1"/>
          </p:cNvPicPr>
          <p:nvPr>
            <p:ph idx="1"/>
          </p:nvPr>
        </p:nvPicPr>
        <p:blipFill>
          <a:blip r:embed="rId2" cstate="print"/>
          <a:stretch>
            <a:fillRect/>
          </a:stretch>
        </p:blipFill>
        <p:spPr>
          <a:xfrm>
            <a:off x="381000" y="1752600"/>
            <a:ext cx="8229600" cy="4572000"/>
          </a:xfrm>
        </p:spPr>
      </p:pic>
      <p:sp>
        <p:nvSpPr>
          <p:cNvPr id="3" name="Date Placeholder 2"/>
          <p:cNvSpPr>
            <a:spLocks noGrp="1"/>
          </p:cNvSpPr>
          <p:nvPr>
            <p:ph type="dt" sz="half" idx="10"/>
          </p:nvPr>
        </p:nvSpPr>
        <p:spPr/>
        <p:txBody>
          <a:bodyPr/>
          <a:lstStyle/>
          <a:p>
            <a:fld id="{3085F35D-3FED-4E86-8B1E-39C473C566C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pic>
        <p:nvPicPr>
          <p:cNvPr id="4" name="Content Placeholder 3" descr="FD1.jpg"/>
          <p:cNvPicPr>
            <a:picLocks noGrp="1" noChangeAspect="1"/>
          </p:cNvPicPr>
          <p:nvPr>
            <p:ph idx="1"/>
          </p:nvPr>
        </p:nvPicPr>
        <p:blipFill>
          <a:blip r:embed="rId2" cstate="print"/>
          <a:stretch>
            <a:fillRect/>
          </a:stretch>
        </p:blipFill>
        <p:spPr>
          <a:xfrm>
            <a:off x="1447800" y="1524000"/>
            <a:ext cx="7315200" cy="4953000"/>
          </a:xfrm>
        </p:spPr>
      </p:pic>
      <p:sp>
        <p:nvSpPr>
          <p:cNvPr id="3" name="Date Placeholder 2"/>
          <p:cNvSpPr>
            <a:spLocks noGrp="1"/>
          </p:cNvSpPr>
          <p:nvPr>
            <p:ph type="dt" sz="half" idx="10"/>
          </p:nvPr>
        </p:nvSpPr>
        <p:spPr/>
        <p:txBody>
          <a:bodyPr/>
          <a:lstStyle/>
          <a:p>
            <a:fld id="{D3CEF8BD-0C09-410B-8D41-8972EBF1346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fd2.jpg"/>
          <p:cNvPicPr>
            <a:picLocks noGrp="1" noChangeAspect="1"/>
          </p:cNvPicPr>
          <p:nvPr>
            <p:ph idx="1"/>
          </p:nvPr>
        </p:nvPicPr>
        <p:blipFill>
          <a:blip r:embed="rId2" cstate="print"/>
          <a:stretch>
            <a:fillRect/>
          </a:stretch>
        </p:blipFill>
        <p:spPr>
          <a:xfrm>
            <a:off x="863564" y="2057400"/>
            <a:ext cx="6832636" cy="4191000"/>
          </a:xfrm>
        </p:spPr>
      </p:pic>
      <p:sp>
        <p:nvSpPr>
          <p:cNvPr id="3" name="Date Placeholder 2"/>
          <p:cNvSpPr>
            <a:spLocks noGrp="1"/>
          </p:cNvSpPr>
          <p:nvPr>
            <p:ph type="dt" sz="half" idx="10"/>
          </p:nvPr>
        </p:nvSpPr>
        <p:spPr/>
        <p:txBody>
          <a:bodyPr/>
          <a:lstStyle/>
          <a:p>
            <a:fld id="{71D644DE-4D44-44A2-8F15-FA15847E835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b="1" dirty="0" smtClean="0"/>
              <a:t>MEASURES OF CENTRAL TENDENCY</a:t>
            </a:r>
            <a:endParaRPr lang="en-PH" b="1" dirty="0"/>
          </a:p>
        </p:txBody>
      </p:sp>
      <p:sp>
        <p:nvSpPr>
          <p:cNvPr id="3" name="Content Placeholder 2"/>
          <p:cNvSpPr>
            <a:spLocks noGrp="1"/>
          </p:cNvSpPr>
          <p:nvPr>
            <p:ph idx="1"/>
          </p:nvPr>
        </p:nvSpPr>
        <p:spPr>
          <a:xfrm>
            <a:off x="866441" y="2489200"/>
            <a:ext cx="7667959" cy="3530600"/>
          </a:xfrm>
        </p:spPr>
        <p:txBody>
          <a:bodyPr>
            <a:normAutofit/>
          </a:bodyPr>
          <a:lstStyle/>
          <a:p>
            <a:pPr algn="just"/>
            <a:r>
              <a:rPr lang="en-PH" sz="3200" b="1" dirty="0" smtClean="0"/>
              <a:t>In an array of scores, can a teacher pick up a score that can represent the enter set of scores?</a:t>
            </a:r>
          </a:p>
          <a:p>
            <a:pPr algn="just">
              <a:buNone/>
            </a:pPr>
            <a:r>
              <a:rPr lang="en-PH" sz="3200" b="1" dirty="0" smtClean="0"/>
              <a:t>	Consider these scores:</a:t>
            </a:r>
          </a:p>
          <a:p>
            <a:pPr algn="just">
              <a:buNone/>
            </a:pPr>
            <a:endParaRPr lang="en-PH" sz="3200" b="1" dirty="0" smtClean="0"/>
          </a:p>
          <a:p>
            <a:pPr>
              <a:buNone/>
            </a:pPr>
            <a:r>
              <a:rPr lang="en-PH" sz="2800" b="1" dirty="0" smtClean="0"/>
              <a:t>0, 1, 1, 2,2,3,3,3,5,5,6,6,6,7,7,7,8,8,8,9,10</a:t>
            </a:r>
            <a:endParaRPr lang="en-PH" sz="2800" b="1" dirty="0"/>
          </a:p>
        </p:txBody>
      </p:sp>
      <p:sp>
        <p:nvSpPr>
          <p:cNvPr id="4" name="Date Placeholder 3"/>
          <p:cNvSpPr>
            <a:spLocks noGrp="1"/>
          </p:cNvSpPr>
          <p:nvPr>
            <p:ph type="dt" sz="half" idx="10"/>
          </p:nvPr>
        </p:nvSpPr>
        <p:spPr/>
        <p:txBody>
          <a:bodyPr/>
          <a:lstStyle/>
          <a:p>
            <a:fld id="{F5F47A90-5659-40AF-BEBD-1B8DCE1B5A3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MCT Defined</a:t>
            </a:r>
            <a:endParaRPr lang="en-PH" dirty="0"/>
          </a:p>
        </p:txBody>
      </p:sp>
      <p:sp>
        <p:nvSpPr>
          <p:cNvPr id="3" name="Content Placeholder 2"/>
          <p:cNvSpPr>
            <a:spLocks noGrp="1"/>
          </p:cNvSpPr>
          <p:nvPr>
            <p:ph idx="1"/>
          </p:nvPr>
        </p:nvSpPr>
        <p:spPr>
          <a:xfrm>
            <a:off x="866441" y="2489200"/>
            <a:ext cx="7667959" cy="3530600"/>
          </a:xfrm>
        </p:spPr>
        <p:txBody>
          <a:bodyPr>
            <a:normAutofit/>
          </a:bodyPr>
          <a:lstStyle/>
          <a:p>
            <a:pPr algn="just"/>
            <a:r>
              <a:rPr lang="en-PH" sz="3600" dirty="0" smtClean="0"/>
              <a:t>Scores which are usually found at the center of the distribution that can stand in behalf of the scores of the distribution. They are the averages and they are used to </a:t>
            </a:r>
            <a:r>
              <a:rPr lang="en-PH" sz="3600" b="1" dirty="0" smtClean="0"/>
              <a:t>compare performance </a:t>
            </a:r>
            <a:endParaRPr lang="en-PH" sz="3600" b="1" dirty="0"/>
          </a:p>
        </p:txBody>
      </p:sp>
      <p:sp>
        <p:nvSpPr>
          <p:cNvPr id="4" name="Date Placeholder 3"/>
          <p:cNvSpPr>
            <a:spLocks noGrp="1"/>
          </p:cNvSpPr>
          <p:nvPr>
            <p:ph type="dt" sz="half" idx="10"/>
          </p:nvPr>
        </p:nvSpPr>
        <p:spPr/>
        <p:txBody>
          <a:bodyPr/>
          <a:lstStyle/>
          <a:p>
            <a:fld id="{2D2F97F5-1A66-40ED-990A-3B3AD45CA94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PH" sz="2800" b="1" dirty="0" smtClean="0">
                <a:solidFill>
                  <a:schemeClr val="bg1"/>
                </a:solidFill>
              </a:rPr>
              <a:t>Consider the example below.</a:t>
            </a:r>
            <a:br>
              <a:rPr lang="en-PH" sz="2800" b="1" dirty="0" smtClean="0">
                <a:solidFill>
                  <a:schemeClr val="bg1"/>
                </a:solidFill>
              </a:rPr>
            </a:br>
            <a:r>
              <a:rPr lang="en-PH" sz="2800" b="1" dirty="0" smtClean="0">
                <a:solidFill>
                  <a:schemeClr val="bg1"/>
                </a:solidFill>
              </a:rPr>
              <a:t>Which is the best performing class</a:t>
            </a:r>
            <a:r>
              <a:rPr lang="en-PH" sz="3600" dirty="0" smtClean="0"/>
              <a:t>?</a:t>
            </a:r>
            <a:endParaRPr lang="en-PH"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76307682"/>
              </p:ext>
            </p:extLst>
          </p:nvPr>
        </p:nvGraphicFramePr>
        <p:xfrm>
          <a:off x="457201" y="2489200"/>
          <a:ext cx="7772398" cy="4328160"/>
        </p:xfrm>
        <a:graphic>
          <a:graphicData uri="http://schemas.openxmlformats.org/drawingml/2006/table">
            <a:tbl>
              <a:tblPr firstRow="1" bandRow="1">
                <a:tableStyleId>{5C22544A-7EE6-4342-B048-85BDC9FD1C3A}</a:tableStyleId>
              </a:tblPr>
              <a:tblGrid>
                <a:gridCol w="3886199"/>
                <a:gridCol w="3886199"/>
              </a:tblGrid>
              <a:tr h="555938">
                <a:tc>
                  <a:txBody>
                    <a:bodyPr/>
                    <a:lstStyle/>
                    <a:p>
                      <a:pPr algn="ctr"/>
                      <a:r>
                        <a:rPr lang="en-PH" dirty="0" smtClean="0"/>
                        <a:t>CLASS</a:t>
                      </a:r>
                    </a:p>
                    <a:p>
                      <a:endParaRPr lang="en-PH" dirty="0"/>
                    </a:p>
                  </a:txBody>
                  <a:tcPr marL="77677" marR="77677"/>
                </a:tc>
                <a:tc>
                  <a:txBody>
                    <a:bodyPr/>
                    <a:lstStyle/>
                    <a:p>
                      <a:pPr algn="ctr"/>
                      <a:r>
                        <a:rPr lang="en-PH" dirty="0" smtClean="0"/>
                        <a:t>MEAN</a:t>
                      </a:r>
                      <a:endParaRPr lang="en-PH" dirty="0"/>
                    </a:p>
                  </a:txBody>
                  <a:tcPr marL="77677" marR="77677"/>
                </a:tc>
              </a:tr>
              <a:tr h="926563">
                <a:tc>
                  <a:txBody>
                    <a:bodyPr/>
                    <a:lstStyle/>
                    <a:p>
                      <a:pPr algn="ctr"/>
                      <a:endParaRPr lang="en-PH" sz="3200" b="1" dirty="0" smtClean="0"/>
                    </a:p>
                    <a:p>
                      <a:pPr algn="ctr"/>
                      <a:r>
                        <a:rPr lang="en-PH" sz="3200" b="1" dirty="0" smtClean="0"/>
                        <a:t>CLASS     A</a:t>
                      </a:r>
                      <a:endParaRPr lang="en-PH" sz="3200" b="1" dirty="0"/>
                    </a:p>
                  </a:txBody>
                  <a:tcPr marL="77677" marR="77677"/>
                </a:tc>
                <a:tc>
                  <a:txBody>
                    <a:bodyPr/>
                    <a:lstStyle/>
                    <a:p>
                      <a:pPr algn="ctr"/>
                      <a:endParaRPr lang="en-PH" sz="3200" b="1" dirty="0" smtClean="0"/>
                    </a:p>
                    <a:p>
                      <a:pPr algn="ctr"/>
                      <a:r>
                        <a:rPr lang="en-PH" sz="3200" b="1" dirty="0" smtClean="0"/>
                        <a:t>             45</a:t>
                      </a:r>
                      <a:endParaRPr lang="en-PH" sz="3200" b="1" dirty="0"/>
                    </a:p>
                  </a:txBody>
                  <a:tcPr marL="77677" marR="77677"/>
                </a:tc>
              </a:tr>
              <a:tr h="1350135">
                <a:tc>
                  <a:txBody>
                    <a:bodyPr/>
                    <a:lstStyle/>
                    <a:p>
                      <a:pPr algn="ctr"/>
                      <a:endParaRPr lang="en-PH" sz="3200" b="1" dirty="0" smtClean="0"/>
                    </a:p>
                    <a:p>
                      <a:pPr algn="ctr"/>
                      <a:r>
                        <a:rPr lang="en-PH" sz="3200" b="1" dirty="0" smtClean="0"/>
                        <a:t>CLASS     B</a:t>
                      </a:r>
                    </a:p>
                    <a:p>
                      <a:pPr algn="ctr"/>
                      <a:endParaRPr lang="en-PH" sz="3200" b="1" dirty="0"/>
                    </a:p>
                  </a:txBody>
                  <a:tcPr marL="77677" marR="77677"/>
                </a:tc>
                <a:tc>
                  <a:txBody>
                    <a:bodyPr/>
                    <a:lstStyle/>
                    <a:p>
                      <a:pPr algn="ctr"/>
                      <a:r>
                        <a:rPr lang="en-PH" sz="3200" b="1" dirty="0" smtClean="0"/>
                        <a:t>            </a:t>
                      </a:r>
                    </a:p>
                    <a:p>
                      <a:pPr algn="ctr"/>
                      <a:r>
                        <a:rPr lang="en-PH" sz="3200" b="1" dirty="0" smtClean="0"/>
                        <a:t>             46</a:t>
                      </a:r>
                      <a:endParaRPr lang="en-PH" sz="3200" b="1" dirty="0"/>
                    </a:p>
                  </a:txBody>
                  <a:tcPr marL="77677" marR="77677"/>
                </a:tc>
              </a:tr>
              <a:tr h="926563">
                <a:tc>
                  <a:txBody>
                    <a:bodyPr/>
                    <a:lstStyle/>
                    <a:p>
                      <a:pPr algn="ctr"/>
                      <a:endParaRPr lang="en-PH" sz="3200" b="1" dirty="0" smtClean="0"/>
                    </a:p>
                    <a:p>
                      <a:pPr algn="ctr"/>
                      <a:r>
                        <a:rPr lang="en-PH" sz="3200" b="1" dirty="0" smtClean="0"/>
                        <a:t>CLASS     C</a:t>
                      </a:r>
                      <a:endParaRPr lang="en-PH" sz="3200" b="1" dirty="0"/>
                    </a:p>
                  </a:txBody>
                  <a:tcPr marL="77677" marR="77677"/>
                </a:tc>
                <a:tc>
                  <a:txBody>
                    <a:bodyPr/>
                    <a:lstStyle/>
                    <a:p>
                      <a:pPr algn="ctr"/>
                      <a:r>
                        <a:rPr lang="en-PH" sz="3200" b="1" dirty="0" smtClean="0"/>
                        <a:t>         </a:t>
                      </a:r>
                    </a:p>
                    <a:p>
                      <a:pPr algn="ctr"/>
                      <a:r>
                        <a:rPr lang="en-PH" sz="3200" b="1" dirty="0" smtClean="0"/>
                        <a:t>             43</a:t>
                      </a:r>
                      <a:endParaRPr lang="en-PH" sz="3200" b="1" dirty="0"/>
                    </a:p>
                  </a:txBody>
                  <a:tcPr marL="77677" marR="77677"/>
                </a:tc>
              </a:tr>
            </a:tbl>
          </a:graphicData>
        </a:graphic>
      </p:graphicFrame>
      <p:sp>
        <p:nvSpPr>
          <p:cNvPr id="3" name="Date Placeholder 2"/>
          <p:cNvSpPr>
            <a:spLocks noGrp="1"/>
          </p:cNvSpPr>
          <p:nvPr>
            <p:ph type="dt" sz="half" idx="10"/>
          </p:nvPr>
        </p:nvSpPr>
        <p:spPr/>
        <p:txBody>
          <a:bodyPr/>
          <a:lstStyle/>
          <a:p>
            <a:fld id="{B1218452-6433-436C-98D3-CE5CD4DAF12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29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What about this?</a:t>
            </a:r>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44891568"/>
              </p:ext>
            </p:extLst>
          </p:nvPr>
        </p:nvGraphicFramePr>
        <p:xfrm>
          <a:off x="304799" y="1981201"/>
          <a:ext cx="8305800" cy="4419599"/>
        </p:xfrm>
        <a:graphic>
          <a:graphicData uri="http://schemas.openxmlformats.org/drawingml/2006/table">
            <a:tbl>
              <a:tblPr firstRow="1" bandRow="1">
                <a:tableStyleId>{5C22544A-7EE6-4342-B048-85BDC9FD1C3A}</a:tableStyleId>
              </a:tblPr>
              <a:tblGrid>
                <a:gridCol w="2768600"/>
                <a:gridCol w="2768600"/>
                <a:gridCol w="2768600"/>
              </a:tblGrid>
              <a:tr h="1196975">
                <a:tc>
                  <a:txBody>
                    <a:bodyPr/>
                    <a:lstStyle/>
                    <a:p>
                      <a:pPr algn="ctr"/>
                      <a:endParaRPr lang="en-PH" sz="2400" dirty="0" smtClean="0"/>
                    </a:p>
                    <a:p>
                      <a:pPr algn="ctr"/>
                      <a:r>
                        <a:rPr lang="en-PH" sz="2400" dirty="0" smtClean="0"/>
                        <a:t>      CLASS</a:t>
                      </a:r>
                      <a:endParaRPr lang="en-PH" sz="2400" dirty="0"/>
                    </a:p>
                  </a:txBody>
                  <a:tcPr marL="77677" marR="77677"/>
                </a:tc>
                <a:tc>
                  <a:txBody>
                    <a:bodyPr/>
                    <a:lstStyle/>
                    <a:p>
                      <a:pPr algn="ctr"/>
                      <a:endParaRPr lang="en-PH" sz="2400" dirty="0" smtClean="0"/>
                    </a:p>
                    <a:p>
                      <a:pPr algn="ctr"/>
                      <a:r>
                        <a:rPr lang="en-PH" sz="2400" dirty="0" smtClean="0"/>
                        <a:t>          MEAN</a:t>
                      </a:r>
                      <a:endParaRPr lang="en-PH" sz="2400" dirty="0"/>
                    </a:p>
                  </a:txBody>
                  <a:tcPr marL="77677" marR="77677"/>
                </a:tc>
                <a:tc>
                  <a:txBody>
                    <a:bodyPr/>
                    <a:lstStyle/>
                    <a:p>
                      <a:pPr algn="ctr"/>
                      <a:r>
                        <a:rPr lang="en-PH" sz="2400" dirty="0" smtClean="0"/>
                        <a:t>STANDARD DEVIATION</a:t>
                      </a:r>
                    </a:p>
                    <a:p>
                      <a:pPr algn="ctr"/>
                      <a:endParaRPr lang="en-PH" sz="2400" dirty="0"/>
                    </a:p>
                  </a:txBody>
                  <a:tcPr marL="77677" marR="77677"/>
                </a:tc>
              </a:tr>
              <a:tr h="1074208">
                <a:tc>
                  <a:txBody>
                    <a:bodyPr/>
                    <a:lstStyle/>
                    <a:p>
                      <a:endParaRPr lang="en-PH" sz="3200" b="1" dirty="0" smtClean="0"/>
                    </a:p>
                    <a:p>
                      <a:r>
                        <a:rPr lang="en-PH" sz="3200" b="1" dirty="0" smtClean="0"/>
                        <a:t>                A</a:t>
                      </a:r>
                      <a:endParaRPr lang="en-PH" sz="3200" b="1" dirty="0"/>
                    </a:p>
                  </a:txBody>
                  <a:tcPr marL="77677" marR="77677"/>
                </a:tc>
                <a:tc>
                  <a:txBody>
                    <a:bodyPr/>
                    <a:lstStyle/>
                    <a:p>
                      <a:endParaRPr lang="en-PH" sz="3200" b="1" dirty="0" smtClean="0"/>
                    </a:p>
                    <a:p>
                      <a:r>
                        <a:rPr lang="en-PH" sz="3200" b="1" dirty="0" smtClean="0"/>
                        <a:t>             35</a:t>
                      </a:r>
                      <a:endParaRPr lang="en-PH" sz="3200" b="1" dirty="0"/>
                    </a:p>
                  </a:txBody>
                  <a:tcPr marL="77677" marR="77677"/>
                </a:tc>
                <a:tc>
                  <a:txBody>
                    <a:bodyPr/>
                    <a:lstStyle/>
                    <a:p>
                      <a:endParaRPr lang="en-PH" sz="3200" b="1" dirty="0" smtClean="0"/>
                    </a:p>
                    <a:p>
                      <a:r>
                        <a:rPr lang="en-PH" sz="3200" b="1" dirty="0" smtClean="0"/>
                        <a:t>            4</a:t>
                      </a:r>
                      <a:endParaRPr lang="en-PH" sz="3200" b="1" dirty="0"/>
                    </a:p>
                  </a:txBody>
                  <a:tcPr marL="77677" marR="77677"/>
                </a:tc>
              </a:tr>
              <a:tr h="1074208">
                <a:tc>
                  <a:txBody>
                    <a:bodyPr/>
                    <a:lstStyle/>
                    <a:p>
                      <a:endParaRPr lang="en-PH" sz="3200" b="1" dirty="0" smtClean="0"/>
                    </a:p>
                    <a:p>
                      <a:r>
                        <a:rPr lang="en-PH" sz="3200" b="1" dirty="0" smtClean="0"/>
                        <a:t>               B</a:t>
                      </a:r>
                      <a:endParaRPr lang="en-PH" sz="3200" b="1" dirty="0"/>
                    </a:p>
                  </a:txBody>
                  <a:tcPr marL="77677" marR="77677"/>
                </a:tc>
                <a:tc>
                  <a:txBody>
                    <a:bodyPr/>
                    <a:lstStyle/>
                    <a:p>
                      <a:endParaRPr lang="en-PH" sz="3200" b="1" dirty="0" smtClean="0"/>
                    </a:p>
                    <a:p>
                      <a:r>
                        <a:rPr lang="en-PH" sz="3200" b="1" dirty="0" smtClean="0"/>
                        <a:t>             35</a:t>
                      </a:r>
                      <a:endParaRPr lang="en-PH" sz="3200" b="1" dirty="0"/>
                    </a:p>
                  </a:txBody>
                  <a:tcPr marL="77677" marR="77677"/>
                </a:tc>
                <a:tc>
                  <a:txBody>
                    <a:bodyPr/>
                    <a:lstStyle/>
                    <a:p>
                      <a:r>
                        <a:rPr lang="en-PH" sz="3200" b="1" dirty="0" smtClean="0"/>
                        <a:t> </a:t>
                      </a:r>
                    </a:p>
                    <a:p>
                      <a:r>
                        <a:rPr lang="en-PH" sz="3200" b="1" dirty="0" smtClean="0"/>
                        <a:t>            3</a:t>
                      </a:r>
                      <a:endParaRPr lang="en-PH" sz="3200" b="1" dirty="0"/>
                    </a:p>
                  </a:txBody>
                  <a:tcPr marL="77677" marR="77677"/>
                </a:tc>
              </a:tr>
              <a:tr h="1074208">
                <a:tc>
                  <a:txBody>
                    <a:bodyPr/>
                    <a:lstStyle/>
                    <a:p>
                      <a:endParaRPr lang="en-PH" sz="3200" b="1" dirty="0" smtClean="0"/>
                    </a:p>
                    <a:p>
                      <a:r>
                        <a:rPr lang="en-PH" sz="3200" b="1" dirty="0" smtClean="0"/>
                        <a:t>               C</a:t>
                      </a:r>
                      <a:endParaRPr lang="en-PH" sz="3200" b="1" dirty="0"/>
                    </a:p>
                  </a:txBody>
                  <a:tcPr marL="77677" marR="77677"/>
                </a:tc>
                <a:tc>
                  <a:txBody>
                    <a:bodyPr/>
                    <a:lstStyle/>
                    <a:p>
                      <a:endParaRPr lang="en-PH" sz="3200" b="1" dirty="0" smtClean="0"/>
                    </a:p>
                    <a:p>
                      <a:r>
                        <a:rPr lang="en-PH" sz="3200" b="1" dirty="0" smtClean="0"/>
                        <a:t>             35</a:t>
                      </a:r>
                      <a:endParaRPr lang="en-PH" sz="3200" b="1" dirty="0"/>
                    </a:p>
                  </a:txBody>
                  <a:tcPr marL="77677" marR="77677"/>
                </a:tc>
                <a:tc>
                  <a:txBody>
                    <a:bodyPr/>
                    <a:lstStyle/>
                    <a:p>
                      <a:endParaRPr lang="en-PH" sz="3200" b="1" dirty="0" smtClean="0"/>
                    </a:p>
                    <a:p>
                      <a:r>
                        <a:rPr lang="en-PH" sz="3200" b="1" dirty="0" smtClean="0"/>
                        <a:t>            2</a:t>
                      </a:r>
                      <a:endParaRPr lang="en-PH" sz="3200" b="1" dirty="0"/>
                    </a:p>
                  </a:txBody>
                  <a:tcPr marL="77677" marR="77677"/>
                </a:tc>
              </a:tr>
            </a:tbl>
          </a:graphicData>
        </a:graphic>
      </p:graphicFrame>
      <p:sp>
        <p:nvSpPr>
          <p:cNvPr id="3" name="Date Placeholder 2"/>
          <p:cNvSpPr>
            <a:spLocks noGrp="1"/>
          </p:cNvSpPr>
          <p:nvPr>
            <p:ph type="dt" sz="half" idx="10"/>
          </p:nvPr>
        </p:nvSpPr>
        <p:spPr/>
        <p:txBody>
          <a:bodyPr/>
          <a:lstStyle/>
          <a:p>
            <a:fld id="{DBCB23E0-501C-49A5-A2F8-919E71BC8AB4}"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mtClean="0"/>
              <a:t>THE MEAN</a:t>
            </a:r>
            <a:endParaRPr lang="en-PH"/>
          </a:p>
        </p:txBody>
      </p:sp>
      <p:sp>
        <p:nvSpPr>
          <p:cNvPr id="3" name="Content Placeholder 2"/>
          <p:cNvSpPr>
            <a:spLocks noGrp="1"/>
          </p:cNvSpPr>
          <p:nvPr>
            <p:ph idx="1"/>
          </p:nvPr>
        </p:nvSpPr>
        <p:spPr>
          <a:xfrm>
            <a:off x="866441" y="2489200"/>
            <a:ext cx="7667959" cy="3530600"/>
          </a:xfrm>
        </p:spPr>
        <p:txBody>
          <a:bodyPr>
            <a:normAutofit fontScale="92500"/>
          </a:bodyPr>
          <a:lstStyle/>
          <a:p>
            <a:pPr algn="just">
              <a:buNone/>
            </a:pPr>
            <a:r>
              <a:rPr lang="en-PH" sz="3300" b="1" dirty="0" smtClean="0"/>
              <a:t>A teacher conducted 100-item tests in the Subjects Mathematics, Science and English in his class. The means of the class are as follows: English- 46, Mathematics- 53 and Science- 60. Is it a correct conclusion to say that the class performed the best in Science</a:t>
            </a:r>
            <a:r>
              <a:rPr lang="en-PH" dirty="0" smtClean="0"/>
              <a:t>?</a:t>
            </a:r>
            <a:endParaRPr lang="en-PH" dirty="0"/>
          </a:p>
        </p:txBody>
      </p:sp>
      <p:sp>
        <p:nvSpPr>
          <p:cNvPr id="4" name="Date Placeholder 3"/>
          <p:cNvSpPr>
            <a:spLocks noGrp="1"/>
          </p:cNvSpPr>
          <p:nvPr>
            <p:ph type="dt" sz="half" idx="10"/>
          </p:nvPr>
        </p:nvSpPr>
        <p:spPr/>
        <p:txBody>
          <a:bodyPr/>
          <a:lstStyle/>
          <a:p>
            <a:fld id="{1F9A9B31-4D5A-442A-B98E-562178CA5C3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MEAN.jpg"/>
          <p:cNvPicPr>
            <a:picLocks noGrp="1" noChangeAspect="1"/>
          </p:cNvPicPr>
          <p:nvPr>
            <p:ph idx="1"/>
          </p:nvPr>
        </p:nvPicPr>
        <p:blipFill>
          <a:blip r:embed="rId2" cstate="print"/>
          <a:stretch>
            <a:fillRect/>
          </a:stretch>
        </p:blipFill>
        <p:spPr>
          <a:xfrm>
            <a:off x="685800" y="1600200"/>
            <a:ext cx="8077200" cy="4724400"/>
          </a:xfrm>
        </p:spPr>
      </p:pic>
      <p:sp>
        <p:nvSpPr>
          <p:cNvPr id="3" name="Date Placeholder 2"/>
          <p:cNvSpPr>
            <a:spLocks noGrp="1"/>
          </p:cNvSpPr>
          <p:nvPr>
            <p:ph type="dt" sz="half" idx="10"/>
          </p:nvPr>
        </p:nvSpPr>
        <p:spPr/>
        <p:txBody>
          <a:bodyPr/>
          <a:lstStyle/>
          <a:p>
            <a:fld id="{61C9E4F0-7A00-49B4-AC13-25F959BA3E4B}"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MEAN 1.jpg"/>
          <p:cNvPicPr>
            <a:picLocks noGrp="1" noChangeAspect="1"/>
          </p:cNvPicPr>
          <p:nvPr>
            <p:ph idx="1"/>
          </p:nvPr>
        </p:nvPicPr>
        <p:blipFill>
          <a:blip r:embed="rId2" cstate="print"/>
          <a:stretch>
            <a:fillRect/>
          </a:stretch>
        </p:blipFill>
        <p:spPr>
          <a:xfrm>
            <a:off x="457200" y="2362200"/>
            <a:ext cx="8686800" cy="4114800"/>
          </a:xfrm>
        </p:spPr>
      </p:pic>
      <p:sp>
        <p:nvSpPr>
          <p:cNvPr id="3" name="Date Placeholder 2"/>
          <p:cNvSpPr>
            <a:spLocks noGrp="1"/>
          </p:cNvSpPr>
          <p:nvPr>
            <p:ph type="dt" sz="half" idx="10"/>
          </p:nvPr>
        </p:nvSpPr>
        <p:spPr/>
        <p:txBody>
          <a:bodyPr/>
          <a:lstStyle/>
          <a:p>
            <a:fld id="{43470689-DF30-4701-A554-97538B3DE60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Characteristics of the Mean</a:t>
            </a:r>
            <a:endParaRPr lang="en-PH" b="1" dirty="0"/>
          </a:p>
        </p:txBody>
      </p:sp>
      <p:sp>
        <p:nvSpPr>
          <p:cNvPr id="3" name="Content Placeholder 2"/>
          <p:cNvSpPr>
            <a:spLocks noGrp="1"/>
          </p:cNvSpPr>
          <p:nvPr>
            <p:ph idx="1"/>
          </p:nvPr>
        </p:nvSpPr>
        <p:spPr>
          <a:xfrm>
            <a:off x="866441" y="2489200"/>
            <a:ext cx="7744159" cy="3530600"/>
          </a:xfrm>
        </p:spPr>
        <p:txBody>
          <a:bodyPr>
            <a:noAutofit/>
          </a:bodyPr>
          <a:lstStyle/>
          <a:p>
            <a:pPr>
              <a:buNone/>
            </a:pPr>
            <a:r>
              <a:rPr lang="en-PH" sz="2800" b="1" dirty="0" smtClean="0"/>
              <a:t>1.The most stable &amp; reliable measure of central tendency.</a:t>
            </a:r>
          </a:p>
          <a:p>
            <a:pPr>
              <a:buNone/>
            </a:pPr>
            <a:r>
              <a:rPr lang="en-PH" sz="2800" b="1" dirty="0" smtClean="0"/>
              <a:t>2.The most widely used.</a:t>
            </a:r>
          </a:p>
          <a:p>
            <a:pPr>
              <a:buNone/>
            </a:pPr>
            <a:r>
              <a:rPr lang="en-PH" sz="2800" b="1" dirty="0" smtClean="0"/>
              <a:t>3. The balanced point of the distribution.</a:t>
            </a:r>
          </a:p>
          <a:p>
            <a:pPr>
              <a:buNone/>
            </a:pPr>
            <a:r>
              <a:rPr lang="en-PH" sz="2800" b="1" dirty="0" smtClean="0"/>
              <a:t>4. Affected by extreme measure.</a:t>
            </a:r>
          </a:p>
          <a:p>
            <a:pPr>
              <a:buNone/>
            </a:pPr>
            <a:r>
              <a:rPr lang="en-PH" sz="2800" b="1" dirty="0" smtClean="0"/>
              <a:t>5. Used when data are interval &amp; ratio.</a:t>
            </a:r>
          </a:p>
          <a:p>
            <a:pPr>
              <a:buNone/>
            </a:pPr>
            <a:r>
              <a:rPr lang="en-PH" sz="2800" b="1" dirty="0" smtClean="0"/>
              <a:t>6. Paired with standard deviation</a:t>
            </a:r>
            <a:endParaRPr lang="en-PH" sz="2800" b="1" dirty="0"/>
          </a:p>
        </p:txBody>
      </p:sp>
      <p:sp>
        <p:nvSpPr>
          <p:cNvPr id="4" name="Date Placeholder 3"/>
          <p:cNvSpPr>
            <a:spLocks noGrp="1"/>
          </p:cNvSpPr>
          <p:nvPr>
            <p:ph type="dt" sz="half" idx="10"/>
          </p:nvPr>
        </p:nvSpPr>
        <p:spPr/>
        <p:txBody>
          <a:bodyPr/>
          <a:lstStyle/>
          <a:p>
            <a:fld id="{F8EBC477-885C-49D3-B14D-CFC9D071159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a:bodyPr>
          <a:lstStyle/>
          <a:p>
            <a:r>
              <a:rPr lang="en-PH" sz="6600" b="1" dirty="0" smtClean="0"/>
              <a:t>3, 4, 5, 6, 7</a:t>
            </a:r>
            <a:endParaRPr lang="en-PH" sz="66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35</a:t>
            </a:fld>
            <a:endParaRPr lang="en-PH"/>
          </a:p>
        </p:txBody>
      </p:sp>
    </p:spTree>
    <p:extLst>
      <p:ext uri="{BB962C8B-B14F-4D97-AF65-F5344CB8AC3E}">
        <p14:creationId xmlns:p14="http://schemas.microsoft.com/office/powerpoint/2010/main" val="30925836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idx="1"/>
          </p:nvPr>
        </p:nvSpPr>
        <p:spPr>
          <a:xfrm>
            <a:off x="866441" y="2489200"/>
            <a:ext cx="7058359" cy="3530600"/>
          </a:xfrm>
        </p:spPr>
        <p:txBody>
          <a:bodyPr/>
          <a:lstStyle/>
          <a:p>
            <a:endParaRPr lang="en-PH" dirty="0"/>
          </a:p>
          <a:p>
            <a:endParaRPr lang="en-PH" dirty="0" smtClean="0"/>
          </a:p>
          <a:p>
            <a:endParaRPr lang="en-PH" sz="2000" b="1" dirty="0"/>
          </a:p>
          <a:p>
            <a:endParaRPr lang="en-PH" sz="2000" b="1" dirty="0" smtClean="0"/>
          </a:p>
          <a:p>
            <a:r>
              <a:rPr lang="en-PH" sz="2000" b="1" dirty="0"/>
              <a:t> </a:t>
            </a:r>
            <a:r>
              <a:rPr lang="en-PH" sz="2000" b="1" dirty="0" smtClean="0"/>
              <a:t>                                            mean</a:t>
            </a:r>
            <a:endParaRPr lang="en-PH" sz="2000" b="1" dirty="0"/>
          </a:p>
        </p:txBody>
      </p:sp>
      <p:cxnSp>
        <p:nvCxnSpPr>
          <p:cNvPr id="5" name="Straight Connector 4"/>
          <p:cNvCxnSpPr/>
          <p:nvPr/>
        </p:nvCxnSpPr>
        <p:spPr>
          <a:xfrm>
            <a:off x="2895600" y="35814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419600" y="3581400"/>
            <a:ext cx="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8F102084-E244-4A86-ADCB-8D59F99EF779}" type="datetime1">
              <a:rPr lang="en-PH" smtClean="0"/>
              <a:t>01/10/2017</a:t>
            </a:fld>
            <a:endParaRPr lang="en-PH"/>
          </a:p>
        </p:txBody>
      </p:sp>
      <p:sp>
        <p:nvSpPr>
          <p:cNvPr id="6" name="Footer Placeholder 5"/>
          <p:cNvSpPr>
            <a:spLocks noGrp="1"/>
          </p:cNvSpPr>
          <p:nvPr>
            <p:ph type="ftr" sz="quarter" idx="11"/>
          </p:nvPr>
        </p:nvSpPr>
        <p:spPr/>
        <p:txBody>
          <a:bodyPr/>
          <a:lstStyle/>
          <a:p>
            <a:r>
              <a:rPr lang="en-PH" smtClean="0"/>
              <a:t>Sir Crespo- UA</a:t>
            </a:r>
            <a:endParaRPr lang="en-PH"/>
          </a:p>
        </p:txBody>
      </p:sp>
      <p:sp>
        <p:nvSpPr>
          <p:cNvPr id="7" name="Slide Number Placeholder 6"/>
          <p:cNvSpPr>
            <a:spLocks noGrp="1"/>
          </p:cNvSpPr>
          <p:nvPr>
            <p:ph type="sldNum" sz="quarter" idx="12"/>
          </p:nvPr>
        </p:nvSpPr>
        <p:spPr/>
        <p:txBody>
          <a:bodyPr/>
          <a:lstStyle/>
          <a:p>
            <a:fld id="{A2AF10DC-0514-439A-9D3C-470D8338320C}" type="slidenum">
              <a:rPr lang="en-PH" smtClean="0"/>
              <a:pPr/>
              <a:t>36</a:t>
            </a:fld>
            <a:endParaRPr lang="en-PH"/>
          </a:p>
        </p:txBody>
      </p:sp>
    </p:spTree>
    <p:extLst>
      <p:ext uri="{BB962C8B-B14F-4D97-AF65-F5344CB8AC3E}">
        <p14:creationId xmlns:p14="http://schemas.microsoft.com/office/powerpoint/2010/main" val="2741853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endParaRPr lang="en-PH" dirty="0" smtClean="0"/>
          </a:p>
          <a:p>
            <a:endParaRPr lang="en-PH" dirty="0"/>
          </a:p>
          <a:p>
            <a:r>
              <a:rPr lang="en-PH" dirty="0" smtClean="0"/>
              <a:t>                                                            mean</a:t>
            </a:r>
          </a:p>
          <a:p>
            <a:endParaRPr lang="en-PH" dirty="0"/>
          </a:p>
          <a:p>
            <a:endParaRPr lang="en-PH" dirty="0" smtClean="0"/>
          </a:p>
          <a:p>
            <a:r>
              <a:rPr lang="en-PH" dirty="0"/>
              <a:t> </a:t>
            </a:r>
            <a:r>
              <a:rPr lang="en-PH" dirty="0" smtClean="0"/>
              <a:t>                       mean</a:t>
            </a:r>
          </a:p>
          <a:p>
            <a:endParaRPr lang="en-PH" dirty="0"/>
          </a:p>
          <a:p>
            <a:endParaRPr lang="en-PH" dirty="0"/>
          </a:p>
        </p:txBody>
      </p:sp>
      <p:cxnSp>
        <p:nvCxnSpPr>
          <p:cNvPr id="5" name="Straight Connector 4"/>
          <p:cNvCxnSpPr/>
          <p:nvPr/>
        </p:nvCxnSpPr>
        <p:spPr>
          <a:xfrm>
            <a:off x="2362200" y="3124200"/>
            <a:ext cx="365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334000" y="31242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62200" y="4191000"/>
            <a:ext cx="365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048000" y="4191000"/>
            <a:ext cx="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2DF2587C-4D3E-428D-8432-C5347EC8585B}" type="datetime1">
              <a:rPr lang="en-PH" smtClean="0"/>
              <a:t>01/10/2017</a:t>
            </a:fld>
            <a:endParaRPr lang="en-PH"/>
          </a:p>
        </p:txBody>
      </p:sp>
      <p:sp>
        <p:nvSpPr>
          <p:cNvPr id="6" name="Footer Placeholder 5"/>
          <p:cNvSpPr>
            <a:spLocks noGrp="1"/>
          </p:cNvSpPr>
          <p:nvPr>
            <p:ph type="ftr" sz="quarter" idx="11"/>
          </p:nvPr>
        </p:nvSpPr>
        <p:spPr/>
        <p:txBody>
          <a:bodyPr/>
          <a:lstStyle/>
          <a:p>
            <a:r>
              <a:rPr lang="en-PH" smtClean="0"/>
              <a:t>Sir Crespo- UA</a:t>
            </a:r>
            <a:endParaRPr lang="en-PH"/>
          </a:p>
        </p:txBody>
      </p:sp>
      <p:sp>
        <p:nvSpPr>
          <p:cNvPr id="7" name="Slide Number Placeholder 6"/>
          <p:cNvSpPr>
            <a:spLocks noGrp="1"/>
          </p:cNvSpPr>
          <p:nvPr>
            <p:ph type="sldNum" sz="quarter" idx="12"/>
          </p:nvPr>
        </p:nvSpPr>
        <p:spPr/>
        <p:txBody>
          <a:bodyPr/>
          <a:lstStyle/>
          <a:p>
            <a:fld id="{A2AF10DC-0514-439A-9D3C-470D8338320C}" type="slidenum">
              <a:rPr lang="en-PH" smtClean="0"/>
              <a:pPr/>
              <a:t>37</a:t>
            </a:fld>
            <a:endParaRPr lang="en-PH"/>
          </a:p>
        </p:txBody>
      </p:sp>
    </p:spTree>
    <p:extLst>
      <p:ext uri="{BB962C8B-B14F-4D97-AF65-F5344CB8AC3E}">
        <p14:creationId xmlns:p14="http://schemas.microsoft.com/office/powerpoint/2010/main" val="34236961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744159" cy="3530600"/>
          </a:xfrm>
        </p:spPr>
        <p:txBody>
          <a:bodyPr>
            <a:normAutofit lnSpcReduction="10000"/>
          </a:bodyPr>
          <a:lstStyle/>
          <a:p>
            <a:pPr algn="just">
              <a:buNone/>
            </a:pPr>
            <a:r>
              <a:rPr lang="en-PH" sz="4000" dirty="0" smtClean="0"/>
              <a:t> </a:t>
            </a:r>
            <a:r>
              <a:rPr lang="en-PH" sz="4000" b="1" dirty="0" smtClean="0"/>
              <a:t>The mean is used to measure and compare performance of two groups that are normally distributed, when the distribution is symmetrical.</a:t>
            </a:r>
            <a:endParaRPr lang="en-PH" sz="4000" b="1" dirty="0"/>
          </a:p>
        </p:txBody>
      </p:sp>
      <p:sp>
        <p:nvSpPr>
          <p:cNvPr id="4" name="Date Placeholder 3"/>
          <p:cNvSpPr>
            <a:spLocks noGrp="1"/>
          </p:cNvSpPr>
          <p:nvPr>
            <p:ph type="dt" sz="half" idx="10"/>
          </p:nvPr>
        </p:nvSpPr>
        <p:spPr/>
        <p:txBody>
          <a:bodyPr/>
          <a:lstStyle/>
          <a:p>
            <a:fld id="{C0ECD9A8-213E-4F84-A9BE-1E3C1953B12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Sample exercises: The Mean</a:t>
            </a:r>
            <a:endParaRPr lang="en-PH" dirty="0"/>
          </a:p>
        </p:txBody>
      </p:sp>
      <p:sp>
        <p:nvSpPr>
          <p:cNvPr id="3" name="Content Placeholder 2"/>
          <p:cNvSpPr>
            <a:spLocks noGrp="1"/>
          </p:cNvSpPr>
          <p:nvPr>
            <p:ph idx="1"/>
          </p:nvPr>
        </p:nvSpPr>
        <p:spPr>
          <a:xfrm>
            <a:off x="866441" y="2489200"/>
            <a:ext cx="7515559" cy="3530600"/>
          </a:xfrm>
        </p:spPr>
        <p:txBody>
          <a:bodyPr>
            <a:normAutofit/>
          </a:bodyPr>
          <a:lstStyle/>
          <a:p>
            <a:pPr marL="550926" indent="-514350" algn="just">
              <a:buAutoNum type="arabicPeriod"/>
            </a:pPr>
            <a:r>
              <a:rPr lang="en-PH" sz="2400" b="1" dirty="0" smtClean="0"/>
              <a:t>What is the mean of this data set?</a:t>
            </a:r>
          </a:p>
          <a:p>
            <a:pPr marL="550926" indent="-514350" algn="just">
              <a:buNone/>
            </a:pPr>
            <a:r>
              <a:rPr lang="en-PH" sz="2400" b="1" dirty="0" smtClean="0"/>
              <a:t>	14, 15, 16, 17, 18, 19, 20</a:t>
            </a:r>
          </a:p>
          <a:p>
            <a:pPr marL="550926" indent="-514350" algn="just">
              <a:buNone/>
            </a:pPr>
            <a:r>
              <a:rPr lang="en-PH" sz="2400" b="1" dirty="0" smtClean="0"/>
              <a:t>2. In a certain science high school, in the computation of the GWA, 2x and 3x weights are given to Mathematics and Science respectively. What is the GWA of John if his grades are: English-87, Filipino-83, Science- 92, Math- 93 and 	</a:t>
            </a:r>
            <a:r>
              <a:rPr lang="en-PH" sz="2400" b="1" dirty="0" err="1" smtClean="0"/>
              <a:t>Makabayan</a:t>
            </a:r>
            <a:r>
              <a:rPr lang="en-PH" sz="2400" b="1" dirty="0" smtClean="0"/>
              <a:t>- </a:t>
            </a:r>
            <a:r>
              <a:rPr lang="en-PH" sz="2400" dirty="0" smtClean="0"/>
              <a:t>85</a:t>
            </a:r>
            <a:r>
              <a:rPr lang="en-PH" dirty="0" smtClean="0"/>
              <a:t>?</a:t>
            </a:r>
            <a:endParaRPr lang="en-PH" dirty="0"/>
          </a:p>
        </p:txBody>
      </p:sp>
      <p:sp>
        <p:nvSpPr>
          <p:cNvPr id="4" name="Date Placeholder 3"/>
          <p:cNvSpPr>
            <a:spLocks noGrp="1"/>
          </p:cNvSpPr>
          <p:nvPr>
            <p:ph type="dt" sz="half" idx="10"/>
          </p:nvPr>
        </p:nvSpPr>
        <p:spPr/>
        <p:txBody>
          <a:bodyPr/>
          <a:lstStyle/>
          <a:p>
            <a:fld id="{B164B31F-2185-408F-94AB-BD3F9DECAA6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39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609601" y="2489200"/>
            <a:ext cx="8153400" cy="2997200"/>
          </a:xfrm>
        </p:spPr>
        <p:txBody>
          <a:bodyPr>
            <a:noAutofit/>
          </a:bodyPr>
          <a:lstStyle/>
          <a:p>
            <a:r>
              <a:rPr lang="en-PH" sz="3600" b="1" dirty="0" smtClean="0"/>
              <a:t>What is the highest possible value that a score could take if the mean of the five scores is 8.? There is no duplication of scores.</a:t>
            </a:r>
          </a:p>
          <a:p>
            <a:r>
              <a:rPr lang="en-PH" sz="3600" b="1" dirty="0" smtClean="0"/>
              <a:t>A. 25			C. 30</a:t>
            </a:r>
          </a:p>
          <a:p>
            <a:r>
              <a:rPr lang="en-PH" sz="3600" b="1" dirty="0" smtClean="0"/>
              <a:t>B. 15			D. 22</a:t>
            </a:r>
            <a:endParaRPr lang="en-PH" sz="3600" b="1" dirty="0"/>
          </a:p>
        </p:txBody>
      </p:sp>
      <p:sp>
        <p:nvSpPr>
          <p:cNvPr id="4" name="Date Placeholder 3"/>
          <p:cNvSpPr>
            <a:spLocks noGrp="1"/>
          </p:cNvSpPr>
          <p:nvPr>
            <p:ph type="dt" sz="half" idx="10"/>
          </p:nvPr>
        </p:nvSpPr>
        <p:spPr/>
        <p:txBody>
          <a:bodyPr/>
          <a:lstStyle/>
          <a:p>
            <a:fld id="{5F03E0A8-51AD-42CE-80A7-148691D074D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a:bodyPr>
          <a:lstStyle/>
          <a:p>
            <a:pPr marL="0" indent="0">
              <a:buNone/>
            </a:pPr>
            <a:r>
              <a:rPr lang="en-PH" sz="4800" b="1" dirty="0" smtClean="0"/>
              <a:t>              90</a:t>
            </a:r>
          </a:p>
          <a:p>
            <a:pPr marL="0" indent="0">
              <a:buNone/>
            </a:pPr>
            <a:r>
              <a:rPr lang="en-PH" sz="4800" b="1" dirty="0" smtClean="0"/>
              <a:t>      88, 89, 90, ______</a:t>
            </a:r>
            <a:endParaRPr lang="en-PH" sz="48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41</a:t>
            </a:fld>
            <a:endParaRPr lang="en-PH"/>
          </a:p>
        </p:txBody>
      </p:sp>
    </p:spTree>
    <p:extLst>
      <p:ext uri="{BB962C8B-B14F-4D97-AF65-F5344CB8AC3E}">
        <p14:creationId xmlns:p14="http://schemas.microsoft.com/office/powerpoint/2010/main" val="15708824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MEDIAN</a:t>
            </a:r>
            <a:endParaRPr lang="en-PH" b="1" dirty="0"/>
          </a:p>
        </p:txBody>
      </p:sp>
      <p:sp>
        <p:nvSpPr>
          <p:cNvPr id="3" name="Content Placeholder 2"/>
          <p:cNvSpPr>
            <a:spLocks noGrp="1"/>
          </p:cNvSpPr>
          <p:nvPr>
            <p:ph idx="1"/>
          </p:nvPr>
        </p:nvSpPr>
        <p:spPr>
          <a:xfrm>
            <a:off x="866441" y="2489200"/>
            <a:ext cx="7820359" cy="3530600"/>
          </a:xfrm>
        </p:spPr>
        <p:txBody>
          <a:bodyPr>
            <a:normAutofit/>
          </a:bodyPr>
          <a:lstStyle/>
          <a:p>
            <a:pPr algn="just">
              <a:buNone/>
            </a:pPr>
            <a:r>
              <a:rPr lang="en-PH" sz="4000" b="1" dirty="0" smtClean="0"/>
              <a:t>The positional average. The measure of central tendency that tells position. It is a score that bisects the distribution into half.</a:t>
            </a:r>
            <a:endParaRPr lang="en-PH" sz="4000" b="1" dirty="0"/>
          </a:p>
        </p:txBody>
      </p:sp>
      <p:sp>
        <p:nvSpPr>
          <p:cNvPr id="4" name="Date Placeholder 3"/>
          <p:cNvSpPr>
            <a:spLocks noGrp="1"/>
          </p:cNvSpPr>
          <p:nvPr>
            <p:ph type="dt" sz="half" idx="10"/>
          </p:nvPr>
        </p:nvSpPr>
        <p:spPr/>
        <p:txBody>
          <a:bodyPr/>
          <a:lstStyle/>
          <a:p>
            <a:fld id="{F162BA84-8F29-4B46-B0DA-E00AE5ADA82A}"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4000" b="1" dirty="0" err="1" smtClean="0"/>
              <a:t>Characteristics:Median</a:t>
            </a:r>
            <a:endParaRPr lang="en-PH" sz="4000" b="1" dirty="0"/>
          </a:p>
        </p:txBody>
      </p:sp>
      <p:sp>
        <p:nvSpPr>
          <p:cNvPr id="3" name="Content Placeholder 2"/>
          <p:cNvSpPr>
            <a:spLocks noGrp="1"/>
          </p:cNvSpPr>
          <p:nvPr>
            <p:ph idx="1"/>
          </p:nvPr>
        </p:nvSpPr>
        <p:spPr>
          <a:xfrm>
            <a:off x="866441" y="2489200"/>
            <a:ext cx="7515559" cy="3530600"/>
          </a:xfrm>
        </p:spPr>
        <p:txBody>
          <a:bodyPr>
            <a:normAutofit fontScale="92500" lnSpcReduction="20000"/>
          </a:bodyPr>
          <a:lstStyle/>
          <a:p>
            <a:pPr marL="550926" indent="-514350" algn="just">
              <a:buAutoNum type="arabicPeriod"/>
            </a:pPr>
            <a:r>
              <a:rPr lang="en-PH" sz="3200" b="1" dirty="0" smtClean="0"/>
              <a:t>It tells position or location.</a:t>
            </a:r>
          </a:p>
          <a:p>
            <a:pPr marL="550926" indent="-514350" algn="just">
              <a:buAutoNum type="arabicPeriod"/>
            </a:pPr>
            <a:r>
              <a:rPr lang="en-PH" sz="3200" b="1" dirty="0" smtClean="0"/>
              <a:t>Divides the distribution into half.</a:t>
            </a:r>
          </a:p>
          <a:p>
            <a:pPr marL="550926" indent="-514350" algn="just">
              <a:buAutoNum type="arabicPeriod"/>
            </a:pPr>
            <a:r>
              <a:rPr lang="en-PH" sz="3200" b="1" dirty="0" smtClean="0"/>
              <a:t>Not affected by extreme measure.</a:t>
            </a:r>
          </a:p>
          <a:p>
            <a:pPr marL="550926" indent="-514350" algn="just">
              <a:buAutoNum type="arabicPeriod"/>
            </a:pPr>
            <a:r>
              <a:rPr lang="en-PH" sz="3200" b="1" dirty="0" smtClean="0"/>
              <a:t>Used when the data are ordinal</a:t>
            </a:r>
          </a:p>
          <a:p>
            <a:pPr marL="550926" indent="-514350" algn="just">
              <a:buAutoNum type="arabicPeriod"/>
            </a:pPr>
            <a:r>
              <a:rPr lang="en-PH" sz="3200" b="1" dirty="0" smtClean="0"/>
              <a:t>Paired with quartile deviation</a:t>
            </a:r>
          </a:p>
          <a:p>
            <a:pPr marL="550926" indent="-514350" algn="just">
              <a:buAutoNum type="arabicPeriod"/>
            </a:pPr>
            <a:r>
              <a:rPr lang="en-PH" sz="3200" b="1" dirty="0" smtClean="0"/>
              <a:t>Necessitates the arrangement of data.</a:t>
            </a:r>
            <a:endParaRPr lang="en-PH" sz="3200" b="1" dirty="0"/>
          </a:p>
        </p:txBody>
      </p:sp>
      <p:sp>
        <p:nvSpPr>
          <p:cNvPr id="4" name="Date Placeholder 3"/>
          <p:cNvSpPr>
            <a:spLocks noGrp="1"/>
          </p:cNvSpPr>
          <p:nvPr>
            <p:ph type="dt" sz="half" idx="10"/>
          </p:nvPr>
        </p:nvSpPr>
        <p:spPr/>
        <p:txBody>
          <a:bodyPr/>
          <a:lstStyle/>
          <a:p>
            <a:fld id="{BAD40CD9-AC02-46E0-8A9F-21ED7CA5F55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591759" cy="3530600"/>
          </a:xfrm>
        </p:spPr>
        <p:txBody>
          <a:bodyPr>
            <a:normAutofit fontScale="92500"/>
          </a:bodyPr>
          <a:lstStyle/>
          <a:p>
            <a:pPr algn="just"/>
            <a:r>
              <a:rPr lang="en-PH" sz="3600" b="1" dirty="0" smtClean="0"/>
              <a:t>7. Used to describe performance if the data are badly skewed or where there are many scores that are very high or very low or when the scores cluster in the tail of the curv</a:t>
            </a:r>
            <a:r>
              <a:rPr lang="en-PH" sz="3600" dirty="0" smtClean="0"/>
              <a:t>e.</a:t>
            </a:r>
            <a:endParaRPr lang="en-PH" sz="3600" dirty="0"/>
          </a:p>
        </p:txBody>
      </p:sp>
      <p:sp>
        <p:nvSpPr>
          <p:cNvPr id="4" name="Date Placeholder 3"/>
          <p:cNvSpPr>
            <a:spLocks noGrp="1"/>
          </p:cNvSpPr>
          <p:nvPr>
            <p:ph type="dt" sz="half" idx="10"/>
          </p:nvPr>
        </p:nvSpPr>
        <p:spPr/>
        <p:txBody>
          <a:bodyPr/>
          <a:lstStyle/>
          <a:p>
            <a:fld id="{844CA52C-908D-4ADA-BE4F-33559B055849}"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median.jpg"/>
          <p:cNvPicPr>
            <a:picLocks noGrp="1" noChangeAspect="1"/>
          </p:cNvPicPr>
          <p:nvPr>
            <p:ph idx="1"/>
          </p:nvPr>
        </p:nvPicPr>
        <p:blipFill>
          <a:blip r:embed="rId2" cstate="print"/>
          <a:stretch>
            <a:fillRect/>
          </a:stretch>
        </p:blipFill>
        <p:spPr>
          <a:xfrm>
            <a:off x="2133600" y="1981200"/>
            <a:ext cx="5714999" cy="3429000"/>
          </a:xfrm>
        </p:spPr>
      </p:pic>
      <p:sp>
        <p:nvSpPr>
          <p:cNvPr id="3" name="Date Placeholder 2"/>
          <p:cNvSpPr>
            <a:spLocks noGrp="1"/>
          </p:cNvSpPr>
          <p:nvPr>
            <p:ph type="dt" sz="half" idx="10"/>
          </p:nvPr>
        </p:nvSpPr>
        <p:spPr/>
        <p:txBody>
          <a:bodyPr/>
          <a:lstStyle/>
          <a:p>
            <a:fld id="{FA379827-CF95-4B75-8A5E-5AE7FE1A5B1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median1.jpg"/>
          <p:cNvPicPr>
            <a:picLocks noGrp="1" noChangeAspect="1"/>
          </p:cNvPicPr>
          <p:nvPr>
            <p:ph idx="1"/>
          </p:nvPr>
        </p:nvPicPr>
        <p:blipFill>
          <a:blip r:embed="rId2" cstate="print"/>
          <a:stretch>
            <a:fillRect/>
          </a:stretch>
        </p:blipFill>
        <p:spPr>
          <a:xfrm>
            <a:off x="1447800" y="1676400"/>
            <a:ext cx="6553199" cy="4267200"/>
          </a:xfrm>
        </p:spPr>
      </p:pic>
      <p:sp>
        <p:nvSpPr>
          <p:cNvPr id="3" name="Date Placeholder 2"/>
          <p:cNvSpPr>
            <a:spLocks noGrp="1"/>
          </p:cNvSpPr>
          <p:nvPr>
            <p:ph type="dt" sz="half" idx="10"/>
          </p:nvPr>
        </p:nvSpPr>
        <p:spPr/>
        <p:txBody>
          <a:bodyPr/>
          <a:lstStyle/>
          <a:p>
            <a:fld id="{8C7C189B-E7FE-4216-9C07-0A05FACAB99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Sample Exercises:</a:t>
            </a:r>
            <a:endParaRPr lang="en-PH" dirty="0"/>
          </a:p>
        </p:txBody>
      </p:sp>
      <p:sp>
        <p:nvSpPr>
          <p:cNvPr id="3" name="Content Placeholder 2"/>
          <p:cNvSpPr>
            <a:spLocks noGrp="1"/>
          </p:cNvSpPr>
          <p:nvPr>
            <p:ph idx="1"/>
          </p:nvPr>
        </p:nvSpPr>
        <p:spPr/>
        <p:txBody>
          <a:bodyPr>
            <a:normAutofit fontScale="92500" lnSpcReduction="20000"/>
          </a:bodyPr>
          <a:lstStyle/>
          <a:p>
            <a:pPr marL="550926" indent="-514350">
              <a:buAutoNum type="arabicPeriod"/>
            </a:pPr>
            <a:r>
              <a:rPr lang="en-PH" sz="4400" dirty="0" smtClean="0"/>
              <a:t>What is the median of this data set?</a:t>
            </a:r>
          </a:p>
          <a:p>
            <a:pPr marL="550926" indent="-514350">
              <a:buNone/>
            </a:pPr>
            <a:r>
              <a:rPr lang="en-PH" dirty="0" smtClean="0"/>
              <a:t>          	</a:t>
            </a:r>
            <a:r>
              <a:rPr lang="en-PH" sz="4400" b="1" dirty="0" smtClean="0"/>
              <a:t>5, 7, 9, 10, 12</a:t>
            </a:r>
          </a:p>
          <a:p>
            <a:pPr marL="550926" indent="-514350">
              <a:buNone/>
            </a:pPr>
            <a:r>
              <a:rPr lang="en-PH" sz="4400" b="1" dirty="0" smtClean="0"/>
              <a:t> </a:t>
            </a:r>
            <a:r>
              <a:rPr lang="en-PH" sz="3600" dirty="0" smtClean="0"/>
              <a:t>What about is 12 in the data above is 120? Would that change the median</a:t>
            </a:r>
            <a:r>
              <a:rPr lang="en-PH" sz="4400" b="1" dirty="0" smtClean="0"/>
              <a:t>.</a:t>
            </a:r>
          </a:p>
          <a:p>
            <a:pPr marL="550926" indent="-514350">
              <a:buNone/>
            </a:pPr>
            <a:endParaRPr lang="en-PH" sz="4400" b="1" dirty="0" smtClean="0"/>
          </a:p>
        </p:txBody>
      </p:sp>
      <p:sp>
        <p:nvSpPr>
          <p:cNvPr id="4" name="Date Placeholder 3"/>
          <p:cNvSpPr>
            <a:spLocks noGrp="1"/>
          </p:cNvSpPr>
          <p:nvPr>
            <p:ph type="dt" sz="half" idx="10"/>
          </p:nvPr>
        </p:nvSpPr>
        <p:spPr/>
        <p:txBody>
          <a:bodyPr/>
          <a:lstStyle/>
          <a:p>
            <a:fld id="{01FA39A7-45CD-44DA-9F20-32EC3160AAA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lnSpcReduction="10000"/>
          </a:bodyPr>
          <a:lstStyle/>
          <a:p>
            <a:pPr>
              <a:buNone/>
            </a:pPr>
            <a:r>
              <a:rPr lang="en-PH" sz="4000" b="1" dirty="0" smtClean="0"/>
              <a:t>3. What is the median?</a:t>
            </a:r>
          </a:p>
          <a:p>
            <a:pPr algn="ctr">
              <a:buNone/>
            </a:pPr>
            <a:r>
              <a:rPr lang="en-PH" sz="4800" b="1" dirty="0" smtClean="0"/>
              <a:t>1,  0, -2,  5, 4</a:t>
            </a:r>
          </a:p>
          <a:p>
            <a:pPr>
              <a:buNone/>
            </a:pPr>
            <a:r>
              <a:rPr lang="en-PH" sz="4800" b="1" dirty="0" smtClean="0"/>
              <a:t>4. Where can you find the median of 21 scores?</a:t>
            </a:r>
          </a:p>
        </p:txBody>
      </p:sp>
      <p:sp>
        <p:nvSpPr>
          <p:cNvPr id="4" name="Date Placeholder 3"/>
          <p:cNvSpPr>
            <a:spLocks noGrp="1"/>
          </p:cNvSpPr>
          <p:nvPr>
            <p:ph type="dt" sz="half" idx="10"/>
          </p:nvPr>
        </p:nvSpPr>
        <p:spPr/>
        <p:txBody>
          <a:bodyPr/>
          <a:lstStyle/>
          <a:p>
            <a:fld id="{6892247E-9CAB-462A-B13F-0BC78542B404}"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Consider this question:</a:t>
            </a:r>
            <a:endParaRPr lang="en-PH" dirty="0"/>
          </a:p>
        </p:txBody>
      </p:sp>
      <p:sp>
        <p:nvSpPr>
          <p:cNvPr id="3" name="Content Placeholder 2"/>
          <p:cNvSpPr>
            <a:spLocks noGrp="1"/>
          </p:cNvSpPr>
          <p:nvPr>
            <p:ph idx="1"/>
          </p:nvPr>
        </p:nvSpPr>
        <p:spPr/>
        <p:txBody>
          <a:bodyPr>
            <a:normAutofit lnSpcReduction="10000"/>
          </a:bodyPr>
          <a:lstStyle/>
          <a:p>
            <a:pPr>
              <a:buNone/>
            </a:pPr>
            <a:r>
              <a:rPr lang="en-PH" dirty="0" smtClean="0"/>
              <a:t>The following represent the scores of students in a 100-item test:</a:t>
            </a:r>
          </a:p>
          <a:p>
            <a:pPr>
              <a:buNone/>
            </a:pPr>
            <a:r>
              <a:rPr lang="en-PH" dirty="0" smtClean="0"/>
              <a:t>    </a:t>
            </a:r>
            <a:r>
              <a:rPr lang="en-PH" sz="4400" dirty="0" smtClean="0"/>
              <a:t>99, 98, 94, 90, 90... 18, 8, 4, 3, 1</a:t>
            </a:r>
          </a:p>
          <a:p>
            <a:pPr>
              <a:buNone/>
            </a:pPr>
            <a:endParaRPr lang="en-PH" dirty="0" smtClean="0"/>
          </a:p>
          <a:p>
            <a:pPr>
              <a:buNone/>
            </a:pPr>
            <a:r>
              <a:rPr lang="en-PH" dirty="0" smtClean="0"/>
              <a:t>	Which is the most appropriate measure of central tendency that can describe the scores?</a:t>
            </a:r>
          </a:p>
          <a:p>
            <a:pPr>
              <a:buNone/>
            </a:pPr>
            <a:r>
              <a:rPr lang="en-PH" dirty="0" smtClean="0"/>
              <a:t>    A. mean	B. median	   C. Mode</a:t>
            </a:r>
            <a:endParaRPr lang="en-PH" dirty="0"/>
          </a:p>
        </p:txBody>
      </p:sp>
      <p:sp>
        <p:nvSpPr>
          <p:cNvPr id="4" name="Date Placeholder 3"/>
          <p:cNvSpPr>
            <a:spLocks noGrp="1"/>
          </p:cNvSpPr>
          <p:nvPr>
            <p:ph type="dt" sz="half" idx="10"/>
          </p:nvPr>
        </p:nvSpPr>
        <p:spPr/>
        <p:txBody>
          <a:bodyPr/>
          <a:lstStyle/>
          <a:p>
            <a:fld id="{CC7C67E7-C004-4309-AB7E-F85A41794F3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49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THE MODE</a:t>
            </a:r>
            <a:endParaRPr lang="en-PH" b="1" dirty="0"/>
          </a:p>
        </p:txBody>
      </p:sp>
      <p:sp>
        <p:nvSpPr>
          <p:cNvPr id="3" name="Content Placeholder 2"/>
          <p:cNvSpPr>
            <a:spLocks noGrp="1"/>
          </p:cNvSpPr>
          <p:nvPr>
            <p:ph idx="1"/>
          </p:nvPr>
        </p:nvSpPr>
        <p:spPr/>
        <p:txBody>
          <a:bodyPr/>
          <a:lstStyle/>
          <a:p>
            <a:pPr algn="just">
              <a:buNone/>
            </a:pPr>
            <a:r>
              <a:rPr lang="en-PH" sz="4400" dirty="0" smtClean="0"/>
              <a:t>The most popular score; the score that appears the greatest number of times in the distribution</a:t>
            </a:r>
            <a:r>
              <a:rPr lang="en-PH" dirty="0" smtClean="0"/>
              <a:t>.</a:t>
            </a:r>
            <a:endParaRPr lang="en-PH" dirty="0"/>
          </a:p>
        </p:txBody>
      </p:sp>
      <p:sp>
        <p:nvSpPr>
          <p:cNvPr id="4" name="Date Placeholder 3"/>
          <p:cNvSpPr>
            <a:spLocks noGrp="1"/>
          </p:cNvSpPr>
          <p:nvPr>
            <p:ph type="dt" sz="half" idx="10"/>
          </p:nvPr>
        </p:nvSpPr>
        <p:spPr/>
        <p:txBody>
          <a:bodyPr/>
          <a:lstStyle/>
          <a:p>
            <a:fld id="{195B38C5-DD23-43E7-A5C1-1707A9561C7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Mode: Characteristics</a:t>
            </a:r>
            <a:endParaRPr lang="en-PH" dirty="0"/>
          </a:p>
        </p:txBody>
      </p:sp>
      <p:sp>
        <p:nvSpPr>
          <p:cNvPr id="3" name="Content Placeholder 2"/>
          <p:cNvSpPr>
            <a:spLocks noGrp="1"/>
          </p:cNvSpPr>
          <p:nvPr>
            <p:ph idx="1"/>
          </p:nvPr>
        </p:nvSpPr>
        <p:spPr/>
        <p:txBody>
          <a:bodyPr/>
          <a:lstStyle/>
          <a:p>
            <a:r>
              <a:rPr lang="en-PH" dirty="0" smtClean="0"/>
              <a:t>1. Gives the quickest estimate of the centrality of scores through simple inspection.</a:t>
            </a:r>
          </a:p>
          <a:p>
            <a:r>
              <a:rPr lang="en-PH" dirty="0" smtClean="0"/>
              <a:t>2.The crudest measure of central tendency</a:t>
            </a:r>
          </a:p>
          <a:p>
            <a:r>
              <a:rPr lang="en-PH" dirty="0" smtClean="0"/>
              <a:t>3. Used when the data are nominal</a:t>
            </a:r>
          </a:p>
          <a:p>
            <a:r>
              <a:rPr lang="en-PH" dirty="0" smtClean="0"/>
              <a:t>4. Paired with range. </a:t>
            </a:r>
          </a:p>
          <a:p>
            <a:endParaRPr lang="en-PH" dirty="0"/>
          </a:p>
        </p:txBody>
      </p:sp>
      <p:sp>
        <p:nvSpPr>
          <p:cNvPr id="4" name="Date Placeholder 3"/>
          <p:cNvSpPr>
            <a:spLocks noGrp="1"/>
          </p:cNvSpPr>
          <p:nvPr>
            <p:ph type="dt" sz="half" idx="10"/>
          </p:nvPr>
        </p:nvSpPr>
        <p:spPr/>
        <p:txBody>
          <a:bodyPr/>
          <a:lstStyle/>
          <a:p>
            <a:fld id="{5A635937-734B-48BD-A0C4-042AC80695E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564" y="925605"/>
            <a:ext cx="7061236" cy="711359"/>
          </a:xfrm>
        </p:spPr>
        <p:txBody>
          <a:bodyPr>
            <a:noAutofit/>
          </a:bodyPr>
          <a:lstStyle/>
          <a:p>
            <a:r>
              <a:rPr lang="en-PH" sz="2800" b="1" dirty="0" smtClean="0"/>
              <a:t>Question: Will the graph of a distribution with two modes which are close appear as bimodal</a:t>
            </a:r>
            <a:r>
              <a:rPr lang="en-PH" sz="3200" b="1" dirty="0" smtClean="0"/>
              <a:t>?</a:t>
            </a:r>
            <a:endParaRPr lang="en-PH" sz="3200" b="1" dirty="0"/>
          </a:p>
        </p:txBody>
      </p:sp>
      <p:pic>
        <p:nvPicPr>
          <p:cNvPr id="4" name="Content Placeholder 3" descr="bimodal.jpg"/>
          <p:cNvPicPr>
            <a:picLocks noGrp="1" noChangeAspect="1"/>
          </p:cNvPicPr>
          <p:nvPr>
            <p:ph idx="1"/>
          </p:nvPr>
        </p:nvPicPr>
        <p:blipFill>
          <a:blip r:embed="rId2" cstate="print"/>
          <a:stretch>
            <a:fillRect/>
          </a:stretch>
        </p:blipFill>
        <p:spPr>
          <a:xfrm>
            <a:off x="863564" y="2590800"/>
            <a:ext cx="7213636" cy="2667000"/>
          </a:xfrm>
        </p:spPr>
      </p:pic>
      <p:sp>
        <p:nvSpPr>
          <p:cNvPr id="3" name="Date Placeholder 2"/>
          <p:cNvSpPr>
            <a:spLocks noGrp="1"/>
          </p:cNvSpPr>
          <p:nvPr>
            <p:ph type="dt" sz="half" idx="10"/>
          </p:nvPr>
        </p:nvSpPr>
        <p:spPr/>
        <p:txBody>
          <a:bodyPr/>
          <a:lstStyle/>
          <a:p>
            <a:fld id="{91964B31-1DD9-462A-97FA-F23537481C4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The POINT MEASURES</a:t>
            </a:r>
            <a:endParaRPr lang="en-PH" dirty="0"/>
          </a:p>
        </p:txBody>
      </p:sp>
      <p:sp>
        <p:nvSpPr>
          <p:cNvPr id="3" name="Content Placeholder 2"/>
          <p:cNvSpPr>
            <a:spLocks noGrp="1"/>
          </p:cNvSpPr>
          <p:nvPr>
            <p:ph idx="1"/>
          </p:nvPr>
        </p:nvSpPr>
        <p:spPr>
          <a:xfrm>
            <a:off x="866441" y="2489200"/>
            <a:ext cx="7667959" cy="3530600"/>
          </a:xfrm>
        </p:spPr>
        <p:txBody>
          <a:bodyPr>
            <a:normAutofit/>
          </a:bodyPr>
          <a:lstStyle/>
          <a:p>
            <a:pPr>
              <a:buNone/>
            </a:pPr>
            <a:r>
              <a:rPr lang="en-PH" sz="2800" b="1" dirty="0" smtClean="0"/>
              <a:t>The extension of the median concept? </a:t>
            </a:r>
          </a:p>
          <a:p>
            <a:pPr>
              <a:buNone/>
            </a:pPr>
            <a:r>
              <a:rPr lang="en-PH" sz="2800" b="1" dirty="0" smtClean="0"/>
              <a:t>They tell position or location.</a:t>
            </a:r>
          </a:p>
          <a:p>
            <a:pPr>
              <a:buNone/>
            </a:pPr>
            <a:r>
              <a:rPr lang="en-PH" sz="2800" b="1" dirty="0" smtClean="0"/>
              <a:t>The point measures are:</a:t>
            </a:r>
          </a:p>
          <a:p>
            <a:pPr>
              <a:buNone/>
            </a:pPr>
            <a:r>
              <a:rPr lang="en-PH" sz="2800" b="1" dirty="0" smtClean="0"/>
              <a:t>	1.Quartile				3. Percentile</a:t>
            </a:r>
          </a:p>
          <a:p>
            <a:pPr>
              <a:buNone/>
            </a:pPr>
            <a:r>
              <a:rPr lang="en-PH" sz="2800" b="1" dirty="0" smtClean="0"/>
              <a:t>	2. </a:t>
            </a:r>
            <a:r>
              <a:rPr lang="en-PH" sz="2800" b="1" dirty="0" err="1" smtClean="0"/>
              <a:t>Decile</a:t>
            </a:r>
            <a:r>
              <a:rPr lang="en-PH" sz="2800" b="1" dirty="0" smtClean="0"/>
              <a:t>				4. </a:t>
            </a:r>
            <a:r>
              <a:rPr lang="en-PH" sz="2800" b="1" dirty="0" err="1" smtClean="0"/>
              <a:t>Stannine</a:t>
            </a:r>
            <a:endParaRPr lang="en-PH" sz="2800" b="1" dirty="0" smtClean="0"/>
          </a:p>
          <a:p>
            <a:pPr>
              <a:buNone/>
            </a:pPr>
            <a:r>
              <a:rPr lang="en-PH" sz="2800" b="1" dirty="0" smtClean="0"/>
              <a:t>	</a:t>
            </a:r>
            <a:endParaRPr lang="en-PH" sz="2800" b="1" dirty="0"/>
          </a:p>
        </p:txBody>
      </p:sp>
      <p:sp>
        <p:nvSpPr>
          <p:cNvPr id="4" name="Date Placeholder 3"/>
          <p:cNvSpPr>
            <a:spLocks noGrp="1"/>
          </p:cNvSpPr>
          <p:nvPr>
            <p:ph type="dt" sz="half" idx="10"/>
          </p:nvPr>
        </p:nvSpPr>
        <p:spPr/>
        <p:txBody>
          <a:bodyPr/>
          <a:lstStyle/>
          <a:p>
            <a:fld id="{B26C2082-5268-49AC-9245-8A105B600451}"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Quartile.jpg"/>
          <p:cNvPicPr>
            <a:picLocks noGrp="1" noChangeAspect="1"/>
          </p:cNvPicPr>
          <p:nvPr>
            <p:ph idx="1"/>
          </p:nvPr>
        </p:nvPicPr>
        <p:blipFill>
          <a:blip r:embed="rId2" cstate="print"/>
          <a:stretch>
            <a:fillRect/>
          </a:stretch>
        </p:blipFill>
        <p:spPr>
          <a:xfrm>
            <a:off x="2667000" y="1828800"/>
            <a:ext cx="4648200" cy="3200399"/>
          </a:xfrm>
        </p:spPr>
      </p:pic>
      <p:sp>
        <p:nvSpPr>
          <p:cNvPr id="3" name="Date Placeholder 2"/>
          <p:cNvSpPr>
            <a:spLocks noGrp="1"/>
          </p:cNvSpPr>
          <p:nvPr>
            <p:ph type="dt" sz="half" idx="10"/>
          </p:nvPr>
        </p:nvSpPr>
        <p:spPr/>
        <p:txBody>
          <a:bodyPr/>
          <a:lstStyle/>
          <a:p>
            <a:fld id="{323FCAF8-2E37-49A4-BBD8-061F37736D6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quartile 1.jpg"/>
          <p:cNvPicPr>
            <a:picLocks noGrp="1" noChangeAspect="1"/>
          </p:cNvPicPr>
          <p:nvPr>
            <p:ph idx="1"/>
          </p:nvPr>
        </p:nvPicPr>
        <p:blipFill>
          <a:blip r:embed="rId2" cstate="print"/>
          <a:stretch>
            <a:fillRect/>
          </a:stretch>
        </p:blipFill>
        <p:spPr>
          <a:xfrm>
            <a:off x="2286000" y="2133600"/>
            <a:ext cx="5334000" cy="3886200"/>
          </a:xfrm>
        </p:spPr>
      </p:pic>
      <p:sp>
        <p:nvSpPr>
          <p:cNvPr id="3" name="Date Placeholder 2"/>
          <p:cNvSpPr>
            <a:spLocks noGrp="1"/>
          </p:cNvSpPr>
          <p:nvPr>
            <p:ph type="dt" sz="half" idx="10"/>
          </p:nvPr>
        </p:nvSpPr>
        <p:spPr/>
        <p:txBody>
          <a:bodyPr/>
          <a:lstStyle/>
          <a:p>
            <a:fld id="{6AD88C41-B00B-40C6-A994-F558D8CBBE69}"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quartile 2.jpg"/>
          <p:cNvPicPr>
            <a:picLocks noGrp="1" noChangeAspect="1"/>
          </p:cNvPicPr>
          <p:nvPr>
            <p:ph idx="1"/>
          </p:nvPr>
        </p:nvPicPr>
        <p:blipFill>
          <a:blip r:embed="rId2" cstate="print"/>
          <a:stretch>
            <a:fillRect/>
          </a:stretch>
        </p:blipFill>
        <p:spPr>
          <a:xfrm>
            <a:off x="1676400" y="1752600"/>
            <a:ext cx="6324600" cy="3657600"/>
          </a:xfrm>
        </p:spPr>
      </p:pic>
      <p:sp>
        <p:nvSpPr>
          <p:cNvPr id="3" name="Date Placeholder 2"/>
          <p:cNvSpPr>
            <a:spLocks noGrp="1"/>
          </p:cNvSpPr>
          <p:nvPr>
            <p:ph type="dt" sz="half" idx="10"/>
          </p:nvPr>
        </p:nvSpPr>
        <p:spPr/>
        <p:txBody>
          <a:bodyPr/>
          <a:lstStyle/>
          <a:p>
            <a:fld id="{2F5FB85B-09FF-452E-AF05-F2BA6913C69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err="1" smtClean="0"/>
              <a:t>Decile</a:t>
            </a:r>
            <a:r>
              <a:rPr lang="en-PH" dirty="0" smtClean="0"/>
              <a:t> </a:t>
            </a:r>
            <a:endParaRPr lang="en-PH" dirty="0"/>
          </a:p>
        </p:txBody>
      </p:sp>
      <p:pic>
        <p:nvPicPr>
          <p:cNvPr id="4" name="Content Placeholder 3" descr="Decile.jpg"/>
          <p:cNvPicPr>
            <a:picLocks noGrp="1" noChangeAspect="1"/>
          </p:cNvPicPr>
          <p:nvPr>
            <p:ph idx="1"/>
          </p:nvPr>
        </p:nvPicPr>
        <p:blipFill>
          <a:blip r:embed="rId2" cstate="print"/>
          <a:stretch>
            <a:fillRect/>
          </a:stretch>
        </p:blipFill>
        <p:spPr>
          <a:xfrm>
            <a:off x="1905000" y="1600200"/>
            <a:ext cx="6324600" cy="3962399"/>
          </a:xfrm>
        </p:spPr>
      </p:pic>
      <p:sp>
        <p:nvSpPr>
          <p:cNvPr id="3" name="Date Placeholder 2"/>
          <p:cNvSpPr>
            <a:spLocks noGrp="1"/>
          </p:cNvSpPr>
          <p:nvPr>
            <p:ph type="dt" sz="half" idx="10"/>
          </p:nvPr>
        </p:nvSpPr>
        <p:spPr/>
        <p:txBody>
          <a:bodyPr/>
          <a:lstStyle/>
          <a:p>
            <a:fld id="{BC6706B1-FC46-4841-8A8B-B48EFBAF5CA2}"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Percentile</a:t>
            </a:r>
            <a:endParaRPr lang="en-PH" b="1" dirty="0"/>
          </a:p>
        </p:txBody>
      </p:sp>
      <p:sp>
        <p:nvSpPr>
          <p:cNvPr id="3" name="Content Placeholder 2"/>
          <p:cNvSpPr>
            <a:spLocks noGrp="1"/>
          </p:cNvSpPr>
          <p:nvPr>
            <p:ph idx="1"/>
          </p:nvPr>
        </p:nvSpPr>
        <p:spPr>
          <a:xfrm>
            <a:off x="533401" y="2489200"/>
            <a:ext cx="8001000" cy="3530600"/>
          </a:xfrm>
        </p:spPr>
        <p:txBody>
          <a:bodyPr>
            <a:noAutofit/>
          </a:bodyPr>
          <a:lstStyle/>
          <a:p>
            <a:pPr>
              <a:buNone/>
            </a:pPr>
            <a:r>
              <a:rPr lang="en-PH" sz="2800" b="1" dirty="0" smtClean="0"/>
              <a:t>A point in the distribution below which a number of cases lie.</a:t>
            </a:r>
          </a:p>
          <a:p>
            <a:pPr>
              <a:buNone/>
            </a:pPr>
            <a:r>
              <a:rPr lang="en-PH" sz="2800" b="1" dirty="0" smtClean="0"/>
              <a:t> QUESTION: John is 80 percentile in the </a:t>
            </a:r>
          </a:p>
          <a:p>
            <a:pPr>
              <a:buNone/>
            </a:pPr>
            <a:r>
              <a:rPr lang="en-PH" sz="2800" b="1" dirty="0" smtClean="0"/>
              <a:t>  test. What does it mean?</a:t>
            </a:r>
          </a:p>
          <a:p>
            <a:pPr>
              <a:buNone/>
            </a:pPr>
            <a:r>
              <a:rPr lang="en-PH" sz="2800" b="1" dirty="0" smtClean="0"/>
              <a:t>	A. John answered 80 questions.</a:t>
            </a:r>
          </a:p>
          <a:p>
            <a:pPr>
              <a:buNone/>
            </a:pPr>
            <a:r>
              <a:rPr lang="en-PH" sz="2800" b="1" dirty="0" smtClean="0"/>
              <a:t>    B. John got 80% correct answer.</a:t>
            </a:r>
          </a:p>
          <a:p>
            <a:pPr>
              <a:buNone/>
            </a:pPr>
            <a:r>
              <a:rPr lang="en-PH" sz="2800" b="1" dirty="0" smtClean="0"/>
              <a:t>    C. John got a score of 80.</a:t>
            </a:r>
          </a:p>
          <a:p>
            <a:pPr>
              <a:buNone/>
            </a:pPr>
            <a:r>
              <a:rPr lang="en-PH" sz="2800" b="1" dirty="0" smtClean="0"/>
              <a:t>    D. John belonged to the upper 20%.</a:t>
            </a:r>
            <a:endParaRPr lang="en-PH" sz="2800" b="1" dirty="0"/>
          </a:p>
        </p:txBody>
      </p:sp>
      <p:sp>
        <p:nvSpPr>
          <p:cNvPr id="4" name="Date Placeholder 3"/>
          <p:cNvSpPr>
            <a:spLocks noGrp="1"/>
          </p:cNvSpPr>
          <p:nvPr>
            <p:ph type="dt" sz="half" idx="10"/>
          </p:nvPr>
        </p:nvSpPr>
        <p:spPr/>
        <p:txBody>
          <a:bodyPr/>
          <a:lstStyle/>
          <a:p>
            <a:fld id="{7A0A9539-5B30-459C-A1ED-02055F1FC5B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percentile.jpg"/>
          <p:cNvPicPr>
            <a:picLocks noGrp="1" noChangeAspect="1"/>
          </p:cNvPicPr>
          <p:nvPr>
            <p:ph idx="1"/>
          </p:nvPr>
        </p:nvPicPr>
        <p:blipFill>
          <a:blip r:embed="rId2" cstate="print"/>
          <a:stretch>
            <a:fillRect/>
          </a:stretch>
        </p:blipFill>
        <p:spPr>
          <a:xfrm>
            <a:off x="762001" y="2667000"/>
            <a:ext cx="7086600" cy="2416175"/>
          </a:xfrm>
        </p:spPr>
      </p:pic>
      <p:sp>
        <p:nvSpPr>
          <p:cNvPr id="3" name="Date Placeholder 2"/>
          <p:cNvSpPr>
            <a:spLocks noGrp="1"/>
          </p:cNvSpPr>
          <p:nvPr>
            <p:ph type="dt" sz="half" idx="10"/>
          </p:nvPr>
        </p:nvSpPr>
        <p:spPr/>
        <p:txBody>
          <a:bodyPr/>
          <a:lstStyle/>
          <a:p>
            <a:fld id="{D0F462BA-E73C-4B38-9642-CF1009B8EA34}"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59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Percentile...</a:t>
            </a:r>
            <a:endParaRPr lang="en-PH" dirty="0"/>
          </a:p>
        </p:txBody>
      </p:sp>
      <p:sp>
        <p:nvSpPr>
          <p:cNvPr id="3" name="Content Placeholder 2"/>
          <p:cNvSpPr>
            <a:spLocks noGrp="1"/>
          </p:cNvSpPr>
          <p:nvPr>
            <p:ph idx="1"/>
          </p:nvPr>
        </p:nvSpPr>
        <p:spPr>
          <a:xfrm>
            <a:off x="866441" y="2489200"/>
            <a:ext cx="7667959" cy="3530600"/>
          </a:xfrm>
        </p:spPr>
        <p:txBody>
          <a:bodyPr>
            <a:normAutofit fontScale="92500"/>
          </a:bodyPr>
          <a:lstStyle/>
          <a:p>
            <a:pPr>
              <a:buNone/>
            </a:pPr>
            <a:r>
              <a:rPr lang="en-PH" sz="3600" b="1" dirty="0" smtClean="0"/>
              <a:t>Question: Jay got a score of 35 which is equivalent to 85</a:t>
            </a:r>
            <a:r>
              <a:rPr lang="en-PH" sz="3600" b="1" baseline="30000" dirty="0" smtClean="0"/>
              <a:t>th</a:t>
            </a:r>
            <a:r>
              <a:rPr lang="en-PH" sz="3600" b="1" dirty="0" smtClean="0"/>
              <a:t> percentile. What percent of the class have scores lower than 35?</a:t>
            </a:r>
          </a:p>
          <a:p>
            <a:pPr>
              <a:buNone/>
            </a:pPr>
            <a:r>
              <a:rPr lang="en-PH" sz="3600" b="1" dirty="0" smtClean="0"/>
              <a:t>	A. 35 %				C. 15 %</a:t>
            </a:r>
          </a:p>
          <a:p>
            <a:pPr>
              <a:buNone/>
            </a:pPr>
            <a:r>
              <a:rPr lang="en-PH" sz="3600" b="1" dirty="0" smtClean="0"/>
              <a:t>    B. 85 %			D.  65 %</a:t>
            </a:r>
            <a:endParaRPr lang="en-PH" sz="3600" b="1" dirty="0"/>
          </a:p>
        </p:txBody>
      </p:sp>
      <p:sp>
        <p:nvSpPr>
          <p:cNvPr id="4" name="Date Placeholder 3"/>
          <p:cNvSpPr>
            <a:spLocks noGrp="1"/>
          </p:cNvSpPr>
          <p:nvPr>
            <p:ph type="dt" sz="half" idx="10"/>
          </p:nvPr>
        </p:nvSpPr>
        <p:spPr/>
        <p:txBody>
          <a:bodyPr/>
          <a:lstStyle/>
          <a:p>
            <a:fld id="{83A4D37C-8299-4EBB-90A3-086A5BA96C3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564" y="925605"/>
            <a:ext cx="6902864" cy="711359"/>
          </a:xfrm>
        </p:spPr>
        <p:txBody>
          <a:bodyPr/>
          <a:lstStyle/>
          <a:p>
            <a:r>
              <a:rPr lang="en-PH" b="1" dirty="0" smtClean="0"/>
              <a:t>PRACTICE SET</a:t>
            </a:r>
            <a:endParaRPr lang="en-PH" b="1" dirty="0"/>
          </a:p>
        </p:txBody>
      </p:sp>
      <p:sp>
        <p:nvSpPr>
          <p:cNvPr id="3" name="Content Placeholder 2"/>
          <p:cNvSpPr>
            <a:spLocks noGrp="1"/>
          </p:cNvSpPr>
          <p:nvPr>
            <p:ph idx="1"/>
          </p:nvPr>
        </p:nvSpPr>
        <p:spPr>
          <a:xfrm>
            <a:off x="590843" y="2362200"/>
            <a:ext cx="8248358" cy="3657600"/>
          </a:xfrm>
        </p:spPr>
        <p:txBody>
          <a:bodyPr>
            <a:normAutofit/>
          </a:bodyPr>
          <a:lstStyle/>
          <a:p>
            <a:r>
              <a:rPr lang="en-PH" sz="3600" b="1" dirty="0" smtClean="0"/>
              <a:t>1. The teacher has computed the mean. What is the appropriate measure of variability he will compute next?</a:t>
            </a:r>
          </a:p>
          <a:p>
            <a:pPr>
              <a:buAutoNum type="alphaUcPeriod"/>
            </a:pPr>
            <a:r>
              <a:rPr lang="en-PH" sz="3600" b="1" dirty="0" smtClean="0"/>
              <a:t>Standard Deviation	   C. Range</a:t>
            </a:r>
          </a:p>
          <a:p>
            <a:pPr>
              <a:buAutoNum type="alphaUcPeriod"/>
            </a:pPr>
            <a:r>
              <a:rPr lang="en-PH" sz="3600" b="1" dirty="0" smtClean="0"/>
              <a:t>Variance			 	           D. Mode </a:t>
            </a:r>
            <a:endParaRPr lang="en-PH" sz="36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61</a:t>
            </a:fld>
            <a:endParaRPr lang="en-PH"/>
          </a:p>
        </p:txBody>
      </p:sp>
    </p:spTree>
    <p:extLst>
      <p:ext uri="{BB962C8B-B14F-4D97-AF65-F5344CB8AC3E}">
        <p14:creationId xmlns:p14="http://schemas.microsoft.com/office/powerpoint/2010/main" val="17036060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362200"/>
            <a:ext cx="7698601" cy="3657600"/>
          </a:xfrm>
        </p:spPr>
        <p:txBody>
          <a:bodyPr>
            <a:normAutofit/>
          </a:bodyPr>
          <a:lstStyle/>
          <a:p>
            <a:r>
              <a:rPr lang="en-PH" sz="3200" b="1" dirty="0" smtClean="0"/>
              <a:t>2. If all of the following are present in a distribution, which will you use to measure the typical performance of a class? </a:t>
            </a:r>
          </a:p>
          <a:p>
            <a:r>
              <a:rPr lang="en-PH" sz="3200" b="1" dirty="0" smtClean="0"/>
              <a:t>A. Mean 		B. Median</a:t>
            </a:r>
          </a:p>
          <a:p>
            <a:r>
              <a:rPr lang="en-PH" sz="3200" b="1" dirty="0" smtClean="0"/>
              <a:t>C. Mode		D. All of them</a:t>
            </a:r>
            <a:endParaRPr lang="en-PH" sz="32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62</a:t>
            </a:fld>
            <a:endParaRPr lang="en-PH"/>
          </a:p>
        </p:txBody>
      </p:sp>
    </p:spTree>
    <p:extLst>
      <p:ext uri="{BB962C8B-B14F-4D97-AF65-F5344CB8AC3E}">
        <p14:creationId xmlns:p14="http://schemas.microsoft.com/office/powerpoint/2010/main" val="13873337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362200"/>
            <a:ext cx="7820359" cy="3657600"/>
          </a:xfrm>
        </p:spPr>
        <p:txBody>
          <a:bodyPr>
            <a:normAutofit/>
          </a:bodyPr>
          <a:lstStyle/>
          <a:p>
            <a:r>
              <a:rPr lang="en-PH" sz="4000" b="1" dirty="0" smtClean="0"/>
              <a:t>3. The scores of the students in an IQ test is what type of data?</a:t>
            </a:r>
          </a:p>
          <a:p>
            <a:r>
              <a:rPr lang="en-PH" sz="4000" b="1" dirty="0" smtClean="0"/>
              <a:t>A. Nominal  C. Ordinal</a:t>
            </a:r>
          </a:p>
          <a:p>
            <a:r>
              <a:rPr lang="en-PH" sz="4000" b="1" dirty="0" smtClean="0"/>
              <a:t>B. Interval     D. Ratio</a:t>
            </a:r>
            <a:endParaRPr lang="en-PH" sz="40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63</a:t>
            </a:fld>
            <a:endParaRPr lang="en-PH"/>
          </a:p>
        </p:txBody>
      </p:sp>
    </p:spTree>
    <p:extLst>
      <p:ext uri="{BB962C8B-B14F-4D97-AF65-F5344CB8AC3E}">
        <p14:creationId xmlns:p14="http://schemas.microsoft.com/office/powerpoint/2010/main" val="14546339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209800"/>
            <a:ext cx="7896559" cy="3810000"/>
          </a:xfrm>
        </p:spPr>
        <p:txBody>
          <a:bodyPr>
            <a:normAutofit/>
          </a:bodyPr>
          <a:lstStyle/>
          <a:p>
            <a:r>
              <a:rPr lang="en-PH" sz="3200" b="1" dirty="0" smtClean="0"/>
              <a:t>4. The score of Alvin in a test is 56 which is equal to the 75</a:t>
            </a:r>
            <a:r>
              <a:rPr lang="en-PH" sz="3200" b="1" baseline="30000" dirty="0" smtClean="0"/>
              <a:t>th</a:t>
            </a:r>
            <a:r>
              <a:rPr lang="en-PH" sz="3200" b="1" dirty="0" smtClean="0"/>
              <a:t> percentile. What percent of his classmates have scores lower than 56?</a:t>
            </a:r>
          </a:p>
          <a:p>
            <a:r>
              <a:rPr lang="en-PH" sz="4400" b="1" dirty="0" smtClean="0"/>
              <a:t>A. 65		A. 56</a:t>
            </a:r>
          </a:p>
          <a:p>
            <a:r>
              <a:rPr lang="en-PH" sz="4400" b="1" dirty="0" smtClean="0"/>
              <a:t>B. 75		D. 57</a:t>
            </a:r>
            <a:endParaRPr lang="en-PH" sz="44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64</a:t>
            </a:fld>
            <a:endParaRPr lang="en-PH"/>
          </a:p>
        </p:txBody>
      </p:sp>
    </p:spTree>
    <p:extLst>
      <p:ext uri="{BB962C8B-B14F-4D97-AF65-F5344CB8AC3E}">
        <p14:creationId xmlns:p14="http://schemas.microsoft.com/office/powerpoint/2010/main" val="30277286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820359" cy="3530600"/>
          </a:xfrm>
        </p:spPr>
        <p:txBody>
          <a:bodyPr>
            <a:normAutofit/>
          </a:bodyPr>
          <a:lstStyle/>
          <a:p>
            <a:r>
              <a:rPr lang="en-PH" sz="4000" b="1" dirty="0" smtClean="0"/>
              <a:t>5. Where can you find the median of 17 scores? The ___ score.</a:t>
            </a:r>
          </a:p>
          <a:p>
            <a:r>
              <a:rPr lang="en-PH" sz="4000" b="1" dirty="0" smtClean="0"/>
              <a:t>A. 9</a:t>
            </a:r>
            <a:r>
              <a:rPr lang="en-PH" sz="4000" b="1" baseline="30000" dirty="0" smtClean="0"/>
              <a:t>th</a:t>
            </a:r>
            <a:r>
              <a:rPr lang="en-PH" sz="4000" b="1" dirty="0" smtClean="0"/>
              <a:t>     	B. 8</a:t>
            </a:r>
            <a:r>
              <a:rPr lang="en-PH" sz="4000" b="1" baseline="30000" dirty="0" smtClean="0"/>
              <a:t>th</a:t>
            </a:r>
            <a:endParaRPr lang="en-PH" sz="4000" b="1" dirty="0" smtClean="0"/>
          </a:p>
          <a:p>
            <a:r>
              <a:rPr lang="en-PH" sz="4000" b="1" dirty="0" smtClean="0"/>
              <a:t>C. 7</a:t>
            </a:r>
            <a:r>
              <a:rPr lang="en-PH" sz="4000" b="1" baseline="30000" dirty="0" smtClean="0"/>
              <a:t>th</a:t>
            </a:r>
            <a:r>
              <a:rPr lang="en-PH" sz="4000" b="1" dirty="0" smtClean="0"/>
              <a:t>       D. average of A &amp; B</a:t>
            </a:r>
          </a:p>
          <a:p>
            <a:endParaRPr lang="en-PH" sz="40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65</a:t>
            </a:fld>
            <a:endParaRPr lang="en-PH"/>
          </a:p>
        </p:txBody>
      </p:sp>
    </p:spTree>
    <p:extLst>
      <p:ext uri="{BB962C8B-B14F-4D97-AF65-F5344CB8AC3E}">
        <p14:creationId xmlns:p14="http://schemas.microsoft.com/office/powerpoint/2010/main" val="2949153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lnSpcReduction="10000"/>
          </a:bodyPr>
          <a:lstStyle/>
          <a:p>
            <a:r>
              <a:rPr lang="en-PH" sz="3200" b="1" dirty="0" smtClean="0"/>
              <a:t>6. What is the rank of 90 in this set of grades:</a:t>
            </a:r>
          </a:p>
          <a:p>
            <a:r>
              <a:rPr lang="en-PH" sz="3200" b="1" dirty="0" smtClean="0"/>
              <a:t>    92, 91, 88, 90, 91,90, 89, </a:t>
            </a:r>
          </a:p>
          <a:p>
            <a:r>
              <a:rPr lang="en-PH" sz="6000" b="1" dirty="0" smtClean="0"/>
              <a:t>A. 3		C. 4</a:t>
            </a:r>
          </a:p>
          <a:p>
            <a:r>
              <a:rPr lang="en-PH" sz="6000" b="1" dirty="0" smtClean="0"/>
              <a:t>B. 4.5    D. 5</a:t>
            </a:r>
            <a:endParaRPr lang="en-PH" sz="60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66</a:t>
            </a:fld>
            <a:endParaRPr lang="en-PH"/>
          </a:p>
        </p:txBody>
      </p:sp>
    </p:spTree>
    <p:extLst>
      <p:ext uri="{BB962C8B-B14F-4D97-AF65-F5344CB8AC3E}">
        <p14:creationId xmlns:p14="http://schemas.microsoft.com/office/powerpoint/2010/main" val="37046730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439359" cy="3530600"/>
          </a:xfrm>
        </p:spPr>
        <p:txBody>
          <a:bodyPr>
            <a:noAutofit/>
          </a:bodyPr>
          <a:lstStyle/>
          <a:p>
            <a:r>
              <a:rPr lang="en-PH" sz="3200" b="1" dirty="0" smtClean="0"/>
              <a:t>7. Data which are used to label or categorize re called as ________. </a:t>
            </a:r>
          </a:p>
          <a:p>
            <a:r>
              <a:rPr lang="en-PH" sz="3200" b="1" dirty="0" smtClean="0"/>
              <a:t>A. nominal data</a:t>
            </a:r>
          </a:p>
          <a:p>
            <a:r>
              <a:rPr lang="en-PH" sz="3200" b="1" dirty="0" smtClean="0"/>
              <a:t>B. interval data</a:t>
            </a:r>
          </a:p>
          <a:p>
            <a:r>
              <a:rPr lang="en-PH" sz="3200" b="1" dirty="0" smtClean="0"/>
              <a:t>C. ordinal data</a:t>
            </a:r>
          </a:p>
          <a:p>
            <a:r>
              <a:rPr lang="en-PH" sz="3200" b="1" dirty="0" smtClean="0"/>
              <a:t>D. ratio data</a:t>
            </a:r>
            <a:endParaRPr lang="en-PH" sz="32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67</a:t>
            </a:fld>
            <a:endParaRPr lang="en-PH"/>
          </a:p>
        </p:txBody>
      </p:sp>
    </p:spTree>
    <p:extLst>
      <p:ext uri="{BB962C8B-B14F-4D97-AF65-F5344CB8AC3E}">
        <p14:creationId xmlns:p14="http://schemas.microsoft.com/office/powerpoint/2010/main" val="15251591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3" y="2209800"/>
            <a:ext cx="8248358" cy="3810000"/>
          </a:xfrm>
        </p:spPr>
        <p:txBody>
          <a:bodyPr>
            <a:noAutofit/>
          </a:bodyPr>
          <a:lstStyle/>
          <a:p>
            <a:r>
              <a:rPr lang="en-PH" sz="3600" b="1" dirty="0" smtClean="0"/>
              <a:t>8. A zero in a test </a:t>
            </a:r>
            <a:r>
              <a:rPr lang="en-PH" sz="3600" b="1" dirty="0" err="1" smtClean="0"/>
              <a:t>reperesents</a:t>
            </a:r>
            <a:r>
              <a:rPr lang="en-PH" sz="3600" b="1" dirty="0" smtClean="0"/>
              <a:t> what type of data?</a:t>
            </a:r>
          </a:p>
          <a:p>
            <a:r>
              <a:rPr lang="en-PH" sz="3600" b="1" dirty="0" smtClean="0"/>
              <a:t>A. nominal</a:t>
            </a:r>
          </a:p>
          <a:p>
            <a:r>
              <a:rPr lang="en-PH" sz="3600" b="1" dirty="0" smtClean="0"/>
              <a:t>B. ordinal</a:t>
            </a:r>
          </a:p>
          <a:p>
            <a:r>
              <a:rPr lang="en-PH" sz="3600" b="1" dirty="0" smtClean="0"/>
              <a:t>C. nominal</a:t>
            </a:r>
          </a:p>
          <a:p>
            <a:r>
              <a:rPr lang="en-PH" sz="3600" b="1" dirty="0" smtClean="0"/>
              <a:t>D. ratio</a:t>
            </a:r>
            <a:endParaRPr lang="en-PH" sz="36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68</a:t>
            </a:fld>
            <a:endParaRPr lang="en-PH"/>
          </a:p>
        </p:txBody>
      </p:sp>
    </p:spTree>
    <p:extLst>
      <p:ext uri="{BB962C8B-B14F-4D97-AF65-F5344CB8AC3E}">
        <p14:creationId xmlns:p14="http://schemas.microsoft.com/office/powerpoint/2010/main" val="34769707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2" y="2438400"/>
            <a:ext cx="8476958" cy="3581400"/>
          </a:xfrm>
        </p:spPr>
        <p:txBody>
          <a:bodyPr>
            <a:normAutofit/>
          </a:bodyPr>
          <a:lstStyle/>
          <a:p>
            <a:r>
              <a:rPr lang="en-PH" sz="3200" b="1" dirty="0" smtClean="0"/>
              <a:t>9. If the teacher wants a quick estimate of the average performance of the class, he should use the ________. </a:t>
            </a:r>
          </a:p>
          <a:p>
            <a:r>
              <a:rPr lang="en-PH" sz="3200" b="1" dirty="0" smtClean="0"/>
              <a:t>A. Mean		C. Mode</a:t>
            </a:r>
          </a:p>
          <a:p>
            <a:r>
              <a:rPr lang="en-PH" sz="3200" b="1" dirty="0" smtClean="0"/>
              <a:t>B. Median	D. Range</a:t>
            </a:r>
            <a:endParaRPr lang="en-PH" sz="32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69</a:t>
            </a:fld>
            <a:endParaRPr lang="en-PH"/>
          </a:p>
        </p:txBody>
      </p:sp>
    </p:spTree>
    <p:extLst>
      <p:ext uri="{BB962C8B-B14F-4D97-AF65-F5344CB8AC3E}">
        <p14:creationId xmlns:p14="http://schemas.microsoft.com/office/powerpoint/2010/main" val="24525096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2" y="2133600"/>
            <a:ext cx="8324557" cy="3886200"/>
          </a:xfrm>
        </p:spPr>
        <p:txBody>
          <a:bodyPr>
            <a:normAutofit/>
          </a:bodyPr>
          <a:lstStyle/>
          <a:p>
            <a:r>
              <a:rPr lang="en-PH" sz="3600" b="1" dirty="0" smtClean="0"/>
              <a:t>10. Which of the following is will be definitely affected when a teacher fails to record a score in a test? The ____ of the scores.</a:t>
            </a:r>
          </a:p>
          <a:p>
            <a:r>
              <a:rPr lang="en-PH" sz="3600" b="1" dirty="0" smtClean="0"/>
              <a:t>A. Mean		C. Mode</a:t>
            </a:r>
          </a:p>
          <a:p>
            <a:r>
              <a:rPr lang="en-PH" sz="3600" b="1" dirty="0" smtClean="0"/>
              <a:t>B. Median	D. Variance</a:t>
            </a:r>
          </a:p>
          <a:p>
            <a:pPr marL="0" indent="0">
              <a:buNone/>
            </a:pPr>
            <a:endParaRPr lang="en-PH" sz="36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70</a:t>
            </a:fld>
            <a:endParaRPr lang="en-PH"/>
          </a:p>
        </p:txBody>
      </p:sp>
    </p:spTree>
    <p:extLst>
      <p:ext uri="{BB962C8B-B14F-4D97-AF65-F5344CB8AC3E}">
        <p14:creationId xmlns:p14="http://schemas.microsoft.com/office/powerpoint/2010/main" val="20059774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209800"/>
            <a:ext cx="7363159" cy="3810000"/>
          </a:xfrm>
        </p:spPr>
        <p:txBody>
          <a:bodyPr>
            <a:normAutofit/>
          </a:bodyPr>
          <a:lstStyle/>
          <a:p>
            <a:r>
              <a:rPr lang="en-PH" sz="3200" b="1" dirty="0" smtClean="0"/>
              <a:t>11. Which measure(s) of central tendency is/are appropriate if all of the students pass the test and many have perfect scores?</a:t>
            </a:r>
          </a:p>
          <a:p>
            <a:r>
              <a:rPr lang="en-PH" sz="3600" b="1" dirty="0" smtClean="0"/>
              <a:t>A. Mean		C. Median</a:t>
            </a:r>
          </a:p>
          <a:p>
            <a:r>
              <a:rPr lang="en-PH" sz="3600" b="1" dirty="0" smtClean="0"/>
              <a:t>B. Mode		D. Mean &amp; Mode</a:t>
            </a:r>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71</a:t>
            </a:fld>
            <a:endParaRPr lang="en-PH"/>
          </a:p>
        </p:txBody>
      </p:sp>
    </p:spTree>
    <p:extLst>
      <p:ext uri="{BB962C8B-B14F-4D97-AF65-F5344CB8AC3E}">
        <p14:creationId xmlns:p14="http://schemas.microsoft.com/office/powerpoint/2010/main" val="11487586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3" y="2133600"/>
            <a:ext cx="8248358" cy="3886200"/>
          </a:xfrm>
        </p:spPr>
        <p:txBody>
          <a:bodyPr>
            <a:noAutofit/>
          </a:bodyPr>
          <a:lstStyle/>
          <a:p>
            <a:r>
              <a:rPr lang="en-PH" sz="3200" b="1" dirty="0" smtClean="0"/>
              <a:t>12. Celsius and Fahrenheit temperature scales are what type of data?</a:t>
            </a:r>
          </a:p>
          <a:p>
            <a:r>
              <a:rPr lang="en-PH" sz="3200" b="1" dirty="0" smtClean="0"/>
              <a:t>A. nominal</a:t>
            </a:r>
          </a:p>
          <a:p>
            <a:r>
              <a:rPr lang="en-PH" sz="3200" b="1" dirty="0" smtClean="0"/>
              <a:t>B. ordinal</a:t>
            </a:r>
          </a:p>
          <a:p>
            <a:r>
              <a:rPr lang="en-PH" sz="3200" b="1" dirty="0" smtClean="0"/>
              <a:t>C. Interval</a:t>
            </a:r>
          </a:p>
          <a:p>
            <a:r>
              <a:rPr lang="en-PH" sz="3200" b="1" dirty="0" smtClean="0"/>
              <a:t>D. Ratio</a:t>
            </a:r>
          </a:p>
          <a:p>
            <a:endParaRPr lang="en-PH" sz="3200"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72</a:t>
            </a:fld>
            <a:endParaRPr lang="en-PH"/>
          </a:p>
        </p:txBody>
      </p:sp>
    </p:spTree>
    <p:extLst>
      <p:ext uri="{BB962C8B-B14F-4D97-AF65-F5344CB8AC3E}">
        <p14:creationId xmlns:p14="http://schemas.microsoft.com/office/powerpoint/2010/main" val="968328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286000"/>
            <a:ext cx="7363159" cy="3733800"/>
          </a:xfrm>
        </p:spPr>
        <p:txBody>
          <a:bodyPr>
            <a:noAutofit/>
          </a:bodyPr>
          <a:lstStyle/>
          <a:p>
            <a:r>
              <a:rPr lang="en-PH" sz="3200" b="1" dirty="0" smtClean="0"/>
              <a:t>13. When the scores cluster in the left side of the tail, it is _____________. </a:t>
            </a:r>
          </a:p>
          <a:p>
            <a:r>
              <a:rPr lang="en-PH" sz="3200" b="1" dirty="0" smtClean="0"/>
              <a:t>A. negatively skewed</a:t>
            </a:r>
          </a:p>
          <a:p>
            <a:r>
              <a:rPr lang="en-PH" sz="3200" b="1" dirty="0" smtClean="0"/>
              <a:t>B. positively skewed</a:t>
            </a:r>
          </a:p>
          <a:p>
            <a:r>
              <a:rPr lang="en-PH" sz="3200" b="1" dirty="0" smtClean="0"/>
              <a:t>C. skewed to the left</a:t>
            </a:r>
          </a:p>
          <a:p>
            <a:r>
              <a:rPr lang="en-PH" sz="3200" b="1" dirty="0" smtClean="0"/>
              <a:t>D. normal</a:t>
            </a:r>
            <a:endParaRPr lang="en-PH" sz="32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73</a:t>
            </a:fld>
            <a:endParaRPr lang="en-PH"/>
          </a:p>
        </p:txBody>
      </p:sp>
    </p:spTree>
    <p:extLst>
      <p:ext uri="{BB962C8B-B14F-4D97-AF65-F5344CB8AC3E}">
        <p14:creationId xmlns:p14="http://schemas.microsoft.com/office/powerpoint/2010/main" val="30060458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3600" b="1" dirty="0" smtClean="0"/>
              <a:t>For questions 14-15, refer to this data</a:t>
            </a:r>
            <a:endParaRPr lang="en-PH" sz="3600" b="1" dirty="0"/>
          </a:p>
        </p:txBody>
      </p:sp>
      <p:sp>
        <p:nvSpPr>
          <p:cNvPr id="3" name="Content Placeholder 2"/>
          <p:cNvSpPr>
            <a:spLocks noGrp="1"/>
          </p:cNvSpPr>
          <p:nvPr>
            <p:ph idx="1"/>
          </p:nvPr>
        </p:nvSpPr>
        <p:spPr>
          <a:xfrm>
            <a:off x="866441" y="2133600"/>
            <a:ext cx="7591759" cy="3886200"/>
          </a:xfrm>
        </p:spPr>
        <p:txBody>
          <a:bodyPr/>
          <a:lstStyle/>
          <a:p>
            <a:endParaRPr lang="en-PH" dirty="0" smtClean="0"/>
          </a:p>
          <a:p>
            <a:r>
              <a:rPr lang="en-PH" sz="6600" dirty="0" smtClean="0"/>
              <a:t>8, -8,  4, -4,  0</a:t>
            </a:r>
          </a:p>
          <a:p>
            <a:r>
              <a:rPr lang="en-PH" sz="4000" b="1" dirty="0" smtClean="0"/>
              <a:t>14.What is the mean?</a:t>
            </a:r>
          </a:p>
          <a:p>
            <a:r>
              <a:rPr lang="en-PH" sz="4000" b="1" dirty="0" smtClean="0"/>
              <a:t>15. What is the median?</a:t>
            </a:r>
            <a:endParaRPr lang="en-PH" sz="40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74</a:t>
            </a:fld>
            <a:endParaRPr lang="en-PH"/>
          </a:p>
        </p:txBody>
      </p:sp>
    </p:spTree>
    <p:extLst>
      <p:ext uri="{BB962C8B-B14F-4D97-AF65-F5344CB8AC3E}">
        <p14:creationId xmlns:p14="http://schemas.microsoft.com/office/powerpoint/2010/main" val="11524085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PH" sz="4000" b="1" dirty="0" smtClean="0"/>
              <a:t>Measures of Variability and Dispersion</a:t>
            </a:r>
            <a:endParaRPr lang="en-PH" sz="4000" b="1" dirty="0"/>
          </a:p>
        </p:txBody>
      </p:sp>
      <p:sp>
        <p:nvSpPr>
          <p:cNvPr id="3" name="Content Placeholder 2"/>
          <p:cNvSpPr>
            <a:spLocks noGrp="1"/>
          </p:cNvSpPr>
          <p:nvPr>
            <p:ph idx="1"/>
          </p:nvPr>
        </p:nvSpPr>
        <p:spPr>
          <a:xfrm>
            <a:off x="866441" y="2489200"/>
            <a:ext cx="7591759" cy="3530600"/>
          </a:xfrm>
        </p:spPr>
        <p:txBody>
          <a:bodyPr>
            <a:normAutofit fontScale="92500" lnSpcReduction="10000"/>
          </a:bodyPr>
          <a:lstStyle/>
          <a:p>
            <a:pPr algn="just">
              <a:buNone/>
            </a:pPr>
            <a:r>
              <a:rPr lang="en-PH" sz="4000" b="1" dirty="0" smtClean="0"/>
              <a:t>After you have computed a measure of central tendency, there is a need to compute a corresponding measure of variability.</a:t>
            </a:r>
          </a:p>
          <a:p>
            <a:pPr algn="just">
              <a:buNone/>
            </a:pPr>
            <a:r>
              <a:rPr lang="en-PH" sz="4000" b="1" dirty="0" smtClean="0"/>
              <a:t>	Why?</a:t>
            </a:r>
            <a:endParaRPr lang="en-PH" sz="4000" b="1" dirty="0"/>
          </a:p>
        </p:txBody>
      </p:sp>
      <p:sp>
        <p:nvSpPr>
          <p:cNvPr id="4" name="Date Placeholder 3"/>
          <p:cNvSpPr>
            <a:spLocks noGrp="1"/>
          </p:cNvSpPr>
          <p:nvPr>
            <p:ph type="dt" sz="half" idx="10"/>
          </p:nvPr>
        </p:nvSpPr>
        <p:spPr/>
        <p:txBody>
          <a:bodyPr/>
          <a:lstStyle/>
          <a:p>
            <a:fld id="{09095712-4DF4-4CF5-AC12-E980948B7CF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Consider these data sets:</a:t>
            </a:r>
            <a:endParaRPr lang="en-PH" dirty="0"/>
          </a:p>
        </p:txBody>
      </p:sp>
      <p:sp>
        <p:nvSpPr>
          <p:cNvPr id="3" name="Content Placeholder 2"/>
          <p:cNvSpPr>
            <a:spLocks noGrp="1"/>
          </p:cNvSpPr>
          <p:nvPr>
            <p:ph idx="1"/>
          </p:nvPr>
        </p:nvSpPr>
        <p:spPr/>
        <p:txBody>
          <a:bodyPr>
            <a:normAutofit lnSpcReduction="10000"/>
          </a:bodyPr>
          <a:lstStyle/>
          <a:p>
            <a:pPr algn="just">
              <a:buNone/>
            </a:pPr>
            <a:r>
              <a:rPr lang="en-PH" sz="5400" dirty="0" smtClean="0"/>
              <a:t>SET A = 1, 4, 5, 6, 9</a:t>
            </a:r>
          </a:p>
          <a:p>
            <a:pPr algn="just">
              <a:buNone/>
            </a:pPr>
            <a:r>
              <a:rPr lang="en-PH" sz="5400" dirty="0" smtClean="0"/>
              <a:t>SET B = 3, 4, 5, 6, 7</a:t>
            </a:r>
          </a:p>
          <a:p>
            <a:pPr algn="just">
              <a:buNone/>
            </a:pPr>
            <a:r>
              <a:rPr lang="en-PH" sz="4000" dirty="0" smtClean="0"/>
              <a:t>	Compare the data sets in terms of the mean, median &amp; mode. </a:t>
            </a:r>
          </a:p>
        </p:txBody>
      </p:sp>
      <p:sp>
        <p:nvSpPr>
          <p:cNvPr id="4" name="Date Placeholder 3"/>
          <p:cNvSpPr>
            <a:spLocks noGrp="1"/>
          </p:cNvSpPr>
          <p:nvPr>
            <p:ph type="dt" sz="half" idx="10"/>
          </p:nvPr>
        </p:nvSpPr>
        <p:spPr/>
        <p:txBody>
          <a:bodyPr/>
          <a:lstStyle/>
          <a:p>
            <a:fld id="{5A969191-28E5-4EB3-AFC1-C7094DED378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What is variability?</a:t>
            </a:r>
            <a:endParaRPr lang="en-PH" b="1" dirty="0"/>
          </a:p>
        </p:txBody>
      </p:sp>
      <p:sp>
        <p:nvSpPr>
          <p:cNvPr id="3" name="Content Placeholder 2"/>
          <p:cNvSpPr>
            <a:spLocks noGrp="1"/>
          </p:cNvSpPr>
          <p:nvPr>
            <p:ph idx="1"/>
          </p:nvPr>
        </p:nvSpPr>
        <p:spPr/>
        <p:txBody>
          <a:bodyPr>
            <a:normAutofit/>
          </a:bodyPr>
          <a:lstStyle/>
          <a:p>
            <a:r>
              <a:rPr lang="en-PH" sz="4400" b="1" dirty="0" smtClean="0"/>
              <a:t>Consider these scores.</a:t>
            </a:r>
          </a:p>
          <a:p>
            <a:pPr>
              <a:buAutoNum type="alphaUcPeriod"/>
            </a:pPr>
            <a:r>
              <a:rPr lang="en-PH" sz="4400" b="1" dirty="0" smtClean="0"/>
              <a:t>7,  7  7 ,7 ,7</a:t>
            </a:r>
          </a:p>
          <a:p>
            <a:pPr>
              <a:buAutoNum type="alphaUcPeriod"/>
            </a:pPr>
            <a:r>
              <a:rPr lang="en-PH" sz="4400" b="1" dirty="0" smtClean="0"/>
              <a:t>1, 2, 3, 4, 5</a:t>
            </a:r>
            <a:endParaRPr lang="en-PH" sz="4400" b="1" dirty="0"/>
          </a:p>
        </p:txBody>
      </p:sp>
      <p:sp>
        <p:nvSpPr>
          <p:cNvPr id="4" name="Date Placeholder 3"/>
          <p:cNvSpPr>
            <a:spLocks noGrp="1"/>
          </p:cNvSpPr>
          <p:nvPr>
            <p:ph type="dt" sz="half" idx="10"/>
          </p:nvPr>
        </p:nvSpPr>
        <p:spPr/>
        <p:txBody>
          <a:bodyPr/>
          <a:lstStyle/>
          <a:p>
            <a:fld id="{787875F7-A876-497E-A4C1-37111DC3B53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77</a:t>
            </a:fld>
            <a:endParaRPr lang="en-PH"/>
          </a:p>
        </p:txBody>
      </p:sp>
    </p:spTree>
    <p:extLst>
      <p:ext uri="{BB962C8B-B14F-4D97-AF65-F5344CB8AC3E}">
        <p14:creationId xmlns:p14="http://schemas.microsoft.com/office/powerpoint/2010/main" val="15085717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Limitation of the MCT</a:t>
            </a:r>
            <a:endParaRPr lang="en-PH" dirty="0"/>
          </a:p>
        </p:txBody>
      </p:sp>
      <p:sp>
        <p:nvSpPr>
          <p:cNvPr id="3" name="Content Placeholder 2"/>
          <p:cNvSpPr>
            <a:spLocks noGrp="1"/>
          </p:cNvSpPr>
          <p:nvPr>
            <p:ph idx="1"/>
          </p:nvPr>
        </p:nvSpPr>
        <p:spPr>
          <a:xfrm>
            <a:off x="866441" y="2489200"/>
            <a:ext cx="7820359" cy="3530600"/>
          </a:xfrm>
        </p:spPr>
        <p:txBody>
          <a:bodyPr>
            <a:noAutofit/>
          </a:bodyPr>
          <a:lstStyle/>
          <a:p>
            <a:pPr algn="just"/>
            <a:r>
              <a:rPr lang="en-PH" sz="2800" b="1" dirty="0" smtClean="0"/>
              <a:t>The MCTs do not give an accurate description of the data sets. It cannot describe the data in terms of distance, variability or dispersion.</a:t>
            </a:r>
          </a:p>
          <a:p>
            <a:pPr algn="just">
              <a:buNone/>
            </a:pPr>
            <a:r>
              <a:rPr lang="en-PH" sz="2800" b="1" dirty="0" smtClean="0"/>
              <a:t>Are the scores close? Are they widespread? Homogeneous? Heterogeneous? Only the Measures of Variability or Dispersion can answer these questions.</a:t>
            </a:r>
            <a:endParaRPr lang="en-PH" sz="2800" b="1" dirty="0"/>
          </a:p>
        </p:txBody>
      </p:sp>
      <p:sp>
        <p:nvSpPr>
          <p:cNvPr id="4" name="Date Placeholder 3"/>
          <p:cNvSpPr>
            <a:spLocks noGrp="1"/>
          </p:cNvSpPr>
          <p:nvPr>
            <p:ph type="dt" sz="half" idx="10"/>
          </p:nvPr>
        </p:nvSpPr>
        <p:spPr/>
        <p:txBody>
          <a:bodyPr/>
          <a:lstStyle/>
          <a:p>
            <a:fld id="{27EA8308-E240-4C00-A312-9394FCB851C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The Measures of Variability</a:t>
            </a:r>
            <a:endParaRPr lang="en-PH" dirty="0"/>
          </a:p>
        </p:txBody>
      </p:sp>
      <p:sp>
        <p:nvSpPr>
          <p:cNvPr id="3" name="Content Placeholder 2"/>
          <p:cNvSpPr>
            <a:spLocks noGrp="1"/>
          </p:cNvSpPr>
          <p:nvPr>
            <p:ph idx="1"/>
          </p:nvPr>
        </p:nvSpPr>
        <p:spPr/>
        <p:txBody>
          <a:bodyPr>
            <a:normAutofit fontScale="77500" lnSpcReduction="20000"/>
          </a:bodyPr>
          <a:lstStyle/>
          <a:p>
            <a:pPr lvl="1"/>
            <a:r>
              <a:rPr lang="en-PH" sz="4800" dirty="0" smtClean="0"/>
              <a:t>1. Range</a:t>
            </a:r>
          </a:p>
          <a:p>
            <a:pPr lvl="1"/>
            <a:r>
              <a:rPr lang="en-PH" sz="4800" dirty="0" smtClean="0"/>
              <a:t>2. Average Deviation</a:t>
            </a:r>
          </a:p>
          <a:p>
            <a:pPr lvl="1"/>
            <a:r>
              <a:rPr lang="en-PH" sz="4800" dirty="0" smtClean="0"/>
              <a:t>3. Quartile Deviation</a:t>
            </a:r>
          </a:p>
          <a:p>
            <a:pPr lvl="1"/>
            <a:r>
              <a:rPr lang="en-PH" sz="4800" dirty="0" smtClean="0"/>
              <a:t>4. Standard Deviation</a:t>
            </a:r>
          </a:p>
          <a:p>
            <a:pPr lvl="1"/>
            <a:r>
              <a:rPr lang="en-PH" sz="4800" dirty="0" smtClean="0"/>
              <a:t>5. Variance</a:t>
            </a:r>
          </a:p>
          <a:p>
            <a:endParaRPr lang="en-PH" sz="4800" dirty="0"/>
          </a:p>
        </p:txBody>
      </p:sp>
      <p:sp>
        <p:nvSpPr>
          <p:cNvPr id="4" name="Date Placeholder 3"/>
          <p:cNvSpPr>
            <a:spLocks noGrp="1"/>
          </p:cNvSpPr>
          <p:nvPr>
            <p:ph type="dt" sz="half" idx="10"/>
          </p:nvPr>
        </p:nvSpPr>
        <p:spPr/>
        <p:txBody>
          <a:bodyPr/>
          <a:lstStyle/>
          <a:p>
            <a:fld id="{BA26A027-6864-4BE3-A65E-6A402825B121}"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79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INTERPRETATATION</a:t>
            </a:r>
            <a:endParaRPr lang="en-PH" b="1" dirty="0"/>
          </a:p>
        </p:txBody>
      </p:sp>
      <p:sp>
        <p:nvSpPr>
          <p:cNvPr id="3" name="Content Placeholder 2"/>
          <p:cNvSpPr>
            <a:spLocks noGrp="1"/>
          </p:cNvSpPr>
          <p:nvPr>
            <p:ph idx="1"/>
          </p:nvPr>
        </p:nvSpPr>
        <p:spPr>
          <a:xfrm>
            <a:off x="866441" y="2489200"/>
            <a:ext cx="7439359" cy="3530600"/>
          </a:xfrm>
        </p:spPr>
        <p:txBody>
          <a:bodyPr>
            <a:normAutofit fontScale="92500"/>
          </a:bodyPr>
          <a:lstStyle/>
          <a:p>
            <a:pPr algn="just">
              <a:buNone/>
            </a:pPr>
            <a:r>
              <a:rPr lang="en-PH" sz="4000" b="1" dirty="0" smtClean="0"/>
              <a:t>THE HIGHER THE VALUE DERIVED FROM ANY MEASURE OF VARIABILITY, THE MORE WIDESPREAD THE SCORES ARE. THE LOWER THE VALUE, THE CLOSER THE SCORES ARE.</a:t>
            </a:r>
            <a:endParaRPr lang="en-PH" sz="4000" b="1" dirty="0"/>
          </a:p>
        </p:txBody>
      </p:sp>
      <p:sp>
        <p:nvSpPr>
          <p:cNvPr id="4" name="Date Placeholder 3"/>
          <p:cNvSpPr>
            <a:spLocks noGrp="1"/>
          </p:cNvSpPr>
          <p:nvPr>
            <p:ph type="dt" sz="half" idx="10"/>
          </p:nvPr>
        </p:nvSpPr>
        <p:spPr/>
        <p:txBody>
          <a:bodyPr/>
          <a:lstStyle/>
          <a:p>
            <a:fld id="{892293B0-0D1D-44FB-AE31-FE6C7E63C05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Example:</a:t>
            </a:r>
            <a:endParaRPr lang="en-PH" dirty="0"/>
          </a:p>
        </p:txBody>
      </p:sp>
      <p:sp>
        <p:nvSpPr>
          <p:cNvPr id="3" name="Content Placeholder 2"/>
          <p:cNvSpPr>
            <a:spLocks noGrp="1"/>
          </p:cNvSpPr>
          <p:nvPr>
            <p:ph idx="1"/>
          </p:nvPr>
        </p:nvSpPr>
        <p:spPr>
          <a:xfrm>
            <a:off x="866441" y="2489200"/>
            <a:ext cx="7667959" cy="3530600"/>
          </a:xfrm>
        </p:spPr>
        <p:txBody>
          <a:bodyPr>
            <a:noAutofit/>
          </a:bodyPr>
          <a:lstStyle/>
          <a:p>
            <a:r>
              <a:rPr lang="en-PH" sz="3200" b="1" dirty="0" smtClean="0"/>
              <a:t>WHICH OF THE FOLLOWING STANDARD DEVIATION VALUES YOU CAN FIND SCORES WHICH ARE WISESPREAD?</a:t>
            </a:r>
          </a:p>
          <a:p>
            <a:pPr>
              <a:buNone/>
            </a:pPr>
            <a:r>
              <a:rPr lang="en-PH" sz="3200" b="1" dirty="0" smtClean="0"/>
              <a:t>		</a:t>
            </a:r>
            <a:r>
              <a:rPr lang="en-PH" sz="3600" b="1" dirty="0" smtClean="0"/>
              <a:t>A. s=0.9			C. s= 0.6</a:t>
            </a:r>
          </a:p>
          <a:p>
            <a:pPr>
              <a:buNone/>
            </a:pPr>
            <a:r>
              <a:rPr lang="en-PH" sz="3600" b="1" dirty="0" smtClean="0"/>
              <a:t>		B. s=0.5			D. s= 0.3</a:t>
            </a:r>
            <a:endParaRPr lang="en-PH" sz="3600" b="1" dirty="0"/>
          </a:p>
        </p:txBody>
      </p:sp>
      <p:sp>
        <p:nvSpPr>
          <p:cNvPr id="4" name="Date Placeholder 3"/>
          <p:cNvSpPr>
            <a:spLocks noGrp="1"/>
          </p:cNvSpPr>
          <p:nvPr>
            <p:ph type="dt" sz="half" idx="10"/>
          </p:nvPr>
        </p:nvSpPr>
        <p:spPr/>
        <p:txBody>
          <a:bodyPr/>
          <a:lstStyle/>
          <a:p>
            <a:fld id="{B5838C21-FF93-49AC-9A6C-E3C9C864C47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4000" b="1" dirty="0" smtClean="0"/>
              <a:t>THE RANGE</a:t>
            </a:r>
            <a:endParaRPr lang="en-PH" sz="4000" b="1" dirty="0"/>
          </a:p>
        </p:txBody>
      </p:sp>
      <p:sp>
        <p:nvSpPr>
          <p:cNvPr id="3" name="Content Placeholder 2"/>
          <p:cNvSpPr>
            <a:spLocks noGrp="1"/>
          </p:cNvSpPr>
          <p:nvPr>
            <p:ph idx="1"/>
          </p:nvPr>
        </p:nvSpPr>
        <p:spPr>
          <a:xfrm>
            <a:off x="228600" y="2209800"/>
            <a:ext cx="8686799" cy="3810000"/>
          </a:xfrm>
        </p:spPr>
        <p:txBody>
          <a:bodyPr>
            <a:normAutofit lnSpcReduction="10000"/>
          </a:bodyPr>
          <a:lstStyle/>
          <a:p>
            <a:pPr marL="550926" indent="-514350">
              <a:buAutoNum type="arabicPeriod"/>
            </a:pPr>
            <a:r>
              <a:rPr lang="en-PH" sz="4000" dirty="0" smtClean="0"/>
              <a:t>The SIMPLEST and the FASTEST Measure of variability. Can be determined by </a:t>
            </a:r>
            <a:r>
              <a:rPr lang="en-PH" sz="4000" b="1" dirty="0" smtClean="0"/>
              <a:t>simple inspection</a:t>
            </a:r>
            <a:r>
              <a:rPr lang="en-PH" dirty="0" smtClean="0"/>
              <a:t>.</a:t>
            </a:r>
          </a:p>
          <a:p>
            <a:pPr marL="550926" indent="-514350">
              <a:buNone/>
            </a:pPr>
            <a:r>
              <a:rPr lang="en-PH" dirty="0" smtClean="0"/>
              <a:t>		</a:t>
            </a:r>
            <a:r>
              <a:rPr lang="en-PH" sz="4000" dirty="0" smtClean="0"/>
              <a:t>It is the also the crudest measure of   variability</a:t>
            </a:r>
            <a:r>
              <a:rPr lang="en-PH" dirty="0" smtClean="0"/>
              <a:t>. </a:t>
            </a:r>
            <a:endParaRPr lang="en-PH" dirty="0"/>
          </a:p>
        </p:txBody>
      </p:sp>
      <p:sp>
        <p:nvSpPr>
          <p:cNvPr id="4" name="Date Placeholder 3"/>
          <p:cNvSpPr>
            <a:spLocks noGrp="1"/>
          </p:cNvSpPr>
          <p:nvPr>
            <p:ph type="dt" sz="half" idx="10"/>
          </p:nvPr>
        </p:nvSpPr>
        <p:spPr/>
        <p:txBody>
          <a:bodyPr/>
          <a:lstStyle/>
          <a:p>
            <a:fld id="{053742F8-618F-4AC4-B17E-C18CE0B8541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fontScale="77500" lnSpcReduction="20000"/>
          </a:bodyPr>
          <a:lstStyle/>
          <a:p>
            <a:pPr marL="550926" indent="-514350">
              <a:buNone/>
            </a:pPr>
            <a:r>
              <a:rPr lang="en-PH" sz="5400" dirty="0" smtClean="0"/>
              <a:t>Consider this:</a:t>
            </a:r>
          </a:p>
          <a:p>
            <a:pPr marL="550926" indent="-514350">
              <a:buNone/>
            </a:pPr>
            <a:endParaRPr lang="en-PH" sz="5400" dirty="0" smtClean="0"/>
          </a:p>
          <a:p>
            <a:pPr marL="550926" indent="-514350">
              <a:buNone/>
            </a:pPr>
            <a:r>
              <a:rPr lang="en-PH" sz="5400" dirty="0" smtClean="0"/>
              <a:t>  SET A:  1,  4,   5,   6,   9</a:t>
            </a:r>
          </a:p>
          <a:p>
            <a:pPr marL="550926" indent="-514350">
              <a:buNone/>
            </a:pPr>
            <a:r>
              <a:rPr lang="en-PH" sz="5400" dirty="0" smtClean="0"/>
              <a:t>  SET B:   3,  4,   5,   6,   7</a:t>
            </a:r>
          </a:p>
          <a:p>
            <a:endParaRPr lang="en-PH" sz="5400" dirty="0"/>
          </a:p>
        </p:txBody>
      </p:sp>
      <p:sp>
        <p:nvSpPr>
          <p:cNvPr id="4" name="Date Placeholder 3"/>
          <p:cNvSpPr>
            <a:spLocks noGrp="1"/>
          </p:cNvSpPr>
          <p:nvPr>
            <p:ph type="dt" sz="half" idx="10"/>
          </p:nvPr>
        </p:nvSpPr>
        <p:spPr/>
        <p:txBody>
          <a:bodyPr/>
          <a:lstStyle/>
          <a:p>
            <a:fld id="{F8935D6C-682A-4CCE-A59C-B760DCBD90A4}"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pPr>
              <a:buNone/>
            </a:pPr>
            <a:r>
              <a:rPr lang="en-PH" sz="4000" dirty="0" smtClean="0"/>
              <a:t>WHAT IS THE RANGE?</a:t>
            </a:r>
          </a:p>
          <a:p>
            <a:pPr>
              <a:buNone/>
            </a:pPr>
            <a:endParaRPr lang="en-PH" dirty="0" smtClean="0"/>
          </a:p>
          <a:p>
            <a:pPr algn="ctr">
              <a:buNone/>
            </a:pPr>
            <a:r>
              <a:rPr lang="en-PH" sz="4800" b="1" dirty="0" smtClean="0"/>
              <a:t>    0,   2,   -3 ,    4,    5</a:t>
            </a:r>
            <a:endParaRPr lang="en-PH" sz="4800" b="1" dirty="0"/>
          </a:p>
        </p:txBody>
      </p:sp>
      <p:sp>
        <p:nvSpPr>
          <p:cNvPr id="4" name="Date Placeholder 3"/>
          <p:cNvSpPr>
            <a:spLocks noGrp="1"/>
          </p:cNvSpPr>
          <p:nvPr>
            <p:ph type="dt" sz="half" idx="10"/>
          </p:nvPr>
        </p:nvSpPr>
        <p:spPr/>
        <p:txBody>
          <a:bodyPr/>
          <a:lstStyle/>
          <a:p>
            <a:fld id="{7B0CF555-313C-48B7-B42E-8BC519979499}"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Range.jpg"/>
          <p:cNvPicPr>
            <a:picLocks noGrp="1" noChangeAspect="1"/>
          </p:cNvPicPr>
          <p:nvPr>
            <p:ph idx="1"/>
          </p:nvPr>
        </p:nvPicPr>
        <p:blipFill>
          <a:blip r:embed="rId2" cstate="print"/>
          <a:stretch>
            <a:fillRect/>
          </a:stretch>
        </p:blipFill>
        <p:spPr>
          <a:xfrm>
            <a:off x="2133600" y="1752600"/>
            <a:ext cx="5943600" cy="3276600"/>
          </a:xfrm>
        </p:spPr>
      </p:pic>
      <p:sp>
        <p:nvSpPr>
          <p:cNvPr id="3" name="Date Placeholder 2"/>
          <p:cNvSpPr>
            <a:spLocks noGrp="1"/>
          </p:cNvSpPr>
          <p:nvPr>
            <p:ph type="dt" sz="half" idx="10"/>
          </p:nvPr>
        </p:nvSpPr>
        <p:spPr/>
        <p:txBody>
          <a:bodyPr/>
          <a:lstStyle/>
          <a:p>
            <a:fld id="{90228C26-C27A-49F6-808E-EA53A713E6D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2. </a:t>
            </a:r>
            <a:r>
              <a:rPr lang="en-PH" b="1" dirty="0" smtClean="0"/>
              <a:t>The Q</a:t>
            </a:r>
            <a:endParaRPr lang="en-PH" b="1" dirty="0"/>
          </a:p>
        </p:txBody>
      </p:sp>
      <p:sp>
        <p:nvSpPr>
          <p:cNvPr id="3" name="Content Placeholder 2"/>
          <p:cNvSpPr>
            <a:spLocks noGrp="1"/>
          </p:cNvSpPr>
          <p:nvPr>
            <p:ph idx="1"/>
          </p:nvPr>
        </p:nvSpPr>
        <p:spPr>
          <a:xfrm>
            <a:off x="866441" y="2489200"/>
            <a:ext cx="7210759" cy="3530600"/>
          </a:xfrm>
        </p:spPr>
        <p:txBody>
          <a:bodyPr>
            <a:noAutofit/>
          </a:bodyPr>
          <a:lstStyle/>
          <a:p>
            <a:pPr>
              <a:buNone/>
            </a:pPr>
            <a:r>
              <a:rPr lang="en-PH" sz="3200" b="1" dirty="0" smtClean="0"/>
              <a:t>Quartile </a:t>
            </a:r>
            <a:r>
              <a:rPr lang="en-PH" sz="3200" b="1" dirty="0" err="1" smtClean="0"/>
              <a:t>Deviation,sometimes</a:t>
            </a:r>
            <a:r>
              <a:rPr lang="en-PH" sz="3200" b="1" dirty="0" smtClean="0"/>
              <a:t> called as the Semi-</a:t>
            </a:r>
            <a:r>
              <a:rPr lang="en-PH" sz="3200" b="1" dirty="0" err="1" smtClean="0"/>
              <a:t>interquartile</a:t>
            </a:r>
            <a:r>
              <a:rPr lang="en-PH" sz="3200" b="1" dirty="0" smtClean="0"/>
              <a:t> range measures the gap between the Q3 and the Q1 divided by 2</a:t>
            </a:r>
            <a:r>
              <a:rPr lang="en-PH" sz="2800" b="1" dirty="0" smtClean="0"/>
              <a:t>.</a:t>
            </a:r>
          </a:p>
          <a:p>
            <a:pPr>
              <a:buNone/>
            </a:pPr>
            <a:endParaRPr lang="en-PH" sz="2800" b="1" dirty="0" smtClean="0"/>
          </a:p>
          <a:p>
            <a:pPr>
              <a:buNone/>
            </a:pPr>
            <a:r>
              <a:rPr lang="en-PH" sz="2800" b="1" dirty="0" smtClean="0"/>
              <a:t>	Q  =    </a:t>
            </a:r>
            <a:r>
              <a:rPr lang="en-PH" sz="2800" b="1" u="sng" dirty="0" smtClean="0"/>
              <a:t>Q3  -    Q1  </a:t>
            </a:r>
          </a:p>
          <a:p>
            <a:pPr>
              <a:buNone/>
            </a:pPr>
            <a:r>
              <a:rPr lang="en-PH" sz="2800" b="1" dirty="0" smtClean="0"/>
              <a:t>                      2</a:t>
            </a:r>
            <a:endParaRPr lang="en-PH" sz="2800" b="1" dirty="0"/>
          </a:p>
        </p:txBody>
      </p:sp>
      <p:sp>
        <p:nvSpPr>
          <p:cNvPr id="4" name="Date Placeholder 3"/>
          <p:cNvSpPr>
            <a:spLocks noGrp="1"/>
          </p:cNvSpPr>
          <p:nvPr>
            <p:ph type="dt" sz="half" idx="10"/>
          </p:nvPr>
        </p:nvSpPr>
        <p:spPr/>
        <p:txBody>
          <a:bodyPr/>
          <a:lstStyle/>
          <a:p>
            <a:fld id="{D30C3DB1-01B1-480B-B4A1-8A0FBF72DE09}"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Quartile Deviation.jpg"/>
          <p:cNvPicPr>
            <a:picLocks noGrp="1" noChangeAspect="1"/>
          </p:cNvPicPr>
          <p:nvPr>
            <p:ph idx="1"/>
          </p:nvPr>
        </p:nvPicPr>
        <p:blipFill>
          <a:blip r:embed="rId2" cstate="print"/>
          <a:stretch>
            <a:fillRect/>
          </a:stretch>
        </p:blipFill>
        <p:spPr>
          <a:xfrm>
            <a:off x="1828800" y="2057400"/>
            <a:ext cx="5867400" cy="3581400"/>
          </a:xfrm>
        </p:spPr>
      </p:pic>
      <p:sp>
        <p:nvSpPr>
          <p:cNvPr id="3" name="Date Placeholder 2"/>
          <p:cNvSpPr>
            <a:spLocks noGrp="1"/>
          </p:cNvSpPr>
          <p:nvPr>
            <p:ph type="dt" sz="half" idx="10"/>
          </p:nvPr>
        </p:nvSpPr>
        <p:spPr/>
        <p:txBody>
          <a:bodyPr/>
          <a:lstStyle/>
          <a:p>
            <a:fld id="{4D3D607E-CE7F-4CB0-87C3-5D3B0A824CF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4000" b="1" dirty="0" smtClean="0"/>
              <a:t>THE AVERAGE DEVIATION</a:t>
            </a:r>
            <a:endParaRPr lang="en-PH" sz="4000" b="1" dirty="0"/>
          </a:p>
        </p:txBody>
      </p:sp>
      <p:sp>
        <p:nvSpPr>
          <p:cNvPr id="3" name="Content Placeholder 2"/>
          <p:cNvSpPr>
            <a:spLocks noGrp="1"/>
          </p:cNvSpPr>
          <p:nvPr>
            <p:ph idx="1"/>
          </p:nvPr>
        </p:nvSpPr>
        <p:spPr>
          <a:xfrm>
            <a:off x="866441" y="2489200"/>
            <a:ext cx="7896559" cy="3530600"/>
          </a:xfrm>
        </p:spPr>
        <p:txBody>
          <a:bodyPr>
            <a:normAutofit fontScale="85000" lnSpcReduction="10000"/>
          </a:bodyPr>
          <a:lstStyle/>
          <a:p>
            <a:pPr>
              <a:buNone/>
            </a:pPr>
            <a:r>
              <a:rPr lang="en-PH" sz="5400" b="1" dirty="0" smtClean="0"/>
              <a:t>The average deviation measures how the scores by average differ from the mean, the median or the mode.</a:t>
            </a:r>
            <a:endParaRPr lang="en-PH" sz="5400" b="1" dirty="0"/>
          </a:p>
        </p:txBody>
      </p:sp>
      <p:sp>
        <p:nvSpPr>
          <p:cNvPr id="4" name="Date Placeholder 3"/>
          <p:cNvSpPr>
            <a:spLocks noGrp="1"/>
          </p:cNvSpPr>
          <p:nvPr>
            <p:ph type="dt" sz="half" idx="10"/>
          </p:nvPr>
        </p:nvSpPr>
        <p:spPr/>
        <p:txBody>
          <a:bodyPr/>
          <a:lstStyle/>
          <a:p>
            <a:fld id="{19EACE87-45A3-45A1-B2C8-AFE6E0553C2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ad.jpg"/>
          <p:cNvPicPr>
            <a:picLocks noGrp="1" noChangeAspect="1"/>
          </p:cNvPicPr>
          <p:nvPr>
            <p:ph idx="1"/>
          </p:nvPr>
        </p:nvPicPr>
        <p:blipFill>
          <a:blip r:embed="rId2" cstate="print"/>
          <a:stretch>
            <a:fillRect/>
          </a:stretch>
        </p:blipFill>
        <p:spPr>
          <a:xfrm>
            <a:off x="1524000" y="1600200"/>
            <a:ext cx="7010400" cy="4648200"/>
          </a:xfrm>
        </p:spPr>
      </p:pic>
      <p:sp>
        <p:nvSpPr>
          <p:cNvPr id="3" name="Date Placeholder 2"/>
          <p:cNvSpPr>
            <a:spLocks noGrp="1"/>
          </p:cNvSpPr>
          <p:nvPr>
            <p:ph type="dt" sz="half" idx="10"/>
          </p:nvPr>
        </p:nvSpPr>
        <p:spPr/>
        <p:txBody>
          <a:bodyPr/>
          <a:lstStyle/>
          <a:p>
            <a:fld id="{F8669F3A-5815-4E7D-98E9-211FEBB2696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89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PH"/>
          </a:p>
        </p:txBody>
      </p:sp>
      <p:sp>
        <p:nvSpPr>
          <p:cNvPr id="5" name="Text Placeholder 4"/>
          <p:cNvSpPr>
            <a:spLocks noGrp="1"/>
          </p:cNvSpPr>
          <p:nvPr>
            <p:ph type="body" idx="1"/>
          </p:nvPr>
        </p:nvSpPr>
        <p:spPr>
          <a:xfrm>
            <a:off x="866440" y="2489200"/>
            <a:ext cx="3636979" cy="759290"/>
          </a:xfrm>
        </p:spPr>
        <p:txBody>
          <a:bodyPr/>
          <a:lstStyle/>
          <a:p>
            <a:endParaRPr lang="en-PH" dirty="0"/>
          </a:p>
        </p:txBody>
      </p:sp>
      <p:graphicFrame>
        <p:nvGraphicFramePr>
          <p:cNvPr id="9" name="Content Placeholder 8"/>
          <p:cNvGraphicFramePr>
            <a:graphicFrameLocks noGrp="1"/>
          </p:cNvGraphicFramePr>
          <p:nvPr>
            <p:ph sz="half" idx="2"/>
            <p:extLst>
              <p:ext uri="{D42A27DB-BD31-4B8C-83A1-F6EECF244321}">
                <p14:modId xmlns:p14="http://schemas.microsoft.com/office/powerpoint/2010/main" val="4293109685"/>
              </p:ext>
            </p:extLst>
          </p:nvPr>
        </p:nvGraphicFramePr>
        <p:xfrm>
          <a:off x="866775" y="3248025"/>
          <a:ext cx="3636963" cy="3134360"/>
        </p:xfrm>
        <a:graphic>
          <a:graphicData uri="http://schemas.openxmlformats.org/drawingml/2006/table">
            <a:tbl>
              <a:tblPr firstRow="1" bandRow="1">
                <a:tableStyleId>{5C22544A-7EE6-4342-B048-85BDC9FD1C3A}</a:tableStyleId>
              </a:tblPr>
              <a:tblGrid>
                <a:gridCol w="1212321"/>
                <a:gridCol w="1212321"/>
                <a:gridCol w="1212321"/>
              </a:tblGrid>
              <a:tr h="370840">
                <a:tc>
                  <a:txBody>
                    <a:bodyPr/>
                    <a:lstStyle/>
                    <a:p>
                      <a:r>
                        <a:rPr lang="en-PH" dirty="0" smtClean="0"/>
                        <a:t>Score </a:t>
                      </a:r>
                      <a:endParaRPr lang="en-PH" dirty="0"/>
                    </a:p>
                  </a:txBody>
                  <a:tcPr/>
                </a:tc>
                <a:tc>
                  <a:txBody>
                    <a:bodyPr/>
                    <a:lstStyle/>
                    <a:p>
                      <a:r>
                        <a:rPr lang="en-PH" dirty="0" smtClean="0"/>
                        <a:t>Mean</a:t>
                      </a:r>
                      <a:endParaRPr lang="en-PH" dirty="0"/>
                    </a:p>
                  </a:txBody>
                  <a:tcPr/>
                </a:tc>
                <a:tc>
                  <a:txBody>
                    <a:bodyPr/>
                    <a:lstStyle/>
                    <a:p>
                      <a:r>
                        <a:rPr lang="en-PH" dirty="0" smtClean="0"/>
                        <a:t>Score-Mean</a:t>
                      </a:r>
                      <a:endParaRPr lang="en-PH" dirty="0"/>
                    </a:p>
                  </a:txBody>
                  <a:tcPr/>
                </a:tc>
              </a:tr>
              <a:tr h="370840">
                <a:tc>
                  <a:txBody>
                    <a:bodyPr/>
                    <a:lstStyle/>
                    <a:p>
                      <a:r>
                        <a:rPr lang="en-PH" dirty="0" smtClean="0"/>
                        <a:t>3</a:t>
                      </a:r>
                      <a:endParaRPr lang="en-PH" dirty="0"/>
                    </a:p>
                  </a:txBody>
                  <a:tcPr/>
                </a:tc>
                <a:tc>
                  <a:txBody>
                    <a:bodyPr/>
                    <a:lstStyle/>
                    <a:p>
                      <a:r>
                        <a:rPr lang="en-PH" dirty="0" smtClean="0"/>
                        <a:t>4</a:t>
                      </a:r>
                      <a:endParaRPr lang="en-PH" dirty="0"/>
                    </a:p>
                  </a:txBody>
                  <a:tcPr/>
                </a:tc>
                <a:tc>
                  <a:txBody>
                    <a:bodyPr/>
                    <a:lstStyle/>
                    <a:p>
                      <a:r>
                        <a:rPr lang="en-PH" dirty="0" smtClean="0"/>
                        <a:t>2</a:t>
                      </a:r>
                      <a:endParaRPr lang="en-PH" dirty="0"/>
                    </a:p>
                  </a:txBody>
                  <a:tcPr/>
                </a:tc>
              </a:tr>
              <a:tr h="370840">
                <a:tc>
                  <a:txBody>
                    <a:bodyPr/>
                    <a:lstStyle/>
                    <a:p>
                      <a:r>
                        <a:rPr lang="en-PH" dirty="0" smtClean="0"/>
                        <a:t>4</a:t>
                      </a:r>
                      <a:endParaRPr lang="en-PH" dirty="0"/>
                    </a:p>
                  </a:txBody>
                  <a:tcPr/>
                </a:tc>
                <a:tc>
                  <a:txBody>
                    <a:bodyPr/>
                    <a:lstStyle/>
                    <a:p>
                      <a:r>
                        <a:rPr lang="en-PH" dirty="0" smtClean="0"/>
                        <a:t>4</a:t>
                      </a:r>
                      <a:endParaRPr lang="en-PH" dirty="0"/>
                    </a:p>
                  </a:txBody>
                  <a:tcPr/>
                </a:tc>
                <a:tc>
                  <a:txBody>
                    <a:bodyPr/>
                    <a:lstStyle/>
                    <a:p>
                      <a:r>
                        <a:rPr lang="en-PH" dirty="0" smtClean="0"/>
                        <a:t>1</a:t>
                      </a:r>
                      <a:endParaRPr lang="en-PH" dirty="0"/>
                    </a:p>
                  </a:txBody>
                  <a:tcPr/>
                </a:tc>
              </a:tr>
              <a:tr h="370840">
                <a:tc>
                  <a:txBody>
                    <a:bodyPr/>
                    <a:lstStyle/>
                    <a:p>
                      <a:r>
                        <a:rPr lang="en-PH" dirty="0" smtClean="0"/>
                        <a:t>5</a:t>
                      </a:r>
                      <a:endParaRPr lang="en-PH" dirty="0"/>
                    </a:p>
                  </a:txBody>
                  <a:tcPr/>
                </a:tc>
                <a:tc>
                  <a:txBody>
                    <a:bodyPr/>
                    <a:lstStyle/>
                    <a:p>
                      <a:r>
                        <a:rPr lang="en-PH" dirty="0" smtClean="0"/>
                        <a:t>4</a:t>
                      </a:r>
                      <a:endParaRPr lang="en-PH" dirty="0"/>
                    </a:p>
                  </a:txBody>
                  <a:tcPr/>
                </a:tc>
                <a:tc>
                  <a:txBody>
                    <a:bodyPr/>
                    <a:lstStyle/>
                    <a:p>
                      <a:r>
                        <a:rPr lang="en-PH" dirty="0" smtClean="0"/>
                        <a:t>0</a:t>
                      </a:r>
                      <a:endParaRPr lang="en-PH" dirty="0"/>
                    </a:p>
                  </a:txBody>
                  <a:tcPr/>
                </a:tc>
              </a:tr>
              <a:tr h="370840">
                <a:tc>
                  <a:txBody>
                    <a:bodyPr/>
                    <a:lstStyle/>
                    <a:p>
                      <a:r>
                        <a:rPr lang="en-PH" dirty="0" smtClean="0"/>
                        <a:t>6</a:t>
                      </a:r>
                      <a:endParaRPr lang="en-PH" dirty="0"/>
                    </a:p>
                  </a:txBody>
                  <a:tcPr/>
                </a:tc>
                <a:tc>
                  <a:txBody>
                    <a:bodyPr/>
                    <a:lstStyle/>
                    <a:p>
                      <a:r>
                        <a:rPr lang="en-PH" dirty="0" smtClean="0"/>
                        <a:t>4</a:t>
                      </a:r>
                      <a:endParaRPr lang="en-PH" dirty="0"/>
                    </a:p>
                  </a:txBody>
                  <a:tcPr/>
                </a:tc>
                <a:tc>
                  <a:txBody>
                    <a:bodyPr/>
                    <a:lstStyle/>
                    <a:p>
                      <a:r>
                        <a:rPr lang="en-PH" dirty="0" smtClean="0"/>
                        <a:t>1</a:t>
                      </a:r>
                      <a:endParaRPr lang="en-PH" dirty="0"/>
                    </a:p>
                  </a:txBody>
                  <a:tcPr/>
                </a:tc>
              </a:tr>
              <a:tr h="370840">
                <a:tc>
                  <a:txBody>
                    <a:bodyPr/>
                    <a:lstStyle/>
                    <a:p>
                      <a:r>
                        <a:rPr lang="en-PH" dirty="0" smtClean="0"/>
                        <a:t>7</a:t>
                      </a:r>
                      <a:endParaRPr lang="en-PH" dirty="0"/>
                    </a:p>
                  </a:txBody>
                  <a:tcPr/>
                </a:tc>
                <a:tc>
                  <a:txBody>
                    <a:bodyPr/>
                    <a:lstStyle/>
                    <a:p>
                      <a:r>
                        <a:rPr lang="en-PH" dirty="0" smtClean="0"/>
                        <a:t>4</a:t>
                      </a:r>
                      <a:endParaRPr lang="en-PH" dirty="0"/>
                    </a:p>
                  </a:txBody>
                  <a:tcPr/>
                </a:tc>
                <a:tc>
                  <a:txBody>
                    <a:bodyPr/>
                    <a:lstStyle/>
                    <a:p>
                      <a:r>
                        <a:rPr lang="en-PH" dirty="0" smtClean="0"/>
                        <a:t>2</a:t>
                      </a:r>
                      <a:endParaRPr lang="en-PH" dirty="0"/>
                    </a:p>
                  </a:txBody>
                  <a:tcPr/>
                </a:tc>
              </a:tr>
              <a:tr h="370840">
                <a:tc>
                  <a:txBody>
                    <a:bodyPr/>
                    <a:lstStyle/>
                    <a:p>
                      <a:r>
                        <a:rPr lang="en-PH" b="1" dirty="0" smtClean="0"/>
                        <a:t>Summation</a:t>
                      </a:r>
                      <a:endParaRPr lang="en-PH" b="1" dirty="0"/>
                    </a:p>
                  </a:txBody>
                  <a:tcPr/>
                </a:tc>
                <a:tc>
                  <a:txBody>
                    <a:bodyPr/>
                    <a:lstStyle/>
                    <a:p>
                      <a:endParaRPr lang="en-PH" b="1" dirty="0"/>
                    </a:p>
                  </a:txBody>
                  <a:tcPr/>
                </a:tc>
                <a:tc>
                  <a:txBody>
                    <a:bodyPr/>
                    <a:lstStyle/>
                    <a:p>
                      <a:r>
                        <a:rPr lang="en-PH" b="1" dirty="0" smtClean="0"/>
                        <a:t>6</a:t>
                      </a:r>
                      <a:endParaRPr lang="en-PH" b="1" dirty="0"/>
                    </a:p>
                  </a:txBody>
                  <a:tcPr/>
                </a:tc>
              </a:tr>
            </a:tbl>
          </a:graphicData>
        </a:graphic>
      </p:graphicFrame>
      <p:sp>
        <p:nvSpPr>
          <p:cNvPr id="7" name="Text Placeholder 6"/>
          <p:cNvSpPr>
            <a:spLocks noGrp="1"/>
          </p:cNvSpPr>
          <p:nvPr>
            <p:ph type="body" sz="quarter" idx="3"/>
          </p:nvPr>
        </p:nvSpPr>
        <p:spPr/>
        <p:txBody>
          <a:bodyPr/>
          <a:lstStyle/>
          <a:p>
            <a:endParaRPr lang="en-PH"/>
          </a:p>
        </p:txBody>
      </p:sp>
      <p:sp>
        <p:nvSpPr>
          <p:cNvPr id="8" name="Content Placeholder 7"/>
          <p:cNvSpPr>
            <a:spLocks noGrp="1"/>
          </p:cNvSpPr>
          <p:nvPr>
            <p:ph sz="quarter" idx="4"/>
          </p:nvPr>
        </p:nvSpPr>
        <p:spPr/>
        <p:txBody>
          <a:bodyPr>
            <a:normAutofit/>
          </a:bodyPr>
          <a:lstStyle/>
          <a:p>
            <a:r>
              <a:rPr lang="en-PH" sz="2000" b="1" dirty="0" smtClean="0"/>
              <a:t>Average mean deviation is the square root of summation of the absolute value of the difference of the scores and the mean divided by the N</a:t>
            </a:r>
          </a:p>
          <a:p>
            <a:r>
              <a:rPr lang="en-PH" sz="2000" b="1" dirty="0" smtClean="0"/>
              <a:t>Square root of 6/5.</a:t>
            </a:r>
            <a:endParaRPr lang="en-PH" sz="2000" b="1" dirty="0"/>
          </a:p>
        </p:txBody>
      </p:sp>
      <p:sp>
        <p:nvSpPr>
          <p:cNvPr id="2" name="Date Placeholder 1"/>
          <p:cNvSpPr>
            <a:spLocks noGrp="1"/>
          </p:cNvSpPr>
          <p:nvPr>
            <p:ph type="dt" sz="half" idx="10"/>
          </p:nvPr>
        </p:nvSpPr>
        <p:spPr/>
        <p:txBody>
          <a:bodyPr/>
          <a:lstStyle/>
          <a:p>
            <a:fld id="{B68E247D-D777-4846-A120-DB1E205FC7D1}" type="datetime1">
              <a:rPr lang="en-PH" smtClean="0"/>
              <a:t>01/10/2017</a:t>
            </a:fld>
            <a:endParaRPr lang="en-PH"/>
          </a:p>
        </p:txBody>
      </p:sp>
      <p:sp>
        <p:nvSpPr>
          <p:cNvPr id="3" name="Footer Placeholder 2"/>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90</a:t>
            </a:fld>
            <a:endParaRPr lang="en-PH"/>
          </a:p>
        </p:txBody>
      </p:sp>
    </p:spTree>
    <p:extLst>
      <p:ext uri="{BB962C8B-B14F-4D97-AF65-F5344CB8AC3E}">
        <p14:creationId xmlns:p14="http://schemas.microsoft.com/office/powerpoint/2010/main" val="36965796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PH"/>
          </a:p>
        </p:txBody>
      </p:sp>
      <p:sp>
        <p:nvSpPr>
          <p:cNvPr id="11" name="Content Placeholder 10"/>
          <p:cNvSpPr>
            <a:spLocks noGrp="1"/>
          </p:cNvSpPr>
          <p:nvPr>
            <p:ph idx="1"/>
          </p:nvPr>
        </p:nvSpPr>
        <p:spPr>
          <a:xfrm>
            <a:off x="866441" y="2489200"/>
            <a:ext cx="7528800" cy="3530600"/>
          </a:xfrm>
        </p:spPr>
        <p:txBody>
          <a:bodyPr>
            <a:normAutofit/>
          </a:bodyPr>
          <a:lstStyle/>
          <a:p>
            <a:r>
              <a:rPr lang="en-PH" sz="3600" b="1" dirty="0" smtClean="0"/>
              <a:t>What is the mean average deviation of this  data?</a:t>
            </a:r>
          </a:p>
          <a:p>
            <a:pPr marL="0" indent="0">
              <a:buNone/>
            </a:pPr>
            <a:r>
              <a:rPr lang="en-PH" sz="3600" b="1" dirty="0"/>
              <a:t>  </a:t>
            </a:r>
            <a:r>
              <a:rPr lang="en-PH" sz="3600" b="1" dirty="0" smtClean="0"/>
              <a:t>   90    88  86  84  82</a:t>
            </a:r>
          </a:p>
        </p:txBody>
      </p:sp>
      <p:sp>
        <p:nvSpPr>
          <p:cNvPr id="7" name="Date Placeholder 6"/>
          <p:cNvSpPr>
            <a:spLocks noGrp="1"/>
          </p:cNvSpPr>
          <p:nvPr>
            <p:ph type="dt" sz="half" idx="10"/>
          </p:nvPr>
        </p:nvSpPr>
        <p:spPr/>
        <p:txBody>
          <a:bodyPr/>
          <a:lstStyle/>
          <a:p>
            <a:fld id="{5135A337-2835-4740-BA1C-AAC50BFF61ED}" type="datetime1">
              <a:rPr lang="en-PH" smtClean="0"/>
              <a:t>01/10/2017</a:t>
            </a:fld>
            <a:endParaRPr lang="en-PH"/>
          </a:p>
        </p:txBody>
      </p:sp>
      <p:sp>
        <p:nvSpPr>
          <p:cNvPr id="8" name="Footer Placeholder 7"/>
          <p:cNvSpPr>
            <a:spLocks noGrp="1"/>
          </p:cNvSpPr>
          <p:nvPr>
            <p:ph type="ftr" sz="quarter" idx="11"/>
          </p:nvPr>
        </p:nvSpPr>
        <p:spPr/>
        <p:txBody>
          <a:bodyPr/>
          <a:lstStyle/>
          <a:p>
            <a:r>
              <a:rPr lang="en-PH" smtClean="0"/>
              <a:t>Sir Crespo- UA</a:t>
            </a:r>
            <a:endParaRPr lang="en-PH"/>
          </a:p>
        </p:txBody>
      </p:sp>
      <p:sp>
        <p:nvSpPr>
          <p:cNvPr id="9" name="Slide Number Placeholder 8"/>
          <p:cNvSpPr>
            <a:spLocks noGrp="1"/>
          </p:cNvSpPr>
          <p:nvPr>
            <p:ph type="sldNum" sz="quarter" idx="12"/>
          </p:nvPr>
        </p:nvSpPr>
        <p:spPr/>
        <p:txBody>
          <a:bodyPr/>
          <a:lstStyle/>
          <a:p>
            <a:fld id="{A2AF10DC-0514-439A-9D3C-470D8338320C}" type="slidenum">
              <a:rPr lang="en-PH" smtClean="0"/>
              <a:pPr/>
              <a:t>91</a:t>
            </a:fld>
            <a:endParaRPr lang="en-PH"/>
          </a:p>
        </p:txBody>
      </p:sp>
    </p:spTree>
    <p:extLst>
      <p:ext uri="{BB962C8B-B14F-4D97-AF65-F5344CB8AC3E}">
        <p14:creationId xmlns:p14="http://schemas.microsoft.com/office/powerpoint/2010/main" val="269971863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ad1.jpg"/>
          <p:cNvPicPr>
            <a:picLocks noGrp="1" noChangeAspect="1"/>
          </p:cNvPicPr>
          <p:nvPr>
            <p:ph idx="1"/>
          </p:nvPr>
        </p:nvPicPr>
        <p:blipFill>
          <a:blip r:embed="rId2" cstate="print"/>
          <a:stretch>
            <a:fillRect/>
          </a:stretch>
        </p:blipFill>
        <p:spPr>
          <a:xfrm>
            <a:off x="1752600" y="2209800"/>
            <a:ext cx="5257800" cy="3733800"/>
          </a:xfrm>
        </p:spPr>
      </p:pic>
      <p:sp>
        <p:nvSpPr>
          <p:cNvPr id="3" name="Date Placeholder 2"/>
          <p:cNvSpPr>
            <a:spLocks noGrp="1"/>
          </p:cNvSpPr>
          <p:nvPr>
            <p:ph type="dt" sz="half" idx="10"/>
          </p:nvPr>
        </p:nvSpPr>
        <p:spPr/>
        <p:txBody>
          <a:bodyPr/>
          <a:lstStyle/>
          <a:p>
            <a:fld id="{AA58CF72-B25E-4A84-8AA0-ED4B32C324B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ad2.jpg"/>
          <p:cNvPicPr>
            <a:picLocks noGrp="1" noChangeAspect="1"/>
          </p:cNvPicPr>
          <p:nvPr>
            <p:ph idx="1"/>
          </p:nvPr>
        </p:nvPicPr>
        <p:blipFill>
          <a:blip r:embed="rId2" cstate="print"/>
          <a:stretch>
            <a:fillRect/>
          </a:stretch>
        </p:blipFill>
        <p:spPr>
          <a:xfrm>
            <a:off x="1524000" y="2362200"/>
            <a:ext cx="7086600" cy="3886200"/>
          </a:xfrm>
        </p:spPr>
      </p:pic>
      <p:sp>
        <p:nvSpPr>
          <p:cNvPr id="3" name="Date Placeholder 2"/>
          <p:cNvSpPr>
            <a:spLocks noGrp="1"/>
          </p:cNvSpPr>
          <p:nvPr>
            <p:ph type="dt" sz="half" idx="10"/>
          </p:nvPr>
        </p:nvSpPr>
        <p:spPr/>
        <p:txBody>
          <a:bodyPr/>
          <a:lstStyle/>
          <a:p>
            <a:fld id="{71412E72-B397-4B51-8167-76602C0771DD}"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The STANDARD DEVIATION</a:t>
            </a:r>
            <a:endParaRPr lang="en-PH" dirty="0"/>
          </a:p>
        </p:txBody>
      </p:sp>
      <p:sp>
        <p:nvSpPr>
          <p:cNvPr id="3" name="Content Placeholder 2"/>
          <p:cNvSpPr>
            <a:spLocks noGrp="1"/>
          </p:cNvSpPr>
          <p:nvPr>
            <p:ph idx="1"/>
          </p:nvPr>
        </p:nvSpPr>
        <p:spPr>
          <a:xfrm>
            <a:off x="866441" y="2489200"/>
            <a:ext cx="7363159" cy="3530600"/>
          </a:xfrm>
        </p:spPr>
        <p:txBody>
          <a:bodyPr>
            <a:normAutofit fontScale="92500" lnSpcReduction="20000"/>
          </a:bodyPr>
          <a:lstStyle/>
          <a:p>
            <a:r>
              <a:rPr lang="en-PH" sz="4000" b="1" dirty="0" smtClean="0"/>
              <a:t>The standard deviation is the measure of the distance of the scores from the mean. By how much, in average, the scores differ from the mean?</a:t>
            </a:r>
          </a:p>
          <a:p>
            <a:r>
              <a:rPr lang="en-PH" sz="4000" b="1" dirty="0" smtClean="0"/>
              <a:t>It is the average of the average</a:t>
            </a:r>
          </a:p>
        </p:txBody>
      </p:sp>
      <p:sp>
        <p:nvSpPr>
          <p:cNvPr id="4" name="Date Placeholder 3"/>
          <p:cNvSpPr>
            <a:spLocks noGrp="1"/>
          </p:cNvSpPr>
          <p:nvPr>
            <p:ph type="dt" sz="half" idx="10"/>
          </p:nvPr>
        </p:nvSpPr>
        <p:spPr/>
        <p:txBody>
          <a:bodyPr/>
          <a:lstStyle/>
          <a:p>
            <a:fld id="{5C947366-001D-4EB6-83C6-CB569BF3A4A2}"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pPr>
              <a:buNone/>
            </a:pPr>
            <a:r>
              <a:rPr lang="en-PH" dirty="0" smtClean="0"/>
              <a:t>Example:</a:t>
            </a:r>
          </a:p>
          <a:p>
            <a:pPr>
              <a:buNone/>
            </a:pPr>
            <a:endParaRPr lang="en-PH" dirty="0" smtClean="0"/>
          </a:p>
          <a:p>
            <a:pPr>
              <a:buNone/>
            </a:pPr>
            <a:endParaRPr lang="en-PH" dirty="0" smtClean="0"/>
          </a:p>
          <a:p>
            <a:pPr>
              <a:buNone/>
            </a:pPr>
            <a:r>
              <a:rPr lang="en-PH" dirty="0" smtClean="0"/>
              <a:t>	</a:t>
            </a:r>
            <a:r>
              <a:rPr lang="en-PH" sz="4400" b="1" dirty="0" smtClean="0"/>
              <a:t>2     4     6      8      10</a:t>
            </a:r>
          </a:p>
          <a:p>
            <a:endParaRPr lang="en-PH" sz="4400" dirty="0"/>
          </a:p>
        </p:txBody>
      </p:sp>
      <p:sp>
        <p:nvSpPr>
          <p:cNvPr id="4" name="Date Placeholder 3"/>
          <p:cNvSpPr>
            <a:spLocks noGrp="1"/>
          </p:cNvSpPr>
          <p:nvPr>
            <p:ph type="dt" sz="half" idx="10"/>
          </p:nvPr>
        </p:nvSpPr>
        <p:spPr/>
        <p:txBody>
          <a:bodyPr/>
          <a:lstStyle/>
          <a:p>
            <a:fld id="{60747653-CB7B-431F-AB74-57CB1D580CA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Consider this:</a:t>
            </a:r>
            <a:endParaRPr lang="en-PH" dirty="0"/>
          </a:p>
        </p:txBody>
      </p:sp>
      <p:sp>
        <p:nvSpPr>
          <p:cNvPr id="3" name="Content Placeholder 2"/>
          <p:cNvSpPr>
            <a:spLocks noGrp="1"/>
          </p:cNvSpPr>
          <p:nvPr>
            <p:ph idx="1"/>
          </p:nvPr>
        </p:nvSpPr>
        <p:spPr>
          <a:xfrm>
            <a:off x="685801" y="2133600"/>
            <a:ext cx="7924800" cy="3886200"/>
          </a:xfrm>
        </p:spPr>
        <p:txBody>
          <a:bodyPr>
            <a:normAutofit/>
          </a:bodyPr>
          <a:lstStyle/>
          <a:p>
            <a:pPr algn="ctr">
              <a:buNone/>
            </a:pPr>
            <a:endParaRPr lang="en-PH" sz="4000" dirty="0" smtClean="0"/>
          </a:p>
          <a:p>
            <a:pPr algn="ctr">
              <a:buNone/>
            </a:pPr>
            <a:r>
              <a:rPr lang="en-PH" sz="4000" b="1" dirty="0" smtClean="0"/>
              <a:t>    5  ,   5,    5,    5,     5,    5,</a:t>
            </a:r>
          </a:p>
          <a:p>
            <a:pPr algn="ctr">
              <a:buNone/>
            </a:pPr>
            <a:endParaRPr lang="en-PH" sz="4000" b="1" dirty="0" smtClean="0"/>
          </a:p>
          <a:p>
            <a:pPr algn="ctr">
              <a:buNone/>
            </a:pPr>
            <a:r>
              <a:rPr lang="en-PH" sz="4000" b="1" dirty="0" smtClean="0"/>
              <a:t>WHAT IS THE STANDARD DEVIATION?</a:t>
            </a:r>
            <a:endParaRPr lang="en-PH" sz="4000" b="1" dirty="0"/>
          </a:p>
        </p:txBody>
      </p:sp>
      <p:sp>
        <p:nvSpPr>
          <p:cNvPr id="4" name="Date Placeholder 3"/>
          <p:cNvSpPr>
            <a:spLocks noGrp="1"/>
          </p:cNvSpPr>
          <p:nvPr>
            <p:ph type="dt" sz="half" idx="10"/>
          </p:nvPr>
        </p:nvSpPr>
        <p:spPr/>
        <p:txBody>
          <a:bodyPr/>
          <a:lstStyle/>
          <a:p>
            <a:fld id="{8C7AA1A1-6A5C-4A6F-9E2D-7EB7EECE00D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sd.jpg"/>
          <p:cNvPicPr>
            <a:picLocks noGrp="1" noChangeAspect="1"/>
          </p:cNvPicPr>
          <p:nvPr>
            <p:ph idx="1"/>
          </p:nvPr>
        </p:nvPicPr>
        <p:blipFill>
          <a:blip r:embed="rId2" cstate="print"/>
          <a:stretch>
            <a:fillRect/>
          </a:stretch>
        </p:blipFill>
        <p:spPr>
          <a:xfrm>
            <a:off x="2438400" y="2286000"/>
            <a:ext cx="5333999" cy="3352799"/>
          </a:xfrm>
        </p:spPr>
      </p:pic>
      <p:sp>
        <p:nvSpPr>
          <p:cNvPr id="3" name="Date Placeholder 2"/>
          <p:cNvSpPr>
            <a:spLocks noGrp="1"/>
          </p:cNvSpPr>
          <p:nvPr>
            <p:ph type="dt" sz="half" idx="10"/>
          </p:nvPr>
        </p:nvSpPr>
        <p:spPr/>
        <p:txBody>
          <a:bodyPr/>
          <a:lstStyle/>
          <a:p>
            <a:fld id="{5CFFEB96-90DE-4213-A1A4-41E1907556EB}"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sd sol.jpg"/>
          <p:cNvPicPr>
            <a:picLocks noGrp="1" noChangeAspect="1"/>
          </p:cNvPicPr>
          <p:nvPr>
            <p:ph idx="1"/>
          </p:nvPr>
        </p:nvPicPr>
        <p:blipFill>
          <a:blip r:embed="rId2" cstate="print"/>
          <a:stretch>
            <a:fillRect/>
          </a:stretch>
        </p:blipFill>
        <p:spPr>
          <a:xfrm>
            <a:off x="1905000" y="1752600"/>
            <a:ext cx="5943600" cy="4114800"/>
          </a:xfrm>
        </p:spPr>
      </p:pic>
      <p:sp>
        <p:nvSpPr>
          <p:cNvPr id="3" name="Date Placeholder 2"/>
          <p:cNvSpPr>
            <a:spLocks noGrp="1"/>
          </p:cNvSpPr>
          <p:nvPr>
            <p:ph type="dt" sz="half" idx="10"/>
          </p:nvPr>
        </p:nvSpPr>
        <p:spPr/>
        <p:txBody>
          <a:bodyPr/>
          <a:lstStyle/>
          <a:p>
            <a:fld id="{E4DB73E9-B13E-4601-9F0F-47168D78DFE1}"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98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What is the standard deviation?</a:t>
            </a:r>
            <a:endParaRPr lang="en-PH" dirty="0"/>
          </a:p>
        </p:txBody>
      </p:sp>
      <p:sp>
        <p:nvSpPr>
          <p:cNvPr id="4" name="Text Placeholder 3"/>
          <p:cNvSpPr>
            <a:spLocks noGrp="1"/>
          </p:cNvSpPr>
          <p:nvPr>
            <p:ph type="body" idx="1"/>
          </p:nvPr>
        </p:nvSpPr>
        <p:spPr>
          <a:xfrm>
            <a:off x="866440" y="2489200"/>
            <a:ext cx="3636979" cy="45719"/>
          </a:xfrm>
        </p:spPr>
        <p:txBody>
          <a:bodyPr/>
          <a:lstStyle/>
          <a:p>
            <a:endParaRPr lang="en-PH" dirty="0"/>
          </a:p>
        </p:txBody>
      </p:sp>
      <p:graphicFrame>
        <p:nvGraphicFramePr>
          <p:cNvPr id="8" name="Content Placeholder 7"/>
          <p:cNvGraphicFramePr>
            <a:graphicFrameLocks noGrp="1"/>
          </p:cNvGraphicFramePr>
          <p:nvPr>
            <p:ph sz="half" idx="2"/>
            <p:extLst>
              <p:ext uri="{D42A27DB-BD31-4B8C-83A1-F6EECF244321}">
                <p14:modId xmlns:p14="http://schemas.microsoft.com/office/powerpoint/2010/main" val="760283846"/>
              </p:ext>
            </p:extLst>
          </p:nvPr>
        </p:nvGraphicFramePr>
        <p:xfrm>
          <a:off x="866775" y="2667001"/>
          <a:ext cx="3636963" cy="3688079"/>
        </p:xfrm>
        <a:graphic>
          <a:graphicData uri="http://schemas.openxmlformats.org/drawingml/2006/table">
            <a:tbl>
              <a:tblPr firstRow="1" bandRow="1">
                <a:tableStyleId>{5C22544A-7EE6-4342-B048-85BDC9FD1C3A}</a:tableStyleId>
              </a:tblPr>
              <a:tblGrid>
                <a:gridCol w="1212321"/>
                <a:gridCol w="1212321"/>
                <a:gridCol w="1212321"/>
              </a:tblGrid>
              <a:tr h="761999">
                <a:tc>
                  <a:txBody>
                    <a:bodyPr/>
                    <a:lstStyle/>
                    <a:p>
                      <a:r>
                        <a:rPr lang="en-PH" dirty="0" smtClean="0"/>
                        <a:t>Score</a:t>
                      </a:r>
                      <a:endParaRPr lang="en-PH" dirty="0"/>
                    </a:p>
                  </a:txBody>
                  <a:tcPr/>
                </a:tc>
                <a:tc>
                  <a:txBody>
                    <a:bodyPr/>
                    <a:lstStyle/>
                    <a:p>
                      <a:r>
                        <a:rPr lang="en-PH" dirty="0" smtClean="0"/>
                        <a:t>Mean</a:t>
                      </a:r>
                      <a:endParaRPr lang="en-PH" dirty="0"/>
                    </a:p>
                  </a:txBody>
                  <a:tcPr/>
                </a:tc>
                <a:tc>
                  <a:txBody>
                    <a:bodyPr/>
                    <a:lstStyle/>
                    <a:p>
                      <a:r>
                        <a:rPr lang="en-PH" dirty="0" smtClean="0"/>
                        <a:t>Sum of (x-x)</a:t>
                      </a:r>
                      <a:r>
                        <a:rPr lang="en-PH" sz="2000" dirty="0" smtClean="0"/>
                        <a:t>2 </a:t>
                      </a:r>
                      <a:endParaRPr lang="en-PH" sz="2000" dirty="0"/>
                    </a:p>
                  </a:txBody>
                  <a:tcPr/>
                </a:tc>
              </a:tr>
              <a:tr h="370840">
                <a:tc>
                  <a:txBody>
                    <a:bodyPr/>
                    <a:lstStyle/>
                    <a:p>
                      <a:r>
                        <a:rPr lang="en-PH" sz="2400" b="1" dirty="0" smtClean="0"/>
                        <a:t>3</a:t>
                      </a:r>
                      <a:endParaRPr lang="en-PH" sz="2400" b="1" dirty="0"/>
                    </a:p>
                  </a:txBody>
                  <a:tcPr/>
                </a:tc>
                <a:tc>
                  <a:txBody>
                    <a:bodyPr/>
                    <a:lstStyle/>
                    <a:p>
                      <a:r>
                        <a:rPr lang="en-PH" sz="2400" b="1" dirty="0" smtClean="0"/>
                        <a:t>5</a:t>
                      </a:r>
                      <a:endParaRPr lang="en-PH" sz="2400" b="1" dirty="0"/>
                    </a:p>
                  </a:txBody>
                  <a:tcPr/>
                </a:tc>
                <a:tc>
                  <a:txBody>
                    <a:bodyPr/>
                    <a:lstStyle/>
                    <a:p>
                      <a:r>
                        <a:rPr lang="en-PH" sz="2400" b="1" dirty="0" smtClean="0"/>
                        <a:t>4</a:t>
                      </a:r>
                      <a:endParaRPr lang="en-PH" sz="2400" b="1" dirty="0"/>
                    </a:p>
                  </a:txBody>
                  <a:tcPr/>
                </a:tc>
              </a:tr>
              <a:tr h="370840">
                <a:tc>
                  <a:txBody>
                    <a:bodyPr/>
                    <a:lstStyle/>
                    <a:p>
                      <a:r>
                        <a:rPr lang="en-PH" sz="2400" b="1" dirty="0" smtClean="0"/>
                        <a:t>4</a:t>
                      </a:r>
                      <a:endParaRPr lang="en-PH" sz="2400" b="1" dirty="0"/>
                    </a:p>
                  </a:txBody>
                  <a:tcPr/>
                </a:tc>
                <a:tc>
                  <a:txBody>
                    <a:bodyPr/>
                    <a:lstStyle/>
                    <a:p>
                      <a:r>
                        <a:rPr lang="en-PH" sz="2400" b="1" dirty="0" smtClean="0"/>
                        <a:t>5</a:t>
                      </a:r>
                      <a:endParaRPr lang="en-PH" sz="2400" b="1" dirty="0"/>
                    </a:p>
                  </a:txBody>
                  <a:tcPr/>
                </a:tc>
                <a:tc>
                  <a:txBody>
                    <a:bodyPr/>
                    <a:lstStyle/>
                    <a:p>
                      <a:r>
                        <a:rPr lang="en-PH" sz="2400" b="1" dirty="0" smtClean="0"/>
                        <a:t>1</a:t>
                      </a:r>
                      <a:endParaRPr lang="en-PH" sz="2400" b="1" dirty="0"/>
                    </a:p>
                  </a:txBody>
                  <a:tcPr/>
                </a:tc>
              </a:tr>
              <a:tr h="370840">
                <a:tc>
                  <a:txBody>
                    <a:bodyPr/>
                    <a:lstStyle/>
                    <a:p>
                      <a:r>
                        <a:rPr lang="en-PH" sz="2400" b="1" dirty="0" smtClean="0"/>
                        <a:t>5</a:t>
                      </a:r>
                      <a:endParaRPr lang="en-PH" sz="2400" b="1" dirty="0"/>
                    </a:p>
                  </a:txBody>
                  <a:tcPr/>
                </a:tc>
                <a:tc>
                  <a:txBody>
                    <a:bodyPr/>
                    <a:lstStyle/>
                    <a:p>
                      <a:r>
                        <a:rPr lang="en-PH" sz="2400" b="1" dirty="0" smtClean="0"/>
                        <a:t>5</a:t>
                      </a:r>
                      <a:endParaRPr lang="en-PH" sz="2400" b="1" dirty="0"/>
                    </a:p>
                  </a:txBody>
                  <a:tcPr/>
                </a:tc>
                <a:tc>
                  <a:txBody>
                    <a:bodyPr/>
                    <a:lstStyle/>
                    <a:p>
                      <a:r>
                        <a:rPr lang="en-PH" sz="2400" b="1" dirty="0" smtClean="0"/>
                        <a:t>0</a:t>
                      </a:r>
                      <a:endParaRPr lang="en-PH" sz="2400" b="1" dirty="0"/>
                    </a:p>
                  </a:txBody>
                  <a:tcPr/>
                </a:tc>
              </a:tr>
              <a:tr h="370840">
                <a:tc>
                  <a:txBody>
                    <a:bodyPr/>
                    <a:lstStyle/>
                    <a:p>
                      <a:r>
                        <a:rPr lang="en-PH" sz="2400" b="1" dirty="0" smtClean="0"/>
                        <a:t>6</a:t>
                      </a:r>
                      <a:endParaRPr lang="en-PH" sz="2400" b="1" dirty="0"/>
                    </a:p>
                  </a:txBody>
                  <a:tcPr/>
                </a:tc>
                <a:tc>
                  <a:txBody>
                    <a:bodyPr/>
                    <a:lstStyle/>
                    <a:p>
                      <a:r>
                        <a:rPr lang="en-PH" sz="2400" b="1" dirty="0" smtClean="0"/>
                        <a:t>5</a:t>
                      </a:r>
                      <a:endParaRPr lang="en-PH" sz="2400" b="1" dirty="0"/>
                    </a:p>
                  </a:txBody>
                  <a:tcPr/>
                </a:tc>
                <a:tc>
                  <a:txBody>
                    <a:bodyPr/>
                    <a:lstStyle/>
                    <a:p>
                      <a:r>
                        <a:rPr lang="en-PH" sz="2400" b="1" dirty="0" smtClean="0"/>
                        <a:t>1</a:t>
                      </a:r>
                      <a:endParaRPr lang="en-PH" sz="2400" b="1" dirty="0"/>
                    </a:p>
                  </a:txBody>
                  <a:tcPr/>
                </a:tc>
              </a:tr>
              <a:tr h="370840">
                <a:tc>
                  <a:txBody>
                    <a:bodyPr/>
                    <a:lstStyle/>
                    <a:p>
                      <a:r>
                        <a:rPr lang="en-PH" sz="2400" b="1" dirty="0" smtClean="0"/>
                        <a:t>7</a:t>
                      </a:r>
                      <a:endParaRPr lang="en-PH" sz="2400" b="1" dirty="0"/>
                    </a:p>
                  </a:txBody>
                  <a:tcPr/>
                </a:tc>
                <a:tc>
                  <a:txBody>
                    <a:bodyPr/>
                    <a:lstStyle/>
                    <a:p>
                      <a:r>
                        <a:rPr lang="en-PH" sz="2400" b="1" dirty="0" smtClean="0"/>
                        <a:t>5</a:t>
                      </a:r>
                      <a:endParaRPr lang="en-PH" sz="2400" b="1" dirty="0"/>
                    </a:p>
                  </a:txBody>
                  <a:tcPr/>
                </a:tc>
                <a:tc>
                  <a:txBody>
                    <a:bodyPr/>
                    <a:lstStyle/>
                    <a:p>
                      <a:r>
                        <a:rPr lang="en-PH" sz="2400" b="1" dirty="0" smtClean="0"/>
                        <a:t>4</a:t>
                      </a:r>
                      <a:endParaRPr lang="en-PH" sz="2400" b="1" dirty="0"/>
                    </a:p>
                  </a:txBody>
                  <a:tcPr/>
                </a:tc>
              </a:tr>
              <a:tr h="370840">
                <a:tc>
                  <a:txBody>
                    <a:bodyPr/>
                    <a:lstStyle/>
                    <a:p>
                      <a:r>
                        <a:rPr lang="en-PH" b="1" dirty="0" smtClean="0"/>
                        <a:t>Summation </a:t>
                      </a:r>
                      <a:endParaRPr lang="en-PH" b="1" dirty="0"/>
                    </a:p>
                  </a:txBody>
                  <a:tcPr/>
                </a:tc>
                <a:tc>
                  <a:txBody>
                    <a:bodyPr/>
                    <a:lstStyle/>
                    <a:p>
                      <a:endParaRPr lang="en-PH" b="1" dirty="0"/>
                    </a:p>
                  </a:txBody>
                  <a:tcPr/>
                </a:tc>
                <a:tc>
                  <a:txBody>
                    <a:bodyPr/>
                    <a:lstStyle/>
                    <a:p>
                      <a:r>
                        <a:rPr lang="en-PH" b="1" dirty="0" smtClean="0"/>
                        <a:t>10</a:t>
                      </a:r>
                      <a:endParaRPr lang="en-PH" b="1" dirty="0"/>
                    </a:p>
                  </a:txBody>
                  <a:tcPr/>
                </a:tc>
              </a:tr>
            </a:tbl>
          </a:graphicData>
        </a:graphic>
      </p:graphicFrame>
      <p:sp>
        <p:nvSpPr>
          <p:cNvPr id="6" name="Text Placeholder 5"/>
          <p:cNvSpPr>
            <a:spLocks noGrp="1"/>
          </p:cNvSpPr>
          <p:nvPr>
            <p:ph type="body" sz="quarter" idx="3"/>
          </p:nvPr>
        </p:nvSpPr>
        <p:spPr>
          <a:xfrm>
            <a:off x="4640581" y="2362200"/>
            <a:ext cx="3636980" cy="685800"/>
          </a:xfrm>
        </p:spPr>
        <p:txBody>
          <a:bodyPr/>
          <a:lstStyle/>
          <a:p>
            <a:endParaRPr lang="en-PH" dirty="0"/>
          </a:p>
        </p:txBody>
      </p:sp>
      <p:sp>
        <p:nvSpPr>
          <p:cNvPr id="7" name="Content Placeholder 6"/>
          <p:cNvSpPr>
            <a:spLocks noGrp="1"/>
          </p:cNvSpPr>
          <p:nvPr>
            <p:ph sz="quarter" idx="4"/>
          </p:nvPr>
        </p:nvSpPr>
        <p:spPr>
          <a:xfrm>
            <a:off x="4640581" y="3048000"/>
            <a:ext cx="3636979" cy="2971802"/>
          </a:xfrm>
        </p:spPr>
        <p:txBody>
          <a:bodyPr>
            <a:normAutofit/>
          </a:bodyPr>
          <a:lstStyle/>
          <a:p>
            <a:r>
              <a:rPr lang="en-PH" sz="2800" b="1" dirty="0" smtClean="0"/>
              <a:t>SD is 10/5. Then get the square root.</a:t>
            </a:r>
            <a:endParaRPr lang="en-PH" sz="2800" b="1" dirty="0"/>
          </a:p>
        </p:txBody>
      </p:sp>
      <p:sp>
        <p:nvSpPr>
          <p:cNvPr id="3" name="Date Placeholder 2"/>
          <p:cNvSpPr>
            <a:spLocks noGrp="1"/>
          </p:cNvSpPr>
          <p:nvPr>
            <p:ph type="dt" sz="half" idx="10"/>
          </p:nvPr>
        </p:nvSpPr>
        <p:spPr/>
        <p:txBody>
          <a:bodyPr/>
          <a:lstStyle/>
          <a:p>
            <a:fld id="{CE47DDD0-D058-4EDA-8829-D6C7F989F09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9" name="Slide Number Placeholder 8"/>
          <p:cNvSpPr>
            <a:spLocks noGrp="1"/>
          </p:cNvSpPr>
          <p:nvPr>
            <p:ph type="sldNum" sz="quarter" idx="12"/>
          </p:nvPr>
        </p:nvSpPr>
        <p:spPr/>
        <p:txBody>
          <a:bodyPr/>
          <a:lstStyle/>
          <a:p>
            <a:fld id="{A2AF10DC-0514-439A-9D3C-470D8338320C}" type="slidenum">
              <a:rPr lang="en-PH" smtClean="0"/>
              <a:pPr/>
              <a:t>99</a:t>
            </a:fld>
            <a:endParaRPr lang="en-PH"/>
          </a:p>
        </p:txBody>
      </p:sp>
    </p:spTree>
    <p:extLst>
      <p:ext uri="{BB962C8B-B14F-4D97-AF65-F5344CB8AC3E}">
        <p14:creationId xmlns:p14="http://schemas.microsoft.com/office/powerpoint/2010/main" val="9062698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Which has a lower standard deviation?</a:t>
            </a:r>
            <a:endParaRPr lang="en-PH" dirty="0"/>
          </a:p>
        </p:txBody>
      </p:sp>
      <p:graphicFrame>
        <p:nvGraphicFramePr>
          <p:cNvPr id="5" name="Content Placeholder 4"/>
          <p:cNvGraphicFramePr>
            <a:graphicFrameLocks noGrp="1"/>
          </p:cNvGraphicFramePr>
          <p:nvPr>
            <p:ph idx="1"/>
          </p:nvPr>
        </p:nvGraphicFramePr>
        <p:xfrm>
          <a:off x="866775" y="2489200"/>
          <a:ext cx="6343647" cy="3048000"/>
        </p:xfrm>
        <a:graphic>
          <a:graphicData uri="http://schemas.openxmlformats.org/drawingml/2006/table">
            <a:tbl>
              <a:tblPr firstRow="1" bandRow="1">
                <a:tableStyleId>{5C22544A-7EE6-4342-B048-85BDC9FD1C3A}</a:tableStyleId>
              </a:tblPr>
              <a:tblGrid>
                <a:gridCol w="1100429"/>
                <a:gridCol w="776773"/>
                <a:gridCol w="841505"/>
                <a:gridCol w="906235"/>
                <a:gridCol w="906235"/>
                <a:gridCol w="906235"/>
                <a:gridCol w="906235"/>
              </a:tblGrid>
              <a:tr h="838200">
                <a:tc>
                  <a:txBody>
                    <a:bodyPr/>
                    <a:lstStyle/>
                    <a:p>
                      <a:r>
                        <a:rPr lang="en-PH" dirty="0" smtClean="0"/>
                        <a:t>CONTES-TANT</a:t>
                      </a:r>
                      <a:endParaRPr lang="en-PH" dirty="0"/>
                    </a:p>
                  </a:txBody>
                  <a:tcPr marL="77677" marR="77677"/>
                </a:tc>
                <a:tc>
                  <a:txBody>
                    <a:bodyPr/>
                    <a:lstStyle/>
                    <a:p>
                      <a:pPr algn="ctr"/>
                      <a:r>
                        <a:rPr lang="en-PH" dirty="0" smtClean="0"/>
                        <a:t>Judge</a:t>
                      </a:r>
                    </a:p>
                    <a:p>
                      <a:pPr algn="ctr"/>
                      <a:r>
                        <a:rPr lang="en-PH" dirty="0" smtClean="0"/>
                        <a:t>1</a:t>
                      </a:r>
                      <a:endParaRPr lang="en-PH" dirty="0"/>
                    </a:p>
                  </a:txBody>
                  <a:tcPr marL="77677" marR="77677"/>
                </a:tc>
                <a:tc>
                  <a:txBody>
                    <a:bodyPr/>
                    <a:lstStyle/>
                    <a:p>
                      <a:pPr algn="ctr"/>
                      <a:r>
                        <a:rPr lang="en-PH" dirty="0" smtClean="0"/>
                        <a:t>Judge</a:t>
                      </a:r>
                    </a:p>
                    <a:p>
                      <a:pPr algn="ctr"/>
                      <a:r>
                        <a:rPr lang="en-PH" dirty="0" smtClean="0"/>
                        <a:t>2</a:t>
                      </a:r>
                      <a:endParaRPr lang="en-PH" dirty="0"/>
                    </a:p>
                  </a:txBody>
                  <a:tcPr marL="77677" marR="77677"/>
                </a:tc>
                <a:tc>
                  <a:txBody>
                    <a:bodyPr/>
                    <a:lstStyle/>
                    <a:p>
                      <a:pPr algn="ctr"/>
                      <a:r>
                        <a:rPr lang="en-PH" dirty="0" smtClean="0"/>
                        <a:t>Judge </a:t>
                      </a:r>
                    </a:p>
                    <a:p>
                      <a:pPr algn="ctr"/>
                      <a:r>
                        <a:rPr lang="en-PH" dirty="0" smtClean="0"/>
                        <a:t>3</a:t>
                      </a:r>
                      <a:endParaRPr lang="en-PH" dirty="0"/>
                    </a:p>
                  </a:txBody>
                  <a:tcPr marL="77677" marR="77677"/>
                </a:tc>
                <a:tc>
                  <a:txBody>
                    <a:bodyPr/>
                    <a:lstStyle/>
                    <a:p>
                      <a:pPr algn="ctr"/>
                      <a:r>
                        <a:rPr lang="en-PH" dirty="0" smtClean="0"/>
                        <a:t>Judge</a:t>
                      </a:r>
                    </a:p>
                    <a:p>
                      <a:pPr algn="ctr"/>
                      <a:r>
                        <a:rPr lang="en-PH" dirty="0" smtClean="0"/>
                        <a:t>4</a:t>
                      </a:r>
                      <a:endParaRPr lang="en-PH" dirty="0"/>
                    </a:p>
                  </a:txBody>
                  <a:tcPr marL="77677" marR="77677"/>
                </a:tc>
                <a:tc>
                  <a:txBody>
                    <a:bodyPr/>
                    <a:lstStyle/>
                    <a:p>
                      <a:pPr algn="ctr"/>
                      <a:r>
                        <a:rPr lang="en-PH" dirty="0" smtClean="0"/>
                        <a:t>Judge</a:t>
                      </a:r>
                    </a:p>
                    <a:p>
                      <a:pPr algn="ctr"/>
                      <a:r>
                        <a:rPr lang="en-PH" dirty="0" smtClean="0"/>
                        <a:t>5</a:t>
                      </a:r>
                      <a:endParaRPr lang="en-PH" dirty="0"/>
                    </a:p>
                  </a:txBody>
                  <a:tcPr marL="77677" marR="77677"/>
                </a:tc>
                <a:tc>
                  <a:txBody>
                    <a:bodyPr/>
                    <a:lstStyle/>
                    <a:p>
                      <a:endParaRPr lang="en-PH" dirty="0" smtClean="0"/>
                    </a:p>
                    <a:p>
                      <a:r>
                        <a:rPr lang="en-PH" dirty="0" smtClean="0"/>
                        <a:t>MEAN</a:t>
                      </a:r>
                      <a:endParaRPr lang="en-PH" dirty="0"/>
                    </a:p>
                  </a:txBody>
                  <a:tcPr marL="77677" marR="77677"/>
                </a:tc>
              </a:tr>
              <a:tr h="370840">
                <a:tc>
                  <a:txBody>
                    <a:bodyPr/>
                    <a:lstStyle/>
                    <a:p>
                      <a:endParaRPr lang="en-PH" b="1" dirty="0" smtClean="0"/>
                    </a:p>
                    <a:p>
                      <a:r>
                        <a:rPr lang="en-PH" b="1" dirty="0" smtClean="0"/>
                        <a:t>    A</a:t>
                      </a:r>
                    </a:p>
                    <a:p>
                      <a:endParaRPr lang="en-PH" b="1" dirty="0"/>
                    </a:p>
                  </a:txBody>
                  <a:tcPr marL="77677" marR="77677"/>
                </a:tc>
                <a:tc>
                  <a:txBody>
                    <a:bodyPr/>
                    <a:lstStyle/>
                    <a:p>
                      <a:pPr algn="ctr"/>
                      <a:r>
                        <a:rPr lang="en-PH" sz="2800" b="1" dirty="0" smtClean="0"/>
                        <a:t>  </a:t>
                      </a:r>
                    </a:p>
                    <a:p>
                      <a:pPr algn="ctr"/>
                      <a:r>
                        <a:rPr lang="en-PH" sz="2800" b="1" dirty="0" smtClean="0"/>
                        <a:t>9</a:t>
                      </a:r>
                      <a:endParaRPr lang="en-PH" sz="2800" b="1" dirty="0"/>
                    </a:p>
                  </a:txBody>
                  <a:tcPr marL="77677" marR="77677"/>
                </a:tc>
                <a:tc>
                  <a:txBody>
                    <a:bodyPr/>
                    <a:lstStyle/>
                    <a:p>
                      <a:pPr algn="ctr"/>
                      <a:r>
                        <a:rPr lang="en-PH" sz="2800" b="1" dirty="0" smtClean="0"/>
                        <a:t> </a:t>
                      </a:r>
                    </a:p>
                    <a:p>
                      <a:pPr algn="ctr"/>
                      <a:r>
                        <a:rPr lang="en-PH" sz="2800" b="1" dirty="0" smtClean="0"/>
                        <a:t>7</a:t>
                      </a:r>
                      <a:endParaRPr lang="en-PH" sz="2800" b="1" dirty="0"/>
                    </a:p>
                  </a:txBody>
                  <a:tcPr marL="77677" marR="77677"/>
                </a:tc>
                <a:tc>
                  <a:txBody>
                    <a:bodyPr/>
                    <a:lstStyle/>
                    <a:p>
                      <a:pPr algn="ctr"/>
                      <a:endParaRPr lang="en-PH" sz="2800" b="1" dirty="0" smtClean="0"/>
                    </a:p>
                    <a:p>
                      <a:pPr algn="ctr"/>
                      <a:r>
                        <a:rPr lang="en-PH" sz="2800" b="1" dirty="0" smtClean="0"/>
                        <a:t>10</a:t>
                      </a:r>
                      <a:endParaRPr lang="en-PH" sz="2800" b="1" dirty="0"/>
                    </a:p>
                  </a:txBody>
                  <a:tcPr marL="77677" marR="77677"/>
                </a:tc>
                <a:tc>
                  <a:txBody>
                    <a:bodyPr/>
                    <a:lstStyle/>
                    <a:p>
                      <a:pPr algn="ctr"/>
                      <a:endParaRPr lang="en-PH" sz="2800" b="1" dirty="0" smtClean="0"/>
                    </a:p>
                    <a:p>
                      <a:pPr algn="ctr"/>
                      <a:r>
                        <a:rPr lang="en-PH" sz="2800" b="1" dirty="0" smtClean="0"/>
                        <a:t>6</a:t>
                      </a:r>
                      <a:endParaRPr lang="en-PH" sz="2800" b="1" dirty="0"/>
                    </a:p>
                  </a:txBody>
                  <a:tcPr marL="77677" marR="77677"/>
                </a:tc>
                <a:tc>
                  <a:txBody>
                    <a:bodyPr/>
                    <a:lstStyle/>
                    <a:p>
                      <a:pPr algn="ctr"/>
                      <a:r>
                        <a:rPr lang="en-PH" sz="2800" b="1" dirty="0" smtClean="0"/>
                        <a:t>  </a:t>
                      </a:r>
                    </a:p>
                    <a:p>
                      <a:pPr algn="ctr"/>
                      <a:r>
                        <a:rPr lang="en-PH" sz="2800" b="1" dirty="0" smtClean="0"/>
                        <a:t>8</a:t>
                      </a:r>
                      <a:endParaRPr lang="en-PH" sz="2800" b="1" dirty="0"/>
                    </a:p>
                  </a:txBody>
                  <a:tcPr marL="77677" marR="77677"/>
                </a:tc>
                <a:tc>
                  <a:txBody>
                    <a:bodyPr/>
                    <a:lstStyle/>
                    <a:p>
                      <a:pPr algn="ctr"/>
                      <a:r>
                        <a:rPr lang="en-PH" sz="2800" b="1" dirty="0" smtClean="0"/>
                        <a:t> </a:t>
                      </a:r>
                    </a:p>
                    <a:p>
                      <a:pPr algn="ctr"/>
                      <a:r>
                        <a:rPr lang="en-PH" sz="2800" b="1" dirty="0" smtClean="0"/>
                        <a:t>8</a:t>
                      </a:r>
                      <a:endParaRPr lang="en-PH" sz="2800" b="1" dirty="0"/>
                    </a:p>
                  </a:txBody>
                  <a:tcPr marL="77677" marR="77677"/>
                </a:tc>
              </a:tr>
              <a:tr h="370840">
                <a:tc>
                  <a:txBody>
                    <a:bodyPr/>
                    <a:lstStyle/>
                    <a:p>
                      <a:endParaRPr lang="en-PH" b="1" dirty="0" smtClean="0"/>
                    </a:p>
                    <a:p>
                      <a:r>
                        <a:rPr lang="en-PH" b="1" dirty="0" smtClean="0"/>
                        <a:t>   B</a:t>
                      </a:r>
                    </a:p>
                    <a:p>
                      <a:endParaRPr lang="en-PH" b="1" dirty="0" smtClean="0"/>
                    </a:p>
                    <a:p>
                      <a:endParaRPr lang="en-PH" b="1" dirty="0"/>
                    </a:p>
                  </a:txBody>
                  <a:tcPr marL="77677" marR="77677"/>
                </a:tc>
                <a:tc>
                  <a:txBody>
                    <a:bodyPr/>
                    <a:lstStyle/>
                    <a:p>
                      <a:pPr algn="ctr"/>
                      <a:r>
                        <a:rPr lang="en-PH" sz="2800" b="1" dirty="0" smtClean="0"/>
                        <a:t>   </a:t>
                      </a:r>
                    </a:p>
                    <a:p>
                      <a:pPr algn="ctr"/>
                      <a:r>
                        <a:rPr lang="en-PH" sz="2800" b="1" dirty="0" smtClean="0"/>
                        <a:t>7</a:t>
                      </a:r>
                      <a:endParaRPr lang="en-PH" sz="2800" b="1" dirty="0"/>
                    </a:p>
                  </a:txBody>
                  <a:tcPr marL="77677" marR="77677"/>
                </a:tc>
                <a:tc>
                  <a:txBody>
                    <a:bodyPr/>
                    <a:lstStyle/>
                    <a:p>
                      <a:pPr algn="ctr"/>
                      <a:r>
                        <a:rPr lang="en-PH" sz="2800" b="1" dirty="0" smtClean="0"/>
                        <a:t> </a:t>
                      </a:r>
                    </a:p>
                    <a:p>
                      <a:pPr algn="ctr"/>
                      <a:r>
                        <a:rPr lang="en-PH" sz="2800" b="1" dirty="0" smtClean="0"/>
                        <a:t>7</a:t>
                      </a:r>
                      <a:endParaRPr lang="en-PH" sz="2800" b="1" dirty="0"/>
                    </a:p>
                  </a:txBody>
                  <a:tcPr marL="77677" marR="77677"/>
                </a:tc>
                <a:tc>
                  <a:txBody>
                    <a:bodyPr/>
                    <a:lstStyle/>
                    <a:p>
                      <a:pPr algn="ctr"/>
                      <a:r>
                        <a:rPr lang="en-PH" sz="2800" b="1" dirty="0" smtClean="0"/>
                        <a:t>  </a:t>
                      </a:r>
                    </a:p>
                    <a:p>
                      <a:pPr algn="ctr"/>
                      <a:r>
                        <a:rPr lang="en-PH" sz="2800" b="1" dirty="0" smtClean="0"/>
                        <a:t>9</a:t>
                      </a:r>
                      <a:endParaRPr lang="en-PH" sz="2800" b="1" dirty="0"/>
                    </a:p>
                  </a:txBody>
                  <a:tcPr marL="77677" marR="77677"/>
                </a:tc>
                <a:tc>
                  <a:txBody>
                    <a:bodyPr/>
                    <a:lstStyle/>
                    <a:p>
                      <a:pPr algn="ctr"/>
                      <a:endParaRPr lang="en-PH" sz="2800" b="1" dirty="0" smtClean="0"/>
                    </a:p>
                    <a:p>
                      <a:pPr algn="ctr"/>
                      <a:r>
                        <a:rPr lang="en-PH" sz="2800" b="1" dirty="0" smtClean="0"/>
                        <a:t>8</a:t>
                      </a:r>
                      <a:endParaRPr lang="en-PH" sz="2800" b="1" dirty="0"/>
                    </a:p>
                  </a:txBody>
                  <a:tcPr marL="77677" marR="77677"/>
                </a:tc>
                <a:tc>
                  <a:txBody>
                    <a:bodyPr/>
                    <a:lstStyle/>
                    <a:p>
                      <a:pPr algn="ctr"/>
                      <a:r>
                        <a:rPr lang="en-PH" sz="2800" b="1" dirty="0" smtClean="0"/>
                        <a:t> </a:t>
                      </a:r>
                    </a:p>
                    <a:p>
                      <a:pPr algn="ctr"/>
                      <a:r>
                        <a:rPr lang="en-PH" sz="2800" b="1" dirty="0" smtClean="0"/>
                        <a:t>9</a:t>
                      </a:r>
                      <a:endParaRPr lang="en-PH" sz="2800" b="1" dirty="0"/>
                    </a:p>
                  </a:txBody>
                  <a:tcPr marL="77677" marR="77677"/>
                </a:tc>
                <a:tc>
                  <a:txBody>
                    <a:bodyPr/>
                    <a:lstStyle/>
                    <a:p>
                      <a:pPr algn="ctr"/>
                      <a:endParaRPr lang="en-PH" sz="2800" b="1" dirty="0" smtClean="0"/>
                    </a:p>
                    <a:p>
                      <a:pPr algn="ctr"/>
                      <a:r>
                        <a:rPr lang="en-PH" sz="2800" b="1" dirty="0" smtClean="0"/>
                        <a:t>8</a:t>
                      </a:r>
                      <a:endParaRPr lang="en-PH" sz="2800" b="1" dirty="0"/>
                    </a:p>
                  </a:txBody>
                  <a:tcPr marL="77677" marR="77677"/>
                </a:tc>
              </a:tr>
            </a:tbl>
          </a:graphicData>
        </a:graphic>
      </p:graphicFrame>
      <p:sp>
        <p:nvSpPr>
          <p:cNvPr id="3" name="Date Placeholder 2"/>
          <p:cNvSpPr>
            <a:spLocks noGrp="1"/>
          </p:cNvSpPr>
          <p:nvPr>
            <p:ph type="dt" sz="half" idx="10"/>
          </p:nvPr>
        </p:nvSpPr>
        <p:spPr/>
        <p:txBody>
          <a:bodyPr/>
          <a:lstStyle/>
          <a:p>
            <a:fld id="{1CF31323-4C8E-40F5-8823-2A50E65740B2}" type="datetime1">
              <a:rPr lang="en-PH" smtClean="0"/>
              <a:t>01/10/2017</a:t>
            </a:fld>
            <a:endParaRPr lang="en-PH"/>
          </a:p>
        </p:txBody>
      </p:sp>
      <p:sp>
        <p:nvSpPr>
          <p:cNvPr id="4" name="Footer Placeholder 3"/>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Consider the data below:</a:t>
            </a:r>
            <a:endParaRPr lang="en-PH"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39815661"/>
              </p:ext>
            </p:extLst>
          </p:nvPr>
        </p:nvGraphicFramePr>
        <p:xfrm>
          <a:off x="1066799" y="2057400"/>
          <a:ext cx="7010400" cy="4632960"/>
        </p:xfrm>
        <a:graphic>
          <a:graphicData uri="http://schemas.openxmlformats.org/drawingml/2006/table">
            <a:tbl>
              <a:tblPr firstRow="1" bandRow="1">
                <a:tableStyleId>{5C22544A-7EE6-4342-B048-85BDC9FD1C3A}</a:tableStyleId>
              </a:tblPr>
              <a:tblGrid>
                <a:gridCol w="2336800"/>
                <a:gridCol w="2336800"/>
                <a:gridCol w="2336800"/>
              </a:tblGrid>
              <a:tr h="121921">
                <a:tc>
                  <a:txBody>
                    <a:bodyPr/>
                    <a:lstStyle/>
                    <a:p>
                      <a:pPr algn="ctr"/>
                      <a:r>
                        <a:rPr lang="en-PH" sz="2800" dirty="0" smtClean="0"/>
                        <a:t>CLASS</a:t>
                      </a:r>
                      <a:endParaRPr lang="en-PH" sz="2800" dirty="0"/>
                    </a:p>
                  </a:txBody>
                  <a:tcPr marL="77677" marR="77677"/>
                </a:tc>
                <a:tc>
                  <a:txBody>
                    <a:bodyPr/>
                    <a:lstStyle/>
                    <a:p>
                      <a:pPr algn="ctr"/>
                      <a:r>
                        <a:rPr lang="en-PH" sz="2800" dirty="0" smtClean="0"/>
                        <a:t>MEAN</a:t>
                      </a:r>
                      <a:endParaRPr lang="en-PH" sz="2800" dirty="0"/>
                    </a:p>
                  </a:txBody>
                  <a:tcPr marL="77677" marR="77677"/>
                </a:tc>
                <a:tc>
                  <a:txBody>
                    <a:bodyPr/>
                    <a:lstStyle/>
                    <a:p>
                      <a:pPr algn="ctr"/>
                      <a:r>
                        <a:rPr lang="en-PH" sz="2800" dirty="0" smtClean="0"/>
                        <a:t>STANDARD DEVIATION</a:t>
                      </a:r>
                      <a:endParaRPr lang="en-PH" sz="2800" dirty="0"/>
                    </a:p>
                  </a:txBody>
                  <a:tcPr marL="77677" marR="77677"/>
                </a:tc>
              </a:tr>
              <a:tr h="1173079">
                <a:tc>
                  <a:txBody>
                    <a:bodyPr/>
                    <a:lstStyle/>
                    <a:p>
                      <a:pPr algn="ctr"/>
                      <a:endParaRPr lang="en-PH" sz="2800" b="1" dirty="0" smtClean="0"/>
                    </a:p>
                    <a:p>
                      <a:pPr algn="ctr"/>
                      <a:r>
                        <a:rPr lang="en-PH" sz="2800" b="1" dirty="0" smtClean="0"/>
                        <a:t>CLASS   A</a:t>
                      </a:r>
                    </a:p>
                    <a:p>
                      <a:pPr algn="ctr"/>
                      <a:endParaRPr lang="en-PH" sz="2800" b="1" dirty="0"/>
                    </a:p>
                  </a:txBody>
                  <a:tcPr marL="77677" marR="77677"/>
                </a:tc>
                <a:tc>
                  <a:txBody>
                    <a:bodyPr/>
                    <a:lstStyle/>
                    <a:p>
                      <a:pPr algn="ctr"/>
                      <a:endParaRPr lang="en-PH" sz="2800" b="1" dirty="0" smtClean="0"/>
                    </a:p>
                    <a:p>
                      <a:pPr algn="ctr"/>
                      <a:endParaRPr lang="en-PH" sz="2800" b="1" dirty="0" smtClean="0"/>
                    </a:p>
                    <a:p>
                      <a:pPr algn="ctr"/>
                      <a:r>
                        <a:rPr lang="en-PH" sz="2800" b="1" dirty="0" smtClean="0"/>
                        <a:t>            45</a:t>
                      </a:r>
                      <a:endParaRPr lang="en-PH" sz="2800" b="1" dirty="0"/>
                    </a:p>
                  </a:txBody>
                  <a:tcPr marL="77677" marR="77677"/>
                </a:tc>
                <a:tc>
                  <a:txBody>
                    <a:bodyPr/>
                    <a:lstStyle/>
                    <a:p>
                      <a:pPr algn="ctr"/>
                      <a:endParaRPr lang="en-PH" sz="2800" b="1" dirty="0" smtClean="0"/>
                    </a:p>
                    <a:p>
                      <a:pPr algn="ctr"/>
                      <a:r>
                        <a:rPr lang="en-PH" sz="2800" b="1" dirty="0" smtClean="0"/>
                        <a:t> </a:t>
                      </a:r>
                    </a:p>
                    <a:p>
                      <a:pPr algn="ctr"/>
                      <a:r>
                        <a:rPr lang="en-PH" sz="2800" b="1" dirty="0" smtClean="0"/>
                        <a:t>            6</a:t>
                      </a:r>
                      <a:endParaRPr lang="en-PH" sz="2800" b="1" dirty="0"/>
                    </a:p>
                  </a:txBody>
                  <a:tcPr marL="77677" marR="77677"/>
                </a:tc>
              </a:tr>
              <a:tr h="1173079">
                <a:tc>
                  <a:txBody>
                    <a:bodyPr/>
                    <a:lstStyle/>
                    <a:p>
                      <a:pPr algn="ctr"/>
                      <a:endParaRPr lang="en-PH" sz="2800" b="1" dirty="0" smtClean="0"/>
                    </a:p>
                    <a:p>
                      <a:pPr algn="ctr"/>
                      <a:r>
                        <a:rPr lang="en-PH" sz="2800" b="1" dirty="0" smtClean="0"/>
                        <a:t>CLASS  B</a:t>
                      </a:r>
                    </a:p>
                    <a:p>
                      <a:pPr algn="ctr"/>
                      <a:endParaRPr lang="en-PH" sz="2800" b="1" dirty="0"/>
                    </a:p>
                  </a:txBody>
                  <a:tcPr marL="77677" marR="77677"/>
                </a:tc>
                <a:tc>
                  <a:txBody>
                    <a:bodyPr/>
                    <a:lstStyle/>
                    <a:p>
                      <a:pPr algn="ctr"/>
                      <a:r>
                        <a:rPr lang="en-PH" sz="2800" b="1" dirty="0" smtClean="0"/>
                        <a:t>  </a:t>
                      </a:r>
                    </a:p>
                    <a:p>
                      <a:pPr algn="ctr"/>
                      <a:r>
                        <a:rPr lang="en-PH" sz="2800" b="1" dirty="0" smtClean="0"/>
                        <a:t>            45</a:t>
                      </a:r>
                      <a:endParaRPr lang="en-PH" sz="2800" b="1" dirty="0"/>
                    </a:p>
                  </a:txBody>
                  <a:tcPr marL="77677" marR="77677"/>
                </a:tc>
                <a:tc>
                  <a:txBody>
                    <a:bodyPr/>
                    <a:lstStyle/>
                    <a:p>
                      <a:pPr algn="ctr"/>
                      <a:endParaRPr lang="en-PH" sz="2800" b="1" dirty="0" smtClean="0"/>
                    </a:p>
                    <a:p>
                      <a:pPr algn="ctr"/>
                      <a:r>
                        <a:rPr lang="en-PH" sz="2800" b="1" dirty="0" smtClean="0"/>
                        <a:t>            3</a:t>
                      </a:r>
                      <a:endParaRPr lang="en-PH" sz="2800" b="1" dirty="0"/>
                    </a:p>
                  </a:txBody>
                  <a:tcPr marL="77677" marR="77677"/>
                </a:tc>
              </a:tr>
              <a:tr h="808121">
                <a:tc>
                  <a:txBody>
                    <a:bodyPr/>
                    <a:lstStyle/>
                    <a:p>
                      <a:pPr algn="ctr"/>
                      <a:endParaRPr lang="en-PH" sz="2800" b="1" dirty="0" smtClean="0"/>
                    </a:p>
                    <a:p>
                      <a:pPr algn="ctr"/>
                      <a:r>
                        <a:rPr lang="en-PH" sz="2800" b="1" dirty="0" smtClean="0"/>
                        <a:t>CLASS  C</a:t>
                      </a:r>
                      <a:endParaRPr lang="en-PH" sz="2800" b="1" dirty="0"/>
                    </a:p>
                  </a:txBody>
                  <a:tcPr marL="77677" marR="77677"/>
                </a:tc>
                <a:tc>
                  <a:txBody>
                    <a:bodyPr/>
                    <a:lstStyle/>
                    <a:p>
                      <a:pPr algn="ctr"/>
                      <a:r>
                        <a:rPr lang="en-PH" sz="2800" b="1" dirty="0" smtClean="0"/>
                        <a:t>          </a:t>
                      </a:r>
                    </a:p>
                    <a:p>
                      <a:pPr algn="ctr"/>
                      <a:r>
                        <a:rPr lang="en-PH" sz="2800" b="1" dirty="0" smtClean="0"/>
                        <a:t>           45</a:t>
                      </a:r>
                      <a:endParaRPr lang="en-PH" sz="2800" b="1" dirty="0"/>
                    </a:p>
                  </a:txBody>
                  <a:tcPr marL="77677" marR="77677"/>
                </a:tc>
                <a:tc>
                  <a:txBody>
                    <a:bodyPr/>
                    <a:lstStyle/>
                    <a:p>
                      <a:pPr algn="ctr"/>
                      <a:r>
                        <a:rPr lang="en-PH" sz="2800" b="1" dirty="0" smtClean="0"/>
                        <a:t>   </a:t>
                      </a:r>
                    </a:p>
                    <a:p>
                      <a:pPr algn="ctr"/>
                      <a:r>
                        <a:rPr lang="en-PH" sz="2800" b="1" dirty="0" smtClean="0"/>
                        <a:t>            5</a:t>
                      </a:r>
                      <a:endParaRPr lang="en-PH" sz="2800" b="1" dirty="0"/>
                    </a:p>
                  </a:txBody>
                  <a:tcPr marL="77677" marR="77677"/>
                </a:tc>
              </a:tr>
            </a:tbl>
          </a:graphicData>
        </a:graphic>
      </p:graphicFrame>
      <p:sp>
        <p:nvSpPr>
          <p:cNvPr id="3" name="Date Placeholder 2"/>
          <p:cNvSpPr>
            <a:spLocks noGrp="1"/>
          </p:cNvSpPr>
          <p:nvPr>
            <p:ph type="dt" sz="half" idx="10"/>
          </p:nvPr>
        </p:nvSpPr>
        <p:spPr/>
        <p:txBody>
          <a:bodyPr/>
          <a:lstStyle/>
          <a:p>
            <a:fld id="{618D577F-123F-4A8F-97D8-4F49A2FC454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5</a:t>
            </a:r>
            <a:r>
              <a:rPr lang="en-PH" b="1" dirty="0" smtClean="0"/>
              <a:t>. The VARIANCE</a:t>
            </a:r>
            <a:r>
              <a:rPr lang="en-PH" dirty="0" smtClean="0"/>
              <a:t>. </a:t>
            </a:r>
            <a:endParaRPr lang="en-PH" dirty="0"/>
          </a:p>
        </p:txBody>
      </p:sp>
      <p:sp>
        <p:nvSpPr>
          <p:cNvPr id="3" name="Content Placeholder 2"/>
          <p:cNvSpPr>
            <a:spLocks noGrp="1"/>
          </p:cNvSpPr>
          <p:nvPr>
            <p:ph idx="1"/>
          </p:nvPr>
        </p:nvSpPr>
        <p:spPr>
          <a:xfrm>
            <a:off x="866441" y="2489200"/>
            <a:ext cx="7363159" cy="3530600"/>
          </a:xfrm>
        </p:spPr>
        <p:txBody>
          <a:bodyPr>
            <a:normAutofit fontScale="92500"/>
          </a:bodyPr>
          <a:lstStyle/>
          <a:p>
            <a:r>
              <a:rPr lang="en-PH" sz="4400" dirty="0" smtClean="0"/>
              <a:t>The square of the standard deviation is the variance.</a:t>
            </a:r>
          </a:p>
          <a:p>
            <a:pPr>
              <a:buNone/>
            </a:pPr>
            <a:r>
              <a:rPr lang="en-PH" sz="4400" dirty="0" smtClean="0"/>
              <a:t>Q: What is the variance of the data with a standard deviation of 6?</a:t>
            </a:r>
          </a:p>
        </p:txBody>
      </p:sp>
      <p:sp>
        <p:nvSpPr>
          <p:cNvPr id="4" name="Date Placeholder 3"/>
          <p:cNvSpPr>
            <a:spLocks noGrp="1"/>
          </p:cNvSpPr>
          <p:nvPr>
            <p:ph type="dt" sz="half" idx="10"/>
          </p:nvPr>
        </p:nvSpPr>
        <p:spPr/>
        <p:txBody>
          <a:bodyPr/>
          <a:lstStyle/>
          <a:p>
            <a:fld id="{85085E71-3F49-4D9C-ADFD-98140CD20A5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vaariance.jpg"/>
          <p:cNvPicPr>
            <a:picLocks noGrp="1" noChangeAspect="1"/>
          </p:cNvPicPr>
          <p:nvPr>
            <p:ph idx="1"/>
          </p:nvPr>
        </p:nvPicPr>
        <p:blipFill>
          <a:blip r:embed="rId2" cstate="print"/>
          <a:stretch>
            <a:fillRect/>
          </a:stretch>
        </p:blipFill>
        <p:spPr>
          <a:xfrm>
            <a:off x="2667000" y="1905000"/>
            <a:ext cx="4876800" cy="3276600"/>
          </a:xfrm>
        </p:spPr>
      </p:pic>
      <p:sp>
        <p:nvSpPr>
          <p:cNvPr id="3" name="Date Placeholder 2"/>
          <p:cNvSpPr>
            <a:spLocks noGrp="1"/>
          </p:cNvSpPr>
          <p:nvPr>
            <p:ph type="dt" sz="half" idx="10"/>
          </p:nvPr>
        </p:nvSpPr>
        <p:spPr/>
        <p:txBody>
          <a:bodyPr/>
          <a:lstStyle/>
          <a:p>
            <a:fld id="{D9DC2BCF-72E6-4CE2-A6E2-898B00972E5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88867561"/>
              </p:ext>
            </p:extLst>
          </p:nvPr>
        </p:nvGraphicFramePr>
        <p:xfrm>
          <a:off x="1981200" y="2362201"/>
          <a:ext cx="5785228" cy="4206948"/>
        </p:xfrm>
        <a:graphic>
          <a:graphicData uri="http://schemas.openxmlformats.org/drawingml/2006/table">
            <a:tbl>
              <a:tblPr firstRow="1" bandRow="1">
                <a:tableStyleId>{5C22544A-7EE6-4342-B048-85BDC9FD1C3A}</a:tableStyleId>
              </a:tblPr>
              <a:tblGrid>
                <a:gridCol w="2895600"/>
                <a:gridCol w="2889628"/>
              </a:tblGrid>
              <a:tr h="466275">
                <a:tc>
                  <a:txBody>
                    <a:bodyPr/>
                    <a:lstStyle/>
                    <a:p>
                      <a:pPr algn="ctr"/>
                      <a:r>
                        <a:rPr lang="en-PH" dirty="0" smtClean="0"/>
                        <a:t>Standard deviation</a:t>
                      </a:r>
                      <a:endParaRPr lang="en-PH" dirty="0"/>
                    </a:p>
                  </a:txBody>
                  <a:tcPr/>
                </a:tc>
                <a:tc>
                  <a:txBody>
                    <a:bodyPr/>
                    <a:lstStyle/>
                    <a:p>
                      <a:pPr algn="ctr"/>
                      <a:r>
                        <a:rPr lang="en-PH" dirty="0" smtClean="0"/>
                        <a:t>Variance</a:t>
                      </a:r>
                      <a:endParaRPr lang="en-PH" dirty="0"/>
                    </a:p>
                  </a:txBody>
                  <a:tcPr/>
                </a:tc>
              </a:tr>
              <a:tr h="678688">
                <a:tc>
                  <a:txBody>
                    <a:bodyPr/>
                    <a:lstStyle/>
                    <a:p>
                      <a:pPr algn="ctr"/>
                      <a:r>
                        <a:rPr lang="en-PH" sz="3200" b="1" dirty="0" smtClean="0"/>
                        <a:t> 10</a:t>
                      </a:r>
                      <a:endParaRPr lang="en-PH" sz="3200" b="1" dirty="0"/>
                    </a:p>
                  </a:txBody>
                  <a:tcPr/>
                </a:tc>
                <a:tc>
                  <a:txBody>
                    <a:bodyPr/>
                    <a:lstStyle/>
                    <a:p>
                      <a:pPr algn="ctr"/>
                      <a:r>
                        <a:rPr lang="en-PH" sz="3200" b="1" dirty="0" smtClean="0"/>
                        <a:t>100</a:t>
                      </a:r>
                      <a:endParaRPr lang="en-PH" sz="3200" b="1" dirty="0"/>
                    </a:p>
                  </a:txBody>
                  <a:tcPr/>
                </a:tc>
              </a:tr>
              <a:tr h="612397">
                <a:tc>
                  <a:txBody>
                    <a:bodyPr/>
                    <a:lstStyle/>
                    <a:p>
                      <a:pPr algn="ctr"/>
                      <a:r>
                        <a:rPr lang="en-PH" sz="3200" b="1" dirty="0" smtClean="0"/>
                        <a:t>6</a:t>
                      </a:r>
                      <a:endParaRPr lang="en-PH" sz="3200" b="1" dirty="0"/>
                    </a:p>
                  </a:txBody>
                  <a:tcPr/>
                </a:tc>
                <a:tc>
                  <a:txBody>
                    <a:bodyPr/>
                    <a:lstStyle/>
                    <a:p>
                      <a:pPr algn="ctr"/>
                      <a:endParaRPr lang="en-PH" sz="3200" b="1"/>
                    </a:p>
                  </a:txBody>
                  <a:tcPr/>
                </a:tc>
              </a:tr>
              <a:tr h="612397">
                <a:tc>
                  <a:txBody>
                    <a:bodyPr/>
                    <a:lstStyle/>
                    <a:p>
                      <a:pPr algn="ctr"/>
                      <a:endParaRPr lang="en-PH" sz="3200" b="1" dirty="0"/>
                    </a:p>
                  </a:txBody>
                  <a:tcPr/>
                </a:tc>
                <a:tc>
                  <a:txBody>
                    <a:bodyPr/>
                    <a:lstStyle/>
                    <a:p>
                      <a:pPr algn="ctr"/>
                      <a:r>
                        <a:rPr lang="en-PH" sz="3200" b="1" dirty="0" smtClean="0"/>
                        <a:t>49</a:t>
                      </a:r>
                      <a:endParaRPr lang="en-PH" sz="3200" b="1" dirty="0"/>
                    </a:p>
                  </a:txBody>
                  <a:tcPr/>
                </a:tc>
              </a:tr>
              <a:tr h="612397">
                <a:tc>
                  <a:txBody>
                    <a:bodyPr/>
                    <a:lstStyle/>
                    <a:p>
                      <a:pPr algn="ctr"/>
                      <a:endParaRPr lang="en-PH" sz="3200" b="1" dirty="0"/>
                    </a:p>
                  </a:txBody>
                  <a:tcPr/>
                </a:tc>
                <a:tc>
                  <a:txBody>
                    <a:bodyPr/>
                    <a:lstStyle/>
                    <a:p>
                      <a:pPr algn="ctr"/>
                      <a:r>
                        <a:rPr lang="en-PH" sz="3200" b="1" dirty="0" smtClean="0"/>
                        <a:t>25</a:t>
                      </a:r>
                      <a:endParaRPr lang="en-PH" sz="3200" b="1" dirty="0"/>
                    </a:p>
                  </a:txBody>
                  <a:tcPr/>
                </a:tc>
              </a:tr>
              <a:tr h="612397">
                <a:tc>
                  <a:txBody>
                    <a:bodyPr/>
                    <a:lstStyle/>
                    <a:p>
                      <a:pPr algn="ctr"/>
                      <a:r>
                        <a:rPr lang="en-PH" sz="3200" b="1" dirty="0" smtClean="0"/>
                        <a:t>11</a:t>
                      </a:r>
                      <a:endParaRPr lang="en-PH" sz="3200" b="1" dirty="0"/>
                    </a:p>
                  </a:txBody>
                  <a:tcPr/>
                </a:tc>
                <a:tc>
                  <a:txBody>
                    <a:bodyPr/>
                    <a:lstStyle/>
                    <a:p>
                      <a:pPr algn="ctr"/>
                      <a:endParaRPr lang="en-PH" sz="3200" b="1" dirty="0"/>
                    </a:p>
                  </a:txBody>
                  <a:tcPr/>
                </a:tc>
              </a:tr>
              <a:tr h="612397">
                <a:tc>
                  <a:txBody>
                    <a:bodyPr/>
                    <a:lstStyle/>
                    <a:p>
                      <a:pPr algn="ctr"/>
                      <a:r>
                        <a:rPr lang="en-PH" sz="3200" b="1" dirty="0" smtClean="0"/>
                        <a:t>9</a:t>
                      </a:r>
                      <a:endParaRPr lang="en-PH" sz="3200" b="1" dirty="0"/>
                    </a:p>
                  </a:txBody>
                  <a:tcPr/>
                </a:tc>
                <a:tc>
                  <a:txBody>
                    <a:bodyPr/>
                    <a:lstStyle/>
                    <a:p>
                      <a:pPr algn="ctr"/>
                      <a:endParaRPr lang="en-PH" sz="3200" b="1" dirty="0"/>
                    </a:p>
                  </a:txBody>
                  <a:tcPr/>
                </a:tc>
              </a:tr>
            </a:tbl>
          </a:graphicData>
        </a:graphic>
      </p:graphicFrame>
      <p:sp>
        <p:nvSpPr>
          <p:cNvPr id="3" name="Date Placeholder 2"/>
          <p:cNvSpPr>
            <a:spLocks noGrp="1"/>
          </p:cNvSpPr>
          <p:nvPr>
            <p:ph type="dt" sz="half" idx="10"/>
          </p:nvPr>
        </p:nvSpPr>
        <p:spPr/>
        <p:txBody>
          <a:bodyPr/>
          <a:lstStyle/>
          <a:p>
            <a:fld id="{6868C571-95E8-475A-A1E7-AD947877E834}"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609600" y="2209800"/>
            <a:ext cx="8153399" cy="3810000"/>
          </a:xfrm>
        </p:spPr>
        <p:txBody>
          <a:bodyPr>
            <a:noAutofit/>
          </a:bodyPr>
          <a:lstStyle/>
          <a:p>
            <a:pPr>
              <a:buNone/>
            </a:pPr>
            <a:r>
              <a:rPr lang="en-PH" sz="2800" b="1" dirty="0" smtClean="0"/>
              <a:t>If 5 points are added to every score in the distribution, how would change the:</a:t>
            </a:r>
          </a:p>
          <a:p>
            <a:pPr>
              <a:buNone/>
            </a:pPr>
            <a:r>
              <a:rPr lang="en-PH" sz="2800" b="1" dirty="0" smtClean="0"/>
              <a:t>		1. Mean</a:t>
            </a:r>
          </a:p>
          <a:p>
            <a:pPr>
              <a:buNone/>
            </a:pPr>
            <a:r>
              <a:rPr lang="en-PH" sz="2800" b="1" dirty="0" smtClean="0"/>
              <a:t>		2, Median</a:t>
            </a:r>
          </a:p>
          <a:p>
            <a:pPr>
              <a:buNone/>
            </a:pPr>
            <a:r>
              <a:rPr lang="en-PH" sz="2800" b="1" dirty="0" smtClean="0"/>
              <a:t>		3. Mode</a:t>
            </a:r>
          </a:p>
          <a:p>
            <a:pPr>
              <a:buNone/>
            </a:pPr>
            <a:r>
              <a:rPr lang="en-PH" sz="2800" b="1" dirty="0" smtClean="0"/>
              <a:t>		4. Range</a:t>
            </a:r>
          </a:p>
          <a:p>
            <a:pPr>
              <a:buNone/>
            </a:pPr>
            <a:r>
              <a:rPr lang="en-PH" sz="2800" b="1" dirty="0" smtClean="0"/>
              <a:t>		5. Standard Deviation</a:t>
            </a:r>
          </a:p>
          <a:p>
            <a:endParaRPr lang="en-PH" sz="2800" b="1" dirty="0"/>
          </a:p>
        </p:txBody>
      </p:sp>
      <p:sp>
        <p:nvSpPr>
          <p:cNvPr id="4" name="Date Placeholder 3"/>
          <p:cNvSpPr>
            <a:spLocks noGrp="1"/>
          </p:cNvSpPr>
          <p:nvPr>
            <p:ph type="dt" sz="half" idx="10"/>
          </p:nvPr>
        </p:nvSpPr>
        <p:spPr/>
        <p:txBody>
          <a:bodyPr/>
          <a:lstStyle/>
          <a:p>
            <a:fld id="{4580DA3D-C2D4-4152-9184-6FDFEE645382}"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b="1" dirty="0" smtClean="0"/>
              <a:t>THE NORMAL DISTRIBUTION</a:t>
            </a:r>
            <a:endParaRPr lang="en-PH" b="1" dirty="0"/>
          </a:p>
        </p:txBody>
      </p:sp>
      <p:sp>
        <p:nvSpPr>
          <p:cNvPr id="3" name="Content Placeholder 2"/>
          <p:cNvSpPr>
            <a:spLocks noGrp="1"/>
          </p:cNvSpPr>
          <p:nvPr>
            <p:ph idx="1"/>
          </p:nvPr>
        </p:nvSpPr>
        <p:spPr>
          <a:xfrm>
            <a:off x="866441" y="2489200"/>
            <a:ext cx="7591759" cy="3530600"/>
          </a:xfrm>
        </p:spPr>
        <p:txBody>
          <a:bodyPr>
            <a:normAutofit/>
          </a:bodyPr>
          <a:lstStyle/>
          <a:p>
            <a:pPr algn="just">
              <a:buNone/>
            </a:pPr>
            <a:r>
              <a:rPr lang="en-PH" sz="3600" b="1" dirty="0" smtClean="0"/>
              <a:t>An assumption that most of the members of the population are average. The normal distribution is represented by the normal curve, a bell-shaped figure.</a:t>
            </a:r>
            <a:endParaRPr lang="en-PH" sz="3600" b="1" dirty="0"/>
          </a:p>
        </p:txBody>
      </p:sp>
      <p:sp>
        <p:nvSpPr>
          <p:cNvPr id="4" name="Date Placeholder 3"/>
          <p:cNvSpPr>
            <a:spLocks noGrp="1"/>
          </p:cNvSpPr>
          <p:nvPr>
            <p:ph type="dt" sz="half" idx="10"/>
          </p:nvPr>
        </p:nvSpPr>
        <p:spPr/>
        <p:txBody>
          <a:bodyPr/>
          <a:lstStyle/>
          <a:p>
            <a:fld id="{717F366D-CFFF-4E06-AFF9-A6E2AB5DE51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b="1" dirty="0" smtClean="0"/>
              <a:t>PROPERTIES OF NORMAL CURVE</a:t>
            </a:r>
            <a:endParaRPr lang="en-PH" b="1" dirty="0"/>
          </a:p>
        </p:txBody>
      </p:sp>
      <p:sp>
        <p:nvSpPr>
          <p:cNvPr id="3" name="Content Placeholder 2"/>
          <p:cNvSpPr>
            <a:spLocks noGrp="1"/>
          </p:cNvSpPr>
          <p:nvPr>
            <p:ph idx="1"/>
          </p:nvPr>
        </p:nvSpPr>
        <p:spPr>
          <a:xfrm>
            <a:off x="866441" y="2489200"/>
            <a:ext cx="7363159" cy="3530600"/>
          </a:xfrm>
        </p:spPr>
        <p:txBody>
          <a:bodyPr>
            <a:normAutofit fontScale="92500" lnSpcReduction="10000"/>
          </a:bodyPr>
          <a:lstStyle/>
          <a:p>
            <a:pPr marL="550926" indent="-514350" algn="just">
              <a:buAutoNum type="arabicPeriod"/>
            </a:pPr>
            <a:r>
              <a:rPr lang="en-PH" sz="3600" b="1" dirty="0" smtClean="0"/>
              <a:t>The curve is symmetrical and bell-shaped.</a:t>
            </a:r>
          </a:p>
          <a:p>
            <a:pPr marL="550926" indent="-514350" algn="just">
              <a:buAutoNum type="arabicPeriod"/>
            </a:pPr>
            <a:r>
              <a:rPr lang="en-PH" sz="3600" b="1" dirty="0" smtClean="0"/>
              <a:t>The number of cases, N, is infinite.</a:t>
            </a:r>
          </a:p>
          <a:p>
            <a:pPr marL="550926" indent="-514350" algn="just">
              <a:buAutoNum type="arabicPeriod"/>
            </a:pPr>
            <a:r>
              <a:rPr lang="en-PH" sz="3600" b="1" dirty="0" smtClean="0"/>
              <a:t>The three measures of central tendency, mean, median and mode coincide at one point</a:t>
            </a:r>
            <a:r>
              <a:rPr lang="en-PH" sz="3600" dirty="0" smtClean="0"/>
              <a:t>.</a:t>
            </a:r>
            <a:endParaRPr lang="en-PH" sz="3600" dirty="0"/>
          </a:p>
        </p:txBody>
      </p:sp>
      <p:sp>
        <p:nvSpPr>
          <p:cNvPr id="4" name="Date Placeholder 3"/>
          <p:cNvSpPr>
            <a:spLocks noGrp="1"/>
          </p:cNvSpPr>
          <p:nvPr>
            <p:ph type="dt" sz="half" idx="10"/>
          </p:nvPr>
        </p:nvSpPr>
        <p:spPr/>
        <p:txBody>
          <a:bodyPr/>
          <a:lstStyle/>
          <a:p>
            <a:fld id="{88348D1C-F12E-4414-A0E5-5485CB0FFA8B}"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33400" y="2286000"/>
            <a:ext cx="7591759" cy="3530600"/>
          </a:xfrm>
        </p:spPr>
        <p:txBody>
          <a:bodyPr>
            <a:normAutofit fontScale="85000" lnSpcReduction="20000"/>
          </a:bodyPr>
          <a:lstStyle/>
          <a:p>
            <a:pPr algn="just">
              <a:buNone/>
            </a:pPr>
            <a:r>
              <a:rPr lang="en-PH" dirty="0" smtClean="0"/>
              <a:t>4</a:t>
            </a:r>
            <a:r>
              <a:rPr lang="en-PH" sz="3600" dirty="0" smtClean="0"/>
              <a:t>. </a:t>
            </a:r>
            <a:r>
              <a:rPr lang="en-PH" sz="3900" b="1" dirty="0" smtClean="0"/>
              <a:t>The height of the curve indicates the frequency of cases expressed as probability, proportion or percentage.</a:t>
            </a:r>
          </a:p>
          <a:p>
            <a:pPr algn="just">
              <a:buNone/>
            </a:pPr>
            <a:r>
              <a:rPr lang="en-PH" sz="3900" b="1" dirty="0" smtClean="0"/>
              <a:t>5. The basic unit of measurement is expressed in sigma units or standard deviations along the baseline</a:t>
            </a:r>
            <a:endParaRPr lang="en-PH" sz="3900" b="1" dirty="0"/>
          </a:p>
        </p:txBody>
      </p:sp>
      <p:sp>
        <p:nvSpPr>
          <p:cNvPr id="4" name="Date Placeholder 3"/>
          <p:cNvSpPr>
            <a:spLocks noGrp="1"/>
          </p:cNvSpPr>
          <p:nvPr>
            <p:ph type="dt" sz="half" idx="10"/>
          </p:nvPr>
        </p:nvSpPr>
        <p:spPr/>
        <p:txBody>
          <a:bodyPr/>
          <a:lstStyle/>
          <a:p>
            <a:fld id="{8C583CC3-BC6E-46BD-9260-10DF2F16919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685801" y="2286000"/>
            <a:ext cx="7543800" cy="3733800"/>
          </a:xfrm>
        </p:spPr>
        <p:txBody>
          <a:bodyPr/>
          <a:lstStyle/>
          <a:p>
            <a:pPr algn="just">
              <a:buNone/>
            </a:pPr>
            <a:r>
              <a:rPr lang="en-PH" dirty="0" smtClean="0"/>
              <a:t>6. </a:t>
            </a:r>
            <a:r>
              <a:rPr lang="en-PH" sz="3200" b="1" dirty="0" smtClean="0"/>
              <a:t>Two parameters are used to describe the curve.</a:t>
            </a:r>
          </a:p>
          <a:p>
            <a:pPr algn="just">
              <a:buNone/>
            </a:pPr>
            <a:r>
              <a:rPr lang="en-PH" sz="3200" b="1" dirty="0" smtClean="0"/>
              <a:t>7. There are three standard deviation units to the left and to the rights of the curve before the tail appear to touch the baseline.</a:t>
            </a:r>
          </a:p>
          <a:p>
            <a:endParaRPr lang="en-PH" sz="3200" b="1" dirty="0"/>
          </a:p>
        </p:txBody>
      </p:sp>
      <p:sp>
        <p:nvSpPr>
          <p:cNvPr id="4" name="Date Placeholder 3"/>
          <p:cNvSpPr>
            <a:spLocks noGrp="1"/>
          </p:cNvSpPr>
          <p:nvPr>
            <p:ph type="dt" sz="half" idx="10"/>
          </p:nvPr>
        </p:nvSpPr>
        <p:spPr/>
        <p:txBody>
          <a:bodyPr/>
          <a:lstStyle/>
          <a:p>
            <a:fld id="{0F29E215-1DEB-4A72-A09C-958139CD738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109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normal.jpg"/>
          <p:cNvPicPr>
            <a:picLocks noGrp="1" noChangeAspect="1"/>
          </p:cNvPicPr>
          <p:nvPr>
            <p:ph idx="1"/>
          </p:nvPr>
        </p:nvPicPr>
        <p:blipFill>
          <a:blip r:embed="rId2" cstate="print"/>
          <a:stretch>
            <a:fillRect/>
          </a:stretch>
        </p:blipFill>
        <p:spPr>
          <a:xfrm>
            <a:off x="990600" y="1676400"/>
            <a:ext cx="7696200" cy="4267199"/>
          </a:xfrm>
        </p:spPr>
      </p:pic>
      <p:sp>
        <p:nvSpPr>
          <p:cNvPr id="3" name="Date Placeholder 2"/>
          <p:cNvSpPr>
            <a:spLocks noGrp="1"/>
          </p:cNvSpPr>
          <p:nvPr>
            <p:ph type="dt" sz="half" idx="10"/>
          </p:nvPr>
        </p:nvSpPr>
        <p:spPr/>
        <p:txBody>
          <a:bodyPr/>
          <a:lstStyle/>
          <a:p>
            <a:fld id="{01DB9645-F48B-4682-86D7-95D0673B7BA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normal curve.jpg"/>
          <p:cNvPicPr>
            <a:picLocks noGrp="1" noChangeAspect="1"/>
          </p:cNvPicPr>
          <p:nvPr>
            <p:ph idx="1"/>
          </p:nvPr>
        </p:nvPicPr>
        <p:blipFill>
          <a:blip r:embed="rId2" cstate="print"/>
          <a:stretch>
            <a:fillRect/>
          </a:stretch>
        </p:blipFill>
        <p:spPr>
          <a:xfrm>
            <a:off x="1524000" y="1905000"/>
            <a:ext cx="6096000" cy="4038600"/>
          </a:xfrm>
        </p:spPr>
      </p:pic>
      <p:sp>
        <p:nvSpPr>
          <p:cNvPr id="3" name="Date Placeholder 2"/>
          <p:cNvSpPr>
            <a:spLocks noGrp="1"/>
          </p:cNvSpPr>
          <p:nvPr>
            <p:ph type="dt" sz="half" idx="10"/>
          </p:nvPr>
        </p:nvSpPr>
        <p:spPr/>
        <p:txBody>
          <a:bodyPr/>
          <a:lstStyle/>
          <a:p>
            <a:fld id="{6ADDB5FB-F341-4145-A6CF-778343DD8FF1}"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normal dis.jpg"/>
          <p:cNvPicPr>
            <a:picLocks noGrp="1" noChangeAspect="1"/>
          </p:cNvPicPr>
          <p:nvPr>
            <p:ph idx="1"/>
          </p:nvPr>
        </p:nvPicPr>
        <p:blipFill>
          <a:blip r:embed="rId2" cstate="print"/>
          <a:stretch>
            <a:fillRect/>
          </a:stretch>
        </p:blipFill>
        <p:spPr>
          <a:xfrm>
            <a:off x="1752600" y="1676400"/>
            <a:ext cx="6477000" cy="4114800"/>
          </a:xfrm>
        </p:spPr>
      </p:pic>
      <p:sp>
        <p:nvSpPr>
          <p:cNvPr id="3" name="Date Placeholder 2"/>
          <p:cNvSpPr>
            <a:spLocks noGrp="1"/>
          </p:cNvSpPr>
          <p:nvPr>
            <p:ph type="dt" sz="half" idx="10"/>
          </p:nvPr>
        </p:nvSpPr>
        <p:spPr/>
        <p:txBody>
          <a:bodyPr/>
          <a:lstStyle/>
          <a:p>
            <a:fld id="{27E34159-C88A-4479-9102-FF7A345F164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Normal D.jpg"/>
          <p:cNvPicPr>
            <a:picLocks noGrp="1" noChangeAspect="1"/>
          </p:cNvPicPr>
          <p:nvPr>
            <p:ph idx="1"/>
          </p:nvPr>
        </p:nvPicPr>
        <p:blipFill>
          <a:blip r:embed="rId2" cstate="print"/>
          <a:stretch>
            <a:fillRect/>
          </a:stretch>
        </p:blipFill>
        <p:spPr>
          <a:xfrm>
            <a:off x="1981200" y="2286000"/>
            <a:ext cx="6096000" cy="3276600"/>
          </a:xfrm>
        </p:spPr>
      </p:pic>
      <p:sp>
        <p:nvSpPr>
          <p:cNvPr id="3" name="Date Placeholder 2"/>
          <p:cNvSpPr>
            <a:spLocks noGrp="1"/>
          </p:cNvSpPr>
          <p:nvPr>
            <p:ph type="dt" sz="half" idx="10"/>
          </p:nvPr>
        </p:nvSpPr>
        <p:spPr/>
        <p:txBody>
          <a:bodyPr/>
          <a:lstStyle/>
          <a:p>
            <a:fld id="{F81B017E-F9F4-4490-BE16-C0DB145A3A09}"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515559" cy="3530600"/>
          </a:xfrm>
        </p:spPr>
        <p:txBody>
          <a:bodyPr>
            <a:normAutofit lnSpcReduction="10000"/>
          </a:bodyPr>
          <a:lstStyle/>
          <a:p>
            <a:pPr algn="just">
              <a:buNone/>
            </a:pPr>
            <a:r>
              <a:rPr lang="en-PH" sz="4000" dirty="0" smtClean="0"/>
              <a:t>1. </a:t>
            </a:r>
            <a:r>
              <a:rPr lang="en-PH" sz="4000" b="1" dirty="0" smtClean="0"/>
              <a:t>A distribution has a mean of 50 and standard deviation of 5. What do you expect to be the highest score assuming normality of the distribution</a:t>
            </a:r>
            <a:r>
              <a:rPr lang="en-PH" sz="4000" dirty="0" smtClean="0"/>
              <a:t>?</a:t>
            </a:r>
            <a:endParaRPr lang="en-PH" sz="4000" dirty="0"/>
          </a:p>
        </p:txBody>
      </p:sp>
      <p:sp>
        <p:nvSpPr>
          <p:cNvPr id="4" name="Date Placeholder 3"/>
          <p:cNvSpPr>
            <a:spLocks noGrp="1"/>
          </p:cNvSpPr>
          <p:nvPr>
            <p:ph type="dt" sz="half" idx="10"/>
          </p:nvPr>
        </p:nvSpPr>
        <p:spPr/>
        <p:txBody>
          <a:bodyPr/>
          <a:lstStyle/>
          <a:p>
            <a:fld id="{8C8DCFCA-8153-4058-866E-68F37F1872FE}"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685801" y="2489200"/>
            <a:ext cx="7315200" cy="3530600"/>
          </a:xfrm>
        </p:spPr>
        <p:txBody>
          <a:bodyPr>
            <a:noAutofit/>
          </a:bodyPr>
          <a:lstStyle/>
          <a:p>
            <a:r>
              <a:rPr lang="en-PH" sz="3200" b="1" dirty="0" smtClean="0"/>
              <a:t>In a test, the mean of the class is 85 and the standard deviation is 10. Assuming normal distribution,</a:t>
            </a:r>
          </a:p>
          <a:p>
            <a:r>
              <a:rPr lang="en-PH" sz="3200" b="1" dirty="0" smtClean="0"/>
              <a:t>A. What is the highest score?</a:t>
            </a:r>
          </a:p>
          <a:p>
            <a:r>
              <a:rPr lang="en-PH" sz="3200" b="1" dirty="0" smtClean="0"/>
              <a:t>B. What is lowest score?</a:t>
            </a:r>
          </a:p>
          <a:p>
            <a:r>
              <a:rPr lang="en-PH" sz="3200" b="1" dirty="0" smtClean="0"/>
              <a:t>C. What are the scores of the average students?</a:t>
            </a:r>
            <a:endParaRPr lang="en-PH" sz="3200" b="1" dirty="0"/>
          </a:p>
        </p:txBody>
      </p:sp>
      <p:sp>
        <p:nvSpPr>
          <p:cNvPr id="4" name="Date Placeholder 3"/>
          <p:cNvSpPr>
            <a:spLocks noGrp="1"/>
          </p:cNvSpPr>
          <p:nvPr>
            <p:ph type="dt" sz="half" idx="10"/>
          </p:nvPr>
        </p:nvSpPr>
        <p:spPr/>
        <p:txBody>
          <a:bodyPr/>
          <a:lstStyle/>
          <a:p>
            <a:fld id="{B60E2ABA-1DEE-4F48-9A85-F892AEEFD92C}"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209800"/>
            <a:ext cx="7744159" cy="3810000"/>
          </a:xfrm>
        </p:spPr>
        <p:txBody>
          <a:bodyPr>
            <a:noAutofit/>
          </a:bodyPr>
          <a:lstStyle/>
          <a:p>
            <a:r>
              <a:rPr lang="en-PH" sz="2800" b="1" dirty="0" smtClean="0"/>
              <a:t>3. </a:t>
            </a:r>
            <a:r>
              <a:rPr lang="en-PH" sz="3200" b="1" dirty="0" smtClean="0"/>
              <a:t>A test has produced a group mean of 50 and standard deviation of 7. What adjectival rating would you give to a student with a score of 48?</a:t>
            </a:r>
          </a:p>
          <a:p>
            <a:r>
              <a:rPr lang="en-PH" sz="3200" b="1" dirty="0" smtClean="0"/>
              <a:t>A. Average		C. below Average</a:t>
            </a:r>
          </a:p>
          <a:p>
            <a:r>
              <a:rPr lang="en-PH" sz="3200" b="1" dirty="0" smtClean="0"/>
              <a:t>B. Above Average	D. Poor</a:t>
            </a:r>
            <a:endParaRPr lang="en-PH" sz="3200" b="1" dirty="0"/>
          </a:p>
        </p:txBody>
      </p:sp>
      <p:sp>
        <p:nvSpPr>
          <p:cNvPr id="4" name="Date Placeholder 3"/>
          <p:cNvSpPr>
            <a:spLocks noGrp="1"/>
          </p:cNvSpPr>
          <p:nvPr>
            <p:ph type="dt" sz="half" idx="10"/>
          </p:nvPr>
        </p:nvSpPr>
        <p:spPr/>
        <p:txBody>
          <a:bodyPr/>
          <a:lstStyle/>
          <a:p>
            <a:fld id="{D7D74F4D-7E11-4F34-A376-B96D9FDD1F3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4000" b="1" dirty="0" smtClean="0"/>
              <a:t>The Standard Scores</a:t>
            </a:r>
            <a:endParaRPr lang="en-PH" sz="4000" b="1" dirty="0"/>
          </a:p>
        </p:txBody>
      </p:sp>
      <p:sp>
        <p:nvSpPr>
          <p:cNvPr id="3" name="Content Placeholder 2"/>
          <p:cNvSpPr>
            <a:spLocks noGrp="1"/>
          </p:cNvSpPr>
          <p:nvPr>
            <p:ph idx="1"/>
          </p:nvPr>
        </p:nvSpPr>
        <p:spPr>
          <a:xfrm>
            <a:off x="609601" y="2489200"/>
            <a:ext cx="8382000" cy="3530600"/>
          </a:xfrm>
        </p:spPr>
        <p:txBody>
          <a:bodyPr>
            <a:normAutofit fontScale="85000" lnSpcReduction="10000"/>
          </a:bodyPr>
          <a:lstStyle/>
          <a:p>
            <a:r>
              <a:rPr lang="en-PH" sz="4000" b="1" dirty="0" smtClean="0"/>
              <a:t>The standard scores are transformed raw scores.</a:t>
            </a:r>
          </a:p>
          <a:p>
            <a:r>
              <a:rPr lang="en-PH" sz="4000" b="1" dirty="0" smtClean="0"/>
              <a:t> Because they are transformed scores, they can be compared even though they come from different sources, subjects or even from test with different number of items.</a:t>
            </a:r>
            <a:endParaRPr lang="en-PH" sz="4000" b="1" dirty="0"/>
          </a:p>
        </p:txBody>
      </p:sp>
      <p:sp>
        <p:nvSpPr>
          <p:cNvPr id="4" name="Date Placeholder 3"/>
          <p:cNvSpPr>
            <a:spLocks noGrp="1"/>
          </p:cNvSpPr>
          <p:nvPr>
            <p:ph type="dt" sz="half" idx="10"/>
          </p:nvPr>
        </p:nvSpPr>
        <p:spPr/>
        <p:txBody>
          <a:bodyPr/>
          <a:lstStyle/>
          <a:p>
            <a:fld id="{2C7EE98D-B844-4917-9837-4A8D39A3C60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a:bodyPr>
          <a:lstStyle/>
          <a:p>
            <a:pPr algn="ctr">
              <a:buNone/>
            </a:pPr>
            <a:r>
              <a:rPr lang="en-PH" sz="4800" dirty="0" smtClean="0"/>
              <a:t>Z  =   </a:t>
            </a:r>
            <a:r>
              <a:rPr lang="en-PH" sz="4800" u="sng" dirty="0" smtClean="0"/>
              <a:t>score  -  mean</a:t>
            </a:r>
          </a:p>
          <a:p>
            <a:pPr algn="ctr">
              <a:buNone/>
            </a:pPr>
            <a:r>
              <a:rPr lang="en-PH" sz="4800" dirty="0" smtClean="0"/>
              <a:t>           standard deviation</a:t>
            </a:r>
          </a:p>
          <a:p>
            <a:pPr algn="ctr">
              <a:buNone/>
            </a:pPr>
            <a:endParaRPr lang="en-PH" sz="4800" dirty="0" smtClean="0"/>
          </a:p>
          <a:p>
            <a:endParaRPr lang="en-PH" sz="4800" dirty="0"/>
          </a:p>
        </p:txBody>
      </p:sp>
      <p:sp>
        <p:nvSpPr>
          <p:cNvPr id="4" name="Date Placeholder 3"/>
          <p:cNvSpPr>
            <a:spLocks noGrp="1"/>
          </p:cNvSpPr>
          <p:nvPr>
            <p:ph type="dt" sz="half" idx="10"/>
          </p:nvPr>
        </p:nvSpPr>
        <p:spPr/>
        <p:txBody>
          <a:bodyPr/>
          <a:lstStyle/>
          <a:p>
            <a:fld id="{50FED10E-C353-44AD-8B57-A5A6ACC37A6B}"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5" name="Content Placeholder 4"/>
          <p:cNvGraphicFramePr>
            <a:graphicFrameLocks noGrp="1"/>
          </p:cNvGraphicFramePr>
          <p:nvPr>
            <p:ph idx="1"/>
          </p:nvPr>
        </p:nvGraphicFramePr>
        <p:xfrm>
          <a:off x="1219200" y="1447800"/>
          <a:ext cx="7715252" cy="4930140"/>
        </p:xfrm>
        <a:graphic>
          <a:graphicData uri="http://schemas.openxmlformats.org/drawingml/2006/table">
            <a:tbl>
              <a:tblPr firstRow="1" bandRow="1">
                <a:tableStyleId>{5C22544A-7EE6-4342-B048-85BDC9FD1C3A}</a:tableStyleId>
              </a:tblPr>
              <a:tblGrid>
                <a:gridCol w="3124200"/>
                <a:gridCol w="1600200"/>
                <a:gridCol w="1600200"/>
                <a:gridCol w="1390652"/>
              </a:tblGrid>
              <a:tr h="1181100">
                <a:tc>
                  <a:txBody>
                    <a:bodyPr/>
                    <a:lstStyle/>
                    <a:p>
                      <a:endParaRPr lang="en-PH" sz="3200" dirty="0" smtClean="0"/>
                    </a:p>
                    <a:p>
                      <a:r>
                        <a:rPr lang="en-PH" sz="3200" dirty="0" smtClean="0"/>
                        <a:t>SUBJECTS</a:t>
                      </a:r>
                      <a:endParaRPr lang="en-PH" sz="3200" dirty="0"/>
                    </a:p>
                  </a:txBody>
                  <a:tcPr/>
                </a:tc>
                <a:tc>
                  <a:txBody>
                    <a:bodyPr/>
                    <a:lstStyle/>
                    <a:p>
                      <a:r>
                        <a:rPr lang="en-PH" sz="2400" dirty="0" smtClean="0"/>
                        <a:t>SCORES OF JOHN</a:t>
                      </a:r>
                      <a:endParaRPr lang="en-PH" sz="2400" dirty="0"/>
                    </a:p>
                  </a:txBody>
                  <a:tcPr/>
                </a:tc>
                <a:tc>
                  <a:txBody>
                    <a:bodyPr/>
                    <a:lstStyle/>
                    <a:p>
                      <a:r>
                        <a:rPr lang="en-PH" sz="2000" dirty="0" smtClean="0"/>
                        <a:t>MEAN OF THE CLASS</a:t>
                      </a:r>
                      <a:endParaRPr lang="en-PH" sz="2000" dirty="0"/>
                    </a:p>
                  </a:txBody>
                  <a:tcPr/>
                </a:tc>
                <a:tc>
                  <a:txBody>
                    <a:bodyPr/>
                    <a:lstStyle/>
                    <a:p>
                      <a:r>
                        <a:rPr lang="en-PH" sz="1600" dirty="0" smtClean="0"/>
                        <a:t>STANDARD</a:t>
                      </a:r>
                      <a:r>
                        <a:rPr lang="en-PH" sz="1600" baseline="0" dirty="0" smtClean="0"/>
                        <a:t> </a:t>
                      </a:r>
                    </a:p>
                    <a:p>
                      <a:r>
                        <a:rPr lang="en-PH" sz="1600" baseline="0" dirty="0" smtClean="0"/>
                        <a:t>DEVIATION</a:t>
                      </a:r>
                      <a:endParaRPr lang="en-PH" sz="1600" dirty="0"/>
                    </a:p>
                  </a:txBody>
                  <a:tcPr/>
                </a:tc>
              </a:tr>
              <a:tr h="1181100">
                <a:tc>
                  <a:txBody>
                    <a:bodyPr/>
                    <a:lstStyle/>
                    <a:p>
                      <a:endParaRPr lang="en-PH" sz="3600" dirty="0" smtClean="0"/>
                    </a:p>
                    <a:p>
                      <a:r>
                        <a:rPr lang="en-PH" sz="3600" dirty="0" smtClean="0"/>
                        <a:t>English</a:t>
                      </a:r>
                      <a:endParaRPr lang="en-PH" sz="3600" dirty="0"/>
                    </a:p>
                  </a:txBody>
                  <a:tcPr/>
                </a:tc>
                <a:tc>
                  <a:txBody>
                    <a:bodyPr/>
                    <a:lstStyle/>
                    <a:p>
                      <a:pPr algn="ctr"/>
                      <a:endParaRPr lang="en-PH" sz="2800" dirty="0" smtClean="0"/>
                    </a:p>
                    <a:p>
                      <a:pPr algn="ctr"/>
                      <a:endParaRPr lang="en-PH" sz="2800" dirty="0" smtClean="0"/>
                    </a:p>
                    <a:p>
                      <a:pPr algn="ctr"/>
                      <a:r>
                        <a:rPr lang="en-PH" sz="2800" dirty="0" smtClean="0"/>
                        <a:t>68</a:t>
                      </a:r>
                      <a:endParaRPr lang="en-PH" sz="2800" dirty="0"/>
                    </a:p>
                  </a:txBody>
                  <a:tcPr/>
                </a:tc>
                <a:tc>
                  <a:txBody>
                    <a:bodyPr/>
                    <a:lstStyle/>
                    <a:p>
                      <a:pPr algn="ctr"/>
                      <a:endParaRPr lang="en-PH" sz="2800" dirty="0" smtClean="0"/>
                    </a:p>
                    <a:p>
                      <a:pPr algn="ctr"/>
                      <a:endParaRPr lang="en-PH" sz="2800" dirty="0" smtClean="0"/>
                    </a:p>
                    <a:p>
                      <a:pPr algn="ctr"/>
                      <a:r>
                        <a:rPr lang="en-PH" sz="2800" dirty="0" smtClean="0"/>
                        <a:t>70</a:t>
                      </a:r>
                      <a:endParaRPr lang="en-PH" sz="2800" dirty="0"/>
                    </a:p>
                  </a:txBody>
                  <a:tcPr/>
                </a:tc>
                <a:tc>
                  <a:txBody>
                    <a:bodyPr/>
                    <a:lstStyle/>
                    <a:p>
                      <a:pPr algn="ctr"/>
                      <a:endParaRPr lang="en-PH" sz="2800" dirty="0" smtClean="0"/>
                    </a:p>
                    <a:p>
                      <a:pPr algn="ctr"/>
                      <a:endParaRPr lang="en-PH" sz="2800" dirty="0" smtClean="0"/>
                    </a:p>
                    <a:p>
                      <a:pPr algn="ctr"/>
                      <a:r>
                        <a:rPr lang="en-PH" sz="2800" dirty="0" smtClean="0"/>
                        <a:t>2</a:t>
                      </a:r>
                      <a:endParaRPr lang="en-PH" sz="2800" dirty="0"/>
                    </a:p>
                  </a:txBody>
                  <a:tcPr/>
                </a:tc>
              </a:tr>
              <a:tr h="1181100">
                <a:tc>
                  <a:txBody>
                    <a:bodyPr/>
                    <a:lstStyle/>
                    <a:p>
                      <a:endParaRPr lang="en-PH" sz="3600" dirty="0" smtClean="0"/>
                    </a:p>
                    <a:p>
                      <a:r>
                        <a:rPr lang="en-PH" sz="3600" dirty="0" smtClean="0"/>
                        <a:t>mathematics</a:t>
                      </a:r>
                      <a:endParaRPr lang="en-PH" sz="3600" dirty="0"/>
                    </a:p>
                  </a:txBody>
                  <a:tcPr/>
                </a:tc>
                <a:tc>
                  <a:txBody>
                    <a:bodyPr/>
                    <a:lstStyle/>
                    <a:p>
                      <a:pPr algn="ctr"/>
                      <a:endParaRPr lang="en-PH" sz="2800" dirty="0" smtClean="0"/>
                    </a:p>
                    <a:p>
                      <a:pPr algn="ctr"/>
                      <a:r>
                        <a:rPr lang="en-PH" sz="2800" dirty="0" smtClean="0"/>
                        <a:t>35</a:t>
                      </a:r>
                      <a:endParaRPr lang="en-PH" sz="2800" dirty="0"/>
                    </a:p>
                  </a:txBody>
                  <a:tcPr/>
                </a:tc>
                <a:tc>
                  <a:txBody>
                    <a:bodyPr/>
                    <a:lstStyle/>
                    <a:p>
                      <a:pPr algn="ctr"/>
                      <a:endParaRPr lang="en-PH" sz="2800" dirty="0" smtClean="0"/>
                    </a:p>
                    <a:p>
                      <a:pPr algn="ctr"/>
                      <a:r>
                        <a:rPr lang="en-PH" sz="2800" dirty="0" smtClean="0"/>
                        <a:t>30</a:t>
                      </a:r>
                      <a:endParaRPr lang="en-PH" sz="2800" dirty="0"/>
                    </a:p>
                  </a:txBody>
                  <a:tcPr/>
                </a:tc>
                <a:tc>
                  <a:txBody>
                    <a:bodyPr/>
                    <a:lstStyle/>
                    <a:p>
                      <a:pPr algn="ctr"/>
                      <a:endParaRPr lang="en-PH" sz="2800" dirty="0" smtClean="0"/>
                    </a:p>
                    <a:p>
                      <a:pPr algn="ctr"/>
                      <a:r>
                        <a:rPr lang="en-PH" sz="2800" dirty="0" smtClean="0"/>
                        <a:t>3</a:t>
                      </a:r>
                      <a:endParaRPr lang="en-PH" sz="2800" dirty="0"/>
                    </a:p>
                  </a:txBody>
                  <a:tcPr/>
                </a:tc>
              </a:tr>
              <a:tr h="1181100">
                <a:tc>
                  <a:txBody>
                    <a:bodyPr/>
                    <a:lstStyle/>
                    <a:p>
                      <a:endParaRPr lang="en-PH" sz="3600" dirty="0" smtClean="0"/>
                    </a:p>
                    <a:p>
                      <a:r>
                        <a:rPr lang="en-PH" sz="3600" dirty="0" smtClean="0"/>
                        <a:t>science</a:t>
                      </a:r>
                      <a:endParaRPr lang="en-PH" sz="3600" dirty="0"/>
                    </a:p>
                  </a:txBody>
                  <a:tcPr/>
                </a:tc>
                <a:tc>
                  <a:txBody>
                    <a:bodyPr/>
                    <a:lstStyle/>
                    <a:p>
                      <a:pPr algn="ctr"/>
                      <a:endParaRPr lang="en-PH" sz="2800" dirty="0" smtClean="0"/>
                    </a:p>
                    <a:p>
                      <a:pPr algn="ctr"/>
                      <a:r>
                        <a:rPr lang="en-PH" sz="2800" dirty="0" smtClean="0"/>
                        <a:t>59</a:t>
                      </a:r>
                      <a:endParaRPr lang="en-PH" sz="2800" dirty="0"/>
                    </a:p>
                  </a:txBody>
                  <a:tcPr/>
                </a:tc>
                <a:tc>
                  <a:txBody>
                    <a:bodyPr/>
                    <a:lstStyle/>
                    <a:p>
                      <a:pPr algn="ctr"/>
                      <a:endParaRPr lang="en-PH" sz="2800" dirty="0" smtClean="0"/>
                    </a:p>
                    <a:p>
                      <a:pPr algn="ctr"/>
                      <a:r>
                        <a:rPr lang="en-PH" sz="2800" dirty="0" smtClean="0"/>
                        <a:t>64</a:t>
                      </a:r>
                      <a:endParaRPr lang="en-PH" sz="2800" dirty="0"/>
                    </a:p>
                  </a:txBody>
                  <a:tcPr/>
                </a:tc>
                <a:tc>
                  <a:txBody>
                    <a:bodyPr/>
                    <a:lstStyle/>
                    <a:p>
                      <a:pPr algn="ctr"/>
                      <a:endParaRPr lang="en-PH" sz="2800" dirty="0" smtClean="0"/>
                    </a:p>
                    <a:p>
                      <a:pPr algn="ctr"/>
                      <a:r>
                        <a:rPr lang="en-PH" sz="2800" dirty="0" smtClean="0"/>
                        <a:t>5</a:t>
                      </a:r>
                      <a:endParaRPr lang="en-PH" sz="2800" dirty="0"/>
                    </a:p>
                  </a:txBody>
                  <a:tcPr/>
                </a:tc>
              </a:tr>
            </a:tbl>
          </a:graphicData>
        </a:graphic>
      </p:graphicFrame>
      <p:sp>
        <p:nvSpPr>
          <p:cNvPr id="3" name="Date Placeholder 2"/>
          <p:cNvSpPr>
            <a:spLocks noGrp="1"/>
          </p:cNvSpPr>
          <p:nvPr>
            <p:ph type="dt" sz="half" idx="10"/>
          </p:nvPr>
        </p:nvSpPr>
        <p:spPr/>
        <p:txBody>
          <a:bodyPr/>
          <a:lstStyle/>
          <a:p>
            <a:fld id="{C9212596-3548-42C2-BA92-7F560447D7D8}" type="datetime1">
              <a:rPr lang="en-PH" smtClean="0"/>
              <a:t>01/10/2017</a:t>
            </a:fld>
            <a:endParaRPr lang="en-PH"/>
          </a:p>
        </p:txBody>
      </p:sp>
      <p:sp>
        <p:nvSpPr>
          <p:cNvPr id="4" name="Footer Placeholder 3"/>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119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28056882"/>
              </p:ext>
            </p:extLst>
          </p:nvPr>
        </p:nvGraphicFramePr>
        <p:xfrm>
          <a:off x="866775" y="2300742"/>
          <a:ext cx="7528466" cy="3780018"/>
        </p:xfrm>
        <a:graphic>
          <a:graphicData uri="http://schemas.openxmlformats.org/drawingml/2006/table">
            <a:tbl>
              <a:tblPr firstRow="1" bandRow="1">
                <a:tableStyleId>{5C22544A-7EE6-4342-B048-85BDC9FD1C3A}</a:tableStyleId>
              </a:tblPr>
              <a:tblGrid>
                <a:gridCol w="2996085"/>
                <a:gridCol w="1606412"/>
                <a:gridCol w="1529918"/>
                <a:gridCol w="1396051"/>
              </a:tblGrid>
              <a:tr h="931596">
                <a:tc>
                  <a:txBody>
                    <a:bodyPr/>
                    <a:lstStyle/>
                    <a:p>
                      <a:endParaRPr lang="en-PH" dirty="0" smtClean="0"/>
                    </a:p>
                    <a:p>
                      <a:r>
                        <a:rPr lang="en-PH" sz="3600" dirty="0" smtClean="0"/>
                        <a:t>SUBJECTS</a:t>
                      </a:r>
                      <a:endParaRPr lang="en-PH" sz="3600" dirty="0"/>
                    </a:p>
                  </a:txBody>
                  <a:tcPr marL="77348" marR="77348"/>
                </a:tc>
                <a:tc>
                  <a:txBody>
                    <a:bodyPr/>
                    <a:lstStyle/>
                    <a:p>
                      <a:r>
                        <a:rPr lang="en-PH" dirty="0" smtClean="0"/>
                        <a:t>JOHN’S </a:t>
                      </a:r>
                    </a:p>
                    <a:p>
                      <a:r>
                        <a:rPr lang="en-PH" dirty="0" smtClean="0"/>
                        <a:t>SCORE</a:t>
                      </a:r>
                      <a:endParaRPr lang="en-PH" dirty="0"/>
                    </a:p>
                  </a:txBody>
                  <a:tcPr marL="77348" marR="77348"/>
                </a:tc>
                <a:tc>
                  <a:txBody>
                    <a:bodyPr/>
                    <a:lstStyle/>
                    <a:p>
                      <a:r>
                        <a:rPr lang="en-PH" dirty="0" smtClean="0"/>
                        <a:t>MEAN OF THE SCORE</a:t>
                      </a:r>
                      <a:endParaRPr lang="en-PH" dirty="0"/>
                    </a:p>
                  </a:txBody>
                  <a:tcPr marL="77348" marR="77348"/>
                </a:tc>
                <a:tc>
                  <a:txBody>
                    <a:bodyPr/>
                    <a:lstStyle/>
                    <a:p>
                      <a:r>
                        <a:rPr lang="en-PH" dirty="0" smtClean="0"/>
                        <a:t>STANDARD</a:t>
                      </a:r>
                    </a:p>
                    <a:p>
                      <a:r>
                        <a:rPr lang="en-PH" dirty="0" smtClean="0"/>
                        <a:t>DEVIATION</a:t>
                      </a:r>
                      <a:endParaRPr lang="en-PH" dirty="0"/>
                    </a:p>
                  </a:txBody>
                  <a:tcPr marL="77348" marR="77348"/>
                </a:tc>
              </a:tr>
              <a:tr h="958662">
                <a:tc>
                  <a:txBody>
                    <a:bodyPr/>
                    <a:lstStyle/>
                    <a:p>
                      <a:pPr algn="l"/>
                      <a:endParaRPr lang="en-PH" sz="2800" dirty="0" smtClean="0"/>
                    </a:p>
                    <a:p>
                      <a:pPr algn="l"/>
                      <a:r>
                        <a:rPr lang="en-PH" sz="2800" dirty="0" smtClean="0"/>
                        <a:t>FILIPINO</a:t>
                      </a:r>
                      <a:endParaRPr lang="en-PH" sz="2800" dirty="0"/>
                    </a:p>
                  </a:txBody>
                  <a:tcPr marL="77348" marR="77348"/>
                </a:tc>
                <a:tc>
                  <a:txBody>
                    <a:bodyPr/>
                    <a:lstStyle/>
                    <a:p>
                      <a:pPr algn="ctr"/>
                      <a:endParaRPr lang="en-PH" sz="2800" dirty="0" smtClean="0"/>
                    </a:p>
                    <a:p>
                      <a:pPr algn="ctr"/>
                      <a:r>
                        <a:rPr lang="en-PH" sz="2800" dirty="0" smtClean="0"/>
                        <a:t>100</a:t>
                      </a:r>
                      <a:endParaRPr lang="en-PH" sz="2800" dirty="0"/>
                    </a:p>
                  </a:txBody>
                  <a:tcPr marL="77348" marR="77348"/>
                </a:tc>
                <a:tc>
                  <a:txBody>
                    <a:bodyPr/>
                    <a:lstStyle/>
                    <a:p>
                      <a:pPr algn="ctr"/>
                      <a:endParaRPr lang="en-PH" sz="2800" dirty="0" smtClean="0"/>
                    </a:p>
                    <a:p>
                      <a:pPr algn="ctr"/>
                      <a:r>
                        <a:rPr lang="en-PH" sz="2800" dirty="0" smtClean="0"/>
                        <a:t>110</a:t>
                      </a:r>
                      <a:endParaRPr lang="en-PH" sz="2800" dirty="0"/>
                    </a:p>
                  </a:txBody>
                  <a:tcPr marL="77348" marR="77348"/>
                </a:tc>
                <a:tc>
                  <a:txBody>
                    <a:bodyPr/>
                    <a:lstStyle/>
                    <a:p>
                      <a:pPr algn="ctr"/>
                      <a:endParaRPr lang="en-PH" sz="2800" dirty="0" smtClean="0"/>
                    </a:p>
                    <a:p>
                      <a:pPr algn="ctr"/>
                      <a:r>
                        <a:rPr lang="en-PH" sz="2800" dirty="0" smtClean="0"/>
                        <a:t>5</a:t>
                      </a:r>
                      <a:endParaRPr lang="en-PH" sz="2800" dirty="0"/>
                    </a:p>
                  </a:txBody>
                  <a:tcPr marL="77348" marR="77348"/>
                </a:tc>
              </a:tr>
              <a:tr h="860845">
                <a:tc>
                  <a:txBody>
                    <a:bodyPr/>
                    <a:lstStyle/>
                    <a:p>
                      <a:pPr algn="l"/>
                      <a:endParaRPr lang="en-PH" sz="2800" dirty="0" smtClean="0"/>
                    </a:p>
                    <a:p>
                      <a:pPr algn="l"/>
                      <a:r>
                        <a:rPr lang="en-PH" sz="2800" dirty="0" smtClean="0"/>
                        <a:t>HISTORY</a:t>
                      </a:r>
                      <a:endParaRPr lang="en-PH" sz="2800" dirty="0"/>
                    </a:p>
                  </a:txBody>
                  <a:tcPr marL="77348" marR="77348"/>
                </a:tc>
                <a:tc>
                  <a:txBody>
                    <a:bodyPr/>
                    <a:lstStyle/>
                    <a:p>
                      <a:pPr algn="ctr"/>
                      <a:endParaRPr lang="en-PH" sz="2800" dirty="0" smtClean="0"/>
                    </a:p>
                    <a:p>
                      <a:pPr algn="ctr"/>
                      <a:r>
                        <a:rPr lang="en-PH" sz="2800" dirty="0" smtClean="0"/>
                        <a:t>90</a:t>
                      </a:r>
                      <a:endParaRPr lang="en-PH" sz="2800" dirty="0"/>
                    </a:p>
                  </a:txBody>
                  <a:tcPr marL="77348" marR="77348"/>
                </a:tc>
                <a:tc>
                  <a:txBody>
                    <a:bodyPr/>
                    <a:lstStyle/>
                    <a:p>
                      <a:pPr algn="ctr"/>
                      <a:endParaRPr lang="en-PH" sz="2800" dirty="0" smtClean="0"/>
                    </a:p>
                    <a:p>
                      <a:pPr algn="ctr"/>
                      <a:r>
                        <a:rPr lang="en-PH" sz="2800" dirty="0" smtClean="0"/>
                        <a:t>110</a:t>
                      </a:r>
                      <a:endParaRPr lang="en-PH" sz="2800" dirty="0"/>
                    </a:p>
                  </a:txBody>
                  <a:tcPr marL="77348" marR="77348"/>
                </a:tc>
                <a:tc>
                  <a:txBody>
                    <a:bodyPr/>
                    <a:lstStyle/>
                    <a:p>
                      <a:pPr algn="ctr"/>
                      <a:endParaRPr lang="en-PH" sz="2800" dirty="0" smtClean="0"/>
                    </a:p>
                    <a:p>
                      <a:pPr algn="ctr"/>
                      <a:r>
                        <a:rPr lang="en-PH" sz="2800" dirty="0" smtClean="0"/>
                        <a:t>7</a:t>
                      </a:r>
                      <a:endParaRPr lang="en-PH" sz="2800" dirty="0"/>
                    </a:p>
                  </a:txBody>
                  <a:tcPr marL="77348" marR="77348"/>
                </a:tc>
              </a:tr>
              <a:tr h="860845">
                <a:tc>
                  <a:txBody>
                    <a:bodyPr/>
                    <a:lstStyle/>
                    <a:p>
                      <a:pPr algn="l"/>
                      <a:endParaRPr lang="en-PH" sz="2800" dirty="0" smtClean="0"/>
                    </a:p>
                    <a:p>
                      <a:pPr algn="l"/>
                      <a:r>
                        <a:rPr lang="en-PH" sz="2800" dirty="0" smtClean="0"/>
                        <a:t>MAPEH</a:t>
                      </a:r>
                      <a:endParaRPr lang="en-PH" sz="2800" dirty="0"/>
                    </a:p>
                  </a:txBody>
                  <a:tcPr marL="77348" marR="77348"/>
                </a:tc>
                <a:tc>
                  <a:txBody>
                    <a:bodyPr/>
                    <a:lstStyle/>
                    <a:p>
                      <a:pPr algn="ctr"/>
                      <a:endParaRPr lang="en-PH" sz="2800" dirty="0" smtClean="0"/>
                    </a:p>
                    <a:p>
                      <a:pPr algn="ctr"/>
                      <a:r>
                        <a:rPr lang="en-PH" sz="2800" dirty="0" smtClean="0"/>
                        <a:t>75</a:t>
                      </a:r>
                      <a:endParaRPr lang="en-PH" sz="2800" dirty="0"/>
                    </a:p>
                  </a:txBody>
                  <a:tcPr marL="77348" marR="77348"/>
                </a:tc>
                <a:tc>
                  <a:txBody>
                    <a:bodyPr/>
                    <a:lstStyle/>
                    <a:p>
                      <a:pPr algn="ctr"/>
                      <a:endParaRPr lang="en-PH" sz="2800" dirty="0" smtClean="0"/>
                    </a:p>
                    <a:p>
                      <a:pPr algn="ctr"/>
                      <a:r>
                        <a:rPr lang="en-PH" sz="2800" dirty="0" smtClean="0"/>
                        <a:t>70</a:t>
                      </a:r>
                      <a:endParaRPr lang="en-PH" sz="2800" dirty="0"/>
                    </a:p>
                  </a:txBody>
                  <a:tcPr marL="77348" marR="77348"/>
                </a:tc>
                <a:tc>
                  <a:txBody>
                    <a:bodyPr/>
                    <a:lstStyle/>
                    <a:p>
                      <a:pPr algn="ctr"/>
                      <a:endParaRPr lang="en-PH" sz="2800" dirty="0" smtClean="0"/>
                    </a:p>
                    <a:p>
                      <a:pPr algn="ctr"/>
                      <a:r>
                        <a:rPr lang="en-PH" sz="2800" dirty="0" smtClean="0"/>
                        <a:t>2</a:t>
                      </a:r>
                      <a:endParaRPr lang="en-PH" sz="2800" dirty="0"/>
                    </a:p>
                  </a:txBody>
                  <a:tcPr marL="77348" marR="77348"/>
                </a:tc>
              </a:tr>
            </a:tbl>
          </a:graphicData>
        </a:graphic>
      </p:graphicFrame>
      <p:sp>
        <p:nvSpPr>
          <p:cNvPr id="3" name="Date Placeholder 2"/>
          <p:cNvSpPr>
            <a:spLocks noGrp="1"/>
          </p:cNvSpPr>
          <p:nvPr>
            <p:ph type="dt" sz="half" idx="10"/>
          </p:nvPr>
        </p:nvSpPr>
        <p:spPr/>
        <p:txBody>
          <a:bodyPr/>
          <a:lstStyle/>
          <a:p>
            <a:fld id="{07167DA5-0BFD-4634-94B9-7895581C232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4" name="Content Placeholder 3"/>
          <p:cNvGraphicFramePr>
            <a:graphicFrameLocks noGrp="1"/>
          </p:cNvGraphicFramePr>
          <p:nvPr>
            <p:ph idx="1"/>
          </p:nvPr>
        </p:nvGraphicFramePr>
        <p:xfrm>
          <a:off x="866775" y="2489200"/>
          <a:ext cx="6343652" cy="4968240"/>
        </p:xfrm>
        <a:graphic>
          <a:graphicData uri="http://schemas.openxmlformats.org/drawingml/2006/table">
            <a:tbl>
              <a:tblPr firstRow="1" bandRow="1">
                <a:tableStyleId>{5C22544A-7EE6-4342-B048-85BDC9FD1C3A}</a:tableStyleId>
              </a:tblPr>
              <a:tblGrid>
                <a:gridCol w="2395654"/>
                <a:gridCol w="1482513"/>
                <a:gridCol w="1160227"/>
                <a:gridCol w="1305258"/>
              </a:tblGrid>
              <a:tr h="944880">
                <a:tc>
                  <a:txBody>
                    <a:bodyPr/>
                    <a:lstStyle/>
                    <a:p>
                      <a:endParaRPr lang="en-PH" dirty="0" smtClean="0"/>
                    </a:p>
                    <a:p>
                      <a:r>
                        <a:rPr lang="en-PH" sz="3200" dirty="0" smtClean="0"/>
                        <a:t>SUBJECTS</a:t>
                      </a:r>
                      <a:endParaRPr lang="en-PH" sz="3200" dirty="0"/>
                    </a:p>
                  </a:txBody>
                  <a:tcPr marL="77348" marR="77348"/>
                </a:tc>
                <a:tc>
                  <a:txBody>
                    <a:bodyPr/>
                    <a:lstStyle/>
                    <a:p>
                      <a:r>
                        <a:rPr lang="en-PH" dirty="0" smtClean="0"/>
                        <a:t>SCORES OF</a:t>
                      </a:r>
                    </a:p>
                    <a:p>
                      <a:r>
                        <a:rPr lang="en-PH" dirty="0" smtClean="0"/>
                        <a:t>LANZ</a:t>
                      </a:r>
                      <a:endParaRPr lang="en-PH" dirty="0"/>
                    </a:p>
                  </a:txBody>
                  <a:tcPr marL="77348" marR="77348"/>
                </a:tc>
                <a:tc>
                  <a:txBody>
                    <a:bodyPr/>
                    <a:lstStyle/>
                    <a:p>
                      <a:r>
                        <a:rPr lang="en-PH" dirty="0" smtClean="0"/>
                        <a:t>MEAN OF THE CLASS</a:t>
                      </a:r>
                      <a:endParaRPr lang="en-PH" dirty="0"/>
                    </a:p>
                  </a:txBody>
                  <a:tcPr marL="77348" marR="77348"/>
                </a:tc>
                <a:tc>
                  <a:txBody>
                    <a:bodyPr/>
                    <a:lstStyle/>
                    <a:p>
                      <a:r>
                        <a:rPr lang="en-PH" dirty="0" smtClean="0"/>
                        <a:t>SD</a:t>
                      </a:r>
                      <a:endParaRPr lang="en-PH" dirty="0"/>
                    </a:p>
                  </a:txBody>
                  <a:tcPr marL="77348" marR="77348"/>
                </a:tc>
              </a:tr>
              <a:tr h="944880">
                <a:tc>
                  <a:txBody>
                    <a:bodyPr/>
                    <a:lstStyle/>
                    <a:p>
                      <a:endParaRPr lang="en-PH" sz="2400" dirty="0" smtClean="0"/>
                    </a:p>
                    <a:p>
                      <a:r>
                        <a:rPr lang="en-PH" sz="2400" dirty="0" smtClean="0"/>
                        <a:t>PHILOSOPHY</a:t>
                      </a:r>
                      <a:endParaRPr lang="en-PH" sz="2400" dirty="0"/>
                    </a:p>
                  </a:txBody>
                  <a:tcPr marL="77348" marR="77348"/>
                </a:tc>
                <a:tc>
                  <a:txBody>
                    <a:bodyPr/>
                    <a:lstStyle/>
                    <a:p>
                      <a:pPr algn="ctr"/>
                      <a:endParaRPr lang="en-PH" sz="2800" dirty="0" smtClean="0"/>
                    </a:p>
                    <a:p>
                      <a:pPr algn="ctr"/>
                      <a:r>
                        <a:rPr lang="en-PH" sz="2800" dirty="0" smtClean="0"/>
                        <a:t>25</a:t>
                      </a:r>
                      <a:endParaRPr lang="en-PH" sz="2800" dirty="0"/>
                    </a:p>
                  </a:txBody>
                  <a:tcPr marL="77348" marR="77348"/>
                </a:tc>
                <a:tc>
                  <a:txBody>
                    <a:bodyPr/>
                    <a:lstStyle/>
                    <a:p>
                      <a:pPr algn="ctr"/>
                      <a:endParaRPr lang="en-PH" sz="2800" dirty="0" smtClean="0"/>
                    </a:p>
                    <a:p>
                      <a:pPr algn="ctr"/>
                      <a:r>
                        <a:rPr lang="en-PH" sz="2800" dirty="0" smtClean="0"/>
                        <a:t>25</a:t>
                      </a:r>
                      <a:endParaRPr lang="en-PH" sz="2800" dirty="0"/>
                    </a:p>
                  </a:txBody>
                  <a:tcPr marL="77348" marR="77348"/>
                </a:tc>
                <a:tc>
                  <a:txBody>
                    <a:bodyPr/>
                    <a:lstStyle/>
                    <a:p>
                      <a:pPr algn="ctr"/>
                      <a:endParaRPr lang="en-PH" sz="2800" dirty="0" smtClean="0"/>
                    </a:p>
                    <a:p>
                      <a:pPr algn="ctr"/>
                      <a:r>
                        <a:rPr lang="en-PH" sz="2800" dirty="0" smtClean="0"/>
                        <a:t>3</a:t>
                      </a:r>
                      <a:endParaRPr lang="en-PH" sz="2800" dirty="0"/>
                    </a:p>
                  </a:txBody>
                  <a:tcPr marL="77348" marR="77348"/>
                </a:tc>
              </a:tr>
              <a:tr h="944880">
                <a:tc>
                  <a:txBody>
                    <a:bodyPr/>
                    <a:lstStyle/>
                    <a:p>
                      <a:endParaRPr lang="en-PH" sz="2400" dirty="0" smtClean="0"/>
                    </a:p>
                    <a:p>
                      <a:r>
                        <a:rPr lang="en-PH" sz="2400" dirty="0" smtClean="0"/>
                        <a:t>HUMANITIES</a:t>
                      </a:r>
                      <a:endParaRPr lang="en-PH" sz="2400" dirty="0"/>
                    </a:p>
                  </a:txBody>
                  <a:tcPr marL="77348" marR="77348"/>
                </a:tc>
                <a:tc>
                  <a:txBody>
                    <a:bodyPr/>
                    <a:lstStyle/>
                    <a:p>
                      <a:pPr algn="ctr"/>
                      <a:endParaRPr lang="en-PH" sz="2800" dirty="0" smtClean="0"/>
                    </a:p>
                    <a:p>
                      <a:pPr algn="ctr"/>
                      <a:r>
                        <a:rPr lang="en-PH" sz="2800" dirty="0" smtClean="0"/>
                        <a:t>40</a:t>
                      </a:r>
                      <a:endParaRPr lang="en-PH" sz="2800" dirty="0"/>
                    </a:p>
                  </a:txBody>
                  <a:tcPr marL="77348" marR="77348"/>
                </a:tc>
                <a:tc>
                  <a:txBody>
                    <a:bodyPr/>
                    <a:lstStyle/>
                    <a:p>
                      <a:pPr algn="ctr"/>
                      <a:endParaRPr lang="en-PH" sz="2800" dirty="0" smtClean="0"/>
                    </a:p>
                    <a:p>
                      <a:pPr algn="ctr"/>
                      <a:r>
                        <a:rPr lang="en-PH" sz="2800" dirty="0" smtClean="0"/>
                        <a:t>35</a:t>
                      </a:r>
                      <a:endParaRPr lang="en-PH" sz="2800" dirty="0"/>
                    </a:p>
                  </a:txBody>
                  <a:tcPr marL="77348" marR="77348"/>
                </a:tc>
                <a:tc>
                  <a:txBody>
                    <a:bodyPr/>
                    <a:lstStyle/>
                    <a:p>
                      <a:pPr algn="ctr"/>
                      <a:endParaRPr lang="en-PH" sz="2800" dirty="0" smtClean="0"/>
                    </a:p>
                    <a:p>
                      <a:pPr algn="ctr"/>
                      <a:r>
                        <a:rPr lang="en-PH" sz="2800" dirty="0" smtClean="0"/>
                        <a:t>2</a:t>
                      </a:r>
                      <a:endParaRPr lang="en-PH" sz="2800" dirty="0"/>
                    </a:p>
                  </a:txBody>
                  <a:tcPr marL="77348" marR="77348"/>
                </a:tc>
              </a:tr>
              <a:tr h="944880">
                <a:tc>
                  <a:txBody>
                    <a:bodyPr/>
                    <a:lstStyle/>
                    <a:p>
                      <a:endParaRPr lang="en-PH" sz="2400" dirty="0" smtClean="0"/>
                    </a:p>
                    <a:p>
                      <a:r>
                        <a:rPr lang="en-PH" sz="2400" dirty="0" smtClean="0"/>
                        <a:t>RELIGION</a:t>
                      </a:r>
                      <a:endParaRPr lang="en-PH" sz="2400" dirty="0"/>
                    </a:p>
                  </a:txBody>
                  <a:tcPr marL="77348" marR="77348"/>
                </a:tc>
                <a:tc>
                  <a:txBody>
                    <a:bodyPr/>
                    <a:lstStyle/>
                    <a:p>
                      <a:pPr algn="ctr"/>
                      <a:endParaRPr lang="en-PH" sz="2800" dirty="0" smtClean="0"/>
                    </a:p>
                    <a:p>
                      <a:pPr algn="ctr"/>
                      <a:r>
                        <a:rPr lang="en-PH" sz="2800" dirty="0" smtClean="0"/>
                        <a:t>60</a:t>
                      </a:r>
                      <a:endParaRPr lang="en-PH" sz="2800" dirty="0"/>
                    </a:p>
                  </a:txBody>
                  <a:tcPr marL="77348" marR="77348"/>
                </a:tc>
                <a:tc>
                  <a:txBody>
                    <a:bodyPr/>
                    <a:lstStyle/>
                    <a:p>
                      <a:pPr algn="ctr"/>
                      <a:endParaRPr lang="en-PH" sz="2800" dirty="0" smtClean="0"/>
                    </a:p>
                    <a:p>
                      <a:pPr algn="ctr"/>
                      <a:r>
                        <a:rPr lang="en-PH" sz="2800" dirty="0" smtClean="0"/>
                        <a:t>70</a:t>
                      </a:r>
                      <a:endParaRPr lang="en-PH" sz="2800" dirty="0"/>
                    </a:p>
                  </a:txBody>
                  <a:tcPr marL="77348" marR="77348"/>
                </a:tc>
                <a:tc>
                  <a:txBody>
                    <a:bodyPr/>
                    <a:lstStyle/>
                    <a:p>
                      <a:pPr algn="ctr"/>
                      <a:endParaRPr lang="en-PH" sz="2800" dirty="0" smtClean="0"/>
                    </a:p>
                    <a:p>
                      <a:pPr algn="ctr"/>
                      <a:r>
                        <a:rPr lang="en-PH" sz="2800" dirty="0" smtClean="0"/>
                        <a:t>5</a:t>
                      </a:r>
                      <a:endParaRPr lang="en-PH" sz="2800" dirty="0"/>
                    </a:p>
                  </a:txBody>
                  <a:tcPr marL="77348" marR="77348"/>
                </a:tc>
              </a:tr>
              <a:tr h="944880">
                <a:tc>
                  <a:txBody>
                    <a:bodyPr/>
                    <a:lstStyle/>
                    <a:p>
                      <a:endParaRPr lang="en-PH" sz="2400" dirty="0" smtClean="0"/>
                    </a:p>
                    <a:p>
                      <a:r>
                        <a:rPr lang="en-PH" sz="2400" dirty="0" smtClean="0"/>
                        <a:t>VALUES EDUCATION</a:t>
                      </a:r>
                      <a:endParaRPr lang="en-PH" sz="2400" dirty="0"/>
                    </a:p>
                  </a:txBody>
                  <a:tcPr marL="77348" marR="77348"/>
                </a:tc>
                <a:tc>
                  <a:txBody>
                    <a:bodyPr/>
                    <a:lstStyle/>
                    <a:p>
                      <a:pPr algn="ctr"/>
                      <a:endParaRPr lang="en-PH" sz="2800" dirty="0" smtClean="0"/>
                    </a:p>
                    <a:p>
                      <a:pPr algn="ctr"/>
                      <a:r>
                        <a:rPr lang="en-PH" sz="2800" dirty="0" smtClean="0"/>
                        <a:t>45</a:t>
                      </a:r>
                      <a:endParaRPr lang="en-PH" sz="2800" dirty="0"/>
                    </a:p>
                  </a:txBody>
                  <a:tcPr marL="77348" marR="77348"/>
                </a:tc>
                <a:tc>
                  <a:txBody>
                    <a:bodyPr/>
                    <a:lstStyle/>
                    <a:p>
                      <a:pPr algn="ctr"/>
                      <a:endParaRPr lang="en-PH" sz="2800" dirty="0" smtClean="0"/>
                    </a:p>
                    <a:p>
                      <a:pPr algn="ctr"/>
                      <a:r>
                        <a:rPr lang="en-PH" sz="2800" dirty="0" smtClean="0"/>
                        <a:t>48</a:t>
                      </a:r>
                      <a:endParaRPr lang="en-PH" sz="2800" dirty="0"/>
                    </a:p>
                  </a:txBody>
                  <a:tcPr marL="77348" marR="77348"/>
                </a:tc>
                <a:tc>
                  <a:txBody>
                    <a:bodyPr/>
                    <a:lstStyle/>
                    <a:p>
                      <a:pPr algn="ctr"/>
                      <a:endParaRPr lang="en-PH" sz="2800" dirty="0" smtClean="0"/>
                    </a:p>
                    <a:p>
                      <a:pPr algn="ctr"/>
                      <a:r>
                        <a:rPr lang="en-PH" sz="2800" dirty="0" smtClean="0"/>
                        <a:t>1.5</a:t>
                      </a:r>
                      <a:endParaRPr lang="en-PH" sz="2800" dirty="0"/>
                    </a:p>
                  </a:txBody>
                  <a:tcPr marL="77348" marR="77348"/>
                </a:tc>
              </a:tr>
            </a:tbl>
          </a:graphicData>
        </a:graphic>
      </p:graphicFrame>
      <p:sp>
        <p:nvSpPr>
          <p:cNvPr id="3" name="Date Placeholder 2"/>
          <p:cNvSpPr>
            <a:spLocks noGrp="1"/>
          </p:cNvSpPr>
          <p:nvPr>
            <p:ph type="dt" sz="half" idx="10"/>
          </p:nvPr>
        </p:nvSpPr>
        <p:spPr/>
        <p:txBody>
          <a:bodyPr/>
          <a:lstStyle/>
          <a:p>
            <a:fld id="{6C7750F0-765F-4391-B38B-233A9A282B1F}"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normal-curve-small.png"/>
          <p:cNvPicPr>
            <a:picLocks noGrp="1" noChangeAspect="1"/>
          </p:cNvPicPr>
          <p:nvPr>
            <p:ph idx="1"/>
          </p:nvPr>
        </p:nvPicPr>
        <p:blipFill>
          <a:blip r:embed="rId2" cstate="print"/>
          <a:stretch>
            <a:fillRect/>
          </a:stretch>
        </p:blipFill>
        <p:spPr>
          <a:xfrm>
            <a:off x="457200" y="1066800"/>
            <a:ext cx="8686799" cy="5562600"/>
          </a:xfrm>
        </p:spPr>
      </p:pic>
      <p:sp>
        <p:nvSpPr>
          <p:cNvPr id="3" name="Date Placeholder 2"/>
          <p:cNvSpPr>
            <a:spLocks noGrp="1"/>
          </p:cNvSpPr>
          <p:nvPr>
            <p:ph type="dt" sz="half" idx="10"/>
          </p:nvPr>
        </p:nvSpPr>
        <p:spPr/>
        <p:txBody>
          <a:bodyPr/>
          <a:lstStyle/>
          <a:p>
            <a:fld id="{6DAE4F3D-C376-4B70-BF9B-2375E4362827}"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SKEWNESS</a:t>
            </a:r>
            <a:endParaRPr lang="en-PH" dirty="0"/>
          </a:p>
        </p:txBody>
      </p:sp>
      <p:sp>
        <p:nvSpPr>
          <p:cNvPr id="3" name="Content Placeholder 2"/>
          <p:cNvSpPr>
            <a:spLocks noGrp="1"/>
          </p:cNvSpPr>
          <p:nvPr>
            <p:ph idx="1"/>
          </p:nvPr>
        </p:nvSpPr>
        <p:spPr/>
        <p:txBody>
          <a:bodyPr>
            <a:normAutofit/>
          </a:bodyPr>
          <a:lstStyle/>
          <a:p>
            <a:pPr algn="just">
              <a:buNone/>
            </a:pPr>
            <a:r>
              <a:rPr lang="en-PH" sz="3600" dirty="0" smtClean="0"/>
              <a:t>Refers to the asymmetry of the distribution. A distribution is skewed is the scores clusters at the either side of the tail. The curve is not balanced.</a:t>
            </a:r>
            <a:endParaRPr lang="en-PH" sz="3600" dirty="0"/>
          </a:p>
        </p:txBody>
      </p:sp>
      <p:sp>
        <p:nvSpPr>
          <p:cNvPr id="4" name="Date Placeholder 3"/>
          <p:cNvSpPr>
            <a:spLocks noGrp="1"/>
          </p:cNvSpPr>
          <p:nvPr>
            <p:ph type="dt" sz="half" idx="10"/>
          </p:nvPr>
        </p:nvSpPr>
        <p:spPr/>
        <p:txBody>
          <a:bodyPr/>
          <a:lstStyle/>
          <a:p>
            <a:fld id="{5FA347A4-A88C-47F3-8254-AEDD0490EBA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123</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609600" y="2209800"/>
            <a:ext cx="8077199" cy="3810000"/>
          </a:xfrm>
        </p:spPr>
        <p:txBody>
          <a:bodyPr>
            <a:normAutofit/>
          </a:bodyPr>
          <a:lstStyle/>
          <a:p>
            <a:pPr marL="550926" indent="-514350">
              <a:buAutoNum type="arabicPeriod"/>
            </a:pPr>
            <a:r>
              <a:rPr lang="en-PH" sz="2800" b="1" dirty="0" smtClean="0"/>
              <a:t>Skewed to the right or positively skewed- the tail extends to the right side of the curve, while the scores clusters on the right, thus, most values are low, test is difficult.</a:t>
            </a:r>
          </a:p>
          <a:p>
            <a:pPr marL="550926" indent="-514350">
              <a:buNone/>
            </a:pPr>
            <a:r>
              <a:rPr lang="en-PH" sz="2800" b="1" dirty="0" smtClean="0"/>
              <a:t>	the mean is the highest value followed by the median and the mode.</a:t>
            </a:r>
          </a:p>
          <a:p>
            <a:pPr marL="550926" indent="-514350">
              <a:buAutoNum type="arabicPeriod"/>
            </a:pPr>
            <a:endParaRPr lang="en-PH" sz="2800" b="1" dirty="0"/>
          </a:p>
        </p:txBody>
      </p:sp>
      <p:sp>
        <p:nvSpPr>
          <p:cNvPr id="4" name="Date Placeholder 3"/>
          <p:cNvSpPr>
            <a:spLocks noGrp="1"/>
          </p:cNvSpPr>
          <p:nvPr>
            <p:ph type="dt" sz="half" idx="10"/>
          </p:nvPr>
        </p:nvSpPr>
        <p:spPr/>
        <p:txBody>
          <a:bodyPr/>
          <a:lstStyle/>
          <a:p>
            <a:fld id="{1AAEF4DA-AD3F-4366-A0A2-651108CA4FC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124</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skewed right.jpg"/>
          <p:cNvPicPr>
            <a:picLocks noGrp="1" noChangeAspect="1"/>
          </p:cNvPicPr>
          <p:nvPr>
            <p:ph idx="1"/>
          </p:nvPr>
        </p:nvPicPr>
        <p:blipFill>
          <a:blip r:embed="rId2" cstate="print"/>
          <a:stretch>
            <a:fillRect/>
          </a:stretch>
        </p:blipFill>
        <p:spPr>
          <a:xfrm>
            <a:off x="1905000" y="2286000"/>
            <a:ext cx="5791200" cy="2895600"/>
          </a:xfrm>
        </p:spPr>
      </p:pic>
      <p:sp>
        <p:nvSpPr>
          <p:cNvPr id="3" name="Date Placeholder 2"/>
          <p:cNvSpPr>
            <a:spLocks noGrp="1"/>
          </p:cNvSpPr>
          <p:nvPr>
            <p:ph type="dt" sz="half" idx="10"/>
          </p:nvPr>
        </p:nvSpPr>
        <p:spPr/>
        <p:txBody>
          <a:bodyPr/>
          <a:lstStyle/>
          <a:p>
            <a:fld id="{EFF806B4-A960-4C6A-AFBD-C557B84A51DA}"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125</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skewed r.jpg"/>
          <p:cNvPicPr>
            <a:picLocks noGrp="1" noChangeAspect="1"/>
          </p:cNvPicPr>
          <p:nvPr>
            <p:ph idx="1"/>
          </p:nvPr>
        </p:nvPicPr>
        <p:blipFill>
          <a:blip r:embed="rId2" cstate="print"/>
          <a:stretch>
            <a:fillRect/>
          </a:stretch>
        </p:blipFill>
        <p:spPr>
          <a:xfrm>
            <a:off x="2133600" y="1828800"/>
            <a:ext cx="5334000" cy="3657600"/>
          </a:xfrm>
        </p:spPr>
      </p:pic>
      <p:sp>
        <p:nvSpPr>
          <p:cNvPr id="3" name="Date Placeholder 2"/>
          <p:cNvSpPr>
            <a:spLocks noGrp="1"/>
          </p:cNvSpPr>
          <p:nvPr>
            <p:ph type="dt" sz="half" idx="10"/>
          </p:nvPr>
        </p:nvSpPr>
        <p:spPr/>
        <p:txBody>
          <a:bodyPr/>
          <a:lstStyle/>
          <a:p>
            <a:fld id="{9E97C878-CEAB-4CB4-895F-A79215030116}"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126</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609601" y="2286000"/>
            <a:ext cx="8001000" cy="3733800"/>
          </a:xfrm>
        </p:spPr>
        <p:txBody>
          <a:bodyPr>
            <a:normAutofit fontScale="92500" lnSpcReduction="10000"/>
          </a:bodyPr>
          <a:lstStyle/>
          <a:p>
            <a:pPr>
              <a:buNone/>
            </a:pPr>
            <a:r>
              <a:rPr lang="en-PH" sz="3600" dirty="0" smtClean="0"/>
              <a:t>2. </a:t>
            </a:r>
            <a:r>
              <a:rPr lang="en-PH" sz="3600" b="1" dirty="0" smtClean="0"/>
              <a:t>Skewed to the left- </a:t>
            </a:r>
            <a:r>
              <a:rPr lang="en-PH" sz="3600" dirty="0" smtClean="0"/>
              <a:t>the tail extends to the left, but the scores cluster in the right side, thus, </a:t>
            </a:r>
            <a:r>
              <a:rPr lang="en-PH" sz="3600" b="1" dirty="0" smtClean="0"/>
              <a:t>most values are high.</a:t>
            </a:r>
          </a:p>
          <a:p>
            <a:pPr>
              <a:buNone/>
            </a:pPr>
            <a:r>
              <a:rPr lang="en-PH" sz="3600" dirty="0" smtClean="0"/>
              <a:t>	- the mode is the highest value, followed by the median and the mean.</a:t>
            </a:r>
          </a:p>
          <a:p>
            <a:endParaRPr lang="en-PH" sz="3600" dirty="0"/>
          </a:p>
        </p:txBody>
      </p:sp>
      <p:sp>
        <p:nvSpPr>
          <p:cNvPr id="4" name="Date Placeholder 3"/>
          <p:cNvSpPr>
            <a:spLocks noGrp="1"/>
          </p:cNvSpPr>
          <p:nvPr>
            <p:ph type="dt" sz="half" idx="10"/>
          </p:nvPr>
        </p:nvSpPr>
        <p:spPr/>
        <p:txBody>
          <a:bodyPr/>
          <a:lstStyle/>
          <a:p>
            <a:fld id="{8C8933AD-AC6F-44EB-B3A6-694AADB668A2}"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127</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Skewed Left</a:t>
            </a:r>
            <a:endParaRPr lang="en-PH" dirty="0"/>
          </a:p>
        </p:txBody>
      </p:sp>
      <p:pic>
        <p:nvPicPr>
          <p:cNvPr id="4" name="Content Placeholder 3" descr="skewed left.jpg"/>
          <p:cNvPicPr>
            <a:picLocks noGrp="1" noChangeAspect="1"/>
          </p:cNvPicPr>
          <p:nvPr>
            <p:ph idx="1"/>
          </p:nvPr>
        </p:nvPicPr>
        <p:blipFill>
          <a:blip r:embed="rId2" cstate="print"/>
          <a:stretch>
            <a:fillRect/>
          </a:stretch>
        </p:blipFill>
        <p:spPr>
          <a:xfrm>
            <a:off x="1752600" y="2362200"/>
            <a:ext cx="5867400" cy="3276600"/>
          </a:xfrm>
        </p:spPr>
      </p:pic>
      <p:sp>
        <p:nvSpPr>
          <p:cNvPr id="3" name="Date Placeholder 2"/>
          <p:cNvSpPr>
            <a:spLocks noGrp="1"/>
          </p:cNvSpPr>
          <p:nvPr>
            <p:ph type="dt" sz="half" idx="10"/>
          </p:nvPr>
        </p:nvSpPr>
        <p:spPr/>
        <p:txBody>
          <a:bodyPr/>
          <a:lstStyle/>
          <a:p>
            <a:fld id="{2ED44FA1-FD7E-40C9-BFB6-EE057599D2C8}"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128</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skewed l.jpg"/>
          <p:cNvPicPr>
            <a:picLocks noGrp="1" noChangeAspect="1"/>
          </p:cNvPicPr>
          <p:nvPr>
            <p:ph idx="1"/>
          </p:nvPr>
        </p:nvPicPr>
        <p:blipFill>
          <a:blip r:embed="rId2" cstate="print"/>
          <a:stretch>
            <a:fillRect/>
          </a:stretch>
        </p:blipFill>
        <p:spPr>
          <a:xfrm>
            <a:off x="2590800" y="1752600"/>
            <a:ext cx="4876800" cy="3429000"/>
          </a:xfrm>
        </p:spPr>
      </p:pic>
      <p:sp>
        <p:nvSpPr>
          <p:cNvPr id="3" name="Date Placeholder 2"/>
          <p:cNvSpPr>
            <a:spLocks noGrp="1"/>
          </p:cNvSpPr>
          <p:nvPr>
            <p:ph type="dt" sz="half" idx="10"/>
          </p:nvPr>
        </p:nvSpPr>
        <p:spPr/>
        <p:txBody>
          <a:bodyPr/>
          <a:lstStyle/>
          <a:p>
            <a:fld id="{CF631621-7B2A-4FC2-BDA6-8D2F4CDC27E0}"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129</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PH" b="1" dirty="0" smtClean="0"/>
              <a:t>Tell whether the following are skewed to left or skewed to the right.</a:t>
            </a:r>
            <a:endParaRPr lang="en-PH" b="1" dirty="0"/>
          </a:p>
        </p:txBody>
      </p:sp>
      <p:sp>
        <p:nvSpPr>
          <p:cNvPr id="3" name="Content Placeholder 2"/>
          <p:cNvSpPr>
            <a:spLocks noGrp="1"/>
          </p:cNvSpPr>
          <p:nvPr>
            <p:ph idx="1"/>
          </p:nvPr>
        </p:nvSpPr>
        <p:spPr>
          <a:xfrm>
            <a:off x="866441" y="2489200"/>
            <a:ext cx="7896559" cy="3530600"/>
          </a:xfrm>
        </p:spPr>
        <p:txBody>
          <a:bodyPr>
            <a:noAutofit/>
          </a:bodyPr>
          <a:lstStyle/>
          <a:p>
            <a:r>
              <a:rPr lang="en-PH" sz="2800" b="1" dirty="0" smtClean="0"/>
              <a:t>1. salaries of janitors</a:t>
            </a:r>
          </a:p>
          <a:p>
            <a:r>
              <a:rPr lang="en-PH" sz="2800" b="1" dirty="0" smtClean="0"/>
              <a:t>2. weight and height of malnourished children</a:t>
            </a:r>
          </a:p>
          <a:p>
            <a:r>
              <a:rPr lang="en-PH" sz="2800" b="1" dirty="0" smtClean="0"/>
              <a:t>3. height of PBA players</a:t>
            </a:r>
          </a:p>
          <a:p>
            <a:r>
              <a:rPr lang="en-PH" sz="2800" b="1" dirty="0" smtClean="0"/>
              <a:t>4. Scores of students in easy test</a:t>
            </a:r>
          </a:p>
          <a:p>
            <a:r>
              <a:rPr lang="en-PH" sz="2800" b="1" dirty="0" smtClean="0"/>
              <a:t>5. Grades of students in Calculus</a:t>
            </a:r>
          </a:p>
          <a:p>
            <a:r>
              <a:rPr lang="en-PH" sz="2800" b="1" dirty="0" smtClean="0"/>
              <a:t>6. NAT performance of students in special science class</a:t>
            </a:r>
            <a:endParaRPr lang="en-PH" sz="2800" b="1" dirty="0"/>
          </a:p>
        </p:txBody>
      </p:sp>
      <p:sp>
        <p:nvSpPr>
          <p:cNvPr id="4" name="Date Placeholder 3"/>
          <p:cNvSpPr>
            <a:spLocks noGrp="1"/>
          </p:cNvSpPr>
          <p:nvPr>
            <p:ph type="dt" sz="half" idx="10"/>
          </p:nvPr>
        </p:nvSpPr>
        <p:spPr/>
        <p:txBody>
          <a:bodyPr/>
          <a:lstStyle/>
          <a:p>
            <a:fld id="{1F837088-FF65-46AF-BC6E-023D456F7085}"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130</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591759" cy="3530600"/>
          </a:xfrm>
        </p:spPr>
        <p:txBody>
          <a:bodyPr>
            <a:normAutofit fontScale="92500"/>
          </a:bodyPr>
          <a:lstStyle/>
          <a:p>
            <a:r>
              <a:rPr lang="en-PH" sz="3600" dirty="0" smtClean="0"/>
              <a:t>7.  LET ratings of the </a:t>
            </a:r>
            <a:r>
              <a:rPr lang="en-PH" sz="3600" dirty="0" err="1" smtClean="0"/>
              <a:t>topnotchers</a:t>
            </a:r>
            <a:r>
              <a:rPr lang="en-PH" sz="3600" dirty="0" smtClean="0"/>
              <a:t>.</a:t>
            </a:r>
          </a:p>
          <a:p>
            <a:r>
              <a:rPr lang="en-PH" sz="3600" dirty="0" smtClean="0"/>
              <a:t>8.  mean = 56,  median = 50</a:t>
            </a:r>
          </a:p>
          <a:p>
            <a:r>
              <a:rPr lang="en-PH" sz="3600" dirty="0" smtClean="0"/>
              <a:t>9.  marrying age of people in the mountainous areas.</a:t>
            </a:r>
          </a:p>
          <a:p>
            <a:r>
              <a:rPr lang="en-PH" sz="3600" dirty="0" smtClean="0"/>
              <a:t>10. Average height of the Filipinos taken in a census</a:t>
            </a:r>
            <a:endParaRPr lang="en-PH" sz="3600" dirty="0"/>
          </a:p>
        </p:txBody>
      </p:sp>
      <p:sp>
        <p:nvSpPr>
          <p:cNvPr id="4" name="Date Placeholder 3"/>
          <p:cNvSpPr>
            <a:spLocks noGrp="1"/>
          </p:cNvSpPr>
          <p:nvPr>
            <p:ph type="dt" sz="half" idx="10"/>
          </p:nvPr>
        </p:nvSpPr>
        <p:spPr/>
        <p:txBody>
          <a:bodyPr/>
          <a:lstStyle/>
          <a:p>
            <a:fld id="{31E154AB-A288-43CC-8F62-E2207C4704A3}"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131</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KURTOSIS</a:t>
            </a:r>
            <a:endParaRPr lang="en-PH" dirty="0"/>
          </a:p>
        </p:txBody>
      </p:sp>
      <p:pic>
        <p:nvPicPr>
          <p:cNvPr id="4" name="Content Placeholder 3" descr="KURTOSIS.jpg"/>
          <p:cNvPicPr>
            <a:picLocks noGrp="1" noChangeAspect="1"/>
          </p:cNvPicPr>
          <p:nvPr>
            <p:ph idx="1"/>
          </p:nvPr>
        </p:nvPicPr>
        <p:blipFill>
          <a:blip r:embed="rId2" cstate="print"/>
          <a:stretch>
            <a:fillRect/>
          </a:stretch>
        </p:blipFill>
        <p:spPr>
          <a:xfrm>
            <a:off x="2057400" y="1371600"/>
            <a:ext cx="5181600" cy="4343400"/>
          </a:xfrm>
        </p:spPr>
      </p:pic>
      <p:sp>
        <p:nvSpPr>
          <p:cNvPr id="3" name="Date Placeholder 2"/>
          <p:cNvSpPr>
            <a:spLocks noGrp="1"/>
          </p:cNvSpPr>
          <p:nvPr>
            <p:ph type="dt" sz="half" idx="10"/>
          </p:nvPr>
        </p:nvSpPr>
        <p:spPr/>
        <p:txBody>
          <a:bodyPr/>
          <a:lstStyle/>
          <a:p>
            <a:fld id="{7DA04C7C-3DBE-422F-ACB5-9DA7197FDD52}" type="datetime1">
              <a:rPr lang="en-PH" smtClean="0"/>
              <a:t>01/10/2017</a:t>
            </a:fld>
            <a:endParaRPr lang="en-PH"/>
          </a:p>
        </p:txBody>
      </p:sp>
      <p:sp>
        <p:nvSpPr>
          <p:cNvPr id="5" name="Footer Placeholder 4"/>
          <p:cNvSpPr>
            <a:spLocks noGrp="1"/>
          </p:cNvSpPr>
          <p:nvPr>
            <p:ph type="ftr" sz="quarter" idx="11"/>
          </p:nvPr>
        </p:nvSpPr>
        <p:spPr/>
        <p:txBody>
          <a:bodyPr/>
          <a:lstStyle/>
          <a:p>
            <a:r>
              <a:rPr lang="en-PH" smtClean="0"/>
              <a:t>Sir Crespo- UA</a:t>
            </a:r>
            <a:endParaRPr lang="en-PH"/>
          </a:p>
        </p:txBody>
      </p:sp>
      <p:sp>
        <p:nvSpPr>
          <p:cNvPr id="6" name="Slide Number Placeholder 5"/>
          <p:cNvSpPr>
            <a:spLocks noGrp="1"/>
          </p:cNvSpPr>
          <p:nvPr>
            <p:ph type="sldNum" sz="quarter" idx="12"/>
          </p:nvPr>
        </p:nvSpPr>
        <p:spPr/>
        <p:txBody>
          <a:bodyPr/>
          <a:lstStyle/>
          <a:p>
            <a:fld id="{A2AF10DC-0514-439A-9D3C-470D8338320C}" type="slidenum">
              <a:rPr lang="en-PH" smtClean="0"/>
              <a:pPr/>
              <a:t>132</a:t>
            </a:fld>
            <a:endParaRPr lang="en-PH"/>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tint val="100000"/>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12892</TotalTime>
  <Words>3375</Words>
  <Application>Microsoft Office PowerPoint</Application>
  <PresentationFormat>On-screen Show (4:3)</PresentationFormat>
  <Paragraphs>1117</Paragraphs>
  <Slides>132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132</vt:i4>
      </vt:variant>
    </vt:vector>
  </HeadingPairs>
  <TitlesOfParts>
    <vt:vector size="137" baseType="lpstr">
      <vt:lpstr>Arial</vt:lpstr>
      <vt:lpstr>Calibri</vt:lpstr>
      <vt:lpstr>Century Gothic</vt:lpstr>
      <vt:lpstr>Wingdings 3</vt:lpstr>
      <vt:lpstr>Ion Boardroom</vt:lpstr>
      <vt:lpstr>STATISTICAL ORGANIZATION OF SCORES</vt:lpstr>
      <vt:lpstr>PowerPoint Presentation</vt:lpstr>
      <vt:lpstr>PowerPoint Presentation</vt:lpstr>
      <vt:lpstr>Raw scores by themselves are useless.</vt:lpstr>
      <vt:lpstr>COMMON STATISTICAL TREATMENT</vt:lpstr>
      <vt:lpstr>Types of Data/Level of Measurement</vt:lpstr>
      <vt:lpstr>PowerPoint Presentation</vt:lpstr>
      <vt:lpstr>Types of Data</vt:lpstr>
      <vt:lpstr>PowerPoint Presentation</vt:lpstr>
      <vt:lpstr>Types of Data</vt:lpstr>
      <vt:lpstr>Sibling Ranks</vt:lpstr>
      <vt:lpstr>Types of Data</vt:lpstr>
      <vt:lpstr>Scores in a 10-item tests</vt:lpstr>
      <vt:lpstr>Types of Data</vt:lpstr>
      <vt:lpstr>QUESTION</vt:lpstr>
      <vt:lpstr>Other classification of data</vt:lpstr>
      <vt:lpstr>REMEMBER THESE PAIRINGS</vt:lpstr>
      <vt:lpstr>METHODS OF DATA REPRESENTATION</vt:lpstr>
      <vt:lpstr>Textual Data Representation (Words) </vt:lpstr>
      <vt:lpstr>Graphical Representation: Line Graph/Frequency Polygon</vt:lpstr>
      <vt:lpstr>Bar Graph</vt:lpstr>
      <vt:lpstr>PowerPoint Presentation</vt:lpstr>
      <vt:lpstr>Frequency Distribution</vt:lpstr>
      <vt:lpstr>Tabular Data Representation: Frequency Polygon</vt:lpstr>
      <vt:lpstr>PowerPoint Presentation</vt:lpstr>
      <vt:lpstr>PowerPoint Presentation</vt:lpstr>
      <vt:lpstr>MEASURES OF CENTRAL TENDENCY</vt:lpstr>
      <vt:lpstr>MCT Defined</vt:lpstr>
      <vt:lpstr>Consider the example below. Which is the best performing class?</vt:lpstr>
      <vt:lpstr>What about this?</vt:lpstr>
      <vt:lpstr>THE MEAN</vt:lpstr>
      <vt:lpstr>PowerPoint Presentation</vt:lpstr>
      <vt:lpstr>PowerPoint Presentation</vt:lpstr>
      <vt:lpstr>Characteristics of the Mean</vt:lpstr>
      <vt:lpstr>PowerPoint Presentation</vt:lpstr>
      <vt:lpstr>PowerPoint Presentation</vt:lpstr>
      <vt:lpstr>PowerPoint Presentation</vt:lpstr>
      <vt:lpstr>PowerPoint Presentation</vt:lpstr>
      <vt:lpstr>Sample exercises: The Mean</vt:lpstr>
      <vt:lpstr>PowerPoint Presentation</vt:lpstr>
      <vt:lpstr>PowerPoint Presentation</vt:lpstr>
      <vt:lpstr>MEDIAN</vt:lpstr>
      <vt:lpstr>Characteristics:Median</vt:lpstr>
      <vt:lpstr>PowerPoint Presentation</vt:lpstr>
      <vt:lpstr>PowerPoint Presentation</vt:lpstr>
      <vt:lpstr>PowerPoint Presentation</vt:lpstr>
      <vt:lpstr>Sample Exercises:</vt:lpstr>
      <vt:lpstr>PowerPoint Presentation</vt:lpstr>
      <vt:lpstr>Consider this question:</vt:lpstr>
      <vt:lpstr>THE MODE</vt:lpstr>
      <vt:lpstr>Mode: Characteristics</vt:lpstr>
      <vt:lpstr>Question: Will the graph of a distribution with two modes which are close appear as bimodal?</vt:lpstr>
      <vt:lpstr>The POINT MEASURES</vt:lpstr>
      <vt:lpstr>PowerPoint Presentation</vt:lpstr>
      <vt:lpstr>PowerPoint Presentation</vt:lpstr>
      <vt:lpstr>PowerPoint Presentation</vt:lpstr>
      <vt:lpstr>Decile </vt:lpstr>
      <vt:lpstr>Percentile</vt:lpstr>
      <vt:lpstr>PowerPoint Presentation</vt:lpstr>
      <vt:lpstr>Percentile...</vt:lpstr>
      <vt:lpstr>PRACTICE 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questions 14-15, refer to this data</vt:lpstr>
      <vt:lpstr>Measures of Variability and Dispersion</vt:lpstr>
      <vt:lpstr>Consider these data sets:</vt:lpstr>
      <vt:lpstr>What is variability?</vt:lpstr>
      <vt:lpstr>Limitation of the MCT</vt:lpstr>
      <vt:lpstr>The Measures of Variability</vt:lpstr>
      <vt:lpstr>INTERPRETATATION</vt:lpstr>
      <vt:lpstr>Example:</vt:lpstr>
      <vt:lpstr>THE RANGE</vt:lpstr>
      <vt:lpstr>PowerPoint Presentation</vt:lpstr>
      <vt:lpstr>PowerPoint Presentation</vt:lpstr>
      <vt:lpstr>PowerPoint Presentation</vt:lpstr>
      <vt:lpstr>2. The Q</vt:lpstr>
      <vt:lpstr>PowerPoint Presentation</vt:lpstr>
      <vt:lpstr>THE AVERAGE DEVIATION</vt:lpstr>
      <vt:lpstr>PowerPoint Presentation</vt:lpstr>
      <vt:lpstr>PowerPoint Presentation</vt:lpstr>
      <vt:lpstr>PowerPoint Presentation</vt:lpstr>
      <vt:lpstr>PowerPoint Presentation</vt:lpstr>
      <vt:lpstr>PowerPoint Presentation</vt:lpstr>
      <vt:lpstr>The STANDARD DEVIATION</vt:lpstr>
      <vt:lpstr>PowerPoint Presentation</vt:lpstr>
      <vt:lpstr>Consider this:</vt:lpstr>
      <vt:lpstr>PowerPoint Presentation</vt:lpstr>
      <vt:lpstr>PowerPoint Presentation</vt:lpstr>
      <vt:lpstr>What is the standard deviation?</vt:lpstr>
      <vt:lpstr>Which has a lower standard deviation?</vt:lpstr>
      <vt:lpstr>Consider the data below:</vt:lpstr>
      <vt:lpstr>5. The VARIANCE. </vt:lpstr>
      <vt:lpstr>PowerPoint Presentation</vt:lpstr>
      <vt:lpstr>PowerPoint Presentation</vt:lpstr>
      <vt:lpstr>PowerPoint Presentation</vt:lpstr>
      <vt:lpstr>THE NORMAL DISTRIBUTION</vt:lpstr>
      <vt:lpstr>PROPERTIES OF NORMAL CURVE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Standard Scores</vt:lpstr>
      <vt:lpstr>PowerPoint Presentation</vt:lpstr>
      <vt:lpstr>PowerPoint Presentation</vt:lpstr>
      <vt:lpstr>PowerPoint Presentation</vt:lpstr>
      <vt:lpstr>PowerPoint Presentation</vt:lpstr>
      <vt:lpstr>PowerPoint Presentation</vt:lpstr>
      <vt:lpstr>SKEWNESS</vt:lpstr>
      <vt:lpstr>PowerPoint Presentation</vt:lpstr>
      <vt:lpstr>PowerPoint Presentation</vt:lpstr>
      <vt:lpstr>PowerPoint Presentation</vt:lpstr>
      <vt:lpstr>PowerPoint Presentation</vt:lpstr>
      <vt:lpstr>Skewed Left</vt:lpstr>
      <vt:lpstr>PowerPoint Presentation</vt:lpstr>
      <vt:lpstr>Tell whether the following are skewed to left or skewed to the right.</vt:lpstr>
      <vt:lpstr>PowerPoint Presentation</vt:lpstr>
      <vt:lpstr>KURTOSIS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ORGANIZATION OF SCORES</dc:title>
  <dc:creator>ACER</dc:creator>
  <cp:lastModifiedBy>Microsoft account</cp:lastModifiedBy>
  <cp:revision>64</cp:revision>
  <dcterms:created xsi:type="dcterms:W3CDTF">2013-08-04T12:01:18Z</dcterms:created>
  <dcterms:modified xsi:type="dcterms:W3CDTF">2017-09-30T21:36:12Z</dcterms:modified>
</cp:coreProperties>
</file>