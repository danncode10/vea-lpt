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146.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44.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ppt/slides/slide20.xml" ContentType="application/vnd.openxmlformats-officedocument.presentationml.slide+xml"/>
  <Override PartName="/ppt/slides/slide13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4" r:id="rId19"/>
    <p:sldId id="275" r:id="rId20"/>
    <p:sldId id="276" r:id="rId21"/>
    <p:sldId id="376" r:id="rId22"/>
    <p:sldId id="377" r:id="rId23"/>
    <p:sldId id="277" r:id="rId24"/>
    <p:sldId id="378" r:id="rId25"/>
    <p:sldId id="278" r:id="rId26"/>
    <p:sldId id="381" r:id="rId27"/>
    <p:sldId id="279" r:id="rId28"/>
    <p:sldId id="280" r:id="rId29"/>
    <p:sldId id="281" r:id="rId30"/>
    <p:sldId id="282" r:id="rId31"/>
    <p:sldId id="283" r:id="rId32"/>
    <p:sldId id="284" r:id="rId33"/>
    <p:sldId id="285" r:id="rId34"/>
    <p:sldId id="286" r:id="rId35"/>
    <p:sldId id="379" r:id="rId36"/>
    <p:sldId id="287" r:id="rId37"/>
    <p:sldId id="382" r:id="rId38"/>
    <p:sldId id="368" r:id="rId39"/>
    <p:sldId id="288" r:id="rId40"/>
    <p:sldId id="383" r:id="rId41"/>
    <p:sldId id="289" r:id="rId42"/>
    <p:sldId id="384" r:id="rId43"/>
    <p:sldId id="290" r:id="rId44"/>
    <p:sldId id="385" r:id="rId45"/>
    <p:sldId id="291" r:id="rId46"/>
    <p:sldId id="292" r:id="rId47"/>
    <p:sldId id="386" r:id="rId48"/>
    <p:sldId id="387" r:id="rId49"/>
    <p:sldId id="293" r:id="rId50"/>
    <p:sldId id="388" r:id="rId51"/>
    <p:sldId id="294" r:id="rId52"/>
    <p:sldId id="302" r:id="rId53"/>
    <p:sldId id="303" r:id="rId54"/>
    <p:sldId id="304" r:id="rId55"/>
    <p:sldId id="389" r:id="rId56"/>
    <p:sldId id="305" r:id="rId57"/>
    <p:sldId id="306" r:id="rId58"/>
    <p:sldId id="369" r:id="rId59"/>
    <p:sldId id="307" r:id="rId60"/>
    <p:sldId id="308" r:id="rId61"/>
    <p:sldId id="390" r:id="rId62"/>
    <p:sldId id="380" r:id="rId63"/>
    <p:sldId id="309" r:id="rId64"/>
    <p:sldId id="391" r:id="rId65"/>
    <p:sldId id="310" r:id="rId66"/>
    <p:sldId id="311" r:id="rId67"/>
    <p:sldId id="392" r:id="rId68"/>
    <p:sldId id="312" r:id="rId69"/>
    <p:sldId id="394" r:id="rId70"/>
    <p:sldId id="313" r:id="rId71"/>
    <p:sldId id="393" r:id="rId72"/>
    <p:sldId id="314" r:id="rId73"/>
    <p:sldId id="315" r:id="rId74"/>
    <p:sldId id="316" r:id="rId75"/>
    <p:sldId id="395" r:id="rId76"/>
    <p:sldId id="317" r:id="rId77"/>
    <p:sldId id="396" r:id="rId78"/>
    <p:sldId id="318" r:id="rId79"/>
    <p:sldId id="319" r:id="rId80"/>
    <p:sldId id="320" r:id="rId81"/>
    <p:sldId id="321" r:id="rId82"/>
    <p:sldId id="322" r:id="rId83"/>
    <p:sldId id="323" r:id="rId84"/>
    <p:sldId id="324" r:id="rId85"/>
    <p:sldId id="325" r:id="rId86"/>
    <p:sldId id="326" r:id="rId87"/>
    <p:sldId id="397" r:id="rId88"/>
    <p:sldId id="327" r:id="rId89"/>
    <p:sldId id="370" r:id="rId90"/>
    <p:sldId id="328" r:id="rId91"/>
    <p:sldId id="398" r:id="rId92"/>
    <p:sldId id="371" r:id="rId93"/>
    <p:sldId id="399" r:id="rId94"/>
    <p:sldId id="330" r:id="rId95"/>
    <p:sldId id="400" r:id="rId96"/>
    <p:sldId id="331" r:id="rId97"/>
    <p:sldId id="401" r:id="rId98"/>
    <p:sldId id="402" r:id="rId99"/>
    <p:sldId id="332" r:id="rId100"/>
    <p:sldId id="333" r:id="rId101"/>
    <p:sldId id="403" r:id="rId102"/>
    <p:sldId id="334" r:id="rId103"/>
    <p:sldId id="404" r:id="rId104"/>
    <p:sldId id="335" r:id="rId105"/>
    <p:sldId id="336" r:id="rId106"/>
    <p:sldId id="337" r:id="rId107"/>
    <p:sldId id="338" r:id="rId108"/>
    <p:sldId id="405" r:id="rId109"/>
    <p:sldId id="339" r:id="rId110"/>
    <p:sldId id="340" r:id="rId111"/>
    <p:sldId id="406" r:id="rId112"/>
    <p:sldId id="341" r:id="rId113"/>
    <p:sldId id="407" r:id="rId114"/>
    <p:sldId id="372" r:id="rId115"/>
    <p:sldId id="343" r:id="rId116"/>
    <p:sldId id="408" r:id="rId117"/>
    <p:sldId id="344" r:id="rId118"/>
    <p:sldId id="345" r:id="rId119"/>
    <p:sldId id="409" r:id="rId120"/>
    <p:sldId id="346" r:id="rId121"/>
    <p:sldId id="347" r:id="rId122"/>
    <p:sldId id="348" r:id="rId123"/>
    <p:sldId id="373" r:id="rId124"/>
    <p:sldId id="349" r:id="rId125"/>
    <p:sldId id="350" r:id="rId126"/>
    <p:sldId id="351" r:id="rId127"/>
    <p:sldId id="352" r:id="rId128"/>
    <p:sldId id="353" r:id="rId129"/>
    <p:sldId id="354" r:id="rId130"/>
    <p:sldId id="355" r:id="rId131"/>
    <p:sldId id="356" r:id="rId132"/>
    <p:sldId id="357" r:id="rId133"/>
    <p:sldId id="358" r:id="rId134"/>
    <p:sldId id="410" r:id="rId135"/>
    <p:sldId id="359" r:id="rId136"/>
    <p:sldId id="360" r:id="rId137"/>
    <p:sldId id="361" r:id="rId138"/>
    <p:sldId id="411" r:id="rId139"/>
    <p:sldId id="362" r:id="rId140"/>
    <p:sldId id="363" r:id="rId141"/>
    <p:sldId id="374" r:id="rId142"/>
    <p:sldId id="364" r:id="rId143"/>
    <p:sldId id="365" r:id="rId144"/>
    <p:sldId id="366" r:id="rId145"/>
    <p:sldId id="295" r:id="rId146"/>
    <p:sldId id="412" r:id="rId147"/>
    <p:sldId id="296" r:id="rId148"/>
    <p:sldId id="375" r:id="rId149"/>
    <p:sldId id="297" r:id="rId150"/>
    <p:sldId id="298" r:id="rId1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8153" autoAdjust="0"/>
    <p:restoredTop sz="94660"/>
  </p:normalViewPr>
  <p:slideViewPr>
    <p:cSldViewPr>
      <p:cViewPr varScale="1">
        <p:scale>
          <a:sx n="68" d="100"/>
          <a:sy n="68" d="100"/>
        </p:scale>
        <p:origin x="-17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6B7ABBB-74F9-434C-92A8-6791F7362269}" type="datetimeFigureOut">
              <a:rPr lang="en-US" smtClean="0"/>
              <a:pPr/>
              <a:t>9/11/2013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75CF4F-93E3-47BF-9521-2A3CFF08B93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075CF4F-93E3-47BF-9521-2A3CFF08B939}"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075CF4F-93E3-47BF-9521-2A3CFF08B939}" type="slidenum">
              <a:rPr lang="en-US" smtClean="0"/>
              <a:pPr/>
              <a:t>122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007F744D-2440-4EAE-9339-FBACCED1D3D9}" type="datetimeFigureOut">
              <a:rPr lang="en-US" smtClean="0"/>
              <a:pPr/>
              <a:t>9/11/2013</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3BD069B1-9B08-452E-A5E3-05AC557D4057}" type="slidenum">
              <a:rPr lang="en-US" smtClean="0"/>
              <a:pPr/>
              <a:t>‹#›</a:t>
            </a:fld>
            <a:endParaRPr lang="en-US"/>
          </a:p>
        </p:txBody>
      </p:sp>
    </p:spTree>
  </p:cSld>
  <p:clrMapOvr>
    <a:masterClrMapping/>
  </p:clrMapOvr>
  <p:transition spd="med">
    <p:wedg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007F744D-2440-4EAE-9339-FBACCED1D3D9}" type="datetimeFigureOut">
              <a:rPr lang="en-US" smtClean="0"/>
              <a:pPr/>
              <a:t>9/11/2013</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3BD069B1-9B08-452E-A5E3-05AC557D4057}" type="slidenum">
              <a:rPr lang="en-US" smtClean="0"/>
              <a:pPr/>
              <a:t>‹#›</a:t>
            </a:fld>
            <a:endParaRPr lang="en-US"/>
          </a:p>
        </p:txBody>
      </p:sp>
    </p:spTree>
  </p:cSld>
  <p:clrMapOvr>
    <a:masterClrMapping/>
  </p:clrMapOvr>
  <p:transition spd="med">
    <p:wedg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007F744D-2440-4EAE-9339-FBACCED1D3D9}" type="datetimeFigureOut">
              <a:rPr lang="en-US" smtClean="0"/>
              <a:pPr/>
              <a:t>9/11/2013</a:t>
            </a:fld>
            <a:endParaRPr lang="en-US"/>
          </a:p>
        </p:txBody>
      </p:sp>
      <p:sp>
        <p:nvSpPr>
          <p:cNvPr id="11" name="Footer Placeholder 10"/>
          <p:cNvSpPr>
            <a:spLocks noGrp="1"/>
          </p:cNvSpPr>
          <p:nvPr>
            <p:ph type="ftr" sz="quarter" idx="11"/>
          </p:nvPr>
        </p:nvSpPr>
        <p:spPr/>
        <p:txBody>
          <a:bodyPr/>
          <a:lstStyle/>
          <a:p>
            <a:endParaRPr lang="en-US"/>
          </a:p>
        </p:txBody>
      </p:sp>
      <p:sp>
        <p:nvSpPr>
          <p:cNvPr id="16" name="Slide Number Placeholder 15"/>
          <p:cNvSpPr>
            <a:spLocks noGrp="1"/>
          </p:cNvSpPr>
          <p:nvPr>
            <p:ph type="sldNum" sz="quarter" idx="12"/>
          </p:nvPr>
        </p:nvSpPr>
        <p:spPr/>
        <p:txBody>
          <a:bodyPr/>
          <a:lstStyle/>
          <a:p>
            <a:fld id="{3BD069B1-9B08-452E-A5E3-05AC557D4057}" type="slidenum">
              <a:rPr lang="en-US" smtClean="0"/>
              <a:pPr/>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ransition spd="med">
    <p:wedg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007F744D-2440-4EAE-9339-FBACCED1D3D9}" type="datetimeFigureOut">
              <a:rPr lang="en-US" smtClean="0"/>
              <a:pPr/>
              <a:t>9/11/2013</a:t>
            </a:fld>
            <a:endParaRPr lang="en-US"/>
          </a:p>
        </p:txBody>
      </p:sp>
      <p:sp>
        <p:nvSpPr>
          <p:cNvPr id="10" name="Footer Placeholder 9"/>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3BD069B1-9B08-452E-A5E3-05AC557D4057}" type="slidenum">
              <a:rPr lang="en-US" smtClean="0"/>
              <a:pPr/>
              <a:t>‹#›</a:t>
            </a:fld>
            <a:endParaRPr lang="en-US"/>
          </a:p>
        </p:txBody>
      </p:sp>
    </p:spTree>
  </p:cSld>
  <p:clrMapOvr>
    <a:masterClrMapping/>
  </p:clrMapOvr>
  <p:transition spd="med">
    <p:wedg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007F744D-2440-4EAE-9339-FBACCED1D3D9}" type="datetimeFigureOut">
              <a:rPr lang="en-US" smtClean="0"/>
              <a:pPr/>
              <a:t>9/11/2013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3BD069B1-9B08-452E-A5E3-05AC557D4057}" type="slidenum">
              <a:rPr lang="en-US" smtClean="0"/>
              <a:pPr/>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transition spd="med">
    <p:wedg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007F744D-2440-4EAE-9339-FBACCED1D3D9}" type="datetimeFigureOut">
              <a:rPr lang="en-US" smtClean="0"/>
              <a:pPr/>
              <a:t>9/11/2013</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069B1-9B08-452E-A5E3-05AC557D4057}" type="slidenum">
              <a:rPr lang="en-US" smtClean="0"/>
              <a:pPr/>
              <a:t>‹#›</a:t>
            </a:fld>
            <a:endParaRPr lang="en-US"/>
          </a:p>
        </p:txBody>
      </p:sp>
    </p:spTree>
  </p:cSld>
  <p:clrMapOvr>
    <a:masterClrMapping/>
  </p:clrMapOvr>
  <p:transition spd="med">
    <p:wedg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07F744D-2440-4EAE-9339-FBACCED1D3D9}" type="datetimeFigureOut">
              <a:rPr lang="en-US" smtClean="0"/>
              <a:pPr/>
              <a:t>9/11/2013</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D069B1-9B08-452E-A5E3-05AC557D4057}" type="slidenum">
              <a:rPr lang="en-US" smtClean="0"/>
              <a:pPr/>
              <a:t>‹#›</a:t>
            </a:fld>
            <a:endParaRPr lang="en-US"/>
          </a:p>
        </p:txBody>
      </p:sp>
    </p:spTree>
  </p:cSld>
  <p:clrMapOvr>
    <a:masterClrMapping/>
  </p:clrMapOvr>
  <p:transition spd="med">
    <p:wedg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007F744D-2440-4EAE-9339-FBACCED1D3D9}" type="datetimeFigureOut">
              <a:rPr lang="en-US" smtClean="0"/>
              <a:pPr/>
              <a:t>9/11/2013</a:t>
            </a:fld>
            <a:endParaRPr lang="en-US"/>
          </a:p>
        </p:txBody>
      </p:sp>
      <p:sp>
        <p:nvSpPr>
          <p:cNvPr id="29" name="Footer Placeholder 28"/>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D069B1-9B08-452E-A5E3-05AC557D4057}" type="slidenum">
              <a:rPr lang="en-US" smtClean="0"/>
              <a:pPr/>
              <a:t>‹#›</a:t>
            </a:fld>
            <a:endParaRPr lang="en-US"/>
          </a:p>
        </p:txBody>
      </p:sp>
    </p:spTree>
  </p:cSld>
  <p:clrMapOvr>
    <a:masterClrMapping/>
  </p:clrMapOvr>
  <p:transition spd="med">
    <p:wedg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007F744D-2440-4EAE-9339-FBACCED1D3D9}" type="datetimeFigureOut">
              <a:rPr lang="en-US" smtClean="0"/>
              <a:pPr/>
              <a:t>9/11/2013</a:t>
            </a:fld>
            <a:endParaRPr lang="en-US"/>
          </a:p>
        </p:txBody>
      </p:sp>
      <p:sp>
        <p:nvSpPr>
          <p:cNvPr id="5" name="Footer Placeholder 4"/>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3BD069B1-9B08-452E-A5E3-05AC557D4057}" type="slidenum">
              <a:rPr lang="en-US" smtClean="0"/>
              <a:pPr/>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transition spd="med">
    <p:wedg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07F744D-2440-4EAE-9339-FBACCED1D3D9}" type="datetimeFigureOut">
              <a:rPr lang="en-US" smtClean="0"/>
              <a:pPr/>
              <a:t>9/11/2013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069B1-9B08-452E-A5E3-05AC557D4057}" type="slidenum">
              <a:rPr lang="en-US" smtClean="0"/>
              <a:pPr/>
              <a:t>‹#›</a:t>
            </a:fld>
            <a:endParaRPr lang="en-US"/>
          </a:p>
        </p:txBody>
      </p:sp>
    </p:spTree>
  </p:cSld>
  <p:clrMapOvr>
    <a:masterClrMapping/>
  </p:clrMapOvr>
  <p:transition spd="med">
    <p:wedg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07F744D-2440-4EAE-9339-FBACCED1D3D9}" type="datetimeFigureOut">
              <a:rPr lang="en-US" smtClean="0"/>
              <a:pPr/>
              <a:t>9/11/2013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D069B1-9B08-452E-A5E3-05AC557D4057}" type="slidenum">
              <a:rPr lang="en-US" smtClean="0"/>
              <a:pPr/>
              <a:t>‹#›</a:t>
            </a:fld>
            <a:endParaRPr lang="en-US"/>
          </a:p>
        </p:txBody>
      </p:sp>
    </p:spTree>
  </p:cSld>
  <p:clrMapOvr>
    <a:masterClrMapping/>
  </p:clrMapOvr>
  <p:transition spd="med">
    <p:wedg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shadeToTitle="1">
        <a:gradFill flip="none" rotWithShape="1">
          <a:gsLst>
            <a:gs pos="0">
              <a:srgbClr val="FFFF00"/>
            </a:gs>
            <a:gs pos="45000">
              <a:srgbClr val="FF7A00"/>
            </a:gs>
            <a:gs pos="70000">
              <a:srgbClr val="FF0300"/>
            </a:gs>
            <a:gs pos="100000">
              <a:srgbClr val="4D0808"/>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007F744D-2440-4EAE-9339-FBACCED1D3D9}" type="datetimeFigureOut">
              <a:rPr lang="en-US" smtClean="0"/>
              <a:pPr/>
              <a:t>9/11/2013</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3BD069B1-9B08-452E-A5E3-05AC557D4057}" type="slidenum">
              <a:rPr lang="en-US" smtClean="0"/>
              <a:pPr/>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spd="med">
    <p:wedge/>
  </p:transition>
  <p:timing>
    <p:tnLst>
      <p:par>
        <p:cTn id="1" dur="indefinite" restart="never" nodeType="tmRoot"/>
      </p:par>
    </p:tnLst>
  </p:timing>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447800"/>
            <a:ext cx="5638800" cy="3124200"/>
          </a:xfrm>
          <a:solidFill>
            <a:srgbClr val="FF0000"/>
          </a:solidFill>
        </p:spPr>
        <p:style>
          <a:lnRef idx="3">
            <a:schemeClr val="lt1"/>
          </a:lnRef>
          <a:fillRef idx="1">
            <a:schemeClr val="accent2"/>
          </a:fillRef>
          <a:effectRef idx="1">
            <a:schemeClr val="accent2"/>
          </a:effectRef>
          <a:fontRef idx="minor">
            <a:schemeClr val="lt1"/>
          </a:fontRef>
        </p:style>
        <p:txBody>
          <a:bodyPr>
            <a:no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US" sz="8800" b="1" cap="none" dirty="0" smtClean="0">
                <a:ln w="12700">
                  <a:solidFill>
                    <a:schemeClr val="tx2">
                      <a:satMod val="155000"/>
                    </a:schemeClr>
                  </a:solidFill>
                  <a:prstDash val="solid"/>
                </a:ln>
                <a:solidFill>
                  <a:srgbClr val="FFFF00"/>
                </a:solidFill>
                <a:effectLst>
                  <a:outerShdw blurRad="41275" dist="20320" dir="1800000" algn="tl" rotWithShape="0">
                    <a:srgbClr val="000000">
                      <a:alpha val="40000"/>
                    </a:srgbClr>
                  </a:outerShdw>
                </a:effectLst>
                <a:latin typeface="Monotype Corsiva" pitchFamily="66" charset="0"/>
              </a:rPr>
              <a:t>POLITICAL</a:t>
            </a:r>
            <a:r>
              <a:rPr lang="en-US" sz="8800" b="1" cap="none" dirty="0" smtClean="0">
                <a:ln/>
                <a:solidFill>
                  <a:srgbClr val="FFFF00"/>
                </a:solidFill>
                <a:effectLst/>
                <a:latin typeface="Monotype Corsiva" pitchFamily="66" charset="0"/>
              </a:rPr>
              <a:t> SCIENCE</a:t>
            </a:r>
            <a:endParaRPr lang="en-US" sz="8800" b="1" cap="none" dirty="0">
              <a:ln/>
              <a:solidFill>
                <a:srgbClr val="FFFF00"/>
              </a:solidFill>
              <a:effectLst/>
              <a:latin typeface="Monotype Corsiva" pitchFamily="66" charset="0"/>
            </a:endParaRPr>
          </a:p>
        </p:txBody>
      </p:sp>
    </p:spTree>
  </p:cSld>
  <p:clrMapOvr>
    <a:masterClrMapping/>
  </p:clrMapOvr>
  <p:transition spd="med">
    <p:newsflash/>
    <p:sndAc>
      <p:stSnd>
        <p:snd r:embed="rId3" name="applause.wav" builtIn="1"/>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239000" cy="929640"/>
          </a:xfrm>
        </p:spPr>
        <p:style>
          <a:lnRef idx="3">
            <a:schemeClr val="lt1"/>
          </a:lnRef>
          <a:fillRef idx="1">
            <a:schemeClr val="accent2"/>
          </a:fillRef>
          <a:effectRef idx="1">
            <a:schemeClr val="accent2"/>
          </a:effectRef>
          <a:fontRef idx="minor">
            <a:schemeClr val="lt1"/>
          </a:fontRef>
        </p:style>
        <p:txBody>
          <a:bodyPr>
            <a:noAutofit/>
          </a:bodyPr>
          <a:lstStyle/>
          <a:p>
            <a:pPr algn="ctr"/>
            <a:r>
              <a:rPr lang="en-US" sz="4000" b="1" dirty="0" smtClean="0">
                <a:solidFill>
                  <a:srgbClr val="002060"/>
                </a:solidFill>
              </a:rPr>
              <a:t>POLITICAL SCIENCE DEFINED</a:t>
            </a:r>
            <a:endParaRPr lang="en-US" sz="3200" b="1" dirty="0">
              <a:solidFill>
                <a:srgbClr val="002060"/>
              </a:solidFill>
            </a:endParaRPr>
          </a:p>
        </p:txBody>
      </p:sp>
      <p:sp>
        <p:nvSpPr>
          <p:cNvPr id="3" name="Content Placeholder 2"/>
          <p:cNvSpPr>
            <a:spLocks noGrp="1"/>
          </p:cNvSpPr>
          <p:nvPr>
            <p:ph idx="1"/>
          </p:nvPr>
        </p:nvSpPr>
        <p:spPr>
          <a:xfrm>
            <a:off x="301752" y="1371600"/>
            <a:ext cx="8613648" cy="5181600"/>
          </a:xfrm>
        </p:spPr>
        <p:txBody>
          <a:bodyPr>
            <a:normAutofit fontScale="92500" lnSpcReduction="20000"/>
          </a:bodyPr>
          <a:lstStyle/>
          <a:p>
            <a:pPr>
              <a:buNone/>
            </a:pPr>
            <a:r>
              <a:rPr lang="en-US" sz="4000" b="1" i="1" dirty="0" smtClean="0">
                <a:solidFill>
                  <a:schemeClr val="accent1">
                    <a:lumMod val="50000"/>
                  </a:schemeClr>
                </a:solidFill>
              </a:rPr>
              <a:t>	Political science</a:t>
            </a:r>
            <a:r>
              <a:rPr lang="en-US" sz="4000" b="1" dirty="0" smtClean="0">
                <a:solidFill>
                  <a:schemeClr val="accent1">
                    <a:lumMod val="50000"/>
                  </a:schemeClr>
                </a:solidFill>
              </a:rPr>
              <a:t> </a:t>
            </a:r>
            <a:r>
              <a:rPr lang="en-US" sz="4000" dirty="0" smtClean="0"/>
              <a:t>is the systematic study of the State and Government.  </a:t>
            </a:r>
          </a:p>
          <a:p>
            <a:pPr>
              <a:buNone/>
            </a:pPr>
            <a:r>
              <a:rPr lang="en-US" sz="4000" dirty="0" smtClean="0"/>
              <a:t>	</a:t>
            </a:r>
          </a:p>
          <a:p>
            <a:pPr>
              <a:buNone/>
            </a:pPr>
            <a:r>
              <a:rPr lang="en-US" sz="4000" dirty="0" smtClean="0"/>
              <a:t>	Greek word </a:t>
            </a:r>
            <a:r>
              <a:rPr lang="en-US" sz="4000" b="1" i="1" dirty="0" smtClean="0">
                <a:solidFill>
                  <a:schemeClr val="accent1">
                    <a:lumMod val="75000"/>
                  </a:schemeClr>
                </a:solidFill>
              </a:rPr>
              <a:t>‘polis</a:t>
            </a:r>
            <a:r>
              <a:rPr lang="en-US" sz="4000" b="1" dirty="0" smtClean="0">
                <a:solidFill>
                  <a:schemeClr val="accent1">
                    <a:lumMod val="75000"/>
                  </a:schemeClr>
                </a:solidFill>
              </a:rPr>
              <a:t>’ </a:t>
            </a:r>
            <a:r>
              <a:rPr lang="en-US" sz="4000" dirty="0" smtClean="0"/>
              <a:t>meaning a city or  sovereign state, the word ‘science’ comes from the Latin word</a:t>
            </a:r>
            <a:r>
              <a:rPr lang="en-US" sz="4000" i="1" dirty="0" smtClean="0"/>
              <a:t> </a:t>
            </a:r>
            <a:r>
              <a:rPr lang="en-US" sz="4000" b="1" i="1" dirty="0" smtClean="0">
                <a:solidFill>
                  <a:schemeClr val="accent1">
                    <a:lumMod val="75000"/>
                  </a:schemeClr>
                </a:solidFill>
              </a:rPr>
              <a:t>‘</a:t>
            </a:r>
            <a:r>
              <a:rPr lang="en-US" sz="4000" b="1" i="1" dirty="0" err="1" smtClean="0">
                <a:solidFill>
                  <a:schemeClr val="accent1">
                    <a:lumMod val="75000"/>
                  </a:schemeClr>
                </a:solidFill>
              </a:rPr>
              <a:t>scire</a:t>
            </a:r>
            <a:r>
              <a:rPr lang="en-US" sz="4000" b="1" i="1" dirty="0" smtClean="0">
                <a:solidFill>
                  <a:schemeClr val="accent1">
                    <a:lumMod val="75000"/>
                  </a:schemeClr>
                </a:solidFill>
              </a:rPr>
              <a:t>’</a:t>
            </a:r>
            <a:r>
              <a:rPr lang="en-US" sz="4000" b="1" dirty="0" smtClean="0">
                <a:solidFill>
                  <a:schemeClr val="accent1">
                    <a:lumMod val="75000"/>
                  </a:schemeClr>
                </a:solidFill>
              </a:rPr>
              <a:t> </a:t>
            </a:r>
            <a:r>
              <a:rPr lang="en-US" sz="4000" dirty="0" smtClean="0"/>
              <a:t>meaning to know.</a:t>
            </a:r>
          </a:p>
          <a:p>
            <a:pPr>
              <a:buNone/>
            </a:pPr>
            <a:endParaRPr lang="en-US" sz="4000" dirty="0" smtClean="0"/>
          </a:p>
          <a:p>
            <a:pPr>
              <a:buNone/>
            </a:pPr>
            <a:endParaRPr lang="en-US" sz="4000" dirty="0"/>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sz="4000" b="1"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CORRELATES OF POLITICAL SCIENCE</a:t>
            </a:r>
            <a:endParaRPr lang="en-US" sz="4000" b="1"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3" name="Content Placeholder 2"/>
          <p:cNvSpPr>
            <a:spLocks noGrp="1"/>
          </p:cNvSpPr>
          <p:nvPr>
            <p:ph idx="1"/>
          </p:nvPr>
        </p:nvSpPr>
        <p:spPr>
          <a:xfrm>
            <a:off x="228600" y="1371600"/>
            <a:ext cx="8577072" cy="5486400"/>
          </a:xfrm>
        </p:spPr>
        <p:txBody>
          <a:bodyPr>
            <a:noAutofit/>
          </a:bodyPr>
          <a:lstStyle/>
          <a:p>
            <a:pPr>
              <a:buNone/>
            </a:pPr>
            <a:r>
              <a:rPr lang="en-US" sz="2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Political Science </a:t>
            </a:r>
            <a:r>
              <a:rPr lang="en-US" sz="2400" b="1" dirty="0" smtClean="0"/>
              <a:t>shares common interest with other social disciplines namely:</a:t>
            </a:r>
          </a:p>
          <a:p>
            <a:pPr>
              <a:buNone/>
            </a:pPr>
            <a:r>
              <a:rPr lang="en-US" sz="31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History</a:t>
            </a:r>
            <a:r>
              <a:rPr lang="en-US" sz="3100" b="1" dirty="0" smtClean="0"/>
              <a:t>  - </a:t>
            </a:r>
            <a:r>
              <a:rPr lang="en-US" sz="3100" b="1" dirty="0" smtClean="0">
                <a:solidFill>
                  <a:srgbClr val="002060"/>
                </a:solidFill>
              </a:rPr>
              <a:t>It is a written record of past including present. It describes social events in time and place. It records the events chronologically. On the other hand, the function of political science is to analyze political institutions, to describe their workings and organization and to some extent to forecast their development; while that of history is to trace the origin and development of the state and its political institution</a:t>
            </a:r>
            <a:r>
              <a:rPr lang="en-US" sz="3100" b="1" dirty="0" smtClean="0"/>
              <a:t>.</a:t>
            </a:r>
          </a:p>
          <a:p>
            <a:pPr>
              <a:buNone/>
            </a:pPr>
            <a:r>
              <a:rPr lang="en-US" sz="3100" b="1" dirty="0" smtClean="0"/>
              <a:t> </a:t>
            </a:r>
          </a:p>
          <a:p>
            <a:pPr lvl="0">
              <a:buNone/>
            </a:pPr>
            <a:endParaRPr lang="en-US" sz="2800" b="1" dirty="0" smtClean="0"/>
          </a:p>
          <a:p>
            <a:pPr>
              <a:buNone/>
            </a:pPr>
            <a:endParaRPr lang="en-US" sz="2800" b="1" dirty="0"/>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763000" cy="5562600"/>
          </a:xfrm>
        </p:spPr>
        <p:txBody>
          <a:bodyPr>
            <a:noAutofit/>
          </a:bodyPr>
          <a:lstStyle/>
          <a:p>
            <a:pPr lvl="0">
              <a:buNone/>
            </a:pPr>
            <a:r>
              <a:rPr lang="en-US" sz="4000" b="1" i="1" u="sng"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Economics</a:t>
            </a:r>
            <a:r>
              <a:rPr lang="en-US" sz="3600" b="1" dirty="0" smtClean="0"/>
              <a:t> – </a:t>
            </a:r>
            <a:r>
              <a:rPr lang="en-US" sz="3600" b="1" dirty="0" smtClean="0">
                <a:solidFill>
                  <a:srgbClr val="002060"/>
                </a:solidFill>
              </a:rPr>
              <a:t>is the scientific study of man’s activity in providing for such human needs as hunger, shelter, clothing and education. It deals with man’s attempt to earn a living, with man’s activities in connection with the consumption, production, distribution and exchange processes of wealth including taxation. It is the science of wealth getting and wealth using activities of man.</a:t>
            </a:r>
          </a:p>
          <a:p>
            <a:pPr>
              <a:buNone/>
            </a:pPr>
            <a:r>
              <a:rPr lang="en-US" sz="3600" b="1" dirty="0" smtClean="0"/>
              <a:t> </a:t>
            </a:r>
            <a:endParaRPr lang="en-US" sz="3600" b="1" dirty="0"/>
          </a:p>
        </p:txBody>
      </p:sp>
    </p:spTree>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534400" cy="5105400"/>
          </a:xfrm>
        </p:spPr>
        <p:txBody>
          <a:bodyPr>
            <a:noAutofit/>
          </a:bodyPr>
          <a:lstStyle/>
          <a:p>
            <a:pPr lvl="0">
              <a:buNone/>
            </a:pPr>
            <a:r>
              <a:rPr lang="en-US" sz="3800" b="1" dirty="0" smtClean="0"/>
              <a:t>	</a:t>
            </a:r>
            <a:r>
              <a:rPr lang="en-US" sz="4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Sociology </a:t>
            </a:r>
            <a:r>
              <a:rPr lang="en-US" sz="3800" b="1" dirty="0" smtClean="0"/>
              <a:t>–  </a:t>
            </a:r>
            <a:r>
              <a:rPr lang="en-US" sz="3800" b="1" dirty="0" smtClean="0">
                <a:solidFill>
                  <a:srgbClr val="002060"/>
                </a:solidFill>
              </a:rPr>
              <a:t>The study of sociology provides a way of understanding human behavior. It is the social science that deals with the study of man in his social interaction with other human beings in groups. It is also to obtain factual information about our society and different aspects of social life</a:t>
            </a:r>
            <a:r>
              <a:rPr lang="en-US" sz="3800" b="1" dirty="0" smtClean="0"/>
              <a:t>.</a:t>
            </a:r>
          </a:p>
          <a:p>
            <a:endParaRPr lang="en-US" sz="3800" b="1" dirty="0"/>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95400"/>
            <a:ext cx="8610600" cy="5029200"/>
          </a:xfrm>
        </p:spPr>
        <p:txBody>
          <a:bodyPr>
            <a:normAutofit fontScale="92500" lnSpcReduction="10000"/>
          </a:bodyPr>
          <a:lstStyle/>
          <a:p>
            <a:pPr lvl="0">
              <a:buNone/>
            </a:pPr>
            <a:r>
              <a:rPr lang="en-US" b="1" dirty="0" smtClean="0"/>
              <a:t>	</a:t>
            </a: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Law</a:t>
            </a:r>
            <a:r>
              <a:rPr lang="en-US" b="1" dirty="0" smtClean="0"/>
              <a:t> – </a:t>
            </a:r>
            <a:r>
              <a:rPr lang="en-US" b="1" dirty="0" smtClean="0">
                <a:solidFill>
                  <a:srgbClr val="002060"/>
                </a:solidFill>
              </a:rPr>
              <a:t>It is defined as an ordinance of reason promulgated by a competent authority for the common good. It includes any edict, decree, </a:t>
            </a:r>
            <a:r>
              <a:rPr lang="en-US" b="1" dirty="0" err="1" smtClean="0">
                <a:solidFill>
                  <a:srgbClr val="002060"/>
                </a:solidFill>
              </a:rPr>
              <a:t>rescript</a:t>
            </a:r>
            <a:r>
              <a:rPr lang="en-US" b="1" dirty="0" smtClean="0">
                <a:solidFill>
                  <a:srgbClr val="002060"/>
                </a:solidFill>
              </a:rPr>
              <a:t>, order, ordinance, statute, resolution, rule, judicial, decision, usage, etc. which is made or recognized and enforced by the controlling authority. </a:t>
            </a:r>
          </a:p>
          <a:p>
            <a:endParaRPr lang="en-US" b="1" dirty="0"/>
          </a:p>
        </p:txBody>
      </p:sp>
    </p:spTree>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95400"/>
            <a:ext cx="8686800" cy="4784725"/>
          </a:xfrm>
        </p:spPr>
        <p:txBody>
          <a:bodyPr>
            <a:noAutofit/>
          </a:bodyPr>
          <a:lstStyle/>
          <a:p>
            <a:pPr lvl="0">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Psychology</a:t>
            </a:r>
            <a:r>
              <a:rPr lang="en-US" sz="4000" b="1" dirty="0" smtClean="0"/>
              <a:t> – </a:t>
            </a:r>
            <a:r>
              <a:rPr lang="en-US" sz="4000" b="1" dirty="0" smtClean="0">
                <a:solidFill>
                  <a:srgbClr val="002060"/>
                </a:solidFill>
              </a:rPr>
              <a:t>This science deals mainly with the individual without any particular reference to his social life. It studies its soul and faculties – free will and understanding and the individual conduct which is the outcome of our mental activity and human habits.</a:t>
            </a:r>
          </a:p>
          <a:p>
            <a:pPr>
              <a:buNone/>
            </a:pPr>
            <a:r>
              <a:rPr lang="en-US" sz="4000" b="1" dirty="0" smtClean="0"/>
              <a:t> </a:t>
            </a:r>
          </a:p>
          <a:p>
            <a:endParaRPr lang="en-US" sz="4000" b="1" dirty="0"/>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lgn="just">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Philosophy and Ethics </a:t>
            </a:r>
            <a:r>
              <a:rPr lang="en-US" sz="4000" b="1" dirty="0" smtClean="0">
                <a:solidFill>
                  <a:srgbClr val="002060"/>
                </a:solidFill>
              </a:rPr>
              <a:t>– while the relation of political science to philosophy is somewhat remote, the two studies touch up on each other  in some parts, especially in the realm of political theory and political philosophy.</a:t>
            </a:r>
          </a:p>
          <a:p>
            <a:pPr algn="just">
              <a:buNone/>
            </a:pPr>
            <a:r>
              <a:rPr lang="en-US" sz="4000" b="1" dirty="0" smtClean="0">
                <a:solidFill>
                  <a:srgbClr val="002060"/>
                </a:solidFill>
              </a:rPr>
              <a:t> </a:t>
            </a:r>
          </a:p>
        </p:txBody>
      </p:sp>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763000" cy="4937125"/>
          </a:xfrm>
        </p:spPr>
        <p:txBody>
          <a:bodyPr>
            <a:noAutofit/>
          </a:bodyPr>
          <a:lstStyle/>
          <a:p>
            <a:pPr lvl="0" algn="just">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Geography and Statistics </a:t>
            </a:r>
            <a:r>
              <a:rPr lang="en-US" dirty="0" smtClean="0">
                <a:solidFill>
                  <a:srgbClr val="002060"/>
                </a:solidFill>
              </a:rPr>
              <a:t>– the study of geography to a certain extent is related to that of political science. The distinctive functions of geography is to describe and explain the relations between man and his natural environment; to examine and interpret the adjustments which groups of people have made to the combinations of natural environment conditions which exist in the regions where they live.</a:t>
            </a:r>
          </a:p>
          <a:p>
            <a:pPr>
              <a:buNone/>
            </a:pPr>
            <a:r>
              <a:rPr lang="en-US" dirty="0" smtClean="0"/>
              <a:t> </a:t>
            </a:r>
          </a:p>
          <a:p>
            <a:pPr>
              <a:buNone/>
            </a:pPr>
            <a:endParaRPr lang="en-US" dirty="0" smtClean="0"/>
          </a:p>
          <a:p>
            <a:pPr>
              <a:buNone/>
            </a:pPr>
            <a:endParaRPr lang="en-US" dirty="0"/>
          </a:p>
        </p:txBody>
      </p:sp>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CONCEPT OF A STATE</a:t>
            </a:r>
            <a:endParaRPr lang="en-US" dirty="0"/>
          </a:p>
        </p:txBody>
      </p:sp>
      <p:sp>
        <p:nvSpPr>
          <p:cNvPr id="3" name="Content Placeholder 2"/>
          <p:cNvSpPr>
            <a:spLocks noGrp="1"/>
          </p:cNvSpPr>
          <p:nvPr>
            <p:ph idx="1"/>
          </p:nvPr>
        </p:nvSpPr>
        <p:spPr>
          <a:xfrm>
            <a:off x="301752" y="1295400"/>
            <a:ext cx="8503920" cy="5181600"/>
          </a:xfrm>
        </p:spPr>
        <p:txBody>
          <a:bodyPr>
            <a:noAutofit/>
          </a:bodyPr>
          <a:lstStyle/>
          <a:p>
            <a:pPr>
              <a:buNone/>
            </a:pPr>
            <a:r>
              <a:rPr lang="en-US" sz="2800" dirty="0" smtClean="0"/>
              <a:t>	A </a:t>
            </a:r>
            <a:r>
              <a:rPr lang="en-US" b="1" i="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state</a:t>
            </a:r>
            <a:r>
              <a:rPr lang="en-US" sz="2800" i="1" dirty="0" smtClean="0"/>
              <a:t> </a:t>
            </a:r>
            <a:r>
              <a:rPr lang="en-US" sz="2800" dirty="0" smtClean="0"/>
              <a:t>is a community of persons more or less numerous, permanently occupying a definite portion of the territory, independent from outside or external control and possessing a government wherein a great  body of inhabitants render habitual obedience. ( CIR vs. </a:t>
            </a:r>
            <a:r>
              <a:rPr lang="en-US" sz="2800" dirty="0" err="1" smtClean="0"/>
              <a:t>Rueda</a:t>
            </a:r>
            <a:r>
              <a:rPr lang="en-US" sz="2800" dirty="0" smtClean="0"/>
              <a:t>, 42 SCRA 23 ). </a:t>
            </a:r>
          </a:p>
          <a:p>
            <a:pPr algn="just">
              <a:buNone/>
            </a:pPr>
            <a:r>
              <a:rPr lang="en-US" sz="2800" b="1" dirty="0" smtClean="0">
                <a:ln w="1905"/>
                <a:solidFill>
                  <a:srgbClr val="002060"/>
                </a:solidFill>
                <a:effectLst>
                  <a:innerShdw blurRad="69850" dist="43180" dir="5400000">
                    <a:srgbClr val="000000">
                      <a:alpha val="65000"/>
                    </a:srgbClr>
                  </a:innerShdw>
                </a:effectLst>
              </a:rPr>
              <a:t>The state has four essential element; namely:</a:t>
            </a:r>
          </a:p>
          <a:p>
            <a:pPr algn="just"/>
            <a:r>
              <a:rPr lang="en-US" sz="2800" b="1" dirty="0" smtClean="0">
                <a:ln w="1905"/>
                <a:solidFill>
                  <a:srgbClr val="002060"/>
                </a:solidFill>
                <a:effectLst>
                  <a:innerShdw blurRad="69850" dist="43180" dir="5400000">
                    <a:srgbClr val="000000">
                      <a:alpha val="65000"/>
                    </a:srgbClr>
                  </a:innerShdw>
                </a:effectLst>
              </a:rPr>
              <a:t>People</a:t>
            </a:r>
          </a:p>
          <a:p>
            <a:pPr algn="just"/>
            <a:r>
              <a:rPr lang="en-US" sz="2800" b="1" dirty="0" smtClean="0">
                <a:ln w="1905"/>
                <a:solidFill>
                  <a:srgbClr val="002060"/>
                </a:solidFill>
                <a:effectLst>
                  <a:innerShdw blurRad="69850" dist="43180" dir="5400000">
                    <a:srgbClr val="000000">
                      <a:alpha val="65000"/>
                    </a:srgbClr>
                  </a:innerShdw>
                </a:effectLst>
              </a:rPr>
              <a:t>Territory</a:t>
            </a:r>
          </a:p>
          <a:p>
            <a:pPr algn="just"/>
            <a:r>
              <a:rPr lang="en-US" sz="2800" b="1" dirty="0" smtClean="0">
                <a:ln w="1905"/>
                <a:solidFill>
                  <a:srgbClr val="002060"/>
                </a:solidFill>
                <a:effectLst>
                  <a:innerShdw blurRad="69850" dist="43180" dir="5400000">
                    <a:srgbClr val="000000">
                      <a:alpha val="65000"/>
                    </a:srgbClr>
                  </a:innerShdw>
                </a:effectLst>
              </a:rPr>
              <a:t>Government</a:t>
            </a:r>
          </a:p>
          <a:p>
            <a:pPr algn="just"/>
            <a:r>
              <a:rPr lang="en-US" sz="2800" b="1" dirty="0" smtClean="0">
                <a:ln w="1905"/>
                <a:solidFill>
                  <a:srgbClr val="002060"/>
                </a:solidFill>
                <a:effectLst>
                  <a:innerShdw blurRad="69850" dist="43180" dir="5400000">
                    <a:srgbClr val="000000">
                      <a:alpha val="65000"/>
                    </a:srgbClr>
                  </a:innerShdw>
                </a:effectLst>
              </a:rPr>
              <a:t>Sovereignty</a:t>
            </a:r>
          </a:p>
          <a:p>
            <a:pPr>
              <a:buNone/>
            </a:pPr>
            <a:endParaRPr lang="en-US" sz="2800" dirty="0" smtClean="0"/>
          </a:p>
          <a:p>
            <a:pPr>
              <a:buNone/>
            </a:pPr>
            <a:endParaRPr lang="en-US" sz="2800" dirty="0" smtClean="0"/>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r>
              <a:rPr lang="en-US" b="1" dirty="0" smtClean="0"/>
              <a:t>ORIGIN OF THE STATE</a:t>
            </a:r>
            <a:endParaRPr lang="en-US" dirty="0"/>
          </a:p>
        </p:txBody>
      </p:sp>
      <p:sp>
        <p:nvSpPr>
          <p:cNvPr id="3" name="Content Placeholder 2"/>
          <p:cNvSpPr>
            <a:spLocks noGrp="1"/>
          </p:cNvSpPr>
          <p:nvPr>
            <p:ph idx="1"/>
          </p:nvPr>
        </p:nvSpPr>
        <p:spPr>
          <a:xfrm>
            <a:off x="304800" y="1447800"/>
            <a:ext cx="8686800" cy="5181600"/>
          </a:xfrm>
        </p:spPr>
        <p:txBody>
          <a:bodyPr>
            <a:noAutofit/>
          </a:bodyPr>
          <a:lstStyle/>
          <a:p>
            <a:pPr lvl="0">
              <a:buNone/>
            </a:pPr>
            <a:r>
              <a:rPr lang="en-US" sz="3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Divine Theory – </a:t>
            </a:r>
            <a:r>
              <a:rPr lang="en-US" sz="3400" dirty="0" smtClean="0"/>
              <a:t>it holds that the state of divine creation and the ruler is obtained by GOD to govern the people. Reference has been made by advocates of this theory to the laws which Moses received at Mt. Sinai.</a:t>
            </a:r>
          </a:p>
          <a:p>
            <a:pPr algn="just">
              <a:buNone/>
            </a:pPr>
            <a:r>
              <a:rPr lang="en-US" sz="3400" dirty="0" smtClean="0"/>
              <a:t> </a:t>
            </a:r>
            <a:r>
              <a:rPr lang="en-US" sz="3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Necessity or Force Theory – </a:t>
            </a:r>
            <a:r>
              <a:rPr lang="en-US" sz="3400" dirty="0" smtClean="0">
                <a:solidFill>
                  <a:srgbClr val="002060"/>
                </a:solidFill>
              </a:rPr>
              <a:t>it maintains that states must have been created through force by some great warriors who imposed their will up on the week.</a:t>
            </a:r>
          </a:p>
          <a:p>
            <a:pPr algn="just">
              <a:buNone/>
            </a:pPr>
            <a:r>
              <a:rPr lang="en-US" sz="3400" dirty="0" smtClean="0">
                <a:solidFill>
                  <a:srgbClr val="002060"/>
                </a:solidFill>
              </a:rPr>
              <a:t> </a:t>
            </a:r>
          </a:p>
          <a:p>
            <a:pPr>
              <a:buNone/>
            </a:pPr>
            <a:endParaRPr lang="en-US" sz="3400" dirty="0"/>
          </a:p>
        </p:txBody>
      </p:sp>
    </p:spTree>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95400"/>
            <a:ext cx="8610600" cy="4784725"/>
          </a:xfrm>
        </p:spPr>
        <p:txBody>
          <a:bodyPr>
            <a:noAutofit/>
          </a:bodyPr>
          <a:lstStyle/>
          <a:p>
            <a:pPr lvl="0">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Paternalistic Theory </a:t>
            </a:r>
            <a:r>
              <a:rPr lang="en-US" sz="3600" b="1" dirty="0" smtClean="0"/>
              <a:t>– it attributes the origin of states to the enlargement of the family, which remained under the authority of the father or the mother. By natural stages, the family grew into a clan , then developed into a tribe which broadened into a nation becomes a state.</a:t>
            </a:r>
          </a:p>
          <a:p>
            <a:pPr>
              <a:buNone/>
            </a:pPr>
            <a:r>
              <a:rPr lang="en-US" sz="3600" b="1" dirty="0" smtClean="0"/>
              <a:t> </a:t>
            </a:r>
          </a:p>
        </p:txBody>
      </p:sp>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534400" cy="5181600"/>
          </a:xfrm>
        </p:spPr>
        <p:txBody>
          <a:bodyPr>
            <a:noAutofit/>
          </a:bodyPr>
          <a:lstStyle/>
          <a:p>
            <a:pPr lvl="0" algn="just">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Social Contract Theory – </a:t>
            </a:r>
            <a:r>
              <a:rPr lang="en-US" sz="4000" b="1" dirty="0" smtClean="0"/>
              <a:t>it asserts that the early states must have been formed by deliberate and voluntary compact among the people to form a society and organize government  for their common good. This theory justifies the right of the people to revolt against a bad ruler.</a:t>
            </a:r>
          </a:p>
          <a:p>
            <a:pPr algn="just">
              <a:buNone/>
            </a:pPr>
            <a:r>
              <a:rPr lang="en-US" sz="4000" b="1" dirty="0" smtClean="0"/>
              <a:t> </a:t>
            </a:r>
          </a:p>
          <a:p>
            <a:pPr>
              <a:buNone/>
            </a:pPr>
            <a:endParaRPr lang="en-US" sz="4000" b="1" dirty="0" smtClean="0"/>
          </a:p>
          <a:p>
            <a:pPr>
              <a:buNone/>
            </a:pPr>
            <a:endParaRPr lang="en-US" sz="4000" b="1" dirty="0"/>
          </a:p>
        </p:txBody>
      </p:sp>
    </p:spTree>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r>
              <a:rPr lang="en-US" b="1" dirty="0" smtClean="0"/>
              <a:t>FUNCTIONS OF THE STATE</a:t>
            </a:r>
            <a:endParaRPr lang="en-US" dirty="0"/>
          </a:p>
        </p:txBody>
      </p:sp>
      <p:sp>
        <p:nvSpPr>
          <p:cNvPr id="3" name="Content Placeholder 2"/>
          <p:cNvSpPr>
            <a:spLocks noGrp="1"/>
          </p:cNvSpPr>
          <p:nvPr>
            <p:ph idx="1"/>
          </p:nvPr>
        </p:nvSpPr>
        <p:spPr>
          <a:xfrm>
            <a:off x="228600" y="1447800"/>
            <a:ext cx="8763000" cy="5181600"/>
          </a:xfrm>
        </p:spPr>
        <p:txBody>
          <a:bodyPr>
            <a:noAutofit/>
          </a:bodyPr>
          <a:lstStyle/>
          <a:p>
            <a:pPr lvl="0" algn="just">
              <a:buNone/>
            </a:pPr>
            <a:r>
              <a:rPr lang="en-US" sz="3600" b="1" dirty="0" smtClean="0">
                <a:ln w="1905"/>
                <a:solidFill>
                  <a:srgbClr val="002060"/>
                </a:solidFill>
                <a:effectLst>
                  <a:innerShdw blurRad="69850" dist="43180" dir="5400000">
                    <a:srgbClr val="000000">
                      <a:alpha val="65000"/>
                    </a:srgbClr>
                  </a:innerShdw>
                </a:effectLst>
              </a:rPr>
              <a:t>Constituent –</a:t>
            </a:r>
            <a:r>
              <a:rPr lang="en-US" sz="3600" b="1" dirty="0" smtClean="0">
                <a:solidFill>
                  <a:srgbClr val="002060"/>
                </a:solidFill>
              </a:rPr>
              <a:t>only buy way of society and are, and are </a:t>
            </a:r>
            <a:r>
              <a:rPr lang="en-US" sz="3600" b="1" dirty="0" smtClean="0"/>
              <a:t>those</a:t>
            </a:r>
            <a:r>
              <a:rPr lang="en-US" sz="3600" b="1" dirty="0" smtClean="0">
                <a:solidFill>
                  <a:srgbClr val="002060"/>
                </a:solidFill>
              </a:rPr>
              <a:t> </a:t>
            </a:r>
            <a:r>
              <a:rPr lang="en-US" sz="3600" b="1" dirty="0" smtClean="0">
                <a:solidFill>
                  <a:srgbClr val="002060"/>
                </a:solidFill>
              </a:rPr>
              <a:t>which constitute the bond of society and are, therefore compulsory in nature.</a:t>
            </a:r>
          </a:p>
          <a:p>
            <a:pPr algn="just">
              <a:buNone/>
            </a:pPr>
            <a:r>
              <a:rPr lang="en-US" sz="3600" b="1" dirty="0" smtClean="0">
                <a:solidFill>
                  <a:srgbClr val="002060"/>
                </a:solidFill>
              </a:rPr>
              <a:t> </a:t>
            </a:r>
            <a:r>
              <a:rPr lang="en-US" sz="3600" b="1" dirty="0" smtClean="0">
                <a:ln w="1905"/>
                <a:solidFill>
                  <a:srgbClr val="002060"/>
                </a:solidFill>
                <a:effectLst>
                  <a:innerShdw blurRad="69850" dist="43180" dir="5400000">
                    <a:srgbClr val="000000">
                      <a:alpha val="65000"/>
                    </a:srgbClr>
                  </a:innerShdw>
                </a:effectLst>
              </a:rPr>
              <a:t>Ministrant – </a:t>
            </a:r>
            <a:r>
              <a:rPr lang="en-US" sz="3600" b="1" dirty="0" smtClean="0">
                <a:solidFill>
                  <a:srgbClr val="002060"/>
                </a:solidFill>
              </a:rPr>
              <a:t>those undertaken </a:t>
            </a:r>
            <a:r>
              <a:rPr lang="en-US" sz="3600" b="1" dirty="0" err="1" smtClean="0">
                <a:solidFill>
                  <a:srgbClr val="002060"/>
                </a:solidFill>
              </a:rPr>
              <a:t>herefore</a:t>
            </a:r>
            <a:r>
              <a:rPr lang="en-US" sz="3600" b="1" dirty="0" smtClean="0">
                <a:solidFill>
                  <a:srgbClr val="002060"/>
                </a:solidFill>
              </a:rPr>
              <a:t> options of such as public works, publication, public charity, health and safety regulations and regulation of trade and commerce.</a:t>
            </a:r>
          </a:p>
          <a:p>
            <a:pPr algn="just">
              <a:buNone/>
            </a:pPr>
            <a:r>
              <a:rPr lang="en-US" sz="3600" b="1" dirty="0" smtClean="0">
                <a:solidFill>
                  <a:srgbClr val="002060"/>
                </a:solidFill>
              </a:rPr>
              <a:t> </a:t>
            </a:r>
          </a:p>
          <a:p>
            <a:pPr algn="just">
              <a:buNone/>
            </a:pPr>
            <a:endParaRPr lang="en-US" sz="3600" b="1" dirty="0">
              <a:solidFill>
                <a:srgbClr val="002060"/>
              </a:solidFill>
            </a:endParaRPr>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4000" b="1" dirty="0" smtClean="0"/>
              <a:t>STATE DISTINGUISHED FROM NATION</a:t>
            </a:r>
            <a:endParaRPr lang="en-US" sz="4000" dirty="0"/>
          </a:p>
        </p:txBody>
      </p:sp>
      <p:sp>
        <p:nvSpPr>
          <p:cNvPr id="3" name="Content Placeholder 2"/>
          <p:cNvSpPr>
            <a:spLocks noGrp="1"/>
          </p:cNvSpPr>
          <p:nvPr>
            <p:ph idx="1"/>
          </p:nvPr>
        </p:nvSpPr>
        <p:spPr/>
        <p:txBody>
          <a:bodyPr>
            <a:noAutofit/>
          </a:bodyPr>
          <a:lstStyle/>
          <a:p>
            <a:pPr>
              <a:buNone/>
            </a:pPr>
            <a:r>
              <a:rPr lang="en-US" sz="3600" b="1" dirty="0" smtClean="0"/>
              <a:t>	A state is more of a judicial or legal concept, while a nation is more of a racial or ethnic concept. A nation may or may not be independent of external control A state may consist of one or more nations while a nation may consist of one or more states.</a:t>
            </a:r>
          </a:p>
          <a:p>
            <a:pPr>
              <a:buNone/>
            </a:pPr>
            <a:r>
              <a:rPr lang="en-US" sz="3600" b="1" dirty="0" smtClean="0"/>
              <a:t> </a:t>
            </a:r>
          </a:p>
          <a:p>
            <a:pPr>
              <a:buNone/>
            </a:pPr>
            <a:endParaRPr lang="en-US" sz="3600" b="1" dirty="0"/>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r>
              <a:rPr lang="en-US" sz="4400" b="1" dirty="0" smtClean="0"/>
              <a:t>CONCEPT OF NATION</a:t>
            </a:r>
            <a:endParaRPr lang="en-US" sz="4400" dirty="0"/>
          </a:p>
        </p:txBody>
      </p:sp>
      <p:sp>
        <p:nvSpPr>
          <p:cNvPr id="3" name="Content Placeholder 2"/>
          <p:cNvSpPr>
            <a:spLocks noGrp="1"/>
          </p:cNvSpPr>
          <p:nvPr>
            <p:ph idx="1"/>
          </p:nvPr>
        </p:nvSpPr>
        <p:spPr>
          <a:xfrm>
            <a:off x="304800" y="2057400"/>
            <a:ext cx="8686800" cy="4022725"/>
          </a:xfrm>
        </p:spPr>
        <p:txBody>
          <a:bodyPr>
            <a:normAutofit/>
          </a:bodyPr>
          <a:lstStyle/>
          <a:p>
            <a:pPr algn="ctr">
              <a:buNone/>
            </a:pPr>
            <a:r>
              <a:rPr lang="en-US" sz="4000" b="1" dirty="0" smtClean="0"/>
              <a:t>	A </a:t>
            </a: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nation</a:t>
            </a:r>
            <a:r>
              <a:rPr lang="en-US" sz="4000" b="1" dirty="0" smtClean="0"/>
              <a:t> is a group of persons occupying a portion of the territory sharing the same language, culture, tradition and history.</a:t>
            </a:r>
          </a:p>
          <a:p>
            <a:pPr algn="ctr">
              <a:buNone/>
            </a:pPr>
            <a:endParaRPr lang="en-US" sz="4000" b="1" dirty="0"/>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r>
              <a:rPr lang="en-US" b="1" dirty="0" smtClean="0"/>
              <a:t>INHERENT POWERS OF THE STATE</a:t>
            </a:r>
            <a:endParaRPr lang="en-US" dirty="0"/>
          </a:p>
        </p:txBody>
      </p:sp>
      <p:sp>
        <p:nvSpPr>
          <p:cNvPr id="3" name="Content Placeholder 2"/>
          <p:cNvSpPr>
            <a:spLocks noGrp="1"/>
          </p:cNvSpPr>
          <p:nvPr>
            <p:ph idx="1"/>
          </p:nvPr>
        </p:nvSpPr>
        <p:spPr>
          <a:xfrm>
            <a:off x="304800" y="1447800"/>
            <a:ext cx="8500872" cy="5257800"/>
          </a:xfrm>
        </p:spPr>
        <p:txBody>
          <a:bodyPr>
            <a:noAutofit/>
          </a:bodyPr>
          <a:lstStyle/>
          <a:p>
            <a:pPr lvl="0">
              <a:buNone/>
            </a:pPr>
            <a:r>
              <a:rPr lang="en-US" sz="3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Police Power </a:t>
            </a:r>
            <a:r>
              <a:rPr lang="en-US" sz="3000" dirty="0" smtClean="0"/>
              <a:t>– it is the power of the state to regulate individual ‘s rights and property for the general welfare.</a:t>
            </a:r>
          </a:p>
          <a:p>
            <a:pPr>
              <a:buNone/>
            </a:pPr>
            <a:r>
              <a:rPr lang="en-US" sz="3000" dirty="0" smtClean="0"/>
              <a:t>  </a:t>
            </a:r>
            <a:r>
              <a:rPr lang="en-US" sz="3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Eminent Domain or Power of Expropriation </a:t>
            </a:r>
            <a:r>
              <a:rPr lang="en-US" sz="3000" dirty="0" smtClean="0"/>
              <a:t>– it is the power of the state to take possession of private property for public purpose and after payment of just compensation.</a:t>
            </a:r>
          </a:p>
          <a:p>
            <a:pPr algn="just">
              <a:buNone/>
            </a:pPr>
            <a:r>
              <a:rPr lang="en-US" sz="3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Power of Taxation </a:t>
            </a:r>
            <a:r>
              <a:rPr lang="en-US" sz="3000" dirty="0" smtClean="0"/>
              <a:t>- </a:t>
            </a:r>
            <a:r>
              <a:rPr lang="en-US" sz="3000" dirty="0" smtClean="0">
                <a:solidFill>
                  <a:srgbClr val="FFFF00"/>
                </a:solidFill>
              </a:rPr>
              <a:t>the power of the state to enforce proportionate contributions from the people for support of all government programs and services.</a:t>
            </a:r>
          </a:p>
          <a:p>
            <a:pPr algn="just">
              <a:buNone/>
            </a:pPr>
            <a:r>
              <a:rPr lang="en-US" sz="3000" dirty="0" smtClean="0">
                <a:solidFill>
                  <a:srgbClr val="FFFF00"/>
                </a:solidFill>
              </a:rPr>
              <a:t> </a:t>
            </a:r>
          </a:p>
          <a:p>
            <a:pPr>
              <a:buNone/>
            </a:pPr>
            <a:endParaRPr lang="en-US" sz="3000" dirty="0"/>
          </a:p>
        </p:txBody>
      </p:sp>
    </p:spTree>
  </p:cSld>
  <p:clrMapOvr>
    <a:masterClrMapping/>
  </p:clrMapOvr>
  <p:transition spd="med">
    <p:pull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r>
              <a:rPr lang="en-US" b="1" dirty="0" smtClean="0"/>
              <a:t>MODES OF ACQUIRING TERRITORY</a:t>
            </a:r>
            <a:endParaRPr lang="en-US" dirty="0"/>
          </a:p>
        </p:txBody>
      </p:sp>
      <p:sp>
        <p:nvSpPr>
          <p:cNvPr id="3" name="Content Placeholder 2"/>
          <p:cNvSpPr>
            <a:spLocks noGrp="1"/>
          </p:cNvSpPr>
          <p:nvPr>
            <p:ph idx="1"/>
          </p:nvPr>
        </p:nvSpPr>
        <p:spPr/>
        <p:txBody>
          <a:bodyPr>
            <a:noAutofit/>
          </a:bodyPr>
          <a:lstStyle/>
          <a:p>
            <a:pPr lvl="0">
              <a:buNone/>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Discovery -  </a:t>
            </a:r>
            <a:r>
              <a:rPr lang="en-US" sz="3600" b="1" dirty="0" smtClean="0"/>
              <a:t>a discovery of a particular portion of the earth’s surface coupled with occupation . A discovery without occupation will not make the discover the owner thereof.</a:t>
            </a:r>
          </a:p>
          <a:p>
            <a:pPr lvl="0">
              <a:buNone/>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Prescription – </a:t>
            </a:r>
            <a:r>
              <a:rPr lang="en-US" sz="3600" b="1" dirty="0" smtClean="0"/>
              <a:t>the continued and interrupted occupation of a territory for a long period of time by one state.</a:t>
            </a:r>
          </a:p>
          <a:p>
            <a:pPr>
              <a:buNone/>
            </a:pPr>
            <a:r>
              <a:rPr lang="en-US" sz="3600" b="1" dirty="0" smtClean="0"/>
              <a:t> </a:t>
            </a:r>
          </a:p>
          <a:p>
            <a:endParaRPr lang="en-US" sz="3600" b="1" dirty="0"/>
          </a:p>
        </p:txBody>
      </p:sp>
    </p:spTree>
  </p:cSld>
  <p:clrMapOvr>
    <a:masterClrMapping/>
  </p:clrMapOvr>
  <p:transition spd="med">
    <p:pull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763000" cy="5562600"/>
          </a:xfrm>
        </p:spPr>
        <p:txBody>
          <a:bodyPr>
            <a:noAutofit/>
          </a:bodyPr>
          <a:lstStyle/>
          <a:p>
            <a:pPr lvl="0">
              <a:buNone/>
            </a:pPr>
            <a:r>
              <a:rPr lang="en-US" sz="3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Accretion </a:t>
            </a:r>
            <a:r>
              <a:rPr lang="en-US" sz="3400" b="1" dirty="0" smtClean="0"/>
              <a:t>– it is the process where the land area of a state caused by the operation of either the forces of nature, or artificially through human labor, is increased.</a:t>
            </a:r>
          </a:p>
          <a:p>
            <a:pPr>
              <a:buNone/>
            </a:pPr>
            <a:r>
              <a:rPr lang="en-US" sz="3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Cessation  </a:t>
            </a:r>
            <a:r>
              <a:rPr lang="en-US" sz="3400" b="1" dirty="0" smtClean="0"/>
              <a:t>- is a bilateral agreement whereby one state transfers to another state a definite portion of its territory by means of force.</a:t>
            </a:r>
          </a:p>
          <a:p>
            <a:pPr>
              <a:buNone/>
            </a:pPr>
            <a:r>
              <a:rPr lang="en-US" sz="3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Conquest </a:t>
            </a:r>
            <a:r>
              <a:rPr lang="en-US" sz="3400" b="1" dirty="0" smtClean="0"/>
              <a:t>-  the acquisition of territory by means of force.</a:t>
            </a:r>
          </a:p>
          <a:p>
            <a:pPr>
              <a:buNone/>
            </a:pPr>
            <a:r>
              <a:rPr lang="en-US" sz="3400" b="1" dirty="0" smtClean="0"/>
              <a:t> </a:t>
            </a:r>
          </a:p>
          <a:p>
            <a:pPr>
              <a:buNone/>
            </a:pPr>
            <a:endParaRPr lang="en-US" sz="3400" b="1" dirty="0"/>
          </a:p>
        </p:txBody>
      </p:sp>
    </p:spTree>
  </p:cSld>
  <p:clrMapOvr>
    <a:masterClrMapping/>
  </p:clrMapOvr>
  <p:transition spd="med">
    <p:pull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4400" b="1" dirty="0" smtClean="0"/>
              <a:t>FORMS OF GOVERNMENT</a:t>
            </a:r>
            <a:endParaRPr lang="en-US" sz="4400" dirty="0"/>
          </a:p>
        </p:txBody>
      </p:sp>
      <p:sp>
        <p:nvSpPr>
          <p:cNvPr id="3" name="Content Placeholder 2"/>
          <p:cNvSpPr>
            <a:spLocks noGrp="1"/>
          </p:cNvSpPr>
          <p:nvPr>
            <p:ph idx="1"/>
          </p:nvPr>
        </p:nvSpPr>
        <p:spPr/>
        <p:txBody>
          <a:bodyPr>
            <a:noAutofit/>
          </a:bodyPr>
          <a:lstStyle/>
          <a:p>
            <a:pPr lvl="0">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Democracy</a:t>
            </a:r>
            <a:r>
              <a:rPr lang="en-US" sz="4000" dirty="0" smtClean="0"/>
              <a:t> – comes from the Latin terms ‘</a:t>
            </a: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demos’ ‘</a:t>
            </a:r>
            <a:r>
              <a:rPr lang="en-US" sz="4000"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kratos</a:t>
            </a: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r>
              <a:rPr lang="en-US" sz="4000" dirty="0" smtClean="0"/>
              <a:t>It is a form of government wherein the power or sovereignty is exercised and or resides in the people. It may be classified as pure or representative democracy.</a:t>
            </a:r>
          </a:p>
          <a:p>
            <a:pPr>
              <a:buNone/>
            </a:pPr>
            <a:r>
              <a:rPr lang="en-US" sz="4000" dirty="0" smtClean="0"/>
              <a:t> </a:t>
            </a:r>
          </a:p>
        </p:txBody>
      </p:sp>
    </p:spTree>
  </p:cSld>
  <p:clrMapOvr>
    <a:masterClrMapping/>
  </p:clrMapOvr>
  <p:transition spd="med">
    <p:pull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lvl="0">
              <a:buNone/>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Aristocracy </a:t>
            </a:r>
            <a:r>
              <a:rPr lang="en-US" sz="4400" b="1" dirty="0" smtClean="0"/>
              <a:t>– a form of government wherein the power is exercised by a limited few or the so-called elite. It is always regarded as the privileged class.</a:t>
            </a:r>
          </a:p>
          <a:p>
            <a:endParaRPr lang="en-US" sz="4400" b="1" dirty="0"/>
          </a:p>
        </p:txBody>
      </p:sp>
    </p:spTree>
  </p:cSld>
  <p:clrMapOvr>
    <a:masterClrMapping/>
  </p:clrMapOvr>
  <p:transition spd="med">
    <p:pull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buNone/>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Monarchy</a:t>
            </a:r>
            <a:r>
              <a:rPr lang="en-US" sz="4400" dirty="0" smtClean="0"/>
              <a:t> – a form of government wherein the power or sovereignty is exercised by one person only, usually a king or a queen. It could either be absolute or limited monarchy.</a:t>
            </a:r>
          </a:p>
          <a:p>
            <a:pPr>
              <a:buNone/>
            </a:pPr>
            <a:r>
              <a:rPr lang="en-US" sz="4400" dirty="0" smtClean="0"/>
              <a:t> </a:t>
            </a:r>
          </a:p>
          <a:p>
            <a:endParaRPr lang="en-US" sz="4400" dirty="0"/>
          </a:p>
        </p:txBody>
      </p:sp>
    </p:spTree>
  </p:cSld>
  <p:clrMapOvr>
    <a:masterClrMapping/>
  </p:clrMapOvr>
  <p:transition spd="med">
    <p:pull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buNone/>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Parliamentary</a:t>
            </a:r>
            <a:r>
              <a:rPr lang="en-US" sz="3600" b="1" dirty="0" smtClean="0"/>
              <a:t> – a form of government wherein the President serves  as nominal or titular head. It is the Prime Minister that runs the affairs of the State. He is directly accountable to the people. Under this system the ministry is legally responsible to legislature and consequently to the electorate. </a:t>
            </a:r>
          </a:p>
          <a:p>
            <a:pPr>
              <a:buNone/>
            </a:pPr>
            <a:r>
              <a:rPr lang="en-US" sz="3600" b="1" dirty="0" smtClean="0"/>
              <a:t>  </a:t>
            </a:r>
          </a:p>
          <a:p>
            <a:pPr>
              <a:buNone/>
            </a:pPr>
            <a:endParaRPr lang="en-US" sz="3600" b="1" dirty="0" smtClean="0"/>
          </a:p>
          <a:p>
            <a:pPr>
              <a:buNone/>
            </a:pPr>
            <a:endParaRPr lang="en-US" sz="3600" b="1" dirty="0"/>
          </a:p>
        </p:txBody>
      </p:sp>
    </p:spTree>
  </p:cSld>
  <p:clrMapOvr>
    <a:masterClrMapping/>
  </p:clrMapOvr>
  <p:transition spd="med">
    <p:pull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lvl="0">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Presidential</a:t>
            </a:r>
            <a:r>
              <a:rPr lang="en-US" sz="4000" dirty="0" smtClean="0"/>
              <a:t> – a form of government wherein the President is the chief executive of the state and independent of the legislature with respect to his tenure .acts and policies.</a:t>
            </a:r>
          </a:p>
          <a:p>
            <a:endParaRPr lang="en-US" sz="4000" dirty="0"/>
          </a:p>
        </p:txBody>
      </p:sp>
    </p:spTree>
  </p:cSld>
  <p:clrMapOvr>
    <a:masterClrMapping/>
  </p:clrMapOvr>
  <p:transition spd="med">
    <p:pull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371600"/>
            <a:ext cx="8686800" cy="4708525"/>
          </a:xfrm>
        </p:spPr>
        <p:txBody>
          <a:bodyPr>
            <a:noAutofit/>
          </a:bodyPr>
          <a:lstStyle/>
          <a:p>
            <a:pPr lvl="0">
              <a:buNone/>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Federal</a:t>
            </a:r>
            <a:r>
              <a:rPr lang="en-US" sz="3600" b="1" dirty="0" smtClean="0"/>
              <a:t> – a form of government where the power of the state is divided into two namely: national for national affairs and local for local affairs. Each organ is independent in its own sphere.  </a:t>
            </a:r>
          </a:p>
          <a:p>
            <a:pPr lvl="0">
              <a:buNone/>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Military </a:t>
            </a:r>
            <a:r>
              <a:rPr lang="en-US" sz="3600" b="1" dirty="0" smtClean="0"/>
              <a:t>– a form of government established and controlled by military authorities over a beleaguered state. </a:t>
            </a:r>
          </a:p>
          <a:p>
            <a:pPr>
              <a:buNone/>
            </a:pPr>
            <a:r>
              <a:rPr lang="en-US" sz="3600" b="1" dirty="0" smtClean="0"/>
              <a:t> </a:t>
            </a:r>
          </a:p>
          <a:p>
            <a:pPr>
              <a:buNone/>
            </a:pPr>
            <a:r>
              <a:rPr lang="en-US" sz="3600" b="1" dirty="0" smtClean="0"/>
              <a:t> </a:t>
            </a:r>
          </a:p>
        </p:txBody>
      </p:sp>
    </p:spTree>
  </p:cSld>
  <p:clrMapOvr>
    <a:masterClrMapping/>
  </p:clrMapOvr>
  <p:transition spd="med">
    <p:pull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a:buNone/>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Revolutionary</a:t>
            </a:r>
            <a:r>
              <a:rPr lang="en-US" sz="4400" b="1" dirty="0" smtClean="0"/>
              <a:t> – a form of government wherein the State is obtained by means of force.</a:t>
            </a:r>
          </a:p>
          <a:p>
            <a:endParaRPr lang="en-US" sz="4400" b="1" dirty="0"/>
          </a:p>
        </p:txBody>
      </p:sp>
    </p:spTree>
  </p:cSld>
  <p:clrMapOvr>
    <a:masterClrMapping/>
  </p:clrMapOvr>
  <p:transition spd="med">
    <p:pull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686800" cy="5486400"/>
          </a:xfrm>
        </p:spPr>
        <p:txBody>
          <a:bodyPr>
            <a:normAutofit fontScale="85000" lnSpcReduction="10000"/>
          </a:bodyPr>
          <a:lstStyle/>
          <a:p>
            <a:pPr lvl="0">
              <a:buNone/>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 Jure </a:t>
            </a:r>
            <a:r>
              <a:rPr lang="en-US" sz="3600" b="1" dirty="0" smtClean="0"/>
              <a:t>– a form of government that is founded on existing legal or constitutional basis</a:t>
            </a:r>
          </a:p>
          <a:p>
            <a:pPr>
              <a:buNone/>
            </a:pPr>
            <a:r>
              <a:rPr lang="en-US" sz="3600" b="1" dirty="0" smtClean="0"/>
              <a:t> </a:t>
            </a: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 Facto </a:t>
            </a:r>
            <a:r>
              <a:rPr lang="en-US" sz="3600" b="1" dirty="0" smtClean="0"/>
              <a:t>– a form of government that is not founded on constitutional law .It exist in fact but not in law. </a:t>
            </a:r>
          </a:p>
          <a:p>
            <a:pPr>
              <a:buNone/>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Civil </a:t>
            </a:r>
            <a:r>
              <a:rPr lang="en-US" sz="3600" b="1" dirty="0" smtClean="0"/>
              <a:t>– a form of government that is run by elected civilian officials</a:t>
            </a:r>
          </a:p>
          <a:p>
            <a:pPr>
              <a:buNone/>
            </a:pPr>
            <a:r>
              <a:rPr lang="en-US" sz="3600" b="1" dirty="0" smtClean="0"/>
              <a:t> </a:t>
            </a:r>
          </a:p>
          <a:p>
            <a:pPr>
              <a:buNone/>
            </a:pPr>
            <a:endParaRPr lang="en-US" sz="3600" b="1" dirty="0" smtClean="0"/>
          </a:p>
          <a:p>
            <a:pPr>
              <a:buNone/>
            </a:pPr>
            <a:endParaRPr lang="en-US" sz="3600" b="1" dirty="0"/>
          </a:p>
        </p:txBody>
      </p:sp>
    </p:spTree>
  </p:cSld>
  <p:clrMapOvr>
    <a:masterClrMapping/>
  </p:clrMapOvr>
  <p:transition spd="med">
    <p:pull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1440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n-US" sz="3200" b="1" dirty="0" smtClean="0"/>
              <a:t>STATE </a:t>
            </a:r>
            <a:r>
              <a:rPr lang="en-US" b="1" dirty="0" smtClean="0"/>
              <a:t>DISTINGUISHED</a:t>
            </a:r>
            <a:r>
              <a:rPr lang="en-US" sz="3200" b="1" dirty="0" smtClean="0"/>
              <a:t> FROM GOVERNMENT</a:t>
            </a:r>
            <a:endParaRPr lang="en-US" sz="3200" dirty="0"/>
          </a:p>
        </p:txBody>
      </p:sp>
      <p:sp>
        <p:nvSpPr>
          <p:cNvPr id="3" name="Content Placeholder 2"/>
          <p:cNvSpPr>
            <a:spLocks noGrp="1"/>
          </p:cNvSpPr>
          <p:nvPr>
            <p:ph idx="1"/>
          </p:nvPr>
        </p:nvSpPr>
        <p:spPr>
          <a:xfrm>
            <a:off x="304800" y="1554162"/>
            <a:ext cx="8686800" cy="4999038"/>
          </a:xfrm>
        </p:spPr>
        <p:txBody>
          <a:bodyPr>
            <a:noAutofit/>
          </a:bodyPr>
          <a:lstStyle/>
          <a:p>
            <a:pPr algn="just">
              <a:buNone/>
            </a:pPr>
            <a:r>
              <a:rPr lang="en-US" dirty="0" smtClean="0"/>
              <a:t>	</a:t>
            </a:r>
            <a:r>
              <a:rPr lang="en-US" dirty="0" smtClean="0">
                <a:solidFill>
                  <a:srgbClr val="FF0000"/>
                </a:solidFill>
              </a:rPr>
              <a:t>Many regard these two terms as identical. It is the considered view that the acts of the government ( within the prescribed limits of the delegation of powers ) are the acts of the state. </a:t>
            </a:r>
          </a:p>
          <a:p>
            <a:pPr algn="just">
              <a:buNone/>
            </a:pPr>
            <a:r>
              <a:rPr lang="en-US" dirty="0" smtClean="0">
                <a:solidFill>
                  <a:srgbClr val="FF0000"/>
                </a:solidFill>
              </a:rPr>
              <a:t>	</a:t>
            </a:r>
          </a:p>
          <a:p>
            <a:pPr algn="just">
              <a:buNone/>
            </a:pPr>
            <a:r>
              <a:rPr lang="en-US" dirty="0" smtClean="0">
                <a:solidFill>
                  <a:srgbClr val="FFFF00"/>
                </a:solidFill>
              </a:rPr>
              <a:t>Legally, the government is the agent through which the will of the state is carried out. The state cannot exist without the government but it is possible to have a government without a state.</a:t>
            </a:r>
          </a:p>
          <a:p>
            <a:pPr>
              <a:buNone/>
            </a:pPr>
            <a:r>
              <a:rPr lang="en-US" dirty="0" smtClean="0"/>
              <a:t> </a:t>
            </a:r>
          </a:p>
          <a:p>
            <a:pPr>
              <a:buNone/>
            </a:pPr>
            <a:endParaRPr lang="en-US" dirty="0"/>
          </a:p>
        </p:txBody>
      </p:sp>
    </p:spTree>
  </p:cSld>
  <p:clrMapOvr>
    <a:masterClrMapping/>
  </p:clrMapOvr>
  <p:transition spd="med">
    <p:pull di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4400" b="1" dirty="0" smtClean="0"/>
              <a:t>CONCEPT OF CONSTITUTION</a:t>
            </a:r>
            <a:endParaRPr lang="en-US" sz="4400" dirty="0"/>
          </a:p>
        </p:txBody>
      </p:sp>
      <p:sp>
        <p:nvSpPr>
          <p:cNvPr id="3" name="Content Placeholder 2"/>
          <p:cNvSpPr>
            <a:spLocks noGrp="1"/>
          </p:cNvSpPr>
          <p:nvPr>
            <p:ph idx="1"/>
          </p:nvPr>
        </p:nvSpPr>
        <p:spPr/>
        <p:txBody>
          <a:bodyPr>
            <a:normAutofit fontScale="92500" lnSpcReduction="10000"/>
          </a:bodyPr>
          <a:lstStyle/>
          <a:p>
            <a:pPr>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Meaning of Constitution</a:t>
            </a:r>
          </a:p>
          <a:p>
            <a:pPr>
              <a:buNone/>
            </a:pPr>
            <a:r>
              <a:rPr lang="en-US" sz="4000" dirty="0" smtClean="0"/>
              <a:t>	According to Judge Cooley, a constitution is a body of rules and maxims in accordance with which the power of sovereignty is habitually exercised.</a:t>
            </a:r>
          </a:p>
          <a:p>
            <a:pPr>
              <a:buNone/>
            </a:pPr>
            <a:endParaRPr lang="en-US" sz="4000" dirty="0"/>
          </a:p>
        </p:txBody>
      </p:sp>
    </p:spTree>
  </p:cSld>
  <p:clrMapOvr>
    <a:masterClrMapping/>
  </p:clrMapOvr>
  <p:transition spd="med">
    <p:pull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83820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n-US" sz="3200" b="1" dirty="0" smtClean="0"/>
              <a:t>PURPOSE OR FUNCTION OF CONSTITUTION </a:t>
            </a:r>
            <a:endParaRPr lang="en-US" sz="3200" dirty="0"/>
          </a:p>
        </p:txBody>
      </p:sp>
      <p:sp>
        <p:nvSpPr>
          <p:cNvPr id="3" name="Content Placeholder 2"/>
          <p:cNvSpPr>
            <a:spLocks noGrp="1"/>
          </p:cNvSpPr>
          <p:nvPr>
            <p:ph idx="1"/>
          </p:nvPr>
        </p:nvSpPr>
        <p:spPr>
          <a:xfrm>
            <a:off x="304800" y="1295400"/>
            <a:ext cx="8686800" cy="4784725"/>
          </a:xfrm>
        </p:spPr>
        <p:txBody>
          <a:bodyPr>
            <a:noAutofit/>
          </a:bodyPr>
          <a:lstStyle/>
          <a:p>
            <a:pPr lvl="0">
              <a:buNone/>
            </a:pPr>
            <a:r>
              <a:rPr lang="en-US" b="1" dirty="0" smtClean="0"/>
              <a:t>To prescribe the permanent framework of the system of government assigned to the different departments their respective powers and duties, and established certain fixed first principles on which the government is founded and</a:t>
            </a:r>
          </a:p>
          <a:p>
            <a:pPr lvl="0">
              <a:buNone/>
            </a:pPr>
            <a:r>
              <a:rPr lang="en-US" b="1" dirty="0" smtClean="0"/>
              <a:t>To promote public welfare, which involves the safety, prosperity, health, and happiness of the people.</a:t>
            </a:r>
          </a:p>
          <a:p>
            <a:pPr>
              <a:buNone/>
            </a:pPr>
            <a:r>
              <a:rPr lang="en-US" b="1" dirty="0" smtClean="0"/>
              <a:t> </a:t>
            </a:r>
          </a:p>
          <a:p>
            <a:pPr>
              <a:buNone/>
            </a:pPr>
            <a:r>
              <a:rPr lang="en-US" b="1" dirty="0" smtClean="0"/>
              <a:t> </a:t>
            </a:r>
          </a:p>
          <a:p>
            <a:pPr>
              <a:buNone/>
            </a:pPr>
            <a:endParaRPr lang="en-US" b="1" dirty="0"/>
          </a:p>
        </p:txBody>
      </p:sp>
    </p:spTree>
  </p:cSld>
  <p:clrMapOvr>
    <a:masterClrMapping/>
  </p:clrMapOvr>
  <p:transition spd="med">
    <p:pull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4800" b="1" dirty="0" smtClean="0"/>
              <a:t>KINDS OF CONSTITUTION</a:t>
            </a:r>
            <a:endParaRPr lang="en-US" sz="4800" dirty="0"/>
          </a:p>
        </p:txBody>
      </p:sp>
      <p:sp>
        <p:nvSpPr>
          <p:cNvPr id="3" name="Content Placeholder 2"/>
          <p:cNvSpPr>
            <a:spLocks noGrp="1"/>
          </p:cNvSpPr>
          <p:nvPr>
            <p:ph idx="1"/>
          </p:nvPr>
        </p:nvSpPr>
        <p:spPr>
          <a:xfrm>
            <a:off x="304800" y="1447800"/>
            <a:ext cx="8686800" cy="5105400"/>
          </a:xfrm>
        </p:spPr>
        <p:txBody>
          <a:bodyPr>
            <a:noAutofit/>
          </a:bodyPr>
          <a:lstStyle/>
          <a:p>
            <a:pPr lvl="0"/>
            <a:r>
              <a:rPr lang="en-US" sz="3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Written or rigid </a:t>
            </a:r>
            <a:r>
              <a:rPr lang="en-US" sz="3000" b="1" dirty="0" smtClean="0"/>
              <a:t>– is one, the provisions of which have been reduced to writing and embodied in one or more instruments at a particular time. Example: Philippine and U.S Constitutions</a:t>
            </a:r>
          </a:p>
          <a:p>
            <a:pPr lvl="0"/>
            <a:r>
              <a:rPr lang="en-US" sz="3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Unwritten or flexible </a:t>
            </a:r>
            <a:r>
              <a:rPr lang="en-US" sz="3000" b="1" dirty="0" smtClean="0"/>
              <a:t>– is one which has not been committed to writing at any specific time but is the collective product and accumulation of customary rules, judicial decisions, dicta of statements and legislative enactments of fundamental character written but scattered in various records without having any compact  form in writing.</a:t>
            </a:r>
          </a:p>
          <a:p>
            <a:endParaRPr lang="en-US" sz="3000" b="1" dirty="0"/>
          </a:p>
        </p:txBody>
      </p:sp>
    </p:spTree>
  </p:cSld>
  <p:clrMapOvr>
    <a:masterClrMapping/>
  </p:clrMapOvr>
  <p:transition spd="med">
    <p:pull di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1440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n-US" b="1" dirty="0" smtClean="0"/>
              <a:t>REQUISITES OF A GOOD WRITTEN CONSTITUTION</a:t>
            </a:r>
            <a:endParaRPr lang="en-US" b="1" dirty="0"/>
          </a:p>
        </p:txBody>
      </p:sp>
      <p:sp>
        <p:nvSpPr>
          <p:cNvPr id="3" name="Content Placeholder 2"/>
          <p:cNvSpPr>
            <a:spLocks noGrp="1"/>
          </p:cNvSpPr>
          <p:nvPr>
            <p:ph idx="1"/>
          </p:nvPr>
        </p:nvSpPr>
        <p:spPr/>
        <p:txBody>
          <a:bodyPr>
            <a:noAutofit/>
          </a:bodyPr>
          <a:lstStyle/>
          <a:p>
            <a:pPr lvl="0"/>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Broad </a:t>
            </a:r>
            <a:r>
              <a:rPr lang="en-US" sz="3600" b="1" dirty="0" smtClean="0"/>
              <a:t>– because it must outline an organization of the government for the whole State.</a:t>
            </a:r>
          </a:p>
          <a:p>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Brief </a:t>
            </a:r>
            <a:r>
              <a:rPr lang="en-US" sz="3600" b="1" dirty="0" smtClean="0"/>
              <a:t>– because its nature requires that only its great outlines should be marked. Its important objects designated and the ingredients which compose those objects be reduced.</a:t>
            </a:r>
          </a:p>
          <a:p>
            <a:endParaRPr lang="en-US" sz="3600" b="1" dirty="0"/>
          </a:p>
        </p:txBody>
      </p:sp>
    </p:spTree>
  </p:cSld>
  <p:clrMapOvr>
    <a:masterClrMapping/>
  </p:clrMapOvr>
  <p:transition spd="med">
    <p:pull di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1440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r>
              <a:rPr lang="en-US" b="1" dirty="0" smtClean="0"/>
              <a:t>TWO STEPS AMENDING OR REVISING A CONSTITUTION</a:t>
            </a:r>
            <a:endParaRPr lang="en-US" dirty="0"/>
          </a:p>
        </p:txBody>
      </p:sp>
      <p:sp>
        <p:nvSpPr>
          <p:cNvPr id="3" name="Content Placeholder 2"/>
          <p:cNvSpPr>
            <a:spLocks noGrp="1"/>
          </p:cNvSpPr>
          <p:nvPr>
            <p:ph idx="1"/>
          </p:nvPr>
        </p:nvSpPr>
        <p:spPr>
          <a:xfrm>
            <a:off x="304800" y="1219200"/>
            <a:ext cx="8686800" cy="4860925"/>
          </a:xfrm>
        </p:spPr>
        <p:txBody>
          <a:bodyPr>
            <a:noAutofit/>
          </a:bodyPr>
          <a:lstStyle/>
          <a:p>
            <a:pPr lvl="0"/>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Proposal</a:t>
            </a:r>
            <a:r>
              <a:rPr lang="en-US" dirty="0" smtClean="0"/>
              <a:t> – may be made by </a:t>
            </a:r>
            <a:endParaRPr lang="en-US" sz="3600" dirty="0" smtClean="0"/>
          </a:p>
          <a:p>
            <a:pPr lvl="1"/>
            <a:r>
              <a:rPr lang="en-US" sz="3200" b="1" dirty="0" smtClean="0"/>
              <a:t>Congress</a:t>
            </a:r>
          </a:p>
          <a:p>
            <a:pPr lvl="1"/>
            <a:r>
              <a:rPr lang="en-US" sz="3200" b="1" dirty="0" smtClean="0"/>
              <a:t>Constitutional Convention</a:t>
            </a:r>
          </a:p>
          <a:p>
            <a:pPr lvl="1"/>
            <a:r>
              <a:rPr lang="en-US" sz="3200" b="1" dirty="0" smtClean="0"/>
              <a:t>People’s initiative</a:t>
            </a:r>
            <a:endParaRPr lang="en-US" dirty="0" smtClean="0"/>
          </a:p>
          <a:p>
            <a:pPr lvl="0"/>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Ratification</a:t>
            </a:r>
            <a:r>
              <a:rPr lang="en-US" dirty="0" smtClean="0"/>
              <a:t> – which means the submission of the draft constitution to the electorate. A proposal made by the people’s initiative requires at least 12% of the entire electorate and 3% must come from every legislative district.</a:t>
            </a:r>
            <a:endParaRPr lang="en-US" sz="3600" dirty="0" smtClean="0"/>
          </a:p>
          <a:p>
            <a:pPr>
              <a:buNone/>
            </a:pPr>
            <a:r>
              <a:rPr lang="en-US" dirty="0" smtClean="0"/>
              <a:t> </a:t>
            </a:r>
            <a:endParaRPr lang="en-US" sz="3600" dirty="0" smtClean="0"/>
          </a:p>
          <a:p>
            <a:endParaRPr lang="en-US" sz="3600" dirty="0"/>
          </a:p>
        </p:txBody>
      </p:sp>
    </p:spTree>
  </p:cSld>
  <p:clrMapOvr>
    <a:masterClrMapping/>
  </p:clrMapOvr>
  <p:transition spd="med">
    <p:pull di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sz="4800" b="1" dirty="0" smtClean="0"/>
              <a:t>PREAMBLE</a:t>
            </a:r>
            <a:endParaRPr lang="en-US" sz="4800" dirty="0"/>
          </a:p>
        </p:txBody>
      </p:sp>
      <p:sp>
        <p:nvSpPr>
          <p:cNvPr id="3" name="Content Placeholder 2"/>
          <p:cNvSpPr>
            <a:spLocks noGrp="1"/>
          </p:cNvSpPr>
          <p:nvPr>
            <p:ph idx="1"/>
          </p:nvPr>
        </p:nvSpPr>
        <p:spPr>
          <a:xfrm>
            <a:off x="301752" y="1527048"/>
            <a:ext cx="8503920" cy="5102352"/>
          </a:xfrm>
        </p:spPr>
        <p:txBody>
          <a:bodyPr>
            <a:noAutofit/>
          </a:bodyPr>
          <a:lstStyle/>
          <a:p>
            <a:pPr>
              <a:buNone/>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Meaning</a:t>
            </a:r>
          </a:p>
          <a:p>
            <a:pPr>
              <a:buNone/>
            </a:pPr>
            <a:r>
              <a:rPr lang="en-US" sz="3600" b="1" dirty="0" smtClean="0"/>
              <a:t>	The term preamble comes from the Latin word ‘</a:t>
            </a:r>
            <a:r>
              <a:rPr lang="en-US" sz="3600" b="1" i="1" dirty="0" err="1" smtClean="0"/>
              <a:t>preambulare</a:t>
            </a:r>
            <a:r>
              <a:rPr lang="en-US" sz="3600" b="1" dirty="0" smtClean="0"/>
              <a:t>’ which means ‘to walk before’. Strictly speaking, preamble is not an integral part of the Constitution. Its true office is to expound on the scope and nature, the extent and application of the powers actually conferred by the constitution. (Watson, </a:t>
            </a:r>
            <a:r>
              <a:rPr lang="en-US" sz="3600" b="1" dirty="0" err="1" smtClean="0"/>
              <a:t>Const.Vol</a:t>
            </a:r>
            <a:r>
              <a:rPr lang="en-US" sz="3600" b="1" dirty="0" smtClean="0"/>
              <a:t> I p.92)</a:t>
            </a:r>
          </a:p>
          <a:p>
            <a:pPr>
              <a:buNone/>
            </a:pPr>
            <a:r>
              <a:rPr lang="en-US" sz="3600" b="1" dirty="0" smtClean="0"/>
              <a:t> </a:t>
            </a:r>
          </a:p>
        </p:txBody>
      </p:sp>
    </p:spTree>
  </p:cSld>
  <p:clrMapOvr>
    <a:masterClrMapping/>
  </p:clrMapOvr>
  <p:transition spd="med">
    <p:pull di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sz="4000" dirty="0" smtClean="0"/>
              <a:t>Article 1: National Territory</a:t>
            </a:r>
            <a:endParaRPr lang="en-US" sz="4000" dirty="0"/>
          </a:p>
        </p:txBody>
      </p:sp>
      <p:sp>
        <p:nvSpPr>
          <p:cNvPr id="3" name="Content Placeholder 2"/>
          <p:cNvSpPr>
            <a:spLocks noGrp="1"/>
          </p:cNvSpPr>
          <p:nvPr>
            <p:ph idx="1"/>
          </p:nvPr>
        </p:nvSpPr>
        <p:spPr>
          <a:xfrm>
            <a:off x="304800" y="1295400"/>
            <a:ext cx="8686800" cy="5334000"/>
          </a:xfrm>
        </p:spPr>
        <p:txBody>
          <a:bodyPr>
            <a:noAutofit/>
          </a:bodyPr>
          <a:lstStyle/>
          <a:p>
            <a:r>
              <a:rPr lang="en-US" sz="3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1: </a:t>
            </a:r>
            <a:r>
              <a:rPr lang="en-US" sz="3000" dirty="0" smtClean="0"/>
              <a:t>The national territory comprises the Philippine archipelago, with all the islands and waters embraced therein, all other territories over which the Philippines has sovereignty or jurisdiction, consisting of its terrestrial, fluvial, and aerial domains, including its territorial sea, the seabed, the subsoil the insular shelves, and other submarine areas. The waters around, between, and connecting the island of the archipelago, regardless of their breadth and dimensions, from the internal waters of the Philippines. </a:t>
            </a:r>
            <a:endParaRPr lang="en-US" sz="3000" dirty="0"/>
          </a:p>
        </p:txBody>
      </p:sp>
    </p:spTree>
  </p:cSld>
  <p:clrMapOvr>
    <a:masterClrMapping/>
  </p:clrMapOvr>
  <p:transition spd="med">
    <p:wedg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610600" cy="5334000"/>
          </a:xfrm>
        </p:spPr>
        <p:txBody>
          <a:bodyPr>
            <a:normAutofit fontScale="92500" lnSpcReduction="20000"/>
          </a:bodyPr>
          <a:lstStyle/>
          <a:p>
            <a:r>
              <a:rPr lang="en-US" sz="3600" b="1" dirty="0" smtClean="0"/>
              <a:t>The United Nations International Convention in Geneva defined the five kinds of water in relation to the territorial jurisdiction of an archipelago state:</a:t>
            </a:r>
          </a:p>
          <a:p>
            <a:pPr lvl="0"/>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Internal Water </a:t>
            </a:r>
            <a:r>
              <a:rPr lang="en-US" sz="3600" b="1" dirty="0" smtClean="0"/>
              <a:t>– the water around connecting and those that are in between the islands regardless of their breadth and dimensions.</a:t>
            </a:r>
          </a:p>
          <a:p>
            <a:pPr>
              <a:buNone/>
            </a:pPr>
            <a:endParaRPr lang="en-US" sz="3600" b="1" dirty="0" smtClean="0"/>
          </a:p>
        </p:txBody>
      </p:sp>
    </p:spTree>
  </p:cSld>
  <p:clrMapOvr>
    <a:masterClrMapping/>
  </p:clrMapOvr>
  <p:transition spd="med">
    <p:wedg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54162"/>
            <a:ext cx="8686800" cy="5075238"/>
          </a:xfrm>
        </p:spPr>
        <p:txBody>
          <a:bodyPr>
            <a:normAutofit fontScale="85000" lnSpcReduction="20000"/>
          </a:bodyPr>
          <a:lstStyle/>
          <a:p>
            <a:pPr lvl="0" algn="just"/>
            <a:r>
              <a:rPr lang="en-US" sz="3400" b="1" dirty="0" smtClean="0">
                <a:ln w="1905"/>
                <a:solidFill>
                  <a:srgbClr val="002060"/>
                </a:solidFill>
                <a:effectLst>
                  <a:innerShdw blurRad="69850" dist="43180" dir="5400000">
                    <a:srgbClr val="000000">
                      <a:alpha val="65000"/>
                    </a:srgbClr>
                  </a:innerShdw>
                </a:effectLst>
              </a:rPr>
              <a:t>Territorial Sea </a:t>
            </a:r>
            <a:r>
              <a:rPr lang="en-US" sz="3400" b="1" dirty="0" smtClean="0">
                <a:solidFill>
                  <a:srgbClr val="002060"/>
                </a:solidFill>
              </a:rPr>
              <a:t>– is a belt of water outside of the archipelagic baselines and adjacent to the archipelagic waters. The archipelagic state has a  right to establish the breadth of its territorial sea, not exceeding 12 nautical miles measured from the baselines. The archipelagic state has sovereignty over the territorial sea, the air space above it, and the bed and subsoil of such sea.</a:t>
            </a:r>
          </a:p>
          <a:p>
            <a:endParaRPr lang="en-US" sz="3400" b="1" dirty="0"/>
          </a:p>
        </p:txBody>
      </p:sp>
    </p:spTree>
  </p:cSld>
  <p:clrMapOvr>
    <a:masterClrMapping/>
  </p:clrMapOvr>
  <p:transition spd="med">
    <p:wedg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554162"/>
            <a:ext cx="8686800" cy="5075238"/>
          </a:xfrm>
        </p:spPr>
        <p:txBody>
          <a:bodyPr>
            <a:normAutofit fontScale="92500" lnSpcReduction="10000"/>
          </a:bodyPr>
          <a:lstStyle/>
          <a:p>
            <a:pPr>
              <a:buNone/>
            </a:pPr>
            <a:r>
              <a:rPr lang="en-US" sz="4000" dirty="0" smtClean="0"/>
              <a:t>The Philippine Territorial Jurisdiction comprises:</a:t>
            </a:r>
          </a:p>
          <a:p>
            <a:pPr lvl="0"/>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Terrestrial </a:t>
            </a:r>
            <a:r>
              <a:rPr lang="en-US" sz="4000" dirty="0" smtClean="0"/>
              <a:t>– jurisdiction over bodies of land</a:t>
            </a:r>
          </a:p>
          <a:p>
            <a:pPr lvl="0"/>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Fluvial </a:t>
            </a:r>
            <a:r>
              <a:rPr lang="en-US" sz="4000" dirty="0" smtClean="0"/>
              <a:t> -  jurisdiction over maritime and interior waters</a:t>
            </a:r>
          </a:p>
          <a:p>
            <a:pPr lvl="0"/>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Aerial</a:t>
            </a:r>
            <a:r>
              <a:rPr lang="en-US" sz="4000" dirty="0" smtClean="0"/>
              <a:t> – jurisdiction over atmosphere</a:t>
            </a:r>
          </a:p>
          <a:p>
            <a:pPr>
              <a:buNone/>
            </a:pPr>
            <a:endParaRPr lang="en-US" sz="4000" dirty="0" smtClean="0"/>
          </a:p>
          <a:p>
            <a:pPr>
              <a:buNone/>
            </a:pPr>
            <a:endParaRPr lang="en-US" sz="4000" dirty="0"/>
          </a:p>
        </p:txBody>
      </p:sp>
    </p:spTree>
  </p:cSld>
  <p:clrMapOvr>
    <a:masterClrMapping/>
  </p:clrMapOvr>
  <p:transition spd="med">
    <p:wedg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1752" y="1527048"/>
            <a:ext cx="8503920" cy="5102352"/>
          </a:xfrm>
        </p:spPr>
        <p:txBody>
          <a:bodyPr>
            <a:noAutofit/>
          </a:bodyPr>
          <a:lstStyle/>
          <a:p>
            <a:pPr lvl="0"/>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Contiguous Zone </a:t>
            </a:r>
            <a:r>
              <a:rPr lang="en-US" sz="3600" b="1" dirty="0" smtClean="0"/>
              <a:t>– beyond the territorial sea,  may extend to not more than 24 nautical miles from the archipelagic baselines. The state may exercise, in the contiguous zone, the control necessary to prevent and punish infringements of its customs, fiscal, immigration or sanitary laws and regulations within the territory or territorial sea.</a:t>
            </a:r>
          </a:p>
          <a:p>
            <a:r>
              <a:rPr lang="en-US" sz="3600" b="1" dirty="0" smtClean="0"/>
              <a:t> </a:t>
            </a:r>
            <a:endParaRPr lang="en-US" sz="3600" b="1" dirty="0"/>
          </a:p>
        </p:txBody>
      </p:sp>
    </p:spTree>
  </p:cSld>
  <p:clrMapOvr>
    <a:masterClrMapping/>
  </p:clrMapOvr>
  <p:transition spd="med">
    <p:wedg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447800"/>
            <a:ext cx="8686800" cy="4632325"/>
          </a:xfrm>
        </p:spPr>
        <p:txBody>
          <a:bodyPr>
            <a:noAutofit/>
          </a:bodyPr>
          <a:lstStyle/>
          <a:p>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Exclusive Economic Zone </a:t>
            </a:r>
            <a:r>
              <a:rPr lang="en-US" sz="3600" b="1" dirty="0" smtClean="0"/>
              <a:t>– which beyond and adjacent to the territorial sea, may not extend more than 200 nautical miles from the archipelagic baselines. The archipelagic State has sovereign rights in the EEZ  to explore, manage and exploit all the natural resources living and non-living in the waters, the sea bed and subsoil.</a:t>
            </a:r>
          </a:p>
          <a:p>
            <a:pPr>
              <a:buNone/>
            </a:pPr>
            <a:r>
              <a:rPr lang="en-US" sz="3600" b="1" dirty="0" smtClean="0"/>
              <a:t> </a:t>
            </a:r>
          </a:p>
          <a:p>
            <a:endParaRPr lang="en-US" sz="3600" b="1" dirty="0"/>
          </a:p>
        </p:txBody>
      </p:sp>
    </p:spTree>
  </p:cSld>
  <p:clrMapOvr>
    <a:masterClrMapping/>
  </p:clrMapOvr>
  <p:transition spd="med">
    <p:wedg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1752" y="1524000"/>
            <a:ext cx="8503920" cy="5026152"/>
          </a:xfrm>
        </p:spPr>
        <p:txBody>
          <a:bodyPr>
            <a:normAutofit fontScale="85000" lnSpcReduction="10000"/>
          </a:bodyPr>
          <a:lstStyle/>
          <a:p>
            <a:pPr lvl="0"/>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Continental Shelf </a:t>
            </a:r>
            <a:r>
              <a:rPr lang="en-US" sz="4000" b="1" dirty="0" smtClean="0"/>
              <a:t>– is the seabed and subsoil of the submarine areas that extend beyond its territorial sea throughout the natural prolongation of its territory to the outer</a:t>
            </a:r>
          </a:p>
          <a:p>
            <a:r>
              <a:rPr lang="en-US" sz="4000" b="1" dirty="0" smtClean="0"/>
              <a:t> </a:t>
            </a: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Seabed</a:t>
            </a:r>
            <a:r>
              <a:rPr lang="en-US" sz="4000" b="1" dirty="0" smtClean="0"/>
              <a:t> – is the land holding the sea  beyond the seashore</a:t>
            </a:r>
          </a:p>
          <a:p>
            <a:endParaRPr lang="en-US" sz="4000" b="1" dirty="0"/>
          </a:p>
        </p:txBody>
      </p:sp>
    </p:spTree>
  </p:cSld>
  <p:clrMapOvr>
    <a:masterClrMapping/>
  </p:clrMapOvr>
  <p:transition spd="med">
    <p:wedg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371600"/>
            <a:ext cx="8686800" cy="4708525"/>
          </a:xfrm>
        </p:spPr>
        <p:txBody>
          <a:bodyPr>
            <a:noAutofit/>
          </a:bodyPr>
          <a:lstStyle/>
          <a:p>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Subsoil</a:t>
            </a:r>
            <a:r>
              <a:rPr lang="en-US" sz="4000" b="1" dirty="0" smtClean="0"/>
              <a:t> – is the soil below the surface soil including mineral and natural resources</a:t>
            </a:r>
          </a:p>
          <a:p>
            <a:r>
              <a:rPr lang="en-US" sz="4000" b="1" dirty="0" smtClean="0"/>
              <a:t> </a:t>
            </a: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Insular shelves </a:t>
            </a:r>
            <a:r>
              <a:rPr lang="en-US" sz="4000" b="1" dirty="0" smtClean="0"/>
              <a:t>– are relatively shallow beds of sea bottom bordering the land mass, the outer edges of which sink considerably until the great ocean depths are reached.</a:t>
            </a:r>
            <a:endParaRPr lang="en-US" sz="4000" b="1" dirty="0"/>
          </a:p>
        </p:txBody>
      </p:sp>
    </p:spTree>
  </p:cSld>
  <p:clrMapOvr>
    <a:masterClrMapping/>
  </p:clrMapOvr>
  <p:transition spd="med">
    <p:wedg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r>
              <a:rPr lang="en-US" b="1" dirty="0" smtClean="0"/>
              <a:t>THE NEW LAW ON THE SEA</a:t>
            </a:r>
            <a:endParaRPr lang="en-US" dirty="0"/>
          </a:p>
        </p:txBody>
      </p:sp>
      <p:sp>
        <p:nvSpPr>
          <p:cNvPr id="3" name="Content Placeholder 2"/>
          <p:cNvSpPr>
            <a:spLocks noGrp="1"/>
          </p:cNvSpPr>
          <p:nvPr>
            <p:ph idx="1"/>
          </p:nvPr>
        </p:nvSpPr>
        <p:spPr>
          <a:xfrm>
            <a:off x="304800" y="1219200"/>
            <a:ext cx="8686800" cy="5029200"/>
          </a:xfrm>
        </p:spPr>
        <p:txBody>
          <a:bodyPr>
            <a:noAutofit/>
          </a:bodyPr>
          <a:lstStyle/>
          <a:p>
            <a:pPr>
              <a:buNone/>
            </a:pPr>
            <a:r>
              <a:rPr lang="en-US" sz="3600" b="1" dirty="0" smtClean="0"/>
              <a:t>	The Convention on the Law of the Sea ( under the sponsorship of the United Nations) signed in Jamaica on December 10, 1982 fixes a 12 mile territorial sea limit and establishes an economic zone from the baselines. It adopts and recognizes the archipelagic principle but set forth  limitations thereon consisting of respect for ……</a:t>
            </a:r>
            <a:endParaRPr lang="en-US" sz="3600" b="1" dirty="0"/>
          </a:p>
        </p:txBody>
      </p:sp>
    </p:spTree>
  </p:cSld>
  <p:clrMapOvr>
    <a:masterClrMapping/>
  </p:clrMapOvr>
  <p:transition spd="med">
    <p:wedg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554162"/>
            <a:ext cx="8686800" cy="4770438"/>
          </a:xfrm>
        </p:spPr>
        <p:txBody>
          <a:bodyPr>
            <a:noAutofit/>
          </a:bodyPr>
          <a:lstStyle/>
          <a:p>
            <a:pPr>
              <a:buNone/>
            </a:pPr>
            <a:r>
              <a:rPr lang="en-US" sz="4000" b="1" dirty="0" smtClean="0"/>
              <a:t>….right of the ships of other states to pass though the territorial sea as well as archipelagic waters and respect for rights of innocent passage and passage through archipelagic sea lanes subject to the promulgation by local authorities by pertinent rules and regulations.</a:t>
            </a:r>
          </a:p>
          <a:p>
            <a:pPr>
              <a:buNone/>
            </a:pPr>
            <a:r>
              <a:rPr lang="en-US" sz="4000" b="1" dirty="0" smtClean="0"/>
              <a:t> </a:t>
            </a:r>
          </a:p>
          <a:p>
            <a:pPr>
              <a:buNone/>
            </a:pPr>
            <a:endParaRPr lang="en-US" sz="4000" b="1" dirty="0" smtClean="0"/>
          </a:p>
          <a:p>
            <a:endParaRPr lang="en-US" sz="4000" b="1" dirty="0"/>
          </a:p>
        </p:txBody>
      </p:sp>
    </p:spTree>
  </p:cSld>
  <p:clrMapOvr>
    <a:masterClrMapping/>
  </p:clrMapOvr>
  <p:transition spd="med">
    <p:wedg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1447800"/>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dirty="0" smtClean="0"/>
              <a:t>ARTICLE II</a:t>
            </a:r>
            <a:br>
              <a:rPr lang="en-US" dirty="0" smtClean="0"/>
            </a:br>
            <a:r>
              <a:rPr lang="en-US" dirty="0" smtClean="0"/>
              <a:t>Declaration of Principles and Policies</a:t>
            </a:r>
            <a:endParaRPr lang="en-US" dirty="0"/>
          </a:p>
        </p:txBody>
      </p:sp>
      <p:sp>
        <p:nvSpPr>
          <p:cNvPr id="3" name="Content Placeholder 2"/>
          <p:cNvSpPr>
            <a:spLocks noGrp="1"/>
          </p:cNvSpPr>
          <p:nvPr>
            <p:ph idx="1"/>
          </p:nvPr>
        </p:nvSpPr>
        <p:spPr>
          <a:xfrm>
            <a:off x="304800" y="1905000"/>
            <a:ext cx="8503920" cy="4724400"/>
          </a:xfrm>
        </p:spPr>
        <p:txBody>
          <a:bodyPr>
            <a:normAutofit fontScale="92500" lnSpcReduction="10000"/>
          </a:bodyPr>
          <a:lstStyle/>
          <a:p>
            <a:pPr>
              <a:buNone/>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1</a:t>
            </a:r>
            <a:r>
              <a:rPr lang="en-US" sz="4400" b="1" dirty="0" smtClean="0"/>
              <a:t>. The Philippines is a democratic and republican state. Sovereignty resides in the people and all government authority emanates from them.</a:t>
            </a:r>
          </a:p>
          <a:p>
            <a:pPr>
              <a:buNone/>
            </a:pPr>
            <a:endParaRPr lang="en-US" sz="4400" b="1" dirty="0" smtClean="0"/>
          </a:p>
        </p:txBody>
      </p:sp>
    </p:spTree>
  </p:cSld>
  <p:clrMapOvr>
    <a:masterClrMapping/>
  </p:clrMapOvr>
  <p:transition spd="med">
    <p:wedg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301752" y="1527048"/>
            <a:ext cx="8503920" cy="5102352"/>
          </a:xfrm>
        </p:spPr>
        <p:txBody>
          <a:bodyPr>
            <a:noAutofit/>
          </a:bodyPr>
          <a:lstStyle/>
          <a:p>
            <a:pPr>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2</a:t>
            </a:r>
            <a:r>
              <a:rPr lang="en-US" sz="4000" b="1" dirty="0" smtClean="0"/>
              <a:t>. The Philippines renounces war as the instrument of national policy, adopts the generally accepted principles of international law of the land and adheres to the policy of peace, equality, justice, freedom, cooperation and amity wit all nations.</a:t>
            </a:r>
          </a:p>
          <a:p>
            <a:pPr>
              <a:buNone/>
            </a:pPr>
            <a:r>
              <a:rPr lang="en-US" sz="4000" b="1" dirty="0" smtClean="0"/>
              <a:t> </a:t>
            </a:r>
          </a:p>
        </p:txBody>
      </p:sp>
    </p:spTree>
  </p:cSld>
  <p:clrMapOvr>
    <a:masterClrMapping/>
  </p:clrMapOvr>
  <p:transition spd="med">
    <p:wedg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143000"/>
            <a:ext cx="8686800" cy="5334000"/>
          </a:xfrm>
        </p:spPr>
        <p:txBody>
          <a:bodyPr>
            <a:noAutofit/>
          </a:bodyPr>
          <a:lstStyle/>
          <a:p>
            <a:r>
              <a:rPr lang="en-US" sz="3300" dirty="0" smtClean="0"/>
              <a:t> A republican government is a democratic government by representatives chosen by the people at large. The essence therefore, of a republican state is indirect rule. The people have established the government to govern them. Its officers from the highest to the lowest servants of the people  and  not their masters. They can only exercise powers delegated to them by the people who remain as the ultimate source of political power and authority.</a:t>
            </a:r>
          </a:p>
          <a:p>
            <a:endParaRPr lang="en-US" sz="3300" dirty="0"/>
          </a:p>
        </p:txBody>
      </p:sp>
    </p:spTree>
  </p:cSld>
  <p:clrMapOvr>
    <a:masterClrMapping/>
  </p:clrMapOvr>
  <p:transition spd="med">
    <p:wedg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buNone/>
            </a:pPr>
            <a:r>
              <a:rPr lang="en-US" dirty="0" smtClean="0"/>
              <a:t>Renunciation of war as an instrument of national policy is the first aspect of the declaration. Its accordance with the principle in the United Nations Charter binding all members to ‘refrain in the international relations or use of force against territorial integrity or political independence of any state’.  The declaration refers only to the declaration of the Philippines of aggressive war, not in defense of her national honor and integrity.</a:t>
            </a:r>
          </a:p>
          <a:p>
            <a:pPr>
              <a:buNone/>
            </a:pPr>
            <a:endParaRPr lang="en-US" dirty="0" smtClean="0"/>
          </a:p>
          <a:p>
            <a:endParaRPr lang="en-US" dirty="0"/>
          </a:p>
        </p:txBody>
      </p:sp>
    </p:spTree>
  </p:cSld>
  <p:clrMapOvr>
    <a:masterClrMapping/>
  </p:clrMapOvr>
  <p:transition spd="med">
    <p:wedg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1752" y="1527048"/>
            <a:ext cx="8503920" cy="5102352"/>
          </a:xfrm>
        </p:spPr>
        <p:txBody>
          <a:bodyPr>
            <a:noAutofit/>
          </a:bodyPr>
          <a:lstStyle/>
          <a:p>
            <a:pPr>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3. </a:t>
            </a:r>
            <a:r>
              <a:rPr lang="en-US" sz="4000" dirty="0" smtClean="0"/>
              <a:t>Civil authority is, at all times, supreme over the military. The armed Forces of the Philippines is the protector of the people and the State. Its goal is to secure the sovereignty of the State and in the integrity of the national territory.</a:t>
            </a:r>
          </a:p>
          <a:p>
            <a:pPr>
              <a:buNone/>
            </a:pPr>
            <a:r>
              <a:rPr lang="en-US" sz="4000" dirty="0" smtClean="0"/>
              <a:t> </a:t>
            </a:r>
          </a:p>
          <a:p>
            <a:pPr>
              <a:buNone/>
            </a:pPr>
            <a:r>
              <a:rPr lang="en-US" sz="4000" dirty="0" smtClean="0"/>
              <a:t> </a:t>
            </a:r>
          </a:p>
          <a:p>
            <a:pPr>
              <a:buNone/>
            </a:pPr>
            <a:endParaRPr lang="en-US" sz="4000" dirty="0"/>
          </a:p>
        </p:txBody>
      </p:sp>
    </p:spTree>
  </p:cSld>
  <p:clrMapOvr>
    <a:masterClrMapping/>
  </p:clrMapOvr>
  <p:transition spd="med">
    <p:wedg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sz="4000" dirty="0" smtClean="0"/>
              <a:t>The idea of the supremacy of the civilian authority, the highest of such authority being the president, over the military has always been recognized in our jurisdiction by implication from express provision of the 1935 Constitution and by practice.</a:t>
            </a:r>
          </a:p>
          <a:p>
            <a:endParaRPr lang="en-US" sz="4000" dirty="0"/>
          </a:p>
        </p:txBody>
      </p:sp>
    </p:spTree>
  </p:cSld>
  <p:clrMapOvr>
    <a:masterClrMapping/>
  </p:clrMapOvr>
  <p:transition spd="med">
    <p:wedg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1752" y="1066800"/>
            <a:ext cx="8503920" cy="5257800"/>
          </a:xfrm>
        </p:spPr>
        <p:txBody>
          <a:bodyPr>
            <a:normAutofit fontScale="85000" lnSpcReduction="20000"/>
          </a:bodyPr>
          <a:lstStyle/>
          <a:p>
            <a:pPr>
              <a:buNone/>
            </a:pPr>
            <a:r>
              <a:rPr lang="en-US" dirty="0" smtClean="0"/>
              <a:t> </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6. </a:t>
            </a:r>
            <a:r>
              <a:rPr lang="en-US" dirty="0" smtClean="0"/>
              <a:t>The separation of the State shall be inviolable.</a:t>
            </a:r>
          </a:p>
          <a:p>
            <a:pPr>
              <a:buNone/>
            </a:pPr>
            <a:r>
              <a:rPr lang="en-US" dirty="0" smtClean="0"/>
              <a:t>The principle of the separation of the Church and the State being inviolable is implied from the constitutional prohibitions that ‘no law shall be made respecting an establishment of religion’ and that ‘ no public money or property shall be appropriated, applied, paid or employed, directly or indirectly, for use, benefit, or support of any sect, church domination, sectarian institution or system of religion.</a:t>
            </a:r>
          </a:p>
          <a:p>
            <a:pPr>
              <a:buNone/>
            </a:pPr>
            <a:endParaRPr lang="en-US" dirty="0"/>
          </a:p>
        </p:txBody>
      </p:sp>
    </p:spTree>
  </p:cSld>
  <p:clrMapOvr>
    <a:masterClrMapping/>
  </p:clrMapOvr>
  <p:transition spd="med">
    <p:wedg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01752" y="228600"/>
            <a:ext cx="8534400" cy="14478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000" dirty="0"/>
              <a:t>Article III</a:t>
            </a:r>
            <a:br>
              <a:rPr lang="en-US" sz="4000" dirty="0"/>
            </a:br>
            <a:r>
              <a:rPr lang="en-US" sz="4000" dirty="0"/>
              <a:t>Bill of Rights</a:t>
            </a:r>
          </a:p>
        </p:txBody>
      </p:sp>
      <p:sp>
        <p:nvSpPr>
          <p:cNvPr id="49155" name="Rectangle 3"/>
          <p:cNvSpPr>
            <a:spLocks noGrp="1" noChangeArrowheads="1"/>
          </p:cNvSpPr>
          <p:nvPr>
            <p:ph idx="1"/>
          </p:nvPr>
        </p:nvSpPr>
        <p:spPr>
          <a:xfrm>
            <a:off x="304800" y="1981200"/>
            <a:ext cx="8686800" cy="4098925"/>
          </a:xfrm>
        </p:spPr>
        <p:txBody>
          <a:bodyPr>
            <a:noAutofit/>
          </a:bodyPr>
          <a:lstStyle/>
          <a:p>
            <a:pPr algn="ctr">
              <a:buFontTx/>
              <a:buNone/>
            </a:pP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Bill of rights</a:t>
            </a:r>
          </a:p>
          <a:p>
            <a:pPr algn="just">
              <a:buFontTx/>
              <a:buNone/>
            </a:pPr>
            <a:r>
              <a:rPr lang="en-US" sz="4000" dirty="0"/>
              <a:t>	</a:t>
            </a:r>
            <a:r>
              <a:rPr lang="en-US" sz="4000" dirty="0" smtClean="0"/>
              <a:t>-defined </a:t>
            </a:r>
            <a:r>
              <a:rPr lang="en-US" sz="4000" dirty="0"/>
              <a:t>as a declaration and enumeration of a persons rights and privileges, which the Constitution designed to protect against violations by the government or by an individual or group of individuals.</a:t>
            </a:r>
          </a:p>
        </p:txBody>
      </p:sp>
    </p:spTree>
  </p:cSld>
  <p:clrMapOvr>
    <a:masterClrMapping/>
  </p:clrMapOvr>
  <p:transition spd="med">
    <p:wedg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r>
              <a:rPr lang="en-US" sz="4400" dirty="0"/>
              <a:t>Classes of Rights</a:t>
            </a:r>
          </a:p>
        </p:txBody>
      </p:sp>
      <p:sp>
        <p:nvSpPr>
          <p:cNvPr id="50179" name="Rectangle 3"/>
          <p:cNvSpPr>
            <a:spLocks noGrp="1" noChangeArrowheads="1"/>
          </p:cNvSpPr>
          <p:nvPr>
            <p:ph idx="1"/>
          </p:nvPr>
        </p:nvSpPr>
        <p:spPr>
          <a:xfrm>
            <a:off x="304800" y="1447800"/>
            <a:ext cx="8686800" cy="5181600"/>
          </a:xfrm>
        </p:spPr>
        <p:txBody>
          <a:bodyPr>
            <a:noAutofit/>
          </a:bodyPr>
          <a:lstStyle/>
          <a:p>
            <a:pPr marL="609600" indent="-609600" algn="just">
              <a:lnSpc>
                <a:spcPct val="90000"/>
              </a:lnSpc>
              <a:buFontTx/>
              <a:buAutoNum type="arabicPeriod"/>
            </a:pPr>
            <a:r>
              <a:rPr lang="en-US" sz="33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Natural Right </a:t>
            </a:r>
            <a:r>
              <a:rPr lang="en-US" sz="3300" dirty="0"/>
              <a:t>– possessed by every citizen confused upon him by God as a human being. Example: right to life, right to love.</a:t>
            </a:r>
          </a:p>
          <a:p>
            <a:pPr marL="609600" indent="-609600" algn="just">
              <a:lnSpc>
                <a:spcPct val="90000"/>
              </a:lnSpc>
              <a:buFontTx/>
              <a:buAutoNum type="arabicPeriod"/>
            </a:pPr>
            <a:r>
              <a:rPr lang="en-US" sz="33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Constitutional Right </a:t>
            </a:r>
            <a:r>
              <a:rPr lang="en-US" sz="3300" dirty="0"/>
              <a:t>– rights conferred and protected by the constitution, part of the fundamental law cannot be modified or taken away by the law making body.</a:t>
            </a:r>
          </a:p>
          <a:p>
            <a:pPr marL="609600" indent="-609600" algn="just">
              <a:lnSpc>
                <a:spcPct val="90000"/>
              </a:lnSpc>
              <a:buFontTx/>
              <a:buAutoNum type="arabicPeriod"/>
            </a:pPr>
            <a:r>
              <a:rPr lang="en-US" sz="33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Statutory Right </a:t>
            </a:r>
            <a:r>
              <a:rPr lang="en-US" sz="3300" dirty="0"/>
              <a:t>– </a:t>
            </a:r>
            <a:r>
              <a:rPr lang="en-US" sz="3300" dirty="0">
                <a:solidFill>
                  <a:srgbClr val="002060"/>
                </a:solidFill>
              </a:rPr>
              <a:t>it is provided by laws promulgated by the law making body. It can be abolished by the same body</a:t>
            </a:r>
          </a:p>
        </p:txBody>
      </p:sp>
    </p:spTree>
  </p:cSld>
  <p:clrMapOvr>
    <a:masterClrMapping/>
  </p:clrMapOvr>
  <p:transition spd="med">
    <p:wedg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Autofit/>
          </a:bodyPr>
          <a:lstStyle/>
          <a:p>
            <a:r>
              <a:rPr lang="en-US" sz="4000" dirty="0"/>
              <a:t>Classes of Constitutional rights</a:t>
            </a:r>
          </a:p>
        </p:txBody>
      </p:sp>
      <p:sp>
        <p:nvSpPr>
          <p:cNvPr id="51203" name="Rectangle 3"/>
          <p:cNvSpPr>
            <a:spLocks noGrp="1" noChangeArrowheads="1"/>
          </p:cNvSpPr>
          <p:nvPr>
            <p:ph idx="1"/>
          </p:nvPr>
        </p:nvSpPr>
        <p:spPr>
          <a:xfrm>
            <a:off x="301752" y="1527048"/>
            <a:ext cx="8503920" cy="5102352"/>
          </a:xfrm>
        </p:spPr>
        <p:txBody>
          <a:bodyPr>
            <a:normAutofit fontScale="92500" lnSpcReduction="20000"/>
          </a:bodyPr>
          <a:lstStyle/>
          <a:p>
            <a:pPr marL="609600" indent="-609600" algn="just">
              <a:lnSpc>
                <a:spcPct val="80000"/>
              </a:lnSpc>
              <a:buFontTx/>
              <a:buAutoNum type="arabicPeriod"/>
            </a:pP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Civil Rights </a:t>
            </a:r>
            <a:r>
              <a:rPr lang="en-US" sz="4000" dirty="0"/>
              <a:t>– right which the law enforces to private individual for the purposes of security to them the enjoyment of their means of happiness.</a:t>
            </a:r>
          </a:p>
          <a:p>
            <a:pPr marL="609600" indent="-609600" algn="just">
              <a:lnSpc>
                <a:spcPct val="80000"/>
              </a:lnSpc>
              <a:buFontTx/>
              <a:buAutoNum type="arabicPeriod"/>
            </a:pP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Political Right </a:t>
            </a:r>
            <a:r>
              <a:rPr lang="en-US" sz="4000" dirty="0"/>
              <a:t>– </a:t>
            </a:r>
            <a:r>
              <a:rPr lang="en-US" sz="4000" dirty="0">
                <a:solidFill>
                  <a:srgbClr val="002060"/>
                </a:solidFill>
              </a:rPr>
              <a:t>right of the citizen to participate directly or indirectly in the establishment of or administration of the government</a:t>
            </a:r>
            <a:r>
              <a:rPr lang="en-US" sz="4000" dirty="0" smtClean="0"/>
              <a:t>.</a:t>
            </a:r>
            <a:endParaRPr lang="en-US" sz="4000" dirty="0"/>
          </a:p>
        </p:txBody>
      </p:sp>
    </p:spTree>
  </p:cSld>
  <p:clrMapOvr>
    <a:masterClrMapping/>
  </p:clrMapOvr>
  <p:transition spd="med">
    <p:wedg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304800" y="1554162"/>
            <a:ext cx="8686800" cy="4922838"/>
          </a:xfrm>
        </p:spPr>
        <p:txBody>
          <a:bodyPr>
            <a:noAutofit/>
          </a:bodyPr>
          <a:lstStyle/>
          <a:p>
            <a:pPr marL="609600" indent="-609600" algn="just">
              <a:lnSpc>
                <a:spcPct val="80000"/>
              </a:lnSpc>
              <a:buFont typeface="+mj-lt"/>
              <a:buAutoNum type="arabicPeriod" startAt="3"/>
            </a:pPr>
            <a:r>
              <a:rPr lang="en-US" sz="37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Social and Economic Right </a:t>
            </a:r>
            <a:r>
              <a:rPr lang="en-US" sz="3700" b="1" dirty="0" smtClean="0"/>
              <a:t>– it is intended  to insure the well being and economic security of the individual.</a:t>
            </a:r>
          </a:p>
          <a:p>
            <a:pPr marL="609600" indent="-609600" algn="just">
              <a:lnSpc>
                <a:spcPct val="80000"/>
              </a:lnSpc>
              <a:buFontTx/>
              <a:buAutoNum type="arabicPeriod" startAt="3"/>
            </a:pPr>
            <a:r>
              <a:rPr lang="en-US" sz="37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Right of the Accused </a:t>
            </a:r>
            <a:r>
              <a:rPr lang="en-US" sz="3700" b="1" dirty="0" smtClean="0"/>
              <a:t>– </a:t>
            </a:r>
            <a:r>
              <a:rPr lang="en-US" sz="3700" b="1" dirty="0" smtClean="0">
                <a:solidFill>
                  <a:srgbClr val="002060"/>
                </a:solidFill>
              </a:rPr>
              <a:t>intended to protect persons accused of any crime. They are the (civil) rights intended for the protection of a person accused of any crime. Example, right against self – incrimination, right to have legal counsel.</a:t>
            </a:r>
          </a:p>
          <a:p>
            <a:endParaRPr lang="en-US" sz="3700" b="1" dirty="0"/>
          </a:p>
        </p:txBody>
      </p:sp>
    </p:spTree>
  </p:cSld>
  <p:clrMapOvr>
    <a:masterClrMapping/>
  </p:clrMapOvr>
  <p:transition spd="med">
    <p:wedg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a:bodyPr>
          <a:lstStyle/>
          <a:p>
            <a:pPr algn="just"/>
            <a:endParaRPr lang="en-US" sz="2800" dirty="0"/>
          </a:p>
        </p:txBody>
      </p:sp>
      <p:sp>
        <p:nvSpPr>
          <p:cNvPr id="52227" name="Rectangle 3"/>
          <p:cNvSpPr>
            <a:spLocks noGrp="1" noChangeArrowheads="1"/>
          </p:cNvSpPr>
          <p:nvPr>
            <p:ph idx="1"/>
          </p:nvPr>
        </p:nvSpPr>
        <p:spPr>
          <a:xfrm>
            <a:off x="304800" y="1295400"/>
            <a:ext cx="8686800" cy="5181600"/>
          </a:xfrm>
        </p:spPr>
        <p:txBody>
          <a:bodyPr>
            <a:normAutofit fontScale="85000" lnSpcReduction="10000"/>
          </a:bodyPr>
          <a:lstStyle/>
          <a:p>
            <a:pPr marL="533400" indent="-533400">
              <a:lnSpc>
                <a:spcPct val="90000"/>
              </a:lnSpc>
              <a:buFontTx/>
              <a:buNone/>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Due process</a:t>
            </a:r>
          </a:p>
          <a:p>
            <a:pPr marL="533400" indent="-533400">
              <a:lnSpc>
                <a:spcPct val="90000"/>
              </a:lnSpc>
              <a:buFontTx/>
              <a:buNone/>
            </a:pPr>
            <a:r>
              <a:rPr lang="en-US" b="1" dirty="0"/>
              <a:t>		Concept: Due process of law is law, which hears before it condemns and proceeds upon inquiry before rendering judgment. Under the constitution a person may be deprived by the state of his life, liberty, or property provided due process of law is observed.</a:t>
            </a:r>
          </a:p>
          <a:p>
            <a:pPr marL="533400" indent="-533400">
              <a:lnSpc>
                <a:spcPct val="90000"/>
              </a:lnSpc>
              <a:buFontTx/>
              <a:buNone/>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Kinds of Due Process Law</a:t>
            </a:r>
          </a:p>
          <a:p>
            <a:pPr marL="533400" indent="-533400">
              <a:lnSpc>
                <a:spcPct val="90000"/>
              </a:lnSpc>
              <a:buFontTx/>
              <a:buAutoNum type="arabicPeriod"/>
            </a:pPr>
            <a:r>
              <a:rPr lang="en-US" b="1" dirty="0">
                <a:solidFill>
                  <a:srgbClr val="002060"/>
                </a:solidFill>
              </a:rPr>
              <a:t>Procedural due process of law</a:t>
            </a:r>
          </a:p>
          <a:p>
            <a:pPr marL="533400" indent="-533400">
              <a:lnSpc>
                <a:spcPct val="90000"/>
              </a:lnSpc>
              <a:buFontTx/>
              <a:buAutoNum type="arabicPeriod"/>
            </a:pPr>
            <a:r>
              <a:rPr lang="en-US" b="1" dirty="0">
                <a:solidFill>
                  <a:srgbClr val="002060"/>
                </a:solidFill>
              </a:rPr>
              <a:t>Substantive due process of law</a:t>
            </a:r>
          </a:p>
          <a:p>
            <a:pPr marL="533400" indent="-533400">
              <a:lnSpc>
                <a:spcPct val="90000"/>
              </a:lnSpc>
              <a:buFontTx/>
              <a:buNone/>
            </a:pPr>
            <a:endParaRPr lang="en-US" b="1" dirty="0"/>
          </a:p>
        </p:txBody>
      </p:sp>
    </p:spTree>
  </p:cSld>
  <p:clrMapOvr>
    <a:masterClrMapping/>
  </p:clrMapOvr>
  <p:transition spd="med">
    <p:wedg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228600" y="1143000"/>
            <a:ext cx="8610600" cy="5562600"/>
          </a:xfrm>
        </p:spPr>
        <p:txBody>
          <a:bodyPr>
            <a:noAutofit/>
          </a:bodyPr>
          <a:lstStyle/>
          <a:p>
            <a:pPr algn="just">
              <a:lnSpc>
                <a:spcPct val="90000"/>
              </a:lnSpc>
              <a:buFontTx/>
              <a:buNone/>
            </a:pPr>
            <a:r>
              <a:rPr lang="en-US" sz="3300" b="1" dirty="0" smtClean="0">
                <a:solidFill>
                  <a:srgbClr val="002060"/>
                </a:solidFill>
              </a:rPr>
              <a:t>Section</a:t>
            </a:r>
            <a:r>
              <a:rPr lang="en-US" sz="3300" b="1" dirty="0" smtClean="0"/>
              <a:t> </a:t>
            </a:r>
            <a:r>
              <a:rPr lang="en-US" sz="3300" b="1" dirty="0" smtClean="0">
                <a:solidFill>
                  <a:srgbClr val="002060"/>
                </a:solidFill>
              </a:rPr>
              <a:t>2. The right of the people to be secure in their persons, houses, papers and effects against unreasonable searches and seizures of whatever nature and for any purpose shall be inviolable and no warrant shall issue except upon probable cause to determined personally by the judge after examination under oath or affirmation of the complaint and the witnesses he may produced, and particularly describing the place to be searched and the persons or things to be seized.</a:t>
            </a:r>
            <a:endParaRPr lang="en-US" sz="3300" b="1" dirty="0">
              <a:solidFill>
                <a:srgbClr val="002060"/>
              </a:solidFill>
            </a:endParaRPr>
          </a:p>
        </p:txBody>
      </p:sp>
    </p:spTree>
  </p:cSld>
  <p:clrMapOvr>
    <a:masterClrMapping/>
  </p:clrMapOvr>
  <p:transition spd="med">
    <p:wedg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228600" y="1219200"/>
            <a:ext cx="8763000" cy="5257800"/>
          </a:xfrm>
        </p:spPr>
        <p:txBody>
          <a:bodyPr>
            <a:noAutofit/>
          </a:bodyPr>
          <a:lstStyle/>
          <a:p>
            <a:pPr algn="just">
              <a:lnSpc>
                <a:spcPct val="90000"/>
              </a:lnSpc>
              <a:buFontTx/>
              <a:buNone/>
            </a:pP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Search Warrant</a:t>
            </a:r>
          </a:p>
          <a:p>
            <a:pPr algn="just">
              <a:lnSpc>
                <a:spcPct val="90000"/>
              </a:lnSpc>
              <a:buFontTx/>
              <a:buNone/>
            </a:pPr>
            <a:r>
              <a:rPr lang="en-US" dirty="0" smtClean="0"/>
              <a:t>	is an order in writing, issued in the name of the people of the Philippines, signed by a judge, directed to the police officer, commanding him to search for personal property and to bring it before the court</a:t>
            </a:r>
          </a:p>
          <a:p>
            <a:pPr algn="just">
              <a:lnSpc>
                <a:spcPct val="90000"/>
              </a:lnSpc>
              <a:buFontTx/>
              <a:buNone/>
            </a:pP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Warrant of arrest</a:t>
            </a:r>
          </a:p>
          <a:p>
            <a:pPr algn="just">
              <a:lnSpc>
                <a:spcPct val="90000"/>
              </a:lnSpc>
              <a:buFontTx/>
              <a:buNone/>
            </a:pPr>
            <a:r>
              <a:rPr lang="en-US" dirty="0" smtClean="0"/>
              <a:t>	</a:t>
            </a:r>
            <a:r>
              <a:rPr lang="en-US" dirty="0" smtClean="0">
                <a:solidFill>
                  <a:srgbClr val="002060"/>
                </a:solidFill>
              </a:rPr>
              <a:t>is an order in writing, issued in the name of the people of the Philippines signed by a judge, directed to the police officer, commanding him to arrest a person, that he may be bound to answer for the offense committed</a:t>
            </a:r>
          </a:p>
          <a:p>
            <a:endParaRPr lang="en-US" sz="3600" dirty="0">
              <a:solidFill>
                <a:srgbClr val="002060"/>
              </a:solidFill>
            </a:endParaRPr>
          </a:p>
        </p:txBody>
      </p:sp>
    </p:spTree>
  </p:cSld>
  <p:clrMapOvr>
    <a:masterClrMapping/>
  </p:clrMapOvr>
  <p:transition spd="med">
    <p:wedg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304800" y="457200"/>
            <a:ext cx="8686800" cy="11430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dirty="0"/>
              <a:t>Requisites for valid search warrant of arrest</a:t>
            </a:r>
          </a:p>
        </p:txBody>
      </p:sp>
      <p:sp>
        <p:nvSpPr>
          <p:cNvPr id="54275" name="Rectangle 3"/>
          <p:cNvSpPr>
            <a:spLocks noGrp="1" noChangeArrowheads="1"/>
          </p:cNvSpPr>
          <p:nvPr>
            <p:ph idx="1"/>
          </p:nvPr>
        </p:nvSpPr>
        <p:spPr>
          <a:xfrm>
            <a:off x="304800" y="1828800"/>
            <a:ext cx="8686800" cy="4800600"/>
          </a:xfrm>
        </p:spPr>
        <p:txBody>
          <a:bodyPr>
            <a:noAutofit/>
          </a:bodyPr>
          <a:lstStyle/>
          <a:p>
            <a:pPr marL="609600" indent="-609600" algn="just">
              <a:buFontTx/>
              <a:buAutoNum type="arabicPeriod"/>
            </a:pPr>
            <a:r>
              <a:rPr lang="en-US" sz="3600" b="1" dirty="0"/>
              <a:t>Probable Cause</a:t>
            </a:r>
          </a:p>
          <a:p>
            <a:pPr marL="609600" indent="-609600" algn="just">
              <a:buFontTx/>
              <a:buAutoNum type="arabicPeriod"/>
            </a:pPr>
            <a:r>
              <a:rPr lang="en-US" sz="3600" b="1" dirty="0"/>
              <a:t>To be determine personally by the judge</a:t>
            </a:r>
          </a:p>
          <a:p>
            <a:pPr marL="609600" indent="-609600" algn="just">
              <a:buFontTx/>
              <a:buAutoNum type="arabicPeriod"/>
            </a:pPr>
            <a:r>
              <a:rPr lang="en-US" sz="3600" b="1" dirty="0"/>
              <a:t>After examination under oath or affirmation of the complaint and his witnesses</a:t>
            </a:r>
          </a:p>
          <a:p>
            <a:pPr marL="609600" indent="-609600" algn="just">
              <a:buFontTx/>
              <a:buAutoNum type="arabicPeriod"/>
            </a:pPr>
            <a:r>
              <a:rPr lang="en-US" sz="3600" b="1" dirty="0"/>
              <a:t>Particularly describing the place to be search and the persons or things to be sized</a:t>
            </a:r>
          </a:p>
        </p:txBody>
      </p:sp>
    </p:spTree>
  </p:cSld>
  <p:clrMapOvr>
    <a:masterClrMapping/>
  </p:clrMapOvr>
  <p:transition spd="med">
    <p:wedg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000" dirty="0"/>
              <a:t>Rules in the Conduct of Arrest</a:t>
            </a:r>
          </a:p>
        </p:txBody>
      </p:sp>
      <p:sp>
        <p:nvSpPr>
          <p:cNvPr id="55299" name="Rectangle 3"/>
          <p:cNvSpPr>
            <a:spLocks noGrp="1" noChangeArrowheads="1"/>
          </p:cNvSpPr>
          <p:nvPr>
            <p:ph idx="1"/>
          </p:nvPr>
        </p:nvSpPr>
        <p:spPr>
          <a:xfrm>
            <a:off x="301752" y="1527048"/>
            <a:ext cx="8503920" cy="5102352"/>
          </a:xfrm>
        </p:spPr>
        <p:txBody>
          <a:bodyPr>
            <a:normAutofit fontScale="92500" lnSpcReduction="20000"/>
          </a:bodyPr>
          <a:lstStyle/>
          <a:p>
            <a:pPr marL="609600" indent="-609600" algn="just">
              <a:lnSpc>
                <a:spcPct val="90000"/>
              </a:lnSpc>
              <a:buFontTx/>
              <a:buAutoNum type="arabicPeriod"/>
            </a:pPr>
            <a:r>
              <a:rPr lang="en-US" sz="3600" b="1" dirty="0"/>
              <a:t>When in the presence of the arresting officer, the person to be arrested has committed, is actually committing or is about to commit an offense.</a:t>
            </a:r>
          </a:p>
          <a:p>
            <a:pPr marL="609600" indent="-609600" algn="just">
              <a:lnSpc>
                <a:spcPct val="90000"/>
              </a:lnSpc>
              <a:buFontTx/>
              <a:buAutoNum type="arabicPeriod"/>
            </a:pPr>
            <a:r>
              <a:rPr lang="en-US" sz="3600" b="1" dirty="0"/>
              <a:t>When an offense has in fact just been committed and he has personal knowledge of facts indicating that the person to be arrested has committed it; &amp;</a:t>
            </a:r>
          </a:p>
          <a:p>
            <a:pPr marL="609600" indent="-609600" algn="just">
              <a:lnSpc>
                <a:spcPct val="90000"/>
              </a:lnSpc>
              <a:buFontTx/>
              <a:buNone/>
            </a:pPr>
            <a:endParaRPr lang="en-US" sz="3600" b="1" dirty="0"/>
          </a:p>
        </p:txBody>
      </p:sp>
    </p:spTree>
  </p:cSld>
  <p:clrMapOvr>
    <a:masterClrMapping/>
  </p:clrMapOvr>
  <p:transition spd="med">
    <p:wedg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4000" b="1" dirty="0" smtClean="0"/>
              <a:t>When the person to be arrested is a prisoner who has escape from a penal establishment or place where he is serving final judgment or temporarily confined while his case is pending or has escape while being transferred form one confinement to another.</a:t>
            </a:r>
          </a:p>
          <a:p>
            <a:endParaRPr lang="en-US" sz="4000" b="1" dirty="0"/>
          </a:p>
        </p:txBody>
      </p:sp>
    </p:spTree>
  </p:cSld>
  <p:clrMapOvr>
    <a:masterClrMapping/>
  </p:clrMapOvr>
  <p:transition spd="med">
    <p:wedg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pPr algn="ctr"/>
            <a:r>
              <a:rPr lang="en-US" sz="4400" dirty="0" smtClean="0"/>
              <a:t>Section 3:</a:t>
            </a:r>
            <a:endParaRPr lang="en-US" sz="4400" dirty="0"/>
          </a:p>
        </p:txBody>
      </p:sp>
      <p:sp>
        <p:nvSpPr>
          <p:cNvPr id="3" name="Content Placeholder 2"/>
          <p:cNvSpPr>
            <a:spLocks noGrp="1"/>
          </p:cNvSpPr>
          <p:nvPr>
            <p:ph idx="1"/>
          </p:nvPr>
        </p:nvSpPr>
        <p:spPr/>
        <p:txBody>
          <a:bodyPr>
            <a:normAutofit fontScale="92500" lnSpcReduction="10000"/>
          </a:bodyPr>
          <a:lstStyle/>
          <a:p>
            <a:r>
              <a:rPr lang="en-US" sz="4000" b="1" dirty="0" smtClean="0"/>
              <a:t>The privacy of communication and correspondence shall be inviolable except upon lawful order of the court, or when public safety or order requires otherwise as prescribed by law</a:t>
            </a:r>
            <a:endParaRPr lang="en-US" sz="4000" b="1" dirty="0"/>
          </a:p>
        </p:txBody>
      </p:sp>
    </p:spTree>
  </p:cSld>
  <p:clrMapOvr>
    <a:masterClrMapping/>
  </p:clrMapOvr>
  <p:transition spd="med">
    <p:wedg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304800" y="1066800"/>
            <a:ext cx="8305800" cy="5562600"/>
          </a:xfrm>
        </p:spPr>
        <p:txBody>
          <a:bodyPr>
            <a:noAutofit/>
          </a:bodyPr>
          <a:lstStyle/>
          <a:p>
            <a:pPr>
              <a:buFontTx/>
              <a:buNone/>
            </a:pPr>
            <a:r>
              <a:rPr lang="en-US" sz="4400" b="1" dirty="0"/>
              <a:t>	</a:t>
            </a:r>
            <a:r>
              <a:rPr lang="en-US" sz="4000" b="1" dirty="0" smtClean="0"/>
              <a:t>Section 3</a:t>
            </a:r>
          </a:p>
          <a:p>
            <a:pPr>
              <a:buFontTx/>
              <a:buNone/>
            </a:pPr>
            <a:r>
              <a:rPr lang="en-US" sz="4000" b="1" dirty="0" smtClean="0"/>
              <a:t> 1. Right to privacy of the communication</a:t>
            </a:r>
          </a:p>
          <a:p>
            <a:pPr>
              <a:buFontTx/>
              <a:buNone/>
            </a:pPr>
            <a:r>
              <a:rPr lang="en-US" sz="4000" b="1" dirty="0" smtClean="0"/>
              <a:t>2. Any evidence obtained in violation of this or the proceeding section shall be inadmissible for any purpose in any proceeding. </a:t>
            </a:r>
          </a:p>
          <a:p>
            <a:pPr>
              <a:buFontTx/>
              <a:buNone/>
            </a:pPr>
            <a:endParaRPr lang="en-US" sz="4000" b="1" dirty="0" smtClean="0"/>
          </a:p>
          <a:p>
            <a:pPr>
              <a:buFontTx/>
              <a:buNone/>
            </a:pPr>
            <a:r>
              <a:rPr lang="en-US" sz="4000" b="1" dirty="0" smtClean="0"/>
              <a:t/>
            </a:r>
            <a:br>
              <a:rPr lang="en-US" sz="4000" b="1" dirty="0" smtClean="0"/>
            </a:br>
            <a:endParaRPr lang="en-US" sz="4000" b="1" dirty="0"/>
          </a:p>
          <a:p>
            <a:pPr>
              <a:buFontTx/>
              <a:buNone/>
            </a:pPr>
            <a:endParaRPr lang="en-US" sz="4000" b="1" dirty="0"/>
          </a:p>
        </p:txBody>
      </p:sp>
    </p:spTree>
  </p:cSld>
  <p:clrMapOvr>
    <a:masterClrMapping/>
  </p:clrMapOvr>
  <p:transition spd="med">
    <p:wedg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sz="4000" b="1" dirty="0" smtClean="0"/>
              <a:t>Right to privacy is concisely defined as the right to be left alone.  It has also been defined, as the right of a person to be free from unwarranted interference by the public in matters which the public is not necessarily concerned.</a:t>
            </a:r>
          </a:p>
          <a:p>
            <a:endParaRPr lang="en-US" sz="4000" b="1" dirty="0"/>
          </a:p>
        </p:txBody>
      </p:sp>
    </p:spTree>
  </p:cSld>
  <p:clrMapOvr>
    <a:masterClrMapping/>
  </p:clrMapOvr>
  <p:transition spd="med">
    <p:wedg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381000" y="990600"/>
            <a:ext cx="8305800" cy="6019800"/>
          </a:xfrm>
        </p:spPr>
        <p:txBody>
          <a:bodyPr>
            <a:normAutofit fontScale="92500" lnSpcReduction="20000"/>
          </a:bodyPr>
          <a:lstStyle/>
          <a:p>
            <a:pPr algn="just">
              <a:buFontTx/>
              <a:buNone/>
            </a:pP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9. </a:t>
            </a:r>
            <a:r>
              <a:rPr lang="en-US" dirty="0" smtClean="0"/>
              <a:t>Private Property shall not be taken for public use without just compensation.</a:t>
            </a:r>
          </a:p>
          <a:p>
            <a:pPr algn="just">
              <a:buFontTx/>
              <a:buNone/>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Eminent </a:t>
            </a:r>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Domain </a:t>
            </a:r>
            <a:r>
              <a:rPr lang="en-US" sz="3600" dirty="0"/>
              <a:t>– is power of the state to take private property for public purpose upon payment of just compensation to its owner.</a:t>
            </a:r>
          </a:p>
          <a:p>
            <a:pPr algn="just">
              <a:buFontTx/>
              <a:buNone/>
            </a:pPr>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Just Compensation </a:t>
            </a:r>
            <a:r>
              <a:rPr lang="en-US" sz="3600" dirty="0"/>
              <a:t>–is the fair market value of the property at the time of the taking.</a:t>
            </a:r>
          </a:p>
        </p:txBody>
      </p:sp>
    </p:spTree>
  </p:cSld>
  <p:clrMapOvr>
    <a:masterClrMapping/>
  </p:clrMapOvr>
  <p:transition spd="med">
    <p:wedg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82" name="Rectangle 14"/>
          <p:cNvSpPr>
            <a:spLocks noGrp="1" noChangeArrowheads="1"/>
          </p:cNvSpPr>
          <p:nvPr>
            <p:ph idx="1"/>
          </p:nvPr>
        </p:nvSpPr>
        <p:spPr>
          <a:xfrm>
            <a:off x="457200" y="381000"/>
            <a:ext cx="8229600" cy="6172200"/>
          </a:xfrm>
        </p:spPr>
        <p:txBody>
          <a:bodyPr>
            <a:noAutofit/>
          </a:bodyPr>
          <a:lstStyle/>
          <a:p>
            <a:pPr marL="609600" indent="-609600" algn="ctr">
              <a:lnSpc>
                <a:spcPct val="80000"/>
              </a:lnSpc>
              <a:buFontTx/>
              <a:buNone/>
            </a:pPr>
            <a:r>
              <a:rPr lang="en-US" sz="4800" b="1" dirty="0"/>
              <a:t>Rights of the Accused in Criminal </a:t>
            </a:r>
            <a:r>
              <a:rPr lang="en-US" sz="4800" b="1" dirty="0" smtClean="0"/>
              <a:t>Cases</a:t>
            </a:r>
            <a:endParaRPr lang="en-US" sz="3600" b="1" dirty="0"/>
          </a:p>
          <a:p>
            <a:pPr marL="609600" indent="-609600" algn="just">
              <a:lnSpc>
                <a:spcPct val="80000"/>
              </a:lnSpc>
              <a:buFontTx/>
              <a:buAutoNum type="arabicPeriod"/>
            </a:pPr>
            <a:r>
              <a:rPr lang="en-US" sz="3600" b="1" dirty="0">
                <a:solidFill>
                  <a:srgbClr val="002060"/>
                </a:solidFill>
              </a:rPr>
              <a:t>To adequate legal assistance</a:t>
            </a:r>
          </a:p>
          <a:p>
            <a:pPr marL="609600" indent="-609600" algn="just">
              <a:lnSpc>
                <a:spcPct val="80000"/>
              </a:lnSpc>
              <a:buFontTx/>
              <a:buAutoNum type="arabicPeriod"/>
            </a:pPr>
            <a:r>
              <a:rPr lang="en-US" sz="3600" b="1" dirty="0">
                <a:solidFill>
                  <a:srgbClr val="002060"/>
                </a:solidFill>
              </a:rPr>
              <a:t>To be informed in his right to remain silent</a:t>
            </a:r>
          </a:p>
          <a:p>
            <a:pPr marL="609600" indent="-609600" algn="just">
              <a:lnSpc>
                <a:spcPct val="80000"/>
              </a:lnSpc>
              <a:buFontTx/>
              <a:buAutoNum type="arabicPeriod"/>
            </a:pPr>
            <a:r>
              <a:rPr lang="en-US" sz="3600" b="1" dirty="0">
                <a:solidFill>
                  <a:srgbClr val="002060"/>
                </a:solidFill>
              </a:rPr>
              <a:t>Right against the use of torture, violence or any other means which vitiates the free will</a:t>
            </a:r>
          </a:p>
          <a:p>
            <a:pPr marL="609600" indent="-609600" algn="just">
              <a:lnSpc>
                <a:spcPct val="80000"/>
              </a:lnSpc>
              <a:buFontTx/>
              <a:buAutoNum type="arabicPeriod"/>
            </a:pPr>
            <a:r>
              <a:rPr lang="en-US" sz="3600" b="1" dirty="0">
                <a:solidFill>
                  <a:srgbClr val="002060"/>
                </a:solidFill>
              </a:rPr>
              <a:t>To bail and against the excessive bail</a:t>
            </a:r>
          </a:p>
          <a:p>
            <a:pPr marL="609600" indent="-609600" algn="just">
              <a:lnSpc>
                <a:spcPct val="80000"/>
              </a:lnSpc>
              <a:buFontTx/>
              <a:buAutoNum type="arabicPeriod"/>
            </a:pPr>
            <a:r>
              <a:rPr lang="en-US" sz="3600" b="1" dirty="0">
                <a:solidFill>
                  <a:srgbClr val="002060"/>
                </a:solidFill>
              </a:rPr>
              <a:t>To be heard himself and counsel</a:t>
            </a:r>
          </a:p>
          <a:p>
            <a:pPr marL="609600" indent="-609600" algn="just">
              <a:lnSpc>
                <a:spcPct val="80000"/>
              </a:lnSpc>
              <a:buFontTx/>
              <a:buNone/>
            </a:pPr>
            <a:endParaRPr lang="en-US" sz="3600" b="1" dirty="0"/>
          </a:p>
          <a:p>
            <a:pPr marL="609600" indent="-609600" algn="just">
              <a:lnSpc>
                <a:spcPct val="80000"/>
              </a:lnSpc>
              <a:buFontTx/>
              <a:buNone/>
            </a:pPr>
            <a:endParaRPr lang="en-US" sz="3600" b="1" dirty="0"/>
          </a:p>
        </p:txBody>
      </p:sp>
    </p:spTree>
  </p:cSld>
  <p:clrMapOvr>
    <a:masterClrMapping/>
  </p:clrMapOvr>
  <p:transition spd="med">
    <p:wedg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marL="609600" indent="-609600" algn="just">
              <a:lnSpc>
                <a:spcPct val="80000"/>
              </a:lnSpc>
              <a:buFont typeface="+mj-lt"/>
              <a:buAutoNum type="arabicPeriod" startAt="6"/>
            </a:pPr>
            <a:r>
              <a:rPr lang="en-US" sz="4000" dirty="0" smtClean="0">
                <a:solidFill>
                  <a:srgbClr val="002060"/>
                </a:solidFill>
              </a:rPr>
              <a:t>To be informed of the nature and cause of the accusation against him</a:t>
            </a:r>
          </a:p>
          <a:p>
            <a:pPr marL="609600" indent="-609600" algn="just">
              <a:lnSpc>
                <a:spcPct val="80000"/>
              </a:lnSpc>
              <a:buFont typeface="+mj-lt"/>
              <a:buAutoNum type="arabicPeriod" startAt="6"/>
            </a:pPr>
            <a:r>
              <a:rPr lang="en-US" sz="4000" dirty="0" smtClean="0">
                <a:solidFill>
                  <a:srgbClr val="002060"/>
                </a:solidFill>
              </a:rPr>
              <a:t>To have speedy, impartial and public trail</a:t>
            </a:r>
          </a:p>
          <a:p>
            <a:pPr marL="609600" indent="-609600" algn="just">
              <a:lnSpc>
                <a:spcPct val="80000"/>
              </a:lnSpc>
              <a:buFont typeface="+mj-lt"/>
              <a:buAutoNum type="arabicPeriod" startAt="6"/>
            </a:pPr>
            <a:r>
              <a:rPr lang="en-US" sz="4000" dirty="0" smtClean="0">
                <a:solidFill>
                  <a:srgbClr val="002060"/>
                </a:solidFill>
              </a:rPr>
              <a:t>To meet the witness face to face</a:t>
            </a:r>
          </a:p>
          <a:p>
            <a:pPr marL="609600" indent="-609600" algn="just">
              <a:lnSpc>
                <a:spcPct val="80000"/>
              </a:lnSpc>
              <a:buFont typeface="+mj-lt"/>
              <a:buAutoNum type="arabicPeriod" startAt="6"/>
            </a:pPr>
            <a:r>
              <a:rPr lang="en-US" sz="4000" dirty="0" smtClean="0">
                <a:solidFill>
                  <a:srgbClr val="002060"/>
                </a:solidFill>
              </a:rPr>
              <a:t>Right against self – incrimination</a:t>
            </a:r>
          </a:p>
          <a:p>
            <a:pPr marL="609600" indent="-609600" algn="just">
              <a:lnSpc>
                <a:spcPct val="80000"/>
              </a:lnSpc>
              <a:buFont typeface="+mj-lt"/>
              <a:buAutoNum type="arabicPeriod" startAt="6"/>
            </a:pPr>
            <a:r>
              <a:rPr lang="en-US" sz="4000" dirty="0" smtClean="0">
                <a:solidFill>
                  <a:srgbClr val="002060"/>
                </a:solidFill>
              </a:rPr>
              <a:t>Right against double jeopardy</a:t>
            </a:r>
          </a:p>
          <a:p>
            <a:pPr marL="514350" indent="-514350">
              <a:buFont typeface="+mj-lt"/>
              <a:buAutoNum type="arabicPeriod" startAt="6"/>
            </a:pPr>
            <a:endParaRPr lang="en-US" sz="4000" dirty="0">
              <a:solidFill>
                <a:srgbClr val="002060"/>
              </a:solidFill>
            </a:endParaRPr>
          </a:p>
        </p:txBody>
      </p:sp>
    </p:spTree>
  </p:cSld>
  <p:clrMapOvr>
    <a:masterClrMapping/>
  </p:clrMapOvr>
  <p:transition spd="med">
    <p:wedg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normAutofit/>
          </a:bodyPr>
          <a:lstStyle/>
          <a:p>
            <a:pPr algn="just"/>
            <a:endParaRPr lang="en-US" sz="4000" dirty="0"/>
          </a:p>
        </p:txBody>
      </p:sp>
      <p:sp>
        <p:nvSpPr>
          <p:cNvPr id="63491" name="Rectangle 3"/>
          <p:cNvSpPr>
            <a:spLocks noGrp="1" noChangeArrowheads="1"/>
          </p:cNvSpPr>
          <p:nvPr>
            <p:ph idx="1"/>
          </p:nvPr>
        </p:nvSpPr>
        <p:spPr>
          <a:xfrm>
            <a:off x="301752" y="1527048"/>
            <a:ext cx="8503920" cy="5102352"/>
          </a:xfrm>
        </p:spPr>
        <p:txBody>
          <a:bodyPr>
            <a:normAutofit/>
          </a:bodyPr>
          <a:lstStyle/>
          <a:p>
            <a:pPr>
              <a:lnSpc>
                <a:spcPct val="90000"/>
              </a:lnSpc>
              <a:buFontTx/>
              <a:buNone/>
            </a:pPr>
            <a:r>
              <a:rPr lang="en-US" sz="4800" dirty="0" smtClean="0"/>
              <a:t>Section 21. No </a:t>
            </a:r>
            <a:r>
              <a:rPr lang="en-US" sz="4800" i="1" dirty="0" err="1" smtClean="0"/>
              <a:t>expost</a:t>
            </a:r>
            <a:r>
              <a:rPr lang="en-US" sz="4800" i="1" dirty="0" smtClean="0"/>
              <a:t> facto</a:t>
            </a:r>
            <a:r>
              <a:rPr lang="en-US" sz="4800" dirty="0" smtClean="0"/>
              <a:t> law or bill of attainder shall be enacted</a:t>
            </a:r>
          </a:p>
        </p:txBody>
      </p:sp>
    </p:spTree>
  </p:cSld>
  <p:clrMapOvr>
    <a:masterClrMapping/>
  </p:clrMapOvr>
  <p:transition spd="med">
    <p:wedg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8600" y="1524000"/>
            <a:ext cx="8763000" cy="4556125"/>
          </a:xfrm>
        </p:spPr>
        <p:txBody>
          <a:bodyPr>
            <a:noAutofit/>
          </a:bodyPr>
          <a:lstStyle/>
          <a:p>
            <a:pPr algn="just">
              <a:lnSpc>
                <a:spcPct val="90000"/>
              </a:lnSpc>
              <a:buFontTx/>
              <a:buNone/>
            </a:pPr>
            <a:r>
              <a:rPr lang="en-US" dirty="0" smtClean="0"/>
              <a:t>	</a:t>
            </a:r>
            <a:r>
              <a:rPr lang="en-US" dirty="0" smtClean="0">
                <a:solidFill>
                  <a:srgbClr val="002060"/>
                </a:solidFill>
              </a:rPr>
              <a:t>An </a:t>
            </a:r>
            <a:r>
              <a:rPr lang="en-US" i="1" dirty="0" err="1" smtClean="0">
                <a:solidFill>
                  <a:srgbClr val="002060"/>
                </a:solidFill>
              </a:rPr>
              <a:t>expost</a:t>
            </a:r>
            <a:r>
              <a:rPr lang="en-US" i="1" dirty="0" smtClean="0">
                <a:solidFill>
                  <a:srgbClr val="002060"/>
                </a:solidFill>
              </a:rPr>
              <a:t> facto</a:t>
            </a:r>
            <a:r>
              <a:rPr lang="en-US" dirty="0" smtClean="0">
                <a:solidFill>
                  <a:srgbClr val="002060"/>
                </a:solidFill>
              </a:rPr>
              <a:t> law is one which operating retrospectively makes an act done before that passage of the law and punish such act, aggravates a crime or makes it greater that it was committed, changes the punishment and inflicts greater punishment and alters the legal rules of evidence and receives less testimony than the law required at the time of commission of the offenses, in order to convict the offender.</a:t>
            </a:r>
          </a:p>
          <a:p>
            <a:pPr algn="just">
              <a:lnSpc>
                <a:spcPct val="90000"/>
              </a:lnSpc>
              <a:buFontTx/>
              <a:buNone/>
            </a:pPr>
            <a:r>
              <a:rPr lang="en-US" dirty="0" smtClean="0">
                <a:solidFill>
                  <a:srgbClr val="002060"/>
                </a:solidFill>
              </a:rPr>
              <a:t>	A bill of attainder is legislative act, which inflicts punishment without a judicial trail.</a:t>
            </a:r>
          </a:p>
          <a:p>
            <a:endParaRPr lang="en-US" dirty="0"/>
          </a:p>
        </p:txBody>
      </p:sp>
    </p:spTree>
  </p:cSld>
  <p:clrMapOvr>
    <a:masterClrMapping/>
  </p:clrMapOvr>
  <p:transition spd="med">
    <p:wedg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01752" y="228600"/>
            <a:ext cx="8534400" cy="9906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000" dirty="0"/>
              <a:t>Article IV</a:t>
            </a:r>
            <a:br>
              <a:rPr lang="en-US" sz="4000" dirty="0"/>
            </a:br>
            <a:r>
              <a:rPr lang="en-US" sz="4000" dirty="0"/>
              <a:t>Citizenship</a:t>
            </a:r>
          </a:p>
        </p:txBody>
      </p:sp>
      <p:sp>
        <p:nvSpPr>
          <p:cNvPr id="64515" name="Rectangle 3"/>
          <p:cNvSpPr>
            <a:spLocks noGrp="1" noChangeArrowheads="1"/>
          </p:cNvSpPr>
          <p:nvPr>
            <p:ph idx="1"/>
          </p:nvPr>
        </p:nvSpPr>
        <p:spPr/>
        <p:txBody>
          <a:bodyPr>
            <a:normAutofit fontScale="92500" lnSpcReduction="10000"/>
          </a:bodyPr>
          <a:lstStyle/>
          <a:p>
            <a:pPr marL="609600" indent="-609600">
              <a:lnSpc>
                <a:spcPct val="90000"/>
              </a:lnSpc>
              <a:buFontTx/>
              <a:buNone/>
            </a:pPr>
            <a:r>
              <a:rPr lang="en-US" sz="3600" b="1" dirty="0"/>
              <a:t>Section 1. The following are the citizens of the Philippines:</a:t>
            </a:r>
          </a:p>
          <a:p>
            <a:pPr marL="609600" indent="-609600">
              <a:lnSpc>
                <a:spcPct val="90000"/>
              </a:lnSpc>
              <a:buFontTx/>
              <a:buAutoNum type="arabicPeriod"/>
            </a:pPr>
            <a:r>
              <a:rPr lang="en-US" sz="3600" b="1" dirty="0">
                <a:solidFill>
                  <a:srgbClr val="002060"/>
                </a:solidFill>
              </a:rPr>
              <a:t>Those who are citizens of the Philippines at the time of the adoption of this constitution;</a:t>
            </a:r>
          </a:p>
          <a:p>
            <a:pPr marL="609600" indent="-609600">
              <a:lnSpc>
                <a:spcPct val="90000"/>
              </a:lnSpc>
              <a:buFontTx/>
              <a:buAutoNum type="arabicPeriod"/>
            </a:pPr>
            <a:r>
              <a:rPr lang="en-US" sz="3600" b="1" dirty="0">
                <a:solidFill>
                  <a:srgbClr val="002060"/>
                </a:solidFill>
              </a:rPr>
              <a:t>Those whose fathers or mothers are citizens of the Philippines</a:t>
            </a:r>
            <a:r>
              <a:rPr lang="en-US" sz="3600" b="1" dirty="0" smtClean="0">
                <a:solidFill>
                  <a:srgbClr val="002060"/>
                </a:solidFill>
              </a:rPr>
              <a:t>;</a:t>
            </a:r>
            <a:endParaRPr lang="en-US" sz="3600" b="1" dirty="0">
              <a:solidFill>
                <a:srgbClr val="002060"/>
              </a:solidFill>
            </a:endParaRPr>
          </a:p>
        </p:txBody>
      </p:sp>
    </p:spTree>
  </p:cSld>
  <p:clrMapOvr>
    <a:masterClrMapping/>
  </p:clrMapOvr>
  <p:transition spd="med">
    <p:wedg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609600" indent="-609600">
              <a:lnSpc>
                <a:spcPct val="90000"/>
              </a:lnSpc>
              <a:buFont typeface="+mj-lt"/>
              <a:buAutoNum type="arabicPeriod" startAt="3"/>
            </a:pPr>
            <a:r>
              <a:rPr lang="en-US" sz="3600" b="1" dirty="0" smtClean="0">
                <a:solidFill>
                  <a:srgbClr val="002060"/>
                </a:solidFill>
              </a:rPr>
              <a:t>Those born before January 17, 1973, of Filipino mothers, who elect Philippine citizenship upon reaching the age of majority; and</a:t>
            </a:r>
          </a:p>
          <a:p>
            <a:pPr marL="609600" indent="-609600">
              <a:lnSpc>
                <a:spcPct val="90000"/>
              </a:lnSpc>
              <a:buFont typeface="+mj-lt"/>
              <a:buAutoNum type="arabicPeriod" startAt="3"/>
            </a:pPr>
            <a:r>
              <a:rPr lang="en-US" sz="3600" b="1" dirty="0" smtClean="0">
                <a:solidFill>
                  <a:srgbClr val="002060"/>
                </a:solidFill>
              </a:rPr>
              <a:t>Those who are naturalized in accordance with the law</a:t>
            </a:r>
          </a:p>
          <a:p>
            <a:pPr marL="514350" indent="-514350">
              <a:buFont typeface="+mj-lt"/>
              <a:buAutoNum type="arabicPeriod" startAt="3"/>
            </a:pPr>
            <a:endParaRPr lang="en-US" sz="3600" b="1" dirty="0"/>
          </a:p>
        </p:txBody>
      </p:sp>
    </p:spTree>
  </p:cSld>
  <p:clrMapOvr>
    <a:masterClrMapping/>
  </p:clrMapOvr>
  <p:transition spd="med">
    <p:wedg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400" dirty="0"/>
              <a:t>Meaning of Citizenship</a:t>
            </a:r>
          </a:p>
        </p:txBody>
      </p:sp>
      <p:sp>
        <p:nvSpPr>
          <p:cNvPr id="65539" name="Rectangle 3"/>
          <p:cNvSpPr>
            <a:spLocks noGrp="1" noChangeArrowheads="1"/>
          </p:cNvSpPr>
          <p:nvPr>
            <p:ph idx="1"/>
          </p:nvPr>
        </p:nvSpPr>
        <p:spPr/>
        <p:txBody>
          <a:bodyPr>
            <a:normAutofit fontScale="92500" lnSpcReduction="10000"/>
          </a:bodyPr>
          <a:lstStyle/>
          <a:p>
            <a:pPr marL="609600" indent="-609600">
              <a:buFontTx/>
              <a:buAutoNum type="arabicPeriod"/>
            </a:pPr>
            <a:r>
              <a:rPr lang="en-US" sz="3600" b="1" dirty="0">
                <a:solidFill>
                  <a:srgbClr val="002060"/>
                </a:solidFill>
              </a:rPr>
              <a:t>Citizenship is </a:t>
            </a:r>
            <a:r>
              <a:rPr lang="en-US" sz="3600" b="1" dirty="0" smtClean="0">
                <a:solidFill>
                  <a:srgbClr val="002060"/>
                </a:solidFill>
              </a:rPr>
              <a:t>a term </a:t>
            </a:r>
            <a:r>
              <a:rPr lang="en-US" sz="3600" b="1" dirty="0">
                <a:solidFill>
                  <a:srgbClr val="002060"/>
                </a:solidFill>
              </a:rPr>
              <a:t>denoting membership of a citizen in political society, which membership implies, reciprocally, a duty of allegiance on the part of the member an duty of protection on the part of the state.</a:t>
            </a:r>
          </a:p>
          <a:p>
            <a:pPr marL="609600" indent="-609600">
              <a:buFontTx/>
              <a:buNone/>
            </a:pPr>
            <a:endParaRPr lang="en-US" sz="3600" b="1" dirty="0"/>
          </a:p>
        </p:txBody>
      </p:sp>
    </p:spTree>
  </p:cSld>
  <p:clrMapOvr>
    <a:masterClrMapping/>
  </p:clrMapOvr>
  <p:transition spd="med">
    <p:wedg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04800" y="381000"/>
            <a:ext cx="8686800" cy="10668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000" dirty="0"/>
              <a:t>General ways of acquiring citizenship</a:t>
            </a:r>
          </a:p>
        </p:txBody>
      </p:sp>
      <p:sp>
        <p:nvSpPr>
          <p:cNvPr id="66563" name="Rectangle 3"/>
          <p:cNvSpPr>
            <a:spLocks noGrp="1" noChangeArrowheads="1"/>
          </p:cNvSpPr>
          <p:nvPr>
            <p:ph idx="1"/>
          </p:nvPr>
        </p:nvSpPr>
        <p:spPr/>
        <p:txBody>
          <a:bodyPr>
            <a:noAutofit/>
          </a:bodyPr>
          <a:lstStyle/>
          <a:p>
            <a:pPr marL="609600" indent="-609600" algn="just">
              <a:buFontTx/>
              <a:buAutoNum type="arabicPeriod"/>
            </a:pPr>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Involuntary method </a:t>
            </a:r>
            <a:r>
              <a:rPr lang="en-US" sz="3600" dirty="0"/>
              <a:t>– by birth, because blood of relationship or place of birth</a:t>
            </a:r>
            <a:r>
              <a:rPr lang="en-US" sz="3600" dirty="0" smtClean="0"/>
              <a:t>;</a:t>
            </a:r>
            <a:endParaRPr lang="en-US" sz="3600" dirty="0"/>
          </a:p>
          <a:p>
            <a:pPr marL="609600" indent="-609600" algn="just">
              <a:buFontTx/>
              <a:buAutoNum type="arabicPeriod"/>
            </a:pPr>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Voluntary method </a:t>
            </a:r>
            <a:r>
              <a:rPr lang="en-US" sz="3600" dirty="0"/>
              <a:t>– by naturalization, except in case of collective naturalization of the inhabitants of a territory which takes place when it is ceded by one to another as a result of conquest or treaty.</a:t>
            </a:r>
          </a:p>
        </p:txBody>
      </p:sp>
    </p:spTree>
  </p:cSld>
  <p:clrMapOvr>
    <a:masterClrMapping/>
  </p:clrMapOvr>
  <p:transition spd="med">
    <p:wedg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pPr algn="ctr"/>
            <a:r>
              <a:rPr lang="en-US" sz="4000" dirty="0"/>
              <a:t>Citizens by Birth</a:t>
            </a:r>
          </a:p>
        </p:txBody>
      </p:sp>
      <p:sp>
        <p:nvSpPr>
          <p:cNvPr id="67587" name="Rectangle 3"/>
          <p:cNvSpPr>
            <a:spLocks noGrp="1" noChangeArrowheads="1"/>
          </p:cNvSpPr>
          <p:nvPr>
            <p:ph idx="1"/>
          </p:nvPr>
        </p:nvSpPr>
        <p:spPr/>
        <p:txBody>
          <a:bodyPr>
            <a:normAutofit fontScale="77500" lnSpcReduction="20000"/>
          </a:bodyPr>
          <a:lstStyle/>
          <a:p>
            <a:pPr marL="609600" indent="-609600">
              <a:lnSpc>
                <a:spcPct val="90000"/>
              </a:lnSpc>
              <a:buFontTx/>
              <a:buNone/>
            </a:pPr>
            <a:r>
              <a:rPr lang="en-US" sz="3600" b="1" dirty="0"/>
              <a:t>	There are two principles or rules that govern citizenship by birth, namely</a:t>
            </a:r>
            <a:r>
              <a:rPr lang="en-US" sz="3600" b="1" dirty="0" smtClean="0"/>
              <a:t>;</a:t>
            </a:r>
          </a:p>
          <a:p>
            <a:pPr marL="609600" indent="-609600">
              <a:lnSpc>
                <a:spcPct val="90000"/>
              </a:lnSpc>
              <a:buFontTx/>
              <a:buNone/>
            </a:pPr>
            <a:endParaRPr lang="en-US" sz="3600" b="1" dirty="0"/>
          </a:p>
          <a:p>
            <a:pPr marL="609600" indent="-609600" algn="just">
              <a:lnSpc>
                <a:spcPct val="90000"/>
              </a:lnSpc>
              <a:buFontTx/>
              <a:buAutoNum type="arabicPeriod"/>
            </a:pP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Jus </a:t>
            </a:r>
            <a:r>
              <a:rPr lang="en-US" sz="3600"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Sanguines</a:t>
            </a: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r>
              <a:rPr lang="en-US" sz="3600" b="1" dirty="0"/>
              <a:t>– </a:t>
            </a:r>
            <a:r>
              <a:rPr lang="en-US" sz="3600" b="1" dirty="0">
                <a:solidFill>
                  <a:srgbClr val="002060"/>
                </a:solidFill>
              </a:rPr>
              <a:t>relationship by blood is the basis of the acquisition of </a:t>
            </a:r>
            <a:r>
              <a:rPr lang="en-US" sz="3600" b="1" dirty="0" smtClean="0">
                <a:solidFill>
                  <a:srgbClr val="002060"/>
                </a:solidFill>
              </a:rPr>
              <a:t>citizenship </a:t>
            </a:r>
            <a:r>
              <a:rPr lang="en-US" sz="3600" b="1" dirty="0">
                <a:solidFill>
                  <a:srgbClr val="002060"/>
                </a:solidFill>
              </a:rPr>
              <a:t>under this rule. The children follow the citizenship of both of the parents or one of them. This is the predominating principle in then Philippines</a:t>
            </a:r>
            <a:r>
              <a:rPr lang="en-US" sz="3600" b="1" dirty="0" smtClean="0">
                <a:solidFill>
                  <a:srgbClr val="002060"/>
                </a:solidFill>
              </a:rPr>
              <a:t>.</a:t>
            </a:r>
            <a:endParaRPr lang="en-US" sz="3600" b="1" dirty="0">
              <a:solidFill>
                <a:srgbClr val="002060"/>
              </a:solidFill>
            </a:endParaRPr>
          </a:p>
        </p:txBody>
      </p:sp>
    </p:spTree>
  </p:cSld>
  <p:clrMapOvr>
    <a:masterClrMapping/>
  </p:clrMapOvr>
  <p:transition spd="med">
    <p:wedg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Jus Soli or Jus Loci </a:t>
            </a:r>
            <a:r>
              <a:rPr lang="en-US" sz="4000" b="1" dirty="0" smtClean="0"/>
              <a:t>– place of birth as the basis for acquiring citizenship under this rule. A person becomes a citizen of the state where he or she is born irrespective of the citizen of the parents. This principle prevails in the United States.</a:t>
            </a:r>
          </a:p>
          <a:p>
            <a:endParaRPr lang="en-US" sz="4000" b="1" dirty="0"/>
          </a:p>
        </p:txBody>
      </p:sp>
    </p:spTree>
  </p:cSld>
  <p:clrMapOvr>
    <a:masterClrMapping/>
  </p:clrMapOvr>
  <p:transition spd="med">
    <p:wedg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301752" y="228600"/>
            <a:ext cx="8461248" cy="9906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3200" dirty="0"/>
              <a:t>Ways of acquiring Citizenship through Naturalization</a:t>
            </a:r>
          </a:p>
        </p:txBody>
      </p:sp>
      <p:sp>
        <p:nvSpPr>
          <p:cNvPr id="68611" name="Rectangle 3"/>
          <p:cNvSpPr>
            <a:spLocks noGrp="1" noChangeArrowheads="1"/>
          </p:cNvSpPr>
          <p:nvPr>
            <p:ph idx="1"/>
          </p:nvPr>
        </p:nvSpPr>
        <p:spPr/>
        <p:txBody>
          <a:bodyPr>
            <a:normAutofit fontScale="77500" lnSpcReduction="20000"/>
          </a:bodyPr>
          <a:lstStyle/>
          <a:p>
            <a:pPr marL="609600" indent="-609600">
              <a:buFontTx/>
              <a:buAutoNum type="arabicPeriod"/>
            </a:pPr>
            <a:r>
              <a:rPr lang="en-US" sz="3600" b="1" dirty="0"/>
              <a:t>By the judgment of the court – the foreigner who wants to become a Filipino citizen must first apply for naturalization with the proper Regional Trial Court. He must have all the qualifications and none of the qualifications provided by law, and must comply with all the procedure and conditions prescribed</a:t>
            </a:r>
            <a:r>
              <a:rPr lang="en-US" sz="3600" b="1" dirty="0" smtClean="0"/>
              <a:t>.</a:t>
            </a:r>
            <a:endParaRPr lang="en-US" sz="3600" b="1" dirty="0"/>
          </a:p>
        </p:txBody>
      </p:sp>
    </p:spTree>
  </p:cSld>
  <p:clrMapOvr>
    <a:masterClrMapping/>
  </p:clrMapOvr>
  <p:transition spd="med">
    <p:wedg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sz="4400" b="1" dirty="0" smtClean="0"/>
              <a:t>By direct act of Congress – in this case, our law making body simply enacts an act directly conferring citizenship on a foreigner.</a:t>
            </a:r>
          </a:p>
          <a:p>
            <a:endParaRPr lang="en-US" sz="4400" b="1" dirty="0"/>
          </a:p>
        </p:txBody>
      </p:sp>
    </p:spTree>
  </p:cSld>
  <p:clrMapOvr>
    <a:masterClrMapping/>
  </p:clrMapOvr>
  <p:transition spd="med">
    <p:wedg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301752" y="228600"/>
            <a:ext cx="8534400" cy="11430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000" dirty="0"/>
              <a:t>Article V</a:t>
            </a:r>
            <a:br>
              <a:rPr lang="en-US" sz="4000" dirty="0"/>
            </a:br>
            <a:r>
              <a:rPr lang="en-US" sz="4000" dirty="0"/>
              <a:t>Suffrage</a:t>
            </a:r>
          </a:p>
        </p:txBody>
      </p:sp>
      <p:sp>
        <p:nvSpPr>
          <p:cNvPr id="69635" name="Rectangle 3"/>
          <p:cNvSpPr>
            <a:spLocks noGrp="1" noChangeArrowheads="1"/>
          </p:cNvSpPr>
          <p:nvPr>
            <p:ph idx="1"/>
          </p:nvPr>
        </p:nvSpPr>
        <p:spPr/>
        <p:txBody>
          <a:bodyPr>
            <a:noAutofit/>
          </a:bodyPr>
          <a:lstStyle/>
          <a:p>
            <a:pPr algn="just">
              <a:buFontTx/>
              <a:buNone/>
            </a:pPr>
            <a:r>
              <a:rPr lang="en-US" dirty="0"/>
              <a:t>Section 1. Suffrage may be exercised by all citizens of the Philippines not otherwise disqualified by law, who are at least eighteen years of age, and who shall have resided in the Philippines for at least one year and in the place wherein they proposed to vote for at least six months immediately proceeding the election. No literacy, property, or other substantive requirement shall imposed on the exercise of suffrage. </a:t>
            </a:r>
          </a:p>
        </p:txBody>
      </p:sp>
    </p:spTree>
  </p:cSld>
  <p:clrMapOvr>
    <a:masterClrMapping/>
  </p:clrMapOvr>
  <p:transition spd="med">
    <p:wedg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04800" y="228600"/>
            <a:ext cx="8229600" cy="1143000"/>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dirty="0"/>
              <a:t>Meaning of </a:t>
            </a:r>
            <a:r>
              <a:rPr lang="en-US" sz="4000" dirty="0"/>
              <a:t>Suffrage</a:t>
            </a:r>
            <a:br>
              <a:rPr lang="en-US" sz="4000" dirty="0"/>
            </a:br>
            <a:endParaRPr lang="en-US" sz="4000" dirty="0"/>
          </a:p>
        </p:txBody>
      </p:sp>
      <p:sp>
        <p:nvSpPr>
          <p:cNvPr id="70659" name="Rectangle 3"/>
          <p:cNvSpPr>
            <a:spLocks noGrp="1" noChangeArrowheads="1"/>
          </p:cNvSpPr>
          <p:nvPr>
            <p:ph idx="1"/>
          </p:nvPr>
        </p:nvSpPr>
        <p:spPr>
          <a:xfrm>
            <a:off x="381000" y="1828800"/>
            <a:ext cx="8229600" cy="4343400"/>
          </a:xfrm>
        </p:spPr>
        <p:txBody>
          <a:bodyPr>
            <a:noAutofit/>
          </a:bodyPr>
          <a:lstStyle/>
          <a:p>
            <a:pPr algn="just">
              <a:buFontTx/>
              <a:buNone/>
            </a:pPr>
            <a:r>
              <a:rPr lang="en-US" sz="4000" dirty="0"/>
              <a:t> 	Suffrage is the right and obligation to vote of qualified citizens in the election of certain of national and local officers of the government and in the decision of public questions submitted to the people. </a:t>
            </a:r>
          </a:p>
          <a:p>
            <a:pPr algn="just">
              <a:buFontTx/>
              <a:buNone/>
            </a:pPr>
            <a:endParaRPr lang="en-US" sz="4000" dirty="0"/>
          </a:p>
          <a:p>
            <a:pPr algn="just">
              <a:buFontTx/>
              <a:buNone/>
            </a:pPr>
            <a:endParaRPr lang="en-US" sz="4000" dirty="0"/>
          </a:p>
        </p:txBody>
      </p:sp>
    </p:spTree>
  </p:cSld>
  <p:clrMapOvr>
    <a:masterClrMapping/>
  </p:clrMapOvr>
  <p:transition spd="med">
    <p:wedg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pPr algn="ctr"/>
            <a:r>
              <a:rPr lang="en-US" sz="4000" dirty="0"/>
              <a:t>Nature of </a:t>
            </a:r>
            <a:r>
              <a:rPr lang="en-US" sz="4000" b="1" dirty="0"/>
              <a:t>Suffrage</a:t>
            </a:r>
          </a:p>
        </p:txBody>
      </p:sp>
      <p:sp>
        <p:nvSpPr>
          <p:cNvPr id="71683" name="Rectangle 3"/>
          <p:cNvSpPr>
            <a:spLocks noGrp="1" noChangeArrowheads="1"/>
          </p:cNvSpPr>
          <p:nvPr>
            <p:ph idx="1"/>
          </p:nvPr>
        </p:nvSpPr>
        <p:spPr>
          <a:xfrm>
            <a:off x="304800" y="1447800"/>
            <a:ext cx="8686800" cy="4632325"/>
          </a:xfrm>
        </p:spPr>
        <p:txBody>
          <a:bodyPr>
            <a:noAutofit/>
          </a:bodyPr>
          <a:lstStyle/>
          <a:p>
            <a:pPr marL="609600" indent="-609600" algn="just">
              <a:lnSpc>
                <a:spcPct val="90000"/>
              </a:lnSpc>
              <a:buFontTx/>
              <a:buAutoNum type="arabicPeriod"/>
            </a:pPr>
            <a:r>
              <a:rPr lang="en-US" dirty="0"/>
              <a:t>A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mere privilege- </a:t>
            </a:r>
            <a:r>
              <a:rPr lang="en-US" dirty="0"/>
              <a:t>suffrage is not a natural rights of the citizens but merely privilege given or withheld by the law making power subject to constitutional limitation.</a:t>
            </a:r>
          </a:p>
          <a:p>
            <a:pPr marL="609600" indent="-609600" algn="just">
              <a:lnSpc>
                <a:spcPct val="90000"/>
              </a:lnSpc>
              <a:buFontTx/>
              <a:buNone/>
            </a:pPr>
            <a:r>
              <a:rPr lang="en-US" dirty="0"/>
              <a:t>2.  A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political right- </a:t>
            </a:r>
            <a:r>
              <a:rPr lang="en-US" dirty="0"/>
              <a:t>in the sense of the right conferred by the constitution, suffrage is classified as a political right, enabling every citizen to participate in the process of government to assure that it derives its powers form the consent of the governed. The principle is that of one man, one vote. (supra)</a:t>
            </a:r>
          </a:p>
        </p:txBody>
      </p:sp>
    </p:spTree>
  </p:cSld>
  <p:clrMapOvr>
    <a:masterClrMapping/>
  </p:clrMapOvr>
  <p:transition spd="med">
    <p:wedg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ctr"/>
            <a:r>
              <a:rPr lang="en-US" sz="4400" dirty="0"/>
              <a:t>Scope of Suffrage</a:t>
            </a:r>
          </a:p>
        </p:txBody>
      </p:sp>
      <p:sp>
        <p:nvSpPr>
          <p:cNvPr id="72707" name="Rectangle 3"/>
          <p:cNvSpPr>
            <a:spLocks noGrp="1" noChangeArrowheads="1"/>
          </p:cNvSpPr>
          <p:nvPr>
            <p:ph idx="1"/>
          </p:nvPr>
        </p:nvSpPr>
        <p:spPr>
          <a:xfrm>
            <a:off x="304800" y="1371600"/>
            <a:ext cx="8686800" cy="4708525"/>
          </a:xfrm>
        </p:spPr>
        <p:txBody>
          <a:bodyPr>
            <a:noAutofit/>
          </a:bodyPr>
          <a:lstStyle/>
          <a:p>
            <a:pPr marL="609600" indent="-609600">
              <a:lnSpc>
                <a:spcPct val="90000"/>
              </a:lnSpc>
              <a:buNone/>
            </a:pPr>
            <a:r>
              <a:rPr lang="en-US" sz="3600" b="1" dirty="0" smtClean="0"/>
              <a:t>1.	</a:t>
            </a: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Election- </a:t>
            </a:r>
            <a:r>
              <a:rPr lang="en-US" sz="3600" b="1" dirty="0"/>
              <a:t>it is </a:t>
            </a:r>
            <a:r>
              <a:rPr lang="en-US" sz="3600" b="1" dirty="0" smtClean="0"/>
              <a:t>a means </a:t>
            </a:r>
            <a:r>
              <a:rPr lang="en-US" sz="3600" b="1" dirty="0"/>
              <a:t>by which the people choose their officials for definite and fixed periods and to whom they entrust, for the time as </a:t>
            </a:r>
            <a:r>
              <a:rPr lang="en-US" sz="3600" b="1" dirty="0" smtClean="0"/>
              <a:t>Election- their </a:t>
            </a:r>
            <a:r>
              <a:rPr lang="en-US" sz="3600" b="1" dirty="0"/>
              <a:t>representatives, the exercise of powers of government;</a:t>
            </a:r>
          </a:p>
          <a:p>
            <a:pPr marL="609600" indent="-609600">
              <a:lnSpc>
                <a:spcPct val="90000"/>
              </a:lnSpc>
              <a:buFontTx/>
              <a:buNone/>
            </a:pPr>
            <a:r>
              <a:rPr lang="en-US" sz="3600" b="1" dirty="0"/>
              <a:t>2.   </a:t>
            </a:r>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Plebiscite-</a:t>
            </a:r>
            <a:r>
              <a:rPr lang="en-US" sz="3600" b="1" dirty="0"/>
              <a:t> it is the name given to a vote of the people expressing their choice for or against a proposed law or enactment submitted to them.</a:t>
            </a:r>
          </a:p>
        </p:txBody>
      </p:sp>
    </p:spTree>
  </p:cSld>
  <p:clrMapOvr>
    <a:masterClrMapping/>
  </p:clrMapOvr>
  <p:transition spd="med">
    <p:wedg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noChangeArrowheads="1"/>
          </p:cNvSpPr>
          <p:nvPr>
            <p:ph idx="1"/>
          </p:nvPr>
        </p:nvSpPr>
        <p:spPr>
          <a:xfrm>
            <a:off x="381000" y="609600"/>
            <a:ext cx="8305800" cy="5791200"/>
          </a:xfrm>
        </p:spPr>
        <p:txBody>
          <a:bodyPr>
            <a:noAutofit/>
          </a:bodyPr>
          <a:lstStyle/>
          <a:p>
            <a:pPr algn="just">
              <a:buFontTx/>
              <a:buNone/>
            </a:pPr>
            <a:r>
              <a:rPr lang="en-US" b="1" dirty="0"/>
              <a:t>3.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Referendum-</a:t>
            </a:r>
            <a:r>
              <a:rPr lang="en-US" b="1" dirty="0"/>
              <a:t> it is the submission of a law or part thereof passed by the national or local legislative body to </a:t>
            </a:r>
            <a:r>
              <a:rPr lang="en-US" b="1" dirty="0" smtClean="0"/>
              <a:t>the </a:t>
            </a:r>
            <a:r>
              <a:rPr lang="en-US" b="1" dirty="0"/>
              <a:t>voting citizens of a country for their ratification or rejection.</a:t>
            </a:r>
          </a:p>
          <a:p>
            <a:pPr algn="just">
              <a:buFontTx/>
              <a:buNone/>
            </a:pPr>
            <a:r>
              <a:rPr lang="en-US" b="1" dirty="0"/>
              <a:t>4.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Initiative- </a:t>
            </a:r>
            <a:r>
              <a:rPr lang="en-US" b="1" dirty="0"/>
              <a:t>it is the process whereby the people directly propose and enact laws.</a:t>
            </a:r>
          </a:p>
          <a:p>
            <a:pPr algn="just">
              <a:buFontTx/>
              <a:buNone/>
            </a:pPr>
            <a:r>
              <a:rPr lang="en-US" b="1" dirty="0"/>
              <a:t>5.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Recall-</a:t>
            </a:r>
            <a:r>
              <a:rPr lang="en-US" b="1" dirty="0"/>
              <a:t> it is the method by which a public officer maybe removed form office during his tenure or before the expiration of his term by a vote of the people after registration of a petition signed by a required percentage of the qualified voters.</a:t>
            </a:r>
          </a:p>
        </p:txBody>
      </p:sp>
    </p:spTree>
  </p:cSld>
  <p:clrMapOvr>
    <a:masterClrMapping/>
  </p:clrMapOvr>
  <p:transition spd="med">
    <p:wedge/>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sz="4400" b="1" dirty="0"/>
              <a:t>Qualification of Voters</a:t>
            </a:r>
          </a:p>
        </p:txBody>
      </p:sp>
      <p:sp>
        <p:nvSpPr>
          <p:cNvPr id="74755" name="Rectangle 3"/>
          <p:cNvSpPr>
            <a:spLocks noGrp="1" noChangeArrowheads="1"/>
          </p:cNvSpPr>
          <p:nvPr>
            <p:ph idx="1"/>
          </p:nvPr>
        </p:nvSpPr>
        <p:spPr>
          <a:xfrm>
            <a:off x="457200" y="1524000"/>
            <a:ext cx="8382000" cy="4953000"/>
          </a:xfrm>
        </p:spPr>
        <p:txBody>
          <a:bodyPr>
            <a:noAutofit/>
          </a:bodyPr>
          <a:lstStyle/>
          <a:p>
            <a:pPr marL="609600" indent="-609600">
              <a:buFontTx/>
              <a:buNone/>
            </a:pPr>
            <a:r>
              <a:rPr lang="en-US" sz="3600" dirty="0"/>
              <a:t>He must be:</a:t>
            </a:r>
          </a:p>
          <a:p>
            <a:pPr marL="609600" indent="-609600">
              <a:buFont typeface="+mj-lt"/>
              <a:buAutoNum type="arabicPeriod"/>
            </a:pPr>
            <a:r>
              <a:rPr lang="en-US" sz="3600" dirty="0"/>
              <a:t>A citizen (male or female) of the Philippines;</a:t>
            </a:r>
          </a:p>
          <a:p>
            <a:pPr marL="609600" indent="-609600">
              <a:buFont typeface="+mj-lt"/>
              <a:buAutoNum type="arabicPeriod"/>
            </a:pPr>
            <a:r>
              <a:rPr lang="en-US" sz="3600" dirty="0" smtClean="0"/>
              <a:t>Not </a:t>
            </a:r>
            <a:r>
              <a:rPr lang="en-US" sz="3600" dirty="0"/>
              <a:t>otherwise disqualified by the </a:t>
            </a:r>
            <a:r>
              <a:rPr lang="en-US" sz="3600" dirty="0" smtClean="0"/>
              <a:t>law;</a:t>
            </a:r>
          </a:p>
          <a:p>
            <a:pPr marL="609600" indent="-609600">
              <a:buFont typeface="+mj-lt"/>
              <a:buAutoNum type="arabicPeriod"/>
            </a:pPr>
            <a:r>
              <a:rPr lang="en-US" sz="3600" dirty="0" smtClean="0"/>
              <a:t>At least eighteen (18) years of age; and</a:t>
            </a:r>
          </a:p>
          <a:p>
            <a:pPr marL="609600" indent="-609600">
              <a:buFont typeface="+mj-lt"/>
              <a:buAutoNum type="arabicPeriod"/>
            </a:pPr>
            <a:r>
              <a:rPr lang="en-US" sz="3600" dirty="0" smtClean="0"/>
              <a:t>Have </a:t>
            </a:r>
            <a:r>
              <a:rPr lang="en-US" sz="3600" dirty="0"/>
              <a:t>resided in the Philippines for at least six (6) months preceding the election.</a:t>
            </a:r>
          </a:p>
        </p:txBody>
      </p:sp>
    </p:spTree>
  </p:cSld>
  <p:clrMapOvr>
    <a:masterClrMapping/>
  </p:clrMapOvr>
  <p:transition spd="med">
    <p:wedge/>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idx="1"/>
          </p:nvPr>
        </p:nvSpPr>
        <p:spPr>
          <a:xfrm>
            <a:off x="228600" y="609600"/>
            <a:ext cx="8534400" cy="6096000"/>
          </a:xfrm>
        </p:spPr>
        <p:txBody>
          <a:bodyPr>
            <a:noAutofit/>
          </a:bodyPr>
          <a:lstStyle/>
          <a:p>
            <a:pPr algn="just">
              <a:lnSpc>
                <a:spcPct val="80000"/>
              </a:lnSpc>
              <a:buFontTx/>
              <a:buNone/>
            </a:pPr>
            <a:r>
              <a:rPr lang="en-US" dirty="0"/>
              <a:t> 	</a:t>
            </a:r>
            <a:r>
              <a:rPr lang="en-US" dirty="0" smtClean="0"/>
              <a:t>Section 2. The Congress shall provide a system for securing the secrecy and sanctity of the ballot as well as a system for absentee voting by qualified Filipinos abroad.</a:t>
            </a:r>
            <a:r>
              <a:rPr lang="en-US" sz="4000" dirty="0" smtClean="0"/>
              <a:t> </a:t>
            </a:r>
          </a:p>
          <a:p>
            <a:pPr algn="just">
              <a:lnSpc>
                <a:spcPct val="80000"/>
              </a:lnSpc>
              <a:buFontTx/>
              <a:buNone/>
            </a:pPr>
            <a:endParaRPr lang="en-US" sz="4000" dirty="0" smtClean="0"/>
          </a:p>
          <a:p>
            <a:pPr algn="just">
              <a:lnSpc>
                <a:spcPct val="80000"/>
              </a:lnSpc>
              <a:buFontTx/>
              <a:buNone/>
            </a:pPr>
            <a:r>
              <a:rPr lang="en-US" sz="3600" dirty="0" smtClean="0"/>
              <a:t>The </a:t>
            </a:r>
            <a:r>
              <a:rPr lang="en-US" sz="3600" dirty="0"/>
              <a:t>congress shall also design a procedure for the disabled and the illiterates to vote without the assistance of other persons. Until then, they shall be allowed to vote under existing laws and such rules as the  Commission on Elections may promulgate to protect the secrecy of the ballot.</a:t>
            </a:r>
          </a:p>
        </p:txBody>
      </p:sp>
    </p:spTree>
  </p:cSld>
  <p:clrMapOvr>
    <a:masterClrMapping/>
  </p:clrMapOvr>
  <p:transition spd="med">
    <p:wedge/>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301752" y="228600"/>
            <a:ext cx="8534400" cy="91440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dirty="0"/>
              <a:t>Article VI</a:t>
            </a:r>
            <a:br>
              <a:rPr lang="en-US" dirty="0"/>
            </a:br>
            <a:r>
              <a:rPr lang="en-US" dirty="0"/>
              <a:t>Legislative Department</a:t>
            </a:r>
          </a:p>
        </p:txBody>
      </p:sp>
      <p:sp>
        <p:nvSpPr>
          <p:cNvPr id="76803" name="Rectangle 3"/>
          <p:cNvSpPr>
            <a:spLocks noGrp="1" noChangeArrowheads="1"/>
          </p:cNvSpPr>
          <p:nvPr>
            <p:ph idx="1"/>
          </p:nvPr>
        </p:nvSpPr>
        <p:spPr/>
        <p:txBody>
          <a:bodyPr>
            <a:noAutofit/>
          </a:bodyPr>
          <a:lstStyle/>
          <a:p>
            <a:pPr algn="just"/>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Legislative power- </a:t>
            </a:r>
            <a:r>
              <a:rPr lang="en-US" sz="3600" dirty="0"/>
              <a:t>the authority under the Constitution to make laws and to later and repeat them.</a:t>
            </a:r>
          </a:p>
          <a:p>
            <a:pPr algn="just"/>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Laws-</a:t>
            </a:r>
            <a:r>
              <a:rPr lang="en-US" sz="3600" dirty="0"/>
              <a:t> refers to statutes, which are the written enactments of the legislative governing the relations of the people among themselves and between them and the government and its agencies.</a:t>
            </a:r>
          </a:p>
        </p:txBody>
      </p:sp>
    </p:spTree>
  </p:cSld>
  <p:clrMapOvr>
    <a:masterClrMapping/>
  </p:clrMapOvr>
  <p:transition spd="med">
    <p:wedge/>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57200" y="228600"/>
            <a:ext cx="8229600" cy="7620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3200" dirty="0"/>
              <a:t>Classification of Powers of Congress</a:t>
            </a:r>
          </a:p>
        </p:txBody>
      </p:sp>
      <p:sp>
        <p:nvSpPr>
          <p:cNvPr id="77827" name="Rectangle 3"/>
          <p:cNvSpPr>
            <a:spLocks noGrp="1" noChangeArrowheads="1"/>
          </p:cNvSpPr>
          <p:nvPr>
            <p:ph idx="1"/>
          </p:nvPr>
        </p:nvSpPr>
        <p:spPr>
          <a:xfrm>
            <a:off x="457200" y="2057400"/>
            <a:ext cx="8229600" cy="4267200"/>
          </a:xfrm>
        </p:spPr>
        <p:txBody>
          <a:bodyPr>
            <a:normAutofit lnSpcReduction="10000"/>
          </a:bodyPr>
          <a:lstStyle/>
          <a:p>
            <a:pPr algn="just">
              <a:buNone/>
            </a:pPr>
            <a:r>
              <a:rPr lang="en-US" sz="4000" dirty="0"/>
              <a:t>1. </a:t>
            </a: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General Legislative Power- </a:t>
            </a:r>
            <a:r>
              <a:rPr lang="en-US" sz="4000" dirty="0"/>
              <a:t>power to enact laws intended as rules of conduct to govern the relations among individuals and the state.</a:t>
            </a:r>
          </a:p>
          <a:p>
            <a:pPr algn="just">
              <a:buNone/>
            </a:pPr>
            <a:endParaRPr lang="en-US" sz="4000" dirty="0"/>
          </a:p>
        </p:txBody>
      </p:sp>
    </p:spTree>
  </p:cSld>
  <p:clrMapOvr>
    <a:masterClrMapping/>
  </p:clrMapOvr>
  <p:transition spd="med">
    <p:wedge/>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buNone/>
            </a:pPr>
            <a:r>
              <a:rPr lang="en-US" dirty="0" smtClean="0"/>
              <a:t>2. </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Specific Power- </a:t>
            </a:r>
            <a:r>
              <a:rPr lang="en-US" dirty="0" smtClean="0"/>
              <a:t>powers which the Constitution expressly directs or authorizes Congress to exercise like the power to choose who shall become the President in case two or more candidates have an equal and highest number of votes, to confirm certain appointments by the President, to promote social justice, to declare the existence of a state of war, to impose taxes, to impeach, to act as a constituent assembly.</a:t>
            </a:r>
            <a:endParaRPr lang="en-US" dirty="0"/>
          </a:p>
        </p:txBody>
      </p:sp>
    </p:spTree>
  </p:cSld>
  <p:clrMapOvr>
    <a:masterClrMapping/>
  </p:clrMapOvr>
  <p:transition spd="med">
    <p:wedge/>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idx="1"/>
          </p:nvPr>
        </p:nvSpPr>
        <p:spPr>
          <a:xfrm>
            <a:off x="381000" y="1066800"/>
            <a:ext cx="8229600" cy="5791200"/>
          </a:xfrm>
        </p:spPr>
        <p:txBody>
          <a:bodyPr>
            <a:noAutofit/>
          </a:bodyPr>
          <a:lstStyle/>
          <a:p>
            <a:pPr algn="just">
              <a:lnSpc>
                <a:spcPct val="90000"/>
              </a:lnSpc>
              <a:buNone/>
            </a:pPr>
            <a:r>
              <a:rPr lang="en-US" sz="3600" b="1" dirty="0" smtClean="0"/>
              <a:t>3. </a:t>
            </a: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Implied Powers- </a:t>
            </a:r>
            <a:r>
              <a:rPr lang="en-US" sz="3600" b="1" dirty="0" smtClean="0"/>
              <a:t>those essential or necessary to the effective exercise of the powers expressly granted, like the power to conduct inquiry and investigation  in aid of legislation, to punish for contempt, to determine the rules of its proceedings. </a:t>
            </a:r>
          </a:p>
          <a:p>
            <a:pPr algn="just">
              <a:lnSpc>
                <a:spcPct val="90000"/>
              </a:lnSpc>
              <a:buNone/>
            </a:pPr>
            <a:r>
              <a:rPr lang="en-US" sz="3600" b="1" dirty="0" smtClean="0"/>
              <a:t>4. </a:t>
            </a:r>
            <a:r>
              <a:rPr lang="en-US" sz="36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Inherent Powers- </a:t>
            </a:r>
            <a:r>
              <a:rPr lang="en-US" sz="3600" b="1" dirty="0" smtClean="0"/>
              <a:t>powers which are possessed and can be exercised by every government because they exist as an attribute of sovereignty.</a:t>
            </a:r>
            <a:endParaRPr lang="en-US" sz="3600" b="1" dirty="0"/>
          </a:p>
        </p:txBody>
      </p:sp>
    </p:spTree>
  </p:cSld>
  <p:clrMapOvr>
    <a:masterClrMapping/>
  </p:clrMapOvr>
  <p:transition spd="med">
    <p:wedge/>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pPr algn="ctr"/>
            <a:r>
              <a:rPr lang="en-US" sz="4800" dirty="0" smtClean="0"/>
              <a:t>The Senate</a:t>
            </a:r>
            <a:endParaRPr lang="en-US" sz="4800" dirty="0"/>
          </a:p>
        </p:txBody>
      </p:sp>
      <p:sp>
        <p:nvSpPr>
          <p:cNvPr id="3" name="Content Placeholder 2"/>
          <p:cNvSpPr>
            <a:spLocks noGrp="1"/>
          </p:cNvSpPr>
          <p:nvPr>
            <p:ph idx="1"/>
          </p:nvPr>
        </p:nvSpPr>
        <p:spPr/>
        <p:txBody>
          <a:bodyPr>
            <a:normAutofit fontScale="77500" lnSpcReduction="20000"/>
          </a:bodyPr>
          <a:lstStyle/>
          <a:p>
            <a:pPr algn="just">
              <a:lnSpc>
                <a:spcPct val="90000"/>
              </a:lnSpc>
              <a:buNone/>
            </a:pPr>
            <a:r>
              <a:rPr lang="en-US" sz="4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Composition and Election- </a:t>
            </a:r>
            <a:r>
              <a:rPr lang="en-US" sz="4800" dirty="0" smtClean="0"/>
              <a:t>it is composed of 24 senators who are elected at large by qualified voters, as may be provided by law.</a:t>
            </a:r>
          </a:p>
          <a:p>
            <a:pPr algn="just">
              <a:lnSpc>
                <a:spcPct val="90000"/>
              </a:lnSpc>
              <a:buNone/>
            </a:pPr>
            <a:r>
              <a:rPr lang="en-US" sz="4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Term of Office- </a:t>
            </a:r>
            <a:r>
              <a:rPr lang="en-US" sz="4800" dirty="0" smtClean="0"/>
              <a:t>six (6) years </a:t>
            </a:r>
          </a:p>
          <a:p>
            <a:pPr>
              <a:buNone/>
            </a:pPr>
            <a:endParaRPr lang="en-US" sz="4800" dirty="0"/>
          </a:p>
        </p:txBody>
      </p:sp>
    </p:spTree>
  </p:cSld>
  <p:clrMapOvr>
    <a:masterClrMapping/>
  </p:clrMapOvr>
  <p:transition spd="med">
    <p:wedge/>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457200" y="304800"/>
            <a:ext cx="8229600" cy="6858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400" b="1" dirty="0"/>
              <a:t>Qualification of a Senator</a:t>
            </a:r>
          </a:p>
        </p:txBody>
      </p:sp>
      <p:sp>
        <p:nvSpPr>
          <p:cNvPr id="79875" name="Rectangle 3"/>
          <p:cNvSpPr>
            <a:spLocks noGrp="1" noChangeArrowheads="1"/>
          </p:cNvSpPr>
          <p:nvPr>
            <p:ph idx="1"/>
          </p:nvPr>
        </p:nvSpPr>
        <p:spPr>
          <a:xfrm>
            <a:off x="457200" y="1143000"/>
            <a:ext cx="8229600" cy="5334000"/>
          </a:xfrm>
        </p:spPr>
        <p:txBody>
          <a:bodyPr>
            <a:normAutofit fontScale="92500" lnSpcReduction="20000"/>
          </a:bodyPr>
          <a:lstStyle/>
          <a:p>
            <a:pPr algn="just">
              <a:lnSpc>
                <a:spcPct val="90000"/>
              </a:lnSpc>
              <a:buFont typeface="Wingdings" pitchFamily="2" charset="2"/>
              <a:buChar char="Ø"/>
            </a:pPr>
            <a:endParaRPr lang="en-US" sz="3600" dirty="0"/>
          </a:p>
          <a:p>
            <a:pPr algn="just">
              <a:lnSpc>
                <a:spcPct val="90000"/>
              </a:lnSpc>
              <a:buFont typeface="Wingdings" pitchFamily="2" charset="2"/>
              <a:buChar char="Ø"/>
            </a:pPr>
            <a:r>
              <a:rPr lang="en-US" sz="3600" dirty="0"/>
              <a:t>A natural born citizen of the Philippines</a:t>
            </a:r>
          </a:p>
          <a:p>
            <a:pPr algn="just">
              <a:lnSpc>
                <a:spcPct val="90000"/>
              </a:lnSpc>
              <a:buFont typeface="Wingdings" pitchFamily="2" charset="2"/>
              <a:buChar char="Ø"/>
            </a:pPr>
            <a:r>
              <a:rPr lang="en-US" sz="3600" dirty="0"/>
              <a:t>At least 35 years of age on the date of the election day</a:t>
            </a:r>
          </a:p>
          <a:p>
            <a:pPr algn="just">
              <a:lnSpc>
                <a:spcPct val="90000"/>
              </a:lnSpc>
              <a:buFont typeface="Wingdings" pitchFamily="2" charset="2"/>
              <a:buChar char="Ø"/>
            </a:pPr>
            <a:r>
              <a:rPr lang="en-US" sz="3600" dirty="0"/>
              <a:t>Able to read and write</a:t>
            </a:r>
          </a:p>
          <a:p>
            <a:pPr algn="just">
              <a:lnSpc>
                <a:spcPct val="90000"/>
              </a:lnSpc>
              <a:buFont typeface="Wingdings" pitchFamily="2" charset="2"/>
              <a:buChar char="Ø"/>
            </a:pPr>
            <a:r>
              <a:rPr lang="en-US" sz="3600" dirty="0"/>
              <a:t>A registered voter</a:t>
            </a:r>
          </a:p>
          <a:p>
            <a:pPr algn="just">
              <a:lnSpc>
                <a:spcPct val="90000"/>
              </a:lnSpc>
              <a:buFont typeface="Wingdings" pitchFamily="2" charset="2"/>
              <a:buChar char="Ø"/>
            </a:pPr>
            <a:r>
              <a:rPr lang="en-US" sz="3600" dirty="0"/>
              <a:t>A resident of the Philippines for not less than two (2) years immediately proceeding the election day</a:t>
            </a:r>
          </a:p>
          <a:p>
            <a:pPr algn="just">
              <a:lnSpc>
                <a:spcPct val="90000"/>
              </a:lnSpc>
              <a:buFont typeface="Wingdings" pitchFamily="2" charset="2"/>
              <a:buNone/>
            </a:pPr>
            <a:endParaRPr lang="en-US" sz="3600" dirty="0"/>
          </a:p>
          <a:p>
            <a:pPr algn="just">
              <a:lnSpc>
                <a:spcPct val="90000"/>
              </a:lnSpc>
              <a:buFont typeface="Wingdings" pitchFamily="2" charset="2"/>
              <a:buNone/>
            </a:pPr>
            <a:endParaRPr lang="en-US" sz="3600" dirty="0"/>
          </a:p>
        </p:txBody>
      </p:sp>
    </p:spTree>
  </p:cSld>
  <p:clrMapOvr>
    <a:masterClrMapping/>
  </p:clrMapOvr>
  <p:transition spd="med">
    <p:wedge/>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Maximum terms- </a:t>
            </a:r>
            <a:r>
              <a:rPr lang="en-US" sz="4000" b="1" dirty="0" smtClean="0"/>
              <a:t>a Senator is disqualified to serve for more than two consecutive terms but can still run for reelection after a break or interval.</a:t>
            </a:r>
          </a:p>
          <a:p>
            <a:endParaRPr lang="en-US" sz="4000" b="1" dirty="0"/>
          </a:p>
        </p:txBody>
      </p:sp>
    </p:spTree>
  </p:cSld>
  <p:clrMapOvr>
    <a:masterClrMapping/>
  </p:clrMapOvr>
  <p:transition spd="med">
    <p:wedg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Registered Voter- </a:t>
            </a:r>
            <a:r>
              <a:rPr lang="en-US" sz="4400" dirty="0" smtClean="0"/>
              <a:t>one who has all the qualifications for a voter and none of the disqualifications provided by law and who has registered himself in the list of voters. </a:t>
            </a:r>
            <a:br>
              <a:rPr lang="en-US" sz="4400" dirty="0" smtClean="0"/>
            </a:br>
            <a:r>
              <a:rPr lang="en-US" sz="4400" dirty="0" smtClean="0"/>
              <a:t/>
            </a:r>
            <a:br>
              <a:rPr lang="en-US" sz="4400" dirty="0" smtClean="0"/>
            </a:br>
            <a:endParaRPr lang="en-US" sz="4800" dirty="0"/>
          </a:p>
        </p:txBody>
      </p:sp>
    </p:spTree>
  </p:cSld>
  <p:clrMapOvr>
    <a:masterClrMapping/>
  </p:clrMapOvr>
  <p:transition spd="med">
    <p:wedge/>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sz="48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Residence- </a:t>
            </a:r>
            <a:r>
              <a:rPr lang="en-US" sz="4800" dirty="0" smtClean="0"/>
              <a:t>the place where one has his true permanent home and to which, whenever, absent, he has the intention of returning.</a:t>
            </a:r>
          </a:p>
          <a:p>
            <a:endParaRPr lang="en-US" sz="4800" dirty="0"/>
          </a:p>
        </p:txBody>
      </p:sp>
    </p:spTree>
  </p:cSld>
  <p:clrMapOvr>
    <a:masterClrMapping/>
  </p:clrMapOvr>
  <p:transition spd="med">
    <p:wedg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457200" y="304800"/>
            <a:ext cx="8229600" cy="914400"/>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b="1" dirty="0"/>
              <a:t>The House of Representatives </a:t>
            </a:r>
          </a:p>
        </p:txBody>
      </p:sp>
      <p:sp>
        <p:nvSpPr>
          <p:cNvPr id="81923" name="Rectangle 3"/>
          <p:cNvSpPr>
            <a:spLocks noGrp="1" noChangeArrowheads="1"/>
          </p:cNvSpPr>
          <p:nvPr>
            <p:ph idx="1"/>
          </p:nvPr>
        </p:nvSpPr>
        <p:spPr>
          <a:xfrm>
            <a:off x="457200" y="1524000"/>
            <a:ext cx="8229600" cy="4876800"/>
          </a:xfrm>
        </p:spPr>
        <p:txBody>
          <a:bodyPr>
            <a:normAutofit fontScale="92500" lnSpcReduction="20000"/>
          </a:bodyPr>
          <a:lstStyle/>
          <a:p>
            <a:pPr algn="just">
              <a:lnSpc>
                <a:spcPct val="80000"/>
              </a:lnSpc>
              <a:buFontTx/>
              <a:buNone/>
            </a:pP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Composition and election/selection- </a:t>
            </a:r>
            <a:r>
              <a:rPr lang="en-US" sz="4000" dirty="0"/>
              <a:t>composed of not more than 250 members popularly known as Congressmen; elected from legislative or congressional districts and through party-list system.</a:t>
            </a:r>
          </a:p>
          <a:p>
            <a:pPr algn="just">
              <a:lnSpc>
                <a:spcPct val="80000"/>
              </a:lnSpc>
              <a:buFontTx/>
              <a:buNone/>
            </a:pP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Term of Office- </a:t>
            </a:r>
            <a:r>
              <a:rPr lang="en-US" sz="4000" dirty="0"/>
              <a:t>three (3) </a:t>
            </a:r>
            <a:r>
              <a:rPr lang="en-US" sz="4000" dirty="0" smtClean="0"/>
              <a:t>years</a:t>
            </a:r>
            <a:endParaRPr lang="en-US" sz="4000" dirty="0"/>
          </a:p>
        </p:txBody>
      </p:sp>
    </p:spTree>
  </p:cSld>
  <p:clrMapOvr>
    <a:masterClrMapping/>
  </p:clrMapOvr>
  <p:transition spd="med">
    <p:wedge/>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lgn="just">
              <a:lnSpc>
                <a:spcPct val="80000"/>
              </a:lnSpc>
              <a:buFontTx/>
              <a:buNone/>
            </a:pP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Qualifications- </a:t>
            </a:r>
            <a:r>
              <a:rPr lang="en-US" sz="3600" b="1" dirty="0" smtClean="0"/>
              <a:t>a  representative must be :</a:t>
            </a:r>
          </a:p>
          <a:p>
            <a:pPr algn="just">
              <a:lnSpc>
                <a:spcPct val="80000"/>
              </a:lnSpc>
              <a:buFontTx/>
              <a:buNone/>
            </a:pPr>
            <a:r>
              <a:rPr lang="en-US" sz="3600" b="1" dirty="0" smtClean="0"/>
              <a:t>-A natural born citizen of the Philippines </a:t>
            </a:r>
          </a:p>
          <a:p>
            <a:pPr algn="just">
              <a:lnSpc>
                <a:spcPct val="80000"/>
              </a:lnSpc>
              <a:buFontTx/>
              <a:buNone/>
            </a:pPr>
            <a:r>
              <a:rPr lang="en-US" sz="3600" b="1" dirty="0" smtClean="0"/>
              <a:t>-At least 25 years of age on the election day</a:t>
            </a:r>
          </a:p>
          <a:p>
            <a:pPr algn="just">
              <a:lnSpc>
                <a:spcPct val="80000"/>
              </a:lnSpc>
              <a:buFontTx/>
              <a:buNone/>
            </a:pPr>
            <a:r>
              <a:rPr lang="en-US" sz="3600" b="1" dirty="0" smtClean="0"/>
              <a:t>-Able to read and write</a:t>
            </a:r>
          </a:p>
          <a:p>
            <a:pPr algn="just">
              <a:lnSpc>
                <a:spcPct val="80000"/>
              </a:lnSpc>
              <a:buFontTx/>
              <a:buNone/>
            </a:pPr>
            <a:r>
              <a:rPr lang="en-US" sz="3600" b="1" dirty="0" smtClean="0"/>
              <a:t>-Except for party-list representative, a registered voter</a:t>
            </a:r>
          </a:p>
          <a:p>
            <a:pPr algn="just">
              <a:lnSpc>
                <a:spcPct val="80000"/>
              </a:lnSpc>
              <a:buFontTx/>
              <a:buNone/>
            </a:pPr>
            <a:r>
              <a:rPr lang="en-US" sz="3600" b="1" dirty="0" smtClean="0"/>
              <a:t>-A resident thereof for a period of not less than one (1) year preceding the election day</a:t>
            </a:r>
          </a:p>
          <a:p>
            <a:endParaRPr lang="en-US" sz="3600" b="1" dirty="0"/>
          </a:p>
        </p:txBody>
      </p:sp>
    </p:spTree>
  </p:cSld>
  <p:clrMapOvr>
    <a:masterClrMapping/>
  </p:clrMapOvr>
  <p:transition spd="med">
    <p:wedg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304800" y="228600"/>
            <a:ext cx="8534400" cy="12192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dirty="0"/>
              <a:t>Compositions, Election/Selection and Classification of Members</a:t>
            </a:r>
          </a:p>
        </p:txBody>
      </p:sp>
      <p:sp>
        <p:nvSpPr>
          <p:cNvPr id="82947" name="Rectangle 3"/>
          <p:cNvSpPr>
            <a:spLocks noGrp="1" noChangeArrowheads="1"/>
          </p:cNvSpPr>
          <p:nvPr>
            <p:ph idx="1"/>
          </p:nvPr>
        </p:nvSpPr>
        <p:spPr>
          <a:xfrm>
            <a:off x="304800" y="2057400"/>
            <a:ext cx="8686800" cy="4022725"/>
          </a:xfrm>
        </p:spPr>
        <p:txBody>
          <a:bodyPr>
            <a:normAutofit lnSpcReduction="10000"/>
          </a:bodyPr>
          <a:lstStyle/>
          <a:p>
            <a:pPr marL="609600" indent="-609600" algn="just">
              <a:lnSpc>
                <a:spcPct val="90000"/>
              </a:lnSpc>
              <a:buNone/>
            </a:pPr>
            <a:r>
              <a:rPr lang="en-US" sz="4400" dirty="0" smtClean="0"/>
              <a:t>1.	The </a:t>
            </a:r>
            <a:r>
              <a:rPr lang="en-US" sz="4400" dirty="0"/>
              <a:t>Constitution limits to 250 the maximum numbers of members the House of Representatives may have.</a:t>
            </a:r>
          </a:p>
          <a:p>
            <a:pPr marL="609600" indent="-609600" algn="just">
              <a:lnSpc>
                <a:spcPct val="90000"/>
              </a:lnSpc>
              <a:buFontTx/>
              <a:buNone/>
            </a:pPr>
            <a:endParaRPr lang="en-US" sz="4400" dirty="0"/>
          </a:p>
        </p:txBody>
      </p:sp>
    </p:spTree>
  </p:cSld>
  <p:clrMapOvr>
    <a:masterClrMapping/>
  </p:clrMapOvr>
  <p:transition spd="med">
    <p:wedge/>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371600"/>
            <a:ext cx="8686800" cy="4708525"/>
          </a:xfrm>
        </p:spPr>
        <p:txBody>
          <a:bodyPr>
            <a:noAutofit/>
          </a:bodyPr>
          <a:lstStyle/>
          <a:p>
            <a:pPr>
              <a:buNone/>
            </a:pPr>
            <a:r>
              <a:rPr lang="en-US" sz="3600" b="1" dirty="0" smtClean="0"/>
              <a:t>2.The House of Representatives shall  be elected from legislative districts and through party-list system of registered national, regional and </a:t>
            </a:r>
            <a:r>
              <a:rPr lang="en-US" sz="3600" b="1" dirty="0" err="1" smtClean="0"/>
              <a:t>sectoral</a:t>
            </a:r>
            <a:r>
              <a:rPr lang="en-US" sz="3600" b="1" dirty="0" smtClean="0"/>
              <a:t> parties or organizations. </a:t>
            </a:r>
            <a:r>
              <a:rPr lang="en-US" sz="3600" b="1" dirty="0" smtClean="0">
                <a:solidFill>
                  <a:srgbClr val="002060"/>
                </a:solidFill>
              </a:rPr>
              <a:t>The party-list representatives shall constitute the 20% of the number of representatives in the Lower House,</a:t>
            </a:r>
            <a:r>
              <a:rPr lang="en-US" sz="3600" b="1" dirty="0" smtClean="0"/>
              <a:t>.</a:t>
            </a:r>
            <a:endParaRPr lang="en-US" sz="3600" b="1" dirty="0"/>
          </a:p>
        </p:txBody>
      </p:sp>
    </p:spTree>
  </p:cSld>
  <p:clrMapOvr>
    <a:masterClrMapping/>
  </p:clrMapOvr>
  <p:transition spd="med">
    <p:wedg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US" sz="4400" dirty="0" smtClean="0"/>
              <a:t>3. The members of the House of Representatives may be classified into district, party-list, and </a:t>
            </a:r>
            <a:r>
              <a:rPr lang="en-US" sz="4400" dirty="0" err="1" smtClean="0"/>
              <a:t>sectoral</a:t>
            </a:r>
            <a:r>
              <a:rPr lang="en-US" sz="4400" dirty="0" smtClean="0"/>
              <a:t> representatives.</a:t>
            </a:r>
          </a:p>
          <a:p>
            <a:endParaRPr lang="en-US" sz="4400" dirty="0"/>
          </a:p>
        </p:txBody>
      </p:sp>
    </p:spTree>
  </p:cSld>
  <p:clrMapOvr>
    <a:masterClrMapping/>
  </p:clrMapOvr>
  <p:transition spd="med">
    <p:wedg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idx="1"/>
          </p:nvPr>
        </p:nvSpPr>
        <p:spPr>
          <a:xfrm>
            <a:off x="228600" y="990600"/>
            <a:ext cx="8686800" cy="5486400"/>
          </a:xfrm>
        </p:spPr>
        <p:txBody>
          <a:bodyPr>
            <a:noAutofit/>
          </a:bodyPr>
          <a:lstStyle/>
          <a:p>
            <a:pPr>
              <a:buFontTx/>
              <a:buNone/>
            </a:pPr>
            <a:r>
              <a:rPr lang="en-US" sz="36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Kinds of Election for Members of Congress</a:t>
            </a:r>
            <a:r>
              <a:rPr lang="en-US" sz="3600" dirty="0" smtClean="0"/>
              <a:t/>
            </a:r>
            <a:br>
              <a:rPr lang="en-US" sz="3600" dirty="0" smtClean="0"/>
            </a:br>
            <a:r>
              <a:rPr lang="en-US" sz="3600" dirty="0" smtClean="0">
                <a:solidFill>
                  <a:srgbClr val="002060"/>
                </a:solidFill>
              </a:rPr>
              <a:t>1. Regular Election</a:t>
            </a:r>
            <a:br>
              <a:rPr lang="en-US" sz="3600" dirty="0" smtClean="0">
                <a:solidFill>
                  <a:srgbClr val="002060"/>
                </a:solidFill>
              </a:rPr>
            </a:br>
            <a:r>
              <a:rPr lang="en-US" sz="3600" dirty="0" smtClean="0">
                <a:solidFill>
                  <a:srgbClr val="002060"/>
                </a:solidFill>
              </a:rPr>
              <a:t>2. Special Election</a:t>
            </a:r>
          </a:p>
          <a:p>
            <a:pPr algn="just">
              <a:buFontTx/>
              <a:buNone/>
            </a:pPr>
            <a:r>
              <a:rPr lang="en-US" sz="4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Compensation </a:t>
            </a:r>
            <a:endParaRPr lang="en-US" sz="40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just">
              <a:buFontTx/>
              <a:buNone/>
            </a:pPr>
            <a:r>
              <a:rPr lang="en-US" sz="4000" dirty="0" err="1">
                <a:solidFill>
                  <a:srgbClr val="002060"/>
                </a:solidFill>
              </a:rPr>
              <a:t>Php</a:t>
            </a:r>
            <a:r>
              <a:rPr lang="en-US" sz="4000" dirty="0">
                <a:solidFill>
                  <a:srgbClr val="002060"/>
                </a:solidFill>
              </a:rPr>
              <a:t> 160,000.00-Php 180,000.00 annually. Any increase of their salary can effect only after the expiration of full-term of the members approving such increase.</a:t>
            </a:r>
          </a:p>
          <a:p>
            <a:pPr>
              <a:buFontTx/>
              <a:buNone/>
            </a:pPr>
            <a:endParaRPr lang="en-US" sz="4000" dirty="0"/>
          </a:p>
        </p:txBody>
      </p:sp>
    </p:spTree>
  </p:cSld>
  <p:clrMapOvr>
    <a:masterClrMapping/>
  </p:clrMapOvr>
  <p:transition spd="med">
    <p:wedge/>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000" dirty="0"/>
              <a:t>Steps in Passage of the Bill</a:t>
            </a:r>
          </a:p>
        </p:txBody>
      </p:sp>
      <p:sp>
        <p:nvSpPr>
          <p:cNvPr id="84995" name="Rectangle 3"/>
          <p:cNvSpPr>
            <a:spLocks noGrp="1" noChangeArrowheads="1"/>
          </p:cNvSpPr>
          <p:nvPr>
            <p:ph idx="1"/>
          </p:nvPr>
        </p:nvSpPr>
        <p:spPr>
          <a:xfrm>
            <a:off x="457200" y="1600200"/>
            <a:ext cx="8229600" cy="4876800"/>
          </a:xfrm>
        </p:spPr>
        <p:txBody>
          <a:bodyPr>
            <a:noAutofit/>
          </a:bodyPr>
          <a:lstStyle/>
          <a:p>
            <a:pPr marL="609600" indent="-609600">
              <a:lnSpc>
                <a:spcPct val="90000"/>
              </a:lnSpc>
              <a:buFontTx/>
              <a:buAutoNum type="arabicPeriod"/>
            </a:pPr>
            <a:r>
              <a:rPr lang="en-US" sz="4400" dirty="0"/>
              <a:t>First reading</a:t>
            </a:r>
          </a:p>
          <a:p>
            <a:pPr marL="609600" indent="-609600">
              <a:lnSpc>
                <a:spcPct val="90000"/>
              </a:lnSpc>
              <a:buFontTx/>
              <a:buAutoNum type="arabicPeriod"/>
            </a:pPr>
            <a:r>
              <a:rPr lang="en-US" sz="4400" dirty="0"/>
              <a:t> Referral to appropriate committee</a:t>
            </a:r>
          </a:p>
          <a:p>
            <a:pPr marL="609600" indent="-609600">
              <a:lnSpc>
                <a:spcPct val="90000"/>
              </a:lnSpc>
              <a:buFontTx/>
              <a:buAutoNum type="arabicPeriod"/>
            </a:pPr>
            <a:r>
              <a:rPr lang="en-US" sz="4400" dirty="0"/>
              <a:t> Second reading</a:t>
            </a:r>
          </a:p>
          <a:p>
            <a:pPr marL="609600" indent="-609600">
              <a:lnSpc>
                <a:spcPct val="90000"/>
              </a:lnSpc>
              <a:buFontTx/>
              <a:buAutoNum type="arabicPeriod"/>
            </a:pPr>
            <a:r>
              <a:rPr lang="en-US" sz="4400" dirty="0"/>
              <a:t> Debates</a:t>
            </a:r>
          </a:p>
          <a:p>
            <a:pPr marL="609600" indent="-609600">
              <a:lnSpc>
                <a:spcPct val="90000"/>
              </a:lnSpc>
              <a:buFontTx/>
              <a:buAutoNum type="arabicPeriod"/>
            </a:pPr>
            <a:r>
              <a:rPr lang="en-US" sz="4400" dirty="0"/>
              <a:t> Printing and Distribution</a:t>
            </a:r>
          </a:p>
          <a:p>
            <a:pPr marL="609600" indent="-609600">
              <a:lnSpc>
                <a:spcPct val="90000"/>
              </a:lnSpc>
              <a:buNone/>
            </a:pPr>
            <a:endParaRPr lang="en-US" sz="4400" dirty="0"/>
          </a:p>
        </p:txBody>
      </p:sp>
    </p:spTree>
  </p:cSld>
  <p:clrMapOvr>
    <a:masterClrMapping/>
  </p:clrMapOvr>
  <p:transition spd="med">
    <p:wedge/>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609600" indent="-609600">
              <a:lnSpc>
                <a:spcPct val="90000"/>
              </a:lnSpc>
              <a:buFont typeface="+mj-lt"/>
              <a:buAutoNum type="arabicPeriod" startAt="6"/>
            </a:pPr>
            <a:r>
              <a:rPr lang="en-US" sz="4400" dirty="0" smtClean="0"/>
              <a:t>Third reading</a:t>
            </a:r>
          </a:p>
          <a:p>
            <a:pPr marL="609600" indent="-609600">
              <a:lnSpc>
                <a:spcPct val="90000"/>
              </a:lnSpc>
              <a:buFont typeface="+mj-lt"/>
              <a:buAutoNum type="arabicPeriod" startAt="6"/>
            </a:pPr>
            <a:r>
              <a:rPr lang="en-US" sz="4400" dirty="0" smtClean="0"/>
              <a:t> Referral to the other house</a:t>
            </a:r>
          </a:p>
          <a:p>
            <a:pPr marL="609600" indent="-609600">
              <a:lnSpc>
                <a:spcPct val="90000"/>
              </a:lnSpc>
              <a:buFont typeface="+mj-lt"/>
              <a:buAutoNum type="arabicPeriod" startAt="6"/>
            </a:pPr>
            <a:r>
              <a:rPr lang="en-US" sz="4400" dirty="0" smtClean="0"/>
              <a:t> Submission to join bicameral committee</a:t>
            </a:r>
          </a:p>
          <a:p>
            <a:pPr marL="609600" indent="-609600">
              <a:lnSpc>
                <a:spcPct val="90000"/>
              </a:lnSpc>
              <a:buFont typeface="+mj-lt"/>
              <a:buAutoNum type="arabicPeriod" startAt="6"/>
            </a:pPr>
            <a:r>
              <a:rPr lang="en-US" sz="4400" dirty="0" smtClean="0"/>
              <a:t> Submission to the President</a:t>
            </a:r>
          </a:p>
          <a:p>
            <a:pPr marL="514350" indent="-514350">
              <a:buFont typeface="+mj-lt"/>
              <a:buAutoNum type="arabicPeriod" startAt="6"/>
            </a:pPr>
            <a:endParaRPr lang="en-US" sz="4400" dirty="0"/>
          </a:p>
        </p:txBody>
      </p:sp>
    </p:spTree>
  </p:cSld>
  <p:clrMapOvr>
    <a:masterClrMapping/>
  </p:clrMapOvr>
  <p:transition spd="med">
    <p:wedg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381000" y="304800"/>
            <a:ext cx="8229600" cy="106680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3200" dirty="0"/>
              <a:t>Article VII</a:t>
            </a:r>
            <a:br>
              <a:rPr lang="en-US" sz="3200" dirty="0"/>
            </a:br>
            <a:r>
              <a:rPr lang="en-US" sz="3200" dirty="0"/>
              <a:t>Executive Department</a:t>
            </a:r>
          </a:p>
        </p:txBody>
      </p:sp>
      <p:sp>
        <p:nvSpPr>
          <p:cNvPr id="86019" name="Rectangle 3"/>
          <p:cNvSpPr>
            <a:spLocks noGrp="1" noChangeArrowheads="1"/>
          </p:cNvSpPr>
          <p:nvPr>
            <p:ph idx="1"/>
          </p:nvPr>
        </p:nvSpPr>
        <p:spPr>
          <a:xfrm>
            <a:off x="533400" y="1600200"/>
            <a:ext cx="8229600" cy="4016188"/>
          </a:xfrm>
        </p:spPr>
        <p:txBody>
          <a:bodyPr>
            <a:noAutofit/>
          </a:bodyPr>
          <a:lstStyle/>
          <a:p>
            <a:pPr>
              <a:buFontTx/>
              <a:buNone/>
            </a:pPr>
            <a:endParaRPr lang="en-US" sz="3600" dirty="0"/>
          </a:p>
          <a:p>
            <a:pPr>
              <a:buFontTx/>
              <a:buNone/>
            </a:pPr>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1</a:t>
            </a:r>
            <a:r>
              <a:rPr lang="en-US" sz="3600" dirty="0"/>
              <a:t>. The executive power shall be vested in the President of the Philippines. </a:t>
            </a:r>
            <a:endParaRPr lang="en-US" sz="3600" dirty="0" smtClean="0"/>
          </a:p>
          <a:p>
            <a:pPr>
              <a:buFontTx/>
              <a:buNone/>
            </a:pPr>
            <a:endParaRPr lang="en-US" sz="3600" dirty="0"/>
          </a:p>
          <a:p>
            <a:pPr>
              <a:buFontTx/>
              <a:buNone/>
            </a:pPr>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Executive Power- </a:t>
            </a:r>
            <a:r>
              <a:rPr lang="en-US" sz="3600" dirty="0"/>
              <a:t>define as the power to administer. </a:t>
            </a:r>
            <a:endParaRPr lang="en-US" sz="3600" dirty="0" smtClean="0"/>
          </a:p>
          <a:p>
            <a:pPr>
              <a:buFontTx/>
              <a:buNone/>
            </a:pPr>
            <a:endParaRPr lang="en-US" sz="3600" dirty="0"/>
          </a:p>
        </p:txBody>
      </p:sp>
    </p:spTree>
  </p:cSld>
  <p:clrMapOvr>
    <a:masterClrMapping/>
  </p:clrMapOvr>
  <p:transition spd="med">
    <p:wedge/>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828800"/>
            <a:ext cx="8686800" cy="4251325"/>
          </a:xfrm>
        </p:spPr>
        <p:txBody>
          <a:bodyPr>
            <a:normAutofit/>
          </a:bodyPr>
          <a:lstStyle/>
          <a:p>
            <a:pPr>
              <a:buFontTx/>
              <a:buNone/>
            </a:pPr>
            <a:r>
              <a:rPr lang="en-US" sz="4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2</a:t>
            </a:r>
            <a:r>
              <a:rPr lang="en-US" sz="4400" dirty="0" smtClean="0"/>
              <a:t>. No person may be elected as president unless he is natural born of the Philippines.</a:t>
            </a:r>
          </a:p>
          <a:p>
            <a:pPr>
              <a:buFontTx/>
              <a:buNone/>
            </a:pPr>
            <a:endParaRPr lang="en-US" sz="4400" dirty="0" smtClean="0"/>
          </a:p>
          <a:p>
            <a:endParaRPr lang="en-US" sz="4400" dirty="0"/>
          </a:p>
        </p:txBody>
      </p:sp>
    </p:spTree>
  </p:cSld>
  <p:clrMapOvr>
    <a:masterClrMapping/>
  </p:clrMapOvr>
  <p:transition spd="med">
    <p:wedg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381000" y="152400"/>
            <a:ext cx="8229600" cy="1676400"/>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dirty="0"/>
              <a:t>Qualifications of the President and </a:t>
            </a:r>
            <a:r>
              <a:rPr lang="en-US" sz="4000" dirty="0"/>
              <a:t>Vice-President</a:t>
            </a:r>
            <a:r>
              <a:rPr lang="en-US" dirty="0"/>
              <a:t>:</a:t>
            </a:r>
          </a:p>
        </p:txBody>
      </p:sp>
      <p:sp>
        <p:nvSpPr>
          <p:cNvPr id="87043" name="Rectangle 3"/>
          <p:cNvSpPr>
            <a:spLocks noGrp="1" noChangeArrowheads="1"/>
          </p:cNvSpPr>
          <p:nvPr>
            <p:ph idx="1"/>
          </p:nvPr>
        </p:nvSpPr>
        <p:spPr>
          <a:xfrm>
            <a:off x="457200" y="2133600"/>
            <a:ext cx="8229600" cy="4495800"/>
          </a:xfrm>
        </p:spPr>
        <p:txBody>
          <a:bodyPr>
            <a:noAutofit/>
          </a:bodyPr>
          <a:lstStyle/>
          <a:p>
            <a:pPr marL="609600" indent="-609600">
              <a:buFontTx/>
              <a:buAutoNum type="arabicPeriod"/>
            </a:pPr>
            <a:r>
              <a:rPr lang="en-US" sz="3800" b="1" dirty="0" smtClean="0">
                <a:solidFill>
                  <a:srgbClr val="002060"/>
                </a:solidFill>
              </a:rPr>
              <a:t>Natural born citizen of the Philippines</a:t>
            </a:r>
          </a:p>
          <a:p>
            <a:pPr marL="609600" indent="-609600">
              <a:buFontTx/>
              <a:buAutoNum type="arabicPeriod"/>
            </a:pPr>
            <a:r>
              <a:rPr lang="en-US" sz="3800" b="1" dirty="0" smtClean="0">
                <a:solidFill>
                  <a:srgbClr val="002060"/>
                </a:solidFill>
              </a:rPr>
              <a:t> Registered voter</a:t>
            </a:r>
          </a:p>
          <a:p>
            <a:pPr marL="609600" indent="-609600">
              <a:buFontTx/>
              <a:buAutoNum type="arabicPeriod"/>
            </a:pPr>
            <a:r>
              <a:rPr lang="en-US" sz="3800" b="1" dirty="0" smtClean="0">
                <a:solidFill>
                  <a:srgbClr val="002060"/>
                </a:solidFill>
              </a:rPr>
              <a:t> </a:t>
            </a:r>
            <a:r>
              <a:rPr lang="en-US" sz="3800" b="1" dirty="0">
                <a:solidFill>
                  <a:srgbClr val="002060"/>
                </a:solidFill>
              </a:rPr>
              <a:t>Able to read and write</a:t>
            </a:r>
          </a:p>
          <a:p>
            <a:pPr marL="609600" indent="-609600">
              <a:buFontTx/>
              <a:buAutoNum type="arabicPeriod"/>
            </a:pPr>
            <a:r>
              <a:rPr lang="en-US" sz="3800" b="1" dirty="0">
                <a:solidFill>
                  <a:srgbClr val="002060"/>
                </a:solidFill>
              </a:rPr>
              <a:t> At least 40 years of age</a:t>
            </a:r>
          </a:p>
          <a:p>
            <a:pPr marL="609600" indent="-609600">
              <a:buFontTx/>
              <a:buAutoNum type="arabicPeriod"/>
            </a:pPr>
            <a:r>
              <a:rPr lang="en-US" sz="3800" b="1" dirty="0">
                <a:solidFill>
                  <a:srgbClr val="002060"/>
                </a:solidFill>
              </a:rPr>
              <a:t> Resident of the Philippines for at least 10 years</a:t>
            </a:r>
          </a:p>
        </p:txBody>
      </p:sp>
    </p:spTree>
  </p:cSld>
  <p:clrMapOvr>
    <a:masterClrMapping/>
  </p:clrMapOvr>
  <p:transition spd="med">
    <p:wedge/>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idx="1"/>
          </p:nvPr>
        </p:nvSpPr>
        <p:spPr>
          <a:xfrm>
            <a:off x="228600" y="228600"/>
            <a:ext cx="8686800" cy="6477000"/>
          </a:xfrm>
        </p:spPr>
        <p:txBody>
          <a:bodyPr>
            <a:noAutofit/>
          </a:bodyPr>
          <a:lstStyle/>
          <a:p>
            <a:pPr marL="609600" indent="-609600">
              <a:lnSpc>
                <a:spcPct val="90000"/>
              </a:lnSpc>
              <a:buFontTx/>
              <a:buNone/>
            </a:pP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3</a:t>
            </a:r>
            <a:r>
              <a:rPr lang="en-US" dirty="0" smtClean="0"/>
              <a:t>. There shall be vice-president who shall have the same qualifications and term of office and be elected with and in the same manner as the president.</a:t>
            </a:r>
          </a:p>
          <a:p>
            <a:pPr marL="609600" indent="-609600" algn="ctr">
              <a:lnSpc>
                <a:spcPct val="90000"/>
              </a:lnSpc>
              <a:buFontTx/>
              <a:buNone/>
            </a:pP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Reasons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for Prohibition against Re-election of President</a:t>
            </a:r>
          </a:p>
          <a:p>
            <a:pPr marL="609600" indent="-609600">
              <a:lnSpc>
                <a:spcPct val="90000"/>
              </a:lnSpc>
              <a:buFontTx/>
              <a:buAutoNum type="arabicPeriod"/>
            </a:pPr>
            <a:r>
              <a:rPr lang="en-US" dirty="0"/>
              <a:t>A president seeking a second term is vulnerable to constant political pressure from those whose support he must preserve has to devote his time and energy to consolidate this political support.</a:t>
            </a:r>
          </a:p>
          <a:p>
            <a:pPr marL="609600" indent="-609600">
              <a:lnSpc>
                <a:spcPct val="90000"/>
              </a:lnSpc>
              <a:buFontTx/>
              <a:buAutoNum type="arabicPeriod"/>
            </a:pPr>
            <a:r>
              <a:rPr lang="en-US" dirty="0"/>
              <a:t>A president who seeks a second term is under terrific handicap in the performance of his function.</a:t>
            </a:r>
          </a:p>
        </p:txBody>
      </p:sp>
    </p:spTree>
  </p:cSld>
  <p:clrMapOvr>
    <a:masterClrMapping/>
  </p:clrMapOvr>
  <p:transition spd="med">
    <p:wedge/>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idx="1"/>
          </p:nvPr>
        </p:nvSpPr>
        <p:spPr>
          <a:xfrm>
            <a:off x="457200" y="381000"/>
            <a:ext cx="8229600" cy="6248400"/>
          </a:xfrm>
        </p:spPr>
        <p:txBody>
          <a:bodyPr>
            <a:noAutofit/>
          </a:bodyPr>
          <a:lstStyle/>
          <a:p>
            <a:pPr>
              <a:lnSpc>
                <a:spcPct val="90000"/>
              </a:lnSpc>
              <a:buFontTx/>
              <a:buNone/>
            </a:pPr>
            <a:r>
              <a:rPr lang="en-US" sz="3300" dirty="0" smtClean="0"/>
              <a:t>3.	 A </a:t>
            </a:r>
            <a:r>
              <a:rPr lang="en-US" sz="3300" dirty="0"/>
              <a:t>president seeking re-election will even use </a:t>
            </a:r>
            <a:r>
              <a:rPr lang="en-US" sz="3300" dirty="0" smtClean="0"/>
              <a:t>public </a:t>
            </a:r>
            <a:r>
              <a:rPr lang="en-US" sz="3300" dirty="0"/>
              <a:t>funds for the purpose even to the extent </a:t>
            </a:r>
            <a:r>
              <a:rPr lang="en-US" sz="3300" dirty="0" smtClean="0"/>
              <a:t>	of </a:t>
            </a:r>
            <a:r>
              <a:rPr lang="en-US" sz="3300" dirty="0"/>
              <a:t>making the government bankrupt. </a:t>
            </a:r>
          </a:p>
          <a:p>
            <a:pPr>
              <a:lnSpc>
                <a:spcPct val="90000"/>
              </a:lnSpc>
              <a:buFontTx/>
              <a:buNone/>
            </a:pPr>
            <a:r>
              <a:rPr lang="en-US" sz="3300" dirty="0" smtClean="0"/>
              <a:t>4. The </a:t>
            </a:r>
            <a:r>
              <a:rPr lang="en-US" sz="3300" dirty="0"/>
              <a:t>prohibition also widens the base </a:t>
            </a:r>
            <a:r>
              <a:rPr lang="en-US" sz="3300" dirty="0" smtClean="0"/>
              <a:t>leadership</a:t>
            </a:r>
            <a:r>
              <a:rPr lang="en-US" sz="3300" dirty="0"/>
              <a:t>.</a:t>
            </a:r>
          </a:p>
          <a:p>
            <a:pPr>
              <a:lnSpc>
                <a:spcPct val="90000"/>
              </a:lnSpc>
              <a:buFontTx/>
              <a:buNone/>
            </a:pPr>
            <a:r>
              <a:rPr lang="en-US" sz="3300" dirty="0" smtClean="0"/>
              <a:t>5. The </a:t>
            </a:r>
            <a:r>
              <a:rPr lang="en-US" sz="3300" dirty="0"/>
              <a:t>ban will put an end or at least hamper the </a:t>
            </a:r>
            <a:r>
              <a:rPr lang="en-US" sz="3300" dirty="0" smtClean="0"/>
              <a:t>establishment </a:t>
            </a:r>
            <a:r>
              <a:rPr lang="en-US" sz="3300" dirty="0"/>
              <a:t>of political dynasties.</a:t>
            </a:r>
          </a:p>
          <a:p>
            <a:pPr>
              <a:lnSpc>
                <a:spcPct val="90000"/>
              </a:lnSpc>
              <a:buFontTx/>
              <a:buNone/>
            </a:pPr>
            <a:r>
              <a:rPr lang="en-US" sz="3300" dirty="0" smtClean="0"/>
              <a:t>6. The </a:t>
            </a:r>
            <a:r>
              <a:rPr lang="en-US" sz="3300" dirty="0"/>
              <a:t>six year term will give the president a </a:t>
            </a:r>
            <a:r>
              <a:rPr lang="en-US" sz="3300" dirty="0" smtClean="0"/>
              <a:t>reasonable </a:t>
            </a:r>
            <a:r>
              <a:rPr lang="en-US" sz="3300" dirty="0"/>
              <a:t>time within which implement his </a:t>
            </a:r>
            <a:r>
              <a:rPr lang="en-US" sz="3300" dirty="0" smtClean="0"/>
              <a:t>plans </a:t>
            </a:r>
            <a:r>
              <a:rPr lang="en-US" sz="3300" dirty="0"/>
              <a:t>and programs of government.</a:t>
            </a:r>
          </a:p>
          <a:p>
            <a:pPr>
              <a:lnSpc>
                <a:spcPct val="90000"/>
              </a:lnSpc>
              <a:buFontTx/>
              <a:buNone/>
            </a:pPr>
            <a:r>
              <a:rPr lang="en-US" sz="3300" dirty="0" smtClean="0"/>
              <a:t>7. A </a:t>
            </a:r>
            <a:r>
              <a:rPr lang="en-US" sz="3300" dirty="0"/>
              <a:t>term, no matter how long, is short for a good </a:t>
            </a:r>
            <a:r>
              <a:rPr lang="en-US" sz="3300" dirty="0" smtClean="0"/>
              <a:t>president</a:t>
            </a:r>
            <a:r>
              <a:rPr lang="en-US" sz="3300" dirty="0"/>
              <a:t>.</a:t>
            </a:r>
          </a:p>
        </p:txBody>
      </p:sp>
    </p:spTree>
  </p:cSld>
  <p:clrMapOvr>
    <a:masterClrMapping/>
  </p:clrMapOvr>
  <p:transition spd="med">
    <p:wedge/>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dirty="0"/>
              <a:t>Powers of the President</a:t>
            </a:r>
          </a:p>
        </p:txBody>
      </p:sp>
      <p:sp>
        <p:nvSpPr>
          <p:cNvPr id="90115" name="Rectangle 3"/>
          <p:cNvSpPr>
            <a:spLocks noGrp="1" noChangeArrowheads="1"/>
          </p:cNvSpPr>
          <p:nvPr>
            <p:ph idx="1"/>
          </p:nvPr>
        </p:nvSpPr>
        <p:spPr>
          <a:xfrm>
            <a:off x="457200" y="1600200"/>
            <a:ext cx="8229600" cy="5029200"/>
          </a:xfrm>
        </p:spPr>
        <p:txBody>
          <a:bodyPr>
            <a:noAutofit/>
          </a:bodyPr>
          <a:lstStyle/>
          <a:p>
            <a:pPr marL="609600" indent="-609600">
              <a:lnSpc>
                <a:spcPct val="90000"/>
              </a:lnSpc>
              <a:buNone/>
            </a:pPr>
            <a:r>
              <a:rPr lang="en-US" sz="3600" b="1" dirty="0" smtClean="0"/>
              <a:t>1.	Appointing </a:t>
            </a:r>
            <a:r>
              <a:rPr lang="en-US" sz="3600" b="1" dirty="0"/>
              <a:t>power</a:t>
            </a:r>
          </a:p>
          <a:p>
            <a:pPr marL="609600" indent="-609600">
              <a:lnSpc>
                <a:spcPct val="90000"/>
              </a:lnSpc>
              <a:buFontTx/>
              <a:buNone/>
            </a:pPr>
            <a:r>
              <a:rPr lang="en-US" sz="3600" b="1" dirty="0"/>
              <a:t>		President must appoint the following:</a:t>
            </a:r>
          </a:p>
          <a:p>
            <a:pPr marL="609600" indent="-609600">
              <a:lnSpc>
                <a:spcPct val="90000"/>
              </a:lnSpc>
            </a:pPr>
            <a:r>
              <a:rPr lang="en-US" sz="3600" b="1" dirty="0"/>
              <a:t>Heads of the executive department</a:t>
            </a:r>
          </a:p>
          <a:p>
            <a:pPr marL="609600" indent="-609600">
              <a:lnSpc>
                <a:spcPct val="90000"/>
              </a:lnSpc>
            </a:pPr>
            <a:r>
              <a:rPr lang="en-US" sz="3600" b="1" dirty="0"/>
              <a:t> Ambassadors </a:t>
            </a:r>
          </a:p>
          <a:p>
            <a:pPr marL="609600" indent="-609600">
              <a:lnSpc>
                <a:spcPct val="90000"/>
              </a:lnSpc>
            </a:pPr>
            <a:r>
              <a:rPr lang="en-US" sz="3600" b="1" dirty="0"/>
              <a:t> AFP officers</a:t>
            </a:r>
          </a:p>
          <a:p>
            <a:pPr marL="609600" indent="-609600">
              <a:lnSpc>
                <a:spcPct val="90000"/>
              </a:lnSpc>
            </a:pPr>
            <a:r>
              <a:rPr lang="en-US" sz="3600" b="1" dirty="0"/>
              <a:t> Chairman and members of the Independent Constitutional </a:t>
            </a:r>
            <a:r>
              <a:rPr lang="en-US" sz="3600" b="1" dirty="0" smtClean="0"/>
              <a:t>Commissions</a:t>
            </a:r>
            <a:endParaRPr lang="en-US" sz="3600" b="1" dirty="0"/>
          </a:p>
        </p:txBody>
      </p:sp>
    </p:spTree>
  </p:cSld>
  <p:clrMapOvr>
    <a:masterClrMapping/>
  </p:clrMapOvr>
  <p:transition spd="med">
    <p:wedge/>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981200"/>
            <a:ext cx="8686800" cy="4098925"/>
          </a:xfrm>
        </p:spPr>
        <p:txBody>
          <a:bodyPr>
            <a:normAutofit/>
          </a:bodyPr>
          <a:lstStyle/>
          <a:p>
            <a:pPr marL="609600" indent="-609600">
              <a:lnSpc>
                <a:spcPct val="90000"/>
              </a:lnSpc>
              <a:buFontTx/>
              <a:buNone/>
            </a:pPr>
            <a:r>
              <a:rPr lang="en-US" sz="4000" b="1" dirty="0" smtClean="0"/>
              <a:t>2. Power to revoke any appointments made by the acting president</a:t>
            </a:r>
          </a:p>
          <a:p>
            <a:pPr marL="609600" indent="-609600">
              <a:lnSpc>
                <a:spcPct val="90000"/>
              </a:lnSpc>
              <a:buFontTx/>
              <a:buNone/>
            </a:pPr>
            <a:r>
              <a:rPr lang="en-US" sz="4000" b="1" dirty="0" smtClean="0"/>
              <a:t>3. Power of control over all executive department etc.</a:t>
            </a:r>
          </a:p>
          <a:p>
            <a:pPr marL="609600" indent="-609600">
              <a:lnSpc>
                <a:spcPct val="90000"/>
              </a:lnSpc>
              <a:buFontTx/>
              <a:buNone/>
            </a:pPr>
            <a:endParaRPr lang="en-US" sz="4000" b="1" dirty="0" smtClean="0"/>
          </a:p>
          <a:p>
            <a:endParaRPr lang="en-US" sz="4000" b="1" dirty="0"/>
          </a:p>
        </p:txBody>
      </p:sp>
    </p:spTree>
  </p:cSld>
  <p:clrMapOvr>
    <a:masterClrMapping/>
  </p:clrMapOvr>
  <p:transition spd="med">
    <p:wedg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3"/>
          <p:cNvSpPr>
            <a:spLocks noGrp="1" noChangeArrowheads="1"/>
          </p:cNvSpPr>
          <p:nvPr>
            <p:ph idx="1"/>
          </p:nvPr>
        </p:nvSpPr>
        <p:spPr>
          <a:xfrm>
            <a:off x="457200" y="838200"/>
            <a:ext cx="8229600" cy="5257800"/>
          </a:xfrm>
        </p:spPr>
        <p:txBody>
          <a:bodyPr>
            <a:noAutofit/>
          </a:bodyPr>
          <a:lstStyle/>
          <a:p>
            <a:pPr>
              <a:buFontTx/>
              <a:buNone/>
            </a:pPr>
            <a:r>
              <a:rPr lang="en-US" sz="3600" b="1" dirty="0"/>
              <a:t>4. Military Power</a:t>
            </a:r>
          </a:p>
          <a:p>
            <a:pPr>
              <a:buFontTx/>
              <a:buNone/>
            </a:pPr>
            <a:r>
              <a:rPr lang="en-US" sz="3600" b="1" dirty="0"/>
              <a:t>5. Power to grant reprieve, commutations and pardons</a:t>
            </a:r>
          </a:p>
          <a:p>
            <a:pPr>
              <a:buFontTx/>
              <a:buNone/>
            </a:pPr>
            <a:r>
              <a:rPr lang="en-US" sz="3600" b="1" dirty="0"/>
              <a:t>6. Power to </a:t>
            </a:r>
            <a:r>
              <a:rPr lang="en-US" sz="3600" b="1" dirty="0" smtClean="0"/>
              <a:t>contract </a:t>
            </a:r>
            <a:r>
              <a:rPr lang="en-US" sz="3600" b="1" dirty="0"/>
              <a:t>and guarantee foreign loan</a:t>
            </a:r>
          </a:p>
          <a:p>
            <a:pPr>
              <a:buFontTx/>
              <a:buNone/>
            </a:pPr>
            <a:r>
              <a:rPr lang="en-US" sz="3600" b="1" dirty="0"/>
              <a:t>7. Power to enter into treaties or the international agreement</a:t>
            </a:r>
          </a:p>
          <a:p>
            <a:pPr>
              <a:buFontTx/>
              <a:buNone/>
            </a:pPr>
            <a:r>
              <a:rPr lang="en-US" sz="3600" b="1" dirty="0"/>
              <a:t>8. Budgetary power</a:t>
            </a:r>
          </a:p>
          <a:p>
            <a:pPr>
              <a:buFontTx/>
              <a:buNone/>
            </a:pPr>
            <a:r>
              <a:rPr lang="en-US" sz="3600" b="1" dirty="0"/>
              <a:t>9. Power to address the congress</a:t>
            </a:r>
          </a:p>
        </p:txBody>
      </p:sp>
    </p:spTree>
  </p:cSld>
  <p:clrMapOvr>
    <a:masterClrMapping/>
  </p:clrMapOvr>
  <p:transition spd="med">
    <p:wedge/>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457200" y="381000"/>
            <a:ext cx="8305800" cy="10668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3200" dirty="0"/>
              <a:t>Article VIII</a:t>
            </a:r>
            <a:br>
              <a:rPr lang="en-US" sz="3200" dirty="0"/>
            </a:br>
            <a:r>
              <a:rPr lang="en-US" sz="3200" dirty="0"/>
              <a:t>Judicial Department</a:t>
            </a:r>
            <a:r>
              <a:rPr lang="en-US" sz="4400" dirty="0"/>
              <a:t> </a:t>
            </a:r>
          </a:p>
        </p:txBody>
      </p:sp>
      <p:sp>
        <p:nvSpPr>
          <p:cNvPr id="92163" name="Rectangle 3"/>
          <p:cNvSpPr>
            <a:spLocks noGrp="1" noChangeArrowheads="1"/>
          </p:cNvSpPr>
          <p:nvPr>
            <p:ph idx="1"/>
          </p:nvPr>
        </p:nvSpPr>
        <p:spPr>
          <a:xfrm>
            <a:off x="457200" y="2057400"/>
            <a:ext cx="8229600" cy="4343400"/>
          </a:xfrm>
        </p:spPr>
        <p:txBody>
          <a:bodyPr>
            <a:normAutofit lnSpcReduction="10000"/>
          </a:bodyPr>
          <a:lstStyle/>
          <a:p>
            <a:pPr algn="ct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1. </a:t>
            </a:r>
            <a:r>
              <a:rPr lang="en-US" sz="4000" dirty="0"/>
              <a:t>The judicial power shall be vested in one Supreme Court and in such lower courts as may be established by law</a:t>
            </a:r>
            <a:r>
              <a:rPr lang="en-US" sz="4000" dirty="0" smtClean="0"/>
              <a:t>.</a:t>
            </a:r>
          </a:p>
          <a:p>
            <a:pPr algn="ctr">
              <a:buNone/>
            </a:pPr>
            <a:endParaRPr lang="en-US" sz="4000" dirty="0"/>
          </a:p>
        </p:txBody>
      </p:sp>
    </p:spTree>
  </p:cSld>
  <p:clrMapOvr>
    <a:masterClrMapping/>
  </p:clrMapOvr>
  <p:transition spd="med">
    <p:wedge/>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lgn="just"/>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Meaning of Judicial Power</a:t>
            </a:r>
          </a:p>
          <a:p>
            <a:pPr lvl="1" algn="just"/>
            <a:r>
              <a:rPr lang="en-US" sz="3600" b="1" dirty="0" smtClean="0"/>
              <a:t>Judicial power is the power to apply the law to contests and disputes concerning legally recognized rights or duties between the state and private person or between individual litigants in case properly brought before the judicial tribunal.     </a:t>
            </a:r>
          </a:p>
          <a:p>
            <a:endParaRPr lang="en-US" sz="4000" dirty="0"/>
          </a:p>
        </p:txBody>
      </p:sp>
    </p:spTree>
  </p:cSld>
  <p:clrMapOvr>
    <a:masterClrMapping/>
  </p:clrMapOvr>
  <p:transition spd="med">
    <p:wedg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457200" y="228600"/>
            <a:ext cx="8229600" cy="6096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000" dirty="0"/>
              <a:t>Scope of Judicial Power</a:t>
            </a:r>
          </a:p>
        </p:txBody>
      </p:sp>
      <p:sp>
        <p:nvSpPr>
          <p:cNvPr id="93187" name="Rectangle 3"/>
          <p:cNvSpPr>
            <a:spLocks noGrp="1" noChangeArrowheads="1"/>
          </p:cNvSpPr>
          <p:nvPr>
            <p:ph idx="1"/>
          </p:nvPr>
        </p:nvSpPr>
        <p:spPr>
          <a:xfrm>
            <a:off x="457200" y="1676400"/>
            <a:ext cx="8229600" cy="5181600"/>
          </a:xfrm>
        </p:spPr>
        <p:txBody>
          <a:bodyPr>
            <a:normAutofit fontScale="85000" lnSpcReduction="10000"/>
          </a:bodyPr>
          <a:lstStyle/>
          <a:p>
            <a:pPr algn="just">
              <a:lnSpc>
                <a:spcPct val="90000"/>
              </a:lnSpc>
              <a:buNone/>
            </a:pPr>
            <a:r>
              <a:rPr lang="en-US" sz="4000" b="1" dirty="0" smtClean="0"/>
              <a:t>	1</a:t>
            </a:r>
            <a:r>
              <a:rPr lang="en-US" sz="4000" b="1" dirty="0"/>
              <a:t>. </a:t>
            </a: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Adjudicatory power- it includes the duties: </a:t>
            </a:r>
            <a:endParaRPr lang="en-US" sz="4000" b="1" dirty="0"/>
          </a:p>
          <a:p>
            <a:pPr lvl="1" algn="just">
              <a:lnSpc>
                <a:spcPct val="90000"/>
              </a:lnSpc>
              <a:buNone/>
            </a:pPr>
            <a:r>
              <a:rPr lang="en-US" sz="3600" b="1" dirty="0"/>
              <a:t>   </a:t>
            </a:r>
            <a:r>
              <a:rPr lang="en-US" sz="3200" b="1" dirty="0"/>
              <a:t>a. </a:t>
            </a:r>
            <a:r>
              <a:rPr lang="en-US" sz="3200" b="1" dirty="0" smtClean="0"/>
              <a:t>to </a:t>
            </a:r>
            <a:r>
              <a:rPr lang="en-US" sz="3200" b="1" dirty="0"/>
              <a:t>settle actual controversies involving rights are </a:t>
            </a:r>
            <a:r>
              <a:rPr lang="en-US" sz="3200" b="1" dirty="0" smtClean="0"/>
              <a:t>	legally demandable </a:t>
            </a:r>
            <a:r>
              <a:rPr lang="en-US" sz="3200" b="1" dirty="0"/>
              <a:t>and enforceable</a:t>
            </a:r>
          </a:p>
          <a:p>
            <a:pPr lvl="1" algn="just">
              <a:lnSpc>
                <a:spcPct val="90000"/>
              </a:lnSpc>
              <a:buNone/>
            </a:pPr>
            <a:r>
              <a:rPr lang="en-US" sz="3200" b="1" dirty="0" smtClean="0">
                <a:solidFill>
                  <a:srgbClr val="002060"/>
                </a:solidFill>
              </a:rPr>
              <a:t>   b. </a:t>
            </a:r>
            <a:r>
              <a:rPr lang="en-US" sz="3200" b="1" dirty="0">
                <a:solidFill>
                  <a:srgbClr val="002060"/>
                </a:solidFill>
              </a:rPr>
              <a:t>to determine whether there has been a grave abuse of </a:t>
            </a:r>
            <a:r>
              <a:rPr lang="en-US" sz="3200" b="1" dirty="0" smtClean="0">
                <a:solidFill>
                  <a:srgbClr val="002060"/>
                </a:solidFill>
              </a:rPr>
              <a:t>	discretion </a:t>
            </a:r>
            <a:r>
              <a:rPr lang="en-US" sz="3200" b="1" dirty="0">
                <a:solidFill>
                  <a:srgbClr val="002060"/>
                </a:solidFill>
              </a:rPr>
              <a:t>amounting to lack or excess jurisdiction </a:t>
            </a:r>
            <a:r>
              <a:rPr lang="en-US" sz="3200" b="1" dirty="0" smtClean="0">
                <a:solidFill>
                  <a:srgbClr val="002060"/>
                </a:solidFill>
              </a:rPr>
              <a:t>	on </a:t>
            </a:r>
            <a:r>
              <a:rPr lang="en-US" sz="3200" b="1" dirty="0">
                <a:solidFill>
                  <a:srgbClr val="002060"/>
                </a:solidFill>
              </a:rPr>
              <a:t>the </a:t>
            </a:r>
            <a:r>
              <a:rPr lang="en-US" sz="3200" b="1" dirty="0" smtClean="0">
                <a:solidFill>
                  <a:srgbClr val="002060"/>
                </a:solidFill>
              </a:rPr>
              <a:t>part </a:t>
            </a:r>
            <a:r>
              <a:rPr lang="en-US" sz="3200" b="1" dirty="0">
                <a:solidFill>
                  <a:srgbClr val="002060"/>
                </a:solidFill>
              </a:rPr>
              <a:t>of any branch or instrumentality of the </a:t>
            </a:r>
            <a:r>
              <a:rPr lang="en-US" sz="3200" b="1" dirty="0" smtClean="0">
                <a:solidFill>
                  <a:srgbClr val="002060"/>
                </a:solidFill>
              </a:rPr>
              <a:t>	government.</a:t>
            </a:r>
          </a:p>
        </p:txBody>
      </p:sp>
    </p:spTree>
  </p:cSld>
  <p:clrMapOvr>
    <a:masterClrMapping/>
  </p:clrMapOvr>
  <p:transition spd="med">
    <p:wedge/>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lvl="1" algn="just">
              <a:lnSpc>
                <a:spcPct val="90000"/>
              </a:lnSpc>
              <a:buNone/>
            </a:pPr>
            <a:r>
              <a:rPr lang="en-US" sz="4000" b="1" dirty="0" smtClean="0">
                <a:solidFill>
                  <a:schemeClr val="tx1"/>
                </a:solidFill>
              </a:rPr>
              <a:t>2. </a:t>
            </a:r>
            <a:r>
              <a:rPr lang="en-US" sz="40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Power of Judicial Review</a:t>
            </a:r>
            <a:endParaRPr lang="en-US" sz="4000" b="1" dirty="0" smtClean="0">
              <a:solidFill>
                <a:schemeClr val="tx1"/>
              </a:solidFill>
            </a:endParaRPr>
          </a:p>
          <a:p>
            <a:pPr lvl="1" algn="just">
              <a:lnSpc>
                <a:spcPct val="90000"/>
              </a:lnSpc>
              <a:buNone/>
            </a:pPr>
            <a:r>
              <a:rPr lang="en-US" sz="4400" b="1" dirty="0" smtClean="0"/>
              <a:t>	</a:t>
            </a:r>
            <a:r>
              <a:rPr lang="en-US" sz="4000" b="1" dirty="0" smtClean="0"/>
              <a:t>a. to pass upon the validity or constitutionality of the laws of the State and acts upon the other 	departments of the government.</a:t>
            </a:r>
          </a:p>
          <a:p>
            <a:pPr lvl="1" algn="just">
              <a:lnSpc>
                <a:spcPct val="90000"/>
              </a:lnSpc>
              <a:buNone/>
            </a:pPr>
            <a:r>
              <a:rPr lang="en-US" sz="4000" b="1" dirty="0" smtClean="0"/>
              <a:t>	</a:t>
            </a:r>
            <a:r>
              <a:rPr lang="en-US" sz="4000" b="1" dirty="0" smtClean="0">
                <a:solidFill>
                  <a:srgbClr val="002060"/>
                </a:solidFill>
              </a:rPr>
              <a:t>b. to interpret them   </a:t>
            </a:r>
          </a:p>
          <a:p>
            <a:pPr lvl="1" algn="just">
              <a:lnSpc>
                <a:spcPct val="90000"/>
              </a:lnSpc>
              <a:buNone/>
            </a:pPr>
            <a:r>
              <a:rPr lang="en-US" sz="4000" b="1" dirty="0" smtClean="0">
                <a:solidFill>
                  <a:srgbClr val="002060"/>
                </a:solidFill>
              </a:rPr>
              <a:t>	c. To render binding judgment</a:t>
            </a:r>
          </a:p>
          <a:p>
            <a:endParaRPr lang="en-US" sz="4800" b="1" dirty="0"/>
          </a:p>
        </p:txBody>
      </p:sp>
    </p:spTree>
  </p:cSld>
  <p:clrMapOvr>
    <a:masterClrMapping/>
  </p:clrMapOvr>
  <p:transition spd="med">
    <p:wedg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295400"/>
            <a:ext cx="8686800" cy="5181600"/>
          </a:xfrm>
        </p:spPr>
        <p:txBody>
          <a:bodyPr>
            <a:noAutofit/>
          </a:bodyPr>
          <a:lstStyle/>
          <a:p>
            <a:pPr lvl="1" indent="-506413" algn="just">
              <a:buFontTx/>
              <a:buNone/>
            </a:pPr>
            <a:r>
              <a:rPr lang="en-US" sz="3200" dirty="0" smtClean="0">
                <a:solidFill>
                  <a:schemeClr val="tx1"/>
                </a:solidFill>
              </a:rPr>
              <a:t>3. </a:t>
            </a:r>
            <a:r>
              <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Incidental Powers- </a:t>
            </a:r>
            <a:r>
              <a:rPr lang="en-US" sz="3200" dirty="0" smtClean="0">
                <a:solidFill>
                  <a:schemeClr val="tx1"/>
                </a:solidFill>
              </a:rPr>
              <a:t>it likewise includes the incidental powers necessary to the effective discharge of the judicial functions</a:t>
            </a:r>
          </a:p>
          <a:p>
            <a:pPr lvl="1" indent="-506413" algn="just">
              <a:buFontTx/>
              <a:buNone/>
            </a:pPr>
            <a:r>
              <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4. </a:t>
            </a:r>
            <a:r>
              <a:rPr lang="en-US" sz="3200" dirty="0" smtClean="0">
                <a:solidFill>
                  <a:schemeClr val="tx1"/>
                </a:solidFill>
              </a:rPr>
              <a:t>(1) The Supreme Court shall be composed of a Chief Justice and 14 Associate Justices. It may sit en banc or in its discretion, in divisions of three, five, seven members. Any vacancy shall be filled within 90 days from the occurrence thereof.  </a:t>
            </a:r>
          </a:p>
          <a:p>
            <a:endParaRPr lang="en-US" dirty="0"/>
          </a:p>
        </p:txBody>
      </p:sp>
    </p:spTree>
  </p:cSld>
  <p:clrMapOvr>
    <a:masterClrMapping/>
  </p:clrMapOvr>
  <p:transition spd="med">
    <p:wedge/>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301752" y="228600"/>
            <a:ext cx="8534400" cy="838200"/>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sz="3200" dirty="0"/>
              <a:t>Qualifications for members of the Supreme Court and any lower collegiate court</a:t>
            </a:r>
          </a:p>
        </p:txBody>
      </p:sp>
      <p:sp>
        <p:nvSpPr>
          <p:cNvPr id="95235" name="Rectangle 3"/>
          <p:cNvSpPr>
            <a:spLocks noGrp="1" noChangeArrowheads="1"/>
          </p:cNvSpPr>
          <p:nvPr>
            <p:ph idx="1"/>
          </p:nvPr>
        </p:nvSpPr>
        <p:spPr>
          <a:xfrm>
            <a:off x="457200" y="1524000"/>
            <a:ext cx="8229600" cy="5715000"/>
          </a:xfrm>
        </p:spPr>
        <p:txBody>
          <a:bodyPr>
            <a:normAutofit/>
          </a:bodyPr>
          <a:lstStyle/>
          <a:p>
            <a:pPr algn="just">
              <a:lnSpc>
                <a:spcPct val="90000"/>
              </a:lnSpc>
            </a:pPr>
            <a:r>
              <a:rPr lang="en-US" sz="4400" dirty="0"/>
              <a:t>1. He must be a natural-born citizen of the Philippines, a naturalized citizen may not be appointed.</a:t>
            </a:r>
          </a:p>
          <a:p>
            <a:pPr algn="just">
              <a:lnSpc>
                <a:spcPct val="90000"/>
              </a:lnSpc>
            </a:pPr>
            <a:r>
              <a:rPr lang="en-US" sz="4400" dirty="0"/>
              <a:t>2. He must be at least forty (40) years of age</a:t>
            </a:r>
          </a:p>
          <a:p>
            <a:pPr>
              <a:lnSpc>
                <a:spcPct val="90000"/>
              </a:lnSpc>
            </a:pPr>
            <a:endParaRPr lang="en-US" sz="4400" dirty="0"/>
          </a:p>
        </p:txBody>
      </p:sp>
    </p:spTree>
  </p:cSld>
  <p:clrMapOvr>
    <a:masterClrMapping/>
  </p:clrMapOvr>
  <p:transition spd="med">
    <p:wedge/>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lnSpc>
                <a:spcPct val="90000"/>
              </a:lnSpc>
            </a:pPr>
            <a:r>
              <a:rPr lang="en-US" sz="4000" dirty="0" smtClean="0"/>
              <a:t>3. He must have, for fifteen (15) years or more, been a judge of a lower court or engaged in the practice of law in the Philippines</a:t>
            </a:r>
          </a:p>
          <a:p>
            <a:pPr algn="just">
              <a:lnSpc>
                <a:spcPct val="90000"/>
              </a:lnSpc>
            </a:pPr>
            <a:r>
              <a:rPr lang="en-US" sz="4000" dirty="0" smtClean="0"/>
              <a:t>4. He must be a person of proven competence, integrity, probity and independence  </a:t>
            </a:r>
          </a:p>
          <a:p>
            <a:endParaRPr lang="en-US" sz="4000" dirty="0"/>
          </a:p>
        </p:txBody>
      </p:sp>
    </p:spTree>
  </p:cSld>
  <p:clrMapOvr>
    <a:masterClrMapping/>
  </p:clrMapOvr>
  <p:transition spd="med">
    <p:wedg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457200" y="228600"/>
            <a:ext cx="8153400" cy="12192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dirty="0"/>
              <a:t>Article IX</a:t>
            </a:r>
            <a:br>
              <a:rPr lang="en-US" dirty="0"/>
            </a:br>
            <a:r>
              <a:rPr lang="en-US" dirty="0"/>
              <a:t>Constitutional Commission</a:t>
            </a:r>
          </a:p>
        </p:txBody>
      </p:sp>
      <p:sp>
        <p:nvSpPr>
          <p:cNvPr id="96259" name="Rectangle 3"/>
          <p:cNvSpPr>
            <a:spLocks noGrp="1" noChangeArrowheads="1"/>
          </p:cNvSpPr>
          <p:nvPr>
            <p:ph idx="1"/>
          </p:nvPr>
        </p:nvSpPr>
        <p:spPr>
          <a:xfrm>
            <a:off x="457200" y="1524000"/>
            <a:ext cx="8229600" cy="5334000"/>
          </a:xfrm>
        </p:spPr>
        <p:txBody>
          <a:bodyPr>
            <a:noAutofit/>
          </a:bodyPr>
          <a:lstStyle/>
          <a:p>
            <a:r>
              <a:rPr lang="en-US" sz="4000" dirty="0"/>
              <a:t>A. Common Provisions</a:t>
            </a:r>
          </a:p>
          <a:p>
            <a:pPr>
              <a:buFontTx/>
              <a:buNone/>
            </a:pPr>
            <a:r>
              <a:rPr lang="en-US" sz="4000" dirty="0"/>
              <a:t>Independent Constitutional Bodies</a:t>
            </a:r>
          </a:p>
          <a:p>
            <a:pPr>
              <a:buFontTx/>
              <a:buNone/>
            </a:pPr>
            <a:r>
              <a:rPr lang="en-US" sz="4000" dirty="0"/>
              <a:t>The Three Constitutional Commission are:</a:t>
            </a:r>
          </a:p>
          <a:p>
            <a:pPr>
              <a:buFontTx/>
              <a:buNone/>
            </a:pPr>
            <a:r>
              <a:rPr lang="en-US" sz="4000" dirty="0"/>
              <a:t>	</a:t>
            </a:r>
            <a:r>
              <a:rPr lang="en-US" sz="4000" dirty="0">
                <a:solidFill>
                  <a:srgbClr val="002060"/>
                </a:solidFill>
              </a:rPr>
              <a:t>1. Commission on Civil Service</a:t>
            </a:r>
          </a:p>
          <a:p>
            <a:pPr>
              <a:buFontTx/>
              <a:buNone/>
            </a:pPr>
            <a:r>
              <a:rPr lang="en-US" sz="4000" dirty="0">
                <a:solidFill>
                  <a:srgbClr val="002060"/>
                </a:solidFill>
              </a:rPr>
              <a:t>	2. Commission on Audit</a:t>
            </a:r>
          </a:p>
          <a:p>
            <a:pPr>
              <a:buFontTx/>
              <a:buNone/>
            </a:pPr>
            <a:r>
              <a:rPr lang="en-US" sz="4000" dirty="0">
                <a:solidFill>
                  <a:srgbClr val="002060"/>
                </a:solidFill>
              </a:rPr>
              <a:t>	3. Commission on Election </a:t>
            </a:r>
          </a:p>
          <a:p>
            <a:pPr>
              <a:buFontTx/>
              <a:buNone/>
            </a:pPr>
            <a:r>
              <a:rPr lang="en-US" sz="3600" dirty="0"/>
              <a:t>  </a:t>
            </a:r>
          </a:p>
          <a:p>
            <a:endParaRPr lang="en-US" sz="3600" dirty="0"/>
          </a:p>
        </p:txBody>
      </p:sp>
    </p:spTree>
  </p:cSld>
  <p:clrMapOvr>
    <a:masterClrMapping/>
  </p:clrMapOvr>
  <p:transition spd="med">
    <p:wedge/>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457200" y="228600"/>
            <a:ext cx="8229600" cy="914400"/>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800" b="1" dirty="0"/>
              <a:t>Common Features</a:t>
            </a:r>
          </a:p>
        </p:txBody>
      </p:sp>
      <p:sp>
        <p:nvSpPr>
          <p:cNvPr id="97283" name="Rectangle 3"/>
          <p:cNvSpPr>
            <a:spLocks noGrp="1" noChangeArrowheads="1"/>
          </p:cNvSpPr>
          <p:nvPr>
            <p:ph idx="1"/>
          </p:nvPr>
        </p:nvSpPr>
        <p:spPr>
          <a:xfrm>
            <a:off x="457200" y="1447800"/>
            <a:ext cx="8229600" cy="6477000"/>
          </a:xfrm>
        </p:spPr>
        <p:txBody>
          <a:bodyPr>
            <a:normAutofit fontScale="92500"/>
          </a:bodyPr>
          <a:lstStyle/>
          <a:p>
            <a:pPr marL="609600" indent="-609600" algn="just">
              <a:lnSpc>
                <a:spcPct val="90000"/>
              </a:lnSpc>
              <a:buFontTx/>
              <a:buAutoNum type="arabicPeriod"/>
            </a:pPr>
            <a:r>
              <a:rPr lang="en-US" sz="4800" dirty="0"/>
              <a:t>They are all multi-headed bodies</a:t>
            </a:r>
          </a:p>
          <a:p>
            <a:pPr marL="609600" indent="-609600" algn="just">
              <a:lnSpc>
                <a:spcPct val="90000"/>
              </a:lnSpc>
              <a:buFontTx/>
              <a:buAutoNum type="arabicPeriod"/>
            </a:pPr>
            <a:r>
              <a:rPr lang="en-US" sz="4800" dirty="0"/>
              <a:t> They are categorized as independent by constitution.</a:t>
            </a:r>
          </a:p>
          <a:p>
            <a:pPr marL="609600" indent="-609600" algn="just">
              <a:lnSpc>
                <a:spcPct val="90000"/>
              </a:lnSpc>
              <a:buFontTx/>
              <a:buAutoNum type="arabicPeriod"/>
            </a:pPr>
            <a:r>
              <a:rPr lang="en-US" sz="4800" dirty="0"/>
              <a:t> Their powers and functions are defined in the constitution</a:t>
            </a:r>
            <a:r>
              <a:rPr lang="en-US" sz="4800" dirty="0" smtClean="0"/>
              <a:t>.</a:t>
            </a:r>
            <a:endParaRPr lang="en-US" sz="4800" dirty="0"/>
          </a:p>
        </p:txBody>
      </p:sp>
    </p:spTree>
  </p:cSld>
  <p:clrMapOvr>
    <a:masterClrMapping/>
  </p:clrMapOvr>
  <p:transition spd="med">
    <p:wedge/>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371600"/>
            <a:ext cx="8686800" cy="4708525"/>
          </a:xfrm>
        </p:spPr>
        <p:txBody>
          <a:bodyPr>
            <a:noAutofit/>
          </a:bodyPr>
          <a:lstStyle/>
          <a:p>
            <a:pPr marL="609600" indent="-609600" algn="just">
              <a:lnSpc>
                <a:spcPct val="90000"/>
              </a:lnSpc>
              <a:buFont typeface="+mj-lt"/>
              <a:buAutoNum type="arabicPeriod" startAt="4"/>
            </a:pPr>
            <a:endParaRPr lang="en-US" sz="3600" dirty="0" smtClean="0"/>
          </a:p>
          <a:p>
            <a:pPr marL="609600" indent="-609600" algn="just">
              <a:lnSpc>
                <a:spcPct val="90000"/>
              </a:lnSpc>
              <a:buFont typeface="+mj-lt"/>
              <a:buAutoNum type="arabicPeriod" startAt="4"/>
            </a:pPr>
            <a:r>
              <a:rPr lang="en-US" sz="3600" dirty="0" smtClean="0"/>
              <a:t> The commissioners are required to be natural-born citizens of the Philippines./</a:t>
            </a:r>
          </a:p>
          <a:p>
            <a:pPr marL="609600" indent="-609600" algn="just">
              <a:lnSpc>
                <a:spcPct val="90000"/>
              </a:lnSpc>
              <a:buFont typeface="+mj-lt"/>
              <a:buAutoNum type="arabicPeriod" startAt="4"/>
            </a:pPr>
            <a:r>
              <a:rPr lang="en-US" sz="3600" dirty="0" smtClean="0"/>
              <a:t> Their term of office is staggered with two years interval.</a:t>
            </a:r>
          </a:p>
          <a:p>
            <a:pPr marL="609600" indent="-609600" algn="just">
              <a:lnSpc>
                <a:spcPct val="90000"/>
              </a:lnSpc>
              <a:buFont typeface="+mj-lt"/>
              <a:buAutoNum type="arabicPeriod" startAt="4"/>
            </a:pPr>
            <a:r>
              <a:rPr lang="en-US" sz="3600" dirty="0" smtClean="0"/>
              <a:t>The commissioner appointed are ineligible for reappointment for a period beyond the maximum tenure of seven years.  </a:t>
            </a:r>
          </a:p>
          <a:p>
            <a:pPr marL="514350" indent="-514350">
              <a:buFont typeface="+mj-lt"/>
              <a:buAutoNum type="arabicPeriod" startAt="4"/>
            </a:pPr>
            <a:endParaRPr lang="en-US" sz="3600" dirty="0"/>
          </a:p>
        </p:txBody>
      </p:sp>
    </p:spTree>
  </p:cSld>
  <p:clrMapOvr>
    <a:masterClrMapping/>
  </p:clrMapOvr>
  <p:transition spd="med">
    <p:wedg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3"/>
          <p:cNvSpPr>
            <a:spLocks noGrp="1" noChangeArrowheads="1"/>
          </p:cNvSpPr>
          <p:nvPr>
            <p:ph idx="1"/>
          </p:nvPr>
        </p:nvSpPr>
        <p:spPr>
          <a:xfrm>
            <a:off x="457200" y="685800"/>
            <a:ext cx="8229600" cy="6172200"/>
          </a:xfrm>
        </p:spPr>
        <p:txBody>
          <a:bodyPr>
            <a:normAutofit fontScale="85000" lnSpcReduction="20000"/>
          </a:bodyPr>
          <a:lstStyle/>
          <a:p>
            <a:pPr algn="just">
              <a:buFontTx/>
              <a:buNone/>
            </a:pPr>
            <a:endParaRPr lang="en-US" sz="3600" dirty="0"/>
          </a:p>
          <a:p>
            <a:pPr algn="just">
              <a:buFontTx/>
              <a:buNone/>
            </a:pPr>
            <a:r>
              <a:rPr lang="en-US" sz="3600" dirty="0"/>
              <a:t>7</a:t>
            </a:r>
            <a:r>
              <a:rPr lang="en-US" sz="4000" dirty="0"/>
              <a:t>. Appointment of any vacancy is only for the unexpired portion of the term of the predecessor.</a:t>
            </a:r>
          </a:p>
          <a:p>
            <a:pPr algn="just">
              <a:buFontTx/>
              <a:buNone/>
            </a:pPr>
            <a:r>
              <a:rPr lang="en-US" sz="4000" dirty="0"/>
              <a:t>8. The commissioners cannot be appointed or designated in the temporary or acting predecessor.</a:t>
            </a:r>
          </a:p>
          <a:p>
            <a:pPr algn="just">
              <a:buFontTx/>
              <a:buNone/>
            </a:pPr>
            <a:r>
              <a:rPr lang="en-US" sz="4000" dirty="0"/>
              <a:t>9. The commissioners are removable only by impeachment. </a:t>
            </a:r>
          </a:p>
        </p:txBody>
      </p:sp>
    </p:spTree>
  </p:cSld>
  <p:clrMapOvr>
    <a:masterClrMapping/>
  </p:clrMapOvr>
  <p:transition spd="med">
    <p:wedge/>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457200" y="0"/>
            <a:ext cx="8229600" cy="914400"/>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3600" dirty="0"/>
              <a:t>The Civil Service Commission</a:t>
            </a:r>
          </a:p>
        </p:txBody>
      </p:sp>
      <p:sp>
        <p:nvSpPr>
          <p:cNvPr id="99331" name="Rectangle 3"/>
          <p:cNvSpPr>
            <a:spLocks noGrp="1" noChangeArrowheads="1"/>
          </p:cNvSpPr>
          <p:nvPr>
            <p:ph idx="1"/>
          </p:nvPr>
        </p:nvSpPr>
        <p:spPr>
          <a:xfrm>
            <a:off x="457200" y="1219200"/>
            <a:ext cx="8229600" cy="5638800"/>
          </a:xfrm>
        </p:spPr>
        <p:txBody>
          <a:bodyPr>
            <a:normAutofit fontScale="77500" lnSpcReduction="20000"/>
          </a:bodyPr>
          <a:lstStyle/>
          <a:p>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Composition of Civil Service Commission</a:t>
            </a:r>
          </a:p>
          <a:p>
            <a:pPr algn="just">
              <a:buFontTx/>
              <a:buNone/>
            </a:pPr>
            <a:r>
              <a:rPr lang="en-US" sz="3600" dirty="0"/>
              <a:t>		</a:t>
            </a:r>
            <a:r>
              <a:rPr lang="en-US" sz="3600" dirty="0">
                <a:solidFill>
                  <a:srgbClr val="002060"/>
                </a:solidFill>
              </a:rPr>
              <a:t>It is composed of a chairman and two commissioners. It is envisioned to enhance its independence on the theory that it will be more resistant to political pressure or influenced than a body headed by a single individual. Their terms of office are for seven years only without reappointment.  </a:t>
            </a:r>
          </a:p>
        </p:txBody>
      </p:sp>
    </p:spTree>
  </p:cSld>
  <p:clrMapOvr>
    <a:masterClrMapping/>
  </p:clrMapOvr>
  <p:transition spd="med">
    <p:wedge/>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457200" y="0"/>
            <a:ext cx="8229600" cy="990600"/>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000" dirty="0"/>
              <a:t>Qualifications of Members</a:t>
            </a:r>
            <a:r>
              <a:rPr lang="en-US" sz="4800" dirty="0"/>
              <a:t> </a:t>
            </a:r>
          </a:p>
        </p:txBody>
      </p:sp>
      <p:sp>
        <p:nvSpPr>
          <p:cNvPr id="100355" name="Rectangle 3"/>
          <p:cNvSpPr>
            <a:spLocks noGrp="1" noChangeArrowheads="1"/>
          </p:cNvSpPr>
          <p:nvPr>
            <p:ph idx="1"/>
          </p:nvPr>
        </p:nvSpPr>
        <p:spPr>
          <a:xfrm>
            <a:off x="381000" y="1295400"/>
            <a:ext cx="8229600" cy="5410200"/>
          </a:xfrm>
        </p:spPr>
        <p:txBody>
          <a:bodyPr>
            <a:noAutofit/>
          </a:bodyPr>
          <a:lstStyle/>
          <a:p>
            <a:pPr marL="609600" indent="-609600" algn="just">
              <a:lnSpc>
                <a:spcPct val="80000"/>
              </a:lnSpc>
              <a:buFontTx/>
              <a:buAutoNum type="arabicPeriod"/>
            </a:pPr>
            <a:r>
              <a:rPr lang="en-US" sz="3600" dirty="0"/>
              <a:t>They must be natural-born citizens of the Philippines.</a:t>
            </a:r>
          </a:p>
          <a:p>
            <a:pPr marL="609600" indent="-609600" algn="just">
              <a:lnSpc>
                <a:spcPct val="80000"/>
              </a:lnSpc>
              <a:buFontTx/>
              <a:buAutoNum type="arabicPeriod"/>
            </a:pPr>
            <a:r>
              <a:rPr lang="en-US" sz="3600" dirty="0"/>
              <a:t> They must be at least thirty-five years of age at the time of appointment.</a:t>
            </a:r>
          </a:p>
          <a:p>
            <a:pPr marL="609600" indent="-609600" algn="just">
              <a:lnSpc>
                <a:spcPct val="80000"/>
              </a:lnSpc>
              <a:buFontTx/>
              <a:buAutoNum type="arabicPeriod"/>
            </a:pPr>
            <a:r>
              <a:rPr lang="en-US" sz="3600" dirty="0"/>
              <a:t> They must be persons with proven capacity for public administration.</a:t>
            </a:r>
          </a:p>
          <a:p>
            <a:pPr marL="609600" indent="-609600" algn="just">
              <a:lnSpc>
                <a:spcPct val="80000"/>
              </a:lnSpc>
              <a:buFontTx/>
              <a:buAutoNum type="arabicPeriod"/>
            </a:pPr>
            <a:r>
              <a:rPr lang="en-US" sz="3600" dirty="0"/>
              <a:t> They must not have been candidates for any elective position in the elections immediately preceding their appointment</a:t>
            </a:r>
            <a:r>
              <a:rPr lang="en-US" sz="3600" dirty="0" smtClean="0"/>
              <a:t>.</a:t>
            </a:r>
            <a:endParaRPr lang="en-US" sz="3600" dirty="0"/>
          </a:p>
        </p:txBody>
      </p:sp>
    </p:spTree>
  </p:cSld>
  <p:clrMapOvr>
    <a:masterClrMapping/>
  </p:clrMapOvr>
  <p:transition spd="med">
    <p:wedge/>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sz="3200" dirty="0" smtClean="0"/>
              <a:t>The term civil service means that professionalized body of men and women who have made of the government service of a lifetime career. The scopes of this are every branch, agency, subdivisions and instrumentality of the government, including every government-owned or controlled corporation with original charter.   	  </a:t>
            </a:r>
          </a:p>
          <a:p>
            <a:pPr>
              <a:buNone/>
            </a:pPr>
            <a:endParaRPr lang="en-US" sz="3200" dirty="0"/>
          </a:p>
        </p:txBody>
      </p:sp>
    </p:spTree>
  </p:cSld>
  <p:clrMapOvr>
    <a:masterClrMapping/>
  </p:clrMapOvr>
  <p:transition spd="med">
    <p:wedge/>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01752" y="228600"/>
            <a:ext cx="8534400" cy="10668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000" dirty="0"/>
              <a:t>Composition of Commission on </a:t>
            </a:r>
            <a:r>
              <a:rPr lang="en-US" sz="4000" dirty="0" smtClean="0"/>
              <a:t>Elections</a:t>
            </a:r>
            <a:endParaRPr lang="en-US" sz="4000" dirty="0"/>
          </a:p>
        </p:txBody>
      </p:sp>
      <p:sp>
        <p:nvSpPr>
          <p:cNvPr id="101379" name="Rectangle 3"/>
          <p:cNvSpPr>
            <a:spLocks noGrp="1" noChangeArrowheads="1"/>
          </p:cNvSpPr>
          <p:nvPr>
            <p:ph idx="1"/>
          </p:nvPr>
        </p:nvSpPr>
        <p:spPr>
          <a:xfrm>
            <a:off x="457200" y="1600200"/>
            <a:ext cx="8229600" cy="5257800"/>
          </a:xfrm>
        </p:spPr>
        <p:txBody>
          <a:bodyPr>
            <a:normAutofit fontScale="92500" lnSpcReduction="10000"/>
          </a:bodyPr>
          <a:lstStyle/>
          <a:p>
            <a:pPr marL="114300" lvl="1" indent="0" algn="just">
              <a:lnSpc>
                <a:spcPct val="90000"/>
              </a:lnSpc>
              <a:buFont typeface="Wingdings" pitchFamily="2" charset="2"/>
              <a:buNone/>
            </a:pPr>
            <a:r>
              <a:rPr lang="en-US" sz="3200" dirty="0">
                <a:solidFill>
                  <a:schemeClr val="tx1"/>
                </a:solidFill>
              </a:rPr>
              <a:t>	It is composed of a chairman and six Commissioners. </a:t>
            </a:r>
            <a:r>
              <a:rPr lang="en-US" sz="3200" dirty="0" smtClean="0">
                <a:solidFill>
                  <a:schemeClr val="tx1"/>
                </a:solidFill>
              </a:rPr>
              <a:t>The </a:t>
            </a:r>
            <a:r>
              <a:rPr lang="en-US" sz="3200" dirty="0">
                <a:solidFill>
                  <a:schemeClr val="tx1"/>
                </a:solidFill>
              </a:rPr>
              <a:t>1973 Constitution </a:t>
            </a:r>
            <a:r>
              <a:rPr lang="en-US" sz="3200" dirty="0" smtClean="0">
                <a:solidFill>
                  <a:schemeClr val="tx1"/>
                </a:solidFill>
              </a:rPr>
              <a:t>increase </a:t>
            </a:r>
            <a:r>
              <a:rPr lang="en-US" sz="3200" dirty="0">
                <a:solidFill>
                  <a:schemeClr val="tx1"/>
                </a:solidFill>
              </a:rPr>
              <a:t>the membership from three </a:t>
            </a:r>
            <a:r>
              <a:rPr lang="en-US" sz="3200" dirty="0" smtClean="0">
                <a:solidFill>
                  <a:schemeClr val="tx1"/>
                </a:solidFill>
              </a:rPr>
              <a:t> </a:t>
            </a:r>
            <a:r>
              <a:rPr lang="en-US" sz="3200" dirty="0">
                <a:solidFill>
                  <a:schemeClr val="tx1"/>
                </a:solidFill>
              </a:rPr>
              <a:t>to nine on the theory that it would make it more difficult for the Commission to become the captive of any party or group or any person who might be interested in the Commission deciding or taking action one way or another.   </a:t>
            </a:r>
          </a:p>
        </p:txBody>
      </p:sp>
    </p:spTree>
  </p:cSld>
  <p:clrMapOvr>
    <a:masterClrMapping/>
  </p:clrMapOvr>
  <p:transition spd="med">
    <p:wedge/>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000" b="1" dirty="0"/>
              <a:t>Qualification of the Members</a:t>
            </a:r>
          </a:p>
        </p:txBody>
      </p:sp>
      <p:sp>
        <p:nvSpPr>
          <p:cNvPr id="102403" name="Rectangle 3"/>
          <p:cNvSpPr>
            <a:spLocks noGrp="1" noChangeArrowheads="1"/>
          </p:cNvSpPr>
          <p:nvPr>
            <p:ph idx="1"/>
          </p:nvPr>
        </p:nvSpPr>
        <p:spPr>
          <a:xfrm>
            <a:off x="457200" y="1600200"/>
            <a:ext cx="8229600" cy="5257800"/>
          </a:xfrm>
        </p:spPr>
        <p:txBody>
          <a:bodyPr>
            <a:normAutofit fontScale="92500" lnSpcReduction="20000"/>
          </a:bodyPr>
          <a:lstStyle/>
          <a:p>
            <a:pPr marL="609600" indent="-609600" algn="just">
              <a:buFontTx/>
              <a:buAutoNum type="arabicPeriod"/>
            </a:pPr>
            <a:r>
              <a:rPr lang="en-US" dirty="0"/>
              <a:t>They must be a natural-born citizens of the Philippines.</a:t>
            </a:r>
          </a:p>
          <a:p>
            <a:pPr marL="609600" indent="-609600" algn="just">
              <a:buFontTx/>
              <a:buAutoNum type="arabicPeriod"/>
            </a:pPr>
            <a:r>
              <a:rPr lang="en-US" dirty="0"/>
              <a:t> They must be at least thirty-five years of age at the time of their appointment.</a:t>
            </a:r>
          </a:p>
          <a:p>
            <a:pPr marL="609600" indent="-609600" algn="just">
              <a:buFontTx/>
              <a:buAutoNum type="arabicPeriod"/>
            </a:pPr>
            <a:r>
              <a:rPr lang="en-US" dirty="0"/>
              <a:t> They must be at least holders of college degree.</a:t>
            </a:r>
          </a:p>
          <a:p>
            <a:pPr marL="609600" indent="-609600" algn="just">
              <a:buFontTx/>
              <a:buAutoNum type="arabicPeriod"/>
            </a:pPr>
            <a:r>
              <a:rPr lang="en-US" dirty="0"/>
              <a:t> They must not have been candidates for any elective </a:t>
            </a:r>
            <a:r>
              <a:rPr lang="en-US" dirty="0" smtClean="0"/>
              <a:t>position in </a:t>
            </a:r>
            <a:r>
              <a:rPr lang="en-US" dirty="0"/>
              <a:t>the immediately preceding elections.</a:t>
            </a:r>
          </a:p>
        </p:txBody>
      </p:sp>
    </p:spTree>
  </p:cSld>
  <p:clrMapOvr>
    <a:masterClrMapping/>
  </p:clrMapOvr>
  <p:transition spd="med">
    <p:wedge/>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457200" y="228600"/>
            <a:ext cx="8229600" cy="838200"/>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000" b="1" dirty="0"/>
              <a:t>The Commission on Audit</a:t>
            </a:r>
          </a:p>
        </p:txBody>
      </p:sp>
      <p:sp>
        <p:nvSpPr>
          <p:cNvPr id="103427" name="Rectangle 3"/>
          <p:cNvSpPr>
            <a:spLocks noGrp="1" noChangeArrowheads="1"/>
          </p:cNvSpPr>
          <p:nvPr>
            <p:ph idx="1"/>
          </p:nvPr>
        </p:nvSpPr>
        <p:spPr>
          <a:xfrm>
            <a:off x="457200" y="2286000"/>
            <a:ext cx="8229600" cy="5257800"/>
          </a:xfrm>
        </p:spPr>
        <p:txBody>
          <a:bodyPr>
            <a:normAutofit lnSpcReduction="10000"/>
          </a:bodyPr>
          <a:lstStyle/>
          <a:p>
            <a:pPr>
              <a:buFontTx/>
              <a:buNone/>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Composition on Commission on Audit</a:t>
            </a:r>
          </a:p>
          <a:p>
            <a:pPr algn="just">
              <a:buFontTx/>
              <a:buNone/>
            </a:pPr>
            <a:r>
              <a:rPr lang="en-US" dirty="0"/>
              <a:t>	It is composed of a chairman and two Commissioners. It is designed to make it more resistant to pressures from legislative and executive branches and other offices of the Government.  </a:t>
            </a:r>
          </a:p>
        </p:txBody>
      </p:sp>
    </p:spTree>
  </p:cSld>
  <p:clrMapOvr>
    <a:masterClrMapping/>
  </p:clrMapOvr>
  <p:transition spd="med">
    <p:wedge/>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400" dirty="0"/>
              <a:t>Qualifications of Members</a:t>
            </a:r>
          </a:p>
        </p:txBody>
      </p:sp>
      <p:sp>
        <p:nvSpPr>
          <p:cNvPr id="104451" name="Rectangle 3"/>
          <p:cNvSpPr>
            <a:spLocks noGrp="1" noChangeArrowheads="1"/>
          </p:cNvSpPr>
          <p:nvPr>
            <p:ph idx="1"/>
          </p:nvPr>
        </p:nvSpPr>
        <p:spPr>
          <a:xfrm>
            <a:off x="457200" y="1600200"/>
            <a:ext cx="8229600" cy="5867400"/>
          </a:xfrm>
        </p:spPr>
        <p:txBody>
          <a:bodyPr>
            <a:normAutofit fontScale="92500" lnSpcReduction="20000"/>
          </a:bodyPr>
          <a:lstStyle/>
          <a:p>
            <a:pPr marL="609600" indent="-609600" algn="just">
              <a:buFontTx/>
              <a:buAutoNum type="arabicPeriod"/>
            </a:pPr>
            <a:r>
              <a:rPr lang="en-US"/>
              <a:t>They must be natural-born citizens of the Philippines. </a:t>
            </a:r>
          </a:p>
          <a:p>
            <a:pPr marL="609600" indent="-609600" algn="just">
              <a:buFontTx/>
              <a:buAutoNum type="arabicPeriod"/>
            </a:pPr>
            <a:r>
              <a:rPr lang="en-US"/>
              <a:t> They must be at least thirty-five years of age at the time of election.</a:t>
            </a:r>
          </a:p>
          <a:p>
            <a:pPr marL="609600" indent="-609600" algn="just">
              <a:buFontTx/>
              <a:buAutoNum type="arabicPeriod"/>
            </a:pPr>
            <a:r>
              <a:rPr lang="en-US"/>
              <a:t> They must be certified public accountants with not less than ten years of experience.</a:t>
            </a:r>
          </a:p>
          <a:p>
            <a:pPr marL="609600" indent="-609600" algn="just">
              <a:buFontTx/>
              <a:buAutoNum type="arabicPeriod"/>
            </a:pPr>
            <a:r>
              <a:rPr lang="en-US"/>
              <a:t> They must not have been candidates for any elective position in the elections preceding their appointment.</a:t>
            </a:r>
          </a:p>
        </p:txBody>
      </p:sp>
    </p:spTree>
  </p:cSld>
  <p:clrMapOvr>
    <a:masterClrMapping/>
  </p:clrMapOvr>
  <p:transition spd="med">
    <p:wedge/>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301752" y="228600"/>
            <a:ext cx="8534400" cy="12192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000" b="1" dirty="0"/>
              <a:t>Article X</a:t>
            </a:r>
            <a:br>
              <a:rPr lang="en-US" sz="4000" b="1" dirty="0"/>
            </a:br>
            <a:r>
              <a:rPr lang="en-US" sz="4000" b="1" dirty="0"/>
              <a:t>Local Government</a:t>
            </a:r>
          </a:p>
        </p:txBody>
      </p:sp>
      <p:sp>
        <p:nvSpPr>
          <p:cNvPr id="105475" name="Rectangle 3"/>
          <p:cNvSpPr>
            <a:spLocks noGrp="1" noChangeArrowheads="1"/>
          </p:cNvSpPr>
          <p:nvPr>
            <p:ph idx="1"/>
          </p:nvPr>
        </p:nvSpPr>
        <p:spPr/>
        <p:txBody>
          <a:bodyPr>
            <a:normAutofit fontScale="92500" lnSpcReduction="10000"/>
          </a:bodyPr>
          <a:lstStyle/>
          <a:p>
            <a:pPr>
              <a:buFontTx/>
              <a:buNone/>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General Provisions</a:t>
            </a:r>
          </a:p>
          <a:p>
            <a:pPr algn="just">
              <a:buFontTx/>
              <a:buNone/>
            </a:pPr>
            <a:r>
              <a:rPr lang="en-US" dirty="0"/>
              <a:t>	Section 1. The territorial and political subdivision of the Republic of the Philippines in the provinces, cities, municipalities, and </a:t>
            </a:r>
            <a:r>
              <a:rPr lang="en-US" dirty="0" err="1"/>
              <a:t>barangays</a:t>
            </a:r>
            <a:r>
              <a:rPr lang="en-US" dirty="0"/>
              <a:t>. </a:t>
            </a:r>
            <a:r>
              <a:rPr lang="en-US" dirty="0" smtClean="0"/>
              <a:t>There </a:t>
            </a:r>
            <a:r>
              <a:rPr lang="en-US" dirty="0"/>
              <a:t>shall be autonomous regions in Muslim Mindanao and the Cordilleras as hereinafter provided.  </a:t>
            </a:r>
          </a:p>
        </p:txBody>
      </p:sp>
    </p:spTree>
  </p:cSld>
  <p:clrMapOvr>
    <a:masterClrMapping/>
  </p:clrMapOvr>
  <p:transition spd="med">
    <p:wedge/>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pPr algn="ctr"/>
            <a:r>
              <a:rPr lang="en-US" sz="4000" b="1" dirty="0"/>
              <a:t>Local Government</a:t>
            </a:r>
          </a:p>
        </p:txBody>
      </p:sp>
      <p:sp>
        <p:nvSpPr>
          <p:cNvPr id="106499" name="Rectangle 3"/>
          <p:cNvSpPr>
            <a:spLocks noGrp="1" noChangeArrowheads="1"/>
          </p:cNvSpPr>
          <p:nvPr>
            <p:ph idx="1"/>
          </p:nvPr>
        </p:nvSpPr>
        <p:spPr/>
        <p:txBody>
          <a:bodyPr>
            <a:normAutofit fontScale="85000" lnSpcReduction="10000"/>
          </a:bodyPr>
          <a:lstStyle/>
          <a:p>
            <a:pPr algn="just">
              <a:buFontTx/>
              <a:buNone/>
            </a:pPr>
            <a:r>
              <a:rPr lang="en-US" sz="4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Concept</a:t>
            </a:r>
          </a:p>
          <a:p>
            <a:pPr algn="just">
              <a:buFontTx/>
              <a:buNone/>
            </a:pPr>
            <a:r>
              <a:rPr lang="en-US" sz="4000" dirty="0"/>
              <a:t>	Local government refers to a political subdivisions of a nation or state is constituted by law and have substantial control of local affairs with officials elected or otherwise locally selected.</a:t>
            </a:r>
          </a:p>
          <a:p>
            <a:pPr algn="just">
              <a:buFontTx/>
              <a:buNone/>
            </a:pPr>
            <a:endParaRPr lang="en-US" sz="4000" dirty="0"/>
          </a:p>
        </p:txBody>
      </p:sp>
    </p:spTree>
  </p:cSld>
  <p:clrMapOvr>
    <a:masterClrMapping/>
  </p:clrMapOvr>
  <p:transition spd="med">
    <p:wedge/>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sz="4400" dirty="0"/>
              <a:t>Local Government Units</a:t>
            </a:r>
          </a:p>
        </p:txBody>
      </p:sp>
      <p:sp>
        <p:nvSpPr>
          <p:cNvPr id="107523" name="Rectangle 3"/>
          <p:cNvSpPr>
            <a:spLocks noGrp="1" noChangeArrowheads="1"/>
          </p:cNvSpPr>
          <p:nvPr>
            <p:ph idx="1"/>
          </p:nvPr>
        </p:nvSpPr>
        <p:spPr/>
        <p:txBody>
          <a:bodyPr>
            <a:noAutofit/>
          </a:bodyPr>
          <a:lstStyle/>
          <a:p>
            <a:pPr marL="609600" indent="-609600" algn="just">
              <a:buFontTx/>
              <a:buNone/>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The local government units are the following:</a:t>
            </a:r>
          </a:p>
          <a:p>
            <a:pPr marL="609600" indent="-609600" algn="just">
              <a:buFontTx/>
              <a:buAutoNum type="arabicPeriod"/>
            </a:pPr>
            <a:r>
              <a:rPr lang="en-US" dirty="0"/>
              <a:t>Province</a:t>
            </a:r>
          </a:p>
          <a:p>
            <a:pPr marL="609600" indent="-609600" algn="just">
              <a:buFontTx/>
              <a:buAutoNum type="arabicPeriod"/>
            </a:pPr>
            <a:r>
              <a:rPr lang="en-US" dirty="0"/>
              <a:t>City</a:t>
            </a:r>
          </a:p>
          <a:p>
            <a:pPr marL="609600" indent="-609600" algn="just">
              <a:buFontTx/>
              <a:buAutoNum type="arabicPeriod"/>
            </a:pPr>
            <a:r>
              <a:rPr lang="en-US" dirty="0"/>
              <a:t>Municipality</a:t>
            </a:r>
          </a:p>
          <a:p>
            <a:pPr marL="609600" indent="-609600" algn="just">
              <a:buFontTx/>
              <a:buAutoNum type="arabicPeriod"/>
            </a:pPr>
            <a:r>
              <a:rPr lang="en-US" dirty="0" err="1"/>
              <a:t>Barangay</a:t>
            </a:r>
            <a:endParaRPr lang="en-US" dirty="0"/>
          </a:p>
          <a:p>
            <a:pPr marL="609600" indent="-609600" algn="just">
              <a:buFontTx/>
              <a:buAutoNum type="arabicPeriod"/>
            </a:pPr>
            <a:r>
              <a:rPr lang="en-US" dirty="0"/>
              <a:t>Autonomous regions</a:t>
            </a:r>
          </a:p>
          <a:p>
            <a:pPr marL="609600" indent="-609600" algn="just">
              <a:buFontTx/>
              <a:buNone/>
            </a:pPr>
            <a:r>
              <a:rPr lang="en-US" dirty="0"/>
              <a:t>	these units are also called the political subdivisions of the country.</a:t>
            </a:r>
          </a:p>
        </p:txBody>
      </p:sp>
    </p:spTree>
  </p:cSld>
  <p:clrMapOvr>
    <a:masterClrMapping/>
  </p:clrMapOvr>
  <p:transition spd="med">
    <p:wedge/>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400" b="1" dirty="0"/>
              <a:t>Powers of Local governments</a:t>
            </a:r>
          </a:p>
        </p:txBody>
      </p:sp>
      <p:sp>
        <p:nvSpPr>
          <p:cNvPr id="108547" name="Rectangle 3"/>
          <p:cNvSpPr>
            <a:spLocks noGrp="1" noChangeArrowheads="1"/>
          </p:cNvSpPr>
          <p:nvPr>
            <p:ph idx="1"/>
          </p:nvPr>
        </p:nvSpPr>
        <p:spPr/>
        <p:txBody>
          <a:bodyPr>
            <a:noAutofit/>
          </a:bodyPr>
          <a:lstStyle/>
          <a:p>
            <a:pPr marL="609600" indent="-609600" algn="just">
              <a:lnSpc>
                <a:spcPct val="80000"/>
              </a:lnSpc>
              <a:buFontTx/>
              <a:buNone/>
            </a:pP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The powers of the local governments are:</a:t>
            </a:r>
          </a:p>
          <a:p>
            <a:pPr marL="609600" indent="-609600" algn="just">
              <a:lnSpc>
                <a:spcPct val="80000"/>
              </a:lnSpc>
              <a:buFontTx/>
              <a:buAutoNum type="arabicPeriod"/>
            </a:pPr>
            <a:r>
              <a:rPr lang="en-US" dirty="0"/>
              <a:t>To have continuous </a:t>
            </a:r>
            <a:r>
              <a:rPr lang="en-US" dirty="0" smtClean="0"/>
              <a:t>succession </a:t>
            </a:r>
            <a:r>
              <a:rPr lang="en-US" dirty="0"/>
              <a:t>in its corporate name;</a:t>
            </a:r>
          </a:p>
          <a:p>
            <a:pPr marL="609600" indent="-609600" algn="just">
              <a:lnSpc>
                <a:spcPct val="80000"/>
              </a:lnSpc>
              <a:buFontTx/>
              <a:buAutoNum type="arabicPeriod"/>
            </a:pPr>
            <a:r>
              <a:rPr lang="en-US" dirty="0"/>
              <a:t>To sue and be sued;</a:t>
            </a:r>
          </a:p>
          <a:p>
            <a:pPr marL="609600" indent="-609600" algn="just">
              <a:lnSpc>
                <a:spcPct val="80000"/>
              </a:lnSpc>
              <a:buFontTx/>
              <a:buAutoNum type="arabicPeriod"/>
            </a:pPr>
            <a:r>
              <a:rPr lang="en-US" dirty="0"/>
              <a:t>To have use a corporate seal</a:t>
            </a:r>
          </a:p>
          <a:p>
            <a:pPr marL="609600" indent="-609600" algn="just">
              <a:lnSpc>
                <a:spcPct val="80000"/>
              </a:lnSpc>
              <a:buFontTx/>
              <a:buAutoNum type="arabicPeriod"/>
            </a:pPr>
            <a:r>
              <a:rPr lang="en-US" dirty="0">
                <a:solidFill>
                  <a:srgbClr val="002060"/>
                </a:solidFill>
              </a:rPr>
              <a:t>To acquire and convey real or personal properties;</a:t>
            </a:r>
          </a:p>
          <a:p>
            <a:pPr marL="609600" indent="-609600" algn="just">
              <a:lnSpc>
                <a:spcPct val="80000"/>
              </a:lnSpc>
              <a:buFontTx/>
              <a:buAutoNum type="arabicPeriod"/>
            </a:pPr>
            <a:r>
              <a:rPr lang="en-US" dirty="0">
                <a:solidFill>
                  <a:srgbClr val="002060"/>
                </a:solidFill>
              </a:rPr>
              <a:t>To enter into a contract; and</a:t>
            </a:r>
          </a:p>
          <a:p>
            <a:pPr marL="609600" indent="-609600" algn="just">
              <a:lnSpc>
                <a:spcPct val="80000"/>
              </a:lnSpc>
              <a:buFontTx/>
              <a:buAutoNum type="arabicPeriod"/>
            </a:pPr>
            <a:r>
              <a:rPr lang="en-US" dirty="0">
                <a:solidFill>
                  <a:srgbClr val="002060"/>
                </a:solidFill>
              </a:rPr>
              <a:t>To exercise such other powers as granted to corporations, subject to limitations provided by laws.</a:t>
            </a:r>
          </a:p>
        </p:txBody>
      </p:sp>
    </p:spTree>
  </p:cSld>
  <p:clrMapOvr>
    <a:masterClrMapping/>
  </p:clrMapOvr>
  <p:transition spd="med">
    <p:wedge/>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301752" y="228600"/>
            <a:ext cx="8534400" cy="99060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dirty="0"/>
              <a:t>Article XI</a:t>
            </a:r>
            <a:br>
              <a:rPr lang="en-US" dirty="0"/>
            </a:br>
            <a:r>
              <a:rPr lang="en-US" dirty="0"/>
              <a:t>Accountability of Public Officers</a:t>
            </a:r>
          </a:p>
        </p:txBody>
      </p:sp>
      <p:sp>
        <p:nvSpPr>
          <p:cNvPr id="109571" name="Rectangle 3"/>
          <p:cNvSpPr>
            <a:spLocks noGrp="1" noChangeArrowheads="1"/>
          </p:cNvSpPr>
          <p:nvPr>
            <p:ph idx="1"/>
          </p:nvPr>
        </p:nvSpPr>
        <p:spPr>
          <a:xfrm>
            <a:off x="304800" y="1554162"/>
            <a:ext cx="8686800" cy="4922838"/>
          </a:xfrm>
        </p:spPr>
        <p:txBody>
          <a:bodyPr>
            <a:noAutofit/>
          </a:bodyPr>
          <a:lstStyle/>
          <a:p>
            <a:pPr algn="just">
              <a:buFontTx/>
              <a:buNone/>
            </a:pPr>
            <a:r>
              <a:rPr lang="en-US" sz="3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Section 1. </a:t>
            </a:r>
            <a:r>
              <a:rPr lang="en-US" sz="3400" dirty="0"/>
              <a:t>Public office is a public trust</a:t>
            </a:r>
          </a:p>
          <a:p>
            <a:pPr algn="just">
              <a:buFontTx/>
              <a:buNone/>
            </a:pPr>
            <a:r>
              <a:rPr lang="en-US" sz="3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Public office  </a:t>
            </a:r>
            <a:r>
              <a:rPr lang="en-US" sz="3400" dirty="0"/>
              <a:t>- is defined as the right, authority, and duty created and conferred by law in a given period either fixed by law or enduring at the pleasure of the appointing power.</a:t>
            </a:r>
          </a:p>
          <a:p>
            <a:pPr algn="just">
              <a:buFontTx/>
              <a:buNone/>
            </a:pPr>
            <a:r>
              <a:rPr lang="en-US" sz="3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Public officer </a:t>
            </a:r>
            <a:r>
              <a:rPr lang="en-US" sz="3400" dirty="0">
                <a:solidFill>
                  <a:srgbClr val="FFFF00"/>
                </a:solidFill>
              </a:rPr>
              <a:t>– is the individual invested with some portion of the sovereign functions of the government for the benefit of the public.</a:t>
            </a:r>
          </a:p>
        </p:txBody>
      </p:sp>
    </p:spTree>
  </p:cSld>
  <p:clrMapOvr>
    <a:masterClrMapping/>
  </p:clrMapOvr>
  <p:transition spd="med">
    <p:wedge/>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sz="4400" dirty="0"/>
              <a:t>Nature of the Public Office</a:t>
            </a:r>
          </a:p>
        </p:txBody>
      </p:sp>
      <p:sp>
        <p:nvSpPr>
          <p:cNvPr id="110595" name="Rectangle 3"/>
          <p:cNvSpPr>
            <a:spLocks noGrp="1" noChangeArrowheads="1"/>
          </p:cNvSpPr>
          <p:nvPr>
            <p:ph idx="1"/>
          </p:nvPr>
        </p:nvSpPr>
        <p:spPr/>
        <p:txBody>
          <a:bodyPr>
            <a:noAutofit/>
          </a:bodyPr>
          <a:lstStyle/>
          <a:p>
            <a:pPr marL="609600" indent="-609600" algn="just">
              <a:lnSpc>
                <a:spcPct val="90000"/>
              </a:lnSpc>
              <a:buFontTx/>
              <a:buAutoNum type="arabicPeriod"/>
            </a:pPr>
            <a:r>
              <a:rPr lang="en-US" sz="4800" dirty="0"/>
              <a:t>It is a </a:t>
            </a:r>
            <a:r>
              <a:rPr lang="en-US" sz="4800" u="sng" dirty="0"/>
              <a:t>public trust</a:t>
            </a:r>
            <a:r>
              <a:rPr lang="en-US" sz="4800" dirty="0"/>
              <a:t> because it renders service to the public.</a:t>
            </a:r>
          </a:p>
          <a:p>
            <a:pPr marL="609600" indent="-609600" algn="just">
              <a:lnSpc>
                <a:spcPct val="90000"/>
              </a:lnSpc>
              <a:buFontTx/>
              <a:buAutoNum type="arabicPeriod"/>
            </a:pPr>
            <a:r>
              <a:rPr lang="en-US" sz="4800" dirty="0"/>
              <a:t>It is </a:t>
            </a:r>
            <a:r>
              <a:rPr lang="en-US" sz="4800" u="sng" dirty="0"/>
              <a:t>not a property</a:t>
            </a:r>
            <a:r>
              <a:rPr lang="en-US" sz="4800" dirty="0"/>
              <a:t> for the holder of the office may not claim vested right</a:t>
            </a:r>
            <a:r>
              <a:rPr lang="en-US" sz="4800" dirty="0" smtClean="0"/>
              <a:t>.</a:t>
            </a:r>
            <a:endParaRPr lang="en-US" sz="4800" dirty="0"/>
          </a:p>
        </p:txBody>
      </p:sp>
    </p:spTree>
  </p:cSld>
  <p:clrMapOvr>
    <a:masterClrMapping/>
  </p:clrMapOvr>
  <p:transition spd="med">
    <p:wedge/>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609600" indent="-609600" algn="just">
              <a:lnSpc>
                <a:spcPct val="90000"/>
              </a:lnSpc>
              <a:buFont typeface="+mj-lt"/>
              <a:buAutoNum type="arabicPeriod" startAt="3"/>
            </a:pPr>
            <a:r>
              <a:rPr lang="en-US" dirty="0" smtClean="0"/>
              <a:t>It is not a contract because one has no right to sue the government for the recovery of damages.</a:t>
            </a:r>
          </a:p>
          <a:p>
            <a:pPr marL="1371600" lvl="2" indent="-457200" algn="just">
              <a:lnSpc>
                <a:spcPct val="90000"/>
              </a:lnSpc>
              <a:buFont typeface="Wingdings" pitchFamily="2" charset="2"/>
              <a:buChar char="Ø"/>
            </a:pPr>
            <a:r>
              <a:rPr lang="en-US" sz="3200" dirty="0" smtClean="0">
                <a:solidFill>
                  <a:srgbClr val="FFFF00"/>
                </a:solidFill>
              </a:rPr>
              <a:t>The principle of the public accountability is emphasized in this section. All public officers and servants must consider their positions as sacred trusts and not as a means for the achieving of power and wealth.		</a:t>
            </a:r>
          </a:p>
          <a:p>
            <a:pPr marL="609600" indent="-609600" algn="just">
              <a:lnSpc>
                <a:spcPct val="90000"/>
              </a:lnSpc>
              <a:buFontTx/>
              <a:buNone/>
            </a:pPr>
            <a:r>
              <a:rPr lang="en-US" dirty="0" smtClean="0">
                <a:solidFill>
                  <a:srgbClr val="FFFF00"/>
                </a:solidFill>
              </a:rPr>
              <a:t>			</a:t>
            </a:r>
          </a:p>
          <a:p>
            <a:endParaRPr lang="en-US" sz="4000" dirty="0"/>
          </a:p>
        </p:txBody>
      </p:sp>
    </p:spTree>
  </p:cSld>
  <p:clrMapOvr>
    <a:masterClrMapping/>
  </p:clrMapOvr>
  <p:transition spd="med">
    <p:wedg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4000" dirty="0"/>
              <a:t>Section 2. Nature of Impeachment</a:t>
            </a:r>
          </a:p>
        </p:txBody>
      </p:sp>
      <p:sp>
        <p:nvSpPr>
          <p:cNvPr id="111619" name="Rectangle 3"/>
          <p:cNvSpPr>
            <a:spLocks noGrp="1" noChangeArrowheads="1"/>
          </p:cNvSpPr>
          <p:nvPr>
            <p:ph idx="1"/>
          </p:nvPr>
        </p:nvSpPr>
        <p:spPr/>
        <p:txBody>
          <a:bodyPr>
            <a:normAutofit fontScale="85000" lnSpcReduction="10000"/>
          </a:bodyPr>
          <a:lstStyle/>
          <a:p>
            <a:pPr algn="just">
              <a:buFontTx/>
              <a:buNone/>
            </a:pPr>
            <a:r>
              <a:rPr lang="en-US" sz="4400" b="1" dirty="0"/>
              <a:t>Impeachment has been defined as a method of national inquest into the conduct of public men. It aims to protect from official delinquencies or malfeasance's</a:t>
            </a:r>
            <a:r>
              <a:rPr lang="en-US" sz="4400" b="1" dirty="0">
                <a:cs typeface="Arial" charset="0"/>
              </a:rPr>
              <a:t>.</a:t>
            </a:r>
          </a:p>
          <a:p>
            <a:pPr algn="just">
              <a:buFontTx/>
              <a:buNone/>
            </a:pPr>
            <a:endParaRPr lang="en-US" sz="4400" b="1" dirty="0">
              <a:cs typeface="Arial" charset="0"/>
            </a:endParaRPr>
          </a:p>
        </p:txBody>
      </p:sp>
    </p:spTree>
  </p:cSld>
  <p:clrMapOvr>
    <a:masterClrMapping/>
  </p:clrMapOvr>
  <p:transition spd="med">
    <p:wedge/>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301752" y="228600"/>
            <a:ext cx="8534400" cy="990600"/>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3600" dirty="0">
                <a:cs typeface="Arial" charset="0"/>
              </a:rPr>
              <a:t>Officials Removable by </a:t>
            </a:r>
            <a:r>
              <a:rPr lang="en-US" sz="3600" dirty="0" smtClean="0">
                <a:cs typeface="Arial" charset="0"/>
              </a:rPr>
              <a:t>Impeachment</a:t>
            </a:r>
            <a:endParaRPr lang="en-US" sz="3600" dirty="0">
              <a:cs typeface="Arial" charset="0"/>
            </a:endParaRPr>
          </a:p>
        </p:txBody>
      </p:sp>
      <p:sp>
        <p:nvSpPr>
          <p:cNvPr id="112643" name="Rectangle 3"/>
          <p:cNvSpPr>
            <a:spLocks noGrp="1" noChangeArrowheads="1"/>
          </p:cNvSpPr>
          <p:nvPr>
            <p:ph idx="1"/>
          </p:nvPr>
        </p:nvSpPr>
        <p:spPr/>
        <p:txBody>
          <a:bodyPr>
            <a:normAutofit fontScale="92500" lnSpcReduction="10000"/>
          </a:bodyPr>
          <a:lstStyle/>
          <a:p>
            <a:pPr marL="609600" indent="-609600">
              <a:buFontTx/>
              <a:buAutoNum type="arabicPeriod"/>
            </a:pPr>
            <a:r>
              <a:rPr lang="en-US" sz="4000" dirty="0"/>
              <a:t>The president and the vice – president</a:t>
            </a:r>
          </a:p>
          <a:p>
            <a:pPr marL="609600" indent="-609600">
              <a:buFontTx/>
              <a:buAutoNum type="arabicPeriod"/>
            </a:pPr>
            <a:r>
              <a:rPr lang="en-US" sz="4000" dirty="0"/>
              <a:t>Members of the Supreme Court</a:t>
            </a:r>
          </a:p>
          <a:p>
            <a:pPr marL="609600" indent="-609600">
              <a:buFontTx/>
              <a:buAutoNum type="arabicPeriod"/>
            </a:pPr>
            <a:r>
              <a:rPr lang="en-US" sz="4000" dirty="0"/>
              <a:t>Members of the Constitutional </a:t>
            </a:r>
            <a:r>
              <a:rPr lang="en-US" sz="4000" dirty="0" smtClean="0"/>
              <a:t>commissions</a:t>
            </a:r>
            <a:endParaRPr lang="en-US" sz="4000" dirty="0"/>
          </a:p>
          <a:p>
            <a:pPr marL="609600" indent="-609600">
              <a:buFontTx/>
              <a:buAutoNum type="arabicPeriod"/>
            </a:pPr>
            <a:r>
              <a:rPr lang="en-US" sz="4000" dirty="0"/>
              <a:t>The Ombudsman</a:t>
            </a:r>
          </a:p>
          <a:p>
            <a:pPr marL="609600" indent="-609600">
              <a:buFontTx/>
              <a:buAutoNum type="arabicPeriod"/>
            </a:pPr>
            <a:endParaRPr lang="en-US" sz="4000" dirty="0"/>
          </a:p>
        </p:txBody>
      </p:sp>
    </p:spTree>
  </p:cSld>
  <p:clrMapOvr>
    <a:masterClrMapping/>
  </p:clrMapOvr>
  <p:transition spd="med">
    <p:wedge/>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b="1" dirty="0"/>
              <a:t>Grounds of Impeachment</a:t>
            </a:r>
          </a:p>
        </p:txBody>
      </p:sp>
      <p:sp>
        <p:nvSpPr>
          <p:cNvPr id="113667" name="Rectangle 3"/>
          <p:cNvSpPr>
            <a:spLocks noGrp="1" noChangeArrowheads="1"/>
          </p:cNvSpPr>
          <p:nvPr>
            <p:ph idx="1"/>
          </p:nvPr>
        </p:nvSpPr>
        <p:spPr/>
        <p:txBody>
          <a:bodyPr>
            <a:noAutofit/>
          </a:bodyPr>
          <a:lstStyle/>
          <a:p>
            <a:pPr marL="609600" indent="-609600">
              <a:buFontTx/>
              <a:buAutoNum type="arabicPeriod"/>
            </a:pPr>
            <a:r>
              <a:rPr lang="en-US" sz="4000" dirty="0"/>
              <a:t>Culpable violation of the constitution</a:t>
            </a:r>
          </a:p>
          <a:p>
            <a:pPr marL="609600" indent="-609600">
              <a:buFontTx/>
              <a:buAutoNum type="arabicPeriod"/>
            </a:pPr>
            <a:r>
              <a:rPr lang="en-US" sz="4000" dirty="0"/>
              <a:t>Treason</a:t>
            </a:r>
          </a:p>
          <a:p>
            <a:pPr marL="647700" lvl="1" indent="-533400">
              <a:buFont typeface="Wingdings" pitchFamily="2" charset="2"/>
              <a:buNone/>
            </a:pPr>
            <a:r>
              <a:rPr lang="en-US" sz="3600" dirty="0"/>
              <a:t>		</a:t>
            </a:r>
            <a:r>
              <a:rPr lang="en-US" sz="3600" b="1" dirty="0"/>
              <a:t>Ex: a Filipino imposes war in the Philippine and Comforting the enemies in the country</a:t>
            </a:r>
          </a:p>
          <a:p>
            <a:pPr marL="609600" indent="-609600">
              <a:buFontTx/>
              <a:buAutoNum type="arabicPeriod"/>
            </a:pPr>
            <a:r>
              <a:rPr lang="en-US" sz="4000" dirty="0"/>
              <a:t>Bribery. Either direct or indirect bribery</a:t>
            </a:r>
          </a:p>
          <a:p>
            <a:pPr marL="647700" lvl="1" indent="-533400">
              <a:buFont typeface="Wingdings" pitchFamily="2" charset="2"/>
              <a:buNone/>
            </a:pPr>
            <a:endParaRPr lang="en-US" sz="3600" dirty="0"/>
          </a:p>
        </p:txBody>
      </p:sp>
    </p:spTree>
  </p:cSld>
  <p:clrMapOvr>
    <a:masterClrMapping/>
  </p:clrMapOvr>
  <p:transition spd="med">
    <p:wedge/>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609600" indent="-609600">
              <a:buFont typeface="+mj-lt"/>
              <a:buAutoNum type="arabicPeriod" startAt="4"/>
            </a:pPr>
            <a:r>
              <a:rPr lang="en-US" sz="4800" dirty="0" smtClean="0"/>
              <a:t>Graft and corruption</a:t>
            </a:r>
          </a:p>
          <a:p>
            <a:pPr marL="609600" indent="-609600">
              <a:buFont typeface="+mj-lt"/>
              <a:buAutoNum type="arabicPeriod" startAt="4"/>
            </a:pPr>
            <a:r>
              <a:rPr lang="en-US" sz="4800" dirty="0" smtClean="0"/>
              <a:t>Other high crimes</a:t>
            </a:r>
          </a:p>
          <a:p>
            <a:pPr marL="609600" indent="-609600">
              <a:buFont typeface="+mj-lt"/>
              <a:buAutoNum type="arabicPeriod" startAt="4"/>
            </a:pPr>
            <a:r>
              <a:rPr lang="en-US" sz="4800" dirty="0" smtClean="0"/>
              <a:t>Betrayal of public trust – new ground for impeachment.</a:t>
            </a:r>
          </a:p>
          <a:p>
            <a:pPr marL="514350" indent="-514350">
              <a:buFont typeface="+mj-lt"/>
              <a:buAutoNum type="arabicPeriod" startAt="4"/>
            </a:pPr>
            <a:endParaRPr lang="en-US" sz="4800" dirty="0"/>
          </a:p>
        </p:txBody>
      </p:sp>
    </p:spTree>
  </p:cSld>
  <p:clrMapOvr>
    <a:masterClrMapping/>
  </p:clrMapOvr>
  <p:transition spd="med">
    <p:wedg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301752" y="228600"/>
            <a:ext cx="8534400" cy="1219200"/>
          </a:xfrm>
        </p:spPr>
        <p:style>
          <a:lnRef idx="3">
            <a:schemeClr val="lt1"/>
          </a:lnRef>
          <a:fillRef idx="1">
            <a:schemeClr val="accent1"/>
          </a:fillRef>
          <a:effectRef idx="1">
            <a:schemeClr val="accent1"/>
          </a:effectRef>
          <a:fontRef idx="minor">
            <a:schemeClr val="lt1"/>
          </a:fontRef>
        </p:style>
        <p:txBody>
          <a:bodyPr>
            <a:normAutofit fontScale="90000"/>
          </a:bodyPr>
          <a:lstStyle/>
          <a:p>
            <a:pPr algn="ctr"/>
            <a:r>
              <a:rPr lang="en-US" sz="4000" dirty="0"/>
              <a:t>Section 3. Initiating and Trial for Impeachment </a:t>
            </a:r>
          </a:p>
        </p:txBody>
      </p:sp>
      <p:sp>
        <p:nvSpPr>
          <p:cNvPr id="114691" name="Rectangle 3"/>
          <p:cNvSpPr>
            <a:spLocks noGrp="1" noChangeArrowheads="1"/>
          </p:cNvSpPr>
          <p:nvPr>
            <p:ph idx="1"/>
          </p:nvPr>
        </p:nvSpPr>
        <p:spPr/>
        <p:txBody>
          <a:bodyPr>
            <a:normAutofit fontScale="85000" lnSpcReduction="20000"/>
          </a:bodyPr>
          <a:lstStyle/>
          <a:p>
            <a:pPr algn="just">
              <a:buFontTx/>
              <a:buNone/>
            </a:pPr>
            <a:r>
              <a:rPr lang="en-US" sz="4800" dirty="0"/>
              <a:t>	House of Representatives have the sole power to initiate all cases of impeachment. The senate has the sole power to try all cases of impeachment.</a:t>
            </a:r>
          </a:p>
          <a:p>
            <a:pPr algn="just">
              <a:buFontTx/>
              <a:buNone/>
            </a:pPr>
            <a:endParaRPr lang="en-US" sz="4800" dirty="0"/>
          </a:p>
        </p:txBody>
      </p:sp>
    </p:spTree>
  </p:cSld>
  <p:clrMapOvr>
    <a:masterClrMapping/>
  </p:clrMapOvr>
  <p:transition spd="med">
    <p:wedge/>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381000" y="0"/>
            <a:ext cx="8229600" cy="11430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000" dirty="0"/>
              <a:t>Procedure in Impeachment Cases</a:t>
            </a:r>
          </a:p>
        </p:txBody>
      </p:sp>
      <p:sp>
        <p:nvSpPr>
          <p:cNvPr id="115715" name="Rectangle 3"/>
          <p:cNvSpPr>
            <a:spLocks noGrp="1" noChangeArrowheads="1"/>
          </p:cNvSpPr>
          <p:nvPr>
            <p:ph idx="1"/>
          </p:nvPr>
        </p:nvSpPr>
        <p:spPr>
          <a:xfrm>
            <a:off x="381000" y="1600200"/>
            <a:ext cx="8229600" cy="4876800"/>
          </a:xfrm>
        </p:spPr>
        <p:txBody>
          <a:bodyPr>
            <a:normAutofit fontScale="92500" lnSpcReduction="20000"/>
          </a:bodyPr>
          <a:lstStyle/>
          <a:p>
            <a:pPr marL="609600" indent="-609600">
              <a:lnSpc>
                <a:spcPct val="80000"/>
              </a:lnSpc>
              <a:buNone/>
            </a:pPr>
            <a:r>
              <a:rPr lang="en-US" sz="4000" dirty="0" smtClean="0"/>
              <a:t>1.	Filing </a:t>
            </a:r>
            <a:r>
              <a:rPr lang="en-US" sz="4000" dirty="0"/>
              <a:t>of verified compliant in the House of Representative</a:t>
            </a:r>
          </a:p>
          <a:p>
            <a:pPr marL="609600" indent="-609600">
              <a:lnSpc>
                <a:spcPct val="80000"/>
              </a:lnSpc>
              <a:buNone/>
            </a:pPr>
            <a:r>
              <a:rPr lang="en-US" sz="4000" dirty="0" smtClean="0"/>
              <a:t>2.	Trial </a:t>
            </a:r>
            <a:r>
              <a:rPr lang="en-US" sz="4000" dirty="0"/>
              <a:t>by the Senate</a:t>
            </a:r>
          </a:p>
          <a:p>
            <a:pPr marL="609600" indent="-609600">
              <a:lnSpc>
                <a:spcPct val="80000"/>
              </a:lnSpc>
              <a:buFontTx/>
              <a:buNone/>
            </a:pPr>
            <a:r>
              <a:rPr lang="en-US" sz="4000" dirty="0"/>
              <a:t>	The members of are required to be under oath or affirmation</a:t>
            </a:r>
          </a:p>
          <a:p>
            <a:pPr marL="609600" indent="-609600">
              <a:lnSpc>
                <a:spcPct val="80000"/>
              </a:lnSpc>
              <a:buNone/>
            </a:pPr>
            <a:r>
              <a:rPr lang="en-US" sz="4000" dirty="0" smtClean="0"/>
              <a:t>3.	Requirements </a:t>
            </a:r>
            <a:r>
              <a:rPr lang="en-US" sz="4000" dirty="0"/>
              <a:t>for conviction</a:t>
            </a:r>
          </a:p>
          <a:p>
            <a:pPr marL="609600" indent="-609600">
              <a:lnSpc>
                <a:spcPct val="80000"/>
              </a:lnSpc>
              <a:buFontTx/>
              <a:buNone/>
            </a:pPr>
            <a:r>
              <a:rPr lang="en-US" sz="4000" dirty="0"/>
              <a:t>	</a:t>
            </a:r>
            <a:r>
              <a:rPr lang="en-US" dirty="0"/>
              <a:t>	</a:t>
            </a:r>
          </a:p>
          <a:p>
            <a:pPr marL="647700" lvl="1" indent="-533400">
              <a:lnSpc>
                <a:spcPct val="80000"/>
              </a:lnSpc>
              <a:buFontTx/>
              <a:buNone/>
            </a:pPr>
            <a:endParaRPr lang="en-US" dirty="0"/>
          </a:p>
        </p:txBody>
      </p:sp>
    </p:spTree>
  </p:cSld>
  <p:clrMapOvr>
    <a:masterClrMapping/>
  </p:clrMapOvr>
  <p:transition spd="med">
    <p:wedge/>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609600" indent="-609600">
              <a:lnSpc>
                <a:spcPct val="80000"/>
              </a:lnSpc>
              <a:buFontTx/>
              <a:buNone/>
            </a:pPr>
            <a:r>
              <a:rPr lang="en-US" dirty="0" smtClean="0"/>
              <a:t>To convict an officer, at least 2/3 of all members of Senate agreeing are necessary</a:t>
            </a:r>
          </a:p>
          <a:p>
            <a:pPr marL="609600" indent="-609600">
              <a:lnSpc>
                <a:spcPct val="80000"/>
              </a:lnSpc>
              <a:buFontTx/>
              <a:buNone/>
            </a:pPr>
            <a:r>
              <a:rPr lang="en-US" dirty="0" smtClean="0"/>
              <a:t>	☺ The only penalty to imposed in an officer is limited </a:t>
            </a:r>
            <a:r>
              <a:rPr lang="en-US" dirty="0" smtClean="0">
                <a:cs typeface="Arial" charset="0"/>
              </a:rPr>
              <a:t>“to removal from office and disqualification to hold any office under the Republic of the Philippines“. If a criminal offenses has been committed, the party convicted is still liable to prosecution, trial and punishment.</a:t>
            </a:r>
          </a:p>
          <a:p>
            <a:pPr marL="609600" indent="-609600">
              <a:lnSpc>
                <a:spcPct val="80000"/>
              </a:lnSpc>
              <a:buFontTx/>
              <a:buNone/>
            </a:pPr>
            <a:r>
              <a:rPr lang="en-US" dirty="0" smtClean="0">
                <a:cs typeface="Arial" charset="0"/>
              </a:rPr>
              <a:t>	☺ </a:t>
            </a:r>
            <a:r>
              <a:rPr lang="en-US" dirty="0" smtClean="0">
                <a:solidFill>
                  <a:srgbClr val="FFFF00"/>
                </a:solidFill>
                <a:cs typeface="Arial" charset="0"/>
              </a:rPr>
              <a:t>The power of the president to grant reprieves, commutations and pardons does not extend to cases of impeachment.</a:t>
            </a:r>
            <a:r>
              <a:rPr lang="en-US" sz="2400" dirty="0" smtClean="0">
                <a:solidFill>
                  <a:srgbClr val="FFFF00"/>
                </a:solidFill>
                <a:cs typeface="Arial" charset="0"/>
              </a:rPr>
              <a:t> </a:t>
            </a:r>
          </a:p>
          <a:p>
            <a:endParaRPr lang="en-US" sz="3600" dirty="0">
              <a:solidFill>
                <a:srgbClr val="FFFF00"/>
              </a:solidFill>
            </a:endParaRPr>
          </a:p>
        </p:txBody>
      </p:sp>
    </p:spTree>
  </p:cSld>
  <p:clrMapOvr>
    <a:masterClrMapping/>
  </p:clrMapOvr>
  <p:transition spd="med">
    <p:wedge/>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normAutofit/>
          </a:bodyPr>
          <a:lstStyle/>
          <a:p>
            <a:endParaRPr lang="en-US" sz="4000" dirty="0"/>
          </a:p>
        </p:txBody>
      </p:sp>
      <p:sp>
        <p:nvSpPr>
          <p:cNvPr id="116739" name="Rectangle 3"/>
          <p:cNvSpPr>
            <a:spLocks noGrp="1" noChangeArrowheads="1"/>
          </p:cNvSpPr>
          <p:nvPr>
            <p:ph idx="1"/>
          </p:nvPr>
        </p:nvSpPr>
        <p:spPr/>
        <p:txBody>
          <a:bodyPr>
            <a:noAutofit/>
          </a:bodyPr>
          <a:lstStyle/>
          <a:p>
            <a:pPr>
              <a:buFontTx/>
              <a:buNone/>
            </a:pPr>
            <a:r>
              <a:rPr lang="en-US" sz="4400" dirty="0"/>
              <a:t>	</a:t>
            </a:r>
            <a:r>
              <a:rPr lang="en-US" sz="4000" dirty="0" smtClean="0"/>
              <a:t>Section 4. Anti – Graft known as </a:t>
            </a:r>
            <a:r>
              <a:rPr lang="en-US" sz="4000" b="1" dirty="0" err="1"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Sandiganbayan</a:t>
            </a:r>
            <a:endParaRPr lang="en-US" sz="4000" dirty="0" smtClean="0"/>
          </a:p>
          <a:p>
            <a:pPr>
              <a:buFontTx/>
              <a:buNone/>
            </a:pPr>
            <a:endParaRPr lang="en-US" sz="4000" dirty="0" smtClean="0"/>
          </a:p>
          <a:p>
            <a:pPr>
              <a:buFontTx/>
              <a:buNone/>
            </a:pPr>
            <a:r>
              <a:rPr lang="en-US" sz="4400" dirty="0" smtClean="0"/>
              <a:t>The </a:t>
            </a:r>
            <a:r>
              <a:rPr lang="en-US" sz="4400"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Sandiganbayan</a:t>
            </a:r>
            <a:r>
              <a:rPr lang="en-US" sz="4400" dirty="0"/>
              <a:t> was a special court created by the </a:t>
            </a:r>
            <a:r>
              <a:rPr lang="en-US" sz="4400"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Batasang</a:t>
            </a:r>
            <a: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r>
              <a:rPr lang="en-US" sz="4400"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Pambansa</a:t>
            </a:r>
            <a:r>
              <a:rPr lang="en-US" sz="4400" dirty="0"/>
              <a:t> under the 1973 Constitution. </a:t>
            </a:r>
          </a:p>
        </p:txBody>
      </p:sp>
    </p:spTree>
  </p:cSld>
  <p:clrMapOvr>
    <a:masterClrMapping/>
  </p:clrMapOvr>
  <p:transition spd="med">
    <p:wedge/>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304800" y="304800"/>
            <a:ext cx="8534400" cy="990600"/>
          </a:xfrm>
        </p:spPr>
        <p:style>
          <a:lnRef idx="2">
            <a:schemeClr val="accent1">
              <a:shade val="50000"/>
            </a:schemeClr>
          </a:lnRef>
          <a:fillRef idx="1">
            <a:schemeClr val="accent1"/>
          </a:fillRef>
          <a:effectRef idx="0">
            <a:schemeClr val="accent1"/>
          </a:effectRef>
          <a:fontRef idx="minor">
            <a:schemeClr val="lt1"/>
          </a:fontRef>
        </p:style>
        <p:txBody>
          <a:bodyPr>
            <a:noAutofit/>
          </a:bodyPr>
          <a:lstStyle/>
          <a:p>
            <a:pPr algn="ctr"/>
            <a:r>
              <a:rPr lang="en-US" b="1" dirty="0"/>
              <a:t>Section 5. Office of the Ombudsman to be known as </a:t>
            </a:r>
            <a:r>
              <a:rPr lang="en-US" b="1" dirty="0" err="1"/>
              <a:t>Tanodbayan</a:t>
            </a:r>
            <a:r>
              <a:rPr lang="en-US" b="1" dirty="0"/>
              <a:t>.</a:t>
            </a:r>
          </a:p>
        </p:txBody>
      </p:sp>
      <p:sp>
        <p:nvSpPr>
          <p:cNvPr id="117763" name="Rectangle 3"/>
          <p:cNvSpPr>
            <a:spLocks noGrp="1" noChangeArrowheads="1"/>
          </p:cNvSpPr>
          <p:nvPr>
            <p:ph idx="1"/>
          </p:nvPr>
        </p:nvSpPr>
        <p:spPr/>
        <p:txBody>
          <a:bodyPr>
            <a:normAutofit fontScale="85000" lnSpcReduction="20000"/>
          </a:bodyPr>
          <a:lstStyle/>
          <a:p>
            <a:pPr>
              <a:buFontTx/>
              <a:buNone/>
            </a:pPr>
            <a:r>
              <a:rPr lang="en-US" sz="4000" dirty="0"/>
              <a:t>	</a:t>
            </a:r>
            <a:r>
              <a:rPr lang="en-US" sz="4000" dirty="0" err="1"/>
              <a:t>Tanod</a:t>
            </a:r>
            <a:r>
              <a:rPr lang="en-US" sz="4000" dirty="0"/>
              <a:t> </a:t>
            </a:r>
            <a:r>
              <a:rPr lang="en-US" sz="4000" dirty="0" err="1"/>
              <a:t>bayan</a:t>
            </a:r>
            <a:r>
              <a:rPr lang="en-US" sz="4000" dirty="0"/>
              <a:t> is a coined term in Filipino which literally means </a:t>
            </a:r>
            <a:r>
              <a:rPr lang="en-US" sz="4000" dirty="0">
                <a:cs typeface="Arial" charset="0"/>
              </a:rPr>
              <a:t>“guardians of the Nation“. It is categorized like the three </a:t>
            </a:r>
            <a:r>
              <a:rPr lang="en-US" sz="4000" dirty="0">
                <a:solidFill>
                  <a:srgbClr val="FFFF00"/>
                </a:solidFill>
                <a:cs typeface="Arial" charset="0"/>
              </a:rPr>
              <a:t>Constitutional Commissions as independent. It is known as the Office of the Special Prosecutor</a:t>
            </a:r>
            <a:r>
              <a:rPr lang="en-US" sz="4000" dirty="0">
                <a:cs typeface="Arial" charset="0"/>
              </a:rPr>
              <a:t>.</a:t>
            </a:r>
          </a:p>
        </p:txBody>
      </p:sp>
    </p:spTree>
  </p:cSld>
  <p:clrMapOvr>
    <a:masterClrMapping/>
  </p:clrMapOvr>
  <p:transition spd="med">
    <p:wedge/>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304800" y="457200"/>
            <a:ext cx="8534400" cy="10668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4000" dirty="0"/>
              <a:t>Section 8. Qualifications of Ombudsman deputies </a:t>
            </a:r>
          </a:p>
        </p:txBody>
      </p:sp>
      <p:sp>
        <p:nvSpPr>
          <p:cNvPr id="118787" name="Rectangle 3"/>
          <p:cNvSpPr>
            <a:spLocks noGrp="1" noChangeArrowheads="1"/>
          </p:cNvSpPr>
          <p:nvPr>
            <p:ph idx="1"/>
          </p:nvPr>
        </p:nvSpPr>
        <p:spPr/>
        <p:txBody>
          <a:bodyPr>
            <a:normAutofit fontScale="85000" lnSpcReduction="20000"/>
          </a:bodyPr>
          <a:lstStyle/>
          <a:p>
            <a:pPr marL="609600" indent="-609600" algn="just">
              <a:buFontTx/>
              <a:buNone/>
            </a:pPr>
            <a:r>
              <a:rPr lang="en-US" dirty="0"/>
              <a:t>They must be:</a:t>
            </a:r>
          </a:p>
          <a:p>
            <a:pPr marL="609600" indent="-609600" algn="just">
              <a:buFontTx/>
              <a:buNone/>
            </a:pPr>
            <a:r>
              <a:rPr lang="en-US" dirty="0"/>
              <a:t>1. The natural born citizens of the Philippines</a:t>
            </a:r>
          </a:p>
          <a:p>
            <a:pPr marL="609600" indent="-609600" algn="just">
              <a:buFontTx/>
              <a:buNone/>
            </a:pPr>
            <a:r>
              <a:rPr lang="en-US" dirty="0"/>
              <a:t>2. At least 40 years old at the time of </a:t>
            </a:r>
            <a:r>
              <a:rPr lang="en-US" dirty="0" smtClean="0"/>
              <a:t>appointment</a:t>
            </a:r>
            <a:endParaRPr lang="en-US" dirty="0"/>
          </a:p>
          <a:p>
            <a:pPr marL="609600" indent="-609600" algn="just">
              <a:buFontTx/>
              <a:buNone/>
            </a:pPr>
            <a:r>
              <a:rPr lang="en-US" dirty="0"/>
              <a:t>3. Persons with recognized probity and independence</a:t>
            </a:r>
          </a:p>
          <a:p>
            <a:pPr marL="609600" indent="-609600" algn="just">
              <a:buFontTx/>
              <a:buNone/>
            </a:pPr>
            <a:r>
              <a:rPr lang="en-US" dirty="0">
                <a:solidFill>
                  <a:srgbClr val="FFFF00"/>
                </a:solidFill>
              </a:rPr>
              <a:t>4. Members of the Philippine Bar</a:t>
            </a:r>
          </a:p>
          <a:p>
            <a:pPr marL="609600" indent="-609600" algn="just">
              <a:buFontTx/>
              <a:buNone/>
            </a:pPr>
            <a:r>
              <a:rPr lang="en-US" dirty="0">
                <a:solidFill>
                  <a:srgbClr val="FFFF00"/>
                </a:solidFill>
              </a:rPr>
              <a:t>5. Not have been a candidate for any elective office in the preceding election</a:t>
            </a:r>
          </a:p>
        </p:txBody>
      </p:sp>
    </p:spTree>
  </p:cSld>
  <p:clrMapOvr>
    <a:masterClrMapping/>
  </p:clrMapOvr>
  <p:transition spd="med">
    <p:wedge/>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fontScale="90000"/>
          </a:bodyPr>
          <a:lstStyle/>
          <a:p>
            <a:r>
              <a:rPr lang="en-US" sz="4000" b="1" dirty="0" smtClean="0"/>
              <a:t>Social Justice and Human Rights</a:t>
            </a:r>
            <a:endParaRPr lang="en-US" sz="4000" dirty="0"/>
          </a:p>
        </p:txBody>
      </p:sp>
      <p:sp>
        <p:nvSpPr>
          <p:cNvPr id="3" name="Content Placeholder 2"/>
          <p:cNvSpPr>
            <a:spLocks noGrp="1"/>
          </p:cNvSpPr>
          <p:nvPr>
            <p:ph idx="1"/>
          </p:nvPr>
        </p:nvSpPr>
        <p:spPr>
          <a:xfrm>
            <a:off x="301752" y="1527048"/>
            <a:ext cx="8503920" cy="5026152"/>
          </a:xfrm>
        </p:spPr>
        <p:txBody>
          <a:bodyPr>
            <a:noAutofit/>
          </a:bodyPr>
          <a:lstStyle/>
          <a:p>
            <a:pPr>
              <a:buNone/>
            </a:pPr>
            <a:r>
              <a:rPr lang="en-US" sz="4000" b="1" dirty="0" smtClean="0"/>
              <a:t>Labor</a:t>
            </a:r>
            <a:endParaRPr lang="en-US" sz="4000" dirty="0" smtClean="0"/>
          </a:p>
          <a:p>
            <a:pPr>
              <a:buNone/>
            </a:pPr>
            <a:r>
              <a:rPr lang="en-US" sz="4000" dirty="0" smtClean="0"/>
              <a:t>Section 3</a:t>
            </a:r>
          </a:p>
          <a:p>
            <a:pPr>
              <a:buNone/>
            </a:pPr>
            <a:r>
              <a:rPr lang="en-US" sz="4000" dirty="0" smtClean="0"/>
              <a:t>	The state shall afford full protection to labor, local and overseas, organized and unorganized and promote full employment and equality of employment opportunity for all.</a:t>
            </a:r>
          </a:p>
          <a:p>
            <a:pPr>
              <a:buNone/>
            </a:pPr>
            <a:r>
              <a:rPr lang="en-US" sz="4000" dirty="0" smtClean="0"/>
              <a:t>	</a:t>
            </a:r>
            <a:endParaRPr lang="en-US" sz="4000" dirty="0"/>
          </a:p>
        </p:txBody>
      </p:sp>
    </p:spTree>
  </p:cSld>
  <p:clrMapOvr>
    <a:masterClrMapping/>
  </p:clrMapOvr>
  <p:transition spd="med">
    <p:wedge/>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It shall guarantee the rights of all workers to self-organization, collective bargaining and negotiations, and peaceful concerted activities, including the right to strike in accordance with law. They shall be entitled to security of tenure, humane conditions of work and a living wage. They shall also participate in policy and decision-making processes affecting their right and benefits as may be provided by law.</a:t>
            </a:r>
          </a:p>
          <a:p>
            <a:endParaRPr lang="en-US" dirty="0"/>
          </a:p>
        </p:txBody>
      </p:sp>
    </p:spTree>
  </p:cSld>
  <p:clrMapOvr>
    <a:masterClrMapping/>
  </p:clrMapOvr>
  <p:transition spd="med">
    <p:wedg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295400"/>
            <a:ext cx="8686800" cy="4784725"/>
          </a:xfrm>
        </p:spPr>
        <p:txBody>
          <a:bodyPr>
            <a:noAutofit/>
          </a:bodyPr>
          <a:lstStyle/>
          <a:p>
            <a:pPr>
              <a:buNone/>
            </a:pPr>
            <a:r>
              <a:rPr lang="en-US" b="1" dirty="0" smtClean="0"/>
              <a:t>Education </a:t>
            </a:r>
            <a:endParaRPr lang="en-US" dirty="0" smtClean="0"/>
          </a:p>
          <a:p>
            <a:pPr>
              <a:buNone/>
            </a:pPr>
            <a:r>
              <a:rPr lang="en-US" b="1" dirty="0" smtClean="0"/>
              <a:t> </a:t>
            </a:r>
            <a:r>
              <a:rPr lang="en-US" dirty="0" smtClean="0"/>
              <a:t>Section 3. (1) All educational institutions shall include the study of the Constitution as part of the curricula.</a:t>
            </a:r>
          </a:p>
          <a:p>
            <a:pPr>
              <a:buNone/>
            </a:pPr>
            <a:r>
              <a:rPr lang="en-US" dirty="0" smtClean="0"/>
              <a:t> 1. inculcate patriotism and nationalism</a:t>
            </a:r>
          </a:p>
          <a:p>
            <a:pPr>
              <a:buNone/>
            </a:pPr>
            <a:r>
              <a:rPr lang="en-US" dirty="0" smtClean="0"/>
              <a:t>2. foster love of humanity</a:t>
            </a:r>
          </a:p>
          <a:p>
            <a:pPr>
              <a:buNone/>
            </a:pPr>
            <a:r>
              <a:rPr lang="en-US" dirty="0" smtClean="0"/>
              <a:t>3. respect for human rights</a:t>
            </a:r>
          </a:p>
          <a:p>
            <a:pPr>
              <a:buNone/>
            </a:pPr>
            <a:r>
              <a:rPr lang="en-US" dirty="0" smtClean="0"/>
              <a:t>4. appreciation of the role of national heroes in the historical development of the country</a:t>
            </a:r>
          </a:p>
        </p:txBody>
      </p:sp>
    </p:spTree>
  </p:cSld>
  <p:clrMapOvr>
    <a:masterClrMapping/>
  </p:clrMapOvr>
  <p:transition spd="med">
    <p:wedge/>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None/>
            </a:pPr>
            <a:r>
              <a:rPr lang="en-US" dirty="0" smtClean="0"/>
              <a:t>5. teach the rights and duties of citizenship</a:t>
            </a:r>
          </a:p>
          <a:p>
            <a:pPr>
              <a:buNone/>
            </a:pPr>
            <a:r>
              <a:rPr lang="en-US" dirty="0" smtClean="0"/>
              <a:t>6. strengthen ethical and spiritual values</a:t>
            </a:r>
          </a:p>
          <a:p>
            <a:pPr>
              <a:buNone/>
            </a:pPr>
            <a:r>
              <a:rPr lang="en-US" dirty="0" smtClean="0"/>
              <a:t>7. develop moral character and personal discipline </a:t>
            </a:r>
          </a:p>
          <a:p>
            <a:pPr>
              <a:buNone/>
            </a:pPr>
            <a:r>
              <a:rPr lang="en-US" dirty="0" smtClean="0"/>
              <a:t>8. encourage critical and creative thinking </a:t>
            </a:r>
          </a:p>
          <a:p>
            <a:pPr>
              <a:buNone/>
            </a:pPr>
            <a:r>
              <a:rPr lang="en-US" dirty="0" smtClean="0">
                <a:solidFill>
                  <a:srgbClr val="FFFF00"/>
                </a:solidFill>
              </a:rPr>
              <a:t>9. broaden scientific and technological knowledge </a:t>
            </a:r>
          </a:p>
          <a:p>
            <a:pPr>
              <a:buNone/>
            </a:pPr>
            <a:r>
              <a:rPr lang="en-US" dirty="0" smtClean="0">
                <a:solidFill>
                  <a:srgbClr val="FFFF00"/>
                </a:solidFill>
              </a:rPr>
              <a:t>10. promote vocational efficiency </a:t>
            </a:r>
          </a:p>
          <a:p>
            <a:pPr>
              <a:buNone/>
            </a:pPr>
            <a:endParaRPr lang="en-US" dirty="0" smtClean="0">
              <a:solidFill>
                <a:srgbClr val="FFFF00"/>
              </a:solidFill>
            </a:endParaRPr>
          </a:p>
          <a:p>
            <a:endParaRPr lang="en-US" dirty="0"/>
          </a:p>
        </p:txBody>
      </p:sp>
    </p:spTree>
  </p:cSld>
  <p:clrMapOvr>
    <a:masterClrMapping/>
  </p:clrMapOvr>
  <p:transition spd="med">
    <p:wedge/>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pPr algn="ctr"/>
            <a:r>
              <a:rPr lang="en-US" dirty="0" smtClean="0"/>
              <a:t>Article XV-THE FAMILY</a:t>
            </a:r>
            <a:endParaRPr lang="en-US" dirty="0"/>
          </a:p>
        </p:txBody>
      </p:sp>
      <p:sp>
        <p:nvSpPr>
          <p:cNvPr id="3" name="Content Placeholder 2"/>
          <p:cNvSpPr>
            <a:spLocks noGrp="1"/>
          </p:cNvSpPr>
          <p:nvPr>
            <p:ph idx="1"/>
          </p:nvPr>
        </p:nvSpPr>
        <p:spPr>
          <a:xfrm>
            <a:off x="304800" y="1371600"/>
            <a:ext cx="8686800" cy="4708525"/>
          </a:xfrm>
        </p:spPr>
        <p:txBody>
          <a:bodyPr>
            <a:noAutofit/>
          </a:bodyPr>
          <a:lstStyle/>
          <a:p>
            <a:pPr>
              <a:buNone/>
            </a:pPr>
            <a:r>
              <a:rPr lang="en-US" dirty="0" smtClean="0"/>
              <a:t>In article 52 of the Civil Code, “Marriage is not a mere contract but an inviolable social institution </a:t>
            </a:r>
            <a:endParaRPr lang="en-US" sz="3600" dirty="0" smtClean="0"/>
          </a:p>
          <a:p>
            <a:pPr>
              <a:buNone/>
            </a:pPr>
            <a:r>
              <a:rPr lang="en-US" dirty="0" smtClean="0"/>
              <a:t> </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Requisites of a Valid Marriage</a:t>
            </a:r>
            <a:endParaRPr lang="en-US" sz="3600" dirty="0" smtClean="0"/>
          </a:p>
          <a:p>
            <a:pPr marL="731520" lvl="1" indent="-457200">
              <a:buFont typeface="+mj-lt"/>
              <a:buAutoNum type="arabicPeriod"/>
            </a:pPr>
            <a:r>
              <a:rPr lang="en-US" b="1" dirty="0" smtClean="0"/>
              <a:t>Legal capacity of the contracting parties </a:t>
            </a:r>
            <a:endParaRPr lang="en-US" sz="3200" b="1" dirty="0" smtClean="0"/>
          </a:p>
          <a:p>
            <a:pPr marL="731520" lvl="1" indent="-457200">
              <a:buFont typeface="+mj-lt"/>
              <a:buAutoNum type="arabicPeriod"/>
            </a:pPr>
            <a:r>
              <a:rPr lang="en-US" b="1" dirty="0" smtClean="0"/>
              <a:t>Consent Freely Given</a:t>
            </a:r>
            <a:endParaRPr lang="en-US" sz="3200" b="1" dirty="0" smtClean="0"/>
          </a:p>
          <a:p>
            <a:pPr marL="731520" lvl="1" indent="-457200">
              <a:buFont typeface="+mj-lt"/>
              <a:buAutoNum type="arabicPeriod"/>
            </a:pPr>
            <a:r>
              <a:rPr lang="en-US" b="1" dirty="0" smtClean="0"/>
              <a:t>Authority of the solemnizing officer</a:t>
            </a:r>
            <a:endParaRPr lang="en-US" sz="3200" b="1" dirty="0" smtClean="0"/>
          </a:p>
          <a:p>
            <a:pPr marL="731520" lvl="1" indent="-457200">
              <a:buFont typeface="+mj-lt"/>
              <a:buAutoNum type="arabicPeriod"/>
            </a:pPr>
            <a:r>
              <a:rPr lang="en-US" b="1" dirty="0" smtClean="0"/>
              <a:t>Marriage License </a:t>
            </a:r>
            <a:endParaRPr lang="en-US" sz="3200" b="1" dirty="0" smtClean="0"/>
          </a:p>
          <a:p>
            <a:pPr marL="731520" lvl="1" indent="-457200">
              <a:buFont typeface="+mj-lt"/>
              <a:buAutoNum type="arabicPeriod"/>
            </a:pPr>
            <a:r>
              <a:rPr lang="en-US" b="1" dirty="0" smtClean="0"/>
              <a:t>Public Ceremony   </a:t>
            </a:r>
            <a:endParaRPr lang="en-US" sz="3200" b="1" dirty="0" smtClean="0"/>
          </a:p>
          <a:p>
            <a:pPr>
              <a:buNone/>
            </a:pPr>
            <a:r>
              <a:rPr lang="en-US" b="1" dirty="0" smtClean="0"/>
              <a:t> </a:t>
            </a:r>
            <a:endParaRPr lang="en-US" sz="3600" b="1" dirty="0" smtClean="0"/>
          </a:p>
          <a:p>
            <a:pPr>
              <a:buNone/>
            </a:pPr>
            <a:endParaRPr lang="en-US" sz="3600" dirty="0"/>
          </a:p>
        </p:txBody>
      </p:sp>
    </p:spTree>
  </p:cSld>
  <p:clrMapOvr>
    <a:masterClrMapping/>
  </p:clrMapOvr>
  <p:transition spd="med">
    <p:wedge/>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WordArt 4"/>
          <p:cNvSpPr>
            <a:spLocks noGrp="1" noChangeArrowheads="1" noChangeShapeType="1" noTextEdit="1"/>
          </p:cNvSpPr>
          <p:nvPr>
            <p:ph idx="1"/>
          </p:nvPr>
        </p:nvSpPr>
        <p:spPr bwMode="auto">
          <a:xfrm>
            <a:off x="1447800" y="1981200"/>
            <a:ext cx="5946648" cy="3425952"/>
          </a:xfrm>
          <a:prstGeom prst="rect">
            <a:avLst/>
          </a:prstGeom>
        </p:spPr>
        <p:txBody>
          <a:bodyPr wrap="none" fromWordArt="1">
            <a:prstTxWarp prst="textPlain">
              <a:avLst>
                <a:gd name="adj" fmla="val 50000"/>
              </a:avLst>
            </a:prstTxWarp>
          </a:bodyPr>
          <a:lstStyle/>
          <a:p>
            <a:pPr algn="ctr">
              <a:buNone/>
            </a:pPr>
            <a:r>
              <a:rPr lang="en-US" sz="3600" b="1" kern="10" dirty="0">
                <a:ln w="9525">
                  <a:solidFill>
                    <a:srgbClr val="000000"/>
                  </a:solidFill>
                  <a:round/>
                  <a:headEnd/>
                  <a:tailEnd/>
                </a:ln>
                <a:gradFill rotWithShape="1">
                  <a:gsLst>
                    <a:gs pos="0">
                      <a:schemeClr val="hlink"/>
                    </a:gs>
                    <a:gs pos="100000">
                      <a:schemeClr val="accent1"/>
                    </a:gs>
                  </a:gsLst>
                  <a:path path="rect">
                    <a:fillToRect l="100000" b="100000"/>
                  </a:path>
                </a:gradFill>
                <a:latin typeface="Bookman Old Style"/>
              </a:rPr>
              <a:t>Thank you!!!</a:t>
            </a:r>
          </a:p>
        </p:txBody>
      </p:sp>
    </p:spTree>
  </p:cSld>
  <p:clrMapOvr>
    <a:masterClrMapping/>
  </p:clrMapOvr>
  <p:transition spd="med">
    <p:dissolve/>
    <p:sndAc>
      <p:stSnd>
        <p:snd r:embed="rId2" name="explode.wav" builtIn="1"/>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522</TotalTime>
  <Words>5260</Words>
  <Application>Microsoft Office PowerPoint</Application>
  <PresentationFormat>On-screen Show (4:3)</PresentationFormat>
  <Paragraphs>480</Paragraphs>
  <Slides>150</Slides>
  <Notes>2</Notes>
  <HiddenSlides>0</HiddenSlides>
  <MMClips>0</MMClips>
  <ScaleCrop>false</ScaleCrop>
  <HeadingPairs>
    <vt:vector size="4" baseType="variant">
      <vt:variant>
        <vt:lpstr>Theme</vt:lpstr>
      </vt:variant>
      <vt:variant>
        <vt:i4>1</vt:i4>
      </vt:variant>
      <vt:variant>
        <vt:lpstr>Slide Titles</vt:lpstr>
      </vt:variant>
      <vt:variant>
        <vt:i4>150</vt:i4>
      </vt:variant>
    </vt:vector>
  </HeadingPairs>
  <TitlesOfParts>
    <vt:vector size="151" baseType="lpstr">
      <vt:lpstr>Trek</vt:lpstr>
      <vt:lpstr>POLITICAL SCIENCE</vt:lpstr>
      <vt:lpstr>POLITICAL SCIENCE DEFINED</vt:lpstr>
      <vt:lpstr>CORRELATES OF POLITICAL SCIENCE</vt:lpstr>
      <vt:lpstr>Slide 4</vt:lpstr>
      <vt:lpstr>Slide 5</vt:lpstr>
      <vt:lpstr>Slide 6</vt:lpstr>
      <vt:lpstr>Slide 7</vt:lpstr>
      <vt:lpstr>Slide 8</vt:lpstr>
      <vt:lpstr>Slide 9</vt:lpstr>
      <vt:lpstr>CONCEPT OF A STATE</vt:lpstr>
      <vt:lpstr>ORIGIN OF THE STATE</vt:lpstr>
      <vt:lpstr>Slide 12</vt:lpstr>
      <vt:lpstr>Slide 13</vt:lpstr>
      <vt:lpstr>FUNCTIONS OF THE STATE</vt:lpstr>
      <vt:lpstr>STATE DISTINGUISHED FROM NATION</vt:lpstr>
      <vt:lpstr>CONCEPT OF NATION</vt:lpstr>
      <vt:lpstr>INHERENT POWERS OF THE STATE</vt:lpstr>
      <vt:lpstr>MODES OF ACQUIRING TERRITORY</vt:lpstr>
      <vt:lpstr>Slide 19</vt:lpstr>
      <vt:lpstr>FORMS OF GOVERNMENT</vt:lpstr>
      <vt:lpstr>Slide 21</vt:lpstr>
      <vt:lpstr>Slide 22</vt:lpstr>
      <vt:lpstr>Slide 23</vt:lpstr>
      <vt:lpstr>Slide 24</vt:lpstr>
      <vt:lpstr>Slide 25</vt:lpstr>
      <vt:lpstr>Slide 26</vt:lpstr>
      <vt:lpstr>Slide 27</vt:lpstr>
      <vt:lpstr>STATE DISTINGUISHED FROM GOVERNMENT</vt:lpstr>
      <vt:lpstr>CONCEPT OF CONSTITUTION</vt:lpstr>
      <vt:lpstr>PURPOSE OR FUNCTION OF CONSTITUTION </vt:lpstr>
      <vt:lpstr>KINDS OF CONSTITUTION</vt:lpstr>
      <vt:lpstr>REQUISITES OF A GOOD WRITTEN CONSTITUTION</vt:lpstr>
      <vt:lpstr>TWO STEPS AMENDING OR REVISING A CONSTITUTION</vt:lpstr>
      <vt:lpstr>PREAMBLE</vt:lpstr>
      <vt:lpstr>Article 1: National Territory</vt:lpstr>
      <vt:lpstr>Slide 36</vt:lpstr>
      <vt:lpstr>Slide 37</vt:lpstr>
      <vt:lpstr>Slide 38</vt:lpstr>
      <vt:lpstr>Slide 39</vt:lpstr>
      <vt:lpstr>Slide 40</vt:lpstr>
      <vt:lpstr>Slide 41</vt:lpstr>
      <vt:lpstr>Slide 42</vt:lpstr>
      <vt:lpstr>THE NEW LAW ON THE SEA</vt:lpstr>
      <vt:lpstr>Slide 44</vt:lpstr>
      <vt:lpstr>ARTICLE II Declaration of Principles and Policies</vt:lpstr>
      <vt:lpstr>Slide 46</vt:lpstr>
      <vt:lpstr>Slide 47</vt:lpstr>
      <vt:lpstr>Slide 48</vt:lpstr>
      <vt:lpstr>Slide 49</vt:lpstr>
      <vt:lpstr>Slide 50</vt:lpstr>
      <vt:lpstr>Slide 51</vt:lpstr>
      <vt:lpstr>Article III Bill of Rights</vt:lpstr>
      <vt:lpstr>Classes of Rights</vt:lpstr>
      <vt:lpstr>Classes of Constitutional rights</vt:lpstr>
      <vt:lpstr>Slide 55</vt:lpstr>
      <vt:lpstr>Slide 56</vt:lpstr>
      <vt:lpstr>Slide 57</vt:lpstr>
      <vt:lpstr>Slide 58</vt:lpstr>
      <vt:lpstr>Requisites for valid search warrant of arrest</vt:lpstr>
      <vt:lpstr>Rules in the Conduct of Arrest</vt:lpstr>
      <vt:lpstr>Slide 61</vt:lpstr>
      <vt:lpstr>Section 3:</vt:lpstr>
      <vt:lpstr>Slide 63</vt:lpstr>
      <vt:lpstr>Slide 64</vt:lpstr>
      <vt:lpstr>Slide 65</vt:lpstr>
      <vt:lpstr>Slide 66</vt:lpstr>
      <vt:lpstr>Slide 67</vt:lpstr>
      <vt:lpstr>Slide 68</vt:lpstr>
      <vt:lpstr>Slide 69</vt:lpstr>
      <vt:lpstr>Article IV Citizenship</vt:lpstr>
      <vt:lpstr>Slide 71</vt:lpstr>
      <vt:lpstr>Meaning of Citizenship</vt:lpstr>
      <vt:lpstr>General ways of acquiring citizenship</vt:lpstr>
      <vt:lpstr>Citizens by Birth</vt:lpstr>
      <vt:lpstr>Slide 75</vt:lpstr>
      <vt:lpstr>Ways of acquiring Citizenship through Naturalization</vt:lpstr>
      <vt:lpstr>Slide 77</vt:lpstr>
      <vt:lpstr>Article V Suffrage</vt:lpstr>
      <vt:lpstr>Meaning of Suffrage </vt:lpstr>
      <vt:lpstr>Nature of Suffrage</vt:lpstr>
      <vt:lpstr>Scope of Suffrage</vt:lpstr>
      <vt:lpstr>Slide 82</vt:lpstr>
      <vt:lpstr>Qualification of Voters</vt:lpstr>
      <vt:lpstr>Slide 84</vt:lpstr>
      <vt:lpstr>Article VI Legislative Department</vt:lpstr>
      <vt:lpstr>Classification of Powers of Congress</vt:lpstr>
      <vt:lpstr>Slide 87</vt:lpstr>
      <vt:lpstr>Slide 88</vt:lpstr>
      <vt:lpstr>The Senate</vt:lpstr>
      <vt:lpstr>Qualification of a Senator</vt:lpstr>
      <vt:lpstr>Slide 91</vt:lpstr>
      <vt:lpstr>Slide 92</vt:lpstr>
      <vt:lpstr>Slide 93</vt:lpstr>
      <vt:lpstr>The House of Representatives </vt:lpstr>
      <vt:lpstr>Slide 95</vt:lpstr>
      <vt:lpstr>Compositions, Election/Selection and Classification of Members</vt:lpstr>
      <vt:lpstr>Slide 97</vt:lpstr>
      <vt:lpstr>Slide 98</vt:lpstr>
      <vt:lpstr>Slide 99</vt:lpstr>
      <vt:lpstr>Steps in Passage of the Bill</vt:lpstr>
      <vt:lpstr>Slide 101</vt:lpstr>
      <vt:lpstr>Article VII Executive Department</vt:lpstr>
      <vt:lpstr>Slide 103</vt:lpstr>
      <vt:lpstr>Qualifications of the President and Vice-President:</vt:lpstr>
      <vt:lpstr>Slide 105</vt:lpstr>
      <vt:lpstr>Slide 106</vt:lpstr>
      <vt:lpstr>Powers of the President</vt:lpstr>
      <vt:lpstr>Slide 108</vt:lpstr>
      <vt:lpstr>Slide 109</vt:lpstr>
      <vt:lpstr>Article VIII Judicial Department </vt:lpstr>
      <vt:lpstr>Slide 111</vt:lpstr>
      <vt:lpstr>Scope of Judicial Power</vt:lpstr>
      <vt:lpstr>Slide 113</vt:lpstr>
      <vt:lpstr>Slide 114</vt:lpstr>
      <vt:lpstr>Qualifications for members of the Supreme Court and any lower collegiate court</vt:lpstr>
      <vt:lpstr>Slide 116</vt:lpstr>
      <vt:lpstr>Article IX Constitutional Commission</vt:lpstr>
      <vt:lpstr>Common Features</vt:lpstr>
      <vt:lpstr>Slide 119</vt:lpstr>
      <vt:lpstr>Slide 120</vt:lpstr>
      <vt:lpstr>The Civil Service Commission</vt:lpstr>
      <vt:lpstr>Qualifications of Members </vt:lpstr>
      <vt:lpstr>Slide 123</vt:lpstr>
      <vt:lpstr>Composition of Commission on Elections</vt:lpstr>
      <vt:lpstr>Qualification of the Members</vt:lpstr>
      <vt:lpstr>The Commission on Audit</vt:lpstr>
      <vt:lpstr>Qualifications of Members</vt:lpstr>
      <vt:lpstr>Article X Local Government</vt:lpstr>
      <vt:lpstr>Local Government</vt:lpstr>
      <vt:lpstr>Local Government Units</vt:lpstr>
      <vt:lpstr>Powers of Local governments</vt:lpstr>
      <vt:lpstr>Article XI Accountability of Public Officers</vt:lpstr>
      <vt:lpstr>Nature of the Public Office</vt:lpstr>
      <vt:lpstr>Slide 134</vt:lpstr>
      <vt:lpstr>Section 2. Nature of Impeachment</vt:lpstr>
      <vt:lpstr>Officials Removable by Impeachment</vt:lpstr>
      <vt:lpstr>Grounds of Impeachment</vt:lpstr>
      <vt:lpstr>Slide 138</vt:lpstr>
      <vt:lpstr>Section 3. Initiating and Trial for Impeachment </vt:lpstr>
      <vt:lpstr>Procedure in Impeachment Cases</vt:lpstr>
      <vt:lpstr>Slide 141</vt:lpstr>
      <vt:lpstr>Slide 142</vt:lpstr>
      <vt:lpstr>Section 5. Office of the Ombudsman to be known as Tanodbayan.</vt:lpstr>
      <vt:lpstr>Section 8. Qualifications of Ombudsman deputies </vt:lpstr>
      <vt:lpstr>Social Justice and Human Rights</vt:lpstr>
      <vt:lpstr>Slide 146</vt:lpstr>
      <vt:lpstr>Slide 147</vt:lpstr>
      <vt:lpstr>Slide 148</vt:lpstr>
      <vt:lpstr>Article XV-THE FAMILY</vt:lpstr>
      <vt:lpstr>Slide 150</vt:lpstr>
    </vt:vector>
  </TitlesOfParts>
  <Company>PNU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POLITICAL SCIENCE</dc:title>
  <dc:creator>Benjamin Domingcil</dc:creator>
  <cp:lastModifiedBy>Windows 7</cp:lastModifiedBy>
  <cp:revision>56</cp:revision>
  <dcterms:created xsi:type="dcterms:W3CDTF">2009-07-04T15:51:08Z</dcterms:created>
  <dcterms:modified xsi:type="dcterms:W3CDTF">2013-09-11T07:24:27Z</dcterms:modified>
</cp:coreProperties>
</file>