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3" r:id="rId8"/>
    <p:sldId id="264" r:id="rId9"/>
    <p:sldId id="262" r:id="rId10"/>
    <p:sldId id="265" r:id="rId11"/>
    <p:sldId id="266" r:id="rId12"/>
    <p:sldId id="267" r:id="rId13"/>
    <p:sldId id="270" r:id="rId14"/>
    <p:sldId id="271" r:id="rId15"/>
    <p:sldId id="272" r:id="rId16"/>
    <p:sldId id="268" r:id="rId17"/>
    <p:sldId id="274" r:id="rId18"/>
    <p:sldId id="275" r:id="rId19"/>
    <p:sldId id="273"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3" r:id="rId36"/>
    <p:sldId id="294" r:id="rId37"/>
    <p:sldId id="291" r:id="rId38"/>
    <p:sldId id="292" r:id="rId39"/>
    <p:sldId id="295" r:id="rId40"/>
    <p:sldId id="296" r:id="rId41"/>
    <p:sldId id="297" r:id="rId42"/>
    <p:sldId id="298" r:id="rId43"/>
    <p:sldId id="299" r:id="rId44"/>
    <p:sldId id="300" r:id="rId45"/>
    <p:sldId id="301" r:id="rId46"/>
    <p:sldId id="302" r:id="rId47"/>
    <p:sldId id="305" r:id="rId48"/>
    <p:sldId id="303" r:id="rId49"/>
    <p:sldId id="304" r:id="rId50"/>
    <p:sldId id="306" r:id="rId51"/>
    <p:sldId id="307" r:id="rId52"/>
    <p:sldId id="308" r:id="rId53"/>
    <p:sldId id="309" r:id="rId54"/>
    <p:sldId id="310" r:id="rId55"/>
    <p:sldId id="312" r:id="rId56"/>
    <p:sldId id="313" r:id="rId57"/>
    <p:sldId id="311" r:id="rId58"/>
    <p:sldId id="315" r:id="rId59"/>
    <p:sldId id="316" r:id="rId60"/>
    <p:sldId id="314"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19" autoAdjust="0"/>
    <p:restoredTop sz="94660"/>
  </p:normalViewPr>
  <p:slideViewPr>
    <p:cSldViewPr snapToGrid="0">
      <p:cViewPr varScale="1">
        <p:scale>
          <a:sx n="74" d="100"/>
          <a:sy n="74" d="100"/>
        </p:scale>
        <p:origin x="45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PH"/>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PH"/>
          </a:p>
        </p:txBody>
      </p:sp>
      <p:sp>
        <p:nvSpPr>
          <p:cNvPr id="4" name="Date Placeholder 3"/>
          <p:cNvSpPr>
            <a:spLocks noGrp="1"/>
          </p:cNvSpPr>
          <p:nvPr>
            <p:ph type="dt" sz="half" idx="10"/>
          </p:nvPr>
        </p:nvSpPr>
        <p:spPr/>
        <p:txBody>
          <a:bodyPr/>
          <a:lstStyle/>
          <a:p>
            <a:fld id="{687D77FB-5C05-47AF-9DDC-B773ED6DF965}" type="datetimeFigureOut">
              <a:rPr lang="en-PH" smtClean="0"/>
              <a:t>5/26/2017</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51E85771-B7C7-4495-8C8E-DC9E6C377928}" type="slidenum">
              <a:rPr lang="en-PH" smtClean="0"/>
              <a:t>‹#›</a:t>
            </a:fld>
            <a:endParaRPr lang="en-PH"/>
          </a:p>
        </p:txBody>
      </p:sp>
    </p:spTree>
    <p:extLst>
      <p:ext uri="{BB962C8B-B14F-4D97-AF65-F5344CB8AC3E}">
        <p14:creationId xmlns:p14="http://schemas.microsoft.com/office/powerpoint/2010/main" val="29832372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PH"/>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Date Placeholder 3"/>
          <p:cNvSpPr>
            <a:spLocks noGrp="1"/>
          </p:cNvSpPr>
          <p:nvPr>
            <p:ph type="dt" sz="half" idx="10"/>
          </p:nvPr>
        </p:nvSpPr>
        <p:spPr/>
        <p:txBody>
          <a:bodyPr/>
          <a:lstStyle/>
          <a:p>
            <a:fld id="{687D77FB-5C05-47AF-9DDC-B773ED6DF965}" type="datetimeFigureOut">
              <a:rPr lang="en-PH" smtClean="0"/>
              <a:t>5/26/2017</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51E85771-B7C7-4495-8C8E-DC9E6C377928}" type="slidenum">
              <a:rPr lang="en-PH" smtClean="0"/>
              <a:t>‹#›</a:t>
            </a:fld>
            <a:endParaRPr lang="en-PH"/>
          </a:p>
        </p:txBody>
      </p:sp>
    </p:spTree>
    <p:extLst>
      <p:ext uri="{BB962C8B-B14F-4D97-AF65-F5344CB8AC3E}">
        <p14:creationId xmlns:p14="http://schemas.microsoft.com/office/powerpoint/2010/main" val="18700958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PH"/>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87D77FB-5C05-47AF-9DDC-B773ED6DF965}" type="datetimeFigureOut">
              <a:rPr lang="en-PH" smtClean="0"/>
              <a:t>5/26/2017</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51E85771-B7C7-4495-8C8E-DC9E6C377928}" type="slidenum">
              <a:rPr lang="en-PH" smtClean="0"/>
              <a:t>‹#›</a:t>
            </a:fld>
            <a:endParaRPr lang="en-PH"/>
          </a:p>
        </p:txBody>
      </p:sp>
    </p:spTree>
    <p:extLst>
      <p:ext uri="{BB962C8B-B14F-4D97-AF65-F5344CB8AC3E}">
        <p14:creationId xmlns:p14="http://schemas.microsoft.com/office/powerpoint/2010/main" val="13827148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PH"/>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5" name="Date Placeholder 4"/>
          <p:cNvSpPr>
            <a:spLocks noGrp="1"/>
          </p:cNvSpPr>
          <p:nvPr>
            <p:ph type="dt" sz="half" idx="10"/>
          </p:nvPr>
        </p:nvSpPr>
        <p:spPr/>
        <p:txBody>
          <a:bodyPr/>
          <a:lstStyle/>
          <a:p>
            <a:fld id="{687D77FB-5C05-47AF-9DDC-B773ED6DF965}" type="datetimeFigureOut">
              <a:rPr lang="en-PH" smtClean="0"/>
              <a:t>5/26/2017</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51E85771-B7C7-4495-8C8E-DC9E6C377928}" type="slidenum">
              <a:rPr lang="en-PH" smtClean="0"/>
              <a:t>‹#›</a:t>
            </a:fld>
            <a:endParaRPr lang="en-PH"/>
          </a:p>
        </p:txBody>
      </p:sp>
    </p:spTree>
    <p:extLst>
      <p:ext uri="{BB962C8B-B14F-4D97-AF65-F5344CB8AC3E}">
        <p14:creationId xmlns:p14="http://schemas.microsoft.com/office/powerpoint/2010/main" val="41119385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PH"/>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7" name="Date Placeholder 6"/>
          <p:cNvSpPr>
            <a:spLocks noGrp="1"/>
          </p:cNvSpPr>
          <p:nvPr>
            <p:ph type="dt" sz="half" idx="10"/>
          </p:nvPr>
        </p:nvSpPr>
        <p:spPr/>
        <p:txBody>
          <a:bodyPr/>
          <a:lstStyle/>
          <a:p>
            <a:fld id="{687D77FB-5C05-47AF-9DDC-B773ED6DF965}" type="datetimeFigureOut">
              <a:rPr lang="en-PH" smtClean="0"/>
              <a:t>5/26/2017</a:t>
            </a:fld>
            <a:endParaRPr lang="en-PH"/>
          </a:p>
        </p:txBody>
      </p:sp>
      <p:sp>
        <p:nvSpPr>
          <p:cNvPr id="8" name="Footer Placeholder 7"/>
          <p:cNvSpPr>
            <a:spLocks noGrp="1"/>
          </p:cNvSpPr>
          <p:nvPr>
            <p:ph type="ftr" sz="quarter" idx="11"/>
          </p:nvPr>
        </p:nvSpPr>
        <p:spPr/>
        <p:txBody>
          <a:bodyPr/>
          <a:lstStyle/>
          <a:p>
            <a:endParaRPr lang="en-PH"/>
          </a:p>
        </p:txBody>
      </p:sp>
      <p:sp>
        <p:nvSpPr>
          <p:cNvPr id="9" name="Slide Number Placeholder 8"/>
          <p:cNvSpPr>
            <a:spLocks noGrp="1"/>
          </p:cNvSpPr>
          <p:nvPr>
            <p:ph type="sldNum" sz="quarter" idx="12"/>
          </p:nvPr>
        </p:nvSpPr>
        <p:spPr/>
        <p:txBody>
          <a:bodyPr/>
          <a:lstStyle/>
          <a:p>
            <a:fld id="{51E85771-B7C7-4495-8C8E-DC9E6C377928}" type="slidenum">
              <a:rPr lang="en-PH" smtClean="0"/>
              <a:t>‹#›</a:t>
            </a:fld>
            <a:endParaRPr lang="en-PH"/>
          </a:p>
        </p:txBody>
      </p:sp>
    </p:spTree>
    <p:extLst>
      <p:ext uri="{BB962C8B-B14F-4D97-AF65-F5344CB8AC3E}">
        <p14:creationId xmlns:p14="http://schemas.microsoft.com/office/powerpoint/2010/main" val="30142929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PH"/>
          </a:p>
        </p:txBody>
      </p:sp>
      <p:sp>
        <p:nvSpPr>
          <p:cNvPr id="3" name="Date Placeholder 2"/>
          <p:cNvSpPr>
            <a:spLocks noGrp="1"/>
          </p:cNvSpPr>
          <p:nvPr>
            <p:ph type="dt" sz="half" idx="10"/>
          </p:nvPr>
        </p:nvSpPr>
        <p:spPr/>
        <p:txBody>
          <a:bodyPr/>
          <a:lstStyle/>
          <a:p>
            <a:fld id="{687D77FB-5C05-47AF-9DDC-B773ED6DF965}" type="datetimeFigureOut">
              <a:rPr lang="en-PH" smtClean="0"/>
              <a:t>5/26/2017</a:t>
            </a:fld>
            <a:endParaRPr lang="en-PH"/>
          </a:p>
        </p:txBody>
      </p:sp>
      <p:sp>
        <p:nvSpPr>
          <p:cNvPr id="4" name="Footer Placeholder 3"/>
          <p:cNvSpPr>
            <a:spLocks noGrp="1"/>
          </p:cNvSpPr>
          <p:nvPr>
            <p:ph type="ftr" sz="quarter" idx="11"/>
          </p:nvPr>
        </p:nvSpPr>
        <p:spPr/>
        <p:txBody>
          <a:bodyPr/>
          <a:lstStyle/>
          <a:p>
            <a:endParaRPr lang="en-PH"/>
          </a:p>
        </p:txBody>
      </p:sp>
      <p:sp>
        <p:nvSpPr>
          <p:cNvPr id="5" name="Slide Number Placeholder 4"/>
          <p:cNvSpPr>
            <a:spLocks noGrp="1"/>
          </p:cNvSpPr>
          <p:nvPr>
            <p:ph type="sldNum" sz="quarter" idx="12"/>
          </p:nvPr>
        </p:nvSpPr>
        <p:spPr/>
        <p:txBody>
          <a:bodyPr/>
          <a:lstStyle/>
          <a:p>
            <a:fld id="{51E85771-B7C7-4495-8C8E-DC9E6C377928}" type="slidenum">
              <a:rPr lang="en-PH" smtClean="0"/>
              <a:t>‹#›</a:t>
            </a:fld>
            <a:endParaRPr lang="en-PH"/>
          </a:p>
        </p:txBody>
      </p:sp>
    </p:spTree>
    <p:extLst>
      <p:ext uri="{BB962C8B-B14F-4D97-AF65-F5344CB8AC3E}">
        <p14:creationId xmlns:p14="http://schemas.microsoft.com/office/powerpoint/2010/main" val="19368243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87D77FB-5C05-47AF-9DDC-B773ED6DF965}" type="datetimeFigureOut">
              <a:rPr lang="en-PH" smtClean="0"/>
              <a:t>5/26/2017</a:t>
            </a:fld>
            <a:endParaRPr lang="en-PH"/>
          </a:p>
        </p:txBody>
      </p:sp>
      <p:sp>
        <p:nvSpPr>
          <p:cNvPr id="3" name="Footer Placeholder 2"/>
          <p:cNvSpPr>
            <a:spLocks noGrp="1"/>
          </p:cNvSpPr>
          <p:nvPr>
            <p:ph type="ftr" sz="quarter" idx="11"/>
          </p:nvPr>
        </p:nvSpPr>
        <p:spPr/>
        <p:txBody>
          <a:bodyPr/>
          <a:lstStyle/>
          <a:p>
            <a:endParaRPr lang="en-PH"/>
          </a:p>
        </p:txBody>
      </p:sp>
      <p:sp>
        <p:nvSpPr>
          <p:cNvPr id="4" name="Slide Number Placeholder 3"/>
          <p:cNvSpPr>
            <a:spLocks noGrp="1"/>
          </p:cNvSpPr>
          <p:nvPr>
            <p:ph type="sldNum" sz="quarter" idx="12"/>
          </p:nvPr>
        </p:nvSpPr>
        <p:spPr/>
        <p:txBody>
          <a:bodyPr/>
          <a:lstStyle/>
          <a:p>
            <a:fld id="{51E85771-B7C7-4495-8C8E-DC9E6C377928}" type="slidenum">
              <a:rPr lang="en-PH" smtClean="0"/>
              <a:t>‹#›</a:t>
            </a:fld>
            <a:endParaRPr lang="en-PH"/>
          </a:p>
        </p:txBody>
      </p:sp>
    </p:spTree>
    <p:extLst>
      <p:ext uri="{BB962C8B-B14F-4D97-AF65-F5344CB8AC3E}">
        <p14:creationId xmlns:p14="http://schemas.microsoft.com/office/powerpoint/2010/main" val="11272559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PH"/>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87D77FB-5C05-47AF-9DDC-B773ED6DF965}" type="datetimeFigureOut">
              <a:rPr lang="en-PH" smtClean="0"/>
              <a:t>5/26/2017</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51E85771-B7C7-4495-8C8E-DC9E6C377928}" type="slidenum">
              <a:rPr lang="en-PH" smtClean="0"/>
              <a:t>‹#›</a:t>
            </a:fld>
            <a:endParaRPr lang="en-PH"/>
          </a:p>
        </p:txBody>
      </p:sp>
    </p:spTree>
    <p:extLst>
      <p:ext uri="{BB962C8B-B14F-4D97-AF65-F5344CB8AC3E}">
        <p14:creationId xmlns:p14="http://schemas.microsoft.com/office/powerpoint/2010/main" val="9372242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PH"/>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87D77FB-5C05-47AF-9DDC-B773ED6DF965}" type="datetimeFigureOut">
              <a:rPr lang="en-PH" smtClean="0"/>
              <a:t>5/26/2017</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51E85771-B7C7-4495-8C8E-DC9E6C377928}" type="slidenum">
              <a:rPr lang="en-PH" smtClean="0"/>
              <a:t>‹#›</a:t>
            </a:fld>
            <a:endParaRPr lang="en-PH"/>
          </a:p>
        </p:txBody>
      </p:sp>
    </p:spTree>
    <p:extLst>
      <p:ext uri="{BB962C8B-B14F-4D97-AF65-F5344CB8AC3E}">
        <p14:creationId xmlns:p14="http://schemas.microsoft.com/office/powerpoint/2010/main" val="27258785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PH"/>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Date Placeholder 3"/>
          <p:cNvSpPr>
            <a:spLocks noGrp="1"/>
          </p:cNvSpPr>
          <p:nvPr>
            <p:ph type="dt" sz="half" idx="10"/>
          </p:nvPr>
        </p:nvSpPr>
        <p:spPr/>
        <p:txBody>
          <a:bodyPr/>
          <a:lstStyle/>
          <a:p>
            <a:fld id="{687D77FB-5C05-47AF-9DDC-B773ED6DF965}" type="datetimeFigureOut">
              <a:rPr lang="en-PH" smtClean="0"/>
              <a:t>5/26/2017</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51E85771-B7C7-4495-8C8E-DC9E6C377928}" type="slidenum">
              <a:rPr lang="en-PH" smtClean="0"/>
              <a:t>‹#›</a:t>
            </a:fld>
            <a:endParaRPr lang="en-PH"/>
          </a:p>
        </p:txBody>
      </p:sp>
    </p:spTree>
    <p:extLst>
      <p:ext uri="{BB962C8B-B14F-4D97-AF65-F5344CB8AC3E}">
        <p14:creationId xmlns:p14="http://schemas.microsoft.com/office/powerpoint/2010/main" val="35571648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PH"/>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Date Placeholder 3"/>
          <p:cNvSpPr>
            <a:spLocks noGrp="1"/>
          </p:cNvSpPr>
          <p:nvPr>
            <p:ph type="dt" sz="half" idx="10"/>
          </p:nvPr>
        </p:nvSpPr>
        <p:spPr/>
        <p:txBody>
          <a:bodyPr/>
          <a:lstStyle/>
          <a:p>
            <a:fld id="{687D77FB-5C05-47AF-9DDC-B773ED6DF965}" type="datetimeFigureOut">
              <a:rPr lang="en-PH" smtClean="0"/>
              <a:t>5/26/2017</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51E85771-B7C7-4495-8C8E-DC9E6C377928}" type="slidenum">
              <a:rPr lang="en-PH" smtClean="0"/>
              <a:t>‹#›</a:t>
            </a:fld>
            <a:endParaRPr lang="en-PH"/>
          </a:p>
        </p:txBody>
      </p:sp>
    </p:spTree>
    <p:extLst>
      <p:ext uri="{BB962C8B-B14F-4D97-AF65-F5344CB8AC3E}">
        <p14:creationId xmlns:p14="http://schemas.microsoft.com/office/powerpoint/2010/main" val="75111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PH"/>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7D77FB-5C05-47AF-9DDC-B773ED6DF965}" type="datetimeFigureOut">
              <a:rPr lang="en-PH" smtClean="0"/>
              <a:t>5/26/2017</a:t>
            </a:fld>
            <a:endParaRPr lang="en-PH"/>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E85771-B7C7-4495-8C8E-DC9E6C377928}" type="slidenum">
              <a:rPr lang="en-PH" smtClean="0"/>
              <a:t>‹#›</a:t>
            </a:fld>
            <a:endParaRPr lang="en-PH"/>
          </a:p>
        </p:txBody>
      </p:sp>
    </p:spTree>
    <p:extLst>
      <p:ext uri="{BB962C8B-B14F-4D97-AF65-F5344CB8AC3E}">
        <p14:creationId xmlns:p14="http://schemas.microsoft.com/office/powerpoint/2010/main" val="28045106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hyperlink" Target="https://literarydevices.net/repetition/"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hyperlink" Target="https://literarydevices.net/epistrophe/"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s://www.thoughtco.com/what-is-clause-grammar-1689850" TargetMode="External"/><Relationship Id="rId2" Type="http://schemas.openxmlformats.org/officeDocument/2006/relationships/hyperlink" Target="https://www.thoughtco.com/figures-tropes-and-other-rhetorical-terms-1692377" TargetMode="External"/><Relationship Id="rId1" Type="http://schemas.openxmlformats.org/officeDocument/2006/relationships/slideLayout" Target="../slideLayouts/slideLayout2.xml"/><Relationship Id="rId5" Type="http://schemas.openxmlformats.org/officeDocument/2006/relationships/hyperlink" Target="https://www.thoughtco.com/figure-of-speech-term-1690793" TargetMode="External"/><Relationship Id="rId4" Type="http://schemas.openxmlformats.org/officeDocument/2006/relationships/hyperlink" Target="https://www.thoughtco.com/anadiplosis-rhetorical-repetition-1689088" TargetMode="External"/></Relationships>
</file>

<file path=ppt/slides/_rels/slide46.xml.rels><?xml version="1.0" encoding="UTF-8" standalone="yes"?>
<Relationships xmlns="http://schemas.openxmlformats.org/package/2006/relationships"><Relationship Id="rId3" Type="http://schemas.openxmlformats.org/officeDocument/2006/relationships/hyperlink" Target="https://literarydevices.net/resolution/" TargetMode="External"/><Relationship Id="rId2" Type="http://schemas.openxmlformats.org/officeDocument/2006/relationships/hyperlink" Target="https://literarydevices.net/narrative/"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hyperlink" Target="https://literarydevices.net/audience/"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hyperlink" Target="https://literarydevices.net/protagonist/" TargetMode="External"/><Relationship Id="rId2" Type="http://schemas.openxmlformats.org/officeDocument/2006/relationships/hyperlink" Target="https://literarydevices.net/character/" TargetMode="External"/><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50.xml.rels><?xml version="1.0" encoding="UTF-8" standalone="yes"?>
<Relationships xmlns="http://schemas.openxmlformats.org/package/2006/relationships"><Relationship Id="rId3" Type="http://schemas.openxmlformats.org/officeDocument/2006/relationships/hyperlink" Target="https://literarydevices.net/prose/" TargetMode="External"/><Relationship Id="rId2" Type="http://schemas.openxmlformats.org/officeDocument/2006/relationships/hyperlink" Target="https://literarydevices.net/figure-of-speech/" TargetMode="External"/><Relationship Id="rId1" Type="http://schemas.openxmlformats.org/officeDocument/2006/relationships/slideLayout" Target="../slideLayouts/slideLayout2.xml"/><Relationship Id="rId4" Type="http://schemas.openxmlformats.org/officeDocument/2006/relationships/hyperlink" Target="https://literarydevices.net/moral/"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hyperlink" Target="http://oxfordindex.oup.com/view/10.1093/oi/authority.20110803095510317" TargetMode="Externa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PH" dirty="0" smtClean="0"/>
              <a:t>LET HOT ITEMS ! </a:t>
            </a:r>
            <a:endParaRPr lang="en-PH" dirty="0"/>
          </a:p>
        </p:txBody>
      </p:sp>
      <p:sp>
        <p:nvSpPr>
          <p:cNvPr id="3" name="Subtitle 2"/>
          <p:cNvSpPr>
            <a:spLocks noGrp="1"/>
          </p:cNvSpPr>
          <p:nvPr>
            <p:ph type="subTitle" idx="1"/>
          </p:nvPr>
        </p:nvSpPr>
        <p:spPr/>
        <p:txBody>
          <a:bodyPr/>
          <a:lstStyle/>
          <a:p>
            <a:endParaRPr lang="en-PH" dirty="0"/>
          </a:p>
        </p:txBody>
      </p:sp>
    </p:spTree>
    <p:extLst>
      <p:ext uri="{BB962C8B-B14F-4D97-AF65-F5344CB8AC3E}">
        <p14:creationId xmlns:p14="http://schemas.microsoft.com/office/powerpoint/2010/main" val="38391639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PH" dirty="0" smtClean="0"/>
              <a:t>POP UP QUIZ!</a:t>
            </a:r>
            <a:endParaRPr lang="en-PH" dirty="0"/>
          </a:p>
        </p:txBody>
      </p:sp>
      <p:sp>
        <p:nvSpPr>
          <p:cNvPr id="29699" name="Content Placeholder 2"/>
          <p:cNvSpPr>
            <a:spLocks noGrp="1"/>
          </p:cNvSpPr>
          <p:nvPr>
            <p:ph idx="1"/>
          </p:nvPr>
        </p:nvSpPr>
        <p:spPr>
          <a:xfrm>
            <a:off x="1752600" y="1447800"/>
            <a:ext cx="8705850" cy="4800600"/>
          </a:xfrm>
        </p:spPr>
        <p:txBody>
          <a:bodyPr>
            <a:normAutofit/>
          </a:bodyPr>
          <a:lstStyle/>
          <a:p>
            <a:pPr marL="82550" indent="0">
              <a:buNone/>
            </a:pPr>
            <a:r>
              <a:rPr lang="en-PH" sz="4000" dirty="0" smtClean="0"/>
              <a:t>1.   Learning  English for  some Filipinos is difficult because ____________.</a:t>
            </a:r>
            <a:br>
              <a:rPr lang="en-PH" sz="4000" dirty="0" smtClean="0"/>
            </a:br>
            <a:r>
              <a:rPr lang="en-PH" sz="4000" dirty="0"/>
              <a:t/>
            </a:r>
            <a:br>
              <a:rPr lang="en-PH" sz="4000" dirty="0"/>
            </a:br>
            <a:r>
              <a:rPr lang="en-PH" sz="4000" dirty="0" smtClean="0"/>
              <a:t>A. It is a complex Language </a:t>
            </a:r>
            <a:br>
              <a:rPr lang="en-PH" sz="4000" dirty="0" smtClean="0"/>
            </a:br>
            <a:r>
              <a:rPr lang="en-PH" sz="4000" dirty="0" smtClean="0"/>
              <a:t>B. It is a strange Language </a:t>
            </a:r>
            <a:br>
              <a:rPr lang="en-PH" sz="4000" dirty="0" smtClean="0"/>
            </a:br>
            <a:r>
              <a:rPr lang="en-PH" sz="4000" dirty="0" smtClean="0"/>
              <a:t>C. It is a universal language </a:t>
            </a:r>
            <a:br>
              <a:rPr lang="en-PH" sz="4000" dirty="0" smtClean="0"/>
            </a:br>
            <a:r>
              <a:rPr lang="en-PH" sz="4000" dirty="0" smtClean="0"/>
              <a:t>D. It is either a second or third Language </a:t>
            </a:r>
          </a:p>
        </p:txBody>
      </p:sp>
    </p:spTree>
    <p:extLst>
      <p:ext uri="{BB962C8B-B14F-4D97-AF65-F5344CB8AC3E}">
        <p14:creationId xmlns:p14="http://schemas.microsoft.com/office/powerpoint/2010/main" val="23885696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PH" dirty="0" smtClean="0"/>
              <a:t>POP UP QUIZ!</a:t>
            </a:r>
            <a:endParaRPr lang="en-PH" dirty="0"/>
          </a:p>
        </p:txBody>
      </p:sp>
      <p:sp>
        <p:nvSpPr>
          <p:cNvPr id="29699" name="Content Placeholder 2"/>
          <p:cNvSpPr>
            <a:spLocks noGrp="1"/>
          </p:cNvSpPr>
          <p:nvPr>
            <p:ph idx="1"/>
          </p:nvPr>
        </p:nvSpPr>
        <p:spPr>
          <a:xfrm>
            <a:off x="1752600" y="1447800"/>
            <a:ext cx="8705850" cy="4800600"/>
          </a:xfrm>
        </p:spPr>
        <p:txBody>
          <a:bodyPr>
            <a:normAutofit/>
          </a:bodyPr>
          <a:lstStyle/>
          <a:p>
            <a:pPr marL="82550" indent="0">
              <a:buNone/>
            </a:pPr>
            <a:r>
              <a:rPr lang="en-PH" sz="4000" dirty="0" smtClean="0"/>
              <a:t>1.   Learning  English for  some Filipinos is difficult because ____________.</a:t>
            </a:r>
            <a:br>
              <a:rPr lang="en-PH" sz="4000" dirty="0" smtClean="0"/>
            </a:br>
            <a:r>
              <a:rPr lang="en-PH" sz="4000" dirty="0"/>
              <a:t/>
            </a:r>
            <a:br>
              <a:rPr lang="en-PH" sz="4000" dirty="0"/>
            </a:br>
            <a:r>
              <a:rPr lang="en-PH" sz="4000" dirty="0" smtClean="0"/>
              <a:t>A. It is a complex Language </a:t>
            </a:r>
            <a:br>
              <a:rPr lang="en-PH" sz="4000" dirty="0" smtClean="0"/>
            </a:br>
            <a:r>
              <a:rPr lang="en-PH" sz="4000" dirty="0" smtClean="0"/>
              <a:t>B. It is a strange Language </a:t>
            </a:r>
            <a:br>
              <a:rPr lang="en-PH" sz="4000" dirty="0" smtClean="0"/>
            </a:br>
            <a:r>
              <a:rPr lang="en-PH" sz="4000" dirty="0" smtClean="0"/>
              <a:t>C. It is a universal language </a:t>
            </a:r>
            <a:br>
              <a:rPr lang="en-PH" sz="4000" dirty="0" smtClean="0"/>
            </a:br>
            <a:r>
              <a:rPr lang="en-PH" sz="4000" b="1" dirty="0" smtClean="0"/>
              <a:t>D. It is either a second or third Language </a:t>
            </a:r>
          </a:p>
        </p:txBody>
      </p:sp>
    </p:spTree>
    <p:extLst>
      <p:ext uri="{BB962C8B-B14F-4D97-AF65-F5344CB8AC3E}">
        <p14:creationId xmlns:p14="http://schemas.microsoft.com/office/powerpoint/2010/main" val="4715280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PH" dirty="0" smtClean="0"/>
              <a:t>POP UP QUIZ!</a:t>
            </a:r>
            <a:endParaRPr lang="en-PH" dirty="0"/>
          </a:p>
        </p:txBody>
      </p:sp>
      <p:sp>
        <p:nvSpPr>
          <p:cNvPr id="29699" name="Content Placeholder 2"/>
          <p:cNvSpPr>
            <a:spLocks noGrp="1"/>
          </p:cNvSpPr>
          <p:nvPr>
            <p:ph idx="1"/>
          </p:nvPr>
        </p:nvSpPr>
        <p:spPr>
          <a:xfrm>
            <a:off x="1752600" y="1447800"/>
            <a:ext cx="8705850" cy="4800600"/>
          </a:xfrm>
        </p:spPr>
        <p:txBody>
          <a:bodyPr>
            <a:normAutofit/>
          </a:bodyPr>
          <a:lstStyle/>
          <a:p>
            <a:pPr marL="82550" indent="0">
              <a:buNone/>
            </a:pPr>
            <a:r>
              <a:rPr lang="en-PH" sz="4000" dirty="0"/>
              <a:t>2</a:t>
            </a:r>
            <a:r>
              <a:rPr lang="en-PH" sz="4000" dirty="0" smtClean="0"/>
              <a:t>.   ESP is mainly concerned about the following topics except for ________. </a:t>
            </a:r>
            <a:br>
              <a:rPr lang="en-PH" sz="4000" dirty="0" smtClean="0"/>
            </a:br>
            <a:r>
              <a:rPr lang="en-PH" sz="4000" dirty="0"/>
              <a:t/>
            </a:r>
            <a:br>
              <a:rPr lang="en-PH" sz="4000" dirty="0"/>
            </a:br>
            <a:r>
              <a:rPr lang="en-PH" sz="4000" dirty="0" smtClean="0"/>
              <a:t>A.  Grammar and Lexis</a:t>
            </a:r>
            <a:br>
              <a:rPr lang="en-PH" sz="4000" dirty="0" smtClean="0"/>
            </a:br>
            <a:r>
              <a:rPr lang="en-PH" sz="4000" dirty="0" smtClean="0"/>
              <a:t>B. </a:t>
            </a:r>
            <a:r>
              <a:rPr lang="en-PH" sz="4000" dirty="0"/>
              <a:t> </a:t>
            </a:r>
            <a:r>
              <a:rPr lang="en-PH" sz="4000" dirty="0" smtClean="0"/>
              <a:t>Register</a:t>
            </a:r>
            <a:br>
              <a:rPr lang="en-PH" sz="4000" dirty="0" smtClean="0"/>
            </a:br>
            <a:r>
              <a:rPr lang="en-PH" sz="4000" dirty="0" smtClean="0"/>
              <a:t>C.   Discourse  and Genre. </a:t>
            </a:r>
            <a:br>
              <a:rPr lang="en-PH" sz="4000" dirty="0" smtClean="0"/>
            </a:br>
            <a:r>
              <a:rPr lang="en-PH" sz="4000" dirty="0" smtClean="0"/>
              <a:t>D. </a:t>
            </a:r>
            <a:r>
              <a:rPr lang="en-PH" sz="4000" dirty="0"/>
              <a:t> </a:t>
            </a:r>
            <a:r>
              <a:rPr lang="en-PH" sz="4000" dirty="0" smtClean="0"/>
              <a:t>Prose and Prosody. </a:t>
            </a:r>
          </a:p>
        </p:txBody>
      </p:sp>
    </p:spTree>
    <p:extLst>
      <p:ext uri="{BB962C8B-B14F-4D97-AF65-F5344CB8AC3E}">
        <p14:creationId xmlns:p14="http://schemas.microsoft.com/office/powerpoint/2010/main" val="41835055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PH" dirty="0" smtClean="0"/>
              <a:t>POP UP QUIZ!</a:t>
            </a:r>
            <a:endParaRPr lang="en-PH" dirty="0"/>
          </a:p>
        </p:txBody>
      </p:sp>
      <p:sp>
        <p:nvSpPr>
          <p:cNvPr id="29699" name="Content Placeholder 2"/>
          <p:cNvSpPr>
            <a:spLocks noGrp="1"/>
          </p:cNvSpPr>
          <p:nvPr>
            <p:ph idx="1"/>
          </p:nvPr>
        </p:nvSpPr>
        <p:spPr>
          <a:xfrm>
            <a:off x="1752600" y="1447800"/>
            <a:ext cx="8705850" cy="4800600"/>
          </a:xfrm>
        </p:spPr>
        <p:txBody>
          <a:bodyPr>
            <a:normAutofit/>
          </a:bodyPr>
          <a:lstStyle/>
          <a:p>
            <a:pPr marL="82550" indent="0">
              <a:buNone/>
            </a:pPr>
            <a:r>
              <a:rPr lang="en-PH" sz="4000" dirty="0"/>
              <a:t>2</a:t>
            </a:r>
            <a:r>
              <a:rPr lang="en-PH" sz="4000" dirty="0" smtClean="0"/>
              <a:t>.   ESP is mainly concerned about the following topics except for ________. </a:t>
            </a:r>
            <a:br>
              <a:rPr lang="en-PH" sz="4000" dirty="0" smtClean="0"/>
            </a:br>
            <a:r>
              <a:rPr lang="en-PH" sz="4000" dirty="0"/>
              <a:t/>
            </a:r>
            <a:br>
              <a:rPr lang="en-PH" sz="4000" dirty="0"/>
            </a:br>
            <a:r>
              <a:rPr lang="en-PH" sz="4000" dirty="0" smtClean="0"/>
              <a:t>A.  Grammar and Lexis</a:t>
            </a:r>
            <a:br>
              <a:rPr lang="en-PH" sz="4000" dirty="0" smtClean="0"/>
            </a:br>
            <a:r>
              <a:rPr lang="en-PH" sz="4000" dirty="0" smtClean="0"/>
              <a:t>B. </a:t>
            </a:r>
            <a:r>
              <a:rPr lang="en-PH" sz="4000" dirty="0"/>
              <a:t> </a:t>
            </a:r>
            <a:r>
              <a:rPr lang="en-PH" sz="4000" dirty="0" smtClean="0"/>
              <a:t>Register</a:t>
            </a:r>
            <a:br>
              <a:rPr lang="en-PH" sz="4000" dirty="0" smtClean="0"/>
            </a:br>
            <a:r>
              <a:rPr lang="en-PH" sz="4000" dirty="0" smtClean="0"/>
              <a:t>C.   Discourse  and Genre. </a:t>
            </a:r>
            <a:br>
              <a:rPr lang="en-PH" sz="4000" dirty="0" smtClean="0"/>
            </a:br>
            <a:r>
              <a:rPr lang="en-PH" sz="4000" b="1" dirty="0" smtClean="0"/>
              <a:t>D. </a:t>
            </a:r>
            <a:r>
              <a:rPr lang="en-PH" sz="4000" b="1" dirty="0"/>
              <a:t> </a:t>
            </a:r>
            <a:r>
              <a:rPr lang="en-PH" sz="4000" b="1" dirty="0" smtClean="0"/>
              <a:t>Prose and Prosody. </a:t>
            </a:r>
          </a:p>
        </p:txBody>
      </p:sp>
    </p:spTree>
    <p:extLst>
      <p:ext uri="{BB962C8B-B14F-4D97-AF65-F5344CB8AC3E}">
        <p14:creationId xmlns:p14="http://schemas.microsoft.com/office/powerpoint/2010/main" val="15440862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Content Placeholder 2"/>
          <p:cNvSpPr>
            <a:spLocks noGrp="1"/>
          </p:cNvSpPr>
          <p:nvPr>
            <p:ph idx="1"/>
          </p:nvPr>
        </p:nvSpPr>
        <p:spPr>
          <a:xfrm>
            <a:off x="304800" y="174171"/>
            <a:ext cx="11429999" cy="6531429"/>
          </a:xfrm>
        </p:spPr>
        <p:txBody>
          <a:bodyPr>
            <a:normAutofit fontScale="92500" lnSpcReduction="10000"/>
          </a:bodyPr>
          <a:lstStyle/>
          <a:p>
            <a:pPr marL="82550" indent="0">
              <a:buNone/>
            </a:pPr>
            <a:r>
              <a:rPr lang="en-PH" sz="4000" dirty="0" smtClean="0"/>
              <a:t>3.   Which of  the following is not a definition of the word Contextualization ?</a:t>
            </a:r>
            <a:br>
              <a:rPr lang="en-PH" sz="4000" dirty="0" smtClean="0"/>
            </a:br>
            <a:r>
              <a:rPr lang="en-PH" sz="4000" dirty="0" smtClean="0"/>
              <a:t/>
            </a:r>
            <a:br>
              <a:rPr lang="en-PH" sz="4000" dirty="0" smtClean="0"/>
            </a:br>
            <a:r>
              <a:rPr lang="en-PH" sz="4000" dirty="0" smtClean="0"/>
              <a:t>A. </a:t>
            </a:r>
            <a:r>
              <a:rPr lang="en-PH" sz="4000" dirty="0"/>
              <a:t> teaching and learning directly on concrete applications in a specific context that is of interest to the student</a:t>
            </a:r>
            <a:r>
              <a:rPr lang="en-PH" sz="4000" dirty="0" smtClean="0"/>
              <a:t>.</a:t>
            </a:r>
          </a:p>
          <a:p>
            <a:pPr marL="82550" indent="0">
              <a:buNone/>
            </a:pPr>
            <a:r>
              <a:rPr lang="en-PH" sz="4000" dirty="0" smtClean="0"/>
              <a:t>B. </a:t>
            </a:r>
            <a:r>
              <a:rPr lang="en-PH" sz="4000" dirty="0"/>
              <a:t> statement or event is to place it within its larger setting in which it acquires its true and complete meaning</a:t>
            </a:r>
            <a:r>
              <a:rPr lang="en-PH" sz="4000" dirty="0" smtClean="0"/>
              <a:t>.</a:t>
            </a:r>
          </a:p>
          <a:p>
            <a:pPr marL="82550" indent="0">
              <a:buNone/>
            </a:pPr>
            <a:r>
              <a:rPr lang="en-PH" sz="4000" dirty="0" smtClean="0"/>
              <a:t>C. </a:t>
            </a:r>
            <a:r>
              <a:rPr lang="en-PH" sz="4000" dirty="0"/>
              <a:t>the process of adapting and relating the content of the curriculum and the process of teaching and learning to local condition, environment, and resources</a:t>
            </a:r>
            <a:r>
              <a:rPr lang="en-PH" sz="4000" dirty="0" smtClean="0"/>
              <a:t>.</a:t>
            </a:r>
            <a:br>
              <a:rPr lang="en-PH" sz="4000" dirty="0" smtClean="0"/>
            </a:br>
            <a:r>
              <a:rPr lang="en-PH" sz="4000" dirty="0" smtClean="0"/>
              <a:t>D. </a:t>
            </a:r>
            <a:r>
              <a:rPr lang="en-PH" sz="4000" dirty="0"/>
              <a:t>the process of presenting lesson in meaningful and relevant context based on previous experiences and real-life situations. </a:t>
            </a:r>
            <a:endParaRPr lang="en-PH" sz="4000" dirty="0" smtClean="0"/>
          </a:p>
        </p:txBody>
      </p:sp>
      <p:sp>
        <p:nvSpPr>
          <p:cNvPr id="3" name="Title 2"/>
          <p:cNvSpPr>
            <a:spLocks noGrp="1"/>
          </p:cNvSpPr>
          <p:nvPr>
            <p:ph type="title"/>
          </p:nvPr>
        </p:nvSpPr>
        <p:spPr/>
        <p:txBody>
          <a:bodyPr/>
          <a:lstStyle/>
          <a:p>
            <a:endParaRPr lang="en-PH"/>
          </a:p>
        </p:txBody>
      </p:sp>
    </p:spTree>
    <p:extLst>
      <p:ext uri="{BB962C8B-B14F-4D97-AF65-F5344CB8AC3E}">
        <p14:creationId xmlns:p14="http://schemas.microsoft.com/office/powerpoint/2010/main" val="42467607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Content Placeholder 2"/>
          <p:cNvSpPr>
            <a:spLocks noGrp="1"/>
          </p:cNvSpPr>
          <p:nvPr>
            <p:ph idx="1"/>
          </p:nvPr>
        </p:nvSpPr>
        <p:spPr>
          <a:xfrm>
            <a:off x="304800" y="174171"/>
            <a:ext cx="11429999" cy="6531429"/>
          </a:xfrm>
        </p:spPr>
        <p:txBody>
          <a:bodyPr>
            <a:normAutofit fontScale="92500" lnSpcReduction="10000"/>
          </a:bodyPr>
          <a:lstStyle/>
          <a:p>
            <a:pPr marL="82550" indent="0">
              <a:buNone/>
            </a:pPr>
            <a:r>
              <a:rPr lang="en-PH" sz="4000" dirty="0" smtClean="0"/>
              <a:t>3.   Which of  the following is not a definition of the word Contextualization ?</a:t>
            </a:r>
            <a:br>
              <a:rPr lang="en-PH" sz="4000" dirty="0" smtClean="0"/>
            </a:br>
            <a:r>
              <a:rPr lang="en-PH" sz="4000" dirty="0" smtClean="0"/>
              <a:t/>
            </a:r>
            <a:br>
              <a:rPr lang="en-PH" sz="4000" dirty="0" smtClean="0"/>
            </a:br>
            <a:r>
              <a:rPr lang="en-PH" sz="4000" dirty="0" smtClean="0"/>
              <a:t>A. </a:t>
            </a:r>
            <a:r>
              <a:rPr lang="en-PH" sz="4000" dirty="0"/>
              <a:t> teaching and learning directly on concrete applications in a specific context that is of interest to the student</a:t>
            </a:r>
            <a:r>
              <a:rPr lang="en-PH" sz="4000" dirty="0" smtClean="0"/>
              <a:t>.</a:t>
            </a:r>
          </a:p>
          <a:p>
            <a:pPr marL="82550" indent="0">
              <a:buNone/>
            </a:pPr>
            <a:r>
              <a:rPr lang="en-PH" sz="4000" dirty="0" smtClean="0"/>
              <a:t>B. </a:t>
            </a:r>
            <a:r>
              <a:rPr lang="en-PH" sz="4000" dirty="0"/>
              <a:t> statement or event is to place it within its larger setting in which it acquires its true and complete meaning</a:t>
            </a:r>
            <a:r>
              <a:rPr lang="en-PH" sz="4000" dirty="0" smtClean="0"/>
              <a:t>.</a:t>
            </a:r>
          </a:p>
          <a:p>
            <a:pPr marL="82550" indent="0">
              <a:buNone/>
            </a:pPr>
            <a:r>
              <a:rPr lang="en-PH" sz="4000" b="1" dirty="0" smtClean="0"/>
              <a:t>C. </a:t>
            </a:r>
            <a:r>
              <a:rPr lang="en-PH" sz="4000" b="1" dirty="0"/>
              <a:t>the process of adapting and relating the content of the curriculum and the process of teaching and learning to local condition, environment, and resources</a:t>
            </a:r>
            <a:r>
              <a:rPr lang="en-PH" sz="4000" b="1" dirty="0" smtClean="0"/>
              <a:t>.</a:t>
            </a:r>
            <a:r>
              <a:rPr lang="en-PH" sz="4000" dirty="0" smtClean="0"/>
              <a:t/>
            </a:r>
            <a:br>
              <a:rPr lang="en-PH" sz="4000" dirty="0" smtClean="0"/>
            </a:br>
            <a:r>
              <a:rPr lang="en-PH" sz="4000" dirty="0" smtClean="0"/>
              <a:t>D. </a:t>
            </a:r>
            <a:r>
              <a:rPr lang="en-PH" sz="4000" dirty="0"/>
              <a:t>the process of presenting lesson in meaningful and relevant context based on previous experiences and real-life situations. </a:t>
            </a:r>
            <a:endParaRPr lang="en-PH" sz="4000" dirty="0" smtClean="0"/>
          </a:p>
        </p:txBody>
      </p:sp>
      <p:sp>
        <p:nvSpPr>
          <p:cNvPr id="3" name="Title 2"/>
          <p:cNvSpPr>
            <a:spLocks noGrp="1"/>
          </p:cNvSpPr>
          <p:nvPr>
            <p:ph type="title"/>
          </p:nvPr>
        </p:nvSpPr>
        <p:spPr/>
        <p:txBody>
          <a:bodyPr/>
          <a:lstStyle/>
          <a:p>
            <a:endParaRPr lang="en-PH"/>
          </a:p>
        </p:txBody>
      </p:sp>
    </p:spTree>
    <p:extLst>
      <p:ext uri="{BB962C8B-B14F-4D97-AF65-F5344CB8AC3E}">
        <p14:creationId xmlns:p14="http://schemas.microsoft.com/office/powerpoint/2010/main" val="12566748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a:xfrm>
            <a:off x="838200" y="365125"/>
            <a:ext cx="10515600" cy="5811838"/>
          </a:xfrm>
        </p:spPr>
        <p:txBody>
          <a:bodyPr>
            <a:normAutofit/>
          </a:bodyPr>
          <a:lstStyle/>
          <a:p>
            <a:pPr marL="0" indent="0" algn="ctr">
              <a:buNone/>
            </a:pPr>
            <a:r>
              <a:rPr lang="en-PH" sz="7200" b="1" dirty="0" smtClean="0"/>
              <a:t>LOCALIZATION VS CONTEXTUALIZATION?</a:t>
            </a:r>
          </a:p>
          <a:p>
            <a:pPr marL="0" indent="0" algn="ctr">
              <a:buNone/>
            </a:pPr>
            <a:endParaRPr lang="en-PH" sz="7200" b="1" dirty="0"/>
          </a:p>
          <a:p>
            <a:pPr marL="0" indent="0" algn="ctr">
              <a:buNone/>
            </a:pPr>
            <a:endParaRPr lang="en-PH" sz="7200" b="1" dirty="0" smtClean="0"/>
          </a:p>
          <a:p>
            <a:pPr marL="0" indent="0" algn="ctr">
              <a:buNone/>
            </a:pPr>
            <a:r>
              <a:rPr lang="en-PH" sz="7200" b="1" dirty="0" smtClean="0"/>
              <a:t>PQF VS NCBTS ? </a:t>
            </a:r>
            <a:endParaRPr lang="en-PH" sz="7200" b="1" dirty="0"/>
          </a:p>
        </p:txBody>
      </p:sp>
    </p:spTree>
    <p:extLst>
      <p:ext uri="{BB962C8B-B14F-4D97-AF65-F5344CB8AC3E}">
        <p14:creationId xmlns:p14="http://schemas.microsoft.com/office/powerpoint/2010/main" val="26509080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p:txBody>
          <a:bodyPr/>
          <a:lstStyle/>
          <a:p>
            <a:r>
              <a:rPr lang="en-PH" dirty="0" smtClean="0"/>
              <a:t> </a:t>
            </a:r>
            <a:endParaRPr lang="en-PH" dirty="0"/>
          </a:p>
        </p:txBody>
      </p:sp>
      <p:pic>
        <p:nvPicPr>
          <p:cNvPr id="1026" name="Picture 2" descr="Image result for NCB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6831" y="208869"/>
            <a:ext cx="11448598" cy="63007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94907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p:txBody>
          <a:bodyPr/>
          <a:lstStyle/>
          <a:p>
            <a:endParaRPr lang="en-PH"/>
          </a:p>
        </p:txBody>
      </p:sp>
      <p:pic>
        <p:nvPicPr>
          <p:cNvPr id="8194" name="Picture 2" descr="Image result for PQ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2192000" cy="6858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86385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PH" sz="8000" b="1" dirty="0" smtClean="0"/>
              <a:t>PQF VS NCBTS ? </a:t>
            </a:r>
            <a:r>
              <a:rPr lang="en-PH" b="1" dirty="0" smtClean="0"/>
              <a:t/>
            </a:r>
            <a:br>
              <a:rPr lang="en-PH" b="1" dirty="0" smtClean="0"/>
            </a:br>
            <a:endParaRPr lang="en-PH" dirty="0"/>
          </a:p>
        </p:txBody>
      </p:sp>
      <p:sp>
        <p:nvSpPr>
          <p:cNvPr id="3" name="Content Placeholder 2"/>
          <p:cNvSpPr>
            <a:spLocks noGrp="1"/>
          </p:cNvSpPr>
          <p:nvPr>
            <p:ph idx="1"/>
          </p:nvPr>
        </p:nvSpPr>
        <p:spPr/>
        <p:txBody>
          <a:bodyPr>
            <a:normAutofit/>
          </a:bodyPr>
          <a:lstStyle/>
          <a:p>
            <a:r>
              <a:rPr lang="en-PH" sz="6000" dirty="0" smtClean="0"/>
              <a:t>PQF  -  Content and performance standard for </a:t>
            </a:r>
            <a:r>
              <a:rPr lang="en-PH" sz="6000" b="1" dirty="0" smtClean="0"/>
              <a:t>students</a:t>
            </a:r>
            <a:r>
              <a:rPr lang="en-PH" sz="6000" dirty="0" smtClean="0"/>
              <a:t>. </a:t>
            </a:r>
          </a:p>
          <a:p>
            <a:r>
              <a:rPr lang="en-PH" sz="6000" dirty="0" smtClean="0"/>
              <a:t>NCBTS  - </a:t>
            </a:r>
            <a:r>
              <a:rPr lang="en-PH" sz="6000" dirty="0"/>
              <a:t>defines the different dimensions of effective </a:t>
            </a:r>
            <a:r>
              <a:rPr lang="en-PH" sz="6000" b="1" dirty="0"/>
              <a:t>teaching</a:t>
            </a:r>
          </a:p>
        </p:txBody>
      </p:sp>
    </p:spTree>
    <p:extLst>
      <p:ext uri="{BB962C8B-B14F-4D97-AF65-F5344CB8AC3E}">
        <p14:creationId xmlns:p14="http://schemas.microsoft.com/office/powerpoint/2010/main" val="39461046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smtClean="0"/>
              <a:t> </a:t>
            </a:r>
            <a:endParaRPr lang="en-PH" dirty="0"/>
          </a:p>
        </p:txBody>
      </p:sp>
      <p:sp>
        <p:nvSpPr>
          <p:cNvPr id="3" name="Content Placeholder 2"/>
          <p:cNvSpPr>
            <a:spLocks noGrp="1"/>
          </p:cNvSpPr>
          <p:nvPr>
            <p:ph idx="1"/>
          </p:nvPr>
        </p:nvSpPr>
        <p:spPr>
          <a:xfrm>
            <a:off x="838200" y="365125"/>
            <a:ext cx="10515600" cy="5811838"/>
          </a:xfrm>
        </p:spPr>
        <p:txBody>
          <a:bodyPr/>
          <a:lstStyle/>
          <a:p>
            <a:r>
              <a:rPr lang="en-PH" sz="6000" b="1" dirty="0" smtClean="0"/>
              <a:t>SUBJECT VERB AGREEMENT </a:t>
            </a:r>
            <a:br>
              <a:rPr lang="en-PH" sz="6000" b="1" dirty="0" smtClean="0"/>
            </a:br>
            <a:r>
              <a:rPr lang="en-PH" sz="6000" b="1" dirty="0" smtClean="0"/>
              <a:t>INVERTED SENTENCES </a:t>
            </a:r>
          </a:p>
          <a:p>
            <a:pPr marL="0" indent="0">
              <a:buNone/>
            </a:pPr>
            <a:r>
              <a:rPr lang="en-PH" sz="6000" b="1" dirty="0" smtClean="0"/>
              <a:t>   DEMONSTRATIVE PRONOUNS </a:t>
            </a:r>
          </a:p>
          <a:p>
            <a:r>
              <a:rPr lang="en-PH" sz="6000" b="1" dirty="0" smtClean="0"/>
              <a:t>PHONOLOGICAL AWARENESS </a:t>
            </a:r>
          </a:p>
          <a:p>
            <a:endParaRPr lang="en-PH" dirty="0" smtClean="0"/>
          </a:p>
          <a:p>
            <a:endParaRPr lang="en-PH" dirty="0"/>
          </a:p>
        </p:txBody>
      </p:sp>
    </p:spTree>
    <p:extLst>
      <p:ext uri="{BB962C8B-B14F-4D97-AF65-F5344CB8AC3E}">
        <p14:creationId xmlns:p14="http://schemas.microsoft.com/office/powerpoint/2010/main" val="5453923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endParaRPr lang="en-PH" dirty="0"/>
          </a:p>
        </p:txBody>
      </p:sp>
      <p:sp>
        <p:nvSpPr>
          <p:cNvPr id="29699" name="Content Placeholder 2"/>
          <p:cNvSpPr>
            <a:spLocks noGrp="1"/>
          </p:cNvSpPr>
          <p:nvPr>
            <p:ph idx="1"/>
          </p:nvPr>
        </p:nvSpPr>
        <p:spPr>
          <a:xfrm>
            <a:off x="321972" y="365125"/>
            <a:ext cx="11178862" cy="6100989"/>
          </a:xfrm>
        </p:spPr>
        <p:txBody>
          <a:bodyPr>
            <a:normAutofit fontScale="25000" lnSpcReduction="20000"/>
          </a:bodyPr>
          <a:lstStyle/>
          <a:p>
            <a:pPr marL="82550" indent="0">
              <a:buNone/>
            </a:pPr>
            <a:r>
              <a:rPr lang="en-PH" sz="19200" dirty="0" smtClean="0"/>
              <a:t>Identify the word formation process for the following words. </a:t>
            </a:r>
          </a:p>
          <a:p>
            <a:pPr marL="82550" indent="0">
              <a:buNone/>
            </a:pPr>
            <a:r>
              <a:rPr lang="en-PH" sz="19200" dirty="0" smtClean="0"/>
              <a:t>Read- Reading </a:t>
            </a:r>
            <a:br>
              <a:rPr lang="en-PH" sz="19200" dirty="0" smtClean="0"/>
            </a:br>
            <a:r>
              <a:rPr lang="en-PH" sz="19200" dirty="0" smtClean="0"/>
              <a:t>Editor –  Edit </a:t>
            </a:r>
            <a:br>
              <a:rPr lang="en-PH" sz="19200" dirty="0" smtClean="0"/>
            </a:br>
            <a:r>
              <a:rPr lang="en-PH" sz="19200" dirty="0" smtClean="0"/>
              <a:t>Emote + Icon = Emoticon </a:t>
            </a:r>
            <a:br>
              <a:rPr lang="en-PH" sz="19200" dirty="0" smtClean="0"/>
            </a:br>
            <a:r>
              <a:rPr lang="en-PH" sz="19200" dirty="0" smtClean="0"/>
              <a:t>Kindergarten – Kinder</a:t>
            </a:r>
            <a:br>
              <a:rPr lang="en-PH" sz="19200" dirty="0" smtClean="0"/>
            </a:br>
            <a:r>
              <a:rPr lang="en-PH" sz="19200" dirty="0" err="1" smtClean="0"/>
              <a:t>Sun+glasses</a:t>
            </a:r>
            <a:r>
              <a:rPr lang="en-PH" sz="19200" dirty="0" smtClean="0"/>
              <a:t> = Sunglasses </a:t>
            </a:r>
            <a:br>
              <a:rPr lang="en-PH" sz="19200" dirty="0" smtClean="0"/>
            </a:br>
            <a:r>
              <a:rPr lang="en-PH" sz="19200" dirty="0"/>
              <a:t>'He words me.' </a:t>
            </a:r>
            <a:r>
              <a:rPr lang="en-PH" sz="19200" dirty="0" smtClean="0"/>
              <a:t>- </a:t>
            </a:r>
            <a:br>
              <a:rPr lang="en-PH" sz="19200" dirty="0" smtClean="0"/>
            </a:br>
            <a:r>
              <a:rPr lang="en-PH" sz="19200" dirty="0" smtClean="0"/>
              <a:t>drink- drinkable –</a:t>
            </a:r>
          </a:p>
          <a:p>
            <a:pPr marL="82550" indent="0">
              <a:buNone/>
            </a:pPr>
            <a:r>
              <a:rPr lang="en-PH" sz="19200" dirty="0" smtClean="0"/>
              <a:t>Doppelgänger- </a:t>
            </a:r>
            <a:br>
              <a:rPr lang="en-PH" sz="19200" dirty="0" smtClean="0"/>
            </a:br>
            <a:r>
              <a:rPr lang="en-PH" sz="19200" dirty="0" err="1" smtClean="0"/>
              <a:t>Pook-Sapot</a:t>
            </a:r>
            <a:r>
              <a:rPr lang="en-PH" sz="19200" dirty="0" smtClean="0"/>
              <a:t> - </a:t>
            </a:r>
            <a:r>
              <a:rPr lang="en-PH" sz="8000" dirty="0" smtClean="0"/>
              <a:t/>
            </a:r>
            <a:br>
              <a:rPr lang="en-PH" sz="8000" dirty="0" smtClean="0"/>
            </a:br>
            <a:r>
              <a:rPr lang="en-PH" sz="8000" dirty="0" smtClean="0"/>
              <a:t/>
            </a:r>
            <a:br>
              <a:rPr lang="en-PH" sz="8000" dirty="0" smtClean="0"/>
            </a:br>
            <a:r>
              <a:rPr lang="en-PH" sz="4000" dirty="0" smtClean="0"/>
              <a:t/>
            </a:r>
            <a:br>
              <a:rPr lang="en-PH" sz="4000" dirty="0" smtClean="0"/>
            </a:br>
            <a:endParaRPr lang="en-PH" sz="4000" dirty="0" smtClean="0"/>
          </a:p>
          <a:p>
            <a:pPr marL="82550" indent="0">
              <a:buNone/>
            </a:pPr>
            <a:endParaRPr lang="en-PH" sz="4000" b="1" dirty="0" smtClean="0"/>
          </a:p>
        </p:txBody>
      </p:sp>
    </p:spTree>
    <p:extLst>
      <p:ext uri="{BB962C8B-B14F-4D97-AF65-F5344CB8AC3E}">
        <p14:creationId xmlns:p14="http://schemas.microsoft.com/office/powerpoint/2010/main" val="60736191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endParaRPr lang="en-PH" dirty="0"/>
          </a:p>
        </p:txBody>
      </p:sp>
      <p:sp>
        <p:nvSpPr>
          <p:cNvPr id="29699" name="Content Placeholder 2"/>
          <p:cNvSpPr>
            <a:spLocks noGrp="1"/>
          </p:cNvSpPr>
          <p:nvPr>
            <p:ph idx="1"/>
          </p:nvPr>
        </p:nvSpPr>
        <p:spPr>
          <a:xfrm>
            <a:off x="321972" y="365125"/>
            <a:ext cx="11178862" cy="6100989"/>
          </a:xfrm>
        </p:spPr>
        <p:txBody>
          <a:bodyPr>
            <a:normAutofit fontScale="25000" lnSpcReduction="20000"/>
          </a:bodyPr>
          <a:lstStyle/>
          <a:p>
            <a:pPr marL="82550" indent="0">
              <a:buNone/>
            </a:pPr>
            <a:r>
              <a:rPr lang="en-PH" sz="19200" dirty="0" smtClean="0"/>
              <a:t>Identify the word formation process for the following words. </a:t>
            </a:r>
          </a:p>
          <a:p>
            <a:pPr marL="82550" indent="0">
              <a:buNone/>
            </a:pPr>
            <a:r>
              <a:rPr lang="en-PH" sz="19200" dirty="0" smtClean="0"/>
              <a:t>Read- Reading &gt;             </a:t>
            </a:r>
            <a:r>
              <a:rPr lang="en-PH" sz="19200" b="1" dirty="0" smtClean="0"/>
              <a:t>AFFIXATION</a:t>
            </a:r>
          </a:p>
          <a:p>
            <a:pPr marL="82550" indent="0">
              <a:buNone/>
            </a:pPr>
            <a:r>
              <a:rPr lang="en-PH" sz="19200" dirty="0" smtClean="0"/>
              <a:t/>
            </a:r>
            <a:br>
              <a:rPr lang="en-PH" sz="19200" dirty="0" smtClean="0"/>
            </a:br>
            <a:r>
              <a:rPr lang="en-PH" sz="19200" dirty="0" smtClean="0"/>
              <a:t>Editor –  Edit  &gt;              </a:t>
            </a:r>
            <a:r>
              <a:rPr lang="en-PH" sz="19200" b="1" dirty="0" smtClean="0"/>
              <a:t>BACK FORMATION </a:t>
            </a:r>
          </a:p>
          <a:p>
            <a:pPr marL="82550" indent="0">
              <a:buNone/>
            </a:pPr>
            <a:r>
              <a:rPr lang="en-PH" sz="19200" dirty="0" smtClean="0"/>
              <a:t/>
            </a:r>
            <a:br>
              <a:rPr lang="en-PH" sz="19200" dirty="0" smtClean="0"/>
            </a:br>
            <a:r>
              <a:rPr lang="en-PH" sz="19200" dirty="0" smtClean="0"/>
              <a:t>Emote + Icon = Emoticon  &gt;  </a:t>
            </a:r>
            <a:r>
              <a:rPr lang="en-PH" sz="19200" b="1" dirty="0" smtClean="0"/>
              <a:t>BLENDING </a:t>
            </a:r>
          </a:p>
          <a:p>
            <a:pPr marL="82550" indent="0">
              <a:buNone/>
            </a:pPr>
            <a:r>
              <a:rPr lang="en-PH" sz="19200" dirty="0" smtClean="0"/>
              <a:t/>
            </a:r>
            <a:br>
              <a:rPr lang="en-PH" sz="19200" dirty="0" smtClean="0"/>
            </a:br>
            <a:r>
              <a:rPr lang="en-PH" sz="19200" dirty="0" smtClean="0"/>
              <a:t>Kindergarten – Kinder &gt;  </a:t>
            </a:r>
            <a:r>
              <a:rPr lang="en-PH" sz="19200" b="1" dirty="0" smtClean="0"/>
              <a:t>CLIPPING</a:t>
            </a:r>
            <a:r>
              <a:rPr lang="en-PH" sz="19200" dirty="0" smtClean="0"/>
              <a:t/>
            </a:r>
            <a:br>
              <a:rPr lang="en-PH" sz="19200" dirty="0" smtClean="0"/>
            </a:br>
            <a:r>
              <a:rPr lang="en-PH" sz="8000" dirty="0" smtClean="0"/>
              <a:t/>
            </a:r>
            <a:br>
              <a:rPr lang="en-PH" sz="8000" dirty="0" smtClean="0"/>
            </a:br>
            <a:r>
              <a:rPr lang="en-PH" sz="4000" dirty="0" smtClean="0"/>
              <a:t/>
            </a:r>
            <a:br>
              <a:rPr lang="en-PH" sz="4000" dirty="0" smtClean="0"/>
            </a:br>
            <a:endParaRPr lang="en-PH" sz="4000" dirty="0" smtClean="0"/>
          </a:p>
          <a:p>
            <a:pPr marL="82550" indent="0">
              <a:buNone/>
            </a:pPr>
            <a:endParaRPr lang="en-PH" sz="4000" b="1" dirty="0" smtClean="0"/>
          </a:p>
        </p:txBody>
      </p:sp>
    </p:spTree>
    <p:extLst>
      <p:ext uri="{BB962C8B-B14F-4D97-AF65-F5344CB8AC3E}">
        <p14:creationId xmlns:p14="http://schemas.microsoft.com/office/powerpoint/2010/main" val="366364424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270456"/>
            <a:ext cx="12192000" cy="5906507"/>
          </a:xfrm>
        </p:spPr>
        <p:txBody>
          <a:bodyPr>
            <a:normAutofit fontScale="92500" lnSpcReduction="10000"/>
          </a:bodyPr>
          <a:lstStyle/>
          <a:p>
            <a:pPr marL="82550" indent="0">
              <a:buNone/>
            </a:pPr>
            <a:r>
              <a:rPr lang="en-PH" sz="4800" dirty="0" err="1" smtClean="0"/>
              <a:t>Sun+glasses</a:t>
            </a:r>
            <a:r>
              <a:rPr lang="en-PH" sz="4800" dirty="0" smtClean="0"/>
              <a:t> = Sunglasses     </a:t>
            </a:r>
            <a:r>
              <a:rPr lang="en-PH" sz="4800" b="1" dirty="0" smtClean="0"/>
              <a:t>COMPOUNDING</a:t>
            </a:r>
          </a:p>
          <a:p>
            <a:pPr marL="82550" indent="0">
              <a:buNone/>
            </a:pPr>
            <a:r>
              <a:rPr lang="en-PH" sz="4800" dirty="0" smtClean="0"/>
              <a:t> </a:t>
            </a:r>
            <a:br>
              <a:rPr lang="en-PH" sz="4800" dirty="0" smtClean="0"/>
            </a:br>
            <a:r>
              <a:rPr lang="en-PH" sz="4800" dirty="0" smtClean="0"/>
              <a:t>'He </a:t>
            </a:r>
            <a:r>
              <a:rPr lang="en-PH" sz="4800" b="1" dirty="0" smtClean="0"/>
              <a:t>words</a:t>
            </a:r>
            <a:r>
              <a:rPr lang="en-PH" sz="4800" dirty="0" smtClean="0"/>
              <a:t> me.' -                    </a:t>
            </a:r>
            <a:r>
              <a:rPr lang="en-PH" sz="4800" b="1" dirty="0" smtClean="0"/>
              <a:t>CONVERSION</a:t>
            </a:r>
          </a:p>
          <a:p>
            <a:pPr marL="82550" indent="0">
              <a:buNone/>
            </a:pPr>
            <a:r>
              <a:rPr lang="en-PH" sz="4800" dirty="0" smtClean="0"/>
              <a:t/>
            </a:r>
            <a:br>
              <a:rPr lang="en-PH" sz="4800" dirty="0" smtClean="0"/>
            </a:br>
            <a:r>
              <a:rPr lang="en-PH" sz="4800" dirty="0" smtClean="0"/>
              <a:t>drink- drinkable -                   </a:t>
            </a:r>
            <a:r>
              <a:rPr lang="en-PH" sz="4800" b="1" dirty="0" smtClean="0"/>
              <a:t>DERIVATION </a:t>
            </a:r>
          </a:p>
          <a:p>
            <a:pPr marL="82550" indent="0">
              <a:buNone/>
            </a:pPr>
            <a:endParaRPr lang="en-PH" sz="4800" dirty="0" smtClean="0"/>
          </a:p>
          <a:p>
            <a:pPr marL="82550" indent="0">
              <a:buNone/>
            </a:pPr>
            <a:r>
              <a:rPr lang="en-PH" sz="4800" dirty="0" smtClean="0"/>
              <a:t>Doppelgänger-                        </a:t>
            </a:r>
            <a:r>
              <a:rPr lang="en-PH" sz="4800" b="1" dirty="0" smtClean="0"/>
              <a:t>LOAN WORDS </a:t>
            </a:r>
          </a:p>
          <a:p>
            <a:pPr marL="82550" indent="0">
              <a:buNone/>
            </a:pPr>
            <a:r>
              <a:rPr lang="en-PH" sz="4800" dirty="0" smtClean="0"/>
              <a:t/>
            </a:r>
            <a:br>
              <a:rPr lang="en-PH" sz="4800" dirty="0" smtClean="0"/>
            </a:br>
            <a:r>
              <a:rPr lang="en-PH" sz="4800" dirty="0" err="1" smtClean="0"/>
              <a:t>Pook-Sapot</a:t>
            </a:r>
            <a:r>
              <a:rPr lang="en-PH" sz="4800" dirty="0" smtClean="0"/>
              <a:t> -                            </a:t>
            </a:r>
            <a:r>
              <a:rPr lang="en-PH" sz="4800" b="1" dirty="0" smtClean="0"/>
              <a:t>NEOLOGISM</a:t>
            </a:r>
            <a:endParaRPr lang="en-PH" sz="4800" b="1" dirty="0"/>
          </a:p>
        </p:txBody>
      </p:sp>
    </p:spTree>
    <p:extLst>
      <p:ext uri="{BB962C8B-B14F-4D97-AF65-F5344CB8AC3E}">
        <p14:creationId xmlns:p14="http://schemas.microsoft.com/office/powerpoint/2010/main" val="14629365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a:xfrm>
            <a:off x="838200" y="365125"/>
            <a:ext cx="10515600" cy="5811838"/>
          </a:xfrm>
        </p:spPr>
        <p:txBody>
          <a:bodyPr>
            <a:normAutofit fontScale="85000" lnSpcReduction="20000"/>
          </a:bodyPr>
          <a:lstStyle/>
          <a:p>
            <a:r>
              <a:rPr lang="en-PH" sz="2500" b="1" dirty="0" smtClean="0">
                <a:latin typeface="Arial" panose="020B0604020202020204" pitchFamily="34" charset="0"/>
                <a:cs typeface="Arial" panose="020B0604020202020204" pitchFamily="34" charset="0"/>
              </a:rPr>
              <a:t>Some Common Types of Word Formation</a:t>
            </a:r>
            <a:endParaRPr lang="en-PH" sz="2500" dirty="0" smtClean="0">
              <a:latin typeface="Arial" panose="020B0604020202020204" pitchFamily="34" charset="0"/>
              <a:cs typeface="Arial" panose="020B0604020202020204" pitchFamily="34" charset="0"/>
            </a:endParaRPr>
          </a:p>
          <a:p>
            <a:r>
              <a:rPr lang="en-PH" sz="2500" dirty="0" smtClean="0">
                <a:latin typeface="Arial" panose="020B0604020202020204" pitchFamily="34" charset="0"/>
                <a:cs typeface="Arial" panose="020B0604020202020204" pitchFamily="34" charset="0"/>
              </a:rPr>
              <a:t>Affixation</a:t>
            </a:r>
          </a:p>
          <a:p>
            <a:r>
              <a:rPr lang="en-PH" sz="2500" dirty="0" smtClean="0">
                <a:latin typeface="Arial" panose="020B0604020202020204" pitchFamily="34" charset="0"/>
                <a:cs typeface="Arial" panose="020B0604020202020204" pitchFamily="34" charset="0"/>
              </a:rPr>
              <a:t>Back Formation</a:t>
            </a:r>
          </a:p>
          <a:p>
            <a:r>
              <a:rPr lang="en-PH" sz="2500" dirty="0" smtClean="0">
                <a:latin typeface="Arial" panose="020B0604020202020204" pitchFamily="34" charset="0"/>
                <a:cs typeface="Arial" panose="020B0604020202020204" pitchFamily="34" charset="0"/>
              </a:rPr>
              <a:t>Blending</a:t>
            </a:r>
          </a:p>
          <a:p>
            <a:r>
              <a:rPr lang="en-PH" sz="2500" dirty="0" smtClean="0">
                <a:latin typeface="Arial" panose="020B0604020202020204" pitchFamily="34" charset="0"/>
                <a:cs typeface="Arial" panose="020B0604020202020204" pitchFamily="34" charset="0"/>
              </a:rPr>
              <a:t>Clipping (Shortening, Truncation)</a:t>
            </a:r>
          </a:p>
          <a:p>
            <a:r>
              <a:rPr lang="en-PH" sz="2500" dirty="0" smtClean="0">
                <a:latin typeface="Arial" panose="020B0604020202020204" pitchFamily="34" charset="0"/>
                <a:cs typeface="Arial" panose="020B0604020202020204" pitchFamily="34" charset="0"/>
              </a:rPr>
              <a:t>Compounding</a:t>
            </a:r>
          </a:p>
          <a:p>
            <a:r>
              <a:rPr lang="en-PH" sz="2500" dirty="0" smtClean="0">
                <a:latin typeface="Arial" panose="020B0604020202020204" pitchFamily="34" charset="0"/>
                <a:cs typeface="Arial" panose="020B0604020202020204" pitchFamily="34" charset="0"/>
              </a:rPr>
              <a:t>Conversion</a:t>
            </a:r>
          </a:p>
          <a:p>
            <a:r>
              <a:rPr lang="en-PH" sz="2500" dirty="0" err="1" smtClean="0">
                <a:latin typeface="Arial" panose="020B0604020202020204" pitchFamily="34" charset="0"/>
                <a:cs typeface="Arial" panose="020B0604020202020204" pitchFamily="34" charset="0"/>
              </a:rPr>
              <a:t>Denominal</a:t>
            </a:r>
            <a:r>
              <a:rPr lang="en-PH" sz="2500" dirty="0" smtClean="0">
                <a:latin typeface="Arial" panose="020B0604020202020204" pitchFamily="34" charset="0"/>
                <a:cs typeface="Arial" panose="020B0604020202020204" pitchFamily="34" charset="0"/>
              </a:rPr>
              <a:t> Adjective, </a:t>
            </a:r>
            <a:r>
              <a:rPr lang="en-PH" sz="2500" dirty="0" err="1" smtClean="0">
                <a:latin typeface="Arial" panose="020B0604020202020204" pitchFamily="34" charset="0"/>
                <a:cs typeface="Arial" panose="020B0604020202020204" pitchFamily="34" charset="0"/>
              </a:rPr>
              <a:t>Denominal</a:t>
            </a:r>
            <a:r>
              <a:rPr lang="en-PH" sz="2500" dirty="0" smtClean="0">
                <a:latin typeface="Arial" panose="020B0604020202020204" pitchFamily="34" charset="0"/>
                <a:cs typeface="Arial" panose="020B0604020202020204" pitchFamily="34" charset="0"/>
              </a:rPr>
              <a:t> Noun, and </a:t>
            </a:r>
            <a:r>
              <a:rPr lang="en-PH" sz="2500" dirty="0" err="1" smtClean="0">
                <a:latin typeface="Arial" panose="020B0604020202020204" pitchFamily="34" charset="0"/>
                <a:cs typeface="Arial" panose="020B0604020202020204" pitchFamily="34" charset="0"/>
              </a:rPr>
              <a:t>Denominal</a:t>
            </a:r>
            <a:r>
              <a:rPr lang="en-PH" sz="2500" dirty="0" smtClean="0">
                <a:latin typeface="Arial" panose="020B0604020202020204" pitchFamily="34" charset="0"/>
                <a:cs typeface="Arial" panose="020B0604020202020204" pitchFamily="34" charset="0"/>
              </a:rPr>
              <a:t> Verb</a:t>
            </a:r>
          </a:p>
          <a:p>
            <a:r>
              <a:rPr lang="en-PH" sz="2500" dirty="0" smtClean="0">
                <a:latin typeface="Arial" panose="020B0604020202020204" pitchFamily="34" charset="0"/>
                <a:cs typeface="Arial" panose="020B0604020202020204" pitchFamily="34" charset="0"/>
              </a:rPr>
              <a:t>Derivation</a:t>
            </a:r>
          </a:p>
          <a:p>
            <a:r>
              <a:rPr lang="en-PH" sz="2500" dirty="0" smtClean="0">
                <a:latin typeface="Arial" panose="020B0604020202020204" pitchFamily="34" charset="0"/>
                <a:cs typeface="Arial" panose="020B0604020202020204" pitchFamily="34" charset="0"/>
              </a:rPr>
              <a:t>Derivational Morpheme and Inflectional Morpheme</a:t>
            </a:r>
          </a:p>
          <a:p>
            <a:r>
              <a:rPr lang="en-PH" sz="2500" dirty="0" smtClean="0">
                <a:latin typeface="Arial" panose="020B0604020202020204" pitchFamily="34" charset="0"/>
                <a:cs typeface="Arial" panose="020B0604020202020204" pitchFamily="34" charset="0"/>
              </a:rPr>
              <a:t>First-Sister Principle</a:t>
            </a:r>
          </a:p>
          <a:p>
            <a:r>
              <a:rPr lang="en-PH" sz="2500" dirty="0" smtClean="0">
                <a:latin typeface="Arial" panose="020B0604020202020204" pitchFamily="34" charset="0"/>
                <a:cs typeface="Arial" panose="020B0604020202020204" pitchFamily="34" charset="0"/>
              </a:rPr>
              <a:t>Loan Translation (Calque)</a:t>
            </a:r>
          </a:p>
          <a:p>
            <a:r>
              <a:rPr lang="en-PH" sz="2500" dirty="0" smtClean="0">
                <a:latin typeface="Arial" panose="020B0604020202020204" pitchFamily="34" charset="0"/>
                <a:cs typeface="Arial" panose="020B0604020202020204" pitchFamily="34" charset="0"/>
              </a:rPr>
              <a:t>Loanword</a:t>
            </a:r>
          </a:p>
          <a:p>
            <a:r>
              <a:rPr lang="en-PH" sz="2500" dirty="0" smtClean="0">
                <a:latin typeface="Arial" panose="020B0604020202020204" pitchFamily="34" charset="0"/>
                <a:cs typeface="Arial" panose="020B0604020202020204" pitchFamily="34" charset="0"/>
              </a:rPr>
              <a:t>Neologism</a:t>
            </a:r>
          </a:p>
          <a:p>
            <a:endParaRPr lang="en-PH" sz="2500" dirty="0" smtClean="0">
              <a:latin typeface="Arial" panose="020B0604020202020204" pitchFamily="34" charset="0"/>
              <a:cs typeface="Arial" panose="020B0604020202020204" pitchFamily="34" charset="0"/>
            </a:endParaRPr>
          </a:p>
          <a:p>
            <a:r>
              <a:rPr lang="en-PH" dirty="0" smtClean="0"/>
              <a:t>https://www.thoughtco.com/word-formation-1692501</a:t>
            </a:r>
            <a:endParaRPr lang="en-PH" dirty="0"/>
          </a:p>
        </p:txBody>
      </p:sp>
    </p:spTree>
    <p:extLst>
      <p:ext uri="{BB962C8B-B14F-4D97-AF65-F5344CB8AC3E}">
        <p14:creationId xmlns:p14="http://schemas.microsoft.com/office/powerpoint/2010/main" val="37000658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PH" dirty="0" smtClean="0"/>
              <a:t>POP UP QUIZ!</a:t>
            </a:r>
            <a:endParaRPr lang="en-PH" dirty="0"/>
          </a:p>
        </p:txBody>
      </p:sp>
      <p:sp>
        <p:nvSpPr>
          <p:cNvPr id="29699" name="Content Placeholder 2"/>
          <p:cNvSpPr>
            <a:spLocks noGrp="1"/>
          </p:cNvSpPr>
          <p:nvPr>
            <p:ph idx="1"/>
          </p:nvPr>
        </p:nvSpPr>
        <p:spPr>
          <a:xfrm>
            <a:off x="838200" y="1447800"/>
            <a:ext cx="9620250" cy="4800600"/>
          </a:xfrm>
        </p:spPr>
        <p:txBody>
          <a:bodyPr>
            <a:normAutofit/>
          </a:bodyPr>
          <a:lstStyle/>
          <a:p>
            <a:pPr marL="82550" indent="0">
              <a:buNone/>
            </a:pPr>
            <a:r>
              <a:rPr lang="en-PH" sz="4000" dirty="0" smtClean="0"/>
              <a:t>4. </a:t>
            </a:r>
            <a:r>
              <a:rPr lang="en-PH" sz="4000" dirty="0"/>
              <a:t> </a:t>
            </a:r>
            <a:r>
              <a:rPr lang="en-PH" sz="4000" dirty="0" smtClean="0"/>
              <a:t>What is the term for a speaker who is capable of operating his/her linguistics and sociolinguistic skills ?</a:t>
            </a:r>
            <a:br>
              <a:rPr lang="en-PH" sz="4000" dirty="0" smtClean="0"/>
            </a:br>
            <a:r>
              <a:rPr lang="en-PH" sz="4000" dirty="0" smtClean="0"/>
              <a:t>A. Intercultural </a:t>
            </a:r>
            <a:br>
              <a:rPr lang="en-PH" sz="4000" dirty="0" smtClean="0"/>
            </a:br>
            <a:r>
              <a:rPr lang="en-PH" sz="4000" dirty="0" smtClean="0"/>
              <a:t>B. Linguistic </a:t>
            </a:r>
            <a:br>
              <a:rPr lang="en-PH" sz="4000" dirty="0" smtClean="0"/>
            </a:br>
            <a:r>
              <a:rPr lang="en-PH" sz="4000" dirty="0" smtClean="0"/>
              <a:t>C. Discourse Speaker </a:t>
            </a:r>
            <a:br>
              <a:rPr lang="en-PH" sz="4000" dirty="0" smtClean="0"/>
            </a:br>
            <a:r>
              <a:rPr lang="en-PH" sz="4000" dirty="0" smtClean="0"/>
              <a:t>D. Strategic Speaker </a:t>
            </a:r>
            <a:endParaRPr lang="en-PH" sz="4000" b="1" dirty="0" smtClean="0"/>
          </a:p>
        </p:txBody>
      </p:sp>
    </p:spTree>
    <p:extLst>
      <p:ext uri="{BB962C8B-B14F-4D97-AF65-F5344CB8AC3E}">
        <p14:creationId xmlns:p14="http://schemas.microsoft.com/office/powerpoint/2010/main" val="41181459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PH" dirty="0" smtClean="0"/>
              <a:t>POP UP QUIZ!</a:t>
            </a:r>
            <a:endParaRPr lang="en-PH" dirty="0"/>
          </a:p>
        </p:txBody>
      </p:sp>
      <p:sp>
        <p:nvSpPr>
          <p:cNvPr id="29699" name="Content Placeholder 2"/>
          <p:cNvSpPr>
            <a:spLocks noGrp="1"/>
          </p:cNvSpPr>
          <p:nvPr>
            <p:ph idx="1"/>
          </p:nvPr>
        </p:nvSpPr>
        <p:spPr>
          <a:xfrm>
            <a:off x="838200" y="1447800"/>
            <a:ext cx="9620250" cy="4800600"/>
          </a:xfrm>
        </p:spPr>
        <p:txBody>
          <a:bodyPr>
            <a:normAutofit/>
          </a:bodyPr>
          <a:lstStyle/>
          <a:p>
            <a:pPr marL="82550" indent="0">
              <a:buNone/>
            </a:pPr>
            <a:r>
              <a:rPr lang="en-PH" sz="4000" dirty="0" smtClean="0"/>
              <a:t>4. </a:t>
            </a:r>
            <a:r>
              <a:rPr lang="en-PH" sz="4000" dirty="0"/>
              <a:t> </a:t>
            </a:r>
            <a:r>
              <a:rPr lang="en-PH" sz="4000" dirty="0" smtClean="0"/>
              <a:t>What is the term for a speaker who is capable of operating his/her linguistics and sociolinguistic skills ?</a:t>
            </a:r>
            <a:br>
              <a:rPr lang="en-PH" sz="4000" dirty="0" smtClean="0"/>
            </a:br>
            <a:r>
              <a:rPr lang="en-PH" sz="4000" b="1" dirty="0" smtClean="0"/>
              <a:t>A. Intercultural </a:t>
            </a:r>
            <a:r>
              <a:rPr lang="en-PH" sz="4000" dirty="0" smtClean="0"/>
              <a:t/>
            </a:r>
            <a:br>
              <a:rPr lang="en-PH" sz="4000" dirty="0" smtClean="0"/>
            </a:br>
            <a:r>
              <a:rPr lang="en-PH" sz="4000" dirty="0" smtClean="0"/>
              <a:t>B. Linguistic </a:t>
            </a:r>
            <a:br>
              <a:rPr lang="en-PH" sz="4000" dirty="0" smtClean="0"/>
            </a:br>
            <a:r>
              <a:rPr lang="en-PH" sz="4000" dirty="0" smtClean="0"/>
              <a:t>C. Discourse Speaker </a:t>
            </a:r>
            <a:br>
              <a:rPr lang="en-PH" sz="4000" dirty="0" smtClean="0"/>
            </a:br>
            <a:r>
              <a:rPr lang="en-PH" sz="4000" dirty="0" smtClean="0"/>
              <a:t>D. Strategic Speaker </a:t>
            </a:r>
            <a:endParaRPr lang="en-PH" sz="4000" b="1" dirty="0" smtClean="0"/>
          </a:p>
        </p:txBody>
      </p:sp>
    </p:spTree>
    <p:extLst>
      <p:ext uri="{BB962C8B-B14F-4D97-AF65-F5344CB8AC3E}">
        <p14:creationId xmlns:p14="http://schemas.microsoft.com/office/powerpoint/2010/main" val="27630399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a:xfrm>
            <a:off x="838199" y="1240971"/>
            <a:ext cx="10918371" cy="4935992"/>
          </a:xfrm>
        </p:spPr>
        <p:txBody>
          <a:bodyPr>
            <a:normAutofit/>
          </a:bodyPr>
          <a:lstStyle/>
          <a:p>
            <a:r>
              <a:rPr lang="en-PH" sz="3600" dirty="0"/>
              <a:t>The term </a:t>
            </a:r>
            <a:r>
              <a:rPr lang="en-PH" sz="3600" b="1" dirty="0" smtClean="0"/>
              <a:t>‘communicative competence’ </a:t>
            </a:r>
            <a:r>
              <a:rPr lang="en-PH" sz="3600" dirty="0" smtClean="0"/>
              <a:t>was </a:t>
            </a:r>
            <a:r>
              <a:rPr lang="en-PH" sz="3600" dirty="0"/>
              <a:t>first introduced by </a:t>
            </a:r>
            <a:r>
              <a:rPr lang="en-PH" sz="3600" b="1" dirty="0" err="1"/>
              <a:t>Hymes</a:t>
            </a:r>
            <a:r>
              <a:rPr lang="en-PH" sz="3600" b="1" dirty="0"/>
              <a:t> in (1972) </a:t>
            </a:r>
            <a:r>
              <a:rPr lang="en-PH" sz="3600" dirty="0"/>
              <a:t>as a </a:t>
            </a:r>
            <a:r>
              <a:rPr lang="en-PH" sz="3600" b="1" dirty="0"/>
              <a:t>sociolinguistic</a:t>
            </a:r>
            <a:r>
              <a:rPr lang="en-PH" sz="3600" dirty="0"/>
              <a:t> </a:t>
            </a:r>
            <a:r>
              <a:rPr lang="en-PH" sz="3600" b="1" dirty="0" smtClean="0"/>
              <a:t>concept </a:t>
            </a:r>
            <a:r>
              <a:rPr lang="en-PH" sz="3600" dirty="0" smtClean="0"/>
              <a:t>in </a:t>
            </a:r>
            <a:r>
              <a:rPr lang="en-PH" sz="3600" dirty="0"/>
              <a:t>reaction to the concept of ‘linguistic competence’ which was proposed by </a:t>
            </a:r>
            <a:r>
              <a:rPr lang="en-PH" sz="3600" b="1" dirty="0"/>
              <a:t>Chomsky in 1965</a:t>
            </a:r>
            <a:r>
              <a:rPr lang="en-PH" sz="3600" dirty="0"/>
              <a:t>. </a:t>
            </a:r>
          </a:p>
        </p:txBody>
      </p:sp>
    </p:spTree>
    <p:extLst>
      <p:ext uri="{BB962C8B-B14F-4D97-AF65-F5344CB8AC3E}">
        <p14:creationId xmlns:p14="http://schemas.microsoft.com/office/powerpoint/2010/main" val="6127594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a:xfrm>
            <a:off x="838200" y="365125"/>
            <a:ext cx="10515600" cy="5811838"/>
          </a:xfrm>
        </p:spPr>
        <p:txBody>
          <a:bodyPr>
            <a:normAutofit/>
          </a:bodyPr>
          <a:lstStyle/>
          <a:p>
            <a:r>
              <a:rPr lang="en-PH" sz="4800" b="1" dirty="0" err="1"/>
              <a:t>Hymes</a:t>
            </a:r>
            <a:r>
              <a:rPr lang="en-PH" sz="4800" b="1" dirty="0"/>
              <a:t> (1972) ‘communicative competence</a:t>
            </a:r>
            <a:r>
              <a:rPr lang="en-PH" sz="4800" dirty="0"/>
              <a:t>’ refers to the level of language learning that enables language users to convey their messages to others and to understand others’ messages within specific contexts. </a:t>
            </a:r>
          </a:p>
        </p:txBody>
      </p:sp>
    </p:spTree>
    <p:extLst>
      <p:ext uri="{BB962C8B-B14F-4D97-AF65-F5344CB8AC3E}">
        <p14:creationId xmlns:p14="http://schemas.microsoft.com/office/powerpoint/2010/main" val="41873146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a:xfrm>
            <a:off x="838200" y="365125"/>
            <a:ext cx="10515600" cy="5811838"/>
          </a:xfrm>
        </p:spPr>
        <p:txBody>
          <a:bodyPr>
            <a:noAutofit/>
          </a:bodyPr>
          <a:lstStyle/>
          <a:p>
            <a:r>
              <a:rPr lang="en-PH" sz="4000" dirty="0" smtClean="0"/>
              <a:t>‘Communicative </a:t>
            </a:r>
            <a:r>
              <a:rPr lang="en-PH" sz="4000" dirty="0"/>
              <a:t>competence’ were later developed by </a:t>
            </a:r>
            <a:r>
              <a:rPr lang="en-PH" sz="4000" b="1" dirty="0" err="1"/>
              <a:t>Canale</a:t>
            </a:r>
            <a:r>
              <a:rPr lang="en-PH" sz="4000" b="1" dirty="0"/>
              <a:t> and Swain in 1980 </a:t>
            </a:r>
            <a:r>
              <a:rPr lang="en-PH" sz="4000" dirty="0"/>
              <a:t>who introduced a theoretical model of </a:t>
            </a:r>
            <a:r>
              <a:rPr lang="en-PH" sz="4000" b="1" dirty="0"/>
              <a:t>‘communicative competence</a:t>
            </a:r>
            <a:r>
              <a:rPr lang="en-PH" sz="4000" b="1" dirty="0" smtClean="0"/>
              <a:t>’.</a:t>
            </a:r>
          </a:p>
          <a:p>
            <a:endParaRPr lang="en-PH" sz="4000" dirty="0"/>
          </a:p>
          <a:p>
            <a:r>
              <a:rPr lang="en-PH" sz="4000" dirty="0"/>
              <a:t>“the relationship and interaction between grammatical competence, or knowledge of the rules of grammar, and sociolinguistic competence, or knowledge of rules of language use” (</a:t>
            </a:r>
            <a:r>
              <a:rPr lang="en-PH" sz="4000" dirty="0" err="1"/>
              <a:t>Canale</a:t>
            </a:r>
            <a:r>
              <a:rPr lang="en-PH" sz="4000" dirty="0"/>
              <a:t> &amp; Swain, 1980: 6). </a:t>
            </a:r>
          </a:p>
        </p:txBody>
      </p:sp>
    </p:spTree>
    <p:extLst>
      <p:ext uri="{BB962C8B-B14F-4D97-AF65-F5344CB8AC3E}">
        <p14:creationId xmlns:p14="http://schemas.microsoft.com/office/powerpoint/2010/main" val="344294421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pic>
        <p:nvPicPr>
          <p:cNvPr id="1026" name="Picture 2" descr="Figure 2 Theory of communicative competence (Canale and Swain, 1980) &#10;                "/>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0062" y="0"/>
            <a:ext cx="11971937" cy="6176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792299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p:txBody>
          <a:bodyPr/>
          <a:lstStyle/>
          <a:p>
            <a:endParaRPr lang="en-PH"/>
          </a:p>
        </p:txBody>
      </p:sp>
      <p:pic>
        <p:nvPicPr>
          <p:cNvPr id="2050" name="Picture 2" descr="http://4.bp.blogspot.com/-oBjFABWA5bM/TyfNElnT-kI/AAAAAAAAHHo/0ZrxCMdahls/s1600/Figure1Articl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5429" y="365125"/>
            <a:ext cx="11451771" cy="62098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552020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dirty="0"/>
          </a:p>
        </p:txBody>
      </p:sp>
      <p:sp>
        <p:nvSpPr>
          <p:cNvPr id="3" name="Content Placeholder 2"/>
          <p:cNvSpPr>
            <a:spLocks noGrp="1"/>
          </p:cNvSpPr>
          <p:nvPr>
            <p:ph idx="1"/>
          </p:nvPr>
        </p:nvSpPr>
        <p:spPr>
          <a:xfrm>
            <a:off x="838200" y="365125"/>
            <a:ext cx="10515600" cy="5811838"/>
          </a:xfrm>
        </p:spPr>
        <p:txBody>
          <a:bodyPr>
            <a:noAutofit/>
          </a:bodyPr>
          <a:lstStyle/>
          <a:p>
            <a:r>
              <a:rPr lang="en-PH" sz="4000" dirty="0" err="1"/>
              <a:t>I</a:t>
            </a:r>
            <a:r>
              <a:rPr lang="en-PH" sz="4000" dirty="0" err="1" smtClean="0"/>
              <a:t>nterlanguage</a:t>
            </a:r>
            <a:r>
              <a:rPr lang="en-PH" sz="4000" dirty="0" smtClean="0"/>
              <a:t> </a:t>
            </a:r>
            <a:r>
              <a:rPr lang="en-PH" sz="4000" dirty="0"/>
              <a:t>(IL) was introduced by the American linguist Larry </a:t>
            </a:r>
            <a:r>
              <a:rPr lang="en-PH" sz="4000" dirty="0" err="1"/>
              <a:t>Selinker</a:t>
            </a:r>
            <a:r>
              <a:rPr lang="en-PH" sz="4000" dirty="0"/>
              <a:t> to refer to the linguistic system evidenced when an adult </a:t>
            </a:r>
            <a:r>
              <a:rPr lang="en-PH" sz="4000" dirty="0" err="1"/>
              <a:t>secondlanguage</a:t>
            </a:r>
            <a:r>
              <a:rPr lang="en-PH" sz="4000" dirty="0"/>
              <a:t> learner attempts to express meanings in the language being learned. </a:t>
            </a:r>
            <a:endParaRPr lang="en-PH" sz="4000" dirty="0" smtClean="0"/>
          </a:p>
        </p:txBody>
      </p:sp>
    </p:spTree>
    <p:extLst>
      <p:ext uri="{BB962C8B-B14F-4D97-AF65-F5344CB8AC3E}">
        <p14:creationId xmlns:p14="http://schemas.microsoft.com/office/powerpoint/2010/main" val="356692050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p:txBody>
          <a:bodyPr>
            <a:normAutofit/>
          </a:bodyPr>
          <a:lstStyle/>
          <a:p>
            <a:r>
              <a:rPr lang="en-PH" sz="4000" dirty="0"/>
              <a:t>The </a:t>
            </a:r>
            <a:r>
              <a:rPr lang="en-PH" sz="4000" dirty="0" err="1"/>
              <a:t>interlanguage</a:t>
            </a:r>
            <a:r>
              <a:rPr lang="en-PH" sz="4000" dirty="0"/>
              <a:t> is viewed as a separate linguistic system, clearly different from both the learner’s ‘native language’ (NL) and the ‘target language’ (TL) being learned, but linked to both NL and TL by </a:t>
            </a:r>
            <a:r>
              <a:rPr lang="en-PH" sz="4000" dirty="0" err="1"/>
              <a:t>interlingual</a:t>
            </a:r>
            <a:r>
              <a:rPr lang="en-PH" sz="4000" dirty="0"/>
              <a:t> identifications in the perception of the learner.</a:t>
            </a:r>
          </a:p>
          <a:p>
            <a:endParaRPr lang="en-PH" sz="4000" dirty="0"/>
          </a:p>
        </p:txBody>
      </p:sp>
    </p:spTree>
    <p:extLst>
      <p:ext uri="{BB962C8B-B14F-4D97-AF65-F5344CB8AC3E}">
        <p14:creationId xmlns:p14="http://schemas.microsoft.com/office/powerpoint/2010/main" val="31550432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pic>
        <p:nvPicPr>
          <p:cNvPr id="3074" name="Picture 2" descr="https://i.ytimg.com/vi/zqVRV1Wzthc/hqdefault.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561068"/>
            <a:ext cx="10853057" cy="5657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08366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p:txBody>
          <a:bodyPr>
            <a:noAutofit/>
          </a:bodyPr>
          <a:lstStyle/>
          <a:p>
            <a:r>
              <a:rPr lang="en-PH" sz="4000" dirty="0" smtClean="0"/>
              <a:t>5. Which of the following term pertains to the study of ways  in which  non-native speaker acquire, comprehend, and use linguistic patterns or speech acts in a second language ? </a:t>
            </a:r>
            <a:br>
              <a:rPr lang="en-PH" sz="4000" dirty="0" smtClean="0"/>
            </a:br>
            <a:r>
              <a:rPr lang="en-PH" sz="4000" dirty="0" smtClean="0"/>
              <a:t>A. Speech Act Theory </a:t>
            </a:r>
            <a:br>
              <a:rPr lang="en-PH" sz="4000" dirty="0" smtClean="0"/>
            </a:br>
            <a:r>
              <a:rPr lang="en-PH" sz="4000" dirty="0" smtClean="0"/>
              <a:t>B. Second Language Acquisition </a:t>
            </a:r>
            <a:br>
              <a:rPr lang="en-PH" sz="4000" dirty="0" smtClean="0"/>
            </a:br>
            <a:r>
              <a:rPr lang="en-PH" sz="4000" dirty="0" smtClean="0"/>
              <a:t>C. Inter-language Pragmatics </a:t>
            </a:r>
          </a:p>
          <a:p>
            <a:r>
              <a:rPr lang="en-PH" sz="4000" dirty="0" smtClean="0"/>
              <a:t>D. Monitor </a:t>
            </a:r>
            <a:endParaRPr lang="en-PH" sz="4000" dirty="0"/>
          </a:p>
        </p:txBody>
      </p:sp>
    </p:spTree>
    <p:extLst>
      <p:ext uri="{BB962C8B-B14F-4D97-AF65-F5344CB8AC3E}">
        <p14:creationId xmlns:p14="http://schemas.microsoft.com/office/powerpoint/2010/main" val="33266932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p:txBody>
          <a:bodyPr>
            <a:noAutofit/>
          </a:bodyPr>
          <a:lstStyle/>
          <a:p>
            <a:r>
              <a:rPr lang="en-PH" sz="4000" dirty="0" smtClean="0"/>
              <a:t>5. Which of the following term pertains to the study of ways  in which  non-native speaker acquire, comprehend, and use linguistic patterns or speech acts in a second language ? </a:t>
            </a:r>
            <a:br>
              <a:rPr lang="en-PH" sz="4000" dirty="0" smtClean="0"/>
            </a:br>
            <a:r>
              <a:rPr lang="en-PH" sz="4000" dirty="0" smtClean="0"/>
              <a:t>A. Speech Act Theory </a:t>
            </a:r>
            <a:br>
              <a:rPr lang="en-PH" sz="4000" dirty="0" smtClean="0"/>
            </a:br>
            <a:r>
              <a:rPr lang="en-PH" sz="4000" dirty="0" smtClean="0"/>
              <a:t>B. Second Language Acquisition </a:t>
            </a:r>
            <a:br>
              <a:rPr lang="en-PH" sz="4000" dirty="0" smtClean="0"/>
            </a:br>
            <a:r>
              <a:rPr lang="en-PH" sz="4000" b="1" dirty="0" smtClean="0"/>
              <a:t>C. Inter-language Pragmatics </a:t>
            </a:r>
          </a:p>
          <a:p>
            <a:r>
              <a:rPr lang="en-PH" sz="4000" dirty="0" smtClean="0"/>
              <a:t>D. Monitor </a:t>
            </a:r>
            <a:endParaRPr lang="en-PH" sz="4000" dirty="0"/>
          </a:p>
        </p:txBody>
      </p:sp>
    </p:spTree>
    <p:extLst>
      <p:ext uri="{BB962C8B-B14F-4D97-AF65-F5344CB8AC3E}">
        <p14:creationId xmlns:p14="http://schemas.microsoft.com/office/powerpoint/2010/main" val="28510936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a:xfrm>
            <a:off x="838200" y="365125"/>
            <a:ext cx="10515600" cy="4351338"/>
          </a:xfrm>
        </p:spPr>
        <p:txBody>
          <a:bodyPr>
            <a:noAutofit/>
          </a:bodyPr>
          <a:lstStyle/>
          <a:p>
            <a:r>
              <a:rPr lang="en-PH" sz="4400" dirty="0" smtClean="0"/>
              <a:t>6. </a:t>
            </a:r>
            <a:r>
              <a:rPr lang="en-PH" sz="4400" dirty="0"/>
              <a:t> </a:t>
            </a:r>
            <a:r>
              <a:rPr lang="en-PH" sz="4400" dirty="0" smtClean="0"/>
              <a:t>In Language Learning, which of the following is not part of motivational teaching practice ? </a:t>
            </a:r>
          </a:p>
          <a:p>
            <a:r>
              <a:rPr lang="en-PH" sz="4400" dirty="0" smtClean="0"/>
              <a:t>A. </a:t>
            </a:r>
            <a:r>
              <a:rPr lang="en-PH" sz="4400" dirty="0"/>
              <a:t>Creating basic motivational conditions</a:t>
            </a:r>
          </a:p>
          <a:p>
            <a:r>
              <a:rPr lang="en-PH" sz="4400" dirty="0" smtClean="0"/>
              <a:t>B. </a:t>
            </a:r>
            <a:r>
              <a:rPr lang="en-PH" sz="4400" dirty="0"/>
              <a:t>Generating initial student motivation</a:t>
            </a:r>
          </a:p>
          <a:p>
            <a:r>
              <a:rPr lang="en-PH" sz="4400" dirty="0" smtClean="0"/>
              <a:t>C. </a:t>
            </a:r>
            <a:r>
              <a:rPr lang="en-PH" sz="4400" dirty="0"/>
              <a:t>Maintaining and promoting motivation</a:t>
            </a:r>
          </a:p>
          <a:p>
            <a:r>
              <a:rPr lang="en-PH" sz="4400" dirty="0" smtClean="0"/>
              <a:t>D. Providing Feedback </a:t>
            </a:r>
            <a:endParaRPr lang="en-PH" sz="4400" dirty="0"/>
          </a:p>
        </p:txBody>
      </p:sp>
    </p:spTree>
    <p:extLst>
      <p:ext uri="{BB962C8B-B14F-4D97-AF65-F5344CB8AC3E}">
        <p14:creationId xmlns:p14="http://schemas.microsoft.com/office/powerpoint/2010/main" val="36486187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a:xfrm>
            <a:off x="838200" y="365125"/>
            <a:ext cx="10515600" cy="4351338"/>
          </a:xfrm>
        </p:spPr>
        <p:txBody>
          <a:bodyPr>
            <a:noAutofit/>
          </a:bodyPr>
          <a:lstStyle/>
          <a:p>
            <a:r>
              <a:rPr lang="en-PH" sz="4400" dirty="0" smtClean="0"/>
              <a:t>6. </a:t>
            </a:r>
            <a:r>
              <a:rPr lang="en-PH" sz="4400" dirty="0"/>
              <a:t> </a:t>
            </a:r>
            <a:r>
              <a:rPr lang="en-PH" sz="4400" dirty="0" smtClean="0"/>
              <a:t>In Language Learning, which of the following is not part of motivational teaching practice ? </a:t>
            </a:r>
          </a:p>
          <a:p>
            <a:r>
              <a:rPr lang="en-PH" sz="4400" dirty="0" smtClean="0"/>
              <a:t>A. </a:t>
            </a:r>
            <a:r>
              <a:rPr lang="en-PH" sz="4400" dirty="0"/>
              <a:t>Creating basic motivational conditions</a:t>
            </a:r>
          </a:p>
          <a:p>
            <a:r>
              <a:rPr lang="en-PH" sz="4400" dirty="0" smtClean="0"/>
              <a:t>B. </a:t>
            </a:r>
            <a:r>
              <a:rPr lang="en-PH" sz="4400" dirty="0"/>
              <a:t>Generating initial student motivation</a:t>
            </a:r>
          </a:p>
          <a:p>
            <a:r>
              <a:rPr lang="en-PH" sz="4400" dirty="0" smtClean="0"/>
              <a:t>C. </a:t>
            </a:r>
            <a:r>
              <a:rPr lang="en-PH" sz="4400" dirty="0"/>
              <a:t>Maintaining and promoting motivation</a:t>
            </a:r>
          </a:p>
          <a:p>
            <a:r>
              <a:rPr lang="en-PH" sz="4400" b="1" dirty="0" smtClean="0"/>
              <a:t>D. Providing Feedback </a:t>
            </a:r>
            <a:endParaRPr lang="en-PH" sz="4400" b="1" dirty="0"/>
          </a:p>
        </p:txBody>
      </p:sp>
    </p:spTree>
    <p:extLst>
      <p:ext uri="{BB962C8B-B14F-4D97-AF65-F5344CB8AC3E}">
        <p14:creationId xmlns:p14="http://schemas.microsoft.com/office/powerpoint/2010/main" val="42781633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a:xfrm>
            <a:off x="326571" y="1825625"/>
            <a:ext cx="11647715" cy="4351338"/>
          </a:xfrm>
        </p:spPr>
        <p:txBody>
          <a:bodyPr/>
          <a:lstStyle/>
          <a:p>
            <a:r>
              <a:rPr lang="en-PH" dirty="0" smtClean="0"/>
              <a:t> </a:t>
            </a:r>
            <a:r>
              <a:rPr lang="en-PH" sz="5400" dirty="0" smtClean="0"/>
              <a:t>INTRINSIC VS EXTRINSIC MOTIVATION </a:t>
            </a:r>
          </a:p>
          <a:p>
            <a:r>
              <a:rPr lang="en-PH" sz="5400" dirty="0" smtClean="0"/>
              <a:t>INTEGRATIVE VS INSTRUMENTAL MOTIVATION </a:t>
            </a:r>
          </a:p>
        </p:txBody>
      </p:sp>
    </p:spTree>
    <p:extLst>
      <p:ext uri="{BB962C8B-B14F-4D97-AF65-F5344CB8AC3E}">
        <p14:creationId xmlns:p14="http://schemas.microsoft.com/office/powerpoint/2010/main" val="27661416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p:txBody>
          <a:bodyPr/>
          <a:lstStyle/>
          <a:p>
            <a:r>
              <a:rPr lang="en-PH" dirty="0"/>
              <a:t>Learners with an instrumental motivation want to learn a language because of a practical reason such as getting a salary bonus or getting into college. Many college language learners have a clear instrumental motivation for language </a:t>
            </a:r>
            <a:r>
              <a:rPr lang="en-PH" dirty="0" smtClean="0"/>
              <a:t>learning.</a:t>
            </a:r>
          </a:p>
          <a:p>
            <a:r>
              <a:rPr lang="en-PH" dirty="0" err="1" smtClean="0"/>
              <a:t>Integratively</a:t>
            </a:r>
            <a:r>
              <a:rPr lang="en-PH" dirty="0" smtClean="0"/>
              <a:t> </a:t>
            </a:r>
            <a:r>
              <a:rPr lang="en-PH" dirty="0"/>
              <a:t>motivated learners want to learn the language so that they can better understand and get to know the people who speak that language.</a:t>
            </a:r>
          </a:p>
        </p:txBody>
      </p:sp>
    </p:spTree>
    <p:extLst>
      <p:ext uri="{BB962C8B-B14F-4D97-AF65-F5344CB8AC3E}">
        <p14:creationId xmlns:p14="http://schemas.microsoft.com/office/powerpoint/2010/main" val="5553998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p:txBody>
          <a:bodyPr/>
          <a:lstStyle/>
          <a:p>
            <a:endParaRPr lang="en-PH"/>
          </a:p>
        </p:txBody>
      </p:sp>
      <p:pic>
        <p:nvPicPr>
          <p:cNvPr id="4098" name="Picture 2" descr="Image result for integrative and instrumental motiv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365125"/>
            <a:ext cx="10515600" cy="5811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83355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pic>
        <p:nvPicPr>
          <p:cNvPr id="5124" name="Picture 4" descr="Related imag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76942" y="365125"/>
            <a:ext cx="10776857" cy="60792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55489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dirty="0"/>
          </a:p>
        </p:txBody>
      </p:sp>
      <p:sp>
        <p:nvSpPr>
          <p:cNvPr id="3" name="Content Placeholder 2"/>
          <p:cNvSpPr>
            <a:spLocks noGrp="1"/>
          </p:cNvSpPr>
          <p:nvPr>
            <p:ph idx="1"/>
          </p:nvPr>
        </p:nvSpPr>
        <p:spPr>
          <a:xfrm>
            <a:off x="489857" y="365125"/>
            <a:ext cx="10515600" cy="4351338"/>
          </a:xfrm>
        </p:spPr>
        <p:txBody>
          <a:bodyPr>
            <a:noAutofit/>
          </a:bodyPr>
          <a:lstStyle/>
          <a:p>
            <a:r>
              <a:rPr lang="en-PH" sz="4000" dirty="0" smtClean="0"/>
              <a:t>7. Teacher Anna emphasized the need for her students to be motivated before  starting a new lesson, As a result, she shared a story about  learning for empowerment and better self-image. What type of motivation did she use in her class ? </a:t>
            </a:r>
            <a:br>
              <a:rPr lang="en-PH" sz="4000" dirty="0" smtClean="0"/>
            </a:br>
            <a:r>
              <a:rPr lang="en-PH" sz="4000" dirty="0"/>
              <a:t>A. Genuine Motivation</a:t>
            </a:r>
            <a:br>
              <a:rPr lang="en-PH" sz="4000" dirty="0"/>
            </a:br>
            <a:r>
              <a:rPr lang="en-PH" sz="4000" dirty="0"/>
              <a:t>B. Intrinsic Motivation </a:t>
            </a:r>
            <a:br>
              <a:rPr lang="en-PH" sz="4000" dirty="0"/>
            </a:br>
            <a:r>
              <a:rPr lang="en-PH" sz="4000" dirty="0"/>
              <a:t>C. Extrinsic Motivation </a:t>
            </a:r>
            <a:br>
              <a:rPr lang="en-PH" sz="4000" dirty="0"/>
            </a:br>
            <a:r>
              <a:rPr lang="en-PH" sz="4000" dirty="0"/>
              <a:t>D. Life-long Learning</a:t>
            </a:r>
          </a:p>
        </p:txBody>
      </p:sp>
    </p:spTree>
    <p:extLst>
      <p:ext uri="{BB962C8B-B14F-4D97-AF65-F5344CB8AC3E}">
        <p14:creationId xmlns:p14="http://schemas.microsoft.com/office/powerpoint/2010/main" val="30378983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dirty="0"/>
          </a:p>
        </p:txBody>
      </p:sp>
      <p:sp>
        <p:nvSpPr>
          <p:cNvPr id="3" name="Content Placeholder 2"/>
          <p:cNvSpPr>
            <a:spLocks noGrp="1"/>
          </p:cNvSpPr>
          <p:nvPr>
            <p:ph idx="1"/>
          </p:nvPr>
        </p:nvSpPr>
        <p:spPr>
          <a:xfrm>
            <a:off x="489857" y="365125"/>
            <a:ext cx="10515600" cy="4351338"/>
          </a:xfrm>
        </p:spPr>
        <p:txBody>
          <a:bodyPr>
            <a:noAutofit/>
          </a:bodyPr>
          <a:lstStyle/>
          <a:p>
            <a:r>
              <a:rPr lang="en-PH" sz="4000" dirty="0" smtClean="0"/>
              <a:t>7. Teacher Anna emphasized the need for her students to be motivated before  starting a new lesson. As a result, she shared a story about  learning for empowerment and better self-image. What type of motivation did she use in her class ? </a:t>
            </a:r>
            <a:br>
              <a:rPr lang="en-PH" sz="4000" dirty="0" smtClean="0"/>
            </a:br>
            <a:r>
              <a:rPr lang="en-PH" sz="4000" dirty="0"/>
              <a:t>A. Genuine Motivation</a:t>
            </a:r>
            <a:br>
              <a:rPr lang="en-PH" sz="4000" dirty="0"/>
            </a:br>
            <a:r>
              <a:rPr lang="en-PH" sz="4000" b="1" dirty="0"/>
              <a:t>B. Intrinsic Motivation</a:t>
            </a:r>
            <a:r>
              <a:rPr lang="en-PH" sz="4000" dirty="0"/>
              <a:t> </a:t>
            </a:r>
            <a:br>
              <a:rPr lang="en-PH" sz="4000" dirty="0"/>
            </a:br>
            <a:r>
              <a:rPr lang="en-PH" sz="4000" dirty="0"/>
              <a:t>C. Extrinsic Motivation </a:t>
            </a:r>
            <a:br>
              <a:rPr lang="en-PH" sz="4000" dirty="0"/>
            </a:br>
            <a:r>
              <a:rPr lang="en-PH" sz="4000" dirty="0"/>
              <a:t>D. Life-long Learning</a:t>
            </a:r>
          </a:p>
        </p:txBody>
      </p:sp>
    </p:spTree>
    <p:extLst>
      <p:ext uri="{BB962C8B-B14F-4D97-AF65-F5344CB8AC3E}">
        <p14:creationId xmlns:p14="http://schemas.microsoft.com/office/powerpoint/2010/main" val="4931234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pic>
        <p:nvPicPr>
          <p:cNvPr id="6146" name="Picture 2" descr="Image result for MORPHEM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6571" y="365125"/>
            <a:ext cx="11604172" cy="59268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7048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pic>
        <p:nvPicPr>
          <p:cNvPr id="7170" name="Picture 2" descr="Image result for MORPHEM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43025" y="365125"/>
            <a:ext cx="11313546" cy="6144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47137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b="1" dirty="0"/>
              <a:t>V</a:t>
            </a:r>
            <a:r>
              <a:rPr lang="en-PH" b="1" dirty="0" smtClean="0"/>
              <a:t>ocabulary</a:t>
            </a:r>
            <a:endParaRPr lang="en-PH" b="1" dirty="0"/>
          </a:p>
        </p:txBody>
      </p:sp>
      <p:sp>
        <p:nvSpPr>
          <p:cNvPr id="3" name="Content Placeholder 2"/>
          <p:cNvSpPr>
            <a:spLocks noGrp="1"/>
          </p:cNvSpPr>
          <p:nvPr>
            <p:ph idx="1"/>
          </p:nvPr>
        </p:nvSpPr>
        <p:spPr/>
        <p:txBody>
          <a:bodyPr/>
          <a:lstStyle/>
          <a:p>
            <a:r>
              <a:rPr lang="en-PH" dirty="0" smtClean="0"/>
              <a:t>Profligate </a:t>
            </a:r>
          </a:p>
          <a:p>
            <a:r>
              <a:rPr lang="en-PH" dirty="0" err="1" smtClean="0"/>
              <a:t>Superluous</a:t>
            </a:r>
            <a:r>
              <a:rPr lang="en-PH" dirty="0" smtClean="0"/>
              <a:t> </a:t>
            </a:r>
          </a:p>
          <a:p>
            <a:r>
              <a:rPr lang="en-PH" dirty="0" smtClean="0"/>
              <a:t>Stiffen </a:t>
            </a:r>
          </a:p>
          <a:p>
            <a:endParaRPr lang="en-PH" dirty="0"/>
          </a:p>
        </p:txBody>
      </p:sp>
    </p:spTree>
    <p:extLst>
      <p:ext uri="{BB962C8B-B14F-4D97-AF65-F5344CB8AC3E}">
        <p14:creationId xmlns:p14="http://schemas.microsoft.com/office/powerpoint/2010/main" val="2426988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p:txBody>
          <a:bodyPr/>
          <a:lstStyle/>
          <a:p>
            <a:r>
              <a:rPr lang="en-PH" dirty="0" smtClean="0"/>
              <a:t>Professor </a:t>
            </a:r>
            <a:r>
              <a:rPr lang="en-PH" dirty="0" err="1" smtClean="0"/>
              <a:t>Patte</a:t>
            </a:r>
            <a:r>
              <a:rPr lang="en-PH" dirty="0" smtClean="0"/>
              <a:t> author of the standard history of American Short story has outlined the require sites of a modern short story which are as follows: </a:t>
            </a:r>
          </a:p>
          <a:p>
            <a:r>
              <a:rPr lang="en-PH" dirty="0" smtClean="0"/>
              <a:t>1. </a:t>
            </a:r>
            <a:r>
              <a:rPr lang="en-PH" dirty="0"/>
              <a:t> </a:t>
            </a:r>
            <a:r>
              <a:rPr lang="en-PH" dirty="0" smtClean="0"/>
              <a:t>the story must be short, one that can be read at a single sitting. </a:t>
            </a:r>
          </a:p>
          <a:p>
            <a:r>
              <a:rPr lang="en-PH" dirty="0"/>
              <a:t> </a:t>
            </a:r>
            <a:r>
              <a:rPr lang="en-PH" dirty="0" smtClean="0"/>
              <a:t>2. there must be compression; backgrounds must be sketched, not elaborated </a:t>
            </a:r>
          </a:p>
          <a:p>
            <a:r>
              <a:rPr lang="en-PH" dirty="0" smtClean="0"/>
              <a:t>3. there must be unity, a single  line of action or single situation </a:t>
            </a:r>
          </a:p>
          <a:p>
            <a:pPr marL="0" indent="0">
              <a:buNone/>
            </a:pPr>
            <a:endParaRPr lang="en-PH" dirty="0" smtClean="0"/>
          </a:p>
          <a:p>
            <a:endParaRPr lang="en-PH" dirty="0"/>
          </a:p>
        </p:txBody>
      </p:sp>
    </p:spTree>
    <p:extLst>
      <p:ext uri="{BB962C8B-B14F-4D97-AF65-F5344CB8AC3E}">
        <p14:creationId xmlns:p14="http://schemas.microsoft.com/office/powerpoint/2010/main" val="7066774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p:txBody>
          <a:bodyPr/>
          <a:lstStyle/>
          <a:p>
            <a:r>
              <a:rPr lang="en-PH" dirty="0" smtClean="0"/>
              <a:t>4. the story must have immediateness; from the very start reader must be given the nature of the situation and characters. </a:t>
            </a:r>
          </a:p>
          <a:p>
            <a:r>
              <a:rPr lang="en-PH" dirty="0" smtClean="0"/>
              <a:t>5. there must be a continuous momentum,  no let down until the end. </a:t>
            </a:r>
          </a:p>
          <a:p>
            <a:r>
              <a:rPr lang="en-PH" dirty="0" smtClean="0"/>
              <a:t>6. </a:t>
            </a:r>
            <a:r>
              <a:rPr lang="en-PH" dirty="0"/>
              <a:t> </a:t>
            </a:r>
            <a:r>
              <a:rPr lang="en-PH" dirty="0" smtClean="0"/>
              <a:t>the  characterization must be such that the characters will reveal themselves. </a:t>
            </a:r>
          </a:p>
          <a:p>
            <a:r>
              <a:rPr lang="en-PH" dirty="0" smtClean="0"/>
              <a:t>7. the story must have verisimilitude, impressing the reader as natural and true. </a:t>
            </a:r>
          </a:p>
          <a:p>
            <a:endParaRPr lang="en-PH" dirty="0"/>
          </a:p>
        </p:txBody>
      </p:sp>
    </p:spTree>
    <p:extLst>
      <p:ext uri="{BB962C8B-B14F-4D97-AF65-F5344CB8AC3E}">
        <p14:creationId xmlns:p14="http://schemas.microsoft.com/office/powerpoint/2010/main" val="24664538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p:txBody>
          <a:bodyPr/>
          <a:lstStyle/>
          <a:p>
            <a:r>
              <a:rPr lang="en-PH" dirty="0" smtClean="0"/>
              <a:t>8.  the story must be style. The writer must have a distinction in phrasing </a:t>
            </a:r>
          </a:p>
          <a:p>
            <a:r>
              <a:rPr lang="en-PH" dirty="0" smtClean="0"/>
              <a:t>9.  there must be culmination, the story having an object toward which it constantly moves. </a:t>
            </a:r>
          </a:p>
          <a:p>
            <a:r>
              <a:rPr lang="en-PH" dirty="0" smtClean="0"/>
              <a:t>10. the story must have  “soul:. It must shed light in some way upon the human tragedy or human comedy.”</a:t>
            </a:r>
            <a:endParaRPr lang="en-PH" dirty="0"/>
          </a:p>
        </p:txBody>
      </p:sp>
    </p:spTree>
    <p:extLst>
      <p:ext uri="{BB962C8B-B14F-4D97-AF65-F5344CB8AC3E}">
        <p14:creationId xmlns:p14="http://schemas.microsoft.com/office/powerpoint/2010/main" val="16153420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smtClean="0"/>
              <a:t>Rhetorical devices </a:t>
            </a:r>
            <a:endParaRPr lang="en-PH" dirty="0"/>
          </a:p>
        </p:txBody>
      </p:sp>
      <p:sp>
        <p:nvSpPr>
          <p:cNvPr id="3" name="Content Placeholder 2"/>
          <p:cNvSpPr>
            <a:spLocks noGrp="1"/>
          </p:cNvSpPr>
          <p:nvPr>
            <p:ph idx="1"/>
          </p:nvPr>
        </p:nvSpPr>
        <p:spPr/>
        <p:txBody>
          <a:bodyPr/>
          <a:lstStyle/>
          <a:p>
            <a:r>
              <a:rPr lang="en-PH" dirty="0"/>
              <a:t>Definition of </a:t>
            </a:r>
            <a:r>
              <a:rPr lang="en-PH" dirty="0" err="1"/>
              <a:t>Polyptoton</a:t>
            </a:r>
            <a:endParaRPr lang="en-PH" dirty="0"/>
          </a:p>
          <a:p>
            <a:r>
              <a:rPr lang="en-PH" dirty="0" err="1"/>
              <a:t>Polyptoton</a:t>
            </a:r>
            <a:r>
              <a:rPr lang="en-PH" dirty="0"/>
              <a:t> is a stylistic device that is a rhetorical </a:t>
            </a:r>
            <a:r>
              <a:rPr lang="en-PH" dirty="0">
                <a:hlinkClick r:id="rId2"/>
              </a:rPr>
              <a:t>repetition</a:t>
            </a:r>
            <a:r>
              <a:rPr lang="en-PH" dirty="0"/>
              <a:t> of the same root word, however, each time the word is repeated in a different way such as the words </a:t>
            </a:r>
            <a:r>
              <a:rPr lang="en-PH" dirty="0" err="1"/>
              <a:t>Iuppiter</a:t>
            </a:r>
            <a:r>
              <a:rPr lang="en-PH" dirty="0"/>
              <a:t>, </a:t>
            </a:r>
            <a:r>
              <a:rPr lang="en-PH" dirty="0" err="1"/>
              <a:t>lovi</a:t>
            </a:r>
            <a:r>
              <a:rPr lang="en-PH" dirty="0"/>
              <a:t>, </a:t>
            </a:r>
            <a:r>
              <a:rPr lang="en-PH" dirty="0" err="1"/>
              <a:t>lovis</a:t>
            </a:r>
            <a:r>
              <a:rPr lang="en-PH" dirty="0"/>
              <a:t>, </a:t>
            </a:r>
            <a:r>
              <a:rPr lang="en-PH" dirty="0" err="1"/>
              <a:t>lovem</a:t>
            </a:r>
            <a:r>
              <a:rPr lang="en-PH" dirty="0"/>
              <a:t> are derived from a root word “love”.</a:t>
            </a:r>
          </a:p>
          <a:p>
            <a:endParaRPr lang="en-PH" dirty="0" smtClean="0"/>
          </a:p>
          <a:p>
            <a:r>
              <a:rPr lang="en-PH" dirty="0"/>
              <a:t>The Greeks are</a:t>
            </a:r>
            <a:r>
              <a:rPr lang="en-PH" b="1" dirty="0"/>
              <a:t> strong</a:t>
            </a:r>
            <a:r>
              <a:rPr lang="en-PH" dirty="0"/>
              <a:t>, and </a:t>
            </a:r>
            <a:r>
              <a:rPr lang="en-PH" b="1" dirty="0" err="1"/>
              <a:t>skillful</a:t>
            </a:r>
            <a:r>
              <a:rPr lang="en-PH" dirty="0"/>
              <a:t> to their </a:t>
            </a:r>
            <a:r>
              <a:rPr lang="en-PH" b="1" dirty="0"/>
              <a:t>strength, fierce</a:t>
            </a:r>
            <a:r>
              <a:rPr lang="en-PH" dirty="0"/>
              <a:t> to their </a:t>
            </a:r>
            <a:r>
              <a:rPr lang="en-PH" b="1" dirty="0"/>
              <a:t>skill</a:t>
            </a:r>
            <a:r>
              <a:rPr lang="en-PH" dirty="0"/>
              <a:t>, and to their </a:t>
            </a:r>
            <a:r>
              <a:rPr lang="en-PH" b="1" dirty="0"/>
              <a:t>fierceness</a:t>
            </a:r>
            <a:r>
              <a:rPr lang="en-PH" dirty="0"/>
              <a:t> valiant….”</a:t>
            </a:r>
          </a:p>
        </p:txBody>
      </p:sp>
    </p:spTree>
    <p:extLst>
      <p:ext uri="{BB962C8B-B14F-4D97-AF65-F5344CB8AC3E}">
        <p14:creationId xmlns:p14="http://schemas.microsoft.com/office/powerpoint/2010/main" val="39206197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p:txBody>
          <a:bodyPr/>
          <a:lstStyle/>
          <a:p>
            <a:r>
              <a:rPr lang="en-PH" dirty="0" err="1"/>
              <a:t>Epiphora</a:t>
            </a:r>
            <a:r>
              <a:rPr lang="en-PH" dirty="0"/>
              <a:t> Definition</a:t>
            </a:r>
          </a:p>
          <a:p>
            <a:r>
              <a:rPr lang="en-PH" dirty="0" err="1"/>
              <a:t>Epiphora</a:t>
            </a:r>
            <a:r>
              <a:rPr lang="en-PH" dirty="0"/>
              <a:t>, also known as </a:t>
            </a:r>
            <a:r>
              <a:rPr lang="en-PH" dirty="0" err="1">
                <a:hlinkClick r:id="rId2"/>
              </a:rPr>
              <a:t>epistrophe</a:t>
            </a:r>
            <a:r>
              <a:rPr lang="en-PH" dirty="0"/>
              <a:t>, is a stylistic device in which a word or a phrase is repeated at the end of successive clauses. Examples of </a:t>
            </a:r>
            <a:r>
              <a:rPr lang="en-PH" dirty="0" err="1"/>
              <a:t>epiphora</a:t>
            </a:r>
            <a:r>
              <a:rPr lang="en-PH" dirty="0"/>
              <a:t> are not only found in literary pieces. Debates and persuasive writings are also rich with </a:t>
            </a:r>
            <a:r>
              <a:rPr lang="en-PH" dirty="0" err="1"/>
              <a:t>epiphora</a:t>
            </a:r>
            <a:r>
              <a:rPr lang="en-PH" dirty="0"/>
              <a:t> examples</a:t>
            </a:r>
            <a:r>
              <a:rPr lang="en-PH" dirty="0" smtClean="0"/>
              <a:t>.</a:t>
            </a:r>
          </a:p>
          <a:p>
            <a:endParaRPr lang="en-PH" dirty="0"/>
          </a:p>
          <a:p>
            <a:r>
              <a:rPr lang="en-PH" dirty="0"/>
              <a:t>“Hourly joys be still upon </a:t>
            </a:r>
            <a:r>
              <a:rPr lang="en-PH" b="1" i="1" dirty="0"/>
              <a:t>you</a:t>
            </a:r>
            <a:r>
              <a:rPr lang="en-PH" dirty="0"/>
              <a:t>! Juno sings her blessings on </a:t>
            </a:r>
            <a:r>
              <a:rPr lang="en-PH" b="1" i="1" dirty="0"/>
              <a:t>you</a:t>
            </a:r>
            <a:r>
              <a:rPr lang="en-PH" dirty="0"/>
              <a:t>. . . . Scarcity and want shall shun </a:t>
            </a:r>
            <a:r>
              <a:rPr lang="en-PH" b="1" i="1" dirty="0"/>
              <a:t>you</a:t>
            </a:r>
            <a:r>
              <a:rPr lang="en-PH" dirty="0"/>
              <a:t>, Ceres’ blessing so is on </a:t>
            </a:r>
            <a:r>
              <a:rPr lang="en-PH" b="1" i="1" dirty="0"/>
              <a:t>you</a:t>
            </a:r>
            <a:r>
              <a:rPr lang="en-PH" dirty="0" smtClean="0"/>
              <a:t>.”</a:t>
            </a:r>
          </a:p>
          <a:p>
            <a:r>
              <a:rPr lang="en-PH" dirty="0"/>
              <a:t>(</a:t>
            </a:r>
            <a:r>
              <a:rPr lang="en-PH" i="1" dirty="0"/>
              <a:t>The Tempest</a:t>
            </a:r>
            <a:r>
              <a:rPr lang="en-PH" dirty="0"/>
              <a:t> by William Shakespeare)</a:t>
            </a:r>
          </a:p>
          <a:p>
            <a:endParaRPr lang="en-PH" dirty="0"/>
          </a:p>
        </p:txBody>
      </p:sp>
      <p:sp>
        <p:nvSpPr>
          <p:cNvPr id="5"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anose="020B0604020202020204" pitchFamily="34" charset="0"/>
              </a:rPr>
              <a:t>“Hourly joys be still upon </a:t>
            </a:r>
            <a:r>
              <a:rPr kumimoji="0" lang="en-US" sz="1800" b="1" i="1" u="none" strike="noStrike" cap="none" normalizeH="0" baseline="0" smtClean="0">
                <a:ln>
                  <a:noFill/>
                </a:ln>
                <a:solidFill>
                  <a:schemeClr val="tx1"/>
                </a:solidFill>
                <a:effectLst/>
                <a:latin typeface="Arial" panose="020B0604020202020204" pitchFamily="34" charset="0"/>
              </a:rPr>
              <a:t>you</a:t>
            </a:r>
            <a:r>
              <a:rPr kumimoji="0" lang="en-US" sz="1800" b="0" i="0" u="none" strike="noStrike" cap="none" normalizeH="0" baseline="0" smtClean="0">
                <a:ln>
                  <a:noFill/>
                </a:ln>
                <a:solidFill>
                  <a:schemeClr val="tx1"/>
                </a:solidFill>
                <a:effectLst/>
                <a:latin typeface="Arial" panose="020B0604020202020204" pitchFamily="34" charset="0"/>
              </a:rPr>
              <a:t>! Juno sings her blessings on </a:t>
            </a:r>
            <a:r>
              <a:rPr kumimoji="0" lang="en-US" sz="1800" b="1" i="1" u="none" strike="noStrike" cap="none" normalizeH="0" baseline="0" smtClean="0">
                <a:ln>
                  <a:noFill/>
                </a:ln>
                <a:solidFill>
                  <a:schemeClr val="tx1"/>
                </a:solidFill>
                <a:effectLst/>
                <a:latin typeface="Arial" panose="020B0604020202020204" pitchFamily="34" charset="0"/>
              </a:rPr>
              <a:t>you</a:t>
            </a:r>
            <a:r>
              <a:rPr kumimoji="0" lang="en-US" sz="1800" b="0" i="0" u="none" strike="noStrike" cap="none" normalizeH="0" baseline="0" smtClean="0">
                <a:ln>
                  <a:noFill/>
                </a:ln>
                <a:solidFill>
                  <a:schemeClr val="tx1"/>
                </a:solidFill>
                <a:effectLst/>
                <a:latin typeface="Arial" panose="020B0604020202020204" pitchFamily="34" charset="0"/>
              </a:rPr>
              <a:t>. . . . Scarcity and want shall shun </a:t>
            </a:r>
            <a:r>
              <a:rPr kumimoji="0" lang="en-US" sz="1800" b="1" i="1" u="none" strike="noStrike" cap="none" normalizeH="0" baseline="0" smtClean="0">
                <a:ln>
                  <a:noFill/>
                </a:ln>
                <a:solidFill>
                  <a:schemeClr val="tx1"/>
                </a:solidFill>
                <a:effectLst/>
                <a:latin typeface="Arial" panose="020B0604020202020204" pitchFamily="34" charset="0"/>
              </a:rPr>
              <a:t>you</a:t>
            </a:r>
            <a:r>
              <a:rPr kumimoji="0" lang="en-US" sz="1800" b="0" i="0" u="none" strike="noStrike" cap="none" normalizeH="0" baseline="0" smtClean="0">
                <a:ln>
                  <a:noFill/>
                </a:ln>
                <a:solidFill>
                  <a:schemeClr val="tx1"/>
                </a:solidFill>
                <a:effectLst/>
                <a:latin typeface="Arial" panose="020B0604020202020204" pitchFamily="34" charset="0"/>
              </a:rPr>
              <a:t>, Ceres’ blessing so is on </a:t>
            </a:r>
            <a:r>
              <a:rPr kumimoji="0" lang="en-US" sz="1800" b="1" i="1" u="none" strike="noStrike" cap="none" normalizeH="0" baseline="0" smtClean="0">
                <a:ln>
                  <a:noFill/>
                </a:ln>
                <a:solidFill>
                  <a:schemeClr val="tx1"/>
                </a:solidFill>
                <a:effectLst/>
                <a:latin typeface="Arial" panose="020B0604020202020204" pitchFamily="34" charset="0"/>
              </a:rPr>
              <a:t>you</a:t>
            </a:r>
            <a:r>
              <a:rPr kumimoji="0" lang="en-US" sz="1800" b="0" i="0" u="none" strike="noStrike" cap="none" normalizeH="0" baseline="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300" b="0" i="0" u="none" strike="noStrike" cap="none" normalizeH="0" baseline="0" smtClean="0">
                <a:ln>
                  <a:noFill/>
                </a:ln>
                <a:solidFill>
                  <a:srgbClr val="333333"/>
                </a:solidFill>
                <a:effectLst/>
                <a:latin typeface="Arial" panose="020B0604020202020204" pitchFamily="34" charset="0"/>
                <a:cs typeface="Arial" panose="020B0604020202020204" pitchFamily="34" charset="0"/>
              </a:rPr>
              <a:t>(</a:t>
            </a:r>
            <a:r>
              <a:rPr kumimoji="0" lang="en-US" sz="1300" b="0" i="1" u="none" strike="noStrike" cap="none" normalizeH="0" baseline="0" smtClean="0">
                <a:ln>
                  <a:noFill/>
                </a:ln>
                <a:solidFill>
                  <a:srgbClr val="333333"/>
                </a:solidFill>
                <a:effectLst/>
                <a:latin typeface="Arial" panose="020B0604020202020204" pitchFamily="34" charset="0"/>
                <a:cs typeface="Arial" panose="020B0604020202020204" pitchFamily="34" charset="0"/>
              </a:rPr>
              <a:t>The Tempest</a:t>
            </a:r>
            <a:r>
              <a:rPr kumimoji="0" lang="en-US" sz="1300" b="0" i="0" u="none" strike="noStrike" cap="none" normalizeH="0" baseline="0" smtClean="0">
                <a:ln>
                  <a:noFill/>
                </a:ln>
                <a:solidFill>
                  <a:srgbClr val="333333"/>
                </a:solidFill>
                <a:effectLst/>
                <a:latin typeface="Arial" panose="020B0604020202020204" pitchFamily="34" charset="0"/>
                <a:cs typeface="Arial" panose="020B0604020202020204" pitchFamily="34" charset="0"/>
              </a:rPr>
              <a:t> by William Shakespeare)</a:t>
            </a:r>
            <a:endParaRPr kumimoji="0" 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790746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p:txBody>
          <a:bodyPr/>
          <a:lstStyle/>
          <a:p>
            <a:r>
              <a:rPr lang="en-PH" i="1" dirty="0" err="1"/>
              <a:t>Gradatio</a:t>
            </a:r>
            <a:r>
              <a:rPr lang="en-PH" dirty="0"/>
              <a:t> is a </a:t>
            </a:r>
            <a:r>
              <a:rPr lang="en-PH" dirty="0">
                <a:hlinkClick r:id="rId2"/>
              </a:rPr>
              <a:t>rhetorical term</a:t>
            </a:r>
            <a:r>
              <a:rPr lang="en-PH" dirty="0"/>
              <a:t> for a sentence construction in which the last word(s) of one </a:t>
            </a:r>
            <a:r>
              <a:rPr lang="en-PH" dirty="0">
                <a:hlinkClick r:id="rId3"/>
              </a:rPr>
              <a:t>clause</a:t>
            </a:r>
            <a:r>
              <a:rPr lang="en-PH" dirty="0"/>
              <a:t> becomes the first of the next, through three or more clauses (an extended form of </a:t>
            </a:r>
            <a:r>
              <a:rPr lang="en-PH" dirty="0">
                <a:hlinkClick r:id="rId4"/>
              </a:rPr>
              <a:t>anadiplosis</a:t>
            </a:r>
            <a:r>
              <a:rPr lang="en-PH" dirty="0"/>
              <a:t>). </a:t>
            </a:r>
            <a:r>
              <a:rPr lang="en-PH" dirty="0" err="1"/>
              <a:t>Gradatio</a:t>
            </a:r>
            <a:r>
              <a:rPr lang="en-PH" dirty="0"/>
              <a:t> has been described as the </a:t>
            </a:r>
            <a:r>
              <a:rPr lang="en-PH" i="1" dirty="0"/>
              <a:t>marching</a:t>
            </a:r>
            <a:r>
              <a:rPr lang="en-PH" dirty="0"/>
              <a:t> or </a:t>
            </a:r>
            <a:r>
              <a:rPr lang="en-PH" i="1" dirty="0"/>
              <a:t>climbing </a:t>
            </a:r>
            <a:r>
              <a:rPr lang="en-PH" i="1" dirty="0">
                <a:hlinkClick r:id="rId5"/>
              </a:rPr>
              <a:t>figure of speech</a:t>
            </a:r>
            <a:r>
              <a:rPr lang="en-PH" dirty="0"/>
              <a:t>. Also known as </a:t>
            </a:r>
            <a:r>
              <a:rPr lang="en-PH" i="1" dirty="0" err="1"/>
              <a:t>incrementum</a:t>
            </a:r>
            <a:r>
              <a:rPr lang="en-PH" dirty="0"/>
              <a:t> and </a:t>
            </a:r>
            <a:r>
              <a:rPr lang="en-PH" i="1" dirty="0"/>
              <a:t>the marching figure</a:t>
            </a:r>
            <a:r>
              <a:rPr lang="en-PH" dirty="0"/>
              <a:t> (</a:t>
            </a:r>
            <a:r>
              <a:rPr lang="en-PH" dirty="0" err="1"/>
              <a:t>Puttenham</a:t>
            </a:r>
            <a:r>
              <a:rPr lang="en-PH" dirty="0" smtClean="0"/>
              <a:t>).</a:t>
            </a:r>
          </a:p>
          <a:p>
            <a:endParaRPr lang="en-PH" dirty="0"/>
          </a:p>
          <a:p>
            <a:r>
              <a:rPr lang="en-PH" dirty="0"/>
              <a:t>"They call for you: The general who became a slave; the slave who became a gladiator; the gladiator who defied an Emperor. Striking story."</a:t>
            </a:r>
            <a:br>
              <a:rPr lang="en-PH" dirty="0"/>
            </a:br>
            <a:r>
              <a:rPr lang="en-PH" dirty="0"/>
              <a:t>(Joaquin Phoenix in the film </a:t>
            </a:r>
            <a:r>
              <a:rPr lang="en-PH" i="1" dirty="0"/>
              <a:t>Gladiator</a:t>
            </a:r>
            <a:r>
              <a:rPr lang="en-PH" dirty="0"/>
              <a:t>, 2000) </a:t>
            </a:r>
          </a:p>
          <a:p>
            <a:endParaRPr lang="en-PH" dirty="0"/>
          </a:p>
        </p:txBody>
      </p:sp>
    </p:spTree>
    <p:extLst>
      <p:ext uri="{BB962C8B-B14F-4D97-AF65-F5344CB8AC3E}">
        <p14:creationId xmlns:p14="http://schemas.microsoft.com/office/powerpoint/2010/main" val="16582325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err="1"/>
              <a:t>Cliffhanger</a:t>
            </a:r>
            <a:r>
              <a:rPr lang="en-PH" dirty="0"/>
              <a:t> </a:t>
            </a:r>
            <a:br>
              <a:rPr lang="en-PH" dirty="0"/>
            </a:br>
            <a:endParaRPr lang="en-PH" dirty="0"/>
          </a:p>
        </p:txBody>
      </p:sp>
      <p:sp>
        <p:nvSpPr>
          <p:cNvPr id="3" name="Content Placeholder 2"/>
          <p:cNvSpPr>
            <a:spLocks noGrp="1"/>
          </p:cNvSpPr>
          <p:nvPr>
            <p:ph idx="1"/>
          </p:nvPr>
        </p:nvSpPr>
        <p:spPr/>
        <p:txBody>
          <a:bodyPr/>
          <a:lstStyle/>
          <a:p>
            <a:r>
              <a:rPr lang="en-PH" dirty="0"/>
              <a:t>A </a:t>
            </a:r>
            <a:r>
              <a:rPr lang="en-PH" dirty="0" err="1"/>
              <a:t>cliffhanger</a:t>
            </a:r>
            <a:r>
              <a:rPr lang="en-PH" dirty="0"/>
              <a:t> is a type of </a:t>
            </a:r>
            <a:r>
              <a:rPr lang="en-PH" dirty="0">
                <a:hlinkClick r:id="rId2"/>
              </a:rPr>
              <a:t>narrative</a:t>
            </a:r>
            <a:r>
              <a:rPr lang="en-PH" dirty="0"/>
              <a:t> or a plot device in which the end is curiously abrupt so that the main characters are left in a difficult situation </a:t>
            </a:r>
            <a:r>
              <a:rPr lang="en-PH" dirty="0" smtClean="0"/>
              <a:t>without </a:t>
            </a:r>
            <a:r>
              <a:rPr lang="en-PH" dirty="0"/>
              <a:t>offering any </a:t>
            </a:r>
            <a:r>
              <a:rPr lang="en-PH" dirty="0">
                <a:hlinkClick r:id="rId3"/>
              </a:rPr>
              <a:t>resolution</a:t>
            </a:r>
            <a:r>
              <a:rPr lang="en-PH" dirty="0"/>
              <a:t> of conflicts</a:t>
            </a:r>
            <a:r>
              <a:rPr lang="en-PH" dirty="0" smtClean="0"/>
              <a:t>.</a:t>
            </a:r>
          </a:p>
          <a:p>
            <a:endParaRPr lang="en-PH" dirty="0"/>
          </a:p>
          <a:p>
            <a:r>
              <a:rPr lang="en-PH" dirty="0" err="1"/>
              <a:t>Cliffhanger</a:t>
            </a:r>
            <a:r>
              <a:rPr lang="en-PH" dirty="0"/>
              <a:t> has its roots in ancient oriental literature. One example is in the collection of stories known as “One Thousand and One Nights”. The king “</a:t>
            </a:r>
            <a:r>
              <a:rPr lang="en-PH" dirty="0" err="1"/>
              <a:t>Shehreyar</a:t>
            </a:r>
            <a:r>
              <a:rPr lang="en-PH" dirty="0"/>
              <a:t>” orders her queen “</a:t>
            </a:r>
            <a:r>
              <a:rPr lang="en-PH" dirty="0" err="1"/>
              <a:t>Scheherzade</a:t>
            </a:r>
            <a:r>
              <a:rPr lang="en-PH" dirty="0"/>
              <a:t>” to be hanged. She devises a plan to tell a story to the king every night and ending that story with a </a:t>
            </a:r>
            <a:r>
              <a:rPr lang="en-PH" dirty="0" err="1"/>
              <a:t>cliffhanger</a:t>
            </a:r>
            <a:r>
              <a:rPr lang="en-PH" dirty="0"/>
              <a:t>. The king postponed the order of execution every morning to hear the rest of the story.</a:t>
            </a:r>
          </a:p>
        </p:txBody>
      </p:sp>
    </p:spTree>
    <p:extLst>
      <p:ext uri="{BB962C8B-B14F-4D97-AF65-F5344CB8AC3E}">
        <p14:creationId xmlns:p14="http://schemas.microsoft.com/office/powerpoint/2010/main" val="9771475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34199" y="2139950"/>
            <a:ext cx="12762993" cy="2708528"/>
          </a:xfrm>
        </p:spPr>
        <p:txBody>
          <a:bodyPr/>
          <a:lstStyle/>
          <a:p>
            <a:endParaRPr lang="en-PH" dirty="0"/>
          </a:p>
        </p:txBody>
      </p:sp>
      <p:pic>
        <p:nvPicPr>
          <p:cNvPr id="3074" name="Picture 2" descr="Image result for one thousand and one nights scheherazad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365125"/>
            <a:ext cx="5083629" cy="6013904"/>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Image result for the tempes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1575" y="365125"/>
            <a:ext cx="5352596" cy="60139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34882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a:xfrm>
            <a:off x="307975" y="192767"/>
            <a:ext cx="6223454" cy="4351338"/>
          </a:xfrm>
        </p:spPr>
        <p:txBody>
          <a:bodyPr>
            <a:noAutofit/>
          </a:bodyPr>
          <a:lstStyle/>
          <a:p>
            <a:r>
              <a:rPr lang="en-PH" sz="3200" dirty="0"/>
              <a:t>Shakespeare could not afford his </a:t>
            </a:r>
            <a:r>
              <a:rPr lang="en-PH" sz="3200" dirty="0">
                <a:hlinkClick r:id="rId2"/>
              </a:rPr>
              <a:t>audience</a:t>
            </a:r>
            <a:r>
              <a:rPr lang="en-PH" sz="3200" dirty="0"/>
              <a:t> to be bored and for this reason he uses a </a:t>
            </a:r>
            <a:r>
              <a:rPr lang="en-PH" sz="3200" dirty="0" err="1"/>
              <a:t>cliffhanger</a:t>
            </a:r>
            <a:r>
              <a:rPr lang="en-PH" sz="3200" dirty="0"/>
              <a:t> in Act 1 Scene 1 of his play “The Tempest”. The scene of a storm and shipwreck is depicted in a most vivid manner but the audience is unsure if anybody on the ship survived. The device is employed with the purpose that the audience will return to see the next act. Finally, the fate of the crew on board is revealed in Act 2 Scene 1 and the focus of the audience is ensured by that time.</a:t>
            </a:r>
          </a:p>
        </p:txBody>
      </p:sp>
      <p:pic>
        <p:nvPicPr>
          <p:cNvPr id="4" name="Picture 4" descr="Image result for the tempes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31429" y="365125"/>
            <a:ext cx="5352596" cy="60139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52905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8971" y="413655"/>
            <a:ext cx="6248399" cy="5595259"/>
          </a:xfrm>
        </p:spPr>
        <p:txBody>
          <a:bodyPr>
            <a:noAutofit/>
          </a:bodyPr>
          <a:lstStyle/>
          <a:p>
            <a:r>
              <a:rPr lang="en-PH" sz="3600" dirty="0"/>
              <a:t>Anti-hero is a literary device used by writers for a prominent </a:t>
            </a:r>
            <a:r>
              <a:rPr lang="en-PH" sz="3600" dirty="0">
                <a:hlinkClick r:id="rId2"/>
              </a:rPr>
              <a:t>character</a:t>
            </a:r>
            <a:r>
              <a:rPr lang="en-PH" sz="3600" dirty="0"/>
              <a:t> in a play or book that has characteristics opposite to that of a conventional hero. The </a:t>
            </a:r>
            <a:r>
              <a:rPr lang="en-PH" sz="3600" dirty="0">
                <a:hlinkClick r:id="rId3"/>
              </a:rPr>
              <a:t>protagonist</a:t>
            </a:r>
            <a:r>
              <a:rPr lang="en-PH" sz="3600" dirty="0"/>
              <a:t> is generally admired for his bravery, strength, charm, ingenuity etc. while an anti-hero is typically clumsy, unsolicited, and unskilled and has both good and bad qualities.</a:t>
            </a:r>
          </a:p>
        </p:txBody>
      </p:sp>
      <p:sp>
        <p:nvSpPr>
          <p:cNvPr id="5" name="AutoShape 4" descr="Image result for hamlet"/>
          <p:cNvSpPr>
            <a:spLocks noGrp="1" noChangeAspect="1" noChangeArrowheads="1"/>
          </p:cNvSpPr>
          <p:nvPr>
            <p:ph type="title"/>
          </p:nvPr>
        </p:nvSpPr>
        <p:spPr bwMode="auto">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pic>
        <p:nvPicPr>
          <p:cNvPr id="2054" name="Picture 6" descr="Image result for hamle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3168" y="365125"/>
            <a:ext cx="4150632" cy="56437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073726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dirty="0"/>
          </a:p>
        </p:txBody>
      </p:sp>
      <p:sp>
        <p:nvSpPr>
          <p:cNvPr id="3" name="Content Placeholder 2"/>
          <p:cNvSpPr>
            <a:spLocks noGrp="1"/>
          </p:cNvSpPr>
          <p:nvPr>
            <p:ph idx="1"/>
          </p:nvPr>
        </p:nvSpPr>
        <p:spPr/>
        <p:txBody>
          <a:bodyPr/>
          <a:lstStyle/>
          <a:p>
            <a:r>
              <a:rPr lang="en-PH" dirty="0"/>
              <a:t>Allegory Definition</a:t>
            </a:r>
          </a:p>
          <a:p>
            <a:r>
              <a:rPr lang="en-PH" dirty="0"/>
              <a:t>Allegory is a </a:t>
            </a:r>
            <a:r>
              <a:rPr lang="en-PH" dirty="0">
                <a:hlinkClick r:id="rId2"/>
              </a:rPr>
              <a:t>figure of speech</a:t>
            </a:r>
            <a:r>
              <a:rPr lang="en-PH" dirty="0"/>
              <a:t> in which abstract ideas and principles are described in terms of characters, figures and events.</a:t>
            </a:r>
          </a:p>
          <a:p>
            <a:r>
              <a:rPr lang="en-PH" dirty="0"/>
              <a:t>It can be employed in </a:t>
            </a:r>
            <a:r>
              <a:rPr lang="en-PH" dirty="0">
                <a:hlinkClick r:id="rId3"/>
              </a:rPr>
              <a:t>prose</a:t>
            </a:r>
            <a:r>
              <a:rPr lang="en-PH" dirty="0"/>
              <a:t> and poetry to tell a story with a purpose of teaching an idea and a principle or explaining an idea or a principle. The objective of its use is to preach some kind of a </a:t>
            </a:r>
            <a:r>
              <a:rPr lang="en-PH" dirty="0">
                <a:hlinkClick r:id="rId4"/>
              </a:rPr>
              <a:t>moral</a:t>
            </a:r>
            <a:r>
              <a:rPr lang="en-PH" dirty="0"/>
              <a:t> lesson.</a:t>
            </a:r>
          </a:p>
          <a:p>
            <a:endParaRPr lang="en-PH" dirty="0"/>
          </a:p>
        </p:txBody>
      </p:sp>
    </p:spTree>
    <p:extLst>
      <p:ext uri="{BB962C8B-B14F-4D97-AF65-F5344CB8AC3E}">
        <p14:creationId xmlns:p14="http://schemas.microsoft.com/office/powerpoint/2010/main" val="314820207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a:xfrm>
            <a:off x="283029" y="631371"/>
            <a:ext cx="11070771" cy="5545592"/>
          </a:xfrm>
        </p:spPr>
        <p:txBody>
          <a:bodyPr>
            <a:normAutofit lnSpcReduction="10000"/>
          </a:bodyPr>
          <a:lstStyle/>
          <a:p>
            <a:pPr fontAlgn="base"/>
            <a:r>
              <a:rPr lang="en-PH" dirty="0"/>
              <a:t>The Tortoise and the Hare from </a:t>
            </a:r>
            <a:r>
              <a:rPr lang="en-PH" i="1" dirty="0"/>
              <a:t>Aesop’s Fables</a:t>
            </a:r>
            <a:r>
              <a:rPr lang="en-PH" dirty="0"/>
              <a:t>: From this story, we learn that the strong and steady win the race.</a:t>
            </a:r>
          </a:p>
          <a:p>
            <a:pPr fontAlgn="base"/>
            <a:r>
              <a:rPr lang="en-PH" dirty="0"/>
              <a:t>The story of Icarus: Icarus fashions wings for himself out of wax, but when he flies too close to the sun his wings melt. This story is a message about the dangers of reaching beyond out powers.</a:t>
            </a:r>
          </a:p>
          <a:p>
            <a:pPr fontAlgn="base"/>
            <a:r>
              <a:rPr lang="en-PH" dirty="0" err="1"/>
              <a:t>Yertle</a:t>
            </a:r>
            <a:r>
              <a:rPr lang="en-PH" dirty="0"/>
              <a:t> the Turtle by </a:t>
            </a:r>
            <a:r>
              <a:rPr lang="en-PH" dirty="0" err="1"/>
              <a:t>Dr.</a:t>
            </a:r>
            <a:r>
              <a:rPr lang="en-PH" dirty="0"/>
              <a:t> Seuss: This story about a turtle who yearns for too much power is actually an allegory about Adolf Hitler and the evils of totalitarianism.</a:t>
            </a:r>
          </a:p>
          <a:p>
            <a:pPr fontAlgn="base"/>
            <a:r>
              <a:rPr lang="en-PH" dirty="0"/>
              <a:t>The Hunger Games: This trilogy of Young Adult books (and now blockbuster movies) is an allegory for our obsession with reality television and how it numbs us to reality</a:t>
            </a:r>
            <a:r>
              <a:rPr lang="en-PH" dirty="0" smtClean="0"/>
              <a:t>.</a:t>
            </a:r>
          </a:p>
          <a:p>
            <a:pPr fontAlgn="base"/>
            <a:endParaRPr lang="en-PH" dirty="0"/>
          </a:p>
          <a:p>
            <a:pPr fontAlgn="base"/>
            <a:r>
              <a:rPr lang="en-PH" dirty="0"/>
              <a:t>http://www.literarydevices.com/allegory/</a:t>
            </a:r>
          </a:p>
          <a:p>
            <a:endParaRPr lang="en-PH" dirty="0"/>
          </a:p>
        </p:txBody>
      </p:sp>
    </p:spTree>
    <p:extLst>
      <p:ext uri="{BB962C8B-B14F-4D97-AF65-F5344CB8AC3E}">
        <p14:creationId xmlns:p14="http://schemas.microsoft.com/office/powerpoint/2010/main" val="394677895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p:txBody>
          <a:bodyPr>
            <a:normAutofit/>
          </a:bodyPr>
          <a:lstStyle/>
          <a:p>
            <a:r>
              <a:rPr lang="en-PH" sz="4400" dirty="0" smtClean="0"/>
              <a:t>8. What figure of Speech is : “O wild, west wind!”</a:t>
            </a:r>
            <a:br>
              <a:rPr lang="en-PH" sz="4400" dirty="0" smtClean="0"/>
            </a:br>
            <a:r>
              <a:rPr lang="en-PH" sz="4400" dirty="0" smtClean="0"/>
              <a:t>A. Apostrophe </a:t>
            </a:r>
            <a:br>
              <a:rPr lang="en-PH" sz="4400" dirty="0" smtClean="0"/>
            </a:br>
            <a:r>
              <a:rPr lang="en-PH" sz="4400" dirty="0" smtClean="0"/>
              <a:t>B. Hyperbole </a:t>
            </a:r>
            <a:br>
              <a:rPr lang="en-PH" sz="4400" dirty="0" smtClean="0"/>
            </a:br>
            <a:r>
              <a:rPr lang="en-PH" sz="4400" dirty="0" smtClean="0"/>
              <a:t>C. Irony </a:t>
            </a:r>
            <a:br>
              <a:rPr lang="en-PH" sz="4400" dirty="0" smtClean="0"/>
            </a:br>
            <a:r>
              <a:rPr lang="en-PH" sz="4400" dirty="0" smtClean="0"/>
              <a:t>D. Metaphor </a:t>
            </a:r>
            <a:endParaRPr lang="en-PH" sz="4400" dirty="0"/>
          </a:p>
        </p:txBody>
      </p:sp>
    </p:spTree>
    <p:extLst>
      <p:ext uri="{BB962C8B-B14F-4D97-AF65-F5344CB8AC3E}">
        <p14:creationId xmlns:p14="http://schemas.microsoft.com/office/powerpoint/2010/main" val="9642117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p:txBody>
          <a:bodyPr>
            <a:normAutofit/>
          </a:bodyPr>
          <a:lstStyle/>
          <a:p>
            <a:r>
              <a:rPr lang="en-PH" sz="4400" dirty="0" smtClean="0"/>
              <a:t>8. What figure of Speech is : “O wild, west wind!”</a:t>
            </a:r>
            <a:br>
              <a:rPr lang="en-PH" sz="4400" dirty="0" smtClean="0"/>
            </a:br>
            <a:r>
              <a:rPr lang="en-PH" sz="4400" dirty="0" smtClean="0"/>
              <a:t>A. Apostrophe </a:t>
            </a:r>
            <a:br>
              <a:rPr lang="en-PH" sz="4400" dirty="0" smtClean="0"/>
            </a:br>
            <a:r>
              <a:rPr lang="en-PH" sz="4400" dirty="0" smtClean="0"/>
              <a:t>B. Hyperbole </a:t>
            </a:r>
            <a:br>
              <a:rPr lang="en-PH" sz="4400" dirty="0" smtClean="0"/>
            </a:br>
            <a:r>
              <a:rPr lang="en-PH" sz="4400" dirty="0" smtClean="0"/>
              <a:t>C. Irony </a:t>
            </a:r>
            <a:br>
              <a:rPr lang="en-PH" sz="4400" dirty="0" smtClean="0"/>
            </a:br>
            <a:r>
              <a:rPr lang="en-PH" sz="4400" b="1" dirty="0" smtClean="0"/>
              <a:t>D. Metaphor </a:t>
            </a:r>
            <a:endParaRPr lang="en-PH" sz="4400" b="1" dirty="0"/>
          </a:p>
        </p:txBody>
      </p:sp>
    </p:spTree>
    <p:extLst>
      <p:ext uri="{BB962C8B-B14F-4D97-AF65-F5344CB8AC3E}">
        <p14:creationId xmlns:p14="http://schemas.microsoft.com/office/powerpoint/2010/main" val="4594041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a:xfrm>
            <a:off x="838200" y="365125"/>
            <a:ext cx="10515600" cy="5811838"/>
          </a:xfrm>
        </p:spPr>
        <p:txBody>
          <a:bodyPr>
            <a:normAutofit lnSpcReduction="10000"/>
          </a:bodyPr>
          <a:lstStyle/>
          <a:p>
            <a:r>
              <a:rPr lang="en-PH" b="1" dirty="0"/>
              <a:t>Examples of Figures of Speech and Rhetorical </a:t>
            </a:r>
            <a:r>
              <a:rPr lang="en-PH" b="1" dirty="0" err="1"/>
              <a:t>Devices</a:t>
            </a:r>
            <a:r>
              <a:rPr lang="en-PH" u="sng" dirty="0" err="1"/>
              <a:t>Stanza</a:t>
            </a:r>
            <a:r>
              <a:rPr lang="en-PH" u="sng" dirty="0"/>
              <a:t> 1</a:t>
            </a:r>
            <a:endParaRPr lang="en-PH" dirty="0"/>
          </a:p>
          <a:p>
            <a:r>
              <a:rPr lang="en-PH" dirty="0"/>
              <a:t>Alliteration: </a:t>
            </a:r>
            <a:r>
              <a:rPr lang="en-PH" b="1" i="1" dirty="0"/>
              <a:t>w</a:t>
            </a:r>
            <a:r>
              <a:rPr lang="en-PH" i="1" dirty="0"/>
              <a:t>ild </a:t>
            </a:r>
            <a:r>
              <a:rPr lang="en-PH" b="1" i="1" dirty="0"/>
              <a:t>W</a:t>
            </a:r>
            <a:r>
              <a:rPr lang="en-PH" i="1" dirty="0"/>
              <a:t>est </a:t>
            </a:r>
            <a:r>
              <a:rPr lang="en-PH" b="1" i="1" dirty="0"/>
              <a:t>W</a:t>
            </a:r>
            <a:r>
              <a:rPr lang="en-PH" i="1" dirty="0"/>
              <a:t>ind</a:t>
            </a:r>
            <a:r>
              <a:rPr lang="en-PH" dirty="0"/>
              <a:t> (line 1). </a:t>
            </a:r>
            <a:br>
              <a:rPr lang="en-PH" dirty="0"/>
            </a:br>
            <a:r>
              <a:rPr lang="en-PH" dirty="0"/>
              <a:t>Apostrophe, Personification: Throughout the poem, the poet addresses the west wind as if it were a person. </a:t>
            </a:r>
            <a:br>
              <a:rPr lang="en-PH" dirty="0"/>
            </a:br>
            <a:r>
              <a:rPr lang="en-PH" dirty="0"/>
              <a:t>Metaphor: Comparison of the west wind to </a:t>
            </a:r>
            <a:r>
              <a:rPr lang="en-PH" i="1" dirty="0"/>
              <a:t>breath of Autumn's being</a:t>
            </a:r>
            <a:r>
              <a:rPr lang="en-PH" dirty="0"/>
              <a:t> (line 1).  </a:t>
            </a:r>
            <a:br>
              <a:rPr lang="en-PH" dirty="0"/>
            </a:br>
            <a:r>
              <a:rPr lang="en-PH" dirty="0"/>
              <a:t>Metaphor: Comparison of autumn to a living, breathing creature (line 1). </a:t>
            </a:r>
            <a:br>
              <a:rPr lang="en-PH" dirty="0"/>
            </a:br>
            <a:r>
              <a:rPr lang="en-PH" dirty="0"/>
              <a:t>Anastrophe: </a:t>
            </a:r>
            <a:r>
              <a:rPr lang="en-PH" i="1" dirty="0"/>
              <a:t>leaves dead </a:t>
            </a:r>
            <a:r>
              <a:rPr lang="en-PH" dirty="0"/>
              <a:t>(line 2). Anastrophe is inversion of the normal word order, as in </a:t>
            </a:r>
            <a:r>
              <a:rPr lang="en-PH" i="1" dirty="0"/>
              <a:t>a man forgotten</a:t>
            </a:r>
            <a:r>
              <a:rPr lang="en-PH" dirty="0"/>
              <a:t> (instead of </a:t>
            </a:r>
            <a:r>
              <a:rPr lang="en-PH" i="1" dirty="0"/>
              <a:t>a forgotten man</a:t>
            </a:r>
            <a:r>
              <a:rPr lang="en-PH" dirty="0"/>
              <a:t>) or as in the opening lines of Samuel Taylor Coleridge's "</a:t>
            </a:r>
            <a:r>
              <a:rPr lang="en-PH" dirty="0" err="1"/>
              <a:t>Kubla</a:t>
            </a:r>
            <a:r>
              <a:rPr lang="en-PH" dirty="0"/>
              <a:t> Kahn": </a:t>
            </a:r>
            <a:r>
              <a:rPr lang="en-PH" i="1" dirty="0"/>
              <a:t>In </a:t>
            </a:r>
            <a:r>
              <a:rPr lang="en-PH" i="1" dirty="0" err="1"/>
              <a:t>Xanada</a:t>
            </a:r>
            <a:r>
              <a:rPr lang="en-PH" i="1" dirty="0"/>
              <a:t> did </a:t>
            </a:r>
            <a:r>
              <a:rPr lang="en-PH" i="1" dirty="0" err="1"/>
              <a:t>Kubla</a:t>
            </a:r>
            <a:r>
              <a:rPr lang="en-PH" i="1" dirty="0"/>
              <a:t> Kahn / A stately pleasure dome decree</a:t>
            </a:r>
            <a:r>
              <a:rPr lang="en-PH" dirty="0"/>
              <a:t> (instead of </a:t>
            </a:r>
            <a:r>
              <a:rPr lang="en-PH" i="1" dirty="0"/>
              <a:t>In </a:t>
            </a:r>
            <a:r>
              <a:rPr lang="en-PH" i="1" dirty="0" err="1"/>
              <a:t>Xanadu</a:t>
            </a:r>
            <a:r>
              <a:rPr lang="en-PH" i="1" dirty="0"/>
              <a:t>, </a:t>
            </a:r>
            <a:r>
              <a:rPr lang="en-PH" i="1" dirty="0" err="1"/>
              <a:t>Kubla</a:t>
            </a:r>
            <a:r>
              <a:rPr lang="en-PH" i="1" dirty="0"/>
              <a:t> Kahn decreed a stately pleasure dome</a:t>
            </a:r>
            <a:r>
              <a:rPr lang="en-PH" dirty="0"/>
              <a:t>). Here is another example, made up to demonstrate the inverted word order of anastrophe: </a:t>
            </a:r>
          </a:p>
          <a:p>
            <a:endParaRPr lang="en-PH" dirty="0"/>
          </a:p>
        </p:txBody>
      </p:sp>
    </p:spTree>
    <p:extLst>
      <p:ext uri="{BB962C8B-B14F-4D97-AF65-F5344CB8AC3E}">
        <p14:creationId xmlns:p14="http://schemas.microsoft.com/office/powerpoint/2010/main" val="236288897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p:txBody>
          <a:bodyPr/>
          <a:lstStyle/>
          <a:p>
            <a:r>
              <a:rPr lang="en-PH" dirty="0" smtClean="0"/>
              <a:t>The  Trojan war can be seen today as ____</a:t>
            </a:r>
            <a:br>
              <a:rPr lang="en-PH" dirty="0" smtClean="0"/>
            </a:br>
            <a:r>
              <a:rPr lang="en-PH" dirty="0" smtClean="0"/>
              <a:t>A. Women’s empowerment </a:t>
            </a:r>
            <a:br>
              <a:rPr lang="en-PH" dirty="0" smtClean="0"/>
            </a:br>
            <a:r>
              <a:rPr lang="en-PH" dirty="0" smtClean="0"/>
              <a:t>B. The War over lands and Boundaries </a:t>
            </a:r>
            <a:br>
              <a:rPr lang="en-PH" dirty="0" smtClean="0"/>
            </a:br>
            <a:r>
              <a:rPr lang="en-PH" dirty="0" smtClean="0"/>
              <a:t>C. Men’s Exhibition of grief </a:t>
            </a:r>
            <a:br>
              <a:rPr lang="en-PH" dirty="0" smtClean="0"/>
            </a:br>
            <a:r>
              <a:rPr lang="en-PH" dirty="0" smtClean="0"/>
              <a:t>D. The reign of Political Dynasty. </a:t>
            </a:r>
            <a:endParaRPr lang="en-PH" dirty="0"/>
          </a:p>
        </p:txBody>
      </p:sp>
    </p:spTree>
    <p:extLst>
      <p:ext uri="{BB962C8B-B14F-4D97-AF65-F5344CB8AC3E}">
        <p14:creationId xmlns:p14="http://schemas.microsoft.com/office/powerpoint/2010/main" val="75454224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p:txBody>
          <a:bodyPr/>
          <a:lstStyle/>
          <a:p>
            <a:r>
              <a:rPr lang="en-PH" dirty="0" smtClean="0"/>
              <a:t>The  Trojan war can be seen today as ____</a:t>
            </a:r>
            <a:br>
              <a:rPr lang="en-PH" dirty="0" smtClean="0"/>
            </a:br>
            <a:r>
              <a:rPr lang="en-PH" dirty="0" smtClean="0"/>
              <a:t>A. Women’s empowerment </a:t>
            </a:r>
            <a:br>
              <a:rPr lang="en-PH" dirty="0" smtClean="0"/>
            </a:br>
            <a:r>
              <a:rPr lang="en-PH" b="1" dirty="0" smtClean="0"/>
              <a:t>B. The War over lands and Boundaries </a:t>
            </a:r>
            <a:r>
              <a:rPr lang="en-PH" dirty="0" smtClean="0"/>
              <a:t/>
            </a:r>
            <a:br>
              <a:rPr lang="en-PH" dirty="0" smtClean="0"/>
            </a:br>
            <a:r>
              <a:rPr lang="en-PH" dirty="0" smtClean="0"/>
              <a:t>C. Men’s Exhibition of grief </a:t>
            </a:r>
            <a:br>
              <a:rPr lang="en-PH" dirty="0" smtClean="0"/>
            </a:br>
            <a:r>
              <a:rPr lang="en-PH" dirty="0" smtClean="0"/>
              <a:t>D. The reign of Political Dynasty. </a:t>
            </a:r>
            <a:endParaRPr lang="en-PH" dirty="0"/>
          </a:p>
        </p:txBody>
      </p:sp>
    </p:spTree>
    <p:extLst>
      <p:ext uri="{BB962C8B-B14F-4D97-AF65-F5344CB8AC3E}">
        <p14:creationId xmlns:p14="http://schemas.microsoft.com/office/powerpoint/2010/main" val="6395138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p:txBody>
          <a:bodyPr/>
          <a:lstStyle/>
          <a:p>
            <a:r>
              <a:rPr lang="en-PH" dirty="0"/>
              <a:t>The presumptive kidnapping of Helen can be seen merely an excuse to launch a pre-ordained war for control of land, trade, profit, and access to the </a:t>
            </a:r>
            <a:r>
              <a:rPr lang="en-PH" dirty="0">
                <a:hlinkClick r:id="rId2"/>
              </a:rPr>
              <a:t>Black Sea</a:t>
            </a:r>
            <a:r>
              <a:rPr lang="en-PH" dirty="0"/>
              <a:t>.</a:t>
            </a:r>
            <a:endParaRPr lang="en-PH" dirty="0"/>
          </a:p>
        </p:txBody>
      </p:sp>
    </p:spTree>
    <p:extLst>
      <p:ext uri="{BB962C8B-B14F-4D97-AF65-F5344CB8AC3E}">
        <p14:creationId xmlns:p14="http://schemas.microsoft.com/office/powerpoint/2010/main" val="24506301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a:xfrm>
            <a:off x="928352" y="1799867"/>
            <a:ext cx="10515600" cy="4351338"/>
          </a:xfrm>
        </p:spPr>
        <p:txBody>
          <a:bodyPr>
            <a:normAutofit/>
          </a:bodyPr>
          <a:lstStyle/>
          <a:p>
            <a:r>
              <a:rPr lang="en-PH" sz="3600" dirty="0" smtClean="0"/>
              <a:t>The myths of the </a:t>
            </a:r>
            <a:r>
              <a:rPr lang="en-PH" sz="3600" dirty="0"/>
              <a:t>G</a:t>
            </a:r>
            <a:r>
              <a:rPr lang="en-PH" sz="3600" dirty="0" smtClean="0"/>
              <a:t>reek reflect _________________</a:t>
            </a:r>
            <a:br>
              <a:rPr lang="en-PH" sz="3600" dirty="0" smtClean="0"/>
            </a:br>
            <a:r>
              <a:rPr lang="en-PH" sz="3600" dirty="0" smtClean="0"/>
              <a:t>A. A view of the universe that acknowledge the mystery and beauty of humanity.</a:t>
            </a:r>
            <a:br>
              <a:rPr lang="en-PH" sz="3600" dirty="0" smtClean="0"/>
            </a:br>
            <a:r>
              <a:rPr lang="en-PH" sz="3600" dirty="0" smtClean="0"/>
              <a:t>B. That humans are the </a:t>
            </a:r>
            <a:r>
              <a:rPr lang="en-PH" sz="3600" dirty="0" err="1" smtClean="0"/>
              <a:t>center</a:t>
            </a:r>
            <a:r>
              <a:rPr lang="en-PH" sz="3600" dirty="0" smtClean="0"/>
              <a:t> of the universe</a:t>
            </a:r>
            <a:br>
              <a:rPr lang="en-PH" sz="3600" dirty="0" smtClean="0"/>
            </a:br>
            <a:r>
              <a:rPr lang="en-PH" sz="3600" dirty="0" smtClean="0"/>
              <a:t>C. that humans and gods live alike </a:t>
            </a:r>
            <a:br>
              <a:rPr lang="en-PH" sz="3600" dirty="0" smtClean="0"/>
            </a:br>
            <a:r>
              <a:rPr lang="en-PH" sz="3600" dirty="0" smtClean="0"/>
              <a:t>D. a less strange and frightening magic than the myths of other ancient civilization. </a:t>
            </a:r>
            <a:endParaRPr lang="en-PH" sz="3600" dirty="0"/>
          </a:p>
        </p:txBody>
      </p:sp>
    </p:spTree>
    <p:extLst>
      <p:ext uri="{BB962C8B-B14F-4D97-AF65-F5344CB8AC3E}">
        <p14:creationId xmlns:p14="http://schemas.microsoft.com/office/powerpoint/2010/main" val="318440174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a:xfrm>
            <a:off x="928352" y="1799867"/>
            <a:ext cx="10515600" cy="4351338"/>
          </a:xfrm>
        </p:spPr>
        <p:txBody>
          <a:bodyPr>
            <a:normAutofit/>
          </a:bodyPr>
          <a:lstStyle/>
          <a:p>
            <a:r>
              <a:rPr lang="en-PH" sz="3600" dirty="0" smtClean="0"/>
              <a:t>The myths of the </a:t>
            </a:r>
            <a:r>
              <a:rPr lang="en-PH" sz="3600" dirty="0"/>
              <a:t>G</a:t>
            </a:r>
            <a:r>
              <a:rPr lang="en-PH" sz="3600" dirty="0" smtClean="0"/>
              <a:t>reek reflect _________________</a:t>
            </a:r>
            <a:br>
              <a:rPr lang="en-PH" sz="3600" dirty="0" smtClean="0"/>
            </a:br>
            <a:r>
              <a:rPr lang="en-PH" sz="3600" b="1" dirty="0" smtClean="0"/>
              <a:t>A. A view of the universe that acknowledge the mystery and beauty of humanity.</a:t>
            </a:r>
            <a:br>
              <a:rPr lang="en-PH" sz="3600" b="1" dirty="0" smtClean="0"/>
            </a:br>
            <a:r>
              <a:rPr lang="en-PH" sz="3600" dirty="0" smtClean="0"/>
              <a:t>B. That humans are the </a:t>
            </a:r>
            <a:r>
              <a:rPr lang="en-PH" sz="3600" dirty="0" err="1" smtClean="0"/>
              <a:t>center</a:t>
            </a:r>
            <a:r>
              <a:rPr lang="en-PH" sz="3600" dirty="0" smtClean="0"/>
              <a:t> of the universe</a:t>
            </a:r>
            <a:br>
              <a:rPr lang="en-PH" sz="3600" dirty="0" smtClean="0"/>
            </a:br>
            <a:r>
              <a:rPr lang="en-PH" sz="3600" dirty="0" smtClean="0"/>
              <a:t>C. that humans and gods live alike </a:t>
            </a:r>
            <a:br>
              <a:rPr lang="en-PH" sz="3600" dirty="0" smtClean="0"/>
            </a:br>
            <a:r>
              <a:rPr lang="en-PH" sz="3600" dirty="0" smtClean="0"/>
              <a:t>D. a less strange and frightening magic than the myths of other ancient civilization. </a:t>
            </a:r>
            <a:endParaRPr lang="en-PH" sz="3600" dirty="0"/>
          </a:p>
        </p:txBody>
      </p:sp>
    </p:spTree>
    <p:extLst>
      <p:ext uri="{BB962C8B-B14F-4D97-AF65-F5344CB8AC3E}">
        <p14:creationId xmlns:p14="http://schemas.microsoft.com/office/powerpoint/2010/main" val="155236272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p:txBody>
          <a:bodyPr/>
          <a:lstStyle/>
          <a:p>
            <a:r>
              <a:rPr lang="en-PH" dirty="0"/>
              <a:t>Hamilton argues, the myths of the Greeks reflect a view of the universe that acknowledges the mystery and beauty of humanity. </a:t>
            </a:r>
            <a:endParaRPr lang="en-PH" dirty="0"/>
          </a:p>
        </p:txBody>
      </p:sp>
    </p:spTree>
    <p:extLst>
      <p:ext uri="{BB962C8B-B14F-4D97-AF65-F5344CB8AC3E}">
        <p14:creationId xmlns:p14="http://schemas.microsoft.com/office/powerpoint/2010/main" val="4061802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1215</TotalTime>
  <Words>1156</Words>
  <Application>Microsoft Office PowerPoint</Application>
  <PresentationFormat>Widescreen</PresentationFormat>
  <Paragraphs>143</Paragraphs>
  <Slides>60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60</vt:i4>
      </vt:variant>
    </vt:vector>
  </HeadingPairs>
  <TitlesOfParts>
    <vt:vector size="64" baseType="lpstr">
      <vt:lpstr>Arial</vt:lpstr>
      <vt:lpstr>Calibri</vt:lpstr>
      <vt:lpstr>Calibri Light</vt:lpstr>
      <vt:lpstr>Office Theme</vt:lpstr>
      <vt:lpstr>LET HOT ITEMS ! </vt:lpstr>
      <vt:lpstr>POP UP QUIZ!</vt:lpstr>
      <vt:lpstr>POP UP QUIZ!</vt:lpstr>
      <vt:lpstr>POP UP QUIZ!</vt:lpstr>
      <vt:lpstr>POP UP QUIZ!</vt:lpstr>
      <vt:lpstr>PowerPoint Presentation</vt:lpstr>
      <vt:lpstr>PowerPoint Presentation</vt:lpstr>
      <vt:lpstr>PowerPoint Presentation</vt:lpstr>
      <vt:lpstr>PowerPoint Presentation</vt:lpstr>
      <vt:lpstr>PowerPoint Presentation</vt:lpstr>
      <vt:lpstr>PQF VS NCBTS ?  </vt:lpstr>
      <vt:lpstr> </vt:lpstr>
      <vt:lpstr>PowerPoint Presentation</vt:lpstr>
      <vt:lpstr>PowerPoint Presentation</vt:lpstr>
      <vt:lpstr>PowerPoint Presentation</vt:lpstr>
      <vt:lpstr>PowerPoint Presentation</vt:lpstr>
      <vt:lpstr>POP UP QUIZ!</vt:lpstr>
      <vt:lpstr>POP UP QUIZ!</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Vocabulary</vt:lpstr>
      <vt:lpstr>PowerPoint Presentation</vt:lpstr>
      <vt:lpstr>PowerPoint Presentation</vt:lpstr>
      <vt:lpstr>PowerPoint Presentation</vt:lpstr>
      <vt:lpstr>Rhetorical devices </vt:lpstr>
      <vt:lpstr>PowerPoint Presentation</vt:lpstr>
      <vt:lpstr>PowerPoint Presentation</vt:lpstr>
      <vt:lpstr>Cliffhanger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Norman Tabios</dc:creator>
  <cp:lastModifiedBy>Norman Tabios</cp:lastModifiedBy>
  <cp:revision>50</cp:revision>
  <dcterms:created xsi:type="dcterms:W3CDTF">2017-05-23T10:38:32Z</dcterms:created>
  <dcterms:modified xsi:type="dcterms:W3CDTF">2017-05-26T08:52:57Z</dcterms:modified>
</cp:coreProperties>
</file>