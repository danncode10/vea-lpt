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Default Extension="xlsx" ContentType="application/vnd.openxmlformats-officedocument.spreadsheetml.sheet"/>
  <Override PartName="/ppt/charts/chart3.xml" ContentType="application/vnd.openxmlformats-officedocument.drawingml.char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charts/chart2.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4"/>
  </p:notesMasterIdLst>
  <p:sldIdLst>
    <p:sldId id="325" r:id="rId2"/>
    <p:sldId id="326" r:id="rId3"/>
    <p:sldId id="327" r:id="rId4"/>
    <p:sldId id="328" r:id="rId5"/>
    <p:sldId id="329" r:id="rId6"/>
    <p:sldId id="330" r:id="rId7"/>
    <p:sldId id="331" r:id="rId8"/>
    <p:sldId id="332" r:id="rId9"/>
    <p:sldId id="337" r:id="rId10"/>
    <p:sldId id="338" r:id="rId11"/>
    <p:sldId id="347" r:id="rId12"/>
    <p:sldId id="339" r:id="rId13"/>
    <p:sldId id="340" r:id="rId14"/>
    <p:sldId id="341" r:id="rId15"/>
    <p:sldId id="342" r:id="rId16"/>
    <p:sldId id="348" r:id="rId17"/>
    <p:sldId id="343" r:id="rId18"/>
    <p:sldId id="333" r:id="rId19"/>
    <p:sldId id="334" r:id="rId20"/>
    <p:sldId id="335" r:id="rId21"/>
    <p:sldId id="349" r:id="rId22"/>
    <p:sldId id="350" r:id="rId23"/>
    <p:sldId id="351" r:id="rId24"/>
    <p:sldId id="356" r:id="rId25"/>
    <p:sldId id="357" r:id="rId26"/>
    <p:sldId id="352" r:id="rId27"/>
    <p:sldId id="353" r:id="rId28"/>
    <p:sldId id="354" r:id="rId29"/>
    <p:sldId id="355" r:id="rId30"/>
    <p:sldId id="344" r:id="rId31"/>
    <p:sldId id="366" r:id="rId32"/>
    <p:sldId id="336" r:id="rId33"/>
    <p:sldId id="345" r:id="rId34"/>
    <p:sldId id="346" r:id="rId35"/>
    <p:sldId id="358" r:id="rId36"/>
    <p:sldId id="359" r:id="rId37"/>
    <p:sldId id="360" r:id="rId38"/>
    <p:sldId id="361" r:id="rId39"/>
    <p:sldId id="362" r:id="rId40"/>
    <p:sldId id="363" r:id="rId41"/>
    <p:sldId id="367" r:id="rId42"/>
    <p:sldId id="364" r:id="rId43"/>
    <p:sldId id="365" r:id="rId44"/>
    <p:sldId id="376" r:id="rId45"/>
    <p:sldId id="368" r:id="rId46"/>
    <p:sldId id="369" r:id="rId47"/>
    <p:sldId id="377" r:id="rId48"/>
    <p:sldId id="370" r:id="rId49"/>
    <p:sldId id="378" r:id="rId50"/>
    <p:sldId id="371" r:id="rId51"/>
    <p:sldId id="372" r:id="rId52"/>
    <p:sldId id="373" r:id="rId53"/>
    <p:sldId id="374" r:id="rId54"/>
    <p:sldId id="381" r:id="rId55"/>
    <p:sldId id="382" r:id="rId56"/>
    <p:sldId id="375" r:id="rId57"/>
    <p:sldId id="383" r:id="rId58"/>
    <p:sldId id="379" r:id="rId59"/>
    <p:sldId id="380" r:id="rId60"/>
    <p:sldId id="384" r:id="rId61"/>
    <p:sldId id="385" r:id="rId62"/>
    <p:sldId id="38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626" autoAdjust="0"/>
    <p:restoredTop sz="98718" autoAdjust="0"/>
  </p:normalViewPr>
  <p:slideViewPr>
    <p:cSldViewPr>
      <p:cViewPr>
        <p:scale>
          <a:sx n="75" d="100"/>
          <a:sy n="75" d="100"/>
        </p:scale>
        <p:origin x="-1194"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Office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0.1471612532808399"/>
          <c:y val="6.2280000000000113E-2"/>
          <c:w val="0.82419291338583001"/>
          <c:h val="0.59566677165354365"/>
        </c:manualLayout>
      </c:layout>
      <c:barChart>
        <c:barDir val="col"/>
        <c:grouping val="stacked"/>
        <c:ser>
          <c:idx val="0"/>
          <c:order val="0"/>
          <c:tx>
            <c:strRef>
              <c:f>Sheet1!$B$1</c:f>
              <c:strCache>
                <c:ptCount val="1"/>
                <c:pt idx="0">
                  <c:v>Series 1</c:v>
                </c:pt>
              </c:strCache>
            </c:strRef>
          </c:tx>
          <c:spPr>
            <a:solidFill>
              <a:schemeClr val="tx1">
                <a:lumMod val="65000"/>
                <a:lumOff val="35000"/>
              </a:schemeClr>
            </a:solidFill>
            <a:ln>
              <a:noFill/>
            </a:ln>
            <a:effectLst/>
          </c:spPr>
          <c:cat>
            <c:strRef>
              <c:f>Sheet1!$A$2:$A$6</c:f>
              <c:strCache>
                <c:ptCount val="4"/>
                <c:pt idx="0">
                  <c:v>belts</c:v>
                </c:pt>
                <c:pt idx="1">
                  <c:v>necktie</c:v>
                </c:pt>
                <c:pt idx="2">
                  <c:v>socks</c:v>
                </c:pt>
                <c:pt idx="3">
                  <c:v>handkerchiefs</c:v>
                </c:pt>
              </c:strCache>
            </c:strRef>
          </c:cat>
          <c:val>
            <c:numRef>
              <c:f>Sheet1!$B$2:$B$6</c:f>
              <c:numCache>
                <c:formatCode>General</c:formatCode>
                <c:ptCount val="5"/>
                <c:pt idx="0">
                  <c:v>120</c:v>
                </c:pt>
                <c:pt idx="1">
                  <c:v>80</c:v>
                </c:pt>
                <c:pt idx="2">
                  <c:v>140</c:v>
                </c:pt>
                <c:pt idx="3">
                  <c:v>90</c:v>
                </c:pt>
              </c:numCache>
            </c:numRef>
          </c:val>
        </c:ser>
        <c:ser>
          <c:idx val="1"/>
          <c:order val="1"/>
          <c:tx>
            <c:strRef>
              <c:f>Sheet1!$C$1</c:f>
              <c:strCache>
                <c:ptCount val="1"/>
                <c:pt idx="0">
                  <c:v>Column2</c:v>
                </c:pt>
              </c:strCache>
            </c:strRef>
          </c:tx>
          <c:cat>
            <c:strRef>
              <c:f>Sheet1!$A$2:$A$6</c:f>
              <c:strCache>
                <c:ptCount val="4"/>
                <c:pt idx="0">
                  <c:v>belts</c:v>
                </c:pt>
                <c:pt idx="1">
                  <c:v>necktie</c:v>
                </c:pt>
                <c:pt idx="2">
                  <c:v>socks</c:v>
                </c:pt>
                <c:pt idx="3">
                  <c:v>handkerchiefs</c:v>
                </c:pt>
              </c:strCache>
            </c:strRef>
          </c:cat>
          <c:val>
            <c:numRef>
              <c:f>Sheet1!$C$2:$C$6</c:f>
              <c:numCache>
                <c:formatCode>General</c:formatCode>
                <c:ptCount val="5"/>
              </c:numCache>
            </c:numRef>
          </c:val>
        </c:ser>
        <c:ser>
          <c:idx val="2"/>
          <c:order val="2"/>
          <c:tx>
            <c:strRef>
              <c:f>Sheet1!$D$1</c:f>
              <c:strCache>
                <c:ptCount val="1"/>
                <c:pt idx="0">
                  <c:v>Column1</c:v>
                </c:pt>
              </c:strCache>
            </c:strRef>
          </c:tx>
          <c:cat>
            <c:strRef>
              <c:f>Sheet1!$A$2:$A$6</c:f>
              <c:strCache>
                <c:ptCount val="4"/>
                <c:pt idx="0">
                  <c:v>belts</c:v>
                </c:pt>
                <c:pt idx="1">
                  <c:v>necktie</c:v>
                </c:pt>
                <c:pt idx="2">
                  <c:v>socks</c:v>
                </c:pt>
                <c:pt idx="3">
                  <c:v>handkerchiefs</c:v>
                </c:pt>
              </c:strCache>
            </c:strRef>
          </c:cat>
          <c:val>
            <c:numRef>
              <c:f>Sheet1!$D$2:$D$6</c:f>
              <c:numCache>
                <c:formatCode>General</c:formatCode>
                <c:ptCount val="5"/>
              </c:numCache>
            </c:numRef>
          </c:val>
        </c:ser>
        <c:overlap val="100"/>
        <c:axId val="81471744"/>
        <c:axId val="81485824"/>
      </c:barChart>
      <c:catAx>
        <c:axId val="81471744"/>
        <c:scaling>
          <c:orientation val="minMax"/>
        </c:scaling>
        <c:delete val="1"/>
        <c:axPos val="b"/>
        <c:tickLblPos val="none"/>
        <c:crossAx val="81485824"/>
        <c:crosses val="autoZero"/>
        <c:auto val="1"/>
        <c:lblAlgn val="ctr"/>
        <c:lblOffset val="100"/>
      </c:catAx>
      <c:valAx>
        <c:axId val="81485824"/>
        <c:scaling>
          <c:orientation val="minMax"/>
        </c:scaling>
        <c:axPos val="l"/>
        <c:majorGridlines/>
        <c:numFmt formatCode="General" sourceLinked="1"/>
        <c:tickLblPos val="nextTo"/>
        <c:txPr>
          <a:bodyPr/>
          <a:lstStyle/>
          <a:p>
            <a:pPr>
              <a:defRPr lang="en-PH"/>
            </a:pPr>
            <a:endParaRPr lang="en-US"/>
          </a:p>
        </c:txPr>
        <c:crossAx val="81471744"/>
        <c:crosses val="autoZero"/>
        <c:crossBetween val="between"/>
      </c:valAx>
      <c:spPr>
        <a:noFill/>
        <a:ln>
          <a:noFill/>
        </a:ln>
      </c:spPr>
    </c:plotArea>
    <c:plotVisOnly val="1"/>
  </c:chart>
  <c:txPr>
    <a:bodyPr/>
    <a:lstStyle/>
    <a:p>
      <a:pPr>
        <a:defRPr sz="1600"/>
      </a:pPr>
      <a:endParaRPr lang="en-US"/>
    </a:p>
  </c:txPr>
  <c:externalData r:id="rId1"/>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style val="26"/>
  <c:chart>
    <c:autoTitleDeleted val="1"/>
    <c:plotArea>
      <c:layout/>
      <c:pieChart>
        <c:varyColors val="1"/>
        <c:ser>
          <c:idx val="0"/>
          <c:order val="0"/>
          <c:tx>
            <c:strRef>
              <c:f>Sheet1!$B$1</c:f>
              <c:strCache>
                <c:ptCount val="1"/>
                <c:pt idx="0">
                  <c:v>Sales</c:v>
                </c:pt>
              </c:strCache>
            </c:strRef>
          </c:tx>
          <c:dPt>
            <c:idx val="1"/>
            <c:spPr>
              <a:solidFill>
                <a:schemeClr val="accent6">
                  <a:lumMod val="75000"/>
                </a:schemeClr>
              </a:solidFill>
            </c:spPr>
          </c:dPt>
          <c:dPt>
            <c:idx val="2"/>
            <c:spPr>
              <a:solidFill>
                <a:srgbClr val="C00000"/>
              </a:solidFill>
            </c:spPr>
          </c:dPt>
          <c:dPt>
            <c:idx val="3"/>
            <c:spPr>
              <a:solidFill>
                <a:srgbClr val="00B050"/>
              </a:solidFill>
            </c:spPr>
          </c:dPt>
          <c:cat>
            <c:strRef>
              <c:f>Sheet1!$A$2:$A$5</c:f>
              <c:strCache>
                <c:ptCount val="4"/>
                <c:pt idx="0">
                  <c:v>1st Qtr</c:v>
                </c:pt>
                <c:pt idx="1">
                  <c:v>2nd Qtr</c:v>
                </c:pt>
                <c:pt idx="2">
                  <c:v>3rd Qtr</c:v>
                </c:pt>
                <c:pt idx="3">
                  <c:v>4th Qtr</c:v>
                </c:pt>
              </c:strCache>
            </c:strRef>
          </c:cat>
          <c:val>
            <c:numRef>
              <c:f>Sheet1!$B$2:$B$5</c:f>
              <c:numCache>
                <c:formatCode>General</c:formatCode>
                <c:ptCount val="4"/>
                <c:pt idx="0">
                  <c:v>72</c:v>
                </c:pt>
                <c:pt idx="1">
                  <c:v>36</c:v>
                </c:pt>
                <c:pt idx="2">
                  <c:v>24</c:v>
                </c:pt>
                <c:pt idx="3">
                  <c:v>12</c:v>
                </c:pt>
              </c:numCache>
            </c:numRef>
          </c:val>
        </c:ser>
        <c:firstSliceAng val="0"/>
      </c:pieChart>
    </c:plotArea>
    <c:plotVisOnly val="1"/>
  </c:chart>
  <c:txPr>
    <a:bodyPr/>
    <a:lstStyle/>
    <a:p>
      <a:pPr>
        <a:defRPr sz="1800"/>
      </a:pPr>
      <a:endParaRPr lang="en-US"/>
    </a:p>
  </c:txPr>
  <c:externalData r:id="rId1"/>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9.4747458795785708E-2"/>
          <c:y val="4.6147611005195127E-2"/>
          <c:w val="0.85963914491312265"/>
          <c:h val="0.78386108333451165"/>
        </c:manualLayout>
      </c:layout>
      <c:lineChart>
        <c:grouping val="standard"/>
        <c:ser>
          <c:idx val="0"/>
          <c:order val="0"/>
          <c:tx>
            <c:strRef>
              <c:f>Sheet1!$B$1</c:f>
              <c:strCache>
                <c:ptCount val="1"/>
                <c:pt idx="0">
                  <c:v>Series 1</c:v>
                </c:pt>
              </c:strCache>
            </c:strRef>
          </c:tx>
          <c:spPr>
            <a:ln w="38100">
              <a:solidFill>
                <a:schemeClr val="tx1"/>
              </a:solidFill>
            </a:ln>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10</c:v>
                </c:pt>
                <c:pt idx="1">
                  <c:v>10</c:v>
                </c:pt>
                <c:pt idx="2">
                  <c:v>13</c:v>
                </c:pt>
                <c:pt idx="3">
                  <c:v>25</c:v>
                </c:pt>
                <c:pt idx="4">
                  <c:v>28</c:v>
                </c:pt>
                <c:pt idx="5">
                  <c:v>45</c:v>
                </c:pt>
                <c:pt idx="6">
                  <c:v>38</c:v>
                </c:pt>
                <c:pt idx="7">
                  <c:v>39</c:v>
                </c:pt>
                <c:pt idx="8">
                  <c:v>33</c:v>
                </c:pt>
                <c:pt idx="9">
                  <c:v>30</c:v>
                </c:pt>
                <c:pt idx="10">
                  <c:v>15</c:v>
                </c:pt>
                <c:pt idx="11">
                  <c:v>6</c:v>
                </c:pt>
              </c:numCache>
            </c:numRef>
          </c:val>
        </c:ser>
        <c:ser>
          <c:idx val="1"/>
          <c:order val="1"/>
          <c:tx>
            <c:strRef>
              <c:f>Sheet1!$C$1</c:f>
              <c:strCache>
                <c:ptCount val="1"/>
                <c:pt idx="0">
                  <c:v>Column1</c:v>
                </c:pt>
              </c:strCache>
            </c:strRef>
          </c:tx>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numCache>
            </c:numRef>
          </c:val>
        </c:ser>
        <c:ser>
          <c:idx val="2"/>
          <c:order val="2"/>
          <c:tx>
            <c:strRef>
              <c:f>Sheet1!$D$1</c:f>
              <c:strCache>
                <c:ptCount val="1"/>
                <c:pt idx="0">
                  <c:v>Column2</c:v>
                </c:pt>
              </c:strCache>
            </c:strRef>
          </c:tx>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numCache>
            </c:numRef>
          </c:val>
        </c:ser>
        <c:marker val="1"/>
        <c:axId val="92428544"/>
        <c:axId val="92434432"/>
      </c:lineChart>
      <c:catAx>
        <c:axId val="92428544"/>
        <c:scaling>
          <c:orientation val="minMax"/>
        </c:scaling>
        <c:axPos val="b"/>
        <c:tickLblPos val="nextTo"/>
        <c:txPr>
          <a:bodyPr rot="0" vert="horz" anchor="ctr" anchorCtr="0"/>
          <a:lstStyle/>
          <a:p>
            <a:pPr>
              <a:defRPr lang="en-PH"/>
            </a:pPr>
            <a:endParaRPr lang="en-US"/>
          </a:p>
        </c:txPr>
        <c:crossAx val="92434432"/>
        <c:crosses val="autoZero"/>
        <c:auto val="1"/>
        <c:lblAlgn val="ctr"/>
        <c:lblOffset val="100"/>
      </c:catAx>
      <c:valAx>
        <c:axId val="92434432"/>
        <c:scaling>
          <c:orientation val="minMax"/>
        </c:scaling>
        <c:axPos val="l"/>
        <c:numFmt formatCode="General" sourceLinked="1"/>
        <c:tickLblPos val="nextTo"/>
        <c:txPr>
          <a:bodyPr/>
          <a:lstStyle/>
          <a:p>
            <a:pPr>
              <a:defRPr lang="en-PH"/>
            </a:pPr>
            <a:endParaRPr lang="en-US"/>
          </a:p>
        </c:txPr>
        <c:crossAx val="92428544"/>
        <c:crosses val="autoZero"/>
        <c:crossBetween val="between"/>
      </c:valAx>
    </c:plotArea>
    <c:plotVisOnly val="1"/>
  </c:chart>
  <c:txPr>
    <a:bodyPr/>
    <a:lstStyle/>
    <a:p>
      <a:pPr>
        <a:defRPr sz="1800"/>
      </a:pPr>
      <a:endParaRPr lang="en-US"/>
    </a:p>
  </c:txPr>
  <c:externalData r:id="rId1"/>
</c:chartSpace>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5" Type="http://schemas.openxmlformats.org/officeDocument/2006/relationships/image" Target="../media/image9.w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4"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72.wmf"/><Relationship Id="rId4"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30.wmf"/><Relationship Id="rId5" Type="http://schemas.openxmlformats.org/officeDocument/2006/relationships/image" Target="../media/image76.wmf"/><Relationship Id="rId4" Type="http://schemas.openxmlformats.org/officeDocument/2006/relationships/image" Target="../media/image7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53.wmf"/><Relationship Id="rId4" Type="http://schemas.openxmlformats.org/officeDocument/2006/relationships/image" Target="../media/image8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67.wmf"/></Relationships>
</file>

<file path=ppt/drawings/drawing1.xml><?xml version="1.0" encoding="utf-8"?>
<c:userShapes xmlns:c="http://schemas.openxmlformats.org/drawingml/2006/chart">
  <cdr:relSizeAnchor xmlns:cdr="http://schemas.openxmlformats.org/drawingml/2006/chartDrawing">
    <cdr:from>
      <cdr:x>0.26966</cdr:x>
      <cdr:y>0.82</cdr:y>
    </cdr:from>
    <cdr:to>
      <cdr:x>0.61413</cdr:x>
      <cdr:y>0.92008</cdr:y>
    </cdr:to>
    <cdr:sp macro="" textlink="">
      <cdr:nvSpPr>
        <cdr:cNvPr id="2" name="Rectangle 1"/>
        <cdr:cNvSpPr/>
      </cdr:nvSpPr>
      <cdr:spPr>
        <a:xfrm xmlns:a="http://schemas.openxmlformats.org/drawingml/2006/main">
          <a:off x="1919944" y="2811781"/>
          <a:ext cx="2452594" cy="343182"/>
        </a:xfrm>
        <a:prstGeom xmlns:a="http://schemas.openxmlformats.org/drawingml/2006/main" prst="rect">
          <a:avLst/>
        </a:prstGeom>
      </cdr:spPr>
      <cdr:txBody>
        <a:bodyPr xmlns:a="http://schemas.openxmlformats.org/drawingml/2006/main" wrap="none">
          <a:spAutoFit/>
        </a:bodyPr>
        <a:lstStyle xmlns:a="http://schemas.openxmlformats.org/drawingml/2006/main">
          <a:defPPr>
            <a:defRPr lang="en-US"/>
          </a:defPPr>
          <a:lvl1pPr marL="0" algn="l" defTabSz="914400" rtl="0" eaLnBrk="1" latinLnBrk="0" hangingPunct="1">
            <a:defRPr sz="1800" kern="1200">
              <a:solidFill>
                <a:sysClr val="window" lastClr="FFFFFF"/>
              </a:solidFill>
              <a:latin typeface="Rockwell"/>
            </a:defRPr>
          </a:lvl1pPr>
          <a:lvl2pPr marL="457200" algn="l" defTabSz="914400" rtl="0" eaLnBrk="1" latinLnBrk="0" hangingPunct="1">
            <a:defRPr sz="1800" kern="1200">
              <a:solidFill>
                <a:sysClr val="window" lastClr="FFFFFF"/>
              </a:solidFill>
              <a:latin typeface="Rockwell"/>
            </a:defRPr>
          </a:lvl2pPr>
          <a:lvl3pPr marL="914400" algn="l" defTabSz="914400" rtl="0" eaLnBrk="1" latinLnBrk="0" hangingPunct="1">
            <a:defRPr sz="1800" kern="1200">
              <a:solidFill>
                <a:sysClr val="window" lastClr="FFFFFF"/>
              </a:solidFill>
              <a:latin typeface="Rockwell"/>
            </a:defRPr>
          </a:lvl3pPr>
          <a:lvl4pPr marL="1371600" algn="l" defTabSz="914400" rtl="0" eaLnBrk="1" latinLnBrk="0" hangingPunct="1">
            <a:defRPr sz="1800" kern="1200">
              <a:solidFill>
                <a:sysClr val="window" lastClr="FFFFFF"/>
              </a:solidFill>
              <a:latin typeface="Rockwell"/>
            </a:defRPr>
          </a:lvl4pPr>
          <a:lvl5pPr marL="1828800" algn="l" defTabSz="914400" rtl="0" eaLnBrk="1" latinLnBrk="0" hangingPunct="1">
            <a:defRPr sz="1800" kern="1200">
              <a:solidFill>
                <a:sysClr val="window" lastClr="FFFFFF"/>
              </a:solidFill>
              <a:latin typeface="Rockwell"/>
            </a:defRPr>
          </a:lvl5pPr>
          <a:lvl6pPr marL="2286000" algn="l" defTabSz="914400" rtl="0" eaLnBrk="1" latinLnBrk="0" hangingPunct="1">
            <a:defRPr sz="1800" kern="1200">
              <a:solidFill>
                <a:sysClr val="window" lastClr="FFFFFF"/>
              </a:solidFill>
              <a:latin typeface="Rockwell"/>
            </a:defRPr>
          </a:lvl6pPr>
          <a:lvl7pPr marL="2743200" algn="l" defTabSz="914400" rtl="0" eaLnBrk="1" latinLnBrk="0" hangingPunct="1">
            <a:defRPr sz="1800" kern="1200">
              <a:solidFill>
                <a:sysClr val="window" lastClr="FFFFFF"/>
              </a:solidFill>
              <a:latin typeface="Rockwell"/>
            </a:defRPr>
          </a:lvl7pPr>
          <a:lvl8pPr marL="3200400" algn="l" defTabSz="914400" rtl="0" eaLnBrk="1" latinLnBrk="0" hangingPunct="1">
            <a:defRPr sz="1800" kern="1200">
              <a:solidFill>
                <a:sysClr val="window" lastClr="FFFFFF"/>
              </a:solidFill>
              <a:latin typeface="Rockwell"/>
            </a:defRPr>
          </a:lvl8pPr>
          <a:lvl9pPr marL="3657600" algn="l" defTabSz="914400" rtl="0" eaLnBrk="1" latinLnBrk="0" hangingPunct="1">
            <a:defRPr sz="1800" kern="1200">
              <a:solidFill>
                <a:sysClr val="window" lastClr="FFFFFF"/>
              </a:solidFill>
              <a:latin typeface="Rockwell"/>
            </a:defRPr>
          </a:lvl9pPr>
        </a:lstStyle>
        <a:p xmlns:a="http://schemas.openxmlformats.org/drawingml/2006/main">
          <a:r>
            <a:rPr lang="en-US" sz="2000" b="1" dirty="0" smtClean="0">
              <a:solidFill>
                <a:schemeClr val="tx1"/>
              </a:solidFill>
            </a:rPr>
            <a:t>Item Sold by Store</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B50CB2-13A3-4D93-A27C-DAF8AAF08422}" type="datetimeFigureOut">
              <a:rPr lang="en-PH" smtClean="0"/>
              <a:pPr/>
              <a:t>6/26/2017</a:t>
            </a:fld>
            <a:endParaRPr lang="en-P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1FDE6B-FAA6-4382-96F7-167B8567847D}" type="slidenum">
              <a:rPr lang="en-PH" smtClean="0"/>
              <a:pPr/>
              <a:t>‹#›</a:t>
            </a:fld>
            <a:endParaRPr lang="en-PH"/>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AF7D68-A1E8-4883-AC35-9E9572945595}" type="datetimeFigureOut">
              <a:rPr lang="en-PH" smtClean="0"/>
              <a:pPr/>
              <a:t>6/26/2017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AF7D68-A1E8-4883-AC35-9E9572945595}" type="datetimeFigureOut">
              <a:rPr lang="en-PH" smtClean="0"/>
              <a:pPr/>
              <a:t>6/26/2017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AF7D68-A1E8-4883-AC35-9E9572945595}" type="datetimeFigureOut">
              <a:rPr lang="en-PH" smtClean="0"/>
              <a:pPr/>
              <a:t>6/26/2017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3AF7D68-A1E8-4883-AC35-9E9572945595}" type="datetimeFigureOut">
              <a:rPr lang="en-PH" smtClean="0"/>
              <a:pPr/>
              <a:t>6/26/2017</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3AF7D68-A1E8-4883-AC35-9E9572945595}" type="datetimeFigureOut">
              <a:rPr lang="en-PH" smtClean="0"/>
              <a:pPr/>
              <a:t>6/26/2017</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3AF7D68-A1E8-4883-AC35-9E9572945595}" type="datetimeFigureOut">
              <a:rPr lang="en-PH" smtClean="0"/>
              <a:pPr/>
              <a:t>6/26/2017</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AF7D68-A1E8-4883-AC35-9E9572945595}" type="datetimeFigureOut">
              <a:rPr lang="en-PH" smtClean="0"/>
              <a:pPr/>
              <a:t>6/26/2017</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AF7D68-A1E8-4883-AC35-9E9572945595}" type="datetimeFigureOut">
              <a:rPr lang="en-PH" smtClean="0"/>
              <a:pPr/>
              <a:t>6/26/2017</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AF7D68-A1E8-4883-AC35-9E9572945595}" type="datetimeFigureOut">
              <a:rPr lang="en-PH" smtClean="0"/>
              <a:pPr/>
              <a:t>6/26/2017</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AF7D68-A1E8-4883-AC35-9E9572945595}" type="datetimeFigureOut">
              <a:rPr lang="en-PH" smtClean="0"/>
              <a:pPr/>
              <a:t>6/26/2017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3AF7D68-A1E8-4883-AC35-9E9572945595}" type="datetimeFigureOut">
              <a:rPr lang="en-PH" smtClean="0"/>
              <a:pPr/>
              <a:t>6/26/2017</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3DFC2CDF-180C-42C4-B902-D422AE6B5926}" type="slidenum">
              <a:rPr lang="en-PH" smtClean="0"/>
              <a:pPr/>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AF7D68-A1E8-4883-AC35-9E9572945595}" type="datetimeFigureOut">
              <a:rPr lang="en-PH" smtClean="0"/>
              <a:pPr/>
              <a:t>6/26/2017</a:t>
            </a:fld>
            <a:endParaRPr lang="en-PH"/>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C2CDF-180C-42C4-B902-D422AE6B5926}" type="slidenum">
              <a:rPr lang="en-PH" smtClean="0"/>
              <a:pPr/>
              <a:t>‹#›</a:t>
            </a:fld>
            <a:endParaRPr lang="en-PH"/>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2.png"/><Relationship Id="rId7"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4.png"/><Relationship Id="rId10" Type="http://schemas.openxmlformats.org/officeDocument/2006/relationships/oleObject" Target="../embeddings/oleObject5.bin"/><Relationship Id="rId4" Type="http://schemas.openxmlformats.org/officeDocument/2006/relationships/image" Target="../media/image3.png"/><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2.png"/><Relationship Id="rId7"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2.png"/><Relationship Id="rId7"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9.bin"/><Relationship Id="rId5" Type="http://schemas.openxmlformats.org/officeDocument/2006/relationships/image" Target="../media/image4.png"/><Relationship Id="rId10" Type="http://schemas.openxmlformats.org/officeDocument/2006/relationships/oleObject" Target="../embeddings/oleObject13.bin"/><Relationship Id="rId4" Type="http://schemas.openxmlformats.org/officeDocument/2006/relationships/image" Target="../media/image3.png"/><Relationship Id="rId9"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2.png"/><Relationship Id="rId7"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14.bin"/><Relationship Id="rId11" Type="http://schemas.openxmlformats.org/officeDocument/2006/relationships/oleObject" Target="../embeddings/oleObject19.bin"/><Relationship Id="rId5" Type="http://schemas.openxmlformats.org/officeDocument/2006/relationships/image" Target="../media/image4.png"/><Relationship Id="rId10" Type="http://schemas.openxmlformats.org/officeDocument/2006/relationships/oleObject" Target="../embeddings/oleObject18.bin"/><Relationship Id="rId4" Type="http://schemas.openxmlformats.org/officeDocument/2006/relationships/image" Target="../media/image3.png"/><Relationship Id="rId9" Type="http://schemas.openxmlformats.org/officeDocument/2006/relationships/oleObject" Target="../embeddings/oleObject17.bin"/></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png"/><Relationship Id="rId7" Type="http://schemas.openxmlformats.org/officeDocument/2006/relationships/oleObject" Target="../embeddings/oleObject21.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oleObject" Target="../embeddings/oleObject20.bin"/><Relationship Id="rId11" Type="http://schemas.openxmlformats.org/officeDocument/2006/relationships/oleObject" Target="../embeddings/oleObject25.bin"/><Relationship Id="rId5" Type="http://schemas.openxmlformats.org/officeDocument/2006/relationships/image" Target="../media/image4.png"/><Relationship Id="rId10" Type="http://schemas.openxmlformats.org/officeDocument/2006/relationships/oleObject" Target="../embeddings/oleObject24.bin"/><Relationship Id="rId4" Type="http://schemas.openxmlformats.org/officeDocument/2006/relationships/image" Target="../media/image3.png"/><Relationship Id="rId9" Type="http://schemas.openxmlformats.org/officeDocument/2006/relationships/oleObject" Target="../embeddings/oleObject23.bin"/></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chart" Target="../charts/char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2.png"/><Relationship Id="rId7" Type="http://schemas.openxmlformats.org/officeDocument/2006/relationships/oleObject" Target="../embeddings/oleObject27.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26.bin"/><Relationship Id="rId5" Type="http://schemas.openxmlformats.org/officeDocument/2006/relationships/image" Target="../media/image4.png"/><Relationship Id="rId10" Type="http://schemas.openxmlformats.org/officeDocument/2006/relationships/oleObject" Target="../embeddings/oleObject30.bin"/><Relationship Id="rId4" Type="http://schemas.openxmlformats.org/officeDocument/2006/relationships/image" Target="../media/image3.png"/><Relationship Id="rId9" Type="http://schemas.openxmlformats.org/officeDocument/2006/relationships/oleObject" Target="../embeddings/oleObject29.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2.png"/><Relationship Id="rId7"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oleObject" Target="../embeddings/oleObject31.bin"/><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2.png"/><Relationship Id="rId7" Type="http://schemas.openxmlformats.org/officeDocument/2006/relationships/image" Target="../media/image42.wmf"/><Relationship Id="rId12" Type="http://schemas.openxmlformats.org/officeDocument/2006/relationships/oleObject" Target="../embeddings/oleObject36.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41.wmf"/><Relationship Id="rId11" Type="http://schemas.openxmlformats.org/officeDocument/2006/relationships/oleObject" Target="../embeddings/oleObject35.bin"/><Relationship Id="rId5" Type="http://schemas.openxmlformats.org/officeDocument/2006/relationships/image" Target="../media/image4.png"/><Relationship Id="rId10" Type="http://schemas.openxmlformats.org/officeDocument/2006/relationships/oleObject" Target="../embeddings/oleObject34.bin"/><Relationship Id="rId4" Type="http://schemas.openxmlformats.org/officeDocument/2006/relationships/image" Target="../media/image3.png"/><Relationship Id="rId9" Type="http://schemas.openxmlformats.org/officeDocument/2006/relationships/image" Target="../media/image44.wmf"/></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oleObject" Target="../embeddings/oleObject38.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oleObject" Target="../embeddings/oleObject37.bin"/><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1.bin"/><Relationship Id="rId3" Type="http://schemas.openxmlformats.org/officeDocument/2006/relationships/image" Target="../media/image2.png"/><Relationship Id="rId7" Type="http://schemas.openxmlformats.org/officeDocument/2006/relationships/oleObject" Target="../embeddings/oleObject40.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oleObject" Target="../embeddings/oleObject39.bin"/><Relationship Id="rId11" Type="http://schemas.openxmlformats.org/officeDocument/2006/relationships/oleObject" Target="../embeddings/oleObject44.bin"/><Relationship Id="rId5" Type="http://schemas.openxmlformats.org/officeDocument/2006/relationships/image" Target="../media/image4.png"/><Relationship Id="rId10" Type="http://schemas.openxmlformats.org/officeDocument/2006/relationships/oleObject" Target="../embeddings/oleObject43.bin"/><Relationship Id="rId4" Type="http://schemas.openxmlformats.org/officeDocument/2006/relationships/image" Target="../media/image3.png"/><Relationship Id="rId9" Type="http://schemas.openxmlformats.org/officeDocument/2006/relationships/oleObject" Target="../embeddings/oleObject42.bin"/></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2.png"/><Relationship Id="rId7" Type="http://schemas.openxmlformats.org/officeDocument/2006/relationships/oleObject" Target="../embeddings/oleObject46.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45.bin"/><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oleObject" Target="../embeddings/oleObject48.bin"/></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image" Target="../media/image2.png"/><Relationship Id="rId7" Type="http://schemas.openxmlformats.org/officeDocument/2006/relationships/oleObject" Target="../embeddings/oleObject50.bin"/><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49.bin"/><Relationship Id="rId11" Type="http://schemas.openxmlformats.org/officeDocument/2006/relationships/oleObject" Target="../embeddings/oleObject54.bin"/><Relationship Id="rId5" Type="http://schemas.openxmlformats.org/officeDocument/2006/relationships/image" Target="../media/image4.png"/><Relationship Id="rId10" Type="http://schemas.openxmlformats.org/officeDocument/2006/relationships/oleObject" Target="../embeddings/oleObject53.bin"/><Relationship Id="rId4" Type="http://schemas.openxmlformats.org/officeDocument/2006/relationships/image" Target="../media/image3.png"/><Relationship Id="rId9" Type="http://schemas.openxmlformats.org/officeDocument/2006/relationships/oleObject" Target="../embeddings/oleObject52.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image" Target="../media/image2.png"/><Relationship Id="rId7" Type="http://schemas.openxmlformats.org/officeDocument/2006/relationships/oleObject" Target="../embeddings/oleObject56.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oleObject" Target="../embeddings/oleObject55.bin"/><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oleObject" Target="../embeddings/oleObject58.bin"/><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image" Target="../media/image2.png"/><Relationship Id="rId7" Type="http://schemas.openxmlformats.org/officeDocument/2006/relationships/oleObject" Target="../embeddings/oleObject60.bin"/><Relationship Id="rId2" Type="http://schemas.openxmlformats.org/officeDocument/2006/relationships/slideLayout" Target="../slideLayouts/slideLayout6.xml"/><Relationship Id="rId1" Type="http://schemas.openxmlformats.org/officeDocument/2006/relationships/vmlDrawing" Target="../drawings/vmlDrawing15.vml"/><Relationship Id="rId6" Type="http://schemas.openxmlformats.org/officeDocument/2006/relationships/oleObject" Target="../embeddings/oleObject59.bin"/><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image" Target="../media/image2.png"/><Relationship Id="rId7" Type="http://schemas.openxmlformats.org/officeDocument/2006/relationships/oleObject" Target="../embeddings/oleObject63.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oleObject" Target="../embeddings/oleObject62.bin"/><Relationship Id="rId5" Type="http://schemas.openxmlformats.org/officeDocument/2006/relationships/image" Target="../media/image4.png"/><Relationship Id="rId10" Type="http://schemas.openxmlformats.org/officeDocument/2006/relationships/oleObject" Target="../embeddings/oleObject66.bin"/><Relationship Id="rId4" Type="http://schemas.openxmlformats.org/officeDocument/2006/relationships/image" Target="../media/image3.png"/><Relationship Id="rId9" Type="http://schemas.openxmlformats.org/officeDocument/2006/relationships/oleObject" Target="../embeddings/oleObject65.bin"/></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chart" Target="../charts/char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2.png"/><Relationship Id="rId7" Type="http://schemas.openxmlformats.org/officeDocument/2006/relationships/oleObject" Target="../embeddings/oleObject68.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67.bin"/><Relationship Id="rId5" Type="http://schemas.openxmlformats.org/officeDocument/2006/relationships/image" Target="../media/image4.png"/><Relationship Id="rId10" Type="http://schemas.openxmlformats.org/officeDocument/2006/relationships/oleObject" Target="../embeddings/oleObject71.bin"/><Relationship Id="rId4" Type="http://schemas.openxmlformats.org/officeDocument/2006/relationships/image" Target="../media/image3.png"/><Relationship Id="rId9" Type="http://schemas.openxmlformats.org/officeDocument/2006/relationships/oleObject" Target="../embeddings/oleObject70.bin"/></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image" Target="../media/image2.png"/><Relationship Id="rId7" Type="http://schemas.openxmlformats.org/officeDocument/2006/relationships/oleObject" Target="../embeddings/oleObject73.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72.bin"/><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oleObject" Target="../embeddings/oleObject76.bin"/><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oleObject" Target="../embeddings/oleObject75.bin"/><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2.png"/><Relationship Id="rId7" Type="http://schemas.openxmlformats.org/officeDocument/2006/relationships/oleObject" Target="../embeddings/oleObject78.bin"/><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oleObject" Target="../embeddings/oleObject77.bin"/><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image" Target="../media/image2.png"/><Relationship Id="rId7" Type="http://schemas.openxmlformats.org/officeDocument/2006/relationships/oleObject" Target="../embeddings/oleObject81.bin"/><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oleObject" Target="../embeddings/oleObject80.bin"/><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oleObject" Target="../embeddings/oleObject83.bin"/></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chart" Target="../charts/chart3.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2.png"/><Relationship Id="rId7" Type="http://schemas.openxmlformats.org/officeDocument/2006/relationships/oleObject" Target="../embeddings/oleObject85.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oleObject" Target="../embeddings/oleObject84.bin"/><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cstate="print"/>
          <a:stretch>
            <a:fillRect/>
          </a:stretch>
        </a:blip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371600" y="3785586"/>
            <a:ext cx="6400800" cy="2377889"/>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1121037" y="889505"/>
            <a:ext cx="3326174" cy="2757953"/>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610200" y="838200"/>
            <a:ext cx="2618584" cy="2590800"/>
          </a:xfrm>
          <a:prstGeom prst="rect">
            <a:avLst/>
          </a:prstGeom>
          <a:noFill/>
          <a:ln w="9525">
            <a:noFill/>
            <a:miter lim="800000"/>
            <a:headEnd/>
            <a:tailEnd/>
          </a:ln>
        </p:spPr>
      </p:pic>
      <p:sp>
        <p:nvSpPr>
          <p:cNvPr id="12" name="Rectangle 11"/>
          <p:cNvSpPr/>
          <p:nvPr/>
        </p:nvSpPr>
        <p:spPr>
          <a:xfrm>
            <a:off x="1615688" y="1624548"/>
            <a:ext cx="6080512" cy="3785652"/>
          </a:xfrm>
          <a:prstGeom prst="rect">
            <a:avLst/>
          </a:prstGeom>
          <a:noFill/>
        </p:spPr>
        <p:txBody>
          <a:bodyPr wrap="none" lIns="91440" tIns="45720" rIns="91440" bIns="45720">
            <a:spAutoFit/>
          </a:bodyPr>
          <a:lstStyle/>
          <a:p>
            <a:pPr algn="ctr"/>
            <a:r>
              <a:rPr lang="en-US" sz="8000" b="1" cap="none" spc="0" dirty="0" smtClean="0">
                <a:ln w="17780" cmpd="sng">
                  <a:solidFill>
                    <a:srgbClr val="FFFFFF"/>
                  </a:solidFill>
                  <a:prstDash val="solid"/>
                  <a:miter lim="800000"/>
                </a:ln>
                <a:effectLst>
                  <a:outerShdw blurRad="50800" algn="tl" rotWithShape="0">
                    <a:srgbClr val="000000"/>
                  </a:outerShdw>
                </a:effectLst>
                <a:latin typeface="Cooper Std Black" pitchFamily="18" charset="0"/>
              </a:rPr>
              <a:t>Analyzing </a:t>
            </a:r>
          </a:p>
          <a:p>
            <a:pPr algn="ctr"/>
            <a:r>
              <a:rPr lang="en-US" sz="8000" b="1" dirty="0" smtClean="0">
                <a:ln w="17780" cmpd="sng">
                  <a:solidFill>
                    <a:srgbClr val="FFFFFF"/>
                  </a:solidFill>
                  <a:prstDash val="solid"/>
                  <a:miter lim="800000"/>
                </a:ln>
                <a:effectLst>
                  <a:outerShdw blurRad="50800" algn="tl" rotWithShape="0">
                    <a:srgbClr val="000000"/>
                  </a:outerShdw>
                </a:effectLst>
                <a:latin typeface="Cooper Std Black" pitchFamily="18" charset="0"/>
              </a:rPr>
              <a:t>Test</a:t>
            </a:r>
          </a:p>
          <a:p>
            <a:pPr algn="ctr"/>
            <a:r>
              <a:rPr lang="en-US" sz="8000" b="1" cap="none" spc="0" dirty="0" smtClean="0">
                <a:ln w="17780" cmpd="sng">
                  <a:solidFill>
                    <a:srgbClr val="FFFFFF"/>
                  </a:solidFill>
                  <a:prstDash val="solid"/>
                  <a:miter lim="800000"/>
                </a:ln>
                <a:effectLst>
                  <a:outerShdw blurRad="50800" algn="tl" rotWithShape="0">
                    <a:srgbClr val="000000"/>
                  </a:outerShdw>
                </a:effectLst>
                <a:latin typeface="Cooper Std Black" pitchFamily="18" charset="0"/>
              </a:rPr>
              <a:t>Items</a:t>
            </a:r>
            <a:endParaRPr lang="en-US" sz="8000" b="1" cap="none" spc="0" dirty="0">
              <a:ln w="17780" cmpd="sng">
                <a:solidFill>
                  <a:srgbClr val="FFFFFF"/>
                </a:solidFill>
                <a:prstDash val="solid"/>
                <a:miter lim="800000"/>
              </a:ln>
              <a:effectLst>
                <a:outerShdw blurRad="50800" algn="tl" rotWithShape="0">
                  <a:srgbClr val="000000"/>
                </a:outerShdw>
              </a:effectLst>
              <a:latin typeface="Cooper Std Black"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2"/>
                                        </p:tgtEl>
                                        <p:attrNameLst>
                                          <p:attrName>style.visibility</p:attrName>
                                        </p:attrNameLst>
                                      </p:cBhvr>
                                      <p:to>
                                        <p:strVal val="visible"/>
                                      </p:to>
                                    </p:set>
                                    <p:anim calcmode="discrete" valueType="clr">
                                      <p:cBhvr override="childStyle">
                                        <p:cTn id="7" dur="80"/>
                                        <p:tgtEl>
                                          <p:spTgt spid="1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2"/>
                                        </p:tgtEl>
                                        <p:attrNameLst>
                                          <p:attrName>fillcolor</p:attrName>
                                        </p:attrNameLst>
                                      </p:cBhvr>
                                      <p:tavLst>
                                        <p:tav tm="0">
                                          <p:val>
                                            <p:clrVal>
                                              <a:schemeClr val="accent2"/>
                                            </p:clrVal>
                                          </p:val>
                                        </p:tav>
                                        <p:tav tm="50000">
                                          <p:val>
                                            <p:clrVal>
                                              <a:schemeClr val="hlink"/>
                                            </p:clrVal>
                                          </p:val>
                                        </p:tav>
                                      </p:tavLst>
                                    </p:anim>
                                    <p:set>
                                      <p:cBhvr>
                                        <p:cTn id="9" dur="80"/>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6" name="Rectangle 5"/>
          <p:cNvSpPr/>
          <p:nvPr/>
        </p:nvSpPr>
        <p:spPr>
          <a:xfrm>
            <a:off x="685800" y="838200"/>
            <a:ext cx="8077200" cy="1077218"/>
          </a:xfrm>
          <a:prstGeom prst="rect">
            <a:avLst/>
          </a:prstGeom>
        </p:spPr>
        <p:txBody>
          <a:bodyPr wrap="square">
            <a:spAutoFit/>
          </a:bodyPr>
          <a:lstStyle/>
          <a:p>
            <a:r>
              <a:rPr lang="en-US" sz="3200" dirty="0" smtClean="0"/>
              <a:t>1. Which of the following has a definite</a:t>
            </a:r>
          </a:p>
          <a:p>
            <a:r>
              <a:rPr lang="en-US" sz="3200" dirty="0" smtClean="0"/>
              <a:t>     length?</a:t>
            </a:r>
            <a:endParaRPr lang="en-US" sz="3200" dirty="0"/>
          </a:p>
        </p:txBody>
      </p:sp>
      <p:sp>
        <p:nvSpPr>
          <p:cNvPr id="7" name="Rectangle 6"/>
          <p:cNvSpPr/>
          <p:nvPr/>
        </p:nvSpPr>
        <p:spPr>
          <a:xfrm>
            <a:off x="2851861" y="2667000"/>
            <a:ext cx="1120628" cy="584775"/>
          </a:xfrm>
          <a:prstGeom prst="rect">
            <a:avLst/>
          </a:prstGeom>
        </p:spPr>
        <p:txBody>
          <a:bodyPr wrap="none">
            <a:spAutoFit/>
          </a:bodyPr>
          <a:lstStyle/>
          <a:p>
            <a:r>
              <a:rPr lang="en-US" sz="3200" dirty="0" smtClean="0"/>
              <a:t>a. ray</a:t>
            </a:r>
            <a:endParaRPr lang="en-US" sz="3200" dirty="0"/>
          </a:p>
        </p:txBody>
      </p:sp>
      <p:sp>
        <p:nvSpPr>
          <p:cNvPr id="8" name="Rectangle 7"/>
          <p:cNvSpPr/>
          <p:nvPr/>
        </p:nvSpPr>
        <p:spPr>
          <a:xfrm>
            <a:off x="2826103" y="3301425"/>
            <a:ext cx="1326197" cy="584775"/>
          </a:xfrm>
          <a:prstGeom prst="rect">
            <a:avLst/>
          </a:prstGeom>
        </p:spPr>
        <p:txBody>
          <a:bodyPr wrap="none">
            <a:spAutoFit/>
          </a:bodyPr>
          <a:lstStyle/>
          <a:p>
            <a:r>
              <a:rPr lang="en-US" sz="3200" dirty="0" smtClean="0"/>
              <a:t>b. line</a:t>
            </a:r>
            <a:endParaRPr lang="en-US" sz="3200" dirty="0"/>
          </a:p>
        </p:txBody>
      </p:sp>
      <p:sp>
        <p:nvSpPr>
          <p:cNvPr id="9" name="Rectangle 8"/>
          <p:cNvSpPr/>
          <p:nvPr/>
        </p:nvSpPr>
        <p:spPr>
          <a:xfrm>
            <a:off x="2851861" y="3962400"/>
            <a:ext cx="1559209" cy="584775"/>
          </a:xfrm>
          <a:prstGeom prst="rect">
            <a:avLst/>
          </a:prstGeom>
        </p:spPr>
        <p:txBody>
          <a:bodyPr wrap="none">
            <a:spAutoFit/>
          </a:bodyPr>
          <a:lstStyle/>
          <a:p>
            <a:r>
              <a:rPr lang="en-US" sz="3200" dirty="0" smtClean="0"/>
              <a:t>c. point</a:t>
            </a:r>
            <a:endParaRPr lang="en-US" sz="3200" dirty="0"/>
          </a:p>
        </p:txBody>
      </p:sp>
      <p:sp>
        <p:nvSpPr>
          <p:cNvPr id="10" name="Rectangle 9"/>
          <p:cNvSpPr/>
          <p:nvPr/>
        </p:nvSpPr>
        <p:spPr>
          <a:xfrm>
            <a:off x="2809495" y="4596825"/>
            <a:ext cx="2886944" cy="584775"/>
          </a:xfrm>
          <a:prstGeom prst="rect">
            <a:avLst/>
          </a:prstGeom>
        </p:spPr>
        <p:txBody>
          <a:bodyPr wrap="none">
            <a:spAutoFit/>
          </a:bodyPr>
          <a:lstStyle/>
          <a:p>
            <a:r>
              <a:rPr lang="en-US" sz="3200" dirty="0" smtClean="0"/>
              <a:t>d. line segment</a:t>
            </a:r>
            <a:endParaRPr lang="en-US" sz="3200" dirty="0"/>
          </a:p>
        </p:txBody>
      </p:sp>
      <p:sp>
        <p:nvSpPr>
          <p:cNvPr id="11" name="Rounded Rectangle 10"/>
          <p:cNvSpPr/>
          <p:nvPr/>
        </p:nvSpPr>
        <p:spPr>
          <a:xfrm>
            <a:off x="2705100" y="4610100"/>
            <a:ext cx="28194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slide(fromBottom)">
                                      <p:cBhvr>
                                        <p:cTn id="13" dur="500"/>
                                        <p:tgtEl>
                                          <p:spTgt spid="7"/>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slide(fromBottom)">
                                      <p:cBhvr>
                                        <p:cTn id="16" dur="500"/>
                                        <p:tgtEl>
                                          <p:spTgt spid="8"/>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slide(fromBottom)">
                                      <p:cBhvr>
                                        <p:cTn id="19" dur="500"/>
                                        <p:tgtEl>
                                          <p:spTgt spid="9"/>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slide(fromBottom)">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edge">
                                      <p:cBhvr>
                                        <p:cTn id="2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09600" y="762000"/>
            <a:ext cx="8229600" cy="1077218"/>
          </a:xfrm>
          <a:prstGeom prst="rect">
            <a:avLst/>
          </a:prstGeom>
        </p:spPr>
        <p:txBody>
          <a:bodyPr wrap="square">
            <a:spAutoFit/>
          </a:bodyPr>
          <a:lstStyle/>
          <a:p>
            <a:r>
              <a:rPr lang="en-US" sz="3200" dirty="0" smtClean="0"/>
              <a:t>2. Which of these triangles cannot be</a:t>
            </a:r>
          </a:p>
          <a:p>
            <a:r>
              <a:rPr lang="en-US" sz="3200" dirty="0" smtClean="0"/>
              <a:t>      isosceles?</a:t>
            </a:r>
            <a:endParaRPr lang="en-US" sz="3200" dirty="0"/>
          </a:p>
        </p:txBody>
      </p:sp>
      <p:sp>
        <p:nvSpPr>
          <p:cNvPr id="6" name="Rectangle 5"/>
          <p:cNvSpPr/>
          <p:nvPr/>
        </p:nvSpPr>
        <p:spPr>
          <a:xfrm>
            <a:off x="2851861" y="2438400"/>
            <a:ext cx="1535998" cy="584775"/>
          </a:xfrm>
          <a:prstGeom prst="rect">
            <a:avLst/>
          </a:prstGeom>
        </p:spPr>
        <p:txBody>
          <a:bodyPr wrap="none">
            <a:spAutoFit/>
          </a:bodyPr>
          <a:lstStyle/>
          <a:p>
            <a:r>
              <a:rPr lang="en-US" sz="3200" dirty="0" smtClean="0"/>
              <a:t>a. acute</a:t>
            </a:r>
            <a:endParaRPr lang="en-US" sz="3200" dirty="0"/>
          </a:p>
        </p:txBody>
      </p:sp>
      <p:sp>
        <p:nvSpPr>
          <p:cNvPr id="7" name="Rectangle 6"/>
          <p:cNvSpPr/>
          <p:nvPr/>
        </p:nvSpPr>
        <p:spPr>
          <a:xfrm>
            <a:off x="2826103" y="3072825"/>
            <a:ext cx="1462195" cy="584775"/>
          </a:xfrm>
          <a:prstGeom prst="rect">
            <a:avLst/>
          </a:prstGeom>
        </p:spPr>
        <p:txBody>
          <a:bodyPr wrap="none">
            <a:spAutoFit/>
          </a:bodyPr>
          <a:lstStyle/>
          <a:p>
            <a:r>
              <a:rPr lang="en-US" sz="3200" dirty="0" smtClean="0"/>
              <a:t>b. right</a:t>
            </a:r>
            <a:endParaRPr lang="en-US" sz="3200" dirty="0"/>
          </a:p>
        </p:txBody>
      </p:sp>
      <p:sp>
        <p:nvSpPr>
          <p:cNvPr id="8" name="Rectangle 7"/>
          <p:cNvSpPr/>
          <p:nvPr/>
        </p:nvSpPr>
        <p:spPr>
          <a:xfrm>
            <a:off x="2851861" y="3733800"/>
            <a:ext cx="1764842" cy="584775"/>
          </a:xfrm>
          <a:prstGeom prst="rect">
            <a:avLst/>
          </a:prstGeom>
        </p:spPr>
        <p:txBody>
          <a:bodyPr wrap="none">
            <a:spAutoFit/>
          </a:bodyPr>
          <a:lstStyle/>
          <a:p>
            <a:r>
              <a:rPr lang="en-US" sz="3200" dirty="0" smtClean="0"/>
              <a:t>c. obtuse</a:t>
            </a:r>
            <a:endParaRPr lang="en-US" sz="3200" dirty="0"/>
          </a:p>
        </p:txBody>
      </p:sp>
      <p:sp>
        <p:nvSpPr>
          <p:cNvPr id="9" name="Rectangle 8"/>
          <p:cNvSpPr/>
          <p:nvPr/>
        </p:nvSpPr>
        <p:spPr>
          <a:xfrm>
            <a:off x="2809495" y="4368225"/>
            <a:ext cx="1919115" cy="584775"/>
          </a:xfrm>
          <a:prstGeom prst="rect">
            <a:avLst/>
          </a:prstGeom>
        </p:spPr>
        <p:txBody>
          <a:bodyPr wrap="none">
            <a:spAutoFit/>
          </a:bodyPr>
          <a:lstStyle/>
          <a:p>
            <a:r>
              <a:rPr lang="en-US" sz="3200" dirty="0" smtClean="0"/>
              <a:t>d. scalene</a:t>
            </a:r>
            <a:endParaRPr lang="en-US" sz="3200" dirty="0"/>
          </a:p>
        </p:txBody>
      </p:sp>
      <p:sp>
        <p:nvSpPr>
          <p:cNvPr id="10" name="Rounded Rectangle 9"/>
          <p:cNvSpPr/>
          <p:nvPr/>
        </p:nvSpPr>
        <p:spPr>
          <a:xfrm>
            <a:off x="2762250" y="4381500"/>
            <a:ext cx="196215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edge">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85800" y="990600"/>
            <a:ext cx="5739520" cy="584775"/>
          </a:xfrm>
          <a:prstGeom prst="rect">
            <a:avLst/>
          </a:prstGeom>
        </p:spPr>
        <p:txBody>
          <a:bodyPr wrap="none">
            <a:spAutoFit/>
          </a:bodyPr>
          <a:lstStyle/>
          <a:p>
            <a:r>
              <a:rPr lang="en-US" sz="3200" dirty="0" smtClean="0"/>
              <a:t>3. A diameter of a circle is also a</a:t>
            </a:r>
            <a:endParaRPr lang="en-US" sz="3200" dirty="0"/>
          </a:p>
        </p:txBody>
      </p:sp>
      <p:sp>
        <p:nvSpPr>
          <p:cNvPr id="6" name="Rectangle 5"/>
          <p:cNvSpPr/>
          <p:nvPr/>
        </p:nvSpPr>
        <p:spPr>
          <a:xfrm>
            <a:off x="2851861" y="2362200"/>
            <a:ext cx="1538370" cy="584775"/>
          </a:xfrm>
          <a:prstGeom prst="rect">
            <a:avLst/>
          </a:prstGeom>
        </p:spPr>
        <p:txBody>
          <a:bodyPr wrap="none">
            <a:spAutoFit/>
          </a:bodyPr>
          <a:lstStyle/>
          <a:p>
            <a:r>
              <a:rPr lang="en-US" sz="3200" dirty="0" smtClean="0"/>
              <a:t>a. chord</a:t>
            </a:r>
            <a:endParaRPr lang="en-US" sz="3200" dirty="0"/>
          </a:p>
        </p:txBody>
      </p:sp>
      <p:sp>
        <p:nvSpPr>
          <p:cNvPr id="7" name="Rectangle 6"/>
          <p:cNvSpPr/>
          <p:nvPr/>
        </p:nvSpPr>
        <p:spPr>
          <a:xfrm>
            <a:off x="2826103" y="2996625"/>
            <a:ext cx="1617366" cy="584775"/>
          </a:xfrm>
          <a:prstGeom prst="rect">
            <a:avLst/>
          </a:prstGeom>
        </p:spPr>
        <p:txBody>
          <a:bodyPr wrap="none">
            <a:spAutoFit/>
          </a:bodyPr>
          <a:lstStyle/>
          <a:p>
            <a:r>
              <a:rPr lang="en-US" sz="3200" dirty="0" smtClean="0"/>
              <a:t>b. radius</a:t>
            </a:r>
            <a:endParaRPr lang="en-US" sz="3200" dirty="0"/>
          </a:p>
        </p:txBody>
      </p:sp>
      <p:sp>
        <p:nvSpPr>
          <p:cNvPr id="8" name="Rectangle 7"/>
          <p:cNvSpPr/>
          <p:nvPr/>
        </p:nvSpPr>
        <p:spPr>
          <a:xfrm>
            <a:off x="2851861" y="3657600"/>
            <a:ext cx="1636217" cy="584775"/>
          </a:xfrm>
          <a:prstGeom prst="rect">
            <a:avLst/>
          </a:prstGeom>
        </p:spPr>
        <p:txBody>
          <a:bodyPr wrap="none">
            <a:spAutoFit/>
          </a:bodyPr>
          <a:lstStyle/>
          <a:p>
            <a:r>
              <a:rPr lang="en-US" sz="3200" dirty="0" smtClean="0"/>
              <a:t>c. secant</a:t>
            </a:r>
            <a:endParaRPr lang="en-US" sz="3200" dirty="0"/>
          </a:p>
        </p:txBody>
      </p:sp>
      <p:sp>
        <p:nvSpPr>
          <p:cNvPr id="9" name="Rectangle 8"/>
          <p:cNvSpPr/>
          <p:nvPr/>
        </p:nvSpPr>
        <p:spPr>
          <a:xfrm>
            <a:off x="2809495" y="4292025"/>
            <a:ext cx="2051139" cy="584775"/>
          </a:xfrm>
          <a:prstGeom prst="rect">
            <a:avLst/>
          </a:prstGeom>
        </p:spPr>
        <p:txBody>
          <a:bodyPr wrap="none">
            <a:spAutoFit/>
          </a:bodyPr>
          <a:lstStyle/>
          <a:p>
            <a:r>
              <a:rPr lang="en-US" sz="3200" dirty="0" smtClean="0"/>
              <a:t>d. tangent</a:t>
            </a:r>
            <a:endParaRPr lang="en-US" sz="3200" dirty="0"/>
          </a:p>
        </p:txBody>
      </p:sp>
      <p:sp>
        <p:nvSpPr>
          <p:cNvPr id="11" name="Rounded Rectangle 10"/>
          <p:cNvSpPr/>
          <p:nvPr/>
        </p:nvSpPr>
        <p:spPr>
          <a:xfrm>
            <a:off x="2705100" y="3657600"/>
            <a:ext cx="196215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2686050" y="2381250"/>
            <a:ext cx="196215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edge">
                                      <p:cBhvr>
                                        <p:cTn id="27" dur="2000"/>
                                        <p:tgtEl>
                                          <p:spTgt spid="12"/>
                                        </p:tgtEl>
                                      </p:cBhvr>
                                    </p:animEffect>
                                  </p:childTnLst>
                                </p:cTn>
                              </p:par>
                              <p:par>
                                <p:cTn id="28" presetID="2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edge">
                                      <p:cBhvr>
                                        <p:cTn id="30"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838200" y="990600"/>
            <a:ext cx="6335324" cy="584775"/>
          </a:xfrm>
          <a:prstGeom prst="rect">
            <a:avLst/>
          </a:prstGeom>
        </p:spPr>
        <p:txBody>
          <a:bodyPr wrap="none">
            <a:spAutoFit/>
          </a:bodyPr>
          <a:lstStyle/>
          <a:p>
            <a:r>
              <a:rPr lang="en-US" sz="3200" dirty="0" smtClean="0"/>
              <a:t>4. In angle TOY, what is the vertex?</a:t>
            </a:r>
            <a:endParaRPr lang="en-US" sz="3200" dirty="0"/>
          </a:p>
        </p:txBody>
      </p:sp>
      <p:sp>
        <p:nvSpPr>
          <p:cNvPr id="6" name="Rectangle 5"/>
          <p:cNvSpPr/>
          <p:nvPr/>
        </p:nvSpPr>
        <p:spPr>
          <a:xfrm>
            <a:off x="1366854" y="1600200"/>
            <a:ext cx="833883" cy="584775"/>
          </a:xfrm>
          <a:prstGeom prst="rect">
            <a:avLst/>
          </a:prstGeom>
        </p:spPr>
        <p:txBody>
          <a:bodyPr wrap="none">
            <a:spAutoFit/>
          </a:bodyPr>
          <a:lstStyle/>
          <a:p>
            <a:r>
              <a:rPr lang="en-US" sz="3200" dirty="0" smtClean="0"/>
              <a:t>a. T</a:t>
            </a:r>
            <a:endParaRPr lang="en-US" sz="3200" dirty="0"/>
          </a:p>
        </p:txBody>
      </p:sp>
      <p:sp>
        <p:nvSpPr>
          <p:cNvPr id="7" name="Rectangle 6"/>
          <p:cNvSpPr/>
          <p:nvPr/>
        </p:nvSpPr>
        <p:spPr>
          <a:xfrm>
            <a:off x="1341096" y="2234625"/>
            <a:ext cx="943079" cy="584775"/>
          </a:xfrm>
          <a:prstGeom prst="rect">
            <a:avLst/>
          </a:prstGeom>
        </p:spPr>
        <p:txBody>
          <a:bodyPr wrap="none">
            <a:spAutoFit/>
          </a:bodyPr>
          <a:lstStyle/>
          <a:p>
            <a:r>
              <a:rPr lang="en-US" sz="3200" dirty="0" smtClean="0"/>
              <a:t>b. O</a:t>
            </a:r>
            <a:endParaRPr lang="en-US" sz="3200" dirty="0"/>
          </a:p>
        </p:txBody>
      </p:sp>
      <p:sp>
        <p:nvSpPr>
          <p:cNvPr id="8" name="Rectangle 7"/>
          <p:cNvSpPr/>
          <p:nvPr/>
        </p:nvSpPr>
        <p:spPr>
          <a:xfrm>
            <a:off x="1366854" y="2895600"/>
            <a:ext cx="811184" cy="584775"/>
          </a:xfrm>
          <a:prstGeom prst="rect">
            <a:avLst/>
          </a:prstGeom>
        </p:spPr>
        <p:txBody>
          <a:bodyPr wrap="none">
            <a:spAutoFit/>
          </a:bodyPr>
          <a:lstStyle/>
          <a:p>
            <a:r>
              <a:rPr lang="en-US" sz="3200" dirty="0" smtClean="0"/>
              <a:t>c. Y</a:t>
            </a:r>
            <a:endParaRPr lang="en-US" sz="3200" dirty="0"/>
          </a:p>
        </p:txBody>
      </p:sp>
      <p:sp>
        <p:nvSpPr>
          <p:cNvPr id="9" name="Rectangle 8"/>
          <p:cNvSpPr/>
          <p:nvPr/>
        </p:nvSpPr>
        <p:spPr>
          <a:xfrm>
            <a:off x="1324488" y="3530025"/>
            <a:ext cx="4598567" cy="584775"/>
          </a:xfrm>
          <a:prstGeom prst="rect">
            <a:avLst/>
          </a:prstGeom>
        </p:spPr>
        <p:txBody>
          <a:bodyPr wrap="none">
            <a:spAutoFit/>
          </a:bodyPr>
          <a:lstStyle/>
          <a:p>
            <a:r>
              <a:rPr lang="en-US" sz="3200" dirty="0" smtClean="0"/>
              <a:t>d. Cannot be determined</a:t>
            </a:r>
            <a:endParaRPr lang="en-US" sz="3200" dirty="0"/>
          </a:p>
        </p:txBody>
      </p:sp>
      <p:cxnSp>
        <p:nvCxnSpPr>
          <p:cNvPr id="10" name="Straight Arrow Connector 9"/>
          <p:cNvCxnSpPr/>
          <p:nvPr/>
        </p:nvCxnSpPr>
        <p:spPr>
          <a:xfrm rot="5400000" flipH="1" flipV="1">
            <a:off x="1714500" y="4570722"/>
            <a:ext cx="1524000" cy="1447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1752600" y="6042767"/>
            <a:ext cx="21336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851265" y="4726587"/>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3" name="Oval 12"/>
          <p:cNvSpPr/>
          <p:nvPr/>
        </p:nvSpPr>
        <p:spPr>
          <a:xfrm>
            <a:off x="3460865" y="5949942"/>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4" name="Oval 13"/>
          <p:cNvSpPr/>
          <p:nvPr/>
        </p:nvSpPr>
        <p:spPr>
          <a:xfrm>
            <a:off x="1708265" y="5938857"/>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5" name="Arc 14"/>
          <p:cNvSpPr/>
          <p:nvPr/>
        </p:nvSpPr>
        <p:spPr>
          <a:xfrm>
            <a:off x="1911925" y="5786457"/>
            <a:ext cx="304800" cy="457200"/>
          </a:xfrm>
          <a:prstGeom prst="arc">
            <a:avLst/>
          </a:prstGeom>
          <a:ln w="28575">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16" name="Rectangle 15"/>
          <p:cNvSpPr/>
          <p:nvPr/>
        </p:nvSpPr>
        <p:spPr>
          <a:xfrm>
            <a:off x="2623686" y="4419600"/>
            <a:ext cx="327334" cy="369332"/>
          </a:xfrm>
          <a:prstGeom prst="rect">
            <a:avLst/>
          </a:prstGeom>
          <a:ln>
            <a:noFill/>
          </a:ln>
        </p:spPr>
        <p:txBody>
          <a:bodyPr wrap="none">
            <a:spAutoFit/>
          </a:bodyPr>
          <a:lstStyle/>
          <a:p>
            <a:r>
              <a:rPr lang="en-US" dirty="0" smtClean="0"/>
              <a:t>T</a:t>
            </a:r>
            <a:endParaRPr lang="en-PH" dirty="0"/>
          </a:p>
        </p:txBody>
      </p:sp>
      <p:sp>
        <p:nvSpPr>
          <p:cNvPr id="17" name="Rectangle 16"/>
          <p:cNvSpPr/>
          <p:nvPr/>
        </p:nvSpPr>
        <p:spPr>
          <a:xfrm>
            <a:off x="1371600" y="5751822"/>
            <a:ext cx="370614" cy="369332"/>
          </a:xfrm>
          <a:prstGeom prst="rect">
            <a:avLst/>
          </a:prstGeom>
          <a:ln>
            <a:noFill/>
          </a:ln>
        </p:spPr>
        <p:txBody>
          <a:bodyPr wrap="none">
            <a:spAutoFit/>
          </a:bodyPr>
          <a:lstStyle/>
          <a:p>
            <a:r>
              <a:rPr lang="en-US" dirty="0" smtClean="0"/>
              <a:t>O</a:t>
            </a:r>
            <a:endParaRPr lang="en-PH" dirty="0"/>
          </a:p>
        </p:txBody>
      </p:sp>
      <p:sp>
        <p:nvSpPr>
          <p:cNvPr id="18" name="Rectangle 17"/>
          <p:cNvSpPr/>
          <p:nvPr/>
        </p:nvSpPr>
        <p:spPr>
          <a:xfrm>
            <a:off x="3276600" y="6132822"/>
            <a:ext cx="320922" cy="369332"/>
          </a:xfrm>
          <a:prstGeom prst="rect">
            <a:avLst/>
          </a:prstGeom>
          <a:ln>
            <a:noFill/>
          </a:ln>
        </p:spPr>
        <p:txBody>
          <a:bodyPr wrap="none">
            <a:spAutoFit/>
          </a:bodyPr>
          <a:lstStyle/>
          <a:p>
            <a:r>
              <a:rPr lang="en-US" dirty="0" smtClean="0"/>
              <a:t>Y</a:t>
            </a:r>
            <a:endParaRPr lang="en-PH" dirty="0"/>
          </a:p>
        </p:txBody>
      </p:sp>
      <p:cxnSp>
        <p:nvCxnSpPr>
          <p:cNvPr id="19" name="Straight Arrow Connector 18"/>
          <p:cNvCxnSpPr/>
          <p:nvPr/>
        </p:nvCxnSpPr>
        <p:spPr>
          <a:xfrm rot="16200000" flipV="1">
            <a:off x="4613565" y="4913622"/>
            <a:ext cx="1600200" cy="685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715000" y="6079589"/>
            <a:ext cx="21336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133110" y="4685022"/>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22" name="Oval 21"/>
          <p:cNvSpPr/>
          <p:nvPr/>
        </p:nvSpPr>
        <p:spPr>
          <a:xfrm>
            <a:off x="7423265" y="5986764"/>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23" name="Oval 22"/>
          <p:cNvSpPr/>
          <p:nvPr/>
        </p:nvSpPr>
        <p:spPr>
          <a:xfrm>
            <a:off x="5670665" y="5975679"/>
            <a:ext cx="182880"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24" name="Arc 23"/>
          <p:cNvSpPr/>
          <p:nvPr/>
        </p:nvSpPr>
        <p:spPr>
          <a:xfrm>
            <a:off x="5119255" y="5765677"/>
            <a:ext cx="1073725" cy="528657"/>
          </a:xfrm>
          <a:prstGeom prst="arc">
            <a:avLst/>
          </a:prstGeom>
          <a:ln w="28575">
            <a:solidFill>
              <a:schemeClr val="tx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25" name="Rectangle 24"/>
          <p:cNvSpPr/>
          <p:nvPr/>
        </p:nvSpPr>
        <p:spPr>
          <a:xfrm>
            <a:off x="4701866" y="4620490"/>
            <a:ext cx="327334" cy="369332"/>
          </a:xfrm>
          <a:prstGeom prst="rect">
            <a:avLst/>
          </a:prstGeom>
          <a:ln>
            <a:noFill/>
          </a:ln>
        </p:spPr>
        <p:txBody>
          <a:bodyPr wrap="none">
            <a:spAutoFit/>
          </a:bodyPr>
          <a:lstStyle/>
          <a:p>
            <a:r>
              <a:rPr lang="en-US" dirty="0" smtClean="0"/>
              <a:t>T</a:t>
            </a:r>
            <a:endParaRPr lang="en-PH" dirty="0"/>
          </a:p>
        </p:txBody>
      </p:sp>
      <p:sp>
        <p:nvSpPr>
          <p:cNvPr id="26" name="Rectangle 25"/>
          <p:cNvSpPr/>
          <p:nvPr/>
        </p:nvSpPr>
        <p:spPr>
          <a:xfrm>
            <a:off x="5334000" y="5788644"/>
            <a:ext cx="370614" cy="369332"/>
          </a:xfrm>
          <a:prstGeom prst="rect">
            <a:avLst/>
          </a:prstGeom>
          <a:ln>
            <a:noFill/>
          </a:ln>
        </p:spPr>
        <p:txBody>
          <a:bodyPr wrap="none">
            <a:spAutoFit/>
          </a:bodyPr>
          <a:lstStyle/>
          <a:p>
            <a:r>
              <a:rPr lang="en-US" dirty="0" smtClean="0"/>
              <a:t>O</a:t>
            </a:r>
            <a:endParaRPr lang="en-PH" dirty="0"/>
          </a:p>
        </p:txBody>
      </p:sp>
      <p:sp>
        <p:nvSpPr>
          <p:cNvPr id="27" name="Rectangle 26"/>
          <p:cNvSpPr/>
          <p:nvPr/>
        </p:nvSpPr>
        <p:spPr>
          <a:xfrm>
            <a:off x="7299078" y="6285222"/>
            <a:ext cx="320922" cy="369332"/>
          </a:xfrm>
          <a:prstGeom prst="rect">
            <a:avLst/>
          </a:prstGeom>
          <a:ln>
            <a:noFill/>
          </a:ln>
        </p:spPr>
        <p:txBody>
          <a:bodyPr wrap="none">
            <a:spAutoFit/>
          </a:bodyPr>
          <a:lstStyle/>
          <a:p>
            <a:r>
              <a:rPr lang="en-US" dirty="0" smtClean="0"/>
              <a:t>Y</a:t>
            </a:r>
            <a:endParaRPr lang="en-PH" dirty="0"/>
          </a:p>
        </p:txBody>
      </p:sp>
      <p:sp>
        <p:nvSpPr>
          <p:cNvPr id="28" name="Rounded Rectangle 27"/>
          <p:cNvSpPr/>
          <p:nvPr/>
        </p:nvSpPr>
        <p:spPr>
          <a:xfrm>
            <a:off x="1219200" y="2228850"/>
            <a:ext cx="104775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2"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Scale>
                                      <p:cBhvr>
                                        <p:cTn id="27"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8" dur="1000" decel="50000" fill="hold">
                                          <p:stCondLst>
                                            <p:cond delay="0"/>
                                          </p:stCondLst>
                                        </p:cTn>
                                        <p:tgtEl>
                                          <p:spTgt spid="10"/>
                                        </p:tgtEl>
                                        <p:attrNameLst>
                                          <p:attrName>ppt_x</p:attrName>
                                          <p:attrName>ppt_y</p:attrName>
                                        </p:attrNameLst>
                                      </p:cBhvr>
                                    </p:animMotion>
                                    <p:animEffect transition="in" filter="fade">
                                      <p:cBhvr>
                                        <p:cTn id="29" dur="1000"/>
                                        <p:tgtEl>
                                          <p:spTgt spid="10"/>
                                        </p:tgtEl>
                                      </p:cBhvr>
                                    </p:animEffect>
                                  </p:childTnLst>
                                </p:cTn>
                              </p:par>
                              <p:par>
                                <p:cTn id="30" presetID="52"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Scale>
                                      <p:cBhvr>
                                        <p:cTn id="32"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11"/>
                                        </p:tgtEl>
                                        <p:attrNameLst>
                                          <p:attrName>ppt_x</p:attrName>
                                          <p:attrName>ppt_y</p:attrName>
                                        </p:attrNameLst>
                                      </p:cBhvr>
                                    </p:animMotion>
                                    <p:animEffect transition="in" filter="fade">
                                      <p:cBhvr>
                                        <p:cTn id="34" dur="1000"/>
                                        <p:tgtEl>
                                          <p:spTgt spid="11"/>
                                        </p:tgtEl>
                                      </p:cBhvr>
                                    </p:animEffect>
                                  </p:childTnLst>
                                </p:cTn>
                              </p:par>
                              <p:par>
                                <p:cTn id="35" presetID="5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Scale>
                                      <p:cBhvr>
                                        <p:cTn id="37"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12"/>
                                        </p:tgtEl>
                                        <p:attrNameLst>
                                          <p:attrName>ppt_x</p:attrName>
                                          <p:attrName>ppt_y</p:attrName>
                                        </p:attrNameLst>
                                      </p:cBhvr>
                                    </p:animMotion>
                                    <p:animEffect transition="in" filter="fade">
                                      <p:cBhvr>
                                        <p:cTn id="39" dur="1000"/>
                                        <p:tgtEl>
                                          <p:spTgt spid="12"/>
                                        </p:tgtEl>
                                      </p:cBhvr>
                                    </p:animEffect>
                                  </p:childTnLst>
                                </p:cTn>
                              </p:par>
                              <p:par>
                                <p:cTn id="40" presetID="5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Scale>
                                      <p:cBhvr>
                                        <p:cTn id="42" dur="10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13"/>
                                        </p:tgtEl>
                                        <p:attrNameLst>
                                          <p:attrName>ppt_x</p:attrName>
                                          <p:attrName>ppt_y</p:attrName>
                                        </p:attrNameLst>
                                      </p:cBhvr>
                                    </p:animMotion>
                                    <p:animEffect transition="in" filter="fade">
                                      <p:cBhvr>
                                        <p:cTn id="44" dur="1000"/>
                                        <p:tgtEl>
                                          <p:spTgt spid="13"/>
                                        </p:tgtEl>
                                      </p:cBhvr>
                                    </p:animEffect>
                                  </p:childTnLst>
                                </p:cTn>
                              </p:par>
                              <p:par>
                                <p:cTn id="45" presetID="5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Scale>
                                      <p:cBhvr>
                                        <p:cTn id="47" dur="1000" decel="50000" fill="hold">
                                          <p:stCondLst>
                                            <p:cond delay="0"/>
                                          </p:stCondLst>
                                        </p:cTn>
                                        <p:tgtEl>
                                          <p:spTgt spid="1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8" dur="1000" decel="50000" fill="hold">
                                          <p:stCondLst>
                                            <p:cond delay="0"/>
                                          </p:stCondLst>
                                        </p:cTn>
                                        <p:tgtEl>
                                          <p:spTgt spid="14"/>
                                        </p:tgtEl>
                                        <p:attrNameLst>
                                          <p:attrName>ppt_x</p:attrName>
                                          <p:attrName>ppt_y</p:attrName>
                                        </p:attrNameLst>
                                      </p:cBhvr>
                                    </p:animMotion>
                                    <p:animEffect transition="in" filter="fade">
                                      <p:cBhvr>
                                        <p:cTn id="49" dur="1000"/>
                                        <p:tgtEl>
                                          <p:spTgt spid="14"/>
                                        </p:tgtEl>
                                      </p:cBhvr>
                                    </p:animEffect>
                                  </p:childTnLst>
                                </p:cTn>
                              </p:par>
                              <p:par>
                                <p:cTn id="50" presetID="5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Scale>
                                      <p:cBhvr>
                                        <p:cTn id="52" dur="1000" decel="50000" fill="hold">
                                          <p:stCondLst>
                                            <p:cond delay="0"/>
                                          </p:stCondLst>
                                        </p:cTn>
                                        <p:tgtEl>
                                          <p:spTgt spid="1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3" dur="1000" decel="50000" fill="hold">
                                          <p:stCondLst>
                                            <p:cond delay="0"/>
                                          </p:stCondLst>
                                        </p:cTn>
                                        <p:tgtEl>
                                          <p:spTgt spid="15"/>
                                        </p:tgtEl>
                                        <p:attrNameLst>
                                          <p:attrName>ppt_x</p:attrName>
                                          <p:attrName>ppt_y</p:attrName>
                                        </p:attrNameLst>
                                      </p:cBhvr>
                                    </p:animMotion>
                                    <p:animEffect transition="in" filter="fade">
                                      <p:cBhvr>
                                        <p:cTn id="54" dur="1000"/>
                                        <p:tgtEl>
                                          <p:spTgt spid="15"/>
                                        </p:tgtEl>
                                      </p:cBhvr>
                                    </p:animEffect>
                                  </p:childTnLst>
                                </p:cTn>
                              </p:par>
                              <p:par>
                                <p:cTn id="55" presetID="5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Scale>
                                      <p:cBhvr>
                                        <p:cTn id="57" dur="1000" decel="50000" fill="hold">
                                          <p:stCondLst>
                                            <p:cond delay="0"/>
                                          </p:stCondLst>
                                        </p:cTn>
                                        <p:tgtEl>
                                          <p:spTgt spid="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8" dur="1000" decel="50000" fill="hold">
                                          <p:stCondLst>
                                            <p:cond delay="0"/>
                                          </p:stCondLst>
                                        </p:cTn>
                                        <p:tgtEl>
                                          <p:spTgt spid="16"/>
                                        </p:tgtEl>
                                        <p:attrNameLst>
                                          <p:attrName>ppt_x</p:attrName>
                                          <p:attrName>ppt_y</p:attrName>
                                        </p:attrNameLst>
                                      </p:cBhvr>
                                    </p:animMotion>
                                    <p:animEffect transition="in" filter="fade">
                                      <p:cBhvr>
                                        <p:cTn id="59" dur="1000"/>
                                        <p:tgtEl>
                                          <p:spTgt spid="16"/>
                                        </p:tgtEl>
                                      </p:cBhvr>
                                    </p:animEffect>
                                  </p:childTnLst>
                                </p:cTn>
                              </p:par>
                              <p:par>
                                <p:cTn id="60" presetID="5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Scale>
                                      <p:cBhvr>
                                        <p:cTn id="62"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3" dur="1000" decel="50000" fill="hold">
                                          <p:stCondLst>
                                            <p:cond delay="0"/>
                                          </p:stCondLst>
                                        </p:cTn>
                                        <p:tgtEl>
                                          <p:spTgt spid="17"/>
                                        </p:tgtEl>
                                        <p:attrNameLst>
                                          <p:attrName>ppt_x</p:attrName>
                                          <p:attrName>ppt_y</p:attrName>
                                        </p:attrNameLst>
                                      </p:cBhvr>
                                    </p:animMotion>
                                    <p:animEffect transition="in" filter="fade">
                                      <p:cBhvr>
                                        <p:cTn id="64" dur="1000"/>
                                        <p:tgtEl>
                                          <p:spTgt spid="17"/>
                                        </p:tgtEl>
                                      </p:cBhvr>
                                    </p:animEffect>
                                  </p:childTnLst>
                                </p:cTn>
                              </p:par>
                              <p:par>
                                <p:cTn id="65" presetID="52"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Scale>
                                      <p:cBhvr>
                                        <p:cTn id="67"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8" dur="1000" decel="50000" fill="hold">
                                          <p:stCondLst>
                                            <p:cond delay="0"/>
                                          </p:stCondLst>
                                        </p:cTn>
                                        <p:tgtEl>
                                          <p:spTgt spid="18"/>
                                        </p:tgtEl>
                                        <p:attrNameLst>
                                          <p:attrName>ppt_x</p:attrName>
                                          <p:attrName>ppt_y</p:attrName>
                                        </p:attrNameLst>
                                      </p:cBhvr>
                                    </p:animMotion>
                                    <p:animEffect transition="in" filter="fade">
                                      <p:cBhvr>
                                        <p:cTn id="69" dur="10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2" presetID="52" presetClass="entr" presetSubtype="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Scale>
                                      <p:cBhvr>
                                        <p:cTn id="74"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75" dur="1000" decel="50000" fill="hold">
                                          <p:stCondLst>
                                            <p:cond delay="0"/>
                                          </p:stCondLst>
                                        </p:cTn>
                                        <p:tgtEl>
                                          <p:spTgt spid="19"/>
                                        </p:tgtEl>
                                        <p:attrNameLst>
                                          <p:attrName>ppt_x</p:attrName>
                                          <p:attrName>ppt_y</p:attrName>
                                        </p:attrNameLst>
                                      </p:cBhvr>
                                    </p:animMotion>
                                    <p:animEffect transition="in" filter="fade">
                                      <p:cBhvr>
                                        <p:cTn id="76" dur="1000"/>
                                        <p:tgtEl>
                                          <p:spTgt spid="19"/>
                                        </p:tgtEl>
                                      </p:cBhvr>
                                    </p:animEffect>
                                  </p:childTnLst>
                                </p:cTn>
                              </p:par>
                              <p:par>
                                <p:cTn id="77" presetID="52" presetClass="entr" presetSubtype="0" fill="hold" nodeType="withEffect">
                                  <p:stCondLst>
                                    <p:cond delay="0"/>
                                  </p:stCondLst>
                                  <p:childTnLst>
                                    <p:set>
                                      <p:cBhvr>
                                        <p:cTn id="78" dur="1" fill="hold">
                                          <p:stCondLst>
                                            <p:cond delay="0"/>
                                          </p:stCondLst>
                                        </p:cTn>
                                        <p:tgtEl>
                                          <p:spTgt spid="20"/>
                                        </p:tgtEl>
                                        <p:attrNameLst>
                                          <p:attrName>style.visibility</p:attrName>
                                        </p:attrNameLst>
                                      </p:cBhvr>
                                      <p:to>
                                        <p:strVal val="visible"/>
                                      </p:to>
                                    </p:set>
                                    <p:animScale>
                                      <p:cBhvr>
                                        <p:cTn id="79" dur="10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0" dur="1000" decel="50000" fill="hold">
                                          <p:stCondLst>
                                            <p:cond delay="0"/>
                                          </p:stCondLst>
                                        </p:cTn>
                                        <p:tgtEl>
                                          <p:spTgt spid="20"/>
                                        </p:tgtEl>
                                        <p:attrNameLst>
                                          <p:attrName>ppt_x</p:attrName>
                                          <p:attrName>ppt_y</p:attrName>
                                        </p:attrNameLst>
                                      </p:cBhvr>
                                    </p:animMotion>
                                    <p:animEffect transition="in" filter="fade">
                                      <p:cBhvr>
                                        <p:cTn id="81" dur="1000"/>
                                        <p:tgtEl>
                                          <p:spTgt spid="20"/>
                                        </p:tgtEl>
                                      </p:cBhvr>
                                    </p:animEffect>
                                  </p:childTnLst>
                                </p:cTn>
                              </p:par>
                              <p:par>
                                <p:cTn id="82" presetID="52" presetClass="entr" presetSubtype="0"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Scale>
                                      <p:cBhvr>
                                        <p:cTn id="84" dur="1000" decel="50000" fill="hold">
                                          <p:stCondLst>
                                            <p:cond delay="0"/>
                                          </p:stCondLst>
                                        </p:cTn>
                                        <p:tgtEl>
                                          <p:spTgt spid="2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5" dur="1000" decel="50000" fill="hold">
                                          <p:stCondLst>
                                            <p:cond delay="0"/>
                                          </p:stCondLst>
                                        </p:cTn>
                                        <p:tgtEl>
                                          <p:spTgt spid="21"/>
                                        </p:tgtEl>
                                        <p:attrNameLst>
                                          <p:attrName>ppt_x</p:attrName>
                                          <p:attrName>ppt_y</p:attrName>
                                        </p:attrNameLst>
                                      </p:cBhvr>
                                    </p:animMotion>
                                    <p:animEffect transition="in" filter="fade">
                                      <p:cBhvr>
                                        <p:cTn id="86" dur="1000"/>
                                        <p:tgtEl>
                                          <p:spTgt spid="21"/>
                                        </p:tgtEl>
                                      </p:cBhvr>
                                    </p:animEffect>
                                  </p:childTnLst>
                                </p:cTn>
                              </p:par>
                              <p:par>
                                <p:cTn id="87" presetID="52"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Scale>
                                      <p:cBhvr>
                                        <p:cTn id="89" dur="1000" decel="50000" fill="hold">
                                          <p:stCondLst>
                                            <p:cond delay="0"/>
                                          </p:stCondLst>
                                        </p:cTn>
                                        <p:tgtEl>
                                          <p:spTgt spid="2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90" dur="1000" decel="50000" fill="hold">
                                          <p:stCondLst>
                                            <p:cond delay="0"/>
                                          </p:stCondLst>
                                        </p:cTn>
                                        <p:tgtEl>
                                          <p:spTgt spid="22"/>
                                        </p:tgtEl>
                                        <p:attrNameLst>
                                          <p:attrName>ppt_x</p:attrName>
                                          <p:attrName>ppt_y</p:attrName>
                                        </p:attrNameLst>
                                      </p:cBhvr>
                                    </p:animMotion>
                                    <p:animEffect transition="in" filter="fade">
                                      <p:cBhvr>
                                        <p:cTn id="91" dur="1000"/>
                                        <p:tgtEl>
                                          <p:spTgt spid="22"/>
                                        </p:tgtEl>
                                      </p:cBhvr>
                                    </p:animEffect>
                                  </p:childTnLst>
                                </p:cTn>
                              </p:par>
                              <p:par>
                                <p:cTn id="92" presetID="52" presetClass="entr" presetSubtype="0"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animScale>
                                      <p:cBhvr>
                                        <p:cTn id="94" dur="1000" decel="50000" fill="hold">
                                          <p:stCondLst>
                                            <p:cond delay="0"/>
                                          </p:stCondLst>
                                        </p:cTn>
                                        <p:tgtEl>
                                          <p:spTgt spid="2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95" dur="1000" decel="50000" fill="hold">
                                          <p:stCondLst>
                                            <p:cond delay="0"/>
                                          </p:stCondLst>
                                        </p:cTn>
                                        <p:tgtEl>
                                          <p:spTgt spid="23"/>
                                        </p:tgtEl>
                                        <p:attrNameLst>
                                          <p:attrName>ppt_x</p:attrName>
                                          <p:attrName>ppt_y</p:attrName>
                                        </p:attrNameLst>
                                      </p:cBhvr>
                                    </p:animMotion>
                                    <p:animEffect transition="in" filter="fade">
                                      <p:cBhvr>
                                        <p:cTn id="96" dur="1000"/>
                                        <p:tgtEl>
                                          <p:spTgt spid="23"/>
                                        </p:tgtEl>
                                      </p:cBhvr>
                                    </p:animEffect>
                                  </p:childTnLst>
                                </p:cTn>
                              </p:par>
                              <p:par>
                                <p:cTn id="97" presetID="52"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Scale>
                                      <p:cBhvr>
                                        <p:cTn id="99" dur="1000" decel="50000" fill="hold">
                                          <p:stCondLst>
                                            <p:cond delay="0"/>
                                          </p:stCondLst>
                                        </p:cTn>
                                        <p:tgtEl>
                                          <p:spTgt spid="2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00" dur="1000" decel="50000" fill="hold">
                                          <p:stCondLst>
                                            <p:cond delay="0"/>
                                          </p:stCondLst>
                                        </p:cTn>
                                        <p:tgtEl>
                                          <p:spTgt spid="24"/>
                                        </p:tgtEl>
                                        <p:attrNameLst>
                                          <p:attrName>ppt_x</p:attrName>
                                          <p:attrName>ppt_y</p:attrName>
                                        </p:attrNameLst>
                                      </p:cBhvr>
                                    </p:animMotion>
                                    <p:animEffect transition="in" filter="fade">
                                      <p:cBhvr>
                                        <p:cTn id="101" dur="1000"/>
                                        <p:tgtEl>
                                          <p:spTgt spid="24"/>
                                        </p:tgtEl>
                                      </p:cBhvr>
                                    </p:animEffect>
                                  </p:childTnLst>
                                </p:cTn>
                              </p:par>
                              <p:par>
                                <p:cTn id="102" presetID="52" presetClass="entr" presetSubtype="0" fill="hold" grpId="0" nodeType="withEffect">
                                  <p:stCondLst>
                                    <p:cond delay="0"/>
                                  </p:stCondLst>
                                  <p:childTnLst>
                                    <p:set>
                                      <p:cBhvr>
                                        <p:cTn id="103" dur="1" fill="hold">
                                          <p:stCondLst>
                                            <p:cond delay="0"/>
                                          </p:stCondLst>
                                        </p:cTn>
                                        <p:tgtEl>
                                          <p:spTgt spid="25"/>
                                        </p:tgtEl>
                                        <p:attrNameLst>
                                          <p:attrName>style.visibility</p:attrName>
                                        </p:attrNameLst>
                                      </p:cBhvr>
                                      <p:to>
                                        <p:strVal val="visible"/>
                                      </p:to>
                                    </p:set>
                                    <p:animScale>
                                      <p:cBhvr>
                                        <p:cTn id="104" dur="1000" decel="50000" fill="hold">
                                          <p:stCondLst>
                                            <p:cond delay="0"/>
                                          </p:stCondLst>
                                        </p:cTn>
                                        <p:tgtEl>
                                          <p:spTgt spid="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05" dur="1000" decel="50000" fill="hold">
                                          <p:stCondLst>
                                            <p:cond delay="0"/>
                                          </p:stCondLst>
                                        </p:cTn>
                                        <p:tgtEl>
                                          <p:spTgt spid="25"/>
                                        </p:tgtEl>
                                        <p:attrNameLst>
                                          <p:attrName>ppt_x</p:attrName>
                                          <p:attrName>ppt_y</p:attrName>
                                        </p:attrNameLst>
                                      </p:cBhvr>
                                    </p:animMotion>
                                    <p:animEffect transition="in" filter="fade">
                                      <p:cBhvr>
                                        <p:cTn id="106" dur="1000"/>
                                        <p:tgtEl>
                                          <p:spTgt spid="25"/>
                                        </p:tgtEl>
                                      </p:cBhvr>
                                    </p:animEffect>
                                  </p:childTnLst>
                                </p:cTn>
                              </p:par>
                              <p:par>
                                <p:cTn id="107" presetID="52" presetClass="entr" presetSubtype="0" fill="hold" grpId="0" nodeType="withEffect">
                                  <p:stCondLst>
                                    <p:cond delay="0"/>
                                  </p:stCondLst>
                                  <p:childTnLst>
                                    <p:set>
                                      <p:cBhvr>
                                        <p:cTn id="108" dur="1" fill="hold">
                                          <p:stCondLst>
                                            <p:cond delay="0"/>
                                          </p:stCondLst>
                                        </p:cTn>
                                        <p:tgtEl>
                                          <p:spTgt spid="26"/>
                                        </p:tgtEl>
                                        <p:attrNameLst>
                                          <p:attrName>style.visibility</p:attrName>
                                        </p:attrNameLst>
                                      </p:cBhvr>
                                      <p:to>
                                        <p:strVal val="visible"/>
                                      </p:to>
                                    </p:set>
                                    <p:animScale>
                                      <p:cBhvr>
                                        <p:cTn id="109" dur="1000" decel="50000" fill="hold">
                                          <p:stCondLst>
                                            <p:cond delay="0"/>
                                          </p:stCondLst>
                                        </p:cTn>
                                        <p:tgtEl>
                                          <p:spTgt spid="2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10" dur="1000" decel="50000" fill="hold">
                                          <p:stCondLst>
                                            <p:cond delay="0"/>
                                          </p:stCondLst>
                                        </p:cTn>
                                        <p:tgtEl>
                                          <p:spTgt spid="26"/>
                                        </p:tgtEl>
                                        <p:attrNameLst>
                                          <p:attrName>ppt_x</p:attrName>
                                          <p:attrName>ppt_y</p:attrName>
                                        </p:attrNameLst>
                                      </p:cBhvr>
                                    </p:animMotion>
                                    <p:animEffect transition="in" filter="fade">
                                      <p:cBhvr>
                                        <p:cTn id="111" dur="1000"/>
                                        <p:tgtEl>
                                          <p:spTgt spid="26"/>
                                        </p:tgtEl>
                                      </p:cBhvr>
                                    </p:animEffect>
                                  </p:childTnLst>
                                </p:cTn>
                              </p:par>
                              <p:par>
                                <p:cTn id="112" presetID="52" presetClass="entr" presetSubtype="0" fill="hold" grpId="0" nodeType="withEffect">
                                  <p:stCondLst>
                                    <p:cond delay="0"/>
                                  </p:stCondLst>
                                  <p:childTnLst>
                                    <p:set>
                                      <p:cBhvr>
                                        <p:cTn id="113" dur="1" fill="hold">
                                          <p:stCondLst>
                                            <p:cond delay="0"/>
                                          </p:stCondLst>
                                        </p:cTn>
                                        <p:tgtEl>
                                          <p:spTgt spid="27"/>
                                        </p:tgtEl>
                                        <p:attrNameLst>
                                          <p:attrName>style.visibility</p:attrName>
                                        </p:attrNameLst>
                                      </p:cBhvr>
                                      <p:to>
                                        <p:strVal val="visible"/>
                                      </p:to>
                                    </p:set>
                                    <p:animScale>
                                      <p:cBhvr>
                                        <p:cTn id="114" dur="1000" decel="50000" fill="hold">
                                          <p:stCondLst>
                                            <p:cond delay="0"/>
                                          </p:stCondLst>
                                        </p:cTn>
                                        <p:tgtEl>
                                          <p:spTgt spid="2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15" dur="1000" decel="50000" fill="hold">
                                          <p:stCondLst>
                                            <p:cond delay="0"/>
                                          </p:stCondLst>
                                        </p:cTn>
                                        <p:tgtEl>
                                          <p:spTgt spid="27"/>
                                        </p:tgtEl>
                                        <p:attrNameLst>
                                          <p:attrName>ppt_x</p:attrName>
                                          <p:attrName>ppt_y</p:attrName>
                                        </p:attrNameLst>
                                      </p:cBhvr>
                                    </p:animMotion>
                                    <p:animEffect transition="in" filter="fade">
                                      <p:cBhvr>
                                        <p:cTn id="116" dur="1000"/>
                                        <p:tgtEl>
                                          <p:spTgt spid="27"/>
                                        </p:tgtEl>
                                      </p:cBhvr>
                                    </p:animEffect>
                                  </p:childTnLst>
                                </p:cTn>
                              </p:par>
                            </p:childTnLst>
                          </p:cTn>
                        </p:par>
                      </p:childTnLst>
                    </p:cTn>
                  </p:par>
                  <p:par>
                    <p:cTn id="117" fill="hold">
                      <p:stCondLst>
                        <p:cond delay="indefinite"/>
                      </p:stCondLst>
                      <p:childTnLst>
                        <p:par>
                          <p:cTn id="118" fill="hold">
                            <p:stCondLst>
                              <p:cond delay="0"/>
                            </p:stCondLst>
                            <p:childTnLst>
                              <p:par>
                                <p:cTn id="119" presetID="20" presetClass="entr" presetSubtype="0" fill="hold" grpId="0" nodeType="clickEffect">
                                  <p:stCondLst>
                                    <p:cond delay="0"/>
                                  </p:stCondLst>
                                  <p:childTnLst>
                                    <p:set>
                                      <p:cBhvr>
                                        <p:cTn id="120" dur="1" fill="hold">
                                          <p:stCondLst>
                                            <p:cond delay="0"/>
                                          </p:stCondLst>
                                        </p:cTn>
                                        <p:tgtEl>
                                          <p:spTgt spid="28"/>
                                        </p:tgtEl>
                                        <p:attrNameLst>
                                          <p:attrName>style.visibility</p:attrName>
                                        </p:attrNameLst>
                                      </p:cBhvr>
                                      <p:to>
                                        <p:strVal val="visible"/>
                                      </p:to>
                                    </p:set>
                                    <p:animEffect transition="in" filter="wedge">
                                      <p:cBhvr>
                                        <p:cTn id="121"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2" grpId="0" animBg="1"/>
      <p:bldP spid="13" grpId="0" animBg="1"/>
      <p:bldP spid="14" grpId="0" animBg="1"/>
      <p:bldP spid="15" grpId="0" animBg="1"/>
      <p:bldP spid="16" grpId="0"/>
      <p:bldP spid="17" grpId="0"/>
      <p:bldP spid="18" grpId="0"/>
      <p:bldP spid="21" grpId="0" animBg="1"/>
      <p:bldP spid="22" grpId="0" animBg="1"/>
      <p:bldP spid="23" grpId="0" animBg="1"/>
      <p:bldP spid="24" grpId="0" animBg="1"/>
      <p:bldP spid="25" grpId="0"/>
      <p:bldP spid="26" grpId="0"/>
      <p:bldP spid="27" grpId="0"/>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6809" y="609600"/>
            <a:ext cx="8299991" cy="1384995"/>
          </a:xfrm>
          <a:prstGeom prst="rect">
            <a:avLst/>
          </a:prstGeom>
        </p:spPr>
        <p:txBody>
          <a:bodyPr wrap="square">
            <a:spAutoFit/>
          </a:bodyPr>
          <a:lstStyle/>
          <a:p>
            <a:pPr marL="347663" indent="-347663"/>
            <a:r>
              <a:rPr lang="en-US" sz="2800" dirty="0" smtClean="0"/>
              <a:t>5. Refer to the figure. Given measure of angle 2 is equal  to 55° and measure of angle 3 is 80°. Find the measure of angle 4 </a:t>
            </a:r>
            <a:endParaRPr lang="en-US" sz="2800" dirty="0"/>
          </a:p>
        </p:txBody>
      </p:sp>
      <p:cxnSp>
        <p:nvCxnSpPr>
          <p:cNvPr id="6" name="AutoShape 7"/>
          <p:cNvCxnSpPr>
            <a:cxnSpLocks noChangeShapeType="1"/>
          </p:cNvCxnSpPr>
          <p:nvPr/>
        </p:nvCxnSpPr>
        <p:spPr bwMode="auto">
          <a:xfrm>
            <a:off x="2514600" y="3429000"/>
            <a:ext cx="3733800" cy="1588"/>
          </a:xfrm>
          <a:prstGeom prst="straightConnector1">
            <a:avLst/>
          </a:prstGeom>
          <a:noFill/>
          <a:ln w="9525">
            <a:solidFill>
              <a:schemeClr val="tx1"/>
            </a:solidFill>
            <a:round/>
            <a:headEnd type="triangle" w="med" len="med"/>
            <a:tailEnd type="triangle" w="med" len="med"/>
          </a:ln>
        </p:spPr>
      </p:cxnSp>
      <p:cxnSp>
        <p:nvCxnSpPr>
          <p:cNvPr id="7" name="AutoShape 8"/>
          <p:cNvCxnSpPr>
            <a:cxnSpLocks noChangeShapeType="1"/>
          </p:cNvCxnSpPr>
          <p:nvPr/>
        </p:nvCxnSpPr>
        <p:spPr bwMode="auto">
          <a:xfrm rot="16200000" flipH="1">
            <a:off x="4514850" y="2266950"/>
            <a:ext cx="1208088" cy="1093788"/>
          </a:xfrm>
          <a:prstGeom prst="straightConnector1">
            <a:avLst/>
          </a:prstGeom>
          <a:noFill/>
          <a:ln w="9525">
            <a:solidFill>
              <a:schemeClr val="tx1"/>
            </a:solidFill>
            <a:round/>
            <a:headEnd/>
            <a:tailEnd/>
          </a:ln>
        </p:spPr>
      </p:cxnSp>
      <p:cxnSp>
        <p:nvCxnSpPr>
          <p:cNvPr id="8" name="AutoShape 9"/>
          <p:cNvCxnSpPr>
            <a:cxnSpLocks noChangeShapeType="1"/>
          </p:cNvCxnSpPr>
          <p:nvPr/>
        </p:nvCxnSpPr>
        <p:spPr bwMode="auto">
          <a:xfrm flipV="1">
            <a:off x="3094038" y="1981200"/>
            <a:ext cx="1706562" cy="1436688"/>
          </a:xfrm>
          <a:prstGeom prst="straightConnector1">
            <a:avLst/>
          </a:prstGeom>
          <a:noFill/>
          <a:ln w="9525">
            <a:solidFill>
              <a:schemeClr val="tx1"/>
            </a:solidFill>
            <a:round/>
            <a:headEnd/>
            <a:tailEnd type="triangle" w="med" len="med"/>
          </a:ln>
        </p:spPr>
      </p:cxnSp>
      <p:sp>
        <p:nvSpPr>
          <p:cNvPr id="9" name="Rectangle 8"/>
          <p:cNvSpPr/>
          <p:nvPr/>
        </p:nvSpPr>
        <p:spPr>
          <a:xfrm>
            <a:off x="4402392" y="2287588"/>
            <a:ext cx="290464" cy="369332"/>
          </a:xfrm>
          <a:prstGeom prst="rect">
            <a:avLst/>
          </a:prstGeom>
          <a:ln>
            <a:noFill/>
          </a:ln>
        </p:spPr>
        <p:txBody>
          <a:bodyPr wrap="none">
            <a:spAutoFit/>
          </a:bodyPr>
          <a:lstStyle/>
          <a:p>
            <a:r>
              <a:rPr lang="en-US" dirty="0" smtClean="0"/>
              <a:t>3</a:t>
            </a:r>
            <a:endParaRPr lang="en-US" dirty="0"/>
          </a:p>
        </p:txBody>
      </p:sp>
      <p:sp>
        <p:nvSpPr>
          <p:cNvPr id="10" name="Rectangle 9"/>
          <p:cNvSpPr/>
          <p:nvPr/>
        </p:nvSpPr>
        <p:spPr>
          <a:xfrm>
            <a:off x="3429000" y="3061256"/>
            <a:ext cx="256802" cy="369332"/>
          </a:xfrm>
          <a:prstGeom prst="rect">
            <a:avLst/>
          </a:prstGeom>
          <a:ln>
            <a:noFill/>
          </a:ln>
        </p:spPr>
        <p:txBody>
          <a:bodyPr wrap="none">
            <a:spAutoFit/>
          </a:bodyPr>
          <a:lstStyle/>
          <a:p>
            <a:r>
              <a:rPr lang="en-US" dirty="0" smtClean="0"/>
              <a:t>1</a:t>
            </a:r>
            <a:endParaRPr lang="en-US" dirty="0"/>
          </a:p>
        </p:txBody>
      </p:sp>
      <p:sp>
        <p:nvSpPr>
          <p:cNvPr id="11" name="Rectangle 10"/>
          <p:cNvSpPr/>
          <p:nvPr/>
        </p:nvSpPr>
        <p:spPr>
          <a:xfrm>
            <a:off x="5100500" y="3049588"/>
            <a:ext cx="296876" cy="369332"/>
          </a:xfrm>
          <a:prstGeom prst="rect">
            <a:avLst/>
          </a:prstGeom>
          <a:ln>
            <a:noFill/>
          </a:ln>
        </p:spPr>
        <p:txBody>
          <a:bodyPr wrap="none">
            <a:spAutoFit/>
          </a:bodyPr>
          <a:lstStyle/>
          <a:p>
            <a:r>
              <a:rPr lang="en-US" dirty="0" smtClean="0"/>
              <a:t>2</a:t>
            </a:r>
            <a:endParaRPr lang="en-US" dirty="0"/>
          </a:p>
        </p:txBody>
      </p:sp>
      <p:sp>
        <p:nvSpPr>
          <p:cNvPr id="12" name="Rectangle 11"/>
          <p:cNvSpPr/>
          <p:nvPr/>
        </p:nvSpPr>
        <p:spPr>
          <a:xfrm>
            <a:off x="2814500" y="3061256"/>
            <a:ext cx="309700" cy="369332"/>
          </a:xfrm>
          <a:prstGeom prst="rect">
            <a:avLst/>
          </a:prstGeom>
          <a:ln>
            <a:noFill/>
          </a:ln>
        </p:spPr>
        <p:txBody>
          <a:bodyPr wrap="none">
            <a:spAutoFit/>
          </a:bodyPr>
          <a:lstStyle/>
          <a:p>
            <a:r>
              <a:rPr lang="en-US" dirty="0" smtClean="0"/>
              <a:t>4</a:t>
            </a:r>
            <a:endParaRPr lang="en-US" dirty="0"/>
          </a:p>
        </p:txBody>
      </p:sp>
      <p:sp>
        <p:nvSpPr>
          <p:cNvPr id="13" name="Rectangle 12"/>
          <p:cNvSpPr/>
          <p:nvPr/>
        </p:nvSpPr>
        <p:spPr>
          <a:xfrm>
            <a:off x="5638800" y="3061256"/>
            <a:ext cx="293670" cy="369332"/>
          </a:xfrm>
          <a:prstGeom prst="rect">
            <a:avLst/>
          </a:prstGeom>
          <a:ln>
            <a:noFill/>
          </a:ln>
        </p:spPr>
        <p:txBody>
          <a:bodyPr wrap="none">
            <a:spAutoFit/>
          </a:bodyPr>
          <a:lstStyle/>
          <a:p>
            <a:r>
              <a:rPr lang="en-US" dirty="0" smtClean="0"/>
              <a:t>5</a:t>
            </a:r>
            <a:endParaRPr lang="en-US" dirty="0"/>
          </a:p>
        </p:txBody>
      </p:sp>
      <p:sp>
        <p:nvSpPr>
          <p:cNvPr id="14" name="Rectangle 13"/>
          <p:cNvSpPr/>
          <p:nvPr/>
        </p:nvSpPr>
        <p:spPr>
          <a:xfrm>
            <a:off x="685800" y="3825240"/>
            <a:ext cx="1027717" cy="523220"/>
          </a:xfrm>
          <a:prstGeom prst="rect">
            <a:avLst/>
          </a:prstGeom>
        </p:spPr>
        <p:txBody>
          <a:bodyPr wrap="none">
            <a:spAutoFit/>
          </a:bodyPr>
          <a:lstStyle/>
          <a:p>
            <a:r>
              <a:rPr lang="en-US" sz="2800" dirty="0" smtClean="0"/>
              <a:t>a. 95°</a:t>
            </a:r>
            <a:endParaRPr lang="en-US" sz="2800" dirty="0"/>
          </a:p>
        </p:txBody>
      </p:sp>
      <p:sp>
        <p:nvSpPr>
          <p:cNvPr id="15" name="Rectangle 14"/>
          <p:cNvSpPr/>
          <p:nvPr/>
        </p:nvSpPr>
        <p:spPr>
          <a:xfrm>
            <a:off x="2517581" y="3835658"/>
            <a:ext cx="1153329" cy="523220"/>
          </a:xfrm>
          <a:prstGeom prst="rect">
            <a:avLst/>
          </a:prstGeom>
        </p:spPr>
        <p:txBody>
          <a:bodyPr wrap="none">
            <a:spAutoFit/>
          </a:bodyPr>
          <a:lstStyle/>
          <a:p>
            <a:r>
              <a:rPr lang="en-US" sz="2800" dirty="0" smtClean="0"/>
              <a:t>b. 105°</a:t>
            </a:r>
            <a:endParaRPr lang="en-US" sz="2800" dirty="0"/>
          </a:p>
        </p:txBody>
      </p:sp>
      <p:sp>
        <p:nvSpPr>
          <p:cNvPr id="16" name="Rectangle 15"/>
          <p:cNvSpPr/>
          <p:nvPr/>
        </p:nvSpPr>
        <p:spPr>
          <a:xfrm>
            <a:off x="4724400" y="3825240"/>
            <a:ext cx="1045030" cy="523220"/>
          </a:xfrm>
          <a:prstGeom prst="rect">
            <a:avLst/>
          </a:prstGeom>
        </p:spPr>
        <p:txBody>
          <a:bodyPr wrap="none">
            <a:spAutoFit/>
          </a:bodyPr>
          <a:lstStyle/>
          <a:p>
            <a:r>
              <a:rPr lang="en-US" sz="2800" dirty="0" smtClean="0"/>
              <a:t>c. 115°</a:t>
            </a:r>
            <a:endParaRPr lang="en-US" sz="2800" dirty="0"/>
          </a:p>
        </p:txBody>
      </p:sp>
      <p:sp>
        <p:nvSpPr>
          <p:cNvPr id="17" name="Rectangle 16"/>
          <p:cNvSpPr/>
          <p:nvPr/>
        </p:nvSpPr>
        <p:spPr>
          <a:xfrm>
            <a:off x="6539574" y="3820418"/>
            <a:ext cx="1131272" cy="523220"/>
          </a:xfrm>
          <a:prstGeom prst="rect">
            <a:avLst/>
          </a:prstGeom>
        </p:spPr>
        <p:txBody>
          <a:bodyPr wrap="none">
            <a:spAutoFit/>
          </a:bodyPr>
          <a:lstStyle/>
          <a:p>
            <a:r>
              <a:rPr lang="en-US" sz="2800" dirty="0" smtClean="0"/>
              <a:t>d. 135°</a:t>
            </a:r>
          </a:p>
        </p:txBody>
      </p:sp>
      <p:sp>
        <p:nvSpPr>
          <p:cNvPr id="18" name="TextBox 17"/>
          <p:cNvSpPr txBox="1"/>
          <p:nvPr/>
        </p:nvSpPr>
        <p:spPr>
          <a:xfrm>
            <a:off x="838200" y="4572000"/>
            <a:ext cx="3048000" cy="830997"/>
          </a:xfrm>
          <a:prstGeom prst="rect">
            <a:avLst/>
          </a:prstGeom>
          <a:noFill/>
        </p:spPr>
        <p:txBody>
          <a:bodyPr wrap="square" rtlCol="0">
            <a:spAutoFit/>
          </a:bodyPr>
          <a:lstStyle/>
          <a:p>
            <a:r>
              <a:rPr lang="en-PH" sz="2400" dirty="0" smtClean="0"/>
              <a:t>Solution:</a:t>
            </a:r>
          </a:p>
          <a:p>
            <a:r>
              <a:rPr lang="en-PH" sz="2400" dirty="0" smtClean="0"/>
              <a:t>	Let</a:t>
            </a:r>
            <a:endParaRPr lang="en-PH" sz="2400" dirty="0"/>
          </a:p>
        </p:txBody>
      </p:sp>
      <p:sp>
        <p:nvSpPr>
          <p:cNvPr id="19"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sp>
        <p:nvSpPr>
          <p:cNvPr id="20" name="Rectangle 4"/>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graphicFrame>
        <p:nvGraphicFramePr>
          <p:cNvPr id="21" name="Object 3"/>
          <p:cNvGraphicFramePr>
            <a:graphicFrameLocks noChangeAspect="1"/>
          </p:cNvGraphicFramePr>
          <p:nvPr/>
        </p:nvGraphicFramePr>
        <p:xfrm>
          <a:off x="2986088" y="5032375"/>
          <a:ext cx="260350" cy="498475"/>
        </p:xfrm>
        <a:graphic>
          <a:graphicData uri="http://schemas.openxmlformats.org/presentationml/2006/ole">
            <p:oleObj spid="_x0000_s54273" name="Equation" r:id="rId6" imgW="114120" imgH="215640" progId="Equation.3">
              <p:embed/>
            </p:oleObj>
          </a:graphicData>
        </a:graphic>
      </p:graphicFrame>
      <p:graphicFrame>
        <p:nvGraphicFramePr>
          <p:cNvPr id="22" name="Object 5"/>
          <p:cNvGraphicFramePr>
            <a:graphicFrameLocks noChangeAspect="1"/>
          </p:cNvGraphicFramePr>
          <p:nvPr/>
        </p:nvGraphicFramePr>
        <p:xfrm>
          <a:off x="1287462" y="5334000"/>
          <a:ext cx="3436938" cy="409575"/>
        </p:xfrm>
        <a:graphic>
          <a:graphicData uri="http://schemas.openxmlformats.org/presentationml/2006/ole">
            <p:oleObj spid="_x0000_s54274" name="Equation" r:id="rId7" imgW="1511280" imgH="177480" progId="Equation.3">
              <p:embed/>
            </p:oleObj>
          </a:graphicData>
        </a:graphic>
      </p:graphicFrame>
      <p:graphicFrame>
        <p:nvGraphicFramePr>
          <p:cNvPr id="23" name="Object 6"/>
          <p:cNvGraphicFramePr>
            <a:graphicFrameLocks noChangeAspect="1"/>
          </p:cNvGraphicFramePr>
          <p:nvPr/>
        </p:nvGraphicFramePr>
        <p:xfrm>
          <a:off x="1295400" y="5715000"/>
          <a:ext cx="2973388" cy="409575"/>
        </p:xfrm>
        <a:graphic>
          <a:graphicData uri="http://schemas.openxmlformats.org/presentationml/2006/ole">
            <p:oleObj spid="_x0000_s54275" name="Equation" r:id="rId8" imgW="1307880" imgH="177480" progId="Equation.3">
              <p:embed/>
            </p:oleObj>
          </a:graphicData>
        </a:graphic>
      </p:graphicFrame>
      <p:graphicFrame>
        <p:nvGraphicFramePr>
          <p:cNvPr id="24" name="Object 7"/>
          <p:cNvGraphicFramePr>
            <a:graphicFrameLocks noChangeAspect="1"/>
          </p:cNvGraphicFramePr>
          <p:nvPr/>
        </p:nvGraphicFramePr>
        <p:xfrm>
          <a:off x="1828800" y="6096000"/>
          <a:ext cx="1789112" cy="409575"/>
        </p:xfrm>
        <a:graphic>
          <a:graphicData uri="http://schemas.openxmlformats.org/presentationml/2006/ole">
            <p:oleObj spid="_x0000_s54276" name="Equation" r:id="rId9" imgW="787320" imgH="177480" progId="Equation.3">
              <p:embed/>
            </p:oleObj>
          </a:graphicData>
        </a:graphic>
      </p:graphicFrame>
      <p:graphicFrame>
        <p:nvGraphicFramePr>
          <p:cNvPr id="25" name="Object 9"/>
          <p:cNvGraphicFramePr>
            <a:graphicFrameLocks noChangeAspect="1"/>
          </p:cNvGraphicFramePr>
          <p:nvPr/>
        </p:nvGraphicFramePr>
        <p:xfrm>
          <a:off x="2376488" y="4953000"/>
          <a:ext cx="1328737" cy="409575"/>
        </p:xfrm>
        <a:graphic>
          <a:graphicData uri="http://schemas.openxmlformats.org/presentationml/2006/ole">
            <p:oleObj spid="_x0000_s54277" name="Equation" r:id="rId10" imgW="583920" imgH="177480" progId="Equation.3">
              <p:embed/>
            </p:oleObj>
          </a:graphicData>
        </a:graphic>
      </p:graphicFrame>
      <p:sp>
        <p:nvSpPr>
          <p:cNvPr id="26" name="TextBox 25"/>
          <p:cNvSpPr txBox="1"/>
          <p:nvPr/>
        </p:nvSpPr>
        <p:spPr>
          <a:xfrm>
            <a:off x="5257800" y="4941332"/>
            <a:ext cx="3124200" cy="1569660"/>
          </a:xfrm>
          <a:prstGeom prst="rect">
            <a:avLst/>
          </a:prstGeom>
          <a:noFill/>
        </p:spPr>
        <p:txBody>
          <a:bodyPr wrap="square" rtlCol="0">
            <a:spAutoFit/>
          </a:bodyPr>
          <a:lstStyle/>
          <a:p>
            <a:pPr>
              <a:buFont typeface="Wingdings" pitchFamily="2" charset="2"/>
              <a:buChar char="Ø"/>
            </a:pPr>
            <a:r>
              <a:rPr lang="en-PH" sz="2400" dirty="0" smtClean="0"/>
              <a:t> The measure of an exterior angle of a ∆ is the sum of the remote interior angles of the ∆</a:t>
            </a:r>
            <a:endParaRPr lang="en-PH" sz="2400" dirty="0"/>
          </a:p>
        </p:txBody>
      </p:sp>
      <p:sp>
        <p:nvSpPr>
          <p:cNvPr id="27" name="Rounded Rectangle 26"/>
          <p:cNvSpPr/>
          <p:nvPr/>
        </p:nvSpPr>
        <p:spPr>
          <a:xfrm>
            <a:off x="6534150" y="3771900"/>
            <a:ext cx="12192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590550" y="4533900"/>
            <a:ext cx="7962900" cy="207645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80">
                                          <p:stCondLst>
                                            <p:cond delay="0"/>
                                          </p:stCondLst>
                                        </p:cTn>
                                        <p:tgtEl>
                                          <p:spTgt spid="8"/>
                                        </p:tgtEl>
                                      </p:cBhvr>
                                    </p:animEffect>
                                    <p:anim calcmode="lin" valueType="num">
                                      <p:cBhvr>
                                        <p:cTn id="4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1" dur="26">
                                          <p:stCondLst>
                                            <p:cond delay="650"/>
                                          </p:stCondLst>
                                        </p:cTn>
                                        <p:tgtEl>
                                          <p:spTgt spid="8"/>
                                        </p:tgtEl>
                                      </p:cBhvr>
                                      <p:to x="100000" y="60000"/>
                                    </p:animScale>
                                    <p:animScale>
                                      <p:cBhvr>
                                        <p:cTn id="52" dur="166" decel="50000">
                                          <p:stCondLst>
                                            <p:cond delay="676"/>
                                          </p:stCondLst>
                                        </p:cTn>
                                        <p:tgtEl>
                                          <p:spTgt spid="8"/>
                                        </p:tgtEl>
                                      </p:cBhvr>
                                      <p:to x="100000" y="100000"/>
                                    </p:animScale>
                                    <p:animScale>
                                      <p:cBhvr>
                                        <p:cTn id="53" dur="26">
                                          <p:stCondLst>
                                            <p:cond delay="1312"/>
                                          </p:stCondLst>
                                        </p:cTn>
                                        <p:tgtEl>
                                          <p:spTgt spid="8"/>
                                        </p:tgtEl>
                                      </p:cBhvr>
                                      <p:to x="100000" y="80000"/>
                                    </p:animScale>
                                    <p:animScale>
                                      <p:cBhvr>
                                        <p:cTn id="54" dur="166" decel="50000">
                                          <p:stCondLst>
                                            <p:cond delay="1338"/>
                                          </p:stCondLst>
                                        </p:cTn>
                                        <p:tgtEl>
                                          <p:spTgt spid="8"/>
                                        </p:tgtEl>
                                      </p:cBhvr>
                                      <p:to x="100000" y="100000"/>
                                    </p:animScale>
                                    <p:animScale>
                                      <p:cBhvr>
                                        <p:cTn id="55" dur="26">
                                          <p:stCondLst>
                                            <p:cond delay="1642"/>
                                          </p:stCondLst>
                                        </p:cTn>
                                        <p:tgtEl>
                                          <p:spTgt spid="8"/>
                                        </p:tgtEl>
                                      </p:cBhvr>
                                      <p:to x="100000" y="90000"/>
                                    </p:animScale>
                                    <p:animScale>
                                      <p:cBhvr>
                                        <p:cTn id="56" dur="166" decel="50000">
                                          <p:stCondLst>
                                            <p:cond delay="1668"/>
                                          </p:stCondLst>
                                        </p:cTn>
                                        <p:tgtEl>
                                          <p:spTgt spid="8"/>
                                        </p:tgtEl>
                                      </p:cBhvr>
                                      <p:to x="100000" y="100000"/>
                                    </p:animScale>
                                    <p:animScale>
                                      <p:cBhvr>
                                        <p:cTn id="57" dur="26">
                                          <p:stCondLst>
                                            <p:cond delay="1808"/>
                                          </p:stCondLst>
                                        </p:cTn>
                                        <p:tgtEl>
                                          <p:spTgt spid="8"/>
                                        </p:tgtEl>
                                      </p:cBhvr>
                                      <p:to x="100000" y="95000"/>
                                    </p:animScale>
                                    <p:animScale>
                                      <p:cBhvr>
                                        <p:cTn id="58" dur="166" decel="50000">
                                          <p:stCondLst>
                                            <p:cond delay="1834"/>
                                          </p:stCondLst>
                                        </p:cTn>
                                        <p:tgtEl>
                                          <p:spTgt spid="8"/>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80">
                                          <p:stCondLst>
                                            <p:cond delay="0"/>
                                          </p:stCondLst>
                                        </p:cTn>
                                        <p:tgtEl>
                                          <p:spTgt spid="9"/>
                                        </p:tgtEl>
                                      </p:cBhvr>
                                    </p:animEffect>
                                    <p:anim calcmode="lin" valueType="num">
                                      <p:cBhvr>
                                        <p:cTn id="6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7" dur="26">
                                          <p:stCondLst>
                                            <p:cond delay="650"/>
                                          </p:stCondLst>
                                        </p:cTn>
                                        <p:tgtEl>
                                          <p:spTgt spid="9"/>
                                        </p:tgtEl>
                                      </p:cBhvr>
                                      <p:to x="100000" y="60000"/>
                                    </p:animScale>
                                    <p:animScale>
                                      <p:cBhvr>
                                        <p:cTn id="68" dur="166" decel="50000">
                                          <p:stCondLst>
                                            <p:cond delay="676"/>
                                          </p:stCondLst>
                                        </p:cTn>
                                        <p:tgtEl>
                                          <p:spTgt spid="9"/>
                                        </p:tgtEl>
                                      </p:cBhvr>
                                      <p:to x="100000" y="100000"/>
                                    </p:animScale>
                                    <p:animScale>
                                      <p:cBhvr>
                                        <p:cTn id="69" dur="26">
                                          <p:stCondLst>
                                            <p:cond delay="1312"/>
                                          </p:stCondLst>
                                        </p:cTn>
                                        <p:tgtEl>
                                          <p:spTgt spid="9"/>
                                        </p:tgtEl>
                                      </p:cBhvr>
                                      <p:to x="100000" y="80000"/>
                                    </p:animScale>
                                    <p:animScale>
                                      <p:cBhvr>
                                        <p:cTn id="70" dur="166" decel="50000">
                                          <p:stCondLst>
                                            <p:cond delay="1338"/>
                                          </p:stCondLst>
                                        </p:cTn>
                                        <p:tgtEl>
                                          <p:spTgt spid="9"/>
                                        </p:tgtEl>
                                      </p:cBhvr>
                                      <p:to x="100000" y="100000"/>
                                    </p:animScale>
                                    <p:animScale>
                                      <p:cBhvr>
                                        <p:cTn id="71" dur="26">
                                          <p:stCondLst>
                                            <p:cond delay="1642"/>
                                          </p:stCondLst>
                                        </p:cTn>
                                        <p:tgtEl>
                                          <p:spTgt spid="9"/>
                                        </p:tgtEl>
                                      </p:cBhvr>
                                      <p:to x="100000" y="90000"/>
                                    </p:animScale>
                                    <p:animScale>
                                      <p:cBhvr>
                                        <p:cTn id="72" dur="166" decel="50000">
                                          <p:stCondLst>
                                            <p:cond delay="1668"/>
                                          </p:stCondLst>
                                        </p:cTn>
                                        <p:tgtEl>
                                          <p:spTgt spid="9"/>
                                        </p:tgtEl>
                                      </p:cBhvr>
                                      <p:to x="100000" y="100000"/>
                                    </p:animScale>
                                    <p:animScale>
                                      <p:cBhvr>
                                        <p:cTn id="73" dur="26">
                                          <p:stCondLst>
                                            <p:cond delay="1808"/>
                                          </p:stCondLst>
                                        </p:cTn>
                                        <p:tgtEl>
                                          <p:spTgt spid="9"/>
                                        </p:tgtEl>
                                      </p:cBhvr>
                                      <p:to x="100000" y="95000"/>
                                    </p:animScale>
                                    <p:animScale>
                                      <p:cBhvr>
                                        <p:cTn id="74" dur="166" decel="50000">
                                          <p:stCondLst>
                                            <p:cond delay="1834"/>
                                          </p:stCondLst>
                                        </p:cTn>
                                        <p:tgtEl>
                                          <p:spTgt spid="9"/>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down)">
                                      <p:cBhvr>
                                        <p:cTn id="77" dur="580">
                                          <p:stCondLst>
                                            <p:cond delay="0"/>
                                          </p:stCondLst>
                                        </p:cTn>
                                        <p:tgtEl>
                                          <p:spTgt spid="10"/>
                                        </p:tgtEl>
                                      </p:cBhvr>
                                    </p:animEffect>
                                    <p:anim calcmode="lin" valueType="num">
                                      <p:cBhvr>
                                        <p:cTn id="7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83" dur="26">
                                          <p:stCondLst>
                                            <p:cond delay="650"/>
                                          </p:stCondLst>
                                        </p:cTn>
                                        <p:tgtEl>
                                          <p:spTgt spid="10"/>
                                        </p:tgtEl>
                                      </p:cBhvr>
                                      <p:to x="100000" y="60000"/>
                                    </p:animScale>
                                    <p:animScale>
                                      <p:cBhvr>
                                        <p:cTn id="84" dur="166" decel="50000">
                                          <p:stCondLst>
                                            <p:cond delay="676"/>
                                          </p:stCondLst>
                                        </p:cTn>
                                        <p:tgtEl>
                                          <p:spTgt spid="10"/>
                                        </p:tgtEl>
                                      </p:cBhvr>
                                      <p:to x="100000" y="100000"/>
                                    </p:animScale>
                                    <p:animScale>
                                      <p:cBhvr>
                                        <p:cTn id="85" dur="26">
                                          <p:stCondLst>
                                            <p:cond delay="1312"/>
                                          </p:stCondLst>
                                        </p:cTn>
                                        <p:tgtEl>
                                          <p:spTgt spid="10"/>
                                        </p:tgtEl>
                                      </p:cBhvr>
                                      <p:to x="100000" y="80000"/>
                                    </p:animScale>
                                    <p:animScale>
                                      <p:cBhvr>
                                        <p:cTn id="86" dur="166" decel="50000">
                                          <p:stCondLst>
                                            <p:cond delay="1338"/>
                                          </p:stCondLst>
                                        </p:cTn>
                                        <p:tgtEl>
                                          <p:spTgt spid="10"/>
                                        </p:tgtEl>
                                      </p:cBhvr>
                                      <p:to x="100000" y="100000"/>
                                    </p:animScale>
                                    <p:animScale>
                                      <p:cBhvr>
                                        <p:cTn id="87" dur="26">
                                          <p:stCondLst>
                                            <p:cond delay="1642"/>
                                          </p:stCondLst>
                                        </p:cTn>
                                        <p:tgtEl>
                                          <p:spTgt spid="10"/>
                                        </p:tgtEl>
                                      </p:cBhvr>
                                      <p:to x="100000" y="90000"/>
                                    </p:animScale>
                                    <p:animScale>
                                      <p:cBhvr>
                                        <p:cTn id="88" dur="166" decel="50000">
                                          <p:stCondLst>
                                            <p:cond delay="1668"/>
                                          </p:stCondLst>
                                        </p:cTn>
                                        <p:tgtEl>
                                          <p:spTgt spid="10"/>
                                        </p:tgtEl>
                                      </p:cBhvr>
                                      <p:to x="100000" y="100000"/>
                                    </p:animScale>
                                    <p:animScale>
                                      <p:cBhvr>
                                        <p:cTn id="89" dur="26">
                                          <p:stCondLst>
                                            <p:cond delay="1808"/>
                                          </p:stCondLst>
                                        </p:cTn>
                                        <p:tgtEl>
                                          <p:spTgt spid="10"/>
                                        </p:tgtEl>
                                      </p:cBhvr>
                                      <p:to x="100000" y="95000"/>
                                    </p:animScale>
                                    <p:animScale>
                                      <p:cBhvr>
                                        <p:cTn id="90" dur="166" decel="50000">
                                          <p:stCondLst>
                                            <p:cond delay="1834"/>
                                          </p:stCondLst>
                                        </p:cTn>
                                        <p:tgtEl>
                                          <p:spTgt spid="10"/>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wipe(down)">
                                      <p:cBhvr>
                                        <p:cTn id="93" dur="580">
                                          <p:stCondLst>
                                            <p:cond delay="0"/>
                                          </p:stCondLst>
                                        </p:cTn>
                                        <p:tgtEl>
                                          <p:spTgt spid="11"/>
                                        </p:tgtEl>
                                      </p:cBhvr>
                                    </p:animEffect>
                                    <p:anim calcmode="lin" valueType="num">
                                      <p:cBhvr>
                                        <p:cTn id="9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9" dur="26">
                                          <p:stCondLst>
                                            <p:cond delay="650"/>
                                          </p:stCondLst>
                                        </p:cTn>
                                        <p:tgtEl>
                                          <p:spTgt spid="11"/>
                                        </p:tgtEl>
                                      </p:cBhvr>
                                      <p:to x="100000" y="60000"/>
                                    </p:animScale>
                                    <p:animScale>
                                      <p:cBhvr>
                                        <p:cTn id="100" dur="166" decel="50000">
                                          <p:stCondLst>
                                            <p:cond delay="676"/>
                                          </p:stCondLst>
                                        </p:cTn>
                                        <p:tgtEl>
                                          <p:spTgt spid="11"/>
                                        </p:tgtEl>
                                      </p:cBhvr>
                                      <p:to x="100000" y="100000"/>
                                    </p:animScale>
                                    <p:animScale>
                                      <p:cBhvr>
                                        <p:cTn id="101" dur="26">
                                          <p:stCondLst>
                                            <p:cond delay="1312"/>
                                          </p:stCondLst>
                                        </p:cTn>
                                        <p:tgtEl>
                                          <p:spTgt spid="11"/>
                                        </p:tgtEl>
                                      </p:cBhvr>
                                      <p:to x="100000" y="80000"/>
                                    </p:animScale>
                                    <p:animScale>
                                      <p:cBhvr>
                                        <p:cTn id="102" dur="166" decel="50000">
                                          <p:stCondLst>
                                            <p:cond delay="1338"/>
                                          </p:stCondLst>
                                        </p:cTn>
                                        <p:tgtEl>
                                          <p:spTgt spid="11"/>
                                        </p:tgtEl>
                                      </p:cBhvr>
                                      <p:to x="100000" y="100000"/>
                                    </p:animScale>
                                    <p:animScale>
                                      <p:cBhvr>
                                        <p:cTn id="103" dur="26">
                                          <p:stCondLst>
                                            <p:cond delay="1642"/>
                                          </p:stCondLst>
                                        </p:cTn>
                                        <p:tgtEl>
                                          <p:spTgt spid="11"/>
                                        </p:tgtEl>
                                      </p:cBhvr>
                                      <p:to x="100000" y="90000"/>
                                    </p:animScale>
                                    <p:animScale>
                                      <p:cBhvr>
                                        <p:cTn id="104" dur="166" decel="50000">
                                          <p:stCondLst>
                                            <p:cond delay="1668"/>
                                          </p:stCondLst>
                                        </p:cTn>
                                        <p:tgtEl>
                                          <p:spTgt spid="11"/>
                                        </p:tgtEl>
                                      </p:cBhvr>
                                      <p:to x="100000" y="100000"/>
                                    </p:animScale>
                                    <p:animScale>
                                      <p:cBhvr>
                                        <p:cTn id="105" dur="26">
                                          <p:stCondLst>
                                            <p:cond delay="1808"/>
                                          </p:stCondLst>
                                        </p:cTn>
                                        <p:tgtEl>
                                          <p:spTgt spid="11"/>
                                        </p:tgtEl>
                                      </p:cBhvr>
                                      <p:to x="100000" y="95000"/>
                                    </p:animScale>
                                    <p:animScale>
                                      <p:cBhvr>
                                        <p:cTn id="106" dur="166" decel="50000">
                                          <p:stCondLst>
                                            <p:cond delay="1834"/>
                                          </p:stCondLst>
                                        </p:cTn>
                                        <p:tgtEl>
                                          <p:spTgt spid="11"/>
                                        </p:tgtEl>
                                      </p:cBhvr>
                                      <p:to x="100000" y="100000"/>
                                    </p:animScale>
                                  </p:childTnLst>
                                </p:cTn>
                              </p:par>
                              <p:par>
                                <p:cTn id="107" presetID="26" presetClass="entr" presetSubtype="0" fill="hold" grpId="0"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wipe(down)">
                                      <p:cBhvr>
                                        <p:cTn id="109" dur="580">
                                          <p:stCondLst>
                                            <p:cond delay="0"/>
                                          </p:stCondLst>
                                        </p:cTn>
                                        <p:tgtEl>
                                          <p:spTgt spid="12"/>
                                        </p:tgtEl>
                                      </p:cBhvr>
                                    </p:animEffect>
                                    <p:anim calcmode="lin" valueType="num">
                                      <p:cBhvr>
                                        <p:cTn id="11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15" dur="26">
                                          <p:stCondLst>
                                            <p:cond delay="650"/>
                                          </p:stCondLst>
                                        </p:cTn>
                                        <p:tgtEl>
                                          <p:spTgt spid="12"/>
                                        </p:tgtEl>
                                      </p:cBhvr>
                                      <p:to x="100000" y="60000"/>
                                    </p:animScale>
                                    <p:animScale>
                                      <p:cBhvr>
                                        <p:cTn id="116" dur="166" decel="50000">
                                          <p:stCondLst>
                                            <p:cond delay="676"/>
                                          </p:stCondLst>
                                        </p:cTn>
                                        <p:tgtEl>
                                          <p:spTgt spid="12"/>
                                        </p:tgtEl>
                                      </p:cBhvr>
                                      <p:to x="100000" y="100000"/>
                                    </p:animScale>
                                    <p:animScale>
                                      <p:cBhvr>
                                        <p:cTn id="117" dur="26">
                                          <p:stCondLst>
                                            <p:cond delay="1312"/>
                                          </p:stCondLst>
                                        </p:cTn>
                                        <p:tgtEl>
                                          <p:spTgt spid="12"/>
                                        </p:tgtEl>
                                      </p:cBhvr>
                                      <p:to x="100000" y="80000"/>
                                    </p:animScale>
                                    <p:animScale>
                                      <p:cBhvr>
                                        <p:cTn id="118" dur="166" decel="50000">
                                          <p:stCondLst>
                                            <p:cond delay="1338"/>
                                          </p:stCondLst>
                                        </p:cTn>
                                        <p:tgtEl>
                                          <p:spTgt spid="12"/>
                                        </p:tgtEl>
                                      </p:cBhvr>
                                      <p:to x="100000" y="100000"/>
                                    </p:animScale>
                                    <p:animScale>
                                      <p:cBhvr>
                                        <p:cTn id="119" dur="26">
                                          <p:stCondLst>
                                            <p:cond delay="1642"/>
                                          </p:stCondLst>
                                        </p:cTn>
                                        <p:tgtEl>
                                          <p:spTgt spid="12"/>
                                        </p:tgtEl>
                                      </p:cBhvr>
                                      <p:to x="100000" y="90000"/>
                                    </p:animScale>
                                    <p:animScale>
                                      <p:cBhvr>
                                        <p:cTn id="120" dur="166" decel="50000">
                                          <p:stCondLst>
                                            <p:cond delay="1668"/>
                                          </p:stCondLst>
                                        </p:cTn>
                                        <p:tgtEl>
                                          <p:spTgt spid="12"/>
                                        </p:tgtEl>
                                      </p:cBhvr>
                                      <p:to x="100000" y="100000"/>
                                    </p:animScale>
                                    <p:animScale>
                                      <p:cBhvr>
                                        <p:cTn id="121" dur="26">
                                          <p:stCondLst>
                                            <p:cond delay="1808"/>
                                          </p:stCondLst>
                                        </p:cTn>
                                        <p:tgtEl>
                                          <p:spTgt spid="12"/>
                                        </p:tgtEl>
                                      </p:cBhvr>
                                      <p:to x="100000" y="95000"/>
                                    </p:animScale>
                                    <p:animScale>
                                      <p:cBhvr>
                                        <p:cTn id="122" dur="166" decel="50000">
                                          <p:stCondLst>
                                            <p:cond delay="1834"/>
                                          </p:stCondLst>
                                        </p:cTn>
                                        <p:tgtEl>
                                          <p:spTgt spid="12"/>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13"/>
                                        </p:tgtEl>
                                        <p:attrNameLst>
                                          <p:attrName>style.visibility</p:attrName>
                                        </p:attrNameLst>
                                      </p:cBhvr>
                                      <p:to>
                                        <p:strVal val="visible"/>
                                      </p:to>
                                    </p:set>
                                    <p:animEffect transition="in" filter="wipe(down)">
                                      <p:cBhvr>
                                        <p:cTn id="125" dur="580">
                                          <p:stCondLst>
                                            <p:cond delay="0"/>
                                          </p:stCondLst>
                                        </p:cTn>
                                        <p:tgtEl>
                                          <p:spTgt spid="13"/>
                                        </p:tgtEl>
                                      </p:cBhvr>
                                    </p:animEffect>
                                    <p:anim calcmode="lin" valueType="num">
                                      <p:cBhvr>
                                        <p:cTn id="12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31" dur="26">
                                          <p:stCondLst>
                                            <p:cond delay="650"/>
                                          </p:stCondLst>
                                        </p:cTn>
                                        <p:tgtEl>
                                          <p:spTgt spid="13"/>
                                        </p:tgtEl>
                                      </p:cBhvr>
                                      <p:to x="100000" y="60000"/>
                                    </p:animScale>
                                    <p:animScale>
                                      <p:cBhvr>
                                        <p:cTn id="132" dur="166" decel="50000">
                                          <p:stCondLst>
                                            <p:cond delay="676"/>
                                          </p:stCondLst>
                                        </p:cTn>
                                        <p:tgtEl>
                                          <p:spTgt spid="13"/>
                                        </p:tgtEl>
                                      </p:cBhvr>
                                      <p:to x="100000" y="100000"/>
                                    </p:animScale>
                                    <p:animScale>
                                      <p:cBhvr>
                                        <p:cTn id="133" dur="26">
                                          <p:stCondLst>
                                            <p:cond delay="1312"/>
                                          </p:stCondLst>
                                        </p:cTn>
                                        <p:tgtEl>
                                          <p:spTgt spid="13"/>
                                        </p:tgtEl>
                                      </p:cBhvr>
                                      <p:to x="100000" y="80000"/>
                                    </p:animScale>
                                    <p:animScale>
                                      <p:cBhvr>
                                        <p:cTn id="134" dur="166" decel="50000">
                                          <p:stCondLst>
                                            <p:cond delay="1338"/>
                                          </p:stCondLst>
                                        </p:cTn>
                                        <p:tgtEl>
                                          <p:spTgt spid="13"/>
                                        </p:tgtEl>
                                      </p:cBhvr>
                                      <p:to x="100000" y="100000"/>
                                    </p:animScale>
                                    <p:animScale>
                                      <p:cBhvr>
                                        <p:cTn id="135" dur="26">
                                          <p:stCondLst>
                                            <p:cond delay="1642"/>
                                          </p:stCondLst>
                                        </p:cTn>
                                        <p:tgtEl>
                                          <p:spTgt spid="13"/>
                                        </p:tgtEl>
                                      </p:cBhvr>
                                      <p:to x="100000" y="90000"/>
                                    </p:animScale>
                                    <p:animScale>
                                      <p:cBhvr>
                                        <p:cTn id="136" dur="166" decel="50000">
                                          <p:stCondLst>
                                            <p:cond delay="1668"/>
                                          </p:stCondLst>
                                        </p:cTn>
                                        <p:tgtEl>
                                          <p:spTgt spid="13"/>
                                        </p:tgtEl>
                                      </p:cBhvr>
                                      <p:to x="100000" y="100000"/>
                                    </p:animScale>
                                    <p:animScale>
                                      <p:cBhvr>
                                        <p:cTn id="137" dur="26">
                                          <p:stCondLst>
                                            <p:cond delay="1808"/>
                                          </p:stCondLst>
                                        </p:cTn>
                                        <p:tgtEl>
                                          <p:spTgt spid="13"/>
                                        </p:tgtEl>
                                      </p:cBhvr>
                                      <p:to x="100000" y="95000"/>
                                    </p:animScale>
                                    <p:animScale>
                                      <p:cBhvr>
                                        <p:cTn id="138" dur="166" decel="50000">
                                          <p:stCondLst>
                                            <p:cond delay="1834"/>
                                          </p:stCondLst>
                                        </p:cTn>
                                        <p:tgtEl>
                                          <p:spTgt spid="13"/>
                                        </p:tgtEl>
                                      </p:cBhvr>
                                      <p:to x="100000" y="100000"/>
                                    </p:animScale>
                                  </p:childTnLst>
                                </p:cTn>
                              </p:par>
                            </p:childTnLst>
                          </p:cTn>
                        </p:par>
                      </p:childTnLst>
                    </p:cTn>
                  </p:par>
                  <p:par>
                    <p:cTn id="139" fill="hold">
                      <p:stCondLst>
                        <p:cond delay="indefinite"/>
                      </p:stCondLst>
                      <p:childTnLst>
                        <p:par>
                          <p:cTn id="140" fill="hold">
                            <p:stCondLst>
                              <p:cond delay="0"/>
                            </p:stCondLst>
                            <p:childTnLst>
                              <p:par>
                                <p:cTn id="141" presetID="12" presetClass="entr" presetSubtype="4" fill="hold" grpId="0" nodeType="clickEffect">
                                  <p:stCondLst>
                                    <p:cond delay="0"/>
                                  </p:stCondLst>
                                  <p:childTnLst>
                                    <p:set>
                                      <p:cBhvr>
                                        <p:cTn id="142" dur="1" fill="hold">
                                          <p:stCondLst>
                                            <p:cond delay="0"/>
                                          </p:stCondLst>
                                        </p:cTn>
                                        <p:tgtEl>
                                          <p:spTgt spid="14"/>
                                        </p:tgtEl>
                                        <p:attrNameLst>
                                          <p:attrName>style.visibility</p:attrName>
                                        </p:attrNameLst>
                                      </p:cBhvr>
                                      <p:to>
                                        <p:strVal val="visible"/>
                                      </p:to>
                                    </p:set>
                                    <p:animEffect transition="in" filter="slide(fromBottom)">
                                      <p:cBhvr>
                                        <p:cTn id="143" dur="500"/>
                                        <p:tgtEl>
                                          <p:spTgt spid="14"/>
                                        </p:tgtEl>
                                      </p:cBhvr>
                                    </p:animEffect>
                                  </p:childTnLst>
                                </p:cTn>
                              </p:par>
                              <p:par>
                                <p:cTn id="144" presetID="12" presetClass="entr" presetSubtype="4" fill="hold" grpId="0" nodeType="withEffect">
                                  <p:stCondLst>
                                    <p:cond delay="0"/>
                                  </p:stCondLst>
                                  <p:childTnLst>
                                    <p:set>
                                      <p:cBhvr>
                                        <p:cTn id="145" dur="1" fill="hold">
                                          <p:stCondLst>
                                            <p:cond delay="0"/>
                                          </p:stCondLst>
                                        </p:cTn>
                                        <p:tgtEl>
                                          <p:spTgt spid="15"/>
                                        </p:tgtEl>
                                        <p:attrNameLst>
                                          <p:attrName>style.visibility</p:attrName>
                                        </p:attrNameLst>
                                      </p:cBhvr>
                                      <p:to>
                                        <p:strVal val="visible"/>
                                      </p:to>
                                    </p:set>
                                    <p:animEffect transition="in" filter="slide(fromBottom)">
                                      <p:cBhvr>
                                        <p:cTn id="146" dur="500"/>
                                        <p:tgtEl>
                                          <p:spTgt spid="15"/>
                                        </p:tgtEl>
                                      </p:cBhvr>
                                    </p:animEffect>
                                  </p:childTnLst>
                                </p:cTn>
                              </p:par>
                              <p:par>
                                <p:cTn id="147" presetID="12" presetClass="entr" presetSubtype="4" fill="hold" grpId="0" nodeType="withEffect">
                                  <p:stCondLst>
                                    <p:cond delay="0"/>
                                  </p:stCondLst>
                                  <p:childTnLst>
                                    <p:set>
                                      <p:cBhvr>
                                        <p:cTn id="148" dur="1" fill="hold">
                                          <p:stCondLst>
                                            <p:cond delay="0"/>
                                          </p:stCondLst>
                                        </p:cTn>
                                        <p:tgtEl>
                                          <p:spTgt spid="16"/>
                                        </p:tgtEl>
                                        <p:attrNameLst>
                                          <p:attrName>style.visibility</p:attrName>
                                        </p:attrNameLst>
                                      </p:cBhvr>
                                      <p:to>
                                        <p:strVal val="visible"/>
                                      </p:to>
                                    </p:set>
                                    <p:animEffect transition="in" filter="slide(fromBottom)">
                                      <p:cBhvr>
                                        <p:cTn id="149" dur="500"/>
                                        <p:tgtEl>
                                          <p:spTgt spid="16"/>
                                        </p:tgtEl>
                                      </p:cBhvr>
                                    </p:animEffect>
                                  </p:childTnLst>
                                </p:cTn>
                              </p:par>
                              <p:par>
                                <p:cTn id="150" presetID="12" presetClass="entr" presetSubtype="4" fill="hold" grpId="0" nodeType="withEffect">
                                  <p:stCondLst>
                                    <p:cond delay="0"/>
                                  </p:stCondLst>
                                  <p:childTnLst>
                                    <p:set>
                                      <p:cBhvr>
                                        <p:cTn id="151" dur="1" fill="hold">
                                          <p:stCondLst>
                                            <p:cond delay="0"/>
                                          </p:stCondLst>
                                        </p:cTn>
                                        <p:tgtEl>
                                          <p:spTgt spid="17"/>
                                        </p:tgtEl>
                                        <p:attrNameLst>
                                          <p:attrName>style.visibility</p:attrName>
                                        </p:attrNameLst>
                                      </p:cBhvr>
                                      <p:to>
                                        <p:strVal val="visible"/>
                                      </p:to>
                                    </p:set>
                                    <p:animEffect transition="in" filter="slide(fromBottom)">
                                      <p:cBhvr>
                                        <p:cTn id="152" dur="500"/>
                                        <p:tgtEl>
                                          <p:spTgt spid="17"/>
                                        </p:tgtEl>
                                      </p:cBhvr>
                                    </p:animEffect>
                                  </p:childTnLst>
                                </p:cTn>
                              </p:par>
                            </p:childTnLst>
                          </p:cTn>
                        </p:par>
                      </p:childTnLst>
                    </p:cTn>
                  </p:par>
                  <p:par>
                    <p:cTn id="153" fill="hold">
                      <p:stCondLst>
                        <p:cond delay="indefinite"/>
                      </p:stCondLst>
                      <p:childTnLst>
                        <p:par>
                          <p:cTn id="154" fill="hold">
                            <p:stCondLst>
                              <p:cond delay="0"/>
                            </p:stCondLst>
                            <p:childTnLst>
                              <p:par>
                                <p:cTn id="155" presetID="37" presetClass="entr" presetSubtype="0" fill="hold" grpId="1" nodeType="clickEffect">
                                  <p:stCondLst>
                                    <p:cond delay="0"/>
                                  </p:stCondLst>
                                  <p:childTnLst>
                                    <p:set>
                                      <p:cBhvr>
                                        <p:cTn id="156" dur="1" fill="hold">
                                          <p:stCondLst>
                                            <p:cond delay="0"/>
                                          </p:stCondLst>
                                        </p:cTn>
                                        <p:tgtEl>
                                          <p:spTgt spid="18"/>
                                        </p:tgtEl>
                                        <p:attrNameLst>
                                          <p:attrName>style.visibility</p:attrName>
                                        </p:attrNameLst>
                                      </p:cBhvr>
                                      <p:to>
                                        <p:strVal val="visible"/>
                                      </p:to>
                                    </p:set>
                                    <p:animEffect transition="in" filter="fade">
                                      <p:cBhvr>
                                        <p:cTn id="157" dur="1000"/>
                                        <p:tgtEl>
                                          <p:spTgt spid="18"/>
                                        </p:tgtEl>
                                      </p:cBhvr>
                                    </p:animEffect>
                                    <p:anim calcmode="lin" valueType="num">
                                      <p:cBhvr>
                                        <p:cTn id="158" dur="1000" fill="hold"/>
                                        <p:tgtEl>
                                          <p:spTgt spid="18"/>
                                        </p:tgtEl>
                                        <p:attrNameLst>
                                          <p:attrName>ppt_x</p:attrName>
                                        </p:attrNameLst>
                                      </p:cBhvr>
                                      <p:tavLst>
                                        <p:tav tm="0">
                                          <p:val>
                                            <p:strVal val="#ppt_x"/>
                                          </p:val>
                                        </p:tav>
                                        <p:tav tm="100000">
                                          <p:val>
                                            <p:strVal val="#ppt_x"/>
                                          </p:val>
                                        </p:tav>
                                      </p:tavLst>
                                    </p:anim>
                                    <p:anim calcmode="lin" valueType="num">
                                      <p:cBhvr>
                                        <p:cTn id="159" dur="900" decel="100000" fill="hold"/>
                                        <p:tgtEl>
                                          <p:spTgt spid="18"/>
                                        </p:tgtEl>
                                        <p:attrNameLst>
                                          <p:attrName>ppt_y</p:attrName>
                                        </p:attrNameLst>
                                      </p:cBhvr>
                                      <p:tavLst>
                                        <p:tav tm="0">
                                          <p:val>
                                            <p:strVal val="#ppt_y+1"/>
                                          </p:val>
                                        </p:tav>
                                        <p:tav tm="100000">
                                          <p:val>
                                            <p:strVal val="#ppt_y-.03"/>
                                          </p:val>
                                        </p:tav>
                                      </p:tavLst>
                                    </p:anim>
                                    <p:anim calcmode="lin" valueType="num">
                                      <p:cBhvr>
                                        <p:cTn id="160"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161" presetID="37" presetClass="entr" presetSubtype="0" fill="hold" grpId="1" nodeType="withEffect">
                                  <p:stCondLst>
                                    <p:cond delay="0"/>
                                  </p:stCondLst>
                                  <p:childTnLst>
                                    <p:set>
                                      <p:cBhvr>
                                        <p:cTn id="162" dur="1" fill="hold">
                                          <p:stCondLst>
                                            <p:cond delay="0"/>
                                          </p:stCondLst>
                                        </p:cTn>
                                        <p:tgtEl>
                                          <p:spTgt spid="28"/>
                                        </p:tgtEl>
                                        <p:attrNameLst>
                                          <p:attrName>style.visibility</p:attrName>
                                        </p:attrNameLst>
                                      </p:cBhvr>
                                      <p:to>
                                        <p:strVal val="visible"/>
                                      </p:to>
                                    </p:set>
                                    <p:animEffect transition="in" filter="fade">
                                      <p:cBhvr>
                                        <p:cTn id="163" dur="1000"/>
                                        <p:tgtEl>
                                          <p:spTgt spid="28"/>
                                        </p:tgtEl>
                                      </p:cBhvr>
                                    </p:animEffect>
                                    <p:anim calcmode="lin" valueType="num">
                                      <p:cBhvr>
                                        <p:cTn id="164" dur="1000" fill="hold"/>
                                        <p:tgtEl>
                                          <p:spTgt spid="28"/>
                                        </p:tgtEl>
                                        <p:attrNameLst>
                                          <p:attrName>ppt_x</p:attrName>
                                        </p:attrNameLst>
                                      </p:cBhvr>
                                      <p:tavLst>
                                        <p:tav tm="0">
                                          <p:val>
                                            <p:strVal val="#ppt_x"/>
                                          </p:val>
                                        </p:tav>
                                        <p:tav tm="100000">
                                          <p:val>
                                            <p:strVal val="#ppt_x"/>
                                          </p:val>
                                        </p:tav>
                                      </p:tavLst>
                                    </p:anim>
                                    <p:anim calcmode="lin" valueType="num">
                                      <p:cBhvr>
                                        <p:cTn id="165" dur="900" decel="100000" fill="hold"/>
                                        <p:tgtEl>
                                          <p:spTgt spid="28"/>
                                        </p:tgtEl>
                                        <p:attrNameLst>
                                          <p:attrName>ppt_y</p:attrName>
                                        </p:attrNameLst>
                                      </p:cBhvr>
                                      <p:tavLst>
                                        <p:tav tm="0">
                                          <p:val>
                                            <p:strVal val="#ppt_y+1"/>
                                          </p:val>
                                        </p:tav>
                                        <p:tav tm="100000">
                                          <p:val>
                                            <p:strVal val="#ppt_y-.03"/>
                                          </p:val>
                                        </p:tav>
                                      </p:tavLst>
                                    </p:anim>
                                    <p:anim calcmode="lin" valueType="num">
                                      <p:cBhvr>
                                        <p:cTn id="166"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par>
                                <p:cTn id="167" presetID="37" presetClass="entr" presetSubtype="0" fill="hold" nodeType="withEffect">
                                  <p:stCondLst>
                                    <p:cond delay="0"/>
                                  </p:stCondLst>
                                  <p:childTnLst>
                                    <p:set>
                                      <p:cBhvr>
                                        <p:cTn id="168" dur="1" fill="hold">
                                          <p:stCondLst>
                                            <p:cond delay="0"/>
                                          </p:stCondLst>
                                        </p:cTn>
                                        <p:tgtEl>
                                          <p:spTgt spid="25"/>
                                        </p:tgtEl>
                                        <p:attrNameLst>
                                          <p:attrName>style.visibility</p:attrName>
                                        </p:attrNameLst>
                                      </p:cBhvr>
                                      <p:to>
                                        <p:strVal val="visible"/>
                                      </p:to>
                                    </p:set>
                                    <p:animEffect transition="in" filter="fade">
                                      <p:cBhvr>
                                        <p:cTn id="169" dur="1000"/>
                                        <p:tgtEl>
                                          <p:spTgt spid="25"/>
                                        </p:tgtEl>
                                      </p:cBhvr>
                                    </p:animEffect>
                                    <p:anim calcmode="lin" valueType="num">
                                      <p:cBhvr>
                                        <p:cTn id="170" dur="1000" fill="hold"/>
                                        <p:tgtEl>
                                          <p:spTgt spid="25"/>
                                        </p:tgtEl>
                                        <p:attrNameLst>
                                          <p:attrName>ppt_x</p:attrName>
                                        </p:attrNameLst>
                                      </p:cBhvr>
                                      <p:tavLst>
                                        <p:tav tm="0">
                                          <p:val>
                                            <p:strVal val="#ppt_x"/>
                                          </p:val>
                                        </p:tav>
                                        <p:tav tm="100000">
                                          <p:val>
                                            <p:strVal val="#ppt_x"/>
                                          </p:val>
                                        </p:tav>
                                      </p:tavLst>
                                    </p:anim>
                                    <p:anim calcmode="lin" valueType="num">
                                      <p:cBhvr>
                                        <p:cTn id="171" dur="900" decel="100000" fill="hold"/>
                                        <p:tgtEl>
                                          <p:spTgt spid="25"/>
                                        </p:tgtEl>
                                        <p:attrNameLst>
                                          <p:attrName>ppt_y</p:attrName>
                                        </p:attrNameLst>
                                      </p:cBhvr>
                                      <p:tavLst>
                                        <p:tav tm="0">
                                          <p:val>
                                            <p:strVal val="#ppt_y+1"/>
                                          </p:val>
                                        </p:tav>
                                        <p:tav tm="100000">
                                          <p:val>
                                            <p:strVal val="#ppt_y-.03"/>
                                          </p:val>
                                        </p:tav>
                                      </p:tavLst>
                                    </p:anim>
                                    <p:anim calcmode="lin" valueType="num">
                                      <p:cBhvr>
                                        <p:cTn id="172" dur="100" accel="100000" fill="hold">
                                          <p:stCondLst>
                                            <p:cond delay="900"/>
                                          </p:stCondLst>
                                        </p:cTn>
                                        <p:tgtEl>
                                          <p:spTgt spid="25"/>
                                        </p:tgtEl>
                                        <p:attrNameLst>
                                          <p:attrName>ppt_y</p:attrName>
                                        </p:attrNameLst>
                                      </p:cBhvr>
                                      <p:tavLst>
                                        <p:tav tm="0">
                                          <p:val>
                                            <p:strVal val="#ppt_y-.03"/>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9" presetClass="entr" presetSubtype="0" fill="hold" nodeType="clickEffect">
                                  <p:stCondLst>
                                    <p:cond delay="0"/>
                                  </p:stCondLst>
                                  <p:childTnLst>
                                    <p:set>
                                      <p:cBhvr>
                                        <p:cTn id="176" dur="1" fill="hold">
                                          <p:stCondLst>
                                            <p:cond delay="0"/>
                                          </p:stCondLst>
                                        </p:cTn>
                                        <p:tgtEl>
                                          <p:spTgt spid="22"/>
                                        </p:tgtEl>
                                        <p:attrNameLst>
                                          <p:attrName>style.visibility</p:attrName>
                                        </p:attrNameLst>
                                      </p:cBhvr>
                                      <p:to>
                                        <p:strVal val="visible"/>
                                      </p:to>
                                    </p:set>
                                    <p:anim calcmode="lin" valueType="num">
                                      <p:cBhvr>
                                        <p:cTn id="177" dur="1000" fill="hold"/>
                                        <p:tgtEl>
                                          <p:spTgt spid="22"/>
                                        </p:tgtEl>
                                        <p:attrNameLst>
                                          <p:attrName>ppt_x</p:attrName>
                                        </p:attrNameLst>
                                      </p:cBhvr>
                                      <p:tavLst>
                                        <p:tav tm="0">
                                          <p:val>
                                            <p:strVal val="#ppt_x-.2"/>
                                          </p:val>
                                        </p:tav>
                                        <p:tav tm="100000">
                                          <p:val>
                                            <p:strVal val="#ppt_x"/>
                                          </p:val>
                                        </p:tav>
                                      </p:tavLst>
                                    </p:anim>
                                    <p:anim calcmode="lin" valueType="num">
                                      <p:cBhvr>
                                        <p:cTn id="178" dur="1000" fill="hold"/>
                                        <p:tgtEl>
                                          <p:spTgt spid="22"/>
                                        </p:tgtEl>
                                        <p:attrNameLst>
                                          <p:attrName>ppt_y</p:attrName>
                                        </p:attrNameLst>
                                      </p:cBhvr>
                                      <p:tavLst>
                                        <p:tav tm="0">
                                          <p:val>
                                            <p:strVal val="#ppt_y"/>
                                          </p:val>
                                        </p:tav>
                                        <p:tav tm="100000">
                                          <p:val>
                                            <p:strVal val="#ppt_y"/>
                                          </p:val>
                                        </p:tav>
                                      </p:tavLst>
                                    </p:anim>
                                    <p:animEffect transition="in" filter="wipe(right)" prLst="gradientSize: 0.1">
                                      <p:cBhvr>
                                        <p:cTn id="179" dur="1000"/>
                                        <p:tgtEl>
                                          <p:spTgt spid="22"/>
                                        </p:tgtEl>
                                      </p:cBhvr>
                                    </p:animEffect>
                                  </p:childTnLst>
                                </p:cTn>
                              </p:par>
                            </p:childTnLst>
                          </p:cTn>
                        </p:par>
                      </p:childTnLst>
                    </p:cTn>
                  </p:par>
                  <p:par>
                    <p:cTn id="180" fill="hold">
                      <p:stCondLst>
                        <p:cond delay="indefinite"/>
                      </p:stCondLst>
                      <p:childTnLst>
                        <p:par>
                          <p:cTn id="181" fill="hold">
                            <p:stCondLst>
                              <p:cond delay="0"/>
                            </p:stCondLst>
                            <p:childTnLst>
                              <p:par>
                                <p:cTn id="182" presetID="29" presetClass="entr" presetSubtype="0" fill="hold" nodeType="clickEffect">
                                  <p:stCondLst>
                                    <p:cond delay="0"/>
                                  </p:stCondLst>
                                  <p:childTnLst>
                                    <p:set>
                                      <p:cBhvr>
                                        <p:cTn id="183" dur="1" fill="hold">
                                          <p:stCondLst>
                                            <p:cond delay="0"/>
                                          </p:stCondLst>
                                        </p:cTn>
                                        <p:tgtEl>
                                          <p:spTgt spid="23"/>
                                        </p:tgtEl>
                                        <p:attrNameLst>
                                          <p:attrName>style.visibility</p:attrName>
                                        </p:attrNameLst>
                                      </p:cBhvr>
                                      <p:to>
                                        <p:strVal val="visible"/>
                                      </p:to>
                                    </p:set>
                                    <p:anim calcmode="lin" valueType="num">
                                      <p:cBhvr>
                                        <p:cTn id="184" dur="1000" fill="hold"/>
                                        <p:tgtEl>
                                          <p:spTgt spid="23"/>
                                        </p:tgtEl>
                                        <p:attrNameLst>
                                          <p:attrName>ppt_x</p:attrName>
                                        </p:attrNameLst>
                                      </p:cBhvr>
                                      <p:tavLst>
                                        <p:tav tm="0">
                                          <p:val>
                                            <p:strVal val="#ppt_x-.2"/>
                                          </p:val>
                                        </p:tav>
                                        <p:tav tm="100000">
                                          <p:val>
                                            <p:strVal val="#ppt_x"/>
                                          </p:val>
                                        </p:tav>
                                      </p:tavLst>
                                    </p:anim>
                                    <p:anim calcmode="lin" valueType="num">
                                      <p:cBhvr>
                                        <p:cTn id="185" dur="1000" fill="hold"/>
                                        <p:tgtEl>
                                          <p:spTgt spid="23"/>
                                        </p:tgtEl>
                                        <p:attrNameLst>
                                          <p:attrName>ppt_y</p:attrName>
                                        </p:attrNameLst>
                                      </p:cBhvr>
                                      <p:tavLst>
                                        <p:tav tm="0">
                                          <p:val>
                                            <p:strVal val="#ppt_y"/>
                                          </p:val>
                                        </p:tav>
                                        <p:tav tm="100000">
                                          <p:val>
                                            <p:strVal val="#ppt_y"/>
                                          </p:val>
                                        </p:tav>
                                      </p:tavLst>
                                    </p:anim>
                                    <p:animEffect transition="in" filter="wipe(right)" prLst="gradientSize: 0.1">
                                      <p:cBhvr>
                                        <p:cTn id="186" dur="1000"/>
                                        <p:tgtEl>
                                          <p:spTgt spid="23"/>
                                        </p:tgtEl>
                                      </p:cBhvr>
                                    </p:animEffect>
                                  </p:childTnLst>
                                </p:cTn>
                              </p:par>
                            </p:childTnLst>
                          </p:cTn>
                        </p:par>
                      </p:childTnLst>
                    </p:cTn>
                  </p:par>
                  <p:par>
                    <p:cTn id="187" fill="hold">
                      <p:stCondLst>
                        <p:cond delay="indefinite"/>
                      </p:stCondLst>
                      <p:childTnLst>
                        <p:par>
                          <p:cTn id="188" fill="hold">
                            <p:stCondLst>
                              <p:cond delay="0"/>
                            </p:stCondLst>
                            <p:childTnLst>
                              <p:par>
                                <p:cTn id="189" presetID="29" presetClass="entr" presetSubtype="0" fill="hold" nodeType="clickEffect">
                                  <p:stCondLst>
                                    <p:cond delay="0"/>
                                  </p:stCondLst>
                                  <p:childTnLst>
                                    <p:set>
                                      <p:cBhvr>
                                        <p:cTn id="190" dur="1" fill="hold">
                                          <p:stCondLst>
                                            <p:cond delay="0"/>
                                          </p:stCondLst>
                                        </p:cTn>
                                        <p:tgtEl>
                                          <p:spTgt spid="24"/>
                                        </p:tgtEl>
                                        <p:attrNameLst>
                                          <p:attrName>style.visibility</p:attrName>
                                        </p:attrNameLst>
                                      </p:cBhvr>
                                      <p:to>
                                        <p:strVal val="visible"/>
                                      </p:to>
                                    </p:set>
                                    <p:anim calcmode="lin" valueType="num">
                                      <p:cBhvr>
                                        <p:cTn id="191" dur="1000" fill="hold"/>
                                        <p:tgtEl>
                                          <p:spTgt spid="24"/>
                                        </p:tgtEl>
                                        <p:attrNameLst>
                                          <p:attrName>ppt_x</p:attrName>
                                        </p:attrNameLst>
                                      </p:cBhvr>
                                      <p:tavLst>
                                        <p:tav tm="0">
                                          <p:val>
                                            <p:strVal val="#ppt_x-.2"/>
                                          </p:val>
                                        </p:tav>
                                        <p:tav tm="100000">
                                          <p:val>
                                            <p:strVal val="#ppt_x"/>
                                          </p:val>
                                        </p:tav>
                                      </p:tavLst>
                                    </p:anim>
                                    <p:anim calcmode="lin" valueType="num">
                                      <p:cBhvr>
                                        <p:cTn id="192" dur="1000" fill="hold"/>
                                        <p:tgtEl>
                                          <p:spTgt spid="24"/>
                                        </p:tgtEl>
                                        <p:attrNameLst>
                                          <p:attrName>ppt_y</p:attrName>
                                        </p:attrNameLst>
                                      </p:cBhvr>
                                      <p:tavLst>
                                        <p:tav tm="0">
                                          <p:val>
                                            <p:strVal val="#ppt_y"/>
                                          </p:val>
                                        </p:tav>
                                        <p:tav tm="100000">
                                          <p:val>
                                            <p:strVal val="#ppt_y"/>
                                          </p:val>
                                        </p:tav>
                                      </p:tavLst>
                                    </p:anim>
                                    <p:animEffect transition="in" filter="wipe(right)" prLst="gradientSize: 0.1">
                                      <p:cBhvr>
                                        <p:cTn id="193" dur="1000"/>
                                        <p:tgtEl>
                                          <p:spTgt spid="24"/>
                                        </p:tgtEl>
                                      </p:cBhvr>
                                    </p:animEffect>
                                  </p:childTnLst>
                                </p:cTn>
                              </p:par>
                            </p:childTnLst>
                          </p:cTn>
                        </p:par>
                      </p:childTnLst>
                    </p:cTn>
                  </p:par>
                  <p:par>
                    <p:cTn id="194" fill="hold">
                      <p:stCondLst>
                        <p:cond delay="indefinite"/>
                      </p:stCondLst>
                      <p:childTnLst>
                        <p:par>
                          <p:cTn id="195" fill="hold">
                            <p:stCondLst>
                              <p:cond delay="0"/>
                            </p:stCondLst>
                            <p:childTnLst>
                              <p:par>
                                <p:cTn id="196" presetID="29" presetClass="entr" presetSubtype="0" fill="hold" grpId="0" nodeType="clickEffect">
                                  <p:stCondLst>
                                    <p:cond delay="0"/>
                                  </p:stCondLst>
                                  <p:childTnLst>
                                    <p:set>
                                      <p:cBhvr>
                                        <p:cTn id="197" dur="1" fill="hold">
                                          <p:stCondLst>
                                            <p:cond delay="0"/>
                                          </p:stCondLst>
                                        </p:cTn>
                                        <p:tgtEl>
                                          <p:spTgt spid="26"/>
                                        </p:tgtEl>
                                        <p:attrNameLst>
                                          <p:attrName>style.visibility</p:attrName>
                                        </p:attrNameLst>
                                      </p:cBhvr>
                                      <p:to>
                                        <p:strVal val="visible"/>
                                      </p:to>
                                    </p:set>
                                    <p:anim calcmode="lin" valueType="num">
                                      <p:cBhvr>
                                        <p:cTn id="198" dur="1000" fill="hold"/>
                                        <p:tgtEl>
                                          <p:spTgt spid="26"/>
                                        </p:tgtEl>
                                        <p:attrNameLst>
                                          <p:attrName>ppt_x</p:attrName>
                                        </p:attrNameLst>
                                      </p:cBhvr>
                                      <p:tavLst>
                                        <p:tav tm="0">
                                          <p:val>
                                            <p:strVal val="#ppt_x-.2"/>
                                          </p:val>
                                        </p:tav>
                                        <p:tav tm="100000">
                                          <p:val>
                                            <p:strVal val="#ppt_x"/>
                                          </p:val>
                                        </p:tav>
                                      </p:tavLst>
                                    </p:anim>
                                    <p:anim calcmode="lin" valueType="num">
                                      <p:cBhvr>
                                        <p:cTn id="199" dur="1000" fill="hold"/>
                                        <p:tgtEl>
                                          <p:spTgt spid="26"/>
                                        </p:tgtEl>
                                        <p:attrNameLst>
                                          <p:attrName>ppt_y</p:attrName>
                                        </p:attrNameLst>
                                      </p:cBhvr>
                                      <p:tavLst>
                                        <p:tav tm="0">
                                          <p:val>
                                            <p:strVal val="#ppt_y"/>
                                          </p:val>
                                        </p:tav>
                                        <p:tav tm="100000">
                                          <p:val>
                                            <p:strVal val="#ppt_y"/>
                                          </p:val>
                                        </p:tav>
                                      </p:tavLst>
                                    </p:anim>
                                    <p:animEffect transition="in" filter="wipe(right)" prLst="gradientSize: 0.1">
                                      <p:cBhvr>
                                        <p:cTn id="200" dur="1000"/>
                                        <p:tgtEl>
                                          <p:spTgt spid="26"/>
                                        </p:tgtEl>
                                      </p:cBhvr>
                                    </p:animEffect>
                                  </p:childTnLst>
                                </p:cTn>
                              </p:par>
                            </p:childTnLst>
                          </p:cTn>
                        </p:par>
                      </p:childTnLst>
                    </p:cTn>
                  </p:par>
                  <p:par>
                    <p:cTn id="201" fill="hold">
                      <p:stCondLst>
                        <p:cond delay="indefinite"/>
                      </p:stCondLst>
                      <p:childTnLst>
                        <p:par>
                          <p:cTn id="202" fill="hold">
                            <p:stCondLst>
                              <p:cond delay="0"/>
                            </p:stCondLst>
                            <p:childTnLst>
                              <p:par>
                                <p:cTn id="203" presetID="20" presetClass="entr" presetSubtype="0" fill="hold" grpId="0" nodeType="clickEffect">
                                  <p:stCondLst>
                                    <p:cond delay="0"/>
                                  </p:stCondLst>
                                  <p:childTnLst>
                                    <p:set>
                                      <p:cBhvr>
                                        <p:cTn id="204" dur="1" fill="hold">
                                          <p:stCondLst>
                                            <p:cond delay="0"/>
                                          </p:stCondLst>
                                        </p:cTn>
                                        <p:tgtEl>
                                          <p:spTgt spid="27"/>
                                        </p:tgtEl>
                                        <p:attrNameLst>
                                          <p:attrName>style.visibility</p:attrName>
                                        </p:attrNameLst>
                                      </p:cBhvr>
                                      <p:to>
                                        <p:strVal val="visible"/>
                                      </p:to>
                                    </p:set>
                                    <p:animEffect transition="in" filter="wedge">
                                      <p:cBhvr>
                                        <p:cTn id="205"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P spid="13" grpId="0"/>
      <p:bldP spid="14" grpId="0"/>
      <p:bldP spid="15" grpId="0"/>
      <p:bldP spid="16" grpId="0"/>
      <p:bldP spid="17" grpId="0"/>
      <p:bldP spid="18" grpId="1"/>
      <p:bldP spid="26" grpId="0"/>
      <p:bldP spid="27" grpId="0" animBg="1"/>
      <p:bldP spid="2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04800"/>
            <a:ext cx="8153400" cy="954107"/>
          </a:xfrm>
          <a:prstGeom prst="rect">
            <a:avLst/>
          </a:prstGeom>
        </p:spPr>
        <p:txBody>
          <a:bodyPr wrap="square">
            <a:spAutoFit/>
          </a:bodyPr>
          <a:lstStyle/>
          <a:p>
            <a:pPr marL="347663" indent="-347663"/>
            <a:r>
              <a:rPr lang="en-US" sz="2800" dirty="0" smtClean="0"/>
              <a:t>6. MAZE is a parallelogram. If the measure of angle A is 67°, then measure of angle Z is equal to _________. </a:t>
            </a:r>
            <a:endParaRPr lang="en-US" sz="2800" dirty="0"/>
          </a:p>
        </p:txBody>
      </p:sp>
      <p:sp>
        <p:nvSpPr>
          <p:cNvPr id="6" name="Rectangle 5"/>
          <p:cNvSpPr/>
          <p:nvPr/>
        </p:nvSpPr>
        <p:spPr>
          <a:xfrm>
            <a:off x="2364282" y="1981200"/>
            <a:ext cx="1171283" cy="584775"/>
          </a:xfrm>
          <a:prstGeom prst="rect">
            <a:avLst/>
          </a:prstGeom>
        </p:spPr>
        <p:txBody>
          <a:bodyPr wrap="none">
            <a:spAutoFit/>
          </a:bodyPr>
          <a:lstStyle/>
          <a:p>
            <a:r>
              <a:rPr lang="en-US" sz="3200" dirty="0" smtClean="0"/>
              <a:t>a. 113°</a:t>
            </a:r>
            <a:endParaRPr lang="en-US" sz="3200" dirty="0"/>
          </a:p>
        </p:txBody>
      </p:sp>
      <p:sp>
        <p:nvSpPr>
          <p:cNvPr id="7" name="Rectangle 6"/>
          <p:cNvSpPr/>
          <p:nvPr/>
        </p:nvSpPr>
        <p:spPr>
          <a:xfrm>
            <a:off x="2315655" y="2667000"/>
            <a:ext cx="1222001" cy="584775"/>
          </a:xfrm>
          <a:prstGeom prst="rect">
            <a:avLst/>
          </a:prstGeom>
        </p:spPr>
        <p:txBody>
          <a:bodyPr wrap="none">
            <a:spAutoFit/>
          </a:bodyPr>
          <a:lstStyle/>
          <a:p>
            <a:r>
              <a:rPr lang="en-US" sz="3200" dirty="0" smtClean="0"/>
              <a:t>b. 90°</a:t>
            </a:r>
            <a:endParaRPr lang="en-US" sz="3200" dirty="0"/>
          </a:p>
        </p:txBody>
      </p:sp>
      <p:sp>
        <p:nvSpPr>
          <p:cNvPr id="8" name="Rectangle 7"/>
          <p:cNvSpPr/>
          <p:nvPr/>
        </p:nvSpPr>
        <p:spPr>
          <a:xfrm>
            <a:off x="5439855" y="1981200"/>
            <a:ext cx="1144865" cy="584775"/>
          </a:xfrm>
          <a:prstGeom prst="rect">
            <a:avLst/>
          </a:prstGeom>
        </p:spPr>
        <p:txBody>
          <a:bodyPr wrap="none">
            <a:spAutoFit/>
          </a:bodyPr>
          <a:lstStyle/>
          <a:p>
            <a:r>
              <a:rPr lang="en-US" sz="3200" dirty="0" smtClean="0"/>
              <a:t>c. 67°</a:t>
            </a:r>
            <a:endParaRPr lang="en-US" sz="3200" dirty="0"/>
          </a:p>
        </p:txBody>
      </p:sp>
      <p:sp>
        <p:nvSpPr>
          <p:cNvPr id="9" name="Rectangle 8"/>
          <p:cNvSpPr/>
          <p:nvPr/>
        </p:nvSpPr>
        <p:spPr>
          <a:xfrm>
            <a:off x="5363655" y="2743200"/>
            <a:ext cx="1146852" cy="584775"/>
          </a:xfrm>
          <a:prstGeom prst="rect">
            <a:avLst/>
          </a:prstGeom>
        </p:spPr>
        <p:txBody>
          <a:bodyPr wrap="none">
            <a:spAutoFit/>
          </a:bodyPr>
          <a:lstStyle/>
          <a:p>
            <a:r>
              <a:rPr lang="en-US" sz="3200" dirty="0" smtClean="0"/>
              <a:t>d. 23°</a:t>
            </a:r>
          </a:p>
        </p:txBody>
      </p:sp>
      <p:sp>
        <p:nvSpPr>
          <p:cNvPr id="10" name="TextBox 9"/>
          <p:cNvSpPr txBox="1"/>
          <p:nvPr/>
        </p:nvSpPr>
        <p:spPr>
          <a:xfrm>
            <a:off x="381000" y="3505200"/>
            <a:ext cx="3048000" cy="523220"/>
          </a:xfrm>
          <a:prstGeom prst="rect">
            <a:avLst/>
          </a:prstGeom>
          <a:noFill/>
        </p:spPr>
        <p:txBody>
          <a:bodyPr wrap="square" rtlCol="0">
            <a:spAutoFit/>
          </a:bodyPr>
          <a:lstStyle/>
          <a:p>
            <a:r>
              <a:rPr lang="en-PH" sz="2800" dirty="0" smtClean="0"/>
              <a:t>Solution:</a:t>
            </a:r>
          </a:p>
        </p:txBody>
      </p:sp>
      <p:sp>
        <p:nvSpPr>
          <p:cNvPr id="11" name="Parallelogram 10"/>
          <p:cNvSpPr/>
          <p:nvPr/>
        </p:nvSpPr>
        <p:spPr>
          <a:xfrm>
            <a:off x="1219200" y="4648200"/>
            <a:ext cx="2743200" cy="1463040"/>
          </a:xfrm>
          <a:prstGeom prst="parallelogram">
            <a:avLst>
              <a:gd name="adj" fmla="val 5388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2" name="Rectangle 11"/>
          <p:cNvSpPr/>
          <p:nvPr/>
        </p:nvSpPr>
        <p:spPr>
          <a:xfrm>
            <a:off x="1558545" y="4191000"/>
            <a:ext cx="510076" cy="523220"/>
          </a:xfrm>
          <a:prstGeom prst="rect">
            <a:avLst/>
          </a:prstGeom>
        </p:spPr>
        <p:txBody>
          <a:bodyPr wrap="none">
            <a:spAutoFit/>
          </a:bodyPr>
          <a:lstStyle/>
          <a:p>
            <a:r>
              <a:rPr lang="en-US" sz="2800" dirty="0" smtClean="0"/>
              <a:t>M</a:t>
            </a:r>
            <a:endParaRPr lang="en-PH" sz="2800" dirty="0"/>
          </a:p>
        </p:txBody>
      </p:sp>
      <p:sp>
        <p:nvSpPr>
          <p:cNvPr id="13" name="Rectangle 12"/>
          <p:cNvSpPr/>
          <p:nvPr/>
        </p:nvSpPr>
        <p:spPr>
          <a:xfrm>
            <a:off x="720345" y="5953780"/>
            <a:ext cx="393056" cy="523220"/>
          </a:xfrm>
          <a:prstGeom prst="rect">
            <a:avLst/>
          </a:prstGeom>
        </p:spPr>
        <p:txBody>
          <a:bodyPr wrap="none">
            <a:spAutoFit/>
          </a:bodyPr>
          <a:lstStyle/>
          <a:p>
            <a:r>
              <a:rPr lang="en-US" sz="2800" dirty="0" smtClean="0"/>
              <a:t>E</a:t>
            </a:r>
            <a:endParaRPr lang="en-PH" sz="2800" dirty="0"/>
          </a:p>
        </p:txBody>
      </p:sp>
      <p:sp>
        <p:nvSpPr>
          <p:cNvPr id="14" name="Rectangle 13"/>
          <p:cNvSpPr/>
          <p:nvPr/>
        </p:nvSpPr>
        <p:spPr>
          <a:xfrm>
            <a:off x="3233274" y="5913120"/>
            <a:ext cx="391454" cy="523220"/>
          </a:xfrm>
          <a:prstGeom prst="rect">
            <a:avLst/>
          </a:prstGeom>
        </p:spPr>
        <p:txBody>
          <a:bodyPr wrap="none">
            <a:spAutoFit/>
          </a:bodyPr>
          <a:lstStyle/>
          <a:p>
            <a:r>
              <a:rPr lang="en-US" sz="2800" dirty="0" smtClean="0"/>
              <a:t>Z</a:t>
            </a:r>
            <a:endParaRPr lang="en-PH" sz="2800" dirty="0"/>
          </a:p>
        </p:txBody>
      </p:sp>
      <p:sp>
        <p:nvSpPr>
          <p:cNvPr id="15" name="Rectangle 14"/>
          <p:cNvSpPr/>
          <p:nvPr/>
        </p:nvSpPr>
        <p:spPr>
          <a:xfrm>
            <a:off x="3962400" y="4262140"/>
            <a:ext cx="434734" cy="523220"/>
          </a:xfrm>
          <a:prstGeom prst="rect">
            <a:avLst/>
          </a:prstGeom>
          <a:ln>
            <a:noFill/>
          </a:ln>
        </p:spPr>
        <p:txBody>
          <a:bodyPr wrap="none">
            <a:spAutoFit/>
          </a:bodyPr>
          <a:lstStyle/>
          <a:p>
            <a:r>
              <a:rPr lang="en-US" sz="2800" dirty="0" smtClean="0"/>
              <a:t>A</a:t>
            </a:r>
            <a:endParaRPr lang="en-PH" sz="2800" dirty="0"/>
          </a:p>
        </p:txBody>
      </p:sp>
      <p:sp>
        <p:nvSpPr>
          <p:cNvPr id="16" name="Arc 15"/>
          <p:cNvSpPr/>
          <p:nvPr/>
        </p:nvSpPr>
        <p:spPr>
          <a:xfrm rot="12054075">
            <a:off x="3508816" y="4524383"/>
            <a:ext cx="685800" cy="533400"/>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17" name="Rectangle 16"/>
          <p:cNvSpPr/>
          <p:nvPr/>
        </p:nvSpPr>
        <p:spPr>
          <a:xfrm>
            <a:off x="2789195" y="4724400"/>
            <a:ext cx="747320" cy="584775"/>
          </a:xfrm>
          <a:prstGeom prst="rect">
            <a:avLst/>
          </a:prstGeom>
        </p:spPr>
        <p:txBody>
          <a:bodyPr wrap="none">
            <a:spAutoFit/>
          </a:bodyPr>
          <a:lstStyle/>
          <a:p>
            <a:r>
              <a:rPr lang="en-US" sz="3200" dirty="0" smtClean="0"/>
              <a:t>67°</a:t>
            </a:r>
            <a:endParaRPr lang="en-US" sz="3200" dirty="0"/>
          </a:p>
        </p:txBody>
      </p:sp>
      <p:graphicFrame>
        <p:nvGraphicFramePr>
          <p:cNvPr id="18" name="Object 1"/>
          <p:cNvGraphicFramePr>
            <a:graphicFrameLocks noChangeAspect="1"/>
          </p:cNvGraphicFramePr>
          <p:nvPr/>
        </p:nvGraphicFramePr>
        <p:xfrm>
          <a:off x="4768259" y="4038600"/>
          <a:ext cx="3842341" cy="561975"/>
        </p:xfrm>
        <a:graphic>
          <a:graphicData uri="http://schemas.openxmlformats.org/presentationml/2006/ole">
            <p:oleObj spid="_x0000_s52225" name="Equation" r:id="rId6" imgW="1231560" imgH="177480" progId="Equation.3">
              <p:embed/>
            </p:oleObj>
          </a:graphicData>
        </a:graphic>
      </p:graphicFrame>
      <p:graphicFrame>
        <p:nvGraphicFramePr>
          <p:cNvPr id="19" name="Object 2"/>
          <p:cNvGraphicFramePr>
            <a:graphicFrameLocks noChangeAspect="1"/>
          </p:cNvGraphicFramePr>
          <p:nvPr/>
        </p:nvGraphicFramePr>
        <p:xfrm>
          <a:off x="5791200" y="4800600"/>
          <a:ext cx="2495550" cy="561975"/>
        </p:xfrm>
        <a:graphic>
          <a:graphicData uri="http://schemas.openxmlformats.org/presentationml/2006/ole">
            <p:oleObj spid="_x0000_s52226" name="Equation" r:id="rId7" imgW="799920" imgH="177480" progId="Equation.3">
              <p:embed/>
            </p:oleObj>
          </a:graphicData>
        </a:graphic>
      </p:graphicFrame>
      <p:graphicFrame>
        <p:nvGraphicFramePr>
          <p:cNvPr id="20" name="Object 3"/>
          <p:cNvGraphicFramePr>
            <a:graphicFrameLocks noChangeAspect="1"/>
          </p:cNvGraphicFramePr>
          <p:nvPr/>
        </p:nvGraphicFramePr>
        <p:xfrm>
          <a:off x="5791200" y="5534025"/>
          <a:ext cx="1387475" cy="561975"/>
        </p:xfrm>
        <a:graphic>
          <a:graphicData uri="http://schemas.openxmlformats.org/presentationml/2006/ole">
            <p:oleObj spid="_x0000_s52227" name="Equation" r:id="rId8" imgW="444240" imgH="177480" progId="Equation.3">
              <p:embed/>
            </p:oleObj>
          </a:graphicData>
        </a:graphic>
      </p:graphicFrame>
      <p:sp>
        <p:nvSpPr>
          <p:cNvPr id="21" name="Rounded Rectangle 20"/>
          <p:cNvSpPr/>
          <p:nvPr/>
        </p:nvSpPr>
        <p:spPr>
          <a:xfrm>
            <a:off x="247650" y="3371850"/>
            <a:ext cx="8439150" cy="318135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2343150" y="1981200"/>
            <a:ext cx="139065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900" decel="100000" fill="hold"/>
                                        <p:tgtEl>
                                          <p:spTgt spid="1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1000"/>
                                        <p:tgtEl>
                                          <p:spTgt spid="21"/>
                                        </p:tgtEl>
                                      </p:cBhvr>
                                    </p:animEffect>
                                    <p:anim calcmode="lin" valueType="num">
                                      <p:cBhvr>
                                        <p:cTn id="34" dur="1000" fill="hold"/>
                                        <p:tgtEl>
                                          <p:spTgt spid="21"/>
                                        </p:tgtEl>
                                        <p:attrNameLst>
                                          <p:attrName>ppt_x</p:attrName>
                                        </p:attrNameLst>
                                      </p:cBhvr>
                                      <p:tavLst>
                                        <p:tav tm="0">
                                          <p:val>
                                            <p:strVal val="#ppt_x"/>
                                          </p:val>
                                        </p:tav>
                                        <p:tav tm="100000">
                                          <p:val>
                                            <p:strVal val="#ppt_x"/>
                                          </p:val>
                                        </p:tav>
                                      </p:tavLst>
                                    </p:anim>
                                    <p:anim calcmode="lin" valueType="num">
                                      <p:cBhvr>
                                        <p:cTn id="35" dur="900" decel="100000" fill="hold"/>
                                        <p:tgtEl>
                                          <p:spTgt spid="2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2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5"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decel="50000" fill="hold">
                                          <p:stCondLst>
                                            <p:cond delay="0"/>
                                          </p:stCondLst>
                                        </p:cTn>
                                        <p:tgtEl>
                                          <p:spTgt spid="11"/>
                                        </p:tgtEl>
                                        <p:attrNameLst>
                                          <p:attrName>style.rotation</p:attrName>
                                        </p:attrNameLst>
                                      </p:cBhvr>
                                      <p:tavLst>
                                        <p:tav tm="0">
                                          <p:val>
                                            <p:fltVal val="-90"/>
                                          </p:val>
                                        </p:tav>
                                        <p:tav tm="100000">
                                          <p:val>
                                            <p:fltVal val="0"/>
                                          </p:val>
                                        </p:tav>
                                      </p:tavLst>
                                    </p:anim>
                                    <p:anim calcmode="lin" valueType="num">
                                      <p:cBhvr>
                                        <p:cTn id="42" dur="500" decel="50000" fill="hold">
                                          <p:stCondLst>
                                            <p:cond delay="0"/>
                                          </p:stCondLst>
                                        </p:cTn>
                                        <p:tgtEl>
                                          <p:spTgt spid="11"/>
                                        </p:tgtEl>
                                        <p:attrNameLst>
                                          <p:attrName>ppt_w</p:attrName>
                                        </p:attrNameLst>
                                      </p:cBhvr>
                                      <p:tavLst>
                                        <p:tav tm="0">
                                          <p:val>
                                            <p:strVal val="#ppt_w"/>
                                          </p:val>
                                        </p:tav>
                                        <p:tav tm="100000">
                                          <p:val>
                                            <p:strVal val="#ppt_w*.05"/>
                                          </p:val>
                                        </p:tav>
                                      </p:tavLst>
                                    </p:anim>
                                    <p:anim calcmode="lin" valueType="num">
                                      <p:cBhvr>
                                        <p:cTn id="43" dur="500" accel="50000" fill="hold">
                                          <p:stCondLst>
                                            <p:cond delay="500"/>
                                          </p:stCondLst>
                                        </p:cTn>
                                        <p:tgtEl>
                                          <p:spTgt spid="11"/>
                                        </p:tgtEl>
                                        <p:attrNameLst>
                                          <p:attrName>ppt_w</p:attrName>
                                        </p:attrNameLst>
                                      </p:cBhvr>
                                      <p:tavLst>
                                        <p:tav tm="0">
                                          <p:val>
                                            <p:strVal val="#ppt_w*.05"/>
                                          </p:val>
                                        </p:tav>
                                        <p:tav tm="100000">
                                          <p:val>
                                            <p:strVal val="#ppt_w"/>
                                          </p:val>
                                        </p:tav>
                                      </p:tavLst>
                                    </p:anim>
                                    <p:anim calcmode="lin" valueType="num">
                                      <p:cBhvr>
                                        <p:cTn id="44" dur="1000" fill="hold"/>
                                        <p:tgtEl>
                                          <p:spTgt spid="11"/>
                                        </p:tgtEl>
                                        <p:attrNameLst>
                                          <p:attrName>ppt_h</p:attrName>
                                        </p:attrNameLst>
                                      </p:cBhvr>
                                      <p:tavLst>
                                        <p:tav tm="0">
                                          <p:val>
                                            <p:strVal val="#ppt_h"/>
                                          </p:val>
                                        </p:tav>
                                        <p:tav tm="100000">
                                          <p:val>
                                            <p:strVal val="#ppt_h"/>
                                          </p:val>
                                        </p:tav>
                                      </p:tavLst>
                                    </p:anim>
                                    <p:anim calcmode="lin" valueType="num">
                                      <p:cBhvr>
                                        <p:cTn id="45" dur="500" decel="50000" fill="hold">
                                          <p:stCondLst>
                                            <p:cond delay="0"/>
                                          </p:stCondLst>
                                        </p:cTn>
                                        <p:tgtEl>
                                          <p:spTgt spid="11"/>
                                        </p:tgtEl>
                                        <p:attrNameLst>
                                          <p:attrName>ppt_x</p:attrName>
                                        </p:attrNameLst>
                                      </p:cBhvr>
                                      <p:tavLst>
                                        <p:tav tm="0">
                                          <p:val>
                                            <p:strVal val="#ppt_x+.4"/>
                                          </p:val>
                                        </p:tav>
                                        <p:tav tm="100000">
                                          <p:val>
                                            <p:strVal val="#ppt_x"/>
                                          </p:val>
                                        </p:tav>
                                      </p:tavLst>
                                    </p:anim>
                                    <p:anim calcmode="lin" valueType="num">
                                      <p:cBhvr>
                                        <p:cTn id="46" dur="500" decel="50000" fill="hold">
                                          <p:stCondLst>
                                            <p:cond delay="0"/>
                                          </p:stCondLst>
                                        </p:cTn>
                                        <p:tgtEl>
                                          <p:spTgt spid="11"/>
                                        </p:tgtEl>
                                        <p:attrNameLst>
                                          <p:attrName>ppt_y</p:attrName>
                                        </p:attrNameLst>
                                      </p:cBhvr>
                                      <p:tavLst>
                                        <p:tav tm="0">
                                          <p:val>
                                            <p:strVal val="#ppt_y-.2"/>
                                          </p:val>
                                        </p:tav>
                                        <p:tav tm="100000">
                                          <p:val>
                                            <p:strVal val="#ppt_y+.1"/>
                                          </p:val>
                                        </p:tav>
                                      </p:tavLst>
                                    </p:anim>
                                    <p:anim calcmode="lin" valueType="num">
                                      <p:cBhvr>
                                        <p:cTn id="47" dur="500" accel="50000" fill="hold">
                                          <p:stCondLst>
                                            <p:cond delay="500"/>
                                          </p:stCondLst>
                                        </p:cTn>
                                        <p:tgtEl>
                                          <p:spTgt spid="11"/>
                                        </p:tgtEl>
                                        <p:attrNameLst>
                                          <p:attrName>ppt_y</p:attrName>
                                        </p:attrNameLst>
                                      </p:cBhvr>
                                      <p:tavLst>
                                        <p:tav tm="0">
                                          <p:val>
                                            <p:strVal val="#ppt_y+.1"/>
                                          </p:val>
                                        </p:tav>
                                        <p:tav tm="100000">
                                          <p:val>
                                            <p:strVal val="#ppt_y"/>
                                          </p:val>
                                        </p:tav>
                                      </p:tavLst>
                                    </p:anim>
                                    <p:animEffect transition="in" filter="fade">
                                      <p:cBhvr>
                                        <p:cTn id="48" dur="1000" decel="50000">
                                          <p:stCondLst>
                                            <p:cond delay="0"/>
                                          </p:stCondLst>
                                        </p:cTn>
                                        <p:tgtEl>
                                          <p:spTgt spid="11"/>
                                        </p:tgtEl>
                                      </p:cBhvr>
                                    </p:animEffect>
                                  </p:childTnLst>
                                </p:cTn>
                              </p:par>
                              <p:par>
                                <p:cTn id="49" presetID="25" presetClass="entr" presetSubtype="0" fill="hold" nodeType="with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p:cTn id="51" dur="500" decel="50000" fill="hold">
                                          <p:stCondLst>
                                            <p:cond delay="0"/>
                                          </p:stCondLst>
                                        </p:cTn>
                                        <p:tgtEl>
                                          <p:spTgt spid="12"/>
                                        </p:tgtEl>
                                        <p:attrNameLst>
                                          <p:attrName>style.rotation</p:attrName>
                                        </p:attrNameLst>
                                      </p:cBhvr>
                                      <p:tavLst>
                                        <p:tav tm="0">
                                          <p:val>
                                            <p:fltVal val="-90"/>
                                          </p:val>
                                        </p:tav>
                                        <p:tav tm="100000">
                                          <p:val>
                                            <p:fltVal val="0"/>
                                          </p:val>
                                        </p:tav>
                                      </p:tavLst>
                                    </p:anim>
                                    <p:anim calcmode="lin" valueType="num">
                                      <p:cBhvr>
                                        <p:cTn id="52" dur="500" decel="50000" fill="hold">
                                          <p:stCondLst>
                                            <p:cond delay="0"/>
                                          </p:stCondLst>
                                        </p:cTn>
                                        <p:tgtEl>
                                          <p:spTgt spid="12"/>
                                        </p:tgtEl>
                                        <p:attrNameLst>
                                          <p:attrName>ppt_w</p:attrName>
                                        </p:attrNameLst>
                                      </p:cBhvr>
                                      <p:tavLst>
                                        <p:tav tm="0">
                                          <p:val>
                                            <p:strVal val="#ppt_w"/>
                                          </p:val>
                                        </p:tav>
                                        <p:tav tm="100000">
                                          <p:val>
                                            <p:strVal val="#ppt_w*.05"/>
                                          </p:val>
                                        </p:tav>
                                      </p:tavLst>
                                    </p:anim>
                                    <p:anim calcmode="lin" valueType="num">
                                      <p:cBhvr>
                                        <p:cTn id="53" dur="500" accel="50000" fill="hold">
                                          <p:stCondLst>
                                            <p:cond delay="500"/>
                                          </p:stCondLst>
                                        </p:cTn>
                                        <p:tgtEl>
                                          <p:spTgt spid="12"/>
                                        </p:tgtEl>
                                        <p:attrNameLst>
                                          <p:attrName>ppt_w</p:attrName>
                                        </p:attrNameLst>
                                      </p:cBhvr>
                                      <p:tavLst>
                                        <p:tav tm="0">
                                          <p:val>
                                            <p:strVal val="#ppt_w*.05"/>
                                          </p:val>
                                        </p:tav>
                                        <p:tav tm="100000">
                                          <p:val>
                                            <p:strVal val="#ppt_w"/>
                                          </p:val>
                                        </p:tav>
                                      </p:tavLst>
                                    </p:anim>
                                    <p:anim calcmode="lin" valueType="num">
                                      <p:cBhvr>
                                        <p:cTn id="54" dur="1000" fill="hold"/>
                                        <p:tgtEl>
                                          <p:spTgt spid="12"/>
                                        </p:tgtEl>
                                        <p:attrNameLst>
                                          <p:attrName>ppt_h</p:attrName>
                                        </p:attrNameLst>
                                      </p:cBhvr>
                                      <p:tavLst>
                                        <p:tav tm="0">
                                          <p:val>
                                            <p:strVal val="#ppt_h"/>
                                          </p:val>
                                        </p:tav>
                                        <p:tav tm="100000">
                                          <p:val>
                                            <p:strVal val="#ppt_h"/>
                                          </p:val>
                                        </p:tav>
                                      </p:tavLst>
                                    </p:anim>
                                    <p:anim calcmode="lin" valueType="num">
                                      <p:cBhvr>
                                        <p:cTn id="55" dur="500" decel="50000" fill="hold">
                                          <p:stCondLst>
                                            <p:cond delay="0"/>
                                          </p:stCondLst>
                                        </p:cTn>
                                        <p:tgtEl>
                                          <p:spTgt spid="12"/>
                                        </p:tgtEl>
                                        <p:attrNameLst>
                                          <p:attrName>ppt_x</p:attrName>
                                        </p:attrNameLst>
                                      </p:cBhvr>
                                      <p:tavLst>
                                        <p:tav tm="0">
                                          <p:val>
                                            <p:strVal val="#ppt_x+.4"/>
                                          </p:val>
                                        </p:tav>
                                        <p:tav tm="100000">
                                          <p:val>
                                            <p:strVal val="#ppt_x"/>
                                          </p:val>
                                        </p:tav>
                                      </p:tavLst>
                                    </p:anim>
                                    <p:anim calcmode="lin" valueType="num">
                                      <p:cBhvr>
                                        <p:cTn id="56" dur="500" decel="50000" fill="hold">
                                          <p:stCondLst>
                                            <p:cond delay="0"/>
                                          </p:stCondLst>
                                        </p:cTn>
                                        <p:tgtEl>
                                          <p:spTgt spid="12"/>
                                        </p:tgtEl>
                                        <p:attrNameLst>
                                          <p:attrName>ppt_y</p:attrName>
                                        </p:attrNameLst>
                                      </p:cBhvr>
                                      <p:tavLst>
                                        <p:tav tm="0">
                                          <p:val>
                                            <p:strVal val="#ppt_y-.2"/>
                                          </p:val>
                                        </p:tav>
                                        <p:tav tm="100000">
                                          <p:val>
                                            <p:strVal val="#ppt_y+.1"/>
                                          </p:val>
                                        </p:tav>
                                      </p:tavLst>
                                    </p:anim>
                                    <p:anim calcmode="lin" valueType="num">
                                      <p:cBhvr>
                                        <p:cTn id="57" dur="500" accel="50000" fill="hold">
                                          <p:stCondLst>
                                            <p:cond delay="500"/>
                                          </p:stCondLst>
                                        </p:cTn>
                                        <p:tgtEl>
                                          <p:spTgt spid="12"/>
                                        </p:tgtEl>
                                        <p:attrNameLst>
                                          <p:attrName>ppt_y</p:attrName>
                                        </p:attrNameLst>
                                      </p:cBhvr>
                                      <p:tavLst>
                                        <p:tav tm="0">
                                          <p:val>
                                            <p:strVal val="#ppt_y+.1"/>
                                          </p:val>
                                        </p:tav>
                                        <p:tav tm="100000">
                                          <p:val>
                                            <p:strVal val="#ppt_y"/>
                                          </p:val>
                                        </p:tav>
                                      </p:tavLst>
                                    </p:anim>
                                    <p:animEffect transition="in" filter="fade">
                                      <p:cBhvr>
                                        <p:cTn id="58" dur="1000" decel="50000">
                                          <p:stCondLst>
                                            <p:cond delay="0"/>
                                          </p:stCondLst>
                                        </p:cTn>
                                        <p:tgtEl>
                                          <p:spTgt spid="12"/>
                                        </p:tgtEl>
                                      </p:cBhvr>
                                    </p:animEffect>
                                  </p:childTnLst>
                                </p:cTn>
                              </p:par>
                              <p:par>
                                <p:cTn id="59" presetID="25" presetClass="entr" presetSubtype="0" fill="hold" nodeType="with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p:cTn id="61" dur="500" decel="50000" fill="hold">
                                          <p:stCondLst>
                                            <p:cond delay="0"/>
                                          </p:stCondLst>
                                        </p:cTn>
                                        <p:tgtEl>
                                          <p:spTgt spid="13"/>
                                        </p:tgtEl>
                                        <p:attrNameLst>
                                          <p:attrName>style.rotation</p:attrName>
                                        </p:attrNameLst>
                                      </p:cBhvr>
                                      <p:tavLst>
                                        <p:tav tm="0">
                                          <p:val>
                                            <p:fltVal val="-90"/>
                                          </p:val>
                                        </p:tav>
                                        <p:tav tm="100000">
                                          <p:val>
                                            <p:fltVal val="0"/>
                                          </p:val>
                                        </p:tav>
                                      </p:tavLst>
                                    </p:anim>
                                    <p:anim calcmode="lin" valueType="num">
                                      <p:cBhvr>
                                        <p:cTn id="62" dur="500" decel="50000" fill="hold">
                                          <p:stCondLst>
                                            <p:cond delay="0"/>
                                          </p:stCondLst>
                                        </p:cTn>
                                        <p:tgtEl>
                                          <p:spTgt spid="13"/>
                                        </p:tgtEl>
                                        <p:attrNameLst>
                                          <p:attrName>ppt_w</p:attrName>
                                        </p:attrNameLst>
                                      </p:cBhvr>
                                      <p:tavLst>
                                        <p:tav tm="0">
                                          <p:val>
                                            <p:strVal val="#ppt_w"/>
                                          </p:val>
                                        </p:tav>
                                        <p:tav tm="100000">
                                          <p:val>
                                            <p:strVal val="#ppt_w*.05"/>
                                          </p:val>
                                        </p:tav>
                                      </p:tavLst>
                                    </p:anim>
                                    <p:anim calcmode="lin" valueType="num">
                                      <p:cBhvr>
                                        <p:cTn id="63" dur="500" accel="50000" fill="hold">
                                          <p:stCondLst>
                                            <p:cond delay="500"/>
                                          </p:stCondLst>
                                        </p:cTn>
                                        <p:tgtEl>
                                          <p:spTgt spid="13"/>
                                        </p:tgtEl>
                                        <p:attrNameLst>
                                          <p:attrName>ppt_w</p:attrName>
                                        </p:attrNameLst>
                                      </p:cBhvr>
                                      <p:tavLst>
                                        <p:tav tm="0">
                                          <p:val>
                                            <p:strVal val="#ppt_w*.05"/>
                                          </p:val>
                                        </p:tav>
                                        <p:tav tm="100000">
                                          <p:val>
                                            <p:strVal val="#ppt_w"/>
                                          </p:val>
                                        </p:tav>
                                      </p:tavLst>
                                    </p:anim>
                                    <p:anim calcmode="lin" valueType="num">
                                      <p:cBhvr>
                                        <p:cTn id="64" dur="1000" fill="hold"/>
                                        <p:tgtEl>
                                          <p:spTgt spid="13"/>
                                        </p:tgtEl>
                                        <p:attrNameLst>
                                          <p:attrName>ppt_h</p:attrName>
                                        </p:attrNameLst>
                                      </p:cBhvr>
                                      <p:tavLst>
                                        <p:tav tm="0">
                                          <p:val>
                                            <p:strVal val="#ppt_h"/>
                                          </p:val>
                                        </p:tav>
                                        <p:tav tm="100000">
                                          <p:val>
                                            <p:strVal val="#ppt_h"/>
                                          </p:val>
                                        </p:tav>
                                      </p:tavLst>
                                    </p:anim>
                                    <p:anim calcmode="lin" valueType="num">
                                      <p:cBhvr>
                                        <p:cTn id="65" dur="500" decel="50000" fill="hold">
                                          <p:stCondLst>
                                            <p:cond delay="0"/>
                                          </p:stCondLst>
                                        </p:cTn>
                                        <p:tgtEl>
                                          <p:spTgt spid="13"/>
                                        </p:tgtEl>
                                        <p:attrNameLst>
                                          <p:attrName>ppt_x</p:attrName>
                                        </p:attrNameLst>
                                      </p:cBhvr>
                                      <p:tavLst>
                                        <p:tav tm="0">
                                          <p:val>
                                            <p:strVal val="#ppt_x+.4"/>
                                          </p:val>
                                        </p:tav>
                                        <p:tav tm="100000">
                                          <p:val>
                                            <p:strVal val="#ppt_x"/>
                                          </p:val>
                                        </p:tav>
                                      </p:tavLst>
                                    </p:anim>
                                    <p:anim calcmode="lin" valueType="num">
                                      <p:cBhvr>
                                        <p:cTn id="66" dur="500" decel="50000" fill="hold">
                                          <p:stCondLst>
                                            <p:cond delay="0"/>
                                          </p:stCondLst>
                                        </p:cTn>
                                        <p:tgtEl>
                                          <p:spTgt spid="13"/>
                                        </p:tgtEl>
                                        <p:attrNameLst>
                                          <p:attrName>ppt_y</p:attrName>
                                        </p:attrNameLst>
                                      </p:cBhvr>
                                      <p:tavLst>
                                        <p:tav tm="0">
                                          <p:val>
                                            <p:strVal val="#ppt_y-.2"/>
                                          </p:val>
                                        </p:tav>
                                        <p:tav tm="100000">
                                          <p:val>
                                            <p:strVal val="#ppt_y+.1"/>
                                          </p:val>
                                        </p:tav>
                                      </p:tavLst>
                                    </p:anim>
                                    <p:anim calcmode="lin" valueType="num">
                                      <p:cBhvr>
                                        <p:cTn id="67" dur="500" accel="50000" fill="hold">
                                          <p:stCondLst>
                                            <p:cond delay="500"/>
                                          </p:stCondLst>
                                        </p:cTn>
                                        <p:tgtEl>
                                          <p:spTgt spid="13"/>
                                        </p:tgtEl>
                                        <p:attrNameLst>
                                          <p:attrName>ppt_y</p:attrName>
                                        </p:attrNameLst>
                                      </p:cBhvr>
                                      <p:tavLst>
                                        <p:tav tm="0">
                                          <p:val>
                                            <p:strVal val="#ppt_y+.1"/>
                                          </p:val>
                                        </p:tav>
                                        <p:tav tm="100000">
                                          <p:val>
                                            <p:strVal val="#ppt_y"/>
                                          </p:val>
                                        </p:tav>
                                      </p:tavLst>
                                    </p:anim>
                                    <p:animEffect transition="in" filter="fade">
                                      <p:cBhvr>
                                        <p:cTn id="68" dur="1000" decel="50000">
                                          <p:stCondLst>
                                            <p:cond delay="0"/>
                                          </p:stCondLst>
                                        </p:cTn>
                                        <p:tgtEl>
                                          <p:spTgt spid="13"/>
                                        </p:tgtEl>
                                      </p:cBhvr>
                                    </p:animEffect>
                                  </p:childTnLst>
                                </p:cTn>
                              </p:par>
                              <p:par>
                                <p:cTn id="69" presetID="25" presetClass="entr" presetSubtype="0" fill="hold" nodeType="withEffect">
                                  <p:stCondLst>
                                    <p:cond delay="0"/>
                                  </p:stCondLst>
                                  <p:childTnLst>
                                    <p:set>
                                      <p:cBhvr>
                                        <p:cTn id="70" dur="1" fill="hold">
                                          <p:stCondLst>
                                            <p:cond delay="0"/>
                                          </p:stCondLst>
                                        </p:cTn>
                                        <p:tgtEl>
                                          <p:spTgt spid="14"/>
                                        </p:tgtEl>
                                        <p:attrNameLst>
                                          <p:attrName>style.visibility</p:attrName>
                                        </p:attrNameLst>
                                      </p:cBhvr>
                                      <p:to>
                                        <p:strVal val="visible"/>
                                      </p:to>
                                    </p:set>
                                    <p:anim calcmode="lin" valueType="num">
                                      <p:cBhvr>
                                        <p:cTn id="71" dur="500" decel="50000" fill="hold">
                                          <p:stCondLst>
                                            <p:cond delay="0"/>
                                          </p:stCondLst>
                                        </p:cTn>
                                        <p:tgtEl>
                                          <p:spTgt spid="14"/>
                                        </p:tgtEl>
                                        <p:attrNameLst>
                                          <p:attrName>style.rotation</p:attrName>
                                        </p:attrNameLst>
                                      </p:cBhvr>
                                      <p:tavLst>
                                        <p:tav tm="0">
                                          <p:val>
                                            <p:fltVal val="-90"/>
                                          </p:val>
                                        </p:tav>
                                        <p:tav tm="100000">
                                          <p:val>
                                            <p:fltVal val="0"/>
                                          </p:val>
                                        </p:tav>
                                      </p:tavLst>
                                    </p:anim>
                                    <p:anim calcmode="lin" valueType="num">
                                      <p:cBhvr>
                                        <p:cTn id="72" dur="500" decel="50000" fill="hold">
                                          <p:stCondLst>
                                            <p:cond delay="0"/>
                                          </p:stCondLst>
                                        </p:cTn>
                                        <p:tgtEl>
                                          <p:spTgt spid="14"/>
                                        </p:tgtEl>
                                        <p:attrNameLst>
                                          <p:attrName>ppt_w</p:attrName>
                                        </p:attrNameLst>
                                      </p:cBhvr>
                                      <p:tavLst>
                                        <p:tav tm="0">
                                          <p:val>
                                            <p:strVal val="#ppt_w"/>
                                          </p:val>
                                        </p:tav>
                                        <p:tav tm="100000">
                                          <p:val>
                                            <p:strVal val="#ppt_w*.05"/>
                                          </p:val>
                                        </p:tav>
                                      </p:tavLst>
                                    </p:anim>
                                    <p:anim calcmode="lin" valueType="num">
                                      <p:cBhvr>
                                        <p:cTn id="73" dur="500" accel="50000" fill="hold">
                                          <p:stCondLst>
                                            <p:cond delay="500"/>
                                          </p:stCondLst>
                                        </p:cTn>
                                        <p:tgtEl>
                                          <p:spTgt spid="14"/>
                                        </p:tgtEl>
                                        <p:attrNameLst>
                                          <p:attrName>ppt_w</p:attrName>
                                        </p:attrNameLst>
                                      </p:cBhvr>
                                      <p:tavLst>
                                        <p:tav tm="0">
                                          <p:val>
                                            <p:strVal val="#ppt_w*.05"/>
                                          </p:val>
                                        </p:tav>
                                        <p:tav tm="100000">
                                          <p:val>
                                            <p:strVal val="#ppt_w"/>
                                          </p:val>
                                        </p:tav>
                                      </p:tavLst>
                                    </p:anim>
                                    <p:anim calcmode="lin" valueType="num">
                                      <p:cBhvr>
                                        <p:cTn id="74" dur="1000" fill="hold"/>
                                        <p:tgtEl>
                                          <p:spTgt spid="14"/>
                                        </p:tgtEl>
                                        <p:attrNameLst>
                                          <p:attrName>ppt_h</p:attrName>
                                        </p:attrNameLst>
                                      </p:cBhvr>
                                      <p:tavLst>
                                        <p:tav tm="0">
                                          <p:val>
                                            <p:strVal val="#ppt_h"/>
                                          </p:val>
                                        </p:tav>
                                        <p:tav tm="100000">
                                          <p:val>
                                            <p:strVal val="#ppt_h"/>
                                          </p:val>
                                        </p:tav>
                                      </p:tavLst>
                                    </p:anim>
                                    <p:anim calcmode="lin" valueType="num">
                                      <p:cBhvr>
                                        <p:cTn id="75" dur="500" decel="50000" fill="hold">
                                          <p:stCondLst>
                                            <p:cond delay="0"/>
                                          </p:stCondLst>
                                        </p:cTn>
                                        <p:tgtEl>
                                          <p:spTgt spid="14"/>
                                        </p:tgtEl>
                                        <p:attrNameLst>
                                          <p:attrName>ppt_x</p:attrName>
                                        </p:attrNameLst>
                                      </p:cBhvr>
                                      <p:tavLst>
                                        <p:tav tm="0">
                                          <p:val>
                                            <p:strVal val="#ppt_x+.4"/>
                                          </p:val>
                                        </p:tav>
                                        <p:tav tm="100000">
                                          <p:val>
                                            <p:strVal val="#ppt_x"/>
                                          </p:val>
                                        </p:tav>
                                      </p:tavLst>
                                    </p:anim>
                                    <p:anim calcmode="lin" valueType="num">
                                      <p:cBhvr>
                                        <p:cTn id="76" dur="500" decel="50000" fill="hold">
                                          <p:stCondLst>
                                            <p:cond delay="0"/>
                                          </p:stCondLst>
                                        </p:cTn>
                                        <p:tgtEl>
                                          <p:spTgt spid="14"/>
                                        </p:tgtEl>
                                        <p:attrNameLst>
                                          <p:attrName>ppt_y</p:attrName>
                                        </p:attrNameLst>
                                      </p:cBhvr>
                                      <p:tavLst>
                                        <p:tav tm="0">
                                          <p:val>
                                            <p:strVal val="#ppt_y-.2"/>
                                          </p:val>
                                        </p:tav>
                                        <p:tav tm="100000">
                                          <p:val>
                                            <p:strVal val="#ppt_y+.1"/>
                                          </p:val>
                                        </p:tav>
                                      </p:tavLst>
                                    </p:anim>
                                    <p:anim calcmode="lin" valueType="num">
                                      <p:cBhvr>
                                        <p:cTn id="77" dur="500" accel="50000" fill="hold">
                                          <p:stCondLst>
                                            <p:cond delay="500"/>
                                          </p:stCondLst>
                                        </p:cTn>
                                        <p:tgtEl>
                                          <p:spTgt spid="14"/>
                                        </p:tgtEl>
                                        <p:attrNameLst>
                                          <p:attrName>ppt_y</p:attrName>
                                        </p:attrNameLst>
                                      </p:cBhvr>
                                      <p:tavLst>
                                        <p:tav tm="0">
                                          <p:val>
                                            <p:strVal val="#ppt_y+.1"/>
                                          </p:val>
                                        </p:tav>
                                        <p:tav tm="100000">
                                          <p:val>
                                            <p:strVal val="#ppt_y"/>
                                          </p:val>
                                        </p:tav>
                                      </p:tavLst>
                                    </p:anim>
                                    <p:animEffect transition="in" filter="fade">
                                      <p:cBhvr>
                                        <p:cTn id="78" dur="1000" decel="50000">
                                          <p:stCondLst>
                                            <p:cond delay="0"/>
                                          </p:stCondLst>
                                        </p:cTn>
                                        <p:tgtEl>
                                          <p:spTgt spid="14"/>
                                        </p:tgtEl>
                                      </p:cBhvr>
                                    </p:animEffect>
                                  </p:childTnLst>
                                </p:cTn>
                              </p:par>
                              <p:par>
                                <p:cTn id="79" presetID="25" presetClass="entr" presetSubtype="0" fill="hold" nodeType="withEffect">
                                  <p:stCondLst>
                                    <p:cond delay="0"/>
                                  </p:stCondLst>
                                  <p:childTnLst>
                                    <p:set>
                                      <p:cBhvr>
                                        <p:cTn id="80" dur="1" fill="hold">
                                          <p:stCondLst>
                                            <p:cond delay="0"/>
                                          </p:stCondLst>
                                        </p:cTn>
                                        <p:tgtEl>
                                          <p:spTgt spid="15"/>
                                        </p:tgtEl>
                                        <p:attrNameLst>
                                          <p:attrName>style.visibility</p:attrName>
                                        </p:attrNameLst>
                                      </p:cBhvr>
                                      <p:to>
                                        <p:strVal val="visible"/>
                                      </p:to>
                                    </p:set>
                                    <p:anim calcmode="lin" valueType="num">
                                      <p:cBhvr>
                                        <p:cTn id="81"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2"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83"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84" dur="1000" fill="hold"/>
                                        <p:tgtEl>
                                          <p:spTgt spid="15"/>
                                        </p:tgtEl>
                                        <p:attrNameLst>
                                          <p:attrName>ppt_h</p:attrName>
                                        </p:attrNameLst>
                                      </p:cBhvr>
                                      <p:tavLst>
                                        <p:tav tm="0">
                                          <p:val>
                                            <p:strVal val="#ppt_h"/>
                                          </p:val>
                                        </p:tav>
                                        <p:tav tm="100000">
                                          <p:val>
                                            <p:strVal val="#ppt_h"/>
                                          </p:val>
                                        </p:tav>
                                      </p:tavLst>
                                    </p:anim>
                                    <p:anim calcmode="lin" valueType="num">
                                      <p:cBhvr>
                                        <p:cTn id="85"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86"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87"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88" dur="1000" decel="50000">
                                          <p:stCondLst>
                                            <p:cond delay="0"/>
                                          </p:stCondLst>
                                        </p:cTn>
                                        <p:tgtEl>
                                          <p:spTgt spid="15"/>
                                        </p:tgtEl>
                                      </p:cBhvr>
                                    </p:animEffect>
                                  </p:childTnLst>
                                </p:cTn>
                              </p:par>
                              <p:par>
                                <p:cTn id="89" presetID="25" presetClass="entr" presetSubtype="0" fill="hold" nodeType="withEffect">
                                  <p:stCondLst>
                                    <p:cond delay="0"/>
                                  </p:stCondLst>
                                  <p:childTnLst>
                                    <p:set>
                                      <p:cBhvr>
                                        <p:cTn id="90" dur="1" fill="hold">
                                          <p:stCondLst>
                                            <p:cond delay="0"/>
                                          </p:stCondLst>
                                        </p:cTn>
                                        <p:tgtEl>
                                          <p:spTgt spid="16"/>
                                        </p:tgtEl>
                                        <p:attrNameLst>
                                          <p:attrName>style.visibility</p:attrName>
                                        </p:attrNameLst>
                                      </p:cBhvr>
                                      <p:to>
                                        <p:strVal val="visible"/>
                                      </p:to>
                                    </p:set>
                                    <p:anim calcmode="lin" valueType="num">
                                      <p:cBhvr>
                                        <p:cTn id="91" dur="5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92" dur="5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93" dur="5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94" dur="1000" fill="hold"/>
                                        <p:tgtEl>
                                          <p:spTgt spid="16"/>
                                        </p:tgtEl>
                                        <p:attrNameLst>
                                          <p:attrName>ppt_h</p:attrName>
                                        </p:attrNameLst>
                                      </p:cBhvr>
                                      <p:tavLst>
                                        <p:tav tm="0">
                                          <p:val>
                                            <p:strVal val="#ppt_h"/>
                                          </p:val>
                                        </p:tav>
                                        <p:tav tm="100000">
                                          <p:val>
                                            <p:strVal val="#ppt_h"/>
                                          </p:val>
                                        </p:tav>
                                      </p:tavLst>
                                    </p:anim>
                                    <p:anim calcmode="lin" valueType="num">
                                      <p:cBhvr>
                                        <p:cTn id="95" dur="5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96" dur="5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97" dur="5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98" dur="1000" decel="50000">
                                          <p:stCondLst>
                                            <p:cond delay="0"/>
                                          </p:stCondLst>
                                        </p:cTn>
                                        <p:tgtEl>
                                          <p:spTgt spid="16"/>
                                        </p:tgtEl>
                                      </p:cBhvr>
                                    </p:animEffect>
                                  </p:childTnLst>
                                </p:cTn>
                              </p:par>
                              <p:par>
                                <p:cTn id="99" presetID="25" presetClass="entr" presetSubtype="0" fill="hold" nodeType="withEffect">
                                  <p:stCondLst>
                                    <p:cond delay="0"/>
                                  </p:stCondLst>
                                  <p:childTnLst>
                                    <p:set>
                                      <p:cBhvr>
                                        <p:cTn id="100" dur="1" fill="hold">
                                          <p:stCondLst>
                                            <p:cond delay="0"/>
                                          </p:stCondLst>
                                        </p:cTn>
                                        <p:tgtEl>
                                          <p:spTgt spid="17"/>
                                        </p:tgtEl>
                                        <p:attrNameLst>
                                          <p:attrName>style.visibility</p:attrName>
                                        </p:attrNameLst>
                                      </p:cBhvr>
                                      <p:to>
                                        <p:strVal val="visible"/>
                                      </p:to>
                                    </p:set>
                                    <p:anim calcmode="lin" valueType="num">
                                      <p:cBhvr>
                                        <p:cTn id="101"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102"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103"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104" dur="1000" fill="hold"/>
                                        <p:tgtEl>
                                          <p:spTgt spid="17"/>
                                        </p:tgtEl>
                                        <p:attrNameLst>
                                          <p:attrName>ppt_h</p:attrName>
                                        </p:attrNameLst>
                                      </p:cBhvr>
                                      <p:tavLst>
                                        <p:tav tm="0">
                                          <p:val>
                                            <p:strVal val="#ppt_h"/>
                                          </p:val>
                                        </p:tav>
                                        <p:tav tm="100000">
                                          <p:val>
                                            <p:strVal val="#ppt_h"/>
                                          </p:val>
                                        </p:tav>
                                      </p:tavLst>
                                    </p:anim>
                                    <p:anim calcmode="lin" valueType="num">
                                      <p:cBhvr>
                                        <p:cTn id="105"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106"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107"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108" dur="1000" decel="50000">
                                          <p:stCondLst>
                                            <p:cond delay="0"/>
                                          </p:stCondLst>
                                        </p:cTn>
                                        <p:tgtEl>
                                          <p:spTgt spid="17"/>
                                        </p:tgtEl>
                                      </p:cBhvr>
                                    </p:animEffect>
                                  </p:childTnLst>
                                </p:cTn>
                              </p:par>
                            </p:childTnLst>
                          </p:cTn>
                        </p:par>
                      </p:childTnLst>
                    </p:cTn>
                  </p:par>
                  <p:par>
                    <p:cTn id="109" fill="hold">
                      <p:stCondLst>
                        <p:cond delay="indefinite"/>
                      </p:stCondLst>
                      <p:childTnLst>
                        <p:par>
                          <p:cTn id="110" fill="hold">
                            <p:stCondLst>
                              <p:cond delay="0"/>
                            </p:stCondLst>
                            <p:childTnLst>
                              <p:par>
                                <p:cTn id="111" presetID="29" presetClass="entr" presetSubtype="0" fill="hold" nodeType="clickEffect">
                                  <p:stCondLst>
                                    <p:cond delay="0"/>
                                  </p:stCondLst>
                                  <p:childTnLst>
                                    <p:set>
                                      <p:cBhvr>
                                        <p:cTn id="112" dur="1" fill="hold">
                                          <p:stCondLst>
                                            <p:cond delay="0"/>
                                          </p:stCondLst>
                                        </p:cTn>
                                        <p:tgtEl>
                                          <p:spTgt spid="18"/>
                                        </p:tgtEl>
                                        <p:attrNameLst>
                                          <p:attrName>style.visibility</p:attrName>
                                        </p:attrNameLst>
                                      </p:cBhvr>
                                      <p:to>
                                        <p:strVal val="visible"/>
                                      </p:to>
                                    </p:set>
                                    <p:anim calcmode="lin" valueType="num">
                                      <p:cBhvr>
                                        <p:cTn id="113" dur="1000" fill="hold"/>
                                        <p:tgtEl>
                                          <p:spTgt spid="18"/>
                                        </p:tgtEl>
                                        <p:attrNameLst>
                                          <p:attrName>ppt_x</p:attrName>
                                        </p:attrNameLst>
                                      </p:cBhvr>
                                      <p:tavLst>
                                        <p:tav tm="0">
                                          <p:val>
                                            <p:strVal val="#ppt_x-.2"/>
                                          </p:val>
                                        </p:tav>
                                        <p:tav tm="100000">
                                          <p:val>
                                            <p:strVal val="#ppt_x"/>
                                          </p:val>
                                        </p:tav>
                                      </p:tavLst>
                                    </p:anim>
                                    <p:anim calcmode="lin" valueType="num">
                                      <p:cBhvr>
                                        <p:cTn id="114" dur="1000" fill="hold"/>
                                        <p:tgtEl>
                                          <p:spTgt spid="18"/>
                                        </p:tgtEl>
                                        <p:attrNameLst>
                                          <p:attrName>ppt_y</p:attrName>
                                        </p:attrNameLst>
                                      </p:cBhvr>
                                      <p:tavLst>
                                        <p:tav tm="0">
                                          <p:val>
                                            <p:strVal val="#ppt_y"/>
                                          </p:val>
                                        </p:tav>
                                        <p:tav tm="100000">
                                          <p:val>
                                            <p:strVal val="#ppt_y"/>
                                          </p:val>
                                        </p:tav>
                                      </p:tavLst>
                                    </p:anim>
                                    <p:animEffect transition="in" filter="wipe(right)" prLst="gradientSize: 0.1">
                                      <p:cBhvr>
                                        <p:cTn id="115" dur="1000"/>
                                        <p:tgtEl>
                                          <p:spTgt spid="18"/>
                                        </p:tgtEl>
                                      </p:cBhvr>
                                    </p:animEffect>
                                  </p:childTnLst>
                                </p:cTn>
                              </p:par>
                            </p:childTnLst>
                          </p:cTn>
                        </p:par>
                      </p:childTnLst>
                    </p:cTn>
                  </p:par>
                  <p:par>
                    <p:cTn id="116" fill="hold">
                      <p:stCondLst>
                        <p:cond delay="indefinite"/>
                      </p:stCondLst>
                      <p:childTnLst>
                        <p:par>
                          <p:cTn id="117" fill="hold">
                            <p:stCondLst>
                              <p:cond delay="0"/>
                            </p:stCondLst>
                            <p:childTnLst>
                              <p:par>
                                <p:cTn id="118" presetID="29" presetClass="entr" presetSubtype="0" fill="hold" nodeType="clickEffect">
                                  <p:stCondLst>
                                    <p:cond delay="0"/>
                                  </p:stCondLst>
                                  <p:childTnLst>
                                    <p:set>
                                      <p:cBhvr>
                                        <p:cTn id="119" dur="1" fill="hold">
                                          <p:stCondLst>
                                            <p:cond delay="0"/>
                                          </p:stCondLst>
                                        </p:cTn>
                                        <p:tgtEl>
                                          <p:spTgt spid="19"/>
                                        </p:tgtEl>
                                        <p:attrNameLst>
                                          <p:attrName>style.visibility</p:attrName>
                                        </p:attrNameLst>
                                      </p:cBhvr>
                                      <p:to>
                                        <p:strVal val="visible"/>
                                      </p:to>
                                    </p:set>
                                    <p:anim calcmode="lin" valueType="num">
                                      <p:cBhvr>
                                        <p:cTn id="120" dur="1000" fill="hold"/>
                                        <p:tgtEl>
                                          <p:spTgt spid="19"/>
                                        </p:tgtEl>
                                        <p:attrNameLst>
                                          <p:attrName>ppt_x</p:attrName>
                                        </p:attrNameLst>
                                      </p:cBhvr>
                                      <p:tavLst>
                                        <p:tav tm="0">
                                          <p:val>
                                            <p:strVal val="#ppt_x-.2"/>
                                          </p:val>
                                        </p:tav>
                                        <p:tav tm="100000">
                                          <p:val>
                                            <p:strVal val="#ppt_x"/>
                                          </p:val>
                                        </p:tav>
                                      </p:tavLst>
                                    </p:anim>
                                    <p:anim calcmode="lin" valueType="num">
                                      <p:cBhvr>
                                        <p:cTn id="121" dur="1000" fill="hold"/>
                                        <p:tgtEl>
                                          <p:spTgt spid="19"/>
                                        </p:tgtEl>
                                        <p:attrNameLst>
                                          <p:attrName>ppt_y</p:attrName>
                                        </p:attrNameLst>
                                      </p:cBhvr>
                                      <p:tavLst>
                                        <p:tav tm="0">
                                          <p:val>
                                            <p:strVal val="#ppt_y"/>
                                          </p:val>
                                        </p:tav>
                                        <p:tav tm="100000">
                                          <p:val>
                                            <p:strVal val="#ppt_y"/>
                                          </p:val>
                                        </p:tav>
                                      </p:tavLst>
                                    </p:anim>
                                    <p:animEffect transition="in" filter="wipe(right)" prLst="gradientSize: 0.1">
                                      <p:cBhvr>
                                        <p:cTn id="122" dur="1000"/>
                                        <p:tgtEl>
                                          <p:spTgt spid="19"/>
                                        </p:tgtEl>
                                      </p:cBhvr>
                                    </p:animEffect>
                                  </p:childTnLst>
                                </p:cTn>
                              </p:par>
                            </p:childTnLst>
                          </p:cTn>
                        </p:par>
                      </p:childTnLst>
                    </p:cTn>
                  </p:par>
                  <p:par>
                    <p:cTn id="123" fill="hold">
                      <p:stCondLst>
                        <p:cond delay="indefinite"/>
                      </p:stCondLst>
                      <p:childTnLst>
                        <p:par>
                          <p:cTn id="124" fill="hold">
                            <p:stCondLst>
                              <p:cond delay="0"/>
                            </p:stCondLst>
                            <p:childTnLst>
                              <p:par>
                                <p:cTn id="125" presetID="29" presetClass="entr" presetSubtype="0" fill="hold" nodeType="clickEffect">
                                  <p:stCondLst>
                                    <p:cond delay="0"/>
                                  </p:stCondLst>
                                  <p:childTnLst>
                                    <p:set>
                                      <p:cBhvr>
                                        <p:cTn id="126" dur="1" fill="hold">
                                          <p:stCondLst>
                                            <p:cond delay="0"/>
                                          </p:stCondLst>
                                        </p:cTn>
                                        <p:tgtEl>
                                          <p:spTgt spid="20"/>
                                        </p:tgtEl>
                                        <p:attrNameLst>
                                          <p:attrName>style.visibility</p:attrName>
                                        </p:attrNameLst>
                                      </p:cBhvr>
                                      <p:to>
                                        <p:strVal val="visible"/>
                                      </p:to>
                                    </p:set>
                                    <p:anim calcmode="lin" valueType="num">
                                      <p:cBhvr>
                                        <p:cTn id="127" dur="1000" fill="hold"/>
                                        <p:tgtEl>
                                          <p:spTgt spid="20"/>
                                        </p:tgtEl>
                                        <p:attrNameLst>
                                          <p:attrName>ppt_x</p:attrName>
                                        </p:attrNameLst>
                                      </p:cBhvr>
                                      <p:tavLst>
                                        <p:tav tm="0">
                                          <p:val>
                                            <p:strVal val="#ppt_x-.2"/>
                                          </p:val>
                                        </p:tav>
                                        <p:tav tm="100000">
                                          <p:val>
                                            <p:strVal val="#ppt_x"/>
                                          </p:val>
                                        </p:tav>
                                      </p:tavLst>
                                    </p:anim>
                                    <p:anim calcmode="lin" valueType="num">
                                      <p:cBhvr>
                                        <p:cTn id="128" dur="1000" fill="hold"/>
                                        <p:tgtEl>
                                          <p:spTgt spid="20"/>
                                        </p:tgtEl>
                                        <p:attrNameLst>
                                          <p:attrName>ppt_y</p:attrName>
                                        </p:attrNameLst>
                                      </p:cBhvr>
                                      <p:tavLst>
                                        <p:tav tm="0">
                                          <p:val>
                                            <p:strVal val="#ppt_y"/>
                                          </p:val>
                                        </p:tav>
                                        <p:tav tm="100000">
                                          <p:val>
                                            <p:strVal val="#ppt_y"/>
                                          </p:val>
                                        </p:tav>
                                      </p:tavLst>
                                    </p:anim>
                                    <p:animEffect transition="in" filter="wipe(right)" prLst="gradientSize: 0.1">
                                      <p:cBhvr>
                                        <p:cTn id="129" dur="1000"/>
                                        <p:tgtEl>
                                          <p:spTgt spid="20"/>
                                        </p:tgtEl>
                                      </p:cBhvr>
                                    </p:animEffect>
                                  </p:childTnLst>
                                </p:cTn>
                              </p:par>
                            </p:childTnLst>
                          </p:cTn>
                        </p:par>
                      </p:childTnLst>
                    </p:cTn>
                  </p:par>
                  <p:par>
                    <p:cTn id="130" fill="hold">
                      <p:stCondLst>
                        <p:cond delay="indefinite"/>
                      </p:stCondLst>
                      <p:childTnLst>
                        <p:par>
                          <p:cTn id="131" fill="hold">
                            <p:stCondLst>
                              <p:cond delay="0"/>
                            </p:stCondLst>
                            <p:childTnLst>
                              <p:par>
                                <p:cTn id="132" presetID="20" presetClass="entr" presetSubtype="0" fill="hold" grpId="0" nodeType="clickEffect">
                                  <p:stCondLst>
                                    <p:cond delay="0"/>
                                  </p:stCondLst>
                                  <p:childTnLst>
                                    <p:set>
                                      <p:cBhvr>
                                        <p:cTn id="133" dur="1" fill="hold">
                                          <p:stCondLst>
                                            <p:cond delay="0"/>
                                          </p:stCondLst>
                                        </p:cTn>
                                        <p:tgtEl>
                                          <p:spTgt spid="22"/>
                                        </p:tgtEl>
                                        <p:attrNameLst>
                                          <p:attrName>style.visibility</p:attrName>
                                        </p:attrNameLst>
                                      </p:cBhvr>
                                      <p:to>
                                        <p:strVal val="visible"/>
                                      </p:to>
                                    </p:set>
                                    <p:animEffect transition="in" filter="wedge">
                                      <p:cBhvr>
                                        <p:cTn id="134"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animBg="1"/>
      <p:bldP spid="21"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533400" y="685800"/>
            <a:ext cx="8229600" cy="584775"/>
          </a:xfrm>
          <a:prstGeom prst="rect">
            <a:avLst/>
          </a:prstGeom>
        </p:spPr>
        <p:txBody>
          <a:bodyPr wrap="square">
            <a:spAutoFit/>
          </a:bodyPr>
          <a:lstStyle/>
          <a:p>
            <a:r>
              <a:rPr lang="en-US" sz="3200" dirty="0" smtClean="0"/>
              <a:t>7. Which of the statements are true?</a:t>
            </a:r>
            <a:endParaRPr lang="en-US" sz="3200" dirty="0"/>
          </a:p>
        </p:txBody>
      </p:sp>
      <p:sp>
        <p:nvSpPr>
          <p:cNvPr id="6" name="Rectangle 5"/>
          <p:cNvSpPr/>
          <p:nvPr/>
        </p:nvSpPr>
        <p:spPr>
          <a:xfrm>
            <a:off x="1702597" y="1320225"/>
            <a:ext cx="4551182" cy="584775"/>
          </a:xfrm>
          <a:prstGeom prst="rect">
            <a:avLst/>
          </a:prstGeom>
        </p:spPr>
        <p:txBody>
          <a:bodyPr wrap="none">
            <a:spAutoFit/>
          </a:bodyPr>
          <a:lstStyle/>
          <a:p>
            <a:r>
              <a:rPr lang="en-US" sz="3200" dirty="0" smtClean="0"/>
              <a:t>I. A square is a rectangle.</a:t>
            </a:r>
            <a:endParaRPr lang="en-US" sz="3200" dirty="0"/>
          </a:p>
        </p:txBody>
      </p:sp>
      <p:sp>
        <p:nvSpPr>
          <p:cNvPr id="7" name="Rectangle 6"/>
          <p:cNvSpPr/>
          <p:nvPr/>
        </p:nvSpPr>
        <p:spPr>
          <a:xfrm>
            <a:off x="1676839" y="1981200"/>
            <a:ext cx="4647362" cy="584775"/>
          </a:xfrm>
          <a:prstGeom prst="rect">
            <a:avLst/>
          </a:prstGeom>
        </p:spPr>
        <p:txBody>
          <a:bodyPr wrap="none">
            <a:spAutoFit/>
          </a:bodyPr>
          <a:lstStyle/>
          <a:p>
            <a:r>
              <a:rPr lang="en-US" sz="3200" dirty="0" smtClean="0"/>
              <a:t>II. A square is a rhombus.</a:t>
            </a:r>
            <a:endParaRPr lang="en-US" sz="3200" dirty="0"/>
          </a:p>
        </p:txBody>
      </p:sp>
      <p:sp>
        <p:nvSpPr>
          <p:cNvPr id="8" name="Rectangle 7"/>
          <p:cNvSpPr/>
          <p:nvPr/>
        </p:nvSpPr>
        <p:spPr>
          <a:xfrm>
            <a:off x="1702597" y="2667000"/>
            <a:ext cx="6069803" cy="584775"/>
          </a:xfrm>
          <a:prstGeom prst="rect">
            <a:avLst/>
          </a:prstGeom>
        </p:spPr>
        <p:txBody>
          <a:bodyPr wrap="none">
            <a:spAutoFit/>
          </a:bodyPr>
          <a:lstStyle/>
          <a:p>
            <a:r>
              <a:rPr lang="en-US" sz="3200" dirty="0" smtClean="0"/>
              <a:t>III. A parallelogram is a rhombus.</a:t>
            </a:r>
            <a:endParaRPr lang="en-US" sz="3200" dirty="0"/>
          </a:p>
        </p:txBody>
      </p:sp>
      <p:sp>
        <p:nvSpPr>
          <p:cNvPr id="9" name="Rectangle 8"/>
          <p:cNvSpPr/>
          <p:nvPr/>
        </p:nvSpPr>
        <p:spPr>
          <a:xfrm>
            <a:off x="1660231" y="3352800"/>
            <a:ext cx="6030369" cy="584775"/>
          </a:xfrm>
          <a:prstGeom prst="rect">
            <a:avLst/>
          </a:prstGeom>
        </p:spPr>
        <p:txBody>
          <a:bodyPr wrap="none">
            <a:spAutoFit/>
          </a:bodyPr>
          <a:lstStyle/>
          <a:p>
            <a:r>
              <a:rPr lang="en-US" sz="3200" dirty="0" smtClean="0"/>
              <a:t>IV. A rectangle is a parallelogram.</a:t>
            </a:r>
            <a:endParaRPr lang="en-US" sz="3200" dirty="0"/>
          </a:p>
        </p:txBody>
      </p:sp>
      <p:sp>
        <p:nvSpPr>
          <p:cNvPr id="10" name="Rectangle 9"/>
          <p:cNvSpPr/>
          <p:nvPr/>
        </p:nvSpPr>
        <p:spPr>
          <a:xfrm>
            <a:off x="1191627" y="4444425"/>
            <a:ext cx="2513830" cy="584775"/>
          </a:xfrm>
          <a:prstGeom prst="rect">
            <a:avLst/>
          </a:prstGeom>
        </p:spPr>
        <p:txBody>
          <a:bodyPr wrap="none">
            <a:spAutoFit/>
          </a:bodyPr>
          <a:lstStyle/>
          <a:p>
            <a:r>
              <a:rPr lang="en-US" sz="3200" dirty="0" smtClean="0"/>
              <a:t>a. I and II only</a:t>
            </a:r>
            <a:endParaRPr lang="en-US" sz="3200" dirty="0"/>
          </a:p>
        </p:txBody>
      </p:sp>
      <p:sp>
        <p:nvSpPr>
          <p:cNvPr id="11" name="Rectangle 10"/>
          <p:cNvSpPr/>
          <p:nvPr/>
        </p:nvSpPr>
        <p:spPr>
          <a:xfrm>
            <a:off x="1143000" y="5130225"/>
            <a:ext cx="2661306" cy="584775"/>
          </a:xfrm>
          <a:prstGeom prst="rect">
            <a:avLst/>
          </a:prstGeom>
        </p:spPr>
        <p:txBody>
          <a:bodyPr wrap="none">
            <a:spAutoFit/>
          </a:bodyPr>
          <a:lstStyle/>
          <a:p>
            <a:r>
              <a:rPr lang="en-US" sz="3200" dirty="0" smtClean="0"/>
              <a:t>b. I and IV only</a:t>
            </a:r>
            <a:endParaRPr lang="en-US" sz="3200" dirty="0"/>
          </a:p>
        </p:txBody>
      </p:sp>
      <p:sp>
        <p:nvSpPr>
          <p:cNvPr id="12" name="Rectangle 11"/>
          <p:cNvSpPr/>
          <p:nvPr/>
        </p:nvSpPr>
        <p:spPr>
          <a:xfrm>
            <a:off x="5105400" y="4444425"/>
            <a:ext cx="3021981" cy="584775"/>
          </a:xfrm>
          <a:prstGeom prst="rect">
            <a:avLst/>
          </a:prstGeom>
        </p:spPr>
        <p:txBody>
          <a:bodyPr wrap="none">
            <a:spAutoFit/>
          </a:bodyPr>
          <a:lstStyle/>
          <a:p>
            <a:r>
              <a:rPr lang="en-US" sz="3200" dirty="0" smtClean="0"/>
              <a:t>c. I, II and IV only</a:t>
            </a:r>
            <a:endParaRPr lang="en-US" sz="3200" dirty="0"/>
          </a:p>
        </p:txBody>
      </p:sp>
      <p:sp>
        <p:nvSpPr>
          <p:cNvPr id="13" name="Rectangle 12"/>
          <p:cNvSpPr/>
          <p:nvPr/>
        </p:nvSpPr>
        <p:spPr>
          <a:xfrm>
            <a:off x="5029200" y="5206425"/>
            <a:ext cx="2767104" cy="584775"/>
          </a:xfrm>
          <a:prstGeom prst="rect">
            <a:avLst/>
          </a:prstGeom>
        </p:spPr>
        <p:txBody>
          <a:bodyPr wrap="none">
            <a:spAutoFit/>
          </a:bodyPr>
          <a:lstStyle/>
          <a:p>
            <a:r>
              <a:rPr lang="en-US" sz="3200" dirty="0" smtClean="0"/>
              <a:t>d. I, II, III and IV</a:t>
            </a:r>
          </a:p>
        </p:txBody>
      </p:sp>
      <p:sp>
        <p:nvSpPr>
          <p:cNvPr id="14" name="Rounded Rectangle 13"/>
          <p:cNvSpPr/>
          <p:nvPr/>
        </p:nvSpPr>
        <p:spPr>
          <a:xfrm>
            <a:off x="5086350" y="4457700"/>
            <a:ext cx="3048000" cy="59055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4" presetClass="entr" presetSubtype="0" accel="10000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strVal val="#ppt_w*0.05"/>
                                          </p:val>
                                        </p:tav>
                                        <p:tav tm="100000">
                                          <p:val>
                                            <p:strVal val="#ppt_w"/>
                                          </p:val>
                                        </p:tav>
                                      </p:tavLst>
                                    </p:anim>
                                    <p:anim calcmode="lin" valueType="num">
                                      <p:cBhvr>
                                        <p:cTn id="14" dur="500" fill="hold"/>
                                        <p:tgtEl>
                                          <p:spTgt spid="6"/>
                                        </p:tgtEl>
                                        <p:attrNameLst>
                                          <p:attrName>ppt_h</p:attrName>
                                        </p:attrNameLst>
                                      </p:cBhvr>
                                      <p:tavLst>
                                        <p:tav tm="0">
                                          <p:val>
                                            <p:strVal val="#ppt_h"/>
                                          </p:val>
                                        </p:tav>
                                        <p:tav tm="100000">
                                          <p:val>
                                            <p:strVal val="#ppt_h"/>
                                          </p:val>
                                        </p:tav>
                                      </p:tavLst>
                                    </p:anim>
                                    <p:anim calcmode="lin" valueType="num">
                                      <p:cBhvr>
                                        <p:cTn id="15" dur="500" fill="hold"/>
                                        <p:tgtEl>
                                          <p:spTgt spid="6"/>
                                        </p:tgtEl>
                                        <p:attrNameLst>
                                          <p:attrName>ppt_x</p:attrName>
                                        </p:attrNameLst>
                                      </p:cBhvr>
                                      <p:tavLst>
                                        <p:tav tm="0">
                                          <p:val>
                                            <p:strVal val="#ppt_x-.2"/>
                                          </p:val>
                                        </p:tav>
                                        <p:tav tm="100000">
                                          <p:val>
                                            <p:strVal val="#ppt_x"/>
                                          </p:val>
                                        </p:tav>
                                      </p:tavLst>
                                    </p:anim>
                                    <p:anim calcmode="lin" valueType="num">
                                      <p:cBhvr>
                                        <p:cTn id="16" dur="500" fill="hold"/>
                                        <p:tgtEl>
                                          <p:spTgt spid="6"/>
                                        </p:tgtEl>
                                        <p:attrNameLst>
                                          <p:attrName>ppt_y</p:attrName>
                                        </p:attrNameLst>
                                      </p:cBhvr>
                                      <p:tavLst>
                                        <p:tav tm="0">
                                          <p:val>
                                            <p:strVal val="#ppt_y"/>
                                          </p:val>
                                        </p:tav>
                                        <p:tav tm="100000">
                                          <p:val>
                                            <p:strVal val="#ppt_y"/>
                                          </p:val>
                                        </p:tav>
                                      </p:tavLst>
                                    </p:anim>
                                    <p:animEffect transition="in" filter="fade">
                                      <p:cBhvr>
                                        <p:cTn id="17" dur="500"/>
                                        <p:tgtEl>
                                          <p:spTgt spid="6"/>
                                        </p:tgtEl>
                                      </p:cBhvr>
                                    </p:animEffect>
                                  </p:childTnLst>
                                </p:cTn>
                              </p:par>
                              <p:par>
                                <p:cTn id="18" presetID="54" presetClass="entr" presetSubtype="0" accel="10000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p:cTn id="20" dur="500" fill="hold"/>
                                        <p:tgtEl>
                                          <p:spTgt spid="7"/>
                                        </p:tgtEl>
                                        <p:attrNameLst>
                                          <p:attrName>ppt_w</p:attrName>
                                        </p:attrNameLst>
                                      </p:cBhvr>
                                      <p:tavLst>
                                        <p:tav tm="0">
                                          <p:val>
                                            <p:strVal val="#ppt_w*0.05"/>
                                          </p:val>
                                        </p:tav>
                                        <p:tav tm="100000">
                                          <p:val>
                                            <p:strVal val="#ppt_w"/>
                                          </p:val>
                                        </p:tav>
                                      </p:tavLst>
                                    </p:anim>
                                    <p:anim calcmode="lin" valueType="num">
                                      <p:cBhvr>
                                        <p:cTn id="21" dur="500" fill="hold"/>
                                        <p:tgtEl>
                                          <p:spTgt spid="7"/>
                                        </p:tgtEl>
                                        <p:attrNameLst>
                                          <p:attrName>ppt_h</p:attrName>
                                        </p:attrNameLst>
                                      </p:cBhvr>
                                      <p:tavLst>
                                        <p:tav tm="0">
                                          <p:val>
                                            <p:strVal val="#ppt_h"/>
                                          </p:val>
                                        </p:tav>
                                        <p:tav tm="100000">
                                          <p:val>
                                            <p:strVal val="#ppt_h"/>
                                          </p:val>
                                        </p:tav>
                                      </p:tavLst>
                                    </p:anim>
                                    <p:anim calcmode="lin" valueType="num">
                                      <p:cBhvr>
                                        <p:cTn id="22" dur="500" fill="hold"/>
                                        <p:tgtEl>
                                          <p:spTgt spid="7"/>
                                        </p:tgtEl>
                                        <p:attrNameLst>
                                          <p:attrName>ppt_x</p:attrName>
                                        </p:attrNameLst>
                                      </p:cBhvr>
                                      <p:tavLst>
                                        <p:tav tm="0">
                                          <p:val>
                                            <p:strVal val="#ppt_x-.2"/>
                                          </p:val>
                                        </p:tav>
                                        <p:tav tm="100000">
                                          <p:val>
                                            <p:strVal val="#ppt_x"/>
                                          </p:val>
                                        </p:tav>
                                      </p:tavLst>
                                    </p:anim>
                                    <p:anim calcmode="lin" valueType="num">
                                      <p:cBhvr>
                                        <p:cTn id="23" dur="500" fill="hold"/>
                                        <p:tgtEl>
                                          <p:spTgt spid="7"/>
                                        </p:tgtEl>
                                        <p:attrNameLst>
                                          <p:attrName>ppt_y</p:attrName>
                                        </p:attrNameLst>
                                      </p:cBhvr>
                                      <p:tavLst>
                                        <p:tav tm="0">
                                          <p:val>
                                            <p:strVal val="#ppt_y"/>
                                          </p:val>
                                        </p:tav>
                                        <p:tav tm="100000">
                                          <p:val>
                                            <p:strVal val="#ppt_y"/>
                                          </p:val>
                                        </p:tav>
                                      </p:tavLst>
                                    </p:anim>
                                    <p:animEffect transition="in" filter="fade">
                                      <p:cBhvr>
                                        <p:cTn id="24" dur="500"/>
                                        <p:tgtEl>
                                          <p:spTgt spid="7"/>
                                        </p:tgtEl>
                                      </p:cBhvr>
                                    </p:animEffect>
                                  </p:childTnLst>
                                </p:cTn>
                              </p:par>
                              <p:par>
                                <p:cTn id="25" presetID="54" presetClass="entr" presetSubtype="0" accel="10000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strVal val="#ppt_w*0.05"/>
                                          </p:val>
                                        </p:tav>
                                        <p:tav tm="100000">
                                          <p:val>
                                            <p:strVal val="#ppt_w"/>
                                          </p:val>
                                        </p:tav>
                                      </p:tavLst>
                                    </p:anim>
                                    <p:anim calcmode="lin" valueType="num">
                                      <p:cBhvr>
                                        <p:cTn id="28" dur="500" fill="hold"/>
                                        <p:tgtEl>
                                          <p:spTgt spid="8"/>
                                        </p:tgtEl>
                                        <p:attrNameLst>
                                          <p:attrName>ppt_h</p:attrName>
                                        </p:attrNameLst>
                                      </p:cBhvr>
                                      <p:tavLst>
                                        <p:tav tm="0">
                                          <p:val>
                                            <p:strVal val="#ppt_h"/>
                                          </p:val>
                                        </p:tav>
                                        <p:tav tm="100000">
                                          <p:val>
                                            <p:strVal val="#ppt_h"/>
                                          </p:val>
                                        </p:tav>
                                      </p:tavLst>
                                    </p:anim>
                                    <p:anim calcmode="lin" valueType="num">
                                      <p:cBhvr>
                                        <p:cTn id="29" dur="500" fill="hold"/>
                                        <p:tgtEl>
                                          <p:spTgt spid="8"/>
                                        </p:tgtEl>
                                        <p:attrNameLst>
                                          <p:attrName>ppt_x</p:attrName>
                                        </p:attrNameLst>
                                      </p:cBhvr>
                                      <p:tavLst>
                                        <p:tav tm="0">
                                          <p:val>
                                            <p:strVal val="#ppt_x-.2"/>
                                          </p:val>
                                        </p:tav>
                                        <p:tav tm="100000">
                                          <p:val>
                                            <p:strVal val="#ppt_x"/>
                                          </p:val>
                                        </p:tav>
                                      </p:tavLst>
                                    </p:anim>
                                    <p:anim calcmode="lin" valueType="num">
                                      <p:cBhvr>
                                        <p:cTn id="30" dur="500" fill="hold"/>
                                        <p:tgtEl>
                                          <p:spTgt spid="8"/>
                                        </p:tgtEl>
                                        <p:attrNameLst>
                                          <p:attrName>ppt_y</p:attrName>
                                        </p:attrNameLst>
                                      </p:cBhvr>
                                      <p:tavLst>
                                        <p:tav tm="0">
                                          <p:val>
                                            <p:strVal val="#ppt_y"/>
                                          </p:val>
                                        </p:tav>
                                        <p:tav tm="100000">
                                          <p:val>
                                            <p:strVal val="#ppt_y"/>
                                          </p:val>
                                        </p:tav>
                                      </p:tavLst>
                                    </p:anim>
                                    <p:animEffect transition="in" filter="fade">
                                      <p:cBhvr>
                                        <p:cTn id="31" dur="500"/>
                                        <p:tgtEl>
                                          <p:spTgt spid="8"/>
                                        </p:tgtEl>
                                      </p:cBhvr>
                                    </p:animEffect>
                                  </p:childTnLst>
                                </p:cTn>
                              </p:par>
                              <p:par>
                                <p:cTn id="32" presetID="54" presetClass="entr" presetSubtype="0" accel="10000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strVal val="#ppt_w*0.05"/>
                                          </p:val>
                                        </p:tav>
                                        <p:tav tm="100000">
                                          <p:val>
                                            <p:strVal val="#ppt_w"/>
                                          </p:val>
                                        </p:tav>
                                      </p:tavLst>
                                    </p:anim>
                                    <p:anim calcmode="lin" valueType="num">
                                      <p:cBhvr>
                                        <p:cTn id="35" dur="500" fill="hold"/>
                                        <p:tgtEl>
                                          <p:spTgt spid="9"/>
                                        </p:tgtEl>
                                        <p:attrNameLst>
                                          <p:attrName>ppt_h</p:attrName>
                                        </p:attrNameLst>
                                      </p:cBhvr>
                                      <p:tavLst>
                                        <p:tav tm="0">
                                          <p:val>
                                            <p:strVal val="#ppt_h"/>
                                          </p:val>
                                        </p:tav>
                                        <p:tav tm="100000">
                                          <p:val>
                                            <p:strVal val="#ppt_h"/>
                                          </p:val>
                                        </p:tav>
                                      </p:tavLst>
                                    </p:anim>
                                    <p:anim calcmode="lin" valueType="num">
                                      <p:cBhvr>
                                        <p:cTn id="36" dur="500" fill="hold"/>
                                        <p:tgtEl>
                                          <p:spTgt spid="9"/>
                                        </p:tgtEl>
                                        <p:attrNameLst>
                                          <p:attrName>ppt_x</p:attrName>
                                        </p:attrNameLst>
                                      </p:cBhvr>
                                      <p:tavLst>
                                        <p:tav tm="0">
                                          <p:val>
                                            <p:strVal val="#ppt_x-.2"/>
                                          </p:val>
                                        </p:tav>
                                        <p:tav tm="100000">
                                          <p:val>
                                            <p:strVal val="#ppt_x"/>
                                          </p:val>
                                        </p:tav>
                                      </p:tavLst>
                                    </p:anim>
                                    <p:anim calcmode="lin" valueType="num">
                                      <p:cBhvr>
                                        <p:cTn id="37" dur="500" fill="hold"/>
                                        <p:tgtEl>
                                          <p:spTgt spid="9"/>
                                        </p:tgtEl>
                                        <p:attrNameLst>
                                          <p:attrName>ppt_y</p:attrName>
                                        </p:attrNameLst>
                                      </p:cBhvr>
                                      <p:tavLst>
                                        <p:tav tm="0">
                                          <p:val>
                                            <p:strVal val="#ppt_y"/>
                                          </p:val>
                                        </p:tav>
                                        <p:tav tm="100000">
                                          <p:val>
                                            <p:strVal val="#ppt_y"/>
                                          </p:val>
                                        </p:tav>
                                      </p:tavLst>
                                    </p:anim>
                                    <p:animEffect transition="in" filter="fade">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slide(fromBottom)">
                                      <p:cBhvr>
                                        <p:cTn id="43" dur="500"/>
                                        <p:tgtEl>
                                          <p:spTgt spid="10"/>
                                        </p:tgtEl>
                                      </p:cBhvr>
                                    </p:animEffect>
                                  </p:childTnLst>
                                </p:cTn>
                              </p:par>
                              <p:par>
                                <p:cTn id="44" presetID="12" presetClass="entr" presetSubtype="4"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slide(fromBottom)">
                                      <p:cBhvr>
                                        <p:cTn id="46" dur="500"/>
                                        <p:tgtEl>
                                          <p:spTgt spid="11"/>
                                        </p:tgtEl>
                                      </p:cBhvr>
                                    </p:animEffect>
                                  </p:childTnLst>
                                </p:cTn>
                              </p:par>
                              <p:par>
                                <p:cTn id="47" presetID="12" presetClass="entr" presetSubtype="4"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slide(fromBottom)">
                                      <p:cBhvr>
                                        <p:cTn id="49" dur="500"/>
                                        <p:tgtEl>
                                          <p:spTgt spid="12"/>
                                        </p:tgtEl>
                                      </p:cBhvr>
                                    </p:animEffect>
                                  </p:childTnLst>
                                </p:cTn>
                              </p:par>
                              <p:par>
                                <p:cTn id="50" presetID="12" presetClass="entr" presetSubtype="4"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slide(fromBottom)">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edge">
                                      <p:cBhvr>
                                        <p:cTn id="5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2" grpId="0"/>
      <p:bldP spid="13" grpId="0"/>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09600" y="762000"/>
            <a:ext cx="8229600" cy="1569660"/>
          </a:xfrm>
          <a:prstGeom prst="rect">
            <a:avLst/>
          </a:prstGeom>
        </p:spPr>
        <p:txBody>
          <a:bodyPr wrap="square">
            <a:spAutoFit/>
          </a:bodyPr>
          <a:lstStyle/>
          <a:p>
            <a:r>
              <a:rPr lang="en-US" sz="3200" dirty="0" smtClean="0"/>
              <a:t>8. In the figure, if lines r and s are parallel,</a:t>
            </a:r>
          </a:p>
          <a:p>
            <a:r>
              <a:rPr lang="en-US" sz="3200" dirty="0" smtClean="0"/>
              <a:t>    which of the following pairs of angles are</a:t>
            </a:r>
          </a:p>
          <a:p>
            <a:r>
              <a:rPr lang="en-US" sz="3200" dirty="0" smtClean="0"/>
              <a:t>    congruent?</a:t>
            </a:r>
            <a:endParaRPr lang="en-US" sz="3200" dirty="0"/>
          </a:p>
        </p:txBody>
      </p:sp>
      <p:cxnSp>
        <p:nvCxnSpPr>
          <p:cNvPr id="6" name="AutoShape 2"/>
          <p:cNvCxnSpPr>
            <a:cxnSpLocks noChangeShapeType="1"/>
          </p:cNvCxnSpPr>
          <p:nvPr/>
        </p:nvCxnSpPr>
        <p:spPr bwMode="auto">
          <a:xfrm rot="5400000" flipH="1" flipV="1">
            <a:off x="4572000" y="2590800"/>
            <a:ext cx="1828800" cy="1828800"/>
          </a:xfrm>
          <a:prstGeom prst="straightConnector1">
            <a:avLst/>
          </a:prstGeom>
          <a:noFill/>
          <a:ln w="38100">
            <a:solidFill>
              <a:schemeClr val="tx1"/>
            </a:solidFill>
            <a:round/>
            <a:headEnd type="triangle" w="med" len="med"/>
            <a:tailEnd type="triangle" w="med" len="med"/>
          </a:ln>
        </p:spPr>
      </p:cxnSp>
      <p:cxnSp>
        <p:nvCxnSpPr>
          <p:cNvPr id="7" name="AutoShape 3"/>
          <p:cNvCxnSpPr>
            <a:cxnSpLocks noChangeShapeType="1"/>
          </p:cNvCxnSpPr>
          <p:nvPr/>
        </p:nvCxnSpPr>
        <p:spPr bwMode="auto">
          <a:xfrm>
            <a:off x="1905000" y="3352800"/>
            <a:ext cx="4873625" cy="42863"/>
          </a:xfrm>
          <a:prstGeom prst="straightConnector1">
            <a:avLst/>
          </a:prstGeom>
          <a:noFill/>
          <a:ln w="38100">
            <a:solidFill>
              <a:schemeClr val="tx1"/>
            </a:solidFill>
            <a:round/>
            <a:headEnd type="triangle" w="med" len="med"/>
            <a:tailEnd type="triangle" w="med" len="med"/>
          </a:ln>
        </p:spPr>
      </p:cxnSp>
      <p:cxnSp>
        <p:nvCxnSpPr>
          <p:cNvPr id="8" name="AutoShape 4"/>
          <p:cNvCxnSpPr>
            <a:cxnSpLocks noChangeShapeType="1"/>
          </p:cNvCxnSpPr>
          <p:nvPr/>
        </p:nvCxnSpPr>
        <p:spPr bwMode="auto">
          <a:xfrm flipV="1">
            <a:off x="2490787" y="2514600"/>
            <a:ext cx="1876425" cy="1674814"/>
          </a:xfrm>
          <a:prstGeom prst="straightConnector1">
            <a:avLst/>
          </a:prstGeom>
          <a:noFill/>
          <a:ln w="38100">
            <a:solidFill>
              <a:schemeClr val="tx1"/>
            </a:solidFill>
            <a:round/>
            <a:headEnd type="triangle" w="med" len="med"/>
            <a:tailEnd type="triangle" w="med" len="med"/>
          </a:ln>
        </p:spPr>
      </p:cxnSp>
      <p:sp>
        <p:nvSpPr>
          <p:cNvPr id="9" name="Rectangle 8"/>
          <p:cNvSpPr/>
          <p:nvPr/>
        </p:nvSpPr>
        <p:spPr>
          <a:xfrm>
            <a:off x="4343400" y="2209800"/>
            <a:ext cx="280846" cy="369332"/>
          </a:xfrm>
          <a:prstGeom prst="rect">
            <a:avLst/>
          </a:prstGeom>
        </p:spPr>
        <p:txBody>
          <a:bodyPr wrap="none">
            <a:spAutoFit/>
          </a:bodyPr>
          <a:lstStyle/>
          <a:p>
            <a:r>
              <a:rPr lang="en-US" dirty="0" smtClean="0"/>
              <a:t>r</a:t>
            </a:r>
            <a:endParaRPr lang="en-US" dirty="0"/>
          </a:p>
        </p:txBody>
      </p:sp>
      <p:sp>
        <p:nvSpPr>
          <p:cNvPr id="10" name="Rectangle 9"/>
          <p:cNvSpPr/>
          <p:nvPr/>
        </p:nvSpPr>
        <p:spPr>
          <a:xfrm>
            <a:off x="6400800" y="2297668"/>
            <a:ext cx="277640" cy="369332"/>
          </a:xfrm>
          <a:prstGeom prst="rect">
            <a:avLst/>
          </a:prstGeom>
        </p:spPr>
        <p:txBody>
          <a:bodyPr wrap="none">
            <a:spAutoFit/>
          </a:bodyPr>
          <a:lstStyle/>
          <a:p>
            <a:r>
              <a:rPr lang="en-US" dirty="0" smtClean="0"/>
              <a:t>s</a:t>
            </a:r>
            <a:endParaRPr lang="en-US" dirty="0"/>
          </a:p>
        </p:txBody>
      </p:sp>
      <p:sp>
        <p:nvSpPr>
          <p:cNvPr id="11" name="Rectangle 10"/>
          <p:cNvSpPr/>
          <p:nvPr/>
        </p:nvSpPr>
        <p:spPr>
          <a:xfrm>
            <a:off x="1575204" y="3059668"/>
            <a:ext cx="266420" cy="369332"/>
          </a:xfrm>
          <a:prstGeom prst="rect">
            <a:avLst/>
          </a:prstGeom>
        </p:spPr>
        <p:txBody>
          <a:bodyPr wrap="none">
            <a:spAutoFit/>
          </a:bodyPr>
          <a:lstStyle/>
          <a:p>
            <a:r>
              <a:rPr lang="en-US" dirty="0" smtClean="0"/>
              <a:t>t</a:t>
            </a:r>
            <a:endParaRPr lang="en-US" dirty="0"/>
          </a:p>
        </p:txBody>
      </p:sp>
      <p:sp>
        <p:nvSpPr>
          <p:cNvPr id="12" name="Rectangle 11"/>
          <p:cNvSpPr/>
          <p:nvPr/>
        </p:nvSpPr>
        <p:spPr>
          <a:xfrm>
            <a:off x="3124200" y="2983468"/>
            <a:ext cx="256802" cy="369332"/>
          </a:xfrm>
          <a:prstGeom prst="rect">
            <a:avLst/>
          </a:prstGeom>
        </p:spPr>
        <p:txBody>
          <a:bodyPr wrap="none">
            <a:spAutoFit/>
          </a:bodyPr>
          <a:lstStyle/>
          <a:p>
            <a:r>
              <a:rPr lang="en-US" dirty="0" smtClean="0"/>
              <a:t>1</a:t>
            </a:r>
            <a:endParaRPr lang="en-US" dirty="0"/>
          </a:p>
        </p:txBody>
      </p:sp>
      <p:sp>
        <p:nvSpPr>
          <p:cNvPr id="13" name="Rectangle 12"/>
          <p:cNvSpPr/>
          <p:nvPr/>
        </p:nvSpPr>
        <p:spPr>
          <a:xfrm>
            <a:off x="2590800" y="3352800"/>
            <a:ext cx="296876" cy="369332"/>
          </a:xfrm>
          <a:prstGeom prst="rect">
            <a:avLst/>
          </a:prstGeom>
        </p:spPr>
        <p:txBody>
          <a:bodyPr wrap="none">
            <a:spAutoFit/>
          </a:bodyPr>
          <a:lstStyle/>
          <a:p>
            <a:r>
              <a:rPr lang="en-US" dirty="0" smtClean="0"/>
              <a:t>2</a:t>
            </a:r>
            <a:endParaRPr lang="en-US" dirty="0"/>
          </a:p>
        </p:txBody>
      </p:sp>
      <p:sp>
        <p:nvSpPr>
          <p:cNvPr id="14" name="Rectangle 13"/>
          <p:cNvSpPr/>
          <p:nvPr/>
        </p:nvSpPr>
        <p:spPr>
          <a:xfrm>
            <a:off x="3805100" y="2971800"/>
            <a:ext cx="309700" cy="369332"/>
          </a:xfrm>
          <a:prstGeom prst="rect">
            <a:avLst/>
          </a:prstGeom>
        </p:spPr>
        <p:txBody>
          <a:bodyPr wrap="none">
            <a:spAutoFit/>
          </a:bodyPr>
          <a:lstStyle/>
          <a:p>
            <a:r>
              <a:rPr lang="en-US" dirty="0" smtClean="0"/>
              <a:t>4</a:t>
            </a:r>
            <a:endParaRPr lang="en-US" dirty="0"/>
          </a:p>
        </p:txBody>
      </p:sp>
      <p:sp>
        <p:nvSpPr>
          <p:cNvPr id="15" name="Rectangle 14"/>
          <p:cNvSpPr/>
          <p:nvPr/>
        </p:nvSpPr>
        <p:spPr>
          <a:xfrm>
            <a:off x="3505200" y="3352800"/>
            <a:ext cx="290464" cy="369332"/>
          </a:xfrm>
          <a:prstGeom prst="rect">
            <a:avLst/>
          </a:prstGeom>
        </p:spPr>
        <p:txBody>
          <a:bodyPr wrap="none">
            <a:spAutoFit/>
          </a:bodyPr>
          <a:lstStyle/>
          <a:p>
            <a:r>
              <a:rPr lang="en-US" dirty="0" smtClean="0"/>
              <a:t>3</a:t>
            </a:r>
            <a:endParaRPr lang="en-US" dirty="0"/>
          </a:p>
        </p:txBody>
      </p:sp>
      <p:sp>
        <p:nvSpPr>
          <p:cNvPr id="16" name="Rectangle 15"/>
          <p:cNvSpPr/>
          <p:nvPr/>
        </p:nvSpPr>
        <p:spPr>
          <a:xfrm>
            <a:off x="5334000" y="2983468"/>
            <a:ext cx="293670" cy="369332"/>
          </a:xfrm>
          <a:prstGeom prst="rect">
            <a:avLst/>
          </a:prstGeom>
        </p:spPr>
        <p:txBody>
          <a:bodyPr wrap="none">
            <a:spAutoFit/>
          </a:bodyPr>
          <a:lstStyle/>
          <a:p>
            <a:r>
              <a:rPr lang="en-US" dirty="0" smtClean="0"/>
              <a:t>5</a:t>
            </a:r>
            <a:endParaRPr lang="en-US" dirty="0"/>
          </a:p>
        </p:txBody>
      </p:sp>
      <p:sp>
        <p:nvSpPr>
          <p:cNvPr id="17" name="Rectangle 16"/>
          <p:cNvSpPr/>
          <p:nvPr/>
        </p:nvSpPr>
        <p:spPr>
          <a:xfrm>
            <a:off x="4800600" y="3352800"/>
            <a:ext cx="309700" cy="369332"/>
          </a:xfrm>
          <a:prstGeom prst="rect">
            <a:avLst/>
          </a:prstGeom>
        </p:spPr>
        <p:txBody>
          <a:bodyPr wrap="none">
            <a:spAutoFit/>
          </a:bodyPr>
          <a:lstStyle/>
          <a:p>
            <a:r>
              <a:rPr lang="en-US" dirty="0" smtClean="0"/>
              <a:t>6</a:t>
            </a:r>
            <a:endParaRPr lang="en-US" dirty="0"/>
          </a:p>
        </p:txBody>
      </p:sp>
      <p:sp>
        <p:nvSpPr>
          <p:cNvPr id="18" name="Rectangle 17"/>
          <p:cNvSpPr/>
          <p:nvPr/>
        </p:nvSpPr>
        <p:spPr>
          <a:xfrm>
            <a:off x="6014900" y="2971800"/>
            <a:ext cx="309700" cy="369332"/>
          </a:xfrm>
          <a:prstGeom prst="rect">
            <a:avLst/>
          </a:prstGeom>
        </p:spPr>
        <p:txBody>
          <a:bodyPr wrap="none">
            <a:spAutoFit/>
          </a:bodyPr>
          <a:lstStyle/>
          <a:p>
            <a:r>
              <a:rPr lang="en-US" dirty="0" smtClean="0"/>
              <a:t>8</a:t>
            </a:r>
            <a:endParaRPr lang="en-US" dirty="0"/>
          </a:p>
        </p:txBody>
      </p:sp>
      <p:sp>
        <p:nvSpPr>
          <p:cNvPr id="19" name="Rectangle 18"/>
          <p:cNvSpPr/>
          <p:nvPr/>
        </p:nvSpPr>
        <p:spPr>
          <a:xfrm>
            <a:off x="5715000" y="3352800"/>
            <a:ext cx="296876" cy="369332"/>
          </a:xfrm>
          <a:prstGeom prst="rect">
            <a:avLst/>
          </a:prstGeom>
        </p:spPr>
        <p:txBody>
          <a:bodyPr wrap="none">
            <a:spAutoFit/>
          </a:bodyPr>
          <a:lstStyle/>
          <a:p>
            <a:r>
              <a:rPr lang="en-US" dirty="0" smtClean="0"/>
              <a:t>7</a:t>
            </a:r>
            <a:endParaRPr lang="en-US" dirty="0"/>
          </a:p>
        </p:txBody>
      </p:sp>
      <p:sp>
        <p:nvSpPr>
          <p:cNvPr id="20" name="Rectangle 19"/>
          <p:cNvSpPr/>
          <p:nvPr/>
        </p:nvSpPr>
        <p:spPr>
          <a:xfrm>
            <a:off x="1572627" y="4419600"/>
            <a:ext cx="2521844" cy="584775"/>
          </a:xfrm>
          <a:prstGeom prst="rect">
            <a:avLst/>
          </a:prstGeom>
        </p:spPr>
        <p:txBody>
          <a:bodyPr wrap="none">
            <a:spAutoFit/>
          </a:bodyPr>
          <a:lstStyle/>
          <a:p>
            <a:r>
              <a:rPr lang="en-US" sz="3200" dirty="0" smtClean="0"/>
              <a:t>a. angle 4 &amp; 5</a:t>
            </a:r>
            <a:endParaRPr lang="en-US" sz="3200" dirty="0"/>
          </a:p>
        </p:txBody>
      </p:sp>
      <p:sp>
        <p:nvSpPr>
          <p:cNvPr id="21" name="Rectangle 20"/>
          <p:cNvSpPr/>
          <p:nvPr/>
        </p:nvSpPr>
        <p:spPr>
          <a:xfrm>
            <a:off x="1524000" y="5105400"/>
            <a:ext cx="2531847" cy="584775"/>
          </a:xfrm>
          <a:prstGeom prst="rect">
            <a:avLst/>
          </a:prstGeom>
        </p:spPr>
        <p:txBody>
          <a:bodyPr wrap="none">
            <a:spAutoFit/>
          </a:bodyPr>
          <a:lstStyle/>
          <a:p>
            <a:r>
              <a:rPr lang="en-US" sz="3200" dirty="0" smtClean="0"/>
              <a:t>b. angle 4 &amp; 3</a:t>
            </a:r>
            <a:endParaRPr lang="en-US" sz="3200" dirty="0"/>
          </a:p>
        </p:txBody>
      </p:sp>
      <p:sp>
        <p:nvSpPr>
          <p:cNvPr id="22" name="Rectangle 21"/>
          <p:cNvSpPr/>
          <p:nvPr/>
        </p:nvSpPr>
        <p:spPr>
          <a:xfrm>
            <a:off x="5257800" y="4419600"/>
            <a:ext cx="2448106" cy="584775"/>
          </a:xfrm>
          <a:prstGeom prst="rect">
            <a:avLst/>
          </a:prstGeom>
        </p:spPr>
        <p:txBody>
          <a:bodyPr wrap="none">
            <a:spAutoFit/>
          </a:bodyPr>
          <a:lstStyle/>
          <a:p>
            <a:r>
              <a:rPr lang="en-US" sz="3200" dirty="0" smtClean="0"/>
              <a:t>c. angle 1 &amp; 8</a:t>
            </a:r>
          </a:p>
        </p:txBody>
      </p:sp>
      <p:sp>
        <p:nvSpPr>
          <p:cNvPr id="23" name="Rectangle 22"/>
          <p:cNvSpPr/>
          <p:nvPr/>
        </p:nvSpPr>
        <p:spPr>
          <a:xfrm>
            <a:off x="5181600" y="5181600"/>
            <a:ext cx="2526654" cy="584775"/>
          </a:xfrm>
          <a:prstGeom prst="rect">
            <a:avLst/>
          </a:prstGeom>
        </p:spPr>
        <p:txBody>
          <a:bodyPr wrap="none">
            <a:spAutoFit/>
          </a:bodyPr>
          <a:lstStyle/>
          <a:p>
            <a:r>
              <a:rPr lang="en-US" sz="3200" dirty="0" smtClean="0"/>
              <a:t>d. angle 3 &amp; 5</a:t>
            </a:r>
          </a:p>
        </p:txBody>
      </p:sp>
      <p:sp>
        <p:nvSpPr>
          <p:cNvPr id="24" name="Rounded Rectangle 23"/>
          <p:cNvSpPr/>
          <p:nvPr/>
        </p:nvSpPr>
        <p:spPr>
          <a:xfrm>
            <a:off x="5143500" y="5181600"/>
            <a:ext cx="25527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80">
                                          <p:stCondLst>
                                            <p:cond delay="0"/>
                                          </p:stCondLst>
                                        </p:cTn>
                                        <p:tgtEl>
                                          <p:spTgt spid="8"/>
                                        </p:tgtEl>
                                      </p:cBhvr>
                                    </p:animEffect>
                                    <p:anim calcmode="lin" valueType="num">
                                      <p:cBhvr>
                                        <p:cTn id="4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1" dur="26">
                                          <p:stCondLst>
                                            <p:cond delay="650"/>
                                          </p:stCondLst>
                                        </p:cTn>
                                        <p:tgtEl>
                                          <p:spTgt spid="8"/>
                                        </p:tgtEl>
                                      </p:cBhvr>
                                      <p:to x="100000" y="60000"/>
                                    </p:animScale>
                                    <p:animScale>
                                      <p:cBhvr>
                                        <p:cTn id="52" dur="166" decel="50000">
                                          <p:stCondLst>
                                            <p:cond delay="676"/>
                                          </p:stCondLst>
                                        </p:cTn>
                                        <p:tgtEl>
                                          <p:spTgt spid="8"/>
                                        </p:tgtEl>
                                      </p:cBhvr>
                                      <p:to x="100000" y="100000"/>
                                    </p:animScale>
                                    <p:animScale>
                                      <p:cBhvr>
                                        <p:cTn id="53" dur="26">
                                          <p:stCondLst>
                                            <p:cond delay="1312"/>
                                          </p:stCondLst>
                                        </p:cTn>
                                        <p:tgtEl>
                                          <p:spTgt spid="8"/>
                                        </p:tgtEl>
                                      </p:cBhvr>
                                      <p:to x="100000" y="80000"/>
                                    </p:animScale>
                                    <p:animScale>
                                      <p:cBhvr>
                                        <p:cTn id="54" dur="166" decel="50000">
                                          <p:stCondLst>
                                            <p:cond delay="1338"/>
                                          </p:stCondLst>
                                        </p:cTn>
                                        <p:tgtEl>
                                          <p:spTgt spid="8"/>
                                        </p:tgtEl>
                                      </p:cBhvr>
                                      <p:to x="100000" y="100000"/>
                                    </p:animScale>
                                    <p:animScale>
                                      <p:cBhvr>
                                        <p:cTn id="55" dur="26">
                                          <p:stCondLst>
                                            <p:cond delay="1642"/>
                                          </p:stCondLst>
                                        </p:cTn>
                                        <p:tgtEl>
                                          <p:spTgt spid="8"/>
                                        </p:tgtEl>
                                      </p:cBhvr>
                                      <p:to x="100000" y="90000"/>
                                    </p:animScale>
                                    <p:animScale>
                                      <p:cBhvr>
                                        <p:cTn id="56" dur="166" decel="50000">
                                          <p:stCondLst>
                                            <p:cond delay="1668"/>
                                          </p:stCondLst>
                                        </p:cTn>
                                        <p:tgtEl>
                                          <p:spTgt spid="8"/>
                                        </p:tgtEl>
                                      </p:cBhvr>
                                      <p:to x="100000" y="100000"/>
                                    </p:animScale>
                                    <p:animScale>
                                      <p:cBhvr>
                                        <p:cTn id="57" dur="26">
                                          <p:stCondLst>
                                            <p:cond delay="1808"/>
                                          </p:stCondLst>
                                        </p:cTn>
                                        <p:tgtEl>
                                          <p:spTgt spid="8"/>
                                        </p:tgtEl>
                                      </p:cBhvr>
                                      <p:to x="100000" y="95000"/>
                                    </p:animScale>
                                    <p:animScale>
                                      <p:cBhvr>
                                        <p:cTn id="58" dur="166" decel="50000">
                                          <p:stCondLst>
                                            <p:cond delay="1834"/>
                                          </p:stCondLst>
                                        </p:cTn>
                                        <p:tgtEl>
                                          <p:spTgt spid="8"/>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80">
                                          <p:stCondLst>
                                            <p:cond delay="0"/>
                                          </p:stCondLst>
                                        </p:cTn>
                                        <p:tgtEl>
                                          <p:spTgt spid="9"/>
                                        </p:tgtEl>
                                      </p:cBhvr>
                                    </p:animEffect>
                                    <p:anim calcmode="lin" valueType="num">
                                      <p:cBhvr>
                                        <p:cTn id="6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7" dur="26">
                                          <p:stCondLst>
                                            <p:cond delay="650"/>
                                          </p:stCondLst>
                                        </p:cTn>
                                        <p:tgtEl>
                                          <p:spTgt spid="9"/>
                                        </p:tgtEl>
                                      </p:cBhvr>
                                      <p:to x="100000" y="60000"/>
                                    </p:animScale>
                                    <p:animScale>
                                      <p:cBhvr>
                                        <p:cTn id="68" dur="166" decel="50000">
                                          <p:stCondLst>
                                            <p:cond delay="676"/>
                                          </p:stCondLst>
                                        </p:cTn>
                                        <p:tgtEl>
                                          <p:spTgt spid="9"/>
                                        </p:tgtEl>
                                      </p:cBhvr>
                                      <p:to x="100000" y="100000"/>
                                    </p:animScale>
                                    <p:animScale>
                                      <p:cBhvr>
                                        <p:cTn id="69" dur="26">
                                          <p:stCondLst>
                                            <p:cond delay="1312"/>
                                          </p:stCondLst>
                                        </p:cTn>
                                        <p:tgtEl>
                                          <p:spTgt spid="9"/>
                                        </p:tgtEl>
                                      </p:cBhvr>
                                      <p:to x="100000" y="80000"/>
                                    </p:animScale>
                                    <p:animScale>
                                      <p:cBhvr>
                                        <p:cTn id="70" dur="166" decel="50000">
                                          <p:stCondLst>
                                            <p:cond delay="1338"/>
                                          </p:stCondLst>
                                        </p:cTn>
                                        <p:tgtEl>
                                          <p:spTgt spid="9"/>
                                        </p:tgtEl>
                                      </p:cBhvr>
                                      <p:to x="100000" y="100000"/>
                                    </p:animScale>
                                    <p:animScale>
                                      <p:cBhvr>
                                        <p:cTn id="71" dur="26">
                                          <p:stCondLst>
                                            <p:cond delay="1642"/>
                                          </p:stCondLst>
                                        </p:cTn>
                                        <p:tgtEl>
                                          <p:spTgt spid="9"/>
                                        </p:tgtEl>
                                      </p:cBhvr>
                                      <p:to x="100000" y="90000"/>
                                    </p:animScale>
                                    <p:animScale>
                                      <p:cBhvr>
                                        <p:cTn id="72" dur="166" decel="50000">
                                          <p:stCondLst>
                                            <p:cond delay="1668"/>
                                          </p:stCondLst>
                                        </p:cTn>
                                        <p:tgtEl>
                                          <p:spTgt spid="9"/>
                                        </p:tgtEl>
                                      </p:cBhvr>
                                      <p:to x="100000" y="100000"/>
                                    </p:animScale>
                                    <p:animScale>
                                      <p:cBhvr>
                                        <p:cTn id="73" dur="26">
                                          <p:stCondLst>
                                            <p:cond delay="1808"/>
                                          </p:stCondLst>
                                        </p:cTn>
                                        <p:tgtEl>
                                          <p:spTgt spid="9"/>
                                        </p:tgtEl>
                                      </p:cBhvr>
                                      <p:to x="100000" y="95000"/>
                                    </p:animScale>
                                    <p:animScale>
                                      <p:cBhvr>
                                        <p:cTn id="74" dur="166" decel="50000">
                                          <p:stCondLst>
                                            <p:cond delay="1834"/>
                                          </p:stCondLst>
                                        </p:cTn>
                                        <p:tgtEl>
                                          <p:spTgt spid="9"/>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down)">
                                      <p:cBhvr>
                                        <p:cTn id="77" dur="580">
                                          <p:stCondLst>
                                            <p:cond delay="0"/>
                                          </p:stCondLst>
                                        </p:cTn>
                                        <p:tgtEl>
                                          <p:spTgt spid="10"/>
                                        </p:tgtEl>
                                      </p:cBhvr>
                                    </p:animEffect>
                                    <p:anim calcmode="lin" valueType="num">
                                      <p:cBhvr>
                                        <p:cTn id="7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83" dur="26">
                                          <p:stCondLst>
                                            <p:cond delay="650"/>
                                          </p:stCondLst>
                                        </p:cTn>
                                        <p:tgtEl>
                                          <p:spTgt spid="10"/>
                                        </p:tgtEl>
                                      </p:cBhvr>
                                      <p:to x="100000" y="60000"/>
                                    </p:animScale>
                                    <p:animScale>
                                      <p:cBhvr>
                                        <p:cTn id="84" dur="166" decel="50000">
                                          <p:stCondLst>
                                            <p:cond delay="676"/>
                                          </p:stCondLst>
                                        </p:cTn>
                                        <p:tgtEl>
                                          <p:spTgt spid="10"/>
                                        </p:tgtEl>
                                      </p:cBhvr>
                                      <p:to x="100000" y="100000"/>
                                    </p:animScale>
                                    <p:animScale>
                                      <p:cBhvr>
                                        <p:cTn id="85" dur="26">
                                          <p:stCondLst>
                                            <p:cond delay="1312"/>
                                          </p:stCondLst>
                                        </p:cTn>
                                        <p:tgtEl>
                                          <p:spTgt spid="10"/>
                                        </p:tgtEl>
                                      </p:cBhvr>
                                      <p:to x="100000" y="80000"/>
                                    </p:animScale>
                                    <p:animScale>
                                      <p:cBhvr>
                                        <p:cTn id="86" dur="166" decel="50000">
                                          <p:stCondLst>
                                            <p:cond delay="1338"/>
                                          </p:stCondLst>
                                        </p:cTn>
                                        <p:tgtEl>
                                          <p:spTgt spid="10"/>
                                        </p:tgtEl>
                                      </p:cBhvr>
                                      <p:to x="100000" y="100000"/>
                                    </p:animScale>
                                    <p:animScale>
                                      <p:cBhvr>
                                        <p:cTn id="87" dur="26">
                                          <p:stCondLst>
                                            <p:cond delay="1642"/>
                                          </p:stCondLst>
                                        </p:cTn>
                                        <p:tgtEl>
                                          <p:spTgt spid="10"/>
                                        </p:tgtEl>
                                      </p:cBhvr>
                                      <p:to x="100000" y="90000"/>
                                    </p:animScale>
                                    <p:animScale>
                                      <p:cBhvr>
                                        <p:cTn id="88" dur="166" decel="50000">
                                          <p:stCondLst>
                                            <p:cond delay="1668"/>
                                          </p:stCondLst>
                                        </p:cTn>
                                        <p:tgtEl>
                                          <p:spTgt spid="10"/>
                                        </p:tgtEl>
                                      </p:cBhvr>
                                      <p:to x="100000" y="100000"/>
                                    </p:animScale>
                                    <p:animScale>
                                      <p:cBhvr>
                                        <p:cTn id="89" dur="26">
                                          <p:stCondLst>
                                            <p:cond delay="1808"/>
                                          </p:stCondLst>
                                        </p:cTn>
                                        <p:tgtEl>
                                          <p:spTgt spid="10"/>
                                        </p:tgtEl>
                                      </p:cBhvr>
                                      <p:to x="100000" y="95000"/>
                                    </p:animScale>
                                    <p:animScale>
                                      <p:cBhvr>
                                        <p:cTn id="90" dur="166" decel="50000">
                                          <p:stCondLst>
                                            <p:cond delay="1834"/>
                                          </p:stCondLst>
                                        </p:cTn>
                                        <p:tgtEl>
                                          <p:spTgt spid="10"/>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wipe(down)">
                                      <p:cBhvr>
                                        <p:cTn id="93" dur="580">
                                          <p:stCondLst>
                                            <p:cond delay="0"/>
                                          </p:stCondLst>
                                        </p:cTn>
                                        <p:tgtEl>
                                          <p:spTgt spid="11"/>
                                        </p:tgtEl>
                                      </p:cBhvr>
                                    </p:animEffect>
                                    <p:anim calcmode="lin" valueType="num">
                                      <p:cBhvr>
                                        <p:cTn id="9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9" dur="26">
                                          <p:stCondLst>
                                            <p:cond delay="650"/>
                                          </p:stCondLst>
                                        </p:cTn>
                                        <p:tgtEl>
                                          <p:spTgt spid="11"/>
                                        </p:tgtEl>
                                      </p:cBhvr>
                                      <p:to x="100000" y="60000"/>
                                    </p:animScale>
                                    <p:animScale>
                                      <p:cBhvr>
                                        <p:cTn id="100" dur="166" decel="50000">
                                          <p:stCondLst>
                                            <p:cond delay="676"/>
                                          </p:stCondLst>
                                        </p:cTn>
                                        <p:tgtEl>
                                          <p:spTgt spid="11"/>
                                        </p:tgtEl>
                                      </p:cBhvr>
                                      <p:to x="100000" y="100000"/>
                                    </p:animScale>
                                    <p:animScale>
                                      <p:cBhvr>
                                        <p:cTn id="101" dur="26">
                                          <p:stCondLst>
                                            <p:cond delay="1312"/>
                                          </p:stCondLst>
                                        </p:cTn>
                                        <p:tgtEl>
                                          <p:spTgt spid="11"/>
                                        </p:tgtEl>
                                      </p:cBhvr>
                                      <p:to x="100000" y="80000"/>
                                    </p:animScale>
                                    <p:animScale>
                                      <p:cBhvr>
                                        <p:cTn id="102" dur="166" decel="50000">
                                          <p:stCondLst>
                                            <p:cond delay="1338"/>
                                          </p:stCondLst>
                                        </p:cTn>
                                        <p:tgtEl>
                                          <p:spTgt spid="11"/>
                                        </p:tgtEl>
                                      </p:cBhvr>
                                      <p:to x="100000" y="100000"/>
                                    </p:animScale>
                                    <p:animScale>
                                      <p:cBhvr>
                                        <p:cTn id="103" dur="26">
                                          <p:stCondLst>
                                            <p:cond delay="1642"/>
                                          </p:stCondLst>
                                        </p:cTn>
                                        <p:tgtEl>
                                          <p:spTgt spid="11"/>
                                        </p:tgtEl>
                                      </p:cBhvr>
                                      <p:to x="100000" y="90000"/>
                                    </p:animScale>
                                    <p:animScale>
                                      <p:cBhvr>
                                        <p:cTn id="104" dur="166" decel="50000">
                                          <p:stCondLst>
                                            <p:cond delay="1668"/>
                                          </p:stCondLst>
                                        </p:cTn>
                                        <p:tgtEl>
                                          <p:spTgt spid="11"/>
                                        </p:tgtEl>
                                      </p:cBhvr>
                                      <p:to x="100000" y="100000"/>
                                    </p:animScale>
                                    <p:animScale>
                                      <p:cBhvr>
                                        <p:cTn id="105" dur="26">
                                          <p:stCondLst>
                                            <p:cond delay="1808"/>
                                          </p:stCondLst>
                                        </p:cTn>
                                        <p:tgtEl>
                                          <p:spTgt spid="11"/>
                                        </p:tgtEl>
                                      </p:cBhvr>
                                      <p:to x="100000" y="95000"/>
                                    </p:animScale>
                                    <p:animScale>
                                      <p:cBhvr>
                                        <p:cTn id="106" dur="166" decel="50000">
                                          <p:stCondLst>
                                            <p:cond delay="1834"/>
                                          </p:stCondLst>
                                        </p:cTn>
                                        <p:tgtEl>
                                          <p:spTgt spid="11"/>
                                        </p:tgtEl>
                                      </p:cBhvr>
                                      <p:to x="100000" y="100000"/>
                                    </p:animScale>
                                  </p:childTnLst>
                                </p:cTn>
                              </p:par>
                              <p:par>
                                <p:cTn id="107" presetID="26" presetClass="entr" presetSubtype="0" fill="hold" grpId="0"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wipe(down)">
                                      <p:cBhvr>
                                        <p:cTn id="109" dur="580">
                                          <p:stCondLst>
                                            <p:cond delay="0"/>
                                          </p:stCondLst>
                                        </p:cTn>
                                        <p:tgtEl>
                                          <p:spTgt spid="12"/>
                                        </p:tgtEl>
                                      </p:cBhvr>
                                    </p:animEffect>
                                    <p:anim calcmode="lin" valueType="num">
                                      <p:cBhvr>
                                        <p:cTn id="11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15" dur="26">
                                          <p:stCondLst>
                                            <p:cond delay="650"/>
                                          </p:stCondLst>
                                        </p:cTn>
                                        <p:tgtEl>
                                          <p:spTgt spid="12"/>
                                        </p:tgtEl>
                                      </p:cBhvr>
                                      <p:to x="100000" y="60000"/>
                                    </p:animScale>
                                    <p:animScale>
                                      <p:cBhvr>
                                        <p:cTn id="116" dur="166" decel="50000">
                                          <p:stCondLst>
                                            <p:cond delay="676"/>
                                          </p:stCondLst>
                                        </p:cTn>
                                        <p:tgtEl>
                                          <p:spTgt spid="12"/>
                                        </p:tgtEl>
                                      </p:cBhvr>
                                      <p:to x="100000" y="100000"/>
                                    </p:animScale>
                                    <p:animScale>
                                      <p:cBhvr>
                                        <p:cTn id="117" dur="26">
                                          <p:stCondLst>
                                            <p:cond delay="1312"/>
                                          </p:stCondLst>
                                        </p:cTn>
                                        <p:tgtEl>
                                          <p:spTgt spid="12"/>
                                        </p:tgtEl>
                                      </p:cBhvr>
                                      <p:to x="100000" y="80000"/>
                                    </p:animScale>
                                    <p:animScale>
                                      <p:cBhvr>
                                        <p:cTn id="118" dur="166" decel="50000">
                                          <p:stCondLst>
                                            <p:cond delay="1338"/>
                                          </p:stCondLst>
                                        </p:cTn>
                                        <p:tgtEl>
                                          <p:spTgt spid="12"/>
                                        </p:tgtEl>
                                      </p:cBhvr>
                                      <p:to x="100000" y="100000"/>
                                    </p:animScale>
                                    <p:animScale>
                                      <p:cBhvr>
                                        <p:cTn id="119" dur="26">
                                          <p:stCondLst>
                                            <p:cond delay="1642"/>
                                          </p:stCondLst>
                                        </p:cTn>
                                        <p:tgtEl>
                                          <p:spTgt spid="12"/>
                                        </p:tgtEl>
                                      </p:cBhvr>
                                      <p:to x="100000" y="90000"/>
                                    </p:animScale>
                                    <p:animScale>
                                      <p:cBhvr>
                                        <p:cTn id="120" dur="166" decel="50000">
                                          <p:stCondLst>
                                            <p:cond delay="1668"/>
                                          </p:stCondLst>
                                        </p:cTn>
                                        <p:tgtEl>
                                          <p:spTgt spid="12"/>
                                        </p:tgtEl>
                                      </p:cBhvr>
                                      <p:to x="100000" y="100000"/>
                                    </p:animScale>
                                    <p:animScale>
                                      <p:cBhvr>
                                        <p:cTn id="121" dur="26">
                                          <p:stCondLst>
                                            <p:cond delay="1808"/>
                                          </p:stCondLst>
                                        </p:cTn>
                                        <p:tgtEl>
                                          <p:spTgt spid="12"/>
                                        </p:tgtEl>
                                      </p:cBhvr>
                                      <p:to x="100000" y="95000"/>
                                    </p:animScale>
                                    <p:animScale>
                                      <p:cBhvr>
                                        <p:cTn id="122" dur="166" decel="50000">
                                          <p:stCondLst>
                                            <p:cond delay="1834"/>
                                          </p:stCondLst>
                                        </p:cTn>
                                        <p:tgtEl>
                                          <p:spTgt spid="12"/>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13"/>
                                        </p:tgtEl>
                                        <p:attrNameLst>
                                          <p:attrName>style.visibility</p:attrName>
                                        </p:attrNameLst>
                                      </p:cBhvr>
                                      <p:to>
                                        <p:strVal val="visible"/>
                                      </p:to>
                                    </p:set>
                                    <p:animEffect transition="in" filter="wipe(down)">
                                      <p:cBhvr>
                                        <p:cTn id="125" dur="580">
                                          <p:stCondLst>
                                            <p:cond delay="0"/>
                                          </p:stCondLst>
                                        </p:cTn>
                                        <p:tgtEl>
                                          <p:spTgt spid="13"/>
                                        </p:tgtEl>
                                      </p:cBhvr>
                                    </p:animEffect>
                                    <p:anim calcmode="lin" valueType="num">
                                      <p:cBhvr>
                                        <p:cTn id="12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31" dur="26">
                                          <p:stCondLst>
                                            <p:cond delay="650"/>
                                          </p:stCondLst>
                                        </p:cTn>
                                        <p:tgtEl>
                                          <p:spTgt spid="13"/>
                                        </p:tgtEl>
                                      </p:cBhvr>
                                      <p:to x="100000" y="60000"/>
                                    </p:animScale>
                                    <p:animScale>
                                      <p:cBhvr>
                                        <p:cTn id="132" dur="166" decel="50000">
                                          <p:stCondLst>
                                            <p:cond delay="676"/>
                                          </p:stCondLst>
                                        </p:cTn>
                                        <p:tgtEl>
                                          <p:spTgt spid="13"/>
                                        </p:tgtEl>
                                      </p:cBhvr>
                                      <p:to x="100000" y="100000"/>
                                    </p:animScale>
                                    <p:animScale>
                                      <p:cBhvr>
                                        <p:cTn id="133" dur="26">
                                          <p:stCondLst>
                                            <p:cond delay="1312"/>
                                          </p:stCondLst>
                                        </p:cTn>
                                        <p:tgtEl>
                                          <p:spTgt spid="13"/>
                                        </p:tgtEl>
                                      </p:cBhvr>
                                      <p:to x="100000" y="80000"/>
                                    </p:animScale>
                                    <p:animScale>
                                      <p:cBhvr>
                                        <p:cTn id="134" dur="166" decel="50000">
                                          <p:stCondLst>
                                            <p:cond delay="1338"/>
                                          </p:stCondLst>
                                        </p:cTn>
                                        <p:tgtEl>
                                          <p:spTgt spid="13"/>
                                        </p:tgtEl>
                                      </p:cBhvr>
                                      <p:to x="100000" y="100000"/>
                                    </p:animScale>
                                    <p:animScale>
                                      <p:cBhvr>
                                        <p:cTn id="135" dur="26">
                                          <p:stCondLst>
                                            <p:cond delay="1642"/>
                                          </p:stCondLst>
                                        </p:cTn>
                                        <p:tgtEl>
                                          <p:spTgt spid="13"/>
                                        </p:tgtEl>
                                      </p:cBhvr>
                                      <p:to x="100000" y="90000"/>
                                    </p:animScale>
                                    <p:animScale>
                                      <p:cBhvr>
                                        <p:cTn id="136" dur="166" decel="50000">
                                          <p:stCondLst>
                                            <p:cond delay="1668"/>
                                          </p:stCondLst>
                                        </p:cTn>
                                        <p:tgtEl>
                                          <p:spTgt spid="13"/>
                                        </p:tgtEl>
                                      </p:cBhvr>
                                      <p:to x="100000" y="100000"/>
                                    </p:animScale>
                                    <p:animScale>
                                      <p:cBhvr>
                                        <p:cTn id="137" dur="26">
                                          <p:stCondLst>
                                            <p:cond delay="1808"/>
                                          </p:stCondLst>
                                        </p:cTn>
                                        <p:tgtEl>
                                          <p:spTgt spid="13"/>
                                        </p:tgtEl>
                                      </p:cBhvr>
                                      <p:to x="100000" y="95000"/>
                                    </p:animScale>
                                    <p:animScale>
                                      <p:cBhvr>
                                        <p:cTn id="138" dur="166" decel="50000">
                                          <p:stCondLst>
                                            <p:cond delay="1834"/>
                                          </p:stCondLst>
                                        </p:cTn>
                                        <p:tgtEl>
                                          <p:spTgt spid="13"/>
                                        </p:tgtEl>
                                      </p:cBhvr>
                                      <p:to x="100000" y="100000"/>
                                    </p:animScale>
                                  </p:childTnLst>
                                </p:cTn>
                              </p:par>
                              <p:par>
                                <p:cTn id="139" presetID="26" presetClass="entr" presetSubtype="0" fill="hold" grpId="0" nodeType="withEffect">
                                  <p:stCondLst>
                                    <p:cond delay="0"/>
                                  </p:stCondLst>
                                  <p:childTnLst>
                                    <p:set>
                                      <p:cBhvr>
                                        <p:cTn id="140" dur="1" fill="hold">
                                          <p:stCondLst>
                                            <p:cond delay="0"/>
                                          </p:stCondLst>
                                        </p:cTn>
                                        <p:tgtEl>
                                          <p:spTgt spid="14"/>
                                        </p:tgtEl>
                                        <p:attrNameLst>
                                          <p:attrName>style.visibility</p:attrName>
                                        </p:attrNameLst>
                                      </p:cBhvr>
                                      <p:to>
                                        <p:strVal val="visible"/>
                                      </p:to>
                                    </p:set>
                                    <p:animEffect transition="in" filter="wipe(down)">
                                      <p:cBhvr>
                                        <p:cTn id="141" dur="580">
                                          <p:stCondLst>
                                            <p:cond delay="0"/>
                                          </p:stCondLst>
                                        </p:cTn>
                                        <p:tgtEl>
                                          <p:spTgt spid="14"/>
                                        </p:tgtEl>
                                      </p:cBhvr>
                                    </p:animEffect>
                                    <p:anim calcmode="lin" valueType="num">
                                      <p:cBhvr>
                                        <p:cTn id="14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47" dur="26">
                                          <p:stCondLst>
                                            <p:cond delay="650"/>
                                          </p:stCondLst>
                                        </p:cTn>
                                        <p:tgtEl>
                                          <p:spTgt spid="14"/>
                                        </p:tgtEl>
                                      </p:cBhvr>
                                      <p:to x="100000" y="60000"/>
                                    </p:animScale>
                                    <p:animScale>
                                      <p:cBhvr>
                                        <p:cTn id="148" dur="166" decel="50000">
                                          <p:stCondLst>
                                            <p:cond delay="676"/>
                                          </p:stCondLst>
                                        </p:cTn>
                                        <p:tgtEl>
                                          <p:spTgt spid="14"/>
                                        </p:tgtEl>
                                      </p:cBhvr>
                                      <p:to x="100000" y="100000"/>
                                    </p:animScale>
                                    <p:animScale>
                                      <p:cBhvr>
                                        <p:cTn id="149" dur="26">
                                          <p:stCondLst>
                                            <p:cond delay="1312"/>
                                          </p:stCondLst>
                                        </p:cTn>
                                        <p:tgtEl>
                                          <p:spTgt spid="14"/>
                                        </p:tgtEl>
                                      </p:cBhvr>
                                      <p:to x="100000" y="80000"/>
                                    </p:animScale>
                                    <p:animScale>
                                      <p:cBhvr>
                                        <p:cTn id="150" dur="166" decel="50000">
                                          <p:stCondLst>
                                            <p:cond delay="1338"/>
                                          </p:stCondLst>
                                        </p:cTn>
                                        <p:tgtEl>
                                          <p:spTgt spid="14"/>
                                        </p:tgtEl>
                                      </p:cBhvr>
                                      <p:to x="100000" y="100000"/>
                                    </p:animScale>
                                    <p:animScale>
                                      <p:cBhvr>
                                        <p:cTn id="151" dur="26">
                                          <p:stCondLst>
                                            <p:cond delay="1642"/>
                                          </p:stCondLst>
                                        </p:cTn>
                                        <p:tgtEl>
                                          <p:spTgt spid="14"/>
                                        </p:tgtEl>
                                      </p:cBhvr>
                                      <p:to x="100000" y="90000"/>
                                    </p:animScale>
                                    <p:animScale>
                                      <p:cBhvr>
                                        <p:cTn id="152" dur="166" decel="50000">
                                          <p:stCondLst>
                                            <p:cond delay="1668"/>
                                          </p:stCondLst>
                                        </p:cTn>
                                        <p:tgtEl>
                                          <p:spTgt spid="14"/>
                                        </p:tgtEl>
                                      </p:cBhvr>
                                      <p:to x="100000" y="100000"/>
                                    </p:animScale>
                                    <p:animScale>
                                      <p:cBhvr>
                                        <p:cTn id="153" dur="26">
                                          <p:stCondLst>
                                            <p:cond delay="1808"/>
                                          </p:stCondLst>
                                        </p:cTn>
                                        <p:tgtEl>
                                          <p:spTgt spid="14"/>
                                        </p:tgtEl>
                                      </p:cBhvr>
                                      <p:to x="100000" y="95000"/>
                                    </p:animScale>
                                    <p:animScale>
                                      <p:cBhvr>
                                        <p:cTn id="154" dur="166" decel="50000">
                                          <p:stCondLst>
                                            <p:cond delay="1834"/>
                                          </p:stCondLst>
                                        </p:cTn>
                                        <p:tgtEl>
                                          <p:spTgt spid="14"/>
                                        </p:tgtEl>
                                      </p:cBhvr>
                                      <p:to x="100000" y="100000"/>
                                    </p:animScale>
                                  </p:childTnLst>
                                </p:cTn>
                              </p:par>
                              <p:par>
                                <p:cTn id="155" presetID="26" presetClass="entr" presetSubtype="0" fill="hold" grpId="0" nodeType="withEffect">
                                  <p:stCondLst>
                                    <p:cond delay="0"/>
                                  </p:stCondLst>
                                  <p:childTnLst>
                                    <p:set>
                                      <p:cBhvr>
                                        <p:cTn id="156" dur="1" fill="hold">
                                          <p:stCondLst>
                                            <p:cond delay="0"/>
                                          </p:stCondLst>
                                        </p:cTn>
                                        <p:tgtEl>
                                          <p:spTgt spid="15"/>
                                        </p:tgtEl>
                                        <p:attrNameLst>
                                          <p:attrName>style.visibility</p:attrName>
                                        </p:attrNameLst>
                                      </p:cBhvr>
                                      <p:to>
                                        <p:strVal val="visible"/>
                                      </p:to>
                                    </p:set>
                                    <p:animEffect transition="in" filter="wipe(down)">
                                      <p:cBhvr>
                                        <p:cTn id="157" dur="580">
                                          <p:stCondLst>
                                            <p:cond delay="0"/>
                                          </p:stCondLst>
                                        </p:cTn>
                                        <p:tgtEl>
                                          <p:spTgt spid="15"/>
                                        </p:tgtEl>
                                      </p:cBhvr>
                                    </p:animEffect>
                                    <p:anim calcmode="lin" valueType="num">
                                      <p:cBhvr>
                                        <p:cTn id="15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5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6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6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6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63" dur="26">
                                          <p:stCondLst>
                                            <p:cond delay="650"/>
                                          </p:stCondLst>
                                        </p:cTn>
                                        <p:tgtEl>
                                          <p:spTgt spid="15"/>
                                        </p:tgtEl>
                                      </p:cBhvr>
                                      <p:to x="100000" y="60000"/>
                                    </p:animScale>
                                    <p:animScale>
                                      <p:cBhvr>
                                        <p:cTn id="164" dur="166" decel="50000">
                                          <p:stCondLst>
                                            <p:cond delay="676"/>
                                          </p:stCondLst>
                                        </p:cTn>
                                        <p:tgtEl>
                                          <p:spTgt spid="15"/>
                                        </p:tgtEl>
                                      </p:cBhvr>
                                      <p:to x="100000" y="100000"/>
                                    </p:animScale>
                                    <p:animScale>
                                      <p:cBhvr>
                                        <p:cTn id="165" dur="26">
                                          <p:stCondLst>
                                            <p:cond delay="1312"/>
                                          </p:stCondLst>
                                        </p:cTn>
                                        <p:tgtEl>
                                          <p:spTgt spid="15"/>
                                        </p:tgtEl>
                                      </p:cBhvr>
                                      <p:to x="100000" y="80000"/>
                                    </p:animScale>
                                    <p:animScale>
                                      <p:cBhvr>
                                        <p:cTn id="166" dur="166" decel="50000">
                                          <p:stCondLst>
                                            <p:cond delay="1338"/>
                                          </p:stCondLst>
                                        </p:cTn>
                                        <p:tgtEl>
                                          <p:spTgt spid="15"/>
                                        </p:tgtEl>
                                      </p:cBhvr>
                                      <p:to x="100000" y="100000"/>
                                    </p:animScale>
                                    <p:animScale>
                                      <p:cBhvr>
                                        <p:cTn id="167" dur="26">
                                          <p:stCondLst>
                                            <p:cond delay="1642"/>
                                          </p:stCondLst>
                                        </p:cTn>
                                        <p:tgtEl>
                                          <p:spTgt spid="15"/>
                                        </p:tgtEl>
                                      </p:cBhvr>
                                      <p:to x="100000" y="90000"/>
                                    </p:animScale>
                                    <p:animScale>
                                      <p:cBhvr>
                                        <p:cTn id="168" dur="166" decel="50000">
                                          <p:stCondLst>
                                            <p:cond delay="1668"/>
                                          </p:stCondLst>
                                        </p:cTn>
                                        <p:tgtEl>
                                          <p:spTgt spid="15"/>
                                        </p:tgtEl>
                                      </p:cBhvr>
                                      <p:to x="100000" y="100000"/>
                                    </p:animScale>
                                    <p:animScale>
                                      <p:cBhvr>
                                        <p:cTn id="169" dur="26">
                                          <p:stCondLst>
                                            <p:cond delay="1808"/>
                                          </p:stCondLst>
                                        </p:cTn>
                                        <p:tgtEl>
                                          <p:spTgt spid="15"/>
                                        </p:tgtEl>
                                      </p:cBhvr>
                                      <p:to x="100000" y="95000"/>
                                    </p:animScale>
                                    <p:animScale>
                                      <p:cBhvr>
                                        <p:cTn id="170" dur="166" decel="50000">
                                          <p:stCondLst>
                                            <p:cond delay="1834"/>
                                          </p:stCondLst>
                                        </p:cTn>
                                        <p:tgtEl>
                                          <p:spTgt spid="15"/>
                                        </p:tgtEl>
                                      </p:cBhvr>
                                      <p:to x="100000" y="100000"/>
                                    </p:animScale>
                                  </p:childTnLst>
                                </p:cTn>
                              </p:par>
                              <p:par>
                                <p:cTn id="171" presetID="26" presetClass="entr" presetSubtype="0" fill="hold" grpId="0" nodeType="withEffect">
                                  <p:stCondLst>
                                    <p:cond delay="0"/>
                                  </p:stCondLst>
                                  <p:childTnLst>
                                    <p:set>
                                      <p:cBhvr>
                                        <p:cTn id="172" dur="1" fill="hold">
                                          <p:stCondLst>
                                            <p:cond delay="0"/>
                                          </p:stCondLst>
                                        </p:cTn>
                                        <p:tgtEl>
                                          <p:spTgt spid="16"/>
                                        </p:tgtEl>
                                        <p:attrNameLst>
                                          <p:attrName>style.visibility</p:attrName>
                                        </p:attrNameLst>
                                      </p:cBhvr>
                                      <p:to>
                                        <p:strVal val="visible"/>
                                      </p:to>
                                    </p:set>
                                    <p:animEffect transition="in" filter="wipe(down)">
                                      <p:cBhvr>
                                        <p:cTn id="173" dur="580">
                                          <p:stCondLst>
                                            <p:cond delay="0"/>
                                          </p:stCondLst>
                                        </p:cTn>
                                        <p:tgtEl>
                                          <p:spTgt spid="16"/>
                                        </p:tgtEl>
                                      </p:cBhvr>
                                    </p:animEffect>
                                    <p:anim calcmode="lin" valueType="num">
                                      <p:cBhvr>
                                        <p:cTn id="17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7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7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7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7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79" dur="26">
                                          <p:stCondLst>
                                            <p:cond delay="650"/>
                                          </p:stCondLst>
                                        </p:cTn>
                                        <p:tgtEl>
                                          <p:spTgt spid="16"/>
                                        </p:tgtEl>
                                      </p:cBhvr>
                                      <p:to x="100000" y="60000"/>
                                    </p:animScale>
                                    <p:animScale>
                                      <p:cBhvr>
                                        <p:cTn id="180" dur="166" decel="50000">
                                          <p:stCondLst>
                                            <p:cond delay="676"/>
                                          </p:stCondLst>
                                        </p:cTn>
                                        <p:tgtEl>
                                          <p:spTgt spid="16"/>
                                        </p:tgtEl>
                                      </p:cBhvr>
                                      <p:to x="100000" y="100000"/>
                                    </p:animScale>
                                    <p:animScale>
                                      <p:cBhvr>
                                        <p:cTn id="181" dur="26">
                                          <p:stCondLst>
                                            <p:cond delay="1312"/>
                                          </p:stCondLst>
                                        </p:cTn>
                                        <p:tgtEl>
                                          <p:spTgt spid="16"/>
                                        </p:tgtEl>
                                      </p:cBhvr>
                                      <p:to x="100000" y="80000"/>
                                    </p:animScale>
                                    <p:animScale>
                                      <p:cBhvr>
                                        <p:cTn id="182" dur="166" decel="50000">
                                          <p:stCondLst>
                                            <p:cond delay="1338"/>
                                          </p:stCondLst>
                                        </p:cTn>
                                        <p:tgtEl>
                                          <p:spTgt spid="16"/>
                                        </p:tgtEl>
                                      </p:cBhvr>
                                      <p:to x="100000" y="100000"/>
                                    </p:animScale>
                                    <p:animScale>
                                      <p:cBhvr>
                                        <p:cTn id="183" dur="26">
                                          <p:stCondLst>
                                            <p:cond delay="1642"/>
                                          </p:stCondLst>
                                        </p:cTn>
                                        <p:tgtEl>
                                          <p:spTgt spid="16"/>
                                        </p:tgtEl>
                                      </p:cBhvr>
                                      <p:to x="100000" y="90000"/>
                                    </p:animScale>
                                    <p:animScale>
                                      <p:cBhvr>
                                        <p:cTn id="184" dur="166" decel="50000">
                                          <p:stCondLst>
                                            <p:cond delay="1668"/>
                                          </p:stCondLst>
                                        </p:cTn>
                                        <p:tgtEl>
                                          <p:spTgt spid="16"/>
                                        </p:tgtEl>
                                      </p:cBhvr>
                                      <p:to x="100000" y="100000"/>
                                    </p:animScale>
                                    <p:animScale>
                                      <p:cBhvr>
                                        <p:cTn id="185" dur="26">
                                          <p:stCondLst>
                                            <p:cond delay="1808"/>
                                          </p:stCondLst>
                                        </p:cTn>
                                        <p:tgtEl>
                                          <p:spTgt spid="16"/>
                                        </p:tgtEl>
                                      </p:cBhvr>
                                      <p:to x="100000" y="95000"/>
                                    </p:animScale>
                                    <p:animScale>
                                      <p:cBhvr>
                                        <p:cTn id="186" dur="166" decel="50000">
                                          <p:stCondLst>
                                            <p:cond delay="1834"/>
                                          </p:stCondLst>
                                        </p:cTn>
                                        <p:tgtEl>
                                          <p:spTgt spid="16"/>
                                        </p:tgtEl>
                                      </p:cBhvr>
                                      <p:to x="100000" y="100000"/>
                                    </p:animScale>
                                  </p:childTnLst>
                                </p:cTn>
                              </p:par>
                              <p:par>
                                <p:cTn id="187" presetID="26" presetClass="entr" presetSubtype="0" fill="hold" grpId="0" nodeType="withEffect">
                                  <p:stCondLst>
                                    <p:cond delay="0"/>
                                  </p:stCondLst>
                                  <p:childTnLst>
                                    <p:set>
                                      <p:cBhvr>
                                        <p:cTn id="188" dur="1" fill="hold">
                                          <p:stCondLst>
                                            <p:cond delay="0"/>
                                          </p:stCondLst>
                                        </p:cTn>
                                        <p:tgtEl>
                                          <p:spTgt spid="17"/>
                                        </p:tgtEl>
                                        <p:attrNameLst>
                                          <p:attrName>style.visibility</p:attrName>
                                        </p:attrNameLst>
                                      </p:cBhvr>
                                      <p:to>
                                        <p:strVal val="visible"/>
                                      </p:to>
                                    </p:set>
                                    <p:animEffect transition="in" filter="wipe(down)">
                                      <p:cBhvr>
                                        <p:cTn id="189" dur="580">
                                          <p:stCondLst>
                                            <p:cond delay="0"/>
                                          </p:stCondLst>
                                        </p:cTn>
                                        <p:tgtEl>
                                          <p:spTgt spid="17"/>
                                        </p:tgtEl>
                                      </p:cBhvr>
                                    </p:animEffect>
                                    <p:anim calcmode="lin" valueType="num">
                                      <p:cBhvr>
                                        <p:cTn id="190"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95" dur="26">
                                          <p:stCondLst>
                                            <p:cond delay="650"/>
                                          </p:stCondLst>
                                        </p:cTn>
                                        <p:tgtEl>
                                          <p:spTgt spid="17"/>
                                        </p:tgtEl>
                                      </p:cBhvr>
                                      <p:to x="100000" y="60000"/>
                                    </p:animScale>
                                    <p:animScale>
                                      <p:cBhvr>
                                        <p:cTn id="196" dur="166" decel="50000">
                                          <p:stCondLst>
                                            <p:cond delay="676"/>
                                          </p:stCondLst>
                                        </p:cTn>
                                        <p:tgtEl>
                                          <p:spTgt spid="17"/>
                                        </p:tgtEl>
                                      </p:cBhvr>
                                      <p:to x="100000" y="100000"/>
                                    </p:animScale>
                                    <p:animScale>
                                      <p:cBhvr>
                                        <p:cTn id="197" dur="26">
                                          <p:stCondLst>
                                            <p:cond delay="1312"/>
                                          </p:stCondLst>
                                        </p:cTn>
                                        <p:tgtEl>
                                          <p:spTgt spid="17"/>
                                        </p:tgtEl>
                                      </p:cBhvr>
                                      <p:to x="100000" y="80000"/>
                                    </p:animScale>
                                    <p:animScale>
                                      <p:cBhvr>
                                        <p:cTn id="198" dur="166" decel="50000">
                                          <p:stCondLst>
                                            <p:cond delay="1338"/>
                                          </p:stCondLst>
                                        </p:cTn>
                                        <p:tgtEl>
                                          <p:spTgt spid="17"/>
                                        </p:tgtEl>
                                      </p:cBhvr>
                                      <p:to x="100000" y="100000"/>
                                    </p:animScale>
                                    <p:animScale>
                                      <p:cBhvr>
                                        <p:cTn id="199" dur="26">
                                          <p:stCondLst>
                                            <p:cond delay="1642"/>
                                          </p:stCondLst>
                                        </p:cTn>
                                        <p:tgtEl>
                                          <p:spTgt spid="17"/>
                                        </p:tgtEl>
                                      </p:cBhvr>
                                      <p:to x="100000" y="90000"/>
                                    </p:animScale>
                                    <p:animScale>
                                      <p:cBhvr>
                                        <p:cTn id="200" dur="166" decel="50000">
                                          <p:stCondLst>
                                            <p:cond delay="1668"/>
                                          </p:stCondLst>
                                        </p:cTn>
                                        <p:tgtEl>
                                          <p:spTgt spid="17"/>
                                        </p:tgtEl>
                                      </p:cBhvr>
                                      <p:to x="100000" y="100000"/>
                                    </p:animScale>
                                    <p:animScale>
                                      <p:cBhvr>
                                        <p:cTn id="201" dur="26">
                                          <p:stCondLst>
                                            <p:cond delay="1808"/>
                                          </p:stCondLst>
                                        </p:cTn>
                                        <p:tgtEl>
                                          <p:spTgt spid="17"/>
                                        </p:tgtEl>
                                      </p:cBhvr>
                                      <p:to x="100000" y="95000"/>
                                    </p:animScale>
                                    <p:animScale>
                                      <p:cBhvr>
                                        <p:cTn id="202" dur="166" decel="50000">
                                          <p:stCondLst>
                                            <p:cond delay="1834"/>
                                          </p:stCondLst>
                                        </p:cTn>
                                        <p:tgtEl>
                                          <p:spTgt spid="17"/>
                                        </p:tgtEl>
                                      </p:cBhvr>
                                      <p:to x="100000" y="100000"/>
                                    </p:animScale>
                                  </p:childTnLst>
                                </p:cTn>
                              </p:par>
                              <p:par>
                                <p:cTn id="203" presetID="26" presetClass="entr" presetSubtype="0" fill="hold" grpId="0" nodeType="withEffect">
                                  <p:stCondLst>
                                    <p:cond delay="0"/>
                                  </p:stCondLst>
                                  <p:childTnLst>
                                    <p:set>
                                      <p:cBhvr>
                                        <p:cTn id="204" dur="1" fill="hold">
                                          <p:stCondLst>
                                            <p:cond delay="0"/>
                                          </p:stCondLst>
                                        </p:cTn>
                                        <p:tgtEl>
                                          <p:spTgt spid="18"/>
                                        </p:tgtEl>
                                        <p:attrNameLst>
                                          <p:attrName>style.visibility</p:attrName>
                                        </p:attrNameLst>
                                      </p:cBhvr>
                                      <p:to>
                                        <p:strVal val="visible"/>
                                      </p:to>
                                    </p:set>
                                    <p:animEffect transition="in" filter="wipe(down)">
                                      <p:cBhvr>
                                        <p:cTn id="205" dur="580">
                                          <p:stCondLst>
                                            <p:cond delay="0"/>
                                          </p:stCondLst>
                                        </p:cTn>
                                        <p:tgtEl>
                                          <p:spTgt spid="18"/>
                                        </p:tgtEl>
                                      </p:cBhvr>
                                    </p:animEffect>
                                    <p:anim calcmode="lin" valueType="num">
                                      <p:cBhvr>
                                        <p:cTn id="20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0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0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0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1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11" dur="26">
                                          <p:stCondLst>
                                            <p:cond delay="650"/>
                                          </p:stCondLst>
                                        </p:cTn>
                                        <p:tgtEl>
                                          <p:spTgt spid="18"/>
                                        </p:tgtEl>
                                      </p:cBhvr>
                                      <p:to x="100000" y="60000"/>
                                    </p:animScale>
                                    <p:animScale>
                                      <p:cBhvr>
                                        <p:cTn id="212" dur="166" decel="50000">
                                          <p:stCondLst>
                                            <p:cond delay="676"/>
                                          </p:stCondLst>
                                        </p:cTn>
                                        <p:tgtEl>
                                          <p:spTgt spid="18"/>
                                        </p:tgtEl>
                                      </p:cBhvr>
                                      <p:to x="100000" y="100000"/>
                                    </p:animScale>
                                    <p:animScale>
                                      <p:cBhvr>
                                        <p:cTn id="213" dur="26">
                                          <p:stCondLst>
                                            <p:cond delay="1312"/>
                                          </p:stCondLst>
                                        </p:cTn>
                                        <p:tgtEl>
                                          <p:spTgt spid="18"/>
                                        </p:tgtEl>
                                      </p:cBhvr>
                                      <p:to x="100000" y="80000"/>
                                    </p:animScale>
                                    <p:animScale>
                                      <p:cBhvr>
                                        <p:cTn id="214" dur="166" decel="50000">
                                          <p:stCondLst>
                                            <p:cond delay="1338"/>
                                          </p:stCondLst>
                                        </p:cTn>
                                        <p:tgtEl>
                                          <p:spTgt spid="18"/>
                                        </p:tgtEl>
                                      </p:cBhvr>
                                      <p:to x="100000" y="100000"/>
                                    </p:animScale>
                                    <p:animScale>
                                      <p:cBhvr>
                                        <p:cTn id="215" dur="26">
                                          <p:stCondLst>
                                            <p:cond delay="1642"/>
                                          </p:stCondLst>
                                        </p:cTn>
                                        <p:tgtEl>
                                          <p:spTgt spid="18"/>
                                        </p:tgtEl>
                                      </p:cBhvr>
                                      <p:to x="100000" y="90000"/>
                                    </p:animScale>
                                    <p:animScale>
                                      <p:cBhvr>
                                        <p:cTn id="216" dur="166" decel="50000">
                                          <p:stCondLst>
                                            <p:cond delay="1668"/>
                                          </p:stCondLst>
                                        </p:cTn>
                                        <p:tgtEl>
                                          <p:spTgt spid="18"/>
                                        </p:tgtEl>
                                      </p:cBhvr>
                                      <p:to x="100000" y="100000"/>
                                    </p:animScale>
                                    <p:animScale>
                                      <p:cBhvr>
                                        <p:cTn id="217" dur="26">
                                          <p:stCondLst>
                                            <p:cond delay="1808"/>
                                          </p:stCondLst>
                                        </p:cTn>
                                        <p:tgtEl>
                                          <p:spTgt spid="18"/>
                                        </p:tgtEl>
                                      </p:cBhvr>
                                      <p:to x="100000" y="95000"/>
                                    </p:animScale>
                                    <p:animScale>
                                      <p:cBhvr>
                                        <p:cTn id="218" dur="166" decel="50000">
                                          <p:stCondLst>
                                            <p:cond delay="1834"/>
                                          </p:stCondLst>
                                        </p:cTn>
                                        <p:tgtEl>
                                          <p:spTgt spid="18"/>
                                        </p:tgtEl>
                                      </p:cBhvr>
                                      <p:to x="100000" y="100000"/>
                                    </p:animScale>
                                  </p:childTnLst>
                                </p:cTn>
                              </p:par>
                              <p:par>
                                <p:cTn id="219" presetID="26" presetClass="entr" presetSubtype="0" fill="hold" grpId="0" nodeType="withEffect">
                                  <p:stCondLst>
                                    <p:cond delay="0"/>
                                  </p:stCondLst>
                                  <p:childTnLst>
                                    <p:set>
                                      <p:cBhvr>
                                        <p:cTn id="220" dur="1" fill="hold">
                                          <p:stCondLst>
                                            <p:cond delay="0"/>
                                          </p:stCondLst>
                                        </p:cTn>
                                        <p:tgtEl>
                                          <p:spTgt spid="19"/>
                                        </p:tgtEl>
                                        <p:attrNameLst>
                                          <p:attrName>style.visibility</p:attrName>
                                        </p:attrNameLst>
                                      </p:cBhvr>
                                      <p:to>
                                        <p:strVal val="visible"/>
                                      </p:to>
                                    </p:set>
                                    <p:animEffect transition="in" filter="wipe(down)">
                                      <p:cBhvr>
                                        <p:cTn id="221" dur="580">
                                          <p:stCondLst>
                                            <p:cond delay="0"/>
                                          </p:stCondLst>
                                        </p:cTn>
                                        <p:tgtEl>
                                          <p:spTgt spid="19"/>
                                        </p:tgtEl>
                                      </p:cBhvr>
                                    </p:animEffect>
                                    <p:anim calcmode="lin" valueType="num">
                                      <p:cBhvr>
                                        <p:cTn id="22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2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2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2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2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27" dur="26">
                                          <p:stCondLst>
                                            <p:cond delay="650"/>
                                          </p:stCondLst>
                                        </p:cTn>
                                        <p:tgtEl>
                                          <p:spTgt spid="19"/>
                                        </p:tgtEl>
                                      </p:cBhvr>
                                      <p:to x="100000" y="60000"/>
                                    </p:animScale>
                                    <p:animScale>
                                      <p:cBhvr>
                                        <p:cTn id="228" dur="166" decel="50000">
                                          <p:stCondLst>
                                            <p:cond delay="676"/>
                                          </p:stCondLst>
                                        </p:cTn>
                                        <p:tgtEl>
                                          <p:spTgt spid="19"/>
                                        </p:tgtEl>
                                      </p:cBhvr>
                                      <p:to x="100000" y="100000"/>
                                    </p:animScale>
                                    <p:animScale>
                                      <p:cBhvr>
                                        <p:cTn id="229" dur="26">
                                          <p:stCondLst>
                                            <p:cond delay="1312"/>
                                          </p:stCondLst>
                                        </p:cTn>
                                        <p:tgtEl>
                                          <p:spTgt spid="19"/>
                                        </p:tgtEl>
                                      </p:cBhvr>
                                      <p:to x="100000" y="80000"/>
                                    </p:animScale>
                                    <p:animScale>
                                      <p:cBhvr>
                                        <p:cTn id="230" dur="166" decel="50000">
                                          <p:stCondLst>
                                            <p:cond delay="1338"/>
                                          </p:stCondLst>
                                        </p:cTn>
                                        <p:tgtEl>
                                          <p:spTgt spid="19"/>
                                        </p:tgtEl>
                                      </p:cBhvr>
                                      <p:to x="100000" y="100000"/>
                                    </p:animScale>
                                    <p:animScale>
                                      <p:cBhvr>
                                        <p:cTn id="231" dur="26">
                                          <p:stCondLst>
                                            <p:cond delay="1642"/>
                                          </p:stCondLst>
                                        </p:cTn>
                                        <p:tgtEl>
                                          <p:spTgt spid="19"/>
                                        </p:tgtEl>
                                      </p:cBhvr>
                                      <p:to x="100000" y="90000"/>
                                    </p:animScale>
                                    <p:animScale>
                                      <p:cBhvr>
                                        <p:cTn id="232" dur="166" decel="50000">
                                          <p:stCondLst>
                                            <p:cond delay="1668"/>
                                          </p:stCondLst>
                                        </p:cTn>
                                        <p:tgtEl>
                                          <p:spTgt spid="19"/>
                                        </p:tgtEl>
                                      </p:cBhvr>
                                      <p:to x="100000" y="100000"/>
                                    </p:animScale>
                                    <p:animScale>
                                      <p:cBhvr>
                                        <p:cTn id="233" dur="26">
                                          <p:stCondLst>
                                            <p:cond delay="1808"/>
                                          </p:stCondLst>
                                        </p:cTn>
                                        <p:tgtEl>
                                          <p:spTgt spid="19"/>
                                        </p:tgtEl>
                                      </p:cBhvr>
                                      <p:to x="100000" y="95000"/>
                                    </p:animScale>
                                    <p:animScale>
                                      <p:cBhvr>
                                        <p:cTn id="234" dur="166" decel="50000">
                                          <p:stCondLst>
                                            <p:cond delay="1834"/>
                                          </p:stCondLst>
                                        </p:cTn>
                                        <p:tgtEl>
                                          <p:spTgt spid="19"/>
                                        </p:tgtEl>
                                      </p:cBhvr>
                                      <p:to x="100000" y="100000"/>
                                    </p:animScale>
                                  </p:childTnLst>
                                </p:cTn>
                              </p:par>
                            </p:childTnLst>
                          </p:cTn>
                        </p:par>
                      </p:childTnLst>
                    </p:cTn>
                  </p:par>
                  <p:par>
                    <p:cTn id="235" fill="hold">
                      <p:stCondLst>
                        <p:cond delay="indefinite"/>
                      </p:stCondLst>
                      <p:childTnLst>
                        <p:par>
                          <p:cTn id="236" fill="hold">
                            <p:stCondLst>
                              <p:cond delay="0"/>
                            </p:stCondLst>
                            <p:childTnLst>
                              <p:par>
                                <p:cTn id="237" presetID="12" presetClass="entr" presetSubtype="4" fill="hold" grpId="0" nodeType="clickEffect">
                                  <p:stCondLst>
                                    <p:cond delay="0"/>
                                  </p:stCondLst>
                                  <p:childTnLst>
                                    <p:set>
                                      <p:cBhvr>
                                        <p:cTn id="238" dur="1" fill="hold">
                                          <p:stCondLst>
                                            <p:cond delay="0"/>
                                          </p:stCondLst>
                                        </p:cTn>
                                        <p:tgtEl>
                                          <p:spTgt spid="20"/>
                                        </p:tgtEl>
                                        <p:attrNameLst>
                                          <p:attrName>style.visibility</p:attrName>
                                        </p:attrNameLst>
                                      </p:cBhvr>
                                      <p:to>
                                        <p:strVal val="visible"/>
                                      </p:to>
                                    </p:set>
                                    <p:animEffect transition="in" filter="slide(fromBottom)">
                                      <p:cBhvr>
                                        <p:cTn id="239" dur="500"/>
                                        <p:tgtEl>
                                          <p:spTgt spid="20"/>
                                        </p:tgtEl>
                                      </p:cBhvr>
                                    </p:animEffect>
                                  </p:childTnLst>
                                </p:cTn>
                              </p:par>
                              <p:par>
                                <p:cTn id="240" presetID="12" presetClass="entr" presetSubtype="4" fill="hold" grpId="0" nodeType="withEffect">
                                  <p:stCondLst>
                                    <p:cond delay="0"/>
                                  </p:stCondLst>
                                  <p:childTnLst>
                                    <p:set>
                                      <p:cBhvr>
                                        <p:cTn id="241" dur="1" fill="hold">
                                          <p:stCondLst>
                                            <p:cond delay="0"/>
                                          </p:stCondLst>
                                        </p:cTn>
                                        <p:tgtEl>
                                          <p:spTgt spid="21"/>
                                        </p:tgtEl>
                                        <p:attrNameLst>
                                          <p:attrName>style.visibility</p:attrName>
                                        </p:attrNameLst>
                                      </p:cBhvr>
                                      <p:to>
                                        <p:strVal val="visible"/>
                                      </p:to>
                                    </p:set>
                                    <p:animEffect transition="in" filter="slide(fromBottom)">
                                      <p:cBhvr>
                                        <p:cTn id="242" dur="500"/>
                                        <p:tgtEl>
                                          <p:spTgt spid="21"/>
                                        </p:tgtEl>
                                      </p:cBhvr>
                                    </p:animEffect>
                                  </p:childTnLst>
                                </p:cTn>
                              </p:par>
                              <p:par>
                                <p:cTn id="243" presetID="12" presetClass="entr" presetSubtype="4" fill="hold" grpId="0" nodeType="withEffect">
                                  <p:stCondLst>
                                    <p:cond delay="0"/>
                                  </p:stCondLst>
                                  <p:childTnLst>
                                    <p:set>
                                      <p:cBhvr>
                                        <p:cTn id="244" dur="1" fill="hold">
                                          <p:stCondLst>
                                            <p:cond delay="0"/>
                                          </p:stCondLst>
                                        </p:cTn>
                                        <p:tgtEl>
                                          <p:spTgt spid="22"/>
                                        </p:tgtEl>
                                        <p:attrNameLst>
                                          <p:attrName>style.visibility</p:attrName>
                                        </p:attrNameLst>
                                      </p:cBhvr>
                                      <p:to>
                                        <p:strVal val="visible"/>
                                      </p:to>
                                    </p:set>
                                    <p:animEffect transition="in" filter="slide(fromBottom)">
                                      <p:cBhvr>
                                        <p:cTn id="245" dur="500"/>
                                        <p:tgtEl>
                                          <p:spTgt spid="22"/>
                                        </p:tgtEl>
                                      </p:cBhvr>
                                    </p:animEffect>
                                  </p:childTnLst>
                                </p:cTn>
                              </p:par>
                              <p:par>
                                <p:cTn id="246" presetID="12" presetClass="entr" presetSubtype="4" fill="hold" grpId="0" nodeType="withEffect">
                                  <p:stCondLst>
                                    <p:cond delay="0"/>
                                  </p:stCondLst>
                                  <p:childTnLst>
                                    <p:set>
                                      <p:cBhvr>
                                        <p:cTn id="247" dur="1" fill="hold">
                                          <p:stCondLst>
                                            <p:cond delay="0"/>
                                          </p:stCondLst>
                                        </p:cTn>
                                        <p:tgtEl>
                                          <p:spTgt spid="23"/>
                                        </p:tgtEl>
                                        <p:attrNameLst>
                                          <p:attrName>style.visibility</p:attrName>
                                        </p:attrNameLst>
                                      </p:cBhvr>
                                      <p:to>
                                        <p:strVal val="visible"/>
                                      </p:to>
                                    </p:set>
                                    <p:animEffect transition="in" filter="slide(fromBottom)">
                                      <p:cBhvr>
                                        <p:cTn id="248" dur="500"/>
                                        <p:tgtEl>
                                          <p:spTgt spid="23"/>
                                        </p:tgtEl>
                                      </p:cBhvr>
                                    </p:animEffect>
                                  </p:childTnLst>
                                </p:cTn>
                              </p:par>
                            </p:childTnLst>
                          </p:cTn>
                        </p:par>
                      </p:childTnLst>
                    </p:cTn>
                  </p:par>
                  <p:par>
                    <p:cTn id="249" fill="hold">
                      <p:stCondLst>
                        <p:cond delay="indefinite"/>
                      </p:stCondLst>
                      <p:childTnLst>
                        <p:par>
                          <p:cTn id="250" fill="hold">
                            <p:stCondLst>
                              <p:cond delay="0"/>
                            </p:stCondLst>
                            <p:childTnLst>
                              <p:par>
                                <p:cTn id="251" presetID="20" presetClass="entr" presetSubtype="0" fill="hold" grpId="0" nodeType="clickEffect">
                                  <p:stCondLst>
                                    <p:cond delay="0"/>
                                  </p:stCondLst>
                                  <p:childTnLst>
                                    <p:set>
                                      <p:cBhvr>
                                        <p:cTn id="252" dur="1" fill="hold">
                                          <p:stCondLst>
                                            <p:cond delay="0"/>
                                          </p:stCondLst>
                                        </p:cTn>
                                        <p:tgtEl>
                                          <p:spTgt spid="24"/>
                                        </p:tgtEl>
                                        <p:attrNameLst>
                                          <p:attrName>style.visibility</p:attrName>
                                        </p:attrNameLst>
                                      </p:cBhvr>
                                      <p:to>
                                        <p:strVal val="visible"/>
                                      </p:to>
                                    </p:set>
                                    <p:animEffect transition="in" filter="wedge">
                                      <p:cBhvr>
                                        <p:cTn id="253"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228600" y="260253"/>
            <a:ext cx="8229600" cy="1384995"/>
          </a:xfrm>
          <a:prstGeom prst="rect">
            <a:avLst/>
          </a:prstGeom>
        </p:spPr>
        <p:txBody>
          <a:bodyPr wrap="square">
            <a:spAutoFit/>
          </a:bodyPr>
          <a:lstStyle/>
          <a:p>
            <a:pPr marL="347663" indent="-347663"/>
            <a:r>
              <a:rPr lang="en-US" sz="2800" dirty="0" smtClean="0"/>
              <a:t>9. Three different triangles are placed side by side as shown. What is the sum of the measures of the interior angles of the polygon formed?</a:t>
            </a:r>
            <a:endParaRPr lang="en-US" sz="2800" dirty="0"/>
          </a:p>
        </p:txBody>
      </p:sp>
      <p:sp>
        <p:nvSpPr>
          <p:cNvPr id="6" name="Isosceles Triangle 5"/>
          <p:cNvSpPr/>
          <p:nvPr/>
        </p:nvSpPr>
        <p:spPr>
          <a:xfrm>
            <a:off x="3961311" y="1677182"/>
            <a:ext cx="1447800" cy="1371600"/>
          </a:xfrm>
          <a:prstGeom prst="triangle">
            <a:avLst/>
          </a:prstGeom>
          <a:noFill/>
          <a:ln w="38100">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chemeClr val="tx1"/>
              </a:solidFill>
            </a:endParaRPr>
          </a:p>
        </p:txBody>
      </p:sp>
      <p:sp>
        <p:nvSpPr>
          <p:cNvPr id="7" name="Isosceles Triangle 6"/>
          <p:cNvSpPr/>
          <p:nvPr/>
        </p:nvSpPr>
        <p:spPr>
          <a:xfrm rot="2859082">
            <a:off x="3726469" y="1470213"/>
            <a:ext cx="920764" cy="1480801"/>
          </a:xfrm>
          <a:prstGeom prst="triangle">
            <a:avLst>
              <a:gd name="adj" fmla="val 42645"/>
            </a:avLst>
          </a:prstGeom>
          <a:noFill/>
          <a:ln w="38100">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chemeClr val="tx1"/>
              </a:solidFill>
            </a:endParaRPr>
          </a:p>
        </p:txBody>
      </p:sp>
      <p:sp>
        <p:nvSpPr>
          <p:cNvPr id="8" name="Isosceles Triangle 7"/>
          <p:cNvSpPr/>
          <p:nvPr/>
        </p:nvSpPr>
        <p:spPr>
          <a:xfrm rot="18250797">
            <a:off x="4550470" y="1385103"/>
            <a:ext cx="1447800" cy="1371600"/>
          </a:xfrm>
          <a:prstGeom prst="triangle">
            <a:avLst/>
          </a:prstGeom>
          <a:noFill/>
          <a:ln w="38100">
            <a:solidFill>
              <a:schemeClr val="tx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chemeClr val="tx1"/>
              </a:solidFill>
            </a:endParaRPr>
          </a:p>
        </p:txBody>
      </p:sp>
      <p:sp>
        <p:nvSpPr>
          <p:cNvPr id="9" name="Rectangle 8"/>
          <p:cNvSpPr/>
          <p:nvPr/>
        </p:nvSpPr>
        <p:spPr>
          <a:xfrm>
            <a:off x="1049649" y="3175153"/>
            <a:ext cx="1064715" cy="461665"/>
          </a:xfrm>
          <a:prstGeom prst="rect">
            <a:avLst/>
          </a:prstGeom>
        </p:spPr>
        <p:txBody>
          <a:bodyPr wrap="none">
            <a:spAutoFit/>
          </a:bodyPr>
          <a:lstStyle/>
          <a:p>
            <a:r>
              <a:rPr lang="en-US" sz="2400" dirty="0" smtClean="0"/>
              <a:t>a. 300°</a:t>
            </a:r>
            <a:endParaRPr lang="en-US" sz="2400" dirty="0"/>
          </a:p>
        </p:txBody>
      </p:sp>
      <p:sp>
        <p:nvSpPr>
          <p:cNvPr id="10" name="Rectangle 9"/>
          <p:cNvSpPr/>
          <p:nvPr/>
        </p:nvSpPr>
        <p:spPr>
          <a:xfrm>
            <a:off x="2843813" y="3195935"/>
            <a:ext cx="1079847" cy="461665"/>
          </a:xfrm>
          <a:prstGeom prst="rect">
            <a:avLst/>
          </a:prstGeom>
        </p:spPr>
        <p:txBody>
          <a:bodyPr wrap="none">
            <a:spAutoFit/>
          </a:bodyPr>
          <a:lstStyle/>
          <a:p>
            <a:r>
              <a:rPr lang="en-US" sz="2400" dirty="0" smtClean="0"/>
              <a:t>b. 360°</a:t>
            </a:r>
            <a:endParaRPr lang="en-US" sz="2400" dirty="0"/>
          </a:p>
        </p:txBody>
      </p:sp>
      <p:sp>
        <p:nvSpPr>
          <p:cNvPr id="11" name="Rectangle 10"/>
          <p:cNvSpPr/>
          <p:nvPr/>
        </p:nvSpPr>
        <p:spPr>
          <a:xfrm>
            <a:off x="4478649" y="3175153"/>
            <a:ext cx="1064587" cy="461665"/>
          </a:xfrm>
          <a:prstGeom prst="rect">
            <a:avLst/>
          </a:prstGeom>
        </p:spPr>
        <p:txBody>
          <a:bodyPr wrap="none">
            <a:spAutoFit/>
          </a:bodyPr>
          <a:lstStyle/>
          <a:p>
            <a:r>
              <a:rPr lang="en-US" sz="2400" dirty="0" smtClean="0"/>
              <a:t>c. 540°</a:t>
            </a:r>
            <a:endParaRPr lang="en-US" sz="2400" dirty="0"/>
          </a:p>
        </p:txBody>
      </p:sp>
      <p:sp>
        <p:nvSpPr>
          <p:cNvPr id="12" name="Rectangle 11"/>
          <p:cNvSpPr/>
          <p:nvPr/>
        </p:nvSpPr>
        <p:spPr>
          <a:xfrm>
            <a:off x="6078849" y="3170688"/>
            <a:ext cx="1083951" cy="461665"/>
          </a:xfrm>
          <a:prstGeom prst="rect">
            <a:avLst/>
          </a:prstGeom>
        </p:spPr>
        <p:txBody>
          <a:bodyPr wrap="none">
            <a:spAutoFit/>
          </a:bodyPr>
          <a:lstStyle/>
          <a:p>
            <a:r>
              <a:rPr lang="en-US" sz="2400" dirty="0" smtClean="0"/>
              <a:t>d. 720°</a:t>
            </a:r>
          </a:p>
        </p:txBody>
      </p:sp>
      <p:sp>
        <p:nvSpPr>
          <p:cNvPr id="13" name="Rectangle 12"/>
          <p:cNvSpPr/>
          <p:nvPr/>
        </p:nvSpPr>
        <p:spPr>
          <a:xfrm>
            <a:off x="533400" y="3981174"/>
            <a:ext cx="8382000" cy="1200329"/>
          </a:xfrm>
          <a:prstGeom prst="rect">
            <a:avLst/>
          </a:prstGeom>
        </p:spPr>
        <p:txBody>
          <a:bodyPr wrap="square">
            <a:spAutoFit/>
          </a:bodyPr>
          <a:lstStyle/>
          <a:p>
            <a:r>
              <a:rPr lang="en-US" b="1" dirty="0" smtClean="0"/>
              <a:t>Solution:</a:t>
            </a:r>
          </a:p>
          <a:p>
            <a:pPr>
              <a:lnSpc>
                <a:spcPct val="150000"/>
              </a:lnSpc>
            </a:pPr>
            <a:r>
              <a:rPr lang="en-US" b="1" dirty="0" smtClean="0"/>
              <a:t>	    Let	        = Total of the measures of the interior angles of the polygon</a:t>
            </a:r>
          </a:p>
          <a:p>
            <a:pPr>
              <a:lnSpc>
                <a:spcPct val="150000"/>
              </a:lnSpc>
            </a:pPr>
            <a:r>
              <a:rPr lang="en-US" b="1" dirty="0" smtClean="0"/>
              <a:t>	          n = no. of sides of the polygon.</a:t>
            </a:r>
          </a:p>
        </p:txBody>
      </p:sp>
      <p:graphicFrame>
        <p:nvGraphicFramePr>
          <p:cNvPr id="14" name="Object 1"/>
          <p:cNvGraphicFramePr>
            <a:graphicFrameLocks noChangeAspect="1"/>
          </p:cNvGraphicFramePr>
          <p:nvPr/>
        </p:nvGraphicFramePr>
        <p:xfrm>
          <a:off x="2057400" y="4298674"/>
          <a:ext cx="821460" cy="468313"/>
        </p:xfrm>
        <a:graphic>
          <a:graphicData uri="http://schemas.openxmlformats.org/presentationml/2006/ole">
            <p:oleObj spid="_x0000_s77826" name="Equation" r:id="rId6" imgW="393480" imgH="203040" progId="Equation.3">
              <p:embed/>
            </p:oleObj>
          </a:graphicData>
        </a:graphic>
      </p:graphicFrame>
      <p:graphicFrame>
        <p:nvGraphicFramePr>
          <p:cNvPr id="15" name="Object 2"/>
          <p:cNvGraphicFramePr>
            <a:graphicFrameLocks noChangeAspect="1"/>
          </p:cNvGraphicFramePr>
          <p:nvPr/>
        </p:nvGraphicFramePr>
        <p:xfrm>
          <a:off x="1752600" y="5321121"/>
          <a:ext cx="2290763" cy="425820"/>
        </p:xfrm>
        <a:graphic>
          <a:graphicData uri="http://schemas.openxmlformats.org/presentationml/2006/ole">
            <p:oleObj spid="_x0000_s77827" name="Equation" r:id="rId7" imgW="1206360" imgH="203040" progId="Equation.3">
              <p:embed/>
            </p:oleObj>
          </a:graphicData>
        </a:graphic>
      </p:graphicFrame>
      <p:graphicFrame>
        <p:nvGraphicFramePr>
          <p:cNvPr id="16" name="Object 3"/>
          <p:cNvGraphicFramePr>
            <a:graphicFrameLocks noChangeAspect="1"/>
          </p:cNvGraphicFramePr>
          <p:nvPr/>
        </p:nvGraphicFramePr>
        <p:xfrm>
          <a:off x="4224337" y="5352870"/>
          <a:ext cx="1566863" cy="425450"/>
        </p:xfrm>
        <a:graphic>
          <a:graphicData uri="http://schemas.openxmlformats.org/presentationml/2006/ole">
            <p:oleObj spid="_x0000_s77828" name="Equation" r:id="rId8" imgW="825480" imgH="203040" progId="Equation.3">
              <p:embed/>
            </p:oleObj>
          </a:graphicData>
        </a:graphic>
      </p:graphicFrame>
      <p:graphicFrame>
        <p:nvGraphicFramePr>
          <p:cNvPr id="17" name="Object 4"/>
          <p:cNvGraphicFramePr>
            <a:graphicFrameLocks noChangeAspect="1"/>
          </p:cNvGraphicFramePr>
          <p:nvPr/>
        </p:nvGraphicFramePr>
        <p:xfrm>
          <a:off x="5791200" y="5325882"/>
          <a:ext cx="1131887" cy="452438"/>
        </p:xfrm>
        <a:graphic>
          <a:graphicData uri="http://schemas.openxmlformats.org/presentationml/2006/ole">
            <p:oleObj spid="_x0000_s77829" name="Equation" r:id="rId9" imgW="596880" imgH="215640" progId="Equation.3">
              <p:embed/>
            </p:oleObj>
          </a:graphicData>
        </a:graphic>
      </p:graphicFrame>
      <p:graphicFrame>
        <p:nvGraphicFramePr>
          <p:cNvPr id="18" name="Object 5"/>
          <p:cNvGraphicFramePr>
            <a:graphicFrameLocks noChangeAspect="1"/>
          </p:cNvGraphicFramePr>
          <p:nvPr/>
        </p:nvGraphicFramePr>
        <p:xfrm>
          <a:off x="1266825" y="5702120"/>
          <a:ext cx="2619375" cy="654147"/>
        </p:xfrm>
        <a:graphic>
          <a:graphicData uri="http://schemas.openxmlformats.org/presentationml/2006/ole">
            <p:oleObj spid="_x0000_s77830" name="Equation" r:id="rId10" imgW="787320" imgH="177480" progId="Equation.3">
              <p:embed/>
            </p:oleObj>
          </a:graphicData>
        </a:graphic>
      </p:graphicFrame>
      <p:sp>
        <p:nvSpPr>
          <p:cNvPr id="19" name="Rounded Rectangle 18"/>
          <p:cNvSpPr/>
          <p:nvPr/>
        </p:nvSpPr>
        <p:spPr>
          <a:xfrm>
            <a:off x="431442" y="3867687"/>
            <a:ext cx="8433516" cy="2837913"/>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4457700" y="3170688"/>
            <a:ext cx="10287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par>
                                <p:cTn id="43" presetID="26"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80">
                                          <p:stCondLst>
                                            <p:cond delay="0"/>
                                          </p:stCondLst>
                                        </p:cTn>
                                        <p:tgtEl>
                                          <p:spTgt spid="8"/>
                                        </p:tgtEl>
                                      </p:cBhvr>
                                    </p:animEffect>
                                    <p:anim calcmode="lin" valueType="num">
                                      <p:cBhvr>
                                        <p:cTn id="4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1" dur="26">
                                          <p:stCondLst>
                                            <p:cond delay="650"/>
                                          </p:stCondLst>
                                        </p:cTn>
                                        <p:tgtEl>
                                          <p:spTgt spid="8"/>
                                        </p:tgtEl>
                                      </p:cBhvr>
                                      <p:to x="100000" y="60000"/>
                                    </p:animScale>
                                    <p:animScale>
                                      <p:cBhvr>
                                        <p:cTn id="52" dur="166" decel="50000">
                                          <p:stCondLst>
                                            <p:cond delay="676"/>
                                          </p:stCondLst>
                                        </p:cTn>
                                        <p:tgtEl>
                                          <p:spTgt spid="8"/>
                                        </p:tgtEl>
                                      </p:cBhvr>
                                      <p:to x="100000" y="100000"/>
                                    </p:animScale>
                                    <p:animScale>
                                      <p:cBhvr>
                                        <p:cTn id="53" dur="26">
                                          <p:stCondLst>
                                            <p:cond delay="1312"/>
                                          </p:stCondLst>
                                        </p:cTn>
                                        <p:tgtEl>
                                          <p:spTgt spid="8"/>
                                        </p:tgtEl>
                                      </p:cBhvr>
                                      <p:to x="100000" y="80000"/>
                                    </p:animScale>
                                    <p:animScale>
                                      <p:cBhvr>
                                        <p:cTn id="54" dur="166" decel="50000">
                                          <p:stCondLst>
                                            <p:cond delay="1338"/>
                                          </p:stCondLst>
                                        </p:cTn>
                                        <p:tgtEl>
                                          <p:spTgt spid="8"/>
                                        </p:tgtEl>
                                      </p:cBhvr>
                                      <p:to x="100000" y="100000"/>
                                    </p:animScale>
                                    <p:animScale>
                                      <p:cBhvr>
                                        <p:cTn id="55" dur="26">
                                          <p:stCondLst>
                                            <p:cond delay="1642"/>
                                          </p:stCondLst>
                                        </p:cTn>
                                        <p:tgtEl>
                                          <p:spTgt spid="8"/>
                                        </p:tgtEl>
                                      </p:cBhvr>
                                      <p:to x="100000" y="90000"/>
                                    </p:animScale>
                                    <p:animScale>
                                      <p:cBhvr>
                                        <p:cTn id="56" dur="166" decel="50000">
                                          <p:stCondLst>
                                            <p:cond delay="1668"/>
                                          </p:stCondLst>
                                        </p:cTn>
                                        <p:tgtEl>
                                          <p:spTgt spid="8"/>
                                        </p:tgtEl>
                                      </p:cBhvr>
                                      <p:to x="100000" y="100000"/>
                                    </p:animScale>
                                    <p:animScale>
                                      <p:cBhvr>
                                        <p:cTn id="57" dur="26">
                                          <p:stCondLst>
                                            <p:cond delay="1808"/>
                                          </p:stCondLst>
                                        </p:cTn>
                                        <p:tgtEl>
                                          <p:spTgt spid="8"/>
                                        </p:tgtEl>
                                      </p:cBhvr>
                                      <p:to x="100000" y="95000"/>
                                    </p:animScale>
                                    <p:animScale>
                                      <p:cBhvr>
                                        <p:cTn id="58" dur="166" decel="50000">
                                          <p:stCondLst>
                                            <p:cond delay="1834"/>
                                          </p:stCondLst>
                                        </p:cTn>
                                        <p:tgtEl>
                                          <p:spTgt spid="8"/>
                                        </p:tgtEl>
                                      </p:cBhvr>
                                      <p:to x="100000" y="100000"/>
                                    </p:animScale>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slide(fromBottom)">
                                      <p:cBhvr>
                                        <p:cTn id="63" dur="500"/>
                                        <p:tgtEl>
                                          <p:spTgt spid="9"/>
                                        </p:tgtEl>
                                      </p:cBhvr>
                                    </p:animEffect>
                                  </p:childTnLst>
                                </p:cTn>
                              </p:par>
                              <p:par>
                                <p:cTn id="64" presetID="12" presetClass="entr" presetSubtype="4" fill="hold" grpId="0" nodeType="with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slide(fromBottom)">
                                      <p:cBhvr>
                                        <p:cTn id="66" dur="500"/>
                                        <p:tgtEl>
                                          <p:spTgt spid="10"/>
                                        </p:tgtEl>
                                      </p:cBhvr>
                                    </p:animEffect>
                                  </p:childTnLst>
                                </p:cTn>
                              </p:par>
                              <p:par>
                                <p:cTn id="67" presetID="12" presetClass="entr" presetSubtype="4"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slide(fromBottom)">
                                      <p:cBhvr>
                                        <p:cTn id="69" dur="500"/>
                                        <p:tgtEl>
                                          <p:spTgt spid="11"/>
                                        </p:tgtEl>
                                      </p:cBhvr>
                                    </p:animEffect>
                                  </p:childTnLst>
                                </p:cTn>
                              </p:par>
                              <p:par>
                                <p:cTn id="70" presetID="12" presetClass="entr" presetSubtype="4"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slide(fromBottom)">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37" presetClass="entr" presetSubtype="0" fill="hold"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1000"/>
                                        <p:tgtEl>
                                          <p:spTgt spid="13">
                                            <p:txEl>
                                              <p:pRg st="0" end="0"/>
                                            </p:txEl>
                                          </p:spTgt>
                                        </p:tgtEl>
                                      </p:cBhvr>
                                    </p:animEffect>
                                    <p:anim calcmode="lin" valueType="num">
                                      <p:cBhvr>
                                        <p:cTn id="7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79" dur="900" decel="100000" fill="hold"/>
                                        <p:tgtEl>
                                          <p:spTgt spid="13">
                                            <p:txEl>
                                              <p:pRg st="0" end="0"/>
                                            </p:txEl>
                                          </p:spTgt>
                                        </p:tgtEl>
                                        <p:attrNameLst>
                                          <p:attrName>ppt_y</p:attrName>
                                        </p:attrNameLst>
                                      </p:cBhvr>
                                      <p:tavLst>
                                        <p:tav tm="0">
                                          <p:val>
                                            <p:strVal val="#ppt_y+1"/>
                                          </p:val>
                                        </p:tav>
                                        <p:tav tm="100000">
                                          <p:val>
                                            <p:strVal val="#ppt_y-.03"/>
                                          </p:val>
                                        </p:tav>
                                      </p:tavLst>
                                    </p:anim>
                                    <p:anim calcmode="lin" valueType="num">
                                      <p:cBhvr>
                                        <p:cTn id="80" dur="100" accel="100000" fill="hold">
                                          <p:stCondLst>
                                            <p:cond delay="900"/>
                                          </p:stCondLst>
                                        </p:cTn>
                                        <p:tgtEl>
                                          <p:spTgt spid="13">
                                            <p:txEl>
                                              <p:pRg st="0" end="0"/>
                                            </p:txEl>
                                          </p:spTgt>
                                        </p:tgtEl>
                                        <p:attrNameLst>
                                          <p:attrName>ppt_y</p:attrName>
                                        </p:attrNameLst>
                                      </p:cBhvr>
                                      <p:tavLst>
                                        <p:tav tm="0">
                                          <p:val>
                                            <p:strVal val="#ppt_y-.03"/>
                                          </p:val>
                                        </p:tav>
                                        <p:tav tm="100000">
                                          <p:val>
                                            <p:strVal val="#ppt_y"/>
                                          </p:val>
                                        </p:tav>
                                      </p:tavLst>
                                    </p:anim>
                                  </p:childTnLst>
                                </p:cTn>
                              </p:par>
                              <p:par>
                                <p:cTn id="81" presetID="37"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1000"/>
                                        <p:tgtEl>
                                          <p:spTgt spid="19"/>
                                        </p:tgtEl>
                                      </p:cBhvr>
                                    </p:animEffect>
                                    <p:anim calcmode="lin" valueType="num">
                                      <p:cBhvr>
                                        <p:cTn id="84" dur="1000" fill="hold"/>
                                        <p:tgtEl>
                                          <p:spTgt spid="19"/>
                                        </p:tgtEl>
                                        <p:attrNameLst>
                                          <p:attrName>ppt_x</p:attrName>
                                        </p:attrNameLst>
                                      </p:cBhvr>
                                      <p:tavLst>
                                        <p:tav tm="0">
                                          <p:val>
                                            <p:strVal val="#ppt_x"/>
                                          </p:val>
                                        </p:tav>
                                        <p:tav tm="100000">
                                          <p:val>
                                            <p:strVal val="#ppt_x"/>
                                          </p:val>
                                        </p:tav>
                                      </p:tavLst>
                                    </p:anim>
                                    <p:anim calcmode="lin" valueType="num">
                                      <p:cBhvr>
                                        <p:cTn id="85" dur="900" decel="100000" fill="hold"/>
                                        <p:tgtEl>
                                          <p:spTgt spid="19"/>
                                        </p:tgtEl>
                                        <p:attrNameLst>
                                          <p:attrName>ppt_y</p:attrName>
                                        </p:attrNameLst>
                                      </p:cBhvr>
                                      <p:tavLst>
                                        <p:tav tm="0">
                                          <p:val>
                                            <p:strVal val="#ppt_y+1"/>
                                          </p:val>
                                        </p:tav>
                                        <p:tav tm="100000">
                                          <p:val>
                                            <p:strVal val="#ppt_y-.03"/>
                                          </p:val>
                                        </p:tav>
                                      </p:tavLst>
                                    </p:anim>
                                    <p:anim calcmode="lin" valueType="num">
                                      <p:cBhvr>
                                        <p:cTn id="86"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9" presetClass="entr" presetSubtype="0" fill="hold" nodeType="clickEffect">
                                  <p:stCondLst>
                                    <p:cond delay="0"/>
                                  </p:stCondLst>
                                  <p:childTnLst>
                                    <p:set>
                                      <p:cBhvr>
                                        <p:cTn id="90" dur="1" fill="hold">
                                          <p:stCondLst>
                                            <p:cond delay="0"/>
                                          </p:stCondLst>
                                        </p:cTn>
                                        <p:tgtEl>
                                          <p:spTgt spid="13">
                                            <p:txEl>
                                              <p:pRg st="1" end="1"/>
                                            </p:txEl>
                                          </p:spTgt>
                                        </p:tgtEl>
                                        <p:attrNameLst>
                                          <p:attrName>style.visibility</p:attrName>
                                        </p:attrNameLst>
                                      </p:cBhvr>
                                      <p:to>
                                        <p:strVal val="visible"/>
                                      </p:to>
                                    </p:set>
                                    <p:anim calcmode="lin" valueType="num">
                                      <p:cBhvr>
                                        <p:cTn id="91" dur="1000" fill="hold"/>
                                        <p:tgtEl>
                                          <p:spTgt spid="13">
                                            <p:txEl>
                                              <p:pRg st="1" end="1"/>
                                            </p:txEl>
                                          </p:spTgt>
                                        </p:tgtEl>
                                        <p:attrNameLst>
                                          <p:attrName>ppt_x</p:attrName>
                                        </p:attrNameLst>
                                      </p:cBhvr>
                                      <p:tavLst>
                                        <p:tav tm="0">
                                          <p:val>
                                            <p:strVal val="#ppt_x-.2"/>
                                          </p:val>
                                        </p:tav>
                                        <p:tav tm="100000">
                                          <p:val>
                                            <p:strVal val="#ppt_x"/>
                                          </p:val>
                                        </p:tav>
                                      </p:tavLst>
                                    </p:anim>
                                    <p:anim calcmode="lin" valueType="num">
                                      <p:cBhvr>
                                        <p:cTn id="92" dur="1000" fill="hold"/>
                                        <p:tgtEl>
                                          <p:spTgt spid="1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3" dur="1000"/>
                                        <p:tgtEl>
                                          <p:spTgt spid="13">
                                            <p:txEl>
                                              <p:pRg st="1" end="1"/>
                                            </p:txEl>
                                          </p:spTgt>
                                        </p:tgtEl>
                                      </p:cBhvr>
                                    </p:animEffect>
                                  </p:childTnLst>
                                </p:cTn>
                              </p:par>
                              <p:par>
                                <p:cTn id="94" presetID="29" presetClass="entr" presetSubtype="0" fill="hold" nodeType="withEffect">
                                  <p:stCondLst>
                                    <p:cond delay="0"/>
                                  </p:stCondLst>
                                  <p:childTnLst>
                                    <p:set>
                                      <p:cBhvr>
                                        <p:cTn id="95" dur="1" fill="hold">
                                          <p:stCondLst>
                                            <p:cond delay="0"/>
                                          </p:stCondLst>
                                        </p:cTn>
                                        <p:tgtEl>
                                          <p:spTgt spid="14"/>
                                        </p:tgtEl>
                                        <p:attrNameLst>
                                          <p:attrName>style.visibility</p:attrName>
                                        </p:attrNameLst>
                                      </p:cBhvr>
                                      <p:to>
                                        <p:strVal val="visible"/>
                                      </p:to>
                                    </p:set>
                                    <p:anim calcmode="lin" valueType="num">
                                      <p:cBhvr>
                                        <p:cTn id="96" dur="1000" fill="hold"/>
                                        <p:tgtEl>
                                          <p:spTgt spid="14"/>
                                        </p:tgtEl>
                                        <p:attrNameLst>
                                          <p:attrName>ppt_x</p:attrName>
                                        </p:attrNameLst>
                                      </p:cBhvr>
                                      <p:tavLst>
                                        <p:tav tm="0">
                                          <p:val>
                                            <p:strVal val="#ppt_x-.2"/>
                                          </p:val>
                                        </p:tav>
                                        <p:tav tm="100000">
                                          <p:val>
                                            <p:strVal val="#ppt_x"/>
                                          </p:val>
                                        </p:tav>
                                      </p:tavLst>
                                    </p:anim>
                                    <p:anim calcmode="lin" valueType="num">
                                      <p:cBhvr>
                                        <p:cTn id="97" dur="10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98" dur="1000"/>
                                        <p:tgtEl>
                                          <p:spTgt spid="14"/>
                                        </p:tgtEl>
                                      </p:cBhvr>
                                    </p:animEffect>
                                  </p:childTnLst>
                                </p:cTn>
                              </p:par>
                            </p:childTnLst>
                          </p:cTn>
                        </p:par>
                      </p:childTnLst>
                    </p:cTn>
                  </p:par>
                  <p:par>
                    <p:cTn id="99" fill="hold">
                      <p:stCondLst>
                        <p:cond delay="indefinite"/>
                      </p:stCondLst>
                      <p:childTnLst>
                        <p:par>
                          <p:cTn id="100" fill="hold">
                            <p:stCondLst>
                              <p:cond delay="0"/>
                            </p:stCondLst>
                            <p:childTnLst>
                              <p:par>
                                <p:cTn id="101" presetID="29" presetClass="entr" presetSubtype="0" fill="hold" nodeType="clickEffect">
                                  <p:stCondLst>
                                    <p:cond delay="0"/>
                                  </p:stCondLst>
                                  <p:childTnLst>
                                    <p:set>
                                      <p:cBhvr>
                                        <p:cTn id="102" dur="1" fill="hold">
                                          <p:stCondLst>
                                            <p:cond delay="0"/>
                                          </p:stCondLst>
                                        </p:cTn>
                                        <p:tgtEl>
                                          <p:spTgt spid="13">
                                            <p:txEl>
                                              <p:pRg st="2" end="2"/>
                                            </p:txEl>
                                          </p:spTgt>
                                        </p:tgtEl>
                                        <p:attrNameLst>
                                          <p:attrName>style.visibility</p:attrName>
                                        </p:attrNameLst>
                                      </p:cBhvr>
                                      <p:to>
                                        <p:strVal val="visible"/>
                                      </p:to>
                                    </p:set>
                                    <p:anim calcmode="lin" valueType="num">
                                      <p:cBhvr>
                                        <p:cTn id="103" dur="1000" fill="hold"/>
                                        <p:tgtEl>
                                          <p:spTgt spid="13">
                                            <p:txEl>
                                              <p:pRg st="2" end="2"/>
                                            </p:txEl>
                                          </p:spTgt>
                                        </p:tgtEl>
                                        <p:attrNameLst>
                                          <p:attrName>ppt_x</p:attrName>
                                        </p:attrNameLst>
                                      </p:cBhvr>
                                      <p:tavLst>
                                        <p:tav tm="0">
                                          <p:val>
                                            <p:strVal val="#ppt_x-.2"/>
                                          </p:val>
                                        </p:tav>
                                        <p:tav tm="100000">
                                          <p:val>
                                            <p:strVal val="#ppt_x"/>
                                          </p:val>
                                        </p:tav>
                                      </p:tavLst>
                                    </p:anim>
                                    <p:anim calcmode="lin" valueType="num">
                                      <p:cBhvr>
                                        <p:cTn id="104" dur="1000" fill="hold"/>
                                        <p:tgtEl>
                                          <p:spTgt spid="1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05" dur="1000"/>
                                        <p:tgtEl>
                                          <p:spTgt spid="13">
                                            <p:txEl>
                                              <p:pRg st="2" end="2"/>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9" presetClass="entr" presetSubtype="0" fill="hold" nodeType="clickEffect">
                                  <p:stCondLst>
                                    <p:cond delay="0"/>
                                  </p:stCondLst>
                                  <p:childTnLst>
                                    <p:set>
                                      <p:cBhvr>
                                        <p:cTn id="109" dur="1" fill="hold">
                                          <p:stCondLst>
                                            <p:cond delay="0"/>
                                          </p:stCondLst>
                                        </p:cTn>
                                        <p:tgtEl>
                                          <p:spTgt spid="15"/>
                                        </p:tgtEl>
                                        <p:attrNameLst>
                                          <p:attrName>style.visibility</p:attrName>
                                        </p:attrNameLst>
                                      </p:cBhvr>
                                      <p:to>
                                        <p:strVal val="visible"/>
                                      </p:to>
                                    </p:set>
                                    <p:anim calcmode="lin" valueType="num">
                                      <p:cBhvr>
                                        <p:cTn id="110" dur="1000" fill="hold"/>
                                        <p:tgtEl>
                                          <p:spTgt spid="15"/>
                                        </p:tgtEl>
                                        <p:attrNameLst>
                                          <p:attrName>ppt_x</p:attrName>
                                        </p:attrNameLst>
                                      </p:cBhvr>
                                      <p:tavLst>
                                        <p:tav tm="0">
                                          <p:val>
                                            <p:strVal val="#ppt_x-.2"/>
                                          </p:val>
                                        </p:tav>
                                        <p:tav tm="100000">
                                          <p:val>
                                            <p:strVal val="#ppt_x"/>
                                          </p:val>
                                        </p:tav>
                                      </p:tavLst>
                                    </p:anim>
                                    <p:anim calcmode="lin" valueType="num">
                                      <p:cBhvr>
                                        <p:cTn id="111" dur="10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112" dur="1000"/>
                                        <p:tgtEl>
                                          <p:spTgt spid="15"/>
                                        </p:tgtEl>
                                      </p:cBhvr>
                                    </p:animEffect>
                                  </p:childTnLst>
                                </p:cTn>
                              </p:par>
                            </p:childTnLst>
                          </p:cTn>
                        </p:par>
                      </p:childTnLst>
                    </p:cTn>
                  </p:par>
                  <p:par>
                    <p:cTn id="113" fill="hold">
                      <p:stCondLst>
                        <p:cond delay="indefinite"/>
                      </p:stCondLst>
                      <p:childTnLst>
                        <p:par>
                          <p:cTn id="114" fill="hold">
                            <p:stCondLst>
                              <p:cond delay="0"/>
                            </p:stCondLst>
                            <p:childTnLst>
                              <p:par>
                                <p:cTn id="115" presetID="29" presetClass="entr" presetSubtype="0" fill="hold" nodeType="clickEffect">
                                  <p:stCondLst>
                                    <p:cond delay="0"/>
                                  </p:stCondLst>
                                  <p:childTnLst>
                                    <p:set>
                                      <p:cBhvr>
                                        <p:cTn id="116" dur="1" fill="hold">
                                          <p:stCondLst>
                                            <p:cond delay="0"/>
                                          </p:stCondLst>
                                        </p:cTn>
                                        <p:tgtEl>
                                          <p:spTgt spid="16"/>
                                        </p:tgtEl>
                                        <p:attrNameLst>
                                          <p:attrName>style.visibility</p:attrName>
                                        </p:attrNameLst>
                                      </p:cBhvr>
                                      <p:to>
                                        <p:strVal val="visible"/>
                                      </p:to>
                                    </p:set>
                                    <p:anim calcmode="lin" valueType="num">
                                      <p:cBhvr>
                                        <p:cTn id="117" dur="1000" fill="hold"/>
                                        <p:tgtEl>
                                          <p:spTgt spid="16"/>
                                        </p:tgtEl>
                                        <p:attrNameLst>
                                          <p:attrName>ppt_x</p:attrName>
                                        </p:attrNameLst>
                                      </p:cBhvr>
                                      <p:tavLst>
                                        <p:tav tm="0">
                                          <p:val>
                                            <p:strVal val="#ppt_x-.2"/>
                                          </p:val>
                                        </p:tav>
                                        <p:tav tm="100000">
                                          <p:val>
                                            <p:strVal val="#ppt_x"/>
                                          </p:val>
                                        </p:tav>
                                      </p:tavLst>
                                    </p:anim>
                                    <p:anim calcmode="lin" valueType="num">
                                      <p:cBhvr>
                                        <p:cTn id="118" dur="10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119" dur="1000"/>
                                        <p:tgtEl>
                                          <p:spTgt spid="16"/>
                                        </p:tgtEl>
                                      </p:cBhvr>
                                    </p:animEffect>
                                  </p:childTnLst>
                                </p:cTn>
                              </p:par>
                            </p:childTnLst>
                          </p:cTn>
                        </p:par>
                      </p:childTnLst>
                    </p:cTn>
                  </p:par>
                  <p:par>
                    <p:cTn id="120" fill="hold">
                      <p:stCondLst>
                        <p:cond delay="indefinite"/>
                      </p:stCondLst>
                      <p:childTnLst>
                        <p:par>
                          <p:cTn id="121" fill="hold">
                            <p:stCondLst>
                              <p:cond delay="0"/>
                            </p:stCondLst>
                            <p:childTnLst>
                              <p:par>
                                <p:cTn id="122" presetID="29" presetClass="entr" presetSubtype="0" fill="hold" nodeType="clickEffect">
                                  <p:stCondLst>
                                    <p:cond delay="0"/>
                                  </p:stCondLst>
                                  <p:childTnLst>
                                    <p:set>
                                      <p:cBhvr>
                                        <p:cTn id="123" dur="1" fill="hold">
                                          <p:stCondLst>
                                            <p:cond delay="0"/>
                                          </p:stCondLst>
                                        </p:cTn>
                                        <p:tgtEl>
                                          <p:spTgt spid="17"/>
                                        </p:tgtEl>
                                        <p:attrNameLst>
                                          <p:attrName>style.visibility</p:attrName>
                                        </p:attrNameLst>
                                      </p:cBhvr>
                                      <p:to>
                                        <p:strVal val="visible"/>
                                      </p:to>
                                    </p:set>
                                    <p:anim calcmode="lin" valueType="num">
                                      <p:cBhvr>
                                        <p:cTn id="124" dur="1000" fill="hold"/>
                                        <p:tgtEl>
                                          <p:spTgt spid="17"/>
                                        </p:tgtEl>
                                        <p:attrNameLst>
                                          <p:attrName>ppt_x</p:attrName>
                                        </p:attrNameLst>
                                      </p:cBhvr>
                                      <p:tavLst>
                                        <p:tav tm="0">
                                          <p:val>
                                            <p:strVal val="#ppt_x-.2"/>
                                          </p:val>
                                        </p:tav>
                                        <p:tav tm="100000">
                                          <p:val>
                                            <p:strVal val="#ppt_x"/>
                                          </p:val>
                                        </p:tav>
                                      </p:tavLst>
                                    </p:anim>
                                    <p:anim calcmode="lin" valueType="num">
                                      <p:cBhvr>
                                        <p:cTn id="125" dur="10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126" dur="1000"/>
                                        <p:tgtEl>
                                          <p:spTgt spid="17"/>
                                        </p:tgtEl>
                                      </p:cBhvr>
                                    </p:animEffect>
                                  </p:childTnLst>
                                </p:cTn>
                              </p:par>
                            </p:childTnLst>
                          </p:cTn>
                        </p:par>
                      </p:childTnLst>
                    </p:cTn>
                  </p:par>
                  <p:par>
                    <p:cTn id="127" fill="hold">
                      <p:stCondLst>
                        <p:cond delay="indefinite"/>
                      </p:stCondLst>
                      <p:childTnLst>
                        <p:par>
                          <p:cTn id="128" fill="hold">
                            <p:stCondLst>
                              <p:cond delay="0"/>
                            </p:stCondLst>
                            <p:childTnLst>
                              <p:par>
                                <p:cTn id="129" presetID="29" presetClass="entr" presetSubtype="0" fill="hold" nodeType="clickEffect">
                                  <p:stCondLst>
                                    <p:cond delay="0"/>
                                  </p:stCondLst>
                                  <p:childTnLst>
                                    <p:set>
                                      <p:cBhvr>
                                        <p:cTn id="130" dur="1" fill="hold">
                                          <p:stCondLst>
                                            <p:cond delay="0"/>
                                          </p:stCondLst>
                                        </p:cTn>
                                        <p:tgtEl>
                                          <p:spTgt spid="18"/>
                                        </p:tgtEl>
                                        <p:attrNameLst>
                                          <p:attrName>style.visibility</p:attrName>
                                        </p:attrNameLst>
                                      </p:cBhvr>
                                      <p:to>
                                        <p:strVal val="visible"/>
                                      </p:to>
                                    </p:set>
                                    <p:anim calcmode="lin" valueType="num">
                                      <p:cBhvr>
                                        <p:cTn id="131" dur="1000" fill="hold"/>
                                        <p:tgtEl>
                                          <p:spTgt spid="18"/>
                                        </p:tgtEl>
                                        <p:attrNameLst>
                                          <p:attrName>ppt_x</p:attrName>
                                        </p:attrNameLst>
                                      </p:cBhvr>
                                      <p:tavLst>
                                        <p:tav tm="0">
                                          <p:val>
                                            <p:strVal val="#ppt_x-.2"/>
                                          </p:val>
                                        </p:tav>
                                        <p:tav tm="100000">
                                          <p:val>
                                            <p:strVal val="#ppt_x"/>
                                          </p:val>
                                        </p:tav>
                                      </p:tavLst>
                                    </p:anim>
                                    <p:anim calcmode="lin" valueType="num">
                                      <p:cBhvr>
                                        <p:cTn id="132" dur="1000" fill="hold"/>
                                        <p:tgtEl>
                                          <p:spTgt spid="18"/>
                                        </p:tgtEl>
                                        <p:attrNameLst>
                                          <p:attrName>ppt_y</p:attrName>
                                        </p:attrNameLst>
                                      </p:cBhvr>
                                      <p:tavLst>
                                        <p:tav tm="0">
                                          <p:val>
                                            <p:strVal val="#ppt_y"/>
                                          </p:val>
                                        </p:tav>
                                        <p:tav tm="100000">
                                          <p:val>
                                            <p:strVal val="#ppt_y"/>
                                          </p:val>
                                        </p:tav>
                                      </p:tavLst>
                                    </p:anim>
                                    <p:animEffect transition="in" filter="wipe(right)" prLst="gradientSize: 0.1">
                                      <p:cBhvr>
                                        <p:cTn id="133" dur="1000"/>
                                        <p:tgtEl>
                                          <p:spTgt spid="18"/>
                                        </p:tgtEl>
                                      </p:cBhvr>
                                    </p:animEffect>
                                  </p:childTnLst>
                                </p:cTn>
                              </p:par>
                            </p:childTnLst>
                          </p:cTn>
                        </p:par>
                      </p:childTnLst>
                    </p:cTn>
                  </p:par>
                  <p:par>
                    <p:cTn id="134" fill="hold">
                      <p:stCondLst>
                        <p:cond delay="indefinite"/>
                      </p:stCondLst>
                      <p:childTnLst>
                        <p:par>
                          <p:cTn id="135" fill="hold">
                            <p:stCondLst>
                              <p:cond delay="0"/>
                            </p:stCondLst>
                            <p:childTnLst>
                              <p:par>
                                <p:cTn id="136" presetID="20" presetClass="entr" presetSubtype="0" fill="hold" grpId="0" nodeType="clickEffect">
                                  <p:stCondLst>
                                    <p:cond delay="0"/>
                                  </p:stCondLst>
                                  <p:childTnLst>
                                    <p:set>
                                      <p:cBhvr>
                                        <p:cTn id="137" dur="1" fill="hold">
                                          <p:stCondLst>
                                            <p:cond delay="0"/>
                                          </p:stCondLst>
                                        </p:cTn>
                                        <p:tgtEl>
                                          <p:spTgt spid="20"/>
                                        </p:tgtEl>
                                        <p:attrNameLst>
                                          <p:attrName>style.visibility</p:attrName>
                                        </p:attrNameLst>
                                      </p:cBhvr>
                                      <p:to>
                                        <p:strVal val="visible"/>
                                      </p:to>
                                    </p:set>
                                    <p:animEffect transition="in" filter="wedge">
                                      <p:cBhvr>
                                        <p:cTn id="138"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p:bldP spid="10" grpId="0"/>
      <p:bldP spid="11" grpId="0"/>
      <p:bldP spid="12" grpId="0"/>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6809" y="609600"/>
            <a:ext cx="8299991" cy="523220"/>
          </a:xfrm>
          <a:prstGeom prst="rect">
            <a:avLst/>
          </a:prstGeom>
        </p:spPr>
        <p:txBody>
          <a:bodyPr wrap="square">
            <a:spAutoFit/>
          </a:bodyPr>
          <a:lstStyle/>
          <a:p>
            <a:pPr marL="347663" indent="-347663"/>
            <a:r>
              <a:rPr lang="en-US" sz="2800" dirty="0" smtClean="0"/>
              <a:t>10. Find the measure of angle 1 in the figure.</a:t>
            </a:r>
            <a:endParaRPr lang="en-US" sz="2800" dirty="0"/>
          </a:p>
        </p:txBody>
      </p:sp>
      <p:cxnSp>
        <p:nvCxnSpPr>
          <p:cNvPr id="6" name="AutoShape 7"/>
          <p:cNvCxnSpPr>
            <a:cxnSpLocks noChangeShapeType="1"/>
          </p:cNvCxnSpPr>
          <p:nvPr/>
        </p:nvCxnSpPr>
        <p:spPr bwMode="auto">
          <a:xfrm rot="1200000" flipV="1">
            <a:off x="2340082" y="2177774"/>
            <a:ext cx="4114800" cy="0"/>
          </a:xfrm>
          <a:prstGeom prst="straightConnector1">
            <a:avLst/>
          </a:prstGeom>
          <a:noFill/>
          <a:ln w="38100">
            <a:solidFill>
              <a:schemeClr val="tx1"/>
            </a:solidFill>
            <a:round/>
            <a:headEnd type="triangle" w="med" len="med"/>
            <a:tailEnd type="triangle" w="med" len="med"/>
          </a:ln>
        </p:spPr>
      </p:cxnSp>
      <p:sp>
        <p:nvSpPr>
          <p:cNvPr id="10" name="Rectangle 9"/>
          <p:cNvSpPr/>
          <p:nvPr/>
        </p:nvSpPr>
        <p:spPr>
          <a:xfrm>
            <a:off x="3594279" y="1967110"/>
            <a:ext cx="256802" cy="369332"/>
          </a:xfrm>
          <a:prstGeom prst="rect">
            <a:avLst/>
          </a:prstGeom>
          <a:ln>
            <a:noFill/>
          </a:ln>
        </p:spPr>
        <p:txBody>
          <a:bodyPr wrap="none">
            <a:spAutoFit/>
          </a:bodyPr>
          <a:lstStyle/>
          <a:p>
            <a:r>
              <a:rPr lang="en-US" dirty="0" smtClean="0"/>
              <a:t>1</a:t>
            </a:r>
            <a:endParaRPr lang="en-US" dirty="0"/>
          </a:p>
        </p:txBody>
      </p:sp>
      <p:sp>
        <p:nvSpPr>
          <p:cNvPr id="11" name="Rectangle 10"/>
          <p:cNvSpPr/>
          <p:nvPr/>
        </p:nvSpPr>
        <p:spPr>
          <a:xfrm>
            <a:off x="3923763" y="1663521"/>
            <a:ext cx="856325" cy="369332"/>
          </a:xfrm>
          <a:prstGeom prst="rect">
            <a:avLst/>
          </a:prstGeom>
          <a:ln>
            <a:noFill/>
          </a:ln>
        </p:spPr>
        <p:txBody>
          <a:bodyPr wrap="none">
            <a:spAutoFit/>
          </a:bodyPr>
          <a:lstStyle/>
          <a:p>
            <a:r>
              <a:rPr lang="en-US" dirty="0" smtClean="0"/>
              <a:t>3x + 20</a:t>
            </a:r>
            <a:endParaRPr lang="en-US" dirty="0"/>
          </a:p>
        </p:txBody>
      </p:sp>
      <p:sp>
        <p:nvSpPr>
          <p:cNvPr id="13" name="Rectangle 12"/>
          <p:cNvSpPr/>
          <p:nvPr/>
        </p:nvSpPr>
        <p:spPr>
          <a:xfrm>
            <a:off x="3905638" y="2308399"/>
            <a:ext cx="856325" cy="369332"/>
          </a:xfrm>
          <a:prstGeom prst="rect">
            <a:avLst/>
          </a:prstGeom>
          <a:ln>
            <a:noFill/>
          </a:ln>
        </p:spPr>
        <p:txBody>
          <a:bodyPr wrap="none">
            <a:spAutoFit/>
          </a:bodyPr>
          <a:lstStyle/>
          <a:p>
            <a:r>
              <a:rPr lang="en-US" dirty="0" smtClean="0"/>
              <a:t>4x – 25</a:t>
            </a:r>
            <a:endParaRPr lang="en-US" dirty="0"/>
          </a:p>
        </p:txBody>
      </p:sp>
      <p:sp>
        <p:nvSpPr>
          <p:cNvPr id="14" name="Rectangle 13"/>
          <p:cNvSpPr/>
          <p:nvPr/>
        </p:nvSpPr>
        <p:spPr>
          <a:xfrm>
            <a:off x="1066800" y="3101340"/>
            <a:ext cx="1016625" cy="523220"/>
          </a:xfrm>
          <a:prstGeom prst="rect">
            <a:avLst/>
          </a:prstGeom>
        </p:spPr>
        <p:txBody>
          <a:bodyPr wrap="none">
            <a:spAutoFit/>
          </a:bodyPr>
          <a:lstStyle/>
          <a:p>
            <a:r>
              <a:rPr lang="en-US" sz="2800" dirty="0" smtClean="0"/>
              <a:t>a. 25°</a:t>
            </a:r>
            <a:endParaRPr lang="en-US" sz="2800" dirty="0"/>
          </a:p>
        </p:txBody>
      </p:sp>
      <p:sp>
        <p:nvSpPr>
          <p:cNvPr id="15" name="Rectangle 14"/>
          <p:cNvSpPr/>
          <p:nvPr/>
        </p:nvSpPr>
        <p:spPr>
          <a:xfrm>
            <a:off x="2898581" y="3111758"/>
            <a:ext cx="1034257" cy="523220"/>
          </a:xfrm>
          <a:prstGeom prst="rect">
            <a:avLst/>
          </a:prstGeom>
        </p:spPr>
        <p:txBody>
          <a:bodyPr wrap="none">
            <a:spAutoFit/>
          </a:bodyPr>
          <a:lstStyle/>
          <a:p>
            <a:r>
              <a:rPr lang="en-US" sz="2800" dirty="0" smtClean="0"/>
              <a:t>b. 45°</a:t>
            </a:r>
            <a:endParaRPr lang="en-US" sz="2800" dirty="0"/>
          </a:p>
        </p:txBody>
      </p:sp>
      <p:sp>
        <p:nvSpPr>
          <p:cNvPr id="16" name="Rectangle 15"/>
          <p:cNvSpPr/>
          <p:nvPr/>
        </p:nvSpPr>
        <p:spPr>
          <a:xfrm>
            <a:off x="5105400" y="3101340"/>
            <a:ext cx="1180131" cy="523220"/>
          </a:xfrm>
          <a:prstGeom prst="rect">
            <a:avLst/>
          </a:prstGeom>
        </p:spPr>
        <p:txBody>
          <a:bodyPr wrap="none">
            <a:spAutoFit/>
          </a:bodyPr>
          <a:lstStyle/>
          <a:p>
            <a:r>
              <a:rPr lang="en-US" sz="2800" dirty="0" smtClean="0"/>
              <a:t>c. 126°</a:t>
            </a:r>
            <a:endParaRPr lang="en-US" sz="2800" dirty="0"/>
          </a:p>
        </p:txBody>
      </p:sp>
      <p:sp>
        <p:nvSpPr>
          <p:cNvPr id="17" name="Rectangle 16"/>
          <p:cNvSpPr/>
          <p:nvPr/>
        </p:nvSpPr>
        <p:spPr>
          <a:xfrm>
            <a:off x="6920574" y="3096518"/>
            <a:ext cx="1217000" cy="523220"/>
          </a:xfrm>
          <a:prstGeom prst="rect">
            <a:avLst/>
          </a:prstGeom>
        </p:spPr>
        <p:txBody>
          <a:bodyPr wrap="none">
            <a:spAutoFit/>
          </a:bodyPr>
          <a:lstStyle/>
          <a:p>
            <a:r>
              <a:rPr lang="en-US" sz="2800" dirty="0" smtClean="0"/>
              <a:t>d. 165°</a:t>
            </a:r>
          </a:p>
        </p:txBody>
      </p:sp>
      <p:sp>
        <p:nvSpPr>
          <p:cNvPr id="18" name="TextBox 17"/>
          <p:cNvSpPr txBox="1"/>
          <p:nvPr/>
        </p:nvSpPr>
        <p:spPr>
          <a:xfrm>
            <a:off x="838200" y="4152900"/>
            <a:ext cx="5410200" cy="830997"/>
          </a:xfrm>
          <a:prstGeom prst="rect">
            <a:avLst/>
          </a:prstGeom>
          <a:noFill/>
        </p:spPr>
        <p:txBody>
          <a:bodyPr wrap="square" rtlCol="0">
            <a:spAutoFit/>
          </a:bodyPr>
          <a:lstStyle/>
          <a:p>
            <a:r>
              <a:rPr lang="en-PH" sz="2400" dirty="0" smtClean="0"/>
              <a:t>Solution:</a:t>
            </a:r>
          </a:p>
          <a:p>
            <a:r>
              <a:rPr lang="en-PH" sz="2400" dirty="0" smtClean="0"/>
              <a:t>	Vertical angles are congruent.</a:t>
            </a:r>
            <a:endParaRPr lang="en-PH" sz="2400" dirty="0"/>
          </a:p>
        </p:txBody>
      </p:sp>
      <p:sp>
        <p:nvSpPr>
          <p:cNvPr id="19"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sp>
        <p:nvSpPr>
          <p:cNvPr id="20" name="Rectangle 4"/>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graphicFrame>
        <p:nvGraphicFramePr>
          <p:cNvPr id="22" name="Object 5"/>
          <p:cNvGraphicFramePr>
            <a:graphicFrameLocks noChangeAspect="1"/>
          </p:cNvGraphicFramePr>
          <p:nvPr/>
        </p:nvGraphicFramePr>
        <p:xfrm>
          <a:off x="1447800" y="4914900"/>
          <a:ext cx="1882775" cy="314325"/>
        </p:xfrm>
        <a:graphic>
          <a:graphicData uri="http://schemas.openxmlformats.org/presentationml/2006/ole">
            <p:oleObj spid="_x0000_s78851" name="Equation" r:id="rId6" imgW="1079280" imgH="177480" progId="Equation.3">
              <p:embed/>
            </p:oleObj>
          </a:graphicData>
        </a:graphic>
      </p:graphicFrame>
      <p:graphicFrame>
        <p:nvGraphicFramePr>
          <p:cNvPr id="23" name="Object 6"/>
          <p:cNvGraphicFramePr>
            <a:graphicFrameLocks noChangeAspect="1"/>
          </p:cNvGraphicFramePr>
          <p:nvPr/>
        </p:nvGraphicFramePr>
        <p:xfrm>
          <a:off x="1943637" y="5219700"/>
          <a:ext cx="752475" cy="314325"/>
        </p:xfrm>
        <a:graphic>
          <a:graphicData uri="http://schemas.openxmlformats.org/presentationml/2006/ole">
            <p:oleObj spid="_x0000_s78852" name="Equation" r:id="rId7" imgW="431640" imgH="177480" progId="Equation.3">
              <p:embed/>
            </p:oleObj>
          </a:graphicData>
        </a:graphic>
      </p:graphicFrame>
      <p:graphicFrame>
        <p:nvGraphicFramePr>
          <p:cNvPr id="24" name="Object 7"/>
          <p:cNvGraphicFramePr>
            <a:graphicFrameLocks noChangeAspect="1"/>
          </p:cNvGraphicFramePr>
          <p:nvPr/>
        </p:nvGraphicFramePr>
        <p:xfrm>
          <a:off x="4724400" y="4914900"/>
          <a:ext cx="2498725" cy="314325"/>
        </p:xfrm>
        <a:graphic>
          <a:graphicData uri="http://schemas.openxmlformats.org/presentationml/2006/ole">
            <p:oleObj spid="_x0000_s78853" name="Equation" r:id="rId8" imgW="1434960" imgH="177480" progId="Equation.3">
              <p:embed/>
            </p:oleObj>
          </a:graphicData>
        </a:graphic>
      </p:graphicFrame>
      <p:sp>
        <p:nvSpPr>
          <p:cNvPr id="27" name="Rounded Rectangle 26"/>
          <p:cNvSpPr/>
          <p:nvPr/>
        </p:nvSpPr>
        <p:spPr>
          <a:xfrm>
            <a:off x="1003479" y="3086637"/>
            <a:ext cx="11430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590550" y="4114800"/>
            <a:ext cx="7962900" cy="207645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AutoShape 7"/>
          <p:cNvCxnSpPr>
            <a:cxnSpLocks noChangeShapeType="1"/>
          </p:cNvCxnSpPr>
          <p:nvPr/>
        </p:nvCxnSpPr>
        <p:spPr bwMode="auto">
          <a:xfrm rot="20400000" flipH="1" flipV="1">
            <a:off x="2314324" y="2151473"/>
            <a:ext cx="4114800" cy="0"/>
          </a:xfrm>
          <a:prstGeom prst="straightConnector1">
            <a:avLst/>
          </a:prstGeom>
          <a:noFill/>
          <a:ln w="38100">
            <a:solidFill>
              <a:schemeClr val="tx1"/>
            </a:solidFill>
            <a:round/>
            <a:headEnd type="triangle" w="med" len="med"/>
            <a:tailEnd type="triangle" w="med" len="med"/>
          </a:ln>
        </p:spPr>
      </p:cxnSp>
      <p:sp>
        <p:nvSpPr>
          <p:cNvPr id="33" name="Arc 32"/>
          <p:cNvSpPr/>
          <p:nvPr/>
        </p:nvSpPr>
        <p:spPr>
          <a:xfrm rot="13662240">
            <a:off x="3875699" y="1725538"/>
            <a:ext cx="914400" cy="914400"/>
          </a:xfrm>
          <a:prstGeom prst="arc">
            <a:avLst>
              <a:gd name="adj1" fmla="val 17822344"/>
              <a:gd name="adj2" fmla="val 19999371"/>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aphicFrame>
        <p:nvGraphicFramePr>
          <p:cNvPr id="78855" name="Object 7"/>
          <p:cNvGraphicFramePr>
            <a:graphicFrameLocks noChangeAspect="1"/>
          </p:cNvGraphicFramePr>
          <p:nvPr/>
        </p:nvGraphicFramePr>
        <p:xfrm>
          <a:off x="4533363" y="5216167"/>
          <a:ext cx="2719387" cy="358775"/>
        </p:xfrm>
        <a:graphic>
          <a:graphicData uri="http://schemas.openxmlformats.org/presentationml/2006/ole">
            <p:oleObj spid="_x0000_s78855" name="Equation" r:id="rId9" imgW="1562040" imgH="203040" progId="Equation.3">
              <p:embed/>
            </p:oleObj>
          </a:graphicData>
        </a:graphic>
      </p:graphicFrame>
      <p:graphicFrame>
        <p:nvGraphicFramePr>
          <p:cNvPr id="78856" name="Object 8"/>
          <p:cNvGraphicFramePr>
            <a:graphicFrameLocks noChangeAspect="1"/>
          </p:cNvGraphicFramePr>
          <p:nvPr/>
        </p:nvGraphicFramePr>
        <p:xfrm>
          <a:off x="5939196" y="5514975"/>
          <a:ext cx="2011362" cy="314325"/>
        </p:xfrm>
        <a:graphic>
          <a:graphicData uri="http://schemas.openxmlformats.org/presentationml/2006/ole">
            <p:oleObj spid="_x0000_s78856" name="Equation" r:id="rId10" imgW="1155600" imgH="177480" progId="Equation.3">
              <p:embed/>
            </p:oleObj>
          </a:graphicData>
        </a:graphic>
      </p:graphicFrame>
      <p:graphicFrame>
        <p:nvGraphicFramePr>
          <p:cNvPr id="78857" name="Object 9"/>
          <p:cNvGraphicFramePr>
            <a:graphicFrameLocks noChangeAspect="1"/>
          </p:cNvGraphicFramePr>
          <p:nvPr/>
        </p:nvGraphicFramePr>
        <p:xfrm>
          <a:off x="5943600" y="5807433"/>
          <a:ext cx="1193800" cy="314325"/>
        </p:xfrm>
        <a:graphic>
          <a:graphicData uri="http://schemas.openxmlformats.org/presentationml/2006/ole">
            <p:oleObj spid="_x0000_s78857" name="Equation" r:id="rId11" imgW="685800" imgH="177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580">
                                          <p:stCondLst>
                                            <p:cond delay="0"/>
                                          </p:stCondLst>
                                        </p:cTn>
                                        <p:tgtEl>
                                          <p:spTgt spid="10"/>
                                        </p:tgtEl>
                                      </p:cBhvr>
                                    </p:animEffect>
                                    <p:anim calcmode="lin" valueType="num">
                                      <p:cBhvr>
                                        <p:cTn id="3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5" dur="26">
                                          <p:stCondLst>
                                            <p:cond delay="650"/>
                                          </p:stCondLst>
                                        </p:cTn>
                                        <p:tgtEl>
                                          <p:spTgt spid="10"/>
                                        </p:tgtEl>
                                      </p:cBhvr>
                                      <p:to x="100000" y="60000"/>
                                    </p:animScale>
                                    <p:animScale>
                                      <p:cBhvr>
                                        <p:cTn id="36" dur="166" decel="50000">
                                          <p:stCondLst>
                                            <p:cond delay="676"/>
                                          </p:stCondLst>
                                        </p:cTn>
                                        <p:tgtEl>
                                          <p:spTgt spid="10"/>
                                        </p:tgtEl>
                                      </p:cBhvr>
                                      <p:to x="100000" y="100000"/>
                                    </p:animScale>
                                    <p:animScale>
                                      <p:cBhvr>
                                        <p:cTn id="37" dur="26">
                                          <p:stCondLst>
                                            <p:cond delay="1312"/>
                                          </p:stCondLst>
                                        </p:cTn>
                                        <p:tgtEl>
                                          <p:spTgt spid="10"/>
                                        </p:tgtEl>
                                      </p:cBhvr>
                                      <p:to x="100000" y="80000"/>
                                    </p:animScale>
                                    <p:animScale>
                                      <p:cBhvr>
                                        <p:cTn id="38" dur="166" decel="50000">
                                          <p:stCondLst>
                                            <p:cond delay="1338"/>
                                          </p:stCondLst>
                                        </p:cTn>
                                        <p:tgtEl>
                                          <p:spTgt spid="10"/>
                                        </p:tgtEl>
                                      </p:cBhvr>
                                      <p:to x="100000" y="100000"/>
                                    </p:animScale>
                                    <p:animScale>
                                      <p:cBhvr>
                                        <p:cTn id="39" dur="26">
                                          <p:stCondLst>
                                            <p:cond delay="1642"/>
                                          </p:stCondLst>
                                        </p:cTn>
                                        <p:tgtEl>
                                          <p:spTgt spid="10"/>
                                        </p:tgtEl>
                                      </p:cBhvr>
                                      <p:to x="100000" y="90000"/>
                                    </p:animScale>
                                    <p:animScale>
                                      <p:cBhvr>
                                        <p:cTn id="40" dur="166" decel="50000">
                                          <p:stCondLst>
                                            <p:cond delay="1668"/>
                                          </p:stCondLst>
                                        </p:cTn>
                                        <p:tgtEl>
                                          <p:spTgt spid="10"/>
                                        </p:tgtEl>
                                      </p:cBhvr>
                                      <p:to x="100000" y="100000"/>
                                    </p:animScale>
                                    <p:animScale>
                                      <p:cBhvr>
                                        <p:cTn id="41" dur="26">
                                          <p:stCondLst>
                                            <p:cond delay="1808"/>
                                          </p:stCondLst>
                                        </p:cTn>
                                        <p:tgtEl>
                                          <p:spTgt spid="10"/>
                                        </p:tgtEl>
                                      </p:cBhvr>
                                      <p:to x="100000" y="95000"/>
                                    </p:animScale>
                                    <p:animScale>
                                      <p:cBhvr>
                                        <p:cTn id="42" dur="166" decel="50000">
                                          <p:stCondLst>
                                            <p:cond delay="1834"/>
                                          </p:stCondLst>
                                        </p:cTn>
                                        <p:tgtEl>
                                          <p:spTgt spid="10"/>
                                        </p:tgtEl>
                                      </p:cBhvr>
                                      <p:to x="100000" y="100000"/>
                                    </p:animScale>
                                  </p:childTnLst>
                                </p:cTn>
                              </p:par>
                              <p:par>
                                <p:cTn id="43" presetID="26"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80">
                                          <p:stCondLst>
                                            <p:cond delay="0"/>
                                          </p:stCondLst>
                                        </p:cTn>
                                        <p:tgtEl>
                                          <p:spTgt spid="11"/>
                                        </p:tgtEl>
                                      </p:cBhvr>
                                    </p:animEffect>
                                    <p:anim calcmode="lin" valueType="num">
                                      <p:cBhvr>
                                        <p:cTn id="46"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51" dur="26">
                                          <p:stCondLst>
                                            <p:cond delay="650"/>
                                          </p:stCondLst>
                                        </p:cTn>
                                        <p:tgtEl>
                                          <p:spTgt spid="11"/>
                                        </p:tgtEl>
                                      </p:cBhvr>
                                      <p:to x="100000" y="60000"/>
                                    </p:animScale>
                                    <p:animScale>
                                      <p:cBhvr>
                                        <p:cTn id="52" dur="166" decel="50000">
                                          <p:stCondLst>
                                            <p:cond delay="676"/>
                                          </p:stCondLst>
                                        </p:cTn>
                                        <p:tgtEl>
                                          <p:spTgt spid="11"/>
                                        </p:tgtEl>
                                      </p:cBhvr>
                                      <p:to x="100000" y="100000"/>
                                    </p:animScale>
                                    <p:animScale>
                                      <p:cBhvr>
                                        <p:cTn id="53" dur="26">
                                          <p:stCondLst>
                                            <p:cond delay="1312"/>
                                          </p:stCondLst>
                                        </p:cTn>
                                        <p:tgtEl>
                                          <p:spTgt spid="11"/>
                                        </p:tgtEl>
                                      </p:cBhvr>
                                      <p:to x="100000" y="80000"/>
                                    </p:animScale>
                                    <p:animScale>
                                      <p:cBhvr>
                                        <p:cTn id="54" dur="166" decel="50000">
                                          <p:stCondLst>
                                            <p:cond delay="1338"/>
                                          </p:stCondLst>
                                        </p:cTn>
                                        <p:tgtEl>
                                          <p:spTgt spid="11"/>
                                        </p:tgtEl>
                                      </p:cBhvr>
                                      <p:to x="100000" y="100000"/>
                                    </p:animScale>
                                    <p:animScale>
                                      <p:cBhvr>
                                        <p:cTn id="55" dur="26">
                                          <p:stCondLst>
                                            <p:cond delay="1642"/>
                                          </p:stCondLst>
                                        </p:cTn>
                                        <p:tgtEl>
                                          <p:spTgt spid="11"/>
                                        </p:tgtEl>
                                      </p:cBhvr>
                                      <p:to x="100000" y="90000"/>
                                    </p:animScale>
                                    <p:animScale>
                                      <p:cBhvr>
                                        <p:cTn id="56" dur="166" decel="50000">
                                          <p:stCondLst>
                                            <p:cond delay="1668"/>
                                          </p:stCondLst>
                                        </p:cTn>
                                        <p:tgtEl>
                                          <p:spTgt spid="11"/>
                                        </p:tgtEl>
                                      </p:cBhvr>
                                      <p:to x="100000" y="100000"/>
                                    </p:animScale>
                                    <p:animScale>
                                      <p:cBhvr>
                                        <p:cTn id="57" dur="26">
                                          <p:stCondLst>
                                            <p:cond delay="1808"/>
                                          </p:stCondLst>
                                        </p:cTn>
                                        <p:tgtEl>
                                          <p:spTgt spid="11"/>
                                        </p:tgtEl>
                                      </p:cBhvr>
                                      <p:to x="100000" y="95000"/>
                                    </p:animScale>
                                    <p:animScale>
                                      <p:cBhvr>
                                        <p:cTn id="58" dur="166" decel="50000">
                                          <p:stCondLst>
                                            <p:cond delay="1834"/>
                                          </p:stCondLst>
                                        </p:cTn>
                                        <p:tgtEl>
                                          <p:spTgt spid="11"/>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down)">
                                      <p:cBhvr>
                                        <p:cTn id="61" dur="580">
                                          <p:stCondLst>
                                            <p:cond delay="0"/>
                                          </p:stCondLst>
                                        </p:cTn>
                                        <p:tgtEl>
                                          <p:spTgt spid="13"/>
                                        </p:tgtEl>
                                      </p:cBhvr>
                                    </p:animEffect>
                                    <p:anim calcmode="lin" valueType="num">
                                      <p:cBhvr>
                                        <p:cTn id="6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67" dur="26">
                                          <p:stCondLst>
                                            <p:cond delay="650"/>
                                          </p:stCondLst>
                                        </p:cTn>
                                        <p:tgtEl>
                                          <p:spTgt spid="13"/>
                                        </p:tgtEl>
                                      </p:cBhvr>
                                      <p:to x="100000" y="60000"/>
                                    </p:animScale>
                                    <p:animScale>
                                      <p:cBhvr>
                                        <p:cTn id="68" dur="166" decel="50000">
                                          <p:stCondLst>
                                            <p:cond delay="676"/>
                                          </p:stCondLst>
                                        </p:cTn>
                                        <p:tgtEl>
                                          <p:spTgt spid="13"/>
                                        </p:tgtEl>
                                      </p:cBhvr>
                                      <p:to x="100000" y="100000"/>
                                    </p:animScale>
                                    <p:animScale>
                                      <p:cBhvr>
                                        <p:cTn id="69" dur="26">
                                          <p:stCondLst>
                                            <p:cond delay="1312"/>
                                          </p:stCondLst>
                                        </p:cTn>
                                        <p:tgtEl>
                                          <p:spTgt spid="13"/>
                                        </p:tgtEl>
                                      </p:cBhvr>
                                      <p:to x="100000" y="80000"/>
                                    </p:animScale>
                                    <p:animScale>
                                      <p:cBhvr>
                                        <p:cTn id="70" dur="166" decel="50000">
                                          <p:stCondLst>
                                            <p:cond delay="1338"/>
                                          </p:stCondLst>
                                        </p:cTn>
                                        <p:tgtEl>
                                          <p:spTgt spid="13"/>
                                        </p:tgtEl>
                                      </p:cBhvr>
                                      <p:to x="100000" y="100000"/>
                                    </p:animScale>
                                    <p:animScale>
                                      <p:cBhvr>
                                        <p:cTn id="71" dur="26">
                                          <p:stCondLst>
                                            <p:cond delay="1642"/>
                                          </p:stCondLst>
                                        </p:cTn>
                                        <p:tgtEl>
                                          <p:spTgt spid="13"/>
                                        </p:tgtEl>
                                      </p:cBhvr>
                                      <p:to x="100000" y="90000"/>
                                    </p:animScale>
                                    <p:animScale>
                                      <p:cBhvr>
                                        <p:cTn id="72" dur="166" decel="50000">
                                          <p:stCondLst>
                                            <p:cond delay="1668"/>
                                          </p:stCondLst>
                                        </p:cTn>
                                        <p:tgtEl>
                                          <p:spTgt spid="13"/>
                                        </p:tgtEl>
                                      </p:cBhvr>
                                      <p:to x="100000" y="100000"/>
                                    </p:animScale>
                                    <p:animScale>
                                      <p:cBhvr>
                                        <p:cTn id="73" dur="26">
                                          <p:stCondLst>
                                            <p:cond delay="1808"/>
                                          </p:stCondLst>
                                        </p:cTn>
                                        <p:tgtEl>
                                          <p:spTgt spid="13"/>
                                        </p:tgtEl>
                                      </p:cBhvr>
                                      <p:to x="100000" y="95000"/>
                                    </p:animScale>
                                    <p:animScale>
                                      <p:cBhvr>
                                        <p:cTn id="74" dur="166" decel="50000">
                                          <p:stCondLst>
                                            <p:cond delay="1834"/>
                                          </p:stCondLst>
                                        </p:cTn>
                                        <p:tgtEl>
                                          <p:spTgt spid="13"/>
                                        </p:tgtEl>
                                      </p:cBhvr>
                                      <p:to x="100000" y="100000"/>
                                    </p:animScale>
                                  </p:childTnLst>
                                </p:cTn>
                              </p:par>
                              <p:par>
                                <p:cTn id="75" presetID="26"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wipe(down)">
                                      <p:cBhvr>
                                        <p:cTn id="77" dur="580">
                                          <p:stCondLst>
                                            <p:cond delay="0"/>
                                          </p:stCondLst>
                                        </p:cTn>
                                        <p:tgtEl>
                                          <p:spTgt spid="32"/>
                                        </p:tgtEl>
                                      </p:cBhvr>
                                    </p:animEffect>
                                    <p:anim calcmode="lin" valueType="num">
                                      <p:cBhvr>
                                        <p:cTn id="78"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83" dur="26">
                                          <p:stCondLst>
                                            <p:cond delay="650"/>
                                          </p:stCondLst>
                                        </p:cTn>
                                        <p:tgtEl>
                                          <p:spTgt spid="32"/>
                                        </p:tgtEl>
                                      </p:cBhvr>
                                      <p:to x="100000" y="60000"/>
                                    </p:animScale>
                                    <p:animScale>
                                      <p:cBhvr>
                                        <p:cTn id="84" dur="166" decel="50000">
                                          <p:stCondLst>
                                            <p:cond delay="676"/>
                                          </p:stCondLst>
                                        </p:cTn>
                                        <p:tgtEl>
                                          <p:spTgt spid="32"/>
                                        </p:tgtEl>
                                      </p:cBhvr>
                                      <p:to x="100000" y="100000"/>
                                    </p:animScale>
                                    <p:animScale>
                                      <p:cBhvr>
                                        <p:cTn id="85" dur="26">
                                          <p:stCondLst>
                                            <p:cond delay="1312"/>
                                          </p:stCondLst>
                                        </p:cTn>
                                        <p:tgtEl>
                                          <p:spTgt spid="32"/>
                                        </p:tgtEl>
                                      </p:cBhvr>
                                      <p:to x="100000" y="80000"/>
                                    </p:animScale>
                                    <p:animScale>
                                      <p:cBhvr>
                                        <p:cTn id="86" dur="166" decel="50000">
                                          <p:stCondLst>
                                            <p:cond delay="1338"/>
                                          </p:stCondLst>
                                        </p:cTn>
                                        <p:tgtEl>
                                          <p:spTgt spid="32"/>
                                        </p:tgtEl>
                                      </p:cBhvr>
                                      <p:to x="100000" y="100000"/>
                                    </p:animScale>
                                    <p:animScale>
                                      <p:cBhvr>
                                        <p:cTn id="87" dur="26">
                                          <p:stCondLst>
                                            <p:cond delay="1642"/>
                                          </p:stCondLst>
                                        </p:cTn>
                                        <p:tgtEl>
                                          <p:spTgt spid="32"/>
                                        </p:tgtEl>
                                      </p:cBhvr>
                                      <p:to x="100000" y="90000"/>
                                    </p:animScale>
                                    <p:animScale>
                                      <p:cBhvr>
                                        <p:cTn id="88" dur="166" decel="50000">
                                          <p:stCondLst>
                                            <p:cond delay="1668"/>
                                          </p:stCondLst>
                                        </p:cTn>
                                        <p:tgtEl>
                                          <p:spTgt spid="32"/>
                                        </p:tgtEl>
                                      </p:cBhvr>
                                      <p:to x="100000" y="100000"/>
                                    </p:animScale>
                                    <p:animScale>
                                      <p:cBhvr>
                                        <p:cTn id="89" dur="26">
                                          <p:stCondLst>
                                            <p:cond delay="1808"/>
                                          </p:stCondLst>
                                        </p:cTn>
                                        <p:tgtEl>
                                          <p:spTgt spid="32"/>
                                        </p:tgtEl>
                                      </p:cBhvr>
                                      <p:to x="100000" y="95000"/>
                                    </p:animScale>
                                    <p:animScale>
                                      <p:cBhvr>
                                        <p:cTn id="90" dur="166" decel="50000">
                                          <p:stCondLst>
                                            <p:cond delay="1834"/>
                                          </p:stCondLst>
                                        </p:cTn>
                                        <p:tgtEl>
                                          <p:spTgt spid="32"/>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wipe(down)">
                                      <p:cBhvr>
                                        <p:cTn id="93" dur="580">
                                          <p:stCondLst>
                                            <p:cond delay="0"/>
                                          </p:stCondLst>
                                        </p:cTn>
                                        <p:tgtEl>
                                          <p:spTgt spid="33"/>
                                        </p:tgtEl>
                                      </p:cBhvr>
                                    </p:animEffect>
                                    <p:anim calcmode="lin" valueType="num">
                                      <p:cBhvr>
                                        <p:cTn id="94"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99" dur="26">
                                          <p:stCondLst>
                                            <p:cond delay="650"/>
                                          </p:stCondLst>
                                        </p:cTn>
                                        <p:tgtEl>
                                          <p:spTgt spid="33"/>
                                        </p:tgtEl>
                                      </p:cBhvr>
                                      <p:to x="100000" y="60000"/>
                                    </p:animScale>
                                    <p:animScale>
                                      <p:cBhvr>
                                        <p:cTn id="100" dur="166" decel="50000">
                                          <p:stCondLst>
                                            <p:cond delay="676"/>
                                          </p:stCondLst>
                                        </p:cTn>
                                        <p:tgtEl>
                                          <p:spTgt spid="33"/>
                                        </p:tgtEl>
                                      </p:cBhvr>
                                      <p:to x="100000" y="100000"/>
                                    </p:animScale>
                                    <p:animScale>
                                      <p:cBhvr>
                                        <p:cTn id="101" dur="26">
                                          <p:stCondLst>
                                            <p:cond delay="1312"/>
                                          </p:stCondLst>
                                        </p:cTn>
                                        <p:tgtEl>
                                          <p:spTgt spid="33"/>
                                        </p:tgtEl>
                                      </p:cBhvr>
                                      <p:to x="100000" y="80000"/>
                                    </p:animScale>
                                    <p:animScale>
                                      <p:cBhvr>
                                        <p:cTn id="102" dur="166" decel="50000">
                                          <p:stCondLst>
                                            <p:cond delay="1338"/>
                                          </p:stCondLst>
                                        </p:cTn>
                                        <p:tgtEl>
                                          <p:spTgt spid="33"/>
                                        </p:tgtEl>
                                      </p:cBhvr>
                                      <p:to x="100000" y="100000"/>
                                    </p:animScale>
                                    <p:animScale>
                                      <p:cBhvr>
                                        <p:cTn id="103" dur="26">
                                          <p:stCondLst>
                                            <p:cond delay="1642"/>
                                          </p:stCondLst>
                                        </p:cTn>
                                        <p:tgtEl>
                                          <p:spTgt spid="33"/>
                                        </p:tgtEl>
                                      </p:cBhvr>
                                      <p:to x="100000" y="90000"/>
                                    </p:animScale>
                                    <p:animScale>
                                      <p:cBhvr>
                                        <p:cTn id="104" dur="166" decel="50000">
                                          <p:stCondLst>
                                            <p:cond delay="1668"/>
                                          </p:stCondLst>
                                        </p:cTn>
                                        <p:tgtEl>
                                          <p:spTgt spid="33"/>
                                        </p:tgtEl>
                                      </p:cBhvr>
                                      <p:to x="100000" y="100000"/>
                                    </p:animScale>
                                    <p:animScale>
                                      <p:cBhvr>
                                        <p:cTn id="105" dur="26">
                                          <p:stCondLst>
                                            <p:cond delay="1808"/>
                                          </p:stCondLst>
                                        </p:cTn>
                                        <p:tgtEl>
                                          <p:spTgt spid="33"/>
                                        </p:tgtEl>
                                      </p:cBhvr>
                                      <p:to x="100000" y="95000"/>
                                    </p:animScale>
                                    <p:animScale>
                                      <p:cBhvr>
                                        <p:cTn id="106" dur="166" decel="50000">
                                          <p:stCondLst>
                                            <p:cond delay="1834"/>
                                          </p:stCondLst>
                                        </p:cTn>
                                        <p:tgtEl>
                                          <p:spTgt spid="33"/>
                                        </p:tgtEl>
                                      </p:cBhvr>
                                      <p:to x="100000" y="100000"/>
                                    </p:animScale>
                                  </p:childTnLst>
                                </p:cTn>
                              </p:par>
                            </p:childTnLst>
                          </p:cTn>
                        </p:par>
                      </p:childTnLst>
                    </p:cTn>
                  </p:par>
                  <p:par>
                    <p:cTn id="107" fill="hold">
                      <p:stCondLst>
                        <p:cond delay="indefinite"/>
                      </p:stCondLst>
                      <p:childTnLst>
                        <p:par>
                          <p:cTn id="108" fill="hold">
                            <p:stCondLst>
                              <p:cond delay="0"/>
                            </p:stCondLst>
                            <p:childTnLst>
                              <p:par>
                                <p:cTn id="109" presetID="12" presetClass="entr" presetSubtype="4" fill="hold" grpId="0" nodeType="click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slide(fromBottom)">
                                      <p:cBhvr>
                                        <p:cTn id="111" dur="500"/>
                                        <p:tgtEl>
                                          <p:spTgt spid="14"/>
                                        </p:tgtEl>
                                      </p:cBhvr>
                                    </p:animEffect>
                                  </p:childTnLst>
                                </p:cTn>
                              </p:par>
                              <p:par>
                                <p:cTn id="112" presetID="12" presetClass="entr" presetSubtype="4" fill="hold" grpId="0" nodeType="withEffect">
                                  <p:stCondLst>
                                    <p:cond delay="0"/>
                                  </p:stCondLst>
                                  <p:childTnLst>
                                    <p:set>
                                      <p:cBhvr>
                                        <p:cTn id="113" dur="1" fill="hold">
                                          <p:stCondLst>
                                            <p:cond delay="0"/>
                                          </p:stCondLst>
                                        </p:cTn>
                                        <p:tgtEl>
                                          <p:spTgt spid="15"/>
                                        </p:tgtEl>
                                        <p:attrNameLst>
                                          <p:attrName>style.visibility</p:attrName>
                                        </p:attrNameLst>
                                      </p:cBhvr>
                                      <p:to>
                                        <p:strVal val="visible"/>
                                      </p:to>
                                    </p:set>
                                    <p:animEffect transition="in" filter="slide(fromBottom)">
                                      <p:cBhvr>
                                        <p:cTn id="114" dur="500"/>
                                        <p:tgtEl>
                                          <p:spTgt spid="15"/>
                                        </p:tgtEl>
                                      </p:cBhvr>
                                    </p:animEffect>
                                  </p:childTnLst>
                                </p:cTn>
                              </p:par>
                              <p:par>
                                <p:cTn id="115" presetID="12" presetClass="entr" presetSubtype="4" fill="hold" grpId="0" nodeType="withEffect">
                                  <p:stCondLst>
                                    <p:cond delay="0"/>
                                  </p:stCondLst>
                                  <p:childTnLst>
                                    <p:set>
                                      <p:cBhvr>
                                        <p:cTn id="116" dur="1" fill="hold">
                                          <p:stCondLst>
                                            <p:cond delay="0"/>
                                          </p:stCondLst>
                                        </p:cTn>
                                        <p:tgtEl>
                                          <p:spTgt spid="16"/>
                                        </p:tgtEl>
                                        <p:attrNameLst>
                                          <p:attrName>style.visibility</p:attrName>
                                        </p:attrNameLst>
                                      </p:cBhvr>
                                      <p:to>
                                        <p:strVal val="visible"/>
                                      </p:to>
                                    </p:set>
                                    <p:animEffect transition="in" filter="slide(fromBottom)">
                                      <p:cBhvr>
                                        <p:cTn id="117" dur="500"/>
                                        <p:tgtEl>
                                          <p:spTgt spid="16"/>
                                        </p:tgtEl>
                                      </p:cBhvr>
                                    </p:animEffect>
                                  </p:childTnLst>
                                </p:cTn>
                              </p:par>
                              <p:par>
                                <p:cTn id="118" presetID="12" presetClass="entr" presetSubtype="4" fill="hold" grpId="0" nodeType="withEffect">
                                  <p:stCondLst>
                                    <p:cond delay="0"/>
                                  </p:stCondLst>
                                  <p:childTnLst>
                                    <p:set>
                                      <p:cBhvr>
                                        <p:cTn id="119" dur="1" fill="hold">
                                          <p:stCondLst>
                                            <p:cond delay="0"/>
                                          </p:stCondLst>
                                        </p:cTn>
                                        <p:tgtEl>
                                          <p:spTgt spid="17"/>
                                        </p:tgtEl>
                                        <p:attrNameLst>
                                          <p:attrName>style.visibility</p:attrName>
                                        </p:attrNameLst>
                                      </p:cBhvr>
                                      <p:to>
                                        <p:strVal val="visible"/>
                                      </p:to>
                                    </p:set>
                                    <p:animEffect transition="in" filter="slide(fromBottom)">
                                      <p:cBhvr>
                                        <p:cTn id="120" dur="500"/>
                                        <p:tgtEl>
                                          <p:spTgt spid="17"/>
                                        </p:tgtEl>
                                      </p:cBhvr>
                                    </p:animEffect>
                                  </p:childTnLst>
                                </p:cTn>
                              </p:par>
                            </p:childTnLst>
                          </p:cTn>
                        </p:par>
                      </p:childTnLst>
                    </p:cTn>
                  </p:par>
                  <p:par>
                    <p:cTn id="121" fill="hold">
                      <p:stCondLst>
                        <p:cond delay="indefinite"/>
                      </p:stCondLst>
                      <p:childTnLst>
                        <p:par>
                          <p:cTn id="122" fill="hold">
                            <p:stCondLst>
                              <p:cond delay="0"/>
                            </p:stCondLst>
                            <p:childTnLst>
                              <p:par>
                                <p:cTn id="123" presetID="37" presetClass="entr" presetSubtype="0" fill="hold" grpId="0" nodeType="clickEffect">
                                  <p:stCondLst>
                                    <p:cond delay="0"/>
                                  </p:stCondLst>
                                  <p:childTnLst>
                                    <p:set>
                                      <p:cBhvr>
                                        <p:cTn id="124" dur="1" fill="hold">
                                          <p:stCondLst>
                                            <p:cond delay="0"/>
                                          </p:stCondLst>
                                        </p:cTn>
                                        <p:tgtEl>
                                          <p:spTgt spid="18"/>
                                        </p:tgtEl>
                                        <p:attrNameLst>
                                          <p:attrName>style.visibility</p:attrName>
                                        </p:attrNameLst>
                                      </p:cBhvr>
                                      <p:to>
                                        <p:strVal val="visible"/>
                                      </p:to>
                                    </p:set>
                                    <p:animEffect transition="in" filter="fade">
                                      <p:cBhvr>
                                        <p:cTn id="125" dur="1000"/>
                                        <p:tgtEl>
                                          <p:spTgt spid="18"/>
                                        </p:tgtEl>
                                      </p:cBhvr>
                                    </p:animEffect>
                                    <p:anim calcmode="lin" valueType="num">
                                      <p:cBhvr>
                                        <p:cTn id="126" dur="1000" fill="hold"/>
                                        <p:tgtEl>
                                          <p:spTgt spid="18"/>
                                        </p:tgtEl>
                                        <p:attrNameLst>
                                          <p:attrName>ppt_x</p:attrName>
                                        </p:attrNameLst>
                                      </p:cBhvr>
                                      <p:tavLst>
                                        <p:tav tm="0">
                                          <p:val>
                                            <p:strVal val="#ppt_x"/>
                                          </p:val>
                                        </p:tav>
                                        <p:tav tm="100000">
                                          <p:val>
                                            <p:strVal val="#ppt_x"/>
                                          </p:val>
                                        </p:tav>
                                      </p:tavLst>
                                    </p:anim>
                                    <p:anim calcmode="lin" valueType="num">
                                      <p:cBhvr>
                                        <p:cTn id="127" dur="900" decel="100000" fill="hold"/>
                                        <p:tgtEl>
                                          <p:spTgt spid="18"/>
                                        </p:tgtEl>
                                        <p:attrNameLst>
                                          <p:attrName>ppt_y</p:attrName>
                                        </p:attrNameLst>
                                      </p:cBhvr>
                                      <p:tavLst>
                                        <p:tav tm="0">
                                          <p:val>
                                            <p:strVal val="#ppt_y+1"/>
                                          </p:val>
                                        </p:tav>
                                        <p:tav tm="100000">
                                          <p:val>
                                            <p:strVal val="#ppt_y-.03"/>
                                          </p:val>
                                        </p:tav>
                                      </p:tavLst>
                                    </p:anim>
                                    <p:anim calcmode="lin" valueType="num">
                                      <p:cBhvr>
                                        <p:cTn id="128"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129" presetID="37" presetClass="entr" presetSubtype="0"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1000"/>
                                        <p:tgtEl>
                                          <p:spTgt spid="28"/>
                                        </p:tgtEl>
                                      </p:cBhvr>
                                    </p:animEffect>
                                    <p:anim calcmode="lin" valueType="num">
                                      <p:cBhvr>
                                        <p:cTn id="132" dur="1000" fill="hold"/>
                                        <p:tgtEl>
                                          <p:spTgt spid="28"/>
                                        </p:tgtEl>
                                        <p:attrNameLst>
                                          <p:attrName>ppt_x</p:attrName>
                                        </p:attrNameLst>
                                      </p:cBhvr>
                                      <p:tavLst>
                                        <p:tav tm="0">
                                          <p:val>
                                            <p:strVal val="#ppt_x"/>
                                          </p:val>
                                        </p:tav>
                                        <p:tav tm="100000">
                                          <p:val>
                                            <p:strVal val="#ppt_x"/>
                                          </p:val>
                                        </p:tav>
                                      </p:tavLst>
                                    </p:anim>
                                    <p:anim calcmode="lin" valueType="num">
                                      <p:cBhvr>
                                        <p:cTn id="133" dur="900" decel="100000" fill="hold"/>
                                        <p:tgtEl>
                                          <p:spTgt spid="28"/>
                                        </p:tgtEl>
                                        <p:attrNameLst>
                                          <p:attrName>ppt_y</p:attrName>
                                        </p:attrNameLst>
                                      </p:cBhvr>
                                      <p:tavLst>
                                        <p:tav tm="0">
                                          <p:val>
                                            <p:strVal val="#ppt_y+1"/>
                                          </p:val>
                                        </p:tav>
                                        <p:tav tm="100000">
                                          <p:val>
                                            <p:strVal val="#ppt_y-.03"/>
                                          </p:val>
                                        </p:tav>
                                      </p:tavLst>
                                    </p:anim>
                                    <p:anim calcmode="lin" valueType="num">
                                      <p:cBhvr>
                                        <p:cTn id="134"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9" presetClass="entr" presetSubtype="0" fill="hold" nodeType="clickEffect">
                                  <p:stCondLst>
                                    <p:cond delay="0"/>
                                  </p:stCondLst>
                                  <p:childTnLst>
                                    <p:set>
                                      <p:cBhvr>
                                        <p:cTn id="138" dur="1" fill="hold">
                                          <p:stCondLst>
                                            <p:cond delay="0"/>
                                          </p:stCondLst>
                                        </p:cTn>
                                        <p:tgtEl>
                                          <p:spTgt spid="22"/>
                                        </p:tgtEl>
                                        <p:attrNameLst>
                                          <p:attrName>style.visibility</p:attrName>
                                        </p:attrNameLst>
                                      </p:cBhvr>
                                      <p:to>
                                        <p:strVal val="visible"/>
                                      </p:to>
                                    </p:set>
                                    <p:anim calcmode="lin" valueType="num">
                                      <p:cBhvr>
                                        <p:cTn id="139" dur="1000" fill="hold"/>
                                        <p:tgtEl>
                                          <p:spTgt spid="22"/>
                                        </p:tgtEl>
                                        <p:attrNameLst>
                                          <p:attrName>ppt_x</p:attrName>
                                        </p:attrNameLst>
                                      </p:cBhvr>
                                      <p:tavLst>
                                        <p:tav tm="0">
                                          <p:val>
                                            <p:strVal val="#ppt_x-.2"/>
                                          </p:val>
                                        </p:tav>
                                        <p:tav tm="100000">
                                          <p:val>
                                            <p:strVal val="#ppt_x"/>
                                          </p:val>
                                        </p:tav>
                                      </p:tavLst>
                                    </p:anim>
                                    <p:anim calcmode="lin" valueType="num">
                                      <p:cBhvr>
                                        <p:cTn id="140" dur="1000" fill="hold"/>
                                        <p:tgtEl>
                                          <p:spTgt spid="22"/>
                                        </p:tgtEl>
                                        <p:attrNameLst>
                                          <p:attrName>ppt_y</p:attrName>
                                        </p:attrNameLst>
                                      </p:cBhvr>
                                      <p:tavLst>
                                        <p:tav tm="0">
                                          <p:val>
                                            <p:strVal val="#ppt_y"/>
                                          </p:val>
                                        </p:tav>
                                        <p:tav tm="100000">
                                          <p:val>
                                            <p:strVal val="#ppt_y"/>
                                          </p:val>
                                        </p:tav>
                                      </p:tavLst>
                                    </p:anim>
                                    <p:animEffect transition="in" filter="wipe(right)" prLst="gradientSize: 0.1">
                                      <p:cBhvr>
                                        <p:cTn id="141" dur="1000"/>
                                        <p:tgtEl>
                                          <p:spTgt spid="22"/>
                                        </p:tgtEl>
                                      </p:cBhvr>
                                    </p:animEffect>
                                  </p:childTnLst>
                                </p:cTn>
                              </p:par>
                            </p:childTnLst>
                          </p:cTn>
                        </p:par>
                      </p:childTnLst>
                    </p:cTn>
                  </p:par>
                  <p:par>
                    <p:cTn id="142" fill="hold">
                      <p:stCondLst>
                        <p:cond delay="indefinite"/>
                      </p:stCondLst>
                      <p:childTnLst>
                        <p:par>
                          <p:cTn id="143" fill="hold">
                            <p:stCondLst>
                              <p:cond delay="0"/>
                            </p:stCondLst>
                            <p:childTnLst>
                              <p:par>
                                <p:cTn id="144" presetID="29" presetClass="entr" presetSubtype="0" fill="hold" nodeType="clickEffect">
                                  <p:stCondLst>
                                    <p:cond delay="0"/>
                                  </p:stCondLst>
                                  <p:childTnLst>
                                    <p:set>
                                      <p:cBhvr>
                                        <p:cTn id="145" dur="1" fill="hold">
                                          <p:stCondLst>
                                            <p:cond delay="0"/>
                                          </p:stCondLst>
                                        </p:cTn>
                                        <p:tgtEl>
                                          <p:spTgt spid="23"/>
                                        </p:tgtEl>
                                        <p:attrNameLst>
                                          <p:attrName>style.visibility</p:attrName>
                                        </p:attrNameLst>
                                      </p:cBhvr>
                                      <p:to>
                                        <p:strVal val="visible"/>
                                      </p:to>
                                    </p:set>
                                    <p:anim calcmode="lin" valueType="num">
                                      <p:cBhvr>
                                        <p:cTn id="146" dur="1000" fill="hold"/>
                                        <p:tgtEl>
                                          <p:spTgt spid="23"/>
                                        </p:tgtEl>
                                        <p:attrNameLst>
                                          <p:attrName>ppt_x</p:attrName>
                                        </p:attrNameLst>
                                      </p:cBhvr>
                                      <p:tavLst>
                                        <p:tav tm="0">
                                          <p:val>
                                            <p:strVal val="#ppt_x-.2"/>
                                          </p:val>
                                        </p:tav>
                                        <p:tav tm="100000">
                                          <p:val>
                                            <p:strVal val="#ppt_x"/>
                                          </p:val>
                                        </p:tav>
                                      </p:tavLst>
                                    </p:anim>
                                    <p:anim calcmode="lin" valueType="num">
                                      <p:cBhvr>
                                        <p:cTn id="147" dur="1000" fill="hold"/>
                                        <p:tgtEl>
                                          <p:spTgt spid="23"/>
                                        </p:tgtEl>
                                        <p:attrNameLst>
                                          <p:attrName>ppt_y</p:attrName>
                                        </p:attrNameLst>
                                      </p:cBhvr>
                                      <p:tavLst>
                                        <p:tav tm="0">
                                          <p:val>
                                            <p:strVal val="#ppt_y"/>
                                          </p:val>
                                        </p:tav>
                                        <p:tav tm="100000">
                                          <p:val>
                                            <p:strVal val="#ppt_y"/>
                                          </p:val>
                                        </p:tav>
                                      </p:tavLst>
                                    </p:anim>
                                    <p:animEffect transition="in" filter="wipe(right)" prLst="gradientSize: 0.1">
                                      <p:cBhvr>
                                        <p:cTn id="148" dur="1000"/>
                                        <p:tgtEl>
                                          <p:spTgt spid="23"/>
                                        </p:tgtEl>
                                      </p:cBhvr>
                                    </p:animEffect>
                                  </p:childTnLst>
                                </p:cTn>
                              </p:par>
                            </p:childTnLst>
                          </p:cTn>
                        </p:par>
                      </p:childTnLst>
                    </p:cTn>
                  </p:par>
                  <p:par>
                    <p:cTn id="149" fill="hold">
                      <p:stCondLst>
                        <p:cond delay="indefinite"/>
                      </p:stCondLst>
                      <p:childTnLst>
                        <p:par>
                          <p:cTn id="150" fill="hold">
                            <p:stCondLst>
                              <p:cond delay="0"/>
                            </p:stCondLst>
                            <p:childTnLst>
                              <p:par>
                                <p:cTn id="151" presetID="29" presetClass="entr" presetSubtype="0" fill="hold" nodeType="clickEffect">
                                  <p:stCondLst>
                                    <p:cond delay="0"/>
                                  </p:stCondLst>
                                  <p:childTnLst>
                                    <p:set>
                                      <p:cBhvr>
                                        <p:cTn id="152" dur="1" fill="hold">
                                          <p:stCondLst>
                                            <p:cond delay="0"/>
                                          </p:stCondLst>
                                        </p:cTn>
                                        <p:tgtEl>
                                          <p:spTgt spid="24"/>
                                        </p:tgtEl>
                                        <p:attrNameLst>
                                          <p:attrName>style.visibility</p:attrName>
                                        </p:attrNameLst>
                                      </p:cBhvr>
                                      <p:to>
                                        <p:strVal val="visible"/>
                                      </p:to>
                                    </p:set>
                                    <p:anim calcmode="lin" valueType="num">
                                      <p:cBhvr>
                                        <p:cTn id="153" dur="1000" fill="hold"/>
                                        <p:tgtEl>
                                          <p:spTgt spid="24"/>
                                        </p:tgtEl>
                                        <p:attrNameLst>
                                          <p:attrName>ppt_x</p:attrName>
                                        </p:attrNameLst>
                                      </p:cBhvr>
                                      <p:tavLst>
                                        <p:tav tm="0">
                                          <p:val>
                                            <p:strVal val="#ppt_x-.2"/>
                                          </p:val>
                                        </p:tav>
                                        <p:tav tm="100000">
                                          <p:val>
                                            <p:strVal val="#ppt_x"/>
                                          </p:val>
                                        </p:tav>
                                      </p:tavLst>
                                    </p:anim>
                                    <p:anim calcmode="lin" valueType="num">
                                      <p:cBhvr>
                                        <p:cTn id="154" dur="1000" fill="hold"/>
                                        <p:tgtEl>
                                          <p:spTgt spid="24"/>
                                        </p:tgtEl>
                                        <p:attrNameLst>
                                          <p:attrName>ppt_y</p:attrName>
                                        </p:attrNameLst>
                                      </p:cBhvr>
                                      <p:tavLst>
                                        <p:tav tm="0">
                                          <p:val>
                                            <p:strVal val="#ppt_y"/>
                                          </p:val>
                                        </p:tav>
                                        <p:tav tm="100000">
                                          <p:val>
                                            <p:strVal val="#ppt_y"/>
                                          </p:val>
                                        </p:tav>
                                      </p:tavLst>
                                    </p:anim>
                                    <p:animEffect transition="in" filter="wipe(right)" prLst="gradientSize: 0.1">
                                      <p:cBhvr>
                                        <p:cTn id="155" dur="1000"/>
                                        <p:tgtEl>
                                          <p:spTgt spid="24"/>
                                        </p:tgtEl>
                                      </p:cBhvr>
                                    </p:animEffect>
                                  </p:childTnLst>
                                </p:cTn>
                              </p:par>
                            </p:childTnLst>
                          </p:cTn>
                        </p:par>
                      </p:childTnLst>
                    </p:cTn>
                  </p:par>
                  <p:par>
                    <p:cTn id="156" fill="hold">
                      <p:stCondLst>
                        <p:cond delay="indefinite"/>
                      </p:stCondLst>
                      <p:childTnLst>
                        <p:par>
                          <p:cTn id="157" fill="hold">
                            <p:stCondLst>
                              <p:cond delay="0"/>
                            </p:stCondLst>
                            <p:childTnLst>
                              <p:par>
                                <p:cTn id="158" presetID="29" presetClass="entr" presetSubtype="0" fill="hold" nodeType="clickEffect">
                                  <p:stCondLst>
                                    <p:cond delay="0"/>
                                  </p:stCondLst>
                                  <p:childTnLst>
                                    <p:set>
                                      <p:cBhvr>
                                        <p:cTn id="159" dur="1" fill="hold">
                                          <p:stCondLst>
                                            <p:cond delay="0"/>
                                          </p:stCondLst>
                                        </p:cTn>
                                        <p:tgtEl>
                                          <p:spTgt spid="78855"/>
                                        </p:tgtEl>
                                        <p:attrNameLst>
                                          <p:attrName>style.visibility</p:attrName>
                                        </p:attrNameLst>
                                      </p:cBhvr>
                                      <p:to>
                                        <p:strVal val="visible"/>
                                      </p:to>
                                    </p:set>
                                    <p:anim calcmode="lin" valueType="num">
                                      <p:cBhvr>
                                        <p:cTn id="160" dur="1000" fill="hold"/>
                                        <p:tgtEl>
                                          <p:spTgt spid="78855"/>
                                        </p:tgtEl>
                                        <p:attrNameLst>
                                          <p:attrName>ppt_x</p:attrName>
                                        </p:attrNameLst>
                                      </p:cBhvr>
                                      <p:tavLst>
                                        <p:tav tm="0">
                                          <p:val>
                                            <p:strVal val="#ppt_x-.2"/>
                                          </p:val>
                                        </p:tav>
                                        <p:tav tm="100000">
                                          <p:val>
                                            <p:strVal val="#ppt_x"/>
                                          </p:val>
                                        </p:tav>
                                      </p:tavLst>
                                    </p:anim>
                                    <p:anim calcmode="lin" valueType="num">
                                      <p:cBhvr>
                                        <p:cTn id="161" dur="1000" fill="hold"/>
                                        <p:tgtEl>
                                          <p:spTgt spid="78855"/>
                                        </p:tgtEl>
                                        <p:attrNameLst>
                                          <p:attrName>ppt_y</p:attrName>
                                        </p:attrNameLst>
                                      </p:cBhvr>
                                      <p:tavLst>
                                        <p:tav tm="0">
                                          <p:val>
                                            <p:strVal val="#ppt_y"/>
                                          </p:val>
                                        </p:tav>
                                        <p:tav tm="100000">
                                          <p:val>
                                            <p:strVal val="#ppt_y"/>
                                          </p:val>
                                        </p:tav>
                                      </p:tavLst>
                                    </p:anim>
                                    <p:animEffect transition="in" filter="wipe(right)" prLst="gradientSize: 0.1">
                                      <p:cBhvr>
                                        <p:cTn id="162" dur="1000"/>
                                        <p:tgtEl>
                                          <p:spTgt spid="78855"/>
                                        </p:tgtEl>
                                      </p:cBhvr>
                                    </p:animEffect>
                                  </p:childTnLst>
                                </p:cTn>
                              </p:par>
                            </p:childTnLst>
                          </p:cTn>
                        </p:par>
                      </p:childTnLst>
                    </p:cTn>
                  </p:par>
                  <p:par>
                    <p:cTn id="163" fill="hold">
                      <p:stCondLst>
                        <p:cond delay="indefinite"/>
                      </p:stCondLst>
                      <p:childTnLst>
                        <p:par>
                          <p:cTn id="164" fill="hold">
                            <p:stCondLst>
                              <p:cond delay="0"/>
                            </p:stCondLst>
                            <p:childTnLst>
                              <p:par>
                                <p:cTn id="165" presetID="29" presetClass="entr" presetSubtype="0" fill="hold" nodeType="clickEffect">
                                  <p:stCondLst>
                                    <p:cond delay="0"/>
                                  </p:stCondLst>
                                  <p:childTnLst>
                                    <p:set>
                                      <p:cBhvr>
                                        <p:cTn id="166" dur="1" fill="hold">
                                          <p:stCondLst>
                                            <p:cond delay="0"/>
                                          </p:stCondLst>
                                        </p:cTn>
                                        <p:tgtEl>
                                          <p:spTgt spid="78856"/>
                                        </p:tgtEl>
                                        <p:attrNameLst>
                                          <p:attrName>style.visibility</p:attrName>
                                        </p:attrNameLst>
                                      </p:cBhvr>
                                      <p:to>
                                        <p:strVal val="visible"/>
                                      </p:to>
                                    </p:set>
                                    <p:anim calcmode="lin" valueType="num">
                                      <p:cBhvr>
                                        <p:cTn id="167" dur="1000" fill="hold"/>
                                        <p:tgtEl>
                                          <p:spTgt spid="78856"/>
                                        </p:tgtEl>
                                        <p:attrNameLst>
                                          <p:attrName>ppt_x</p:attrName>
                                        </p:attrNameLst>
                                      </p:cBhvr>
                                      <p:tavLst>
                                        <p:tav tm="0">
                                          <p:val>
                                            <p:strVal val="#ppt_x-.2"/>
                                          </p:val>
                                        </p:tav>
                                        <p:tav tm="100000">
                                          <p:val>
                                            <p:strVal val="#ppt_x"/>
                                          </p:val>
                                        </p:tav>
                                      </p:tavLst>
                                    </p:anim>
                                    <p:anim calcmode="lin" valueType="num">
                                      <p:cBhvr>
                                        <p:cTn id="168" dur="1000" fill="hold"/>
                                        <p:tgtEl>
                                          <p:spTgt spid="78856"/>
                                        </p:tgtEl>
                                        <p:attrNameLst>
                                          <p:attrName>ppt_y</p:attrName>
                                        </p:attrNameLst>
                                      </p:cBhvr>
                                      <p:tavLst>
                                        <p:tav tm="0">
                                          <p:val>
                                            <p:strVal val="#ppt_y"/>
                                          </p:val>
                                        </p:tav>
                                        <p:tav tm="100000">
                                          <p:val>
                                            <p:strVal val="#ppt_y"/>
                                          </p:val>
                                        </p:tav>
                                      </p:tavLst>
                                    </p:anim>
                                    <p:animEffect transition="in" filter="wipe(right)" prLst="gradientSize: 0.1">
                                      <p:cBhvr>
                                        <p:cTn id="169" dur="1000"/>
                                        <p:tgtEl>
                                          <p:spTgt spid="78856"/>
                                        </p:tgtEl>
                                      </p:cBhvr>
                                    </p:animEffect>
                                  </p:childTnLst>
                                </p:cTn>
                              </p:par>
                            </p:childTnLst>
                          </p:cTn>
                        </p:par>
                      </p:childTnLst>
                    </p:cTn>
                  </p:par>
                  <p:par>
                    <p:cTn id="170" fill="hold">
                      <p:stCondLst>
                        <p:cond delay="indefinite"/>
                      </p:stCondLst>
                      <p:childTnLst>
                        <p:par>
                          <p:cTn id="171" fill="hold">
                            <p:stCondLst>
                              <p:cond delay="0"/>
                            </p:stCondLst>
                            <p:childTnLst>
                              <p:par>
                                <p:cTn id="172" presetID="29" presetClass="entr" presetSubtype="0" fill="hold" nodeType="clickEffect">
                                  <p:stCondLst>
                                    <p:cond delay="0"/>
                                  </p:stCondLst>
                                  <p:childTnLst>
                                    <p:set>
                                      <p:cBhvr>
                                        <p:cTn id="173" dur="1" fill="hold">
                                          <p:stCondLst>
                                            <p:cond delay="0"/>
                                          </p:stCondLst>
                                        </p:cTn>
                                        <p:tgtEl>
                                          <p:spTgt spid="78857"/>
                                        </p:tgtEl>
                                        <p:attrNameLst>
                                          <p:attrName>style.visibility</p:attrName>
                                        </p:attrNameLst>
                                      </p:cBhvr>
                                      <p:to>
                                        <p:strVal val="visible"/>
                                      </p:to>
                                    </p:set>
                                    <p:anim calcmode="lin" valueType="num">
                                      <p:cBhvr>
                                        <p:cTn id="174" dur="1000" fill="hold"/>
                                        <p:tgtEl>
                                          <p:spTgt spid="78857"/>
                                        </p:tgtEl>
                                        <p:attrNameLst>
                                          <p:attrName>ppt_x</p:attrName>
                                        </p:attrNameLst>
                                      </p:cBhvr>
                                      <p:tavLst>
                                        <p:tav tm="0">
                                          <p:val>
                                            <p:strVal val="#ppt_x-.2"/>
                                          </p:val>
                                        </p:tav>
                                        <p:tav tm="100000">
                                          <p:val>
                                            <p:strVal val="#ppt_x"/>
                                          </p:val>
                                        </p:tav>
                                      </p:tavLst>
                                    </p:anim>
                                    <p:anim calcmode="lin" valueType="num">
                                      <p:cBhvr>
                                        <p:cTn id="175" dur="1000" fill="hold"/>
                                        <p:tgtEl>
                                          <p:spTgt spid="78857"/>
                                        </p:tgtEl>
                                        <p:attrNameLst>
                                          <p:attrName>ppt_y</p:attrName>
                                        </p:attrNameLst>
                                      </p:cBhvr>
                                      <p:tavLst>
                                        <p:tav tm="0">
                                          <p:val>
                                            <p:strVal val="#ppt_y"/>
                                          </p:val>
                                        </p:tav>
                                        <p:tav tm="100000">
                                          <p:val>
                                            <p:strVal val="#ppt_y"/>
                                          </p:val>
                                        </p:tav>
                                      </p:tavLst>
                                    </p:anim>
                                    <p:animEffect transition="in" filter="wipe(right)" prLst="gradientSize: 0.1">
                                      <p:cBhvr>
                                        <p:cTn id="176" dur="1000"/>
                                        <p:tgtEl>
                                          <p:spTgt spid="78857"/>
                                        </p:tgtEl>
                                      </p:cBhvr>
                                    </p:animEffect>
                                  </p:childTnLst>
                                </p:cTn>
                              </p:par>
                            </p:childTnLst>
                          </p:cTn>
                        </p:par>
                      </p:childTnLst>
                    </p:cTn>
                  </p:par>
                  <p:par>
                    <p:cTn id="177" fill="hold">
                      <p:stCondLst>
                        <p:cond delay="indefinite"/>
                      </p:stCondLst>
                      <p:childTnLst>
                        <p:par>
                          <p:cTn id="178" fill="hold">
                            <p:stCondLst>
                              <p:cond delay="0"/>
                            </p:stCondLst>
                            <p:childTnLst>
                              <p:par>
                                <p:cTn id="179" presetID="20" presetClass="entr" presetSubtype="0" fill="hold" grpId="0" nodeType="clickEffect">
                                  <p:stCondLst>
                                    <p:cond delay="0"/>
                                  </p:stCondLst>
                                  <p:childTnLst>
                                    <p:set>
                                      <p:cBhvr>
                                        <p:cTn id="180" dur="1" fill="hold">
                                          <p:stCondLst>
                                            <p:cond delay="0"/>
                                          </p:stCondLst>
                                        </p:cTn>
                                        <p:tgtEl>
                                          <p:spTgt spid="27"/>
                                        </p:tgtEl>
                                        <p:attrNameLst>
                                          <p:attrName>style.visibility</p:attrName>
                                        </p:attrNameLst>
                                      </p:cBhvr>
                                      <p:to>
                                        <p:strVal val="visible"/>
                                      </p:to>
                                    </p:set>
                                    <p:animEffect transition="in" filter="wedge">
                                      <p:cBhvr>
                                        <p:cTn id="181"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3" grpId="0"/>
      <p:bldP spid="14" grpId="0"/>
      <p:bldP spid="15" grpId="0"/>
      <p:bldP spid="16" grpId="0"/>
      <p:bldP spid="17" grpId="0"/>
      <p:bldP spid="18" grpId="0"/>
      <p:bldP spid="27" grpId="0" animBg="1"/>
      <p:bldP spid="28"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228601"/>
            <a:ext cx="8229600" cy="2895599"/>
          </a:xfrm>
          <a:prstGeom prst="rect">
            <a:avLst/>
          </a:prstGeom>
        </p:spPr>
        <p:txBody>
          <a:bodyPr>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11. The supplement of the angle is three times the angle. What is the supplement?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2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a. 22.5˚</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b. 45˚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c. 67.5˚</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d. 135˚</a:t>
            </a:r>
            <a:endParaRPr kumimoji="0" lang="en-PH"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1447800" y="3596313"/>
            <a:ext cx="6400800" cy="3185487"/>
          </a:xfrm>
          <a:prstGeom prst="rect">
            <a:avLst/>
          </a:prstGeom>
        </p:spPr>
        <p:txBody>
          <a:bodyPr wrap="square">
            <a:spAutoFit/>
          </a:bodyPr>
          <a:lstStyle/>
          <a:p>
            <a:r>
              <a:rPr lang="en-US" b="1" dirty="0" smtClean="0"/>
              <a:t>Solution:</a:t>
            </a:r>
          </a:p>
          <a:p>
            <a:pPr>
              <a:lnSpc>
                <a:spcPct val="150000"/>
              </a:lnSpc>
            </a:pPr>
            <a:r>
              <a:rPr lang="en-US" b="1" dirty="0" smtClean="0"/>
              <a:t>	    Let x = measure of the angle</a:t>
            </a:r>
          </a:p>
          <a:p>
            <a:pPr>
              <a:lnSpc>
                <a:spcPct val="150000"/>
              </a:lnSpc>
            </a:pPr>
            <a:r>
              <a:rPr lang="en-US" b="1" dirty="0" smtClean="0"/>
              <a:t>	180˚- x = measure of its supplement</a:t>
            </a:r>
          </a:p>
          <a:p>
            <a:pPr>
              <a:lnSpc>
                <a:spcPct val="150000"/>
              </a:lnSpc>
            </a:pPr>
            <a:r>
              <a:rPr lang="en-US" b="1" dirty="0" smtClean="0"/>
              <a:t>	180˚ - x = 3x </a:t>
            </a:r>
            <a:r>
              <a:rPr lang="en-US" b="1" dirty="0" smtClean="0">
                <a:sym typeface="Wingdings" pitchFamily="2" charset="2"/>
              </a:rPr>
              <a:t> working equation</a:t>
            </a:r>
          </a:p>
          <a:p>
            <a:pPr>
              <a:lnSpc>
                <a:spcPct val="150000"/>
              </a:lnSpc>
            </a:pPr>
            <a:r>
              <a:rPr lang="en-US" b="1" dirty="0" smtClean="0">
                <a:sym typeface="Wingdings" pitchFamily="2" charset="2"/>
              </a:rPr>
              <a:t>	     180</a:t>
            </a:r>
            <a:r>
              <a:rPr lang="en-US" b="1" dirty="0" smtClean="0"/>
              <a:t>˚ = 4x</a:t>
            </a:r>
          </a:p>
          <a:p>
            <a:pPr>
              <a:lnSpc>
                <a:spcPct val="150000"/>
              </a:lnSpc>
            </a:pPr>
            <a:r>
              <a:rPr lang="en-US" b="1" dirty="0" smtClean="0"/>
              <a:t>	            x = 45˚ </a:t>
            </a:r>
            <a:r>
              <a:rPr lang="en-US" b="1" dirty="0" smtClean="0">
                <a:sym typeface="Wingdings" pitchFamily="2" charset="2"/>
              </a:rPr>
              <a:t> the angle</a:t>
            </a:r>
          </a:p>
          <a:p>
            <a:pPr>
              <a:lnSpc>
                <a:spcPct val="150000"/>
              </a:lnSpc>
            </a:pPr>
            <a:r>
              <a:rPr lang="en-US" b="1" dirty="0" smtClean="0">
                <a:sym typeface="Wingdings" pitchFamily="2" charset="2"/>
              </a:rPr>
              <a:t>	</a:t>
            </a:r>
            <a:r>
              <a:rPr lang="en-US" sz="3200" b="1" dirty="0" smtClean="0">
                <a:sym typeface="Wingdings" pitchFamily="2" charset="2"/>
              </a:rPr>
              <a:t>180</a:t>
            </a:r>
            <a:r>
              <a:rPr lang="en-US" sz="3200" b="1" dirty="0" smtClean="0"/>
              <a:t>˚ - x = 180˚ - 45˚ = 135˚</a:t>
            </a:r>
          </a:p>
        </p:txBody>
      </p:sp>
      <p:sp>
        <p:nvSpPr>
          <p:cNvPr id="7" name="Rounded Rectangle 6"/>
          <p:cNvSpPr/>
          <p:nvPr/>
        </p:nvSpPr>
        <p:spPr>
          <a:xfrm>
            <a:off x="1271868" y="3523129"/>
            <a:ext cx="5810250" cy="3182471"/>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345841" y="2908479"/>
            <a:ext cx="1232079"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900" decel="100000" fill="hold"/>
                                        <p:tgtEl>
                                          <p:spTgt spid="7"/>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p:cTn id="41"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6">
                                            <p:txEl>
                                              <p:pRg st="2" end="2"/>
                                            </p:txEl>
                                          </p:spTgt>
                                        </p:tgtEl>
                                        <p:attrNameLst>
                                          <p:attrName>style.visibility</p:attrName>
                                        </p:attrNameLst>
                                      </p:cBhvr>
                                      <p:to>
                                        <p:strVal val="visible"/>
                                      </p:to>
                                    </p:set>
                                    <p:anim calcmode="lin" valueType="num">
                                      <p:cBhvr>
                                        <p:cTn id="48"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6">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 calcmode="lin" valueType="num">
                                      <p:cBhvr>
                                        <p:cTn id="55"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6">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6">
                                            <p:txEl>
                                              <p:pRg st="4" end="4"/>
                                            </p:txEl>
                                          </p:spTgt>
                                        </p:tgtEl>
                                        <p:attrNameLst>
                                          <p:attrName>style.visibility</p:attrName>
                                        </p:attrNameLst>
                                      </p:cBhvr>
                                      <p:to>
                                        <p:strVal val="visible"/>
                                      </p:to>
                                    </p:set>
                                    <p:anim calcmode="lin" valueType="num">
                                      <p:cBhvr>
                                        <p:cTn id="62"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63"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6">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6">
                                            <p:txEl>
                                              <p:pRg st="5" end="5"/>
                                            </p:txEl>
                                          </p:spTgt>
                                        </p:tgtEl>
                                        <p:attrNameLst>
                                          <p:attrName>style.visibility</p:attrName>
                                        </p:attrNameLst>
                                      </p:cBhvr>
                                      <p:to>
                                        <p:strVal val="visible"/>
                                      </p:to>
                                    </p:set>
                                    <p:anim calcmode="lin" valueType="num">
                                      <p:cBhvr>
                                        <p:cTn id="69"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70" dur="1000" fill="hold"/>
                                        <p:tgtEl>
                                          <p:spTgt spid="6">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1" dur="1000"/>
                                        <p:tgtEl>
                                          <p:spTgt spid="6">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9" presetClass="entr" presetSubtype="0" fill="hold" nodeType="clickEffect">
                                  <p:stCondLst>
                                    <p:cond delay="0"/>
                                  </p:stCondLst>
                                  <p:childTnLst>
                                    <p:set>
                                      <p:cBhvr>
                                        <p:cTn id="75" dur="1" fill="hold">
                                          <p:stCondLst>
                                            <p:cond delay="0"/>
                                          </p:stCondLst>
                                        </p:cTn>
                                        <p:tgtEl>
                                          <p:spTgt spid="6">
                                            <p:txEl>
                                              <p:pRg st="6" end="6"/>
                                            </p:txEl>
                                          </p:spTgt>
                                        </p:tgtEl>
                                        <p:attrNameLst>
                                          <p:attrName>style.visibility</p:attrName>
                                        </p:attrNameLst>
                                      </p:cBhvr>
                                      <p:to>
                                        <p:strVal val="visible"/>
                                      </p:to>
                                    </p:set>
                                    <p:anim calcmode="lin" valueType="num">
                                      <p:cBhvr>
                                        <p:cTn id="76"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77" dur="1000" fill="hold"/>
                                        <p:tgtEl>
                                          <p:spTgt spid="6">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8" dur="1000"/>
                                        <p:tgtEl>
                                          <p:spTgt spid="6">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0" presetClass="entr" presetSubtype="0" fill="hold" grpId="0" nodeType="click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wedge">
                                      <p:cBhvr>
                                        <p:cTn id="8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152400"/>
            <a:ext cx="8229600" cy="1905000"/>
          </a:xfrm>
          <a:prstGeom prst="rect">
            <a:avLst/>
          </a:prstGeom>
        </p:spPr>
        <p:txBody>
          <a:bodyPr>
            <a:noAutofit/>
          </a:bodyPr>
          <a:lstStyle/>
          <a:p>
            <a:pPr marL="566738" marR="0" lvl="0" indent="-515938"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12. What is the measure of each interior  angle of a regular pentagon?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a. 108˚			c. 180˚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b. 140˚ 			d. 540˚		</a:t>
            </a:r>
            <a:endParaRPr kumimoji="0" lang="en-PH"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405684" y="2554311"/>
            <a:ext cx="8585916" cy="1615827"/>
          </a:xfrm>
          <a:prstGeom prst="rect">
            <a:avLst/>
          </a:prstGeom>
        </p:spPr>
        <p:txBody>
          <a:bodyPr wrap="square">
            <a:spAutoFit/>
          </a:bodyPr>
          <a:lstStyle/>
          <a:p>
            <a:r>
              <a:rPr lang="en-US" b="1" dirty="0" smtClean="0">
                <a:latin typeface="Verdana" pitchFamily="34" charset="0"/>
                <a:ea typeface="Verdana" pitchFamily="34" charset="0"/>
                <a:cs typeface="Verdana" pitchFamily="34" charset="0"/>
              </a:rPr>
              <a:t>Solution:</a:t>
            </a:r>
          </a:p>
          <a:p>
            <a:pPr>
              <a:lnSpc>
                <a:spcPct val="150000"/>
              </a:lnSpc>
            </a:pPr>
            <a:r>
              <a:rPr lang="en-US" b="1" dirty="0" smtClean="0">
                <a:latin typeface="Verdana" pitchFamily="34" charset="0"/>
                <a:ea typeface="Verdana" pitchFamily="34" charset="0"/>
                <a:cs typeface="Verdana" pitchFamily="34" charset="0"/>
              </a:rPr>
              <a:t>	    Let	        = measure of each interior angle of a regular pentagon.</a:t>
            </a:r>
          </a:p>
          <a:p>
            <a:pPr>
              <a:lnSpc>
                <a:spcPct val="150000"/>
              </a:lnSpc>
            </a:pPr>
            <a:r>
              <a:rPr lang="en-US" b="1" dirty="0" smtClean="0">
                <a:latin typeface="Verdana" pitchFamily="34" charset="0"/>
                <a:ea typeface="Verdana" pitchFamily="34" charset="0"/>
                <a:cs typeface="Verdana" pitchFamily="34" charset="0"/>
              </a:rPr>
              <a:t>	          n = no. of sides of the polygon.</a:t>
            </a:r>
          </a:p>
        </p:txBody>
      </p:sp>
      <p:graphicFrame>
        <p:nvGraphicFramePr>
          <p:cNvPr id="7" name="Object 1"/>
          <p:cNvGraphicFramePr>
            <a:graphicFrameLocks noChangeAspect="1"/>
          </p:cNvGraphicFramePr>
          <p:nvPr/>
        </p:nvGraphicFramePr>
        <p:xfrm>
          <a:off x="2082227" y="2886821"/>
          <a:ext cx="1011237" cy="439197"/>
        </p:xfrm>
        <a:graphic>
          <a:graphicData uri="http://schemas.openxmlformats.org/presentationml/2006/ole">
            <p:oleObj spid="_x0000_s79874" name="Equation" r:id="rId6" imgW="431640" imgH="190440" progId="Equation.3">
              <p:embed/>
            </p:oleObj>
          </a:graphicData>
        </a:graphic>
      </p:graphicFrame>
      <p:graphicFrame>
        <p:nvGraphicFramePr>
          <p:cNvPr id="8" name="Object 2"/>
          <p:cNvGraphicFramePr>
            <a:graphicFrameLocks noChangeAspect="1"/>
          </p:cNvGraphicFramePr>
          <p:nvPr/>
        </p:nvGraphicFramePr>
        <p:xfrm>
          <a:off x="1548684" y="4160861"/>
          <a:ext cx="2667000" cy="839584"/>
        </p:xfrm>
        <a:graphic>
          <a:graphicData uri="http://schemas.openxmlformats.org/presentationml/2006/ole">
            <p:oleObj spid="_x0000_s79875" name="Equation" r:id="rId7" imgW="1231560" imgH="393480" progId="Equation.3">
              <p:embed/>
            </p:oleObj>
          </a:graphicData>
        </a:graphic>
      </p:graphicFrame>
      <p:graphicFrame>
        <p:nvGraphicFramePr>
          <p:cNvPr id="9" name="Object 3"/>
          <p:cNvGraphicFramePr>
            <a:graphicFrameLocks noChangeAspect="1"/>
          </p:cNvGraphicFramePr>
          <p:nvPr/>
        </p:nvGraphicFramePr>
        <p:xfrm>
          <a:off x="1548684" y="4914923"/>
          <a:ext cx="2640013" cy="839788"/>
        </p:xfrm>
        <a:graphic>
          <a:graphicData uri="http://schemas.openxmlformats.org/presentationml/2006/ole">
            <p:oleObj spid="_x0000_s79876" name="Equation" r:id="rId8" imgW="1218960" imgH="393480" progId="Equation.3">
              <p:embed/>
            </p:oleObj>
          </a:graphicData>
        </a:graphic>
      </p:graphicFrame>
      <p:graphicFrame>
        <p:nvGraphicFramePr>
          <p:cNvPr id="10" name="Object 4"/>
          <p:cNvGraphicFramePr>
            <a:graphicFrameLocks noChangeAspect="1"/>
          </p:cNvGraphicFramePr>
          <p:nvPr/>
        </p:nvGraphicFramePr>
        <p:xfrm>
          <a:off x="4048996" y="4902656"/>
          <a:ext cx="1538288" cy="839787"/>
        </p:xfrm>
        <a:graphic>
          <a:graphicData uri="http://schemas.openxmlformats.org/presentationml/2006/ole">
            <p:oleObj spid="_x0000_s79877" name="Equation" r:id="rId9" imgW="711000" imgH="393480" progId="Equation.3">
              <p:embed/>
            </p:oleObj>
          </a:graphicData>
        </a:graphic>
      </p:graphicFrame>
      <p:graphicFrame>
        <p:nvGraphicFramePr>
          <p:cNvPr id="11" name="Object 5"/>
          <p:cNvGraphicFramePr>
            <a:graphicFrameLocks noChangeAspect="1"/>
          </p:cNvGraphicFramePr>
          <p:nvPr/>
        </p:nvGraphicFramePr>
        <p:xfrm>
          <a:off x="1535984" y="5829323"/>
          <a:ext cx="1841500" cy="839788"/>
        </p:xfrm>
        <a:graphic>
          <a:graphicData uri="http://schemas.openxmlformats.org/presentationml/2006/ole">
            <p:oleObj spid="_x0000_s79878" name="Equation" r:id="rId10" imgW="850680" imgH="393480" progId="Equation.3">
              <p:embed/>
            </p:oleObj>
          </a:graphicData>
        </a:graphic>
      </p:graphicFrame>
      <p:graphicFrame>
        <p:nvGraphicFramePr>
          <p:cNvPr id="12" name="Object 6"/>
          <p:cNvGraphicFramePr>
            <a:graphicFrameLocks noChangeAspect="1"/>
          </p:cNvGraphicFramePr>
          <p:nvPr/>
        </p:nvGraphicFramePr>
        <p:xfrm>
          <a:off x="3225084" y="5830911"/>
          <a:ext cx="1951037" cy="830942"/>
        </p:xfrm>
        <a:graphic>
          <a:graphicData uri="http://schemas.openxmlformats.org/presentationml/2006/ole">
            <p:oleObj spid="_x0000_s79879" name="Equation" r:id="rId11" imgW="469800" imgH="203040" progId="Equation.3">
              <p:embed/>
            </p:oleObj>
          </a:graphicData>
        </a:graphic>
      </p:graphicFrame>
      <p:sp>
        <p:nvSpPr>
          <p:cNvPr id="13" name="Rounded Rectangle 12"/>
          <p:cNvSpPr/>
          <p:nvPr/>
        </p:nvSpPr>
        <p:spPr>
          <a:xfrm>
            <a:off x="228600" y="2362200"/>
            <a:ext cx="8763000" cy="430583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345842" y="1244958"/>
            <a:ext cx="1232079"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900" decel="100000" fill="hold"/>
                                        <p:tgtEl>
                                          <p:spTgt spid="13"/>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par>
                                <p:cTn id="38" presetID="29" presetClass="entr" presetSubtype="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1000" fill="hold"/>
                                        <p:tgtEl>
                                          <p:spTgt spid="7"/>
                                        </p:tgtEl>
                                        <p:attrNameLst>
                                          <p:attrName>ppt_x</p:attrName>
                                        </p:attrNameLst>
                                      </p:cBhvr>
                                      <p:tavLst>
                                        <p:tav tm="0">
                                          <p:val>
                                            <p:strVal val="#ppt_x-.2"/>
                                          </p:val>
                                        </p:tav>
                                        <p:tav tm="100000">
                                          <p:val>
                                            <p:strVal val="#ppt_x"/>
                                          </p:val>
                                        </p:tav>
                                      </p:tavLst>
                                    </p:anim>
                                    <p:anim calcmode="lin" valueType="num">
                                      <p:cBhvr>
                                        <p:cTn id="41"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42" dur="10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29" presetClass="entr" presetSubtype="0" fill="hold"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anim calcmode="lin" valueType="num">
                                      <p:cBhvr>
                                        <p:cTn id="47"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8"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9" dur="1000"/>
                                        <p:tgtEl>
                                          <p:spTgt spid="6">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9" presetClass="entr" presetSubtype="0" fill="hold" nodeType="clickEffect">
                                  <p:stCondLst>
                                    <p:cond delay="0"/>
                                  </p:stCondLst>
                                  <p:childTnLst>
                                    <p:set>
                                      <p:cBhvr>
                                        <p:cTn id="53" dur="1" fill="hold">
                                          <p:stCondLst>
                                            <p:cond delay="0"/>
                                          </p:stCondLst>
                                        </p:cTn>
                                        <p:tgtEl>
                                          <p:spTgt spid="8"/>
                                        </p:tgtEl>
                                        <p:attrNameLst>
                                          <p:attrName>style.visibility</p:attrName>
                                        </p:attrNameLst>
                                      </p:cBhvr>
                                      <p:to>
                                        <p:strVal val="visible"/>
                                      </p:to>
                                    </p:set>
                                    <p:anim calcmode="lin" valueType="num">
                                      <p:cBhvr>
                                        <p:cTn id="54" dur="1000" fill="hold"/>
                                        <p:tgtEl>
                                          <p:spTgt spid="8"/>
                                        </p:tgtEl>
                                        <p:attrNameLst>
                                          <p:attrName>ppt_x</p:attrName>
                                        </p:attrNameLst>
                                      </p:cBhvr>
                                      <p:tavLst>
                                        <p:tav tm="0">
                                          <p:val>
                                            <p:strVal val="#ppt_x-.2"/>
                                          </p:val>
                                        </p:tav>
                                        <p:tav tm="100000">
                                          <p:val>
                                            <p:strVal val="#ppt_x"/>
                                          </p:val>
                                        </p:tav>
                                      </p:tavLst>
                                    </p:anim>
                                    <p:anim calcmode="lin" valueType="num">
                                      <p:cBhvr>
                                        <p:cTn id="55"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56" dur="1000"/>
                                        <p:tgtEl>
                                          <p:spTgt spid="8"/>
                                        </p:tgtEl>
                                      </p:cBhvr>
                                    </p:animEffect>
                                  </p:childTnLst>
                                </p:cTn>
                              </p:par>
                            </p:childTnLst>
                          </p:cTn>
                        </p:par>
                      </p:childTnLst>
                    </p:cTn>
                  </p:par>
                  <p:par>
                    <p:cTn id="57" fill="hold">
                      <p:stCondLst>
                        <p:cond delay="indefinite"/>
                      </p:stCondLst>
                      <p:childTnLst>
                        <p:par>
                          <p:cTn id="58" fill="hold">
                            <p:stCondLst>
                              <p:cond delay="0"/>
                            </p:stCondLst>
                            <p:childTnLst>
                              <p:par>
                                <p:cTn id="59" presetID="29"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p:cTn id="61" dur="1000" fill="hold"/>
                                        <p:tgtEl>
                                          <p:spTgt spid="9"/>
                                        </p:tgtEl>
                                        <p:attrNameLst>
                                          <p:attrName>ppt_x</p:attrName>
                                        </p:attrNameLst>
                                      </p:cBhvr>
                                      <p:tavLst>
                                        <p:tav tm="0">
                                          <p:val>
                                            <p:strVal val="#ppt_x-.2"/>
                                          </p:val>
                                        </p:tav>
                                        <p:tav tm="100000">
                                          <p:val>
                                            <p:strVal val="#ppt_x"/>
                                          </p:val>
                                        </p:tav>
                                      </p:tavLst>
                                    </p:anim>
                                    <p:anim calcmode="lin" valueType="num">
                                      <p:cBhvr>
                                        <p:cTn id="62"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63" dur="10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29" presetClass="entr" presetSubtype="0" fill="hold" nodeType="clickEffect">
                                  <p:stCondLst>
                                    <p:cond delay="0"/>
                                  </p:stCondLst>
                                  <p:childTnLst>
                                    <p:set>
                                      <p:cBhvr>
                                        <p:cTn id="67" dur="1" fill="hold">
                                          <p:stCondLst>
                                            <p:cond delay="0"/>
                                          </p:stCondLst>
                                        </p:cTn>
                                        <p:tgtEl>
                                          <p:spTgt spid="10"/>
                                        </p:tgtEl>
                                        <p:attrNameLst>
                                          <p:attrName>style.visibility</p:attrName>
                                        </p:attrNameLst>
                                      </p:cBhvr>
                                      <p:to>
                                        <p:strVal val="visible"/>
                                      </p:to>
                                    </p:set>
                                    <p:anim calcmode="lin" valueType="num">
                                      <p:cBhvr>
                                        <p:cTn id="68" dur="1000" fill="hold"/>
                                        <p:tgtEl>
                                          <p:spTgt spid="10"/>
                                        </p:tgtEl>
                                        <p:attrNameLst>
                                          <p:attrName>ppt_x</p:attrName>
                                        </p:attrNameLst>
                                      </p:cBhvr>
                                      <p:tavLst>
                                        <p:tav tm="0">
                                          <p:val>
                                            <p:strVal val="#ppt_x-.2"/>
                                          </p:val>
                                        </p:tav>
                                        <p:tav tm="100000">
                                          <p:val>
                                            <p:strVal val="#ppt_x"/>
                                          </p:val>
                                        </p:tav>
                                      </p:tavLst>
                                    </p:anim>
                                    <p:anim calcmode="lin" valueType="num">
                                      <p:cBhvr>
                                        <p:cTn id="69"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70" dur="1000"/>
                                        <p:tgtEl>
                                          <p:spTgt spid="10"/>
                                        </p:tgtEl>
                                      </p:cBhvr>
                                    </p:animEffect>
                                  </p:childTnLst>
                                </p:cTn>
                              </p:par>
                            </p:childTnLst>
                          </p:cTn>
                        </p:par>
                      </p:childTnLst>
                    </p:cTn>
                  </p:par>
                  <p:par>
                    <p:cTn id="71" fill="hold">
                      <p:stCondLst>
                        <p:cond delay="indefinite"/>
                      </p:stCondLst>
                      <p:childTnLst>
                        <p:par>
                          <p:cTn id="72" fill="hold">
                            <p:stCondLst>
                              <p:cond delay="0"/>
                            </p:stCondLst>
                            <p:childTnLst>
                              <p:par>
                                <p:cTn id="73" presetID="29"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 calcmode="lin" valueType="num">
                                      <p:cBhvr>
                                        <p:cTn id="75" dur="1000" fill="hold"/>
                                        <p:tgtEl>
                                          <p:spTgt spid="11"/>
                                        </p:tgtEl>
                                        <p:attrNameLst>
                                          <p:attrName>ppt_x</p:attrName>
                                        </p:attrNameLst>
                                      </p:cBhvr>
                                      <p:tavLst>
                                        <p:tav tm="0">
                                          <p:val>
                                            <p:strVal val="#ppt_x-.2"/>
                                          </p:val>
                                        </p:tav>
                                        <p:tav tm="100000">
                                          <p:val>
                                            <p:strVal val="#ppt_x"/>
                                          </p:val>
                                        </p:tav>
                                      </p:tavLst>
                                    </p:anim>
                                    <p:anim calcmode="lin" valueType="num">
                                      <p:cBhvr>
                                        <p:cTn id="76"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77" dur="1000"/>
                                        <p:tgtEl>
                                          <p:spTgt spid="11"/>
                                        </p:tgtEl>
                                      </p:cBhvr>
                                    </p:animEffect>
                                  </p:childTnLst>
                                </p:cTn>
                              </p:par>
                            </p:childTnLst>
                          </p:cTn>
                        </p:par>
                      </p:childTnLst>
                    </p:cTn>
                  </p:par>
                  <p:par>
                    <p:cTn id="78" fill="hold">
                      <p:stCondLst>
                        <p:cond delay="indefinite"/>
                      </p:stCondLst>
                      <p:childTnLst>
                        <p:par>
                          <p:cTn id="79" fill="hold">
                            <p:stCondLst>
                              <p:cond delay="0"/>
                            </p:stCondLst>
                            <p:childTnLst>
                              <p:par>
                                <p:cTn id="80" presetID="29" presetClass="entr" presetSubtype="0"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 calcmode="lin" valueType="num">
                                      <p:cBhvr>
                                        <p:cTn id="82" dur="1000" fill="hold"/>
                                        <p:tgtEl>
                                          <p:spTgt spid="12"/>
                                        </p:tgtEl>
                                        <p:attrNameLst>
                                          <p:attrName>ppt_x</p:attrName>
                                        </p:attrNameLst>
                                      </p:cBhvr>
                                      <p:tavLst>
                                        <p:tav tm="0">
                                          <p:val>
                                            <p:strVal val="#ppt_x-.2"/>
                                          </p:val>
                                        </p:tav>
                                        <p:tav tm="100000">
                                          <p:val>
                                            <p:strVal val="#ppt_x"/>
                                          </p:val>
                                        </p:tav>
                                      </p:tavLst>
                                    </p:anim>
                                    <p:anim calcmode="lin" valueType="num">
                                      <p:cBhvr>
                                        <p:cTn id="83"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84" dur="10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20" presetClass="entr" presetSubtype="0" fill="hold" grpId="0" nodeType="click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wedge">
                                      <p:cBhvr>
                                        <p:cTn id="89"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5"/>
          <p:cNvSpPr txBox="1">
            <a:spLocks/>
          </p:cNvSpPr>
          <p:nvPr/>
        </p:nvSpPr>
        <p:spPr>
          <a:xfrm>
            <a:off x="457200" y="228600"/>
            <a:ext cx="8229600" cy="1904999"/>
          </a:xfrm>
          <a:prstGeom prst="rect">
            <a:avLst/>
          </a:prstGeom>
        </p:spPr>
        <p:txBody>
          <a:bodyPr/>
          <a:lstStyle/>
          <a:p>
            <a:pPr marL="566738" marR="0" lvl="0" indent="-566738"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13. The angles of a triangle are in the ratio 2:3:5. What is the largest angle?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a. 36˚			c. 90˚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		b. 54˚			d. 99˚</a:t>
            </a:r>
          </a:p>
        </p:txBody>
      </p:sp>
      <p:sp>
        <p:nvSpPr>
          <p:cNvPr id="6" name="Rectangle 5"/>
          <p:cNvSpPr/>
          <p:nvPr/>
        </p:nvSpPr>
        <p:spPr>
          <a:xfrm>
            <a:off x="990600" y="2380595"/>
            <a:ext cx="6781800" cy="4401205"/>
          </a:xfrm>
          <a:prstGeom prst="rect">
            <a:avLst/>
          </a:prstGeom>
        </p:spPr>
        <p:txBody>
          <a:bodyPr wrap="square">
            <a:spAutoFit/>
          </a:bodyPr>
          <a:lstStyle/>
          <a:p>
            <a:r>
              <a:rPr lang="en-US" sz="1600" b="1" dirty="0" smtClean="0"/>
              <a:t>Solution:</a:t>
            </a:r>
          </a:p>
          <a:p>
            <a:r>
              <a:rPr lang="en-US" sz="1600" b="1" dirty="0" smtClean="0"/>
              <a:t>	Let x = common ratio</a:t>
            </a:r>
          </a:p>
          <a:p>
            <a:r>
              <a:rPr lang="en-US" sz="1600" b="1" dirty="0" smtClean="0"/>
              <a:t>	2:3:5 = the ratio of the measures of the angles of the triangle</a:t>
            </a:r>
          </a:p>
          <a:p>
            <a:r>
              <a:rPr lang="en-US" sz="1600" b="1" dirty="0" smtClean="0"/>
              <a:t>	       </a:t>
            </a:r>
            <a:r>
              <a:rPr lang="en-US" sz="2400" b="1" dirty="0" smtClean="0"/>
              <a:t>2x = measure of the 1st angle</a:t>
            </a:r>
          </a:p>
          <a:p>
            <a:r>
              <a:rPr lang="en-US" sz="2400" b="1" dirty="0" smtClean="0"/>
              <a:t>	     3x = measure of the 2</a:t>
            </a:r>
            <a:r>
              <a:rPr lang="en-US" sz="2400" b="1" baseline="30000" dirty="0" smtClean="0"/>
              <a:t>nd</a:t>
            </a:r>
            <a:r>
              <a:rPr lang="en-US" sz="2400" b="1" dirty="0" smtClean="0"/>
              <a:t> angle    </a:t>
            </a:r>
          </a:p>
          <a:p>
            <a:r>
              <a:rPr lang="en-US" sz="2400" b="1" dirty="0" smtClean="0"/>
              <a:t>	     5x = measure of the 3</a:t>
            </a:r>
            <a:r>
              <a:rPr lang="en-US" sz="2400" b="1" baseline="30000" dirty="0" smtClean="0"/>
              <a:t>rd</a:t>
            </a:r>
            <a:r>
              <a:rPr lang="en-US" sz="2400" b="1" dirty="0" smtClean="0"/>
              <a:t> angle</a:t>
            </a:r>
          </a:p>
          <a:p>
            <a:r>
              <a:rPr lang="en-US" sz="2400" b="1" dirty="0" smtClean="0"/>
              <a:t>	2x + 3x + 5x = 180</a:t>
            </a:r>
            <a:r>
              <a:rPr lang="en-US" sz="2400" dirty="0" smtClean="0"/>
              <a:t>˚ </a:t>
            </a:r>
            <a:r>
              <a:rPr lang="en-US" sz="2400" dirty="0" smtClean="0">
                <a:sym typeface="Wingdings" pitchFamily="2" charset="2"/>
              </a:rPr>
              <a:t> </a:t>
            </a:r>
            <a:r>
              <a:rPr lang="en-US" sz="2400" b="1" dirty="0" smtClean="0">
                <a:sym typeface="Wingdings" pitchFamily="2" charset="2"/>
              </a:rPr>
              <a:t>working equation</a:t>
            </a:r>
          </a:p>
          <a:p>
            <a:r>
              <a:rPr lang="en-US" sz="2400" b="1" dirty="0" smtClean="0">
                <a:sym typeface="Wingdings" pitchFamily="2" charset="2"/>
              </a:rPr>
              <a:t>		 10 x = 180</a:t>
            </a:r>
            <a:r>
              <a:rPr lang="en-US" sz="2400" dirty="0" smtClean="0"/>
              <a:t>˚</a:t>
            </a:r>
          </a:p>
          <a:p>
            <a:r>
              <a:rPr lang="en-US" sz="2400" dirty="0" smtClean="0"/>
              <a:t>		      </a:t>
            </a:r>
            <a:r>
              <a:rPr lang="en-US" sz="2400" b="1" dirty="0" smtClean="0"/>
              <a:t>x = 18</a:t>
            </a:r>
            <a:r>
              <a:rPr lang="en-US" sz="2400" dirty="0" smtClean="0"/>
              <a:t>˚</a:t>
            </a:r>
          </a:p>
          <a:p>
            <a:r>
              <a:rPr lang="en-US" sz="2400" dirty="0" smtClean="0"/>
              <a:t>		    </a:t>
            </a:r>
            <a:r>
              <a:rPr lang="en-US" sz="2400" b="1" dirty="0" smtClean="0"/>
              <a:t>2x = 36</a:t>
            </a:r>
            <a:r>
              <a:rPr lang="en-US" sz="2400" dirty="0" smtClean="0"/>
              <a:t>˚</a:t>
            </a:r>
          </a:p>
          <a:p>
            <a:r>
              <a:rPr lang="en-US" sz="2400" b="1" dirty="0" smtClean="0"/>
              <a:t>		    3x = 54</a:t>
            </a:r>
            <a:r>
              <a:rPr lang="en-US" sz="2400" dirty="0" smtClean="0"/>
              <a:t>˚</a:t>
            </a:r>
          </a:p>
          <a:p>
            <a:r>
              <a:rPr lang="en-US" sz="1600" b="1" dirty="0" smtClean="0"/>
              <a:t>	</a:t>
            </a:r>
            <a:r>
              <a:rPr lang="en-US" sz="4000" b="1" dirty="0" smtClean="0"/>
              <a:t>     5x = 90</a:t>
            </a:r>
            <a:r>
              <a:rPr lang="en-US" sz="4000" dirty="0" smtClean="0"/>
              <a:t>˚</a:t>
            </a:r>
            <a:endParaRPr lang="en-US" sz="4000" b="1" dirty="0" smtClean="0"/>
          </a:p>
        </p:txBody>
      </p:sp>
      <p:sp>
        <p:nvSpPr>
          <p:cNvPr id="7" name="Rounded Rectangle 6"/>
          <p:cNvSpPr/>
          <p:nvPr/>
        </p:nvSpPr>
        <p:spPr>
          <a:xfrm>
            <a:off x="609600" y="2362200"/>
            <a:ext cx="6934200" cy="430583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4101921" y="1321158"/>
            <a:ext cx="1079679"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900" decel="100000" fill="hold"/>
                                        <p:tgtEl>
                                          <p:spTgt spid="7"/>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 calcmode="lin" valueType="num">
                                      <p:cBhvr>
                                        <p:cTn id="42"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3"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6">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p:cTn id="49"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6">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 calcmode="lin" valueType="num">
                                      <p:cBhvr>
                                        <p:cTn id="56"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 calcmode="lin" valueType="num">
                                      <p:cBhvr>
                                        <p:cTn id="63"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64" dur="1000" fill="hold"/>
                                        <p:tgtEl>
                                          <p:spTgt spid="6">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6">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6">
                                            <p:txEl>
                                              <p:pRg st="6" end="6"/>
                                            </p:txEl>
                                          </p:spTgt>
                                        </p:tgtEl>
                                        <p:attrNameLst>
                                          <p:attrName>style.visibility</p:attrName>
                                        </p:attrNameLst>
                                      </p:cBhvr>
                                      <p:to>
                                        <p:strVal val="visible"/>
                                      </p:to>
                                    </p:set>
                                    <p:anim calcmode="lin" valueType="num">
                                      <p:cBhvr>
                                        <p:cTn id="70"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71" dur="1000" fill="hold"/>
                                        <p:tgtEl>
                                          <p:spTgt spid="6">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2" dur="1000"/>
                                        <p:tgtEl>
                                          <p:spTgt spid="6">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9" presetClass="entr" presetSubtype="0" fill="hold" nodeType="clickEffect">
                                  <p:stCondLst>
                                    <p:cond delay="0"/>
                                  </p:stCondLst>
                                  <p:childTnLst>
                                    <p:set>
                                      <p:cBhvr>
                                        <p:cTn id="76" dur="1" fill="hold">
                                          <p:stCondLst>
                                            <p:cond delay="0"/>
                                          </p:stCondLst>
                                        </p:cTn>
                                        <p:tgtEl>
                                          <p:spTgt spid="6">
                                            <p:txEl>
                                              <p:pRg st="7" end="7"/>
                                            </p:txEl>
                                          </p:spTgt>
                                        </p:tgtEl>
                                        <p:attrNameLst>
                                          <p:attrName>style.visibility</p:attrName>
                                        </p:attrNameLst>
                                      </p:cBhvr>
                                      <p:to>
                                        <p:strVal val="visible"/>
                                      </p:to>
                                    </p:set>
                                    <p:anim calcmode="lin" valueType="num">
                                      <p:cBhvr>
                                        <p:cTn id="77" dur="1000" fill="hold"/>
                                        <p:tgtEl>
                                          <p:spTgt spid="6">
                                            <p:txEl>
                                              <p:pRg st="7" end="7"/>
                                            </p:txEl>
                                          </p:spTgt>
                                        </p:tgtEl>
                                        <p:attrNameLst>
                                          <p:attrName>ppt_x</p:attrName>
                                        </p:attrNameLst>
                                      </p:cBhvr>
                                      <p:tavLst>
                                        <p:tav tm="0">
                                          <p:val>
                                            <p:strVal val="#ppt_x-.2"/>
                                          </p:val>
                                        </p:tav>
                                        <p:tav tm="100000">
                                          <p:val>
                                            <p:strVal val="#ppt_x"/>
                                          </p:val>
                                        </p:tav>
                                      </p:tavLst>
                                    </p:anim>
                                    <p:anim calcmode="lin" valueType="num">
                                      <p:cBhvr>
                                        <p:cTn id="78" dur="1000" fill="hold"/>
                                        <p:tgtEl>
                                          <p:spTgt spid="6">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79" dur="1000"/>
                                        <p:tgtEl>
                                          <p:spTgt spid="6">
                                            <p:txEl>
                                              <p:pRg st="7" end="7"/>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9" presetClass="entr" presetSubtype="0" fill="hold" nodeType="clickEffect">
                                  <p:stCondLst>
                                    <p:cond delay="0"/>
                                  </p:stCondLst>
                                  <p:childTnLst>
                                    <p:set>
                                      <p:cBhvr>
                                        <p:cTn id="83" dur="1" fill="hold">
                                          <p:stCondLst>
                                            <p:cond delay="0"/>
                                          </p:stCondLst>
                                        </p:cTn>
                                        <p:tgtEl>
                                          <p:spTgt spid="6">
                                            <p:txEl>
                                              <p:pRg st="8" end="8"/>
                                            </p:txEl>
                                          </p:spTgt>
                                        </p:tgtEl>
                                        <p:attrNameLst>
                                          <p:attrName>style.visibility</p:attrName>
                                        </p:attrNameLst>
                                      </p:cBhvr>
                                      <p:to>
                                        <p:strVal val="visible"/>
                                      </p:to>
                                    </p:set>
                                    <p:anim calcmode="lin" valueType="num">
                                      <p:cBhvr>
                                        <p:cTn id="84" dur="1000" fill="hold"/>
                                        <p:tgtEl>
                                          <p:spTgt spid="6">
                                            <p:txEl>
                                              <p:pRg st="8" end="8"/>
                                            </p:txEl>
                                          </p:spTgt>
                                        </p:tgtEl>
                                        <p:attrNameLst>
                                          <p:attrName>ppt_x</p:attrName>
                                        </p:attrNameLst>
                                      </p:cBhvr>
                                      <p:tavLst>
                                        <p:tav tm="0">
                                          <p:val>
                                            <p:strVal val="#ppt_x-.2"/>
                                          </p:val>
                                        </p:tav>
                                        <p:tav tm="100000">
                                          <p:val>
                                            <p:strVal val="#ppt_x"/>
                                          </p:val>
                                        </p:tav>
                                      </p:tavLst>
                                    </p:anim>
                                    <p:anim calcmode="lin" valueType="num">
                                      <p:cBhvr>
                                        <p:cTn id="85" dur="1000" fill="hold"/>
                                        <p:tgtEl>
                                          <p:spTgt spid="6">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86" dur="1000"/>
                                        <p:tgtEl>
                                          <p:spTgt spid="6">
                                            <p:txEl>
                                              <p:pRg st="8" end="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9" presetClass="entr" presetSubtype="0" fill="hold" nodeType="clickEffect">
                                  <p:stCondLst>
                                    <p:cond delay="0"/>
                                  </p:stCondLst>
                                  <p:childTnLst>
                                    <p:set>
                                      <p:cBhvr>
                                        <p:cTn id="90" dur="1" fill="hold">
                                          <p:stCondLst>
                                            <p:cond delay="0"/>
                                          </p:stCondLst>
                                        </p:cTn>
                                        <p:tgtEl>
                                          <p:spTgt spid="6">
                                            <p:txEl>
                                              <p:pRg st="9" end="9"/>
                                            </p:txEl>
                                          </p:spTgt>
                                        </p:tgtEl>
                                        <p:attrNameLst>
                                          <p:attrName>style.visibility</p:attrName>
                                        </p:attrNameLst>
                                      </p:cBhvr>
                                      <p:to>
                                        <p:strVal val="visible"/>
                                      </p:to>
                                    </p:set>
                                    <p:anim calcmode="lin" valueType="num">
                                      <p:cBhvr>
                                        <p:cTn id="91" dur="1000" fill="hold"/>
                                        <p:tgtEl>
                                          <p:spTgt spid="6">
                                            <p:txEl>
                                              <p:pRg st="9" end="9"/>
                                            </p:txEl>
                                          </p:spTgt>
                                        </p:tgtEl>
                                        <p:attrNameLst>
                                          <p:attrName>ppt_x</p:attrName>
                                        </p:attrNameLst>
                                      </p:cBhvr>
                                      <p:tavLst>
                                        <p:tav tm="0">
                                          <p:val>
                                            <p:strVal val="#ppt_x-.2"/>
                                          </p:val>
                                        </p:tav>
                                        <p:tav tm="100000">
                                          <p:val>
                                            <p:strVal val="#ppt_x"/>
                                          </p:val>
                                        </p:tav>
                                      </p:tavLst>
                                    </p:anim>
                                    <p:anim calcmode="lin" valueType="num">
                                      <p:cBhvr>
                                        <p:cTn id="92" dur="1000" fill="hold"/>
                                        <p:tgtEl>
                                          <p:spTgt spid="6">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93" dur="1000"/>
                                        <p:tgtEl>
                                          <p:spTgt spid="6">
                                            <p:txEl>
                                              <p:pRg st="9" end="9"/>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9" presetClass="entr" presetSubtype="0" fill="hold" nodeType="clickEffect">
                                  <p:stCondLst>
                                    <p:cond delay="0"/>
                                  </p:stCondLst>
                                  <p:childTnLst>
                                    <p:set>
                                      <p:cBhvr>
                                        <p:cTn id="97" dur="1" fill="hold">
                                          <p:stCondLst>
                                            <p:cond delay="0"/>
                                          </p:stCondLst>
                                        </p:cTn>
                                        <p:tgtEl>
                                          <p:spTgt spid="6">
                                            <p:txEl>
                                              <p:pRg st="10" end="10"/>
                                            </p:txEl>
                                          </p:spTgt>
                                        </p:tgtEl>
                                        <p:attrNameLst>
                                          <p:attrName>style.visibility</p:attrName>
                                        </p:attrNameLst>
                                      </p:cBhvr>
                                      <p:to>
                                        <p:strVal val="visible"/>
                                      </p:to>
                                    </p:set>
                                    <p:anim calcmode="lin" valueType="num">
                                      <p:cBhvr>
                                        <p:cTn id="98" dur="1000" fill="hold"/>
                                        <p:tgtEl>
                                          <p:spTgt spid="6">
                                            <p:txEl>
                                              <p:pRg st="10" end="10"/>
                                            </p:txEl>
                                          </p:spTgt>
                                        </p:tgtEl>
                                        <p:attrNameLst>
                                          <p:attrName>ppt_x</p:attrName>
                                        </p:attrNameLst>
                                      </p:cBhvr>
                                      <p:tavLst>
                                        <p:tav tm="0">
                                          <p:val>
                                            <p:strVal val="#ppt_x-.2"/>
                                          </p:val>
                                        </p:tav>
                                        <p:tav tm="100000">
                                          <p:val>
                                            <p:strVal val="#ppt_x"/>
                                          </p:val>
                                        </p:tav>
                                      </p:tavLst>
                                    </p:anim>
                                    <p:anim calcmode="lin" valueType="num">
                                      <p:cBhvr>
                                        <p:cTn id="99" dur="1000" fill="hold"/>
                                        <p:tgtEl>
                                          <p:spTgt spid="6">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100" dur="1000"/>
                                        <p:tgtEl>
                                          <p:spTgt spid="6">
                                            <p:txEl>
                                              <p:pRg st="10" end="1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9" presetClass="entr" presetSubtype="0" fill="hold" nodeType="clickEffect">
                                  <p:stCondLst>
                                    <p:cond delay="0"/>
                                  </p:stCondLst>
                                  <p:childTnLst>
                                    <p:set>
                                      <p:cBhvr>
                                        <p:cTn id="104" dur="1" fill="hold">
                                          <p:stCondLst>
                                            <p:cond delay="0"/>
                                          </p:stCondLst>
                                        </p:cTn>
                                        <p:tgtEl>
                                          <p:spTgt spid="6">
                                            <p:txEl>
                                              <p:pRg st="11" end="11"/>
                                            </p:txEl>
                                          </p:spTgt>
                                        </p:tgtEl>
                                        <p:attrNameLst>
                                          <p:attrName>style.visibility</p:attrName>
                                        </p:attrNameLst>
                                      </p:cBhvr>
                                      <p:to>
                                        <p:strVal val="visible"/>
                                      </p:to>
                                    </p:set>
                                    <p:anim calcmode="lin" valueType="num">
                                      <p:cBhvr>
                                        <p:cTn id="105" dur="1000" fill="hold"/>
                                        <p:tgtEl>
                                          <p:spTgt spid="6">
                                            <p:txEl>
                                              <p:pRg st="11" end="11"/>
                                            </p:txEl>
                                          </p:spTgt>
                                        </p:tgtEl>
                                        <p:attrNameLst>
                                          <p:attrName>ppt_x</p:attrName>
                                        </p:attrNameLst>
                                      </p:cBhvr>
                                      <p:tavLst>
                                        <p:tav tm="0">
                                          <p:val>
                                            <p:strVal val="#ppt_x-.2"/>
                                          </p:val>
                                        </p:tav>
                                        <p:tav tm="100000">
                                          <p:val>
                                            <p:strVal val="#ppt_x"/>
                                          </p:val>
                                        </p:tav>
                                      </p:tavLst>
                                    </p:anim>
                                    <p:anim calcmode="lin" valueType="num">
                                      <p:cBhvr>
                                        <p:cTn id="106" dur="1000" fill="hold"/>
                                        <p:tgtEl>
                                          <p:spTgt spid="6">
                                            <p:txEl>
                                              <p:pRg st="11" end="11"/>
                                            </p:txEl>
                                          </p:spTgt>
                                        </p:tgtEl>
                                        <p:attrNameLst>
                                          <p:attrName>ppt_y</p:attrName>
                                        </p:attrNameLst>
                                      </p:cBhvr>
                                      <p:tavLst>
                                        <p:tav tm="0">
                                          <p:val>
                                            <p:strVal val="#ppt_y"/>
                                          </p:val>
                                        </p:tav>
                                        <p:tav tm="100000">
                                          <p:val>
                                            <p:strVal val="#ppt_y"/>
                                          </p:val>
                                        </p:tav>
                                      </p:tavLst>
                                    </p:anim>
                                    <p:animEffect transition="in" filter="wipe(right)" prLst="gradientSize: 0.1">
                                      <p:cBhvr>
                                        <p:cTn id="107" dur="1000"/>
                                        <p:tgtEl>
                                          <p:spTgt spid="6">
                                            <p:txEl>
                                              <p:pRg st="11" end="11"/>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0" presetClass="entr" presetSubtype="0" fill="hold" grpId="0" nodeType="click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wedge">
                                      <p:cBhvr>
                                        <p:cTn id="1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228600" y="228600"/>
            <a:ext cx="8686800" cy="892552"/>
          </a:xfrm>
          <a:prstGeom prst="rect">
            <a:avLst/>
          </a:prstGeom>
        </p:spPr>
        <p:txBody>
          <a:bodyPr wrap="square">
            <a:spAutoFit/>
          </a:bodyPr>
          <a:lstStyle/>
          <a:p>
            <a:pPr marL="515938" indent="-515938"/>
            <a:r>
              <a:rPr lang="en-US" sz="2600" dirty="0" smtClean="0"/>
              <a:t>14. The graph shows the number of socks, belts, handkerchiefs, and neckties sold by a store in one week.</a:t>
            </a:r>
            <a:endParaRPr lang="en-US" sz="2600" dirty="0"/>
          </a:p>
        </p:txBody>
      </p:sp>
      <p:graphicFrame>
        <p:nvGraphicFramePr>
          <p:cNvPr id="6" name="Chart 5"/>
          <p:cNvGraphicFramePr/>
          <p:nvPr/>
        </p:nvGraphicFramePr>
        <p:xfrm>
          <a:off x="914400" y="1142999"/>
          <a:ext cx="7119870" cy="3429001"/>
        </p:xfrm>
        <a:graphic>
          <a:graphicData uri="http://schemas.openxmlformats.org/drawingml/2006/chart">
            <c:chart xmlns:c="http://schemas.openxmlformats.org/drawingml/2006/chart" xmlns:r="http://schemas.openxmlformats.org/officeDocument/2006/relationships" r:id="rId5"/>
          </a:graphicData>
        </a:graphic>
      </p:graphicFrame>
      <p:sp>
        <p:nvSpPr>
          <p:cNvPr id="7" name="Rectangle 6"/>
          <p:cNvSpPr/>
          <p:nvPr/>
        </p:nvSpPr>
        <p:spPr>
          <a:xfrm>
            <a:off x="968236" y="914400"/>
            <a:ext cx="492443" cy="2362200"/>
          </a:xfrm>
          <a:prstGeom prst="rect">
            <a:avLst/>
          </a:prstGeom>
        </p:spPr>
        <p:txBody>
          <a:bodyPr vert="vert270"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b="1" dirty="0" smtClean="0"/>
              <a:t>Number of Items</a:t>
            </a:r>
          </a:p>
        </p:txBody>
      </p:sp>
      <p:sp>
        <p:nvSpPr>
          <p:cNvPr id="8" name="Rectangle 7"/>
          <p:cNvSpPr/>
          <p:nvPr/>
        </p:nvSpPr>
        <p:spPr>
          <a:xfrm>
            <a:off x="2133600" y="3441879"/>
            <a:ext cx="762000" cy="400110"/>
          </a:xfrm>
          <a:prstGeom prst="rect">
            <a:avLst/>
          </a:prstGeom>
        </p:spPr>
        <p:txBody>
          <a:bodyPr vert="horz"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b="1" dirty="0" smtClean="0"/>
              <a:t>Belts</a:t>
            </a:r>
          </a:p>
        </p:txBody>
      </p:sp>
      <p:sp>
        <p:nvSpPr>
          <p:cNvPr id="9" name="Rectangle 8"/>
          <p:cNvSpPr/>
          <p:nvPr/>
        </p:nvSpPr>
        <p:spPr>
          <a:xfrm>
            <a:off x="3404316" y="3454758"/>
            <a:ext cx="762000" cy="400110"/>
          </a:xfrm>
          <a:prstGeom prst="rect">
            <a:avLst/>
          </a:prstGeom>
        </p:spPr>
        <p:txBody>
          <a:bodyPr vert="horz"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b="1" dirty="0" smtClean="0"/>
              <a:t>Ties</a:t>
            </a:r>
          </a:p>
        </p:txBody>
      </p:sp>
      <p:sp>
        <p:nvSpPr>
          <p:cNvPr id="10" name="Rectangle 9"/>
          <p:cNvSpPr/>
          <p:nvPr/>
        </p:nvSpPr>
        <p:spPr>
          <a:xfrm>
            <a:off x="4496874" y="3454758"/>
            <a:ext cx="862884" cy="400110"/>
          </a:xfrm>
          <a:prstGeom prst="rect">
            <a:avLst/>
          </a:prstGeom>
        </p:spPr>
        <p:txBody>
          <a:bodyPr vert="horz"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b="1" dirty="0" smtClean="0"/>
              <a:t>Socks</a:t>
            </a:r>
          </a:p>
        </p:txBody>
      </p:sp>
      <p:sp>
        <p:nvSpPr>
          <p:cNvPr id="11" name="Rectangle 10"/>
          <p:cNvSpPr/>
          <p:nvPr/>
        </p:nvSpPr>
        <p:spPr>
          <a:xfrm>
            <a:off x="5411274" y="3479442"/>
            <a:ext cx="1980126" cy="400110"/>
          </a:xfrm>
          <a:prstGeom prst="rect">
            <a:avLst/>
          </a:prstGeom>
        </p:spPr>
        <p:txBody>
          <a:bodyPr vert="horz"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000" b="1" dirty="0" smtClean="0"/>
              <a:t>Handkerchiefs</a:t>
            </a:r>
          </a:p>
        </p:txBody>
      </p:sp>
      <p:sp>
        <p:nvSpPr>
          <p:cNvPr id="12" name="Rectangle 11"/>
          <p:cNvSpPr/>
          <p:nvPr/>
        </p:nvSpPr>
        <p:spPr>
          <a:xfrm>
            <a:off x="579120" y="4343400"/>
            <a:ext cx="8153400" cy="1569660"/>
          </a:xfrm>
          <a:prstGeom prst="rect">
            <a:avLst/>
          </a:prstGeom>
        </p:spPr>
        <p:txBody>
          <a:bodyPr wrap="square">
            <a:spAutoFit/>
          </a:bodyPr>
          <a:lstStyle/>
          <a:p>
            <a:r>
              <a:rPr lang="en-US" sz="2400" dirty="0" smtClean="0"/>
              <a:t>The names of the items are missing from the graph. Socks were the item most often sold, and fewer neckties than any other item were sold. More belts than handkerchiefs were sold. How many belts were sold?</a:t>
            </a:r>
            <a:endParaRPr lang="en-US" sz="2400" dirty="0"/>
          </a:p>
        </p:txBody>
      </p:sp>
      <p:sp>
        <p:nvSpPr>
          <p:cNvPr id="13" name="Rectangle 12"/>
          <p:cNvSpPr/>
          <p:nvPr/>
        </p:nvSpPr>
        <p:spPr>
          <a:xfrm>
            <a:off x="1400167" y="5969358"/>
            <a:ext cx="1038233" cy="584775"/>
          </a:xfrm>
          <a:prstGeom prst="rect">
            <a:avLst/>
          </a:prstGeom>
        </p:spPr>
        <p:txBody>
          <a:bodyPr wrap="none">
            <a:spAutoFit/>
          </a:bodyPr>
          <a:lstStyle/>
          <a:p>
            <a:r>
              <a:rPr lang="en-US" sz="3200" dirty="0" smtClean="0"/>
              <a:t>a. 80</a:t>
            </a:r>
            <a:endParaRPr lang="en-US" sz="3200" dirty="0"/>
          </a:p>
        </p:txBody>
      </p:sp>
      <p:sp>
        <p:nvSpPr>
          <p:cNvPr id="14" name="Rectangle 13"/>
          <p:cNvSpPr/>
          <p:nvPr/>
        </p:nvSpPr>
        <p:spPr>
          <a:xfrm>
            <a:off x="2921845" y="5968284"/>
            <a:ext cx="1060098" cy="584775"/>
          </a:xfrm>
          <a:prstGeom prst="rect">
            <a:avLst/>
          </a:prstGeom>
        </p:spPr>
        <p:txBody>
          <a:bodyPr wrap="none">
            <a:spAutoFit/>
          </a:bodyPr>
          <a:lstStyle/>
          <a:p>
            <a:r>
              <a:rPr lang="en-US" sz="3200" dirty="0" smtClean="0"/>
              <a:t>b. 90</a:t>
            </a:r>
            <a:endParaRPr lang="en-US" sz="3200" dirty="0"/>
          </a:p>
        </p:txBody>
      </p:sp>
      <p:sp>
        <p:nvSpPr>
          <p:cNvPr id="15" name="Rectangle 14"/>
          <p:cNvSpPr/>
          <p:nvPr/>
        </p:nvSpPr>
        <p:spPr>
          <a:xfrm>
            <a:off x="4495800" y="5968425"/>
            <a:ext cx="1130438" cy="584775"/>
          </a:xfrm>
          <a:prstGeom prst="rect">
            <a:avLst/>
          </a:prstGeom>
        </p:spPr>
        <p:txBody>
          <a:bodyPr wrap="none">
            <a:spAutoFit/>
          </a:bodyPr>
          <a:lstStyle/>
          <a:p>
            <a:r>
              <a:rPr lang="en-US" sz="3200" dirty="0" smtClean="0"/>
              <a:t>c. 120</a:t>
            </a:r>
            <a:endParaRPr lang="en-US" sz="3200" dirty="0"/>
          </a:p>
        </p:txBody>
      </p:sp>
      <p:sp>
        <p:nvSpPr>
          <p:cNvPr id="16" name="Rectangle 15"/>
          <p:cNvSpPr/>
          <p:nvPr/>
        </p:nvSpPr>
        <p:spPr>
          <a:xfrm>
            <a:off x="6122245" y="5968284"/>
            <a:ext cx="1192955" cy="584775"/>
          </a:xfrm>
          <a:prstGeom prst="rect">
            <a:avLst/>
          </a:prstGeom>
        </p:spPr>
        <p:txBody>
          <a:bodyPr wrap="none">
            <a:spAutoFit/>
          </a:bodyPr>
          <a:lstStyle/>
          <a:p>
            <a:r>
              <a:rPr lang="en-US" sz="3200" dirty="0" smtClean="0"/>
              <a:t>d. 140</a:t>
            </a:r>
          </a:p>
        </p:txBody>
      </p:sp>
      <p:sp>
        <p:nvSpPr>
          <p:cNvPr id="17" name="Rounded Rectangle 16"/>
          <p:cNvSpPr/>
          <p:nvPr/>
        </p:nvSpPr>
        <p:spPr>
          <a:xfrm>
            <a:off x="4496874" y="6006921"/>
            <a:ext cx="1218126"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par>
                                <p:cTn id="43" presetID="26"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80">
                                          <p:stCondLst>
                                            <p:cond delay="0"/>
                                          </p:stCondLst>
                                        </p:cTn>
                                        <p:tgtEl>
                                          <p:spTgt spid="8"/>
                                        </p:tgtEl>
                                      </p:cBhvr>
                                    </p:animEffect>
                                    <p:anim calcmode="lin" valueType="num">
                                      <p:cBhvr>
                                        <p:cTn id="4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1" dur="26">
                                          <p:stCondLst>
                                            <p:cond delay="650"/>
                                          </p:stCondLst>
                                        </p:cTn>
                                        <p:tgtEl>
                                          <p:spTgt spid="8"/>
                                        </p:tgtEl>
                                      </p:cBhvr>
                                      <p:to x="100000" y="60000"/>
                                    </p:animScale>
                                    <p:animScale>
                                      <p:cBhvr>
                                        <p:cTn id="52" dur="166" decel="50000">
                                          <p:stCondLst>
                                            <p:cond delay="676"/>
                                          </p:stCondLst>
                                        </p:cTn>
                                        <p:tgtEl>
                                          <p:spTgt spid="8"/>
                                        </p:tgtEl>
                                      </p:cBhvr>
                                      <p:to x="100000" y="100000"/>
                                    </p:animScale>
                                    <p:animScale>
                                      <p:cBhvr>
                                        <p:cTn id="53" dur="26">
                                          <p:stCondLst>
                                            <p:cond delay="1312"/>
                                          </p:stCondLst>
                                        </p:cTn>
                                        <p:tgtEl>
                                          <p:spTgt spid="8"/>
                                        </p:tgtEl>
                                      </p:cBhvr>
                                      <p:to x="100000" y="80000"/>
                                    </p:animScale>
                                    <p:animScale>
                                      <p:cBhvr>
                                        <p:cTn id="54" dur="166" decel="50000">
                                          <p:stCondLst>
                                            <p:cond delay="1338"/>
                                          </p:stCondLst>
                                        </p:cTn>
                                        <p:tgtEl>
                                          <p:spTgt spid="8"/>
                                        </p:tgtEl>
                                      </p:cBhvr>
                                      <p:to x="100000" y="100000"/>
                                    </p:animScale>
                                    <p:animScale>
                                      <p:cBhvr>
                                        <p:cTn id="55" dur="26">
                                          <p:stCondLst>
                                            <p:cond delay="1642"/>
                                          </p:stCondLst>
                                        </p:cTn>
                                        <p:tgtEl>
                                          <p:spTgt spid="8"/>
                                        </p:tgtEl>
                                      </p:cBhvr>
                                      <p:to x="100000" y="90000"/>
                                    </p:animScale>
                                    <p:animScale>
                                      <p:cBhvr>
                                        <p:cTn id="56" dur="166" decel="50000">
                                          <p:stCondLst>
                                            <p:cond delay="1668"/>
                                          </p:stCondLst>
                                        </p:cTn>
                                        <p:tgtEl>
                                          <p:spTgt spid="8"/>
                                        </p:tgtEl>
                                      </p:cBhvr>
                                      <p:to x="100000" y="100000"/>
                                    </p:animScale>
                                    <p:animScale>
                                      <p:cBhvr>
                                        <p:cTn id="57" dur="26">
                                          <p:stCondLst>
                                            <p:cond delay="1808"/>
                                          </p:stCondLst>
                                        </p:cTn>
                                        <p:tgtEl>
                                          <p:spTgt spid="8"/>
                                        </p:tgtEl>
                                      </p:cBhvr>
                                      <p:to x="100000" y="95000"/>
                                    </p:animScale>
                                    <p:animScale>
                                      <p:cBhvr>
                                        <p:cTn id="58" dur="166" decel="50000">
                                          <p:stCondLst>
                                            <p:cond delay="1834"/>
                                          </p:stCondLst>
                                        </p:cTn>
                                        <p:tgtEl>
                                          <p:spTgt spid="8"/>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80">
                                          <p:stCondLst>
                                            <p:cond delay="0"/>
                                          </p:stCondLst>
                                        </p:cTn>
                                        <p:tgtEl>
                                          <p:spTgt spid="9"/>
                                        </p:tgtEl>
                                      </p:cBhvr>
                                    </p:animEffect>
                                    <p:anim calcmode="lin" valueType="num">
                                      <p:cBhvr>
                                        <p:cTn id="6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7" dur="26">
                                          <p:stCondLst>
                                            <p:cond delay="650"/>
                                          </p:stCondLst>
                                        </p:cTn>
                                        <p:tgtEl>
                                          <p:spTgt spid="9"/>
                                        </p:tgtEl>
                                      </p:cBhvr>
                                      <p:to x="100000" y="60000"/>
                                    </p:animScale>
                                    <p:animScale>
                                      <p:cBhvr>
                                        <p:cTn id="68" dur="166" decel="50000">
                                          <p:stCondLst>
                                            <p:cond delay="676"/>
                                          </p:stCondLst>
                                        </p:cTn>
                                        <p:tgtEl>
                                          <p:spTgt spid="9"/>
                                        </p:tgtEl>
                                      </p:cBhvr>
                                      <p:to x="100000" y="100000"/>
                                    </p:animScale>
                                    <p:animScale>
                                      <p:cBhvr>
                                        <p:cTn id="69" dur="26">
                                          <p:stCondLst>
                                            <p:cond delay="1312"/>
                                          </p:stCondLst>
                                        </p:cTn>
                                        <p:tgtEl>
                                          <p:spTgt spid="9"/>
                                        </p:tgtEl>
                                      </p:cBhvr>
                                      <p:to x="100000" y="80000"/>
                                    </p:animScale>
                                    <p:animScale>
                                      <p:cBhvr>
                                        <p:cTn id="70" dur="166" decel="50000">
                                          <p:stCondLst>
                                            <p:cond delay="1338"/>
                                          </p:stCondLst>
                                        </p:cTn>
                                        <p:tgtEl>
                                          <p:spTgt spid="9"/>
                                        </p:tgtEl>
                                      </p:cBhvr>
                                      <p:to x="100000" y="100000"/>
                                    </p:animScale>
                                    <p:animScale>
                                      <p:cBhvr>
                                        <p:cTn id="71" dur="26">
                                          <p:stCondLst>
                                            <p:cond delay="1642"/>
                                          </p:stCondLst>
                                        </p:cTn>
                                        <p:tgtEl>
                                          <p:spTgt spid="9"/>
                                        </p:tgtEl>
                                      </p:cBhvr>
                                      <p:to x="100000" y="90000"/>
                                    </p:animScale>
                                    <p:animScale>
                                      <p:cBhvr>
                                        <p:cTn id="72" dur="166" decel="50000">
                                          <p:stCondLst>
                                            <p:cond delay="1668"/>
                                          </p:stCondLst>
                                        </p:cTn>
                                        <p:tgtEl>
                                          <p:spTgt spid="9"/>
                                        </p:tgtEl>
                                      </p:cBhvr>
                                      <p:to x="100000" y="100000"/>
                                    </p:animScale>
                                    <p:animScale>
                                      <p:cBhvr>
                                        <p:cTn id="73" dur="26">
                                          <p:stCondLst>
                                            <p:cond delay="1808"/>
                                          </p:stCondLst>
                                        </p:cTn>
                                        <p:tgtEl>
                                          <p:spTgt spid="9"/>
                                        </p:tgtEl>
                                      </p:cBhvr>
                                      <p:to x="100000" y="95000"/>
                                    </p:animScale>
                                    <p:animScale>
                                      <p:cBhvr>
                                        <p:cTn id="74" dur="166" decel="50000">
                                          <p:stCondLst>
                                            <p:cond delay="1834"/>
                                          </p:stCondLst>
                                        </p:cTn>
                                        <p:tgtEl>
                                          <p:spTgt spid="9"/>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down)">
                                      <p:cBhvr>
                                        <p:cTn id="77" dur="580">
                                          <p:stCondLst>
                                            <p:cond delay="0"/>
                                          </p:stCondLst>
                                        </p:cTn>
                                        <p:tgtEl>
                                          <p:spTgt spid="10"/>
                                        </p:tgtEl>
                                      </p:cBhvr>
                                    </p:animEffect>
                                    <p:anim calcmode="lin" valueType="num">
                                      <p:cBhvr>
                                        <p:cTn id="7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83" dur="26">
                                          <p:stCondLst>
                                            <p:cond delay="650"/>
                                          </p:stCondLst>
                                        </p:cTn>
                                        <p:tgtEl>
                                          <p:spTgt spid="10"/>
                                        </p:tgtEl>
                                      </p:cBhvr>
                                      <p:to x="100000" y="60000"/>
                                    </p:animScale>
                                    <p:animScale>
                                      <p:cBhvr>
                                        <p:cTn id="84" dur="166" decel="50000">
                                          <p:stCondLst>
                                            <p:cond delay="676"/>
                                          </p:stCondLst>
                                        </p:cTn>
                                        <p:tgtEl>
                                          <p:spTgt spid="10"/>
                                        </p:tgtEl>
                                      </p:cBhvr>
                                      <p:to x="100000" y="100000"/>
                                    </p:animScale>
                                    <p:animScale>
                                      <p:cBhvr>
                                        <p:cTn id="85" dur="26">
                                          <p:stCondLst>
                                            <p:cond delay="1312"/>
                                          </p:stCondLst>
                                        </p:cTn>
                                        <p:tgtEl>
                                          <p:spTgt spid="10"/>
                                        </p:tgtEl>
                                      </p:cBhvr>
                                      <p:to x="100000" y="80000"/>
                                    </p:animScale>
                                    <p:animScale>
                                      <p:cBhvr>
                                        <p:cTn id="86" dur="166" decel="50000">
                                          <p:stCondLst>
                                            <p:cond delay="1338"/>
                                          </p:stCondLst>
                                        </p:cTn>
                                        <p:tgtEl>
                                          <p:spTgt spid="10"/>
                                        </p:tgtEl>
                                      </p:cBhvr>
                                      <p:to x="100000" y="100000"/>
                                    </p:animScale>
                                    <p:animScale>
                                      <p:cBhvr>
                                        <p:cTn id="87" dur="26">
                                          <p:stCondLst>
                                            <p:cond delay="1642"/>
                                          </p:stCondLst>
                                        </p:cTn>
                                        <p:tgtEl>
                                          <p:spTgt spid="10"/>
                                        </p:tgtEl>
                                      </p:cBhvr>
                                      <p:to x="100000" y="90000"/>
                                    </p:animScale>
                                    <p:animScale>
                                      <p:cBhvr>
                                        <p:cTn id="88" dur="166" decel="50000">
                                          <p:stCondLst>
                                            <p:cond delay="1668"/>
                                          </p:stCondLst>
                                        </p:cTn>
                                        <p:tgtEl>
                                          <p:spTgt spid="10"/>
                                        </p:tgtEl>
                                      </p:cBhvr>
                                      <p:to x="100000" y="100000"/>
                                    </p:animScale>
                                    <p:animScale>
                                      <p:cBhvr>
                                        <p:cTn id="89" dur="26">
                                          <p:stCondLst>
                                            <p:cond delay="1808"/>
                                          </p:stCondLst>
                                        </p:cTn>
                                        <p:tgtEl>
                                          <p:spTgt spid="10"/>
                                        </p:tgtEl>
                                      </p:cBhvr>
                                      <p:to x="100000" y="95000"/>
                                    </p:animScale>
                                    <p:animScale>
                                      <p:cBhvr>
                                        <p:cTn id="90" dur="166" decel="50000">
                                          <p:stCondLst>
                                            <p:cond delay="1834"/>
                                          </p:stCondLst>
                                        </p:cTn>
                                        <p:tgtEl>
                                          <p:spTgt spid="10"/>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wipe(down)">
                                      <p:cBhvr>
                                        <p:cTn id="93" dur="580">
                                          <p:stCondLst>
                                            <p:cond delay="0"/>
                                          </p:stCondLst>
                                        </p:cTn>
                                        <p:tgtEl>
                                          <p:spTgt spid="11"/>
                                        </p:tgtEl>
                                      </p:cBhvr>
                                    </p:animEffect>
                                    <p:anim calcmode="lin" valueType="num">
                                      <p:cBhvr>
                                        <p:cTn id="9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9" dur="26">
                                          <p:stCondLst>
                                            <p:cond delay="650"/>
                                          </p:stCondLst>
                                        </p:cTn>
                                        <p:tgtEl>
                                          <p:spTgt spid="11"/>
                                        </p:tgtEl>
                                      </p:cBhvr>
                                      <p:to x="100000" y="60000"/>
                                    </p:animScale>
                                    <p:animScale>
                                      <p:cBhvr>
                                        <p:cTn id="100" dur="166" decel="50000">
                                          <p:stCondLst>
                                            <p:cond delay="676"/>
                                          </p:stCondLst>
                                        </p:cTn>
                                        <p:tgtEl>
                                          <p:spTgt spid="11"/>
                                        </p:tgtEl>
                                      </p:cBhvr>
                                      <p:to x="100000" y="100000"/>
                                    </p:animScale>
                                    <p:animScale>
                                      <p:cBhvr>
                                        <p:cTn id="101" dur="26">
                                          <p:stCondLst>
                                            <p:cond delay="1312"/>
                                          </p:stCondLst>
                                        </p:cTn>
                                        <p:tgtEl>
                                          <p:spTgt spid="11"/>
                                        </p:tgtEl>
                                      </p:cBhvr>
                                      <p:to x="100000" y="80000"/>
                                    </p:animScale>
                                    <p:animScale>
                                      <p:cBhvr>
                                        <p:cTn id="102" dur="166" decel="50000">
                                          <p:stCondLst>
                                            <p:cond delay="1338"/>
                                          </p:stCondLst>
                                        </p:cTn>
                                        <p:tgtEl>
                                          <p:spTgt spid="11"/>
                                        </p:tgtEl>
                                      </p:cBhvr>
                                      <p:to x="100000" y="100000"/>
                                    </p:animScale>
                                    <p:animScale>
                                      <p:cBhvr>
                                        <p:cTn id="103" dur="26">
                                          <p:stCondLst>
                                            <p:cond delay="1642"/>
                                          </p:stCondLst>
                                        </p:cTn>
                                        <p:tgtEl>
                                          <p:spTgt spid="11"/>
                                        </p:tgtEl>
                                      </p:cBhvr>
                                      <p:to x="100000" y="90000"/>
                                    </p:animScale>
                                    <p:animScale>
                                      <p:cBhvr>
                                        <p:cTn id="104" dur="166" decel="50000">
                                          <p:stCondLst>
                                            <p:cond delay="1668"/>
                                          </p:stCondLst>
                                        </p:cTn>
                                        <p:tgtEl>
                                          <p:spTgt spid="11"/>
                                        </p:tgtEl>
                                      </p:cBhvr>
                                      <p:to x="100000" y="100000"/>
                                    </p:animScale>
                                    <p:animScale>
                                      <p:cBhvr>
                                        <p:cTn id="105" dur="26">
                                          <p:stCondLst>
                                            <p:cond delay="1808"/>
                                          </p:stCondLst>
                                        </p:cTn>
                                        <p:tgtEl>
                                          <p:spTgt spid="11"/>
                                        </p:tgtEl>
                                      </p:cBhvr>
                                      <p:to x="100000" y="95000"/>
                                    </p:animScale>
                                    <p:animScale>
                                      <p:cBhvr>
                                        <p:cTn id="106" dur="166" decel="50000">
                                          <p:stCondLst>
                                            <p:cond delay="1834"/>
                                          </p:stCondLst>
                                        </p:cTn>
                                        <p:tgtEl>
                                          <p:spTgt spid="11"/>
                                        </p:tgtEl>
                                      </p:cBhvr>
                                      <p:to x="100000" y="100000"/>
                                    </p:animScale>
                                  </p:childTnLst>
                                </p:cTn>
                              </p:par>
                            </p:childTnLst>
                          </p:cTn>
                        </p:par>
                      </p:childTnLst>
                    </p:cTn>
                  </p:par>
                  <p:par>
                    <p:cTn id="107" fill="hold">
                      <p:stCondLst>
                        <p:cond delay="indefinite"/>
                      </p:stCondLst>
                      <p:childTnLst>
                        <p:par>
                          <p:cTn id="108" fill="hold">
                            <p:stCondLst>
                              <p:cond delay="0"/>
                            </p:stCondLst>
                            <p:childTnLst>
                              <p:par>
                                <p:cTn id="109" presetID="23" presetClass="entr" presetSubtype="16" fill="hold" grpId="1" nodeType="clickEffect">
                                  <p:stCondLst>
                                    <p:cond delay="0"/>
                                  </p:stCondLst>
                                  <p:childTnLst>
                                    <p:set>
                                      <p:cBhvr>
                                        <p:cTn id="110" dur="1" fill="hold">
                                          <p:stCondLst>
                                            <p:cond delay="0"/>
                                          </p:stCondLst>
                                        </p:cTn>
                                        <p:tgtEl>
                                          <p:spTgt spid="12"/>
                                        </p:tgtEl>
                                        <p:attrNameLst>
                                          <p:attrName>style.visibility</p:attrName>
                                        </p:attrNameLst>
                                      </p:cBhvr>
                                      <p:to>
                                        <p:strVal val="visible"/>
                                      </p:to>
                                    </p:set>
                                    <p:anim calcmode="lin" valueType="num">
                                      <p:cBhvr>
                                        <p:cTn id="111" dur="500" fill="hold"/>
                                        <p:tgtEl>
                                          <p:spTgt spid="12"/>
                                        </p:tgtEl>
                                        <p:attrNameLst>
                                          <p:attrName>ppt_w</p:attrName>
                                        </p:attrNameLst>
                                      </p:cBhvr>
                                      <p:tavLst>
                                        <p:tav tm="0">
                                          <p:val>
                                            <p:fltVal val="0"/>
                                          </p:val>
                                        </p:tav>
                                        <p:tav tm="100000">
                                          <p:val>
                                            <p:strVal val="#ppt_w"/>
                                          </p:val>
                                        </p:tav>
                                      </p:tavLst>
                                    </p:anim>
                                    <p:anim calcmode="lin" valueType="num">
                                      <p:cBhvr>
                                        <p:cTn id="112"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12" presetClass="entr" presetSubtype="4" fill="hold" grpId="0" nodeType="clickEffect">
                                  <p:stCondLst>
                                    <p:cond delay="0"/>
                                  </p:stCondLst>
                                  <p:childTnLst>
                                    <p:set>
                                      <p:cBhvr>
                                        <p:cTn id="116" dur="1" fill="hold">
                                          <p:stCondLst>
                                            <p:cond delay="0"/>
                                          </p:stCondLst>
                                        </p:cTn>
                                        <p:tgtEl>
                                          <p:spTgt spid="13"/>
                                        </p:tgtEl>
                                        <p:attrNameLst>
                                          <p:attrName>style.visibility</p:attrName>
                                        </p:attrNameLst>
                                      </p:cBhvr>
                                      <p:to>
                                        <p:strVal val="visible"/>
                                      </p:to>
                                    </p:set>
                                    <p:animEffect transition="in" filter="slide(fromBottom)">
                                      <p:cBhvr>
                                        <p:cTn id="117" dur="500"/>
                                        <p:tgtEl>
                                          <p:spTgt spid="13"/>
                                        </p:tgtEl>
                                      </p:cBhvr>
                                    </p:animEffect>
                                  </p:childTnLst>
                                </p:cTn>
                              </p:par>
                              <p:par>
                                <p:cTn id="118" presetID="12" presetClass="entr" presetSubtype="4" fill="hold" grpId="0" nodeType="with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slide(fromBottom)">
                                      <p:cBhvr>
                                        <p:cTn id="120" dur="500"/>
                                        <p:tgtEl>
                                          <p:spTgt spid="14"/>
                                        </p:tgtEl>
                                      </p:cBhvr>
                                    </p:animEffect>
                                  </p:childTnLst>
                                </p:cTn>
                              </p:par>
                              <p:par>
                                <p:cTn id="121" presetID="12" presetClass="entr" presetSubtype="4" fill="hold" grpId="0" nodeType="withEffect">
                                  <p:stCondLst>
                                    <p:cond delay="0"/>
                                  </p:stCondLst>
                                  <p:childTnLst>
                                    <p:set>
                                      <p:cBhvr>
                                        <p:cTn id="122" dur="1" fill="hold">
                                          <p:stCondLst>
                                            <p:cond delay="0"/>
                                          </p:stCondLst>
                                        </p:cTn>
                                        <p:tgtEl>
                                          <p:spTgt spid="15"/>
                                        </p:tgtEl>
                                        <p:attrNameLst>
                                          <p:attrName>style.visibility</p:attrName>
                                        </p:attrNameLst>
                                      </p:cBhvr>
                                      <p:to>
                                        <p:strVal val="visible"/>
                                      </p:to>
                                    </p:set>
                                    <p:animEffect transition="in" filter="slide(fromBottom)">
                                      <p:cBhvr>
                                        <p:cTn id="123" dur="500"/>
                                        <p:tgtEl>
                                          <p:spTgt spid="15"/>
                                        </p:tgtEl>
                                      </p:cBhvr>
                                    </p:animEffect>
                                  </p:childTnLst>
                                </p:cTn>
                              </p:par>
                              <p:par>
                                <p:cTn id="124" presetID="12" presetClass="entr" presetSubtype="4" fill="hold" grpId="0" nodeType="withEffect">
                                  <p:stCondLst>
                                    <p:cond delay="0"/>
                                  </p:stCondLst>
                                  <p:childTnLst>
                                    <p:set>
                                      <p:cBhvr>
                                        <p:cTn id="125" dur="1" fill="hold">
                                          <p:stCondLst>
                                            <p:cond delay="0"/>
                                          </p:stCondLst>
                                        </p:cTn>
                                        <p:tgtEl>
                                          <p:spTgt spid="16"/>
                                        </p:tgtEl>
                                        <p:attrNameLst>
                                          <p:attrName>style.visibility</p:attrName>
                                        </p:attrNameLst>
                                      </p:cBhvr>
                                      <p:to>
                                        <p:strVal val="visible"/>
                                      </p:to>
                                    </p:set>
                                    <p:animEffect transition="in" filter="slide(fromBottom)">
                                      <p:cBhvr>
                                        <p:cTn id="126" dur="500"/>
                                        <p:tgtEl>
                                          <p:spTgt spid="16"/>
                                        </p:tgtEl>
                                      </p:cBhvr>
                                    </p:animEffect>
                                  </p:childTnLst>
                                </p:cTn>
                              </p:par>
                            </p:childTnLst>
                          </p:cTn>
                        </p:par>
                      </p:childTnLst>
                    </p:cTn>
                  </p:par>
                  <p:par>
                    <p:cTn id="127" fill="hold">
                      <p:stCondLst>
                        <p:cond delay="indefinite"/>
                      </p:stCondLst>
                      <p:childTnLst>
                        <p:par>
                          <p:cTn id="128" fill="hold">
                            <p:stCondLst>
                              <p:cond delay="0"/>
                            </p:stCondLst>
                            <p:childTnLst>
                              <p:par>
                                <p:cTn id="129" presetID="20" presetClass="entr" presetSubtype="0" fill="hold" grpId="0" nodeType="clickEffect">
                                  <p:stCondLst>
                                    <p:cond delay="0"/>
                                  </p:stCondLst>
                                  <p:childTnLst>
                                    <p:set>
                                      <p:cBhvr>
                                        <p:cTn id="130" dur="1" fill="hold">
                                          <p:stCondLst>
                                            <p:cond delay="0"/>
                                          </p:stCondLst>
                                        </p:cTn>
                                        <p:tgtEl>
                                          <p:spTgt spid="17"/>
                                        </p:tgtEl>
                                        <p:attrNameLst>
                                          <p:attrName>style.visibility</p:attrName>
                                        </p:attrNameLst>
                                      </p:cBhvr>
                                      <p:to>
                                        <p:strVal val="visible"/>
                                      </p:to>
                                    </p:set>
                                    <p:animEffect transition="in" filter="wedge">
                                      <p:cBhvr>
                                        <p:cTn id="131"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p:bldAsOne/>
      </p:bldGraphic>
      <p:bldP spid="7" grpId="0"/>
      <p:bldP spid="8" grpId="0"/>
      <p:bldP spid="9" grpId="0"/>
      <p:bldP spid="10" grpId="0"/>
      <p:bldP spid="11" grpId="0"/>
      <p:bldP spid="12" grpId="1"/>
      <p:bldP spid="13" grpId="0"/>
      <p:bldP spid="14" grpId="0"/>
      <p:bldP spid="15" grpId="0"/>
      <p:bldP spid="16" grpId="0"/>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6809" y="609600"/>
            <a:ext cx="8299991" cy="954107"/>
          </a:xfrm>
          <a:prstGeom prst="rect">
            <a:avLst/>
          </a:prstGeom>
        </p:spPr>
        <p:txBody>
          <a:bodyPr wrap="square">
            <a:spAutoFit/>
          </a:bodyPr>
          <a:lstStyle/>
          <a:p>
            <a:pPr marL="347663" indent="-347663"/>
            <a:r>
              <a:rPr lang="en-US" sz="2800" dirty="0" smtClean="0"/>
              <a:t>15. A card is picked at random from an ordinary deck of cards. Find the probability of picking a black ace?</a:t>
            </a:r>
            <a:endParaRPr lang="en-US" sz="2800" dirty="0"/>
          </a:p>
        </p:txBody>
      </p:sp>
      <p:sp>
        <p:nvSpPr>
          <p:cNvPr id="14" name="Rectangle 13"/>
          <p:cNvSpPr/>
          <p:nvPr/>
        </p:nvSpPr>
        <p:spPr>
          <a:xfrm>
            <a:off x="1311226" y="1691103"/>
            <a:ext cx="1034257" cy="523220"/>
          </a:xfrm>
          <a:prstGeom prst="rect">
            <a:avLst/>
          </a:prstGeom>
        </p:spPr>
        <p:txBody>
          <a:bodyPr wrap="none">
            <a:spAutoFit/>
          </a:bodyPr>
          <a:lstStyle/>
          <a:p>
            <a:r>
              <a:rPr lang="en-US" sz="2800" dirty="0" smtClean="0"/>
              <a:t>a. 1/2</a:t>
            </a:r>
            <a:endParaRPr lang="en-US" sz="2800" dirty="0"/>
          </a:p>
        </p:txBody>
      </p:sp>
      <p:sp>
        <p:nvSpPr>
          <p:cNvPr id="15" name="Rectangle 14"/>
          <p:cNvSpPr/>
          <p:nvPr/>
        </p:nvSpPr>
        <p:spPr>
          <a:xfrm>
            <a:off x="1301328" y="2364561"/>
            <a:ext cx="1051891" cy="523220"/>
          </a:xfrm>
          <a:prstGeom prst="rect">
            <a:avLst/>
          </a:prstGeom>
        </p:spPr>
        <p:txBody>
          <a:bodyPr wrap="none">
            <a:spAutoFit/>
          </a:bodyPr>
          <a:lstStyle/>
          <a:p>
            <a:r>
              <a:rPr lang="en-US" sz="2800" dirty="0" smtClean="0"/>
              <a:t>b. 1/4</a:t>
            </a:r>
            <a:endParaRPr lang="en-US" sz="2800" dirty="0"/>
          </a:p>
        </p:txBody>
      </p:sp>
      <p:sp>
        <p:nvSpPr>
          <p:cNvPr id="16" name="Rectangle 15"/>
          <p:cNvSpPr/>
          <p:nvPr/>
        </p:nvSpPr>
        <p:spPr>
          <a:xfrm>
            <a:off x="5349826" y="1691103"/>
            <a:ext cx="1197764" cy="523220"/>
          </a:xfrm>
          <a:prstGeom prst="rect">
            <a:avLst/>
          </a:prstGeom>
        </p:spPr>
        <p:txBody>
          <a:bodyPr wrap="none">
            <a:spAutoFit/>
          </a:bodyPr>
          <a:lstStyle/>
          <a:p>
            <a:r>
              <a:rPr lang="en-US" sz="2800" dirty="0" smtClean="0"/>
              <a:t>c. 1/13</a:t>
            </a:r>
            <a:endParaRPr lang="en-US" sz="2800" dirty="0"/>
          </a:p>
        </p:txBody>
      </p:sp>
      <p:sp>
        <p:nvSpPr>
          <p:cNvPr id="17" name="Rectangle 16"/>
          <p:cNvSpPr/>
          <p:nvPr/>
        </p:nvSpPr>
        <p:spPr>
          <a:xfrm>
            <a:off x="5349079" y="2362200"/>
            <a:ext cx="1234633" cy="523220"/>
          </a:xfrm>
          <a:prstGeom prst="rect">
            <a:avLst/>
          </a:prstGeom>
        </p:spPr>
        <p:txBody>
          <a:bodyPr wrap="none">
            <a:spAutoFit/>
          </a:bodyPr>
          <a:lstStyle/>
          <a:p>
            <a:r>
              <a:rPr lang="en-US" sz="2800" dirty="0" smtClean="0"/>
              <a:t>d. 1/26</a:t>
            </a:r>
          </a:p>
        </p:txBody>
      </p:sp>
      <p:sp>
        <p:nvSpPr>
          <p:cNvPr id="18" name="TextBox 17"/>
          <p:cNvSpPr txBox="1"/>
          <p:nvPr/>
        </p:nvSpPr>
        <p:spPr>
          <a:xfrm>
            <a:off x="2228850" y="3086100"/>
            <a:ext cx="2266950" cy="461665"/>
          </a:xfrm>
          <a:prstGeom prst="rect">
            <a:avLst/>
          </a:prstGeom>
          <a:noFill/>
        </p:spPr>
        <p:txBody>
          <a:bodyPr wrap="square" rtlCol="0">
            <a:spAutoFit/>
          </a:bodyPr>
          <a:lstStyle/>
          <a:p>
            <a:r>
              <a:rPr lang="en-PH" sz="2400" dirty="0" smtClean="0"/>
              <a:t>Solution:</a:t>
            </a:r>
          </a:p>
        </p:txBody>
      </p:sp>
      <p:sp>
        <p:nvSpPr>
          <p:cNvPr id="19"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sp>
        <p:nvSpPr>
          <p:cNvPr id="20" name="Rectangle 4"/>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graphicFrame>
        <p:nvGraphicFramePr>
          <p:cNvPr id="22" name="Object 5"/>
          <p:cNvGraphicFramePr>
            <a:graphicFrameLocks noChangeAspect="1"/>
          </p:cNvGraphicFramePr>
          <p:nvPr/>
        </p:nvGraphicFramePr>
        <p:xfrm>
          <a:off x="2971800" y="3505200"/>
          <a:ext cx="1041400" cy="358775"/>
        </p:xfrm>
        <a:graphic>
          <a:graphicData uri="http://schemas.openxmlformats.org/presentationml/2006/ole">
            <p:oleObj spid="_x0000_s80898" name="Equation" r:id="rId6" imgW="596880" imgH="203040" progId="Equation.3">
              <p:embed/>
            </p:oleObj>
          </a:graphicData>
        </a:graphic>
      </p:graphicFrame>
      <p:graphicFrame>
        <p:nvGraphicFramePr>
          <p:cNvPr id="23" name="Object 6"/>
          <p:cNvGraphicFramePr>
            <a:graphicFrameLocks noChangeAspect="1"/>
          </p:cNvGraphicFramePr>
          <p:nvPr/>
        </p:nvGraphicFramePr>
        <p:xfrm>
          <a:off x="2947450" y="3873321"/>
          <a:ext cx="1128713" cy="360363"/>
        </p:xfrm>
        <a:graphic>
          <a:graphicData uri="http://schemas.openxmlformats.org/presentationml/2006/ole">
            <p:oleObj spid="_x0000_s80899" name="Equation" r:id="rId7" imgW="647640" imgH="203040" progId="Equation.3">
              <p:embed/>
            </p:oleObj>
          </a:graphicData>
        </a:graphic>
      </p:graphicFrame>
      <p:graphicFrame>
        <p:nvGraphicFramePr>
          <p:cNvPr id="24" name="Object 7"/>
          <p:cNvGraphicFramePr>
            <a:graphicFrameLocks noChangeAspect="1"/>
          </p:cNvGraphicFramePr>
          <p:nvPr/>
        </p:nvGraphicFramePr>
        <p:xfrm>
          <a:off x="2895600" y="4211637"/>
          <a:ext cx="1725612" cy="741363"/>
        </p:xfrm>
        <a:graphic>
          <a:graphicData uri="http://schemas.openxmlformats.org/presentationml/2006/ole">
            <p:oleObj spid="_x0000_s80900" name="Equation" r:id="rId8" imgW="990360" imgH="419040" progId="Equation.3">
              <p:embed/>
            </p:oleObj>
          </a:graphicData>
        </a:graphic>
      </p:graphicFrame>
      <p:sp>
        <p:nvSpPr>
          <p:cNvPr id="27" name="Rounded Rectangle 26"/>
          <p:cNvSpPr/>
          <p:nvPr/>
        </p:nvSpPr>
        <p:spPr>
          <a:xfrm>
            <a:off x="5321120" y="2362200"/>
            <a:ext cx="1232079"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1981200" y="3048000"/>
            <a:ext cx="3352800" cy="34290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0904" name="Object 8"/>
          <p:cNvGraphicFramePr>
            <a:graphicFrameLocks noChangeAspect="1"/>
          </p:cNvGraphicFramePr>
          <p:nvPr/>
        </p:nvGraphicFramePr>
        <p:xfrm>
          <a:off x="3644542" y="4975225"/>
          <a:ext cx="596900" cy="696913"/>
        </p:xfrm>
        <a:graphic>
          <a:graphicData uri="http://schemas.openxmlformats.org/presentationml/2006/ole">
            <p:oleObj spid="_x0000_s80904" name="Equation" r:id="rId9" imgW="342720" imgH="393480" progId="Equation.3">
              <p:embed/>
            </p:oleObj>
          </a:graphicData>
        </a:graphic>
      </p:graphicFrame>
      <p:graphicFrame>
        <p:nvGraphicFramePr>
          <p:cNvPr id="80905" name="Object 9"/>
          <p:cNvGraphicFramePr>
            <a:graphicFrameLocks noChangeAspect="1"/>
          </p:cNvGraphicFramePr>
          <p:nvPr/>
        </p:nvGraphicFramePr>
        <p:xfrm>
          <a:off x="3631842" y="5654519"/>
          <a:ext cx="596900" cy="696913"/>
        </p:xfrm>
        <a:graphic>
          <a:graphicData uri="http://schemas.openxmlformats.org/presentationml/2006/ole">
            <p:oleObj spid="_x0000_s80905" name="Equation" r:id="rId10" imgW="342720" imgH="393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slide(fromBottom)">
                                      <p:cBhvr>
                                        <p:cTn id="13" dur="500"/>
                                        <p:tgtEl>
                                          <p:spTgt spid="14"/>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slide(fromBottom)">
                                      <p:cBhvr>
                                        <p:cTn id="16" dur="500"/>
                                        <p:tgtEl>
                                          <p:spTgt spid="15"/>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slide(fromBottom)">
                                      <p:cBhvr>
                                        <p:cTn id="19" dur="500"/>
                                        <p:tgtEl>
                                          <p:spTgt spid="16"/>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lide(fromBottom)">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900" decel="100000" fill="hold"/>
                                        <p:tgtEl>
                                          <p:spTgt spid="18"/>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1000"/>
                                        <p:tgtEl>
                                          <p:spTgt spid="28"/>
                                        </p:tgtEl>
                                      </p:cBhvr>
                                    </p:animEffect>
                                    <p:anim calcmode="lin" valueType="num">
                                      <p:cBhvr>
                                        <p:cTn id="34" dur="1000" fill="hold"/>
                                        <p:tgtEl>
                                          <p:spTgt spid="28"/>
                                        </p:tgtEl>
                                        <p:attrNameLst>
                                          <p:attrName>ppt_x</p:attrName>
                                        </p:attrNameLst>
                                      </p:cBhvr>
                                      <p:tavLst>
                                        <p:tav tm="0">
                                          <p:val>
                                            <p:strVal val="#ppt_x"/>
                                          </p:val>
                                        </p:tav>
                                        <p:tav tm="100000">
                                          <p:val>
                                            <p:strVal val="#ppt_x"/>
                                          </p:val>
                                        </p:tav>
                                      </p:tavLst>
                                    </p:anim>
                                    <p:anim calcmode="lin" valueType="num">
                                      <p:cBhvr>
                                        <p:cTn id="35" dur="900" decel="100000" fill="hold"/>
                                        <p:tgtEl>
                                          <p:spTgt spid="28"/>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p:cTn id="41" dur="1000" fill="hold"/>
                                        <p:tgtEl>
                                          <p:spTgt spid="22"/>
                                        </p:tgtEl>
                                        <p:attrNameLst>
                                          <p:attrName>ppt_x</p:attrName>
                                        </p:attrNameLst>
                                      </p:cBhvr>
                                      <p:tavLst>
                                        <p:tav tm="0">
                                          <p:val>
                                            <p:strVal val="#ppt_x-.2"/>
                                          </p:val>
                                        </p:tav>
                                        <p:tav tm="100000">
                                          <p:val>
                                            <p:strVal val="#ppt_x"/>
                                          </p:val>
                                        </p:tav>
                                      </p:tavLst>
                                    </p:anim>
                                    <p:anim calcmode="lin" valueType="num">
                                      <p:cBhvr>
                                        <p:cTn id="42" dur="1000" fill="hold"/>
                                        <p:tgtEl>
                                          <p:spTgt spid="22"/>
                                        </p:tgtEl>
                                        <p:attrNameLst>
                                          <p:attrName>ppt_y</p:attrName>
                                        </p:attrNameLst>
                                      </p:cBhvr>
                                      <p:tavLst>
                                        <p:tav tm="0">
                                          <p:val>
                                            <p:strVal val="#ppt_y"/>
                                          </p:val>
                                        </p:tav>
                                        <p:tav tm="100000">
                                          <p:val>
                                            <p:strVal val="#ppt_y"/>
                                          </p:val>
                                        </p:tav>
                                      </p:tavLst>
                                    </p:anim>
                                    <p:animEffect transition="in" filter="wipe(right)" prLst="gradientSize: 0.1">
                                      <p:cBhvr>
                                        <p:cTn id="43" dur="10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23"/>
                                        </p:tgtEl>
                                        <p:attrNameLst>
                                          <p:attrName>style.visibility</p:attrName>
                                        </p:attrNameLst>
                                      </p:cBhvr>
                                      <p:to>
                                        <p:strVal val="visible"/>
                                      </p:to>
                                    </p:set>
                                    <p:anim calcmode="lin" valueType="num">
                                      <p:cBhvr>
                                        <p:cTn id="48" dur="1000" fill="hold"/>
                                        <p:tgtEl>
                                          <p:spTgt spid="23"/>
                                        </p:tgtEl>
                                        <p:attrNameLst>
                                          <p:attrName>ppt_x</p:attrName>
                                        </p:attrNameLst>
                                      </p:cBhvr>
                                      <p:tavLst>
                                        <p:tav tm="0">
                                          <p:val>
                                            <p:strVal val="#ppt_x-.2"/>
                                          </p:val>
                                        </p:tav>
                                        <p:tav tm="100000">
                                          <p:val>
                                            <p:strVal val="#ppt_x"/>
                                          </p:val>
                                        </p:tav>
                                      </p:tavLst>
                                    </p:anim>
                                    <p:anim calcmode="lin" valueType="num">
                                      <p:cBhvr>
                                        <p:cTn id="49" dur="1000" fill="hold"/>
                                        <p:tgtEl>
                                          <p:spTgt spid="23"/>
                                        </p:tgtEl>
                                        <p:attrNameLst>
                                          <p:attrName>ppt_y</p:attrName>
                                        </p:attrNameLst>
                                      </p:cBhvr>
                                      <p:tavLst>
                                        <p:tav tm="0">
                                          <p:val>
                                            <p:strVal val="#ppt_y"/>
                                          </p:val>
                                        </p:tav>
                                        <p:tav tm="100000">
                                          <p:val>
                                            <p:strVal val="#ppt_y"/>
                                          </p:val>
                                        </p:tav>
                                      </p:tavLst>
                                    </p:anim>
                                    <p:animEffect transition="in" filter="wipe(right)" prLst="gradientSize: 0.1">
                                      <p:cBhvr>
                                        <p:cTn id="50" dur="10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p:cTn id="55" dur="1000" fill="hold"/>
                                        <p:tgtEl>
                                          <p:spTgt spid="24"/>
                                        </p:tgtEl>
                                        <p:attrNameLst>
                                          <p:attrName>ppt_x</p:attrName>
                                        </p:attrNameLst>
                                      </p:cBhvr>
                                      <p:tavLst>
                                        <p:tav tm="0">
                                          <p:val>
                                            <p:strVal val="#ppt_x-.2"/>
                                          </p:val>
                                        </p:tav>
                                        <p:tav tm="100000">
                                          <p:val>
                                            <p:strVal val="#ppt_x"/>
                                          </p:val>
                                        </p:tav>
                                      </p:tavLst>
                                    </p:anim>
                                    <p:anim calcmode="lin" valueType="num">
                                      <p:cBhvr>
                                        <p:cTn id="56" dur="1000" fill="hold"/>
                                        <p:tgtEl>
                                          <p:spTgt spid="24"/>
                                        </p:tgtEl>
                                        <p:attrNameLst>
                                          <p:attrName>ppt_y</p:attrName>
                                        </p:attrNameLst>
                                      </p:cBhvr>
                                      <p:tavLst>
                                        <p:tav tm="0">
                                          <p:val>
                                            <p:strVal val="#ppt_y"/>
                                          </p:val>
                                        </p:tav>
                                        <p:tav tm="100000">
                                          <p:val>
                                            <p:strVal val="#ppt_y"/>
                                          </p:val>
                                        </p:tav>
                                      </p:tavLst>
                                    </p:anim>
                                    <p:animEffect transition="in" filter="wipe(right)" prLst="gradientSize: 0.1">
                                      <p:cBhvr>
                                        <p:cTn id="57" dur="1000"/>
                                        <p:tgtEl>
                                          <p:spTgt spid="24"/>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80904"/>
                                        </p:tgtEl>
                                        <p:attrNameLst>
                                          <p:attrName>style.visibility</p:attrName>
                                        </p:attrNameLst>
                                      </p:cBhvr>
                                      <p:to>
                                        <p:strVal val="visible"/>
                                      </p:to>
                                    </p:set>
                                    <p:anim calcmode="lin" valueType="num">
                                      <p:cBhvr>
                                        <p:cTn id="62" dur="1000" fill="hold"/>
                                        <p:tgtEl>
                                          <p:spTgt spid="80904"/>
                                        </p:tgtEl>
                                        <p:attrNameLst>
                                          <p:attrName>ppt_x</p:attrName>
                                        </p:attrNameLst>
                                      </p:cBhvr>
                                      <p:tavLst>
                                        <p:tav tm="0">
                                          <p:val>
                                            <p:strVal val="#ppt_x-.2"/>
                                          </p:val>
                                        </p:tav>
                                        <p:tav tm="100000">
                                          <p:val>
                                            <p:strVal val="#ppt_x"/>
                                          </p:val>
                                        </p:tav>
                                      </p:tavLst>
                                    </p:anim>
                                    <p:anim calcmode="lin" valueType="num">
                                      <p:cBhvr>
                                        <p:cTn id="63" dur="1000" fill="hold"/>
                                        <p:tgtEl>
                                          <p:spTgt spid="80904"/>
                                        </p:tgtEl>
                                        <p:attrNameLst>
                                          <p:attrName>ppt_y</p:attrName>
                                        </p:attrNameLst>
                                      </p:cBhvr>
                                      <p:tavLst>
                                        <p:tav tm="0">
                                          <p:val>
                                            <p:strVal val="#ppt_y"/>
                                          </p:val>
                                        </p:tav>
                                        <p:tav tm="100000">
                                          <p:val>
                                            <p:strVal val="#ppt_y"/>
                                          </p:val>
                                        </p:tav>
                                      </p:tavLst>
                                    </p:anim>
                                    <p:animEffect transition="in" filter="wipe(right)" prLst="gradientSize: 0.1">
                                      <p:cBhvr>
                                        <p:cTn id="64" dur="1000"/>
                                        <p:tgtEl>
                                          <p:spTgt spid="80904"/>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80905"/>
                                        </p:tgtEl>
                                        <p:attrNameLst>
                                          <p:attrName>style.visibility</p:attrName>
                                        </p:attrNameLst>
                                      </p:cBhvr>
                                      <p:to>
                                        <p:strVal val="visible"/>
                                      </p:to>
                                    </p:set>
                                    <p:anim calcmode="lin" valueType="num">
                                      <p:cBhvr>
                                        <p:cTn id="69" dur="1000" fill="hold"/>
                                        <p:tgtEl>
                                          <p:spTgt spid="80905"/>
                                        </p:tgtEl>
                                        <p:attrNameLst>
                                          <p:attrName>ppt_x</p:attrName>
                                        </p:attrNameLst>
                                      </p:cBhvr>
                                      <p:tavLst>
                                        <p:tav tm="0">
                                          <p:val>
                                            <p:strVal val="#ppt_x-.2"/>
                                          </p:val>
                                        </p:tav>
                                        <p:tav tm="100000">
                                          <p:val>
                                            <p:strVal val="#ppt_x"/>
                                          </p:val>
                                        </p:tav>
                                      </p:tavLst>
                                    </p:anim>
                                    <p:anim calcmode="lin" valueType="num">
                                      <p:cBhvr>
                                        <p:cTn id="70" dur="1000" fill="hold"/>
                                        <p:tgtEl>
                                          <p:spTgt spid="80905"/>
                                        </p:tgtEl>
                                        <p:attrNameLst>
                                          <p:attrName>ppt_y</p:attrName>
                                        </p:attrNameLst>
                                      </p:cBhvr>
                                      <p:tavLst>
                                        <p:tav tm="0">
                                          <p:val>
                                            <p:strVal val="#ppt_y"/>
                                          </p:val>
                                        </p:tav>
                                        <p:tav tm="100000">
                                          <p:val>
                                            <p:strVal val="#ppt_y"/>
                                          </p:val>
                                        </p:tav>
                                      </p:tavLst>
                                    </p:anim>
                                    <p:animEffect transition="in" filter="wipe(right)" prLst="gradientSize: 0.1">
                                      <p:cBhvr>
                                        <p:cTn id="71" dur="1000"/>
                                        <p:tgtEl>
                                          <p:spTgt spid="80905"/>
                                        </p:tgtEl>
                                      </p:cBhvr>
                                    </p:animEffect>
                                  </p:childTnLst>
                                </p:cTn>
                              </p:par>
                            </p:childTnLst>
                          </p:cTn>
                        </p:par>
                      </p:childTnLst>
                    </p:cTn>
                  </p:par>
                  <p:par>
                    <p:cTn id="72" fill="hold">
                      <p:stCondLst>
                        <p:cond delay="indefinite"/>
                      </p:stCondLst>
                      <p:childTnLst>
                        <p:par>
                          <p:cTn id="73" fill="hold">
                            <p:stCondLst>
                              <p:cond delay="0"/>
                            </p:stCondLst>
                            <p:childTnLst>
                              <p:par>
                                <p:cTn id="74" presetID="20" presetClass="entr" presetSubtype="0" fill="hold" grpId="0" nodeType="click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wedge">
                                      <p:cBhvr>
                                        <p:cTn id="76"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p:bldP spid="16" grpId="0"/>
      <p:bldP spid="17" grpId="0"/>
      <p:bldP spid="18" grpId="0"/>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04800" y="152400"/>
            <a:ext cx="8299991" cy="1692771"/>
          </a:xfrm>
          <a:prstGeom prst="rect">
            <a:avLst/>
          </a:prstGeom>
        </p:spPr>
        <p:txBody>
          <a:bodyPr wrap="square">
            <a:spAutoFit/>
          </a:bodyPr>
          <a:lstStyle/>
          <a:p>
            <a:pPr marL="515938" indent="-515938"/>
            <a:r>
              <a:rPr lang="en-US" sz="2600" dirty="0" smtClean="0"/>
              <a:t>16. Each of the six faces of a certain cube is painted either green of blue. When the cube is tossed, the probability of the cube landing with the blue face up is 1/3. How many faces are green?</a:t>
            </a:r>
            <a:endParaRPr lang="en-US" sz="2600" dirty="0"/>
          </a:p>
        </p:txBody>
      </p:sp>
      <p:sp>
        <p:nvSpPr>
          <p:cNvPr id="6" name="Rectangle 5"/>
          <p:cNvSpPr/>
          <p:nvPr/>
        </p:nvSpPr>
        <p:spPr>
          <a:xfrm>
            <a:off x="1616027" y="1828800"/>
            <a:ext cx="1029577" cy="492443"/>
          </a:xfrm>
          <a:prstGeom prst="rect">
            <a:avLst/>
          </a:prstGeom>
        </p:spPr>
        <p:txBody>
          <a:bodyPr wrap="none">
            <a:spAutoFit/>
          </a:bodyPr>
          <a:lstStyle/>
          <a:p>
            <a:r>
              <a:rPr lang="en-US" sz="2600" dirty="0" smtClean="0"/>
              <a:t>a. two</a:t>
            </a:r>
            <a:endParaRPr lang="en-US" sz="2600" dirty="0"/>
          </a:p>
        </p:txBody>
      </p:sp>
      <p:sp>
        <p:nvSpPr>
          <p:cNvPr id="7" name="Rectangle 6"/>
          <p:cNvSpPr/>
          <p:nvPr/>
        </p:nvSpPr>
        <p:spPr>
          <a:xfrm>
            <a:off x="1606129" y="2502258"/>
            <a:ext cx="1035861" cy="492443"/>
          </a:xfrm>
          <a:prstGeom prst="rect">
            <a:avLst/>
          </a:prstGeom>
        </p:spPr>
        <p:txBody>
          <a:bodyPr wrap="none">
            <a:spAutoFit/>
          </a:bodyPr>
          <a:lstStyle/>
          <a:p>
            <a:r>
              <a:rPr lang="en-US" sz="2600" dirty="0" smtClean="0"/>
              <a:t>b. one</a:t>
            </a:r>
            <a:endParaRPr lang="en-US" sz="2600" dirty="0"/>
          </a:p>
        </p:txBody>
      </p:sp>
      <p:sp>
        <p:nvSpPr>
          <p:cNvPr id="8" name="Rectangle 7"/>
          <p:cNvSpPr/>
          <p:nvPr/>
        </p:nvSpPr>
        <p:spPr>
          <a:xfrm>
            <a:off x="5654627" y="1828800"/>
            <a:ext cx="1048107" cy="492443"/>
          </a:xfrm>
          <a:prstGeom prst="rect">
            <a:avLst/>
          </a:prstGeom>
        </p:spPr>
        <p:txBody>
          <a:bodyPr wrap="none">
            <a:spAutoFit/>
          </a:bodyPr>
          <a:lstStyle/>
          <a:p>
            <a:r>
              <a:rPr lang="en-US" sz="2600" dirty="0" smtClean="0"/>
              <a:t>c. four</a:t>
            </a:r>
            <a:endParaRPr lang="en-US" sz="2600" dirty="0"/>
          </a:p>
        </p:txBody>
      </p:sp>
      <p:sp>
        <p:nvSpPr>
          <p:cNvPr id="9" name="Rectangle 8"/>
          <p:cNvSpPr/>
          <p:nvPr/>
        </p:nvSpPr>
        <p:spPr>
          <a:xfrm>
            <a:off x="5653880" y="2499897"/>
            <a:ext cx="1249445" cy="492443"/>
          </a:xfrm>
          <a:prstGeom prst="rect">
            <a:avLst/>
          </a:prstGeom>
        </p:spPr>
        <p:txBody>
          <a:bodyPr wrap="none">
            <a:spAutoFit/>
          </a:bodyPr>
          <a:lstStyle/>
          <a:p>
            <a:r>
              <a:rPr lang="en-US" sz="2600" dirty="0" smtClean="0"/>
              <a:t>d. three</a:t>
            </a:r>
          </a:p>
        </p:txBody>
      </p:sp>
      <p:sp>
        <p:nvSpPr>
          <p:cNvPr id="14" name="Rounded Rectangle 13"/>
          <p:cNvSpPr/>
          <p:nvPr/>
        </p:nvSpPr>
        <p:spPr>
          <a:xfrm>
            <a:off x="5575479" y="1815921"/>
            <a:ext cx="1232079"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
        <p:nvSpPr>
          <p:cNvPr id="19" name="Rectangle 18"/>
          <p:cNvSpPr/>
          <p:nvPr/>
        </p:nvSpPr>
        <p:spPr>
          <a:xfrm>
            <a:off x="990600" y="3365480"/>
            <a:ext cx="6781800" cy="2862322"/>
          </a:xfrm>
          <a:prstGeom prst="rect">
            <a:avLst/>
          </a:prstGeom>
        </p:spPr>
        <p:txBody>
          <a:bodyPr wrap="square">
            <a:spAutoFit/>
          </a:bodyPr>
          <a:lstStyle/>
          <a:p>
            <a:r>
              <a:rPr lang="en-US" sz="2000" b="1" dirty="0" smtClean="0"/>
              <a:t>Solution:</a:t>
            </a:r>
          </a:p>
          <a:p>
            <a:r>
              <a:rPr lang="en-US" sz="2000" b="1" dirty="0" smtClean="0"/>
              <a:t>	Let x = no. of blue faces</a:t>
            </a:r>
          </a:p>
          <a:p>
            <a:r>
              <a:rPr lang="en-US" sz="2000" b="1" dirty="0" smtClean="0"/>
              <a:t>	       y = no. of green faces</a:t>
            </a:r>
          </a:p>
          <a:p>
            <a:r>
              <a:rPr lang="en-US" sz="2000" b="1" dirty="0" smtClean="0"/>
              <a:t>	 x + y = 6 = total no. of faces of a cube</a:t>
            </a:r>
          </a:p>
          <a:p>
            <a:r>
              <a:rPr lang="en-US" sz="2000" b="1" dirty="0" smtClean="0"/>
              <a:t>	     			</a:t>
            </a:r>
          </a:p>
          <a:p>
            <a:r>
              <a:rPr lang="en-US" sz="2000" b="1" dirty="0" smtClean="0"/>
              <a:t>				Since x + y = 6</a:t>
            </a:r>
          </a:p>
          <a:p>
            <a:r>
              <a:rPr lang="en-US" sz="2000" b="1" dirty="0" smtClean="0"/>
              <a:t>	     			then,       y = 6 – x </a:t>
            </a:r>
          </a:p>
          <a:p>
            <a:r>
              <a:rPr lang="en-US" sz="2000" b="1" dirty="0" smtClean="0"/>
              <a:t>					 y = 6 – 2</a:t>
            </a:r>
            <a:endParaRPr lang="en-US" sz="2000" dirty="0" smtClean="0"/>
          </a:p>
          <a:p>
            <a:r>
              <a:rPr lang="en-US" sz="2000" dirty="0" smtClean="0"/>
              <a:t>					 </a:t>
            </a:r>
            <a:r>
              <a:rPr lang="en-US" sz="2000" b="1" dirty="0" smtClean="0"/>
              <a:t>y = 4</a:t>
            </a:r>
          </a:p>
        </p:txBody>
      </p:sp>
      <p:sp>
        <p:nvSpPr>
          <p:cNvPr id="20" name="Rounded Rectangle 19"/>
          <p:cNvSpPr/>
          <p:nvPr/>
        </p:nvSpPr>
        <p:spPr>
          <a:xfrm>
            <a:off x="609600" y="3347085"/>
            <a:ext cx="6934200" cy="339143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1927" name="Object 7"/>
          <p:cNvGraphicFramePr>
            <a:graphicFrameLocks noChangeAspect="1"/>
          </p:cNvGraphicFramePr>
          <p:nvPr/>
        </p:nvGraphicFramePr>
        <p:xfrm>
          <a:off x="1936750" y="4724400"/>
          <a:ext cx="730250" cy="744319"/>
        </p:xfrm>
        <a:graphic>
          <a:graphicData uri="http://schemas.openxmlformats.org/presentationml/2006/ole">
            <p:oleObj spid="_x0000_s81927" name="Equation" r:id="rId6" imgW="380880" imgH="393480" progId="Equation.3">
              <p:embed/>
            </p:oleObj>
          </a:graphicData>
        </a:graphic>
      </p:graphicFrame>
      <p:graphicFrame>
        <p:nvGraphicFramePr>
          <p:cNvPr id="81928" name="Object 8"/>
          <p:cNvGraphicFramePr>
            <a:graphicFrameLocks noChangeAspect="1"/>
          </p:cNvGraphicFramePr>
          <p:nvPr/>
        </p:nvGraphicFramePr>
        <p:xfrm>
          <a:off x="1786451" y="5486400"/>
          <a:ext cx="803275" cy="336550"/>
        </p:xfrm>
        <a:graphic>
          <a:graphicData uri="http://schemas.openxmlformats.org/presentationml/2006/ole">
            <p:oleObj spid="_x0000_s81928" name="Equation" r:id="rId7" imgW="419040" imgH="177480" progId="Equation.3">
              <p:embed/>
            </p:oleObj>
          </a:graphicData>
        </a:graphic>
      </p:graphicFrame>
      <p:graphicFrame>
        <p:nvGraphicFramePr>
          <p:cNvPr id="81929" name="Object 9"/>
          <p:cNvGraphicFramePr>
            <a:graphicFrameLocks noChangeAspect="1"/>
          </p:cNvGraphicFramePr>
          <p:nvPr/>
        </p:nvGraphicFramePr>
        <p:xfrm>
          <a:off x="1917879" y="5797013"/>
          <a:ext cx="681037" cy="336550"/>
        </p:xfrm>
        <a:graphic>
          <a:graphicData uri="http://schemas.openxmlformats.org/presentationml/2006/ole">
            <p:oleObj spid="_x0000_s81929" name="Equation" r:id="rId8" imgW="355320" imgH="177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fade">
                                      <p:cBhvr>
                                        <p:cTn id="27" dur="1000"/>
                                        <p:tgtEl>
                                          <p:spTgt spid="19">
                                            <p:txEl>
                                              <p:pRg st="0" end="0"/>
                                            </p:txEl>
                                          </p:spTgt>
                                        </p:tgtEl>
                                      </p:cBhvr>
                                    </p:animEffect>
                                    <p:anim calcmode="lin" valueType="num">
                                      <p:cBhvr>
                                        <p:cTn id="28"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9">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9">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1000"/>
                                        <p:tgtEl>
                                          <p:spTgt spid="20"/>
                                        </p:tgtEl>
                                      </p:cBhvr>
                                    </p:animEffect>
                                    <p:anim calcmode="lin" valueType="num">
                                      <p:cBhvr>
                                        <p:cTn id="34" dur="1000" fill="hold"/>
                                        <p:tgtEl>
                                          <p:spTgt spid="20"/>
                                        </p:tgtEl>
                                        <p:attrNameLst>
                                          <p:attrName>ppt_x</p:attrName>
                                        </p:attrNameLst>
                                      </p:cBhvr>
                                      <p:tavLst>
                                        <p:tav tm="0">
                                          <p:val>
                                            <p:strVal val="#ppt_x"/>
                                          </p:val>
                                        </p:tav>
                                        <p:tav tm="100000">
                                          <p:val>
                                            <p:strVal val="#ppt_x"/>
                                          </p:val>
                                        </p:tav>
                                      </p:tavLst>
                                    </p:anim>
                                    <p:anim calcmode="lin" valueType="num">
                                      <p:cBhvr>
                                        <p:cTn id="35" dur="900" decel="100000" fill="hold"/>
                                        <p:tgtEl>
                                          <p:spTgt spid="20"/>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 calcmode="lin" valueType="num">
                                      <p:cBhvr>
                                        <p:cTn id="41" dur="1000" fill="hold"/>
                                        <p:tgtEl>
                                          <p:spTgt spid="19">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19">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9">
                                            <p:txEl>
                                              <p:pRg st="2" end="2"/>
                                            </p:txEl>
                                          </p:spTgt>
                                        </p:tgtEl>
                                        <p:attrNameLst>
                                          <p:attrName>style.visibility</p:attrName>
                                        </p:attrNameLst>
                                      </p:cBhvr>
                                      <p:to>
                                        <p:strVal val="visible"/>
                                      </p:to>
                                    </p:set>
                                    <p:anim calcmode="lin" valueType="num">
                                      <p:cBhvr>
                                        <p:cTn id="48" dur="1000" fill="hold"/>
                                        <p:tgtEl>
                                          <p:spTgt spid="19">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19">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9">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9">
                                            <p:txEl>
                                              <p:pRg st="3" end="3"/>
                                            </p:txEl>
                                          </p:spTgt>
                                        </p:tgtEl>
                                        <p:attrNameLst>
                                          <p:attrName>style.visibility</p:attrName>
                                        </p:attrNameLst>
                                      </p:cBhvr>
                                      <p:to>
                                        <p:strVal val="visible"/>
                                      </p:to>
                                    </p:set>
                                    <p:anim calcmode="lin" valueType="num">
                                      <p:cBhvr>
                                        <p:cTn id="55" dur="1000" fill="hold"/>
                                        <p:tgtEl>
                                          <p:spTgt spid="19">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19">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9">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81927"/>
                                        </p:tgtEl>
                                        <p:attrNameLst>
                                          <p:attrName>style.visibility</p:attrName>
                                        </p:attrNameLst>
                                      </p:cBhvr>
                                      <p:to>
                                        <p:strVal val="visible"/>
                                      </p:to>
                                    </p:set>
                                    <p:anim calcmode="lin" valueType="num">
                                      <p:cBhvr>
                                        <p:cTn id="62" dur="1000" fill="hold"/>
                                        <p:tgtEl>
                                          <p:spTgt spid="81927"/>
                                        </p:tgtEl>
                                        <p:attrNameLst>
                                          <p:attrName>ppt_x</p:attrName>
                                        </p:attrNameLst>
                                      </p:cBhvr>
                                      <p:tavLst>
                                        <p:tav tm="0">
                                          <p:val>
                                            <p:strVal val="#ppt_x-.2"/>
                                          </p:val>
                                        </p:tav>
                                        <p:tav tm="100000">
                                          <p:val>
                                            <p:strVal val="#ppt_x"/>
                                          </p:val>
                                        </p:tav>
                                      </p:tavLst>
                                    </p:anim>
                                    <p:anim calcmode="lin" valueType="num">
                                      <p:cBhvr>
                                        <p:cTn id="63" dur="1000" fill="hold"/>
                                        <p:tgtEl>
                                          <p:spTgt spid="81927"/>
                                        </p:tgtEl>
                                        <p:attrNameLst>
                                          <p:attrName>ppt_y</p:attrName>
                                        </p:attrNameLst>
                                      </p:cBhvr>
                                      <p:tavLst>
                                        <p:tav tm="0">
                                          <p:val>
                                            <p:strVal val="#ppt_y"/>
                                          </p:val>
                                        </p:tav>
                                        <p:tav tm="100000">
                                          <p:val>
                                            <p:strVal val="#ppt_y"/>
                                          </p:val>
                                        </p:tav>
                                      </p:tavLst>
                                    </p:anim>
                                    <p:animEffect transition="in" filter="wipe(right)" prLst="gradientSize: 0.1">
                                      <p:cBhvr>
                                        <p:cTn id="64" dur="1000"/>
                                        <p:tgtEl>
                                          <p:spTgt spid="81927"/>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81928"/>
                                        </p:tgtEl>
                                        <p:attrNameLst>
                                          <p:attrName>style.visibility</p:attrName>
                                        </p:attrNameLst>
                                      </p:cBhvr>
                                      <p:to>
                                        <p:strVal val="visible"/>
                                      </p:to>
                                    </p:set>
                                    <p:anim calcmode="lin" valueType="num">
                                      <p:cBhvr>
                                        <p:cTn id="69" dur="1000" fill="hold"/>
                                        <p:tgtEl>
                                          <p:spTgt spid="81928"/>
                                        </p:tgtEl>
                                        <p:attrNameLst>
                                          <p:attrName>ppt_x</p:attrName>
                                        </p:attrNameLst>
                                      </p:cBhvr>
                                      <p:tavLst>
                                        <p:tav tm="0">
                                          <p:val>
                                            <p:strVal val="#ppt_x-.2"/>
                                          </p:val>
                                        </p:tav>
                                        <p:tav tm="100000">
                                          <p:val>
                                            <p:strVal val="#ppt_x"/>
                                          </p:val>
                                        </p:tav>
                                      </p:tavLst>
                                    </p:anim>
                                    <p:anim calcmode="lin" valueType="num">
                                      <p:cBhvr>
                                        <p:cTn id="70" dur="1000" fill="hold"/>
                                        <p:tgtEl>
                                          <p:spTgt spid="81928"/>
                                        </p:tgtEl>
                                        <p:attrNameLst>
                                          <p:attrName>ppt_y</p:attrName>
                                        </p:attrNameLst>
                                      </p:cBhvr>
                                      <p:tavLst>
                                        <p:tav tm="0">
                                          <p:val>
                                            <p:strVal val="#ppt_y"/>
                                          </p:val>
                                        </p:tav>
                                        <p:tav tm="100000">
                                          <p:val>
                                            <p:strVal val="#ppt_y"/>
                                          </p:val>
                                        </p:tav>
                                      </p:tavLst>
                                    </p:anim>
                                    <p:animEffect transition="in" filter="wipe(right)" prLst="gradientSize: 0.1">
                                      <p:cBhvr>
                                        <p:cTn id="71" dur="1000"/>
                                        <p:tgtEl>
                                          <p:spTgt spid="81928"/>
                                        </p:tgtEl>
                                      </p:cBhvr>
                                    </p:animEffect>
                                  </p:childTnLst>
                                </p:cTn>
                              </p:par>
                            </p:childTnLst>
                          </p:cTn>
                        </p:par>
                      </p:childTnLst>
                    </p:cTn>
                  </p:par>
                  <p:par>
                    <p:cTn id="72" fill="hold">
                      <p:stCondLst>
                        <p:cond delay="indefinite"/>
                      </p:stCondLst>
                      <p:childTnLst>
                        <p:par>
                          <p:cTn id="73" fill="hold">
                            <p:stCondLst>
                              <p:cond delay="0"/>
                            </p:stCondLst>
                            <p:childTnLst>
                              <p:par>
                                <p:cTn id="74" presetID="29" presetClass="entr" presetSubtype="0" fill="hold" nodeType="clickEffect">
                                  <p:stCondLst>
                                    <p:cond delay="0"/>
                                  </p:stCondLst>
                                  <p:childTnLst>
                                    <p:set>
                                      <p:cBhvr>
                                        <p:cTn id="75" dur="1" fill="hold">
                                          <p:stCondLst>
                                            <p:cond delay="0"/>
                                          </p:stCondLst>
                                        </p:cTn>
                                        <p:tgtEl>
                                          <p:spTgt spid="81929"/>
                                        </p:tgtEl>
                                        <p:attrNameLst>
                                          <p:attrName>style.visibility</p:attrName>
                                        </p:attrNameLst>
                                      </p:cBhvr>
                                      <p:to>
                                        <p:strVal val="visible"/>
                                      </p:to>
                                    </p:set>
                                    <p:anim calcmode="lin" valueType="num">
                                      <p:cBhvr>
                                        <p:cTn id="76" dur="1000" fill="hold"/>
                                        <p:tgtEl>
                                          <p:spTgt spid="81929"/>
                                        </p:tgtEl>
                                        <p:attrNameLst>
                                          <p:attrName>ppt_x</p:attrName>
                                        </p:attrNameLst>
                                      </p:cBhvr>
                                      <p:tavLst>
                                        <p:tav tm="0">
                                          <p:val>
                                            <p:strVal val="#ppt_x-.2"/>
                                          </p:val>
                                        </p:tav>
                                        <p:tav tm="100000">
                                          <p:val>
                                            <p:strVal val="#ppt_x"/>
                                          </p:val>
                                        </p:tav>
                                      </p:tavLst>
                                    </p:anim>
                                    <p:anim calcmode="lin" valueType="num">
                                      <p:cBhvr>
                                        <p:cTn id="77" dur="1000" fill="hold"/>
                                        <p:tgtEl>
                                          <p:spTgt spid="81929"/>
                                        </p:tgtEl>
                                        <p:attrNameLst>
                                          <p:attrName>ppt_y</p:attrName>
                                        </p:attrNameLst>
                                      </p:cBhvr>
                                      <p:tavLst>
                                        <p:tav tm="0">
                                          <p:val>
                                            <p:strVal val="#ppt_y"/>
                                          </p:val>
                                        </p:tav>
                                        <p:tav tm="100000">
                                          <p:val>
                                            <p:strVal val="#ppt_y"/>
                                          </p:val>
                                        </p:tav>
                                      </p:tavLst>
                                    </p:anim>
                                    <p:animEffect transition="in" filter="wipe(right)" prLst="gradientSize: 0.1">
                                      <p:cBhvr>
                                        <p:cTn id="78" dur="1000"/>
                                        <p:tgtEl>
                                          <p:spTgt spid="81929"/>
                                        </p:tgtEl>
                                      </p:cBhvr>
                                    </p:animEffect>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19">
                                            <p:txEl>
                                              <p:pRg st="5" end="5"/>
                                            </p:txEl>
                                          </p:spTgt>
                                        </p:tgtEl>
                                        <p:attrNameLst>
                                          <p:attrName>style.visibility</p:attrName>
                                        </p:attrNameLst>
                                      </p:cBhvr>
                                      <p:to>
                                        <p:strVal val="visible"/>
                                      </p:to>
                                    </p:set>
                                    <p:anim calcmode="lin" valueType="num">
                                      <p:cBhvr>
                                        <p:cTn id="83" dur="1000" fill="hold"/>
                                        <p:tgtEl>
                                          <p:spTgt spid="19">
                                            <p:txEl>
                                              <p:pRg st="5" end="5"/>
                                            </p:txEl>
                                          </p:spTgt>
                                        </p:tgtEl>
                                        <p:attrNameLst>
                                          <p:attrName>ppt_x</p:attrName>
                                        </p:attrNameLst>
                                      </p:cBhvr>
                                      <p:tavLst>
                                        <p:tav tm="0">
                                          <p:val>
                                            <p:strVal val="#ppt_x-.2"/>
                                          </p:val>
                                        </p:tav>
                                        <p:tav tm="100000">
                                          <p:val>
                                            <p:strVal val="#ppt_x"/>
                                          </p:val>
                                        </p:tav>
                                      </p:tavLst>
                                    </p:anim>
                                    <p:anim calcmode="lin" valueType="num">
                                      <p:cBhvr>
                                        <p:cTn id="84" dur="1000" fill="hold"/>
                                        <p:tgtEl>
                                          <p:spTgt spid="1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85" dur="1000"/>
                                        <p:tgtEl>
                                          <p:spTgt spid="19">
                                            <p:txEl>
                                              <p:pRg st="5" end="5"/>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9" presetClass="entr" presetSubtype="0" fill="hold" nodeType="clickEffect">
                                  <p:stCondLst>
                                    <p:cond delay="0"/>
                                  </p:stCondLst>
                                  <p:childTnLst>
                                    <p:set>
                                      <p:cBhvr>
                                        <p:cTn id="89" dur="1" fill="hold">
                                          <p:stCondLst>
                                            <p:cond delay="0"/>
                                          </p:stCondLst>
                                        </p:cTn>
                                        <p:tgtEl>
                                          <p:spTgt spid="19">
                                            <p:txEl>
                                              <p:pRg st="6" end="6"/>
                                            </p:txEl>
                                          </p:spTgt>
                                        </p:tgtEl>
                                        <p:attrNameLst>
                                          <p:attrName>style.visibility</p:attrName>
                                        </p:attrNameLst>
                                      </p:cBhvr>
                                      <p:to>
                                        <p:strVal val="visible"/>
                                      </p:to>
                                    </p:set>
                                    <p:anim calcmode="lin" valueType="num">
                                      <p:cBhvr>
                                        <p:cTn id="90" dur="1000" fill="hold"/>
                                        <p:tgtEl>
                                          <p:spTgt spid="19">
                                            <p:txEl>
                                              <p:pRg st="6" end="6"/>
                                            </p:txEl>
                                          </p:spTgt>
                                        </p:tgtEl>
                                        <p:attrNameLst>
                                          <p:attrName>ppt_x</p:attrName>
                                        </p:attrNameLst>
                                      </p:cBhvr>
                                      <p:tavLst>
                                        <p:tav tm="0">
                                          <p:val>
                                            <p:strVal val="#ppt_x-.2"/>
                                          </p:val>
                                        </p:tav>
                                        <p:tav tm="100000">
                                          <p:val>
                                            <p:strVal val="#ppt_x"/>
                                          </p:val>
                                        </p:tav>
                                      </p:tavLst>
                                    </p:anim>
                                    <p:anim calcmode="lin" valueType="num">
                                      <p:cBhvr>
                                        <p:cTn id="91" dur="1000" fill="hold"/>
                                        <p:tgtEl>
                                          <p:spTgt spid="1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92" dur="1000"/>
                                        <p:tgtEl>
                                          <p:spTgt spid="19">
                                            <p:txEl>
                                              <p:pRg st="6" end="6"/>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9" presetClass="entr" presetSubtype="0" fill="hold" nodeType="clickEffect">
                                  <p:stCondLst>
                                    <p:cond delay="0"/>
                                  </p:stCondLst>
                                  <p:childTnLst>
                                    <p:set>
                                      <p:cBhvr>
                                        <p:cTn id="96" dur="1" fill="hold">
                                          <p:stCondLst>
                                            <p:cond delay="0"/>
                                          </p:stCondLst>
                                        </p:cTn>
                                        <p:tgtEl>
                                          <p:spTgt spid="19">
                                            <p:txEl>
                                              <p:pRg st="7" end="7"/>
                                            </p:txEl>
                                          </p:spTgt>
                                        </p:tgtEl>
                                        <p:attrNameLst>
                                          <p:attrName>style.visibility</p:attrName>
                                        </p:attrNameLst>
                                      </p:cBhvr>
                                      <p:to>
                                        <p:strVal val="visible"/>
                                      </p:to>
                                    </p:set>
                                    <p:anim calcmode="lin" valueType="num">
                                      <p:cBhvr>
                                        <p:cTn id="97" dur="1000" fill="hold"/>
                                        <p:tgtEl>
                                          <p:spTgt spid="19">
                                            <p:txEl>
                                              <p:pRg st="7" end="7"/>
                                            </p:txEl>
                                          </p:spTgt>
                                        </p:tgtEl>
                                        <p:attrNameLst>
                                          <p:attrName>ppt_x</p:attrName>
                                        </p:attrNameLst>
                                      </p:cBhvr>
                                      <p:tavLst>
                                        <p:tav tm="0">
                                          <p:val>
                                            <p:strVal val="#ppt_x-.2"/>
                                          </p:val>
                                        </p:tav>
                                        <p:tav tm="100000">
                                          <p:val>
                                            <p:strVal val="#ppt_x"/>
                                          </p:val>
                                        </p:tav>
                                      </p:tavLst>
                                    </p:anim>
                                    <p:anim calcmode="lin" valueType="num">
                                      <p:cBhvr>
                                        <p:cTn id="98" dur="1000" fill="hold"/>
                                        <p:tgtEl>
                                          <p:spTgt spid="19">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99" dur="1000"/>
                                        <p:tgtEl>
                                          <p:spTgt spid="19">
                                            <p:txEl>
                                              <p:pRg st="7" end="7"/>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9" presetClass="entr" presetSubtype="0" fill="hold" nodeType="clickEffect">
                                  <p:stCondLst>
                                    <p:cond delay="0"/>
                                  </p:stCondLst>
                                  <p:childTnLst>
                                    <p:set>
                                      <p:cBhvr>
                                        <p:cTn id="103" dur="1" fill="hold">
                                          <p:stCondLst>
                                            <p:cond delay="0"/>
                                          </p:stCondLst>
                                        </p:cTn>
                                        <p:tgtEl>
                                          <p:spTgt spid="19">
                                            <p:txEl>
                                              <p:pRg st="8" end="8"/>
                                            </p:txEl>
                                          </p:spTgt>
                                        </p:tgtEl>
                                        <p:attrNameLst>
                                          <p:attrName>style.visibility</p:attrName>
                                        </p:attrNameLst>
                                      </p:cBhvr>
                                      <p:to>
                                        <p:strVal val="visible"/>
                                      </p:to>
                                    </p:set>
                                    <p:anim calcmode="lin" valueType="num">
                                      <p:cBhvr>
                                        <p:cTn id="104" dur="1000" fill="hold"/>
                                        <p:tgtEl>
                                          <p:spTgt spid="19">
                                            <p:txEl>
                                              <p:pRg st="8" end="8"/>
                                            </p:txEl>
                                          </p:spTgt>
                                        </p:tgtEl>
                                        <p:attrNameLst>
                                          <p:attrName>ppt_x</p:attrName>
                                        </p:attrNameLst>
                                      </p:cBhvr>
                                      <p:tavLst>
                                        <p:tav tm="0">
                                          <p:val>
                                            <p:strVal val="#ppt_x-.2"/>
                                          </p:val>
                                        </p:tav>
                                        <p:tav tm="100000">
                                          <p:val>
                                            <p:strVal val="#ppt_x"/>
                                          </p:val>
                                        </p:tav>
                                      </p:tavLst>
                                    </p:anim>
                                    <p:anim calcmode="lin" valueType="num">
                                      <p:cBhvr>
                                        <p:cTn id="105" dur="1000" fill="hold"/>
                                        <p:tgtEl>
                                          <p:spTgt spid="19">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106" dur="1000"/>
                                        <p:tgtEl>
                                          <p:spTgt spid="19">
                                            <p:txEl>
                                              <p:pRg st="8" end="8"/>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0" presetClass="entr" presetSubtype="0" fill="hold" grpId="0" nodeType="click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wedge">
                                      <p:cBhvr>
                                        <p:cTn id="111"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4" grpId="0"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152400"/>
            <a:ext cx="8229600" cy="2514600"/>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17. A pair of dice is thrown. What is the probability of</a:t>
            </a:r>
            <a:r>
              <a:rPr kumimoji="0" lang="en-US" sz="2400" b="0" i="0" u="none" strike="noStrike" kern="1200" cap="none" spc="0" normalizeH="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getting outcomes with repeated digit (e.g.33)?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c.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d. </a:t>
            </a:r>
          </a:p>
        </p:txBody>
      </p:sp>
      <p:pic>
        <p:nvPicPr>
          <p:cNvPr id="6" name="Picture 1"/>
          <p:cNvPicPr>
            <a:picLocks noChangeAspect="1" noChangeArrowheads="1"/>
          </p:cNvPicPr>
          <p:nvPr/>
        </p:nvPicPr>
        <p:blipFill>
          <a:blip r:embed="rId6" cstate="print"/>
          <a:srcRect/>
          <a:stretch>
            <a:fillRect/>
          </a:stretch>
        </p:blipFill>
        <p:spPr bwMode="auto">
          <a:xfrm>
            <a:off x="1814513" y="1128713"/>
            <a:ext cx="334962" cy="623887"/>
          </a:xfrm>
          <a:prstGeom prst="rect">
            <a:avLst/>
          </a:prstGeom>
          <a:noFill/>
        </p:spPr>
      </p:pic>
      <p:pic>
        <p:nvPicPr>
          <p:cNvPr id="7" name="Picture 3"/>
          <p:cNvPicPr>
            <a:picLocks noChangeAspect="1" noChangeArrowheads="1"/>
          </p:cNvPicPr>
          <p:nvPr/>
        </p:nvPicPr>
        <p:blipFill>
          <a:blip r:embed="rId7" cstate="print"/>
          <a:srcRect/>
          <a:stretch>
            <a:fillRect/>
          </a:stretch>
        </p:blipFill>
        <p:spPr bwMode="auto">
          <a:xfrm>
            <a:off x="1793875" y="1931988"/>
            <a:ext cx="368300" cy="685800"/>
          </a:xfrm>
          <a:prstGeom prst="rect">
            <a:avLst/>
          </a:prstGeom>
          <a:noFill/>
        </p:spPr>
      </p:pic>
      <p:pic>
        <p:nvPicPr>
          <p:cNvPr id="8" name="Picture 4"/>
          <p:cNvPicPr>
            <a:picLocks noChangeAspect="1" noChangeArrowheads="1"/>
          </p:cNvPicPr>
          <p:nvPr/>
        </p:nvPicPr>
        <p:blipFill>
          <a:blip r:embed="rId8" cstate="print"/>
          <a:srcRect/>
          <a:stretch>
            <a:fillRect/>
          </a:stretch>
        </p:blipFill>
        <p:spPr bwMode="auto">
          <a:xfrm>
            <a:off x="5445125" y="1089025"/>
            <a:ext cx="457200" cy="649288"/>
          </a:xfrm>
          <a:prstGeom prst="rect">
            <a:avLst/>
          </a:prstGeom>
          <a:noFill/>
        </p:spPr>
      </p:pic>
      <p:pic>
        <p:nvPicPr>
          <p:cNvPr id="9" name="Picture 5"/>
          <p:cNvPicPr>
            <a:picLocks noChangeAspect="1" noChangeArrowheads="1"/>
          </p:cNvPicPr>
          <p:nvPr/>
        </p:nvPicPr>
        <p:blipFill>
          <a:blip r:embed="rId9" cstate="print"/>
          <a:srcRect/>
          <a:stretch>
            <a:fillRect/>
          </a:stretch>
        </p:blipFill>
        <p:spPr bwMode="auto">
          <a:xfrm>
            <a:off x="5478463" y="1917700"/>
            <a:ext cx="506412" cy="687388"/>
          </a:xfrm>
          <a:prstGeom prst="rect">
            <a:avLst/>
          </a:prstGeom>
          <a:noFill/>
        </p:spPr>
      </p:pic>
      <p:sp>
        <p:nvSpPr>
          <p:cNvPr id="10" name="Rectangle 9"/>
          <p:cNvSpPr/>
          <p:nvPr/>
        </p:nvSpPr>
        <p:spPr>
          <a:xfrm>
            <a:off x="533400" y="2790676"/>
            <a:ext cx="7391400" cy="584775"/>
          </a:xfrm>
          <a:prstGeom prst="rect">
            <a:avLst/>
          </a:prstGeom>
        </p:spPr>
        <p:txBody>
          <a:bodyPr wrap="square">
            <a:spAutoFit/>
          </a:bodyPr>
          <a:lstStyle/>
          <a:p>
            <a:r>
              <a:rPr lang="en-US" sz="1600" b="1" dirty="0" smtClean="0"/>
              <a:t>Solution:</a:t>
            </a:r>
          </a:p>
          <a:p>
            <a:r>
              <a:rPr lang="en-US" sz="1600" b="1" dirty="0" smtClean="0"/>
              <a:t>	Outcomes in rolling a pair of dice</a:t>
            </a:r>
          </a:p>
        </p:txBody>
      </p:sp>
      <p:graphicFrame>
        <p:nvGraphicFramePr>
          <p:cNvPr id="11" name="Table 10"/>
          <p:cNvGraphicFramePr>
            <a:graphicFrameLocks noGrp="1"/>
          </p:cNvGraphicFramePr>
          <p:nvPr/>
        </p:nvGraphicFramePr>
        <p:xfrm>
          <a:off x="685800" y="3552676"/>
          <a:ext cx="3200400" cy="1828800"/>
        </p:xfrm>
        <a:graphic>
          <a:graphicData uri="http://schemas.openxmlformats.org/drawingml/2006/table">
            <a:tbl>
              <a:tblPr firstRow="1" bandRow="1">
                <a:tableStyleId>{5940675A-B579-460E-94D1-54222C63F5DA}</a:tableStyleId>
              </a:tblPr>
              <a:tblGrid>
                <a:gridCol w="533400"/>
                <a:gridCol w="533400"/>
                <a:gridCol w="533400"/>
                <a:gridCol w="533400"/>
                <a:gridCol w="533400"/>
                <a:gridCol w="533400"/>
              </a:tblGrid>
              <a:tr h="254000">
                <a:tc>
                  <a:txBody>
                    <a:bodyPr/>
                    <a:lstStyle/>
                    <a:p>
                      <a:pPr algn="ctr"/>
                      <a:r>
                        <a:rPr lang="en-PH" sz="1400" dirty="0" smtClean="0"/>
                        <a:t>11</a:t>
                      </a:r>
                      <a:endParaRPr lang="en-PH" sz="1400" b="1" dirty="0">
                        <a:solidFill>
                          <a:schemeClr val="tx2"/>
                        </a:solidFill>
                      </a:endParaRPr>
                    </a:p>
                  </a:txBody>
                  <a:tcPr/>
                </a:tc>
                <a:tc>
                  <a:txBody>
                    <a:bodyPr/>
                    <a:lstStyle/>
                    <a:p>
                      <a:pPr algn="ctr"/>
                      <a:r>
                        <a:rPr lang="en-PH" sz="1400" dirty="0" smtClean="0"/>
                        <a:t>21</a:t>
                      </a:r>
                      <a:endParaRPr lang="en-PH" sz="1400" b="1" dirty="0">
                        <a:solidFill>
                          <a:schemeClr val="tx2"/>
                        </a:solidFill>
                      </a:endParaRPr>
                    </a:p>
                  </a:txBody>
                  <a:tcPr/>
                </a:tc>
                <a:tc>
                  <a:txBody>
                    <a:bodyPr/>
                    <a:lstStyle/>
                    <a:p>
                      <a:pPr algn="ctr"/>
                      <a:r>
                        <a:rPr lang="en-PH" sz="1400" dirty="0" smtClean="0"/>
                        <a:t>31</a:t>
                      </a:r>
                      <a:endParaRPr lang="en-PH" sz="1400" b="1" dirty="0">
                        <a:solidFill>
                          <a:schemeClr val="tx2"/>
                        </a:solidFill>
                      </a:endParaRPr>
                    </a:p>
                  </a:txBody>
                  <a:tcPr/>
                </a:tc>
                <a:tc>
                  <a:txBody>
                    <a:bodyPr/>
                    <a:lstStyle/>
                    <a:p>
                      <a:pPr algn="ctr"/>
                      <a:r>
                        <a:rPr lang="en-PH" sz="1400" dirty="0" smtClean="0"/>
                        <a:t>41</a:t>
                      </a:r>
                      <a:endParaRPr lang="en-PH" sz="1400" b="1" dirty="0">
                        <a:solidFill>
                          <a:schemeClr val="tx2"/>
                        </a:solidFill>
                      </a:endParaRPr>
                    </a:p>
                  </a:txBody>
                  <a:tcPr/>
                </a:tc>
                <a:tc>
                  <a:txBody>
                    <a:bodyPr/>
                    <a:lstStyle/>
                    <a:p>
                      <a:pPr algn="ctr"/>
                      <a:r>
                        <a:rPr lang="en-PH" sz="1400" dirty="0" smtClean="0"/>
                        <a:t>51</a:t>
                      </a:r>
                      <a:endParaRPr lang="en-PH" sz="1400" b="1" dirty="0">
                        <a:solidFill>
                          <a:schemeClr val="tx2"/>
                        </a:solidFill>
                      </a:endParaRPr>
                    </a:p>
                  </a:txBody>
                  <a:tcPr/>
                </a:tc>
                <a:tc>
                  <a:txBody>
                    <a:bodyPr/>
                    <a:lstStyle/>
                    <a:p>
                      <a:pPr algn="ctr"/>
                      <a:r>
                        <a:rPr lang="en-PH" sz="1400" dirty="0" smtClean="0"/>
                        <a:t>61</a:t>
                      </a:r>
                      <a:endParaRPr lang="en-PH" sz="1400" b="1" dirty="0">
                        <a:solidFill>
                          <a:schemeClr val="tx2"/>
                        </a:solidFill>
                      </a:endParaRPr>
                    </a:p>
                  </a:txBody>
                  <a:tcPr/>
                </a:tc>
              </a:tr>
              <a:tr h="254000">
                <a:tc>
                  <a:txBody>
                    <a:bodyPr/>
                    <a:lstStyle/>
                    <a:p>
                      <a:pPr algn="ctr"/>
                      <a:r>
                        <a:rPr lang="en-PH" sz="1400" dirty="0" smtClean="0"/>
                        <a:t>12</a:t>
                      </a:r>
                      <a:endParaRPr lang="en-PH" sz="1400" b="1" dirty="0">
                        <a:solidFill>
                          <a:schemeClr val="tx2"/>
                        </a:solidFill>
                      </a:endParaRPr>
                    </a:p>
                  </a:txBody>
                  <a:tcPr/>
                </a:tc>
                <a:tc>
                  <a:txBody>
                    <a:bodyPr/>
                    <a:lstStyle/>
                    <a:p>
                      <a:pPr algn="ctr"/>
                      <a:r>
                        <a:rPr lang="en-PH" sz="1400" dirty="0" smtClean="0"/>
                        <a:t>22</a:t>
                      </a:r>
                      <a:endParaRPr lang="en-PH" sz="1400" b="1" dirty="0">
                        <a:solidFill>
                          <a:schemeClr val="tx2"/>
                        </a:solidFill>
                      </a:endParaRPr>
                    </a:p>
                  </a:txBody>
                  <a:tcPr/>
                </a:tc>
                <a:tc>
                  <a:txBody>
                    <a:bodyPr/>
                    <a:lstStyle/>
                    <a:p>
                      <a:pPr algn="ctr"/>
                      <a:r>
                        <a:rPr lang="en-PH" sz="1400" dirty="0" smtClean="0"/>
                        <a:t>32</a:t>
                      </a:r>
                      <a:endParaRPr lang="en-PH" sz="1400" b="1" dirty="0">
                        <a:solidFill>
                          <a:schemeClr val="tx2"/>
                        </a:solidFill>
                      </a:endParaRPr>
                    </a:p>
                  </a:txBody>
                  <a:tcPr/>
                </a:tc>
                <a:tc>
                  <a:txBody>
                    <a:bodyPr/>
                    <a:lstStyle/>
                    <a:p>
                      <a:pPr algn="ctr"/>
                      <a:r>
                        <a:rPr lang="en-PH" sz="1400" dirty="0" smtClean="0"/>
                        <a:t>42</a:t>
                      </a:r>
                      <a:endParaRPr lang="en-PH" sz="1400" b="1" dirty="0">
                        <a:solidFill>
                          <a:schemeClr val="tx2"/>
                        </a:solidFill>
                      </a:endParaRPr>
                    </a:p>
                  </a:txBody>
                  <a:tcPr/>
                </a:tc>
                <a:tc>
                  <a:txBody>
                    <a:bodyPr/>
                    <a:lstStyle/>
                    <a:p>
                      <a:pPr algn="ctr"/>
                      <a:r>
                        <a:rPr lang="en-PH" sz="1400" dirty="0" smtClean="0"/>
                        <a:t>52</a:t>
                      </a:r>
                      <a:endParaRPr lang="en-PH" sz="1400" b="1" dirty="0">
                        <a:solidFill>
                          <a:schemeClr val="tx2"/>
                        </a:solidFill>
                      </a:endParaRPr>
                    </a:p>
                  </a:txBody>
                  <a:tcPr/>
                </a:tc>
                <a:tc>
                  <a:txBody>
                    <a:bodyPr/>
                    <a:lstStyle/>
                    <a:p>
                      <a:pPr algn="ctr"/>
                      <a:r>
                        <a:rPr lang="en-PH" sz="1400" dirty="0" smtClean="0"/>
                        <a:t>62</a:t>
                      </a:r>
                      <a:endParaRPr lang="en-PH" sz="1400" b="1" dirty="0">
                        <a:solidFill>
                          <a:schemeClr val="tx2"/>
                        </a:solidFill>
                      </a:endParaRPr>
                    </a:p>
                  </a:txBody>
                  <a:tcPr/>
                </a:tc>
              </a:tr>
              <a:tr h="254000">
                <a:tc>
                  <a:txBody>
                    <a:bodyPr/>
                    <a:lstStyle/>
                    <a:p>
                      <a:pPr algn="ctr"/>
                      <a:r>
                        <a:rPr lang="en-PH" sz="1400" dirty="0" smtClean="0"/>
                        <a:t>13</a:t>
                      </a:r>
                      <a:endParaRPr lang="en-PH" sz="1400" b="1" dirty="0">
                        <a:solidFill>
                          <a:schemeClr val="tx2"/>
                        </a:solidFill>
                      </a:endParaRPr>
                    </a:p>
                  </a:txBody>
                  <a:tcPr/>
                </a:tc>
                <a:tc>
                  <a:txBody>
                    <a:bodyPr/>
                    <a:lstStyle/>
                    <a:p>
                      <a:pPr algn="ctr"/>
                      <a:r>
                        <a:rPr lang="en-PH" sz="1400" dirty="0" smtClean="0"/>
                        <a:t>23</a:t>
                      </a:r>
                      <a:endParaRPr lang="en-PH" sz="1400" b="1" dirty="0">
                        <a:solidFill>
                          <a:schemeClr val="tx2"/>
                        </a:solidFill>
                      </a:endParaRPr>
                    </a:p>
                  </a:txBody>
                  <a:tcPr/>
                </a:tc>
                <a:tc>
                  <a:txBody>
                    <a:bodyPr/>
                    <a:lstStyle/>
                    <a:p>
                      <a:pPr algn="ctr"/>
                      <a:r>
                        <a:rPr lang="en-PH" sz="1400" dirty="0" smtClean="0"/>
                        <a:t>33</a:t>
                      </a:r>
                      <a:endParaRPr lang="en-PH" sz="1400" b="1" dirty="0">
                        <a:solidFill>
                          <a:schemeClr val="tx2"/>
                        </a:solidFill>
                      </a:endParaRPr>
                    </a:p>
                  </a:txBody>
                  <a:tcPr/>
                </a:tc>
                <a:tc>
                  <a:txBody>
                    <a:bodyPr/>
                    <a:lstStyle/>
                    <a:p>
                      <a:pPr algn="ctr"/>
                      <a:r>
                        <a:rPr lang="en-PH" sz="1400" dirty="0" smtClean="0"/>
                        <a:t>43</a:t>
                      </a:r>
                      <a:endParaRPr lang="en-PH" sz="1400" b="1" dirty="0">
                        <a:solidFill>
                          <a:schemeClr val="tx2"/>
                        </a:solidFill>
                      </a:endParaRPr>
                    </a:p>
                  </a:txBody>
                  <a:tcPr/>
                </a:tc>
                <a:tc>
                  <a:txBody>
                    <a:bodyPr/>
                    <a:lstStyle/>
                    <a:p>
                      <a:pPr algn="ctr"/>
                      <a:r>
                        <a:rPr lang="en-PH" sz="1400" dirty="0" smtClean="0"/>
                        <a:t>53</a:t>
                      </a:r>
                      <a:endParaRPr lang="en-PH" sz="1400" b="1" dirty="0">
                        <a:solidFill>
                          <a:schemeClr val="tx2"/>
                        </a:solidFill>
                      </a:endParaRPr>
                    </a:p>
                  </a:txBody>
                  <a:tcPr/>
                </a:tc>
                <a:tc>
                  <a:txBody>
                    <a:bodyPr/>
                    <a:lstStyle/>
                    <a:p>
                      <a:pPr algn="ctr"/>
                      <a:r>
                        <a:rPr lang="en-PH" sz="1400" dirty="0" smtClean="0"/>
                        <a:t>63</a:t>
                      </a:r>
                      <a:endParaRPr lang="en-PH" sz="1400" b="1" dirty="0">
                        <a:solidFill>
                          <a:schemeClr val="tx2"/>
                        </a:solidFill>
                      </a:endParaRPr>
                    </a:p>
                  </a:txBody>
                  <a:tcPr/>
                </a:tc>
              </a:tr>
              <a:tr h="254000">
                <a:tc>
                  <a:txBody>
                    <a:bodyPr/>
                    <a:lstStyle/>
                    <a:p>
                      <a:pPr algn="ctr"/>
                      <a:r>
                        <a:rPr lang="en-PH" sz="1400" dirty="0" smtClean="0"/>
                        <a:t>14</a:t>
                      </a:r>
                      <a:endParaRPr lang="en-PH" sz="1400" b="1" dirty="0">
                        <a:solidFill>
                          <a:schemeClr val="tx2"/>
                        </a:solidFill>
                      </a:endParaRPr>
                    </a:p>
                  </a:txBody>
                  <a:tcPr/>
                </a:tc>
                <a:tc>
                  <a:txBody>
                    <a:bodyPr/>
                    <a:lstStyle/>
                    <a:p>
                      <a:pPr algn="ctr"/>
                      <a:r>
                        <a:rPr lang="en-PH" sz="1400" dirty="0" smtClean="0"/>
                        <a:t>24</a:t>
                      </a:r>
                      <a:endParaRPr lang="en-PH" sz="1400" b="1" dirty="0">
                        <a:solidFill>
                          <a:schemeClr val="tx2"/>
                        </a:solidFill>
                      </a:endParaRPr>
                    </a:p>
                  </a:txBody>
                  <a:tcPr/>
                </a:tc>
                <a:tc>
                  <a:txBody>
                    <a:bodyPr/>
                    <a:lstStyle/>
                    <a:p>
                      <a:pPr algn="ctr"/>
                      <a:r>
                        <a:rPr lang="en-PH" sz="1400" dirty="0" smtClean="0"/>
                        <a:t>34</a:t>
                      </a:r>
                      <a:endParaRPr lang="en-PH" sz="1400" b="1" dirty="0">
                        <a:solidFill>
                          <a:schemeClr val="tx2"/>
                        </a:solidFill>
                      </a:endParaRPr>
                    </a:p>
                  </a:txBody>
                  <a:tcPr/>
                </a:tc>
                <a:tc>
                  <a:txBody>
                    <a:bodyPr/>
                    <a:lstStyle/>
                    <a:p>
                      <a:pPr algn="ctr"/>
                      <a:r>
                        <a:rPr lang="en-PH" sz="1400" dirty="0" smtClean="0"/>
                        <a:t>44</a:t>
                      </a:r>
                      <a:endParaRPr lang="en-PH" sz="1400" b="1" dirty="0">
                        <a:solidFill>
                          <a:schemeClr val="tx2"/>
                        </a:solidFill>
                      </a:endParaRPr>
                    </a:p>
                  </a:txBody>
                  <a:tcPr/>
                </a:tc>
                <a:tc>
                  <a:txBody>
                    <a:bodyPr/>
                    <a:lstStyle/>
                    <a:p>
                      <a:pPr algn="ctr"/>
                      <a:r>
                        <a:rPr lang="en-PH" sz="1400" dirty="0" smtClean="0"/>
                        <a:t>54</a:t>
                      </a:r>
                      <a:endParaRPr lang="en-PH" sz="1400" b="1" dirty="0">
                        <a:solidFill>
                          <a:schemeClr val="tx2"/>
                        </a:solidFill>
                      </a:endParaRPr>
                    </a:p>
                  </a:txBody>
                  <a:tcPr/>
                </a:tc>
                <a:tc>
                  <a:txBody>
                    <a:bodyPr/>
                    <a:lstStyle/>
                    <a:p>
                      <a:pPr algn="ctr"/>
                      <a:r>
                        <a:rPr lang="en-PH" sz="1400" dirty="0" smtClean="0"/>
                        <a:t>64</a:t>
                      </a:r>
                      <a:endParaRPr lang="en-PH" sz="1400" b="1" dirty="0">
                        <a:solidFill>
                          <a:schemeClr val="tx2"/>
                        </a:solidFill>
                      </a:endParaRPr>
                    </a:p>
                  </a:txBody>
                  <a:tcPr/>
                </a:tc>
              </a:tr>
              <a:tr h="254000">
                <a:tc>
                  <a:txBody>
                    <a:bodyPr/>
                    <a:lstStyle/>
                    <a:p>
                      <a:pPr algn="ctr"/>
                      <a:r>
                        <a:rPr lang="en-PH" sz="1400" dirty="0" smtClean="0"/>
                        <a:t>15</a:t>
                      </a:r>
                      <a:endParaRPr lang="en-PH" sz="1400" b="1" dirty="0">
                        <a:solidFill>
                          <a:schemeClr val="tx2"/>
                        </a:solidFill>
                      </a:endParaRPr>
                    </a:p>
                  </a:txBody>
                  <a:tcPr/>
                </a:tc>
                <a:tc>
                  <a:txBody>
                    <a:bodyPr/>
                    <a:lstStyle/>
                    <a:p>
                      <a:pPr algn="ctr"/>
                      <a:r>
                        <a:rPr lang="en-PH" sz="1400" dirty="0" smtClean="0"/>
                        <a:t>25</a:t>
                      </a:r>
                      <a:endParaRPr lang="en-PH" sz="1400" b="1" dirty="0">
                        <a:solidFill>
                          <a:schemeClr val="tx2"/>
                        </a:solidFill>
                      </a:endParaRPr>
                    </a:p>
                  </a:txBody>
                  <a:tcPr/>
                </a:tc>
                <a:tc>
                  <a:txBody>
                    <a:bodyPr/>
                    <a:lstStyle/>
                    <a:p>
                      <a:pPr algn="ctr"/>
                      <a:r>
                        <a:rPr lang="en-PH" sz="1400" dirty="0" smtClean="0"/>
                        <a:t>35</a:t>
                      </a:r>
                      <a:endParaRPr lang="en-PH" sz="1400" b="1" dirty="0">
                        <a:solidFill>
                          <a:schemeClr val="tx2"/>
                        </a:solidFill>
                      </a:endParaRPr>
                    </a:p>
                  </a:txBody>
                  <a:tcPr/>
                </a:tc>
                <a:tc>
                  <a:txBody>
                    <a:bodyPr/>
                    <a:lstStyle/>
                    <a:p>
                      <a:pPr algn="ctr"/>
                      <a:r>
                        <a:rPr lang="en-PH" sz="1400" dirty="0" smtClean="0"/>
                        <a:t>45</a:t>
                      </a:r>
                      <a:endParaRPr lang="en-PH" sz="1400" b="1" dirty="0">
                        <a:solidFill>
                          <a:schemeClr val="tx2"/>
                        </a:solidFill>
                      </a:endParaRPr>
                    </a:p>
                  </a:txBody>
                  <a:tcPr/>
                </a:tc>
                <a:tc>
                  <a:txBody>
                    <a:bodyPr/>
                    <a:lstStyle/>
                    <a:p>
                      <a:pPr algn="ctr"/>
                      <a:r>
                        <a:rPr lang="en-PH" sz="1400" dirty="0" smtClean="0"/>
                        <a:t>55</a:t>
                      </a:r>
                      <a:endParaRPr lang="en-PH" sz="1400" b="1" dirty="0">
                        <a:solidFill>
                          <a:schemeClr val="tx2"/>
                        </a:solidFill>
                      </a:endParaRPr>
                    </a:p>
                  </a:txBody>
                  <a:tcPr/>
                </a:tc>
                <a:tc>
                  <a:txBody>
                    <a:bodyPr/>
                    <a:lstStyle/>
                    <a:p>
                      <a:pPr algn="ctr"/>
                      <a:r>
                        <a:rPr lang="en-PH" sz="1400" dirty="0" smtClean="0"/>
                        <a:t>65</a:t>
                      </a:r>
                      <a:endParaRPr lang="en-PH" sz="1400" b="1" dirty="0">
                        <a:solidFill>
                          <a:schemeClr val="tx2"/>
                        </a:solidFill>
                      </a:endParaRPr>
                    </a:p>
                  </a:txBody>
                  <a:tcPr/>
                </a:tc>
              </a:tr>
              <a:tr h="254000">
                <a:tc>
                  <a:txBody>
                    <a:bodyPr/>
                    <a:lstStyle/>
                    <a:p>
                      <a:pPr algn="ctr"/>
                      <a:r>
                        <a:rPr lang="en-PH" sz="1400" dirty="0" smtClean="0"/>
                        <a:t>16</a:t>
                      </a:r>
                      <a:endParaRPr lang="en-PH" sz="1400" b="1" dirty="0">
                        <a:solidFill>
                          <a:schemeClr val="tx2"/>
                        </a:solidFill>
                      </a:endParaRPr>
                    </a:p>
                  </a:txBody>
                  <a:tcPr/>
                </a:tc>
                <a:tc>
                  <a:txBody>
                    <a:bodyPr/>
                    <a:lstStyle/>
                    <a:p>
                      <a:pPr algn="ctr"/>
                      <a:r>
                        <a:rPr lang="en-PH" sz="1400" dirty="0" smtClean="0"/>
                        <a:t>26</a:t>
                      </a:r>
                      <a:endParaRPr lang="en-PH" sz="1400" b="1" dirty="0">
                        <a:solidFill>
                          <a:schemeClr val="tx2"/>
                        </a:solidFill>
                      </a:endParaRPr>
                    </a:p>
                  </a:txBody>
                  <a:tcPr/>
                </a:tc>
                <a:tc>
                  <a:txBody>
                    <a:bodyPr/>
                    <a:lstStyle/>
                    <a:p>
                      <a:pPr algn="ctr"/>
                      <a:r>
                        <a:rPr lang="en-PH" sz="1400" dirty="0" smtClean="0"/>
                        <a:t>36</a:t>
                      </a:r>
                      <a:endParaRPr lang="en-PH" sz="1400" b="1" dirty="0">
                        <a:solidFill>
                          <a:schemeClr val="tx2"/>
                        </a:solidFill>
                      </a:endParaRPr>
                    </a:p>
                  </a:txBody>
                  <a:tcPr/>
                </a:tc>
                <a:tc>
                  <a:txBody>
                    <a:bodyPr/>
                    <a:lstStyle/>
                    <a:p>
                      <a:pPr algn="ctr"/>
                      <a:r>
                        <a:rPr lang="en-PH" sz="1400" dirty="0" smtClean="0"/>
                        <a:t>46</a:t>
                      </a:r>
                      <a:endParaRPr lang="en-PH" sz="1400" b="1" dirty="0">
                        <a:solidFill>
                          <a:schemeClr val="tx2"/>
                        </a:solidFill>
                      </a:endParaRPr>
                    </a:p>
                  </a:txBody>
                  <a:tcPr/>
                </a:tc>
                <a:tc>
                  <a:txBody>
                    <a:bodyPr/>
                    <a:lstStyle/>
                    <a:p>
                      <a:pPr algn="ctr"/>
                      <a:r>
                        <a:rPr lang="en-PH" sz="1400" dirty="0" smtClean="0"/>
                        <a:t>56</a:t>
                      </a:r>
                      <a:endParaRPr lang="en-PH" sz="1400" b="1" dirty="0">
                        <a:solidFill>
                          <a:schemeClr val="tx2"/>
                        </a:solidFill>
                      </a:endParaRPr>
                    </a:p>
                  </a:txBody>
                  <a:tcPr/>
                </a:tc>
                <a:tc>
                  <a:txBody>
                    <a:bodyPr/>
                    <a:lstStyle/>
                    <a:p>
                      <a:pPr algn="ctr"/>
                      <a:r>
                        <a:rPr lang="en-PH" sz="1400" dirty="0" smtClean="0"/>
                        <a:t>66</a:t>
                      </a:r>
                      <a:endParaRPr lang="en-PH" sz="1400" b="1" dirty="0">
                        <a:solidFill>
                          <a:schemeClr val="tx2"/>
                        </a:solidFill>
                      </a:endParaRPr>
                    </a:p>
                  </a:txBody>
                  <a:tcPr/>
                </a:tc>
              </a:tr>
            </a:tbl>
          </a:graphicData>
        </a:graphic>
      </p:graphicFrame>
      <p:sp>
        <p:nvSpPr>
          <p:cNvPr id="12" name="Rectangle 11"/>
          <p:cNvSpPr/>
          <p:nvPr/>
        </p:nvSpPr>
        <p:spPr>
          <a:xfrm>
            <a:off x="4038600" y="3552676"/>
            <a:ext cx="4876800" cy="1569660"/>
          </a:xfrm>
          <a:prstGeom prst="rect">
            <a:avLst/>
          </a:prstGeom>
        </p:spPr>
        <p:txBody>
          <a:bodyPr wrap="square">
            <a:spAutoFit/>
          </a:bodyPr>
          <a:lstStyle/>
          <a:p>
            <a:r>
              <a:rPr lang="en-US" sz="1600" dirty="0" smtClean="0"/>
              <a:t>Let S = sample space – contains all possible outcomes</a:t>
            </a:r>
          </a:p>
          <a:p>
            <a:r>
              <a:rPr lang="en-US" sz="1600" dirty="0" smtClean="0"/>
              <a:t>     E = event containing repeated digit outcomes</a:t>
            </a:r>
          </a:p>
          <a:p>
            <a:r>
              <a:rPr lang="en-US" sz="1600" dirty="0" smtClean="0"/>
              <a:t>     E = {11, 22, 33, 44, 55, 66}</a:t>
            </a:r>
          </a:p>
          <a:p>
            <a:r>
              <a:rPr lang="en-US" sz="1600" dirty="0" smtClean="0"/>
              <a:t> n(E) = cardinality of E</a:t>
            </a:r>
          </a:p>
          <a:p>
            <a:r>
              <a:rPr lang="en-US" sz="1600" dirty="0" smtClean="0"/>
              <a:t> n(E) = 6</a:t>
            </a:r>
          </a:p>
          <a:p>
            <a:r>
              <a:rPr lang="en-US" sz="1600" dirty="0" smtClean="0"/>
              <a:t> n(S) = cardinality of S</a:t>
            </a:r>
          </a:p>
        </p:txBody>
      </p:sp>
      <p:graphicFrame>
        <p:nvGraphicFramePr>
          <p:cNvPr id="13" name="Object 6"/>
          <p:cNvGraphicFramePr>
            <a:graphicFrameLocks noChangeAspect="1"/>
          </p:cNvGraphicFramePr>
          <p:nvPr/>
        </p:nvGraphicFramePr>
        <p:xfrm>
          <a:off x="4191000" y="5305276"/>
          <a:ext cx="1565275" cy="730250"/>
        </p:xfrm>
        <a:graphic>
          <a:graphicData uri="http://schemas.openxmlformats.org/presentationml/2006/ole">
            <p:oleObj spid="_x0000_s48129" name="Equation" r:id="rId10" imgW="863280" imgH="419040" progId="Equation.3">
              <p:embed/>
            </p:oleObj>
          </a:graphicData>
        </a:graphic>
      </p:graphicFrame>
      <p:graphicFrame>
        <p:nvGraphicFramePr>
          <p:cNvPr id="14" name="Object 7"/>
          <p:cNvGraphicFramePr>
            <a:graphicFrameLocks noChangeAspect="1"/>
          </p:cNvGraphicFramePr>
          <p:nvPr/>
        </p:nvGraphicFramePr>
        <p:xfrm>
          <a:off x="5638800" y="5327501"/>
          <a:ext cx="712788" cy="685800"/>
        </p:xfrm>
        <a:graphic>
          <a:graphicData uri="http://schemas.openxmlformats.org/presentationml/2006/ole">
            <p:oleObj spid="_x0000_s48130" name="Equation" r:id="rId11" imgW="393480" imgH="393480" progId="Equation.3">
              <p:embed/>
            </p:oleObj>
          </a:graphicData>
        </a:graphic>
      </p:graphicFrame>
      <p:graphicFrame>
        <p:nvGraphicFramePr>
          <p:cNvPr id="15" name="Object 8"/>
          <p:cNvGraphicFramePr>
            <a:graphicFrameLocks noChangeAspect="1"/>
          </p:cNvGraphicFramePr>
          <p:nvPr/>
        </p:nvGraphicFramePr>
        <p:xfrm>
          <a:off x="6240463" y="5042041"/>
          <a:ext cx="1074737" cy="1282559"/>
        </p:xfrm>
        <a:graphic>
          <a:graphicData uri="http://schemas.openxmlformats.org/presentationml/2006/ole">
            <p:oleObj spid="_x0000_s48131" name="Equation" r:id="rId12" imgW="317160" imgH="393480" progId="Equation.3">
              <p:embed/>
            </p:oleObj>
          </a:graphicData>
        </a:graphic>
      </p:graphicFrame>
      <p:sp>
        <p:nvSpPr>
          <p:cNvPr id="16" name="Rounded Rectangle 15"/>
          <p:cNvSpPr/>
          <p:nvPr/>
        </p:nvSpPr>
        <p:spPr>
          <a:xfrm rot="1720552">
            <a:off x="505448" y="4274052"/>
            <a:ext cx="3570883" cy="357846"/>
          </a:xfrm>
          <a:prstGeom prst="roundRect">
            <a:avLst/>
          </a:prstGeom>
          <a:noFill/>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a:solidFill>
                <a:schemeClr val="tx1"/>
              </a:solidFill>
            </a:endParaRPr>
          </a:p>
        </p:txBody>
      </p:sp>
      <p:sp>
        <p:nvSpPr>
          <p:cNvPr id="17" name="Rounded Rectangle 16"/>
          <p:cNvSpPr/>
          <p:nvPr/>
        </p:nvSpPr>
        <p:spPr>
          <a:xfrm>
            <a:off x="314457" y="2703745"/>
            <a:ext cx="8535474" cy="3973131"/>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1308280" y="1943637"/>
            <a:ext cx="990600" cy="660042"/>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slide(fromBottom)">
                                      <p:cBhvr>
                                        <p:cTn id="16" dur="500"/>
                                        <p:tgtEl>
                                          <p:spTgt spid="5">
                                            <p:txEl>
                                              <p:pRg st="4" end="4"/>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slide(fromBottom)">
                                      <p:cBhvr>
                                        <p:cTn id="19" dur="500"/>
                                        <p:tgtEl>
                                          <p:spTgt spid="6"/>
                                        </p:tgtEl>
                                      </p:cBhvr>
                                    </p:animEffect>
                                  </p:childTnLst>
                                </p:cTn>
                              </p:par>
                              <p:par>
                                <p:cTn id="20" presetID="12" presetClass="entr" presetSubtype="4"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Bottom)">
                                      <p:cBhvr>
                                        <p:cTn id="22" dur="500"/>
                                        <p:tgtEl>
                                          <p:spTgt spid="7"/>
                                        </p:tgtEl>
                                      </p:cBhvr>
                                    </p:animEffect>
                                  </p:childTnLst>
                                </p:cTn>
                              </p:par>
                              <p:par>
                                <p:cTn id="23" presetID="1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lide(fromBottom)">
                                      <p:cBhvr>
                                        <p:cTn id="25" dur="500"/>
                                        <p:tgtEl>
                                          <p:spTgt spid="8"/>
                                        </p:tgtEl>
                                      </p:cBhvr>
                                    </p:animEffect>
                                  </p:childTnLst>
                                </p:cTn>
                              </p:par>
                              <p:par>
                                <p:cTn id="26" presetID="12" presetClass="entr" presetSubtype="4"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slide(fromBottom)">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37" presetClass="entr" presetSubtype="0" fill="hold" nodeType="clickEffect">
                                  <p:stCondLst>
                                    <p:cond delay="0"/>
                                  </p:stCondLst>
                                  <p:childTnLst>
                                    <p:set>
                                      <p:cBhvr>
                                        <p:cTn id="32" dur="1" fill="hold">
                                          <p:stCondLst>
                                            <p:cond delay="0"/>
                                          </p:stCondLst>
                                        </p:cTn>
                                        <p:tgtEl>
                                          <p:spTgt spid="10">
                                            <p:txEl>
                                              <p:pRg st="0" end="0"/>
                                            </p:txEl>
                                          </p:spTgt>
                                        </p:tgtEl>
                                        <p:attrNameLst>
                                          <p:attrName>style.visibility</p:attrName>
                                        </p:attrNameLst>
                                      </p:cBhvr>
                                      <p:to>
                                        <p:strVal val="visible"/>
                                      </p:to>
                                    </p:set>
                                    <p:animEffect transition="in" filter="fade">
                                      <p:cBhvr>
                                        <p:cTn id="33" dur="1000"/>
                                        <p:tgtEl>
                                          <p:spTgt spid="10">
                                            <p:txEl>
                                              <p:pRg st="0" end="0"/>
                                            </p:txEl>
                                          </p:spTgt>
                                        </p:tgtEl>
                                      </p:cBhvr>
                                    </p:animEffect>
                                    <p:anim calcmode="lin" valueType="num">
                                      <p:cBhvr>
                                        <p:cTn id="34"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5"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par>
                                <p:cTn id="37" presetID="37"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000"/>
                                        <p:tgtEl>
                                          <p:spTgt spid="17"/>
                                        </p:tgtEl>
                                      </p:cBhvr>
                                    </p:animEffect>
                                    <p:anim calcmode="lin" valueType="num">
                                      <p:cBhvr>
                                        <p:cTn id="40" dur="1000" fill="hold"/>
                                        <p:tgtEl>
                                          <p:spTgt spid="17"/>
                                        </p:tgtEl>
                                        <p:attrNameLst>
                                          <p:attrName>ppt_x</p:attrName>
                                        </p:attrNameLst>
                                      </p:cBhvr>
                                      <p:tavLst>
                                        <p:tav tm="0">
                                          <p:val>
                                            <p:strVal val="#ppt_x"/>
                                          </p:val>
                                        </p:tav>
                                        <p:tav tm="100000">
                                          <p:val>
                                            <p:strVal val="#ppt_x"/>
                                          </p:val>
                                        </p:tav>
                                      </p:tavLst>
                                    </p:anim>
                                    <p:anim calcmode="lin" valueType="num">
                                      <p:cBhvr>
                                        <p:cTn id="41" dur="900" decel="100000" fill="hold"/>
                                        <p:tgtEl>
                                          <p:spTgt spid="17"/>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17"/>
                                        </p:tgtEl>
                                        <p:attrNameLst>
                                          <p:attrName>ppt_y</p:attrName>
                                        </p:attrNameLst>
                                      </p:cBhvr>
                                      <p:tavLst>
                                        <p:tav tm="0">
                                          <p:val>
                                            <p:strVal val="#ppt_y-.03"/>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9" presetClass="entr" presetSubtype="0" fill="hold" nodeType="clickEffect">
                                  <p:stCondLst>
                                    <p:cond delay="0"/>
                                  </p:stCondLst>
                                  <p:childTnLst>
                                    <p:set>
                                      <p:cBhvr>
                                        <p:cTn id="46" dur="1" fill="hold">
                                          <p:stCondLst>
                                            <p:cond delay="0"/>
                                          </p:stCondLst>
                                        </p:cTn>
                                        <p:tgtEl>
                                          <p:spTgt spid="10">
                                            <p:txEl>
                                              <p:pRg st="1" end="1"/>
                                            </p:txEl>
                                          </p:spTgt>
                                        </p:tgtEl>
                                        <p:attrNameLst>
                                          <p:attrName>style.visibility</p:attrName>
                                        </p:attrNameLst>
                                      </p:cBhvr>
                                      <p:to>
                                        <p:strVal val="visible"/>
                                      </p:to>
                                    </p:set>
                                    <p:anim calcmode="lin" valueType="num">
                                      <p:cBhvr>
                                        <p:cTn id="47" dur="10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8" dur="1000" fill="hold"/>
                                        <p:tgtEl>
                                          <p:spTgt spid="10">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9" dur="1000"/>
                                        <p:tgtEl>
                                          <p:spTgt spid="10">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52" presetClass="entr" presetSubtype="0"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Scale>
                                      <p:cBhvr>
                                        <p:cTn id="54"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5" dur="1000" decel="50000" fill="hold">
                                          <p:stCondLst>
                                            <p:cond delay="0"/>
                                          </p:stCondLst>
                                        </p:cTn>
                                        <p:tgtEl>
                                          <p:spTgt spid="11"/>
                                        </p:tgtEl>
                                        <p:attrNameLst>
                                          <p:attrName>ppt_x</p:attrName>
                                          <p:attrName>ppt_y</p:attrName>
                                        </p:attrNameLst>
                                      </p:cBhvr>
                                    </p:animMotion>
                                    <p:animEffect transition="in" filter="fade">
                                      <p:cBhvr>
                                        <p:cTn id="56" dur="10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9" presetClass="entr" presetSubtype="0" fill="hold" nodeType="clickEffect">
                                  <p:stCondLst>
                                    <p:cond delay="0"/>
                                  </p:stCondLst>
                                  <p:childTnLst>
                                    <p:set>
                                      <p:cBhvr>
                                        <p:cTn id="60" dur="1" fill="hold">
                                          <p:stCondLst>
                                            <p:cond delay="0"/>
                                          </p:stCondLst>
                                        </p:cTn>
                                        <p:tgtEl>
                                          <p:spTgt spid="12">
                                            <p:txEl>
                                              <p:pRg st="0" end="0"/>
                                            </p:txEl>
                                          </p:spTgt>
                                        </p:tgtEl>
                                        <p:attrNameLst>
                                          <p:attrName>style.visibility</p:attrName>
                                        </p:attrNameLst>
                                      </p:cBhvr>
                                      <p:to>
                                        <p:strVal val="visible"/>
                                      </p:to>
                                    </p:set>
                                    <p:anim calcmode="lin" valueType="num">
                                      <p:cBhvr>
                                        <p:cTn id="61" dur="1000" fill="hold"/>
                                        <p:tgtEl>
                                          <p:spTgt spid="12">
                                            <p:txEl>
                                              <p:pRg st="0" end="0"/>
                                            </p:txEl>
                                          </p:spTgt>
                                        </p:tgtEl>
                                        <p:attrNameLst>
                                          <p:attrName>ppt_x</p:attrName>
                                        </p:attrNameLst>
                                      </p:cBhvr>
                                      <p:tavLst>
                                        <p:tav tm="0">
                                          <p:val>
                                            <p:strVal val="#ppt_x-.2"/>
                                          </p:val>
                                        </p:tav>
                                        <p:tav tm="100000">
                                          <p:val>
                                            <p:strVal val="#ppt_x"/>
                                          </p:val>
                                        </p:tav>
                                      </p:tavLst>
                                    </p:anim>
                                    <p:anim calcmode="lin" valueType="num">
                                      <p:cBhvr>
                                        <p:cTn id="62" dur="1000" fill="hold"/>
                                        <p:tgtEl>
                                          <p:spTgt spid="12">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63" dur="1000"/>
                                        <p:tgtEl>
                                          <p:spTgt spid="12">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9" presetClass="entr" presetSubtype="0" fill="hold" nodeType="clickEffect">
                                  <p:stCondLst>
                                    <p:cond delay="0"/>
                                  </p:stCondLst>
                                  <p:childTnLst>
                                    <p:set>
                                      <p:cBhvr>
                                        <p:cTn id="67" dur="1" fill="hold">
                                          <p:stCondLst>
                                            <p:cond delay="0"/>
                                          </p:stCondLst>
                                        </p:cTn>
                                        <p:tgtEl>
                                          <p:spTgt spid="12">
                                            <p:txEl>
                                              <p:pRg st="1" end="1"/>
                                            </p:txEl>
                                          </p:spTgt>
                                        </p:tgtEl>
                                        <p:attrNameLst>
                                          <p:attrName>style.visibility</p:attrName>
                                        </p:attrNameLst>
                                      </p:cBhvr>
                                      <p:to>
                                        <p:strVal val="visible"/>
                                      </p:to>
                                    </p:set>
                                    <p:anim calcmode="lin" valueType="num">
                                      <p:cBhvr>
                                        <p:cTn id="68" dur="1000" fill="hold"/>
                                        <p:tgtEl>
                                          <p:spTgt spid="12">
                                            <p:txEl>
                                              <p:pRg st="1" end="1"/>
                                            </p:txEl>
                                          </p:spTgt>
                                        </p:tgtEl>
                                        <p:attrNameLst>
                                          <p:attrName>ppt_x</p:attrName>
                                        </p:attrNameLst>
                                      </p:cBhvr>
                                      <p:tavLst>
                                        <p:tav tm="0">
                                          <p:val>
                                            <p:strVal val="#ppt_x-.2"/>
                                          </p:val>
                                        </p:tav>
                                        <p:tav tm="100000">
                                          <p:val>
                                            <p:strVal val="#ppt_x"/>
                                          </p:val>
                                        </p:tav>
                                      </p:tavLst>
                                    </p:anim>
                                    <p:anim calcmode="lin" valueType="num">
                                      <p:cBhvr>
                                        <p:cTn id="69" dur="1000" fill="hold"/>
                                        <p:tgtEl>
                                          <p:spTgt spid="12">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70" dur="1000"/>
                                        <p:tgtEl>
                                          <p:spTgt spid="12">
                                            <p:txEl>
                                              <p:pRg st="1" end="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9" presetClass="entr" presetSubtype="0" fill="hold" nodeType="clickEffect">
                                  <p:stCondLst>
                                    <p:cond delay="0"/>
                                  </p:stCondLst>
                                  <p:childTnLst>
                                    <p:set>
                                      <p:cBhvr>
                                        <p:cTn id="74" dur="1" fill="hold">
                                          <p:stCondLst>
                                            <p:cond delay="0"/>
                                          </p:stCondLst>
                                        </p:cTn>
                                        <p:tgtEl>
                                          <p:spTgt spid="12">
                                            <p:txEl>
                                              <p:pRg st="2" end="2"/>
                                            </p:txEl>
                                          </p:spTgt>
                                        </p:tgtEl>
                                        <p:attrNameLst>
                                          <p:attrName>style.visibility</p:attrName>
                                        </p:attrNameLst>
                                      </p:cBhvr>
                                      <p:to>
                                        <p:strVal val="visible"/>
                                      </p:to>
                                    </p:set>
                                    <p:anim calcmode="lin" valueType="num">
                                      <p:cBhvr>
                                        <p:cTn id="75" dur="1000" fill="hold"/>
                                        <p:tgtEl>
                                          <p:spTgt spid="12">
                                            <p:txEl>
                                              <p:pRg st="2" end="2"/>
                                            </p:txEl>
                                          </p:spTgt>
                                        </p:tgtEl>
                                        <p:attrNameLst>
                                          <p:attrName>ppt_x</p:attrName>
                                        </p:attrNameLst>
                                      </p:cBhvr>
                                      <p:tavLst>
                                        <p:tav tm="0">
                                          <p:val>
                                            <p:strVal val="#ppt_x-.2"/>
                                          </p:val>
                                        </p:tav>
                                        <p:tav tm="100000">
                                          <p:val>
                                            <p:strVal val="#ppt_x"/>
                                          </p:val>
                                        </p:tav>
                                      </p:tavLst>
                                    </p:anim>
                                    <p:anim calcmode="lin" valueType="num">
                                      <p:cBhvr>
                                        <p:cTn id="76" dur="1000" fill="hold"/>
                                        <p:tgtEl>
                                          <p:spTgt spid="12">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77" dur="1000"/>
                                        <p:tgtEl>
                                          <p:spTgt spid="12">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down)">
                                      <p:cBhvr>
                                        <p:cTn id="82" dur="500"/>
                                        <p:tgtEl>
                                          <p:spTgt spid="16"/>
                                        </p:tgtEl>
                                      </p:cBhvr>
                                    </p:animEffect>
                                  </p:childTnLst>
                                </p:cTn>
                              </p:par>
                            </p:childTnLst>
                          </p:cTn>
                        </p:par>
                      </p:childTnLst>
                    </p:cTn>
                  </p:par>
                  <p:par>
                    <p:cTn id="83" fill="hold">
                      <p:stCondLst>
                        <p:cond delay="indefinite"/>
                      </p:stCondLst>
                      <p:childTnLst>
                        <p:par>
                          <p:cTn id="84" fill="hold">
                            <p:stCondLst>
                              <p:cond delay="0"/>
                            </p:stCondLst>
                            <p:childTnLst>
                              <p:par>
                                <p:cTn id="85" presetID="29" presetClass="entr" presetSubtype="0" fill="hold" nodeType="clickEffect">
                                  <p:stCondLst>
                                    <p:cond delay="0"/>
                                  </p:stCondLst>
                                  <p:childTnLst>
                                    <p:set>
                                      <p:cBhvr>
                                        <p:cTn id="86" dur="1" fill="hold">
                                          <p:stCondLst>
                                            <p:cond delay="0"/>
                                          </p:stCondLst>
                                        </p:cTn>
                                        <p:tgtEl>
                                          <p:spTgt spid="12">
                                            <p:txEl>
                                              <p:pRg st="3" end="3"/>
                                            </p:txEl>
                                          </p:spTgt>
                                        </p:tgtEl>
                                        <p:attrNameLst>
                                          <p:attrName>style.visibility</p:attrName>
                                        </p:attrNameLst>
                                      </p:cBhvr>
                                      <p:to>
                                        <p:strVal val="visible"/>
                                      </p:to>
                                    </p:set>
                                    <p:anim calcmode="lin" valueType="num">
                                      <p:cBhvr>
                                        <p:cTn id="87" dur="1000" fill="hold"/>
                                        <p:tgtEl>
                                          <p:spTgt spid="12">
                                            <p:txEl>
                                              <p:pRg st="3" end="3"/>
                                            </p:txEl>
                                          </p:spTgt>
                                        </p:tgtEl>
                                        <p:attrNameLst>
                                          <p:attrName>ppt_x</p:attrName>
                                        </p:attrNameLst>
                                      </p:cBhvr>
                                      <p:tavLst>
                                        <p:tav tm="0">
                                          <p:val>
                                            <p:strVal val="#ppt_x-.2"/>
                                          </p:val>
                                        </p:tav>
                                        <p:tav tm="100000">
                                          <p:val>
                                            <p:strVal val="#ppt_x"/>
                                          </p:val>
                                        </p:tav>
                                      </p:tavLst>
                                    </p:anim>
                                    <p:anim calcmode="lin" valueType="num">
                                      <p:cBhvr>
                                        <p:cTn id="88" dur="1000" fill="hold"/>
                                        <p:tgtEl>
                                          <p:spTgt spid="12">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89" dur="1000"/>
                                        <p:tgtEl>
                                          <p:spTgt spid="12">
                                            <p:txEl>
                                              <p:pRg st="3" end="3"/>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9" presetClass="entr" presetSubtype="0" fill="hold" nodeType="clickEffect">
                                  <p:stCondLst>
                                    <p:cond delay="0"/>
                                  </p:stCondLst>
                                  <p:childTnLst>
                                    <p:set>
                                      <p:cBhvr>
                                        <p:cTn id="93" dur="1" fill="hold">
                                          <p:stCondLst>
                                            <p:cond delay="0"/>
                                          </p:stCondLst>
                                        </p:cTn>
                                        <p:tgtEl>
                                          <p:spTgt spid="12">
                                            <p:txEl>
                                              <p:pRg st="4" end="4"/>
                                            </p:txEl>
                                          </p:spTgt>
                                        </p:tgtEl>
                                        <p:attrNameLst>
                                          <p:attrName>style.visibility</p:attrName>
                                        </p:attrNameLst>
                                      </p:cBhvr>
                                      <p:to>
                                        <p:strVal val="visible"/>
                                      </p:to>
                                    </p:set>
                                    <p:anim calcmode="lin" valueType="num">
                                      <p:cBhvr>
                                        <p:cTn id="94" dur="1000" fill="hold"/>
                                        <p:tgtEl>
                                          <p:spTgt spid="12">
                                            <p:txEl>
                                              <p:pRg st="4" end="4"/>
                                            </p:txEl>
                                          </p:spTgt>
                                        </p:tgtEl>
                                        <p:attrNameLst>
                                          <p:attrName>ppt_x</p:attrName>
                                        </p:attrNameLst>
                                      </p:cBhvr>
                                      <p:tavLst>
                                        <p:tav tm="0">
                                          <p:val>
                                            <p:strVal val="#ppt_x-.2"/>
                                          </p:val>
                                        </p:tav>
                                        <p:tav tm="100000">
                                          <p:val>
                                            <p:strVal val="#ppt_x"/>
                                          </p:val>
                                        </p:tav>
                                      </p:tavLst>
                                    </p:anim>
                                    <p:anim calcmode="lin" valueType="num">
                                      <p:cBhvr>
                                        <p:cTn id="95" dur="1000" fill="hold"/>
                                        <p:tgtEl>
                                          <p:spTgt spid="12">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96" dur="1000"/>
                                        <p:tgtEl>
                                          <p:spTgt spid="12">
                                            <p:txEl>
                                              <p:pRg st="4" end="4"/>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9" presetClass="entr" presetSubtype="0" fill="hold" nodeType="clickEffect">
                                  <p:stCondLst>
                                    <p:cond delay="0"/>
                                  </p:stCondLst>
                                  <p:childTnLst>
                                    <p:set>
                                      <p:cBhvr>
                                        <p:cTn id="100" dur="1" fill="hold">
                                          <p:stCondLst>
                                            <p:cond delay="0"/>
                                          </p:stCondLst>
                                        </p:cTn>
                                        <p:tgtEl>
                                          <p:spTgt spid="12">
                                            <p:txEl>
                                              <p:pRg st="5" end="5"/>
                                            </p:txEl>
                                          </p:spTgt>
                                        </p:tgtEl>
                                        <p:attrNameLst>
                                          <p:attrName>style.visibility</p:attrName>
                                        </p:attrNameLst>
                                      </p:cBhvr>
                                      <p:to>
                                        <p:strVal val="visible"/>
                                      </p:to>
                                    </p:set>
                                    <p:anim calcmode="lin" valueType="num">
                                      <p:cBhvr>
                                        <p:cTn id="101" dur="1000" fill="hold"/>
                                        <p:tgtEl>
                                          <p:spTgt spid="12">
                                            <p:txEl>
                                              <p:pRg st="5" end="5"/>
                                            </p:txEl>
                                          </p:spTgt>
                                        </p:tgtEl>
                                        <p:attrNameLst>
                                          <p:attrName>ppt_x</p:attrName>
                                        </p:attrNameLst>
                                      </p:cBhvr>
                                      <p:tavLst>
                                        <p:tav tm="0">
                                          <p:val>
                                            <p:strVal val="#ppt_x-.2"/>
                                          </p:val>
                                        </p:tav>
                                        <p:tav tm="100000">
                                          <p:val>
                                            <p:strVal val="#ppt_x"/>
                                          </p:val>
                                        </p:tav>
                                      </p:tavLst>
                                    </p:anim>
                                    <p:anim calcmode="lin" valueType="num">
                                      <p:cBhvr>
                                        <p:cTn id="102" dur="1000" fill="hold"/>
                                        <p:tgtEl>
                                          <p:spTgt spid="12">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103" dur="1000"/>
                                        <p:tgtEl>
                                          <p:spTgt spid="12">
                                            <p:txEl>
                                              <p:pRg st="5" end="5"/>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9" presetClass="entr" presetSubtype="0" fill="hold" nodeType="clickEffect">
                                  <p:stCondLst>
                                    <p:cond delay="0"/>
                                  </p:stCondLst>
                                  <p:childTnLst>
                                    <p:set>
                                      <p:cBhvr>
                                        <p:cTn id="107" dur="1" fill="hold">
                                          <p:stCondLst>
                                            <p:cond delay="0"/>
                                          </p:stCondLst>
                                        </p:cTn>
                                        <p:tgtEl>
                                          <p:spTgt spid="13"/>
                                        </p:tgtEl>
                                        <p:attrNameLst>
                                          <p:attrName>style.visibility</p:attrName>
                                        </p:attrNameLst>
                                      </p:cBhvr>
                                      <p:to>
                                        <p:strVal val="visible"/>
                                      </p:to>
                                    </p:set>
                                    <p:anim calcmode="lin" valueType="num">
                                      <p:cBhvr>
                                        <p:cTn id="108" dur="1000" fill="hold"/>
                                        <p:tgtEl>
                                          <p:spTgt spid="13"/>
                                        </p:tgtEl>
                                        <p:attrNameLst>
                                          <p:attrName>ppt_x</p:attrName>
                                        </p:attrNameLst>
                                      </p:cBhvr>
                                      <p:tavLst>
                                        <p:tav tm="0">
                                          <p:val>
                                            <p:strVal val="#ppt_x-.2"/>
                                          </p:val>
                                        </p:tav>
                                        <p:tav tm="100000">
                                          <p:val>
                                            <p:strVal val="#ppt_x"/>
                                          </p:val>
                                        </p:tav>
                                      </p:tavLst>
                                    </p:anim>
                                    <p:anim calcmode="lin" valueType="num">
                                      <p:cBhvr>
                                        <p:cTn id="109"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110" dur="1000"/>
                                        <p:tgtEl>
                                          <p:spTgt spid="13"/>
                                        </p:tgtEl>
                                      </p:cBhvr>
                                    </p:animEffect>
                                  </p:childTnLst>
                                </p:cTn>
                              </p:par>
                            </p:childTnLst>
                          </p:cTn>
                        </p:par>
                      </p:childTnLst>
                    </p:cTn>
                  </p:par>
                  <p:par>
                    <p:cTn id="111" fill="hold">
                      <p:stCondLst>
                        <p:cond delay="indefinite"/>
                      </p:stCondLst>
                      <p:childTnLst>
                        <p:par>
                          <p:cTn id="112" fill="hold">
                            <p:stCondLst>
                              <p:cond delay="0"/>
                            </p:stCondLst>
                            <p:childTnLst>
                              <p:par>
                                <p:cTn id="113" presetID="29" presetClass="entr" presetSubtype="0" fill="hold" nodeType="clickEffect">
                                  <p:stCondLst>
                                    <p:cond delay="0"/>
                                  </p:stCondLst>
                                  <p:childTnLst>
                                    <p:set>
                                      <p:cBhvr>
                                        <p:cTn id="114" dur="1" fill="hold">
                                          <p:stCondLst>
                                            <p:cond delay="0"/>
                                          </p:stCondLst>
                                        </p:cTn>
                                        <p:tgtEl>
                                          <p:spTgt spid="14"/>
                                        </p:tgtEl>
                                        <p:attrNameLst>
                                          <p:attrName>style.visibility</p:attrName>
                                        </p:attrNameLst>
                                      </p:cBhvr>
                                      <p:to>
                                        <p:strVal val="visible"/>
                                      </p:to>
                                    </p:set>
                                    <p:anim calcmode="lin" valueType="num">
                                      <p:cBhvr>
                                        <p:cTn id="115" dur="1000" fill="hold"/>
                                        <p:tgtEl>
                                          <p:spTgt spid="14"/>
                                        </p:tgtEl>
                                        <p:attrNameLst>
                                          <p:attrName>ppt_x</p:attrName>
                                        </p:attrNameLst>
                                      </p:cBhvr>
                                      <p:tavLst>
                                        <p:tav tm="0">
                                          <p:val>
                                            <p:strVal val="#ppt_x-.2"/>
                                          </p:val>
                                        </p:tav>
                                        <p:tav tm="100000">
                                          <p:val>
                                            <p:strVal val="#ppt_x"/>
                                          </p:val>
                                        </p:tav>
                                      </p:tavLst>
                                    </p:anim>
                                    <p:anim calcmode="lin" valueType="num">
                                      <p:cBhvr>
                                        <p:cTn id="116" dur="10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117" dur="1000"/>
                                        <p:tgtEl>
                                          <p:spTgt spid="14"/>
                                        </p:tgtEl>
                                      </p:cBhvr>
                                    </p:animEffect>
                                  </p:childTnLst>
                                </p:cTn>
                              </p:par>
                            </p:childTnLst>
                          </p:cTn>
                        </p:par>
                      </p:childTnLst>
                    </p:cTn>
                  </p:par>
                  <p:par>
                    <p:cTn id="118" fill="hold">
                      <p:stCondLst>
                        <p:cond delay="indefinite"/>
                      </p:stCondLst>
                      <p:childTnLst>
                        <p:par>
                          <p:cTn id="119" fill="hold">
                            <p:stCondLst>
                              <p:cond delay="0"/>
                            </p:stCondLst>
                            <p:childTnLst>
                              <p:par>
                                <p:cTn id="120" presetID="29" presetClass="entr" presetSubtype="0" fill="hold" nodeType="clickEffect">
                                  <p:stCondLst>
                                    <p:cond delay="0"/>
                                  </p:stCondLst>
                                  <p:childTnLst>
                                    <p:set>
                                      <p:cBhvr>
                                        <p:cTn id="121" dur="1" fill="hold">
                                          <p:stCondLst>
                                            <p:cond delay="0"/>
                                          </p:stCondLst>
                                        </p:cTn>
                                        <p:tgtEl>
                                          <p:spTgt spid="15"/>
                                        </p:tgtEl>
                                        <p:attrNameLst>
                                          <p:attrName>style.visibility</p:attrName>
                                        </p:attrNameLst>
                                      </p:cBhvr>
                                      <p:to>
                                        <p:strVal val="visible"/>
                                      </p:to>
                                    </p:set>
                                    <p:anim calcmode="lin" valueType="num">
                                      <p:cBhvr>
                                        <p:cTn id="122" dur="1000" fill="hold"/>
                                        <p:tgtEl>
                                          <p:spTgt spid="15"/>
                                        </p:tgtEl>
                                        <p:attrNameLst>
                                          <p:attrName>ppt_x</p:attrName>
                                        </p:attrNameLst>
                                      </p:cBhvr>
                                      <p:tavLst>
                                        <p:tav tm="0">
                                          <p:val>
                                            <p:strVal val="#ppt_x-.2"/>
                                          </p:val>
                                        </p:tav>
                                        <p:tav tm="100000">
                                          <p:val>
                                            <p:strVal val="#ppt_x"/>
                                          </p:val>
                                        </p:tav>
                                      </p:tavLst>
                                    </p:anim>
                                    <p:anim calcmode="lin" valueType="num">
                                      <p:cBhvr>
                                        <p:cTn id="123" dur="10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124" dur="1000"/>
                                        <p:tgtEl>
                                          <p:spTgt spid="15"/>
                                        </p:tgtEl>
                                      </p:cBhvr>
                                    </p:animEffect>
                                  </p:childTnLst>
                                </p:cTn>
                              </p:par>
                            </p:childTnLst>
                          </p:cTn>
                        </p:par>
                      </p:childTnLst>
                    </p:cTn>
                  </p:par>
                  <p:par>
                    <p:cTn id="125" fill="hold">
                      <p:stCondLst>
                        <p:cond delay="indefinite"/>
                      </p:stCondLst>
                      <p:childTnLst>
                        <p:par>
                          <p:cTn id="126" fill="hold">
                            <p:stCondLst>
                              <p:cond delay="0"/>
                            </p:stCondLst>
                            <p:childTnLst>
                              <p:par>
                                <p:cTn id="127" presetID="20" presetClass="entr" presetSubtype="0" fill="hold" grpId="0" nodeType="clickEffect">
                                  <p:stCondLst>
                                    <p:cond delay="0"/>
                                  </p:stCondLst>
                                  <p:childTnLst>
                                    <p:set>
                                      <p:cBhvr>
                                        <p:cTn id="128" dur="1" fill="hold">
                                          <p:stCondLst>
                                            <p:cond delay="0"/>
                                          </p:stCondLst>
                                        </p:cTn>
                                        <p:tgtEl>
                                          <p:spTgt spid="18"/>
                                        </p:tgtEl>
                                        <p:attrNameLst>
                                          <p:attrName>style.visibility</p:attrName>
                                        </p:attrNameLst>
                                      </p:cBhvr>
                                      <p:to>
                                        <p:strVal val="visible"/>
                                      </p:to>
                                    </p:set>
                                    <p:animEffect transition="in" filter="wedge">
                                      <p:cBhvr>
                                        <p:cTn id="129"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6" grpId="0" animBg="1"/>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200890"/>
            <a:ext cx="8229600" cy="3047999"/>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18. In how many ways can the first, second and third place winners be chosen from a group of 10 contestants?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6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72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720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d. 10!</a:t>
            </a:r>
            <a:endParaRPr kumimoji="0" lang="en-PH"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533400" y="3246135"/>
            <a:ext cx="8458200" cy="738664"/>
          </a:xfrm>
          <a:prstGeom prst="rect">
            <a:avLst/>
          </a:prstGeom>
        </p:spPr>
        <p:txBody>
          <a:bodyPr wrap="square">
            <a:spAutoFit/>
          </a:bodyPr>
          <a:lstStyle/>
          <a:p>
            <a:r>
              <a:rPr lang="en-US" b="1" dirty="0" smtClean="0"/>
              <a:t>Solution:</a:t>
            </a:r>
          </a:p>
          <a:p>
            <a:r>
              <a:rPr lang="en-US" b="1" dirty="0" smtClean="0"/>
              <a:t>	</a:t>
            </a:r>
            <a:r>
              <a:rPr lang="en-US" sz="2400" b="1" dirty="0" smtClean="0"/>
              <a:t>Let x = no. of ways in choosing the 1</a:t>
            </a:r>
            <a:r>
              <a:rPr lang="en-US" sz="2400" b="1" baseline="30000" dirty="0" smtClean="0"/>
              <a:t>st</a:t>
            </a:r>
            <a:r>
              <a:rPr lang="en-US" sz="2400" b="1" dirty="0" smtClean="0"/>
              <a:t>, 2</a:t>
            </a:r>
            <a:r>
              <a:rPr lang="en-US" sz="2400" b="1" baseline="30000" dirty="0" smtClean="0"/>
              <a:t>nd</a:t>
            </a:r>
            <a:r>
              <a:rPr lang="en-US" sz="2400" b="1" dirty="0" smtClean="0"/>
              <a:t> and 3</a:t>
            </a:r>
            <a:r>
              <a:rPr lang="en-US" sz="2400" b="1" baseline="30000" dirty="0" smtClean="0"/>
              <a:t>rd</a:t>
            </a:r>
            <a:r>
              <a:rPr lang="en-US" sz="2400" b="1" dirty="0" smtClean="0"/>
              <a:t> placers</a:t>
            </a:r>
          </a:p>
        </p:txBody>
      </p:sp>
      <p:graphicFrame>
        <p:nvGraphicFramePr>
          <p:cNvPr id="7" name="Object 1"/>
          <p:cNvGraphicFramePr>
            <a:graphicFrameLocks noChangeAspect="1"/>
          </p:cNvGraphicFramePr>
          <p:nvPr/>
        </p:nvGraphicFramePr>
        <p:xfrm>
          <a:off x="1524000" y="3973131"/>
          <a:ext cx="3607328" cy="1295400"/>
        </p:xfrm>
        <a:graphic>
          <a:graphicData uri="http://schemas.openxmlformats.org/presentationml/2006/ole">
            <p:oleObj spid="_x0000_s46081" name="Equation" r:id="rId6" imgW="1054080" imgH="393480" progId="Equation.3">
              <p:embed/>
            </p:oleObj>
          </a:graphicData>
        </a:graphic>
      </p:graphicFrame>
      <p:graphicFrame>
        <p:nvGraphicFramePr>
          <p:cNvPr id="8" name="Object 2"/>
          <p:cNvGraphicFramePr>
            <a:graphicFrameLocks noChangeAspect="1"/>
          </p:cNvGraphicFramePr>
          <p:nvPr/>
        </p:nvGraphicFramePr>
        <p:xfrm>
          <a:off x="1371600" y="5497131"/>
          <a:ext cx="3630632" cy="833813"/>
        </p:xfrm>
        <a:graphic>
          <a:graphicData uri="http://schemas.openxmlformats.org/presentationml/2006/ole">
            <p:oleObj spid="_x0000_s46082" name="Equation" r:id="rId7" imgW="850680" imgH="203040" progId="Equation.3">
              <p:embed/>
            </p:oleObj>
          </a:graphicData>
        </a:graphic>
      </p:graphicFrame>
      <p:sp>
        <p:nvSpPr>
          <p:cNvPr id="9" name="Rounded Rectangle 8"/>
          <p:cNvSpPr/>
          <p:nvPr/>
        </p:nvSpPr>
        <p:spPr>
          <a:xfrm>
            <a:off x="379926" y="3124200"/>
            <a:ext cx="8459274" cy="3211131"/>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321159" y="2057400"/>
            <a:ext cx="977720" cy="4947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900" decel="100000" fill="hold"/>
                                        <p:tgtEl>
                                          <p:spTgt spid="9"/>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p:cTn id="41"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 calcmode="lin" valueType="num">
                                      <p:cBhvr>
                                        <p:cTn id="48" dur="1000" fill="hold"/>
                                        <p:tgtEl>
                                          <p:spTgt spid="7"/>
                                        </p:tgtEl>
                                        <p:attrNameLst>
                                          <p:attrName>ppt_x</p:attrName>
                                        </p:attrNameLst>
                                      </p:cBhvr>
                                      <p:tavLst>
                                        <p:tav tm="0">
                                          <p:val>
                                            <p:strVal val="#ppt_x-.2"/>
                                          </p:val>
                                        </p:tav>
                                        <p:tav tm="100000">
                                          <p:val>
                                            <p:strVal val="#ppt_x"/>
                                          </p:val>
                                        </p:tav>
                                      </p:tavLst>
                                    </p:anim>
                                    <p:anim calcmode="lin" valueType="num">
                                      <p:cBhvr>
                                        <p:cTn id="49"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50" dur="10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1000" fill="hold"/>
                                        <p:tgtEl>
                                          <p:spTgt spid="8"/>
                                        </p:tgtEl>
                                        <p:attrNameLst>
                                          <p:attrName>ppt_x</p:attrName>
                                        </p:attrNameLst>
                                      </p:cBhvr>
                                      <p:tavLst>
                                        <p:tav tm="0">
                                          <p:val>
                                            <p:strVal val="#ppt_x-.2"/>
                                          </p:val>
                                        </p:tav>
                                        <p:tav tm="100000">
                                          <p:val>
                                            <p:strVal val="#ppt_x"/>
                                          </p:val>
                                        </p:tav>
                                      </p:tavLst>
                                    </p:anim>
                                    <p:anim calcmode="lin" valueType="num">
                                      <p:cBhvr>
                                        <p:cTn id="56"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57" dur="10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edge">
                                      <p:cBhvr>
                                        <p:cTn id="6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166255"/>
            <a:ext cx="8229600" cy="2729345"/>
          </a:xfrm>
          <a:prstGeom prst="rect">
            <a:avLst/>
          </a:prstGeom>
        </p:spPr>
        <p:txBody>
          <a:bodyPr>
            <a:normAutofit lnSpcReduction="10000"/>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PH" sz="2400" b="0" i="0" u="none" strike="noStrike" kern="1200" cap="none" spc="0" normalizeH="0" baseline="0" noProof="0" dirty="0" smtClean="0">
                <a:ln>
                  <a:noFill/>
                </a:ln>
                <a:solidFill>
                  <a:schemeClr val="tx1"/>
                </a:solidFill>
                <a:effectLst/>
                <a:uLnTx/>
                <a:uFillTx/>
                <a:latin typeface="+mn-lt"/>
                <a:ea typeface="+mn-ea"/>
                <a:cs typeface="+mn-cs"/>
              </a:rPr>
              <a:t>19.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In how many ways can 5 people be seated around a circular table?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600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120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60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d. 24</a:t>
            </a:r>
            <a:endParaRPr kumimoji="0" lang="en-PH"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1676400" y="2955429"/>
            <a:ext cx="4572000" cy="3262432"/>
          </a:xfrm>
          <a:prstGeom prst="rect">
            <a:avLst/>
          </a:prstGeom>
        </p:spPr>
        <p:txBody>
          <a:bodyPr wrap="square">
            <a:spAutoFit/>
          </a:bodyPr>
          <a:lstStyle/>
          <a:p>
            <a:r>
              <a:rPr lang="en-US" b="1" dirty="0" smtClean="0"/>
              <a:t>Solution:</a:t>
            </a:r>
          </a:p>
          <a:p>
            <a:r>
              <a:rPr lang="en-US" b="1" dirty="0" smtClean="0"/>
              <a:t>	</a:t>
            </a:r>
            <a:r>
              <a:rPr lang="en-US" sz="3200" b="1" dirty="0" err="1" smtClean="0"/>
              <a:t>nPn</a:t>
            </a:r>
            <a:r>
              <a:rPr lang="en-US" sz="3200" b="1" dirty="0" smtClean="0"/>
              <a:t> = (n – 1)!</a:t>
            </a:r>
          </a:p>
          <a:p>
            <a:r>
              <a:rPr lang="en-US" sz="3200" b="1" dirty="0" smtClean="0"/>
              <a:t>	        = (5 – 1)!</a:t>
            </a:r>
          </a:p>
          <a:p>
            <a:r>
              <a:rPr lang="en-US" sz="3200" b="1" dirty="0" smtClean="0"/>
              <a:t>	        = (4)!</a:t>
            </a:r>
          </a:p>
          <a:p>
            <a:r>
              <a:rPr lang="en-US" sz="3200" b="1" dirty="0" smtClean="0"/>
              <a:t>	        = 4 x 3 x 2 x 1</a:t>
            </a:r>
          </a:p>
          <a:p>
            <a:r>
              <a:rPr lang="en-US" sz="3600" b="1" dirty="0" smtClean="0"/>
              <a:t>  </a:t>
            </a:r>
            <a:r>
              <a:rPr lang="en-US" sz="6000" b="1" dirty="0" err="1" smtClean="0"/>
              <a:t>nPn</a:t>
            </a:r>
            <a:r>
              <a:rPr lang="en-US" sz="6000" b="1" dirty="0" smtClean="0"/>
              <a:t> = 24</a:t>
            </a:r>
          </a:p>
        </p:txBody>
      </p:sp>
      <p:sp>
        <p:nvSpPr>
          <p:cNvPr id="7" name="Rounded Rectangle 6"/>
          <p:cNvSpPr/>
          <p:nvPr/>
        </p:nvSpPr>
        <p:spPr>
          <a:xfrm>
            <a:off x="1524000" y="2808669"/>
            <a:ext cx="4191000" cy="3363531"/>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321159" y="2223753"/>
            <a:ext cx="888641"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900" decel="100000" fill="hold"/>
                                        <p:tgtEl>
                                          <p:spTgt spid="7"/>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p:cTn id="41"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6">
                                            <p:txEl>
                                              <p:pRg st="2" end="2"/>
                                            </p:txEl>
                                          </p:spTgt>
                                        </p:tgtEl>
                                        <p:attrNameLst>
                                          <p:attrName>style.visibility</p:attrName>
                                        </p:attrNameLst>
                                      </p:cBhvr>
                                      <p:to>
                                        <p:strVal val="visible"/>
                                      </p:to>
                                    </p:set>
                                    <p:anim calcmode="lin" valueType="num">
                                      <p:cBhvr>
                                        <p:cTn id="48"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6">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 calcmode="lin" valueType="num">
                                      <p:cBhvr>
                                        <p:cTn id="55"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6">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6">
                                            <p:txEl>
                                              <p:pRg st="4" end="4"/>
                                            </p:txEl>
                                          </p:spTgt>
                                        </p:tgtEl>
                                        <p:attrNameLst>
                                          <p:attrName>style.visibility</p:attrName>
                                        </p:attrNameLst>
                                      </p:cBhvr>
                                      <p:to>
                                        <p:strVal val="visible"/>
                                      </p:to>
                                    </p:set>
                                    <p:anim calcmode="lin" valueType="num">
                                      <p:cBhvr>
                                        <p:cTn id="62"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63"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6">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6">
                                            <p:txEl>
                                              <p:pRg st="5" end="5"/>
                                            </p:txEl>
                                          </p:spTgt>
                                        </p:tgtEl>
                                        <p:attrNameLst>
                                          <p:attrName>style.visibility</p:attrName>
                                        </p:attrNameLst>
                                      </p:cBhvr>
                                      <p:to>
                                        <p:strVal val="visible"/>
                                      </p:to>
                                    </p:set>
                                    <p:anim calcmode="lin" valueType="num">
                                      <p:cBhvr>
                                        <p:cTn id="69"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70" dur="1000" fill="hold"/>
                                        <p:tgtEl>
                                          <p:spTgt spid="6">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1" dur="1000"/>
                                        <p:tgtEl>
                                          <p:spTgt spid="6">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0" presetClass="entr" presetSubtype="0" fill="hold" grpId="0"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wedge">
                                      <p:cBhvr>
                                        <p:cTn id="7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214745"/>
            <a:ext cx="8229600" cy="2147455"/>
          </a:xfrm>
          <a:prstGeom prst="rect">
            <a:avLst/>
          </a:prstGeom>
        </p:spPr>
        <p:txBody>
          <a:bodyPr>
            <a:normAutofit/>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20</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In how many ways can two swimmers be chosen from a group of six swimmers?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05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15			c. 45</a:t>
            </a: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30			d. 90</a:t>
            </a:r>
          </a:p>
        </p:txBody>
      </p:sp>
      <p:sp>
        <p:nvSpPr>
          <p:cNvPr id="6" name="Rectangle 5"/>
          <p:cNvSpPr/>
          <p:nvPr/>
        </p:nvSpPr>
        <p:spPr>
          <a:xfrm>
            <a:off x="609600" y="2667000"/>
            <a:ext cx="2971800" cy="369332"/>
          </a:xfrm>
          <a:prstGeom prst="rect">
            <a:avLst/>
          </a:prstGeom>
        </p:spPr>
        <p:txBody>
          <a:bodyPr wrap="square">
            <a:spAutoFit/>
          </a:bodyPr>
          <a:lstStyle/>
          <a:p>
            <a:r>
              <a:rPr lang="en-US" b="1" dirty="0" smtClean="0"/>
              <a:t>Solution:</a:t>
            </a:r>
          </a:p>
        </p:txBody>
      </p:sp>
      <p:graphicFrame>
        <p:nvGraphicFramePr>
          <p:cNvPr id="7" name="Object 1"/>
          <p:cNvGraphicFramePr>
            <a:graphicFrameLocks noChangeAspect="1"/>
          </p:cNvGraphicFramePr>
          <p:nvPr/>
        </p:nvGraphicFramePr>
        <p:xfrm>
          <a:off x="1809750" y="2916237"/>
          <a:ext cx="2305050" cy="969963"/>
        </p:xfrm>
        <a:graphic>
          <a:graphicData uri="http://schemas.openxmlformats.org/presentationml/2006/ole">
            <p:oleObj spid="_x0000_s82946" name="Equation" r:id="rId6" imgW="977760" imgH="419040" progId="Equation.3">
              <p:embed/>
            </p:oleObj>
          </a:graphicData>
        </a:graphic>
      </p:graphicFrame>
      <p:graphicFrame>
        <p:nvGraphicFramePr>
          <p:cNvPr id="8" name="Object 2"/>
          <p:cNvGraphicFramePr>
            <a:graphicFrameLocks noChangeAspect="1"/>
          </p:cNvGraphicFramePr>
          <p:nvPr/>
        </p:nvGraphicFramePr>
        <p:xfrm>
          <a:off x="1839913" y="3906837"/>
          <a:ext cx="2274887" cy="969963"/>
        </p:xfrm>
        <a:graphic>
          <a:graphicData uri="http://schemas.openxmlformats.org/presentationml/2006/ole">
            <p:oleObj spid="_x0000_s82947" name="Equation" r:id="rId7" imgW="965160" imgH="419040" progId="Equation.3">
              <p:embed/>
            </p:oleObj>
          </a:graphicData>
        </a:graphic>
      </p:graphicFrame>
      <p:graphicFrame>
        <p:nvGraphicFramePr>
          <p:cNvPr id="9" name="Object 3"/>
          <p:cNvGraphicFramePr>
            <a:graphicFrameLocks noChangeAspect="1"/>
          </p:cNvGraphicFramePr>
          <p:nvPr/>
        </p:nvGraphicFramePr>
        <p:xfrm>
          <a:off x="4267200" y="3886200"/>
          <a:ext cx="1168400" cy="969963"/>
        </p:xfrm>
        <a:graphic>
          <a:graphicData uri="http://schemas.openxmlformats.org/presentationml/2006/ole">
            <p:oleObj spid="_x0000_s82948" name="Equation" r:id="rId8" imgW="495000" imgH="419040" progId="Equation.3">
              <p:embed/>
            </p:oleObj>
          </a:graphicData>
        </a:graphic>
      </p:graphicFrame>
      <p:graphicFrame>
        <p:nvGraphicFramePr>
          <p:cNvPr id="10" name="Object 4"/>
          <p:cNvGraphicFramePr>
            <a:graphicFrameLocks noChangeAspect="1"/>
          </p:cNvGraphicFramePr>
          <p:nvPr/>
        </p:nvGraphicFramePr>
        <p:xfrm>
          <a:off x="5567362" y="3924010"/>
          <a:ext cx="2814638" cy="911225"/>
        </p:xfrm>
        <a:graphic>
          <a:graphicData uri="http://schemas.openxmlformats.org/presentationml/2006/ole">
            <p:oleObj spid="_x0000_s82949" name="Equation" r:id="rId9" imgW="1193760" imgH="393480" progId="Equation.3">
              <p:embed/>
            </p:oleObj>
          </a:graphicData>
        </a:graphic>
      </p:graphicFrame>
      <p:cxnSp>
        <p:nvCxnSpPr>
          <p:cNvPr id="11" name="Straight Connector 10"/>
          <p:cNvCxnSpPr/>
          <p:nvPr/>
        </p:nvCxnSpPr>
        <p:spPr>
          <a:xfrm>
            <a:off x="6878780" y="4038600"/>
            <a:ext cx="1371600" cy="228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85710" y="4537365"/>
            <a:ext cx="1371600" cy="228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Object 5"/>
          <p:cNvGraphicFramePr>
            <a:graphicFrameLocks noChangeAspect="1"/>
          </p:cNvGraphicFramePr>
          <p:nvPr/>
        </p:nvGraphicFramePr>
        <p:xfrm>
          <a:off x="2138362" y="5181600"/>
          <a:ext cx="1138238" cy="911225"/>
        </p:xfrm>
        <a:graphic>
          <a:graphicData uri="http://schemas.openxmlformats.org/presentationml/2006/ole">
            <p:oleObj spid="_x0000_s82950" name="Equation" r:id="rId10" imgW="482400" imgH="393480" progId="Equation.3">
              <p:embed/>
            </p:oleObj>
          </a:graphicData>
        </a:graphic>
      </p:graphicFrame>
      <p:graphicFrame>
        <p:nvGraphicFramePr>
          <p:cNvPr id="14" name="Object 6"/>
          <p:cNvGraphicFramePr>
            <a:graphicFrameLocks noChangeAspect="1"/>
          </p:cNvGraphicFramePr>
          <p:nvPr/>
        </p:nvGraphicFramePr>
        <p:xfrm>
          <a:off x="3581400" y="5257800"/>
          <a:ext cx="1162050" cy="664394"/>
        </p:xfrm>
        <a:graphic>
          <a:graphicData uri="http://schemas.openxmlformats.org/presentationml/2006/ole">
            <p:oleObj spid="_x0000_s82951" name="Equation" r:id="rId11" imgW="304560" imgH="177480" progId="Equation.3">
              <p:embed/>
            </p:oleObj>
          </a:graphicData>
        </a:graphic>
      </p:graphicFrame>
      <p:sp>
        <p:nvSpPr>
          <p:cNvPr id="15" name="Rounded Rectangle 14"/>
          <p:cNvSpPr/>
          <p:nvPr/>
        </p:nvSpPr>
        <p:spPr>
          <a:xfrm>
            <a:off x="533400" y="2514600"/>
            <a:ext cx="8077200" cy="36576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1307205" y="1206321"/>
            <a:ext cx="888641"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900" decel="100000" fill="hold"/>
                                        <p:tgtEl>
                                          <p:spTgt spid="15"/>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1000" fill="hold"/>
                                        <p:tgtEl>
                                          <p:spTgt spid="7"/>
                                        </p:tgtEl>
                                        <p:attrNameLst>
                                          <p:attrName>ppt_x</p:attrName>
                                        </p:attrNameLst>
                                      </p:cBhvr>
                                      <p:tavLst>
                                        <p:tav tm="0">
                                          <p:val>
                                            <p:strVal val="#ppt_x-.2"/>
                                          </p:val>
                                        </p:tav>
                                        <p:tav tm="100000">
                                          <p:val>
                                            <p:strVal val="#ppt_x"/>
                                          </p:val>
                                        </p:tav>
                                      </p:tavLst>
                                    </p:anim>
                                    <p:anim calcmode="lin" valueType="num">
                                      <p:cBhvr>
                                        <p:cTn id="36"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37" dur="10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 calcmode="lin" valueType="num">
                                      <p:cBhvr>
                                        <p:cTn id="42" dur="1000" fill="hold"/>
                                        <p:tgtEl>
                                          <p:spTgt spid="8"/>
                                        </p:tgtEl>
                                        <p:attrNameLst>
                                          <p:attrName>ppt_x</p:attrName>
                                        </p:attrNameLst>
                                      </p:cBhvr>
                                      <p:tavLst>
                                        <p:tav tm="0">
                                          <p:val>
                                            <p:strVal val="#ppt_x-.2"/>
                                          </p:val>
                                        </p:tav>
                                        <p:tav tm="100000">
                                          <p:val>
                                            <p:strVal val="#ppt_x"/>
                                          </p:val>
                                        </p:tav>
                                      </p:tavLst>
                                    </p:anim>
                                    <p:anim calcmode="lin" valueType="num">
                                      <p:cBhvr>
                                        <p:cTn id="4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44" dur="10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1000" fill="hold"/>
                                        <p:tgtEl>
                                          <p:spTgt spid="9"/>
                                        </p:tgtEl>
                                        <p:attrNameLst>
                                          <p:attrName>ppt_x</p:attrName>
                                        </p:attrNameLst>
                                      </p:cBhvr>
                                      <p:tavLst>
                                        <p:tav tm="0">
                                          <p:val>
                                            <p:strVal val="#ppt_x-.2"/>
                                          </p:val>
                                        </p:tav>
                                        <p:tav tm="100000">
                                          <p:val>
                                            <p:strVal val="#ppt_x"/>
                                          </p:val>
                                        </p:tav>
                                      </p:tavLst>
                                    </p:anim>
                                    <p:anim calcmode="lin" valueType="num">
                                      <p:cBhvr>
                                        <p:cTn id="50"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51" dur="10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p:cTn id="56" dur="1000" fill="hold"/>
                                        <p:tgtEl>
                                          <p:spTgt spid="10"/>
                                        </p:tgtEl>
                                        <p:attrNameLst>
                                          <p:attrName>ppt_x</p:attrName>
                                        </p:attrNameLst>
                                      </p:cBhvr>
                                      <p:tavLst>
                                        <p:tav tm="0">
                                          <p:val>
                                            <p:strVal val="#ppt_x-.2"/>
                                          </p:val>
                                        </p:tav>
                                        <p:tav tm="100000">
                                          <p:val>
                                            <p:strVal val="#ppt_x"/>
                                          </p:val>
                                        </p:tav>
                                      </p:tavLst>
                                    </p:anim>
                                    <p:anim calcmode="lin" valueType="num">
                                      <p:cBhvr>
                                        <p:cTn id="57"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58" dur="10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wipe(down)">
                                      <p:cBhvr>
                                        <p:cTn id="63" dur="500"/>
                                        <p:tgtEl>
                                          <p:spTgt spid="12"/>
                                        </p:tgtEl>
                                      </p:cBhvr>
                                    </p:animEffect>
                                  </p:childTnLst>
                                </p:cTn>
                              </p:par>
                              <p:par>
                                <p:cTn id="64" presetID="22" presetClass="entr" presetSubtype="4"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ipe(down)">
                                      <p:cBhvr>
                                        <p:cTn id="66" dur="500"/>
                                        <p:tgtEl>
                                          <p:spTgt spid="11"/>
                                        </p:tgtEl>
                                      </p:cBhvr>
                                    </p:animEffect>
                                  </p:childTnLst>
                                </p:cTn>
                              </p:par>
                            </p:childTnLst>
                          </p:cTn>
                        </p:par>
                      </p:childTnLst>
                    </p:cTn>
                  </p:par>
                  <p:par>
                    <p:cTn id="67" fill="hold">
                      <p:stCondLst>
                        <p:cond delay="indefinite"/>
                      </p:stCondLst>
                      <p:childTnLst>
                        <p:par>
                          <p:cTn id="68" fill="hold">
                            <p:stCondLst>
                              <p:cond delay="0"/>
                            </p:stCondLst>
                            <p:childTnLst>
                              <p:par>
                                <p:cTn id="69" presetID="29" presetClass="entr" presetSubtype="0" fill="hold" nodeType="clickEffect">
                                  <p:stCondLst>
                                    <p:cond delay="0"/>
                                  </p:stCondLst>
                                  <p:childTnLst>
                                    <p:set>
                                      <p:cBhvr>
                                        <p:cTn id="70" dur="1" fill="hold">
                                          <p:stCondLst>
                                            <p:cond delay="0"/>
                                          </p:stCondLst>
                                        </p:cTn>
                                        <p:tgtEl>
                                          <p:spTgt spid="13"/>
                                        </p:tgtEl>
                                        <p:attrNameLst>
                                          <p:attrName>style.visibility</p:attrName>
                                        </p:attrNameLst>
                                      </p:cBhvr>
                                      <p:to>
                                        <p:strVal val="visible"/>
                                      </p:to>
                                    </p:set>
                                    <p:anim calcmode="lin" valueType="num">
                                      <p:cBhvr>
                                        <p:cTn id="71" dur="1000" fill="hold"/>
                                        <p:tgtEl>
                                          <p:spTgt spid="13"/>
                                        </p:tgtEl>
                                        <p:attrNameLst>
                                          <p:attrName>ppt_x</p:attrName>
                                        </p:attrNameLst>
                                      </p:cBhvr>
                                      <p:tavLst>
                                        <p:tav tm="0">
                                          <p:val>
                                            <p:strVal val="#ppt_x-.2"/>
                                          </p:val>
                                        </p:tav>
                                        <p:tav tm="100000">
                                          <p:val>
                                            <p:strVal val="#ppt_x"/>
                                          </p:val>
                                        </p:tav>
                                      </p:tavLst>
                                    </p:anim>
                                    <p:anim calcmode="lin" valueType="num">
                                      <p:cBhvr>
                                        <p:cTn id="72"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73" dur="1000"/>
                                        <p:tgtEl>
                                          <p:spTgt spid="13"/>
                                        </p:tgtEl>
                                      </p:cBhvr>
                                    </p:animEffect>
                                  </p:childTnLst>
                                </p:cTn>
                              </p:par>
                            </p:childTnLst>
                          </p:cTn>
                        </p:par>
                      </p:childTnLst>
                    </p:cTn>
                  </p:par>
                  <p:par>
                    <p:cTn id="74" fill="hold">
                      <p:stCondLst>
                        <p:cond delay="indefinite"/>
                      </p:stCondLst>
                      <p:childTnLst>
                        <p:par>
                          <p:cTn id="75" fill="hold">
                            <p:stCondLst>
                              <p:cond delay="0"/>
                            </p:stCondLst>
                            <p:childTnLst>
                              <p:par>
                                <p:cTn id="76" presetID="29" presetClass="entr" presetSubtype="0" fill="hold" nodeType="clickEffect">
                                  <p:stCondLst>
                                    <p:cond delay="0"/>
                                  </p:stCondLst>
                                  <p:childTnLst>
                                    <p:set>
                                      <p:cBhvr>
                                        <p:cTn id="77" dur="1" fill="hold">
                                          <p:stCondLst>
                                            <p:cond delay="0"/>
                                          </p:stCondLst>
                                        </p:cTn>
                                        <p:tgtEl>
                                          <p:spTgt spid="14"/>
                                        </p:tgtEl>
                                        <p:attrNameLst>
                                          <p:attrName>style.visibility</p:attrName>
                                        </p:attrNameLst>
                                      </p:cBhvr>
                                      <p:to>
                                        <p:strVal val="visible"/>
                                      </p:to>
                                    </p:set>
                                    <p:anim calcmode="lin" valueType="num">
                                      <p:cBhvr>
                                        <p:cTn id="78" dur="1000" fill="hold"/>
                                        <p:tgtEl>
                                          <p:spTgt spid="14"/>
                                        </p:tgtEl>
                                        <p:attrNameLst>
                                          <p:attrName>ppt_x</p:attrName>
                                        </p:attrNameLst>
                                      </p:cBhvr>
                                      <p:tavLst>
                                        <p:tav tm="0">
                                          <p:val>
                                            <p:strVal val="#ppt_x-.2"/>
                                          </p:val>
                                        </p:tav>
                                        <p:tav tm="100000">
                                          <p:val>
                                            <p:strVal val="#ppt_x"/>
                                          </p:val>
                                        </p:tav>
                                      </p:tavLst>
                                    </p:anim>
                                    <p:anim calcmode="lin" valueType="num">
                                      <p:cBhvr>
                                        <p:cTn id="79" dur="10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80" dur="1000"/>
                                        <p:tgtEl>
                                          <p:spTgt spid="14"/>
                                        </p:tgtEl>
                                      </p:cBhvr>
                                    </p:animEffect>
                                  </p:childTnLst>
                                </p:cTn>
                              </p:par>
                            </p:childTnLst>
                          </p:cTn>
                        </p:par>
                      </p:childTnLst>
                    </p:cTn>
                  </p:par>
                  <p:par>
                    <p:cTn id="81" fill="hold">
                      <p:stCondLst>
                        <p:cond delay="indefinite"/>
                      </p:stCondLst>
                      <p:childTnLst>
                        <p:par>
                          <p:cTn id="82" fill="hold">
                            <p:stCondLst>
                              <p:cond delay="0"/>
                            </p:stCondLst>
                            <p:childTnLst>
                              <p:par>
                                <p:cTn id="83" presetID="20" presetClass="entr" presetSubtype="0" fill="hold" grpId="0"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wedge">
                                      <p:cBhvr>
                                        <p:cTn id="85"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457200" y="180110"/>
            <a:ext cx="8229600" cy="3020290"/>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21</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coffee shop offers 4 flavors of coffee: mocha, cappuccino, vanilla, and latte. Coffee may be served hot or cold and it comes in tall, regular and short sizes. In how many ways can the customer order his/her coffee?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05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3 ways			c. 24 ways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8 ways			d. 36 ways</a:t>
            </a:r>
          </a:p>
        </p:txBody>
      </p:sp>
      <p:sp>
        <p:nvSpPr>
          <p:cNvPr id="6" name="Rectangle 5"/>
          <p:cNvSpPr/>
          <p:nvPr/>
        </p:nvSpPr>
        <p:spPr>
          <a:xfrm>
            <a:off x="914400" y="3119259"/>
            <a:ext cx="6477000" cy="3247043"/>
          </a:xfrm>
          <a:prstGeom prst="rect">
            <a:avLst/>
          </a:prstGeom>
        </p:spPr>
        <p:txBody>
          <a:bodyPr wrap="square">
            <a:spAutoFit/>
          </a:bodyPr>
          <a:lstStyle/>
          <a:p>
            <a:r>
              <a:rPr lang="en-US" sz="1600" b="1" dirty="0" smtClean="0"/>
              <a:t>Solution:</a:t>
            </a:r>
          </a:p>
          <a:p>
            <a:pPr>
              <a:lnSpc>
                <a:spcPct val="150000"/>
              </a:lnSpc>
            </a:pPr>
            <a:r>
              <a:rPr lang="en-US" sz="1600" b="1" dirty="0" smtClean="0"/>
              <a:t>	</a:t>
            </a:r>
            <a:r>
              <a:rPr lang="en-US" b="1" dirty="0" smtClean="0"/>
              <a:t>Let x</a:t>
            </a:r>
            <a:r>
              <a:rPr lang="en-US" dirty="0" smtClean="0"/>
              <a:t> </a:t>
            </a:r>
            <a:r>
              <a:rPr lang="en-US" b="1" dirty="0" smtClean="0"/>
              <a:t>= total no. of ways a customer can make his order</a:t>
            </a:r>
          </a:p>
          <a:p>
            <a:pPr>
              <a:lnSpc>
                <a:spcPct val="150000"/>
              </a:lnSpc>
            </a:pPr>
            <a:r>
              <a:rPr lang="en-US" b="1" dirty="0" smtClean="0"/>
              <a:t>	      a = no. of coffee flavors</a:t>
            </a:r>
          </a:p>
          <a:p>
            <a:pPr>
              <a:lnSpc>
                <a:spcPct val="150000"/>
              </a:lnSpc>
            </a:pPr>
            <a:r>
              <a:rPr lang="en-US" b="1" dirty="0" smtClean="0"/>
              <a:t>	      b = no. of warm or cold coffee</a:t>
            </a:r>
          </a:p>
          <a:p>
            <a:pPr>
              <a:lnSpc>
                <a:spcPct val="150000"/>
              </a:lnSpc>
            </a:pPr>
            <a:r>
              <a:rPr lang="en-US" b="1" dirty="0" smtClean="0"/>
              <a:t>	      c = no. of sizes</a:t>
            </a:r>
          </a:p>
          <a:p>
            <a:pPr>
              <a:lnSpc>
                <a:spcPct val="150000"/>
              </a:lnSpc>
            </a:pPr>
            <a:r>
              <a:rPr lang="en-US" b="1" dirty="0" smtClean="0"/>
              <a:t>	x = a • b • c</a:t>
            </a:r>
          </a:p>
          <a:p>
            <a:r>
              <a:rPr lang="en-US" b="1" dirty="0" smtClean="0"/>
              <a:t>	x = 4 • 2 • 3</a:t>
            </a:r>
          </a:p>
          <a:p>
            <a:r>
              <a:rPr lang="en-US" sz="2800" b="1" dirty="0" smtClean="0"/>
              <a:t>         </a:t>
            </a:r>
            <a:r>
              <a:rPr lang="en-US" sz="3600" b="1" dirty="0" smtClean="0"/>
              <a:t>x = 24</a:t>
            </a:r>
          </a:p>
        </p:txBody>
      </p:sp>
      <p:sp>
        <p:nvSpPr>
          <p:cNvPr id="7" name="Rounded Rectangle 6"/>
          <p:cNvSpPr/>
          <p:nvPr/>
        </p:nvSpPr>
        <p:spPr>
          <a:xfrm>
            <a:off x="762000" y="2890659"/>
            <a:ext cx="6629400" cy="37338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029200" y="1918953"/>
            <a:ext cx="1447800"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900" decel="100000" fill="hold"/>
                                        <p:tgtEl>
                                          <p:spTgt spid="7"/>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 calcmode="lin" valueType="num">
                                      <p:cBhvr>
                                        <p:cTn id="42"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3"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6">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p:cTn id="49"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6">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 calcmode="lin" valueType="num">
                                      <p:cBhvr>
                                        <p:cTn id="56"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 calcmode="lin" valueType="num">
                                      <p:cBhvr>
                                        <p:cTn id="63"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64" dur="1000" fill="hold"/>
                                        <p:tgtEl>
                                          <p:spTgt spid="6">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6">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6">
                                            <p:txEl>
                                              <p:pRg st="6" end="6"/>
                                            </p:txEl>
                                          </p:spTgt>
                                        </p:tgtEl>
                                        <p:attrNameLst>
                                          <p:attrName>style.visibility</p:attrName>
                                        </p:attrNameLst>
                                      </p:cBhvr>
                                      <p:to>
                                        <p:strVal val="visible"/>
                                      </p:to>
                                    </p:set>
                                    <p:anim calcmode="lin" valueType="num">
                                      <p:cBhvr>
                                        <p:cTn id="70"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71" dur="1000" fill="hold"/>
                                        <p:tgtEl>
                                          <p:spTgt spid="6">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2" dur="1000"/>
                                        <p:tgtEl>
                                          <p:spTgt spid="6">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9" presetClass="entr" presetSubtype="0" fill="hold" nodeType="clickEffect">
                                  <p:stCondLst>
                                    <p:cond delay="0"/>
                                  </p:stCondLst>
                                  <p:childTnLst>
                                    <p:set>
                                      <p:cBhvr>
                                        <p:cTn id="76" dur="1" fill="hold">
                                          <p:stCondLst>
                                            <p:cond delay="0"/>
                                          </p:stCondLst>
                                        </p:cTn>
                                        <p:tgtEl>
                                          <p:spTgt spid="6">
                                            <p:txEl>
                                              <p:pRg st="7" end="7"/>
                                            </p:txEl>
                                          </p:spTgt>
                                        </p:tgtEl>
                                        <p:attrNameLst>
                                          <p:attrName>style.visibility</p:attrName>
                                        </p:attrNameLst>
                                      </p:cBhvr>
                                      <p:to>
                                        <p:strVal val="visible"/>
                                      </p:to>
                                    </p:set>
                                    <p:anim calcmode="lin" valueType="num">
                                      <p:cBhvr>
                                        <p:cTn id="77" dur="1000" fill="hold"/>
                                        <p:tgtEl>
                                          <p:spTgt spid="6">
                                            <p:txEl>
                                              <p:pRg st="7" end="7"/>
                                            </p:txEl>
                                          </p:spTgt>
                                        </p:tgtEl>
                                        <p:attrNameLst>
                                          <p:attrName>ppt_x</p:attrName>
                                        </p:attrNameLst>
                                      </p:cBhvr>
                                      <p:tavLst>
                                        <p:tav tm="0">
                                          <p:val>
                                            <p:strVal val="#ppt_x-.2"/>
                                          </p:val>
                                        </p:tav>
                                        <p:tav tm="100000">
                                          <p:val>
                                            <p:strVal val="#ppt_x"/>
                                          </p:val>
                                        </p:tav>
                                      </p:tavLst>
                                    </p:anim>
                                    <p:anim calcmode="lin" valueType="num">
                                      <p:cBhvr>
                                        <p:cTn id="78" dur="1000" fill="hold"/>
                                        <p:tgtEl>
                                          <p:spTgt spid="6">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79" dur="1000"/>
                                        <p:tgtEl>
                                          <p:spTgt spid="6">
                                            <p:txEl>
                                              <p:pRg st="7" end="7"/>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0" presetClass="entr" presetSubtype="0" fill="hold" grpId="0" nodeType="click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wedge">
                                      <p:cBhvr>
                                        <p:cTn id="84"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81000" y="187035"/>
            <a:ext cx="8229600" cy="1946565"/>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22</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Find the number of distinct permutations of the letters in the word ‘ANNUAL’?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180			c. 360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270			d. 720</a:t>
            </a:r>
          </a:p>
        </p:txBody>
      </p:sp>
      <p:sp>
        <p:nvSpPr>
          <p:cNvPr id="6" name="Rectangle 5"/>
          <p:cNvSpPr/>
          <p:nvPr/>
        </p:nvSpPr>
        <p:spPr>
          <a:xfrm>
            <a:off x="765881" y="2274196"/>
            <a:ext cx="6934200" cy="2031325"/>
          </a:xfrm>
          <a:prstGeom prst="rect">
            <a:avLst/>
          </a:prstGeom>
        </p:spPr>
        <p:txBody>
          <a:bodyPr wrap="square">
            <a:spAutoFit/>
          </a:bodyPr>
          <a:lstStyle/>
          <a:p>
            <a:r>
              <a:rPr lang="en-US" b="1" dirty="0" smtClean="0"/>
              <a:t>Solution:</a:t>
            </a:r>
          </a:p>
          <a:p>
            <a:pPr>
              <a:lnSpc>
                <a:spcPct val="150000"/>
              </a:lnSpc>
            </a:pPr>
            <a:r>
              <a:rPr lang="en-US" b="1" dirty="0" smtClean="0"/>
              <a:t>	Let n = number of letters in the word ANNUAL</a:t>
            </a:r>
          </a:p>
          <a:p>
            <a:pPr>
              <a:lnSpc>
                <a:spcPct val="150000"/>
              </a:lnSpc>
            </a:pPr>
            <a:r>
              <a:rPr lang="en-US" b="1" dirty="0" smtClean="0"/>
              <a:t>	  </a:t>
            </a:r>
            <a:r>
              <a:rPr lang="en-US" b="1" dirty="0" err="1" smtClean="0"/>
              <a:t>nPn</a:t>
            </a:r>
            <a:r>
              <a:rPr lang="en-US" b="1" dirty="0" smtClean="0"/>
              <a:t> = permutation of n letters</a:t>
            </a:r>
          </a:p>
          <a:p>
            <a:pPr>
              <a:lnSpc>
                <a:spcPct val="150000"/>
              </a:lnSpc>
            </a:pPr>
            <a:r>
              <a:rPr lang="en-US" b="1" dirty="0" smtClean="0"/>
              <a:t>	       a = no. of A’s</a:t>
            </a:r>
          </a:p>
          <a:p>
            <a:pPr>
              <a:lnSpc>
                <a:spcPct val="150000"/>
              </a:lnSpc>
            </a:pPr>
            <a:r>
              <a:rPr lang="en-US" b="1" dirty="0" smtClean="0"/>
              <a:t>	       b = no. of N’s</a:t>
            </a:r>
          </a:p>
        </p:txBody>
      </p:sp>
      <p:graphicFrame>
        <p:nvGraphicFramePr>
          <p:cNvPr id="7" name="Object 1"/>
          <p:cNvGraphicFramePr>
            <a:graphicFrameLocks noChangeAspect="1"/>
          </p:cNvGraphicFramePr>
          <p:nvPr/>
        </p:nvGraphicFramePr>
        <p:xfrm>
          <a:off x="1154819" y="4483996"/>
          <a:ext cx="2111376" cy="1066800"/>
        </p:xfrm>
        <a:graphic>
          <a:graphicData uri="http://schemas.openxmlformats.org/presentationml/2006/ole">
            <p:oleObj spid="_x0000_s83970" name="Equation" r:id="rId6" imgW="749160" imgH="393480" progId="Equation.3">
              <p:embed/>
            </p:oleObj>
          </a:graphicData>
        </a:graphic>
      </p:graphicFrame>
      <p:graphicFrame>
        <p:nvGraphicFramePr>
          <p:cNvPr id="8" name="Object 2"/>
          <p:cNvGraphicFramePr>
            <a:graphicFrameLocks noChangeAspect="1"/>
          </p:cNvGraphicFramePr>
          <p:nvPr/>
        </p:nvGraphicFramePr>
        <p:xfrm>
          <a:off x="3282068" y="4331595"/>
          <a:ext cx="1370013" cy="1235585"/>
        </p:xfrm>
        <a:graphic>
          <a:graphicData uri="http://schemas.openxmlformats.org/presentationml/2006/ole">
            <p:oleObj spid="_x0000_s83971" name="Equation" r:id="rId7" imgW="419040" imgH="393480" progId="Equation.3">
              <p:embed/>
            </p:oleObj>
          </a:graphicData>
        </a:graphic>
      </p:graphicFrame>
      <p:graphicFrame>
        <p:nvGraphicFramePr>
          <p:cNvPr id="9" name="Object 3"/>
          <p:cNvGraphicFramePr>
            <a:graphicFrameLocks noChangeAspect="1"/>
          </p:cNvGraphicFramePr>
          <p:nvPr/>
        </p:nvGraphicFramePr>
        <p:xfrm>
          <a:off x="4617509" y="4407796"/>
          <a:ext cx="3688291" cy="1143000"/>
        </p:xfrm>
        <a:graphic>
          <a:graphicData uri="http://schemas.openxmlformats.org/presentationml/2006/ole">
            <p:oleObj spid="_x0000_s83972" name="Equation" r:id="rId8" imgW="1218960" imgH="393480" progId="Equation.3">
              <p:embed/>
            </p:oleObj>
          </a:graphicData>
        </a:graphic>
      </p:graphicFrame>
      <p:graphicFrame>
        <p:nvGraphicFramePr>
          <p:cNvPr id="10" name="Object 5"/>
          <p:cNvGraphicFramePr>
            <a:graphicFrameLocks noChangeAspect="1"/>
          </p:cNvGraphicFramePr>
          <p:nvPr/>
        </p:nvGraphicFramePr>
        <p:xfrm>
          <a:off x="579873" y="5486400"/>
          <a:ext cx="4296927" cy="837601"/>
        </p:xfrm>
        <a:graphic>
          <a:graphicData uri="http://schemas.openxmlformats.org/presentationml/2006/ole">
            <p:oleObj spid="_x0000_s83973" name="Equation" r:id="rId9" imgW="1002960" imgH="203040" progId="Equation.3">
              <p:embed/>
            </p:oleObj>
          </a:graphicData>
        </a:graphic>
      </p:graphicFrame>
      <p:sp>
        <p:nvSpPr>
          <p:cNvPr id="11" name="Rounded Rectangle 10"/>
          <p:cNvSpPr/>
          <p:nvPr/>
        </p:nvSpPr>
        <p:spPr>
          <a:xfrm>
            <a:off x="600601" y="2133600"/>
            <a:ext cx="7933799" cy="4560195"/>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193442" y="1143000"/>
            <a:ext cx="1168758"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900" decel="100000" fill="hold"/>
                                        <p:tgtEl>
                                          <p:spTgt spid="1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 calcmode="lin" valueType="num">
                                      <p:cBhvr>
                                        <p:cTn id="42"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3"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6">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p:cTn id="49"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6">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 calcmode="lin" valueType="num">
                                      <p:cBhvr>
                                        <p:cTn id="56"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p:cTn id="63" dur="1000" fill="hold"/>
                                        <p:tgtEl>
                                          <p:spTgt spid="7"/>
                                        </p:tgtEl>
                                        <p:attrNameLst>
                                          <p:attrName>ppt_x</p:attrName>
                                        </p:attrNameLst>
                                      </p:cBhvr>
                                      <p:tavLst>
                                        <p:tav tm="0">
                                          <p:val>
                                            <p:strVal val="#ppt_x-.2"/>
                                          </p:val>
                                        </p:tav>
                                        <p:tav tm="100000">
                                          <p:val>
                                            <p:strVal val="#ppt_x"/>
                                          </p:val>
                                        </p:tav>
                                      </p:tavLst>
                                    </p:anim>
                                    <p:anim calcmode="lin" valueType="num">
                                      <p:cBhvr>
                                        <p:cTn id="64"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65" dur="1000"/>
                                        <p:tgtEl>
                                          <p:spTgt spid="7"/>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 calcmode="lin" valueType="num">
                                      <p:cBhvr>
                                        <p:cTn id="70" dur="1000" fill="hold"/>
                                        <p:tgtEl>
                                          <p:spTgt spid="8"/>
                                        </p:tgtEl>
                                        <p:attrNameLst>
                                          <p:attrName>ppt_x</p:attrName>
                                        </p:attrNameLst>
                                      </p:cBhvr>
                                      <p:tavLst>
                                        <p:tav tm="0">
                                          <p:val>
                                            <p:strVal val="#ppt_x-.2"/>
                                          </p:val>
                                        </p:tav>
                                        <p:tav tm="100000">
                                          <p:val>
                                            <p:strVal val="#ppt_x"/>
                                          </p:val>
                                        </p:tav>
                                      </p:tavLst>
                                    </p:anim>
                                    <p:anim calcmode="lin" valueType="num">
                                      <p:cBhvr>
                                        <p:cTn id="71"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72" dur="10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29" presetClass="entr" presetSubtype="0"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1000" fill="hold"/>
                                        <p:tgtEl>
                                          <p:spTgt spid="9"/>
                                        </p:tgtEl>
                                        <p:attrNameLst>
                                          <p:attrName>ppt_x</p:attrName>
                                        </p:attrNameLst>
                                      </p:cBhvr>
                                      <p:tavLst>
                                        <p:tav tm="0">
                                          <p:val>
                                            <p:strVal val="#ppt_x-.2"/>
                                          </p:val>
                                        </p:tav>
                                        <p:tav tm="100000">
                                          <p:val>
                                            <p:strVal val="#ppt_x"/>
                                          </p:val>
                                        </p:tav>
                                      </p:tavLst>
                                    </p:anim>
                                    <p:anim calcmode="lin" valueType="num">
                                      <p:cBhvr>
                                        <p:cTn id="78"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79" dur="1000"/>
                                        <p:tgtEl>
                                          <p:spTgt spid="9"/>
                                        </p:tgtEl>
                                      </p:cBhvr>
                                    </p:animEffect>
                                  </p:childTnLst>
                                </p:cTn>
                              </p:par>
                            </p:childTnLst>
                          </p:cTn>
                        </p:par>
                      </p:childTnLst>
                    </p:cTn>
                  </p:par>
                  <p:par>
                    <p:cTn id="80" fill="hold">
                      <p:stCondLst>
                        <p:cond delay="indefinite"/>
                      </p:stCondLst>
                      <p:childTnLst>
                        <p:par>
                          <p:cTn id="81" fill="hold">
                            <p:stCondLst>
                              <p:cond delay="0"/>
                            </p:stCondLst>
                            <p:childTnLst>
                              <p:par>
                                <p:cTn id="82" presetID="29" presetClass="entr" presetSubtype="0" fill="hold" nodeType="clickEffect">
                                  <p:stCondLst>
                                    <p:cond delay="0"/>
                                  </p:stCondLst>
                                  <p:childTnLst>
                                    <p:set>
                                      <p:cBhvr>
                                        <p:cTn id="83" dur="1" fill="hold">
                                          <p:stCondLst>
                                            <p:cond delay="0"/>
                                          </p:stCondLst>
                                        </p:cTn>
                                        <p:tgtEl>
                                          <p:spTgt spid="10"/>
                                        </p:tgtEl>
                                        <p:attrNameLst>
                                          <p:attrName>style.visibility</p:attrName>
                                        </p:attrNameLst>
                                      </p:cBhvr>
                                      <p:to>
                                        <p:strVal val="visible"/>
                                      </p:to>
                                    </p:set>
                                    <p:anim calcmode="lin" valueType="num">
                                      <p:cBhvr>
                                        <p:cTn id="84" dur="1000" fill="hold"/>
                                        <p:tgtEl>
                                          <p:spTgt spid="10"/>
                                        </p:tgtEl>
                                        <p:attrNameLst>
                                          <p:attrName>ppt_x</p:attrName>
                                        </p:attrNameLst>
                                      </p:cBhvr>
                                      <p:tavLst>
                                        <p:tav tm="0">
                                          <p:val>
                                            <p:strVal val="#ppt_x-.2"/>
                                          </p:val>
                                        </p:tav>
                                        <p:tav tm="100000">
                                          <p:val>
                                            <p:strVal val="#ppt_x"/>
                                          </p:val>
                                        </p:tav>
                                      </p:tavLst>
                                    </p:anim>
                                    <p:anim calcmode="lin" valueType="num">
                                      <p:cBhvr>
                                        <p:cTn id="85"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86" dur="1000"/>
                                        <p:tgtEl>
                                          <p:spTgt spid="10"/>
                                        </p:tgtEl>
                                      </p:cBhvr>
                                    </p:animEffect>
                                  </p:childTnLst>
                                </p:cTn>
                              </p:par>
                            </p:childTnLst>
                          </p:cTn>
                        </p:par>
                      </p:childTnLst>
                    </p:cTn>
                  </p:par>
                  <p:par>
                    <p:cTn id="87" fill="hold">
                      <p:stCondLst>
                        <p:cond delay="indefinite"/>
                      </p:stCondLst>
                      <p:childTnLst>
                        <p:par>
                          <p:cTn id="88" fill="hold">
                            <p:stCondLst>
                              <p:cond delay="0"/>
                            </p:stCondLst>
                            <p:childTnLst>
                              <p:par>
                                <p:cTn id="89" presetID="20" presetClass="entr" presetSubtype="0" fill="hold" grpId="0" nodeType="click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wedge">
                                      <p:cBhvr>
                                        <p:cTn id="91"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04800" y="200890"/>
            <a:ext cx="8686800" cy="3047999"/>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23</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How</a:t>
            </a:r>
            <a:r>
              <a:rPr kumimoji="0" lang="en-US" sz="2400" b="0" i="0" u="none" strike="noStrike" kern="1200" cap="none" spc="0" normalizeH="0" noProof="0" dirty="0" smtClean="0">
                <a:ln>
                  <a:noFill/>
                </a:ln>
                <a:solidFill>
                  <a:schemeClr val="tx1"/>
                </a:solidFill>
                <a:effectLst/>
                <a:uLnTx/>
                <a:uFillTx/>
                <a:latin typeface="+mn-lt"/>
                <a:ea typeface="+mn-ea"/>
                <a:cs typeface="+mn-cs"/>
              </a:rPr>
              <a:t> many 3-digit numbers can be formed from the digits 1 – 8, if the digits can be repeated</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336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a:t>
            </a:r>
            <a:r>
              <a:rPr lang="en-US" sz="2400" dirty="0" smtClean="0"/>
              <a:t>436</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a:t>
            </a:r>
            <a:r>
              <a:rPr lang="en-US" sz="2400" dirty="0" smtClean="0"/>
              <a:t>512</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d. </a:t>
            </a:r>
            <a:r>
              <a:rPr lang="en-US" sz="2400" dirty="0" smtClean="0"/>
              <a:t>524</a:t>
            </a:r>
            <a:endParaRPr kumimoji="0" lang="en-PH"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1905000" y="3398534"/>
            <a:ext cx="3429000" cy="1508105"/>
          </a:xfrm>
          <a:prstGeom prst="rect">
            <a:avLst/>
          </a:prstGeom>
        </p:spPr>
        <p:txBody>
          <a:bodyPr wrap="square">
            <a:spAutoFit/>
          </a:bodyPr>
          <a:lstStyle/>
          <a:p>
            <a:r>
              <a:rPr lang="en-US" b="1" dirty="0" smtClean="0"/>
              <a:t>Solution:</a:t>
            </a:r>
          </a:p>
          <a:p>
            <a:r>
              <a:rPr lang="en-US" sz="2800" b="1" dirty="0" smtClean="0"/>
              <a:t>	Rule of Product</a:t>
            </a:r>
          </a:p>
          <a:p>
            <a:endParaRPr lang="en-US" b="1" dirty="0" smtClean="0"/>
          </a:p>
          <a:p>
            <a:r>
              <a:rPr lang="en-US" sz="2800" b="1" dirty="0" smtClean="0"/>
              <a:t>	</a:t>
            </a:r>
            <a:r>
              <a:rPr lang="en-US" sz="2800" b="1" u="sng" dirty="0" smtClean="0"/>
              <a:t> 8 </a:t>
            </a:r>
            <a:r>
              <a:rPr lang="en-US" sz="2800" b="1" dirty="0" smtClean="0"/>
              <a:t>  </a:t>
            </a:r>
            <a:r>
              <a:rPr lang="en-US" sz="2800" b="1" u="sng" dirty="0" smtClean="0"/>
              <a:t> 8 </a:t>
            </a:r>
            <a:r>
              <a:rPr lang="en-US" sz="2800" b="1" dirty="0" smtClean="0"/>
              <a:t>  </a:t>
            </a:r>
            <a:r>
              <a:rPr lang="en-US" sz="2800" b="1" u="sng" dirty="0" smtClean="0"/>
              <a:t> 8 </a:t>
            </a:r>
            <a:r>
              <a:rPr lang="en-US" sz="2800" b="1" dirty="0" smtClean="0"/>
              <a:t> = 512</a:t>
            </a:r>
          </a:p>
        </p:txBody>
      </p:sp>
      <p:sp>
        <p:nvSpPr>
          <p:cNvPr id="9" name="Rounded Rectangle 8"/>
          <p:cNvSpPr/>
          <p:nvPr/>
        </p:nvSpPr>
        <p:spPr>
          <a:xfrm>
            <a:off x="1751526" y="3276600"/>
            <a:ext cx="3734874" cy="19050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168759" y="2057400"/>
            <a:ext cx="977720" cy="4947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900" decel="100000" fill="hold"/>
                                        <p:tgtEl>
                                          <p:spTgt spid="9"/>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p:cTn id="41"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 calcmode="lin" valueType="num">
                                      <p:cBhvr>
                                        <p:cTn id="48"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49"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6">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wedge">
                                      <p:cBhvr>
                                        <p:cTn id="5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81000" y="187035"/>
            <a:ext cx="8229600" cy="1946565"/>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24</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How</a:t>
            </a:r>
            <a:r>
              <a:rPr kumimoji="0" lang="en-US" sz="2400" b="0" i="0" u="none" strike="noStrike" kern="1200" cap="none" spc="0" normalizeH="0" noProof="0" dirty="0" smtClean="0">
                <a:ln>
                  <a:noFill/>
                </a:ln>
                <a:solidFill>
                  <a:schemeClr val="tx1"/>
                </a:solidFill>
                <a:effectLst/>
                <a:uLnTx/>
                <a:uFillTx/>
                <a:latin typeface="+mn-lt"/>
                <a:ea typeface="+mn-ea"/>
                <a:cs typeface="+mn-cs"/>
              </a:rPr>
              <a:t> many sets of answers are possible for an 8-item true or false test?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a:t>
            </a:r>
            <a:r>
              <a:rPr lang="en-US" sz="2400" dirty="0" smtClean="0"/>
              <a:t>512</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a:t>
            </a:r>
            <a:r>
              <a:rPr lang="en-US" sz="2400" dirty="0" smtClean="0"/>
              <a:t>128</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256			d. 2</a:t>
            </a:r>
          </a:p>
        </p:txBody>
      </p:sp>
      <p:sp>
        <p:nvSpPr>
          <p:cNvPr id="6" name="Rectangle 5"/>
          <p:cNvSpPr/>
          <p:nvPr/>
        </p:nvSpPr>
        <p:spPr>
          <a:xfrm>
            <a:off x="1219200" y="2502795"/>
            <a:ext cx="6934200" cy="3231654"/>
          </a:xfrm>
          <a:prstGeom prst="rect">
            <a:avLst/>
          </a:prstGeom>
        </p:spPr>
        <p:txBody>
          <a:bodyPr wrap="square">
            <a:spAutoFit/>
          </a:bodyPr>
          <a:lstStyle/>
          <a:p>
            <a:r>
              <a:rPr lang="en-US" sz="2400" b="1" dirty="0" smtClean="0"/>
              <a:t>Solution:</a:t>
            </a:r>
          </a:p>
          <a:p>
            <a:r>
              <a:rPr lang="en-US" sz="2400" b="1" dirty="0" smtClean="0"/>
              <a:t>	Let x = total number of sets of answers</a:t>
            </a:r>
          </a:p>
          <a:p>
            <a:r>
              <a:rPr lang="en-US" sz="2400" b="1" dirty="0" smtClean="0"/>
              <a:t>	       a = no. of options</a:t>
            </a:r>
          </a:p>
          <a:p>
            <a:r>
              <a:rPr lang="en-US" sz="2400" b="1" dirty="0" smtClean="0"/>
              <a:t>	       b = no. of items</a:t>
            </a:r>
          </a:p>
          <a:p>
            <a:r>
              <a:rPr lang="en-US" b="1" dirty="0" smtClean="0"/>
              <a:t>	</a:t>
            </a:r>
            <a:r>
              <a:rPr lang="en-US" sz="3600" b="1" dirty="0" smtClean="0"/>
              <a:t>x = </a:t>
            </a:r>
            <a:r>
              <a:rPr lang="en-US" sz="3600" b="1" dirty="0" err="1" smtClean="0"/>
              <a:t>a</a:t>
            </a:r>
            <a:r>
              <a:rPr lang="en-US" sz="3600" b="1" baseline="30000" dirty="0" err="1" smtClean="0"/>
              <a:t>b</a:t>
            </a:r>
            <a:r>
              <a:rPr lang="en-US" sz="3600" b="1" dirty="0" smtClean="0"/>
              <a:t> </a:t>
            </a:r>
          </a:p>
          <a:p>
            <a:r>
              <a:rPr lang="en-US" sz="3600" b="1" dirty="0" smtClean="0"/>
              <a:t>	x = 2</a:t>
            </a:r>
            <a:r>
              <a:rPr lang="en-US" sz="3600" b="1" baseline="30000" dirty="0" smtClean="0"/>
              <a:t>8</a:t>
            </a:r>
            <a:r>
              <a:rPr lang="en-US" sz="3600" b="1" dirty="0" smtClean="0"/>
              <a:t> </a:t>
            </a:r>
          </a:p>
          <a:p>
            <a:r>
              <a:rPr lang="en-US" sz="3600" b="1" dirty="0" smtClean="0"/>
              <a:t>	x = 256</a:t>
            </a:r>
          </a:p>
        </p:txBody>
      </p:sp>
      <p:sp>
        <p:nvSpPr>
          <p:cNvPr id="11" name="Rounded Rectangle 10"/>
          <p:cNvSpPr/>
          <p:nvPr/>
        </p:nvSpPr>
        <p:spPr>
          <a:xfrm>
            <a:off x="1053920" y="2362200"/>
            <a:ext cx="6333599" cy="35052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193442" y="1574442"/>
            <a:ext cx="1168758"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900" decel="100000" fill="hold"/>
                                        <p:tgtEl>
                                          <p:spTgt spid="1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 calcmode="lin" valueType="num">
                                      <p:cBhvr>
                                        <p:cTn id="42"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3"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6">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p:cTn id="49"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6">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 calcmode="lin" valueType="num">
                                      <p:cBhvr>
                                        <p:cTn id="56"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 calcmode="lin" valueType="num">
                                      <p:cBhvr>
                                        <p:cTn id="63"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64" dur="1000" fill="hold"/>
                                        <p:tgtEl>
                                          <p:spTgt spid="6">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6">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6">
                                            <p:txEl>
                                              <p:pRg st="6" end="6"/>
                                            </p:txEl>
                                          </p:spTgt>
                                        </p:tgtEl>
                                        <p:attrNameLst>
                                          <p:attrName>style.visibility</p:attrName>
                                        </p:attrNameLst>
                                      </p:cBhvr>
                                      <p:to>
                                        <p:strVal val="visible"/>
                                      </p:to>
                                    </p:set>
                                    <p:anim calcmode="lin" valueType="num">
                                      <p:cBhvr>
                                        <p:cTn id="70"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71" dur="1000" fill="hold"/>
                                        <p:tgtEl>
                                          <p:spTgt spid="6">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2" dur="1000"/>
                                        <p:tgtEl>
                                          <p:spTgt spid="6">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0" presetClass="entr" presetSubtype="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wedge">
                                      <p:cBhvr>
                                        <p:cTn id="7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04800" y="311725"/>
            <a:ext cx="8229600" cy="2923310"/>
          </a:xfrm>
          <a:prstGeom prst="rect">
            <a:avLst/>
          </a:prstGeom>
        </p:spPr>
        <p:txBody>
          <a:bodyPr>
            <a:noAutofit/>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25. Mario had three test scores of 78, 76, and 74, while Kristine had scores of 72, 82, and 74. How did Mario’s average (mean) score compare with Kristine’s average score?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Mario’s was 1 point higher.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Mario’s was 1 point lower.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Both averages were the same.</a:t>
            </a:r>
            <a:endParaRPr kumimoji="0" lang="en-PH"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PH" sz="24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d. Mario’s was 2 points lower.</a:t>
            </a:r>
            <a:endParaRPr kumimoji="0" lang="en-PH"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1837799" y="3733800"/>
            <a:ext cx="4953000" cy="1200329"/>
          </a:xfrm>
          <a:prstGeom prst="rect">
            <a:avLst/>
          </a:prstGeom>
        </p:spPr>
        <p:txBody>
          <a:bodyPr wrap="square">
            <a:spAutoFit/>
          </a:bodyPr>
          <a:lstStyle/>
          <a:p>
            <a:r>
              <a:rPr lang="en-US" b="1" dirty="0" smtClean="0"/>
              <a:t>Solution:</a:t>
            </a:r>
          </a:p>
          <a:p>
            <a:pPr>
              <a:lnSpc>
                <a:spcPct val="150000"/>
              </a:lnSpc>
            </a:pPr>
            <a:r>
              <a:rPr lang="en-US" b="1" dirty="0" smtClean="0"/>
              <a:t>	Let          = mean of the scores of Mario</a:t>
            </a:r>
          </a:p>
          <a:p>
            <a:pPr>
              <a:lnSpc>
                <a:spcPct val="150000"/>
              </a:lnSpc>
            </a:pPr>
            <a:r>
              <a:rPr lang="en-US" b="1" dirty="0" smtClean="0"/>
              <a:t>	                = mean of the scores of Kristine</a:t>
            </a:r>
          </a:p>
        </p:txBody>
      </p:sp>
      <p:graphicFrame>
        <p:nvGraphicFramePr>
          <p:cNvPr id="7" name="Object 1"/>
          <p:cNvGraphicFramePr>
            <a:graphicFrameLocks noChangeAspect="1"/>
          </p:cNvGraphicFramePr>
          <p:nvPr/>
        </p:nvGraphicFramePr>
        <p:xfrm>
          <a:off x="3094562" y="4025184"/>
          <a:ext cx="550862" cy="419100"/>
        </p:xfrm>
        <a:graphic>
          <a:graphicData uri="http://schemas.openxmlformats.org/presentationml/2006/ole">
            <p:oleObj spid="_x0000_s100353" name="Equation" r:id="rId6" imgW="304560" imgH="241200" progId="Equation.3">
              <p:embed/>
            </p:oleObj>
          </a:graphicData>
        </a:graphic>
      </p:graphicFrame>
      <p:graphicFrame>
        <p:nvGraphicFramePr>
          <p:cNvPr id="8" name="Object 2"/>
          <p:cNvGraphicFramePr>
            <a:graphicFrameLocks noChangeAspect="1"/>
          </p:cNvGraphicFramePr>
          <p:nvPr/>
        </p:nvGraphicFramePr>
        <p:xfrm>
          <a:off x="3137962" y="4423065"/>
          <a:ext cx="528637" cy="419100"/>
        </p:xfrm>
        <a:graphic>
          <a:graphicData uri="http://schemas.openxmlformats.org/presentationml/2006/ole">
            <p:oleObj spid="_x0000_s100354" name="Equation" r:id="rId7" imgW="291960" imgH="241200" progId="Equation.3">
              <p:embed/>
            </p:oleObj>
          </a:graphicData>
        </a:graphic>
      </p:graphicFrame>
      <p:graphicFrame>
        <p:nvGraphicFramePr>
          <p:cNvPr id="9" name="Object 3"/>
          <p:cNvGraphicFramePr>
            <a:graphicFrameLocks noChangeAspect="1"/>
          </p:cNvGraphicFramePr>
          <p:nvPr/>
        </p:nvGraphicFramePr>
        <p:xfrm>
          <a:off x="3361799" y="4980710"/>
          <a:ext cx="2203450" cy="684212"/>
        </p:xfrm>
        <a:graphic>
          <a:graphicData uri="http://schemas.openxmlformats.org/presentationml/2006/ole">
            <p:oleObj spid="_x0000_s100355" name="Equation" r:id="rId8" imgW="1218960" imgH="393480" progId="Equation.3">
              <p:embed/>
            </p:oleObj>
          </a:graphicData>
        </a:graphic>
      </p:graphicFrame>
      <p:graphicFrame>
        <p:nvGraphicFramePr>
          <p:cNvPr id="10" name="Object 4"/>
          <p:cNvGraphicFramePr>
            <a:graphicFrameLocks noChangeAspect="1"/>
          </p:cNvGraphicFramePr>
          <p:nvPr/>
        </p:nvGraphicFramePr>
        <p:xfrm>
          <a:off x="5562074" y="5147830"/>
          <a:ext cx="619125" cy="352425"/>
        </p:xfrm>
        <a:graphic>
          <a:graphicData uri="http://schemas.openxmlformats.org/presentationml/2006/ole">
            <p:oleObj spid="_x0000_s100356" name="Equation" r:id="rId9" imgW="342720" imgH="203040" progId="Equation.3">
              <p:embed/>
            </p:oleObj>
          </a:graphicData>
        </a:graphic>
      </p:graphicFrame>
      <p:graphicFrame>
        <p:nvGraphicFramePr>
          <p:cNvPr id="11" name="Object 5"/>
          <p:cNvGraphicFramePr>
            <a:graphicFrameLocks noChangeAspect="1"/>
          </p:cNvGraphicFramePr>
          <p:nvPr/>
        </p:nvGraphicFramePr>
        <p:xfrm>
          <a:off x="3361799" y="5716587"/>
          <a:ext cx="2157413" cy="684213"/>
        </p:xfrm>
        <a:graphic>
          <a:graphicData uri="http://schemas.openxmlformats.org/presentationml/2006/ole">
            <p:oleObj spid="_x0000_s100357" name="Equation" r:id="rId10" imgW="1193760" imgH="393480" progId="Equation.3">
              <p:embed/>
            </p:oleObj>
          </a:graphicData>
        </a:graphic>
      </p:graphicFrame>
      <p:graphicFrame>
        <p:nvGraphicFramePr>
          <p:cNvPr id="12" name="Object 6"/>
          <p:cNvGraphicFramePr>
            <a:graphicFrameLocks noChangeAspect="1"/>
          </p:cNvGraphicFramePr>
          <p:nvPr/>
        </p:nvGraphicFramePr>
        <p:xfrm>
          <a:off x="5571599" y="5923685"/>
          <a:ext cx="619125" cy="352425"/>
        </p:xfrm>
        <a:graphic>
          <a:graphicData uri="http://schemas.openxmlformats.org/presentationml/2006/ole">
            <p:oleObj spid="_x0000_s100358" name="Equation" r:id="rId11" imgW="342720" imgH="203040" progId="Equation.3">
              <p:embed/>
            </p:oleObj>
          </a:graphicData>
        </a:graphic>
      </p:graphicFrame>
      <p:sp>
        <p:nvSpPr>
          <p:cNvPr id="13" name="Rounded Rectangle 12"/>
          <p:cNvSpPr/>
          <p:nvPr/>
        </p:nvSpPr>
        <p:spPr>
          <a:xfrm>
            <a:off x="1752600" y="3581400"/>
            <a:ext cx="5114399" cy="29718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193442" y="2528553"/>
            <a:ext cx="4216758"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900" decel="100000" fill="hold"/>
                                        <p:tgtEl>
                                          <p:spTgt spid="13"/>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p:cTn id="41"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
                                            <p:txEl>
                                              <p:pRg st="1" end="1"/>
                                            </p:txEl>
                                          </p:spTgt>
                                        </p:tgtEl>
                                      </p:cBhvr>
                                    </p:animEffect>
                                  </p:childTnLst>
                                </p:cTn>
                              </p:par>
                              <p:par>
                                <p:cTn id="44" presetID="29" presetClass="entr" presetSubtype="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p:cTn id="46" dur="1000" fill="hold"/>
                                        <p:tgtEl>
                                          <p:spTgt spid="7"/>
                                        </p:tgtEl>
                                        <p:attrNameLst>
                                          <p:attrName>ppt_x</p:attrName>
                                        </p:attrNameLst>
                                      </p:cBhvr>
                                      <p:tavLst>
                                        <p:tav tm="0">
                                          <p:val>
                                            <p:strVal val="#ppt_x-.2"/>
                                          </p:val>
                                        </p:tav>
                                        <p:tav tm="100000">
                                          <p:val>
                                            <p:strVal val="#ppt_x"/>
                                          </p:val>
                                        </p:tav>
                                      </p:tavLst>
                                    </p:anim>
                                    <p:anim calcmode="lin" valueType="num">
                                      <p:cBhvr>
                                        <p:cTn id="47"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48" dur="10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9" presetClass="entr" presetSubtype="0" fill="hold" nodeType="click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p:cTn id="53"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54"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5" dur="1000"/>
                                        <p:tgtEl>
                                          <p:spTgt spid="6">
                                            <p:txEl>
                                              <p:pRg st="2" end="2"/>
                                            </p:txEl>
                                          </p:spTgt>
                                        </p:tgtEl>
                                      </p:cBhvr>
                                    </p:animEffect>
                                  </p:childTnLst>
                                </p:cTn>
                              </p:par>
                              <p:par>
                                <p:cTn id="56" presetID="29" presetClass="entr" presetSubtype="0" fill="hold" nodeType="withEffect">
                                  <p:stCondLst>
                                    <p:cond delay="0"/>
                                  </p:stCondLst>
                                  <p:childTnLst>
                                    <p:set>
                                      <p:cBhvr>
                                        <p:cTn id="57" dur="1" fill="hold">
                                          <p:stCondLst>
                                            <p:cond delay="0"/>
                                          </p:stCondLst>
                                        </p:cTn>
                                        <p:tgtEl>
                                          <p:spTgt spid="8"/>
                                        </p:tgtEl>
                                        <p:attrNameLst>
                                          <p:attrName>style.visibility</p:attrName>
                                        </p:attrNameLst>
                                      </p:cBhvr>
                                      <p:to>
                                        <p:strVal val="visible"/>
                                      </p:to>
                                    </p:set>
                                    <p:anim calcmode="lin" valueType="num">
                                      <p:cBhvr>
                                        <p:cTn id="58" dur="1000" fill="hold"/>
                                        <p:tgtEl>
                                          <p:spTgt spid="8"/>
                                        </p:tgtEl>
                                        <p:attrNameLst>
                                          <p:attrName>ppt_x</p:attrName>
                                        </p:attrNameLst>
                                      </p:cBhvr>
                                      <p:tavLst>
                                        <p:tav tm="0">
                                          <p:val>
                                            <p:strVal val="#ppt_x-.2"/>
                                          </p:val>
                                        </p:tav>
                                        <p:tav tm="100000">
                                          <p:val>
                                            <p:strVal val="#ppt_x"/>
                                          </p:val>
                                        </p:tav>
                                      </p:tavLst>
                                    </p:anim>
                                    <p:anim calcmode="lin" valueType="num">
                                      <p:cBhvr>
                                        <p:cTn id="59"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60" dur="1000"/>
                                        <p:tgtEl>
                                          <p:spTgt spid="8"/>
                                        </p:tgtEl>
                                      </p:cBhvr>
                                    </p:animEffect>
                                  </p:childTnLst>
                                </p:cTn>
                              </p:par>
                            </p:childTnLst>
                          </p:cTn>
                        </p:par>
                      </p:childTnLst>
                    </p:cTn>
                  </p:par>
                  <p:par>
                    <p:cTn id="61" fill="hold">
                      <p:stCondLst>
                        <p:cond delay="indefinite"/>
                      </p:stCondLst>
                      <p:childTnLst>
                        <p:par>
                          <p:cTn id="62" fill="hold">
                            <p:stCondLst>
                              <p:cond delay="0"/>
                            </p:stCondLst>
                            <p:childTnLst>
                              <p:par>
                                <p:cTn id="63" presetID="29" presetClass="entr" presetSubtype="0" fill="hold" nodeType="clickEffect">
                                  <p:stCondLst>
                                    <p:cond delay="0"/>
                                  </p:stCondLst>
                                  <p:childTnLst>
                                    <p:set>
                                      <p:cBhvr>
                                        <p:cTn id="64" dur="1" fill="hold">
                                          <p:stCondLst>
                                            <p:cond delay="0"/>
                                          </p:stCondLst>
                                        </p:cTn>
                                        <p:tgtEl>
                                          <p:spTgt spid="9"/>
                                        </p:tgtEl>
                                        <p:attrNameLst>
                                          <p:attrName>style.visibility</p:attrName>
                                        </p:attrNameLst>
                                      </p:cBhvr>
                                      <p:to>
                                        <p:strVal val="visible"/>
                                      </p:to>
                                    </p:set>
                                    <p:anim calcmode="lin" valueType="num">
                                      <p:cBhvr>
                                        <p:cTn id="65" dur="1000" fill="hold"/>
                                        <p:tgtEl>
                                          <p:spTgt spid="9"/>
                                        </p:tgtEl>
                                        <p:attrNameLst>
                                          <p:attrName>ppt_x</p:attrName>
                                        </p:attrNameLst>
                                      </p:cBhvr>
                                      <p:tavLst>
                                        <p:tav tm="0">
                                          <p:val>
                                            <p:strVal val="#ppt_x-.2"/>
                                          </p:val>
                                        </p:tav>
                                        <p:tav tm="100000">
                                          <p:val>
                                            <p:strVal val="#ppt_x"/>
                                          </p:val>
                                        </p:tav>
                                      </p:tavLst>
                                    </p:anim>
                                    <p:anim calcmode="lin" valueType="num">
                                      <p:cBhvr>
                                        <p:cTn id="66"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67" dur="1000"/>
                                        <p:tgtEl>
                                          <p:spTgt spid="9"/>
                                        </p:tgtEl>
                                      </p:cBhvr>
                                    </p:animEffect>
                                  </p:childTnLst>
                                </p:cTn>
                              </p:par>
                            </p:childTnLst>
                          </p:cTn>
                        </p:par>
                      </p:childTnLst>
                    </p:cTn>
                  </p:par>
                  <p:par>
                    <p:cTn id="68" fill="hold">
                      <p:stCondLst>
                        <p:cond delay="indefinite"/>
                      </p:stCondLst>
                      <p:childTnLst>
                        <p:par>
                          <p:cTn id="69" fill="hold">
                            <p:stCondLst>
                              <p:cond delay="0"/>
                            </p:stCondLst>
                            <p:childTnLst>
                              <p:par>
                                <p:cTn id="70" presetID="29" presetClass="entr" presetSubtype="0"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 calcmode="lin" valueType="num">
                                      <p:cBhvr>
                                        <p:cTn id="72" dur="1000" fill="hold"/>
                                        <p:tgtEl>
                                          <p:spTgt spid="10"/>
                                        </p:tgtEl>
                                        <p:attrNameLst>
                                          <p:attrName>ppt_x</p:attrName>
                                        </p:attrNameLst>
                                      </p:cBhvr>
                                      <p:tavLst>
                                        <p:tav tm="0">
                                          <p:val>
                                            <p:strVal val="#ppt_x-.2"/>
                                          </p:val>
                                        </p:tav>
                                        <p:tav tm="100000">
                                          <p:val>
                                            <p:strVal val="#ppt_x"/>
                                          </p:val>
                                        </p:tav>
                                      </p:tavLst>
                                    </p:anim>
                                    <p:anim calcmode="lin" valueType="num">
                                      <p:cBhvr>
                                        <p:cTn id="73"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74" dur="1000"/>
                                        <p:tgtEl>
                                          <p:spTgt spid="10"/>
                                        </p:tgtEl>
                                      </p:cBhvr>
                                    </p:animEffect>
                                  </p:childTnLst>
                                </p:cTn>
                              </p:par>
                            </p:childTnLst>
                          </p:cTn>
                        </p:par>
                      </p:childTnLst>
                    </p:cTn>
                  </p:par>
                  <p:par>
                    <p:cTn id="75" fill="hold">
                      <p:stCondLst>
                        <p:cond delay="indefinite"/>
                      </p:stCondLst>
                      <p:childTnLst>
                        <p:par>
                          <p:cTn id="76" fill="hold">
                            <p:stCondLst>
                              <p:cond delay="0"/>
                            </p:stCondLst>
                            <p:childTnLst>
                              <p:par>
                                <p:cTn id="77" presetID="29" presetClass="entr" presetSubtype="0" fill="hold" nodeType="clickEffect">
                                  <p:stCondLst>
                                    <p:cond delay="0"/>
                                  </p:stCondLst>
                                  <p:childTnLst>
                                    <p:set>
                                      <p:cBhvr>
                                        <p:cTn id="78" dur="1" fill="hold">
                                          <p:stCondLst>
                                            <p:cond delay="0"/>
                                          </p:stCondLst>
                                        </p:cTn>
                                        <p:tgtEl>
                                          <p:spTgt spid="11"/>
                                        </p:tgtEl>
                                        <p:attrNameLst>
                                          <p:attrName>style.visibility</p:attrName>
                                        </p:attrNameLst>
                                      </p:cBhvr>
                                      <p:to>
                                        <p:strVal val="visible"/>
                                      </p:to>
                                    </p:set>
                                    <p:anim calcmode="lin" valueType="num">
                                      <p:cBhvr>
                                        <p:cTn id="79" dur="1000" fill="hold"/>
                                        <p:tgtEl>
                                          <p:spTgt spid="11"/>
                                        </p:tgtEl>
                                        <p:attrNameLst>
                                          <p:attrName>ppt_x</p:attrName>
                                        </p:attrNameLst>
                                      </p:cBhvr>
                                      <p:tavLst>
                                        <p:tav tm="0">
                                          <p:val>
                                            <p:strVal val="#ppt_x-.2"/>
                                          </p:val>
                                        </p:tav>
                                        <p:tav tm="100000">
                                          <p:val>
                                            <p:strVal val="#ppt_x"/>
                                          </p:val>
                                        </p:tav>
                                      </p:tavLst>
                                    </p:anim>
                                    <p:anim calcmode="lin" valueType="num">
                                      <p:cBhvr>
                                        <p:cTn id="80"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81" dur="1000"/>
                                        <p:tgtEl>
                                          <p:spTgt spid="11"/>
                                        </p:tgtEl>
                                      </p:cBhvr>
                                    </p:animEffect>
                                  </p:childTnLst>
                                </p:cTn>
                              </p:par>
                            </p:childTnLst>
                          </p:cTn>
                        </p:par>
                      </p:childTnLst>
                    </p:cTn>
                  </p:par>
                  <p:par>
                    <p:cTn id="82" fill="hold">
                      <p:stCondLst>
                        <p:cond delay="indefinite"/>
                      </p:stCondLst>
                      <p:childTnLst>
                        <p:par>
                          <p:cTn id="83" fill="hold">
                            <p:stCondLst>
                              <p:cond delay="0"/>
                            </p:stCondLst>
                            <p:childTnLst>
                              <p:par>
                                <p:cTn id="84" presetID="29" presetClass="entr" presetSubtype="0" fill="hold" nodeType="clickEffect">
                                  <p:stCondLst>
                                    <p:cond delay="0"/>
                                  </p:stCondLst>
                                  <p:childTnLst>
                                    <p:set>
                                      <p:cBhvr>
                                        <p:cTn id="85" dur="1" fill="hold">
                                          <p:stCondLst>
                                            <p:cond delay="0"/>
                                          </p:stCondLst>
                                        </p:cTn>
                                        <p:tgtEl>
                                          <p:spTgt spid="12"/>
                                        </p:tgtEl>
                                        <p:attrNameLst>
                                          <p:attrName>style.visibility</p:attrName>
                                        </p:attrNameLst>
                                      </p:cBhvr>
                                      <p:to>
                                        <p:strVal val="visible"/>
                                      </p:to>
                                    </p:set>
                                    <p:anim calcmode="lin" valueType="num">
                                      <p:cBhvr>
                                        <p:cTn id="86" dur="1000" fill="hold"/>
                                        <p:tgtEl>
                                          <p:spTgt spid="12"/>
                                        </p:tgtEl>
                                        <p:attrNameLst>
                                          <p:attrName>ppt_x</p:attrName>
                                        </p:attrNameLst>
                                      </p:cBhvr>
                                      <p:tavLst>
                                        <p:tav tm="0">
                                          <p:val>
                                            <p:strVal val="#ppt_x-.2"/>
                                          </p:val>
                                        </p:tav>
                                        <p:tav tm="100000">
                                          <p:val>
                                            <p:strVal val="#ppt_x"/>
                                          </p:val>
                                        </p:tav>
                                      </p:tavLst>
                                    </p:anim>
                                    <p:anim calcmode="lin" valueType="num">
                                      <p:cBhvr>
                                        <p:cTn id="87"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88" dur="1000"/>
                                        <p:tgtEl>
                                          <p:spTgt spid="12"/>
                                        </p:tgtEl>
                                      </p:cBhvr>
                                    </p:animEffect>
                                  </p:childTnLst>
                                </p:cTn>
                              </p:par>
                            </p:childTnLst>
                          </p:cTn>
                        </p:par>
                      </p:childTnLst>
                    </p:cTn>
                  </p:par>
                  <p:par>
                    <p:cTn id="89" fill="hold">
                      <p:stCondLst>
                        <p:cond delay="indefinite"/>
                      </p:stCondLst>
                      <p:childTnLst>
                        <p:par>
                          <p:cTn id="90" fill="hold">
                            <p:stCondLst>
                              <p:cond delay="0"/>
                            </p:stCondLst>
                            <p:childTnLst>
                              <p:par>
                                <p:cTn id="91" presetID="20" presetClass="entr" presetSubtype="0" fill="hold" grpId="0" nodeType="click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wedge">
                                      <p:cBhvr>
                                        <p:cTn id="93"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04800"/>
            <a:ext cx="8229600" cy="3985706"/>
          </a:xfrm>
          <a:prstGeom prst="rect">
            <a:avLst/>
          </a:prstGeom>
        </p:spPr>
        <p:txBody>
          <a:bodyPr wrap="square">
            <a:spAutoFit/>
          </a:bodyPr>
          <a:lstStyle/>
          <a:p>
            <a:pPr marL="398463" indent="-398463"/>
            <a:r>
              <a:rPr lang="en-US" sz="2200" dirty="0" smtClean="0"/>
              <a:t>26. Mr. Macho gave a mathematics test to a group of students. The distribution of the scores is as follows:</a:t>
            </a:r>
          </a:p>
          <a:p>
            <a:endParaRPr lang="en-US" sz="2200" dirty="0" smtClean="0"/>
          </a:p>
          <a:p>
            <a:endParaRPr lang="en-US" sz="2200" dirty="0" smtClean="0"/>
          </a:p>
          <a:p>
            <a:endParaRPr lang="en-US" sz="2200" dirty="0" smtClean="0"/>
          </a:p>
          <a:p>
            <a:endParaRPr lang="en-US" sz="2200" dirty="0" smtClean="0"/>
          </a:p>
          <a:p>
            <a:pPr lvl="0"/>
            <a:endParaRPr lang="en-US" sz="2200" dirty="0" smtClean="0"/>
          </a:p>
          <a:p>
            <a:pPr lvl="0"/>
            <a:r>
              <a:rPr lang="en-US" sz="2200" dirty="0" smtClean="0"/>
              <a:t>	</a:t>
            </a:r>
          </a:p>
          <a:p>
            <a:pPr lvl="0"/>
            <a:endParaRPr lang="en-US" sz="1100" dirty="0" smtClean="0"/>
          </a:p>
          <a:p>
            <a:pPr marL="398463" lvl="0" indent="-398463"/>
            <a:r>
              <a:rPr lang="en-US" sz="2200" dirty="0" smtClean="0"/>
              <a:t>	How many pupils took the test?</a:t>
            </a:r>
            <a:endParaRPr lang="en-PH" sz="2200" dirty="0" smtClean="0"/>
          </a:p>
          <a:p>
            <a:r>
              <a:rPr lang="en-US" sz="2200" dirty="0" smtClean="0"/>
              <a:t>	a. 25			c. 22</a:t>
            </a:r>
          </a:p>
          <a:p>
            <a:r>
              <a:rPr lang="en-US" sz="2200" dirty="0" smtClean="0"/>
              <a:t>	b. 24			d. 12</a:t>
            </a:r>
          </a:p>
        </p:txBody>
      </p:sp>
      <p:graphicFrame>
        <p:nvGraphicFramePr>
          <p:cNvPr id="6" name="Table 5"/>
          <p:cNvGraphicFramePr>
            <a:graphicFrameLocks noGrp="1"/>
          </p:cNvGraphicFramePr>
          <p:nvPr/>
        </p:nvGraphicFramePr>
        <p:xfrm>
          <a:off x="2364348" y="1051560"/>
          <a:ext cx="4191000" cy="2072640"/>
        </p:xfrm>
        <a:graphic>
          <a:graphicData uri="http://schemas.openxmlformats.org/drawingml/2006/table">
            <a:tbl>
              <a:tblPr firstRow="1" bandRow="1">
                <a:tableStyleId>{5940675A-B579-460E-94D1-54222C63F5DA}</a:tableStyleId>
              </a:tblPr>
              <a:tblGrid>
                <a:gridCol w="2095500"/>
                <a:gridCol w="2095500"/>
              </a:tblGrid>
              <a:tr h="345440">
                <a:tc>
                  <a:txBody>
                    <a:bodyPr/>
                    <a:lstStyle/>
                    <a:p>
                      <a:pPr algn="ctr"/>
                      <a:r>
                        <a:rPr lang="en-US" sz="1600" b="1" dirty="0" smtClean="0"/>
                        <a:t>SCORES</a:t>
                      </a:r>
                      <a:endParaRPr lang="en-US" sz="1600" b="1" dirty="0">
                        <a:solidFill>
                          <a:schemeClr val="tx1"/>
                        </a:solidFill>
                      </a:endParaRPr>
                    </a:p>
                  </a:txBody>
                  <a:tcPr/>
                </a:tc>
                <a:tc>
                  <a:txBody>
                    <a:bodyPr/>
                    <a:lstStyle/>
                    <a:p>
                      <a:pPr algn="ctr"/>
                      <a:r>
                        <a:rPr lang="en-US" sz="1600" b="1" dirty="0" smtClean="0"/>
                        <a:t>FREQUENCY</a:t>
                      </a:r>
                      <a:endParaRPr lang="en-US" sz="1600" b="1" dirty="0">
                        <a:solidFill>
                          <a:schemeClr val="tx1"/>
                        </a:solidFill>
                      </a:endParaRPr>
                    </a:p>
                  </a:txBody>
                  <a:tcPr/>
                </a:tc>
              </a:tr>
              <a:tr h="345440">
                <a:tc>
                  <a:txBody>
                    <a:bodyPr/>
                    <a:lstStyle/>
                    <a:p>
                      <a:pPr algn="ctr"/>
                      <a:r>
                        <a:rPr lang="en-US" sz="1600" b="1" dirty="0" smtClean="0"/>
                        <a:t>21-25</a:t>
                      </a:r>
                      <a:endParaRPr lang="en-US" sz="1600" b="1" dirty="0">
                        <a:solidFill>
                          <a:schemeClr val="tx1"/>
                        </a:solidFill>
                      </a:endParaRPr>
                    </a:p>
                  </a:txBody>
                  <a:tcPr/>
                </a:tc>
                <a:tc>
                  <a:txBody>
                    <a:bodyPr/>
                    <a:lstStyle/>
                    <a:p>
                      <a:pPr algn="ctr"/>
                      <a:r>
                        <a:rPr lang="en-US" sz="1600" b="1" dirty="0" smtClean="0"/>
                        <a:t>2</a:t>
                      </a:r>
                      <a:endParaRPr lang="en-US" sz="1600" b="1" dirty="0">
                        <a:solidFill>
                          <a:schemeClr val="tx1"/>
                        </a:solidFill>
                      </a:endParaRPr>
                    </a:p>
                  </a:txBody>
                  <a:tcPr/>
                </a:tc>
              </a:tr>
              <a:tr h="345440">
                <a:tc>
                  <a:txBody>
                    <a:bodyPr/>
                    <a:lstStyle/>
                    <a:p>
                      <a:pPr algn="ctr"/>
                      <a:r>
                        <a:rPr lang="en-US" sz="1600" b="1" dirty="0" smtClean="0"/>
                        <a:t>16-20</a:t>
                      </a:r>
                      <a:endParaRPr lang="en-US" sz="1600" b="1" dirty="0">
                        <a:solidFill>
                          <a:schemeClr val="tx1"/>
                        </a:solidFill>
                      </a:endParaRPr>
                    </a:p>
                  </a:txBody>
                  <a:tcPr/>
                </a:tc>
                <a:tc>
                  <a:txBody>
                    <a:bodyPr/>
                    <a:lstStyle/>
                    <a:p>
                      <a:pPr algn="ctr"/>
                      <a:r>
                        <a:rPr lang="en-US" sz="1600" b="1" dirty="0" smtClean="0"/>
                        <a:t>5</a:t>
                      </a:r>
                      <a:endParaRPr lang="en-US" sz="1600" b="1" dirty="0">
                        <a:solidFill>
                          <a:schemeClr val="tx1"/>
                        </a:solidFill>
                      </a:endParaRPr>
                    </a:p>
                  </a:txBody>
                  <a:tcPr/>
                </a:tc>
              </a:tr>
              <a:tr h="345440">
                <a:tc>
                  <a:txBody>
                    <a:bodyPr/>
                    <a:lstStyle/>
                    <a:p>
                      <a:pPr algn="ctr"/>
                      <a:r>
                        <a:rPr lang="en-US" sz="1600" b="1" dirty="0" smtClean="0"/>
                        <a:t>11-15</a:t>
                      </a:r>
                      <a:endParaRPr lang="en-US" sz="1600" b="1" dirty="0">
                        <a:solidFill>
                          <a:schemeClr val="tx1"/>
                        </a:solidFill>
                      </a:endParaRPr>
                    </a:p>
                  </a:txBody>
                  <a:tcPr/>
                </a:tc>
                <a:tc>
                  <a:txBody>
                    <a:bodyPr/>
                    <a:lstStyle/>
                    <a:p>
                      <a:pPr algn="ctr"/>
                      <a:r>
                        <a:rPr lang="en-US" sz="1600" b="1" dirty="0" smtClean="0"/>
                        <a:t>12</a:t>
                      </a:r>
                      <a:endParaRPr lang="en-US" sz="1600" b="1" dirty="0">
                        <a:solidFill>
                          <a:schemeClr val="tx1"/>
                        </a:solidFill>
                      </a:endParaRPr>
                    </a:p>
                  </a:txBody>
                  <a:tcPr/>
                </a:tc>
              </a:tr>
              <a:tr h="345440">
                <a:tc>
                  <a:txBody>
                    <a:bodyPr/>
                    <a:lstStyle/>
                    <a:p>
                      <a:pPr algn="ctr"/>
                      <a:r>
                        <a:rPr lang="en-US" sz="1600" b="1" dirty="0" smtClean="0"/>
                        <a:t>6-10</a:t>
                      </a:r>
                      <a:endParaRPr lang="en-US" sz="1600" b="1" dirty="0">
                        <a:solidFill>
                          <a:schemeClr val="tx1"/>
                        </a:solidFill>
                      </a:endParaRPr>
                    </a:p>
                  </a:txBody>
                  <a:tcPr/>
                </a:tc>
                <a:tc>
                  <a:txBody>
                    <a:bodyPr/>
                    <a:lstStyle/>
                    <a:p>
                      <a:pPr algn="ctr"/>
                      <a:r>
                        <a:rPr lang="en-US" sz="1600" b="1" dirty="0" smtClean="0"/>
                        <a:t>4</a:t>
                      </a:r>
                      <a:endParaRPr lang="en-US" sz="1600" b="1" dirty="0">
                        <a:solidFill>
                          <a:schemeClr val="tx1"/>
                        </a:solidFill>
                      </a:endParaRPr>
                    </a:p>
                  </a:txBody>
                  <a:tcPr/>
                </a:tc>
              </a:tr>
              <a:tr h="345440">
                <a:tc>
                  <a:txBody>
                    <a:bodyPr/>
                    <a:lstStyle/>
                    <a:p>
                      <a:pPr algn="ctr"/>
                      <a:r>
                        <a:rPr lang="en-US" sz="1600" b="1" dirty="0" smtClean="0"/>
                        <a:t>1-5</a:t>
                      </a:r>
                      <a:endParaRPr lang="en-US" sz="1600" b="1" dirty="0">
                        <a:solidFill>
                          <a:schemeClr val="tx1"/>
                        </a:solidFill>
                      </a:endParaRPr>
                    </a:p>
                  </a:txBody>
                  <a:tcPr/>
                </a:tc>
                <a:tc>
                  <a:txBody>
                    <a:bodyPr/>
                    <a:lstStyle/>
                    <a:p>
                      <a:pPr algn="ctr"/>
                      <a:r>
                        <a:rPr lang="en-US" sz="1600" b="1" dirty="0" smtClean="0"/>
                        <a:t>1</a:t>
                      </a:r>
                      <a:endParaRPr lang="en-US" sz="1600" b="1" dirty="0">
                        <a:solidFill>
                          <a:schemeClr val="tx1"/>
                        </a:solidFill>
                      </a:endParaRPr>
                    </a:p>
                  </a:txBody>
                  <a:tcPr/>
                </a:tc>
              </a:tr>
            </a:tbl>
          </a:graphicData>
        </a:graphic>
      </p:graphicFrame>
      <p:sp>
        <p:nvSpPr>
          <p:cNvPr id="7" name="Rectangle 6"/>
          <p:cNvSpPr/>
          <p:nvPr/>
        </p:nvSpPr>
        <p:spPr>
          <a:xfrm>
            <a:off x="2133600" y="4343400"/>
            <a:ext cx="4876800" cy="784830"/>
          </a:xfrm>
          <a:prstGeom prst="rect">
            <a:avLst/>
          </a:prstGeom>
        </p:spPr>
        <p:txBody>
          <a:bodyPr wrap="square">
            <a:spAutoFit/>
          </a:bodyPr>
          <a:lstStyle/>
          <a:p>
            <a:r>
              <a:rPr lang="en-US" b="1" dirty="0" smtClean="0"/>
              <a:t>Solution:</a:t>
            </a:r>
          </a:p>
          <a:p>
            <a:pPr>
              <a:lnSpc>
                <a:spcPct val="150000"/>
              </a:lnSpc>
            </a:pPr>
            <a:r>
              <a:rPr lang="en-US" b="1" dirty="0" smtClean="0"/>
              <a:t>	Let N = summation of the frequencies</a:t>
            </a:r>
          </a:p>
        </p:txBody>
      </p:sp>
      <p:graphicFrame>
        <p:nvGraphicFramePr>
          <p:cNvPr id="8" name="Object 1"/>
          <p:cNvGraphicFramePr>
            <a:graphicFrameLocks noChangeAspect="1"/>
          </p:cNvGraphicFramePr>
          <p:nvPr/>
        </p:nvGraphicFramePr>
        <p:xfrm>
          <a:off x="3567545" y="5029200"/>
          <a:ext cx="1093787" cy="459708"/>
        </p:xfrm>
        <a:graphic>
          <a:graphicData uri="http://schemas.openxmlformats.org/presentationml/2006/ole">
            <p:oleObj spid="_x0000_s99329" name="Equation" r:id="rId6" imgW="609480" imgH="253800" progId="Equation.3">
              <p:embed/>
            </p:oleObj>
          </a:graphicData>
        </a:graphic>
      </p:graphicFrame>
      <p:graphicFrame>
        <p:nvGraphicFramePr>
          <p:cNvPr id="9" name="Object 2"/>
          <p:cNvGraphicFramePr>
            <a:graphicFrameLocks noChangeAspect="1"/>
          </p:cNvGraphicFramePr>
          <p:nvPr/>
        </p:nvGraphicFramePr>
        <p:xfrm>
          <a:off x="3575483" y="5611090"/>
          <a:ext cx="2278062" cy="322262"/>
        </p:xfrm>
        <a:graphic>
          <a:graphicData uri="http://schemas.openxmlformats.org/presentationml/2006/ole">
            <p:oleObj spid="_x0000_s99330" name="Equation" r:id="rId7" imgW="1269720" imgH="177480" progId="Equation.3">
              <p:embed/>
            </p:oleObj>
          </a:graphicData>
        </a:graphic>
      </p:graphicFrame>
      <p:graphicFrame>
        <p:nvGraphicFramePr>
          <p:cNvPr id="10" name="Object 3"/>
          <p:cNvGraphicFramePr>
            <a:graphicFrameLocks noChangeAspect="1"/>
          </p:cNvGraphicFramePr>
          <p:nvPr/>
        </p:nvGraphicFramePr>
        <p:xfrm>
          <a:off x="3190217" y="6078538"/>
          <a:ext cx="1686583" cy="627062"/>
        </p:xfrm>
        <a:graphic>
          <a:graphicData uri="http://schemas.openxmlformats.org/presentationml/2006/ole">
            <p:oleObj spid="_x0000_s99331" name="Equation" r:id="rId8" imgW="482400" imgH="177480" progId="Equation.3">
              <p:embed/>
            </p:oleObj>
          </a:graphicData>
        </a:graphic>
      </p:graphicFrame>
      <p:sp>
        <p:nvSpPr>
          <p:cNvPr id="11" name="Rounded Rectangle 10"/>
          <p:cNvSpPr/>
          <p:nvPr/>
        </p:nvSpPr>
        <p:spPr>
          <a:xfrm>
            <a:off x="2057400" y="4267200"/>
            <a:ext cx="4876800" cy="2438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345842" y="3862590"/>
            <a:ext cx="787758" cy="3670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p:cTn id="31"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32" dur="500" fill="hold"/>
                                        <p:tgtEl>
                                          <p:spTgt spid="5">
                                            <p:txEl>
                                              <p:pRg st="8" end="8"/>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slide(fromBottom)">
                                      <p:cBhvr>
                                        <p:cTn id="37" dur="500"/>
                                        <p:tgtEl>
                                          <p:spTgt spid="5">
                                            <p:txEl>
                                              <p:pRg st="9" end="9"/>
                                            </p:txEl>
                                          </p:spTgt>
                                        </p:tgtEl>
                                      </p:cBhvr>
                                    </p:animEffect>
                                  </p:childTnLst>
                                </p:cTn>
                              </p:par>
                              <p:par>
                                <p:cTn id="38" presetID="12" presetClass="entr" presetSubtype="4" fill="hold" nodeType="withEffect">
                                  <p:stCondLst>
                                    <p:cond delay="0"/>
                                  </p:stCondLst>
                                  <p:childTnLst>
                                    <p:set>
                                      <p:cBhvr>
                                        <p:cTn id="39" dur="1" fill="hold">
                                          <p:stCondLst>
                                            <p:cond delay="0"/>
                                          </p:stCondLst>
                                        </p:cTn>
                                        <p:tgtEl>
                                          <p:spTgt spid="5">
                                            <p:txEl>
                                              <p:pRg st="10" end="10"/>
                                            </p:txEl>
                                          </p:spTgt>
                                        </p:tgtEl>
                                        <p:attrNameLst>
                                          <p:attrName>style.visibility</p:attrName>
                                        </p:attrNameLst>
                                      </p:cBhvr>
                                      <p:to>
                                        <p:strVal val="visible"/>
                                      </p:to>
                                    </p:set>
                                    <p:animEffect transition="in" filter="slide(fromBottom)">
                                      <p:cBhvr>
                                        <p:cTn id="40" dur="500"/>
                                        <p:tgtEl>
                                          <p:spTgt spid="5">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7">
                                            <p:txEl>
                                              <p:pRg st="0" end="0"/>
                                            </p:txEl>
                                          </p:spTgt>
                                        </p:tgtEl>
                                        <p:attrNameLst>
                                          <p:attrName>style.visibility</p:attrName>
                                        </p:attrNameLst>
                                      </p:cBhvr>
                                      <p:to>
                                        <p:strVal val="visible"/>
                                      </p:to>
                                    </p:set>
                                    <p:animEffect transition="in" filter="fade">
                                      <p:cBhvr>
                                        <p:cTn id="45" dur="1000"/>
                                        <p:tgtEl>
                                          <p:spTgt spid="7">
                                            <p:txEl>
                                              <p:pRg st="0" end="0"/>
                                            </p:txEl>
                                          </p:spTgt>
                                        </p:tgtEl>
                                      </p:cBhvr>
                                    </p:animEffect>
                                    <p:anim calcmode="lin" valueType="num">
                                      <p:cBhvr>
                                        <p:cTn id="4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7" dur="900" decel="100000" fill="hold"/>
                                        <p:tgtEl>
                                          <p:spTgt spid="7">
                                            <p:txEl>
                                              <p:pRg st="0" end="0"/>
                                            </p:txEl>
                                          </p:spTgt>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7">
                                            <p:txEl>
                                              <p:pRg st="0" end="0"/>
                                            </p:txEl>
                                          </p:spTgt>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1000"/>
                                        <p:tgtEl>
                                          <p:spTgt spid="11"/>
                                        </p:tgtEl>
                                      </p:cBhvr>
                                    </p:animEffect>
                                    <p:anim calcmode="lin" valueType="num">
                                      <p:cBhvr>
                                        <p:cTn id="52" dur="1000" fill="hold"/>
                                        <p:tgtEl>
                                          <p:spTgt spid="11"/>
                                        </p:tgtEl>
                                        <p:attrNameLst>
                                          <p:attrName>ppt_x</p:attrName>
                                        </p:attrNameLst>
                                      </p:cBhvr>
                                      <p:tavLst>
                                        <p:tav tm="0">
                                          <p:val>
                                            <p:strVal val="#ppt_x"/>
                                          </p:val>
                                        </p:tav>
                                        <p:tav tm="100000">
                                          <p:val>
                                            <p:strVal val="#ppt_x"/>
                                          </p:val>
                                        </p:tav>
                                      </p:tavLst>
                                    </p:anim>
                                    <p:anim calcmode="lin" valueType="num">
                                      <p:cBhvr>
                                        <p:cTn id="53" dur="900" decel="100000" fill="hold"/>
                                        <p:tgtEl>
                                          <p:spTgt spid="11"/>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nodeType="clickEffect">
                                  <p:stCondLst>
                                    <p:cond delay="0"/>
                                  </p:stCondLst>
                                  <p:childTnLst>
                                    <p:set>
                                      <p:cBhvr>
                                        <p:cTn id="58" dur="1" fill="hold">
                                          <p:stCondLst>
                                            <p:cond delay="0"/>
                                          </p:stCondLst>
                                        </p:cTn>
                                        <p:tgtEl>
                                          <p:spTgt spid="7">
                                            <p:txEl>
                                              <p:pRg st="1" end="1"/>
                                            </p:txEl>
                                          </p:spTgt>
                                        </p:tgtEl>
                                        <p:attrNameLst>
                                          <p:attrName>style.visibility</p:attrName>
                                        </p:attrNameLst>
                                      </p:cBhvr>
                                      <p:to>
                                        <p:strVal val="visible"/>
                                      </p:to>
                                    </p:set>
                                    <p:anim calcmode="lin" valueType="num">
                                      <p:cBhvr>
                                        <p:cTn id="59" dur="1000" fill="hold"/>
                                        <p:tgtEl>
                                          <p:spTgt spid="7">
                                            <p:txEl>
                                              <p:pRg st="1" end="1"/>
                                            </p:txEl>
                                          </p:spTgt>
                                        </p:tgtEl>
                                        <p:attrNameLst>
                                          <p:attrName>ppt_x</p:attrName>
                                        </p:attrNameLst>
                                      </p:cBhvr>
                                      <p:tavLst>
                                        <p:tav tm="0">
                                          <p:val>
                                            <p:strVal val="#ppt_x-.2"/>
                                          </p:val>
                                        </p:tav>
                                        <p:tav tm="100000">
                                          <p:val>
                                            <p:strVal val="#ppt_x"/>
                                          </p:val>
                                        </p:tav>
                                      </p:tavLst>
                                    </p:anim>
                                    <p:anim calcmode="lin" valueType="num">
                                      <p:cBhvr>
                                        <p:cTn id="60" dur="1000" fill="hold"/>
                                        <p:tgtEl>
                                          <p:spTgt spid="7">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61" dur="1000"/>
                                        <p:tgtEl>
                                          <p:spTgt spid="7">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nodeType="click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1000" fill="hold"/>
                                        <p:tgtEl>
                                          <p:spTgt spid="8"/>
                                        </p:tgtEl>
                                        <p:attrNameLst>
                                          <p:attrName>ppt_x</p:attrName>
                                        </p:attrNameLst>
                                      </p:cBhvr>
                                      <p:tavLst>
                                        <p:tav tm="0">
                                          <p:val>
                                            <p:strVal val="#ppt_x-.2"/>
                                          </p:val>
                                        </p:tav>
                                        <p:tav tm="100000">
                                          <p:val>
                                            <p:strVal val="#ppt_x"/>
                                          </p:val>
                                        </p:tav>
                                      </p:tavLst>
                                    </p:anim>
                                    <p:anim calcmode="lin" valueType="num">
                                      <p:cBhvr>
                                        <p:cTn id="67"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68" dur="1000"/>
                                        <p:tgtEl>
                                          <p:spTgt spid="8"/>
                                        </p:tgtEl>
                                      </p:cBhvr>
                                    </p:animEffect>
                                  </p:childTnLst>
                                </p:cTn>
                              </p:par>
                            </p:childTnLst>
                          </p:cTn>
                        </p:par>
                      </p:childTnLst>
                    </p:cTn>
                  </p:par>
                  <p:par>
                    <p:cTn id="69" fill="hold">
                      <p:stCondLst>
                        <p:cond delay="indefinite"/>
                      </p:stCondLst>
                      <p:childTnLst>
                        <p:par>
                          <p:cTn id="70" fill="hold">
                            <p:stCondLst>
                              <p:cond delay="0"/>
                            </p:stCondLst>
                            <p:childTnLst>
                              <p:par>
                                <p:cTn id="71" presetID="29" presetClass="entr" presetSubtype="0" fill="hold"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p:cTn id="73" dur="1000" fill="hold"/>
                                        <p:tgtEl>
                                          <p:spTgt spid="9"/>
                                        </p:tgtEl>
                                        <p:attrNameLst>
                                          <p:attrName>ppt_x</p:attrName>
                                        </p:attrNameLst>
                                      </p:cBhvr>
                                      <p:tavLst>
                                        <p:tav tm="0">
                                          <p:val>
                                            <p:strVal val="#ppt_x-.2"/>
                                          </p:val>
                                        </p:tav>
                                        <p:tav tm="100000">
                                          <p:val>
                                            <p:strVal val="#ppt_x"/>
                                          </p:val>
                                        </p:tav>
                                      </p:tavLst>
                                    </p:anim>
                                    <p:anim calcmode="lin" valueType="num">
                                      <p:cBhvr>
                                        <p:cTn id="74"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75" dur="1000"/>
                                        <p:tgtEl>
                                          <p:spTgt spid="9"/>
                                        </p:tgtEl>
                                      </p:cBhvr>
                                    </p:animEffect>
                                  </p:childTnLst>
                                </p:cTn>
                              </p:par>
                            </p:childTnLst>
                          </p:cTn>
                        </p:par>
                      </p:childTnLst>
                    </p:cTn>
                  </p:par>
                  <p:par>
                    <p:cTn id="76" fill="hold">
                      <p:stCondLst>
                        <p:cond delay="indefinite"/>
                      </p:stCondLst>
                      <p:childTnLst>
                        <p:par>
                          <p:cTn id="77" fill="hold">
                            <p:stCondLst>
                              <p:cond delay="0"/>
                            </p:stCondLst>
                            <p:childTnLst>
                              <p:par>
                                <p:cTn id="78" presetID="29" presetClass="entr" presetSubtype="0" fill="hold"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p:cTn id="80" dur="1000" fill="hold"/>
                                        <p:tgtEl>
                                          <p:spTgt spid="10"/>
                                        </p:tgtEl>
                                        <p:attrNameLst>
                                          <p:attrName>ppt_x</p:attrName>
                                        </p:attrNameLst>
                                      </p:cBhvr>
                                      <p:tavLst>
                                        <p:tav tm="0">
                                          <p:val>
                                            <p:strVal val="#ppt_x-.2"/>
                                          </p:val>
                                        </p:tav>
                                        <p:tav tm="100000">
                                          <p:val>
                                            <p:strVal val="#ppt_x"/>
                                          </p:val>
                                        </p:tav>
                                      </p:tavLst>
                                    </p:anim>
                                    <p:anim calcmode="lin" valueType="num">
                                      <p:cBhvr>
                                        <p:cTn id="81"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82" dur="1000"/>
                                        <p:tgtEl>
                                          <p:spTgt spid="10"/>
                                        </p:tgtEl>
                                      </p:cBhvr>
                                    </p:animEffect>
                                  </p:childTnLst>
                                </p:cTn>
                              </p:par>
                            </p:childTnLst>
                          </p:cTn>
                        </p:par>
                      </p:childTnLst>
                    </p:cTn>
                  </p:par>
                  <p:par>
                    <p:cTn id="83" fill="hold">
                      <p:stCondLst>
                        <p:cond delay="indefinite"/>
                      </p:stCondLst>
                      <p:childTnLst>
                        <p:par>
                          <p:cTn id="84" fill="hold">
                            <p:stCondLst>
                              <p:cond delay="0"/>
                            </p:stCondLst>
                            <p:childTnLst>
                              <p:par>
                                <p:cTn id="85" presetID="20" presetClass="entr" presetSubtype="0" fill="hold" grpId="0" nodeType="clickEffect">
                                  <p:stCondLst>
                                    <p:cond delay="0"/>
                                  </p:stCondLst>
                                  <p:childTnLst>
                                    <p:set>
                                      <p:cBhvr>
                                        <p:cTn id="86" dur="1" fill="hold">
                                          <p:stCondLst>
                                            <p:cond delay="0"/>
                                          </p:stCondLst>
                                        </p:cTn>
                                        <p:tgtEl>
                                          <p:spTgt spid="12"/>
                                        </p:tgtEl>
                                        <p:attrNameLst>
                                          <p:attrName>style.visibility</p:attrName>
                                        </p:attrNameLst>
                                      </p:cBhvr>
                                      <p:to>
                                        <p:strVal val="visible"/>
                                      </p:to>
                                    </p:set>
                                    <p:animEffect transition="in" filter="wedge">
                                      <p:cBhvr>
                                        <p:cTn id="8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228600" y="277090"/>
            <a:ext cx="8686800" cy="4201150"/>
          </a:xfrm>
          <a:prstGeom prst="rect">
            <a:avLst/>
          </a:prstGeom>
        </p:spPr>
        <p:txBody>
          <a:bodyPr wrap="square">
            <a:spAutoFit/>
          </a:bodyPr>
          <a:lstStyle/>
          <a:p>
            <a:pPr marL="398463" indent="-398463"/>
            <a:r>
              <a:rPr lang="en-US" sz="2200" dirty="0" smtClean="0"/>
              <a:t>27. Mr. Macho gave a mathematics test to a group of  students. The distribution of the scores is as follows:</a:t>
            </a:r>
          </a:p>
          <a:p>
            <a:endParaRPr lang="en-US" sz="2200" dirty="0" smtClean="0"/>
          </a:p>
          <a:p>
            <a:endParaRPr lang="en-US" sz="2200" dirty="0" smtClean="0"/>
          </a:p>
          <a:p>
            <a:endParaRPr lang="en-US" sz="2200" dirty="0" smtClean="0"/>
          </a:p>
          <a:p>
            <a:endParaRPr lang="en-US" sz="2200" dirty="0" smtClean="0"/>
          </a:p>
          <a:p>
            <a:endParaRPr lang="en-US" sz="2200" dirty="0" smtClean="0"/>
          </a:p>
          <a:p>
            <a:endParaRPr lang="en-US" sz="2200" dirty="0" smtClean="0"/>
          </a:p>
          <a:p>
            <a:endParaRPr lang="en-US" sz="1400" dirty="0" smtClean="0"/>
          </a:p>
          <a:p>
            <a:pPr marL="398463" lvl="0"/>
            <a:r>
              <a:rPr lang="en-US" sz="2200" dirty="0" smtClean="0"/>
              <a:t>What is the size of the interval of the frequency distribution?</a:t>
            </a:r>
          </a:p>
          <a:p>
            <a:pPr lvl="0"/>
            <a:endParaRPr lang="en-PH" sz="600" dirty="0" smtClean="0"/>
          </a:p>
          <a:p>
            <a:r>
              <a:rPr lang="en-US" sz="2200" dirty="0" smtClean="0"/>
              <a:t>	a. 2			c. 4</a:t>
            </a:r>
          </a:p>
          <a:p>
            <a:r>
              <a:rPr lang="en-US" sz="2200" dirty="0" smtClean="0"/>
              <a:t>	b. 3			d. 5</a:t>
            </a:r>
          </a:p>
        </p:txBody>
      </p:sp>
      <p:sp>
        <p:nvSpPr>
          <p:cNvPr id="7" name="Rectangle 6"/>
          <p:cNvSpPr/>
          <p:nvPr/>
        </p:nvSpPr>
        <p:spPr>
          <a:xfrm>
            <a:off x="1828800" y="4572000"/>
            <a:ext cx="5410200" cy="1477328"/>
          </a:xfrm>
          <a:prstGeom prst="rect">
            <a:avLst/>
          </a:prstGeom>
        </p:spPr>
        <p:txBody>
          <a:bodyPr wrap="square">
            <a:spAutoFit/>
          </a:bodyPr>
          <a:lstStyle/>
          <a:p>
            <a:r>
              <a:rPr lang="en-US" b="1" dirty="0" smtClean="0"/>
              <a:t>Solution:</a:t>
            </a:r>
          </a:p>
          <a:p>
            <a:r>
              <a:rPr lang="en-US" b="1" dirty="0" smtClean="0"/>
              <a:t>	Let </a:t>
            </a:r>
            <a:r>
              <a:rPr lang="en-US" b="1" dirty="0" err="1" smtClean="0"/>
              <a:t>i</a:t>
            </a:r>
            <a:r>
              <a:rPr lang="en-US" b="1" dirty="0" smtClean="0"/>
              <a:t> = size of the class interval</a:t>
            </a:r>
          </a:p>
          <a:p>
            <a:r>
              <a:rPr lang="en-US" b="1" dirty="0" smtClean="0"/>
              <a:t>	        = difference between the real limits</a:t>
            </a:r>
          </a:p>
          <a:p>
            <a:r>
              <a:rPr lang="en-US" b="1" dirty="0" smtClean="0"/>
              <a:t>	      </a:t>
            </a:r>
            <a:r>
              <a:rPr lang="en-US" b="1" dirty="0" err="1" smtClean="0"/>
              <a:t>i</a:t>
            </a:r>
            <a:r>
              <a:rPr lang="en-US" b="1" dirty="0" smtClean="0"/>
              <a:t> = 25.5 – 20.5 </a:t>
            </a:r>
          </a:p>
          <a:p>
            <a:r>
              <a:rPr lang="en-US" b="1" dirty="0" smtClean="0"/>
              <a:t>	      </a:t>
            </a:r>
            <a:r>
              <a:rPr lang="en-US" b="1" dirty="0" err="1" smtClean="0"/>
              <a:t>i</a:t>
            </a:r>
            <a:r>
              <a:rPr lang="en-US" b="1" dirty="0" smtClean="0"/>
              <a:t> = 5</a:t>
            </a:r>
          </a:p>
        </p:txBody>
      </p:sp>
      <p:graphicFrame>
        <p:nvGraphicFramePr>
          <p:cNvPr id="8" name="Table 7"/>
          <p:cNvGraphicFramePr>
            <a:graphicFrameLocks noGrp="1"/>
          </p:cNvGraphicFramePr>
          <p:nvPr/>
        </p:nvGraphicFramePr>
        <p:xfrm>
          <a:off x="2364348" y="1051560"/>
          <a:ext cx="4191000" cy="2072640"/>
        </p:xfrm>
        <a:graphic>
          <a:graphicData uri="http://schemas.openxmlformats.org/drawingml/2006/table">
            <a:tbl>
              <a:tblPr firstRow="1" bandRow="1">
                <a:tableStyleId>{5940675A-B579-460E-94D1-54222C63F5DA}</a:tableStyleId>
              </a:tblPr>
              <a:tblGrid>
                <a:gridCol w="2095500"/>
                <a:gridCol w="2095500"/>
              </a:tblGrid>
              <a:tr h="345440">
                <a:tc>
                  <a:txBody>
                    <a:bodyPr/>
                    <a:lstStyle/>
                    <a:p>
                      <a:pPr algn="ctr"/>
                      <a:r>
                        <a:rPr lang="en-US" sz="1600" b="1" dirty="0" smtClean="0"/>
                        <a:t>SCORES</a:t>
                      </a:r>
                      <a:endParaRPr lang="en-US" sz="1600" b="1" dirty="0">
                        <a:solidFill>
                          <a:schemeClr val="tx1"/>
                        </a:solidFill>
                      </a:endParaRPr>
                    </a:p>
                  </a:txBody>
                  <a:tcPr/>
                </a:tc>
                <a:tc>
                  <a:txBody>
                    <a:bodyPr/>
                    <a:lstStyle/>
                    <a:p>
                      <a:pPr algn="ctr"/>
                      <a:r>
                        <a:rPr lang="en-US" sz="1600" b="1" dirty="0" smtClean="0"/>
                        <a:t>FREQUENCY</a:t>
                      </a:r>
                      <a:endParaRPr lang="en-US" sz="1600" b="1" dirty="0">
                        <a:solidFill>
                          <a:schemeClr val="tx1"/>
                        </a:solidFill>
                      </a:endParaRPr>
                    </a:p>
                  </a:txBody>
                  <a:tcPr/>
                </a:tc>
              </a:tr>
              <a:tr h="345440">
                <a:tc>
                  <a:txBody>
                    <a:bodyPr/>
                    <a:lstStyle/>
                    <a:p>
                      <a:pPr algn="ctr"/>
                      <a:r>
                        <a:rPr lang="en-US" sz="1600" b="1" dirty="0" smtClean="0"/>
                        <a:t>21-25</a:t>
                      </a:r>
                      <a:endParaRPr lang="en-US" sz="1600" b="1" dirty="0">
                        <a:solidFill>
                          <a:schemeClr val="tx1"/>
                        </a:solidFill>
                      </a:endParaRPr>
                    </a:p>
                  </a:txBody>
                  <a:tcPr/>
                </a:tc>
                <a:tc>
                  <a:txBody>
                    <a:bodyPr/>
                    <a:lstStyle/>
                    <a:p>
                      <a:pPr algn="ctr"/>
                      <a:r>
                        <a:rPr lang="en-US" sz="1600" b="1" dirty="0" smtClean="0"/>
                        <a:t>2</a:t>
                      </a:r>
                      <a:endParaRPr lang="en-US" sz="1600" b="1" dirty="0">
                        <a:solidFill>
                          <a:schemeClr val="tx1"/>
                        </a:solidFill>
                      </a:endParaRPr>
                    </a:p>
                  </a:txBody>
                  <a:tcPr/>
                </a:tc>
              </a:tr>
              <a:tr h="345440">
                <a:tc>
                  <a:txBody>
                    <a:bodyPr/>
                    <a:lstStyle/>
                    <a:p>
                      <a:pPr algn="ctr"/>
                      <a:r>
                        <a:rPr lang="en-US" sz="1600" b="1" dirty="0" smtClean="0"/>
                        <a:t>16-20</a:t>
                      </a:r>
                      <a:endParaRPr lang="en-US" sz="1600" b="1" dirty="0">
                        <a:solidFill>
                          <a:schemeClr val="tx1"/>
                        </a:solidFill>
                      </a:endParaRPr>
                    </a:p>
                  </a:txBody>
                  <a:tcPr/>
                </a:tc>
                <a:tc>
                  <a:txBody>
                    <a:bodyPr/>
                    <a:lstStyle/>
                    <a:p>
                      <a:pPr algn="ctr"/>
                      <a:r>
                        <a:rPr lang="en-US" sz="1600" b="1" dirty="0" smtClean="0"/>
                        <a:t>5</a:t>
                      </a:r>
                      <a:endParaRPr lang="en-US" sz="1600" b="1" dirty="0">
                        <a:solidFill>
                          <a:schemeClr val="tx1"/>
                        </a:solidFill>
                      </a:endParaRPr>
                    </a:p>
                  </a:txBody>
                  <a:tcPr/>
                </a:tc>
              </a:tr>
              <a:tr h="345440">
                <a:tc>
                  <a:txBody>
                    <a:bodyPr/>
                    <a:lstStyle/>
                    <a:p>
                      <a:pPr algn="ctr"/>
                      <a:r>
                        <a:rPr lang="en-US" sz="1600" b="1" dirty="0" smtClean="0"/>
                        <a:t>11-15</a:t>
                      </a:r>
                      <a:endParaRPr lang="en-US" sz="1600" b="1" dirty="0">
                        <a:solidFill>
                          <a:schemeClr val="tx1"/>
                        </a:solidFill>
                      </a:endParaRPr>
                    </a:p>
                  </a:txBody>
                  <a:tcPr/>
                </a:tc>
                <a:tc>
                  <a:txBody>
                    <a:bodyPr/>
                    <a:lstStyle/>
                    <a:p>
                      <a:pPr algn="ctr"/>
                      <a:r>
                        <a:rPr lang="en-US" sz="1600" b="1" dirty="0" smtClean="0"/>
                        <a:t>12</a:t>
                      </a:r>
                      <a:endParaRPr lang="en-US" sz="1600" b="1" dirty="0">
                        <a:solidFill>
                          <a:schemeClr val="tx1"/>
                        </a:solidFill>
                      </a:endParaRPr>
                    </a:p>
                  </a:txBody>
                  <a:tcPr/>
                </a:tc>
              </a:tr>
              <a:tr h="345440">
                <a:tc>
                  <a:txBody>
                    <a:bodyPr/>
                    <a:lstStyle/>
                    <a:p>
                      <a:pPr algn="ctr"/>
                      <a:r>
                        <a:rPr lang="en-US" sz="1600" b="1" dirty="0" smtClean="0"/>
                        <a:t>6-10</a:t>
                      </a:r>
                      <a:endParaRPr lang="en-US" sz="1600" b="1" dirty="0">
                        <a:solidFill>
                          <a:schemeClr val="tx1"/>
                        </a:solidFill>
                      </a:endParaRPr>
                    </a:p>
                  </a:txBody>
                  <a:tcPr/>
                </a:tc>
                <a:tc>
                  <a:txBody>
                    <a:bodyPr/>
                    <a:lstStyle/>
                    <a:p>
                      <a:pPr algn="ctr"/>
                      <a:r>
                        <a:rPr lang="en-US" sz="1600" b="1" dirty="0" smtClean="0"/>
                        <a:t>4</a:t>
                      </a:r>
                      <a:endParaRPr lang="en-US" sz="1600" b="1" dirty="0">
                        <a:solidFill>
                          <a:schemeClr val="tx1"/>
                        </a:solidFill>
                      </a:endParaRPr>
                    </a:p>
                  </a:txBody>
                  <a:tcPr/>
                </a:tc>
              </a:tr>
              <a:tr h="345440">
                <a:tc>
                  <a:txBody>
                    <a:bodyPr/>
                    <a:lstStyle/>
                    <a:p>
                      <a:pPr algn="ctr"/>
                      <a:r>
                        <a:rPr lang="en-US" sz="1600" b="1" dirty="0" smtClean="0"/>
                        <a:t>1-5</a:t>
                      </a:r>
                      <a:endParaRPr lang="en-US" sz="1600" b="1" dirty="0">
                        <a:solidFill>
                          <a:schemeClr val="tx1"/>
                        </a:solidFill>
                      </a:endParaRPr>
                    </a:p>
                  </a:txBody>
                  <a:tcPr/>
                </a:tc>
                <a:tc>
                  <a:txBody>
                    <a:bodyPr/>
                    <a:lstStyle/>
                    <a:p>
                      <a:pPr algn="ctr"/>
                      <a:r>
                        <a:rPr lang="en-US" sz="1600" b="1" dirty="0" smtClean="0"/>
                        <a:t>1</a:t>
                      </a:r>
                      <a:endParaRPr lang="en-US" sz="1600" b="1" dirty="0">
                        <a:solidFill>
                          <a:schemeClr val="tx1"/>
                        </a:solidFill>
                      </a:endParaRPr>
                    </a:p>
                  </a:txBody>
                  <a:tcPr/>
                </a:tc>
              </a:tr>
            </a:tbl>
          </a:graphicData>
        </a:graphic>
      </p:graphicFrame>
      <p:sp>
        <p:nvSpPr>
          <p:cNvPr id="9" name="Rounded Rectangle 8"/>
          <p:cNvSpPr/>
          <p:nvPr/>
        </p:nvSpPr>
        <p:spPr>
          <a:xfrm>
            <a:off x="1752600" y="4495800"/>
            <a:ext cx="5029200" cy="1676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860442" y="3962400"/>
            <a:ext cx="648237" cy="3423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80">
                                          <p:stCondLst>
                                            <p:cond delay="0"/>
                                          </p:stCondLst>
                                        </p:cTn>
                                        <p:tgtEl>
                                          <p:spTgt spid="8"/>
                                        </p:tgtEl>
                                      </p:cBhvr>
                                    </p:animEffect>
                                    <p:anim calcmode="lin" valueType="num">
                                      <p:cBhvr>
                                        <p:cTn id="1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9" dur="26">
                                          <p:stCondLst>
                                            <p:cond delay="650"/>
                                          </p:stCondLst>
                                        </p:cTn>
                                        <p:tgtEl>
                                          <p:spTgt spid="8"/>
                                        </p:tgtEl>
                                      </p:cBhvr>
                                      <p:to x="100000" y="60000"/>
                                    </p:animScale>
                                    <p:animScale>
                                      <p:cBhvr>
                                        <p:cTn id="20" dur="166" decel="50000">
                                          <p:stCondLst>
                                            <p:cond delay="676"/>
                                          </p:stCondLst>
                                        </p:cTn>
                                        <p:tgtEl>
                                          <p:spTgt spid="8"/>
                                        </p:tgtEl>
                                      </p:cBhvr>
                                      <p:to x="100000" y="100000"/>
                                    </p:animScale>
                                    <p:animScale>
                                      <p:cBhvr>
                                        <p:cTn id="21" dur="26">
                                          <p:stCondLst>
                                            <p:cond delay="1312"/>
                                          </p:stCondLst>
                                        </p:cTn>
                                        <p:tgtEl>
                                          <p:spTgt spid="8"/>
                                        </p:tgtEl>
                                      </p:cBhvr>
                                      <p:to x="100000" y="80000"/>
                                    </p:animScale>
                                    <p:animScale>
                                      <p:cBhvr>
                                        <p:cTn id="22" dur="166" decel="50000">
                                          <p:stCondLst>
                                            <p:cond delay="1338"/>
                                          </p:stCondLst>
                                        </p:cTn>
                                        <p:tgtEl>
                                          <p:spTgt spid="8"/>
                                        </p:tgtEl>
                                      </p:cBhvr>
                                      <p:to x="100000" y="100000"/>
                                    </p:animScale>
                                    <p:animScale>
                                      <p:cBhvr>
                                        <p:cTn id="23" dur="26">
                                          <p:stCondLst>
                                            <p:cond delay="1642"/>
                                          </p:stCondLst>
                                        </p:cTn>
                                        <p:tgtEl>
                                          <p:spTgt spid="8"/>
                                        </p:tgtEl>
                                      </p:cBhvr>
                                      <p:to x="100000" y="90000"/>
                                    </p:animScale>
                                    <p:animScale>
                                      <p:cBhvr>
                                        <p:cTn id="24" dur="166" decel="50000">
                                          <p:stCondLst>
                                            <p:cond delay="1668"/>
                                          </p:stCondLst>
                                        </p:cTn>
                                        <p:tgtEl>
                                          <p:spTgt spid="8"/>
                                        </p:tgtEl>
                                      </p:cBhvr>
                                      <p:to x="100000" y="100000"/>
                                    </p:animScale>
                                    <p:animScale>
                                      <p:cBhvr>
                                        <p:cTn id="25" dur="26">
                                          <p:stCondLst>
                                            <p:cond delay="1808"/>
                                          </p:stCondLst>
                                        </p:cTn>
                                        <p:tgtEl>
                                          <p:spTgt spid="8"/>
                                        </p:tgtEl>
                                      </p:cBhvr>
                                      <p:to x="100000" y="95000"/>
                                    </p:animScale>
                                    <p:animScale>
                                      <p:cBhvr>
                                        <p:cTn id="26" dur="166" decel="50000">
                                          <p:stCondLst>
                                            <p:cond delay="1834"/>
                                          </p:stCondLst>
                                        </p:cTn>
                                        <p:tgtEl>
                                          <p:spTgt spid="8"/>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p:cTn id="31" dur="500" fill="hold"/>
                                        <p:tgtEl>
                                          <p:spTgt spid="5">
                                            <p:txEl>
                                              <p:pRg st="8" end="8"/>
                                            </p:txEl>
                                          </p:spTgt>
                                        </p:tgtEl>
                                        <p:attrNameLst>
                                          <p:attrName>ppt_w</p:attrName>
                                        </p:attrNameLst>
                                      </p:cBhvr>
                                      <p:tavLst>
                                        <p:tav tm="0">
                                          <p:val>
                                            <p:fltVal val="0"/>
                                          </p:val>
                                        </p:tav>
                                        <p:tav tm="100000">
                                          <p:val>
                                            <p:strVal val="#ppt_w"/>
                                          </p:val>
                                        </p:tav>
                                      </p:tavLst>
                                    </p:anim>
                                    <p:anim calcmode="lin" valueType="num">
                                      <p:cBhvr>
                                        <p:cTn id="32" dur="500" fill="hold"/>
                                        <p:tgtEl>
                                          <p:spTgt spid="5">
                                            <p:txEl>
                                              <p:pRg st="8" end="8"/>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slide(fromBottom)">
                                      <p:cBhvr>
                                        <p:cTn id="37" dur="500"/>
                                        <p:tgtEl>
                                          <p:spTgt spid="5">
                                            <p:txEl>
                                              <p:pRg st="10" end="10"/>
                                            </p:txEl>
                                          </p:spTgt>
                                        </p:tgtEl>
                                      </p:cBhvr>
                                    </p:animEffect>
                                  </p:childTnLst>
                                </p:cTn>
                              </p:par>
                              <p:par>
                                <p:cTn id="38" presetID="12" presetClass="entr" presetSubtype="4" fill="hold"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slide(fromBottom)">
                                      <p:cBhvr>
                                        <p:cTn id="40" dur="500"/>
                                        <p:tgtEl>
                                          <p:spTgt spid="5">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7">
                                            <p:txEl>
                                              <p:pRg st="0" end="0"/>
                                            </p:txEl>
                                          </p:spTgt>
                                        </p:tgtEl>
                                        <p:attrNameLst>
                                          <p:attrName>style.visibility</p:attrName>
                                        </p:attrNameLst>
                                      </p:cBhvr>
                                      <p:to>
                                        <p:strVal val="visible"/>
                                      </p:to>
                                    </p:set>
                                    <p:animEffect transition="in" filter="fade">
                                      <p:cBhvr>
                                        <p:cTn id="45" dur="1000"/>
                                        <p:tgtEl>
                                          <p:spTgt spid="7">
                                            <p:txEl>
                                              <p:pRg st="0" end="0"/>
                                            </p:txEl>
                                          </p:spTgt>
                                        </p:tgtEl>
                                      </p:cBhvr>
                                    </p:animEffect>
                                    <p:anim calcmode="lin" valueType="num">
                                      <p:cBhvr>
                                        <p:cTn id="4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47" dur="900" decel="100000" fill="hold"/>
                                        <p:tgtEl>
                                          <p:spTgt spid="7">
                                            <p:txEl>
                                              <p:pRg st="0" end="0"/>
                                            </p:txEl>
                                          </p:spTgt>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7">
                                            <p:txEl>
                                              <p:pRg st="0" end="0"/>
                                            </p:txEl>
                                          </p:spTgt>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1000"/>
                                        <p:tgtEl>
                                          <p:spTgt spid="9"/>
                                        </p:tgtEl>
                                      </p:cBhvr>
                                    </p:animEffect>
                                    <p:anim calcmode="lin" valueType="num">
                                      <p:cBhvr>
                                        <p:cTn id="52" dur="1000" fill="hold"/>
                                        <p:tgtEl>
                                          <p:spTgt spid="9"/>
                                        </p:tgtEl>
                                        <p:attrNameLst>
                                          <p:attrName>ppt_x</p:attrName>
                                        </p:attrNameLst>
                                      </p:cBhvr>
                                      <p:tavLst>
                                        <p:tav tm="0">
                                          <p:val>
                                            <p:strVal val="#ppt_x"/>
                                          </p:val>
                                        </p:tav>
                                        <p:tav tm="100000">
                                          <p:val>
                                            <p:strVal val="#ppt_x"/>
                                          </p:val>
                                        </p:tav>
                                      </p:tavLst>
                                    </p:anim>
                                    <p:anim calcmode="lin" valueType="num">
                                      <p:cBhvr>
                                        <p:cTn id="53" dur="900" decel="100000" fill="hold"/>
                                        <p:tgtEl>
                                          <p:spTgt spid="9"/>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nodeType="clickEffect">
                                  <p:stCondLst>
                                    <p:cond delay="0"/>
                                  </p:stCondLst>
                                  <p:childTnLst>
                                    <p:set>
                                      <p:cBhvr>
                                        <p:cTn id="58" dur="1" fill="hold">
                                          <p:stCondLst>
                                            <p:cond delay="0"/>
                                          </p:stCondLst>
                                        </p:cTn>
                                        <p:tgtEl>
                                          <p:spTgt spid="7">
                                            <p:txEl>
                                              <p:pRg st="1" end="1"/>
                                            </p:txEl>
                                          </p:spTgt>
                                        </p:tgtEl>
                                        <p:attrNameLst>
                                          <p:attrName>style.visibility</p:attrName>
                                        </p:attrNameLst>
                                      </p:cBhvr>
                                      <p:to>
                                        <p:strVal val="visible"/>
                                      </p:to>
                                    </p:set>
                                    <p:anim calcmode="lin" valueType="num">
                                      <p:cBhvr>
                                        <p:cTn id="59" dur="1000" fill="hold"/>
                                        <p:tgtEl>
                                          <p:spTgt spid="7">
                                            <p:txEl>
                                              <p:pRg st="1" end="1"/>
                                            </p:txEl>
                                          </p:spTgt>
                                        </p:tgtEl>
                                        <p:attrNameLst>
                                          <p:attrName>ppt_x</p:attrName>
                                        </p:attrNameLst>
                                      </p:cBhvr>
                                      <p:tavLst>
                                        <p:tav tm="0">
                                          <p:val>
                                            <p:strVal val="#ppt_x-.2"/>
                                          </p:val>
                                        </p:tav>
                                        <p:tav tm="100000">
                                          <p:val>
                                            <p:strVal val="#ppt_x"/>
                                          </p:val>
                                        </p:tav>
                                      </p:tavLst>
                                    </p:anim>
                                    <p:anim calcmode="lin" valueType="num">
                                      <p:cBhvr>
                                        <p:cTn id="60" dur="1000" fill="hold"/>
                                        <p:tgtEl>
                                          <p:spTgt spid="7">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61" dur="1000"/>
                                        <p:tgtEl>
                                          <p:spTgt spid="7">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nodeType="clickEffect">
                                  <p:stCondLst>
                                    <p:cond delay="0"/>
                                  </p:stCondLst>
                                  <p:childTnLst>
                                    <p:set>
                                      <p:cBhvr>
                                        <p:cTn id="65" dur="1" fill="hold">
                                          <p:stCondLst>
                                            <p:cond delay="0"/>
                                          </p:stCondLst>
                                        </p:cTn>
                                        <p:tgtEl>
                                          <p:spTgt spid="7">
                                            <p:txEl>
                                              <p:pRg st="2" end="2"/>
                                            </p:txEl>
                                          </p:spTgt>
                                        </p:tgtEl>
                                        <p:attrNameLst>
                                          <p:attrName>style.visibility</p:attrName>
                                        </p:attrNameLst>
                                      </p:cBhvr>
                                      <p:to>
                                        <p:strVal val="visible"/>
                                      </p:to>
                                    </p:set>
                                    <p:anim calcmode="lin" valueType="num">
                                      <p:cBhvr>
                                        <p:cTn id="66" dur="1000" fill="hold"/>
                                        <p:tgtEl>
                                          <p:spTgt spid="7">
                                            <p:txEl>
                                              <p:pRg st="2" end="2"/>
                                            </p:txEl>
                                          </p:spTgt>
                                        </p:tgtEl>
                                        <p:attrNameLst>
                                          <p:attrName>ppt_x</p:attrName>
                                        </p:attrNameLst>
                                      </p:cBhvr>
                                      <p:tavLst>
                                        <p:tav tm="0">
                                          <p:val>
                                            <p:strVal val="#ppt_x-.2"/>
                                          </p:val>
                                        </p:tav>
                                        <p:tav tm="100000">
                                          <p:val>
                                            <p:strVal val="#ppt_x"/>
                                          </p:val>
                                        </p:tav>
                                      </p:tavLst>
                                    </p:anim>
                                    <p:anim calcmode="lin" valueType="num">
                                      <p:cBhvr>
                                        <p:cTn id="67" dur="1000" fill="hold"/>
                                        <p:tgtEl>
                                          <p:spTgt spid="7">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68" dur="1000"/>
                                        <p:tgtEl>
                                          <p:spTgt spid="7">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9" presetClass="entr" presetSubtype="0" fill="hold" nodeType="clickEffect">
                                  <p:stCondLst>
                                    <p:cond delay="0"/>
                                  </p:stCondLst>
                                  <p:childTnLst>
                                    <p:set>
                                      <p:cBhvr>
                                        <p:cTn id="72" dur="1" fill="hold">
                                          <p:stCondLst>
                                            <p:cond delay="0"/>
                                          </p:stCondLst>
                                        </p:cTn>
                                        <p:tgtEl>
                                          <p:spTgt spid="7">
                                            <p:txEl>
                                              <p:pRg st="3" end="3"/>
                                            </p:txEl>
                                          </p:spTgt>
                                        </p:tgtEl>
                                        <p:attrNameLst>
                                          <p:attrName>style.visibility</p:attrName>
                                        </p:attrNameLst>
                                      </p:cBhvr>
                                      <p:to>
                                        <p:strVal val="visible"/>
                                      </p:to>
                                    </p:set>
                                    <p:anim calcmode="lin" valueType="num">
                                      <p:cBhvr>
                                        <p:cTn id="73" dur="1000" fill="hold"/>
                                        <p:tgtEl>
                                          <p:spTgt spid="7">
                                            <p:txEl>
                                              <p:pRg st="3" end="3"/>
                                            </p:txEl>
                                          </p:spTgt>
                                        </p:tgtEl>
                                        <p:attrNameLst>
                                          <p:attrName>ppt_x</p:attrName>
                                        </p:attrNameLst>
                                      </p:cBhvr>
                                      <p:tavLst>
                                        <p:tav tm="0">
                                          <p:val>
                                            <p:strVal val="#ppt_x-.2"/>
                                          </p:val>
                                        </p:tav>
                                        <p:tav tm="100000">
                                          <p:val>
                                            <p:strVal val="#ppt_x"/>
                                          </p:val>
                                        </p:tav>
                                      </p:tavLst>
                                    </p:anim>
                                    <p:anim calcmode="lin" valueType="num">
                                      <p:cBhvr>
                                        <p:cTn id="74" dur="1000" fill="hold"/>
                                        <p:tgtEl>
                                          <p:spTgt spid="7">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75" dur="1000"/>
                                        <p:tgtEl>
                                          <p:spTgt spid="7">
                                            <p:txEl>
                                              <p:pRg st="3" end="3"/>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9" presetClass="entr" presetSubtype="0" fill="hold" nodeType="clickEffect">
                                  <p:stCondLst>
                                    <p:cond delay="0"/>
                                  </p:stCondLst>
                                  <p:childTnLst>
                                    <p:set>
                                      <p:cBhvr>
                                        <p:cTn id="79" dur="1" fill="hold">
                                          <p:stCondLst>
                                            <p:cond delay="0"/>
                                          </p:stCondLst>
                                        </p:cTn>
                                        <p:tgtEl>
                                          <p:spTgt spid="7">
                                            <p:txEl>
                                              <p:pRg st="4" end="4"/>
                                            </p:txEl>
                                          </p:spTgt>
                                        </p:tgtEl>
                                        <p:attrNameLst>
                                          <p:attrName>style.visibility</p:attrName>
                                        </p:attrNameLst>
                                      </p:cBhvr>
                                      <p:to>
                                        <p:strVal val="visible"/>
                                      </p:to>
                                    </p:set>
                                    <p:anim calcmode="lin" valueType="num">
                                      <p:cBhvr>
                                        <p:cTn id="80" dur="1000" fill="hold"/>
                                        <p:tgtEl>
                                          <p:spTgt spid="7">
                                            <p:txEl>
                                              <p:pRg st="4" end="4"/>
                                            </p:txEl>
                                          </p:spTgt>
                                        </p:tgtEl>
                                        <p:attrNameLst>
                                          <p:attrName>ppt_x</p:attrName>
                                        </p:attrNameLst>
                                      </p:cBhvr>
                                      <p:tavLst>
                                        <p:tav tm="0">
                                          <p:val>
                                            <p:strVal val="#ppt_x-.2"/>
                                          </p:val>
                                        </p:tav>
                                        <p:tav tm="100000">
                                          <p:val>
                                            <p:strVal val="#ppt_x"/>
                                          </p:val>
                                        </p:tav>
                                      </p:tavLst>
                                    </p:anim>
                                    <p:anim calcmode="lin" valueType="num">
                                      <p:cBhvr>
                                        <p:cTn id="81" dur="1000" fill="hold"/>
                                        <p:tgtEl>
                                          <p:spTgt spid="7">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82" dur="1000"/>
                                        <p:tgtEl>
                                          <p:spTgt spid="7">
                                            <p:txEl>
                                              <p:pRg st="4" end="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0" presetClass="entr" presetSubtype="0" fill="hold" grpId="0" nodeType="click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wedge">
                                      <p:cBhvr>
                                        <p:cTn id="8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533400" y="228600"/>
            <a:ext cx="8229600" cy="4401205"/>
          </a:xfrm>
          <a:prstGeom prst="rect">
            <a:avLst/>
          </a:prstGeom>
        </p:spPr>
        <p:txBody>
          <a:bodyPr wrap="square">
            <a:spAutoFit/>
          </a:bodyPr>
          <a:lstStyle/>
          <a:p>
            <a:pPr marL="347663" indent="-347663"/>
            <a:r>
              <a:rPr lang="en-US" sz="2000" dirty="0" smtClean="0"/>
              <a:t>28. Mr. Macho gave a mathematics test to a group of students. The distribution of the scores is as follows:</a:t>
            </a:r>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endParaRPr lang="en-US" sz="2000" dirty="0" smtClean="0"/>
          </a:p>
          <a:p>
            <a:pPr lvl="0"/>
            <a:endParaRPr lang="en-US" sz="2000" dirty="0" smtClean="0"/>
          </a:p>
          <a:p>
            <a:pPr lvl="0"/>
            <a:endParaRPr lang="en-US" sz="2000" dirty="0" smtClean="0"/>
          </a:p>
          <a:p>
            <a:pPr marL="347663" lvl="0" indent="-347663"/>
            <a:r>
              <a:rPr lang="en-US" sz="2000" dirty="0" smtClean="0"/>
              <a:t>	What is the computed mean value?</a:t>
            </a:r>
            <a:endParaRPr lang="en-PH" sz="1200" dirty="0" smtClean="0"/>
          </a:p>
          <a:p>
            <a:r>
              <a:rPr lang="en-US" sz="2000" dirty="0" smtClean="0"/>
              <a:t>	a. 13.6			c. 12	</a:t>
            </a:r>
          </a:p>
          <a:p>
            <a:r>
              <a:rPr lang="en-US" sz="2000" dirty="0" smtClean="0"/>
              <a:t>	b. 14.1			d. 15.4 </a:t>
            </a:r>
          </a:p>
        </p:txBody>
      </p:sp>
      <p:graphicFrame>
        <p:nvGraphicFramePr>
          <p:cNvPr id="6" name="Table 5"/>
          <p:cNvGraphicFramePr>
            <a:graphicFrameLocks noGrp="1"/>
          </p:cNvGraphicFramePr>
          <p:nvPr/>
        </p:nvGraphicFramePr>
        <p:xfrm>
          <a:off x="1601275" y="926205"/>
          <a:ext cx="5791199" cy="2595880"/>
        </p:xfrm>
        <a:graphic>
          <a:graphicData uri="http://schemas.openxmlformats.org/drawingml/2006/table">
            <a:tbl>
              <a:tblPr firstRow="1" bandRow="1">
                <a:tableStyleId>{5940675A-B579-460E-94D1-54222C63F5DA}</a:tableStyleId>
              </a:tblPr>
              <a:tblGrid>
                <a:gridCol w="1409498"/>
                <a:gridCol w="1460567"/>
                <a:gridCol w="1460567"/>
                <a:gridCol w="1460567"/>
              </a:tblGrid>
              <a:tr h="370840">
                <a:tc>
                  <a:txBody>
                    <a:bodyPr/>
                    <a:lstStyle/>
                    <a:p>
                      <a:pPr algn="ctr"/>
                      <a:r>
                        <a:rPr lang="en-US" sz="1800" dirty="0" smtClean="0"/>
                        <a:t>SCORES</a:t>
                      </a:r>
                      <a:endParaRPr lang="en-US" sz="1800" dirty="0">
                        <a:solidFill>
                          <a:schemeClr val="tx1"/>
                        </a:solidFill>
                      </a:endParaRPr>
                    </a:p>
                  </a:txBody>
                  <a:tcPr/>
                </a:tc>
                <a:tc>
                  <a:txBody>
                    <a:bodyPr/>
                    <a:lstStyle/>
                    <a:p>
                      <a:pPr algn="ctr"/>
                      <a:r>
                        <a:rPr lang="en-US" sz="1800" dirty="0" smtClean="0"/>
                        <a:t>FREQUENCY     </a:t>
                      </a:r>
                      <a:endParaRPr lang="en-US" sz="1800" dirty="0">
                        <a:solidFill>
                          <a:schemeClr val="tx1"/>
                        </a:solidFill>
                      </a:endParaRPr>
                    </a:p>
                  </a:txBody>
                  <a:tcPr/>
                </a:tc>
                <a:tc>
                  <a:txBody>
                    <a:bodyPr/>
                    <a:lstStyle/>
                    <a:p>
                      <a:pPr algn="ctr"/>
                      <a:r>
                        <a:rPr lang="en-US" sz="1800" dirty="0" smtClean="0"/>
                        <a:t>Deviation(d)</a:t>
                      </a:r>
                      <a:endParaRPr lang="en-US" sz="1800" dirty="0">
                        <a:solidFill>
                          <a:schemeClr val="tx1"/>
                        </a:solidFill>
                      </a:endParaRPr>
                    </a:p>
                  </a:txBody>
                  <a:tcPr/>
                </a:tc>
                <a:tc>
                  <a:txBody>
                    <a:bodyPr/>
                    <a:lstStyle/>
                    <a:p>
                      <a:pPr algn="ctr"/>
                      <a:r>
                        <a:rPr lang="en-US" sz="1800" dirty="0" err="1" smtClean="0"/>
                        <a:t>fd</a:t>
                      </a:r>
                      <a:endParaRPr lang="en-US" sz="1800" dirty="0">
                        <a:solidFill>
                          <a:schemeClr val="tx1"/>
                        </a:solidFill>
                      </a:endParaRPr>
                    </a:p>
                  </a:txBody>
                  <a:tcPr/>
                </a:tc>
              </a:tr>
              <a:tr h="370840">
                <a:tc>
                  <a:txBody>
                    <a:bodyPr/>
                    <a:lstStyle/>
                    <a:p>
                      <a:pPr algn="ctr"/>
                      <a:r>
                        <a:rPr lang="en-US" sz="1800" dirty="0" smtClean="0"/>
                        <a:t>21-25</a:t>
                      </a:r>
                      <a:endParaRPr lang="en-US" sz="1800" dirty="0">
                        <a:solidFill>
                          <a:schemeClr val="tx1"/>
                        </a:solidFill>
                      </a:endParaRPr>
                    </a:p>
                  </a:txBody>
                  <a:tcPr/>
                </a:tc>
                <a:tc>
                  <a:txBody>
                    <a:bodyPr/>
                    <a:lstStyle/>
                    <a:p>
                      <a:pPr algn="ctr"/>
                      <a:r>
                        <a:rPr lang="en-US" sz="1800" dirty="0" smtClean="0"/>
                        <a:t>2</a:t>
                      </a:r>
                      <a:endParaRPr lang="en-US" sz="1800" dirty="0">
                        <a:solidFill>
                          <a:schemeClr val="tx1"/>
                        </a:solidFill>
                      </a:endParaRPr>
                    </a:p>
                  </a:txBody>
                  <a:tcPr/>
                </a:tc>
                <a:tc>
                  <a:txBody>
                    <a:bodyPr/>
                    <a:lstStyle/>
                    <a:p>
                      <a:pPr algn="ctr"/>
                      <a:r>
                        <a:rPr lang="en-US" sz="1800" dirty="0" smtClean="0"/>
                        <a:t>2</a:t>
                      </a:r>
                      <a:endParaRPr lang="en-US" sz="1800" dirty="0">
                        <a:solidFill>
                          <a:schemeClr val="tx1"/>
                        </a:solidFill>
                      </a:endParaRPr>
                    </a:p>
                  </a:txBody>
                  <a:tcPr/>
                </a:tc>
                <a:tc>
                  <a:txBody>
                    <a:bodyPr/>
                    <a:lstStyle/>
                    <a:p>
                      <a:pPr algn="ctr"/>
                      <a:r>
                        <a:rPr lang="en-US" sz="1800" dirty="0" smtClean="0"/>
                        <a:t>4</a:t>
                      </a:r>
                      <a:endParaRPr lang="en-US" sz="1800" dirty="0">
                        <a:solidFill>
                          <a:schemeClr val="tx1"/>
                        </a:solidFill>
                      </a:endParaRPr>
                    </a:p>
                  </a:txBody>
                  <a:tcPr/>
                </a:tc>
              </a:tr>
              <a:tr h="370840">
                <a:tc>
                  <a:txBody>
                    <a:bodyPr/>
                    <a:lstStyle/>
                    <a:p>
                      <a:pPr algn="ctr"/>
                      <a:r>
                        <a:rPr lang="en-US" sz="1800" dirty="0" smtClean="0"/>
                        <a:t>16-20</a:t>
                      </a:r>
                      <a:endParaRPr lang="en-US" sz="1800" dirty="0">
                        <a:solidFill>
                          <a:schemeClr val="tx1"/>
                        </a:solidFill>
                      </a:endParaRPr>
                    </a:p>
                  </a:txBody>
                  <a:tcPr/>
                </a:tc>
                <a:tc>
                  <a:txBody>
                    <a:bodyPr/>
                    <a:lstStyle/>
                    <a:p>
                      <a:pPr algn="ctr"/>
                      <a:r>
                        <a:rPr lang="en-US" sz="1800" dirty="0" smtClean="0"/>
                        <a:t>5</a:t>
                      </a:r>
                      <a:endParaRPr lang="en-US" sz="1800" dirty="0">
                        <a:solidFill>
                          <a:schemeClr val="tx1"/>
                        </a:solidFill>
                      </a:endParaRPr>
                    </a:p>
                  </a:txBody>
                  <a:tcPr/>
                </a:tc>
                <a:tc>
                  <a:txBody>
                    <a:bodyPr/>
                    <a:lstStyle/>
                    <a:p>
                      <a:pPr algn="ctr"/>
                      <a:r>
                        <a:rPr lang="en-US" sz="1800" dirty="0" smtClean="0"/>
                        <a:t>1</a:t>
                      </a:r>
                      <a:endParaRPr lang="en-US" sz="1800" dirty="0">
                        <a:solidFill>
                          <a:schemeClr val="tx1"/>
                        </a:solidFill>
                      </a:endParaRPr>
                    </a:p>
                  </a:txBody>
                  <a:tcPr/>
                </a:tc>
                <a:tc>
                  <a:txBody>
                    <a:bodyPr/>
                    <a:lstStyle/>
                    <a:p>
                      <a:pPr algn="ctr"/>
                      <a:r>
                        <a:rPr lang="en-US" sz="1800" dirty="0" smtClean="0"/>
                        <a:t>5</a:t>
                      </a:r>
                      <a:endParaRPr lang="en-US" sz="1800" dirty="0">
                        <a:solidFill>
                          <a:schemeClr val="tx1"/>
                        </a:solidFill>
                      </a:endParaRPr>
                    </a:p>
                  </a:txBody>
                  <a:tcPr/>
                </a:tc>
              </a:tr>
              <a:tr h="370840">
                <a:tc>
                  <a:txBody>
                    <a:bodyPr/>
                    <a:lstStyle/>
                    <a:p>
                      <a:pPr algn="ctr"/>
                      <a:r>
                        <a:rPr lang="en-US" sz="1800" dirty="0" smtClean="0"/>
                        <a:t>11-15</a:t>
                      </a:r>
                      <a:endParaRPr lang="en-US" sz="1800" dirty="0">
                        <a:solidFill>
                          <a:schemeClr val="tx1"/>
                        </a:solidFill>
                      </a:endParaRPr>
                    </a:p>
                  </a:txBody>
                  <a:tcPr/>
                </a:tc>
                <a:tc>
                  <a:txBody>
                    <a:bodyPr/>
                    <a:lstStyle/>
                    <a:p>
                      <a:pPr algn="ctr"/>
                      <a:r>
                        <a:rPr lang="en-US" sz="1800" dirty="0" smtClean="0"/>
                        <a:t>12</a:t>
                      </a:r>
                      <a:endParaRPr lang="en-US" sz="1800" dirty="0">
                        <a:solidFill>
                          <a:schemeClr val="tx1"/>
                        </a:solidFill>
                      </a:endParaRPr>
                    </a:p>
                  </a:txBody>
                  <a:tcPr/>
                </a:tc>
                <a:tc>
                  <a:txBody>
                    <a:bodyPr/>
                    <a:lstStyle/>
                    <a:p>
                      <a:pPr algn="ctr"/>
                      <a:r>
                        <a:rPr lang="en-US" sz="1800" dirty="0" smtClean="0"/>
                        <a:t>0</a:t>
                      </a:r>
                      <a:endParaRPr lang="en-US" sz="1800" dirty="0">
                        <a:solidFill>
                          <a:schemeClr val="tx1"/>
                        </a:solidFill>
                      </a:endParaRPr>
                    </a:p>
                  </a:txBody>
                  <a:tcPr/>
                </a:tc>
                <a:tc>
                  <a:txBody>
                    <a:bodyPr/>
                    <a:lstStyle/>
                    <a:p>
                      <a:pPr algn="ctr"/>
                      <a:r>
                        <a:rPr lang="en-US" sz="1800" dirty="0" smtClean="0"/>
                        <a:t>0</a:t>
                      </a:r>
                      <a:endParaRPr lang="en-US" sz="1800" dirty="0">
                        <a:solidFill>
                          <a:schemeClr val="tx1"/>
                        </a:solidFill>
                      </a:endParaRPr>
                    </a:p>
                  </a:txBody>
                  <a:tcPr/>
                </a:tc>
              </a:tr>
              <a:tr h="370840">
                <a:tc>
                  <a:txBody>
                    <a:bodyPr/>
                    <a:lstStyle/>
                    <a:p>
                      <a:pPr algn="ctr"/>
                      <a:r>
                        <a:rPr lang="en-US" sz="1800" dirty="0" smtClean="0"/>
                        <a:t>6-10</a:t>
                      </a:r>
                      <a:endParaRPr lang="en-US" sz="1800" dirty="0">
                        <a:solidFill>
                          <a:schemeClr val="tx1"/>
                        </a:solidFill>
                      </a:endParaRPr>
                    </a:p>
                  </a:txBody>
                  <a:tcPr/>
                </a:tc>
                <a:tc>
                  <a:txBody>
                    <a:bodyPr/>
                    <a:lstStyle/>
                    <a:p>
                      <a:pPr algn="ctr"/>
                      <a:r>
                        <a:rPr lang="en-US" sz="1800" dirty="0" smtClean="0"/>
                        <a:t>4</a:t>
                      </a:r>
                      <a:endParaRPr lang="en-US" sz="1800" dirty="0">
                        <a:solidFill>
                          <a:schemeClr val="tx1"/>
                        </a:solidFill>
                      </a:endParaRPr>
                    </a:p>
                  </a:txBody>
                  <a:tcPr/>
                </a:tc>
                <a:tc>
                  <a:txBody>
                    <a:bodyPr/>
                    <a:lstStyle/>
                    <a:p>
                      <a:pPr algn="ctr"/>
                      <a:r>
                        <a:rPr lang="en-US" sz="1800" dirty="0" smtClean="0"/>
                        <a:t>-1</a:t>
                      </a:r>
                      <a:endParaRPr lang="en-US" sz="1800" dirty="0">
                        <a:solidFill>
                          <a:schemeClr val="tx1"/>
                        </a:solidFill>
                      </a:endParaRPr>
                    </a:p>
                  </a:txBody>
                  <a:tcPr/>
                </a:tc>
                <a:tc>
                  <a:txBody>
                    <a:bodyPr/>
                    <a:lstStyle/>
                    <a:p>
                      <a:pPr algn="ctr"/>
                      <a:r>
                        <a:rPr lang="en-US" sz="1800" dirty="0" smtClean="0"/>
                        <a:t>-4</a:t>
                      </a:r>
                      <a:endParaRPr lang="en-US" sz="1800" dirty="0">
                        <a:solidFill>
                          <a:schemeClr val="tx1"/>
                        </a:solidFill>
                      </a:endParaRPr>
                    </a:p>
                  </a:txBody>
                  <a:tcPr/>
                </a:tc>
              </a:tr>
              <a:tr h="370840">
                <a:tc>
                  <a:txBody>
                    <a:bodyPr/>
                    <a:lstStyle/>
                    <a:p>
                      <a:pPr algn="ctr"/>
                      <a:r>
                        <a:rPr lang="en-US" sz="1800" dirty="0" smtClean="0"/>
                        <a:t>1-5</a:t>
                      </a:r>
                      <a:endParaRPr lang="en-US" sz="1800" dirty="0">
                        <a:solidFill>
                          <a:schemeClr val="tx1"/>
                        </a:solidFill>
                      </a:endParaRPr>
                    </a:p>
                  </a:txBody>
                  <a:tcPr/>
                </a:tc>
                <a:tc>
                  <a:txBody>
                    <a:bodyPr/>
                    <a:lstStyle/>
                    <a:p>
                      <a:pPr algn="ctr"/>
                      <a:r>
                        <a:rPr lang="en-US" sz="1800" dirty="0" smtClean="0"/>
                        <a:t>1</a:t>
                      </a:r>
                      <a:endParaRPr lang="en-US" sz="1800" dirty="0">
                        <a:solidFill>
                          <a:schemeClr val="tx1"/>
                        </a:solidFill>
                      </a:endParaRPr>
                    </a:p>
                  </a:txBody>
                  <a:tcPr/>
                </a:tc>
                <a:tc>
                  <a:txBody>
                    <a:bodyPr/>
                    <a:lstStyle/>
                    <a:p>
                      <a:pPr algn="ctr"/>
                      <a:r>
                        <a:rPr lang="en-US" sz="1800" dirty="0" smtClean="0"/>
                        <a:t>-2</a:t>
                      </a:r>
                      <a:endParaRPr lang="en-US" sz="1800" dirty="0">
                        <a:solidFill>
                          <a:schemeClr val="tx1"/>
                        </a:solidFill>
                      </a:endParaRPr>
                    </a:p>
                  </a:txBody>
                  <a:tcPr/>
                </a:tc>
                <a:tc>
                  <a:txBody>
                    <a:bodyPr/>
                    <a:lstStyle/>
                    <a:p>
                      <a:pPr algn="ctr"/>
                      <a:r>
                        <a:rPr lang="en-US" sz="1800" dirty="0" smtClean="0"/>
                        <a:t>-2</a:t>
                      </a:r>
                      <a:endParaRPr lang="en-US" sz="1800" dirty="0">
                        <a:solidFill>
                          <a:schemeClr val="tx1"/>
                        </a:solidFill>
                      </a:endParaRPr>
                    </a:p>
                  </a:txBody>
                  <a:tcPr/>
                </a:tc>
              </a:tr>
              <a:tr h="370840">
                <a:tc>
                  <a:txBody>
                    <a:bodyPr/>
                    <a:lstStyle/>
                    <a:p>
                      <a:pPr algn="ctr"/>
                      <a:endParaRPr lang="en-US" sz="1800" dirty="0">
                        <a:solidFill>
                          <a:schemeClr val="tx1"/>
                        </a:solidFill>
                      </a:endParaRPr>
                    </a:p>
                  </a:txBody>
                  <a:tcPr/>
                </a:tc>
                <a:tc>
                  <a:txBody>
                    <a:bodyPr/>
                    <a:lstStyle/>
                    <a:p>
                      <a:pPr algn="ctr"/>
                      <a:r>
                        <a:rPr lang="en-US" sz="1800" dirty="0" smtClean="0"/>
                        <a:t>N=24</a:t>
                      </a:r>
                      <a:endParaRPr lang="en-US" sz="1800" dirty="0">
                        <a:solidFill>
                          <a:schemeClr val="tx1"/>
                        </a:solidFill>
                      </a:endParaRPr>
                    </a:p>
                  </a:txBody>
                  <a:tcPr/>
                </a:tc>
                <a:tc>
                  <a:txBody>
                    <a:bodyPr/>
                    <a:lstStyle/>
                    <a:p>
                      <a:pPr algn="ctr"/>
                      <a:endParaRPr lang="en-US" sz="1800" dirty="0">
                        <a:solidFill>
                          <a:schemeClr val="tx1"/>
                        </a:solidFill>
                      </a:endParaRPr>
                    </a:p>
                  </a:txBody>
                  <a:tcPr/>
                </a:tc>
                <a:tc>
                  <a:txBody>
                    <a:bodyPr/>
                    <a:lstStyle/>
                    <a:p>
                      <a:pPr algn="ctr"/>
                      <a:r>
                        <a:rPr lang="en-US" sz="1800" dirty="0" smtClean="0"/>
                        <a:t>+3</a:t>
                      </a:r>
                      <a:endParaRPr lang="en-US" sz="1800" dirty="0">
                        <a:solidFill>
                          <a:schemeClr val="tx1"/>
                        </a:solidFill>
                      </a:endParaRPr>
                    </a:p>
                  </a:txBody>
                  <a:tcPr/>
                </a:tc>
              </a:tr>
            </a:tbl>
          </a:graphicData>
        </a:graphic>
      </p:graphicFrame>
      <p:sp>
        <p:nvSpPr>
          <p:cNvPr id="7" name="Rectangle 3"/>
          <p:cNvSpPr>
            <a:spLocks noChangeArrowheads="1"/>
          </p:cNvSpPr>
          <p:nvPr/>
        </p:nvSpPr>
        <p:spPr bwMode="auto">
          <a:xfrm>
            <a:off x="0" y="320159"/>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sp>
        <p:nvSpPr>
          <p:cNvPr id="8" name="Rectangle 7"/>
          <p:cNvSpPr/>
          <p:nvPr/>
        </p:nvSpPr>
        <p:spPr>
          <a:xfrm>
            <a:off x="304800" y="4724400"/>
            <a:ext cx="1516762" cy="461665"/>
          </a:xfrm>
          <a:prstGeom prst="rect">
            <a:avLst/>
          </a:prstGeom>
        </p:spPr>
        <p:txBody>
          <a:bodyPr wrap="none">
            <a:spAutoFit/>
          </a:bodyPr>
          <a:lstStyle/>
          <a:p>
            <a:r>
              <a:rPr lang="en-US" sz="2400" b="1" dirty="0" smtClean="0"/>
              <a:t>Solution:</a:t>
            </a:r>
            <a:endParaRPr lang="en-PH" sz="2400" b="1" dirty="0"/>
          </a:p>
        </p:txBody>
      </p:sp>
      <p:graphicFrame>
        <p:nvGraphicFramePr>
          <p:cNvPr id="9" name="Object 5"/>
          <p:cNvGraphicFramePr>
            <a:graphicFrameLocks noChangeAspect="1"/>
          </p:cNvGraphicFramePr>
          <p:nvPr/>
        </p:nvGraphicFramePr>
        <p:xfrm>
          <a:off x="304800" y="5200650"/>
          <a:ext cx="8534400" cy="971550"/>
        </p:xfrm>
        <a:graphic>
          <a:graphicData uri="http://schemas.openxmlformats.org/presentationml/2006/ole">
            <p:oleObj spid="_x0000_s97281" name="Equation" r:id="rId6" imgW="4025880" imgH="507960" progId="Equation.3">
              <p:embed/>
            </p:oleObj>
          </a:graphicData>
        </a:graphic>
      </p:graphicFrame>
      <p:sp>
        <p:nvSpPr>
          <p:cNvPr id="10" name="Rectangle 7"/>
          <p:cNvSpPr>
            <a:spLocks noChangeArrowheads="1"/>
          </p:cNvSpPr>
          <p:nvPr/>
        </p:nvSpPr>
        <p:spPr bwMode="auto">
          <a:xfrm>
            <a:off x="0" y="320159"/>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sp>
        <p:nvSpPr>
          <p:cNvPr id="11" name="Oval 10"/>
          <p:cNvSpPr/>
          <p:nvPr/>
        </p:nvSpPr>
        <p:spPr>
          <a:xfrm>
            <a:off x="1423116" y="3925911"/>
            <a:ext cx="951963" cy="3037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12" name="Rounded Rectangle 11"/>
          <p:cNvSpPr/>
          <p:nvPr/>
        </p:nvSpPr>
        <p:spPr>
          <a:xfrm>
            <a:off x="228600" y="4648200"/>
            <a:ext cx="8763000" cy="1676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p:cTn id="31" dur="500" fill="hold"/>
                                        <p:tgtEl>
                                          <p:spTgt spid="5">
                                            <p:txEl>
                                              <p:pRg st="10" end="10"/>
                                            </p:txEl>
                                          </p:spTgt>
                                        </p:tgtEl>
                                        <p:attrNameLst>
                                          <p:attrName>ppt_w</p:attrName>
                                        </p:attrNameLst>
                                      </p:cBhvr>
                                      <p:tavLst>
                                        <p:tav tm="0">
                                          <p:val>
                                            <p:fltVal val="0"/>
                                          </p:val>
                                        </p:tav>
                                        <p:tav tm="100000">
                                          <p:val>
                                            <p:strVal val="#ppt_w"/>
                                          </p:val>
                                        </p:tav>
                                      </p:tavLst>
                                    </p:anim>
                                    <p:anim calcmode="lin" valueType="num">
                                      <p:cBhvr>
                                        <p:cTn id="32" dur="500" fill="hold"/>
                                        <p:tgtEl>
                                          <p:spTgt spid="5">
                                            <p:txEl>
                                              <p:pRg st="10" end="10"/>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5">
                                            <p:txEl>
                                              <p:pRg st="11" end="11"/>
                                            </p:txEl>
                                          </p:spTgt>
                                        </p:tgtEl>
                                        <p:attrNameLst>
                                          <p:attrName>style.visibility</p:attrName>
                                        </p:attrNameLst>
                                      </p:cBhvr>
                                      <p:to>
                                        <p:strVal val="visible"/>
                                      </p:to>
                                    </p:set>
                                    <p:animEffect transition="in" filter="slide(fromBottom)">
                                      <p:cBhvr>
                                        <p:cTn id="37" dur="500"/>
                                        <p:tgtEl>
                                          <p:spTgt spid="5">
                                            <p:txEl>
                                              <p:pRg st="11" end="11"/>
                                            </p:txEl>
                                          </p:spTgt>
                                        </p:tgtEl>
                                      </p:cBhvr>
                                    </p:animEffect>
                                  </p:childTnLst>
                                </p:cTn>
                              </p:par>
                              <p:par>
                                <p:cTn id="38" presetID="12" presetClass="entr" presetSubtype="4" fill="hold" nodeType="withEffect">
                                  <p:stCondLst>
                                    <p:cond delay="0"/>
                                  </p:stCondLst>
                                  <p:childTnLst>
                                    <p:set>
                                      <p:cBhvr>
                                        <p:cTn id="39" dur="1" fill="hold">
                                          <p:stCondLst>
                                            <p:cond delay="0"/>
                                          </p:stCondLst>
                                        </p:cTn>
                                        <p:tgtEl>
                                          <p:spTgt spid="5">
                                            <p:txEl>
                                              <p:pRg st="12" end="12"/>
                                            </p:txEl>
                                          </p:spTgt>
                                        </p:tgtEl>
                                        <p:attrNameLst>
                                          <p:attrName>style.visibility</p:attrName>
                                        </p:attrNameLst>
                                      </p:cBhvr>
                                      <p:to>
                                        <p:strVal val="visible"/>
                                      </p:to>
                                    </p:set>
                                    <p:animEffect transition="in" filter="slide(fromBottom)">
                                      <p:cBhvr>
                                        <p:cTn id="40" dur="500"/>
                                        <p:tgtEl>
                                          <p:spTgt spid="5">
                                            <p:txEl>
                                              <p:pRg st="12" end="1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900" decel="100000" fill="hold"/>
                                        <p:tgtEl>
                                          <p:spTgt spid="8"/>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900" decel="100000" fill="hold"/>
                                        <p:tgtEl>
                                          <p:spTgt spid="12"/>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nodeType="click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p:cTn id="59" dur="1000" fill="hold"/>
                                        <p:tgtEl>
                                          <p:spTgt spid="9"/>
                                        </p:tgtEl>
                                        <p:attrNameLst>
                                          <p:attrName>ppt_x</p:attrName>
                                        </p:attrNameLst>
                                      </p:cBhvr>
                                      <p:tavLst>
                                        <p:tav tm="0">
                                          <p:val>
                                            <p:strVal val="#ppt_x-.2"/>
                                          </p:val>
                                        </p:tav>
                                        <p:tav tm="100000">
                                          <p:val>
                                            <p:strVal val="#ppt_x"/>
                                          </p:val>
                                        </p:tav>
                                      </p:tavLst>
                                    </p:anim>
                                    <p:anim calcmode="lin" valueType="num">
                                      <p:cBhvr>
                                        <p:cTn id="60"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61" dur="1000"/>
                                        <p:tgtEl>
                                          <p:spTgt spid="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wipe(down)">
                                      <p:cBhvr>
                                        <p:cTn id="6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04800" y="188893"/>
            <a:ext cx="8534400" cy="954107"/>
          </a:xfrm>
          <a:prstGeom prst="rect">
            <a:avLst/>
          </a:prstGeom>
        </p:spPr>
        <p:txBody>
          <a:bodyPr wrap="square">
            <a:spAutoFit/>
          </a:bodyPr>
          <a:lstStyle/>
          <a:p>
            <a:pPr marL="566738" indent="-566738"/>
            <a:r>
              <a:rPr lang="en-US" sz="2800" dirty="0" smtClean="0"/>
              <a:t>29. Which of the following classes performed best and with the least variability in the test? </a:t>
            </a:r>
          </a:p>
        </p:txBody>
      </p:sp>
      <p:graphicFrame>
        <p:nvGraphicFramePr>
          <p:cNvPr id="6" name="Table 5"/>
          <p:cNvGraphicFramePr>
            <a:graphicFrameLocks noGrp="1"/>
          </p:cNvGraphicFramePr>
          <p:nvPr/>
        </p:nvGraphicFramePr>
        <p:xfrm>
          <a:off x="1219200" y="1219200"/>
          <a:ext cx="6858000" cy="1981200"/>
        </p:xfrm>
        <a:graphic>
          <a:graphicData uri="http://schemas.openxmlformats.org/drawingml/2006/table">
            <a:tbl>
              <a:tblPr firstRow="1" bandRow="1">
                <a:tableStyleId>{5940675A-B579-460E-94D1-54222C63F5DA}</a:tableStyleId>
              </a:tblPr>
              <a:tblGrid>
                <a:gridCol w="2286000"/>
                <a:gridCol w="2286000"/>
                <a:gridCol w="2286000"/>
              </a:tblGrid>
              <a:tr h="370840">
                <a:tc>
                  <a:txBody>
                    <a:bodyPr/>
                    <a:lstStyle/>
                    <a:p>
                      <a:pPr algn="ctr"/>
                      <a:r>
                        <a:rPr lang="en-US" sz="2000" b="1" dirty="0" smtClean="0"/>
                        <a:t>Classes</a:t>
                      </a:r>
                      <a:endParaRPr lang="en-US" sz="2000" b="1" dirty="0">
                        <a:solidFill>
                          <a:schemeClr val="tx1"/>
                        </a:solidFill>
                      </a:endParaRPr>
                    </a:p>
                  </a:txBody>
                  <a:tcPr/>
                </a:tc>
                <a:tc>
                  <a:txBody>
                    <a:bodyPr/>
                    <a:lstStyle/>
                    <a:p>
                      <a:pPr algn="ctr"/>
                      <a:r>
                        <a:rPr lang="en-US" sz="2000" b="1" dirty="0" smtClean="0"/>
                        <a:t>Mean</a:t>
                      </a:r>
                      <a:endParaRPr lang="en-US" sz="2000" b="1" dirty="0">
                        <a:solidFill>
                          <a:schemeClr val="tx1"/>
                        </a:solidFill>
                      </a:endParaRPr>
                    </a:p>
                  </a:txBody>
                  <a:tcPr/>
                </a:tc>
                <a:tc>
                  <a:txBody>
                    <a:bodyPr/>
                    <a:lstStyle/>
                    <a:p>
                      <a:pPr algn="ctr"/>
                      <a:r>
                        <a:rPr lang="en-US" sz="2000" b="1" dirty="0" smtClean="0"/>
                        <a:t>Standard Deviation</a:t>
                      </a:r>
                      <a:endParaRPr lang="en-US" sz="2000" b="1" dirty="0">
                        <a:solidFill>
                          <a:schemeClr val="tx1"/>
                        </a:solidFill>
                      </a:endParaRPr>
                    </a:p>
                  </a:txBody>
                  <a:tcPr/>
                </a:tc>
              </a:tr>
              <a:tr h="370840">
                <a:tc>
                  <a:txBody>
                    <a:bodyPr/>
                    <a:lstStyle/>
                    <a:p>
                      <a:pPr algn="l"/>
                      <a:r>
                        <a:rPr lang="en-US" sz="2000" b="1" dirty="0" smtClean="0"/>
                        <a:t>I – Hope </a:t>
                      </a:r>
                      <a:endParaRPr lang="en-US" sz="2000" b="1" dirty="0">
                        <a:solidFill>
                          <a:schemeClr val="tx1"/>
                        </a:solidFill>
                      </a:endParaRPr>
                    </a:p>
                  </a:txBody>
                  <a:tcPr/>
                </a:tc>
                <a:tc>
                  <a:txBody>
                    <a:bodyPr/>
                    <a:lstStyle/>
                    <a:p>
                      <a:pPr algn="ctr"/>
                      <a:r>
                        <a:rPr lang="en-US" sz="2000" b="1" dirty="0" smtClean="0"/>
                        <a:t>35.7</a:t>
                      </a:r>
                      <a:endParaRPr lang="en-US" sz="2000" b="1" dirty="0">
                        <a:solidFill>
                          <a:schemeClr val="tx1"/>
                        </a:solidFill>
                      </a:endParaRPr>
                    </a:p>
                  </a:txBody>
                  <a:tcPr/>
                </a:tc>
                <a:tc>
                  <a:txBody>
                    <a:bodyPr/>
                    <a:lstStyle/>
                    <a:p>
                      <a:pPr algn="ctr"/>
                      <a:r>
                        <a:rPr lang="en-US" sz="2000" b="1" dirty="0" smtClean="0"/>
                        <a:t>3.16</a:t>
                      </a:r>
                      <a:endParaRPr lang="en-US" sz="2000" b="1" dirty="0">
                        <a:solidFill>
                          <a:schemeClr val="tx1"/>
                        </a:solidFill>
                      </a:endParaRPr>
                    </a:p>
                  </a:txBody>
                  <a:tcPr/>
                </a:tc>
              </a:tr>
              <a:tr h="370840">
                <a:tc>
                  <a:txBody>
                    <a:bodyPr/>
                    <a:lstStyle/>
                    <a:p>
                      <a:pPr algn="l"/>
                      <a:r>
                        <a:rPr lang="en-US" sz="2000" b="1" dirty="0" smtClean="0"/>
                        <a:t>I – Sincerity </a:t>
                      </a:r>
                      <a:endParaRPr lang="en-US" sz="2000" b="1" dirty="0">
                        <a:solidFill>
                          <a:schemeClr val="tx1"/>
                        </a:solidFill>
                      </a:endParaRPr>
                    </a:p>
                  </a:txBody>
                  <a:tcPr/>
                </a:tc>
                <a:tc>
                  <a:txBody>
                    <a:bodyPr/>
                    <a:lstStyle/>
                    <a:p>
                      <a:pPr algn="ctr"/>
                      <a:r>
                        <a:rPr lang="en-US" sz="2000" b="1" dirty="0" smtClean="0"/>
                        <a:t>36.4</a:t>
                      </a:r>
                      <a:endParaRPr lang="en-US" sz="2000" b="1" dirty="0">
                        <a:solidFill>
                          <a:schemeClr val="tx1"/>
                        </a:solidFill>
                      </a:endParaRPr>
                    </a:p>
                  </a:txBody>
                  <a:tcPr/>
                </a:tc>
                <a:tc>
                  <a:txBody>
                    <a:bodyPr/>
                    <a:lstStyle/>
                    <a:p>
                      <a:pPr algn="ctr"/>
                      <a:r>
                        <a:rPr lang="en-US" sz="2000" b="1" dirty="0" smtClean="0"/>
                        <a:t>3.53</a:t>
                      </a:r>
                      <a:endParaRPr lang="en-US" sz="2000" b="1" dirty="0">
                        <a:solidFill>
                          <a:schemeClr val="tx1"/>
                        </a:solidFill>
                      </a:endParaRPr>
                    </a:p>
                  </a:txBody>
                  <a:tcPr/>
                </a:tc>
              </a:tr>
              <a:tr h="370840">
                <a:tc>
                  <a:txBody>
                    <a:bodyPr/>
                    <a:lstStyle/>
                    <a:p>
                      <a:pPr algn="l"/>
                      <a:r>
                        <a:rPr lang="en-US" sz="2000" b="1" dirty="0" smtClean="0"/>
                        <a:t>I – Love </a:t>
                      </a:r>
                      <a:endParaRPr lang="en-US" sz="2000" b="1" dirty="0">
                        <a:solidFill>
                          <a:schemeClr val="tx1"/>
                        </a:solidFill>
                      </a:endParaRPr>
                    </a:p>
                  </a:txBody>
                  <a:tcPr/>
                </a:tc>
                <a:tc>
                  <a:txBody>
                    <a:bodyPr/>
                    <a:lstStyle/>
                    <a:p>
                      <a:pPr algn="ctr"/>
                      <a:r>
                        <a:rPr lang="en-US" sz="2000" b="1" dirty="0" smtClean="0"/>
                        <a:t> 35.7</a:t>
                      </a:r>
                      <a:endParaRPr lang="en-US" sz="2000" b="1" dirty="0">
                        <a:solidFill>
                          <a:schemeClr val="tx1"/>
                        </a:solidFill>
                      </a:endParaRPr>
                    </a:p>
                  </a:txBody>
                  <a:tcPr/>
                </a:tc>
                <a:tc>
                  <a:txBody>
                    <a:bodyPr/>
                    <a:lstStyle/>
                    <a:p>
                      <a:pPr algn="ctr"/>
                      <a:r>
                        <a:rPr lang="en-US" sz="2000" b="1" dirty="0" smtClean="0"/>
                        <a:t>3.87</a:t>
                      </a:r>
                      <a:endParaRPr lang="en-US" sz="2000" b="1" dirty="0">
                        <a:solidFill>
                          <a:schemeClr val="tx1"/>
                        </a:solidFill>
                      </a:endParaRPr>
                    </a:p>
                  </a:txBody>
                  <a:tcPr/>
                </a:tc>
              </a:tr>
              <a:tr h="370840">
                <a:tc>
                  <a:txBody>
                    <a:bodyPr/>
                    <a:lstStyle/>
                    <a:p>
                      <a:pPr algn="l"/>
                      <a:r>
                        <a:rPr lang="en-US" sz="2000" b="1" dirty="0" smtClean="0"/>
                        <a:t>I</a:t>
                      </a:r>
                      <a:r>
                        <a:rPr lang="en-US" sz="2000" b="1" baseline="0" dirty="0" smtClean="0"/>
                        <a:t> – Charity </a:t>
                      </a:r>
                      <a:endParaRPr lang="en-US" sz="2000" b="1" dirty="0">
                        <a:solidFill>
                          <a:schemeClr val="tx1"/>
                        </a:solidFill>
                      </a:endParaRPr>
                    </a:p>
                  </a:txBody>
                  <a:tcPr/>
                </a:tc>
                <a:tc>
                  <a:txBody>
                    <a:bodyPr/>
                    <a:lstStyle/>
                    <a:p>
                      <a:pPr algn="ctr"/>
                      <a:r>
                        <a:rPr lang="en-US" sz="2000" b="1" dirty="0" smtClean="0"/>
                        <a:t>36.4</a:t>
                      </a:r>
                      <a:endParaRPr lang="en-US" sz="2000" b="1" dirty="0">
                        <a:solidFill>
                          <a:schemeClr val="tx1"/>
                        </a:solidFill>
                      </a:endParaRPr>
                    </a:p>
                  </a:txBody>
                  <a:tcPr/>
                </a:tc>
                <a:tc>
                  <a:txBody>
                    <a:bodyPr/>
                    <a:lstStyle/>
                    <a:p>
                      <a:pPr algn="ctr"/>
                      <a:r>
                        <a:rPr lang="en-US" sz="2000" b="1" dirty="0" smtClean="0"/>
                        <a:t>3.72</a:t>
                      </a:r>
                      <a:endParaRPr lang="en-US" sz="2000" b="1" dirty="0">
                        <a:solidFill>
                          <a:schemeClr val="tx1"/>
                        </a:solidFill>
                      </a:endParaRPr>
                    </a:p>
                  </a:txBody>
                  <a:tcPr/>
                </a:tc>
              </a:tr>
            </a:tbl>
          </a:graphicData>
        </a:graphic>
      </p:graphicFrame>
      <p:sp>
        <p:nvSpPr>
          <p:cNvPr id="7" name="Rectangle 6"/>
          <p:cNvSpPr/>
          <p:nvPr/>
        </p:nvSpPr>
        <p:spPr>
          <a:xfrm>
            <a:off x="1572627" y="3505200"/>
            <a:ext cx="1824538" cy="523220"/>
          </a:xfrm>
          <a:prstGeom prst="rect">
            <a:avLst/>
          </a:prstGeom>
        </p:spPr>
        <p:txBody>
          <a:bodyPr wrap="none">
            <a:spAutoFit/>
          </a:bodyPr>
          <a:lstStyle/>
          <a:p>
            <a:r>
              <a:rPr lang="en-US" sz="2800" dirty="0" smtClean="0"/>
              <a:t>a. I – Hope </a:t>
            </a:r>
            <a:endParaRPr lang="en-US" sz="2800" dirty="0"/>
          </a:p>
        </p:txBody>
      </p:sp>
      <p:sp>
        <p:nvSpPr>
          <p:cNvPr id="8" name="Rectangle 7"/>
          <p:cNvSpPr/>
          <p:nvPr/>
        </p:nvSpPr>
        <p:spPr>
          <a:xfrm>
            <a:off x="1562637" y="4191000"/>
            <a:ext cx="2316660" cy="523220"/>
          </a:xfrm>
          <a:prstGeom prst="rect">
            <a:avLst/>
          </a:prstGeom>
        </p:spPr>
        <p:txBody>
          <a:bodyPr wrap="none">
            <a:spAutoFit/>
          </a:bodyPr>
          <a:lstStyle/>
          <a:p>
            <a:r>
              <a:rPr lang="en-US" sz="2800" dirty="0" smtClean="0"/>
              <a:t>b. I – Sincerity </a:t>
            </a:r>
            <a:endParaRPr lang="en-US" sz="2800" dirty="0"/>
          </a:p>
        </p:txBody>
      </p:sp>
      <p:sp>
        <p:nvSpPr>
          <p:cNvPr id="9" name="Rectangle 8"/>
          <p:cNvSpPr/>
          <p:nvPr/>
        </p:nvSpPr>
        <p:spPr>
          <a:xfrm>
            <a:off x="4648200" y="3505200"/>
            <a:ext cx="1699183" cy="523220"/>
          </a:xfrm>
          <a:prstGeom prst="rect">
            <a:avLst/>
          </a:prstGeom>
        </p:spPr>
        <p:txBody>
          <a:bodyPr wrap="none">
            <a:spAutoFit/>
          </a:bodyPr>
          <a:lstStyle/>
          <a:p>
            <a:r>
              <a:rPr lang="en-US" sz="2800" dirty="0" smtClean="0"/>
              <a:t>c. I – Love </a:t>
            </a:r>
            <a:endParaRPr lang="en-US" sz="2800" dirty="0"/>
          </a:p>
        </p:txBody>
      </p:sp>
      <p:sp>
        <p:nvSpPr>
          <p:cNvPr id="10" name="Rectangle 9"/>
          <p:cNvSpPr/>
          <p:nvPr/>
        </p:nvSpPr>
        <p:spPr>
          <a:xfrm>
            <a:off x="4590864" y="4189926"/>
            <a:ext cx="2101857" cy="523220"/>
          </a:xfrm>
          <a:prstGeom prst="rect">
            <a:avLst/>
          </a:prstGeom>
        </p:spPr>
        <p:txBody>
          <a:bodyPr wrap="none">
            <a:spAutoFit/>
          </a:bodyPr>
          <a:lstStyle/>
          <a:p>
            <a:r>
              <a:rPr lang="en-US" sz="2800" dirty="0" smtClean="0"/>
              <a:t>d. I – Charity </a:t>
            </a:r>
          </a:p>
        </p:txBody>
      </p:sp>
      <p:sp>
        <p:nvSpPr>
          <p:cNvPr id="11" name="Rounded Rectangle 10"/>
          <p:cNvSpPr/>
          <p:nvPr/>
        </p:nvSpPr>
        <p:spPr>
          <a:xfrm>
            <a:off x="1524000" y="4191000"/>
            <a:ext cx="22098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Bottom)">
                                      <p:cBhvr>
                                        <p:cTn id="34" dur="500"/>
                                        <p:tgtEl>
                                          <p:spTgt spid="8"/>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Bottom)">
                                      <p:cBhvr>
                                        <p:cTn id="37" dur="500"/>
                                        <p:tgtEl>
                                          <p:spTgt spid="9"/>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slide(fromBottom)">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0"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edge">
                                      <p:cBhvr>
                                        <p:cTn id="4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04800" y="76200"/>
            <a:ext cx="8534400" cy="3631763"/>
          </a:xfrm>
          <a:prstGeom prst="rect">
            <a:avLst/>
          </a:prstGeom>
        </p:spPr>
        <p:txBody>
          <a:bodyPr wrap="square">
            <a:spAutoFit/>
          </a:bodyPr>
          <a:lstStyle/>
          <a:p>
            <a:pPr marL="398463" indent="-398463"/>
            <a:r>
              <a:rPr lang="en-US" sz="2000" dirty="0" smtClean="0"/>
              <a:t>30. The table shows the student’s grades and the corresponding number of units for each subject. </a:t>
            </a:r>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1400" dirty="0" smtClean="0"/>
          </a:p>
          <a:p>
            <a:pPr marL="463550" indent="-463550"/>
            <a:endParaRPr lang="en-US" sz="1200" dirty="0" smtClean="0"/>
          </a:p>
          <a:p>
            <a:pPr marL="463550" indent="-463550"/>
            <a:endParaRPr lang="en-US" dirty="0" smtClean="0"/>
          </a:p>
          <a:p>
            <a:pPr marL="463550"/>
            <a:r>
              <a:rPr lang="en-US" sz="2000" dirty="0" smtClean="0"/>
              <a:t>What is the mean (average) of the grades?</a:t>
            </a:r>
          </a:p>
        </p:txBody>
      </p:sp>
      <p:graphicFrame>
        <p:nvGraphicFramePr>
          <p:cNvPr id="6" name="Table 5"/>
          <p:cNvGraphicFramePr>
            <a:graphicFrameLocks noGrp="1"/>
          </p:cNvGraphicFramePr>
          <p:nvPr/>
        </p:nvGraphicFramePr>
        <p:xfrm>
          <a:off x="1676400" y="762000"/>
          <a:ext cx="6019800" cy="2438400"/>
        </p:xfrm>
        <a:graphic>
          <a:graphicData uri="http://schemas.openxmlformats.org/drawingml/2006/table">
            <a:tbl>
              <a:tblPr firstRow="1" bandRow="1">
                <a:tableStyleId>{5940675A-B579-460E-94D1-54222C63F5DA}</a:tableStyleId>
              </a:tblPr>
              <a:tblGrid>
                <a:gridCol w="2006600"/>
                <a:gridCol w="2006600"/>
                <a:gridCol w="2006600"/>
              </a:tblGrid>
              <a:tr h="243840">
                <a:tc>
                  <a:txBody>
                    <a:bodyPr/>
                    <a:lstStyle/>
                    <a:p>
                      <a:pPr algn="ctr"/>
                      <a:r>
                        <a:rPr lang="en-US" sz="1400" b="1" dirty="0" smtClean="0"/>
                        <a:t>Subjects</a:t>
                      </a:r>
                      <a:endParaRPr lang="en-US" sz="1400" b="1" dirty="0">
                        <a:solidFill>
                          <a:schemeClr val="tx1"/>
                        </a:solidFill>
                      </a:endParaRPr>
                    </a:p>
                  </a:txBody>
                  <a:tcPr/>
                </a:tc>
                <a:tc>
                  <a:txBody>
                    <a:bodyPr/>
                    <a:lstStyle/>
                    <a:p>
                      <a:pPr algn="ctr"/>
                      <a:r>
                        <a:rPr lang="en-US" sz="1400" b="1" dirty="0" smtClean="0"/>
                        <a:t>Units</a:t>
                      </a:r>
                      <a:r>
                        <a:rPr lang="en-US" sz="1400" b="1" baseline="0" dirty="0" smtClean="0"/>
                        <a:t> (Weight)</a:t>
                      </a:r>
                      <a:endParaRPr lang="en-US" sz="1400" b="1" dirty="0">
                        <a:solidFill>
                          <a:schemeClr val="tx1"/>
                        </a:solidFill>
                      </a:endParaRPr>
                    </a:p>
                  </a:txBody>
                  <a:tcPr/>
                </a:tc>
                <a:tc>
                  <a:txBody>
                    <a:bodyPr/>
                    <a:lstStyle/>
                    <a:p>
                      <a:pPr algn="ctr"/>
                      <a:r>
                        <a:rPr lang="en-US" sz="1400" b="1" dirty="0" smtClean="0"/>
                        <a:t>Grade</a:t>
                      </a:r>
                      <a:endParaRPr lang="en-US" sz="1400" b="1" dirty="0">
                        <a:solidFill>
                          <a:schemeClr val="tx1"/>
                        </a:solidFill>
                      </a:endParaRPr>
                    </a:p>
                  </a:txBody>
                  <a:tcPr/>
                </a:tc>
              </a:tr>
              <a:tr h="167640">
                <a:tc>
                  <a:txBody>
                    <a:bodyPr/>
                    <a:lstStyle/>
                    <a:p>
                      <a:pPr algn="l"/>
                      <a:r>
                        <a:rPr lang="en-US" sz="1400" b="1" dirty="0" smtClean="0"/>
                        <a:t>Filipino</a:t>
                      </a:r>
                      <a:endParaRPr lang="en-US" sz="1400" b="1" dirty="0">
                        <a:solidFill>
                          <a:schemeClr val="tx1"/>
                        </a:solidFill>
                      </a:endParaRPr>
                    </a:p>
                  </a:txBody>
                  <a:tcPr/>
                </a:tc>
                <a:tc>
                  <a:txBody>
                    <a:bodyPr/>
                    <a:lstStyle/>
                    <a:p>
                      <a:pPr algn="ctr"/>
                      <a:r>
                        <a:rPr lang="en-US" sz="1400" b="1" dirty="0" smtClean="0"/>
                        <a:t>3</a:t>
                      </a:r>
                      <a:endParaRPr lang="en-US" sz="1400" b="1" dirty="0">
                        <a:solidFill>
                          <a:schemeClr val="tx1"/>
                        </a:solidFill>
                      </a:endParaRPr>
                    </a:p>
                  </a:txBody>
                  <a:tcPr/>
                </a:tc>
                <a:tc>
                  <a:txBody>
                    <a:bodyPr/>
                    <a:lstStyle/>
                    <a:p>
                      <a:pPr algn="ctr"/>
                      <a:r>
                        <a:rPr lang="en-US" sz="1400" b="1" dirty="0" smtClean="0"/>
                        <a:t>88</a:t>
                      </a:r>
                      <a:endParaRPr lang="en-US" sz="1400" b="1" dirty="0">
                        <a:solidFill>
                          <a:schemeClr val="tx1"/>
                        </a:solidFill>
                      </a:endParaRPr>
                    </a:p>
                  </a:txBody>
                  <a:tcPr/>
                </a:tc>
              </a:tr>
              <a:tr h="167640">
                <a:tc>
                  <a:txBody>
                    <a:bodyPr/>
                    <a:lstStyle/>
                    <a:p>
                      <a:pPr algn="l"/>
                      <a:r>
                        <a:rPr lang="en-US" sz="1400" b="1" dirty="0" smtClean="0"/>
                        <a:t>English</a:t>
                      </a:r>
                      <a:endParaRPr lang="en-US" sz="1400" b="1" dirty="0">
                        <a:solidFill>
                          <a:schemeClr val="tx1"/>
                        </a:solidFill>
                      </a:endParaRPr>
                    </a:p>
                  </a:txBody>
                  <a:tcPr/>
                </a:tc>
                <a:tc>
                  <a:txBody>
                    <a:bodyPr/>
                    <a:lstStyle/>
                    <a:p>
                      <a:pPr algn="ctr"/>
                      <a:r>
                        <a:rPr lang="en-US" sz="1400" b="1" dirty="0" smtClean="0"/>
                        <a:t>3</a:t>
                      </a:r>
                      <a:endParaRPr lang="en-US" sz="1400" b="1" dirty="0">
                        <a:solidFill>
                          <a:schemeClr val="tx1"/>
                        </a:solidFill>
                      </a:endParaRPr>
                    </a:p>
                  </a:txBody>
                  <a:tcPr/>
                </a:tc>
                <a:tc>
                  <a:txBody>
                    <a:bodyPr/>
                    <a:lstStyle/>
                    <a:p>
                      <a:pPr algn="ctr"/>
                      <a:r>
                        <a:rPr lang="en-US" sz="1400" b="1" dirty="0" smtClean="0"/>
                        <a:t>90</a:t>
                      </a:r>
                      <a:endParaRPr lang="en-US" sz="1400" b="1" dirty="0">
                        <a:solidFill>
                          <a:schemeClr val="tx1"/>
                        </a:solidFill>
                      </a:endParaRPr>
                    </a:p>
                  </a:txBody>
                  <a:tcPr/>
                </a:tc>
              </a:tr>
              <a:tr h="167640">
                <a:tc>
                  <a:txBody>
                    <a:bodyPr/>
                    <a:lstStyle/>
                    <a:p>
                      <a:pPr algn="l"/>
                      <a:r>
                        <a:rPr lang="en-US" sz="1400" b="1" dirty="0" smtClean="0">
                          <a:solidFill>
                            <a:schemeClr val="tx1"/>
                          </a:solidFill>
                        </a:rPr>
                        <a:t>Math</a:t>
                      </a:r>
                      <a:endParaRPr lang="en-US" sz="1400" b="1" dirty="0">
                        <a:solidFill>
                          <a:schemeClr val="tx1"/>
                        </a:solidFill>
                      </a:endParaRPr>
                    </a:p>
                  </a:txBody>
                  <a:tcPr/>
                </a:tc>
                <a:tc>
                  <a:txBody>
                    <a:bodyPr/>
                    <a:lstStyle/>
                    <a:p>
                      <a:pPr algn="ctr"/>
                      <a:r>
                        <a:rPr lang="en-US" sz="1400" b="1" dirty="0" smtClean="0"/>
                        <a:t>3</a:t>
                      </a:r>
                      <a:endParaRPr lang="en-US" sz="1400" b="1" dirty="0">
                        <a:solidFill>
                          <a:schemeClr val="tx1"/>
                        </a:solidFill>
                      </a:endParaRPr>
                    </a:p>
                  </a:txBody>
                  <a:tcPr/>
                </a:tc>
                <a:tc>
                  <a:txBody>
                    <a:bodyPr/>
                    <a:lstStyle/>
                    <a:p>
                      <a:pPr algn="ctr"/>
                      <a:r>
                        <a:rPr lang="en-US" sz="1400" b="1" dirty="0" smtClean="0"/>
                        <a:t>94</a:t>
                      </a:r>
                      <a:endParaRPr lang="en-US" sz="1400" b="1" dirty="0">
                        <a:solidFill>
                          <a:schemeClr val="tx1"/>
                        </a:solidFill>
                      </a:endParaRPr>
                    </a:p>
                  </a:txBody>
                  <a:tcPr/>
                </a:tc>
              </a:tr>
              <a:tr h="0">
                <a:tc>
                  <a:txBody>
                    <a:bodyPr/>
                    <a:lstStyle/>
                    <a:p>
                      <a:pPr algn="l"/>
                      <a:r>
                        <a:rPr lang="en-US" sz="1400" b="1" dirty="0" smtClean="0"/>
                        <a:t>Science</a:t>
                      </a:r>
                      <a:endParaRPr lang="en-US" sz="1400" b="1" dirty="0">
                        <a:solidFill>
                          <a:schemeClr val="tx1"/>
                        </a:solidFill>
                      </a:endParaRPr>
                    </a:p>
                  </a:txBody>
                  <a:tcPr/>
                </a:tc>
                <a:tc>
                  <a:txBody>
                    <a:bodyPr/>
                    <a:lstStyle/>
                    <a:p>
                      <a:pPr algn="ctr"/>
                      <a:r>
                        <a:rPr lang="en-US" sz="1400" b="1" dirty="0" smtClean="0"/>
                        <a:t>5</a:t>
                      </a:r>
                      <a:endParaRPr lang="en-US" sz="1400" b="1" dirty="0">
                        <a:solidFill>
                          <a:schemeClr val="tx1"/>
                        </a:solidFill>
                      </a:endParaRPr>
                    </a:p>
                  </a:txBody>
                  <a:tcPr/>
                </a:tc>
                <a:tc>
                  <a:txBody>
                    <a:bodyPr/>
                    <a:lstStyle/>
                    <a:p>
                      <a:pPr algn="ctr"/>
                      <a:r>
                        <a:rPr lang="en-US" sz="1400" b="1" dirty="0" smtClean="0"/>
                        <a:t>91</a:t>
                      </a:r>
                      <a:endParaRPr lang="en-US" sz="1400" b="1" dirty="0">
                        <a:solidFill>
                          <a:schemeClr val="tx1"/>
                        </a:solidFill>
                      </a:endParaRPr>
                    </a:p>
                  </a:txBody>
                  <a:tcPr/>
                </a:tc>
              </a:tr>
              <a:tr h="167640">
                <a:tc>
                  <a:txBody>
                    <a:bodyPr/>
                    <a:lstStyle/>
                    <a:p>
                      <a:pPr algn="l"/>
                      <a:r>
                        <a:rPr lang="en-US" sz="1400" b="1" dirty="0" err="1" smtClean="0">
                          <a:solidFill>
                            <a:schemeClr val="tx1"/>
                          </a:solidFill>
                        </a:rPr>
                        <a:t>Araling</a:t>
                      </a:r>
                      <a:r>
                        <a:rPr lang="en-US" sz="1400" b="1" dirty="0" smtClean="0">
                          <a:solidFill>
                            <a:schemeClr val="tx1"/>
                          </a:solidFill>
                        </a:rPr>
                        <a:t> </a:t>
                      </a:r>
                      <a:r>
                        <a:rPr lang="en-US" sz="1400" b="1" dirty="0" err="1" smtClean="0">
                          <a:solidFill>
                            <a:schemeClr val="tx1"/>
                          </a:solidFill>
                        </a:rPr>
                        <a:t>Panlipunan</a:t>
                      </a:r>
                      <a:endParaRPr lang="en-US" sz="1400" b="1" dirty="0">
                        <a:solidFill>
                          <a:schemeClr val="tx1"/>
                        </a:solidFill>
                      </a:endParaRPr>
                    </a:p>
                  </a:txBody>
                  <a:tcPr/>
                </a:tc>
                <a:tc>
                  <a:txBody>
                    <a:bodyPr/>
                    <a:lstStyle/>
                    <a:p>
                      <a:pPr algn="ctr"/>
                      <a:r>
                        <a:rPr lang="en-US" sz="1400" b="1" dirty="0" smtClean="0">
                          <a:solidFill>
                            <a:schemeClr val="tx1"/>
                          </a:solidFill>
                        </a:rPr>
                        <a:t>3</a:t>
                      </a:r>
                      <a:endParaRPr lang="en-US" sz="1400" b="1" dirty="0">
                        <a:solidFill>
                          <a:schemeClr val="tx1"/>
                        </a:solidFill>
                      </a:endParaRPr>
                    </a:p>
                  </a:txBody>
                  <a:tcPr/>
                </a:tc>
                <a:tc>
                  <a:txBody>
                    <a:bodyPr/>
                    <a:lstStyle/>
                    <a:p>
                      <a:pPr algn="ctr"/>
                      <a:r>
                        <a:rPr lang="en-US" sz="1400" b="1" dirty="0" smtClean="0">
                          <a:solidFill>
                            <a:schemeClr val="tx1"/>
                          </a:solidFill>
                        </a:rPr>
                        <a:t>87</a:t>
                      </a:r>
                      <a:endParaRPr lang="en-US" sz="1400" b="1" dirty="0">
                        <a:solidFill>
                          <a:schemeClr val="tx1"/>
                        </a:solidFill>
                      </a:endParaRPr>
                    </a:p>
                  </a:txBody>
                  <a:tcPr/>
                </a:tc>
              </a:tr>
              <a:tr h="167640">
                <a:tc>
                  <a:txBody>
                    <a:bodyPr/>
                    <a:lstStyle/>
                    <a:p>
                      <a:pPr algn="l"/>
                      <a:r>
                        <a:rPr lang="en-US" sz="1400" b="1" dirty="0" smtClean="0">
                          <a:solidFill>
                            <a:schemeClr val="tx1"/>
                          </a:solidFill>
                        </a:rPr>
                        <a:t>Computer</a:t>
                      </a:r>
                      <a:endParaRPr lang="en-US" sz="1400" b="1" dirty="0">
                        <a:solidFill>
                          <a:schemeClr val="tx1"/>
                        </a:solidFill>
                      </a:endParaRPr>
                    </a:p>
                  </a:txBody>
                  <a:tcPr/>
                </a:tc>
                <a:tc>
                  <a:txBody>
                    <a:bodyPr/>
                    <a:lstStyle/>
                    <a:p>
                      <a:pPr algn="ctr"/>
                      <a:r>
                        <a:rPr lang="en-US" sz="1400" b="1" dirty="0" smtClean="0">
                          <a:solidFill>
                            <a:schemeClr val="tx1"/>
                          </a:solidFill>
                        </a:rPr>
                        <a:t>2</a:t>
                      </a:r>
                      <a:endParaRPr lang="en-US" sz="1400" b="1" dirty="0">
                        <a:solidFill>
                          <a:schemeClr val="tx1"/>
                        </a:solidFill>
                      </a:endParaRPr>
                    </a:p>
                  </a:txBody>
                  <a:tcPr/>
                </a:tc>
                <a:tc>
                  <a:txBody>
                    <a:bodyPr/>
                    <a:lstStyle/>
                    <a:p>
                      <a:pPr algn="ctr"/>
                      <a:r>
                        <a:rPr lang="en-US" sz="1400" b="1" dirty="0" smtClean="0">
                          <a:solidFill>
                            <a:schemeClr val="tx1"/>
                          </a:solidFill>
                        </a:rPr>
                        <a:t>96</a:t>
                      </a:r>
                      <a:endParaRPr lang="en-US" sz="1400" b="1" dirty="0">
                        <a:solidFill>
                          <a:schemeClr val="tx1"/>
                        </a:solidFill>
                      </a:endParaRPr>
                    </a:p>
                  </a:txBody>
                  <a:tcPr/>
                </a:tc>
              </a:tr>
              <a:tr h="167640">
                <a:tc>
                  <a:txBody>
                    <a:bodyPr/>
                    <a:lstStyle/>
                    <a:p>
                      <a:pPr algn="l"/>
                      <a:r>
                        <a:rPr lang="en-US" sz="1400" b="1" dirty="0" smtClean="0">
                          <a:solidFill>
                            <a:schemeClr val="tx1"/>
                          </a:solidFill>
                        </a:rPr>
                        <a:t>PE</a:t>
                      </a:r>
                      <a:endParaRPr lang="en-US" sz="1400" b="1" dirty="0">
                        <a:solidFill>
                          <a:schemeClr val="tx1"/>
                        </a:solidFill>
                      </a:endParaRPr>
                    </a:p>
                  </a:txBody>
                  <a:tcPr/>
                </a:tc>
                <a:tc>
                  <a:txBody>
                    <a:bodyPr/>
                    <a:lstStyle/>
                    <a:p>
                      <a:pPr algn="ctr"/>
                      <a:r>
                        <a:rPr lang="en-US" sz="1400" b="1" dirty="0" smtClean="0">
                          <a:solidFill>
                            <a:schemeClr val="tx1"/>
                          </a:solidFill>
                        </a:rPr>
                        <a:t>1</a:t>
                      </a:r>
                      <a:endParaRPr lang="en-US" sz="1400" b="1" dirty="0">
                        <a:solidFill>
                          <a:schemeClr val="tx1"/>
                        </a:solidFill>
                      </a:endParaRPr>
                    </a:p>
                  </a:txBody>
                  <a:tcPr/>
                </a:tc>
                <a:tc>
                  <a:txBody>
                    <a:bodyPr/>
                    <a:lstStyle/>
                    <a:p>
                      <a:pPr algn="ctr"/>
                      <a:r>
                        <a:rPr lang="en-US" sz="1400" b="1" dirty="0" smtClean="0">
                          <a:solidFill>
                            <a:schemeClr val="tx1"/>
                          </a:solidFill>
                        </a:rPr>
                        <a:t>90</a:t>
                      </a:r>
                      <a:endParaRPr lang="en-US" sz="1400" b="1" dirty="0">
                        <a:solidFill>
                          <a:schemeClr val="tx1"/>
                        </a:solidFill>
                      </a:endParaRPr>
                    </a:p>
                  </a:txBody>
                  <a:tcPr/>
                </a:tc>
              </a:tr>
            </a:tbl>
          </a:graphicData>
        </a:graphic>
      </p:graphicFrame>
      <p:sp>
        <p:nvSpPr>
          <p:cNvPr id="7" name="Rectangle 6"/>
          <p:cNvSpPr/>
          <p:nvPr/>
        </p:nvSpPr>
        <p:spPr>
          <a:xfrm>
            <a:off x="990600" y="3559033"/>
            <a:ext cx="883575" cy="400110"/>
          </a:xfrm>
          <a:prstGeom prst="rect">
            <a:avLst/>
          </a:prstGeom>
        </p:spPr>
        <p:txBody>
          <a:bodyPr wrap="none">
            <a:spAutoFit/>
          </a:bodyPr>
          <a:lstStyle/>
          <a:p>
            <a:r>
              <a:rPr lang="en-US" sz="2000" dirty="0" smtClean="0"/>
              <a:t>a. 88.9</a:t>
            </a:r>
            <a:endParaRPr lang="en-US" sz="2000" dirty="0"/>
          </a:p>
        </p:txBody>
      </p:sp>
      <p:sp>
        <p:nvSpPr>
          <p:cNvPr id="8" name="Rectangle 7"/>
          <p:cNvSpPr/>
          <p:nvPr/>
        </p:nvSpPr>
        <p:spPr>
          <a:xfrm>
            <a:off x="2396975" y="3559033"/>
            <a:ext cx="700833" cy="400110"/>
          </a:xfrm>
          <a:prstGeom prst="rect">
            <a:avLst/>
          </a:prstGeom>
        </p:spPr>
        <p:txBody>
          <a:bodyPr wrap="none">
            <a:spAutoFit/>
          </a:bodyPr>
          <a:lstStyle/>
          <a:p>
            <a:r>
              <a:rPr lang="en-US" sz="2000" dirty="0" smtClean="0"/>
              <a:t>b. 89</a:t>
            </a:r>
            <a:endParaRPr lang="en-US" sz="2000" dirty="0"/>
          </a:p>
        </p:txBody>
      </p:sp>
      <p:sp>
        <p:nvSpPr>
          <p:cNvPr id="9" name="Rectangle 8"/>
          <p:cNvSpPr/>
          <p:nvPr/>
        </p:nvSpPr>
        <p:spPr>
          <a:xfrm>
            <a:off x="3572035" y="3554568"/>
            <a:ext cx="675185" cy="400110"/>
          </a:xfrm>
          <a:prstGeom prst="rect">
            <a:avLst/>
          </a:prstGeom>
        </p:spPr>
        <p:txBody>
          <a:bodyPr wrap="none">
            <a:spAutoFit/>
          </a:bodyPr>
          <a:lstStyle/>
          <a:p>
            <a:r>
              <a:rPr lang="en-US" sz="2000" dirty="0" smtClean="0"/>
              <a:t>c. 90</a:t>
            </a:r>
            <a:endParaRPr lang="en-US" sz="2000" dirty="0"/>
          </a:p>
        </p:txBody>
      </p:sp>
      <p:sp>
        <p:nvSpPr>
          <p:cNvPr id="10" name="Rectangle 9"/>
          <p:cNvSpPr/>
          <p:nvPr/>
        </p:nvSpPr>
        <p:spPr>
          <a:xfrm>
            <a:off x="4648200" y="3554568"/>
            <a:ext cx="894797" cy="400110"/>
          </a:xfrm>
          <a:prstGeom prst="rect">
            <a:avLst/>
          </a:prstGeom>
        </p:spPr>
        <p:txBody>
          <a:bodyPr wrap="none">
            <a:spAutoFit/>
          </a:bodyPr>
          <a:lstStyle/>
          <a:p>
            <a:r>
              <a:rPr lang="en-US" sz="2000" dirty="0" smtClean="0"/>
              <a:t>d. 90.7</a:t>
            </a:r>
          </a:p>
        </p:txBody>
      </p:sp>
      <p:sp>
        <p:nvSpPr>
          <p:cNvPr id="11" name="Rounded Rectangle 10"/>
          <p:cNvSpPr/>
          <p:nvPr/>
        </p:nvSpPr>
        <p:spPr>
          <a:xfrm>
            <a:off x="4648200" y="3581400"/>
            <a:ext cx="914400" cy="32841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aphicFrame>
        <p:nvGraphicFramePr>
          <p:cNvPr id="12" name="Table 11"/>
          <p:cNvGraphicFramePr>
            <a:graphicFrameLocks noGrp="1"/>
          </p:cNvGraphicFramePr>
          <p:nvPr/>
        </p:nvGraphicFramePr>
        <p:xfrm>
          <a:off x="685800" y="4316568"/>
          <a:ext cx="3200400" cy="2346960"/>
        </p:xfrm>
        <a:graphic>
          <a:graphicData uri="http://schemas.openxmlformats.org/drawingml/2006/table">
            <a:tbl>
              <a:tblPr firstRow="1" bandRow="1">
                <a:tableStyleId>{5940675A-B579-460E-94D1-54222C63F5DA}</a:tableStyleId>
              </a:tblPr>
              <a:tblGrid>
                <a:gridCol w="1371600"/>
                <a:gridCol w="609600"/>
                <a:gridCol w="457200"/>
                <a:gridCol w="762000"/>
              </a:tblGrid>
              <a:tr h="219075">
                <a:tc>
                  <a:txBody>
                    <a:bodyPr/>
                    <a:lstStyle/>
                    <a:p>
                      <a:pPr algn="ctr"/>
                      <a:r>
                        <a:rPr lang="en-US" sz="1100" b="1" dirty="0" smtClean="0"/>
                        <a:t>Subjects</a:t>
                      </a:r>
                      <a:endParaRPr lang="en-US" sz="1100" b="1" dirty="0">
                        <a:solidFill>
                          <a:schemeClr val="tx1"/>
                        </a:solidFill>
                      </a:endParaRPr>
                    </a:p>
                  </a:txBody>
                  <a:tcPr/>
                </a:tc>
                <a:tc>
                  <a:txBody>
                    <a:bodyPr/>
                    <a:lstStyle/>
                    <a:p>
                      <a:pPr algn="ctr"/>
                      <a:r>
                        <a:rPr lang="en-US" sz="1100" b="1" dirty="0" smtClean="0"/>
                        <a:t>f</a:t>
                      </a:r>
                      <a:endParaRPr lang="en-US" sz="1100" b="1" dirty="0">
                        <a:solidFill>
                          <a:schemeClr val="tx1"/>
                        </a:solidFill>
                      </a:endParaRPr>
                    </a:p>
                  </a:txBody>
                  <a:tcPr/>
                </a:tc>
                <a:tc>
                  <a:txBody>
                    <a:bodyPr/>
                    <a:lstStyle/>
                    <a:p>
                      <a:pPr algn="ctr"/>
                      <a:r>
                        <a:rPr lang="en-US" sz="1100" b="1" dirty="0" smtClean="0"/>
                        <a:t>x</a:t>
                      </a:r>
                      <a:endParaRPr lang="en-US" sz="1100" b="1" dirty="0">
                        <a:solidFill>
                          <a:schemeClr val="tx1"/>
                        </a:solidFill>
                      </a:endParaRPr>
                    </a:p>
                  </a:txBody>
                  <a:tcPr/>
                </a:tc>
                <a:tc>
                  <a:txBody>
                    <a:bodyPr/>
                    <a:lstStyle/>
                    <a:p>
                      <a:pPr algn="ctr"/>
                      <a:r>
                        <a:rPr lang="en-US" sz="1100" b="1" dirty="0" err="1" smtClean="0">
                          <a:solidFill>
                            <a:schemeClr val="tx1"/>
                          </a:solidFill>
                        </a:rPr>
                        <a:t>fx</a:t>
                      </a:r>
                      <a:endParaRPr lang="en-US" sz="1100" b="1" dirty="0">
                        <a:solidFill>
                          <a:schemeClr val="tx1"/>
                        </a:solidFill>
                      </a:endParaRPr>
                    </a:p>
                  </a:txBody>
                  <a:tcPr/>
                </a:tc>
              </a:tr>
              <a:tr h="219075">
                <a:tc>
                  <a:txBody>
                    <a:bodyPr/>
                    <a:lstStyle/>
                    <a:p>
                      <a:pPr algn="l"/>
                      <a:r>
                        <a:rPr lang="en-US" sz="1100" b="1" dirty="0" smtClean="0"/>
                        <a:t>Filipino</a:t>
                      </a:r>
                      <a:endParaRPr lang="en-US" sz="1100" b="1" dirty="0">
                        <a:solidFill>
                          <a:schemeClr val="tx1"/>
                        </a:solidFill>
                      </a:endParaRPr>
                    </a:p>
                  </a:txBody>
                  <a:tcPr/>
                </a:tc>
                <a:tc>
                  <a:txBody>
                    <a:bodyPr/>
                    <a:lstStyle/>
                    <a:p>
                      <a:pPr algn="ctr"/>
                      <a:r>
                        <a:rPr lang="en-US" sz="1100" b="1" dirty="0" smtClean="0"/>
                        <a:t>3</a:t>
                      </a:r>
                      <a:endParaRPr lang="en-US" sz="1100" b="1" dirty="0">
                        <a:solidFill>
                          <a:schemeClr val="tx1"/>
                        </a:solidFill>
                      </a:endParaRPr>
                    </a:p>
                  </a:txBody>
                  <a:tcPr/>
                </a:tc>
                <a:tc>
                  <a:txBody>
                    <a:bodyPr/>
                    <a:lstStyle/>
                    <a:p>
                      <a:pPr algn="ctr"/>
                      <a:r>
                        <a:rPr lang="en-US" sz="1100" b="1" dirty="0" smtClean="0"/>
                        <a:t>88</a:t>
                      </a:r>
                      <a:endParaRPr lang="en-US" sz="1100" b="1" dirty="0">
                        <a:solidFill>
                          <a:schemeClr val="tx1"/>
                        </a:solidFill>
                      </a:endParaRPr>
                    </a:p>
                  </a:txBody>
                  <a:tcPr/>
                </a:tc>
                <a:tc>
                  <a:txBody>
                    <a:bodyPr/>
                    <a:lstStyle/>
                    <a:p>
                      <a:pPr algn="ctr"/>
                      <a:r>
                        <a:rPr lang="en-US" sz="1100" b="1" dirty="0" smtClean="0">
                          <a:solidFill>
                            <a:schemeClr val="tx1"/>
                          </a:solidFill>
                        </a:rPr>
                        <a:t>364</a:t>
                      </a:r>
                      <a:endParaRPr lang="en-US" sz="1100" b="1" dirty="0">
                        <a:solidFill>
                          <a:schemeClr val="tx1"/>
                        </a:solidFill>
                      </a:endParaRPr>
                    </a:p>
                  </a:txBody>
                  <a:tcPr/>
                </a:tc>
              </a:tr>
              <a:tr h="219075">
                <a:tc>
                  <a:txBody>
                    <a:bodyPr/>
                    <a:lstStyle/>
                    <a:p>
                      <a:pPr algn="l"/>
                      <a:r>
                        <a:rPr lang="en-US" sz="1100" b="1" dirty="0" smtClean="0"/>
                        <a:t>English</a:t>
                      </a:r>
                      <a:endParaRPr lang="en-US" sz="1100" b="1" dirty="0">
                        <a:solidFill>
                          <a:schemeClr val="tx1"/>
                        </a:solidFill>
                      </a:endParaRPr>
                    </a:p>
                  </a:txBody>
                  <a:tcPr/>
                </a:tc>
                <a:tc>
                  <a:txBody>
                    <a:bodyPr/>
                    <a:lstStyle/>
                    <a:p>
                      <a:pPr algn="ctr"/>
                      <a:r>
                        <a:rPr lang="en-US" sz="1100" b="1" dirty="0" smtClean="0"/>
                        <a:t>3</a:t>
                      </a:r>
                      <a:endParaRPr lang="en-US" sz="1100" b="1" dirty="0">
                        <a:solidFill>
                          <a:schemeClr val="tx1"/>
                        </a:solidFill>
                      </a:endParaRPr>
                    </a:p>
                  </a:txBody>
                  <a:tcPr/>
                </a:tc>
                <a:tc>
                  <a:txBody>
                    <a:bodyPr/>
                    <a:lstStyle/>
                    <a:p>
                      <a:pPr algn="ctr"/>
                      <a:r>
                        <a:rPr lang="en-US" sz="1100" b="1" dirty="0" smtClean="0"/>
                        <a:t>90</a:t>
                      </a:r>
                      <a:endParaRPr lang="en-US" sz="1100" b="1" dirty="0">
                        <a:solidFill>
                          <a:schemeClr val="tx1"/>
                        </a:solidFill>
                      </a:endParaRPr>
                    </a:p>
                  </a:txBody>
                  <a:tcPr/>
                </a:tc>
                <a:tc>
                  <a:txBody>
                    <a:bodyPr/>
                    <a:lstStyle/>
                    <a:p>
                      <a:pPr algn="ctr"/>
                      <a:r>
                        <a:rPr lang="en-US" sz="1100" b="1" dirty="0" smtClean="0">
                          <a:solidFill>
                            <a:schemeClr val="tx1"/>
                          </a:solidFill>
                        </a:rPr>
                        <a:t>270</a:t>
                      </a:r>
                      <a:endParaRPr lang="en-US" sz="1100" b="1" dirty="0">
                        <a:solidFill>
                          <a:schemeClr val="tx1"/>
                        </a:solidFill>
                      </a:endParaRPr>
                    </a:p>
                  </a:txBody>
                  <a:tcPr/>
                </a:tc>
              </a:tr>
              <a:tr h="219075">
                <a:tc>
                  <a:txBody>
                    <a:bodyPr/>
                    <a:lstStyle/>
                    <a:p>
                      <a:pPr algn="l"/>
                      <a:r>
                        <a:rPr lang="en-US" sz="1100" b="1" dirty="0" smtClean="0">
                          <a:solidFill>
                            <a:schemeClr val="tx1"/>
                          </a:solidFill>
                        </a:rPr>
                        <a:t>Math</a:t>
                      </a:r>
                      <a:endParaRPr lang="en-US" sz="1100" b="1" dirty="0">
                        <a:solidFill>
                          <a:schemeClr val="tx1"/>
                        </a:solidFill>
                      </a:endParaRPr>
                    </a:p>
                  </a:txBody>
                  <a:tcPr/>
                </a:tc>
                <a:tc>
                  <a:txBody>
                    <a:bodyPr/>
                    <a:lstStyle/>
                    <a:p>
                      <a:pPr algn="ctr"/>
                      <a:r>
                        <a:rPr lang="en-US" sz="1100" b="1" dirty="0" smtClean="0"/>
                        <a:t>3</a:t>
                      </a:r>
                      <a:endParaRPr lang="en-US" sz="1100" b="1" dirty="0">
                        <a:solidFill>
                          <a:schemeClr val="tx1"/>
                        </a:solidFill>
                      </a:endParaRPr>
                    </a:p>
                  </a:txBody>
                  <a:tcPr/>
                </a:tc>
                <a:tc>
                  <a:txBody>
                    <a:bodyPr/>
                    <a:lstStyle/>
                    <a:p>
                      <a:pPr algn="ctr"/>
                      <a:r>
                        <a:rPr lang="en-US" sz="1100" b="1" dirty="0" smtClean="0"/>
                        <a:t>94</a:t>
                      </a:r>
                      <a:endParaRPr lang="en-US" sz="1100" b="1" dirty="0">
                        <a:solidFill>
                          <a:schemeClr val="tx1"/>
                        </a:solidFill>
                      </a:endParaRPr>
                    </a:p>
                  </a:txBody>
                  <a:tcPr/>
                </a:tc>
                <a:tc>
                  <a:txBody>
                    <a:bodyPr/>
                    <a:lstStyle/>
                    <a:p>
                      <a:pPr algn="ctr"/>
                      <a:r>
                        <a:rPr lang="en-US" sz="1100" b="1" dirty="0" smtClean="0">
                          <a:solidFill>
                            <a:schemeClr val="tx1"/>
                          </a:solidFill>
                        </a:rPr>
                        <a:t>282</a:t>
                      </a:r>
                      <a:endParaRPr lang="en-US" sz="1100" b="1" dirty="0">
                        <a:solidFill>
                          <a:schemeClr val="tx1"/>
                        </a:solidFill>
                      </a:endParaRPr>
                    </a:p>
                  </a:txBody>
                  <a:tcPr/>
                </a:tc>
              </a:tr>
              <a:tr h="219075">
                <a:tc>
                  <a:txBody>
                    <a:bodyPr/>
                    <a:lstStyle/>
                    <a:p>
                      <a:pPr algn="l"/>
                      <a:r>
                        <a:rPr lang="en-US" sz="1100" b="1" dirty="0" smtClean="0"/>
                        <a:t>Science</a:t>
                      </a:r>
                      <a:endParaRPr lang="en-US" sz="1100" b="1" dirty="0">
                        <a:solidFill>
                          <a:schemeClr val="tx1"/>
                        </a:solidFill>
                      </a:endParaRPr>
                    </a:p>
                  </a:txBody>
                  <a:tcPr/>
                </a:tc>
                <a:tc>
                  <a:txBody>
                    <a:bodyPr/>
                    <a:lstStyle/>
                    <a:p>
                      <a:pPr algn="ctr"/>
                      <a:r>
                        <a:rPr lang="en-US" sz="1100" b="1" dirty="0" smtClean="0"/>
                        <a:t>5</a:t>
                      </a:r>
                      <a:endParaRPr lang="en-US" sz="1100" b="1" dirty="0">
                        <a:solidFill>
                          <a:schemeClr val="tx1"/>
                        </a:solidFill>
                      </a:endParaRPr>
                    </a:p>
                  </a:txBody>
                  <a:tcPr/>
                </a:tc>
                <a:tc>
                  <a:txBody>
                    <a:bodyPr/>
                    <a:lstStyle/>
                    <a:p>
                      <a:pPr algn="ctr"/>
                      <a:r>
                        <a:rPr lang="en-US" sz="1100" b="1" dirty="0" smtClean="0"/>
                        <a:t>91</a:t>
                      </a:r>
                      <a:endParaRPr lang="en-US" sz="1100" b="1" dirty="0">
                        <a:solidFill>
                          <a:schemeClr val="tx1"/>
                        </a:solidFill>
                      </a:endParaRPr>
                    </a:p>
                  </a:txBody>
                  <a:tcPr/>
                </a:tc>
                <a:tc>
                  <a:txBody>
                    <a:bodyPr/>
                    <a:lstStyle/>
                    <a:p>
                      <a:pPr algn="ctr"/>
                      <a:r>
                        <a:rPr lang="en-US" sz="1100" b="1" dirty="0" smtClean="0">
                          <a:solidFill>
                            <a:schemeClr val="tx1"/>
                          </a:solidFill>
                        </a:rPr>
                        <a:t>455</a:t>
                      </a:r>
                      <a:endParaRPr lang="en-US" sz="1100" b="1" dirty="0">
                        <a:solidFill>
                          <a:schemeClr val="tx1"/>
                        </a:solidFill>
                      </a:endParaRPr>
                    </a:p>
                  </a:txBody>
                  <a:tcPr/>
                </a:tc>
              </a:tr>
              <a:tr h="219075">
                <a:tc>
                  <a:txBody>
                    <a:bodyPr/>
                    <a:lstStyle/>
                    <a:p>
                      <a:pPr algn="l"/>
                      <a:r>
                        <a:rPr lang="en-US" sz="1100" b="1" dirty="0" err="1" smtClean="0">
                          <a:solidFill>
                            <a:schemeClr val="tx1"/>
                          </a:solidFill>
                        </a:rPr>
                        <a:t>Araling</a:t>
                      </a:r>
                      <a:r>
                        <a:rPr lang="en-US" sz="1100" b="1" dirty="0" smtClean="0">
                          <a:solidFill>
                            <a:schemeClr val="tx1"/>
                          </a:solidFill>
                        </a:rPr>
                        <a:t> </a:t>
                      </a:r>
                      <a:r>
                        <a:rPr lang="en-US" sz="1100" b="1" dirty="0" err="1" smtClean="0">
                          <a:solidFill>
                            <a:schemeClr val="tx1"/>
                          </a:solidFill>
                        </a:rPr>
                        <a:t>Panlipunan</a:t>
                      </a:r>
                      <a:endParaRPr lang="en-US" sz="1100" b="1" dirty="0">
                        <a:solidFill>
                          <a:schemeClr val="tx1"/>
                        </a:solidFill>
                      </a:endParaRPr>
                    </a:p>
                  </a:txBody>
                  <a:tcPr/>
                </a:tc>
                <a:tc>
                  <a:txBody>
                    <a:bodyPr/>
                    <a:lstStyle/>
                    <a:p>
                      <a:pPr algn="ctr"/>
                      <a:r>
                        <a:rPr lang="en-US" sz="1100" b="1" dirty="0" smtClean="0">
                          <a:solidFill>
                            <a:schemeClr val="tx1"/>
                          </a:solidFill>
                        </a:rPr>
                        <a:t>3</a:t>
                      </a:r>
                      <a:endParaRPr lang="en-US" sz="1100" b="1" dirty="0">
                        <a:solidFill>
                          <a:schemeClr val="tx1"/>
                        </a:solidFill>
                      </a:endParaRPr>
                    </a:p>
                  </a:txBody>
                  <a:tcPr/>
                </a:tc>
                <a:tc>
                  <a:txBody>
                    <a:bodyPr/>
                    <a:lstStyle/>
                    <a:p>
                      <a:pPr algn="ctr"/>
                      <a:r>
                        <a:rPr lang="en-US" sz="1100" b="1" dirty="0" smtClean="0">
                          <a:solidFill>
                            <a:schemeClr val="tx1"/>
                          </a:solidFill>
                        </a:rPr>
                        <a:t>87</a:t>
                      </a:r>
                      <a:endParaRPr lang="en-US" sz="1100" b="1" dirty="0">
                        <a:solidFill>
                          <a:schemeClr val="tx1"/>
                        </a:solidFill>
                      </a:endParaRPr>
                    </a:p>
                  </a:txBody>
                  <a:tcPr/>
                </a:tc>
                <a:tc>
                  <a:txBody>
                    <a:bodyPr/>
                    <a:lstStyle/>
                    <a:p>
                      <a:pPr algn="ctr"/>
                      <a:r>
                        <a:rPr lang="en-US" sz="1100" b="1" dirty="0" smtClean="0">
                          <a:solidFill>
                            <a:schemeClr val="tx1"/>
                          </a:solidFill>
                        </a:rPr>
                        <a:t>261</a:t>
                      </a:r>
                      <a:endParaRPr lang="en-US" sz="1100" b="1" dirty="0">
                        <a:solidFill>
                          <a:schemeClr val="tx1"/>
                        </a:solidFill>
                      </a:endParaRPr>
                    </a:p>
                  </a:txBody>
                  <a:tcPr/>
                </a:tc>
              </a:tr>
              <a:tr h="219075">
                <a:tc>
                  <a:txBody>
                    <a:bodyPr/>
                    <a:lstStyle/>
                    <a:p>
                      <a:pPr algn="l"/>
                      <a:r>
                        <a:rPr lang="en-US" sz="1100" b="1" dirty="0" smtClean="0">
                          <a:solidFill>
                            <a:schemeClr val="tx1"/>
                          </a:solidFill>
                        </a:rPr>
                        <a:t>Computer</a:t>
                      </a:r>
                      <a:endParaRPr lang="en-US" sz="1100" b="1" dirty="0">
                        <a:solidFill>
                          <a:schemeClr val="tx1"/>
                        </a:solidFill>
                      </a:endParaRPr>
                    </a:p>
                  </a:txBody>
                  <a:tcPr/>
                </a:tc>
                <a:tc>
                  <a:txBody>
                    <a:bodyPr/>
                    <a:lstStyle/>
                    <a:p>
                      <a:pPr algn="ctr"/>
                      <a:r>
                        <a:rPr lang="en-US" sz="1100" b="1" dirty="0" smtClean="0">
                          <a:solidFill>
                            <a:schemeClr val="tx1"/>
                          </a:solidFill>
                        </a:rPr>
                        <a:t>2</a:t>
                      </a:r>
                      <a:endParaRPr lang="en-US" sz="1100" b="1" dirty="0">
                        <a:solidFill>
                          <a:schemeClr val="tx1"/>
                        </a:solidFill>
                      </a:endParaRPr>
                    </a:p>
                  </a:txBody>
                  <a:tcPr/>
                </a:tc>
                <a:tc>
                  <a:txBody>
                    <a:bodyPr/>
                    <a:lstStyle/>
                    <a:p>
                      <a:pPr algn="ctr"/>
                      <a:r>
                        <a:rPr lang="en-US" sz="1100" b="1" dirty="0" smtClean="0">
                          <a:solidFill>
                            <a:schemeClr val="tx1"/>
                          </a:solidFill>
                        </a:rPr>
                        <a:t>96</a:t>
                      </a:r>
                      <a:endParaRPr lang="en-US" sz="1100" b="1" dirty="0">
                        <a:solidFill>
                          <a:schemeClr val="tx1"/>
                        </a:solidFill>
                      </a:endParaRPr>
                    </a:p>
                  </a:txBody>
                  <a:tcPr/>
                </a:tc>
                <a:tc>
                  <a:txBody>
                    <a:bodyPr/>
                    <a:lstStyle/>
                    <a:p>
                      <a:pPr algn="ctr"/>
                      <a:r>
                        <a:rPr lang="en-US" sz="1100" b="1" dirty="0" smtClean="0">
                          <a:solidFill>
                            <a:schemeClr val="tx1"/>
                          </a:solidFill>
                        </a:rPr>
                        <a:t>192</a:t>
                      </a:r>
                      <a:endParaRPr lang="en-US" sz="1100" b="1" dirty="0">
                        <a:solidFill>
                          <a:schemeClr val="tx1"/>
                        </a:solidFill>
                      </a:endParaRPr>
                    </a:p>
                  </a:txBody>
                  <a:tcPr/>
                </a:tc>
              </a:tr>
              <a:tr h="219075">
                <a:tc>
                  <a:txBody>
                    <a:bodyPr/>
                    <a:lstStyle/>
                    <a:p>
                      <a:pPr algn="l"/>
                      <a:r>
                        <a:rPr lang="en-US" sz="1100" b="1" dirty="0" smtClean="0">
                          <a:solidFill>
                            <a:schemeClr val="tx1"/>
                          </a:solidFill>
                        </a:rPr>
                        <a:t>PE</a:t>
                      </a:r>
                      <a:endParaRPr lang="en-US" sz="1100" b="1" dirty="0">
                        <a:solidFill>
                          <a:schemeClr val="tx1"/>
                        </a:solidFill>
                      </a:endParaRPr>
                    </a:p>
                  </a:txBody>
                  <a:tcPr/>
                </a:tc>
                <a:tc>
                  <a:txBody>
                    <a:bodyPr/>
                    <a:lstStyle/>
                    <a:p>
                      <a:pPr algn="ctr"/>
                      <a:r>
                        <a:rPr lang="en-US" sz="1100" b="1" dirty="0" smtClean="0">
                          <a:solidFill>
                            <a:schemeClr val="tx1"/>
                          </a:solidFill>
                        </a:rPr>
                        <a:t>1</a:t>
                      </a:r>
                      <a:endParaRPr lang="en-US" sz="1100" b="1" dirty="0">
                        <a:solidFill>
                          <a:schemeClr val="tx1"/>
                        </a:solidFill>
                      </a:endParaRPr>
                    </a:p>
                  </a:txBody>
                  <a:tcPr/>
                </a:tc>
                <a:tc>
                  <a:txBody>
                    <a:bodyPr/>
                    <a:lstStyle/>
                    <a:p>
                      <a:pPr algn="ctr"/>
                      <a:r>
                        <a:rPr lang="en-US" sz="1100" b="1" dirty="0" smtClean="0">
                          <a:solidFill>
                            <a:schemeClr val="tx1"/>
                          </a:solidFill>
                        </a:rPr>
                        <a:t>90</a:t>
                      </a:r>
                      <a:endParaRPr lang="en-US" sz="1100" b="1" dirty="0">
                        <a:solidFill>
                          <a:schemeClr val="tx1"/>
                        </a:solidFill>
                      </a:endParaRPr>
                    </a:p>
                  </a:txBody>
                  <a:tcPr/>
                </a:tc>
                <a:tc>
                  <a:txBody>
                    <a:bodyPr/>
                    <a:lstStyle/>
                    <a:p>
                      <a:pPr algn="ctr"/>
                      <a:r>
                        <a:rPr lang="en-US" sz="1100" b="1" dirty="0" smtClean="0">
                          <a:solidFill>
                            <a:schemeClr val="tx1"/>
                          </a:solidFill>
                        </a:rPr>
                        <a:t>90</a:t>
                      </a:r>
                      <a:endParaRPr lang="en-US" sz="1100" b="1" dirty="0">
                        <a:solidFill>
                          <a:schemeClr val="tx1"/>
                        </a:solidFill>
                      </a:endParaRPr>
                    </a:p>
                  </a:txBody>
                  <a:tcPr/>
                </a:tc>
              </a:tr>
              <a:tr h="219075">
                <a:tc>
                  <a:txBody>
                    <a:bodyPr/>
                    <a:lstStyle/>
                    <a:p>
                      <a:pPr algn="l"/>
                      <a:endParaRPr lang="en-US" sz="1100" b="1" dirty="0">
                        <a:solidFill>
                          <a:schemeClr val="tx1"/>
                        </a:solidFill>
                      </a:endParaRPr>
                    </a:p>
                  </a:txBody>
                  <a:tcPr/>
                </a:tc>
                <a:tc>
                  <a:txBody>
                    <a:bodyPr/>
                    <a:lstStyle/>
                    <a:p>
                      <a:pPr algn="ctr"/>
                      <a:r>
                        <a:rPr lang="en-US" sz="1200" b="1" dirty="0" smtClean="0">
                          <a:solidFill>
                            <a:schemeClr val="tx1"/>
                          </a:solidFill>
                        </a:rPr>
                        <a:t>N = 20</a:t>
                      </a:r>
                      <a:endParaRPr lang="en-US" sz="1200" b="1" dirty="0">
                        <a:solidFill>
                          <a:schemeClr val="tx1"/>
                        </a:solidFill>
                      </a:endParaRPr>
                    </a:p>
                  </a:txBody>
                  <a:tcPr>
                    <a:solidFill>
                      <a:schemeClr val="bg1">
                        <a:lumMod val="75000"/>
                      </a:schemeClr>
                    </a:solidFill>
                  </a:tcPr>
                </a:tc>
                <a:tc>
                  <a:txBody>
                    <a:bodyPr/>
                    <a:lstStyle/>
                    <a:p>
                      <a:pPr algn="ctr"/>
                      <a:endParaRPr lang="en-US" sz="1100" b="1" dirty="0">
                        <a:solidFill>
                          <a:schemeClr val="tx1"/>
                        </a:solidFill>
                      </a:endParaRPr>
                    </a:p>
                  </a:txBody>
                  <a:tcPr/>
                </a:tc>
                <a:tc>
                  <a:txBody>
                    <a:bodyPr/>
                    <a:lstStyle/>
                    <a:p>
                      <a:pPr algn="ctr"/>
                      <a:r>
                        <a:rPr lang="en-US" sz="1200" b="1" dirty="0" smtClean="0">
                          <a:solidFill>
                            <a:schemeClr val="tx1"/>
                          </a:solidFill>
                        </a:rPr>
                        <a:t>1814</a:t>
                      </a:r>
                      <a:endParaRPr lang="en-US" sz="1100" b="1" dirty="0">
                        <a:solidFill>
                          <a:schemeClr val="tx1"/>
                        </a:solidFill>
                      </a:endParaRPr>
                    </a:p>
                  </a:txBody>
                  <a:tcPr>
                    <a:solidFill>
                      <a:schemeClr val="bg1">
                        <a:lumMod val="75000"/>
                      </a:schemeClr>
                    </a:solidFill>
                  </a:tcPr>
                </a:tc>
              </a:tr>
            </a:tbl>
          </a:graphicData>
        </a:graphic>
      </p:graphicFrame>
      <p:sp>
        <p:nvSpPr>
          <p:cNvPr id="13" name="Rectangle 12"/>
          <p:cNvSpPr/>
          <p:nvPr/>
        </p:nvSpPr>
        <p:spPr>
          <a:xfrm>
            <a:off x="304800" y="4011768"/>
            <a:ext cx="1141659" cy="400110"/>
          </a:xfrm>
          <a:prstGeom prst="rect">
            <a:avLst/>
          </a:prstGeom>
        </p:spPr>
        <p:txBody>
          <a:bodyPr wrap="none">
            <a:spAutoFit/>
          </a:bodyPr>
          <a:lstStyle/>
          <a:p>
            <a:r>
              <a:rPr lang="en-US" sz="2000" b="1" dirty="0" smtClean="0"/>
              <a:t>Solution:</a:t>
            </a:r>
            <a:endParaRPr lang="en-PH" sz="2000" b="1" dirty="0"/>
          </a:p>
        </p:txBody>
      </p:sp>
      <p:sp>
        <p:nvSpPr>
          <p:cNvPr id="14" name="Rounded Rectangle 13"/>
          <p:cNvSpPr/>
          <p:nvPr/>
        </p:nvSpPr>
        <p:spPr>
          <a:xfrm>
            <a:off x="177084" y="3987084"/>
            <a:ext cx="8128716" cy="2767884"/>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3906" name="Object 2"/>
          <p:cNvGraphicFramePr>
            <a:graphicFrameLocks noChangeAspect="1"/>
          </p:cNvGraphicFramePr>
          <p:nvPr/>
        </p:nvGraphicFramePr>
        <p:xfrm>
          <a:off x="4343400" y="4356100"/>
          <a:ext cx="1452563" cy="825500"/>
        </p:xfrm>
        <a:graphic>
          <a:graphicData uri="http://schemas.openxmlformats.org/presentationml/2006/ole">
            <p:oleObj spid="_x0000_s123906" name="Equation" r:id="rId6" imgW="685800" imgH="431640" progId="Equation.3">
              <p:embed/>
            </p:oleObj>
          </a:graphicData>
        </a:graphic>
      </p:graphicFrame>
      <p:graphicFrame>
        <p:nvGraphicFramePr>
          <p:cNvPr id="123907" name="Object 3"/>
          <p:cNvGraphicFramePr>
            <a:graphicFrameLocks noChangeAspect="1"/>
          </p:cNvGraphicFramePr>
          <p:nvPr/>
        </p:nvGraphicFramePr>
        <p:xfrm>
          <a:off x="5911850" y="4420674"/>
          <a:ext cx="1022350" cy="754062"/>
        </p:xfrm>
        <a:graphic>
          <a:graphicData uri="http://schemas.openxmlformats.org/presentationml/2006/ole">
            <p:oleObj spid="_x0000_s123907" name="Equation" r:id="rId7" imgW="482400" imgH="393480" progId="Equation.3">
              <p:embed/>
            </p:oleObj>
          </a:graphicData>
        </a:graphic>
      </p:graphicFrame>
      <p:graphicFrame>
        <p:nvGraphicFramePr>
          <p:cNvPr id="123908" name="Object 4"/>
          <p:cNvGraphicFramePr>
            <a:graphicFrameLocks noChangeAspect="1"/>
          </p:cNvGraphicFramePr>
          <p:nvPr/>
        </p:nvGraphicFramePr>
        <p:xfrm>
          <a:off x="4699716" y="5181600"/>
          <a:ext cx="914400" cy="341312"/>
        </p:xfrm>
        <a:graphic>
          <a:graphicData uri="http://schemas.openxmlformats.org/presentationml/2006/ole">
            <p:oleObj spid="_x0000_s123908" name="Equation" r:id="rId8" imgW="431640" imgH="177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p:cTn id="31" dur="500" fill="hold"/>
                                        <p:tgtEl>
                                          <p:spTgt spid="5">
                                            <p:txEl>
                                              <p:pRg st="10" end="10"/>
                                            </p:txEl>
                                          </p:spTgt>
                                        </p:tgtEl>
                                        <p:attrNameLst>
                                          <p:attrName>ppt_w</p:attrName>
                                        </p:attrNameLst>
                                      </p:cBhvr>
                                      <p:tavLst>
                                        <p:tav tm="0">
                                          <p:val>
                                            <p:fltVal val="0"/>
                                          </p:val>
                                        </p:tav>
                                        <p:tav tm="100000">
                                          <p:val>
                                            <p:strVal val="#ppt_w"/>
                                          </p:val>
                                        </p:tav>
                                      </p:tavLst>
                                    </p:anim>
                                    <p:anim calcmode="lin" valueType="num">
                                      <p:cBhvr>
                                        <p:cTn id="32" dur="500" fill="hold"/>
                                        <p:tgtEl>
                                          <p:spTgt spid="5">
                                            <p:txEl>
                                              <p:pRg st="10" end="10"/>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slide(fromBottom)">
                                      <p:cBhvr>
                                        <p:cTn id="37" dur="500"/>
                                        <p:tgtEl>
                                          <p:spTgt spid="7"/>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slide(fromBottom)">
                                      <p:cBhvr>
                                        <p:cTn id="40" dur="500"/>
                                        <p:tgtEl>
                                          <p:spTgt spid="8"/>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slide(fromBottom)">
                                      <p:cBhvr>
                                        <p:cTn id="43" dur="500"/>
                                        <p:tgtEl>
                                          <p:spTgt spid="9"/>
                                        </p:tgtEl>
                                      </p:cBhvr>
                                    </p:animEffect>
                                  </p:childTnLst>
                                </p:cTn>
                              </p:par>
                              <p:par>
                                <p:cTn id="44" presetID="12" presetClass="entr" presetSubtype="4"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slide(fromBottom)">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7"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900" decel="100000" fill="hold"/>
                                        <p:tgtEl>
                                          <p:spTgt spid="13"/>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par>
                                <p:cTn id="55" presetID="37"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1000"/>
                                        <p:tgtEl>
                                          <p:spTgt spid="14"/>
                                        </p:tgtEl>
                                      </p:cBhvr>
                                    </p:animEffect>
                                    <p:anim calcmode="lin" valueType="num">
                                      <p:cBhvr>
                                        <p:cTn id="58" dur="1000" fill="hold"/>
                                        <p:tgtEl>
                                          <p:spTgt spid="14"/>
                                        </p:tgtEl>
                                        <p:attrNameLst>
                                          <p:attrName>ppt_x</p:attrName>
                                        </p:attrNameLst>
                                      </p:cBhvr>
                                      <p:tavLst>
                                        <p:tav tm="0">
                                          <p:val>
                                            <p:strVal val="#ppt_x"/>
                                          </p:val>
                                        </p:tav>
                                        <p:tav tm="100000">
                                          <p:val>
                                            <p:strVal val="#ppt_x"/>
                                          </p:val>
                                        </p:tav>
                                      </p:tavLst>
                                    </p:anim>
                                    <p:anim calcmode="lin" valueType="num">
                                      <p:cBhvr>
                                        <p:cTn id="59" dur="900" decel="100000" fill="hold"/>
                                        <p:tgtEl>
                                          <p:spTgt spid="14"/>
                                        </p:tgtEl>
                                        <p:attrNameLst>
                                          <p:attrName>ppt_y</p:attrName>
                                        </p:attrNameLst>
                                      </p:cBhvr>
                                      <p:tavLst>
                                        <p:tav tm="0">
                                          <p:val>
                                            <p:strVal val="#ppt_y+1"/>
                                          </p:val>
                                        </p:tav>
                                        <p:tav tm="100000">
                                          <p:val>
                                            <p:strVal val="#ppt_y-.03"/>
                                          </p:val>
                                        </p:tav>
                                      </p:tavLst>
                                    </p:anim>
                                    <p:anim calcmode="lin" valueType="num">
                                      <p:cBhvr>
                                        <p:cTn id="60"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down)">
                                      <p:cBhvr>
                                        <p:cTn id="65" dur="580">
                                          <p:stCondLst>
                                            <p:cond delay="0"/>
                                          </p:stCondLst>
                                        </p:cTn>
                                        <p:tgtEl>
                                          <p:spTgt spid="12"/>
                                        </p:tgtEl>
                                      </p:cBhvr>
                                    </p:animEffect>
                                    <p:anim calcmode="lin" valueType="num">
                                      <p:cBhvr>
                                        <p:cTn id="6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71" dur="26">
                                          <p:stCondLst>
                                            <p:cond delay="650"/>
                                          </p:stCondLst>
                                        </p:cTn>
                                        <p:tgtEl>
                                          <p:spTgt spid="12"/>
                                        </p:tgtEl>
                                      </p:cBhvr>
                                      <p:to x="100000" y="60000"/>
                                    </p:animScale>
                                    <p:animScale>
                                      <p:cBhvr>
                                        <p:cTn id="72" dur="166" decel="50000">
                                          <p:stCondLst>
                                            <p:cond delay="676"/>
                                          </p:stCondLst>
                                        </p:cTn>
                                        <p:tgtEl>
                                          <p:spTgt spid="12"/>
                                        </p:tgtEl>
                                      </p:cBhvr>
                                      <p:to x="100000" y="100000"/>
                                    </p:animScale>
                                    <p:animScale>
                                      <p:cBhvr>
                                        <p:cTn id="73" dur="26">
                                          <p:stCondLst>
                                            <p:cond delay="1312"/>
                                          </p:stCondLst>
                                        </p:cTn>
                                        <p:tgtEl>
                                          <p:spTgt spid="12"/>
                                        </p:tgtEl>
                                      </p:cBhvr>
                                      <p:to x="100000" y="80000"/>
                                    </p:animScale>
                                    <p:animScale>
                                      <p:cBhvr>
                                        <p:cTn id="74" dur="166" decel="50000">
                                          <p:stCondLst>
                                            <p:cond delay="1338"/>
                                          </p:stCondLst>
                                        </p:cTn>
                                        <p:tgtEl>
                                          <p:spTgt spid="12"/>
                                        </p:tgtEl>
                                      </p:cBhvr>
                                      <p:to x="100000" y="100000"/>
                                    </p:animScale>
                                    <p:animScale>
                                      <p:cBhvr>
                                        <p:cTn id="75" dur="26">
                                          <p:stCondLst>
                                            <p:cond delay="1642"/>
                                          </p:stCondLst>
                                        </p:cTn>
                                        <p:tgtEl>
                                          <p:spTgt spid="12"/>
                                        </p:tgtEl>
                                      </p:cBhvr>
                                      <p:to x="100000" y="90000"/>
                                    </p:animScale>
                                    <p:animScale>
                                      <p:cBhvr>
                                        <p:cTn id="76" dur="166" decel="50000">
                                          <p:stCondLst>
                                            <p:cond delay="1668"/>
                                          </p:stCondLst>
                                        </p:cTn>
                                        <p:tgtEl>
                                          <p:spTgt spid="12"/>
                                        </p:tgtEl>
                                      </p:cBhvr>
                                      <p:to x="100000" y="100000"/>
                                    </p:animScale>
                                    <p:animScale>
                                      <p:cBhvr>
                                        <p:cTn id="77" dur="26">
                                          <p:stCondLst>
                                            <p:cond delay="1808"/>
                                          </p:stCondLst>
                                        </p:cTn>
                                        <p:tgtEl>
                                          <p:spTgt spid="12"/>
                                        </p:tgtEl>
                                      </p:cBhvr>
                                      <p:to x="100000" y="95000"/>
                                    </p:animScale>
                                    <p:animScale>
                                      <p:cBhvr>
                                        <p:cTn id="78" dur="166" decel="50000">
                                          <p:stCondLst>
                                            <p:cond delay="1834"/>
                                          </p:stCondLst>
                                        </p:cTn>
                                        <p:tgtEl>
                                          <p:spTgt spid="12"/>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123906"/>
                                        </p:tgtEl>
                                        <p:attrNameLst>
                                          <p:attrName>style.visibility</p:attrName>
                                        </p:attrNameLst>
                                      </p:cBhvr>
                                      <p:to>
                                        <p:strVal val="visible"/>
                                      </p:to>
                                    </p:set>
                                    <p:anim calcmode="lin" valueType="num">
                                      <p:cBhvr>
                                        <p:cTn id="83" dur="1000" fill="hold"/>
                                        <p:tgtEl>
                                          <p:spTgt spid="123906"/>
                                        </p:tgtEl>
                                        <p:attrNameLst>
                                          <p:attrName>ppt_x</p:attrName>
                                        </p:attrNameLst>
                                      </p:cBhvr>
                                      <p:tavLst>
                                        <p:tav tm="0">
                                          <p:val>
                                            <p:strVal val="#ppt_x-.2"/>
                                          </p:val>
                                        </p:tav>
                                        <p:tav tm="100000">
                                          <p:val>
                                            <p:strVal val="#ppt_x"/>
                                          </p:val>
                                        </p:tav>
                                      </p:tavLst>
                                    </p:anim>
                                    <p:anim calcmode="lin" valueType="num">
                                      <p:cBhvr>
                                        <p:cTn id="84" dur="1000" fill="hold"/>
                                        <p:tgtEl>
                                          <p:spTgt spid="123906"/>
                                        </p:tgtEl>
                                        <p:attrNameLst>
                                          <p:attrName>ppt_y</p:attrName>
                                        </p:attrNameLst>
                                      </p:cBhvr>
                                      <p:tavLst>
                                        <p:tav tm="0">
                                          <p:val>
                                            <p:strVal val="#ppt_y"/>
                                          </p:val>
                                        </p:tav>
                                        <p:tav tm="100000">
                                          <p:val>
                                            <p:strVal val="#ppt_y"/>
                                          </p:val>
                                        </p:tav>
                                      </p:tavLst>
                                    </p:anim>
                                    <p:animEffect transition="in" filter="wipe(right)" prLst="gradientSize: 0.1">
                                      <p:cBhvr>
                                        <p:cTn id="85" dur="1000"/>
                                        <p:tgtEl>
                                          <p:spTgt spid="123906"/>
                                        </p:tgtEl>
                                      </p:cBhvr>
                                    </p:animEffect>
                                  </p:childTnLst>
                                </p:cTn>
                              </p:par>
                            </p:childTnLst>
                          </p:cTn>
                        </p:par>
                      </p:childTnLst>
                    </p:cTn>
                  </p:par>
                  <p:par>
                    <p:cTn id="86" fill="hold">
                      <p:stCondLst>
                        <p:cond delay="indefinite"/>
                      </p:stCondLst>
                      <p:childTnLst>
                        <p:par>
                          <p:cTn id="87" fill="hold">
                            <p:stCondLst>
                              <p:cond delay="0"/>
                            </p:stCondLst>
                            <p:childTnLst>
                              <p:par>
                                <p:cTn id="88" presetID="29" presetClass="entr" presetSubtype="0" fill="hold" nodeType="clickEffect">
                                  <p:stCondLst>
                                    <p:cond delay="0"/>
                                  </p:stCondLst>
                                  <p:childTnLst>
                                    <p:set>
                                      <p:cBhvr>
                                        <p:cTn id="89" dur="1" fill="hold">
                                          <p:stCondLst>
                                            <p:cond delay="0"/>
                                          </p:stCondLst>
                                        </p:cTn>
                                        <p:tgtEl>
                                          <p:spTgt spid="123907"/>
                                        </p:tgtEl>
                                        <p:attrNameLst>
                                          <p:attrName>style.visibility</p:attrName>
                                        </p:attrNameLst>
                                      </p:cBhvr>
                                      <p:to>
                                        <p:strVal val="visible"/>
                                      </p:to>
                                    </p:set>
                                    <p:anim calcmode="lin" valueType="num">
                                      <p:cBhvr>
                                        <p:cTn id="90" dur="1000" fill="hold"/>
                                        <p:tgtEl>
                                          <p:spTgt spid="123907"/>
                                        </p:tgtEl>
                                        <p:attrNameLst>
                                          <p:attrName>ppt_x</p:attrName>
                                        </p:attrNameLst>
                                      </p:cBhvr>
                                      <p:tavLst>
                                        <p:tav tm="0">
                                          <p:val>
                                            <p:strVal val="#ppt_x-.2"/>
                                          </p:val>
                                        </p:tav>
                                        <p:tav tm="100000">
                                          <p:val>
                                            <p:strVal val="#ppt_x"/>
                                          </p:val>
                                        </p:tav>
                                      </p:tavLst>
                                    </p:anim>
                                    <p:anim calcmode="lin" valueType="num">
                                      <p:cBhvr>
                                        <p:cTn id="91" dur="1000" fill="hold"/>
                                        <p:tgtEl>
                                          <p:spTgt spid="123907"/>
                                        </p:tgtEl>
                                        <p:attrNameLst>
                                          <p:attrName>ppt_y</p:attrName>
                                        </p:attrNameLst>
                                      </p:cBhvr>
                                      <p:tavLst>
                                        <p:tav tm="0">
                                          <p:val>
                                            <p:strVal val="#ppt_y"/>
                                          </p:val>
                                        </p:tav>
                                        <p:tav tm="100000">
                                          <p:val>
                                            <p:strVal val="#ppt_y"/>
                                          </p:val>
                                        </p:tav>
                                      </p:tavLst>
                                    </p:anim>
                                    <p:animEffect transition="in" filter="wipe(right)" prLst="gradientSize: 0.1">
                                      <p:cBhvr>
                                        <p:cTn id="92" dur="1000"/>
                                        <p:tgtEl>
                                          <p:spTgt spid="123907"/>
                                        </p:tgtEl>
                                      </p:cBhvr>
                                    </p:animEffect>
                                  </p:childTnLst>
                                </p:cTn>
                              </p:par>
                            </p:childTnLst>
                          </p:cTn>
                        </p:par>
                      </p:childTnLst>
                    </p:cTn>
                  </p:par>
                  <p:par>
                    <p:cTn id="93" fill="hold">
                      <p:stCondLst>
                        <p:cond delay="indefinite"/>
                      </p:stCondLst>
                      <p:childTnLst>
                        <p:par>
                          <p:cTn id="94" fill="hold">
                            <p:stCondLst>
                              <p:cond delay="0"/>
                            </p:stCondLst>
                            <p:childTnLst>
                              <p:par>
                                <p:cTn id="95" presetID="29" presetClass="entr" presetSubtype="0" fill="hold" nodeType="clickEffect">
                                  <p:stCondLst>
                                    <p:cond delay="0"/>
                                  </p:stCondLst>
                                  <p:childTnLst>
                                    <p:set>
                                      <p:cBhvr>
                                        <p:cTn id="96" dur="1" fill="hold">
                                          <p:stCondLst>
                                            <p:cond delay="0"/>
                                          </p:stCondLst>
                                        </p:cTn>
                                        <p:tgtEl>
                                          <p:spTgt spid="123908"/>
                                        </p:tgtEl>
                                        <p:attrNameLst>
                                          <p:attrName>style.visibility</p:attrName>
                                        </p:attrNameLst>
                                      </p:cBhvr>
                                      <p:to>
                                        <p:strVal val="visible"/>
                                      </p:to>
                                    </p:set>
                                    <p:anim calcmode="lin" valueType="num">
                                      <p:cBhvr>
                                        <p:cTn id="97" dur="1000" fill="hold"/>
                                        <p:tgtEl>
                                          <p:spTgt spid="123908"/>
                                        </p:tgtEl>
                                        <p:attrNameLst>
                                          <p:attrName>ppt_x</p:attrName>
                                        </p:attrNameLst>
                                      </p:cBhvr>
                                      <p:tavLst>
                                        <p:tav tm="0">
                                          <p:val>
                                            <p:strVal val="#ppt_x-.2"/>
                                          </p:val>
                                        </p:tav>
                                        <p:tav tm="100000">
                                          <p:val>
                                            <p:strVal val="#ppt_x"/>
                                          </p:val>
                                        </p:tav>
                                      </p:tavLst>
                                    </p:anim>
                                    <p:anim calcmode="lin" valueType="num">
                                      <p:cBhvr>
                                        <p:cTn id="98" dur="1000" fill="hold"/>
                                        <p:tgtEl>
                                          <p:spTgt spid="123908"/>
                                        </p:tgtEl>
                                        <p:attrNameLst>
                                          <p:attrName>ppt_y</p:attrName>
                                        </p:attrNameLst>
                                      </p:cBhvr>
                                      <p:tavLst>
                                        <p:tav tm="0">
                                          <p:val>
                                            <p:strVal val="#ppt_y"/>
                                          </p:val>
                                        </p:tav>
                                        <p:tav tm="100000">
                                          <p:val>
                                            <p:strVal val="#ppt_y"/>
                                          </p:val>
                                        </p:tav>
                                      </p:tavLst>
                                    </p:anim>
                                    <p:animEffect transition="in" filter="wipe(right)" prLst="gradientSize: 0.1">
                                      <p:cBhvr>
                                        <p:cTn id="99" dur="1000"/>
                                        <p:tgtEl>
                                          <p:spTgt spid="123908"/>
                                        </p:tgtEl>
                                      </p:cBhvr>
                                    </p:animEffect>
                                  </p:childTnLst>
                                </p:cTn>
                              </p:par>
                            </p:childTnLst>
                          </p:cTn>
                        </p:par>
                      </p:childTnLst>
                    </p:cTn>
                  </p:par>
                  <p:par>
                    <p:cTn id="100" fill="hold">
                      <p:stCondLst>
                        <p:cond delay="indefinite"/>
                      </p:stCondLst>
                      <p:childTnLst>
                        <p:par>
                          <p:cTn id="101" fill="hold">
                            <p:stCondLst>
                              <p:cond delay="0"/>
                            </p:stCondLst>
                            <p:childTnLst>
                              <p:par>
                                <p:cTn id="102" presetID="20" presetClass="entr" presetSubtype="0" fill="hold" grpId="0" nodeType="clickEffect">
                                  <p:stCondLst>
                                    <p:cond delay="0"/>
                                  </p:stCondLst>
                                  <p:childTnLst>
                                    <p:set>
                                      <p:cBhvr>
                                        <p:cTn id="103" dur="1" fill="hold">
                                          <p:stCondLst>
                                            <p:cond delay="0"/>
                                          </p:stCondLst>
                                        </p:cTn>
                                        <p:tgtEl>
                                          <p:spTgt spid="11"/>
                                        </p:tgtEl>
                                        <p:attrNameLst>
                                          <p:attrName>style.visibility</p:attrName>
                                        </p:attrNameLst>
                                      </p:cBhvr>
                                      <p:to>
                                        <p:strVal val="visible"/>
                                      </p:to>
                                    </p:set>
                                    <p:animEffect transition="in" filter="wedge">
                                      <p:cBhvr>
                                        <p:cTn id="104"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p:bldP spid="7" grpId="0"/>
      <p:bldP spid="8" grpId="0"/>
      <p:bldP spid="9" grpId="0"/>
      <p:bldP spid="10" grpId="0"/>
      <p:bldP spid="11" grpId="0" animBg="1"/>
      <p:bldP spid="13" grpId="0"/>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371600" y="3785586"/>
            <a:ext cx="6629400" cy="2462814"/>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1121037" y="889505"/>
            <a:ext cx="3326174" cy="2757953"/>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610199" y="762000"/>
            <a:ext cx="2695601" cy="2667000"/>
          </a:xfrm>
          <a:prstGeom prst="rect">
            <a:avLst/>
          </a:prstGeom>
          <a:noFill/>
          <a:ln w="9525">
            <a:noFill/>
            <a:miter lim="800000"/>
            <a:headEnd/>
            <a:tailEnd/>
          </a:ln>
        </p:spPr>
      </p:pic>
      <p:sp>
        <p:nvSpPr>
          <p:cNvPr id="12" name="Rectangle 11"/>
          <p:cNvSpPr/>
          <p:nvPr/>
        </p:nvSpPr>
        <p:spPr>
          <a:xfrm>
            <a:off x="1938696" y="1190685"/>
            <a:ext cx="5434500" cy="4524315"/>
          </a:xfrm>
          <a:prstGeom prst="rect">
            <a:avLst/>
          </a:prstGeom>
          <a:noFill/>
        </p:spPr>
        <p:txBody>
          <a:bodyPr wrap="none" lIns="91440" tIns="45720" rIns="91440" bIns="45720">
            <a:spAutoFit/>
          </a:bodyPr>
          <a:lstStyle/>
          <a:p>
            <a:pPr algn="ctr"/>
            <a:r>
              <a:rPr lang="en-US" sz="7200" b="1" cap="none" spc="0" dirty="0" smtClean="0">
                <a:ln w="17780" cmpd="sng">
                  <a:solidFill>
                    <a:srgbClr val="FFFFFF"/>
                  </a:solidFill>
                  <a:prstDash val="solid"/>
                  <a:miter lim="800000"/>
                </a:ln>
                <a:effectLst>
                  <a:outerShdw blurRad="50800" algn="tl" rotWithShape="0">
                    <a:srgbClr val="000000"/>
                  </a:outerShdw>
                </a:effectLst>
                <a:latin typeface="Cooper Std Black" pitchFamily="18" charset="0"/>
              </a:rPr>
              <a:t>Enhancing</a:t>
            </a:r>
          </a:p>
          <a:p>
            <a:pPr algn="ctr"/>
            <a:r>
              <a:rPr lang="en-US" sz="7200" b="1" dirty="0" smtClean="0">
                <a:ln w="17780" cmpd="sng">
                  <a:solidFill>
                    <a:srgbClr val="FFFFFF"/>
                  </a:solidFill>
                  <a:prstDash val="solid"/>
                  <a:miter lim="800000"/>
                </a:ln>
                <a:effectLst>
                  <a:outerShdw blurRad="50800" algn="tl" rotWithShape="0">
                    <a:srgbClr val="000000"/>
                  </a:outerShdw>
                </a:effectLst>
                <a:latin typeface="Cooper Std Black" pitchFamily="18" charset="0"/>
              </a:rPr>
              <a:t>Test</a:t>
            </a:r>
          </a:p>
          <a:p>
            <a:pPr algn="ctr"/>
            <a:r>
              <a:rPr lang="en-US" sz="7200" b="1" dirty="0" smtClean="0">
                <a:ln w="17780" cmpd="sng">
                  <a:solidFill>
                    <a:srgbClr val="FFFFFF"/>
                  </a:solidFill>
                  <a:prstDash val="solid"/>
                  <a:miter lim="800000"/>
                </a:ln>
                <a:effectLst>
                  <a:outerShdw blurRad="50800" algn="tl" rotWithShape="0">
                    <a:srgbClr val="000000"/>
                  </a:outerShdw>
                </a:effectLst>
                <a:latin typeface="Cooper Std Black" pitchFamily="18" charset="0"/>
              </a:rPr>
              <a:t>Taking</a:t>
            </a:r>
          </a:p>
          <a:p>
            <a:pPr algn="ctr"/>
            <a:r>
              <a:rPr lang="en-US" sz="7200" b="1" cap="none" spc="0" dirty="0" smtClean="0">
                <a:ln w="17780" cmpd="sng">
                  <a:solidFill>
                    <a:srgbClr val="FFFFFF"/>
                  </a:solidFill>
                  <a:prstDash val="solid"/>
                  <a:miter lim="800000"/>
                </a:ln>
                <a:effectLst>
                  <a:outerShdw blurRad="50800" algn="tl" rotWithShape="0">
                    <a:srgbClr val="000000"/>
                  </a:outerShdw>
                </a:effectLst>
                <a:latin typeface="Cooper Std Black" pitchFamily="18" charset="0"/>
              </a:rPr>
              <a:t>Skills</a:t>
            </a:r>
            <a:endParaRPr lang="en-US" sz="7200" b="1" cap="none" spc="0" dirty="0">
              <a:ln w="17780" cmpd="sng">
                <a:solidFill>
                  <a:srgbClr val="FFFFFF"/>
                </a:solidFill>
                <a:prstDash val="solid"/>
                <a:miter lim="800000"/>
              </a:ln>
              <a:effectLst>
                <a:outerShdw blurRad="50800" algn="tl" rotWithShape="0">
                  <a:srgbClr val="000000"/>
                </a:outerShdw>
              </a:effectLst>
              <a:latin typeface="Cooper Std Black"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2"/>
                                        </p:tgtEl>
                                        <p:attrNameLst>
                                          <p:attrName>style.visibility</p:attrName>
                                        </p:attrNameLst>
                                      </p:cBhvr>
                                      <p:to>
                                        <p:strVal val="visible"/>
                                      </p:to>
                                    </p:set>
                                    <p:anim calcmode="discrete" valueType="clr">
                                      <p:cBhvr override="childStyle">
                                        <p:cTn id="7" dur="80"/>
                                        <p:tgtEl>
                                          <p:spTgt spid="1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2"/>
                                        </p:tgtEl>
                                        <p:attrNameLst>
                                          <p:attrName>fillcolor</p:attrName>
                                        </p:attrNameLst>
                                      </p:cBhvr>
                                      <p:tavLst>
                                        <p:tav tm="0">
                                          <p:val>
                                            <p:clrVal>
                                              <a:schemeClr val="accent2"/>
                                            </p:clrVal>
                                          </p:val>
                                        </p:tav>
                                        <p:tav tm="50000">
                                          <p:val>
                                            <p:clrVal>
                                              <a:schemeClr val="hlink"/>
                                            </p:clrVal>
                                          </p:val>
                                        </p:tav>
                                      </p:tavLst>
                                    </p:anim>
                                    <p:set>
                                      <p:cBhvr>
                                        <p:cTn id="9" dur="80"/>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09600" y="304800"/>
            <a:ext cx="8229600" cy="584775"/>
          </a:xfrm>
          <a:prstGeom prst="rect">
            <a:avLst/>
          </a:prstGeom>
        </p:spPr>
        <p:txBody>
          <a:bodyPr wrap="square">
            <a:spAutoFit/>
          </a:bodyPr>
          <a:lstStyle/>
          <a:p>
            <a:r>
              <a:rPr lang="en-US" sz="3200" dirty="0" smtClean="0"/>
              <a:t>1. An angle is 65.5°. What is its complement?</a:t>
            </a:r>
          </a:p>
        </p:txBody>
      </p:sp>
      <p:sp>
        <p:nvSpPr>
          <p:cNvPr id="6" name="Rectangle 5"/>
          <p:cNvSpPr/>
          <p:nvPr/>
        </p:nvSpPr>
        <p:spPr>
          <a:xfrm>
            <a:off x="1371600" y="1219200"/>
            <a:ext cx="1449436" cy="584775"/>
          </a:xfrm>
          <a:prstGeom prst="rect">
            <a:avLst/>
          </a:prstGeom>
        </p:spPr>
        <p:txBody>
          <a:bodyPr wrap="none">
            <a:spAutoFit/>
          </a:bodyPr>
          <a:lstStyle/>
          <a:p>
            <a:r>
              <a:rPr lang="en-US" sz="3200" dirty="0" smtClean="0"/>
              <a:t>a. 24.5°</a:t>
            </a:r>
            <a:endParaRPr lang="en-US" sz="3200" dirty="0"/>
          </a:p>
        </p:txBody>
      </p:sp>
      <p:sp>
        <p:nvSpPr>
          <p:cNvPr id="7" name="Rectangle 6"/>
          <p:cNvSpPr/>
          <p:nvPr/>
        </p:nvSpPr>
        <p:spPr>
          <a:xfrm>
            <a:off x="1322973" y="1905000"/>
            <a:ext cx="1438984" cy="584775"/>
          </a:xfrm>
          <a:prstGeom prst="rect">
            <a:avLst/>
          </a:prstGeom>
        </p:spPr>
        <p:txBody>
          <a:bodyPr wrap="none">
            <a:spAutoFit/>
          </a:bodyPr>
          <a:lstStyle/>
          <a:p>
            <a:r>
              <a:rPr lang="en-US" sz="3200" dirty="0" smtClean="0"/>
              <a:t>b. 25.5°</a:t>
            </a:r>
            <a:endParaRPr lang="en-US" sz="3200" dirty="0"/>
          </a:p>
        </p:txBody>
      </p:sp>
      <p:sp>
        <p:nvSpPr>
          <p:cNvPr id="8" name="Rectangle 7"/>
          <p:cNvSpPr/>
          <p:nvPr/>
        </p:nvSpPr>
        <p:spPr>
          <a:xfrm>
            <a:off x="4738026" y="1219200"/>
            <a:ext cx="1499128" cy="584775"/>
          </a:xfrm>
          <a:prstGeom prst="rect">
            <a:avLst/>
          </a:prstGeom>
        </p:spPr>
        <p:txBody>
          <a:bodyPr wrap="none">
            <a:spAutoFit/>
          </a:bodyPr>
          <a:lstStyle/>
          <a:p>
            <a:r>
              <a:rPr lang="en-US" sz="3200" dirty="0" smtClean="0"/>
              <a:t>c. 114.5°</a:t>
            </a:r>
            <a:endParaRPr lang="en-US" sz="3200" dirty="0"/>
          </a:p>
        </p:txBody>
      </p:sp>
      <p:sp>
        <p:nvSpPr>
          <p:cNvPr id="9" name="Rectangle 8"/>
          <p:cNvSpPr/>
          <p:nvPr/>
        </p:nvSpPr>
        <p:spPr>
          <a:xfrm>
            <a:off x="4724400" y="1903926"/>
            <a:ext cx="1612942" cy="584775"/>
          </a:xfrm>
          <a:prstGeom prst="rect">
            <a:avLst/>
          </a:prstGeom>
        </p:spPr>
        <p:txBody>
          <a:bodyPr wrap="none">
            <a:spAutoFit/>
          </a:bodyPr>
          <a:lstStyle/>
          <a:p>
            <a:r>
              <a:rPr lang="en-US" sz="3200" dirty="0" smtClean="0"/>
              <a:t>d. 124.5°</a:t>
            </a:r>
          </a:p>
        </p:txBody>
      </p:sp>
      <p:sp>
        <p:nvSpPr>
          <p:cNvPr id="10" name="TextBox 9"/>
          <p:cNvSpPr txBox="1"/>
          <p:nvPr/>
        </p:nvSpPr>
        <p:spPr>
          <a:xfrm>
            <a:off x="990600" y="3429000"/>
            <a:ext cx="7162800" cy="2308324"/>
          </a:xfrm>
          <a:prstGeom prst="rect">
            <a:avLst/>
          </a:prstGeom>
          <a:noFill/>
        </p:spPr>
        <p:txBody>
          <a:bodyPr wrap="square" rtlCol="0">
            <a:spAutoFit/>
          </a:bodyPr>
          <a:lstStyle/>
          <a:p>
            <a:r>
              <a:rPr lang="en-PH" sz="3200" dirty="0" smtClean="0"/>
              <a:t>Solution:</a:t>
            </a:r>
          </a:p>
          <a:p>
            <a:r>
              <a:rPr lang="en-PH" sz="3200" dirty="0" smtClean="0"/>
              <a:t>	Let x = measure of the complement</a:t>
            </a:r>
          </a:p>
          <a:p>
            <a:r>
              <a:rPr lang="en-PH" sz="3200" dirty="0" smtClean="0"/>
              <a:t>	         = 90</a:t>
            </a:r>
            <a:r>
              <a:rPr lang="en-PH" sz="3200" baseline="30000" dirty="0" smtClean="0"/>
              <a:t>0</a:t>
            </a:r>
            <a:r>
              <a:rPr lang="en-PH" sz="3200" dirty="0" smtClean="0"/>
              <a:t> – 65.5</a:t>
            </a:r>
            <a:r>
              <a:rPr lang="en-PH" sz="3200" baseline="30000" dirty="0" smtClean="0"/>
              <a:t>0</a:t>
            </a:r>
            <a:r>
              <a:rPr lang="en-PH" sz="3200" dirty="0" smtClean="0"/>
              <a:t> </a:t>
            </a:r>
          </a:p>
          <a:p>
            <a:r>
              <a:rPr lang="en-PH" sz="4800" dirty="0" smtClean="0"/>
              <a:t>	     = 24.5</a:t>
            </a:r>
            <a:r>
              <a:rPr lang="en-PH" sz="4800" baseline="30000" dirty="0" smtClean="0"/>
              <a:t>0</a:t>
            </a:r>
            <a:r>
              <a:rPr lang="en-PH" sz="4800" dirty="0" smtClean="0"/>
              <a:t> </a:t>
            </a:r>
          </a:p>
        </p:txBody>
      </p:sp>
      <p:sp>
        <p:nvSpPr>
          <p:cNvPr id="11" name="Rounded Rectangle 10"/>
          <p:cNvSpPr/>
          <p:nvPr/>
        </p:nvSpPr>
        <p:spPr>
          <a:xfrm>
            <a:off x="914400" y="3352800"/>
            <a:ext cx="7239000" cy="2438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371600" y="1295400"/>
            <a:ext cx="13716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fade">
                                      <p:cBhvr>
                                        <p:cTn id="27" dur="1000"/>
                                        <p:tgtEl>
                                          <p:spTgt spid="10">
                                            <p:txEl>
                                              <p:pRg st="0" end="0"/>
                                            </p:txEl>
                                          </p:spTgt>
                                        </p:tgtEl>
                                      </p:cBhvr>
                                    </p:animEffect>
                                    <p:anim calcmode="lin" valueType="num">
                                      <p:cBhvr>
                                        <p:cTn id="2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900" decel="100000" fill="hold"/>
                                        <p:tgtEl>
                                          <p:spTgt spid="1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 calcmode="lin" valueType="num">
                                      <p:cBhvr>
                                        <p:cTn id="41" dur="10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10">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0">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0">
                                            <p:txEl>
                                              <p:pRg st="2" end="2"/>
                                            </p:txEl>
                                          </p:spTgt>
                                        </p:tgtEl>
                                        <p:attrNameLst>
                                          <p:attrName>style.visibility</p:attrName>
                                        </p:attrNameLst>
                                      </p:cBhvr>
                                      <p:to>
                                        <p:strVal val="visible"/>
                                      </p:to>
                                    </p:set>
                                    <p:anim calcmode="lin" valueType="num">
                                      <p:cBhvr>
                                        <p:cTn id="48" dur="1000" fill="hold"/>
                                        <p:tgtEl>
                                          <p:spTgt spid="10">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10">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0">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0">
                                            <p:txEl>
                                              <p:pRg st="3" end="3"/>
                                            </p:txEl>
                                          </p:spTgt>
                                        </p:tgtEl>
                                        <p:attrNameLst>
                                          <p:attrName>style.visibility</p:attrName>
                                        </p:attrNameLst>
                                      </p:cBhvr>
                                      <p:to>
                                        <p:strVal val="visible"/>
                                      </p:to>
                                    </p:set>
                                    <p:anim calcmode="lin" valueType="num">
                                      <p:cBhvr>
                                        <p:cTn id="55" dur="1000" fill="hold"/>
                                        <p:tgtEl>
                                          <p:spTgt spid="10">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10">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0">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edge">
                                      <p:cBhvr>
                                        <p:cTn id="6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85800" y="228600"/>
            <a:ext cx="8229600" cy="1077218"/>
          </a:xfrm>
          <a:prstGeom prst="rect">
            <a:avLst/>
          </a:prstGeom>
        </p:spPr>
        <p:txBody>
          <a:bodyPr wrap="square">
            <a:spAutoFit/>
          </a:bodyPr>
          <a:lstStyle/>
          <a:p>
            <a:r>
              <a:rPr lang="en-US" sz="3200" dirty="0" smtClean="0"/>
              <a:t>2. Given: RS = 3, RT = 11, ad ST = 8. Which?</a:t>
            </a:r>
          </a:p>
          <a:p>
            <a:r>
              <a:rPr lang="en-US" sz="3200" dirty="0" smtClean="0"/>
              <a:t>    of these points is between the other two?</a:t>
            </a:r>
          </a:p>
        </p:txBody>
      </p:sp>
      <p:sp>
        <p:nvSpPr>
          <p:cNvPr id="6" name="Rectangle 5"/>
          <p:cNvSpPr/>
          <p:nvPr/>
        </p:nvSpPr>
        <p:spPr>
          <a:xfrm>
            <a:off x="2133600" y="1447800"/>
            <a:ext cx="849913" cy="584775"/>
          </a:xfrm>
          <a:prstGeom prst="rect">
            <a:avLst/>
          </a:prstGeom>
        </p:spPr>
        <p:txBody>
          <a:bodyPr wrap="none">
            <a:spAutoFit/>
          </a:bodyPr>
          <a:lstStyle/>
          <a:p>
            <a:r>
              <a:rPr lang="en-US" sz="3200" dirty="0" smtClean="0"/>
              <a:t>a. R</a:t>
            </a:r>
            <a:endParaRPr lang="en-US" sz="3200" dirty="0"/>
          </a:p>
        </p:txBody>
      </p:sp>
      <p:sp>
        <p:nvSpPr>
          <p:cNvPr id="7" name="Rectangle 6"/>
          <p:cNvSpPr/>
          <p:nvPr/>
        </p:nvSpPr>
        <p:spPr>
          <a:xfrm>
            <a:off x="2084973" y="2133600"/>
            <a:ext cx="832472" cy="584775"/>
          </a:xfrm>
          <a:prstGeom prst="rect">
            <a:avLst/>
          </a:prstGeom>
        </p:spPr>
        <p:txBody>
          <a:bodyPr wrap="none">
            <a:spAutoFit/>
          </a:bodyPr>
          <a:lstStyle/>
          <a:p>
            <a:r>
              <a:rPr lang="en-US" sz="3200" dirty="0" smtClean="0"/>
              <a:t>b. S</a:t>
            </a:r>
            <a:endParaRPr lang="en-US" sz="3200" dirty="0"/>
          </a:p>
        </p:txBody>
      </p:sp>
      <p:sp>
        <p:nvSpPr>
          <p:cNvPr id="8" name="Rectangle 7"/>
          <p:cNvSpPr/>
          <p:nvPr/>
        </p:nvSpPr>
        <p:spPr>
          <a:xfrm>
            <a:off x="2084973" y="2732782"/>
            <a:ext cx="825867" cy="584775"/>
          </a:xfrm>
          <a:prstGeom prst="rect">
            <a:avLst/>
          </a:prstGeom>
        </p:spPr>
        <p:txBody>
          <a:bodyPr wrap="none">
            <a:spAutoFit/>
          </a:bodyPr>
          <a:lstStyle/>
          <a:p>
            <a:r>
              <a:rPr lang="en-US" sz="3200" dirty="0" smtClean="0"/>
              <a:t>c. T</a:t>
            </a:r>
            <a:endParaRPr lang="en-US" sz="3200" dirty="0"/>
          </a:p>
        </p:txBody>
      </p:sp>
      <p:sp>
        <p:nvSpPr>
          <p:cNvPr id="9" name="Rectangle 8"/>
          <p:cNvSpPr/>
          <p:nvPr/>
        </p:nvSpPr>
        <p:spPr>
          <a:xfrm>
            <a:off x="2071347" y="3494782"/>
            <a:ext cx="2279791" cy="584775"/>
          </a:xfrm>
          <a:prstGeom prst="rect">
            <a:avLst/>
          </a:prstGeom>
        </p:spPr>
        <p:txBody>
          <a:bodyPr wrap="none">
            <a:spAutoFit/>
          </a:bodyPr>
          <a:lstStyle/>
          <a:p>
            <a:r>
              <a:rPr lang="en-US" sz="3200" dirty="0" smtClean="0"/>
              <a:t>d. any point</a:t>
            </a:r>
          </a:p>
        </p:txBody>
      </p:sp>
      <p:cxnSp>
        <p:nvCxnSpPr>
          <p:cNvPr id="10" name="Straight Arrow Connector 9"/>
          <p:cNvCxnSpPr/>
          <p:nvPr/>
        </p:nvCxnSpPr>
        <p:spPr>
          <a:xfrm>
            <a:off x="1905000" y="5029200"/>
            <a:ext cx="5105400" cy="0"/>
          </a:xfrm>
          <a:prstGeom prst="straightConnector1">
            <a:avLst/>
          </a:prstGeom>
          <a:ln w="381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699610" y="5078968"/>
            <a:ext cx="357790" cy="461665"/>
          </a:xfrm>
          <a:prstGeom prst="rect">
            <a:avLst/>
          </a:prstGeom>
        </p:spPr>
        <p:txBody>
          <a:bodyPr wrap="none">
            <a:spAutoFit/>
          </a:bodyPr>
          <a:lstStyle/>
          <a:p>
            <a:pPr algn="r"/>
            <a:r>
              <a:rPr lang="en-US" sz="2400" b="1" dirty="0" smtClean="0"/>
              <a:t>R</a:t>
            </a:r>
            <a:endParaRPr lang="en-PH" sz="2400" b="1" dirty="0"/>
          </a:p>
        </p:txBody>
      </p:sp>
      <p:sp>
        <p:nvSpPr>
          <p:cNvPr id="12" name="Rectangle 11"/>
          <p:cNvSpPr/>
          <p:nvPr/>
        </p:nvSpPr>
        <p:spPr>
          <a:xfrm>
            <a:off x="3393735" y="5105400"/>
            <a:ext cx="330540" cy="461665"/>
          </a:xfrm>
          <a:prstGeom prst="rect">
            <a:avLst/>
          </a:prstGeom>
        </p:spPr>
        <p:txBody>
          <a:bodyPr wrap="none">
            <a:spAutoFit/>
          </a:bodyPr>
          <a:lstStyle/>
          <a:p>
            <a:pPr algn="r"/>
            <a:r>
              <a:rPr lang="en-US" sz="2400" b="1" dirty="0" smtClean="0"/>
              <a:t>S</a:t>
            </a:r>
            <a:endParaRPr lang="en-PH" sz="2400" b="1" dirty="0"/>
          </a:p>
        </p:txBody>
      </p:sp>
      <p:sp>
        <p:nvSpPr>
          <p:cNvPr id="13" name="Rectangle 12"/>
          <p:cNvSpPr/>
          <p:nvPr/>
        </p:nvSpPr>
        <p:spPr>
          <a:xfrm>
            <a:off x="6902048" y="5105400"/>
            <a:ext cx="336952" cy="461665"/>
          </a:xfrm>
          <a:prstGeom prst="rect">
            <a:avLst/>
          </a:prstGeom>
        </p:spPr>
        <p:txBody>
          <a:bodyPr wrap="none">
            <a:spAutoFit/>
          </a:bodyPr>
          <a:lstStyle/>
          <a:p>
            <a:pPr algn="r"/>
            <a:r>
              <a:rPr lang="en-US" sz="2400" b="1" dirty="0" smtClean="0"/>
              <a:t>T</a:t>
            </a:r>
            <a:endParaRPr lang="en-PH" sz="2400" b="1" dirty="0"/>
          </a:p>
        </p:txBody>
      </p:sp>
      <p:sp>
        <p:nvSpPr>
          <p:cNvPr id="14" name="Rectangle 13"/>
          <p:cNvSpPr/>
          <p:nvPr/>
        </p:nvSpPr>
        <p:spPr>
          <a:xfrm>
            <a:off x="2463800" y="4965700"/>
            <a:ext cx="301685" cy="369332"/>
          </a:xfrm>
          <a:prstGeom prst="rect">
            <a:avLst/>
          </a:prstGeom>
        </p:spPr>
        <p:txBody>
          <a:bodyPr wrap="none">
            <a:spAutoFit/>
          </a:bodyPr>
          <a:lstStyle/>
          <a:p>
            <a:pPr algn="r"/>
            <a:r>
              <a:rPr lang="en-US" b="1" dirty="0" smtClean="0"/>
              <a:t>3</a:t>
            </a:r>
            <a:endParaRPr lang="en-PH" b="1" dirty="0"/>
          </a:p>
        </p:txBody>
      </p:sp>
      <p:sp>
        <p:nvSpPr>
          <p:cNvPr id="15" name="Rectangle 14"/>
          <p:cNvSpPr/>
          <p:nvPr/>
        </p:nvSpPr>
        <p:spPr>
          <a:xfrm>
            <a:off x="5000502" y="4965700"/>
            <a:ext cx="308098" cy="369332"/>
          </a:xfrm>
          <a:prstGeom prst="rect">
            <a:avLst/>
          </a:prstGeom>
        </p:spPr>
        <p:txBody>
          <a:bodyPr wrap="none">
            <a:spAutoFit/>
          </a:bodyPr>
          <a:lstStyle/>
          <a:p>
            <a:pPr algn="r"/>
            <a:r>
              <a:rPr lang="en-US" b="1" dirty="0" smtClean="0"/>
              <a:t>8</a:t>
            </a:r>
            <a:endParaRPr lang="en-PH" b="1" dirty="0"/>
          </a:p>
        </p:txBody>
      </p:sp>
      <p:sp>
        <p:nvSpPr>
          <p:cNvPr id="16" name="Oval 15"/>
          <p:cNvSpPr/>
          <p:nvPr/>
        </p:nvSpPr>
        <p:spPr>
          <a:xfrm>
            <a:off x="3537585" y="4972050"/>
            <a:ext cx="91440" cy="9144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b="1"/>
          </a:p>
        </p:txBody>
      </p:sp>
      <p:sp>
        <p:nvSpPr>
          <p:cNvPr id="17" name="Rounded Rectangle 16"/>
          <p:cNvSpPr/>
          <p:nvPr/>
        </p:nvSpPr>
        <p:spPr>
          <a:xfrm>
            <a:off x="2044700" y="2197100"/>
            <a:ext cx="8509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80">
                                          <p:stCondLst>
                                            <p:cond delay="0"/>
                                          </p:stCondLst>
                                        </p:cTn>
                                        <p:tgtEl>
                                          <p:spTgt spid="10"/>
                                        </p:tgtEl>
                                      </p:cBhvr>
                                    </p:animEffect>
                                    <p:anim calcmode="lin" valueType="num">
                                      <p:cBhvr>
                                        <p:cTn id="2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3" dur="26">
                                          <p:stCondLst>
                                            <p:cond delay="650"/>
                                          </p:stCondLst>
                                        </p:cTn>
                                        <p:tgtEl>
                                          <p:spTgt spid="10"/>
                                        </p:tgtEl>
                                      </p:cBhvr>
                                      <p:to x="100000" y="60000"/>
                                    </p:animScale>
                                    <p:animScale>
                                      <p:cBhvr>
                                        <p:cTn id="34" dur="166" decel="50000">
                                          <p:stCondLst>
                                            <p:cond delay="676"/>
                                          </p:stCondLst>
                                        </p:cTn>
                                        <p:tgtEl>
                                          <p:spTgt spid="10"/>
                                        </p:tgtEl>
                                      </p:cBhvr>
                                      <p:to x="100000" y="100000"/>
                                    </p:animScale>
                                    <p:animScale>
                                      <p:cBhvr>
                                        <p:cTn id="35" dur="26">
                                          <p:stCondLst>
                                            <p:cond delay="1312"/>
                                          </p:stCondLst>
                                        </p:cTn>
                                        <p:tgtEl>
                                          <p:spTgt spid="10"/>
                                        </p:tgtEl>
                                      </p:cBhvr>
                                      <p:to x="100000" y="80000"/>
                                    </p:animScale>
                                    <p:animScale>
                                      <p:cBhvr>
                                        <p:cTn id="36" dur="166" decel="50000">
                                          <p:stCondLst>
                                            <p:cond delay="1338"/>
                                          </p:stCondLst>
                                        </p:cTn>
                                        <p:tgtEl>
                                          <p:spTgt spid="10"/>
                                        </p:tgtEl>
                                      </p:cBhvr>
                                      <p:to x="100000" y="100000"/>
                                    </p:animScale>
                                    <p:animScale>
                                      <p:cBhvr>
                                        <p:cTn id="37" dur="26">
                                          <p:stCondLst>
                                            <p:cond delay="1642"/>
                                          </p:stCondLst>
                                        </p:cTn>
                                        <p:tgtEl>
                                          <p:spTgt spid="10"/>
                                        </p:tgtEl>
                                      </p:cBhvr>
                                      <p:to x="100000" y="90000"/>
                                    </p:animScale>
                                    <p:animScale>
                                      <p:cBhvr>
                                        <p:cTn id="38" dur="166" decel="50000">
                                          <p:stCondLst>
                                            <p:cond delay="1668"/>
                                          </p:stCondLst>
                                        </p:cTn>
                                        <p:tgtEl>
                                          <p:spTgt spid="10"/>
                                        </p:tgtEl>
                                      </p:cBhvr>
                                      <p:to x="100000" y="100000"/>
                                    </p:animScale>
                                    <p:animScale>
                                      <p:cBhvr>
                                        <p:cTn id="39" dur="26">
                                          <p:stCondLst>
                                            <p:cond delay="1808"/>
                                          </p:stCondLst>
                                        </p:cTn>
                                        <p:tgtEl>
                                          <p:spTgt spid="10"/>
                                        </p:tgtEl>
                                      </p:cBhvr>
                                      <p:to x="100000" y="95000"/>
                                    </p:animScale>
                                    <p:animScale>
                                      <p:cBhvr>
                                        <p:cTn id="40" dur="166" decel="50000">
                                          <p:stCondLst>
                                            <p:cond delay="1834"/>
                                          </p:stCondLst>
                                        </p:cTn>
                                        <p:tgtEl>
                                          <p:spTgt spid="10"/>
                                        </p:tgtEl>
                                      </p:cBhvr>
                                      <p:to x="100000" y="100000"/>
                                    </p:animScale>
                                  </p:childTnLst>
                                </p:cTn>
                              </p:par>
                              <p:par>
                                <p:cTn id="41" presetID="26"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580">
                                          <p:stCondLst>
                                            <p:cond delay="0"/>
                                          </p:stCondLst>
                                        </p:cTn>
                                        <p:tgtEl>
                                          <p:spTgt spid="11"/>
                                        </p:tgtEl>
                                      </p:cBhvr>
                                    </p:animEffect>
                                    <p:anim calcmode="lin" valueType="num">
                                      <p:cBhvr>
                                        <p:cTn id="4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9" dur="26">
                                          <p:stCondLst>
                                            <p:cond delay="650"/>
                                          </p:stCondLst>
                                        </p:cTn>
                                        <p:tgtEl>
                                          <p:spTgt spid="11"/>
                                        </p:tgtEl>
                                      </p:cBhvr>
                                      <p:to x="100000" y="60000"/>
                                    </p:animScale>
                                    <p:animScale>
                                      <p:cBhvr>
                                        <p:cTn id="50" dur="166" decel="50000">
                                          <p:stCondLst>
                                            <p:cond delay="676"/>
                                          </p:stCondLst>
                                        </p:cTn>
                                        <p:tgtEl>
                                          <p:spTgt spid="11"/>
                                        </p:tgtEl>
                                      </p:cBhvr>
                                      <p:to x="100000" y="100000"/>
                                    </p:animScale>
                                    <p:animScale>
                                      <p:cBhvr>
                                        <p:cTn id="51" dur="26">
                                          <p:stCondLst>
                                            <p:cond delay="1312"/>
                                          </p:stCondLst>
                                        </p:cTn>
                                        <p:tgtEl>
                                          <p:spTgt spid="11"/>
                                        </p:tgtEl>
                                      </p:cBhvr>
                                      <p:to x="100000" y="80000"/>
                                    </p:animScale>
                                    <p:animScale>
                                      <p:cBhvr>
                                        <p:cTn id="52" dur="166" decel="50000">
                                          <p:stCondLst>
                                            <p:cond delay="1338"/>
                                          </p:stCondLst>
                                        </p:cTn>
                                        <p:tgtEl>
                                          <p:spTgt spid="11"/>
                                        </p:tgtEl>
                                      </p:cBhvr>
                                      <p:to x="100000" y="100000"/>
                                    </p:animScale>
                                    <p:animScale>
                                      <p:cBhvr>
                                        <p:cTn id="53" dur="26">
                                          <p:stCondLst>
                                            <p:cond delay="1642"/>
                                          </p:stCondLst>
                                        </p:cTn>
                                        <p:tgtEl>
                                          <p:spTgt spid="11"/>
                                        </p:tgtEl>
                                      </p:cBhvr>
                                      <p:to x="100000" y="90000"/>
                                    </p:animScale>
                                    <p:animScale>
                                      <p:cBhvr>
                                        <p:cTn id="54" dur="166" decel="50000">
                                          <p:stCondLst>
                                            <p:cond delay="1668"/>
                                          </p:stCondLst>
                                        </p:cTn>
                                        <p:tgtEl>
                                          <p:spTgt spid="11"/>
                                        </p:tgtEl>
                                      </p:cBhvr>
                                      <p:to x="100000" y="100000"/>
                                    </p:animScale>
                                    <p:animScale>
                                      <p:cBhvr>
                                        <p:cTn id="55" dur="26">
                                          <p:stCondLst>
                                            <p:cond delay="1808"/>
                                          </p:stCondLst>
                                        </p:cTn>
                                        <p:tgtEl>
                                          <p:spTgt spid="11"/>
                                        </p:tgtEl>
                                      </p:cBhvr>
                                      <p:to x="100000" y="95000"/>
                                    </p:animScale>
                                    <p:animScale>
                                      <p:cBhvr>
                                        <p:cTn id="56" dur="166" decel="50000">
                                          <p:stCondLst>
                                            <p:cond delay="1834"/>
                                          </p:stCondLst>
                                        </p:cTn>
                                        <p:tgtEl>
                                          <p:spTgt spid="11"/>
                                        </p:tgtEl>
                                      </p:cBhvr>
                                      <p:to x="100000" y="100000"/>
                                    </p:animScale>
                                  </p:childTnLst>
                                </p:cTn>
                              </p:par>
                              <p:par>
                                <p:cTn id="57" presetID="26"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down)">
                                      <p:cBhvr>
                                        <p:cTn id="59" dur="580">
                                          <p:stCondLst>
                                            <p:cond delay="0"/>
                                          </p:stCondLst>
                                        </p:cTn>
                                        <p:tgtEl>
                                          <p:spTgt spid="12"/>
                                        </p:tgtEl>
                                      </p:cBhvr>
                                    </p:animEffect>
                                    <p:anim calcmode="lin" valueType="num">
                                      <p:cBhvr>
                                        <p:cTn id="6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65" dur="26">
                                          <p:stCondLst>
                                            <p:cond delay="650"/>
                                          </p:stCondLst>
                                        </p:cTn>
                                        <p:tgtEl>
                                          <p:spTgt spid="12"/>
                                        </p:tgtEl>
                                      </p:cBhvr>
                                      <p:to x="100000" y="60000"/>
                                    </p:animScale>
                                    <p:animScale>
                                      <p:cBhvr>
                                        <p:cTn id="66" dur="166" decel="50000">
                                          <p:stCondLst>
                                            <p:cond delay="676"/>
                                          </p:stCondLst>
                                        </p:cTn>
                                        <p:tgtEl>
                                          <p:spTgt spid="12"/>
                                        </p:tgtEl>
                                      </p:cBhvr>
                                      <p:to x="100000" y="100000"/>
                                    </p:animScale>
                                    <p:animScale>
                                      <p:cBhvr>
                                        <p:cTn id="67" dur="26">
                                          <p:stCondLst>
                                            <p:cond delay="1312"/>
                                          </p:stCondLst>
                                        </p:cTn>
                                        <p:tgtEl>
                                          <p:spTgt spid="12"/>
                                        </p:tgtEl>
                                      </p:cBhvr>
                                      <p:to x="100000" y="80000"/>
                                    </p:animScale>
                                    <p:animScale>
                                      <p:cBhvr>
                                        <p:cTn id="68" dur="166" decel="50000">
                                          <p:stCondLst>
                                            <p:cond delay="1338"/>
                                          </p:stCondLst>
                                        </p:cTn>
                                        <p:tgtEl>
                                          <p:spTgt spid="12"/>
                                        </p:tgtEl>
                                      </p:cBhvr>
                                      <p:to x="100000" y="100000"/>
                                    </p:animScale>
                                    <p:animScale>
                                      <p:cBhvr>
                                        <p:cTn id="69" dur="26">
                                          <p:stCondLst>
                                            <p:cond delay="1642"/>
                                          </p:stCondLst>
                                        </p:cTn>
                                        <p:tgtEl>
                                          <p:spTgt spid="12"/>
                                        </p:tgtEl>
                                      </p:cBhvr>
                                      <p:to x="100000" y="90000"/>
                                    </p:animScale>
                                    <p:animScale>
                                      <p:cBhvr>
                                        <p:cTn id="70" dur="166" decel="50000">
                                          <p:stCondLst>
                                            <p:cond delay="1668"/>
                                          </p:stCondLst>
                                        </p:cTn>
                                        <p:tgtEl>
                                          <p:spTgt spid="12"/>
                                        </p:tgtEl>
                                      </p:cBhvr>
                                      <p:to x="100000" y="100000"/>
                                    </p:animScale>
                                    <p:animScale>
                                      <p:cBhvr>
                                        <p:cTn id="71" dur="26">
                                          <p:stCondLst>
                                            <p:cond delay="1808"/>
                                          </p:stCondLst>
                                        </p:cTn>
                                        <p:tgtEl>
                                          <p:spTgt spid="12"/>
                                        </p:tgtEl>
                                      </p:cBhvr>
                                      <p:to x="100000" y="95000"/>
                                    </p:animScale>
                                    <p:animScale>
                                      <p:cBhvr>
                                        <p:cTn id="72" dur="166" decel="50000">
                                          <p:stCondLst>
                                            <p:cond delay="1834"/>
                                          </p:stCondLst>
                                        </p:cTn>
                                        <p:tgtEl>
                                          <p:spTgt spid="12"/>
                                        </p:tgtEl>
                                      </p:cBhvr>
                                      <p:to x="100000" y="100000"/>
                                    </p:animScale>
                                  </p:childTnLst>
                                </p:cTn>
                              </p:par>
                              <p:par>
                                <p:cTn id="73" presetID="26"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wipe(down)">
                                      <p:cBhvr>
                                        <p:cTn id="75" dur="580">
                                          <p:stCondLst>
                                            <p:cond delay="0"/>
                                          </p:stCondLst>
                                        </p:cTn>
                                        <p:tgtEl>
                                          <p:spTgt spid="13"/>
                                        </p:tgtEl>
                                      </p:cBhvr>
                                    </p:animEffect>
                                    <p:anim calcmode="lin" valueType="num">
                                      <p:cBhvr>
                                        <p:cTn id="7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81" dur="26">
                                          <p:stCondLst>
                                            <p:cond delay="650"/>
                                          </p:stCondLst>
                                        </p:cTn>
                                        <p:tgtEl>
                                          <p:spTgt spid="13"/>
                                        </p:tgtEl>
                                      </p:cBhvr>
                                      <p:to x="100000" y="60000"/>
                                    </p:animScale>
                                    <p:animScale>
                                      <p:cBhvr>
                                        <p:cTn id="82" dur="166" decel="50000">
                                          <p:stCondLst>
                                            <p:cond delay="676"/>
                                          </p:stCondLst>
                                        </p:cTn>
                                        <p:tgtEl>
                                          <p:spTgt spid="13"/>
                                        </p:tgtEl>
                                      </p:cBhvr>
                                      <p:to x="100000" y="100000"/>
                                    </p:animScale>
                                    <p:animScale>
                                      <p:cBhvr>
                                        <p:cTn id="83" dur="26">
                                          <p:stCondLst>
                                            <p:cond delay="1312"/>
                                          </p:stCondLst>
                                        </p:cTn>
                                        <p:tgtEl>
                                          <p:spTgt spid="13"/>
                                        </p:tgtEl>
                                      </p:cBhvr>
                                      <p:to x="100000" y="80000"/>
                                    </p:animScale>
                                    <p:animScale>
                                      <p:cBhvr>
                                        <p:cTn id="84" dur="166" decel="50000">
                                          <p:stCondLst>
                                            <p:cond delay="1338"/>
                                          </p:stCondLst>
                                        </p:cTn>
                                        <p:tgtEl>
                                          <p:spTgt spid="13"/>
                                        </p:tgtEl>
                                      </p:cBhvr>
                                      <p:to x="100000" y="100000"/>
                                    </p:animScale>
                                    <p:animScale>
                                      <p:cBhvr>
                                        <p:cTn id="85" dur="26">
                                          <p:stCondLst>
                                            <p:cond delay="1642"/>
                                          </p:stCondLst>
                                        </p:cTn>
                                        <p:tgtEl>
                                          <p:spTgt spid="13"/>
                                        </p:tgtEl>
                                      </p:cBhvr>
                                      <p:to x="100000" y="90000"/>
                                    </p:animScale>
                                    <p:animScale>
                                      <p:cBhvr>
                                        <p:cTn id="86" dur="166" decel="50000">
                                          <p:stCondLst>
                                            <p:cond delay="1668"/>
                                          </p:stCondLst>
                                        </p:cTn>
                                        <p:tgtEl>
                                          <p:spTgt spid="13"/>
                                        </p:tgtEl>
                                      </p:cBhvr>
                                      <p:to x="100000" y="100000"/>
                                    </p:animScale>
                                    <p:animScale>
                                      <p:cBhvr>
                                        <p:cTn id="87" dur="26">
                                          <p:stCondLst>
                                            <p:cond delay="1808"/>
                                          </p:stCondLst>
                                        </p:cTn>
                                        <p:tgtEl>
                                          <p:spTgt spid="13"/>
                                        </p:tgtEl>
                                      </p:cBhvr>
                                      <p:to x="100000" y="95000"/>
                                    </p:animScale>
                                    <p:animScale>
                                      <p:cBhvr>
                                        <p:cTn id="88" dur="166" decel="50000">
                                          <p:stCondLst>
                                            <p:cond delay="1834"/>
                                          </p:stCondLst>
                                        </p:cTn>
                                        <p:tgtEl>
                                          <p:spTgt spid="13"/>
                                        </p:tgtEl>
                                      </p:cBhvr>
                                      <p:to x="100000" y="100000"/>
                                    </p:animScale>
                                  </p:childTnLst>
                                </p:cTn>
                              </p:par>
                              <p:par>
                                <p:cTn id="89" presetID="26" presetClass="entr" presetSubtype="0" fill="hold" grpId="0" nodeType="withEffect">
                                  <p:stCondLst>
                                    <p:cond delay="0"/>
                                  </p:stCondLst>
                                  <p:childTnLst>
                                    <p:set>
                                      <p:cBhvr>
                                        <p:cTn id="90" dur="1" fill="hold">
                                          <p:stCondLst>
                                            <p:cond delay="0"/>
                                          </p:stCondLst>
                                        </p:cTn>
                                        <p:tgtEl>
                                          <p:spTgt spid="14"/>
                                        </p:tgtEl>
                                        <p:attrNameLst>
                                          <p:attrName>style.visibility</p:attrName>
                                        </p:attrNameLst>
                                      </p:cBhvr>
                                      <p:to>
                                        <p:strVal val="visible"/>
                                      </p:to>
                                    </p:set>
                                    <p:animEffect transition="in" filter="wipe(down)">
                                      <p:cBhvr>
                                        <p:cTn id="91" dur="580">
                                          <p:stCondLst>
                                            <p:cond delay="0"/>
                                          </p:stCondLst>
                                        </p:cTn>
                                        <p:tgtEl>
                                          <p:spTgt spid="14"/>
                                        </p:tgtEl>
                                      </p:cBhvr>
                                    </p:animEffect>
                                    <p:anim calcmode="lin" valueType="num">
                                      <p:cBhvr>
                                        <p:cTn id="9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9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9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9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9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97" dur="26">
                                          <p:stCondLst>
                                            <p:cond delay="650"/>
                                          </p:stCondLst>
                                        </p:cTn>
                                        <p:tgtEl>
                                          <p:spTgt spid="14"/>
                                        </p:tgtEl>
                                      </p:cBhvr>
                                      <p:to x="100000" y="60000"/>
                                    </p:animScale>
                                    <p:animScale>
                                      <p:cBhvr>
                                        <p:cTn id="98" dur="166" decel="50000">
                                          <p:stCondLst>
                                            <p:cond delay="676"/>
                                          </p:stCondLst>
                                        </p:cTn>
                                        <p:tgtEl>
                                          <p:spTgt spid="14"/>
                                        </p:tgtEl>
                                      </p:cBhvr>
                                      <p:to x="100000" y="100000"/>
                                    </p:animScale>
                                    <p:animScale>
                                      <p:cBhvr>
                                        <p:cTn id="99" dur="26">
                                          <p:stCondLst>
                                            <p:cond delay="1312"/>
                                          </p:stCondLst>
                                        </p:cTn>
                                        <p:tgtEl>
                                          <p:spTgt spid="14"/>
                                        </p:tgtEl>
                                      </p:cBhvr>
                                      <p:to x="100000" y="80000"/>
                                    </p:animScale>
                                    <p:animScale>
                                      <p:cBhvr>
                                        <p:cTn id="100" dur="166" decel="50000">
                                          <p:stCondLst>
                                            <p:cond delay="1338"/>
                                          </p:stCondLst>
                                        </p:cTn>
                                        <p:tgtEl>
                                          <p:spTgt spid="14"/>
                                        </p:tgtEl>
                                      </p:cBhvr>
                                      <p:to x="100000" y="100000"/>
                                    </p:animScale>
                                    <p:animScale>
                                      <p:cBhvr>
                                        <p:cTn id="101" dur="26">
                                          <p:stCondLst>
                                            <p:cond delay="1642"/>
                                          </p:stCondLst>
                                        </p:cTn>
                                        <p:tgtEl>
                                          <p:spTgt spid="14"/>
                                        </p:tgtEl>
                                      </p:cBhvr>
                                      <p:to x="100000" y="90000"/>
                                    </p:animScale>
                                    <p:animScale>
                                      <p:cBhvr>
                                        <p:cTn id="102" dur="166" decel="50000">
                                          <p:stCondLst>
                                            <p:cond delay="1668"/>
                                          </p:stCondLst>
                                        </p:cTn>
                                        <p:tgtEl>
                                          <p:spTgt spid="14"/>
                                        </p:tgtEl>
                                      </p:cBhvr>
                                      <p:to x="100000" y="100000"/>
                                    </p:animScale>
                                    <p:animScale>
                                      <p:cBhvr>
                                        <p:cTn id="103" dur="26">
                                          <p:stCondLst>
                                            <p:cond delay="1808"/>
                                          </p:stCondLst>
                                        </p:cTn>
                                        <p:tgtEl>
                                          <p:spTgt spid="14"/>
                                        </p:tgtEl>
                                      </p:cBhvr>
                                      <p:to x="100000" y="95000"/>
                                    </p:animScale>
                                    <p:animScale>
                                      <p:cBhvr>
                                        <p:cTn id="104" dur="166" decel="50000">
                                          <p:stCondLst>
                                            <p:cond delay="1834"/>
                                          </p:stCondLst>
                                        </p:cTn>
                                        <p:tgtEl>
                                          <p:spTgt spid="14"/>
                                        </p:tgtEl>
                                      </p:cBhvr>
                                      <p:to x="100000" y="100000"/>
                                    </p:animScale>
                                  </p:childTnLst>
                                </p:cTn>
                              </p:par>
                              <p:par>
                                <p:cTn id="105" presetID="26" presetClass="entr" presetSubtype="0" fill="hold" grpId="0" nodeType="with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wipe(down)">
                                      <p:cBhvr>
                                        <p:cTn id="107" dur="580">
                                          <p:stCondLst>
                                            <p:cond delay="0"/>
                                          </p:stCondLst>
                                        </p:cTn>
                                        <p:tgtEl>
                                          <p:spTgt spid="15"/>
                                        </p:tgtEl>
                                      </p:cBhvr>
                                    </p:animEffect>
                                    <p:anim calcmode="lin" valueType="num">
                                      <p:cBhvr>
                                        <p:cTn id="108"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09"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10"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11"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12"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13" dur="26">
                                          <p:stCondLst>
                                            <p:cond delay="650"/>
                                          </p:stCondLst>
                                        </p:cTn>
                                        <p:tgtEl>
                                          <p:spTgt spid="15"/>
                                        </p:tgtEl>
                                      </p:cBhvr>
                                      <p:to x="100000" y="60000"/>
                                    </p:animScale>
                                    <p:animScale>
                                      <p:cBhvr>
                                        <p:cTn id="114" dur="166" decel="50000">
                                          <p:stCondLst>
                                            <p:cond delay="676"/>
                                          </p:stCondLst>
                                        </p:cTn>
                                        <p:tgtEl>
                                          <p:spTgt spid="15"/>
                                        </p:tgtEl>
                                      </p:cBhvr>
                                      <p:to x="100000" y="100000"/>
                                    </p:animScale>
                                    <p:animScale>
                                      <p:cBhvr>
                                        <p:cTn id="115" dur="26">
                                          <p:stCondLst>
                                            <p:cond delay="1312"/>
                                          </p:stCondLst>
                                        </p:cTn>
                                        <p:tgtEl>
                                          <p:spTgt spid="15"/>
                                        </p:tgtEl>
                                      </p:cBhvr>
                                      <p:to x="100000" y="80000"/>
                                    </p:animScale>
                                    <p:animScale>
                                      <p:cBhvr>
                                        <p:cTn id="116" dur="166" decel="50000">
                                          <p:stCondLst>
                                            <p:cond delay="1338"/>
                                          </p:stCondLst>
                                        </p:cTn>
                                        <p:tgtEl>
                                          <p:spTgt spid="15"/>
                                        </p:tgtEl>
                                      </p:cBhvr>
                                      <p:to x="100000" y="100000"/>
                                    </p:animScale>
                                    <p:animScale>
                                      <p:cBhvr>
                                        <p:cTn id="117" dur="26">
                                          <p:stCondLst>
                                            <p:cond delay="1642"/>
                                          </p:stCondLst>
                                        </p:cTn>
                                        <p:tgtEl>
                                          <p:spTgt spid="15"/>
                                        </p:tgtEl>
                                      </p:cBhvr>
                                      <p:to x="100000" y="90000"/>
                                    </p:animScale>
                                    <p:animScale>
                                      <p:cBhvr>
                                        <p:cTn id="118" dur="166" decel="50000">
                                          <p:stCondLst>
                                            <p:cond delay="1668"/>
                                          </p:stCondLst>
                                        </p:cTn>
                                        <p:tgtEl>
                                          <p:spTgt spid="15"/>
                                        </p:tgtEl>
                                      </p:cBhvr>
                                      <p:to x="100000" y="100000"/>
                                    </p:animScale>
                                    <p:animScale>
                                      <p:cBhvr>
                                        <p:cTn id="119" dur="26">
                                          <p:stCondLst>
                                            <p:cond delay="1808"/>
                                          </p:stCondLst>
                                        </p:cTn>
                                        <p:tgtEl>
                                          <p:spTgt spid="15"/>
                                        </p:tgtEl>
                                      </p:cBhvr>
                                      <p:to x="100000" y="95000"/>
                                    </p:animScale>
                                    <p:animScale>
                                      <p:cBhvr>
                                        <p:cTn id="120" dur="166" decel="50000">
                                          <p:stCondLst>
                                            <p:cond delay="1834"/>
                                          </p:stCondLst>
                                        </p:cTn>
                                        <p:tgtEl>
                                          <p:spTgt spid="15"/>
                                        </p:tgtEl>
                                      </p:cBhvr>
                                      <p:to x="100000" y="100000"/>
                                    </p:animScale>
                                  </p:childTnLst>
                                </p:cTn>
                              </p:par>
                              <p:par>
                                <p:cTn id="121" presetID="26" presetClass="entr" presetSubtype="0" fill="hold" grpId="0" nodeType="withEffect">
                                  <p:stCondLst>
                                    <p:cond delay="0"/>
                                  </p:stCondLst>
                                  <p:childTnLst>
                                    <p:set>
                                      <p:cBhvr>
                                        <p:cTn id="122" dur="1" fill="hold">
                                          <p:stCondLst>
                                            <p:cond delay="0"/>
                                          </p:stCondLst>
                                        </p:cTn>
                                        <p:tgtEl>
                                          <p:spTgt spid="16"/>
                                        </p:tgtEl>
                                        <p:attrNameLst>
                                          <p:attrName>style.visibility</p:attrName>
                                        </p:attrNameLst>
                                      </p:cBhvr>
                                      <p:to>
                                        <p:strVal val="visible"/>
                                      </p:to>
                                    </p:set>
                                    <p:animEffect transition="in" filter="wipe(down)">
                                      <p:cBhvr>
                                        <p:cTn id="123" dur="580">
                                          <p:stCondLst>
                                            <p:cond delay="0"/>
                                          </p:stCondLst>
                                        </p:cTn>
                                        <p:tgtEl>
                                          <p:spTgt spid="16"/>
                                        </p:tgtEl>
                                      </p:cBhvr>
                                    </p:animEffect>
                                    <p:anim calcmode="lin" valueType="num">
                                      <p:cBhvr>
                                        <p:cTn id="12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2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2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2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29" dur="26">
                                          <p:stCondLst>
                                            <p:cond delay="650"/>
                                          </p:stCondLst>
                                        </p:cTn>
                                        <p:tgtEl>
                                          <p:spTgt spid="16"/>
                                        </p:tgtEl>
                                      </p:cBhvr>
                                      <p:to x="100000" y="60000"/>
                                    </p:animScale>
                                    <p:animScale>
                                      <p:cBhvr>
                                        <p:cTn id="130" dur="166" decel="50000">
                                          <p:stCondLst>
                                            <p:cond delay="676"/>
                                          </p:stCondLst>
                                        </p:cTn>
                                        <p:tgtEl>
                                          <p:spTgt spid="16"/>
                                        </p:tgtEl>
                                      </p:cBhvr>
                                      <p:to x="100000" y="100000"/>
                                    </p:animScale>
                                    <p:animScale>
                                      <p:cBhvr>
                                        <p:cTn id="131" dur="26">
                                          <p:stCondLst>
                                            <p:cond delay="1312"/>
                                          </p:stCondLst>
                                        </p:cTn>
                                        <p:tgtEl>
                                          <p:spTgt spid="16"/>
                                        </p:tgtEl>
                                      </p:cBhvr>
                                      <p:to x="100000" y="80000"/>
                                    </p:animScale>
                                    <p:animScale>
                                      <p:cBhvr>
                                        <p:cTn id="132" dur="166" decel="50000">
                                          <p:stCondLst>
                                            <p:cond delay="1338"/>
                                          </p:stCondLst>
                                        </p:cTn>
                                        <p:tgtEl>
                                          <p:spTgt spid="16"/>
                                        </p:tgtEl>
                                      </p:cBhvr>
                                      <p:to x="100000" y="100000"/>
                                    </p:animScale>
                                    <p:animScale>
                                      <p:cBhvr>
                                        <p:cTn id="133" dur="26">
                                          <p:stCondLst>
                                            <p:cond delay="1642"/>
                                          </p:stCondLst>
                                        </p:cTn>
                                        <p:tgtEl>
                                          <p:spTgt spid="16"/>
                                        </p:tgtEl>
                                      </p:cBhvr>
                                      <p:to x="100000" y="90000"/>
                                    </p:animScale>
                                    <p:animScale>
                                      <p:cBhvr>
                                        <p:cTn id="134" dur="166" decel="50000">
                                          <p:stCondLst>
                                            <p:cond delay="1668"/>
                                          </p:stCondLst>
                                        </p:cTn>
                                        <p:tgtEl>
                                          <p:spTgt spid="16"/>
                                        </p:tgtEl>
                                      </p:cBhvr>
                                      <p:to x="100000" y="100000"/>
                                    </p:animScale>
                                    <p:animScale>
                                      <p:cBhvr>
                                        <p:cTn id="135" dur="26">
                                          <p:stCondLst>
                                            <p:cond delay="1808"/>
                                          </p:stCondLst>
                                        </p:cTn>
                                        <p:tgtEl>
                                          <p:spTgt spid="16"/>
                                        </p:tgtEl>
                                      </p:cBhvr>
                                      <p:to x="100000" y="95000"/>
                                    </p:animScale>
                                    <p:animScale>
                                      <p:cBhvr>
                                        <p:cTn id="136" dur="166" decel="50000">
                                          <p:stCondLst>
                                            <p:cond delay="1834"/>
                                          </p:stCondLst>
                                        </p:cTn>
                                        <p:tgtEl>
                                          <p:spTgt spid="16"/>
                                        </p:tgtEl>
                                      </p:cBhvr>
                                      <p:to x="100000" y="100000"/>
                                    </p:animScale>
                                  </p:childTnLst>
                                </p:cTn>
                              </p:par>
                            </p:childTnLst>
                          </p:cTn>
                        </p:par>
                      </p:childTnLst>
                    </p:cTn>
                  </p:par>
                  <p:par>
                    <p:cTn id="137" fill="hold">
                      <p:stCondLst>
                        <p:cond delay="indefinite"/>
                      </p:stCondLst>
                      <p:childTnLst>
                        <p:par>
                          <p:cTn id="138" fill="hold">
                            <p:stCondLst>
                              <p:cond delay="0"/>
                            </p:stCondLst>
                            <p:childTnLst>
                              <p:par>
                                <p:cTn id="139" presetID="20" presetClass="entr" presetSubtype="0" fill="hold" grpId="0" nodeType="clickEffect">
                                  <p:stCondLst>
                                    <p:cond delay="0"/>
                                  </p:stCondLst>
                                  <p:childTnLst>
                                    <p:set>
                                      <p:cBhvr>
                                        <p:cTn id="140" dur="1" fill="hold">
                                          <p:stCondLst>
                                            <p:cond delay="0"/>
                                          </p:stCondLst>
                                        </p:cTn>
                                        <p:tgtEl>
                                          <p:spTgt spid="17"/>
                                        </p:tgtEl>
                                        <p:attrNameLst>
                                          <p:attrName>style.visibility</p:attrName>
                                        </p:attrNameLst>
                                      </p:cBhvr>
                                      <p:to>
                                        <p:strVal val="visible"/>
                                      </p:to>
                                    </p:set>
                                    <p:animEffect transition="in" filter="wedge">
                                      <p:cBhvr>
                                        <p:cTn id="141"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2" grpId="0"/>
      <p:bldP spid="13" grpId="0"/>
      <p:bldP spid="14" grpId="0"/>
      <p:bldP spid="15" grpId="0"/>
      <p:bldP spid="16" grpId="0" animBg="1"/>
      <p:bldP spid="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85800" y="685800"/>
            <a:ext cx="6858000" cy="584775"/>
          </a:xfrm>
          <a:prstGeom prst="rect">
            <a:avLst/>
          </a:prstGeom>
        </p:spPr>
        <p:txBody>
          <a:bodyPr wrap="square">
            <a:spAutoFit/>
          </a:bodyPr>
          <a:lstStyle/>
          <a:p>
            <a:r>
              <a:rPr lang="en-US" sz="3200" dirty="0" smtClean="0"/>
              <a:t>3. What is the altitude of this figure?</a:t>
            </a:r>
          </a:p>
        </p:txBody>
      </p:sp>
      <p:sp>
        <p:nvSpPr>
          <p:cNvPr id="6" name="Parallelogram 5"/>
          <p:cNvSpPr/>
          <p:nvPr/>
        </p:nvSpPr>
        <p:spPr>
          <a:xfrm>
            <a:off x="2895600" y="2056606"/>
            <a:ext cx="3124200" cy="1828800"/>
          </a:xfrm>
          <a:prstGeom prst="parallelogram">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p:cNvCxnSpPr>
            <a:stCxn id="6" idx="0"/>
            <a:endCxn id="6" idx="4"/>
          </p:cNvCxnSpPr>
          <p:nvPr/>
        </p:nvCxnSpPr>
        <p:spPr>
          <a:xfrm rot="16200000" flipH="1">
            <a:off x="3543300" y="2971006"/>
            <a:ext cx="1828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352800" y="2056606"/>
            <a:ext cx="2209800" cy="1828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62940" y="1524000"/>
            <a:ext cx="399468" cy="523220"/>
          </a:xfrm>
          <a:prstGeom prst="rect">
            <a:avLst/>
          </a:prstGeom>
        </p:spPr>
        <p:txBody>
          <a:bodyPr wrap="none">
            <a:spAutoFit/>
          </a:bodyPr>
          <a:lstStyle/>
          <a:p>
            <a:r>
              <a:rPr lang="en-US" sz="2800" dirty="0" smtClean="0"/>
              <a:t>B</a:t>
            </a:r>
            <a:endParaRPr lang="en-US" sz="2800" dirty="0"/>
          </a:p>
        </p:txBody>
      </p:sp>
      <p:sp>
        <p:nvSpPr>
          <p:cNvPr id="10" name="Rectangle 9"/>
          <p:cNvSpPr/>
          <p:nvPr/>
        </p:nvSpPr>
        <p:spPr>
          <a:xfrm>
            <a:off x="4329740" y="1524000"/>
            <a:ext cx="418704" cy="523220"/>
          </a:xfrm>
          <a:prstGeom prst="rect">
            <a:avLst/>
          </a:prstGeom>
        </p:spPr>
        <p:txBody>
          <a:bodyPr wrap="none">
            <a:spAutoFit/>
          </a:bodyPr>
          <a:lstStyle/>
          <a:p>
            <a:r>
              <a:rPr lang="en-US" sz="2800" dirty="0" smtClean="0"/>
              <a:t>C</a:t>
            </a:r>
            <a:endParaRPr lang="en-US" sz="2800" dirty="0"/>
          </a:p>
        </p:txBody>
      </p:sp>
      <p:sp>
        <p:nvSpPr>
          <p:cNvPr id="11" name="Rectangle 10"/>
          <p:cNvSpPr/>
          <p:nvPr/>
        </p:nvSpPr>
        <p:spPr>
          <a:xfrm>
            <a:off x="6006140" y="1518940"/>
            <a:ext cx="453970" cy="523220"/>
          </a:xfrm>
          <a:prstGeom prst="rect">
            <a:avLst/>
          </a:prstGeom>
        </p:spPr>
        <p:txBody>
          <a:bodyPr wrap="none">
            <a:spAutoFit/>
          </a:bodyPr>
          <a:lstStyle/>
          <a:p>
            <a:r>
              <a:rPr lang="en-US" sz="2800" dirty="0" smtClean="0"/>
              <a:t>D</a:t>
            </a:r>
            <a:endParaRPr lang="en-US" sz="2800" dirty="0"/>
          </a:p>
        </p:txBody>
      </p:sp>
      <p:sp>
        <p:nvSpPr>
          <p:cNvPr id="12" name="Rectangle 11"/>
          <p:cNvSpPr/>
          <p:nvPr/>
        </p:nvSpPr>
        <p:spPr>
          <a:xfrm>
            <a:off x="2667000" y="3962400"/>
            <a:ext cx="393056" cy="523220"/>
          </a:xfrm>
          <a:prstGeom prst="rect">
            <a:avLst/>
          </a:prstGeom>
        </p:spPr>
        <p:txBody>
          <a:bodyPr wrap="none">
            <a:spAutoFit/>
          </a:bodyPr>
          <a:lstStyle/>
          <a:p>
            <a:r>
              <a:rPr lang="en-US" sz="2800" dirty="0" smtClean="0"/>
              <a:t>E</a:t>
            </a:r>
            <a:endParaRPr lang="en-US" sz="2800" dirty="0"/>
          </a:p>
        </p:txBody>
      </p:sp>
      <p:sp>
        <p:nvSpPr>
          <p:cNvPr id="13" name="Rectangle 12"/>
          <p:cNvSpPr/>
          <p:nvPr/>
        </p:nvSpPr>
        <p:spPr>
          <a:xfrm>
            <a:off x="4191000" y="3962400"/>
            <a:ext cx="383438" cy="523220"/>
          </a:xfrm>
          <a:prstGeom prst="rect">
            <a:avLst/>
          </a:prstGeom>
        </p:spPr>
        <p:txBody>
          <a:bodyPr wrap="none">
            <a:spAutoFit/>
          </a:bodyPr>
          <a:lstStyle/>
          <a:p>
            <a:r>
              <a:rPr lang="en-US" sz="2800" dirty="0" smtClean="0"/>
              <a:t>F</a:t>
            </a:r>
            <a:endParaRPr lang="en-US" sz="2800" dirty="0"/>
          </a:p>
        </p:txBody>
      </p:sp>
      <p:sp>
        <p:nvSpPr>
          <p:cNvPr id="14" name="Rectangle 13"/>
          <p:cNvSpPr/>
          <p:nvPr/>
        </p:nvSpPr>
        <p:spPr>
          <a:xfrm>
            <a:off x="5458314" y="3962400"/>
            <a:ext cx="436338" cy="523220"/>
          </a:xfrm>
          <a:prstGeom prst="rect">
            <a:avLst/>
          </a:prstGeom>
        </p:spPr>
        <p:txBody>
          <a:bodyPr wrap="none">
            <a:spAutoFit/>
          </a:bodyPr>
          <a:lstStyle/>
          <a:p>
            <a:r>
              <a:rPr lang="en-US" sz="2800" dirty="0" smtClean="0"/>
              <a:t>G</a:t>
            </a:r>
            <a:endParaRPr lang="en-US" sz="2800" dirty="0"/>
          </a:p>
        </p:txBody>
      </p:sp>
      <p:sp>
        <p:nvSpPr>
          <p:cNvPr id="15" name="Rectangle 14"/>
          <p:cNvSpPr/>
          <p:nvPr/>
        </p:nvSpPr>
        <p:spPr>
          <a:xfrm>
            <a:off x="1623102" y="4520625"/>
            <a:ext cx="1143262" cy="584775"/>
          </a:xfrm>
          <a:prstGeom prst="rect">
            <a:avLst/>
          </a:prstGeom>
        </p:spPr>
        <p:txBody>
          <a:bodyPr wrap="none">
            <a:spAutoFit/>
          </a:bodyPr>
          <a:lstStyle/>
          <a:p>
            <a:r>
              <a:rPr lang="en-US" sz="3200" dirty="0" smtClean="0"/>
              <a:t>a. BD</a:t>
            </a:r>
            <a:endParaRPr lang="en-US" sz="3200" dirty="0"/>
          </a:p>
        </p:txBody>
      </p:sp>
      <p:sp>
        <p:nvSpPr>
          <p:cNvPr id="16" name="Rectangle 15"/>
          <p:cNvSpPr/>
          <p:nvPr/>
        </p:nvSpPr>
        <p:spPr>
          <a:xfrm>
            <a:off x="1574475" y="5206425"/>
            <a:ext cx="1109791" cy="584775"/>
          </a:xfrm>
          <a:prstGeom prst="rect">
            <a:avLst/>
          </a:prstGeom>
        </p:spPr>
        <p:txBody>
          <a:bodyPr wrap="none">
            <a:spAutoFit/>
          </a:bodyPr>
          <a:lstStyle/>
          <a:p>
            <a:r>
              <a:rPr lang="en-US" sz="3200" dirty="0" smtClean="0"/>
              <a:t>b. BE</a:t>
            </a:r>
            <a:endParaRPr lang="en-US" sz="3200" dirty="0"/>
          </a:p>
        </p:txBody>
      </p:sp>
      <p:sp>
        <p:nvSpPr>
          <p:cNvPr id="17" name="Rectangle 16"/>
          <p:cNvSpPr/>
          <p:nvPr/>
        </p:nvSpPr>
        <p:spPr>
          <a:xfrm>
            <a:off x="4698675" y="4520625"/>
            <a:ext cx="1155253" cy="584775"/>
          </a:xfrm>
          <a:prstGeom prst="rect">
            <a:avLst/>
          </a:prstGeom>
        </p:spPr>
        <p:txBody>
          <a:bodyPr wrap="none">
            <a:spAutoFit/>
          </a:bodyPr>
          <a:lstStyle/>
          <a:p>
            <a:r>
              <a:rPr lang="en-US" sz="3200" dirty="0" smtClean="0"/>
              <a:t>c. BG</a:t>
            </a:r>
            <a:endParaRPr lang="en-US" sz="3200" dirty="0"/>
          </a:p>
        </p:txBody>
      </p:sp>
      <p:sp>
        <p:nvSpPr>
          <p:cNvPr id="18" name="Rectangle 17"/>
          <p:cNvSpPr/>
          <p:nvPr/>
        </p:nvSpPr>
        <p:spPr>
          <a:xfrm>
            <a:off x="4622475" y="5282625"/>
            <a:ext cx="1114408" cy="584775"/>
          </a:xfrm>
          <a:prstGeom prst="rect">
            <a:avLst/>
          </a:prstGeom>
        </p:spPr>
        <p:txBody>
          <a:bodyPr wrap="none">
            <a:spAutoFit/>
          </a:bodyPr>
          <a:lstStyle/>
          <a:p>
            <a:r>
              <a:rPr lang="en-US" sz="3200" dirty="0" smtClean="0"/>
              <a:t>d. CF</a:t>
            </a:r>
          </a:p>
        </p:txBody>
      </p:sp>
      <p:sp>
        <p:nvSpPr>
          <p:cNvPr id="19" name="Rounded Rectangle 18"/>
          <p:cNvSpPr/>
          <p:nvPr/>
        </p:nvSpPr>
        <p:spPr>
          <a:xfrm>
            <a:off x="4572000" y="5257800"/>
            <a:ext cx="11430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20" name="Straight Connector 19"/>
          <p:cNvCxnSpPr/>
          <p:nvPr/>
        </p:nvCxnSpPr>
        <p:spPr>
          <a:xfrm flipH="1">
            <a:off x="2044700" y="4610100"/>
            <a:ext cx="54864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006600" y="5295900"/>
            <a:ext cx="54864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029200" y="5372100"/>
            <a:ext cx="54864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5105400" y="4622800"/>
            <a:ext cx="54864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80">
                                          <p:stCondLst>
                                            <p:cond delay="0"/>
                                          </p:stCondLst>
                                        </p:cTn>
                                        <p:tgtEl>
                                          <p:spTgt spid="8"/>
                                        </p:tgtEl>
                                      </p:cBhvr>
                                    </p:animEffect>
                                    <p:anim calcmode="lin" valueType="num">
                                      <p:cBhvr>
                                        <p:cTn id="4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1" dur="26">
                                          <p:stCondLst>
                                            <p:cond delay="650"/>
                                          </p:stCondLst>
                                        </p:cTn>
                                        <p:tgtEl>
                                          <p:spTgt spid="8"/>
                                        </p:tgtEl>
                                      </p:cBhvr>
                                      <p:to x="100000" y="60000"/>
                                    </p:animScale>
                                    <p:animScale>
                                      <p:cBhvr>
                                        <p:cTn id="52" dur="166" decel="50000">
                                          <p:stCondLst>
                                            <p:cond delay="676"/>
                                          </p:stCondLst>
                                        </p:cTn>
                                        <p:tgtEl>
                                          <p:spTgt spid="8"/>
                                        </p:tgtEl>
                                      </p:cBhvr>
                                      <p:to x="100000" y="100000"/>
                                    </p:animScale>
                                    <p:animScale>
                                      <p:cBhvr>
                                        <p:cTn id="53" dur="26">
                                          <p:stCondLst>
                                            <p:cond delay="1312"/>
                                          </p:stCondLst>
                                        </p:cTn>
                                        <p:tgtEl>
                                          <p:spTgt spid="8"/>
                                        </p:tgtEl>
                                      </p:cBhvr>
                                      <p:to x="100000" y="80000"/>
                                    </p:animScale>
                                    <p:animScale>
                                      <p:cBhvr>
                                        <p:cTn id="54" dur="166" decel="50000">
                                          <p:stCondLst>
                                            <p:cond delay="1338"/>
                                          </p:stCondLst>
                                        </p:cTn>
                                        <p:tgtEl>
                                          <p:spTgt spid="8"/>
                                        </p:tgtEl>
                                      </p:cBhvr>
                                      <p:to x="100000" y="100000"/>
                                    </p:animScale>
                                    <p:animScale>
                                      <p:cBhvr>
                                        <p:cTn id="55" dur="26">
                                          <p:stCondLst>
                                            <p:cond delay="1642"/>
                                          </p:stCondLst>
                                        </p:cTn>
                                        <p:tgtEl>
                                          <p:spTgt spid="8"/>
                                        </p:tgtEl>
                                      </p:cBhvr>
                                      <p:to x="100000" y="90000"/>
                                    </p:animScale>
                                    <p:animScale>
                                      <p:cBhvr>
                                        <p:cTn id="56" dur="166" decel="50000">
                                          <p:stCondLst>
                                            <p:cond delay="1668"/>
                                          </p:stCondLst>
                                        </p:cTn>
                                        <p:tgtEl>
                                          <p:spTgt spid="8"/>
                                        </p:tgtEl>
                                      </p:cBhvr>
                                      <p:to x="100000" y="100000"/>
                                    </p:animScale>
                                    <p:animScale>
                                      <p:cBhvr>
                                        <p:cTn id="57" dur="26">
                                          <p:stCondLst>
                                            <p:cond delay="1808"/>
                                          </p:stCondLst>
                                        </p:cTn>
                                        <p:tgtEl>
                                          <p:spTgt spid="8"/>
                                        </p:tgtEl>
                                      </p:cBhvr>
                                      <p:to x="100000" y="95000"/>
                                    </p:animScale>
                                    <p:animScale>
                                      <p:cBhvr>
                                        <p:cTn id="58" dur="166" decel="50000">
                                          <p:stCondLst>
                                            <p:cond delay="1834"/>
                                          </p:stCondLst>
                                        </p:cTn>
                                        <p:tgtEl>
                                          <p:spTgt spid="8"/>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wipe(down)">
                                      <p:cBhvr>
                                        <p:cTn id="61" dur="580">
                                          <p:stCondLst>
                                            <p:cond delay="0"/>
                                          </p:stCondLst>
                                        </p:cTn>
                                        <p:tgtEl>
                                          <p:spTgt spid="9"/>
                                        </p:tgtEl>
                                      </p:cBhvr>
                                    </p:animEffect>
                                    <p:anim calcmode="lin" valueType="num">
                                      <p:cBhvr>
                                        <p:cTn id="62"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67" dur="26">
                                          <p:stCondLst>
                                            <p:cond delay="650"/>
                                          </p:stCondLst>
                                        </p:cTn>
                                        <p:tgtEl>
                                          <p:spTgt spid="9"/>
                                        </p:tgtEl>
                                      </p:cBhvr>
                                      <p:to x="100000" y="60000"/>
                                    </p:animScale>
                                    <p:animScale>
                                      <p:cBhvr>
                                        <p:cTn id="68" dur="166" decel="50000">
                                          <p:stCondLst>
                                            <p:cond delay="676"/>
                                          </p:stCondLst>
                                        </p:cTn>
                                        <p:tgtEl>
                                          <p:spTgt spid="9"/>
                                        </p:tgtEl>
                                      </p:cBhvr>
                                      <p:to x="100000" y="100000"/>
                                    </p:animScale>
                                    <p:animScale>
                                      <p:cBhvr>
                                        <p:cTn id="69" dur="26">
                                          <p:stCondLst>
                                            <p:cond delay="1312"/>
                                          </p:stCondLst>
                                        </p:cTn>
                                        <p:tgtEl>
                                          <p:spTgt spid="9"/>
                                        </p:tgtEl>
                                      </p:cBhvr>
                                      <p:to x="100000" y="80000"/>
                                    </p:animScale>
                                    <p:animScale>
                                      <p:cBhvr>
                                        <p:cTn id="70" dur="166" decel="50000">
                                          <p:stCondLst>
                                            <p:cond delay="1338"/>
                                          </p:stCondLst>
                                        </p:cTn>
                                        <p:tgtEl>
                                          <p:spTgt spid="9"/>
                                        </p:tgtEl>
                                      </p:cBhvr>
                                      <p:to x="100000" y="100000"/>
                                    </p:animScale>
                                    <p:animScale>
                                      <p:cBhvr>
                                        <p:cTn id="71" dur="26">
                                          <p:stCondLst>
                                            <p:cond delay="1642"/>
                                          </p:stCondLst>
                                        </p:cTn>
                                        <p:tgtEl>
                                          <p:spTgt spid="9"/>
                                        </p:tgtEl>
                                      </p:cBhvr>
                                      <p:to x="100000" y="90000"/>
                                    </p:animScale>
                                    <p:animScale>
                                      <p:cBhvr>
                                        <p:cTn id="72" dur="166" decel="50000">
                                          <p:stCondLst>
                                            <p:cond delay="1668"/>
                                          </p:stCondLst>
                                        </p:cTn>
                                        <p:tgtEl>
                                          <p:spTgt spid="9"/>
                                        </p:tgtEl>
                                      </p:cBhvr>
                                      <p:to x="100000" y="100000"/>
                                    </p:animScale>
                                    <p:animScale>
                                      <p:cBhvr>
                                        <p:cTn id="73" dur="26">
                                          <p:stCondLst>
                                            <p:cond delay="1808"/>
                                          </p:stCondLst>
                                        </p:cTn>
                                        <p:tgtEl>
                                          <p:spTgt spid="9"/>
                                        </p:tgtEl>
                                      </p:cBhvr>
                                      <p:to x="100000" y="95000"/>
                                    </p:animScale>
                                    <p:animScale>
                                      <p:cBhvr>
                                        <p:cTn id="74" dur="166" decel="50000">
                                          <p:stCondLst>
                                            <p:cond delay="1834"/>
                                          </p:stCondLst>
                                        </p:cTn>
                                        <p:tgtEl>
                                          <p:spTgt spid="9"/>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wipe(down)">
                                      <p:cBhvr>
                                        <p:cTn id="77" dur="580">
                                          <p:stCondLst>
                                            <p:cond delay="0"/>
                                          </p:stCondLst>
                                        </p:cTn>
                                        <p:tgtEl>
                                          <p:spTgt spid="10"/>
                                        </p:tgtEl>
                                      </p:cBhvr>
                                    </p:animEffect>
                                    <p:anim calcmode="lin" valueType="num">
                                      <p:cBhvr>
                                        <p:cTn id="7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83" dur="26">
                                          <p:stCondLst>
                                            <p:cond delay="650"/>
                                          </p:stCondLst>
                                        </p:cTn>
                                        <p:tgtEl>
                                          <p:spTgt spid="10"/>
                                        </p:tgtEl>
                                      </p:cBhvr>
                                      <p:to x="100000" y="60000"/>
                                    </p:animScale>
                                    <p:animScale>
                                      <p:cBhvr>
                                        <p:cTn id="84" dur="166" decel="50000">
                                          <p:stCondLst>
                                            <p:cond delay="676"/>
                                          </p:stCondLst>
                                        </p:cTn>
                                        <p:tgtEl>
                                          <p:spTgt spid="10"/>
                                        </p:tgtEl>
                                      </p:cBhvr>
                                      <p:to x="100000" y="100000"/>
                                    </p:animScale>
                                    <p:animScale>
                                      <p:cBhvr>
                                        <p:cTn id="85" dur="26">
                                          <p:stCondLst>
                                            <p:cond delay="1312"/>
                                          </p:stCondLst>
                                        </p:cTn>
                                        <p:tgtEl>
                                          <p:spTgt spid="10"/>
                                        </p:tgtEl>
                                      </p:cBhvr>
                                      <p:to x="100000" y="80000"/>
                                    </p:animScale>
                                    <p:animScale>
                                      <p:cBhvr>
                                        <p:cTn id="86" dur="166" decel="50000">
                                          <p:stCondLst>
                                            <p:cond delay="1338"/>
                                          </p:stCondLst>
                                        </p:cTn>
                                        <p:tgtEl>
                                          <p:spTgt spid="10"/>
                                        </p:tgtEl>
                                      </p:cBhvr>
                                      <p:to x="100000" y="100000"/>
                                    </p:animScale>
                                    <p:animScale>
                                      <p:cBhvr>
                                        <p:cTn id="87" dur="26">
                                          <p:stCondLst>
                                            <p:cond delay="1642"/>
                                          </p:stCondLst>
                                        </p:cTn>
                                        <p:tgtEl>
                                          <p:spTgt spid="10"/>
                                        </p:tgtEl>
                                      </p:cBhvr>
                                      <p:to x="100000" y="90000"/>
                                    </p:animScale>
                                    <p:animScale>
                                      <p:cBhvr>
                                        <p:cTn id="88" dur="166" decel="50000">
                                          <p:stCondLst>
                                            <p:cond delay="1668"/>
                                          </p:stCondLst>
                                        </p:cTn>
                                        <p:tgtEl>
                                          <p:spTgt spid="10"/>
                                        </p:tgtEl>
                                      </p:cBhvr>
                                      <p:to x="100000" y="100000"/>
                                    </p:animScale>
                                    <p:animScale>
                                      <p:cBhvr>
                                        <p:cTn id="89" dur="26">
                                          <p:stCondLst>
                                            <p:cond delay="1808"/>
                                          </p:stCondLst>
                                        </p:cTn>
                                        <p:tgtEl>
                                          <p:spTgt spid="10"/>
                                        </p:tgtEl>
                                      </p:cBhvr>
                                      <p:to x="100000" y="95000"/>
                                    </p:animScale>
                                    <p:animScale>
                                      <p:cBhvr>
                                        <p:cTn id="90" dur="166" decel="50000">
                                          <p:stCondLst>
                                            <p:cond delay="1834"/>
                                          </p:stCondLst>
                                        </p:cTn>
                                        <p:tgtEl>
                                          <p:spTgt spid="10"/>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wipe(down)">
                                      <p:cBhvr>
                                        <p:cTn id="93" dur="580">
                                          <p:stCondLst>
                                            <p:cond delay="0"/>
                                          </p:stCondLst>
                                        </p:cTn>
                                        <p:tgtEl>
                                          <p:spTgt spid="11"/>
                                        </p:tgtEl>
                                      </p:cBhvr>
                                    </p:animEffect>
                                    <p:anim calcmode="lin" valueType="num">
                                      <p:cBhvr>
                                        <p:cTn id="9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99" dur="26">
                                          <p:stCondLst>
                                            <p:cond delay="650"/>
                                          </p:stCondLst>
                                        </p:cTn>
                                        <p:tgtEl>
                                          <p:spTgt spid="11"/>
                                        </p:tgtEl>
                                      </p:cBhvr>
                                      <p:to x="100000" y="60000"/>
                                    </p:animScale>
                                    <p:animScale>
                                      <p:cBhvr>
                                        <p:cTn id="100" dur="166" decel="50000">
                                          <p:stCondLst>
                                            <p:cond delay="676"/>
                                          </p:stCondLst>
                                        </p:cTn>
                                        <p:tgtEl>
                                          <p:spTgt spid="11"/>
                                        </p:tgtEl>
                                      </p:cBhvr>
                                      <p:to x="100000" y="100000"/>
                                    </p:animScale>
                                    <p:animScale>
                                      <p:cBhvr>
                                        <p:cTn id="101" dur="26">
                                          <p:stCondLst>
                                            <p:cond delay="1312"/>
                                          </p:stCondLst>
                                        </p:cTn>
                                        <p:tgtEl>
                                          <p:spTgt spid="11"/>
                                        </p:tgtEl>
                                      </p:cBhvr>
                                      <p:to x="100000" y="80000"/>
                                    </p:animScale>
                                    <p:animScale>
                                      <p:cBhvr>
                                        <p:cTn id="102" dur="166" decel="50000">
                                          <p:stCondLst>
                                            <p:cond delay="1338"/>
                                          </p:stCondLst>
                                        </p:cTn>
                                        <p:tgtEl>
                                          <p:spTgt spid="11"/>
                                        </p:tgtEl>
                                      </p:cBhvr>
                                      <p:to x="100000" y="100000"/>
                                    </p:animScale>
                                    <p:animScale>
                                      <p:cBhvr>
                                        <p:cTn id="103" dur="26">
                                          <p:stCondLst>
                                            <p:cond delay="1642"/>
                                          </p:stCondLst>
                                        </p:cTn>
                                        <p:tgtEl>
                                          <p:spTgt spid="11"/>
                                        </p:tgtEl>
                                      </p:cBhvr>
                                      <p:to x="100000" y="90000"/>
                                    </p:animScale>
                                    <p:animScale>
                                      <p:cBhvr>
                                        <p:cTn id="104" dur="166" decel="50000">
                                          <p:stCondLst>
                                            <p:cond delay="1668"/>
                                          </p:stCondLst>
                                        </p:cTn>
                                        <p:tgtEl>
                                          <p:spTgt spid="11"/>
                                        </p:tgtEl>
                                      </p:cBhvr>
                                      <p:to x="100000" y="100000"/>
                                    </p:animScale>
                                    <p:animScale>
                                      <p:cBhvr>
                                        <p:cTn id="105" dur="26">
                                          <p:stCondLst>
                                            <p:cond delay="1808"/>
                                          </p:stCondLst>
                                        </p:cTn>
                                        <p:tgtEl>
                                          <p:spTgt spid="11"/>
                                        </p:tgtEl>
                                      </p:cBhvr>
                                      <p:to x="100000" y="95000"/>
                                    </p:animScale>
                                    <p:animScale>
                                      <p:cBhvr>
                                        <p:cTn id="106" dur="166" decel="50000">
                                          <p:stCondLst>
                                            <p:cond delay="1834"/>
                                          </p:stCondLst>
                                        </p:cTn>
                                        <p:tgtEl>
                                          <p:spTgt spid="11"/>
                                        </p:tgtEl>
                                      </p:cBhvr>
                                      <p:to x="100000" y="100000"/>
                                    </p:animScale>
                                  </p:childTnLst>
                                </p:cTn>
                              </p:par>
                              <p:par>
                                <p:cTn id="107" presetID="26" presetClass="entr" presetSubtype="0" fill="hold" grpId="0" nodeType="with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wipe(down)">
                                      <p:cBhvr>
                                        <p:cTn id="109" dur="580">
                                          <p:stCondLst>
                                            <p:cond delay="0"/>
                                          </p:stCondLst>
                                        </p:cTn>
                                        <p:tgtEl>
                                          <p:spTgt spid="12"/>
                                        </p:tgtEl>
                                      </p:cBhvr>
                                    </p:animEffect>
                                    <p:anim calcmode="lin" valueType="num">
                                      <p:cBhvr>
                                        <p:cTn id="110"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15" dur="26">
                                          <p:stCondLst>
                                            <p:cond delay="650"/>
                                          </p:stCondLst>
                                        </p:cTn>
                                        <p:tgtEl>
                                          <p:spTgt spid="12"/>
                                        </p:tgtEl>
                                      </p:cBhvr>
                                      <p:to x="100000" y="60000"/>
                                    </p:animScale>
                                    <p:animScale>
                                      <p:cBhvr>
                                        <p:cTn id="116" dur="166" decel="50000">
                                          <p:stCondLst>
                                            <p:cond delay="676"/>
                                          </p:stCondLst>
                                        </p:cTn>
                                        <p:tgtEl>
                                          <p:spTgt spid="12"/>
                                        </p:tgtEl>
                                      </p:cBhvr>
                                      <p:to x="100000" y="100000"/>
                                    </p:animScale>
                                    <p:animScale>
                                      <p:cBhvr>
                                        <p:cTn id="117" dur="26">
                                          <p:stCondLst>
                                            <p:cond delay="1312"/>
                                          </p:stCondLst>
                                        </p:cTn>
                                        <p:tgtEl>
                                          <p:spTgt spid="12"/>
                                        </p:tgtEl>
                                      </p:cBhvr>
                                      <p:to x="100000" y="80000"/>
                                    </p:animScale>
                                    <p:animScale>
                                      <p:cBhvr>
                                        <p:cTn id="118" dur="166" decel="50000">
                                          <p:stCondLst>
                                            <p:cond delay="1338"/>
                                          </p:stCondLst>
                                        </p:cTn>
                                        <p:tgtEl>
                                          <p:spTgt spid="12"/>
                                        </p:tgtEl>
                                      </p:cBhvr>
                                      <p:to x="100000" y="100000"/>
                                    </p:animScale>
                                    <p:animScale>
                                      <p:cBhvr>
                                        <p:cTn id="119" dur="26">
                                          <p:stCondLst>
                                            <p:cond delay="1642"/>
                                          </p:stCondLst>
                                        </p:cTn>
                                        <p:tgtEl>
                                          <p:spTgt spid="12"/>
                                        </p:tgtEl>
                                      </p:cBhvr>
                                      <p:to x="100000" y="90000"/>
                                    </p:animScale>
                                    <p:animScale>
                                      <p:cBhvr>
                                        <p:cTn id="120" dur="166" decel="50000">
                                          <p:stCondLst>
                                            <p:cond delay="1668"/>
                                          </p:stCondLst>
                                        </p:cTn>
                                        <p:tgtEl>
                                          <p:spTgt spid="12"/>
                                        </p:tgtEl>
                                      </p:cBhvr>
                                      <p:to x="100000" y="100000"/>
                                    </p:animScale>
                                    <p:animScale>
                                      <p:cBhvr>
                                        <p:cTn id="121" dur="26">
                                          <p:stCondLst>
                                            <p:cond delay="1808"/>
                                          </p:stCondLst>
                                        </p:cTn>
                                        <p:tgtEl>
                                          <p:spTgt spid="12"/>
                                        </p:tgtEl>
                                      </p:cBhvr>
                                      <p:to x="100000" y="95000"/>
                                    </p:animScale>
                                    <p:animScale>
                                      <p:cBhvr>
                                        <p:cTn id="122" dur="166" decel="50000">
                                          <p:stCondLst>
                                            <p:cond delay="1834"/>
                                          </p:stCondLst>
                                        </p:cTn>
                                        <p:tgtEl>
                                          <p:spTgt spid="12"/>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13"/>
                                        </p:tgtEl>
                                        <p:attrNameLst>
                                          <p:attrName>style.visibility</p:attrName>
                                        </p:attrNameLst>
                                      </p:cBhvr>
                                      <p:to>
                                        <p:strVal val="visible"/>
                                      </p:to>
                                    </p:set>
                                    <p:animEffect transition="in" filter="wipe(down)">
                                      <p:cBhvr>
                                        <p:cTn id="125" dur="580">
                                          <p:stCondLst>
                                            <p:cond delay="0"/>
                                          </p:stCondLst>
                                        </p:cTn>
                                        <p:tgtEl>
                                          <p:spTgt spid="13"/>
                                        </p:tgtEl>
                                      </p:cBhvr>
                                    </p:animEffect>
                                    <p:anim calcmode="lin" valueType="num">
                                      <p:cBhvr>
                                        <p:cTn id="12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31" dur="26">
                                          <p:stCondLst>
                                            <p:cond delay="650"/>
                                          </p:stCondLst>
                                        </p:cTn>
                                        <p:tgtEl>
                                          <p:spTgt spid="13"/>
                                        </p:tgtEl>
                                      </p:cBhvr>
                                      <p:to x="100000" y="60000"/>
                                    </p:animScale>
                                    <p:animScale>
                                      <p:cBhvr>
                                        <p:cTn id="132" dur="166" decel="50000">
                                          <p:stCondLst>
                                            <p:cond delay="676"/>
                                          </p:stCondLst>
                                        </p:cTn>
                                        <p:tgtEl>
                                          <p:spTgt spid="13"/>
                                        </p:tgtEl>
                                      </p:cBhvr>
                                      <p:to x="100000" y="100000"/>
                                    </p:animScale>
                                    <p:animScale>
                                      <p:cBhvr>
                                        <p:cTn id="133" dur="26">
                                          <p:stCondLst>
                                            <p:cond delay="1312"/>
                                          </p:stCondLst>
                                        </p:cTn>
                                        <p:tgtEl>
                                          <p:spTgt spid="13"/>
                                        </p:tgtEl>
                                      </p:cBhvr>
                                      <p:to x="100000" y="80000"/>
                                    </p:animScale>
                                    <p:animScale>
                                      <p:cBhvr>
                                        <p:cTn id="134" dur="166" decel="50000">
                                          <p:stCondLst>
                                            <p:cond delay="1338"/>
                                          </p:stCondLst>
                                        </p:cTn>
                                        <p:tgtEl>
                                          <p:spTgt spid="13"/>
                                        </p:tgtEl>
                                      </p:cBhvr>
                                      <p:to x="100000" y="100000"/>
                                    </p:animScale>
                                    <p:animScale>
                                      <p:cBhvr>
                                        <p:cTn id="135" dur="26">
                                          <p:stCondLst>
                                            <p:cond delay="1642"/>
                                          </p:stCondLst>
                                        </p:cTn>
                                        <p:tgtEl>
                                          <p:spTgt spid="13"/>
                                        </p:tgtEl>
                                      </p:cBhvr>
                                      <p:to x="100000" y="90000"/>
                                    </p:animScale>
                                    <p:animScale>
                                      <p:cBhvr>
                                        <p:cTn id="136" dur="166" decel="50000">
                                          <p:stCondLst>
                                            <p:cond delay="1668"/>
                                          </p:stCondLst>
                                        </p:cTn>
                                        <p:tgtEl>
                                          <p:spTgt spid="13"/>
                                        </p:tgtEl>
                                      </p:cBhvr>
                                      <p:to x="100000" y="100000"/>
                                    </p:animScale>
                                    <p:animScale>
                                      <p:cBhvr>
                                        <p:cTn id="137" dur="26">
                                          <p:stCondLst>
                                            <p:cond delay="1808"/>
                                          </p:stCondLst>
                                        </p:cTn>
                                        <p:tgtEl>
                                          <p:spTgt spid="13"/>
                                        </p:tgtEl>
                                      </p:cBhvr>
                                      <p:to x="100000" y="95000"/>
                                    </p:animScale>
                                    <p:animScale>
                                      <p:cBhvr>
                                        <p:cTn id="138" dur="166" decel="50000">
                                          <p:stCondLst>
                                            <p:cond delay="1834"/>
                                          </p:stCondLst>
                                        </p:cTn>
                                        <p:tgtEl>
                                          <p:spTgt spid="13"/>
                                        </p:tgtEl>
                                      </p:cBhvr>
                                      <p:to x="100000" y="100000"/>
                                    </p:animScale>
                                  </p:childTnLst>
                                </p:cTn>
                              </p:par>
                              <p:par>
                                <p:cTn id="139" presetID="26" presetClass="entr" presetSubtype="0" fill="hold" grpId="0" nodeType="withEffect">
                                  <p:stCondLst>
                                    <p:cond delay="0"/>
                                  </p:stCondLst>
                                  <p:childTnLst>
                                    <p:set>
                                      <p:cBhvr>
                                        <p:cTn id="140" dur="1" fill="hold">
                                          <p:stCondLst>
                                            <p:cond delay="0"/>
                                          </p:stCondLst>
                                        </p:cTn>
                                        <p:tgtEl>
                                          <p:spTgt spid="14"/>
                                        </p:tgtEl>
                                        <p:attrNameLst>
                                          <p:attrName>style.visibility</p:attrName>
                                        </p:attrNameLst>
                                      </p:cBhvr>
                                      <p:to>
                                        <p:strVal val="visible"/>
                                      </p:to>
                                    </p:set>
                                    <p:animEffect transition="in" filter="wipe(down)">
                                      <p:cBhvr>
                                        <p:cTn id="141" dur="580">
                                          <p:stCondLst>
                                            <p:cond delay="0"/>
                                          </p:stCondLst>
                                        </p:cTn>
                                        <p:tgtEl>
                                          <p:spTgt spid="14"/>
                                        </p:tgtEl>
                                      </p:cBhvr>
                                    </p:animEffect>
                                    <p:anim calcmode="lin" valueType="num">
                                      <p:cBhvr>
                                        <p:cTn id="142"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47" dur="26">
                                          <p:stCondLst>
                                            <p:cond delay="650"/>
                                          </p:stCondLst>
                                        </p:cTn>
                                        <p:tgtEl>
                                          <p:spTgt spid="14"/>
                                        </p:tgtEl>
                                      </p:cBhvr>
                                      <p:to x="100000" y="60000"/>
                                    </p:animScale>
                                    <p:animScale>
                                      <p:cBhvr>
                                        <p:cTn id="148" dur="166" decel="50000">
                                          <p:stCondLst>
                                            <p:cond delay="676"/>
                                          </p:stCondLst>
                                        </p:cTn>
                                        <p:tgtEl>
                                          <p:spTgt spid="14"/>
                                        </p:tgtEl>
                                      </p:cBhvr>
                                      <p:to x="100000" y="100000"/>
                                    </p:animScale>
                                    <p:animScale>
                                      <p:cBhvr>
                                        <p:cTn id="149" dur="26">
                                          <p:stCondLst>
                                            <p:cond delay="1312"/>
                                          </p:stCondLst>
                                        </p:cTn>
                                        <p:tgtEl>
                                          <p:spTgt spid="14"/>
                                        </p:tgtEl>
                                      </p:cBhvr>
                                      <p:to x="100000" y="80000"/>
                                    </p:animScale>
                                    <p:animScale>
                                      <p:cBhvr>
                                        <p:cTn id="150" dur="166" decel="50000">
                                          <p:stCondLst>
                                            <p:cond delay="1338"/>
                                          </p:stCondLst>
                                        </p:cTn>
                                        <p:tgtEl>
                                          <p:spTgt spid="14"/>
                                        </p:tgtEl>
                                      </p:cBhvr>
                                      <p:to x="100000" y="100000"/>
                                    </p:animScale>
                                    <p:animScale>
                                      <p:cBhvr>
                                        <p:cTn id="151" dur="26">
                                          <p:stCondLst>
                                            <p:cond delay="1642"/>
                                          </p:stCondLst>
                                        </p:cTn>
                                        <p:tgtEl>
                                          <p:spTgt spid="14"/>
                                        </p:tgtEl>
                                      </p:cBhvr>
                                      <p:to x="100000" y="90000"/>
                                    </p:animScale>
                                    <p:animScale>
                                      <p:cBhvr>
                                        <p:cTn id="152" dur="166" decel="50000">
                                          <p:stCondLst>
                                            <p:cond delay="1668"/>
                                          </p:stCondLst>
                                        </p:cTn>
                                        <p:tgtEl>
                                          <p:spTgt spid="14"/>
                                        </p:tgtEl>
                                      </p:cBhvr>
                                      <p:to x="100000" y="100000"/>
                                    </p:animScale>
                                    <p:animScale>
                                      <p:cBhvr>
                                        <p:cTn id="153" dur="26">
                                          <p:stCondLst>
                                            <p:cond delay="1808"/>
                                          </p:stCondLst>
                                        </p:cTn>
                                        <p:tgtEl>
                                          <p:spTgt spid="14"/>
                                        </p:tgtEl>
                                      </p:cBhvr>
                                      <p:to x="100000" y="95000"/>
                                    </p:animScale>
                                    <p:animScale>
                                      <p:cBhvr>
                                        <p:cTn id="154" dur="166" decel="50000">
                                          <p:stCondLst>
                                            <p:cond delay="1834"/>
                                          </p:stCondLst>
                                        </p:cTn>
                                        <p:tgtEl>
                                          <p:spTgt spid="14"/>
                                        </p:tgtEl>
                                      </p:cBhvr>
                                      <p:to x="100000" y="100000"/>
                                    </p:animScale>
                                  </p:childTnLst>
                                </p:cTn>
                              </p:par>
                            </p:childTnLst>
                          </p:cTn>
                        </p:par>
                      </p:childTnLst>
                    </p:cTn>
                  </p:par>
                  <p:par>
                    <p:cTn id="155" fill="hold">
                      <p:stCondLst>
                        <p:cond delay="indefinite"/>
                      </p:stCondLst>
                      <p:childTnLst>
                        <p:par>
                          <p:cTn id="156" fill="hold">
                            <p:stCondLst>
                              <p:cond delay="0"/>
                            </p:stCondLst>
                            <p:childTnLst>
                              <p:par>
                                <p:cTn id="157" presetID="12" presetClass="entr" presetSubtype="4" fill="hold" grpId="0" nodeType="clickEffect">
                                  <p:stCondLst>
                                    <p:cond delay="0"/>
                                  </p:stCondLst>
                                  <p:childTnLst>
                                    <p:set>
                                      <p:cBhvr>
                                        <p:cTn id="158" dur="1" fill="hold">
                                          <p:stCondLst>
                                            <p:cond delay="0"/>
                                          </p:stCondLst>
                                        </p:cTn>
                                        <p:tgtEl>
                                          <p:spTgt spid="15"/>
                                        </p:tgtEl>
                                        <p:attrNameLst>
                                          <p:attrName>style.visibility</p:attrName>
                                        </p:attrNameLst>
                                      </p:cBhvr>
                                      <p:to>
                                        <p:strVal val="visible"/>
                                      </p:to>
                                    </p:set>
                                    <p:animEffect transition="in" filter="slide(fromBottom)">
                                      <p:cBhvr>
                                        <p:cTn id="159" dur="500"/>
                                        <p:tgtEl>
                                          <p:spTgt spid="15"/>
                                        </p:tgtEl>
                                      </p:cBhvr>
                                    </p:animEffect>
                                  </p:childTnLst>
                                </p:cTn>
                              </p:par>
                              <p:par>
                                <p:cTn id="160" presetID="12" presetClass="entr" presetSubtype="4" fill="hold" grpId="0" nodeType="withEffect">
                                  <p:stCondLst>
                                    <p:cond delay="0"/>
                                  </p:stCondLst>
                                  <p:childTnLst>
                                    <p:set>
                                      <p:cBhvr>
                                        <p:cTn id="161" dur="1" fill="hold">
                                          <p:stCondLst>
                                            <p:cond delay="0"/>
                                          </p:stCondLst>
                                        </p:cTn>
                                        <p:tgtEl>
                                          <p:spTgt spid="16"/>
                                        </p:tgtEl>
                                        <p:attrNameLst>
                                          <p:attrName>style.visibility</p:attrName>
                                        </p:attrNameLst>
                                      </p:cBhvr>
                                      <p:to>
                                        <p:strVal val="visible"/>
                                      </p:to>
                                    </p:set>
                                    <p:animEffect transition="in" filter="slide(fromBottom)">
                                      <p:cBhvr>
                                        <p:cTn id="162" dur="500"/>
                                        <p:tgtEl>
                                          <p:spTgt spid="16"/>
                                        </p:tgtEl>
                                      </p:cBhvr>
                                    </p:animEffect>
                                  </p:childTnLst>
                                </p:cTn>
                              </p:par>
                              <p:par>
                                <p:cTn id="163" presetID="12" presetClass="entr" presetSubtype="4" fill="hold" grpId="0" nodeType="withEffect">
                                  <p:stCondLst>
                                    <p:cond delay="0"/>
                                  </p:stCondLst>
                                  <p:childTnLst>
                                    <p:set>
                                      <p:cBhvr>
                                        <p:cTn id="164" dur="1" fill="hold">
                                          <p:stCondLst>
                                            <p:cond delay="0"/>
                                          </p:stCondLst>
                                        </p:cTn>
                                        <p:tgtEl>
                                          <p:spTgt spid="17"/>
                                        </p:tgtEl>
                                        <p:attrNameLst>
                                          <p:attrName>style.visibility</p:attrName>
                                        </p:attrNameLst>
                                      </p:cBhvr>
                                      <p:to>
                                        <p:strVal val="visible"/>
                                      </p:to>
                                    </p:set>
                                    <p:animEffect transition="in" filter="slide(fromBottom)">
                                      <p:cBhvr>
                                        <p:cTn id="165" dur="500"/>
                                        <p:tgtEl>
                                          <p:spTgt spid="17"/>
                                        </p:tgtEl>
                                      </p:cBhvr>
                                    </p:animEffect>
                                  </p:childTnLst>
                                </p:cTn>
                              </p:par>
                              <p:par>
                                <p:cTn id="166" presetID="12" presetClass="entr" presetSubtype="4" fill="hold" grpId="0" nodeType="withEffect">
                                  <p:stCondLst>
                                    <p:cond delay="0"/>
                                  </p:stCondLst>
                                  <p:childTnLst>
                                    <p:set>
                                      <p:cBhvr>
                                        <p:cTn id="167" dur="1" fill="hold">
                                          <p:stCondLst>
                                            <p:cond delay="0"/>
                                          </p:stCondLst>
                                        </p:cTn>
                                        <p:tgtEl>
                                          <p:spTgt spid="18"/>
                                        </p:tgtEl>
                                        <p:attrNameLst>
                                          <p:attrName>style.visibility</p:attrName>
                                        </p:attrNameLst>
                                      </p:cBhvr>
                                      <p:to>
                                        <p:strVal val="visible"/>
                                      </p:to>
                                    </p:set>
                                    <p:animEffect transition="in" filter="slide(fromBottom)">
                                      <p:cBhvr>
                                        <p:cTn id="168" dur="500"/>
                                        <p:tgtEl>
                                          <p:spTgt spid="18"/>
                                        </p:tgtEl>
                                      </p:cBhvr>
                                    </p:animEffect>
                                  </p:childTnLst>
                                </p:cTn>
                              </p:par>
                              <p:par>
                                <p:cTn id="169" presetID="12" presetClass="entr" presetSubtype="4" fill="hold" nodeType="withEffect">
                                  <p:stCondLst>
                                    <p:cond delay="0"/>
                                  </p:stCondLst>
                                  <p:childTnLst>
                                    <p:set>
                                      <p:cBhvr>
                                        <p:cTn id="170" dur="1" fill="hold">
                                          <p:stCondLst>
                                            <p:cond delay="0"/>
                                          </p:stCondLst>
                                        </p:cTn>
                                        <p:tgtEl>
                                          <p:spTgt spid="20"/>
                                        </p:tgtEl>
                                        <p:attrNameLst>
                                          <p:attrName>style.visibility</p:attrName>
                                        </p:attrNameLst>
                                      </p:cBhvr>
                                      <p:to>
                                        <p:strVal val="visible"/>
                                      </p:to>
                                    </p:set>
                                    <p:animEffect transition="in" filter="slide(fromBottom)">
                                      <p:cBhvr>
                                        <p:cTn id="171" dur="500"/>
                                        <p:tgtEl>
                                          <p:spTgt spid="20"/>
                                        </p:tgtEl>
                                      </p:cBhvr>
                                    </p:animEffect>
                                  </p:childTnLst>
                                </p:cTn>
                              </p:par>
                              <p:par>
                                <p:cTn id="172" presetID="12" presetClass="entr" presetSubtype="4" fill="hold" nodeType="withEffect">
                                  <p:stCondLst>
                                    <p:cond delay="0"/>
                                  </p:stCondLst>
                                  <p:childTnLst>
                                    <p:set>
                                      <p:cBhvr>
                                        <p:cTn id="173" dur="1" fill="hold">
                                          <p:stCondLst>
                                            <p:cond delay="0"/>
                                          </p:stCondLst>
                                        </p:cTn>
                                        <p:tgtEl>
                                          <p:spTgt spid="21"/>
                                        </p:tgtEl>
                                        <p:attrNameLst>
                                          <p:attrName>style.visibility</p:attrName>
                                        </p:attrNameLst>
                                      </p:cBhvr>
                                      <p:to>
                                        <p:strVal val="visible"/>
                                      </p:to>
                                    </p:set>
                                    <p:animEffect transition="in" filter="slide(fromBottom)">
                                      <p:cBhvr>
                                        <p:cTn id="174" dur="500"/>
                                        <p:tgtEl>
                                          <p:spTgt spid="21"/>
                                        </p:tgtEl>
                                      </p:cBhvr>
                                    </p:animEffect>
                                  </p:childTnLst>
                                </p:cTn>
                              </p:par>
                              <p:par>
                                <p:cTn id="175" presetID="12" presetClass="entr" presetSubtype="4" fill="hold" nodeType="withEffect">
                                  <p:stCondLst>
                                    <p:cond delay="0"/>
                                  </p:stCondLst>
                                  <p:childTnLst>
                                    <p:set>
                                      <p:cBhvr>
                                        <p:cTn id="176" dur="1" fill="hold">
                                          <p:stCondLst>
                                            <p:cond delay="0"/>
                                          </p:stCondLst>
                                        </p:cTn>
                                        <p:tgtEl>
                                          <p:spTgt spid="22"/>
                                        </p:tgtEl>
                                        <p:attrNameLst>
                                          <p:attrName>style.visibility</p:attrName>
                                        </p:attrNameLst>
                                      </p:cBhvr>
                                      <p:to>
                                        <p:strVal val="visible"/>
                                      </p:to>
                                    </p:set>
                                    <p:animEffect transition="in" filter="slide(fromBottom)">
                                      <p:cBhvr>
                                        <p:cTn id="177" dur="500"/>
                                        <p:tgtEl>
                                          <p:spTgt spid="22"/>
                                        </p:tgtEl>
                                      </p:cBhvr>
                                    </p:animEffect>
                                  </p:childTnLst>
                                </p:cTn>
                              </p:par>
                              <p:par>
                                <p:cTn id="178" presetID="12" presetClass="entr" presetSubtype="4" fill="hold" nodeType="withEffect">
                                  <p:stCondLst>
                                    <p:cond delay="0"/>
                                  </p:stCondLst>
                                  <p:childTnLst>
                                    <p:set>
                                      <p:cBhvr>
                                        <p:cTn id="179" dur="1" fill="hold">
                                          <p:stCondLst>
                                            <p:cond delay="0"/>
                                          </p:stCondLst>
                                        </p:cTn>
                                        <p:tgtEl>
                                          <p:spTgt spid="23"/>
                                        </p:tgtEl>
                                        <p:attrNameLst>
                                          <p:attrName>style.visibility</p:attrName>
                                        </p:attrNameLst>
                                      </p:cBhvr>
                                      <p:to>
                                        <p:strVal val="visible"/>
                                      </p:to>
                                    </p:set>
                                    <p:animEffect transition="in" filter="slide(fromBottom)">
                                      <p:cBhvr>
                                        <p:cTn id="180" dur="500"/>
                                        <p:tgtEl>
                                          <p:spTgt spid="23"/>
                                        </p:tgtEl>
                                      </p:cBhvr>
                                    </p:animEffect>
                                  </p:childTnLst>
                                </p:cTn>
                              </p:par>
                            </p:childTnLst>
                          </p:cTn>
                        </p:par>
                      </p:childTnLst>
                    </p:cTn>
                  </p:par>
                  <p:par>
                    <p:cTn id="181" fill="hold">
                      <p:stCondLst>
                        <p:cond delay="indefinite"/>
                      </p:stCondLst>
                      <p:childTnLst>
                        <p:par>
                          <p:cTn id="182" fill="hold">
                            <p:stCondLst>
                              <p:cond delay="0"/>
                            </p:stCondLst>
                            <p:childTnLst>
                              <p:par>
                                <p:cTn id="183" presetID="20" presetClass="entr" presetSubtype="0" fill="hold" grpId="0" nodeType="clickEffect">
                                  <p:stCondLst>
                                    <p:cond delay="0"/>
                                  </p:stCondLst>
                                  <p:childTnLst>
                                    <p:set>
                                      <p:cBhvr>
                                        <p:cTn id="184" dur="1" fill="hold">
                                          <p:stCondLst>
                                            <p:cond delay="0"/>
                                          </p:stCondLst>
                                        </p:cTn>
                                        <p:tgtEl>
                                          <p:spTgt spid="19"/>
                                        </p:tgtEl>
                                        <p:attrNameLst>
                                          <p:attrName>style.visibility</p:attrName>
                                        </p:attrNameLst>
                                      </p:cBhvr>
                                      <p:to>
                                        <p:strVal val="visible"/>
                                      </p:to>
                                    </p:set>
                                    <p:animEffect transition="in" filter="wedge">
                                      <p:cBhvr>
                                        <p:cTn id="185"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9" grpId="0"/>
      <p:bldP spid="10" grpId="0"/>
      <p:bldP spid="11" grpId="0"/>
      <p:bldP spid="12" grpId="0"/>
      <p:bldP spid="13" grpId="0"/>
      <p:bldP spid="14" grpId="0"/>
      <p:bldP spid="15" grpId="0"/>
      <p:bldP spid="16" grpId="0"/>
      <p:bldP spid="17" grpId="0"/>
      <p:bldP spid="18" grpId="0"/>
      <p:bldP spid="1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1000" y="609600"/>
            <a:ext cx="8458200" cy="1077218"/>
          </a:xfrm>
          <a:prstGeom prst="rect">
            <a:avLst/>
          </a:prstGeom>
        </p:spPr>
        <p:txBody>
          <a:bodyPr wrap="square">
            <a:spAutoFit/>
          </a:bodyPr>
          <a:lstStyle/>
          <a:p>
            <a:r>
              <a:rPr lang="en-US" sz="3200" dirty="0" smtClean="0"/>
              <a:t>4. Which refers  to a pair of lines that meet</a:t>
            </a:r>
          </a:p>
          <a:p>
            <a:r>
              <a:rPr lang="en-US" sz="3200" dirty="0" smtClean="0"/>
              <a:t>    a right angle?</a:t>
            </a:r>
          </a:p>
        </p:txBody>
      </p:sp>
      <p:sp>
        <p:nvSpPr>
          <p:cNvPr id="6" name="Rectangle 5"/>
          <p:cNvSpPr/>
          <p:nvPr/>
        </p:nvSpPr>
        <p:spPr>
          <a:xfrm>
            <a:off x="2182227" y="2473643"/>
            <a:ext cx="1901290" cy="584775"/>
          </a:xfrm>
          <a:prstGeom prst="rect">
            <a:avLst/>
          </a:prstGeom>
        </p:spPr>
        <p:txBody>
          <a:bodyPr wrap="none">
            <a:spAutoFit/>
          </a:bodyPr>
          <a:lstStyle/>
          <a:p>
            <a:r>
              <a:rPr lang="en-US" sz="3200" dirty="0" smtClean="0"/>
              <a:t>a. parallel</a:t>
            </a:r>
            <a:endParaRPr lang="en-US" sz="3200" dirty="0"/>
          </a:p>
        </p:txBody>
      </p:sp>
      <p:sp>
        <p:nvSpPr>
          <p:cNvPr id="7" name="Rectangle 6"/>
          <p:cNvSpPr/>
          <p:nvPr/>
        </p:nvSpPr>
        <p:spPr>
          <a:xfrm>
            <a:off x="2133600" y="3159443"/>
            <a:ext cx="3093283" cy="584775"/>
          </a:xfrm>
          <a:prstGeom prst="rect">
            <a:avLst/>
          </a:prstGeom>
        </p:spPr>
        <p:txBody>
          <a:bodyPr wrap="none">
            <a:spAutoFit/>
          </a:bodyPr>
          <a:lstStyle/>
          <a:p>
            <a:r>
              <a:rPr lang="en-US" sz="3200" dirty="0" smtClean="0"/>
              <a:t>b. perpendicular</a:t>
            </a:r>
            <a:endParaRPr lang="en-US" sz="3200" dirty="0"/>
          </a:p>
        </p:txBody>
      </p:sp>
      <p:sp>
        <p:nvSpPr>
          <p:cNvPr id="8" name="Rectangle 7"/>
          <p:cNvSpPr/>
          <p:nvPr/>
        </p:nvSpPr>
        <p:spPr>
          <a:xfrm>
            <a:off x="2133600" y="3758625"/>
            <a:ext cx="2692147" cy="584775"/>
          </a:xfrm>
          <a:prstGeom prst="rect">
            <a:avLst/>
          </a:prstGeom>
        </p:spPr>
        <p:txBody>
          <a:bodyPr wrap="none">
            <a:spAutoFit/>
          </a:bodyPr>
          <a:lstStyle/>
          <a:p>
            <a:r>
              <a:rPr lang="en-US" sz="3200" dirty="0" smtClean="0"/>
              <a:t>c. intersecting</a:t>
            </a:r>
            <a:endParaRPr lang="en-US" sz="3200" dirty="0"/>
          </a:p>
        </p:txBody>
      </p:sp>
      <p:sp>
        <p:nvSpPr>
          <p:cNvPr id="9" name="Rectangle 8"/>
          <p:cNvSpPr/>
          <p:nvPr/>
        </p:nvSpPr>
        <p:spPr>
          <a:xfrm>
            <a:off x="2119974" y="4520625"/>
            <a:ext cx="2481385" cy="584775"/>
          </a:xfrm>
          <a:prstGeom prst="rect">
            <a:avLst/>
          </a:prstGeom>
        </p:spPr>
        <p:txBody>
          <a:bodyPr wrap="none">
            <a:spAutoFit/>
          </a:bodyPr>
          <a:lstStyle/>
          <a:p>
            <a:r>
              <a:rPr lang="en-US" sz="3200" dirty="0" smtClean="0"/>
              <a:t>d. concentric</a:t>
            </a:r>
          </a:p>
        </p:txBody>
      </p:sp>
      <p:sp>
        <p:nvSpPr>
          <p:cNvPr id="10" name="Rounded Rectangle 9"/>
          <p:cNvSpPr/>
          <p:nvPr/>
        </p:nvSpPr>
        <p:spPr>
          <a:xfrm>
            <a:off x="2057400" y="3124200"/>
            <a:ext cx="30480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edge">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609600" y="914400"/>
            <a:ext cx="8458200" cy="584775"/>
          </a:xfrm>
          <a:prstGeom prst="rect">
            <a:avLst/>
          </a:prstGeom>
        </p:spPr>
        <p:txBody>
          <a:bodyPr wrap="square">
            <a:spAutoFit/>
          </a:bodyPr>
          <a:lstStyle/>
          <a:p>
            <a:r>
              <a:rPr lang="en-US" sz="3200" dirty="0" smtClean="0"/>
              <a:t>5. Which of the following is a concave hexagon?</a:t>
            </a:r>
          </a:p>
        </p:txBody>
      </p:sp>
      <p:sp>
        <p:nvSpPr>
          <p:cNvPr id="6" name="Rectangle 5"/>
          <p:cNvSpPr/>
          <p:nvPr/>
        </p:nvSpPr>
        <p:spPr>
          <a:xfrm>
            <a:off x="1623102" y="2590800"/>
            <a:ext cx="592598" cy="584775"/>
          </a:xfrm>
          <a:prstGeom prst="rect">
            <a:avLst/>
          </a:prstGeom>
        </p:spPr>
        <p:txBody>
          <a:bodyPr wrap="none">
            <a:spAutoFit/>
          </a:bodyPr>
          <a:lstStyle/>
          <a:p>
            <a:r>
              <a:rPr lang="en-US" sz="3200" dirty="0" smtClean="0"/>
              <a:t>a. </a:t>
            </a:r>
            <a:endParaRPr lang="en-US" sz="3200" dirty="0"/>
          </a:p>
        </p:txBody>
      </p:sp>
      <p:sp>
        <p:nvSpPr>
          <p:cNvPr id="7" name="Rectangle 6"/>
          <p:cNvSpPr/>
          <p:nvPr/>
        </p:nvSpPr>
        <p:spPr>
          <a:xfrm>
            <a:off x="1639690" y="4343400"/>
            <a:ext cx="614464" cy="584775"/>
          </a:xfrm>
          <a:prstGeom prst="rect">
            <a:avLst/>
          </a:prstGeom>
        </p:spPr>
        <p:txBody>
          <a:bodyPr wrap="none">
            <a:spAutoFit/>
          </a:bodyPr>
          <a:lstStyle/>
          <a:p>
            <a:r>
              <a:rPr lang="en-US" sz="3200" dirty="0" smtClean="0"/>
              <a:t>b. </a:t>
            </a:r>
            <a:endParaRPr lang="en-US" sz="3200" dirty="0"/>
          </a:p>
        </p:txBody>
      </p:sp>
      <p:sp>
        <p:nvSpPr>
          <p:cNvPr id="8" name="Rectangle 7"/>
          <p:cNvSpPr/>
          <p:nvPr/>
        </p:nvSpPr>
        <p:spPr>
          <a:xfrm>
            <a:off x="4698675" y="2590800"/>
            <a:ext cx="587790" cy="584775"/>
          </a:xfrm>
          <a:prstGeom prst="rect">
            <a:avLst/>
          </a:prstGeom>
        </p:spPr>
        <p:txBody>
          <a:bodyPr wrap="none">
            <a:spAutoFit/>
          </a:bodyPr>
          <a:lstStyle/>
          <a:p>
            <a:r>
              <a:rPr lang="en-US" sz="3200" dirty="0" smtClean="0"/>
              <a:t>c. </a:t>
            </a:r>
            <a:endParaRPr lang="en-US" sz="3200" dirty="0"/>
          </a:p>
        </p:txBody>
      </p:sp>
      <p:sp>
        <p:nvSpPr>
          <p:cNvPr id="9" name="Rectangle 8"/>
          <p:cNvSpPr/>
          <p:nvPr/>
        </p:nvSpPr>
        <p:spPr>
          <a:xfrm>
            <a:off x="4687690" y="4419600"/>
            <a:ext cx="631070" cy="584775"/>
          </a:xfrm>
          <a:prstGeom prst="rect">
            <a:avLst/>
          </a:prstGeom>
        </p:spPr>
        <p:txBody>
          <a:bodyPr wrap="none">
            <a:spAutoFit/>
          </a:bodyPr>
          <a:lstStyle/>
          <a:p>
            <a:r>
              <a:rPr lang="en-US" sz="3200" dirty="0" smtClean="0"/>
              <a:t>d. </a:t>
            </a:r>
          </a:p>
        </p:txBody>
      </p:sp>
      <p:sp>
        <p:nvSpPr>
          <p:cNvPr id="12" name="AutoShape 4"/>
          <p:cNvSpPr>
            <a:spLocks noChangeArrowheads="1"/>
          </p:cNvSpPr>
          <p:nvPr/>
        </p:nvSpPr>
        <p:spPr bwMode="auto">
          <a:xfrm>
            <a:off x="2209800" y="4191000"/>
            <a:ext cx="2209800" cy="1073150"/>
          </a:xfrm>
          <a:prstGeom prst="homePlate">
            <a:avLst>
              <a:gd name="adj" fmla="val 51148"/>
            </a:avLst>
          </a:prstGeom>
          <a:noFill/>
          <a:ln w="38100">
            <a:solidFill>
              <a:schemeClr val="tx1"/>
            </a:solidFill>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3" name="AutoShape 5"/>
          <p:cNvSpPr>
            <a:spLocks noChangeArrowheads="1"/>
          </p:cNvSpPr>
          <p:nvPr/>
        </p:nvSpPr>
        <p:spPr bwMode="auto">
          <a:xfrm>
            <a:off x="5434013" y="4038600"/>
            <a:ext cx="1804987" cy="1422400"/>
          </a:xfrm>
          <a:prstGeom prst="rightArrow">
            <a:avLst>
              <a:gd name="adj1" fmla="val 49880"/>
              <a:gd name="adj2" fmla="val 37413"/>
            </a:avLst>
          </a:prstGeom>
          <a:noFill/>
          <a:ln w="38100">
            <a:solidFill>
              <a:schemeClr val="tx1"/>
            </a:solidFill>
            <a:headEnd/>
            <a:tailEn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4" name="Chevron 13"/>
          <p:cNvSpPr/>
          <p:nvPr/>
        </p:nvSpPr>
        <p:spPr>
          <a:xfrm>
            <a:off x="2171700" y="2362200"/>
            <a:ext cx="2133600" cy="1066800"/>
          </a:xfrm>
          <a:prstGeom prst="chevr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Hexagon 14"/>
          <p:cNvSpPr/>
          <p:nvPr/>
        </p:nvSpPr>
        <p:spPr>
          <a:xfrm>
            <a:off x="5410200" y="2057400"/>
            <a:ext cx="1828800" cy="1447800"/>
          </a:xfrm>
          <a:prstGeom prst="hexagon">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1600200" y="2209800"/>
            <a:ext cx="2895600" cy="14478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slide(fromBottom)">
                                      <p:cBhvr>
                                        <p:cTn id="25" dur="500"/>
                                        <p:tgtEl>
                                          <p:spTgt spid="12"/>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slide(fromBottom)">
                                      <p:cBhvr>
                                        <p:cTn id="28" dur="500"/>
                                        <p:tgtEl>
                                          <p:spTgt spid="13"/>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slide(fromBottom)">
                                      <p:cBhvr>
                                        <p:cTn id="31" dur="500"/>
                                        <p:tgtEl>
                                          <p:spTgt spid="14"/>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slide(fromBottom)">
                                      <p:cBhvr>
                                        <p:cTn id="34" dur="5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0"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edge">
                                      <p:cBhvr>
                                        <p:cTn id="39"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2" grpId="0" animBg="1"/>
      <p:bldP spid="13" grpId="0" animBg="1"/>
      <p:bldP spid="14" grpId="0" animBg="1"/>
      <p:bldP spid="15" grpId="0" animBg="1"/>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685800"/>
            <a:ext cx="8458200" cy="1077218"/>
          </a:xfrm>
          <a:prstGeom prst="rect">
            <a:avLst/>
          </a:prstGeom>
        </p:spPr>
        <p:txBody>
          <a:bodyPr wrap="square">
            <a:spAutoFit/>
          </a:bodyPr>
          <a:lstStyle/>
          <a:p>
            <a:r>
              <a:rPr lang="en-US" sz="3200" dirty="0" smtClean="0"/>
              <a:t>6. Which of the following statements best   </a:t>
            </a:r>
          </a:p>
          <a:p>
            <a:pPr marL="406400" indent="-406400"/>
            <a:r>
              <a:rPr lang="en-US" sz="3200" dirty="0" smtClean="0"/>
              <a:t>    describes a square?</a:t>
            </a:r>
          </a:p>
        </p:txBody>
      </p:sp>
      <p:sp>
        <p:nvSpPr>
          <p:cNvPr id="6" name="Rectangle 5"/>
          <p:cNvSpPr/>
          <p:nvPr/>
        </p:nvSpPr>
        <p:spPr>
          <a:xfrm>
            <a:off x="1052853" y="1981200"/>
            <a:ext cx="6252609" cy="1077218"/>
          </a:xfrm>
          <a:prstGeom prst="rect">
            <a:avLst/>
          </a:prstGeom>
        </p:spPr>
        <p:txBody>
          <a:bodyPr wrap="none">
            <a:spAutoFit/>
          </a:bodyPr>
          <a:lstStyle/>
          <a:p>
            <a:r>
              <a:rPr lang="en-US" sz="3200" dirty="0" smtClean="0"/>
              <a:t>a. Its diagonals are perpendicular to </a:t>
            </a:r>
          </a:p>
          <a:p>
            <a:r>
              <a:rPr lang="en-US" sz="3200" dirty="0" smtClean="0"/>
              <a:t>    each other.</a:t>
            </a:r>
            <a:endParaRPr lang="en-US" sz="3200" dirty="0"/>
          </a:p>
        </p:txBody>
      </p:sp>
      <p:sp>
        <p:nvSpPr>
          <p:cNvPr id="7" name="Rectangle 6"/>
          <p:cNvSpPr/>
          <p:nvPr/>
        </p:nvSpPr>
        <p:spPr>
          <a:xfrm>
            <a:off x="1029626" y="3200400"/>
            <a:ext cx="5769080" cy="584775"/>
          </a:xfrm>
          <a:prstGeom prst="rect">
            <a:avLst/>
          </a:prstGeom>
        </p:spPr>
        <p:txBody>
          <a:bodyPr wrap="none">
            <a:spAutoFit/>
          </a:bodyPr>
          <a:lstStyle/>
          <a:p>
            <a:r>
              <a:rPr lang="en-US" sz="3200" dirty="0" smtClean="0"/>
              <a:t>b. It is an equiangular rhombus.</a:t>
            </a:r>
            <a:endParaRPr lang="en-US" sz="3200" dirty="0"/>
          </a:p>
        </p:txBody>
      </p:sp>
      <p:sp>
        <p:nvSpPr>
          <p:cNvPr id="8" name="Rectangle 7"/>
          <p:cNvSpPr/>
          <p:nvPr/>
        </p:nvSpPr>
        <p:spPr>
          <a:xfrm>
            <a:off x="1029626" y="3987225"/>
            <a:ext cx="5430974" cy="584775"/>
          </a:xfrm>
          <a:prstGeom prst="rect">
            <a:avLst/>
          </a:prstGeom>
        </p:spPr>
        <p:txBody>
          <a:bodyPr wrap="none">
            <a:spAutoFit/>
          </a:bodyPr>
          <a:lstStyle/>
          <a:p>
            <a:r>
              <a:rPr lang="en-US" sz="3200" dirty="0" smtClean="0"/>
              <a:t>c. Its diagonals are congruent.</a:t>
            </a:r>
            <a:endParaRPr lang="en-US" sz="3200" dirty="0"/>
          </a:p>
        </p:txBody>
      </p:sp>
      <p:sp>
        <p:nvSpPr>
          <p:cNvPr id="9" name="Rectangle 8"/>
          <p:cNvSpPr/>
          <p:nvPr/>
        </p:nvSpPr>
        <p:spPr>
          <a:xfrm>
            <a:off x="1016000" y="4749225"/>
            <a:ext cx="4666021" cy="584775"/>
          </a:xfrm>
          <a:prstGeom prst="rect">
            <a:avLst/>
          </a:prstGeom>
        </p:spPr>
        <p:txBody>
          <a:bodyPr wrap="none">
            <a:spAutoFit/>
          </a:bodyPr>
          <a:lstStyle/>
          <a:p>
            <a:r>
              <a:rPr lang="en-US" sz="3200" dirty="0" smtClean="0"/>
              <a:t>d. It has four right angles.</a:t>
            </a:r>
          </a:p>
        </p:txBody>
      </p:sp>
      <p:sp>
        <p:nvSpPr>
          <p:cNvPr id="10" name="Rounded Rectangle 9"/>
          <p:cNvSpPr/>
          <p:nvPr/>
        </p:nvSpPr>
        <p:spPr>
          <a:xfrm>
            <a:off x="914400" y="3200400"/>
            <a:ext cx="55626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edge">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04800" y="304800"/>
            <a:ext cx="8229600" cy="1077218"/>
          </a:xfrm>
          <a:prstGeom prst="rect">
            <a:avLst/>
          </a:prstGeom>
        </p:spPr>
        <p:txBody>
          <a:bodyPr wrap="square">
            <a:spAutoFit/>
          </a:bodyPr>
          <a:lstStyle/>
          <a:p>
            <a:r>
              <a:rPr lang="en-US" sz="3200" dirty="0" smtClean="0"/>
              <a:t>7. If lines r and s are parallel, which of the</a:t>
            </a:r>
          </a:p>
          <a:p>
            <a:r>
              <a:rPr lang="en-US" sz="3200" dirty="0" smtClean="0"/>
              <a:t>    following pairs of angles are supplementary?</a:t>
            </a:r>
          </a:p>
        </p:txBody>
      </p:sp>
      <p:sp>
        <p:nvSpPr>
          <p:cNvPr id="6" name="Rectangle 5"/>
          <p:cNvSpPr/>
          <p:nvPr/>
        </p:nvSpPr>
        <p:spPr>
          <a:xfrm>
            <a:off x="1191627" y="4419600"/>
            <a:ext cx="2432076" cy="584775"/>
          </a:xfrm>
          <a:prstGeom prst="rect">
            <a:avLst/>
          </a:prstGeom>
        </p:spPr>
        <p:txBody>
          <a:bodyPr wrap="none">
            <a:spAutoFit/>
          </a:bodyPr>
          <a:lstStyle/>
          <a:p>
            <a:r>
              <a:rPr lang="en-US" sz="3200" dirty="0" smtClean="0"/>
              <a:t>a. angle 1 &amp; 5</a:t>
            </a:r>
            <a:endParaRPr lang="en-US" sz="3200" dirty="0"/>
          </a:p>
        </p:txBody>
      </p:sp>
      <p:sp>
        <p:nvSpPr>
          <p:cNvPr id="7" name="Rectangle 6"/>
          <p:cNvSpPr/>
          <p:nvPr/>
        </p:nvSpPr>
        <p:spPr>
          <a:xfrm>
            <a:off x="1143000" y="5105400"/>
            <a:ext cx="2520626" cy="584775"/>
          </a:xfrm>
          <a:prstGeom prst="rect">
            <a:avLst/>
          </a:prstGeom>
        </p:spPr>
        <p:txBody>
          <a:bodyPr wrap="none">
            <a:spAutoFit/>
          </a:bodyPr>
          <a:lstStyle/>
          <a:p>
            <a:r>
              <a:rPr lang="en-US" sz="3200" dirty="0" smtClean="0"/>
              <a:t>b. angle 5 &amp; 7</a:t>
            </a:r>
            <a:endParaRPr lang="en-US" sz="3200" dirty="0"/>
          </a:p>
        </p:txBody>
      </p:sp>
      <p:sp>
        <p:nvSpPr>
          <p:cNvPr id="8" name="Rectangle 7"/>
          <p:cNvSpPr/>
          <p:nvPr/>
        </p:nvSpPr>
        <p:spPr>
          <a:xfrm>
            <a:off x="5410200" y="4419600"/>
            <a:ext cx="2510624" cy="584775"/>
          </a:xfrm>
          <a:prstGeom prst="rect">
            <a:avLst/>
          </a:prstGeom>
        </p:spPr>
        <p:txBody>
          <a:bodyPr wrap="none">
            <a:spAutoFit/>
          </a:bodyPr>
          <a:lstStyle/>
          <a:p>
            <a:r>
              <a:rPr lang="en-US" sz="3200" dirty="0" smtClean="0"/>
              <a:t>c. angle 3 &amp; 6</a:t>
            </a:r>
          </a:p>
        </p:txBody>
      </p:sp>
      <p:sp>
        <p:nvSpPr>
          <p:cNvPr id="9" name="Rectangle 8"/>
          <p:cNvSpPr/>
          <p:nvPr/>
        </p:nvSpPr>
        <p:spPr>
          <a:xfrm>
            <a:off x="5334000" y="5181600"/>
            <a:ext cx="2529860" cy="584775"/>
          </a:xfrm>
          <a:prstGeom prst="rect">
            <a:avLst/>
          </a:prstGeom>
        </p:spPr>
        <p:txBody>
          <a:bodyPr wrap="none">
            <a:spAutoFit/>
          </a:bodyPr>
          <a:lstStyle/>
          <a:p>
            <a:r>
              <a:rPr lang="en-US" sz="3200" dirty="0" smtClean="0"/>
              <a:t>d. angle 3 &amp; 7</a:t>
            </a:r>
          </a:p>
        </p:txBody>
      </p:sp>
      <p:cxnSp>
        <p:nvCxnSpPr>
          <p:cNvPr id="10" name="AutoShape 2"/>
          <p:cNvCxnSpPr>
            <a:cxnSpLocks noChangeShapeType="1"/>
          </p:cNvCxnSpPr>
          <p:nvPr/>
        </p:nvCxnSpPr>
        <p:spPr bwMode="auto">
          <a:xfrm rot="5400000" flipH="1" flipV="1">
            <a:off x="4825596" y="2057400"/>
            <a:ext cx="1828800" cy="1828800"/>
          </a:xfrm>
          <a:prstGeom prst="straightConnector1">
            <a:avLst/>
          </a:prstGeom>
          <a:noFill/>
          <a:ln w="38100">
            <a:solidFill>
              <a:schemeClr val="tx1"/>
            </a:solidFill>
            <a:round/>
            <a:headEnd type="triangle" w="med" len="med"/>
            <a:tailEnd type="triangle" w="med" len="med"/>
          </a:ln>
        </p:spPr>
      </p:cxnSp>
      <p:cxnSp>
        <p:nvCxnSpPr>
          <p:cNvPr id="11" name="AutoShape 3"/>
          <p:cNvCxnSpPr>
            <a:cxnSpLocks noChangeShapeType="1"/>
          </p:cNvCxnSpPr>
          <p:nvPr/>
        </p:nvCxnSpPr>
        <p:spPr bwMode="auto">
          <a:xfrm>
            <a:off x="2158596" y="2819400"/>
            <a:ext cx="4873625" cy="0"/>
          </a:xfrm>
          <a:prstGeom prst="straightConnector1">
            <a:avLst/>
          </a:prstGeom>
          <a:noFill/>
          <a:ln w="38100">
            <a:solidFill>
              <a:schemeClr val="tx1"/>
            </a:solidFill>
            <a:round/>
            <a:headEnd type="triangle" w="med" len="med"/>
            <a:tailEnd type="triangle" w="med" len="med"/>
          </a:ln>
        </p:spPr>
      </p:cxnSp>
      <p:cxnSp>
        <p:nvCxnSpPr>
          <p:cNvPr id="12" name="AutoShape 4"/>
          <p:cNvCxnSpPr>
            <a:cxnSpLocks noChangeShapeType="1"/>
          </p:cNvCxnSpPr>
          <p:nvPr/>
        </p:nvCxnSpPr>
        <p:spPr bwMode="auto">
          <a:xfrm flipV="1">
            <a:off x="2744383" y="1981200"/>
            <a:ext cx="1876425" cy="1674814"/>
          </a:xfrm>
          <a:prstGeom prst="straightConnector1">
            <a:avLst/>
          </a:prstGeom>
          <a:noFill/>
          <a:ln w="38100">
            <a:solidFill>
              <a:schemeClr val="tx1"/>
            </a:solidFill>
            <a:round/>
            <a:headEnd type="triangle" w="med" len="med"/>
            <a:tailEnd type="triangle" w="med" len="med"/>
          </a:ln>
        </p:spPr>
      </p:cxnSp>
      <p:sp>
        <p:nvSpPr>
          <p:cNvPr id="13" name="Rectangle 12"/>
          <p:cNvSpPr/>
          <p:nvPr/>
        </p:nvSpPr>
        <p:spPr>
          <a:xfrm>
            <a:off x="4596996" y="1676400"/>
            <a:ext cx="266420" cy="369332"/>
          </a:xfrm>
          <a:prstGeom prst="rect">
            <a:avLst/>
          </a:prstGeom>
        </p:spPr>
        <p:txBody>
          <a:bodyPr wrap="none">
            <a:spAutoFit/>
          </a:bodyPr>
          <a:lstStyle/>
          <a:p>
            <a:r>
              <a:rPr lang="en-US" b="1" dirty="0" smtClean="0"/>
              <a:t>r</a:t>
            </a:r>
            <a:endParaRPr lang="en-US" b="1" dirty="0"/>
          </a:p>
        </p:txBody>
      </p:sp>
      <p:sp>
        <p:nvSpPr>
          <p:cNvPr id="14" name="Rectangle 13"/>
          <p:cNvSpPr/>
          <p:nvPr/>
        </p:nvSpPr>
        <p:spPr>
          <a:xfrm>
            <a:off x="6654396" y="1764268"/>
            <a:ext cx="277640" cy="369332"/>
          </a:xfrm>
          <a:prstGeom prst="rect">
            <a:avLst/>
          </a:prstGeom>
        </p:spPr>
        <p:txBody>
          <a:bodyPr wrap="none">
            <a:spAutoFit/>
          </a:bodyPr>
          <a:lstStyle/>
          <a:p>
            <a:r>
              <a:rPr lang="en-US" b="1" dirty="0" smtClean="0"/>
              <a:t>s</a:t>
            </a:r>
            <a:endParaRPr lang="en-US" b="1" dirty="0"/>
          </a:p>
        </p:txBody>
      </p:sp>
      <p:sp>
        <p:nvSpPr>
          <p:cNvPr id="15" name="Rectangle 14"/>
          <p:cNvSpPr/>
          <p:nvPr/>
        </p:nvSpPr>
        <p:spPr>
          <a:xfrm>
            <a:off x="1828800" y="2526268"/>
            <a:ext cx="266420" cy="369332"/>
          </a:xfrm>
          <a:prstGeom prst="rect">
            <a:avLst/>
          </a:prstGeom>
        </p:spPr>
        <p:txBody>
          <a:bodyPr wrap="none">
            <a:spAutoFit/>
          </a:bodyPr>
          <a:lstStyle/>
          <a:p>
            <a:r>
              <a:rPr lang="en-US" b="1" dirty="0" smtClean="0"/>
              <a:t>t</a:t>
            </a:r>
            <a:endParaRPr lang="en-US" b="1" dirty="0"/>
          </a:p>
        </p:txBody>
      </p:sp>
      <p:sp>
        <p:nvSpPr>
          <p:cNvPr id="16" name="Rectangle 15"/>
          <p:cNvSpPr/>
          <p:nvPr/>
        </p:nvSpPr>
        <p:spPr>
          <a:xfrm>
            <a:off x="3377796" y="2450068"/>
            <a:ext cx="301686" cy="369332"/>
          </a:xfrm>
          <a:prstGeom prst="rect">
            <a:avLst/>
          </a:prstGeom>
        </p:spPr>
        <p:txBody>
          <a:bodyPr wrap="none">
            <a:spAutoFit/>
          </a:bodyPr>
          <a:lstStyle/>
          <a:p>
            <a:r>
              <a:rPr lang="en-US" b="1" dirty="0" smtClean="0"/>
              <a:t>1</a:t>
            </a:r>
            <a:endParaRPr lang="en-US" b="1" dirty="0"/>
          </a:p>
        </p:txBody>
      </p:sp>
      <p:sp>
        <p:nvSpPr>
          <p:cNvPr id="17" name="Rectangle 16"/>
          <p:cNvSpPr/>
          <p:nvPr/>
        </p:nvSpPr>
        <p:spPr>
          <a:xfrm>
            <a:off x="2844396" y="2819400"/>
            <a:ext cx="301686" cy="369332"/>
          </a:xfrm>
          <a:prstGeom prst="rect">
            <a:avLst/>
          </a:prstGeom>
        </p:spPr>
        <p:txBody>
          <a:bodyPr wrap="none">
            <a:spAutoFit/>
          </a:bodyPr>
          <a:lstStyle/>
          <a:p>
            <a:r>
              <a:rPr lang="en-US" b="1" dirty="0" smtClean="0"/>
              <a:t>2</a:t>
            </a:r>
            <a:endParaRPr lang="en-US" b="1" dirty="0"/>
          </a:p>
        </p:txBody>
      </p:sp>
      <p:sp>
        <p:nvSpPr>
          <p:cNvPr id="18" name="Rectangle 17"/>
          <p:cNvSpPr/>
          <p:nvPr/>
        </p:nvSpPr>
        <p:spPr>
          <a:xfrm>
            <a:off x="4058696" y="2438400"/>
            <a:ext cx="309700" cy="369332"/>
          </a:xfrm>
          <a:prstGeom prst="rect">
            <a:avLst/>
          </a:prstGeom>
        </p:spPr>
        <p:txBody>
          <a:bodyPr wrap="none">
            <a:spAutoFit/>
          </a:bodyPr>
          <a:lstStyle/>
          <a:p>
            <a:r>
              <a:rPr lang="en-US" b="1" dirty="0" smtClean="0"/>
              <a:t>4</a:t>
            </a:r>
            <a:endParaRPr lang="en-US" b="1" dirty="0"/>
          </a:p>
        </p:txBody>
      </p:sp>
      <p:sp>
        <p:nvSpPr>
          <p:cNvPr id="19" name="Rectangle 18"/>
          <p:cNvSpPr/>
          <p:nvPr/>
        </p:nvSpPr>
        <p:spPr>
          <a:xfrm>
            <a:off x="3758796" y="2819400"/>
            <a:ext cx="301686" cy="369332"/>
          </a:xfrm>
          <a:prstGeom prst="rect">
            <a:avLst/>
          </a:prstGeom>
        </p:spPr>
        <p:txBody>
          <a:bodyPr wrap="none">
            <a:spAutoFit/>
          </a:bodyPr>
          <a:lstStyle/>
          <a:p>
            <a:r>
              <a:rPr lang="en-US" b="1" dirty="0" smtClean="0"/>
              <a:t>3</a:t>
            </a:r>
            <a:endParaRPr lang="en-US" b="1" dirty="0"/>
          </a:p>
        </p:txBody>
      </p:sp>
      <p:sp>
        <p:nvSpPr>
          <p:cNvPr id="20" name="Rectangle 19"/>
          <p:cNvSpPr/>
          <p:nvPr/>
        </p:nvSpPr>
        <p:spPr>
          <a:xfrm>
            <a:off x="5587596" y="2450068"/>
            <a:ext cx="301686" cy="369332"/>
          </a:xfrm>
          <a:prstGeom prst="rect">
            <a:avLst/>
          </a:prstGeom>
        </p:spPr>
        <p:txBody>
          <a:bodyPr wrap="none">
            <a:spAutoFit/>
          </a:bodyPr>
          <a:lstStyle/>
          <a:p>
            <a:r>
              <a:rPr lang="en-US" b="1" dirty="0" smtClean="0"/>
              <a:t>5</a:t>
            </a:r>
            <a:endParaRPr lang="en-US" b="1" dirty="0"/>
          </a:p>
        </p:txBody>
      </p:sp>
      <p:sp>
        <p:nvSpPr>
          <p:cNvPr id="21" name="Rectangle 20"/>
          <p:cNvSpPr/>
          <p:nvPr/>
        </p:nvSpPr>
        <p:spPr>
          <a:xfrm>
            <a:off x="5054196" y="2819400"/>
            <a:ext cx="309700" cy="369332"/>
          </a:xfrm>
          <a:prstGeom prst="rect">
            <a:avLst/>
          </a:prstGeom>
        </p:spPr>
        <p:txBody>
          <a:bodyPr wrap="none">
            <a:spAutoFit/>
          </a:bodyPr>
          <a:lstStyle/>
          <a:p>
            <a:r>
              <a:rPr lang="en-US" b="1" dirty="0" smtClean="0"/>
              <a:t>6</a:t>
            </a:r>
            <a:endParaRPr lang="en-US" b="1" dirty="0"/>
          </a:p>
        </p:txBody>
      </p:sp>
      <p:sp>
        <p:nvSpPr>
          <p:cNvPr id="22" name="Rectangle 21"/>
          <p:cNvSpPr/>
          <p:nvPr/>
        </p:nvSpPr>
        <p:spPr>
          <a:xfrm>
            <a:off x="6268496" y="2438400"/>
            <a:ext cx="309700" cy="369332"/>
          </a:xfrm>
          <a:prstGeom prst="rect">
            <a:avLst/>
          </a:prstGeom>
        </p:spPr>
        <p:txBody>
          <a:bodyPr wrap="none">
            <a:spAutoFit/>
          </a:bodyPr>
          <a:lstStyle/>
          <a:p>
            <a:r>
              <a:rPr lang="en-US" b="1" dirty="0" smtClean="0"/>
              <a:t>8</a:t>
            </a:r>
            <a:endParaRPr lang="en-US" b="1" dirty="0"/>
          </a:p>
        </p:txBody>
      </p:sp>
      <p:sp>
        <p:nvSpPr>
          <p:cNvPr id="23" name="Rectangle 22"/>
          <p:cNvSpPr/>
          <p:nvPr/>
        </p:nvSpPr>
        <p:spPr>
          <a:xfrm>
            <a:off x="5968596" y="2819400"/>
            <a:ext cx="301686" cy="369332"/>
          </a:xfrm>
          <a:prstGeom prst="rect">
            <a:avLst/>
          </a:prstGeom>
        </p:spPr>
        <p:txBody>
          <a:bodyPr wrap="none">
            <a:spAutoFit/>
          </a:bodyPr>
          <a:lstStyle/>
          <a:p>
            <a:r>
              <a:rPr lang="en-US" b="1" dirty="0" smtClean="0"/>
              <a:t>7</a:t>
            </a:r>
            <a:endParaRPr lang="en-US" b="1" dirty="0"/>
          </a:p>
        </p:txBody>
      </p:sp>
      <p:sp>
        <p:nvSpPr>
          <p:cNvPr id="24" name="Rounded Rectangle 23"/>
          <p:cNvSpPr/>
          <p:nvPr/>
        </p:nvSpPr>
        <p:spPr>
          <a:xfrm>
            <a:off x="5334000" y="4495800"/>
            <a:ext cx="25146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80">
                                          <p:stCondLst>
                                            <p:cond delay="0"/>
                                          </p:stCondLst>
                                        </p:cTn>
                                        <p:tgtEl>
                                          <p:spTgt spid="10"/>
                                        </p:tgtEl>
                                      </p:cBhvr>
                                    </p:animEffect>
                                    <p:anim calcmode="lin" valueType="num">
                                      <p:cBhvr>
                                        <p:cTn id="1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9" dur="26">
                                          <p:stCondLst>
                                            <p:cond delay="650"/>
                                          </p:stCondLst>
                                        </p:cTn>
                                        <p:tgtEl>
                                          <p:spTgt spid="10"/>
                                        </p:tgtEl>
                                      </p:cBhvr>
                                      <p:to x="100000" y="60000"/>
                                    </p:animScale>
                                    <p:animScale>
                                      <p:cBhvr>
                                        <p:cTn id="20" dur="166" decel="50000">
                                          <p:stCondLst>
                                            <p:cond delay="676"/>
                                          </p:stCondLst>
                                        </p:cTn>
                                        <p:tgtEl>
                                          <p:spTgt spid="10"/>
                                        </p:tgtEl>
                                      </p:cBhvr>
                                      <p:to x="100000" y="100000"/>
                                    </p:animScale>
                                    <p:animScale>
                                      <p:cBhvr>
                                        <p:cTn id="21" dur="26">
                                          <p:stCondLst>
                                            <p:cond delay="1312"/>
                                          </p:stCondLst>
                                        </p:cTn>
                                        <p:tgtEl>
                                          <p:spTgt spid="10"/>
                                        </p:tgtEl>
                                      </p:cBhvr>
                                      <p:to x="100000" y="80000"/>
                                    </p:animScale>
                                    <p:animScale>
                                      <p:cBhvr>
                                        <p:cTn id="22" dur="166" decel="50000">
                                          <p:stCondLst>
                                            <p:cond delay="1338"/>
                                          </p:stCondLst>
                                        </p:cTn>
                                        <p:tgtEl>
                                          <p:spTgt spid="10"/>
                                        </p:tgtEl>
                                      </p:cBhvr>
                                      <p:to x="100000" y="100000"/>
                                    </p:animScale>
                                    <p:animScale>
                                      <p:cBhvr>
                                        <p:cTn id="23" dur="26">
                                          <p:stCondLst>
                                            <p:cond delay="1642"/>
                                          </p:stCondLst>
                                        </p:cTn>
                                        <p:tgtEl>
                                          <p:spTgt spid="10"/>
                                        </p:tgtEl>
                                      </p:cBhvr>
                                      <p:to x="100000" y="90000"/>
                                    </p:animScale>
                                    <p:animScale>
                                      <p:cBhvr>
                                        <p:cTn id="24" dur="166" decel="50000">
                                          <p:stCondLst>
                                            <p:cond delay="1668"/>
                                          </p:stCondLst>
                                        </p:cTn>
                                        <p:tgtEl>
                                          <p:spTgt spid="10"/>
                                        </p:tgtEl>
                                      </p:cBhvr>
                                      <p:to x="100000" y="100000"/>
                                    </p:animScale>
                                    <p:animScale>
                                      <p:cBhvr>
                                        <p:cTn id="25" dur="26">
                                          <p:stCondLst>
                                            <p:cond delay="1808"/>
                                          </p:stCondLst>
                                        </p:cTn>
                                        <p:tgtEl>
                                          <p:spTgt spid="10"/>
                                        </p:tgtEl>
                                      </p:cBhvr>
                                      <p:to x="100000" y="95000"/>
                                    </p:animScale>
                                    <p:animScale>
                                      <p:cBhvr>
                                        <p:cTn id="26" dur="166" decel="50000">
                                          <p:stCondLst>
                                            <p:cond delay="1834"/>
                                          </p:stCondLst>
                                        </p:cTn>
                                        <p:tgtEl>
                                          <p:spTgt spid="10"/>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80">
                                          <p:stCondLst>
                                            <p:cond delay="0"/>
                                          </p:stCondLst>
                                        </p:cTn>
                                        <p:tgtEl>
                                          <p:spTgt spid="11"/>
                                        </p:tgtEl>
                                      </p:cBhvr>
                                    </p:animEffect>
                                    <p:anim calcmode="lin" valueType="num">
                                      <p:cBhvr>
                                        <p:cTn id="30"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35" dur="26">
                                          <p:stCondLst>
                                            <p:cond delay="650"/>
                                          </p:stCondLst>
                                        </p:cTn>
                                        <p:tgtEl>
                                          <p:spTgt spid="11"/>
                                        </p:tgtEl>
                                      </p:cBhvr>
                                      <p:to x="100000" y="60000"/>
                                    </p:animScale>
                                    <p:animScale>
                                      <p:cBhvr>
                                        <p:cTn id="36" dur="166" decel="50000">
                                          <p:stCondLst>
                                            <p:cond delay="676"/>
                                          </p:stCondLst>
                                        </p:cTn>
                                        <p:tgtEl>
                                          <p:spTgt spid="11"/>
                                        </p:tgtEl>
                                      </p:cBhvr>
                                      <p:to x="100000" y="100000"/>
                                    </p:animScale>
                                    <p:animScale>
                                      <p:cBhvr>
                                        <p:cTn id="37" dur="26">
                                          <p:stCondLst>
                                            <p:cond delay="1312"/>
                                          </p:stCondLst>
                                        </p:cTn>
                                        <p:tgtEl>
                                          <p:spTgt spid="11"/>
                                        </p:tgtEl>
                                      </p:cBhvr>
                                      <p:to x="100000" y="80000"/>
                                    </p:animScale>
                                    <p:animScale>
                                      <p:cBhvr>
                                        <p:cTn id="38" dur="166" decel="50000">
                                          <p:stCondLst>
                                            <p:cond delay="1338"/>
                                          </p:stCondLst>
                                        </p:cTn>
                                        <p:tgtEl>
                                          <p:spTgt spid="11"/>
                                        </p:tgtEl>
                                      </p:cBhvr>
                                      <p:to x="100000" y="100000"/>
                                    </p:animScale>
                                    <p:animScale>
                                      <p:cBhvr>
                                        <p:cTn id="39" dur="26">
                                          <p:stCondLst>
                                            <p:cond delay="1642"/>
                                          </p:stCondLst>
                                        </p:cTn>
                                        <p:tgtEl>
                                          <p:spTgt spid="11"/>
                                        </p:tgtEl>
                                      </p:cBhvr>
                                      <p:to x="100000" y="90000"/>
                                    </p:animScale>
                                    <p:animScale>
                                      <p:cBhvr>
                                        <p:cTn id="40" dur="166" decel="50000">
                                          <p:stCondLst>
                                            <p:cond delay="1668"/>
                                          </p:stCondLst>
                                        </p:cTn>
                                        <p:tgtEl>
                                          <p:spTgt spid="11"/>
                                        </p:tgtEl>
                                      </p:cBhvr>
                                      <p:to x="100000" y="100000"/>
                                    </p:animScale>
                                    <p:animScale>
                                      <p:cBhvr>
                                        <p:cTn id="41" dur="26">
                                          <p:stCondLst>
                                            <p:cond delay="1808"/>
                                          </p:stCondLst>
                                        </p:cTn>
                                        <p:tgtEl>
                                          <p:spTgt spid="11"/>
                                        </p:tgtEl>
                                      </p:cBhvr>
                                      <p:to x="100000" y="95000"/>
                                    </p:animScale>
                                    <p:animScale>
                                      <p:cBhvr>
                                        <p:cTn id="42" dur="166" decel="50000">
                                          <p:stCondLst>
                                            <p:cond delay="1834"/>
                                          </p:stCondLst>
                                        </p:cTn>
                                        <p:tgtEl>
                                          <p:spTgt spid="11"/>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80">
                                          <p:stCondLst>
                                            <p:cond delay="0"/>
                                          </p:stCondLst>
                                        </p:cTn>
                                        <p:tgtEl>
                                          <p:spTgt spid="12"/>
                                        </p:tgtEl>
                                      </p:cBhvr>
                                    </p:animEffect>
                                    <p:anim calcmode="lin" valueType="num">
                                      <p:cBhvr>
                                        <p:cTn id="4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51" dur="26">
                                          <p:stCondLst>
                                            <p:cond delay="650"/>
                                          </p:stCondLst>
                                        </p:cTn>
                                        <p:tgtEl>
                                          <p:spTgt spid="12"/>
                                        </p:tgtEl>
                                      </p:cBhvr>
                                      <p:to x="100000" y="60000"/>
                                    </p:animScale>
                                    <p:animScale>
                                      <p:cBhvr>
                                        <p:cTn id="52" dur="166" decel="50000">
                                          <p:stCondLst>
                                            <p:cond delay="676"/>
                                          </p:stCondLst>
                                        </p:cTn>
                                        <p:tgtEl>
                                          <p:spTgt spid="12"/>
                                        </p:tgtEl>
                                      </p:cBhvr>
                                      <p:to x="100000" y="100000"/>
                                    </p:animScale>
                                    <p:animScale>
                                      <p:cBhvr>
                                        <p:cTn id="53" dur="26">
                                          <p:stCondLst>
                                            <p:cond delay="1312"/>
                                          </p:stCondLst>
                                        </p:cTn>
                                        <p:tgtEl>
                                          <p:spTgt spid="12"/>
                                        </p:tgtEl>
                                      </p:cBhvr>
                                      <p:to x="100000" y="80000"/>
                                    </p:animScale>
                                    <p:animScale>
                                      <p:cBhvr>
                                        <p:cTn id="54" dur="166" decel="50000">
                                          <p:stCondLst>
                                            <p:cond delay="1338"/>
                                          </p:stCondLst>
                                        </p:cTn>
                                        <p:tgtEl>
                                          <p:spTgt spid="12"/>
                                        </p:tgtEl>
                                      </p:cBhvr>
                                      <p:to x="100000" y="100000"/>
                                    </p:animScale>
                                    <p:animScale>
                                      <p:cBhvr>
                                        <p:cTn id="55" dur="26">
                                          <p:stCondLst>
                                            <p:cond delay="1642"/>
                                          </p:stCondLst>
                                        </p:cTn>
                                        <p:tgtEl>
                                          <p:spTgt spid="12"/>
                                        </p:tgtEl>
                                      </p:cBhvr>
                                      <p:to x="100000" y="90000"/>
                                    </p:animScale>
                                    <p:animScale>
                                      <p:cBhvr>
                                        <p:cTn id="56" dur="166" decel="50000">
                                          <p:stCondLst>
                                            <p:cond delay="1668"/>
                                          </p:stCondLst>
                                        </p:cTn>
                                        <p:tgtEl>
                                          <p:spTgt spid="12"/>
                                        </p:tgtEl>
                                      </p:cBhvr>
                                      <p:to x="100000" y="100000"/>
                                    </p:animScale>
                                    <p:animScale>
                                      <p:cBhvr>
                                        <p:cTn id="57" dur="26">
                                          <p:stCondLst>
                                            <p:cond delay="1808"/>
                                          </p:stCondLst>
                                        </p:cTn>
                                        <p:tgtEl>
                                          <p:spTgt spid="12"/>
                                        </p:tgtEl>
                                      </p:cBhvr>
                                      <p:to x="100000" y="95000"/>
                                    </p:animScale>
                                    <p:animScale>
                                      <p:cBhvr>
                                        <p:cTn id="58" dur="166" decel="50000">
                                          <p:stCondLst>
                                            <p:cond delay="1834"/>
                                          </p:stCondLst>
                                        </p:cTn>
                                        <p:tgtEl>
                                          <p:spTgt spid="12"/>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down)">
                                      <p:cBhvr>
                                        <p:cTn id="61" dur="580">
                                          <p:stCondLst>
                                            <p:cond delay="0"/>
                                          </p:stCondLst>
                                        </p:cTn>
                                        <p:tgtEl>
                                          <p:spTgt spid="13"/>
                                        </p:tgtEl>
                                      </p:cBhvr>
                                    </p:animEffect>
                                    <p:anim calcmode="lin" valueType="num">
                                      <p:cBhvr>
                                        <p:cTn id="6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67" dur="26">
                                          <p:stCondLst>
                                            <p:cond delay="650"/>
                                          </p:stCondLst>
                                        </p:cTn>
                                        <p:tgtEl>
                                          <p:spTgt spid="13"/>
                                        </p:tgtEl>
                                      </p:cBhvr>
                                      <p:to x="100000" y="60000"/>
                                    </p:animScale>
                                    <p:animScale>
                                      <p:cBhvr>
                                        <p:cTn id="68" dur="166" decel="50000">
                                          <p:stCondLst>
                                            <p:cond delay="676"/>
                                          </p:stCondLst>
                                        </p:cTn>
                                        <p:tgtEl>
                                          <p:spTgt spid="13"/>
                                        </p:tgtEl>
                                      </p:cBhvr>
                                      <p:to x="100000" y="100000"/>
                                    </p:animScale>
                                    <p:animScale>
                                      <p:cBhvr>
                                        <p:cTn id="69" dur="26">
                                          <p:stCondLst>
                                            <p:cond delay="1312"/>
                                          </p:stCondLst>
                                        </p:cTn>
                                        <p:tgtEl>
                                          <p:spTgt spid="13"/>
                                        </p:tgtEl>
                                      </p:cBhvr>
                                      <p:to x="100000" y="80000"/>
                                    </p:animScale>
                                    <p:animScale>
                                      <p:cBhvr>
                                        <p:cTn id="70" dur="166" decel="50000">
                                          <p:stCondLst>
                                            <p:cond delay="1338"/>
                                          </p:stCondLst>
                                        </p:cTn>
                                        <p:tgtEl>
                                          <p:spTgt spid="13"/>
                                        </p:tgtEl>
                                      </p:cBhvr>
                                      <p:to x="100000" y="100000"/>
                                    </p:animScale>
                                    <p:animScale>
                                      <p:cBhvr>
                                        <p:cTn id="71" dur="26">
                                          <p:stCondLst>
                                            <p:cond delay="1642"/>
                                          </p:stCondLst>
                                        </p:cTn>
                                        <p:tgtEl>
                                          <p:spTgt spid="13"/>
                                        </p:tgtEl>
                                      </p:cBhvr>
                                      <p:to x="100000" y="90000"/>
                                    </p:animScale>
                                    <p:animScale>
                                      <p:cBhvr>
                                        <p:cTn id="72" dur="166" decel="50000">
                                          <p:stCondLst>
                                            <p:cond delay="1668"/>
                                          </p:stCondLst>
                                        </p:cTn>
                                        <p:tgtEl>
                                          <p:spTgt spid="13"/>
                                        </p:tgtEl>
                                      </p:cBhvr>
                                      <p:to x="100000" y="100000"/>
                                    </p:animScale>
                                    <p:animScale>
                                      <p:cBhvr>
                                        <p:cTn id="73" dur="26">
                                          <p:stCondLst>
                                            <p:cond delay="1808"/>
                                          </p:stCondLst>
                                        </p:cTn>
                                        <p:tgtEl>
                                          <p:spTgt spid="13"/>
                                        </p:tgtEl>
                                      </p:cBhvr>
                                      <p:to x="100000" y="95000"/>
                                    </p:animScale>
                                    <p:animScale>
                                      <p:cBhvr>
                                        <p:cTn id="74" dur="166" decel="50000">
                                          <p:stCondLst>
                                            <p:cond delay="1834"/>
                                          </p:stCondLst>
                                        </p:cTn>
                                        <p:tgtEl>
                                          <p:spTgt spid="13"/>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ipe(down)">
                                      <p:cBhvr>
                                        <p:cTn id="77" dur="580">
                                          <p:stCondLst>
                                            <p:cond delay="0"/>
                                          </p:stCondLst>
                                        </p:cTn>
                                        <p:tgtEl>
                                          <p:spTgt spid="14"/>
                                        </p:tgtEl>
                                      </p:cBhvr>
                                    </p:animEffect>
                                    <p:anim calcmode="lin" valueType="num">
                                      <p:cBhvr>
                                        <p:cTn id="7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83" dur="26">
                                          <p:stCondLst>
                                            <p:cond delay="650"/>
                                          </p:stCondLst>
                                        </p:cTn>
                                        <p:tgtEl>
                                          <p:spTgt spid="14"/>
                                        </p:tgtEl>
                                      </p:cBhvr>
                                      <p:to x="100000" y="60000"/>
                                    </p:animScale>
                                    <p:animScale>
                                      <p:cBhvr>
                                        <p:cTn id="84" dur="166" decel="50000">
                                          <p:stCondLst>
                                            <p:cond delay="676"/>
                                          </p:stCondLst>
                                        </p:cTn>
                                        <p:tgtEl>
                                          <p:spTgt spid="14"/>
                                        </p:tgtEl>
                                      </p:cBhvr>
                                      <p:to x="100000" y="100000"/>
                                    </p:animScale>
                                    <p:animScale>
                                      <p:cBhvr>
                                        <p:cTn id="85" dur="26">
                                          <p:stCondLst>
                                            <p:cond delay="1312"/>
                                          </p:stCondLst>
                                        </p:cTn>
                                        <p:tgtEl>
                                          <p:spTgt spid="14"/>
                                        </p:tgtEl>
                                      </p:cBhvr>
                                      <p:to x="100000" y="80000"/>
                                    </p:animScale>
                                    <p:animScale>
                                      <p:cBhvr>
                                        <p:cTn id="86" dur="166" decel="50000">
                                          <p:stCondLst>
                                            <p:cond delay="1338"/>
                                          </p:stCondLst>
                                        </p:cTn>
                                        <p:tgtEl>
                                          <p:spTgt spid="14"/>
                                        </p:tgtEl>
                                      </p:cBhvr>
                                      <p:to x="100000" y="100000"/>
                                    </p:animScale>
                                    <p:animScale>
                                      <p:cBhvr>
                                        <p:cTn id="87" dur="26">
                                          <p:stCondLst>
                                            <p:cond delay="1642"/>
                                          </p:stCondLst>
                                        </p:cTn>
                                        <p:tgtEl>
                                          <p:spTgt spid="14"/>
                                        </p:tgtEl>
                                      </p:cBhvr>
                                      <p:to x="100000" y="90000"/>
                                    </p:animScale>
                                    <p:animScale>
                                      <p:cBhvr>
                                        <p:cTn id="88" dur="166" decel="50000">
                                          <p:stCondLst>
                                            <p:cond delay="1668"/>
                                          </p:stCondLst>
                                        </p:cTn>
                                        <p:tgtEl>
                                          <p:spTgt spid="14"/>
                                        </p:tgtEl>
                                      </p:cBhvr>
                                      <p:to x="100000" y="100000"/>
                                    </p:animScale>
                                    <p:animScale>
                                      <p:cBhvr>
                                        <p:cTn id="89" dur="26">
                                          <p:stCondLst>
                                            <p:cond delay="1808"/>
                                          </p:stCondLst>
                                        </p:cTn>
                                        <p:tgtEl>
                                          <p:spTgt spid="14"/>
                                        </p:tgtEl>
                                      </p:cBhvr>
                                      <p:to x="100000" y="95000"/>
                                    </p:animScale>
                                    <p:animScale>
                                      <p:cBhvr>
                                        <p:cTn id="90" dur="166" decel="50000">
                                          <p:stCondLst>
                                            <p:cond delay="1834"/>
                                          </p:stCondLst>
                                        </p:cTn>
                                        <p:tgtEl>
                                          <p:spTgt spid="14"/>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wipe(down)">
                                      <p:cBhvr>
                                        <p:cTn id="93" dur="580">
                                          <p:stCondLst>
                                            <p:cond delay="0"/>
                                          </p:stCondLst>
                                        </p:cTn>
                                        <p:tgtEl>
                                          <p:spTgt spid="15"/>
                                        </p:tgtEl>
                                      </p:cBhvr>
                                    </p:animEffect>
                                    <p:anim calcmode="lin" valueType="num">
                                      <p:cBhvr>
                                        <p:cTn id="94"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99" dur="26">
                                          <p:stCondLst>
                                            <p:cond delay="650"/>
                                          </p:stCondLst>
                                        </p:cTn>
                                        <p:tgtEl>
                                          <p:spTgt spid="15"/>
                                        </p:tgtEl>
                                      </p:cBhvr>
                                      <p:to x="100000" y="60000"/>
                                    </p:animScale>
                                    <p:animScale>
                                      <p:cBhvr>
                                        <p:cTn id="100" dur="166" decel="50000">
                                          <p:stCondLst>
                                            <p:cond delay="676"/>
                                          </p:stCondLst>
                                        </p:cTn>
                                        <p:tgtEl>
                                          <p:spTgt spid="15"/>
                                        </p:tgtEl>
                                      </p:cBhvr>
                                      <p:to x="100000" y="100000"/>
                                    </p:animScale>
                                    <p:animScale>
                                      <p:cBhvr>
                                        <p:cTn id="101" dur="26">
                                          <p:stCondLst>
                                            <p:cond delay="1312"/>
                                          </p:stCondLst>
                                        </p:cTn>
                                        <p:tgtEl>
                                          <p:spTgt spid="15"/>
                                        </p:tgtEl>
                                      </p:cBhvr>
                                      <p:to x="100000" y="80000"/>
                                    </p:animScale>
                                    <p:animScale>
                                      <p:cBhvr>
                                        <p:cTn id="102" dur="166" decel="50000">
                                          <p:stCondLst>
                                            <p:cond delay="1338"/>
                                          </p:stCondLst>
                                        </p:cTn>
                                        <p:tgtEl>
                                          <p:spTgt spid="15"/>
                                        </p:tgtEl>
                                      </p:cBhvr>
                                      <p:to x="100000" y="100000"/>
                                    </p:animScale>
                                    <p:animScale>
                                      <p:cBhvr>
                                        <p:cTn id="103" dur="26">
                                          <p:stCondLst>
                                            <p:cond delay="1642"/>
                                          </p:stCondLst>
                                        </p:cTn>
                                        <p:tgtEl>
                                          <p:spTgt spid="15"/>
                                        </p:tgtEl>
                                      </p:cBhvr>
                                      <p:to x="100000" y="90000"/>
                                    </p:animScale>
                                    <p:animScale>
                                      <p:cBhvr>
                                        <p:cTn id="104" dur="166" decel="50000">
                                          <p:stCondLst>
                                            <p:cond delay="1668"/>
                                          </p:stCondLst>
                                        </p:cTn>
                                        <p:tgtEl>
                                          <p:spTgt spid="15"/>
                                        </p:tgtEl>
                                      </p:cBhvr>
                                      <p:to x="100000" y="100000"/>
                                    </p:animScale>
                                    <p:animScale>
                                      <p:cBhvr>
                                        <p:cTn id="105" dur="26">
                                          <p:stCondLst>
                                            <p:cond delay="1808"/>
                                          </p:stCondLst>
                                        </p:cTn>
                                        <p:tgtEl>
                                          <p:spTgt spid="15"/>
                                        </p:tgtEl>
                                      </p:cBhvr>
                                      <p:to x="100000" y="95000"/>
                                    </p:animScale>
                                    <p:animScale>
                                      <p:cBhvr>
                                        <p:cTn id="106" dur="166" decel="50000">
                                          <p:stCondLst>
                                            <p:cond delay="1834"/>
                                          </p:stCondLst>
                                        </p:cTn>
                                        <p:tgtEl>
                                          <p:spTgt spid="15"/>
                                        </p:tgtEl>
                                      </p:cBhvr>
                                      <p:to x="100000" y="100000"/>
                                    </p:animScale>
                                  </p:childTnLst>
                                </p:cTn>
                              </p:par>
                              <p:par>
                                <p:cTn id="107" presetID="26"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wipe(down)">
                                      <p:cBhvr>
                                        <p:cTn id="109" dur="580">
                                          <p:stCondLst>
                                            <p:cond delay="0"/>
                                          </p:stCondLst>
                                        </p:cTn>
                                        <p:tgtEl>
                                          <p:spTgt spid="16"/>
                                        </p:tgtEl>
                                      </p:cBhvr>
                                    </p:animEffect>
                                    <p:anim calcmode="lin" valueType="num">
                                      <p:cBhvr>
                                        <p:cTn id="11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15" dur="26">
                                          <p:stCondLst>
                                            <p:cond delay="650"/>
                                          </p:stCondLst>
                                        </p:cTn>
                                        <p:tgtEl>
                                          <p:spTgt spid="16"/>
                                        </p:tgtEl>
                                      </p:cBhvr>
                                      <p:to x="100000" y="60000"/>
                                    </p:animScale>
                                    <p:animScale>
                                      <p:cBhvr>
                                        <p:cTn id="116" dur="166" decel="50000">
                                          <p:stCondLst>
                                            <p:cond delay="676"/>
                                          </p:stCondLst>
                                        </p:cTn>
                                        <p:tgtEl>
                                          <p:spTgt spid="16"/>
                                        </p:tgtEl>
                                      </p:cBhvr>
                                      <p:to x="100000" y="100000"/>
                                    </p:animScale>
                                    <p:animScale>
                                      <p:cBhvr>
                                        <p:cTn id="117" dur="26">
                                          <p:stCondLst>
                                            <p:cond delay="1312"/>
                                          </p:stCondLst>
                                        </p:cTn>
                                        <p:tgtEl>
                                          <p:spTgt spid="16"/>
                                        </p:tgtEl>
                                      </p:cBhvr>
                                      <p:to x="100000" y="80000"/>
                                    </p:animScale>
                                    <p:animScale>
                                      <p:cBhvr>
                                        <p:cTn id="118" dur="166" decel="50000">
                                          <p:stCondLst>
                                            <p:cond delay="1338"/>
                                          </p:stCondLst>
                                        </p:cTn>
                                        <p:tgtEl>
                                          <p:spTgt spid="16"/>
                                        </p:tgtEl>
                                      </p:cBhvr>
                                      <p:to x="100000" y="100000"/>
                                    </p:animScale>
                                    <p:animScale>
                                      <p:cBhvr>
                                        <p:cTn id="119" dur="26">
                                          <p:stCondLst>
                                            <p:cond delay="1642"/>
                                          </p:stCondLst>
                                        </p:cTn>
                                        <p:tgtEl>
                                          <p:spTgt spid="16"/>
                                        </p:tgtEl>
                                      </p:cBhvr>
                                      <p:to x="100000" y="90000"/>
                                    </p:animScale>
                                    <p:animScale>
                                      <p:cBhvr>
                                        <p:cTn id="120" dur="166" decel="50000">
                                          <p:stCondLst>
                                            <p:cond delay="1668"/>
                                          </p:stCondLst>
                                        </p:cTn>
                                        <p:tgtEl>
                                          <p:spTgt spid="16"/>
                                        </p:tgtEl>
                                      </p:cBhvr>
                                      <p:to x="100000" y="100000"/>
                                    </p:animScale>
                                    <p:animScale>
                                      <p:cBhvr>
                                        <p:cTn id="121" dur="26">
                                          <p:stCondLst>
                                            <p:cond delay="1808"/>
                                          </p:stCondLst>
                                        </p:cTn>
                                        <p:tgtEl>
                                          <p:spTgt spid="16"/>
                                        </p:tgtEl>
                                      </p:cBhvr>
                                      <p:to x="100000" y="95000"/>
                                    </p:animScale>
                                    <p:animScale>
                                      <p:cBhvr>
                                        <p:cTn id="122" dur="166" decel="50000">
                                          <p:stCondLst>
                                            <p:cond delay="1834"/>
                                          </p:stCondLst>
                                        </p:cTn>
                                        <p:tgtEl>
                                          <p:spTgt spid="16"/>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17"/>
                                        </p:tgtEl>
                                        <p:attrNameLst>
                                          <p:attrName>style.visibility</p:attrName>
                                        </p:attrNameLst>
                                      </p:cBhvr>
                                      <p:to>
                                        <p:strVal val="visible"/>
                                      </p:to>
                                    </p:set>
                                    <p:animEffect transition="in" filter="wipe(down)">
                                      <p:cBhvr>
                                        <p:cTn id="125" dur="580">
                                          <p:stCondLst>
                                            <p:cond delay="0"/>
                                          </p:stCondLst>
                                        </p:cTn>
                                        <p:tgtEl>
                                          <p:spTgt spid="17"/>
                                        </p:tgtEl>
                                      </p:cBhvr>
                                    </p:animEffect>
                                    <p:anim calcmode="lin" valueType="num">
                                      <p:cBhvr>
                                        <p:cTn id="126"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1" dur="26">
                                          <p:stCondLst>
                                            <p:cond delay="650"/>
                                          </p:stCondLst>
                                        </p:cTn>
                                        <p:tgtEl>
                                          <p:spTgt spid="17"/>
                                        </p:tgtEl>
                                      </p:cBhvr>
                                      <p:to x="100000" y="60000"/>
                                    </p:animScale>
                                    <p:animScale>
                                      <p:cBhvr>
                                        <p:cTn id="132" dur="166" decel="50000">
                                          <p:stCondLst>
                                            <p:cond delay="676"/>
                                          </p:stCondLst>
                                        </p:cTn>
                                        <p:tgtEl>
                                          <p:spTgt spid="17"/>
                                        </p:tgtEl>
                                      </p:cBhvr>
                                      <p:to x="100000" y="100000"/>
                                    </p:animScale>
                                    <p:animScale>
                                      <p:cBhvr>
                                        <p:cTn id="133" dur="26">
                                          <p:stCondLst>
                                            <p:cond delay="1312"/>
                                          </p:stCondLst>
                                        </p:cTn>
                                        <p:tgtEl>
                                          <p:spTgt spid="17"/>
                                        </p:tgtEl>
                                      </p:cBhvr>
                                      <p:to x="100000" y="80000"/>
                                    </p:animScale>
                                    <p:animScale>
                                      <p:cBhvr>
                                        <p:cTn id="134" dur="166" decel="50000">
                                          <p:stCondLst>
                                            <p:cond delay="1338"/>
                                          </p:stCondLst>
                                        </p:cTn>
                                        <p:tgtEl>
                                          <p:spTgt spid="17"/>
                                        </p:tgtEl>
                                      </p:cBhvr>
                                      <p:to x="100000" y="100000"/>
                                    </p:animScale>
                                    <p:animScale>
                                      <p:cBhvr>
                                        <p:cTn id="135" dur="26">
                                          <p:stCondLst>
                                            <p:cond delay="1642"/>
                                          </p:stCondLst>
                                        </p:cTn>
                                        <p:tgtEl>
                                          <p:spTgt spid="17"/>
                                        </p:tgtEl>
                                      </p:cBhvr>
                                      <p:to x="100000" y="90000"/>
                                    </p:animScale>
                                    <p:animScale>
                                      <p:cBhvr>
                                        <p:cTn id="136" dur="166" decel="50000">
                                          <p:stCondLst>
                                            <p:cond delay="1668"/>
                                          </p:stCondLst>
                                        </p:cTn>
                                        <p:tgtEl>
                                          <p:spTgt spid="17"/>
                                        </p:tgtEl>
                                      </p:cBhvr>
                                      <p:to x="100000" y="100000"/>
                                    </p:animScale>
                                    <p:animScale>
                                      <p:cBhvr>
                                        <p:cTn id="137" dur="26">
                                          <p:stCondLst>
                                            <p:cond delay="1808"/>
                                          </p:stCondLst>
                                        </p:cTn>
                                        <p:tgtEl>
                                          <p:spTgt spid="17"/>
                                        </p:tgtEl>
                                      </p:cBhvr>
                                      <p:to x="100000" y="95000"/>
                                    </p:animScale>
                                    <p:animScale>
                                      <p:cBhvr>
                                        <p:cTn id="138" dur="166" decel="50000">
                                          <p:stCondLst>
                                            <p:cond delay="1834"/>
                                          </p:stCondLst>
                                        </p:cTn>
                                        <p:tgtEl>
                                          <p:spTgt spid="17"/>
                                        </p:tgtEl>
                                      </p:cBhvr>
                                      <p:to x="100000" y="100000"/>
                                    </p:animScale>
                                  </p:childTnLst>
                                </p:cTn>
                              </p:par>
                              <p:par>
                                <p:cTn id="139" presetID="26" presetClass="entr" presetSubtype="0" fill="hold" grpId="0" nodeType="withEffect">
                                  <p:stCondLst>
                                    <p:cond delay="0"/>
                                  </p:stCondLst>
                                  <p:childTnLst>
                                    <p:set>
                                      <p:cBhvr>
                                        <p:cTn id="140" dur="1" fill="hold">
                                          <p:stCondLst>
                                            <p:cond delay="0"/>
                                          </p:stCondLst>
                                        </p:cTn>
                                        <p:tgtEl>
                                          <p:spTgt spid="18"/>
                                        </p:tgtEl>
                                        <p:attrNameLst>
                                          <p:attrName>style.visibility</p:attrName>
                                        </p:attrNameLst>
                                      </p:cBhvr>
                                      <p:to>
                                        <p:strVal val="visible"/>
                                      </p:to>
                                    </p:set>
                                    <p:animEffect transition="in" filter="wipe(down)">
                                      <p:cBhvr>
                                        <p:cTn id="141" dur="580">
                                          <p:stCondLst>
                                            <p:cond delay="0"/>
                                          </p:stCondLst>
                                        </p:cTn>
                                        <p:tgtEl>
                                          <p:spTgt spid="18"/>
                                        </p:tgtEl>
                                      </p:cBhvr>
                                    </p:animEffect>
                                    <p:anim calcmode="lin" valueType="num">
                                      <p:cBhvr>
                                        <p:cTn id="142"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147" dur="26">
                                          <p:stCondLst>
                                            <p:cond delay="650"/>
                                          </p:stCondLst>
                                        </p:cTn>
                                        <p:tgtEl>
                                          <p:spTgt spid="18"/>
                                        </p:tgtEl>
                                      </p:cBhvr>
                                      <p:to x="100000" y="60000"/>
                                    </p:animScale>
                                    <p:animScale>
                                      <p:cBhvr>
                                        <p:cTn id="148" dur="166" decel="50000">
                                          <p:stCondLst>
                                            <p:cond delay="676"/>
                                          </p:stCondLst>
                                        </p:cTn>
                                        <p:tgtEl>
                                          <p:spTgt spid="18"/>
                                        </p:tgtEl>
                                      </p:cBhvr>
                                      <p:to x="100000" y="100000"/>
                                    </p:animScale>
                                    <p:animScale>
                                      <p:cBhvr>
                                        <p:cTn id="149" dur="26">
                                          <p:stCondLst>
                                            <p:cond delay="1312"/>
                                          </p:stCondLst>
                                        </p:cTn>
                                        <p:tgtEl>
                                          <p:spTgt spid="18"/>
                                        </p:tgtEl>
                                      </p:cBhvr>
                                      <p:to x="100000" y="80000"/>
                                    </p:animScale>
                                    <p:animScale>
                                      <p:cBhvr>
                                        <p:cTn id="150" dur="166" decel="50000">
                                          <p:stCondLst>
                                            <p:cond delay="1338"/>
                                          </p:stCondLst>
                                        </p:cTn>
                                        <p:tgtEl>
                                          <p:spTgt spid="18"/>
                                        </p:tgtEl>
                                      </p:cBhvr>
                                      <p:to x="100000" y="100000"/>
                                    </p:animScale>
                                    <p:animScale>
                                      <p:cBhvr>
                                        <p:cTn id="151" dur="26">
                                          <p:stCondLst>
                                            <p:cond delay="1642"/>
                                          </p:stCondLst>
                                        </p:cTn>
                                        <p:tgtEl>
                                          <p:spTgt spid="18"/>
                                        </p:tgtEl>
                                      </p:cBhvr>
                                      <p:to x="100000" y="90000"/>
                                    </p:animScale>
                                    <p:animScale>
                                      <p:cBhvr>
                                        <p:cTn id="152" dur="166" decel="50000">
                                          <p:stCondLst>
                                            <p:cond delay="1668"/>
                                          </p:stCondLst>
                                        </p:cTn>
                                        <p:tgtEl>
                                          <p:spTgt spid="18"/>
                                        </p:tgtEl>
                                      </p:cBhvr>
                                      <p:to x="100000" y="100000"/>
                                    </p:animScale>
                                    <p:animScale>
                                      <p:cBhvr>
                                        <p:cTn id="153" dur="26">
                                          <p:stCondLst>
                                            <p:cond delay="1808"/>
                                          </p:stCondLst>
                                        </p:cTn>
                                        <p:tgtEl>
                                          <p:spTgt spid="18"/>
                                        </p:tgtEl>
                                      </p:cBhvr>
                                      <p:to x="100000" y="95000"/>
                                    </p:animScale>
                                    <p:animScale>
                                      <p:cBhvr>
                                        <p:cTn id="154" dur="166" decel="50000">
                                          <p:stCondLst>
                                            <p:cond delay="1834"/>
                                          </p:stCondLst>
                                        </p:cTn>
                                        <p:tgtEl>
                                          <p:spTgt spid="18"/>
                                        </p:tgtEl>
                                      </p:cBhvr>
                                      <p:to x="100000" y="100000"/>
                                    </p:animScale>
                                  </p:childTnLst>
                                </p:cTn>
                              </p:par>
                              <p:par>
                                <p:cTn id="155" presetID="26" presetClass="entr" presetSubtype="0" fill="hold" grpId="0" nodeType="withEffect">
                                  <p:stCondLst>
                                    <p:cond delay="0"/>
                                  </p:stCondLst>
                                  <p:childTnLst>
                                    <p:set>
                                      <p:cBhvr>
                                        <p:cTn id="156" dur="1" fill="hold">
                                          <p:stCondLst>
                                            <p:cond delay="0"/>
                                          </p:stCondLst>
                                        </p:cTn>
                                        <p:tgtEl>
                                          <p:spTgt spid="19"/>
                                        </p:tgtEl>
                                        <p:attrNameLst>
                                          <p:attrName>style.visibility</p:attrName>
                                        </p:attrNameLst>
                                      </p:cBhvr>
                                      <p:to>
                                        <p:strVal val="visible"/>
                                      </p:to>
                                    </p:set>
                                    <p:animEffect transition="in" filter="wipe(down)">
                                      <p:cBhvr>
                                        <p:cTn id="157" dur="580">
                                          <p:stCondLst>
                                            <p:cond delay="0"/>
                                          </p:stCondLst>
                                        </p:cTn>
                                        <p:tgtEl>
                                          <p:spTgt spid="19"/>
                                        </p:tgtEl>
                                      </p:cBhvr>
                                    </p:animEffect>
                                    <p:anim calcmode="lin" valueType="num">
                                      <p:cBhvr>
                                        <p:cTn id="158"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159"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160"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161"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62"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63" dur="26">
                                          <p:stCondLst>
                                            <p:cond delay="650"/>
                                          </p:stCondLst>
                                        </p:cTn>
                                        <p:tgtEl>
                                          <p:spTgt spid="19"/>
                                        </p:tgtEl>
                                      </p:cBhvr>
                                      <p:to x="100000" y="60000"/>
                                    </p:animScale>
                                    <p:animScale>
                                      <p:cBhvr>
                                        <p:cTn id="164" dur="166" decel="50000">
                                          <p:stCondLst>
                                            <p:cond delay="676"/>
                                          </p:stCondLst>
                                        </p:cTn>
                                        <p:tgtEl>
                                          <p:spTgt spid="19"/>
                                        </p:tgtEl>
                                      </p:cBhvr>
                                      <p:to x="100000" y="100000"/>
                                    </p:animScale>
                                    <p:animScale>
                                      <p:cBhvr>
                                        <p:cTn id="165" dur="26">
                                          <p:stCondLst>
                                            <p:cond delay="1312"/>
                                          </p:stCondLst>
                                        </p:cTn>
                                        <p:tgtEl>
                                          <p:spTgt spid="19"/>
                                        </p:tgtEl>
                                      </p:cBhvr>
                                      <p:to x="100000" y="80000"/>
                                    </p:animScale>
                                    <p:animScale>
                                      <p:cBhvr>
                                        <p:cTn id="166" dur="166" decel="50000">
                                          <p:stCondLst>
                                            <p:cond delay="1338"/>
                                          </p:stCondLst>
                                        </p:cTn>
                                        <p:tgtEl>
                                          <p:spTgt spid="19"/>
                                        </p:tgtEl>
                                      </p:cBhvr>
                                      <p:to x="100000" y="100000"/>
                                    </p:animScale>
                                    <p:animScale>
                                      <p:cBhvr>
                                        <p:cTn id="167" dur="26">
                                          <p:stCondLst>
                                            <p:cond delay="1642"/>
                                          </p:stCondLst>
                                        </p:cTn>
                                        <p:tgtEl>
                                          <p:spTgt spid="19"/>
                                        </p:tgtEl>
                                      </p:cBhvr>
                                      <p:to x="100000" y="90000"/>
                                    </p:animScale>
                                    <p:animScale>
                                      <p:cBhvr>
                                        <p:cTn id="168" dur="166" decel="50000">
                                          <p:stCondLst>
                                            <p:cond delay="1668"/>
                                          </p:stCondLst>
                                        </p:cTn>
                                        <p:tgtEl>
                                          <p:spTgt spid="19"/>
                                        </p:tgtEl>
                                      </p:cBhvr>
                                      <p:to x="100000" y="100000"/>
                                    </p:animScale>
                                    <p:animScale>
                                      <p:cBhvr>
                                        <p:cTn id="169" dur="26">
                                          <p:stCondLst>
                                            <p:cond delay="1808"/>
                                          </p:stCondLst>
                                        </p:cTn>
                                        <p:tgtEl>
                                          <p:spTgt spid="19"/>
                                        </p:tgtEl>
                                      </p:cBhvr>
                                      <p:to x="100000" y="95000"/>
                                    </p:animScale>
                                    <p:animScale>
                                      <p:cBhvr>
                                        <p:cTn id="170" dur="166" decel="50000">
                                          <p:stCondLst>
                                            <p:cond delay="1834"/>
                                          </p:stCondLst>
                                        </p:cTn>
                                        <p:tgtEl>
                                          <p:spTgt spid="19"/>
                                        </p:tgtEl>
                                      </p:cBhvr>
                                      <p:to x="100000" y="100000"/>
                                    </p:animScale>
                                  </p:childTnLst>
                                </p:cTn>
                              </p:par>
                              <p:par>
                                <p:cTn id="171" presetID="26" presetClass="entr" presetSubtype="0" fill="hold" grpId="0" nodeType="withEffect">
                                  <p:stCondLst>
                                    <p:cond delay="0"/>
                                  </p:stCondLst>
                                  <p:childTnLst>
                                    <p:set>
                                      <p:cBhvr>
                                        <p:cTn id="172" dur="1" fill="hold">
                                          <p:stCondLst>
                                            <p:cond delay="0"/>
                                          </p:stCondLst>
                                        </p:cTn>
                                        <p:tgtEl>
                                          <p:spTgt spid="20"/>
                                        </p:tgtEl>
                                        <p:attrNameLst>
                                          <p:attrName>style.visibility</p:attrName>
                                        </p:attrNameLst>
                                      </p:cBhvr>
                                      <p:to>
                                        <p:strVal val="visible"/>
                                      </p:to>
                                    </p:set>
                                    <p:animEffect transition="in" filter="wipe(down)">
                                      <p:cBhvr>
                                        <p:cTn id="173" dur="580">
                                          <p:stCondLst>
                                            <p:cond delay="0"/>
                                          </p:stCondLst>
                                        </p:cTn>
                                        <p:tgtEl>
                                          <p:spTgt spid="20"/>
                                        </p:tgtEl>
                                      </p:cBhvr>
                                    </p:animEffect>
                                    <p:anim calcmode="lin" valueType="num">
                                      <p:cBhvr>
                                        <p:cTn id="174"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75"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76"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177"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178"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179" dur="26">
                                          <p:stCondLst>
                                            <p:cond delay="650"/>
                                          </p:stCondLst>
                                        </p:cTn>
                                        <p:tgtEl>
                                          <p:spTgt spid="20"/>
                                        </p:tgtEl>
                                      </p:cBhvr>
                                      <p:to x="100000" y="60000"/>
                                    </p:animScale>
                                    <p:animScale>
                                      <p:cBhvr>
                                        <p:cTn id="180" dur="166" decel="50000">
                                          <p:stCondLst>
                                            <p:cond delay="676"/>
                                          </p:stCondLst>
                                        </p:cTn>
                                        <p:tgtEl>
                                          <p:spTgt spid="20"/>
                                        </p:tgtEl>
                                      </p:cBhvr>
                                      <p:to x="100000" y="100000"/>
                                    </p:animScale>
                                    <p:animScale>
                                      <p:cBhvr>
                                        <p:cTn id="181" dur="26">
                                          <p:stCondLst>
                                            <p:cond delay="1312"/>
                                          </p:stCondLst>
                                        </p:cTn>
                                        <p:tgtEl>
                                          <p:spTgt spid="20"/>
                                        </p:tgtEl>
                                      </p:cBhvr>
                                      <p:to x="100000" y="80000"/>
                                    </p:animScale>
                                    <p:animScale>
                                      <p:cBhvr>
                                        <p:cTn id="182" dur="166" decel="50000">
                                          <p:stCondLst>
                                            <p:cond delay="1338"/>
                                          </p:stCondLst>
                                        </p:cTn>
                                        <p:tgtEl>
                                          <p:spTgt spid="20"/>
                                        </p:tgtEl>
                                      </p:cBhvr>
                                      <p:to x="100000" y="100000"/>
                                    </p:animScale>
                                    <p:animScale>
                                      <p:cBhvr>
                                        <p:cTn id="183" dur="26">
                                          <p:stCondLst>
                                            <p:cond delay="1642"/>
                                          </p:stCondLst>
                                        </p:cTn>
                                        <p:tgtEl>
                                          <p:spTgt spid="20"/>
                                        </p:tgtEl>
                                      </p:cBhvr>
                                      <p:to x="100000" y="90000"/>
                                    </p:animScale>
                                    <p:animScale>
                                      <p:cBhvr>
                                        <p:cTn id="184" dur="166" decel="50000">
                                          <p:stCondLst>
                                            <p:cond delay="1668"/>
                                          </p:stCondLst>
                                        </p:cTn>
                                        <p:tgtEl>
                                          <p:spTgt spid="20"/>
                                        </p:tgtEl>
                                      </p:cBhvr>
                                      <p:to x="100000" y="100000"/>
                                    </p:animScale>
                                    <p:animScale>
                                      <p:cBhvr>
                                        <p:cTn id="185" dur="26">
                                          <p:stCondLst>
                                            <p:cond delay="1808"/>
                                          </p:stCondLst>
                                        </p:cTn>
                                        <p:tgtEl>
                                          <p:spTgt spid="20"/>
                                        </p:tgtEl>
                                      </p:cBhvr>
                                      <p:to x="100000" y="95000"/>
                                    </p:animScale>
                                    <p:animScale>
                                      <p:cBhvr>
                                        <p:cTn id="186" dur="166" decel="50000">
                                          <p:stCondLst>
                                            <p:cond delay="1834"/>
                                          </p:stCondLst>
                                        </p:cTn>
                                        <p:tgtEl>
                                          <p:spTgt spid="20"/>
                                        </p:tgtEl>
                                      </p:cBhvr>
                                      <p:to x="100000" y="100000"/>
                                    </p:animScale>
                                  </p:childTnLst>
                                </p:cTn>
                              </p:par>
                              <p:par>
                                <p:cTn id="187" presetID="26" presetClass="entr" presetSubtype="0" fill="hold" grpId="0" nodeType="withEffect">
                                  <p:stCondLst>
                                    <p:cond delay="0"/>
                                  </p:stCondLst>
                                  <p:childTnLst>
                                    <p:set>
                                      <p:cBhvr>
                                        <p:cTn id="188" dur="1" fill="hold">
                                          <p:stCondLst>
                                            <p:cond delay="0"/>
                                          </p:stCondLst>
                                        </p:cTn>
                                        <p:tgtEl>
                                          <p:spTgt spid="21"/>
                                        </p:tgtEl>
                                        <p:attrNameLst>
                                          <p:attrName>style.visibility</p:attrName>
                                        </p:attrNameLst>
                                      </p:cBhvr>
                                      <p:to>
                                        <p:strVal val="visible"/>
                                      </p:to>
                                    </p:set>
                                    <p:animEffect transition="in" filter="wipe(down)">
                                      <p:cBhvr>
                                        <p:cTn id="189" dur="580">
                                          <p:stCondLst>
                                            <p:cond delay="0"/>
                                          </p:stCondLst>
                                        </p:cTn>
                                        <p:tgtEl>
                                          <p:spTgt spid="21"/>
                                        </p:tgtEl>
                                      </p:cBhvr>
                                    </p:animEffect>
                                    <p:anim calcmode="lin" valueType="num">
                                      <p:cBhvr>
                                        <p:cTn id="190"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195" dur="26">
                                          <p:stCondLst>
                                            <p:cond delay="650"/>
                                          </p:stCondLst>
                                        </p:cTn>
                                        <p:tgtEl>
                                          <p:spTgt spid="21"/>
                                        </p:tgtEl>
                                      </p:cBhvr>
                                      <p:to x="100000" y="60000"/>
                                    </p:animScale>
                                    <p:animScale>
                                      <p:cBhvr>
                                        <p:cTn id="196" dur="166" decel="50000">
                                          <p:stCondLst>
                                            <p:cond delay="676"/>
                                          </p:stCondLst>
                                        </p:cTn>
                                        <p:tgtEl>
                                          <p:spTgt spid="21"/>
                                        </p:tgtEl>
                                      </p:cBhvr>
                                      <p:to x="100000" y="100000"/>
                                    </p:animScale>
                                    <p:animScale>
                                      <p:cBhvr>
                                        <p:cTn id="197" dur="26">
                                          <p:stCondLst>
                                            <p:cond delay="1312"/>
                                          </p:stCondLst>
                                        </p:cTn>
                                        <p:tgtEl>
                                          <p:spTgt spid="21"/>
                                        </p:tgtEl>
                                      </p:cBhvr>
                                      <p:to x="100000" y="80000"/>
                                    </p:animScale>
                                    <p:animScale>
                                      <p:cBhvr>
                                        <p:cTn id="198" dur="166" decel="50000">
                                          <p:stCondLst>
                                            <p:cond delay="1338"/>
                                          </p:stCondLst>
                                        </p:cTn>
                                        <p:tgtEl>
                                          <p:spTgt spid="21"/>
                                        </p:tgtEl>
                                      </p:cBhvr>
                                      <p:to x="100000" y="100000"/>
                                    </p:animScale>
                                    <p:animScale>
                                      <p:cBhvr>
                                        <p:cTn id="199" dur="26">
                                          <p:stCondLst>
                                            <p:cond delay="1642"/>
                                          </p:stCondLst>
                                        </p:cTn>
                                        <p:tgtEl>
                                          <p:spTgt spid="21"/>
                                        </p:tgtEl>
                                      </p:cBhvr>
                                      <p:to x="100000" y="90000"/>
                                    </p:animScale>
                                    <p:animScale>
                                      <p:cBhvr>
                                        <p:cTn id="200" dur="166" decel="50000">
                                          <p:stCondLst>
                                            <p:cond delay="1668"/>
                                          </p:stCondLst>
                                        </p:cTn>
                                        <p:tgtEl>
                                          <p:spTgt spid="21"/>
                                        </p:tgtEl>
                                      </p:cBhvr>
                                      <p:to x="100000" y="100000"/>
                                    </p:animScale>
                                    <p:animScale>
                                      <p:cBhvr>
                                        <p:cTn id="201" dur="26">
                                          <p:stCondLst>
                                            <p:cond delay="1808"/>
                                          </p:stCondLst>
                                        </p:cTn>
                                        <p:tgtEl>
                                          <p:spTgt spid="21"/>
                                        </p:tgtEl>
                                      </p:cBhvr>
                                      <p:to x="100000" y="95000"/>
                                    </p:animScale>
                                    <p:animScale>
                                      <p:cBhvr>
                                        <p:cTn id="202" dur="166" decel="50000">
                                          <p:stCondLst>
                                            <p:cond delay="1834"/>
                                          </p:stCondLst>
                                        </p:cTn>
                                        <p:tgtEl>
                                          <p:spTgt spid="21"/>
                                        </p:tgtEl>
                                      </p:cBhvr>
                                      <p:to x="100000" y="100000"/>
                                    </p:animScale>
                                  </p:childTnLst>
                                </p:cTn>
                              </p:par>
                              <p:par>
                                <p:cTn id="203" presetID="26" presetClass="entr" presetSubtype="0" fill="hold" grpId="0" nodeType="withEffect">
                                  <p:stCondLst>
                                    <p:cond delay="0"/>
                                  </p:stCondLst>
                                  <p:childTnLst>
                                    <p:set>
                                      <p:cBhvr>
                                        <p:cTn id="204" dur="1" fill="hold">
                                          <p:stCondLst>
                                            <p:cond delay="0"/>
                                          </p:stCondLst>
                                        </p:cTn>
                                        <p:tgtEl>
                                          <p:spTgt spid="22"/>
                                        </p:tgtEl>
                                        <p:attrNameLst>
                                          <p:attrName>style.visibility</p:attrName>
                                        </p:attrNameLst>
                                      </p:cBhvr>
                                      <p:to>
                                        <p:strVal val="visible"/>
                                      </p:to>
                                    </p:set>
                                    <p:animEffect transition="in" filter="wipe(down)">
                                      <p:cBhvr>
                                        <p:cTn id="205" dur="580">
                                          <p:stCondLst>
                                            <p:cond delay="0"/>
                                          </p:stCondLst>
                                        </p:cTn>
                                        <p:tgtEl>
                                          <p:spTgt spid="22"/>
                                        </p:tgtEl>
                                      </p:cBhvr>
                                    </p:animEffect>
                                    <p:anim calcmode="lin" valueType="num">
                                      <p:cBhvr>
                                        <p:cTn id="206"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07"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08"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09"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10"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11" dur="26">
                                          <p:stCondLst>
                                            <p:cond delay="650"/>
                                          </p:stCondLst>
                                        </p:cTn>
                                        <p:tgtEl>
                                          <p:spTgt spid="22"/>
                                        </p:tgtEl>
                                      </p:cBhvr>
                                      <p:to x="100000" y="60000"/>
                                    </p:animScale>
                                    <p:animScale>
                                      <p:cBhvr>
                                        <p:cTn id="212" dur="166" decel="50000">
                                          <p:stCondLst>
                                            <p:cond delay="676"/>
                                          </p:stCondLst>
                                        </p:cTn>
                                        <p:tgtEl>
                                          <p:spTgt spid="22"/>
                                        </p:tgtEl>
                                      </p:cBhvr>
                                      <p:to x="100000" y="100000"/>
                                    </p:animScale>
                                    <p:animScale>
                                      <p:cBhvr>
                                        <p:cTn id="213" dur="26">
                                          <p:stCondLst>
                                            <p:cond delay="1312"/>
                                          </p:stCondLst>
                                        </p:cTn>
                                        <p:tgtEl>
                                          <p:spTgt spid="22"/>
                                        </p:tgtEl>
                                      </p:cBhvr>
                                      <p:to x="100000" y="80000"/>
                                    </p:animScale>
                                    <p:animScale>
                                      <p:cBhvr>
                                        <p:cTn id="214" dur="166" decel="50000">
                                          <p:stCondLst>
                                            <p:cond delay="1338"/>
                                          </p:stCondLst>
                                        </p:cTn>
                                        <p:tgtEl>
                                          <p:spTgt spid="22"/>
                                        </p:tgtEl>
                                      </p:cBhvr>
                                      <p:to x="100000" y="100000"/>
                                    </p:animScale>
                                    <p:animScale>
                                      <p:cBhvr>
                                        <p:cTn id="215" dur="26">
                                          <p:stCondLst>
                                            <p:cond delay="1642"/>
                                          </p:stCondLst>
                                        </p:cTn>
                                        <p:tgtEl>
                                          <p:spTgt spid="22"/>
                                        </p:tgtEl>
                                      </p:cBhvr>
                                      <p:to x="100000" y="90000"/>
                                    </p:animScale>
                                    <p:animScale>
                                      <p:cBhvr>
                                        <p:cTn id="216" dur="166" decel="50000">
                                          <p:stCondLst>
                                            <p:cond delay="1668"/>
                                          </p:stCondLst>
                                        </p:cTn>
                                        <p:tgtEl>
                                          <p:spTgt spid="22"/>
                                        </p:tgtEl>
                                      </p:cBhvr>
                                      <p:to x="100000" y="100000"/>
                                    </p:animScale>
                                    <p:animScale>
                                      <p:cBhvr>
                                        <p:cTn id="217" dur="26">
                                          <p:stCondLst>
                                            <p:cond delay="1808"/>
                                          </p:stCondLst>
                                        </p:cTn>
                                        <p:tgtEl>
                                          <p:spTgt spid="22"/>
                                        </p:tgtEl>
                                      </p:cBhvr>
                                      <p:to x="100000" y="95000"/>
                                    </p:animScale>
                                    <p:animScale>
                                      <p:cBhvr>
                                        <p:cTn id="218" dur="166" decel="50000">
                                          <p:stCondLst>
                                            <p:cond delay="1834"/>
                                          </p:stCondLst>
                                        </p:cTn>
                                        <p:tgtEl>
                                          <p:spTgt spid="22"/>
                                        </p:tgtEl>
                                      </p:cBhvr>
                                      <p:to x="100000" y="100000"/>
                                    </p:animScale>
                                  </p:childTnLst>
                                </p:cTn>
                              </p:par>
                              <p:par>
                                <p:cTn id="219" presetID="26" presetClass="entr" presetSubtype="0" fill="hold" grpId="0" nodeType="withEffect">
                                  <p:stCondLst>
                                    <p:cond delay="0"/>
                                  </p:stCondLst>
                                  <p:childTnLst>
                                    <p:set>
                                      <p:cBhvr>
                                        <p:cTn id="220" dur="1" fill="hold">
                                          <p:stCondLst>
                                            <p:cond delay="0"/>
                                          </p:stCondLst>
                                        </p:cTn>
                                        <p:tgtEl>
                                          <p:spTgt spid="23"/>
                                        </p:tgtEl>
                                        <p:attrNameLst>
                                          <p:attrName>style.visibility</p:attrName>
                                        </p:attrNameLst>
                                      </p:cBhvr>
                                      <p:to>
                                        <p:strVal val="visible"/>
                                      </p:to>
                                    </p:set>
                                    <p:animEffect transition="in" filter="wipe(down)">
                                      <p:cBhvr>
                                        <p:cTn id="221" dur="580">
                                          <p:stCondLst>
                                            <p:cond delay="0"/>
                                          </p:stCondLst>
                                        </p:cTn>
                                        <p:tgtEl>
                                          <p:spTgt spid="23"/>
                                        </p:tgtEl>
                                      </p:cBhvr>
                                    </p:animEffect>
                                    <p:anim calcmode="lin" valueType="num">
                                      <p:cBhvr>
                                        <p:cTn id="222"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223"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224"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225"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226"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227" dur="26">
                                          <p:stCondLst>
                                            <p:cond delay="650"/>
                                          </p:stCondLst>
                                        </p:cTn>
                                        <p:tgtEl>
                                          <p:spTgt spid="23"/>
                                        </p:tgtEl>
                                      </p:cBhvr>
                                      <p:to x="100000" y="60000"/>
                                    </p:animScale>
                                    <p:animScale>
                                      <p:cBhvr>
                                        <p:cTn id="228" dur="166" decel="50000">
                                          <p:stCondLst>
                                            <p:cond delay="676"/>
                                          </p:stCondLst>
                                        </p:cTn>
                                        <p:tgtEl>
                                          <p:spTgt spid="23"/>
                                        </p:tgtEl>
                                      </p:cBhvr>
                                      <p:to x="100000" y="100000"/>
                                    </p:animScale>
                                    <p:animScale>
                                      <p:cBhvr>
                                        <p:cTn id="229" dur="26">
                                          <p:stCondLst>
                                            <p:cond delay="1312"/>
                                          </p:stCondLst>
                                        </p:cTn>
                                        <p:tgtEl>
                                          <p:spTgt spid="23"/>
                                        </p:tgtEl>
                                      </p:cBhvr>
                                      <p:to x="100000" y="80000"/>
                                    </p:animScale>
                                    <p:animScale>
                                      <p:cBhvr>
                                        <p:cTn id="230" dur="166" decel="50000">
                                          <p:stCondLst>
                                            <p:cond delay="1338"/>
                                          </p:stCondLst>
                                        </p:cTn>
                                        <p:tgtEl>
                                          <p:spTgt spid="23"/>
                                        </p:tgtEl>
                                      </p:cBhvr>
                                      <p:to x="100000" y="100000"/>
                                    </p:animScale>
                                    <p:animScale>
                                      <p:cBhvr>
                                        <p:cTn id="231" dur="26">
                                          <p:stCondLst>
                                            <p:cond delay="1642"/>
                                          </p:stCondLst>
                                        </p:cTn>
                                        <p:tgtEl>
                                          <p:spTgt spid="23"/>
                                        </p:tgtEl>
                                      </p:cBhvr>
                                      <p:to x="100000" y="90000"/>
                                    </p:animScale>
                                    <p:animScale>
                                      <p:cBhvr>
                                        <p:cTn id="232" dur="166" decel="50000">
                                          <p:stCondLst>
                                            <p:cond delay="1668"/>
                                          </p:stCondLst>
                                        </p:cTn>
                                        <p:tgtEl>
                                          <p:spTgt spid="23"/>
                                        </p:tgtEl>
                                      </p:cBhvr>
                                      <p:to x="100000" y="100000"/>
                                    </p:animScale>
                                    <p:animScale>
                                      <p:cBhvr>
                                        <p:cTn id="233" dur="26">
                                          <p:stCondLst>
                                            <p:cond delay="1808"/>
                                          </p:stCondLst>
                                        </p:cTn>
                                        <p:tgtEl>
                                          <p:spTgt spid="23"/>
                                        </p:tgtEl>
                                      </p:cBhvr>
                                      <p:to x="100000" y="95000"/>
                                    </p:animScale>
                                    <p:animScale>
                                      <p:cBhvr>
                                        <p:cTn id="234" dur="166" decel="50000">
                                          <p:stCondLst>
                                            <p:cond delay="1834"/>
                                          </p:stCondLst>
                                        </p:cTn>
                                        <p:tgtEl>
                                          <p:spTgt spid="23"/>
                                        </p:tgtEl>
                                      </p:cBhvr>
                                      <p:to x="100000" y="100000"/>
                                    </p:animScale>
                                  </p:childTnLst>
                                </p:cTn>
                              </p:par>
                            </p:childTnLst>
                          </p:cTn>
                        </p:par>
                      </p:childTnLst>
                    </p:cTn>
                  </p:par>
                  <p:par>
                    <p:cTn id="235" fill="hold">
                      <p:stCondLst>
                        <p:cond delay="indefinite"/>
                      </p:stCondLst>
                      <p:childTnLst>
                        <p:par>
                          <p:cTn id="236" fill="hold">
                            <p:stCondLst>
                              <p:cond delay="0"/>
                            </p:stCondLst>
                            <p:childTnLst>
                              <p:par>
                                <p:cTn id="237" presetID="12" presetClass="entr" presetSubtype="4" fill="hold" grpId="0" nodeType="clickEffect">
                                  <p:stCondLst>
                                    <p:cond delay="0"/>
                                  </p:stCondLst>
                                  <p:childTnLst>
                                    <p:set>
                                      <p:cBhvr>
                                        <p:cTn id="238" dur="1" fill="hold">
                                          <p:stCondLst>
                                            <p:cond delay="0"/>
                                          </p:stCondLst>
                                        </p:cTn>
                                        <p:tgtEl>
                                          <p:spTgt spid="6"/>
                                        </p:tgtEl>
                                        <p:attrNameLst>
                                          <p:attrName>style.visibility</p:attrName>
                                        </p:attrNameLst>
                                      </p:cBhvr>
                                      <p:to>
                                        <p:strVal val="visible"/>
                                      </p:to>
                                    </p:set>
                                    <p:animEffect transition="in" filter="slide(fromBottom)">
                                      <p:cBhvr>
                                        <p:cTn id="239" dur="500"/>
                                        <p:tgtEl>
                                          <p:spTgt spid="6"/>
                                        </p:tgtEl>
                                      </p:cBhvr>
                                    </p:animEffect>
                                  </p:childTnLst>
                                </p:cTn>
                              </p:par>
                              <p:par>
                                <p:cTn id="240" presetID="12" presetClass="entr" presetSubtype="4" fill="hold" grpId="0" nodeType="withEffect">
                                  <p:stCondLst>
                                    <p:cond delay="0"/>
                                  </p:stCondLst>
                                  <p:childTnLst>
                                    <p:set>
                                      <p:cBhvr>
                                        <p:cTn id="241" dur="1" fill="hold">
                                          <p:stCondLst>
                                            <p:cond delay="0"/>
                                          </p:stCondLst>
                                        </p:cTn>
                                        <p:tgtEl>
                                          <p:spTgt spid="7"/>
                                        </p:tgtEl>
                                        <p:attrNameLst>
                                          <p:attrName>style.visibility</p:attrName>
                                        </p:attrNameLst>
                                      </p:cBhvr>
                                      <p:to>
                                        <p:strVal val="visible"/>
                                      </p:to>
                                    </p:set>
                                    <p:animEffect transition="in" filter="slide(fromBottom)">
                                      <p:cBhvr>
                                        <p:cTn id="242" dur="500"/>
                                        <p:tgtEl>
                                          <p:spTgt spid="7"/>
                                        </p:tgtEl>
                                      </p:cBhvr>
                                    </p:animEffect>
                                  </p:childTnLst>
                                </p:cTn>
                              </p:par>
                              <p:par>
                                <p:cTn id="243" presetID="12" presetClass="entr" presetSubtype="4" fill="hold" grpId="0" nodeType="withEffect">
                                  <p:stCondLst>
                                    <p:cond delay="0"/>
                                  </p:stCondLst>
                                  <p:childTnLst>
                                    <p:set>
                                      <p:cBhvr>
                                        <p:cTn id="244" dur="1" fill="hold">
                                          <p:stCondLst>
                                            <p:cond delay="0"/>
                                          </p:stCondLst>
                                        </p:cTn>
                                        <p:tgtEl>
                                          <p:spTgt spid="8"/>
                                        </p:tgtEl>
                                        <p:attrNameLst>
                                          <p:attrName>style.visibility</p:attrName>
                                        </p:attrNameLst>
                                      </p:cBhvr>
                                      <p:to>
                                        <p:strVal val="visible"/>
                                      </p:to>
                                    </p:set>
                                    <p:animEffect transition="in" filter="slide(fromBottom)">
                                      <p:cBhvr>
                                        <p:cTn id="245" dur="500"/>
                                        <p:tgtEl>
                                          <p:spTgt spid="8"/>
                                        </p:tgtEl>
                                      </p:cBhvr>
                                    </p:animEffect>
                                  </p:childTnLst>
                                </p:cTn>
                              </p:par>
                              <p:par>
                                <p:cTn id="246" presetID="12" presetClass="entr" presetSubtype="4" fill="hold" grpId="0" nodeType="withEffect">
                                  <p:stCondLst>
                                    <p:cond delay="0"/>
                                  </p:stCondLst>
                                  <p:childTnLst>
                                    <p:set>
                                      <p:cBhvr>
                                        <p:cTn id="247" dur="1" fill="hold">
                                          <p:stCondLst>
                                            <p:cond delay="0"/>
                                          </p:stCondLst>
                                        </p:cTn>
                                        <p:tgtEl>
                                          <p:spTgt spid="9"/>
                                        </p:tgtEl>
                                        <p:attrNameLst>
                                          <p:attrName>style.visibility</p:attrName>
                                        </p:attrNameLst>
                                      </p:cBhvr>
                                      <p:to>
                                        <p:strVal val="visible"/>
                                      </p:to>
                                    </p:set>
                                    <p:animEffect transition="in" filter="slide(fromBottom)">
                                      <p:cBhvr>
                                        <p:cTn id="248" dur="500"/>
                                        <p:tgtEl>
                                          <p:spTgt spid="9"/>
                                        </p:tgtEl>
                                      </p:cBhvr>
                                    </p:animEffect>
                                  </p:childTnLst>
                                </p:cTn>
                              </p:par>
                            </p:childTnLst>
                          </p:cTn>
                        </p:par>
                      </p:childTnLst>
                    </p:cTn>
                  </p:par>
                  <p:par>
                    <p:cTn id="249" fill="hold">
                      <p:stCondLst>
                        <p:cond delay="indefinite"/>
                      </p:stCondLst>
                      <p:childTnLst>
                        <p:par>
                          <p:cTn id="250" fill="hold">
                            <p:stCondLst>
                              <p:cond delay="0"/>
                            </p:stCondLst>
                            <p:childTnLst>
                              <p:par>
                                <p:cTn id="251" presetID="20" presetClass="entr" presetSubtype="0" fill="hold" grpId="0" nodeType="clickEffect">
                                  <p:stCondLst>
                                    <p:cond delay="0"/>
                                  </p:stCondLst>
                                  <p:childTnLst>
                                    <p:set>
                                      <p:cBhvr>
                                        <p:cTn id="252" dur="1" fill="hold">
                                          <p:stCondLst>
                                            <p:cond delay="0"/>
                                          </p:stCondLst>
                                        </p:cTn>
                                        <p:tgtEl>
                                          <p:spTgt spid="24"/>
                                        </p:tgtEl>
                                        <p:attrNameLst>
                                          <p:attrName>style.visibility</p:attrName>
                                        </p:attrNameLst>
                                      </p:cBhvr>
                                      <p:to>
                                        <p:strVal val="visible"/>
                                      </p:to>
                                    </p:set>
                                    <p:animEffect transition="in" filter="wedge">
                                      <p:cBhvr>
                                        <p:cTn id="253"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3" grpId="0"/>
      <p:bldP spid="14" grpId="0"/>
      <p:bldP spid="15" grpId="0"/>
      <p:bldP spid="16" grpId="0"/>
      <p:bldP spid="17" grpId="0"/>
      <p:bldP spid="18" grpId="0"/>
      <p:bldP spid="19" grpId="0"/>
      <p:bldP spid="20" grpId="0"/>
      <p:bldP spid="21" grpId="0"/>
      <p:bldP spid="22" grpId="0"/>
      <p:bldP spid="23" grpId="0"/>
      <p:bldP spid="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04800"/>
            <a:ext cx="8382000" cy="1569660"/>
          </a:xfrm>
          <a:prstGeom prst="rect">
            <a:avLst/>
          </a:prstGeom>
        </p:spPr>
        <p:txBody>
          <a:bodyPr wrap="square">
            <a:spAutoFit/>
          </a:bodyPr>
          <a:lstStyle/>
          <a:p>
            <a:r>
              <a:rPr lang="en-US" sz="3200" dirty="0" smtClean="0"/>
              <a:t>8. If lines r and s are parallel and measure </a:t>
            </a:r>
          </a:p>
          <a:p>
            <a:r>
              <a:rPr lang="en-US" sz="3200" dirty="0" smtClean="0"/>
              <a:t>    of angle 2 is equal to 38°, what is the </a:t>
            </a:r>
          </a:p>
          <a:p>
            <a:r>
              <a:rPr lang="en-US" sz="3200" dirty="0" smtClean="0"/>
              <a:t>    measure of angle 6?</a:t>
            </a:r>
          </a:p>
        </p:txBody>
      </p:sp>
      <p:sp>
        <p:nvSpPr>
          <p:cNvPr id="6" name="Rectangle 5"/>
          <p:cNvSpPr/>
          <p:nvPr/>
        </p:nvSpPr>
        <p:spPr>
          <a:xfrm>
            <a:off x="1905000" y="4114800"/>
            <a:ext cx="1138453" cy="584775"/>
          </a:xfrm>
          <a:prstGeom prst="rect">
            <a:avLst/>
          </a:prstGeom>
        </p:spPr>
        <p:txBody>
          <a:bodyPr wrap="none">
            <a:spAutoFit/>
          </a:bodyPr>
          <a:lstStyle/>
          <a:p>
            <a:r>
              <a:rPr lang="en-US" sz="3200" dirty="0" smtClean="0"/>
              <a:t>a. 38°</a:t>
            </a:r>
            <a:endParaRPr lang="en-US" sz="3200" dirty="0"/>
          </a:p>
        </p:txBody>
      </p:sp>
      <p:sp>
        <p:nvSpPr>
          <p:cNvPr id="7" name="Rectangle 6"/>
          <p:cNvSpPr/>
          <p:nvPr/>
        </p:nvSpPr>
        <p:spPr>
          <a:xfrm>
            <a:off x="1856373" y="4800600"/>
            <a:ext cx="1143646" cy="584775"/>
          </a:xfrm>
          <a:prstGeom prst="rect">
            <a:avLst/>
          </a:prstGeom>
        </p:spPr>
        <p:txBody>
          <a:bodyPr wrap="none">
            <a:spAutoFit/>
          </a:bodyPr>
          <a:lstStyle/>
          <a:p>
            <a:r>
              <a:rPr lang="en-US" sz="3200" dirty="0" smtClean="0"/>
              <a:t>b. 52°</a:t>
            </a:r>
            <a:endParaRPr lang="en-US" sz="3200" dirty="0"/>
          </a:p>
        </p:txBody>
      </p:sp>
      <p:sp>
        <p:nvSpPr>
          <p:cNvPr id="8" name="Rectangle 7"/>
          <p:cNvSpPr/>
          <p:nvPr/>
        </p:nvSpPr>
        <p:spPr>
          <a:xfrm>
            <a:off x="4950448" y="4114800"/>
            <a:ext cx="1195327" cy="584775"/>
          </a:xfrm>
          <a:prstGeom prst="rect">
            <a:avLst/>
          </a:prstGeom>
        </p:spPr>
        <p:txBody>
          <a:bodyPr wrap="none">
            <a:spAutoFit/>
          </a:bodyPr>
          <a:lstStyle/>
          <a:p>
            <a:r>
              <a:rPr lang="en-US" sz="3200" dirty="0" smtClean="0"/>
              <a:t>c. 68°</a:t>
            </a:r>
            <a:endParaRPr lang="en-US" sz="3200" dirty="0"/>
          </a:p>
        </p:txBody>
      </p:sp>
      <p:sp>
        <p:nvSpPr>
          <p:cNvPr id="9" name="Rectangle 8"/>
          <p:cNvSpPr/>
          <p:nvPr/>
        </p:nvSpPr>
        <p:spPr>
          <a:xfrm>
            <a:off x="4936822" y="4813300"/>
            <a:ext cx="1311578" cy="584775"/>
          </a:xfrm>
          <a:prstGeom prst="rect">
            <a:avLst/>
          </a:prstGeom>
        </p:spPr>
        <p:txBody>
          <a:bodyPr wrap="none">
            <a:spAutoFit/>
          </a:bodyPr>
          <a:lstStyle/>
          <a:p>
            <a:r>
              <a:rPr lang="en-US" sz="3200" dirty="0" smtClean="0"/>
              <a:t>d. 142°</a:t>
            </a:r>
          </a:p>
        </p:txBody>
      </p:sp>
      <p:cxnSp>
        <p:nvCxnSpPr>
          <p:cNvPr id="24" name="AutoShape 2"/>
          <p:cNvCxnSpPr>
            <a:cxnSpLocks noChangeShapeType="1"/>
          </p:cNvCxnSpPr>
          <p:nvPr/>
        </p:nvCxnSpPr>
        <p:spPr bwMode="auto">
          <a:xfrm rot="5400000" flipH="1" flipV="1">
            <a:off x="4651375" y="2133600"/>
            <a:ext cx="1828800" cy="1828800"/>
          </a:xfrm>
          <a:prstGeom prst="straightConnector1">
            <a:avLst/>
          </a:prstGeom>
          <a:noFill/>
          <a:ln w="38100">
            <a:solidFill>
              <a:schemeClr val="tx1"/>
            </a:solidFill>
            <a:round/>
            <a:headEnd type="triangle" w="med" len="med"/>
            <a:tailEnd type="triangle" w="med" len="med"/>
          </a:ln>
        </p:spPr>
      </p:cxnSp>
      <p:cxnSp>
        <p:nvCxnSpPr>
          <p:cNvPr id="25" name="AutoShape 3"/>
          <p:cNvCxnSpPr>
            <a:cxnSpLocks noChangeShapeType="1"/>
          </p:cNvCxnSpPr>
          <p:nvPr/>
        </p:nvCxnSpPr>
        <p:spPr bwMode="auto">
          <a:xfrm>
            <a:off x="1984375" y="2895600"/>
            <a:ext cx="4873625" cy="0"/>
          </a:xfrm>
          <a:prstGeom prst="straightConnector1">
            <a:avLst/>
          </a:prstGeom>
          <a:noFill/>
          <a:ln w="38100">
            <a:solidFill>
              <a:schemeClr val="tx1"/>
            </a:solidFill>
            <a:round/>
            <a:headEnd type="triangle" w="med" len="med"/>
            <a:tailEnd type="triangle" w="med" len="med"/>
          </a:ln>
        </p:spPr>
      </p:cxnSp>
      <p:cxnSp>
        <p:nvCxnSpPr>
          <p:cNvPr id="26" name="AutoShape 4"/>
          <p:cNvCxnSpPr>
            <a:cxnSpLocks noChangeShapeType="1"/>
          </p:cNvCxnSpPr>
          <p:nvPr/>
        </p:nvCxnSpPr>
        <p:spPr bwMode="auto">
          <a:xfrm flipV="1">
            <a:off x="2570162" y="2057400"/>
            <a:ext cx="1876425" cy="1674814"/>
          </a:xfrm>
          <a:prstGeom prst="straightConnector1">
            <a:avLst/>
          </a:prstGeom>
          <a:noFill/>
          <a:ln w="38100">
            <a:solidFill>
              <a:schemeClr val="tx1"/>
            </a:solidFill>
            <a:round/>
            <a:headEnd type="triangle" w="med" len="med"/>
            <a:tailEnd type="triangle" w="med" len="med"/>
          </a:ln>
        </p:spPr>
      </p:cxnSp>
      <p:sp>
        <p:nvSpPr>
          <p:cNvPr id="27" name="Rectangle 26"/>
          <p:cNvSpPr/>
          <p:nvPr/>
        </p:nvSpPr>
        <p:spPr>
          <a:xfrm>
            <a:off x="4422775" y="1752600"/>
            <a:ext cx="266420" cy="369332"/>
          </a:xfrm>
          <a:prstGeom prst="rect">
            <a:avLst/>
          </a:prstGeom>
        </p:spPr>
        <p:txBody>
          <a:bodyPr wrap="none">
            <a:spAutoFit/>
          </a:bodyPr>
          <a:lstStyle/>
          <a:p>
            <a:r>
              <a:rPr lang="en-US" b="1" dirty="0" smtClean="0"/>
              <a:t>r</a:t>
            </a:r>
            <a:endParaRPr lang="en-US" b="1" dirty="0"/>
          </a:p>
        </p:txBody>
      </p:sp>
      <p:sp>
        <p:nvSpPr>
          <p:cNvPr id="28" name="Rectangle 27"/>
          <p:cNvSpPr/>
          <p:nvPr/>
        </p:nvSpPr>
        <p:spPr>
          <a:xfrm>
            <a:off x="6480175" y="1840468"/>
            <a:ext cx="277640" cy="369332"/>
          </a:xfrm>
          <a:prstGeom prst="rect">
            <a:avLst/>
          </a:prstGeom>
        </p:spPr>
        <p:txBody>
          <a:bodyPr wrap="none">
            <a:spAutoFit/>
          </a:bodyPr>
          <a:lstStyle/>
          <a:p>
            <a:r>
              <a:rPr lang="en-US" b="1" dirty="0" smtClean="0"/>
              <a:t>s</a:t>
            </a:r>
            <a:endParaRPr lang="en-US" b="1" dirty="0"/>
          </a:p>
        </p:txBody>
      </p:sp>
      <p:sp>
        <p:nvSpPr>
          <p:cNvPr id="29" name="Rectangle 28"/>
          <p:cNvSpPr/>
          <p:nvPr/>
        </p:nvSpPr>
        <p:spPr>
          <a:xfrm>
            <a:off x="1654579" y="2602468"/>
            <a:ext cx="266420" cy="369332"/>
          </a:xfrm>
          <a:prstGeom prst="rect">
            <a:avLst/>
          </a:prstGeom>
        </p:spPr>
        <p:txBody>
          <a:bodyPr wrap="none">
            <a:spAutoFit/>
          </a:bodyPr>
          <a:lstStyle/>
          <a:p>
            <a:r>
              <a:rPr lang="en-US" b="1" dirty="0" smtClean="0"/>
              <a:t>t</a:t>
            </a:r>
            <a:endParaRPr lang="en-US" b="1" dirty="0"/>
          </a:p>
        </p:txBody>
      </p:sp>
      <p:sp>
        <p:nvSpPr>
          <p:cNvPr id="30" name="Rectangle 29"/>
          <p:cNvSpPr/>
          <p:nvPr/>
        </p:nvSpPr>
        <p:spPr>
          <a:xfrm>
            <a:off x="3203575" y="2526268"/>
            <a:ext cx="301686" cy="369332"/>
          </a:xfrm>
          <a:prstGeom prst="rect">
            <a:avLst/>
          </a:prstGeom>
        </p:spPr>
        <p:txBody>
          <a:bodyPr wrap="none">
            <a:spAutoFit/>
          </a:bodyPr>
          <a:lstStyle/>
          <a:p>
            <a:r>
              <a:rPr lang="en-US" b="1" dirty="0" smtClean="0"/>
              <a:t>1</a:t>
            </a:r>
            <a:endParaRPr lang="en-US" b="1" dirty="0"/>
          </a:p>
        </p:txBody>
      </p:sp>
      <p:sp>
        <p:nvSpPr>
          <p:cNvPr id="31" name="Rectangle 30"/>
          <p:cNvSpPr/>
          <p:nvPr/>
        </p:nvSpPr>
        <p:spPr>
          <a:xfrm>
            <a:off x="2670175" y="2895600"/>
            <a:ext cx="301686" cy="369332"/>
          </a:xfrm>
          <a:prstGeom prst="rect">
            <a:avLst/>
          </a:prstGeom>
        </p:spPr>
        <p:txBody>
          <a:bodyPr wrap="none">
            <a:spAutoFit/>
          </a:bodyPr>
          <a:lstStyle/>
          <a:p>
            <a:r>
              <a:rPr lang="en-US" b="1" dirty="0" smtClean="0"/>
              <a:t>2</a:t>
            </a:r>
            <a:endParaRPr lang="en-US" b="1" dirty="0"/>
          </a:p>
        </p:txBody>
      </p:sp>
      <p:sp>
        <p:nvSpPr>
          <p:cNvPr id="32" name="Rectangle 31"/>
          <p:cNvSpPr/>
          <p:nvPr/>
        </p:nvSpPr>
        <p:spPr>
          <a:xfrm>
            <a:off x="3884475" y="2514600"/>
            <a:ext cx="309700" cy="369332"/>
          </a:xfrm>
          <a:prstGeom prst="rect">
            <a:avLst/>
          </a:prstGeom>
        </p:spPr>
        <p:txBody>
          <a:bodyPr wrap="none">
            <a:spAutoFit/>
          </a:bodyPr>
          <a:lstStyle/>
          <a:p>
            <a:r>
              <a:rPr lang="en-US" b="1" dirty="0" smtClean="0"/>
              <a:t>4</a:t>
            </a:r>
            <a:endParaRPr lang="en-US" b="1" dirty="0"/>
          </a:p>
        </p:txBody>
      </p:sp>
      <p:sp>
        <p:nvSpPr>
          <p:cNvPr id="33" name="Rectangle 32"/>
          <p:cNvSpPr/>
          <p:nvPr/>
        </p:nvSpPr>
        <p:spPr>
          <a:xfrm>
            <a:off x="3584575" y="2895600"/>
            <a:ext cx="301686" cy="369332"/>
          </a:xfrm>
          <a:prstGeom prst="rect">
            <a:avLst/>
          </a:prstGeom>
        </p:spPr>
        <p:txBody>
          <a:bodyPr wrap="none">
            <a:spAutoFit/>
          </a:bodyPr>
          <a:lstStyle/>
          <a:p>
            <a:r>
              <a:rPr lang="en-US" b="1" dirty="0" smtClean="0"/>
              <a:t>3</a:t>
            </a:r>
            <a:endParaRPr lang="en-US" b="1" dirty="0"/>
          </a:p>
        </p:txBody>
      </p:sp>
      <p:sp>
        <p:nvSpPr>
          <p:cNvPr id="34" name="Rectangle 33"/>
          <p:cNvSpPr/>
          <p:nvPr/>
        </p:nvSpPr>
        <p:spPr>
          <a:xfrm>
            <a:off x="5413375" y="2526268"/>
            <a:ext cx="301686" cy="369332"/>
          </a:xfrm>
          <a:prstGeom prst="rect">
            <a:avLst/>
          </a:prstGeom>
        </p:spPr>
        <p:txBody>
          <a:bodyPr wrap="none">
            <a:spAutoFit/>
          </a:bodyPr>
          <a:lstStyle/>
          <a:p>
            <a:r>
              <a:rPr lang="en-US" b="1" dirty="0" smtClean="0"/>
              <a:t>5</a:t>
            </a:r>
            <a:endParaRPr lang="en-US" b="1" dirty="0"/>
          </a:p>
        </p:txBody>
      </p:sp>
      <p:sp>
        <p:nvSpPr>
          <p:cNvPr id="35" name="Rectangle 34"/>
          <p:cNvSpPr/>
          <p:nvPr/>
        </p:nvSpPr>
        <p:spPr>
          <a:xfrm>
            <a:off x="4879975" y="2895600"/>
            <a:ext cx="309700" cy="369332"/>
          </a:xfrm>
          <a:prstGeom prst="rect">
            <a:avLst/>
          </a:prstGeom>
        </p:spPr>
        <p:txBody>
          <a:bodyPr wrap="none">
            <a:spAutoFit/>
          </a:bodyPr>
          <a:lstStyle/>
          <a:p>
            <a:r>
              <a:rPr lang="en-US" b="1" dirty="0" smtClean="0"/>
              <a:t>6</a:t>
            </a:r>
            <a:endParaRPr lang="en-US" b="1" dirty="0"/>
          </a:p>
        </p:txBody>
      </p:sp>
      <p:sp>
        <p:nvSpPr>
          <p:cNvPr id="36" name="Rectangle 35"/>
          <p:cNvSpPr/>
          <p:nvPr/>
        </p:nvSpPr>
        <p:spPr>
          <a:xfrm>
            <a:off x="6094275" y="2514600"/>
            <a:ext cx="309700" cy="369332"/>
          </a:xfrm>
          <a:prstGeom prst="rect">
            <a:avLst/>
          </a:prstGeom>
        </p:spPr>
        <p:txBody>
          <a:bodyPr wrap="none">
            <a:spAutoFit/>
          </a:bodyPr>
          <a:lstStyle/>
          <a:p>
            <a:r>
              <a:rPr lang="en-US" b="1" dirty="0" smtClean="0"/>
              <a:t>8</a:t>
            </a:r>
            <a:endParaRPr lang="en-US" b="1" dirty="0"/>
          </a:p>
        </p:txBody>
      </p:sp>
      <p:sp>
        <p:nvSpPr>
          <p:cNvPr id="37" name="Rectangle 36"/>
          <p:cNvSpPr/>
          <p:nvPr/>
        </p:nvSpPr>
        <p:spPr>
          <a:xfrm>
            <a:off x="5794375" y="2895600"/>
            <a:ext cx="301686" cy="369332"/>
          </a:xfrm>
          <a:prstGeom prst="rect">
            <a:avLst/>
          </a:prstGeom>
        </p:spPr>
        <p:txBody>
          <a:bodyPr wrap="none">
            <a:spAutoFit/>
          </a:bodyPr>
          <a:lstStyle/>
          <a:p>
            <a:r>
              <a:rPr lang="en-US" b="1" dirty="0" smtClean="0"/>
              <a:t>7</a:t>
            </a:r>
            <a:endParaRPr lang="en-US" b="1" dirty="0"/>
          </a:p>
        </p:txBody>
      </p:sp>
      <p:sp>
        <p:nvSpPr>
          <p:cNvPr id="38" name="Rounded Rectangle 37"/>
          <p:cNvSpPr/>
          <p:nvPr/>
        </p:nvSpPr>
        <p:spPr>
          <a:xfrm>
            <a:off x="1905000" y="4191000"/>
            <a:ext cx="10668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wipe(down)">
                                      <p:cBhvr>
                                        <p:cTn id="13" dur="580">
                                          <p:stCondLst>
                                            <p:cond delay="0"/>
                                          </p:stCondLst>
                                        </p:cTn>
                                        <p:tgtEl>
                                          <p:spTgt spid="24"/>
                                        </p:tgtEl>
                                      </p:cBhvr>
                                    </p:animEffect>
                                    <p:anim calcmode="lin" valueType="num">
                                      <p:cBhvr>
                                        <p:cTn id="14"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9" dur="26">
                                          <p:stCondLst>
                                            <p:cond delay="650"/>
                                          </p:stCondLst>
                                        </p:cTn>
                                        <p:tgtEl>
                                          <p:spTgt spid="24"/>
                                        </p:tgtEl>
                                      </p:cBhvr>
                                      <p:to x="100000" y="60000"/>
                                    </p:animScale>
                                    <p:animScale>
                                      <p:cBhvr>
                                        <p:cTn id="20" dur="166" decel="50000">
                                          <p:stCondLst>
                                            <p:cond delay="676"/>
                                          </p:stCondLst>
                                        </p:cTn>
                                        <p:tgtEl>
                                          <p:spTgt spid="24"/>
                                        </p:tgtEl>
                                      </p:cBhvr>
                                      <p:to x="100000" y="100000"/>
                                    </p:animScale>
                                    <p:animScale>
                                      <p:cBhvr>
                                        <p:cTn id="21" dur="26">
                                          <p:stCondLst>
                                            <p:cond delay="1312"/>
                                          </p:stCondLst>
                                        </p:cTn>
                                        <p:tgtEl>
                                          <p:spTgt spid="24"/>
                                        </p:tgtEl>
                                      </p:cBhvr>
                                      <p:to x="100000" y="80000"/>
                                    </p:animScale>
                                    <p:animScale>
                                      <p:cBhvr>
                                        <p:cTn id="22" dur="166" decel="50000">
                                          <p:stCondLst>
                                            <p:cond delay="1338"/>
                                          </p:stCondLst>
                                        </p:cTn>
                                        <p:tgtEl>
                                          <p:spTgt spid="24"/>
                                        </p:tgtEl>
                                      </p:cBhvr>
                                      <p:to x="100000" y="100000"/>
                                    </p:animScale>
                                    <p:animScale>
                                      <p:cBhvr>
                                        <p:cTn id="23" dur="26">
                                          <p:stCondLst>
                                            <p:cond delay="1642"/>
                                          </p:stCondLst>
                                        </p:cTn>
                                        <p:tgtEl>
                                          <p:spTgt spid="24"/>
                                        </p:tgtEl>
                                      </p:cBhvr>
                                      <p:to x="100000" y="90000"/>
                                    </p:animScale>
                                    <p:animScale>
                                      <p:cBhvr>
                                        <p:cTn id="24" dur="166" decel="50000">
                                          <p:stCondLst>
                                            <p:cond delay="1668"/>
                                          </p:stCondLst>
                                        </p:cTn>
                                        <p:tgtEl>
                                          <p:spTgt spid="24"/>
                                        </p:tgtEl>
                                      </p:cBhvr>
                                      <p:to x="100000" y="100000"/>
                                    </p:animScale>
                                    <p:animScale>
                                      <p:cBhvr>
                                        <p:cTn id="25" dur="26">
                                          <p:stCondLst>
                                            <p:cond delay="1808"/>
                                          </p:stCondLst>
                                        </p:cTn>
                                        <p:tgtEl>
                                          <p:spTgt spid="24"/>
                                        </p:tgtEl>
                                      </p:cBhvr>
                                      <p:to x="100000" y="95000"/>
                                    </p:animScale>
                                    <p:animScale>
                                      <p:cBhvr>
                                        <p:cTn id="26" dur="166" decel="50000">
                                          <p:stCondLst>
                                            <p:cond delay="1834"/>
                                          </p:stCondLst>
                                        </p:cTn>
                                        <p:tgtEl>
                                          <p:spTgt spid="24"/>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down)">
                                      <p:cBhvr>
                                        <p:cTn id="29" dur="580">
                                          <p:stCondLst>
                                            <p:cond delay="0"/>
                                          </p:stCondLst>
                                        </p:cTn>
                                        <p:tgtEl>
                                          <p:spTgt spid="25"/>
                                        </p:tgtEl>
                                      </p:cBhvr>
                                    </p:animEffect>
                                    <p:anim calcmode="lin" valueType="num">
                                      <p:cBhvr>
                                        <p:cTn id="30"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35" dur="26">
                                          <p:stCondLst>
                                            <p:cond delay="650"/>
                                          </p:stCondLst>
                                        </p:cTn>
                                        <p:tgtEl>
                                          <p:spTgt spid="25"/>
                                        </p:tgtEl>
                                      </p:cBhvr>
                                      <p:to x="100000" y="60000"/>
                                    </p:animScale>
                                    <p:animScale>
                                      <p:cBhvr>
                                        <p:cTn id="36" dur="166" decel="50000">
                                          <p:stCondLst>
                                            <p:cond delay="676"/>
                                          </p:stCondLst>
                                        </p:cTn>
                                        <p:tgtEl>
                                          <p:spTgt spid="25"/>
                                        </p:tgtEl>
                                      </p:cBhvr>
                                      <p:to x="100000" y="100000"/>
                                    </p:animScale>
                                    <p:animScale>
                                      <p:cBhvr>
                                        <p:cTn id="37" dur="26">
                                          <p:stCondLst>
                                            <p:cond delay="1312"/>
                                          </p:stCondLst>
                                        </p:cTn>
                                        <p:tgtEl>
                                          <p:spTgt spid="25"/>
                                        </p:tgtEl>
                                      </p:cBhvr>
                                      <p:to x="100000" y="80000"/>
                                    </p:animScale>
                                    <p:animScale>
                                      <p:cBhvr>
                                        <p:cTn id="38" dur="166" decel="50000">
                                          <p:stCondLst>
                                            <p:cond delay="1338"/>
                                          </p:stCondLst>
                                        </p:cTn>
                                        <p:tgtEl>
                                          <p:spTgt spid="25"/>
                                        </p:tgtEl>
                                      </p:cBhvr>
                                      <p:to x="100000" y="100000"/>
                                    </p:animScale>
                                    <p:animScale>
                                      <p:cBhvr>
                                        <p:cTn id="39" dur="26">
                                          <p:stCondLst>
                                            <p:cond delay="1642"/>
                                          </p:stCondLst>
                                        </p:cTn>
                                        <p:tgtEl>
                                          <p:spTgt spid="25"/>
                                        </p:tgtEl>
                                      </p:cBhvr>
                                      <p:to x="100000" y="90000"/>
                                    </p:animScale>
                                    <p:animScale>
                                      <p:cBhvr>
                                        <p:cTn id="40" dur="166" decel="50000">
                                          <p:stCondLst>
                                            <p:cond delay="1668"/>
                                          </p:stCondLst>
                                        </p:cTn>
                                        <p:tgtEl>
                                          <p:spTgt spid="25"/>
                                        </p:tgtEl>
                                      </p:cBhvr>
                                      <p:to x="100000" y="100000"/>
                                    </p:animScale>
                                    <p:animScale>
                                      <p:cBhvr>
                                        <p:cTn id="41" dur="26">
                                          <p:stCondLst>
                                            <p:cond delay="1808"/>
                                          </p:stCondLst>
                                        </p:cTn>
                                        <p:tgtEl>
                                          <p:spTgt spid="25"/>
                                        </p:tgtEl>
                                      </p:cBhvr>
                                      <p:to x="100000" y="95000"/>
                                    </p:animScale>
                                    <p:animScale>
                                      <p:cBhvr>
                                        <p:cTn id="42" dur="166" decel="50000">
                                          <p:stCondLst>
                                            <p:cond delay="1834"/>
                                          </p:stCondLst>
                                        </p:cTn>
                                        <p:tgtEl>
                                          <p:spTgt spid="25"/>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down)">
                                      <p:cBhvr>
                                        <p:cTn id="45" dur="580">
                                          <p:stCondLst>
                                            <p:cond delay="0"/>
                                          </p:stCondLst>
                                        </p:cTn>
                                        <p:tgtEl>
                                          <p:spTgt spid="26"/>
                                        </p:tgtEl>
                                      </p:cBhvr>
                                    </p:animEffect>
                                    <p:anim calcmode="lin" valueType="num">
                                      <p:cBhvr>
                                        <p:cTn id="46"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51" dur="26">
                                          <p:stCondLst>
                                            <p:cond delay="650"/>
                                          </p:stCondLst>
                                        </p:cTn>
                                        <p:tgtEl>
                                          <p:spTgt spid="26"/>
                                        </p:tgtEl>
                                      </p:cBhvr>
                                      <p:to x="100000" y="60000"/>
                                    </p:animScale>
                                    <p:animScale>
                                      <p:cBhvr>
                                        <p:cTn id="52" dur="166" decel="50000">
                                          <p:stCondLst>
                                            <p:cond delay="676"/>
                                          </p:stCondLst>
                                        </p:cTn>
                                        <p:tgtEl>
                                          <p:spTgt spid="26"/>
                                        </p:tgtEl>
                                      </p:cBhvr>
                                      <p:to x="100000" y="100000"/>
                                    </p:animScale>
                                    <p:animScale>
                                      <p:cBhvr>
                                        <p:cTn id="53" dur="26">
                                          <p:stCondLst>
                                            <p:cond delay="1312"/>
                                          </p:stCondLst>
                                        </p:cTn>
                                        <p:tgtEl>
                                          <p:spTgt spid="26"/>
                                        </p:tgtEl>
                                      </p:cBhvr>
                                      <p:to x="100000" y="80000"/>
                                    </p:animScale>
                                    <p:animScale>
                                      <p:cBhvr>
                                        <p:cTn id="54" dur="166" decel="50000">
                                          <p:stCondLst>
                                            <p:cond delay="1338"/>
                                          </p:stCondLst>
                                        </p:cTn>
                                        <p:tgtEl>
                                          <p:spTgt spid="26"/>
                                        </p:tgtEl>
                                      </p:cBhvr>
                                      <p:to x="100000" y="100000"/>
                                    </p:animScale>
                                    <p:animScale>
                                      <p:cBhvr>
                                        <p:cTn id="55" dur="26">
                                          <p:stCondLst>
                                            <p:cond delay="1642"/>
                                          </p:stCondLst>
                                        </p:cTn>
                                        <p:tgtEl>
                                          <p:spTgt spid="26"/>
                                        </p:tgtEl>
                                      </p:cBhvr>
                                      <p:to x="100000" y="90000"/>
                                    </p:animScale>
                                    <p:animScale>
                                      <p:cBhvr>
                                        <p:cTn id="56" dur="166" decel="50000">
                                          <p:stCondLst>
                                            <p:cond delay="1668"/>
                                          </p:stCondLst>
                                        </p:cTn>
                                        <p:tgtEl>
                                          <p:spTgt spid="26"/>
                                        </p:tgtEl>
                                      </p:cBhvr>
                                      <p:to x="100000" y="100000"/>
                                    </p:animScale>
                                    <p:animScale>
                                      <p:cBhvr>
                                        <p:cTn id="57" dur="26">
                                          <p:stCondLst>
                                            <p:cond delay="1808"/>
                                          </p:stCondLst>
                                        </p:cTn>
                                        <p:tgtEl>
                                          <p:spTgt spid="26"/>
                                        </p:tgtEl>
                                      </p:cBhvr>
                                      <p:to x="100000" y="95000"/>
                                    </p:animScale>
                                    <p:animScale>
                                      <p:cBhvr>
                                        <p:cTn id="58" dur="166" decel="50000">
                                          <p:stCondLst>
                                            <p:cond delay="1834"/>
                                          </p:stCondLst>
                                        </p:cTn>
                                        <p:tgtEl>
                                          <p:spTgt spid="26"/>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down)">
                                      <p:cBhvr>
                                        <p:cTn id="61" dur="580">
                                          <p:stCondLst>
                                            <p:cond delay="0"/>
                                          </p:stCondLst>
                                        </p:cTn>
                                        <p:tgtEl>
                                          <p:spTgt spid="27"/>
                                        </p:tgtEl>
                                      </p:cBhvr>
                                    </p:animEffect>
                                    <p:anim calcmode="lin" valueType="num">
                                      <p:cBhvr>
                                        <p:cTn id="62"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67" dur="26">
                                          <p:stCondLst>
                                            <p:cond delay="650"/>
                                          </p:stCondLst>
                                        </p:cTn>
                                        <p:tgtEl>
                                          <p:spTgt spid="27"/>
                                        </p:tgtEl>
                                      </p:cBhvr>
                                      <p:to x="100000" y="60000"/>
                                    </p:animScale>
                                    <p:animScale>
                                      <p:cBhvr>
                                        <p:cTn id="68" dur="166" decel="50000">
                                          <p:stCondLst>
                                            <p:cond delay="676"/>
                                          </p:stCondLst>
                                        </p:cTn>
                                        <p:tgtEl>
                                          <p:spTgt spid="27"/>
                                        </p:tgtEl>
                                      </p:cBhvr>
                                      <p:to x="100000" y="100000"/>
                                    </p:animScale>
                                    <p:animScale>
                                      <p:cBhvr>
                                        <p:cTn id="69" dur="26">
                                          <p:stCondLst>
                                            <p:cond delay="1312"/>
                                          </p:stCondLst>
                                        </p:cTn>
                                        <p:tgtEl>
                                          <p:spTgt spid="27"/>
                                        </p:tgtEl>
                                      </p:cBhvr>
                                      <p:to x="100000" y="80000"/>
                                    </p:animScale>
                                    <p:animScale>
                                      <p:cBhvr>
                                        <p:cTn id="70" dur="166" decel="50000">
                                          <p:stCondLst>
                                            <p:cond delay="1338"/>
                                          </p:stCondLst>
                                        </p:cTn>
                                        <p:tgtEl>
                                          <p:spTgt spid="27"/>
                                        </p:tgtEl>
                                      </p:cBhvr>
                                      <p:to x="100000" y="100000"/>
                                    </p:animScale>
                                    <p:animScale>
                                      <p:cBhvr>
                                        <p:cTn id="71" dur="26">
                                          <p:stCondLst>
                                            <p:cond delay="1642"/>
                                          </p:stCondLst>
                                        </p:cTn>
                                        <p:tgtEl>
                                          <p:spTgt spid="27"/>
                                        </p:tgtEl>
                                      </p:cBhvr>
                                      <p:to x="100000" y="90000"/>
                                    </p:animScale>
                                    <p:animScale>
                                      <p:cBhvr>
                                        <p:cTn id="72" dur="166" decel="50000">
                                          <p:stCondLst>
                                            <p:cond delay="1668"/>
                                          </p:stCondLst>
                                        </p:cTn>
                                        <p:tgtEl>
                                          <p:spTgt spid="27"/>
                                        </p:tgtEl>
                                      </p:cBhvr>
                                      <p:to x="100000" y="100000"/>
                                    </p:animScale>
                                    <p:animScale>
                                      <p:cBhvr>
                                        <p:cTn id="73" dur="26">
                                          <p:stCondLst>
                                            <p:cond delay="1808"/>
                                          </p:stCondLst>
                                        </p:cTn>
                                        <p:tgtEl>
                                          <p:spTgt spid="27"/>
                                        </p:tgtEl>
                                      </p:cBhvr>
                                      <p:to x="100000" y="95000"/>
                                    </p:animScale>
                                    <p:animScale>
                                      <p:cBhvr>
                                        <p:cTn id="74" dur="166" decel="50000">
                                          <p:stCondLst>
                                            <p:cond delay="1834"/>
                                          </p:stCondLst>
                                        </p:cTn>
                                        <p:tgtEl>
                                          <p:spTgt spid="27"/>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down)">
                                      <p:cBhvr>
                                        <p:cTn id="77" dur="580">
                                          <p:stCondLst>
                                            <p:cond delay="0"/>
                                          </p:stCondLst>
                                        </p:cTn>
                                        <p:tgtEl>
                                          <p:spTgt spid="28"/>
                                        </p:tgtEl>
                                      </p:cBhvr>
                                    </p:animEffect>
                                    <p:anim calcmode="lin" valueType="num">
                                      <p:cBhvr>
                                        <p:cTn id="78"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83" dur="26">
                                          <p:stCondLst>
                                            <p:cond delay="650"/>
                                          </p:stCondLst>
                                        </p:cTn>
                                        <p:tgtEl>
                                          <p:spTgt spid="28"/>
                                        </p:tgtEl>
                                      </p:cBhvr>
                                      <p:to x="100000" y="60000"/>
                                    </p:animScale>
                                    <p:animScale>
                                      <p:cBhvr>
                                        <p:cTn id="84" dur="166" decel="50000">
                                          <p:stCondLst>
                                            <p:cond delay="676"/>
                                          </p:stCondLst>
                                        </p:cTn>
                                        <p:tgtEl>
                                          <p:spTgt spid="28"/>
                                        </p:tgtEl>
                                      </p:cBhvr>
                                      <p:to x="100000" y="100000"/>
                                    </p:animScale>
                                    <p:animScale>
                                      <p:cBhvr>
                                        <p:cTn id="85" dur="26">
                                          <p:stCondLst>
                                            <p:cond delay="1312"/>
                                          </p:stCondLst>
                                        </p:cTn>
                                        <p:tgtEl>
                                          <p:spTgt spid="28"/>
                                        </p:tgtEl>
                                      </p:cBhvr>
                                      <p:to x="100000" y="80000"/>
                                    </p:animScale>
                                    <p:animScale>
                                      <p:cBhvr>
                                        <p:cTn id="86" dur="166" decel="50000">
                                          <p:stCondLst>
                                            <p:cond delay="1338"/>
                                          </p:stCondLst>
                                        </p:cTn>
                                        <p:tgtEl>
                                          <p:spTgt spid="28"/>
                                        </p:tgtEl>
                                      </p:cBhvr>
                                      <p:to x="100000" y="100000"/>
                                    </p:animScale>
                                    <p:animScale>
                                      <p:cBhvr>
                                        <p:cTn id="87" dur="26">
                                          <p:stCondLst>
                                            <p:cond delay="1642"/>
                                          </p:stCondLst>
                                        </p:cTn>
                                        <p:tgtEl>
                                          <p:spTgt spid="28"/>
                                        </p:tgtEl>
                                      </p:cBhvr>
                                      <p:to x="100000" y="90000"/>
                                    </p:animScale>
                                    <p:animScale>
                                      <p:cBhvr>
                                        <p:cTn id="88" dur="166" decel="50000">
                                          <p:stCondLst>
                                            <p:cond delay="1668"/>
                                          </p:stCondLst>
                                        </p:cTn>
                                        <p:tgtEl>
                                          <p:spTgt spid="28"/>
                                        </p:tgtEl>
                                      </p:cBhvr>
                                      <p:to x="100000" y="100000"/>
                                    </p:animScale>
                                    <p:animScale>
                                      <p:cBhvr>
                                        <p:cTn id="89" dur="26">
                                          <p:stCondLst>
                                            <p:cond delay="1808"/>
                                          </p:stCondLst>
                                        </p:cTn>
                                        <p:tgtEl>
                                          <p:spTgt spid="28"/>
                                        </p:tgtEl>
                                      </p:cBhvr>
                                      <p:to x="100000" y="95000"/>
                                    </p:animScale>
                                    <p:animScale>
                                      <p:cBhvr>
                                        <p:cTn id="90" dur="166" decel="50000">
                                          <p:stCondLst>
                                            <p:cond delay="1834"/>
                                          </p:stCondLst>
                                        </p:cTn>
                                        <p:tgtEl>
                                          <p:spTgt spid="28"/>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down)">
                                      <p:cBhvr>
                                        <p:cTn id="93" dur="580">
                                          <p:stCondLst>
                                            <p:cond delay="0"/>
                                          </p:stCondLst>
                                        </p:cTn>
                                        <p:tgtEl>
                                          <p:spTgt spid="29"/>
                                        </p:tgtEl>
                                      </p:cBhvr>
                                    </p:animEffect>
                                    <p:anim calcmode="lin" valueType="num">
                                      <p:cBhvr>
                                        <p:cTn id="94"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99" dur="26">
                                          <p:stCondLst>
                                            <p:cond delay="650"/>
                                          </p:stCondLst>
                                        </p:cTn>
                                        <p:tgtEl>
                                          <p:spTgt spid="29"/>
                                        </p:tgtEl>
                                      </p:cBhvr>
                                      <p:to x="100000" y="60000"/>
                                    </p:animScale>
                                    <p:animScale>
                                      <p:cBhvr>
                                        <p:cTn id="100" dur="166" decel="50000">
                                          <p:stCondLst>
                                            <p:cond delay="676"/>
                                          </p:stCondLst>
                                        </p:cTn>
                                        <p:tgtEl>
                                          <p:spTgt spid="29"/>
                                        </p:tgtEl>
                                      </p:cBhvr>
                                      <p:to x="100000" y="100000"/>
                                    </p:animScale>
                                    <p:animScale>
                                      <p:cBhvr>
                                        <p:cTn id="101" dur="26">
                                          <p:stCondLst>
                                            <p:cond delay="1312"/>
                                          </p:stCondLst>
                                        </p:cTn>
                                        <p:tgtEl>
                                          <p:spTgt spid="29"/>
                                        </p:tgtEl>
                                      </p:cBhvr>
                                      <p:to x="100000" y="80000"/>
                                    </p:animScale>
                                    <p:animScale>
                                      <p:cBhvr>
                                        <p:cTn id="102" dur="166" decel="50000">
                                          <p:stCondLst>
                                            <p:cond delay="1338"/>
                                          </p:stCondLst>
                                        </p:cTn>
                                        <p:tgtEl>
                                          <p:spTgt spid="29"/>
                                        </p:tgtEl>
                                      </p:cBhvr>
                                      <p:to x="100000" y="100000"/>
                                    </p:animScale>
                                    <p:animScale>
                                      <p:cBhvr>
                                        <p:cTn id="103" dur="26">
                                          <p:stCondLst>
                                            <p:cond delay="1642"/>
                                          </p:stCondLst>
                                        </p:cTn>
                                        <p:tgtEl>
                                          <p:spTgt spid="29"/>
                                        </p:tgtEl>
                                      </p:cBhvr>
                                      <p:to x="100000" y="90000"/>
                                    </p:animScale>
                                    <p:animScale>
                                      <p:cBhvr>
                                        <p:cTn id="104" dur="166" decel="50000">
                                          <p:stCondLst>
                                            <p:cond delay="1668"/>
                                          </p:stCondLst>
                                        </p:cTn>
                                        <p:tgtEl>
                                          <p:spTgt spid="29"/>
                                        </p:tgtEl>
                                      </p:cBhvr>
                                      <p:to x="100000" y="100000"/>
                                    </p:animScale>
                                    <p:animScale>
                                      <p:cBhvr>
                                        <p:cTn id="105" dur="26">
                                          <p:stCondLst>
                                            <p:cond delay="1808"/>
                                          </p:stCondLst>
                                        </p:cTn>
                                        <p:tgtEl>
                                          <p:spTgt spid="29"/>
                                        </p:tgtEl>
                                      </p:cBhvr>
                                      <p:to x="100000" y="95000"/>
                                    </p:animScale>
                                    <p:animScale>
                                      <p:cBhvr>
                                        <p:cTn id="106" dur="166" decel="50000">
                                          <p:stCondLst>
                                            <p:cond delay="1834"/>
                                          </p:stCondLst>
                                        </p:cTn>
                                        <p:tgtEl>
                                          <p:spTgt spid="29"/>
                                        </p:tgtEl>
                                      </p:cBhvr>
                                      <p:to x="100000" y="100000"/>
                                    </p:animScale>
                                  </p:childTnLst>
                                </p:cTn>
                              </p:par>
                              <p:par>
                                <p:cTn id="107" presetID="26" presetClass="entr" presetSubtype="0" fill="hold" grpId="0" nodeType="withEffect">
                                  <p:stCondLst>
                                    <p:cond delay="0"/>
                                  </p:stCondLst>
                                  <p:childTnLst>
                                    <p:set>
                                      <p:cBhvr>
                                        <p:cTn id="108" dur="1" fill="hold">
                                          <p:stCondLst>
                                            <p:cond delay="0"/>
                                          </p:stCondLst>
                                        </p:cTn>
                                        <p:tgtEl>
                                          <p:spTgt spid="30"/>
                                        </p:tgtEl>
                                        <p:attrNameLst>
                                          <p:attrName>style.visibility</p:attrName>
                                        </p:attrNameLst>
                                      </p:cBhvr>
                                      <p:to>
                                        <p:strVal val="visible"/>
                                      </p:to>
                                    </p:set>
                                    <p:animEffect transition="in" filter="wipe(down)">
                                      <p:cBhvr>
                                        <p:cTn id="109" dur="580">
                                          <p:stCondLst>
                                            <p:cond delay="0"/>
                                          </p:stCondLst>
                                        </p:cTn>
                                        <p:tgtEl>
                                          <p:spTgt spid="30"/>
                                        </p:tgtEl>
                                      </p:cBhvr>
                                    </p:animEffect>
                                    <p:anim calcmode="lin" valueType="num">
                                      <p:cBhvr>
                                        <p:cTn id="110"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115" dur="26">
                                          <p:stCondLst>
                                            <p:cond delay="650"/>
                                          </p:stCondLst>
                                        </p:cTn>
                                        <p:tgtEl>
                                          <p:spTgt spid="30"/>
                                        </p:tgtEl>
                                      </p:cBhvr>
                                      <p:to x="100000" y="60000"/>
                                    </p:animScale>
                                    <p:animScale>
                                      <p:cBhvr>
                                        <p:cTn id="116" dur="166" decel="50000">
                                          <p:stCondLst>
                                            <p:cond delay="676"/>
                                          </p:stCondLst>
                                        </p:cTn>
                                        <p:tgtEl>
                                          <p:spTgt spid="30"/>
                                        </p:tgtEl>
                                      </p:cBhvr>
                                      <p:to x="100000" y="100000"/>
                                    </p:animScale>
                                    <p:animScale>
                                      <p:cBhvr>
                                        <p:cTn id="117" dur="26">
                                          <p:stCondLst>
                                            <p:cond delay="1312"/>
                                          </p:stCondLst>
                                        </p:cTn>
                                        <p:tgtEl>
                                          <p:spTgt spid="30"/>
                                        </p:tgtEl>
                                      </p:cBhvr>
                                      <p:to x="100000" y="80000"/>
                                    </p:animScale>
                                    <p:animScale>
                                      <p:cBhvr>
                                        <p:cTn id="118" dur="166" decel="50000">
                                          <p:stCondLst>
                                            <p:cond delay="1338"/>
                                          </p:stCondLst>
                                        </p:cTn>
                                        <p:tgtEl>
                                          <p:spTgt spid="30"/>
                                        </p:tgtEl>
                                      </p:cBhvr>
                                      <p:to x="100000" y="100000"/>
                                    </p:animScale>
                                    <p:animScale>
                                      <p:cBhvr>
                                        <p:cTn id="119" dur="26">
                                          <p:stCondLst>
                                            <p:cond delay="1642"/>
                                          </p:stCondLst>
                                        </p:cTn>
                                        <p:tgtEl>
                                          <p:spTgt spid="30"/>
                                        </p:tgtEl>
                                      </p:cBhvr>
                                      <p:to x="100000" y="90000"/>
                                    </p:animScale>
                                    <p:animScale>
                                      <p:cBhvr>
                                        <p:cTn id="120" dur="166" decel="50000">
                                          <p:stCondLst>
                                            <p:cond delay="1668"/>
                                          </p:stCondLst>
                                        </p:cTn>
                                        <p:tgtEl>
                                          <p:spTgt spid="30"/>
                                        </p:tgtEl>
                                      </p:cBhvr>
                                      <p:to x="100000" y="100000"/>
                                    </p:animScale>
                                    <p:animScale>
                                      <p:cBhvr>
                                        <p:cTn id="121" dur="26">
                                          <p:stCondLst>
                                            <p:cond delay="1808"/>
                                          </p:stCondLst>
                                        </p:cTn>
                                        <p:tgtEl>
                                          <p:spTgt spid="30"/>
                                        </p:tgtEl>
                                      </p:cBhvr>
                                      <p:to x="100000" y="95000"/>
                                    </p:animScale>
                                    <p:animScale>
                                      <p:cBhvr>
                                        <p:cTn id="122" dur="166" decel="50000">
                                          <p:stCondLst>
                                            <p:cond delay="1834"/>
                                          </p:stCondLst>
                                        </p:cTn>
                                        <p:tgtEl>
                                          <p:spTgt spid="30"/>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31"/>
                                        </p:tgtEl>
                                        <p:attrNameLst>
                                          <p:attrName>style.visibility</p:attrName>
                                        </p:attrNameLst>
                                      </p:cBhvr>
                                      <p:to>
                                        <p:strVal val="visible"/>
                                      </p:to>
                                    </p:set>
                                    <p:animEffect transition="in" filter="wipe(down)">
                                      <p:cBhvr>
                                        <p:cTn id="125" dur="580">
                                          <p:stCondLst>
                                            <p:cond delay="0"/>
                                          </p:stCondLst>
                                        </p:cTn>
                                        <p:tgtEl>
                                          <p:spTgt spid="31"/>
                                        </p:tgtEl>
                                      </p:cBhvr>
                                    </p:animEffect>
                                    <p:anim calcmode="lin" valueType="num">
                                      <p:cBhvr>
                                        <p:cTn id="126"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131" dur="26">
                                          <p:stCondLst>
                                            <p:cond delay="650"/>
                                          </p:stCondLst>
                                        </p:cTn>
                                        <p:tgtEl>
                                          <p:spTgt spid="31"/>
                                        </p:tgtEl>
                                      </p:cBhvr>
                                      <p:to x="100000" y="60000"/>
                                    </p:animScale>
                                    <p:animScale>
                                      <p:cBhvr>
                                        <p:cTn id="132" dur="166" decel="50000">
                                          <p:stCondLst>
                                            <p:cond delay="676"/>
                                          </p:stCondLst>
                                        </p:cTn>
                                        <p:tgtEl>
                                          <p:spTgt spid="31"/>
                                        </p:tgtEl>
                                      </p:cBhvr>
                                      <p:to x="100000" y="100000"/>
                                    </p:animScale>
                                    <p:animScale>
                                      <p:cBhvr>
                                        <p:cTn id="133" dur="26">
                                          <p:stCondLst>
                                            <p:cond delay="1312"/>
                                          </p:stCondLst>
                                        </p:cTn>
                                        <p:tgtEl>
                                          <p:spTgt spid="31"/>
                                        </p:tgtEl>
                                      </p:cBhvr>
                                      <p:to x="100000" y="80000"/>
                                    </p:animScale>
                                    <p:animScale>
                                      <p:cBhvr>
                                        <p:cTn id="134" dur="166" decel="50000">
                                          <p:stCondLst>
                                            <p:cond delay="1338"/>
                                          </p:stCondLst>
                                        </p:cTn>
                                        <p:tgtEl>
                                          <p:spTgt spid="31"/>
                                        </p:tgtEl>
                                      </p:cBhvr>
                                      <p:to x="100000" y="100000"/>
                                    </p:animScale>
                                    <p:animScale>
                                      <p:cBhvr>
                                        <p:cTn id="135" dur="26">
                                          <p:stCondLst>
                                            <p:cond delay="1642"/>
                                          </p:stCondLst>
                                        </p:cTn>
                                        <p:tgtEl>
                                          <p:spTgt spid="31"/>
                                        </p:tgtEl>
                                      </p:cBhvr>
                                      <p:to x="100000" y="90000"/>
                                    </p:animScale>
                                    <p:animScale>
                                      <p:cBhvr>
                                        <p:cTn id="136" dur="166" decel="50000">
                                          <p:stCondLst>
                                            <p:cond delay="1668"/>
                                          </p:stCondLst>
                                        </p:cTn>
                                        <p:tgtEl>
                                          <p:spTgt spid="31"/>
                                        </p:tgtEl>
                                      </p:cBhvr>
                                      <p:to x="100000" y="100000"/>
                                    </p:animScale>
                                    <p:animScale>
                                      <p:cBhvr>
                                        <p:cTn id="137" dur="26">
                                          <p:stCondLst>
                                            <p:cond delay="1808"/>
                                          </p:stCondLst>
                                        </p:cTn>
                                        <p:tgtEl>
                                          <p:spTgt spid="31"/>
                                        </p:tgtEl>
                                      </p:cBhvr>
                                      <p:to x="100000" y="95000"/>
                                    </p:animScale>
                                    <p:animScale>
                                      <p:cBhvr>
                                        <p:cTn id="138" dur="166" decel="50000">
                                          <p:stCondLst>
                                            <p:cond delay="1834"/>
                                          </p:stCondLst>
                                        </p:cTn>
                                        <p:tgtEl>
                                          <p:spTgt spid="31"/>
                                        </p:tgtEl>
                                      </p:cBhvr>
                                      <p:to x="100000" y="100000"/>
                                    </p:animScale>
                                  </p:childTnLst>
                                </p:cTn>
                              </p:par>
                              <p:par>
                                <p:cTn id="139" presetID="26" presetClass="entr" presetSubtype="0" fill="hold" grpId="0" nodeType="withEffect">
                                  <p:stCondLst>
                                    <p:cond delay="0"/>
                                  </p:stCondLst>
                                  <p:childTnLst>
                                    <p:set>
                                      <p:cBhvr>
                                        <p:cTn id="140" dur="1" fill="hold">
                                          <p:stCondLst>
                                            <p:cond delay="0"/>
                                          </p:stCondLst>
                                        </p:cTn>
                                        <p:tgtEl>
                                          <p:spTgt spid="32"/>
                                        </p:tgtEl>
                                        <p:attrNameLst>
                                          <p:attrName>style.visibility</p:attrName>
                                        </p:attrNameLst>
                                      </p:cBhvr>
                                      <p:to>
                                        <p:strVal val="visible"/>
                                      </p:to>
                                    </p:set>
                                    <p:animEffect transition="in" filter="wipe(down)">
                                      <p:cBhvr>
                                        <p:cTn id="141" dur="580">
                                          <p:stCondLst>
                                            <p:cond delay="0"/>
                                          </p:stCondLst>
                                        </p:cTn>
                                        <p:tgtEl>
                                          <p:spTgt spid="32"/>
                                        </p:tgtEl>
                                      </p:cBhvr>
                                    </p:animEffect>
                                    <p:anim calcmode="lin" valueType="num">
                                      <p:cBhvr>
                                        <p:cTn id="142"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147" dur="26">
                                          <p:stCondLst>
                                            <p:cond delay="650"/>
                                          </p:stCondLst>
                                        </p:cTn>
                                        <p:tgtEl>
                                          <p:spTgt spid="32"/>
                                        </p:tgtEl>
                                      </p:cBhvr>
                                      <p:to x="100000" y="60000"/>
                                    </p:animScale>
                                    <p:animScale>
                                      <p:cBhvr>
                                        <p:cTn id="148" dur="166" decel="50000">
                                          <p:stCondLst>
                                            <p:cond delay="676"/>
                                          </p:stCondLst>
                                        </p:cTn>
                                        <p:tgtEl>
                                          <p:spTgt spid="32"/>
                                        </p:tgtEl>
                                      </p:cBhvr>
                                      <p:to x="100000" y="100000"/>
                                    </p:animScale>
                                    <p:animScale>
                                      <p:cBhvr>
                                        <p:cTn id="149" dur="26">
                                          <p:stCondLst>
                                            <p:cond delay="1312"/>
                                          </p:stCondLst>
                                        </p:cTn>
                                        <p:tgtEl>
                                          <p:spTgt spid="32"/>
                                        </p:tgtEl>
                                      </p:cBhvr>
                                      <p:to x="100000" y="80000"/>
                                    </p:animScale>
                                    <p:animScale>
                                      <p:cBhvr>
                                        <p:cTn id="150" dur="166" decel="50000">
                                          <p:stCondLst>
                                            <p:cond delay="1338"/>
                                          </p:stCondLst>
                                        </p:cTn>
                                        <p:tgtEl>
                                          <p:spTgt spid="32"/>
                                        </p:tgtEl>
                                      </p:cBhvr>
                                      <p:to x="100000" y="100000"/>
                                    </p:animScale>
                                    <p:animScale>
                                      <p:cBhvr>
                                        <p:cTn id="151" dur="26">
                                          <p:stCondLst>
                                            <p:cond delay="1642"/>
                                          </p:stCondLst>
                                        </p:cTn>
                                        <p:tgtEl>
                                          <p:spTgt spid="32"/>
                                        </p:tgtEl>
                                      </p:cBhvr>
                                      <p:to x="100000" y="90000"/>
                                    </p:animScale>
                                    <p:animScale>
                                      <p:cBhvr>
                                        <p:cTn id="152" dur="166" decel="50000">
                                          <p:stCondLst>
                                            <p:cond delay="1668"/>
                                          </p:stCondLst>
                                        </p:cTn>
                                        <p:tgtEl>
                                          <p:spTgt spid="32"/>
                                        </p:tgtEl>
                                      </p:cBhvr>
                                      <p:to x="100000" y="100000"/>
                                    </p:animScale>
                                    <p:animScale>
                                      <p:cBhvr>
                                        <p:cTn id="153" dur="26">
                                          <p:stCondLst>
                                            <p:cond delay="1808"/>
                                          </p:stCondLst>
                                        </p:cTn>
                                        <p:tgtEl>
                                          <p:spTgt spid="32"/>
                                        </p:tgtEl>
                                      </p:cBhvr>
                                      <p:to x="100000" y="95000"/>
                                    </p:animScale>
                                    <p:animScale>
                                      <p:cBhvr>
                                        <p:cTn id="154" dur="166" decel="50000">
                                          <p:stCondLst>
                                            <p:cond delay="1834"/>
                                          </p:stCondLst>
                                        </p:cTn>
                                        <p:tgtEl>
                                          <p:spTgt spid="32"/>
                                        </p:tgtEl>
                                      </p:cBhvr>
                                      <p:to x="100000" y="100000"/>
                                    </p:animScale>
                                  </p:childTnLst>
                                </p:cTn>
                              </p:par>
                              <p:par>
                                <p:cTn id="155" presetID="26" presetClass="entr" presetSubtype="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wipe(down)">
                                      <p:cBhvr>
                                        <p:cTn id="157" dur="580">
                                          <p:stCondLst>
                                            <p:cond delay="0"/>
                                          </p:stCondLst>
                                        </p:cTn>
                                        <p:tgtEl>
                                          <p:spTgt spid="33"/>
                                        </p:tgtEl>
                                      </p:cBhvr>
                                    </p:animEffect>
                                    <p:anim calcmode="lin" valueType="num">
                                      <p:cBhvr>
                                        <p:cTn id="158"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159"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160"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161"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162"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163" dur="26">
                                          <p:stCondLst>
                                            <p:cond delay="650"/>
                                          </p:stCondLst>
                                        </p:cTn>
                                        <p:tgtEl>
                                          <p:spTgt spid="33"/>
                                        </p:tgtEl>
                                      </p:cBhvr>
                                      <p:to x="100000" y="60000"/>
                                    </p:animScale>
                                    <p:animScale>
                                      <p:cBhvr>
                                        <p:cTn id="164" dur="166" decel="50000">
                                          <p:stCondLst>
                                            <p:cond delay="676"/>
                                          </p:stCondLst>
                                        </p:cTn>
                                        <p:tgtEl>
                                          <p:spTgt spid="33"/>
                                        </p:tgtEl>
                                      </p:cBhvr>
                                      <p:to x="100000" y="100000"/>
                                    </p:animScale>
                                    <p:animScale>
                                      <p:cBhvr>
                                        <p:cTn id="165" dur="26">
                                          <p:stCondLst>
                                            <p:cond delay="1312"/>
                                          </p:stCondLst>
                                        </p:cTn>
                                        <p:tgtEl>
                                          <p:spTgt spid="33"/>
                                        </p:tgtEl>
                                      </p:cBhvr>
                                      <p:to x="100000" y="80000"/>
                                    </p:animScale>
                                    <p:animScale>
                                      <p:cBhvr>
                                        <p:cTn id="166" dur="166" decel="50000">
                                          <p:stCondLst>
                                            <p:cond delay="1338"/>
                                          </p:stCondLst>
                                        </p:cTn>
                                        <p:tgtEl>
                                          <p:spTgt spid="33"/>
                                        </p:tgtEl>
                                      </p:cBhvr>
                                      <p:to x="100000" y="100000"/>
                                    </p:animScale>
                                    <p:animScale>
                                      <p:cBhvr>
                                        <p:cTn id="167" dur="26">
                                          <p:stCondLst>
                                            <p:cond delay="1642"/>
                                          </p:stCondLst>
                                        </p:cTn>
                                        <p:tgtEl>
                                          <p:spTgt spid="33"/>
                                        </p:tgtEl>
                                      </p:cBhvr>
                                      <p:to x="100000" y="90000"/>
                                    </p:animScale>
                                    <p:animScale>
                                      <p:cBhvr>
                                        <p:cTn id="168" dur="166" decel="50000">
                                          <p:stCondLst>
                                            <p:cond delay="1668"/>
                                          </p:stCondLst>
                                        </p:cTn>
                                        <p:tgtEl>
                                          <p:spTgt spid="33"/>
                                        </p:tgtEl>
                                      </p:cBhvr>
                                      <p:to x="100000" y="100000"/>
                                    </p:animScale>
                                    <p:animScale>
                                      <p:cBhvr>
                                        <p:cTn id="169" dur="26">
                                          <p:stCondLst>
                                            <p:cond delay="1808"/>
                                          </p:stCondLst>
                                        </p:cTn>
                                        <p:tgtEl>
                                          <p:spTgt spid="33"/>
                                        </p:tgtEl>
                                      </p:cBhvr>
                                      <p:to x="100000" y="95000"/>
                                    </p:animScale>
                                    <p:animScale>
                                      <p:cBhvr>
                                        <p:cTn id="170" dur="166" decel="50000">
                                          <p:stCondLst>
                                            <p:cond delay="1834"/>
                                          </p:stCondLst>
                                        </p:cTn>
                                        <p:tgtEl>
                                          <p:spTgt spid="33"/>
                                        </p:tgtEl>
                                      </p:cBhvr>
                                      <p:to x="100000" y="100000"/>
                                    </p:animScale>
                                  </p:childTnLst>
                                </p:cTn>
                              </p:par>
                              <p:par>
                                <p:cTn id="171" presetID="26" presetClass="entr" presetSubtype="0" fill="hold" grpId="0" nodeType="withEffect">
                                  <p:stCondLst>
                                    <p:cond delay="0"/>
                                  </p:stCondLst>
                                  <p:childTnLst>
                                    <p:set>
                                      <p:cBhvr>
                                        <p:cTn id="172" dur="1" fill="hold">
                                          <p:stCondLst>
                                            <p:cond delay="0"/>
                                          </p:stCondLst>
                                        </p:cTn>
                                        <p:tgtEl>
                                          <p:spTgt spid="34"/>
                                        </p:tgtEl>
                                        <p:attrNameLst>
                                          <p:attrName>style.visibility</p:attrName>
                                        </p:attrNameLst>
                                      </p:cBhvr>
                                      <p:to>
                                        <p:strVal val="visible"/>
                                      </p:to>
                                    </p:set>
                                    <p:animEffect transition="in" filter="wipe(down)">
                                      <p:cBhvr>
                                        <p:cTn id="173" dur="580">
                                          <p:stCondLst>
                                            <p:cond delay="0"/>
                                          </p:stCondLst>
                                        </p:cTn>
                                        <p:tgtEl>
                                          <p:spTgt spid="34"/>
                                        </p:tgtEl>
                                      </p:cBhvr>
                                    </p:animEffect>
                                    <p:anim calcmode="lin" valueType="num">
                                      <p:cBhvr>
                                        <p:cTn id="174"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175"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176"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177"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178"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179" dur="26">
                                          <p:stCondLst>
                                            <p:cond delay="650"/>
                                          </p:stCondLst>
                                        </p:cTn>
                                        <p:tgtEl>
                                          <p:spTgt spid="34"/>
                                        </p:tgtEl>
                                      </p:cBhvr>
                                      <p:to x="100000" y="60000"/>
                                    </p:animScale>
                                    <p:animScale>
                                      <p:cBhvr>
                                        <p:cTn id="180" dur="166" decel="50000">
                                          <p:stCondLst>
                                            <p:cond delay="676"/>
                                          </p:stCondLst>
                                        </p:cTn>
                                        <p:tgtEl>
                                          <p:spTgt spid="34"/>
                                        </p:tgtEl>
                                      </p:cBhvr>
                                      <p:to x="100000" y="100000"/>
                                    </p:animScale>
                                    <p:animScale>
                                      <p:cBhvr>
                                        <p:cTn id="181" dur="26">
                                          <p:stCondLst>
                                            <p:cond delay="1312"/>
                                          </p:stCondLst>
                                        </p:cTn>
                                        <p:tgtEl>
                                          <p:spTgt spid="34"/>
                                        </p:tgtEl>
                                      </p:cBhvr>
                                      <p:to x="100000" y="80000"/>
                                    </p:animScale>
                                    <p:animScale>
                                      <p:cBhvr>
                                        <p:cTn id="182" dur="166" decel="50000">
                                          <p:stCondLst>
                                            <p:cond delay="1338"/>
                                          </p:stCondLst>
                                        </p:cTn>
                                        <p:tgtEl>
                                          <p:spTgt spid="34"/>
                                        </p:tgtEl>
                                      </p:cBhvr>
                                      <p:to x="100000" y="100000"/>
                                    </p:animScale>
                                    <p:animScale>
                                      <p:cBhvr>
                                        <p:cTn id="183" dur="26">
                                          <p:stCondLst>
                                            <p:cond delay="1642"/>
                                          </p:stCondLst>
                                        </p:cTn>
                                        <p:tgtEl>
                                          <p:spTgt spid="34"/>
                                        </p:tgtEl>
                                      </p:cBhvr>
                                      <p:to x="100000" y="90000"/>
                                    </p:animScale>
                                    <p:animScale>
                                      <p:cBhvr>
                                        <p:cTn id="184" dur="166" decel="50000">
                                          <p:stCondLst>
                                            <p:cond delay="1668"/>
                                          </p:stCondLst>
                                        </p:cTn>
                                        <p:tgtEl>
                                          <p:spTgt spid="34"/>
                                        </p:tgtEl>
                                      </p:cBhvr>
                                      <p:to x="100000" y="100000"/>
                                    </p:animScale>
                                    <p:animScale>
                                      <p:cBhvr>
                                        <p:cTn id="185" dur="26">
                                          <p:stCondLst>
                                            <p:cond delay="1808"/>
                                          </p:stCondLst>
                                        </p:cTn>
                                        <p:tgtEl>
                                          <p:spTgt spid="34"/>
                                        </p:tgtEl>
                                      </p:cBhvr>
                                      <p:to x="100000" y="95000"/>
                                    </p:animScale>
                                    <p:animScale>
                                      <p:cBhvr>
                                        <p:cTn id="186" dur="166" decel="50000">
                                          <p:stCondLst>
                                            <p:cond delay="1834"/>
                                          </p:stCondLst>
                                        </p:cTn>
                                        <p:tgtEl>
                                          <p:spTgt spid="34"/>
                                        </p:tgtEl>
                                      </p:cBhvr>
                                      <p:to x="100000" y="100000"/>
                                    </p:animScale>
                                  </p:childTnLst>
                                </p:cTn>
                              </p:par>
                              <p:par>
                                <p:cTn id="187" presetID="26" presetClass="entr" presetSubtype="0" fill="hold" grpId="0" nodeType="withEffect">
                                  <p:stCondLst>
                                    <p:cond delay="0"/>
                                  </p:stCondLst>
                                  <p:childTnLst>
                                    <p:set>
                                      <p:cBhvr>
                                        <p:cTn id="188" dur="1" fill="hold">
                                          <p:stCondLst>
                                            <p:cond delay="0"/>
                                          </p:stCondLst>
                                        </p:cTn>
                                        <p:tgtEl>
                                          <p:spTgt spid="35"/>
                                        </p:tgtEl>
                                        <p:attrNameLst>
                                          <p:attrName>style.visibility</p:attrName>
                                        </p:attrNameLst>
                                      </p:cBhvr>
                                      <p:to>
                                        <p:strVal val="visible"/>
                                      </p:to>
                                    </p:set>
                                    <p:animEffect transition="in" filter="wipe(down)">
                                      <p:cBhvr>
                                        <p:cTn id="189" dur="580">
                                          <p:stCondLst>
                                            <p:cond delay="0"/>
                                          </p:stCondLst>
                                        </p:cTn>
                                        <p:tgtEl>
                                          <p:spTgt spid="35"/>
                                        </p:tgtEl>
                                      </p:cBhvr>
                                    </p:animEffect>
                                    <p:anim calcmode="lin" valueType="num">
                                      <p:cBhvr>
                                        <p:cTn id="190"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195" dur="26">
                                          <p:stCondLst>
                                            <p:cond delay="650"/>
                                          </p:stCondLst>
                                        </p:cTn>
                                        <p:tgtEl>
                                          <p:spTgt spid="35"/>
                                        </p:tgtEl>
                                      </p:cBhvr>
                                      <p:to x="100000" y="60000"/>
                                    </p:animScale>
                                    <p:animScale>
                                      <p:cBhvr>
                                        <p:cTn id="196" dur="166" decel="50000">
                                          <p:stCondLst>
                                            <p:cond delay="676"/>
                                          </p:stCondLst>
                                        </p:cTn>
                                        <p:tgtEl>
                                          <p:spTgt spid="35"/>
                                        </p:tgtEl>
                                      </p:cBhvr>
                                      <p:to x="100000" y="100000"/>
                                    </p:animScale>
                                    <p:animScale>
                                      <p:cBhvr>
                                        <p:cTn id="197" dur="26">
                                          <p:stCondLst>
                                            <p:cond delay="1312"/>
                                          </p:stCondLst>
                                        </p:cTn>
                                        <p:tgtEl>
                                          <p:spTgt spid="35"/>
                                        </p:tgtEl>
                                      </p:cBhvr>
                                      <p:to x="100000" y="80000"/>
                                    </p:animScale>
                                    <p:animScale>
                                      <p:cBhvr>
                                        <p:cTn id="198" dur="166" decel="50000">
                                          <p:stCondLst>
                                            <p:cond delay="1338"/>
                                          </p:stCondLst>
                                        </p:cTn>
                                        <p:tgtEl>
                                          <p:spTgt spid="35"/>
                                        </p:tgtEl>
                                      </p:cBhvr>
                                      <p:to x="100000" y="100000"/>
                                    </p:animScale>
                                    <p:animScale>
                                      <p:cBhvr>
                                        <p:cTn id="199" dur="26">
                                          <p:stCondLst>
                                            <p:cond delay="1642"/>
                                          </p:stCondLst>
                                        </p:cTn>
                                        <p:tgtEl>
                                          <p:spTgt spid="35"/>
                                        </p:tgtEl>
                                      </p:cBhvr>
                                      <p:to x="100000" y="90000"/>
                                    </p:animScale>
                                    <p:animScale>
                                      <p:cBhvr>
                                        <p:cTn id="200" dur="166" decel="50000">
                                          <p:stCondLst>
                                            <p:cond delay="1668"/>
                                          </p:stCondLst>
                                        </p:cTn>
                                        <p:tgtEl>
                                          <p:spTgt spid="35"/>
                                        </p:tgtEl>
                                      </p:cBhvr>
                                      <p:to x="100000" y="100000"/>
                                    </p:animScale>
                                    <p:animScale>
                                      <p:cBhvr>
                                        <p:cTn id="201" dur="26">
                                          <p:stCondLst>
                                            <p:cond delay="1808"/>
                                          </p:stCondLst>
                                        </p:cTn>
                                        <p:tgtEl>
                                          <p:spTgt spid="35"/>
                                        </p:tgtEl>
                                      </p:cBhvr>
                                      <p:to x="100000" y="95000"/>
                                    </p:animScale>
                                    <p:animScale>
                                      <p:cBhvr>
                                        <p:cTn id="202" dur="166" decel="50000">
                                          <p:stCondLst>
                                            <p:cond delay="1834"/>
                                          </p:stCondLst>
                                        </p:cTn>
                                        <p:tgtEl>
                                          <p:spTgt spid="35"/>
                                        </p:tgtEl>
                                      </p:cBhvr>
                                      <p:to x="100000" y="100000"/>
                                    </p:animScale>
                                  </p:childTnLst>
                                </p:cTn>
                              </p:par>
                              <p:par>
                                <p:cTn id="203" presetID="26" presetClass="entr" presetSubtype="0" fill="hold" grpId="0" nodeType="withEffect">
                                  <p:stCondLst>
                                    <p:cond delay="0"/>
                                  </p:stCondLst>
                                  <p:childTnLst>
                                    <p:set>
                                      <p:cBhvr>
                                        <p:cTn id="204" dur="1" fill="hold">
                                          <p:stCondLst>
                                            <p:cond delay="0"/>
                                          </p:stCondLst>
                                        </p:cTn>
                                        <p:tgtEl>
                                          <p:spTgt spid="36"/>
                                        </p:tgtEl>
                                        <p:attrNameLst>
                                          <p:attrName>style.visibility</p:attrName>
                                        </p:attrNameLst>
                                      </p:cBhvr>
                                      <p:to>
                                        <p:strVal val="visible"/>
                                      </p:to>
                                    </p:set>
                                    <p:animEffect transition="in" filter="wipe(down)">
                                      <p:cBhvr>
                                        <p:cTn id="205" dur="580">
                                          <p:stCondLst>
                                            <p:cond delay="0"/>
                                          </p:stCondLst>
                                        </p:cTn>
                                        <p:tgtEl>
                                          <p:spTgt spid="36"/>
                                        </p:tgtEl>
                                      </p:cBhvr>
                                    </p:animEffect>
                                    <p:anim calcmode="lin" valueType="num">
                                      <p:cBhvr>
                                        <p:cTn id="206"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207"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208"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209"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210"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211" dur="26">
                                          <p:stCondLst>
                                            <p:cond delay="650"/>
                                          </p:stCondLst>
                                        </p:cTn>
                                        <p:tgtEl>
                                          <p:spTgt spid="36"/>
                                        </p:tgtEl>
                                      </p:cBhvr>
                                      <p:to x="100000" y="60000"/>
                                    </p:animScale>
                                    <p:animScale>
                                      <p:cBhvr>
                                        <p:cTn id="212" dur="166" decel="50000">
                                          <p:stCondLst>
                                            <p:cond delay="676"/>
                                          </p:stCondLst>
                                        </p:cTn>
                                        <p:tgtEl>
                                          <p:spTgt spid="36"/>
                                        </p:tgtEl>
                                      </p:cBhvr>
                                      <p:to x="100000" y="100000"/>
                                    </p:animScale>
                                    <p:animScale>
                                      <p:cBhvr>
                                        <p:cTn id="213" dur="26">
                                          <p:stCondLst>
                                            <p:cond delay="1312"/>
                                          </p:stCondLst>
                                        </p:cTn>
                                        <p:tgtEl>
                                          <p:spTgt spid="36"/>
                                        </p:tgtEl>
                                      </p:cBhvr>
                                      <p:to x="100000" y="80000"/>
                                    </p:animScale>
                                    <p:animScale>
                                      <p:cBhvr>
                                        <p:cTn id="214" dur="166" decel="50000">
                                          <p:stCondLst>
                                            <p:cond delay="1338"/>
                                          </p:stCondLst>
                                        </p:cTn>
                                        <p:tgtEl>
                                          <p:spTgt spid="36"/>
                                        </p:tgtEl>
                                      </p:cBhvr>
                                      <p:to x="100000" y="100000"/>
                                    </p:animScale>
                                    <p:animScale>
                                      <p:cBhvr>
                                        <p:cTn id="215" dur="26">
                                          <p:stCondLst>
                                            <p:cond delay="1642"/>
                                          </p:stCondLst>
                                        </p:cTn>
                                        <p:tgtEl>
                                          <p:spTgt spid="36"/>
                                        </p:tgtEl>
                                      </p:cBhvr>
                                      <p:to x="100000" y="90000"/>
                                    </p:animScale>
                                    <p:animScale>
                                      <p:cBhvr>
                                        <p:cTn id="216" dur="166" decel="50000">
                                          <p:stCondLst>
                                            <p:cond delay="1668"/>
                                          </p:stCondLst>
                                        </p:cTn>
                                        <p:tgtEl>
                                          <p:spTgt spid="36"/>
                                        </p:tgtEl>
                                      </p:cBhvr>
                                      <p:to x="100000" y="100000"/>
                                    </p:animScale>
                                    <p:animScale>
                                      <p:cBhvr>
                                        <p:cTn id="217" dur="26">
                                          <p:stCondLst>
                                            <p:cond delay="1808"/>
                                          </p:stCondLst>
                                        </p:cTn>
                                        <p:tgtEl>
                                          <p:spTgt spid="36"/>
                                        </p:tgtEl>
                                      </p:cBhvr>
                                      <p:to x="100000" y="95000"/>
                                    </p:animScale>
                                    <p:animScale>
                                      <p:cBhvr>
                                        <p:cTn id="218" dur="166" decel="50000">
                                          <p:stCondLst>
                                            <p:cond delay="1834"/>
                                          </p:stCondLst>
                                        </p:cTn>
                                        <p:tgtEl>
                                          <p:spTgt spid="36"/>
                                        </p:tgtEl>
                                      </p:cBhvr>
                                      <p:to x="100000" y="100000"/>
                                    </p:animScale>
                                  </p:childTnLst>
                                </p:cTn>
                              </p:par>
                              <p:par>
                                <p:cTn id="219" presetID="26" presetClass="entr" presetSubtype="0" fill="hold" grpId="0" nodeType="withEffect">
                                  <p:stCondLst>
                                    <p:cond delay="0"/>
                                  </p:stCondLst>
                                  <p:childTnLst>
                                    <p:set>
                                      <p:cBhvr>
                                        <p:cTn id="220" dur="1" fill="hold">
                                          <p:stCondLst>
                                            <p:cond delay="0"/>
                                          </p:stCondLst>
                                        </p:cTn>
                                        <p:tgtEl>
                                          <p:spTgt spid="37"/>
                                        </p:tgtEl>
                                        <p:attrNameLst>
                                          <p:attrName>style.visibility</p:attrName>
                                        </p:attrNameLst>
                                      </p:cBhvr>
                                      <p:to>
                                        <p:strVal val="visible"/>
                                      </p:to>
                                    </p:set>
                                    <p:animEffect transition="in" filter="wipe(down)">
                                      <p:cBhvr>
                                        <p:cTn id="221" dur="580">
                                          <p:stCondLst>
                                            <p:cond delay="0"/>
                                          </p:stCondLst>
                                        </p:cTn>
                                        <p:tgtEl>
                                          <p:spTgt spid="37"/>
                                        </p:tgtEl>
                                      </p:cBhvr>
                                    </p:animEffect>
                                    <p:anim calcmode="lin" valueType="num">
                                      <p:cBhvr>
                                        <p:cTn id="222"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223"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224"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225"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226"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227" dur="26">
                                          <p:stCondLst>
                                            <p:cond delay="650"/>
                                          </p:stCondLst>
                                        </p:cTn>
                                        <p:tgtEl>
                                          <p:spTgt spid="37"/>
                                        </p:tgtEl>
                                      </p:cBhvr>
                                      <p:to x="100000" y="60000"/>
                                    </p:animScale>
                                    <p:animScale>
                                      <p:cBhvr>
                                        <p:cTn id="228" dur="166" decel="50000">
                                          <p:stCondLst>
                                            <p:cond delay="676"/>
                                          </p:stCondLst>
                                        </p:cTn>
                                        <p:tgtEl>
                                          <p:spTgt spid="37"/>
                                        </p:tgtEl>
                                      </p:cBhvr>
                                      <p:to x="100000" y="100000"/>
                                    </p:animScale>
                                    <p:animScale>
                                      <p:cBhvr>
                                        <p:cTn id="229" dur="26">
                                          <p:stCondLst>
                                            <p:cond delay="1312"/>
                                          </p:stCondLst>
                                        </p:cTn>
                                        <p:tgtEl>
                                          <p:spTgt spid="37"/>
                                        </p:tgtEl>
                                      </p:cBhvr>
                                      <p:to x="100000" y="80000"/>
                                    </p:animScale>
                                    <p:animScale>
                                      <p:cBhvr>
                                        <p:cTn id="230" dur="166" decel="50000">
                                          <p:stCondLst>
                                            <p:cond delay="1338"/>
                                          </p:stCondLst>
                                        </p:cTn>
                                        <p:tgtEl>
                                          <p:spTgt spid="37"/>
                                        </p:tgtEl>
                                      </p:cBhvr>
                                      <p:to x="100000" y="100000"/>
                                    </p:animScale>
                                    <p:animScale>
                                      <p:cBhvr>
                                        <p:cTn id="231" dur="26">
                                          <p:stCondLst>
                                            <p:cond delay="1642"/>
                                          </p:stCondLst>
                                        </p:cTn>
                                        <p:tgtEl>
                                          <p:spTgt spid="37"/>
                                        </p:tgtEl>
                                      </p:cBhvr>
                                      <p:to x="100000" y="90000"/>
                                    </p:animScale>
                                    <p:animScale>
                                      <p:cBhvr>
                                        <p:cTn id="232" dur="166" decel="50000">
                                          <p:stCondLst>
                                            <p:cond delay="1668"/>
                                          </p:stCondLst>
                                        </p:cTn>
                                        <p:tgtEl>
                                          <p:spTgt spid="37"/>
                                        </p:tgtEl>
                                      </p:cBhvr>
                                      <p:to x="100000" y="100000"/>
                                    </p:animScale>
                                    <p:animScale>
                                      <p:cBhvr>
                                        <p:cTn id="233" dur="26">
                                          <p:stCondLst>
                                            <p:cond delay="1808"/>
                                          </p:stCondLst>
                                        </p:cTn>
                                        <p:tgtEl>
                                          <p:spTgt spid="37"/>
                                        </p:tgtEl>
                                      </p:cBhvr>
                                      <p:to x="100000" y="95000"/>
                                    </p:animScale>
                                    <p:animScale>
                                      <p:cBhvr>
                                        <p:cTn id="234" dur="166" decel="50000">
                                          <p:stCondLst>
                                            <p:cond delay="1834"/>
                                          </p:stCondLst>
                                        </p:cTn>
                                        <p:tgtEl>
                                          <p:spTgt spid="37"/>
                                        </p:tgtEl>
                                      </p:cBhvr>
                                      <p:to x="100000" y="100000"/>
                                    </p:animScale>
                                  </p:childTnLst>
                                </p:cTn>
                              </p:par>
                            </p:childTnLst>
                          </p:cTn>
                        </p:par>
                      </p:childTnLst>
                    </p:cTn>
                  </p:par>
                  <p:par>
                    <p:cTn id="235" fill="hold">
                      <p:stCondLst>
                        <p:cond delay="indefinite"/>
                      </p:stCondLst>
                      <p:childTnLst>
                        <p:par>
                          <p:cTn id="236" fill="hold">
                            <p:stCondLst>
                              <p:cond delay="0"/>
                            </p:stCondLst>
                            <p:childTnLst>
                              <p:par>
                                <p:cTn id="237" presetID="12" presetClass="entr" presetSubtype="4" fill="hold" grpId="0" nodeType="clickEffect">
                                  <p:stCondLst>
                                    <p:cond delay="0"/>
                                  </p:stCondLst>
                                  <p:childTnLst>
                                    <p:set>
                                      <p:cBhvr>
                                        <p:cTn id="238" dur="1" fill="hold">
                                          <p:stCondLst>
                                            <p:cond delay="0"/>
                                          </p:stCondLst>
                                        </p:cTn>
                                        <p:tgtEl>
                                          <p:spTgt spid="6"/>
                                        </p:tgtEl>
                                        <p:attrNameLst>
                                          <p:attrName>style.visibility</p:attrName>
                                        </p:attrNameLst>
                                      </p:cBhvr>
                                      <p:to>
                                        <p:strVal val="visible"/>
                                      </p:to>
                                    </p:set>
                                    <p:animEffect transition="in" filter="slide(fromBottom)">
                                      <p:cBhvr>
                                        <p:cTn id="239" dur="500"/>
                                        <p:tgtEl>
                                          <p:spTgt spid="6"/>
                                        </p:tgtEl>
                                      </p:cBhvr>
                                    </p:animEffect>
                                  </p:childTnLst>
                                </p:cTn>
                              </p:par>
                              <p:par>
                                <p:cTn id="240" presetID="12" presetClass="entr" presetSubtype="4" fill="hold" nodeType="withEffect">
                                  <p:stCondLst>
                                    <p:cond delay="0"/>
                                  </p:stCondLst>
                                  <p:childTnLst>
                                    <p:set>
                                      <p:cBhvr>
                                        <p:cTn id="241" dur="1" fill="hold">
                                          <p:stCondLst>
                                            <p:cond delay="0"/>
                                          </p:stCondLst>
                                        </p:cTn>
                                        <p:tgtEl>
                                          <p:spTgt spid="7"/>
                                        </p:tgtEl>
                                        <p:attrNameLst>
                                          <p:attrName>style.visibility</p:attrName>
                                        </p:attrNameLst>
                                      </p:cBhvr>
                                      <p:to>
                                        <p:strVal val="visible"/>
                                      </p:to>
                                    </p:set>
                                    <p:animEffect transition="in" filter="slide(fromBottom)">
                                      <p:cBhvr>
                                        <p:cTn id="242" dur="500"/>
                                        <p:tgtEl>
                                          <p:spTgt spid="7"/>
                                        </p:tgtEl>
                                      </p:cBhvr>
                                    </p:animEffect>
                                  </p:childTnLst>
                                </p:cTn>
                              </p:par>
                              <p:par>
                                <p:cTn id="243" presetID="12" presetClass="entr" presetSubtype="4" fill="hold" nodeType="withEffect">
                                  <p:stCondLst>
                                    <p:cond delay="0"/>
                                  </p:stCondLst>
                                  <p:childTnLst>
                                    <p:set>
                                      <p:cBhvr>
                                        <p:cTn id="244" dur="1" fill="hold">
                                          <p:stCondLst>
                                            <p:cond delay="0"/>
                                          </p:stCondLst>
                                        </p:cTn>
                                        <p:tgtEl>
                                          <p:spTgt spid="8"/>
                                        </p:tgtEl>
                                        <p:attrNameLst>
                                          <p:attrName>style.visibility</p:attrName>
                                        </p:attrNameLst>
                                      </p:cBhvr>
                                      <p:to>
                                        <p:strVal val="visible"/>
                                      </p:to>
                                    </p:set>
                                    <p:animEffect transition="in" filter="slide(fromBottom)">
                                      <p:cBhvr>
                                        <p:cTn id="245" dur="500"/>
                                        <p:tgtEl>
                                          <p:spTgt spid="8"/>
                                        </p:tgtEl>
                                      </p:cBhvr>
                                    </p:animEffect>
                                  </p:childTnLst>
                                </p:cTn>
                              </p:par>
                              <p:par>
                                <p:cTn id="246" presetID="12" presetClass="entr" presetSubtype="4" fill="hold" nodeType="withEffect">
                                  <p:stCondLst>
                                    <p:cond delay="0"/>
                                  </p:stCondLst>
                                  <p:childTnLst>
                                    <p:set>
                                      <p:cBhvr>
                                        <p:cTn id="247" dur="1" fill="hold">
                                          <p:stCondLst>
                                            <p:cond delay="0"/>
                                          </p:stCondLst>
                                        </p:cTn>
                                        <p:tgtEl>
                                          <p:spTgt spid="9"/>
                                        </p:tgtEl>
                                        <p:attrNameLst>
                                          <p:attrName>style.visibility</p:attrName>
                                        </p:attrNameLst>
                                      </p:cBhvr>
                                      <p:to>
                                        <p:strVal val="visible"/>
                                      </p:to>
                                    </p:set>
                                    <p:animEffect transition="in" filter="slide(fromBottom)">
                                      <p:cBhvr>
                                        <p:cTn id="248" dur="500"/>
                                        <p:tgtEl>
                                          <p:spTgt spid="9"/>
                                        </p:tgtEl>
                                      </p:cBhvr>
                                    </p:animEffect>
                                  </p:childTnLst>
                                </p:cTn>
                              </p:par>
                            </p:childTnLst>
                          </p:cTn>
                        </p:par>
                      </p:childTnLst>
                    </p:cTn>
                  </p:par>
                  <p:par>
                    <p:cTn id="249" fill="hold">
                      <p:stCondLst>
                        <p:cond delay="indefinite"/>
                      </p:stCondLst>
                      <p:childTnLst>
                        <p:par>
                          <p:cTn id="250" fill="hold">
                            <p:stCondLst>
                              <p:cond delay="0"/>
                            </p:stCondLst>
                            <p:childTnLst>
                              <p:par>
                                <p:cTn id="251" presetID="20" presetClass="entr" presetSubtype="0" fill="hold" grpId="0" nodeType="clickEffect">
                                  <p:stCondLst>
                                    <p:cond delay="0"/>
                                  </p:stCondLst>
                                  <p:childTnLst>
                                    <p:set>
                                      <p:cBhvr>
                                        <p:cTn id="252" dur="1" fill="hold">
                                          <p:stCondLst>
                                            <p:cond delay="0"/>
                                          </p:stCondLst>
                                        </p:cTn>
                                        <p:tgtEl>
                                          <p:spTgt spid="38"/>
                                        </p:tgtEl>
                                        <p:attrNameLst>
                                          <p:attrName>style.visibility</p:attrName>
                                        </p:attrNameLst>
                                      </p:cBhvr>
                                      <p:to>
                                        <p:strVal val="visible"/>
                                      </p:to>
                                    </p:set>
                                    <p:animEffect transition="in" filter="wedge">
                                      <p:cBhvr>
                                        <p:cTn id="253"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7" grpId="0"/>
      <p:bldP spid="28" grpId="0"/>
      <p:bldP spid="29" grpId="0"/>
      <p:bldP spid="30" grpId="0"/>
      <p:bldP spid="31" grpId="0"/>
      <p:bldP spid="32" grpId="0"/>
      <p:bldP spid="33" grpId="0"/>
      <p:bldP spid="34" grpId="0"/>
      <p:bldP spid="35" grpId="0"/>
      <p:bldP spid="36" grpId="0"/>
      <p:bldP spid="37" grpId="0"/>
      <p:bldP spid="3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04800"/>
            <a:ext cx="8382000" cy="1569660"/>
          </a:xfrm>
          <a:prstGeom prst="rect">
            <a:avLst/>
          </a:prstGeom>
        </p:spPr>
        <p:txBody>
          <a:bodyPr wrap="square">
            <a:spAutoFit/>
          </a:bodyPr>
          <a:lstStyle/>
          <a:p>
            <a:pPr marL="406400" indent="-406400"/>
            <a:r>
              <a:rPr lang="en-US" sz="3200" dirty="0" smtClean="0"/>
              <a:t>9. Two angles are supplementary. One of the angles if five times as large as the other. What is the measure of the larger angle?</a:t>
            </a:r>
          </a:p>
        </p:txBody>
      </p:sp>
      <p:sp>
        <p:nvSpPr>
          <p:cNvPr id="6" name="Rectangle 5"/>
          <p:cNvSpPr/>
          <p:nvPr/>
        </p:nvSpPr>
        <p:spPr>
          <a:xfrm>
            <a:off x="1905000" y="1993325"/>
            <a:ext cx="1135247" cy="584775"/>
          </a:xfrm>
          <a:prstGeom prst="rect">
            <a:avLst/>
          </a:prstGeom>
        </p:spPr>
        <p:txBody>
          <a:bodyPr wrap="none">
            <a:spAutoFit/>
          </a:bodyPr>
          <a:lstStyle/>
          <a:p>
            <a:r>
              <a:rPr lang="en-US" sz="3200" dirty="0" smtClean="0"/>
              <a:t>a. 15°</a:t>
            </a:r>
            <a:endParaRPr lang="en-US" sz="3200" dirty="0"/>
          </a:p>
        </p:txBody>
      </p:sp>
      <p:sp>
        <p:nvSpPr>
          <p:cNvPr id="7" name="Rectangle 6"/>
          <p:cNvSpPr/>
          <p:nvPr/>
        </p:nvSpPr>
        <p:spPr>
          <a:xfrm>
            <a:off x="1856373" y="2679125"/>
            <a:ext cx="1154483" cy="584775"/>
          </a:xfrm>
          <a:prstGeom prst="rect">
            <a:avLst/>
          </a:prstGeom>
        </p:spPr>
        <p:txBody>
          <a:bodyPr wrap="none">
            <a:spAutoFit/>
          </a:bodyPr>
          <a:lstStyle/>
          <a:p>
            <a:r>
              <a:rPr lang="en-US" sz="3200" dirty="0" smtClean="0"/>
              <a:t>b. 30°</a:t>
            </a:r>
            <a:endParaRPr lang="en-US" sz="3200" dirty="0"/>
          </a:p>
        </p:txBody>
      </p:sp>
      <p:sp>
        <p:nvSpPr>
          <p:cNvPr id="8" name="Rectangle 7"/>
          <p:cNvSpPr/>
          <p:nvPr/>
        </p:nvSpPr>
        <p:spPr>
          <a:xfrm>
            <a:off x="4950448" y="1993325"/>
            <a:ext cx="1319592" cy="584775"/>
          </a:xfrm>
          <a:prstGeom prst="rect">
            <a:avLst/>
          </a:prstGeom>
        </p:spPr>
        <p:txBody>
          <a:bodyPr wrap="none">
            <a:spAutoFit/>
          </a:bodyPr>
          <a:lstStyle/>
          <a:p>
            <a:r>
              <a:rPr lang="en-US" sz="3200" dirty="0" smtClean="0"/>
              <a:t>c. 120°</a:t>
            </a:r>
            <a:endParaRPr lang="en-US" sz="3200" dirty="0"/>
          </a:p>
        </p:txBody>
      </p:sp>
      <p:sp>
        <p:nvSpPr>
          <p:cNvPr id="9" name="Rectangle 8"/>
          <p:cNvSpPr/>
          <p:nvPr/>
        </p:nvSpPr>
        <p:spPr>
          <a:xfrm>
            <a:off x="4936822" y="2691825"/>
            <a:ext cx="1362874" cy="584775"/>
          </a:xfrm>
          <a:prstGeom prst="rect">
            <a:avLst/>
          </a:prstGeom>
        </p:spPr>
        <p:txBody>
          <a:bodyPr wrap="none">
            <a:spAutoFit/>
          </a:bodyPr>
          <a:lstStyle/>
          <a:p>
            <a:r>
              <a:rPr lang="en-US" sz="3200" dirty="0" smtClean="0"/>
              <a:t>d. 150°</a:t>
            </a:r>
          </a:p>
        </p:txBody>
      </p:sp>
      <p:sp>
        <p:nvSpPr>
          <p:cNvPr id="38" name="Rounded Rectangle 37"/>
          <p:cNvSpPr/>
          <p:nvPr/>
        </p:nvSpPr>
        <p:spPr>
          <a:xfrm>
            <a:off x="4914900" y="2705100"/>
            <a:ext cx="13716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TextBox 38"/>
          <p:cNvSpPr txBox="1"/>
          <p:nvPr/>
        </p:nvSpPr>
        <p:spPr>
          <a:xfrm>
            <a:off x="1066800" y="3454380"/>
            <a:ext cx="5334000" cy="3139321"/>
          </a:xfrm>
          <a:prstGeom prst="rect">
            <a:avLst/>
          </a:prstGeom>
          <a:noFill/>
        </p:spPr>
        <p:txBody>
          <a:bodyPr wrap="square" rtlCol="0">
            <a:spAutoFit/>
          </a:bodyPr>
          <a:lstStyle/>
          <a:p>
            <a:r>
              <a:rPr lang="en-PH" sz="2200" dirty="0" smtClean="0"/>
              <a:t>Solution:</a:t>
            </a:r>
          </a:p>
          <a:p>
            <a:r>
              <a:rPr lang="en-PH" sz="2200" dirty="0" smtClean="0"/>
              <a:t>	Let x = measure of the smaller angle</a:t>
            </a:r>
          </a:p>
          <a:p>
            <a:r>
              <a:rPr lang="en-PH" sz="2200" dirty="0" smtClean="0"/>
              <a:t>	       y = measure of the larger angle</a:t>
            </a:r>
          </a:p>
          <a:p>
            <a:r>
              <a:rPr lang="en-PH" sz="2200" dirty="0" smtClean="0"/>
              <a:t>    Since x + y = 180</a:t>
            </a:r>
            <a:r>
              <a:rPr lang="en-PH" sz="2200" baseline="30000" dirty="0" smtClean="0"/>
              <a:t>0</a:t>
            </a:r>
            <a:r>
              <a:rPr lang="en-PH" sz="2200" dirty="0" smtClean="0"/>
              <a:t> </a:t>
            </a:r>
          </a:p>
          <a:p>
            <a:r>
              <a:rPr lang="en-PH" sz="2200" dirty="0" smtClean="0"/>
              <a:t>           then y = 180</a:t>
            </a:r>
            <a:r>
              <a:rPr lang="en-PH" sz="2200" baseline="30000" dirty="0" smtClean="0"/>
              <a:t>0</a:t>
            </a:r>
            <a:r>
              <a:rPr lang="en-PH" sz="2200" dirty="0" smtClean="0"/>
              <a:t> – x </a:t>
            </a:r>
          </a:p>
          <a:p>
            <a:r>
              <a:rPr lang="en-PH" sz="2200" dirty="0" smtClean="0"/>
              <a:t>	       y = 5x</a:t>
            </a:r>
          </a:p>
          <a:p>
            <a:r>
              <a:rPr lang="en-PH" sz="2200" dirty="0" smtClean="0"/>
              <a:t>        180</a:t>
            </a:r>
            <a:r>
              <a:rPr lang="en-PH" sz="2200" baseline="30000" dirty="0" smtClean="0"/>
              <a:t>0</a:t>
            </a:r>
            <a:r>
              <a:rPr lang="en-PH" sz="2200" dirty="0" smtClean="0"/>
              <a:t> – x = 5x</a:t>
            </a:r>
          </a:p>
          <a:p>
            <a:r>
              <a:rPr lang="en-PH" sz="2200" dirty="0" smtClean="0"/>
              <a:t>	 180</a:t>
            </a:r>
            <a:r>
              <a:rPr lang="en-PH" sz="2200" baseline="30000" dirty="0" smtClean="0"/>
              <a:t>0</a:t>
            </a:r>
            <a:r>
              <a:rPr lang="en-PH" sz="2200" dirty="0" smtClean="0"/>
              <a:t> = 6x</a:t>
            </a:r>
          </a:p>
          <a:p>
            <a:r>
              <a:rPr lang="en-PH" sz="2200" dirty="0" smtClean="0"/>
              <a:t>	       x = 30</a:t>
            </a:r>
            <a:r>
              <a:rPr lang="en-PH" sz="2200" baseline="30000" dirty="0" smtClean="0"/>
              <a:t>0</a:t>
            </a:r>
            <a:endParaRPr lang="en-PH" sz="2200" dirty="0" smtClean="0"/>
          </a:p>
        </p:txBody>
      </p:sp>
      <p:sp>
        <p:nvSpPr>
          <p:cNvPr id="40" name="Rounded Rectangle 39"/>
          <p:cNvSpPr/>
          <p:nvPr/>
        </p:nvSpPr>
        <p:spPr>
          <a:xfrm>
            <a:off x="914400" y="3429000"/>
            <a:ext cx="7239000" cy="3200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4800600" y="4457700"/>
            <a:ext cx="1524000" cy="769441"/>
          </a:xfrm>
          <a:prstGeom prst="rect">
            <a:avLst/>
          </a:prstGeom>
          <a:noFill/>
        </p:spPr>
        <p:txBody>
          <a:bodyPr wrap="square" rtlCol="0">
            <a:spAutoFit/>
          </a:bodyPr>
          <a:lstStyle/>
          <a:p>
            <a:r>
              <a:rPr lang="en-PH" sz="2200" dirty="0" smtClean="0"/>
              <a:t>5x = 5(30</a:t>
            </a:r>
            <a:r>
              <a:rPr lang="en-PH" sz="2200" baseline="30000" dirty="0" smtClean="0"/>
              <a:t>0</a:t>
            </a:r>
            <a:r>
              <a:rPr lang="en-PH" sz="2200" dirty="0" smtClean="0"/>
              <a:t>)</a:t>
            </a:r>
          </a:p>
          <a:p>
            <a:r>
              <a:rPr lang="en-PH" sz="2200" dirty="0" smtClean="0"/>
              <a:t>5x = 150</a:t>
            </a:r>
            <a:r>
              <a:rPr lang="en-PH" sz="2200" baseline="30000" dirty="0" smtClean="0"/>
              <a:t>0</a:t>
            </a:r>
            <a:r>
              <a:rPr lang="en-PH" sz="2200" dirty="0" smtClean="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animEffect transition="in" filter="fade">
                                      <p:cBhvr>
                                        <p:cTn id="27" dur="1000"/>
                                        <p:tgtEl>
                                          <p:spTgt spid="39">
                                            <p:txEl>
                                              <p:pRg st="0" end="0"/>
                                            </p:txEl>
                                          </p:spTgt>
                                        </p:tgtEl>
                                      </p:cBhvr>
                                    </p:animEffect>
                                    <p:anim calcmode="lin" valueType="num">
                                      <p:cBhvr>
                                        <p:cTn id="28"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39">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9">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1000"/>
                                        <p:tgtEl>
                                          <p:spTgt spid="40"/>
                                        </p:tgtEl>
                                      </p:cBhvr>
                                    </p:animEffect>
                                    <p:anim calcmode="lin" valueType="num">
                                      <p:cBhvr>
                                        <p:cTn id="34" dur="1000" fill="hold"/>
                                        <p:tgtEl>
                                          <p:spTgt spid="40"/>
                                        </p:tgtEl>
                                        <p:attrNameLst>
                                          <p:attrName>ppt_x</p:attrName>
                                        </p:attrNameLst>
                                      </p:cBhvr>
                                      <p:tavLst>
                                        <p:tav tm="0">
                                          <p:val>
                                            <p:strVal val="#ppt_x"/>
                                          </p:val>
                                        </p:tav>
                                        <p:tav tm="100000">
                                          <p:val>
                                            <p:strVal val="#ppt_x"/>
                                          </p:val>
                                        </p:tav>
                                      </p:tavLst>
                                    </p:anim>
                                    <p:anim calcmode="lin" valueType="num">
                                      <p:cBhvr>
                                        <p:cTn id="35" dur="900" decel="100000" fill="hold"/>
                                        <p:tgtEl>
                                          <p:spTgt spid="40"/>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40"/>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39">
                                            <p:txEl>
                                              <p:pRg st="1" end="1"/>
                                            </p:txEl>
                                          </p:spTgt>
                                        </p:tgtEl>
                                        <p:attrNameLst>
                                          <p:attrName>style.visibility</p:attrName>
                                        </p:attrNameLst>
                                      </p:cBhvr>
                                      <p:to>
                                        <p:strVal val="visible"/>
                                      </p:to>
                                    </p:set>
                                    <p:anim calcmode="lin" valueType="num">
                                      <p:cBhvr>
                                        <p:cTn id="41" dur="1000" fill="hold"/>
                                        <p:tgtEl>
                                          <p:spTgt spid="39">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39">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3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39">
                                            <p:txEl>
                                              <p:pRg st="2" end="2"/>
                                            </p:txEl>
                                          </p:spTgt>
                                        </p:tgtEl>
                                        <p:attrNameLst>
                                          <p:attrName>style.visibility</p:attrName>
                                        </p:attrNameLst>
                                      </p:cBhvr>
                                      <p:to>
                                        <p:strVal val="visible"/>
                                      </p:to>
                                    </p:set>
                                    <p:anim calcmode="lin" valueType="num">
                                      <p:cBhvr>
                                        <p:cTn id="48" dur="1000" fill="hold"/>
                                        <p:tgtEl>
                                          <p:spTgt spid="39">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39">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39">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39">
                                            <p:txEl>
                                              <p:pRg st="3" end="3"/>
                                            </p:txEl>
                                          </p:spTgt>
                                        </p:tgtEl>
                                        <p:attrNameLst>
                                          <p:attrName>style.visibility</p:attrName>
                                        </p:attrNameLst>
                                      </p:cBhvr>
                                      <p:to>
                                        <p:strVal val="visible"/>
                                      </p:to>
                                    </p:set>
                                    <p:anim calcmode="lin" valueType="num">
                                      <p:cBhvr>
                                        <p:cTn id="55" dur="1000" fill="hold"/>
                                        <p:tgtEl>
                                          <p:spTgt spid="39">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39">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39">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39">
                                            <p:txEl>
                                              <p:pRg st="4" end="4"/>
                                            </p:txEl>
                                          </p:spTgt>
                                        </p:tgtEl>
                                        <p:attrNameLst>
                                          <p:attrName>style.visibility</p:attrName>
                                        </p:attrNameLst>
                                      </p:cBhvr>
                                      <p:to>
                                        <p:strVal val="visible"/>
                                      </p:to>
                                    </p:set>
                                    <p:anim calcmode="lin" valueType="num">
                                      <p:cBhvr>
                                        <p:cTn id="62" dur="1000" fill="hold"/>
                                        <p:tgtEl>
                                          <p:spTgt spid="39">
                                            <p:txEl>
                                              <p:pRg st="4" end="4"/>
                                            </p:txEl>
                                          </p:spTgt>
                                        </p:tgtEl>
                                        <p:attrNameLst>
                                          <p:attrName>ppt_x</p:attrName>
                                        </p:attrNameLst>
                                      </p:cBhvr>
                                      <p:tavLst>
                                        <p:tav tm="0">
                                          <p:val>
                                            <p:strVal val="#ppt_x-.2"/>
                                          </p:val>
                                        </p:tav>
                                        <p:tav tm="100000">
                                          <p:val>
                                            <p:strVal val="#ppt_x"/>
                                          </p:val>
                                        </p:tav>
                                      </p:tavLst>
                                    </p:anim>
                                    <p:anim calcmode="lin" valueType="num">
                                      <p:cBhvr>
                                        <p:cTn id="63" dur="1000" fill="hold"/>
                                        <p:tgtEl>
                                          <p:spTgt spid="3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39">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39">
                                            <p:txEl>
                                              <p:pRg st="5" end="5"/>
                                            </p:txEl>
                                          </p:spTgt>
                                        </p:tgtEl>
                                        <p:attrNameLst>
                                          <p:attrName>style.visibility</p:attrName>
                                        </p:attrNameLst>
                                      </p:cBhvr>
                                      <p:to>
                                        <p:strVal val="visible"/>
                                      </p:to>
                                    </p:set>
                                    <p:anim calcmode="lin" valueType="num">
                                      <p:cBhvr>
                                        <p:cTn id="69" dur="1000" fill="hold"/>
                                        <p:tgtEl>
                                          <p:spTgt spid="39">
                                            <p:txEl>
                                              <p:pRg st="5" end="5"/>
                                            </p:txEl>
                                          </p:spTgt>
                                        </p:tgtEl>
                                        <p:attrNameLst>
                                          <p:attrName>ppt_x</p:attrName>
                                        </p:attrNameLst>
                                      </p:cBhvr>
                                      <p:tavLst>
                                        <p:tav tm="0">
                                          <p:val>
                                            <p:strVal val="#ppt_x-.2"/>
                                          </p:val>
                                        </p:tav>
                                        <p:tav tm="100000">
                                          <p:val>
                                            <p:strVal val="#ppt_x"/>
                                          </p:val>
                                        </p:tav>
                                      </p:tavLst>
                                    </p:anim>
                                    <p:anim calcmode="lin" valueType="num">
                                      <p:cBhvr>
                                        <p:cTn id="70" dur="1000" fill="hold"/>
                                        <p:tgtEl>
                                          <p:spTgt spid="3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1" dur="1000"/>
                                        <p:tgtEl>
                                          <p:spTgt spid="39">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9" presetClass="entr" presetSubtype="0" fill="hold" nodeType="clickEffect">
                                  <p:stCondLst>
                                    <p:cond delay="0"/>
                                  </p:stCondLst>
                                  <p:childTnLst>
                                    <p:set>
                                      <p:cBhvr>
                                        <p:cTn id="75" dur="1" fill="hold">
                                          <p:stCondLst>
                                            <p:cond delay="0"/>
                                          </p:stCondLst>
                                        </p:cTn>
                                        <p:tgtEl>
                                          <p:spTgt spid="39">
                                            <p:txEl>
                                              <p:pRg st="6" end="6"/>
                                            </p:txEl>
                                          </p:spTgt>
                                        </p:tgtEl>
                                        <p:attrNameLst>
                                          <p:attrName>style.visibility</p:attrName>
                                        </p:attrNameLst>
                                      </p:cBhvr>
                                      <p:to>
                                        <p:strVal val="visible"/>
                                      </p:to>
                                    </p:set>
                                    <p:anim calcmode="lin" valueType="num">
                                      <p:cBhvr>
                                        <p:cTn id="76" dur="1000" fill="hold"/>
                                        <p:tgtEl>
                                          <p:spTgt spid="39">
                                            <p:txEl>
                                              <p:pRg st="6" end="6"/>
                                            </p:txEl>
                                          </p:spTgt>
                                        </p:tgtEl>
                                        <p:attrNameLst>
                                          <p:attrName>ppt_x</p:attrName>
                                        </p:attrNameLst>
                                      </p:cBhvr>
                                      <p:tavLst>
                                        <p:tav tm="0">
                                          <p:val>
                                            <p:strVal val="#ppt_x-.2"/>
                                          </p:val>
                                        </p:tav>
                                        <p:tav tm="100000">
                                          <p:val>
                                            <p:strVal val="#ppt_x"/>
                                          </p:val>
                                        </p:tav>
                                      </p:tavLst>
                                    </p:anim>
                                    <p:anim calcmode="lin" valueType="num">
                                      <p:cBhvr>
                                        <p:cTn id="77" dur="1000" fill="hold"/>
                                        <p:tgtEl>
                                          <p:spTgt spid="3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8" dur="1000"/>
                                        <p:tgtEl>
                                          <p:spTgt spid="39">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39">
                                            <p:txEl>
                                              <p:pRg st="7" end="7"/>
                                            </p:txEl>
                                          </p:spTgt>
                                        </p:tgtEl>
                                        <p:attrNameLst>
                                          <p:attrName>style.visibility</p:attrName>
                                        </p:attrNameLst>
                                      </p:cBhvr>
                                      <p:to>
                                        <p:strVal val="visible"/>
                                      </p:to>
                                    </p:set>
                                    <p:anim calcmode="lin" valueType="num">
                                      <p:cBhvr>
                                        <p:cTn id="83" dur="1000" fill="hold"/>
                                        <p:tgtEl>
                                          <p:spTgt spid="39">
                                            <p:txEl>
                                              <p:pRg st="7" end="7"/>
                                            </p:txEl>
                                          </p:spTgt>
                                        </p:tgtEl>
                                        <p:attrNameLst>
                                          <p:attrName>ppt_x</p:attrName>
                                        </p:attrNameLst>
                                      </p:cBhvr>
                                      <p:tavLst>
                                        <p:tav tm="0">
                                          <p:val>
                                            <p:strVal val="#ppt_x-.2"/>
                                          </p:val>
                                        </p:tav>
                                        <p:tav tm="100000">
                                          <p:val>
                                            <p:strVal val="#ppt_x"/>
                                          </p:val>
                                        </p:tav>
                                      </p:tavLst>
                                    </p:anim>
                                    <p:anim calcmode="lin" valueType="num">
                                      <p:cBhvr>
                                        <p:cTn id="84" dur="1000" fill="hold"/>
                                        <p:tgtEl>
                                          <p:spTgt spid="39">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85" dur="1000"/>
                                        <p:tgtEl>
                                          <p:spTgt spid="39">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9" presetClass="entr" presetSubtype="0" fill="hold" nodeType="clickEffect">
                                  <p:stCondLst>
                                    <p:cond delay="0"/>
                                  </p:stCondLst>
                                  <p:childTnLst>
                                    <p:set>
                                      <p:cBhvr>
                                        <p:cTn id="89" dur="1" fill="hold">
                                          <p:stCondLst>
                                            <p:cond delay="0"/>
                                          </p:stCondLst>
                                        </p:cTn>
                                        <p:tgtEl>
                                          <p:spTgt spid="39">
                                            <p:txEl>
                                              <p:pRg st="8" end="8"/>
                                            </p:txEl>
                                          </p:spTgt>
                                        </p:tgtEl>
                                        <p:attrNameLst>
                                          <p:attrName>style.visibility</p:attrName>
                                        </p:attrNameLst>
                                      </p:cBhvr>
                                      <p:to>
                                        <p:strVal val="visible"/>
                                      </p:to>
                                    </p:set>
                                    <p:anim calcmode="lin" valueType="num">
                                      <p:cBhvr>
                                        <p:cTn id="90" dur="1000" fill="hold"/>
                                        <p:tgtEl>
                                          <p:spTgt spid="39">
                                            <p:txEl>
                                              <p:pRg st="8" end="8"/>
                                            </p:txEl>
                                          </p:spTgt>
                                        </p:tgtEl>
                                        <p:attrNameLst>
                                          <p:attrName>ppt_x</p:attrName>
                                        </p:attrNameLst>
                                      </p:cBhvr>
                                      <p:tavLst>
                                        <p:tav tm="0">
                                          <p:val>
                                            <p:strVal val="#ppt_x-.2"/>
                                          </p:val>
                                        </p:tav>
                                        <p:tav tm="100000">
                                          <p:val>
                                            <p:strVal val="#ppt_x"/>
                                          </p:val>
                                        </p:tav>
                                      </p:tavLst>
                                    </p:anim>
                                    <p:anim calcmode="lin" valueType="num">
                                      <p:cBhvr>
                                        <p:cTn id="91" dur="1000" fill="hold"/>
                                        <p:tgtEl>
                                          <p:spTgt spid="39">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92" dur="1000"/>
                                        <p:tgtEl>
                                          <p:spTgt spid="39">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9" presetClass="entr" presetSubtype="0" fill="hold" nodeType="clickEffect">
                                  <p:stCondLst>
                                    <p:cond delay="0"/>
                                  </p:stCondLst>
                                  <p:childTnLst>
                                    <p:set>
                                      <p:cBhvr>
                                        <p:cTn id="96" dur="1" fill="hold">
                                          <p:stCondLst>
                                            <p:cond delay="0"/>
                                          </p:stCondLst>
                                        </p:cTn>
                                        <p:tgtEl>
                                          <p:spTgt spid="41">
                                            <p:txEl>
                                              <p:pRg st="0" end="0"/>
                                            </p:txEl>
                                          </p:spTgt>
                                        </p:tgtEl>
                                        <p:attrNameLst>
                                          <p:attrName>style.visibility</p:attrName>
                                        </p:attrNameLst>
                                      </p:cBhvr>
                                      <p:to>
                                        <p:strVal val="visible"/>
                                      </p:to>
                                    </p:set>
                                    <p:anim calcmode="lin" valueType="num">
                                      <p:cBhvr>
                                        <p:cTn id="97" dur="1000" fill="hold"/>
                                        <p:tgtEl>
                                          <p:spTgt spid="41">
                                            <p:txEl>
                                              <p:pRg st="0" end="0"/>
                                            </p:txEl>
                                          </p:spTgt>
                                        </p:tgtEl>
                                        <p:attrNameLst>
                                          <p:attrName>ppt_x</p:attrName>
                                        </p:attrNameLst>
                                      </p:cBhvr>
                                      <p:tavLst>
                                        <p:tav tm="0">
                                          <p:val>
                                            <p:strVal val="#ppt_x-.2"/>
                                          </p:val>
                                        </p:tav>
                                        <p:tav tm="100000">
                                          <p:val>
                                            <p:strVal val="#ppt_x"/>
                                          </p:val>
                                        </p:tav>
                                      </p:tavLst>
                                    </p:anim>
                                    <p:anim calcmode="lin" valueType="num">
                                      <p:cBhvr>
                                        <p:cTn id="98" dur="1000" fill="hold"/>
                                        <p:tgtEl>
                                          <p:spTgt spid="41">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9" dur="1000"/>
                                        <p:tgtEl>
                                          <p:spTgt spid="41">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9" presetClass="entr" presetSubtype="0" fill="hold" nodeType="clickEffect">
                                  <p:stCondLst>
                                    <p:cond delay="0"/>
                                  </p:stCondLst>
                                  <p:childTnLst>
                                    <p:set>
                                      <p:cBhvr>
                                        <p:cTn id="103" dur="1" fill="hold">
                                          <p:stCondLst>
                                            <p:cond delay="0"/>
                                          </p:stCondLst>
                                        </p:cTn>
                                        <p:tgtEl>
                                          <p:spTgt spid="41">
                                            <p:txEl>
                                              <p:pRg st="1" end="1"/>
                                            </p:txEl>
                                          </p:spTgt>
                                        </p:tgtEl>
                                        <p:attrNameLst>
                                          <p:attrName>style.visibility</p:attrName>
                                        </p:attrNameLst>
                                      </p:cBhvr>
                                      <p:to>
                                        <p:strVal val="visible"/>
                                      </p:to>
                                    </p:set>
                                    <p:anim calcmode="lin" valueType="num">
                                      <p:cBhvr>
                                        <p:cTn id="104" dur="1000" fill="hold"/>
                                        <p:tgtEl>
                                          <p:spTgt spid="41">
                                            <p:txEl>
                                              <p:pRg st="1" end="1"/>
                                            </p:txEl>
                                          </p:spTgt>
                                        </p:tgtEl>
                                        <p:attrNameLst>
                                          <p:attrName>ppt_x</p:attrName>
                                        </p:attrNameLst>
                                      </p:cBhvr>
                                      <p:tavLst>
                                        <p:tav tm="0">
                                          <p:val>
                                            <p:strVal val="#ppt_x-.2"/>
                                          </p:val>
                                        </p:tav>
                                        <p:tav tm="100000">
                                          <p:val>
                                            <p:strVal val="#ppt_x"/>
                                          </p:val>
                                        </p:tav>
                                      </p:tavLst>
                                    </p:anim>
                                    <p:anim calcmode="lin" valueType="num">
                                      <p:cBhvr>
                                        <p:cTn id="105" dur="1000" fill="hold"/>
                                        <p:tgtEl>
                                          <p:spTgt spid="4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06" dur="1000"/>
                                        <p:tgtEl>
                                          <p:spTgt spid="41">
                                            <p:txEl>
                                              <p:pRg st="1" end="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0" presetClass="entr" presetSubtype="0" fill="hold" grpId="0" nodeType="click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wedge">
                                      <p:cBhvr>
                                        <p:cTn id="111"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8" grpId="0" animBg="1"/>
      <p:bldP spid="4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126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228600"/>
            <a:ext cx="8305800" cy="1077218"/>
          </a:xfrm>
          <a:prstGeom prst="rect">
            <a:avLst/>
          </a:prstGeom>
        </p:spPr>
        <p:txBody>
          <a:bodyPr wrap="square">
            <a:spAutoFit/>
          </a:bodyPr>
          <a:lstStyle/>
          <a:p>
            <a:pPr marL="571500" indent="-571500"/>
            <a:r>
              <a:rPr lang="en-US" sz="3200" dirty="0" smtClean="0"/>
              <a:t>10. If ABC is an isosceles triangle with a right angle at B, then</a:t>
            </a:r>
          </a:p>
        </p:txBody>
      </p:sp>
      <p:sp>
        <p:nvSpPr>
          <p:cNvPr id="6" name="Rectangle 5"/>
          <p:cNvSpPr/>
          <p:nvPr/>
        </p:nvSpPr>
        <p:spPr>
          <a:xfrm>
            <a:off x="1586253" y="1371600"/>
            <a:ext cx="5942589" cy="584775"/>
          </a:xfrm>
          <a:prstGeom prst="rect">
            <a:avLst/>
          </a:prstGeom>
        </p:spPr>
        <p:txBody>
          <a:bodyPr wrap="none">
            <a:spAutoFit/>
          </a:bodyPr>
          <a:lstStyle/>
          <a:p>
            <a:r>
              <a:rPr lang="en-US" sz="3200" dirty="0" smtClean="0"/>
              <a:t>a. Segment BC is the hypotenuse</a:t>
            </a:r>
            <a:endParaRPr lang="en-US" sz="3200" dirty="0"/>
          </a:p>
        </p:txBody>
      </p:sp>
      <p:sp>
        <p:nvSpPr>
          <p:cNvPr id="7" name="Rectangle 6"/>
          <p:cNvSpPr/>
          <p:nvPr/>
        </p:nvSpPr>
        <p:spPr>
          <a:xfrm>
            <a:off x="1537626" y="2057400"/>
            <a:ext cx="5503814" cy="584775"/>
          </a:xfrm>
          <a:prstGeom prst="rect">
            <a:avLst/>
          </a:prstGeom>
        </p:spPr>
        <p:txBody>
          <a:bodyPr wrap="none">
            <a:spAutoFit/>
          </a:bodyPr>
          <a:lstStyle/>
          <a:p>
            <a:r>
              <a:rPr lang="en-US" sz="3200" dirty="0" smtClean="0"/>
              <a:t>b. Measure of angle BCA is 45°</a:t>
            </a:r>
            <a:endParaRPr lang="en-US" sz="3200" dirty="0"/>
          </a:p>
        </p:txBody>
      </p:sp>
      <p:sp>
        <p:nvSpPr>
          <p:cNvPr id="8" name="Rectangle 7"/>
          <p:cNvSpPr/>
          <p:nvPr/>
        </p:nvSpPr>
        <p:spPr>
          <a:xfrm>
            <a:off x="1537626" y="2656582"/>
            <a:ext cx="1842364" cy="584775"/>
          </a:xfrm>
          <a:prstGeom prst="rect">
            <a:avLst/>
          </a:prstGeom>
        </p:spPr>
        <p:txBody>
          <a:bodyPr wrap="none">
            <a:spAutoFit/>
          </a:bodyPr>
          <a:lstStyle/>
          <a:p>
            <a:r>
              <a:rPr lang="en-US" sz="3200" dirty="0" smtClean="0"/>
              <a:t>c. AC = BC</a:t>
            </a:r>
            <a:endParaRPr lang="en-US" sz="3200" dirty="0"/>
          </a:p>
        </p:txBody>
      </p:sp>
      <p:sp>
        <p:nvSpPr>
          <p:cNvPr id="9" name="Rectangle 8"/>
          <p:cNvSpPr/>
          <p:nvPr/>
        </p:nvSpPr>
        <p:spPr>
          <a:xfrm>
            <a:off x="1524000" y="3418582"/>
            <a:ext cx="2271969" cy="584775"/>
          </a:xfrm>
          <a:prstGeom prst="rect">
            <a:avLst/>
          </a:prstGeom>
        </p:spPr>
        <p:txBody>
          <a:bodyPr wrap="none">
            <a:spAutoFit/>
          </a:bodyPr>
          <a:lstStyle/>
          <a:p>
            <a:r>
              <a:rPr lang="en-US" sz="3200" dirty="0" smtClean="0"/>
              <a:t>d. AB = ½ AC</a:t>
            </a:r>
          </a:p>
        </p:txBody>
      </p:sp>
      <p:sp>
        <p:nvSpPr>
          <p:cNvPr id="10" name="Rectangle 9"/>
          <p:cNvSpPr/>
          <p:nvPr/>
        </p:nvSpPr>
        <p:spPr>
          <a:xfrm>
            <a:off x="1987809" y="4139625"/>
            <a:ext cx="1745991" cy="584775"/>
          </a:xfrm>
          <a:prstGeom prst="rect">
            <a:avLst/>
          </a:prstGeom>
        </p:spPr>
        <p:txBody>
          <a:bodyPr wrap="none">
            <a:spAutoFit/>
          </a:bodyPr>
          <a:lstStyle/>
          <a:p>
            <a:r>
              <a:rPr lang="en-PH" sz="3200" dirty="0" smtClean="0"/>
              <a:t>Solution</a:t>
            </a:r>
            <a:r>
              <a:rPr lang="en-PH" dirty="0" smtClean="0"/>
              <a:t>:</a:t>
            </a:r>
          </a:p>
        </p:txBody>
      </p:sp>
      <p:sp>
        <p:nvSpPr>
          <p:cNvPr id="11" name="Right Triangle 10"/>
          <p:cNvSpPr/>
          <p:nvPr/>
        </p:nvSpPr>
        <p:spPr>
          <a:xfrm>
            <a:off x="4648200" y="4343400"/>
            <a:ext cx="2011680" cy="2011680"/>
          </a:xfrm>
          <a:prstGeom prst="rtTriangl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2" name="Rectangle 11"/>
          <p:cNvSpPr/>
          <p:nvPr/>
        </p:nvSpPr>
        <p:spPr>
          <a:xfrm>
            <a:off x="4648200" y="6117771"/>
            <a:ext cx="228600" cy="2286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3" name="Arc 12"/>
          <p:cNvSpPr/>
          <p:nvPr/>
        </p:nvSpPr>
        <p:spPr>
          <a:xfrm rot="20332517" flipH="1">
            <a:off x="6254486" y="6060394"/>
            <a:ext cx="381000" cy="457200"/>
          </a:xfrm>
          <a:prstGeom prst="arc">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H"/>
          </a:p>
        </p:txBody>
      </p:sp>
      <p:sp>
        <p:nvSpPr>
          <p:cNvPr id="14" name="Rectangle 13"/>
          <p:cNvSpPr/>
          <p:nvPr/>
        </p:nvSpPr>
        <p:spPr>
          <a:xfrm>
            <a:off x="5715000" y="5888335"/>
            <a:ext cx="592342" cy="461665"/>
          </a:xfrm>
          <a:prstGeom prst="rect">
            <a:avLst/>
          </a:prstGeom>
        </p:spPr>
        <p:txBody>
          <a:bodyPr wrap="none">
            <a:spAutoFit/>
          </a:bodyPr>
          <a:lstStyle/>
          <a:p>
            <a:r>
              <a:rPr lang="en-US" sz="2400" dirty="0" smtClean="0"/>
              <a:t>45°</a:t>
            </a:r>
            <a:endParaRPr lang="en-US" sz="2400" dirty="0"/>
          </a:p>
        </p:txBody>
      </p:sp>
      <p:sp>
        <p:nvSpPr>
          <p:cNvPr id="15" name="Rectangle 14"/>
          <p:cNvSpPr/>
          <p:nvPr/>
        </p:nvSpPr>
        <p:spPr>
          <a:xfrm>
            <a:off x="4221480" y="4048780"/>
            <a:ext cx="426720" cy="523220"/>
          </a:xfrm>
          <a:prstGeom prst="rect">
            <a:avLst/>
          </a:prstGeom>
        </p:spPr>
        <p:txBody>
          <a:bodyPr wrap="none">
            <a:spAutoFit/>
          </a:bodyPr>
          <a:lstStyle/>
          <a:p>
            <a:r>
              <a:rPr lang="en-US" sz="2800" dirty="0" smtClean="0"/>
              <a:t>A</a:t>
            </a:r>
            <a:endParaRPr lang="en-PH" sz="2800" dirty="0"/>
          </a:p>
        </p:txBody>
      </p:sp>
      <p:sp>
        <p:nvSpPr>
          <p:cNvPr id="16" name="Rectangle 15"/>
          <p:cNvSpPr/>
          <p:nvPr/>
        </p:nvSpPr>
        <p:spPr>
          <a:xfrm>
            <a:off x="4267200" y="6182380"/>
            <a:ext cx="399468" cy="523220"/>
          </a:xfrm>
          <a:prstGeom prst="rect">
            <a:avLst/>
          </a:prstGeom>
        </p:spPr>
        <p:txBody>
          <a:bodyPr wrap="none">
            <a:spAutoFit/>
          </a:bodyPr>
          <a:lstStyle/>
          <a:p>
            <a:r>
              <a:rPr lang="en-US" sz="2800" dirty="0" smtClean="0"/>
              <a:t>B</a:t>
            </a:r>
            <a:endParaRPr lang="en-PH" sz="2800" dirty="0"/>
          </a:p>
        </p:txBody>
      </p:sp>
      <p:sp>
        <p:nvSpPr>
          <p:cNvPr id="17" name="Rectangle 16"/>
          <p:cNvSpPr/>
          <p:nvPr/>
        </p:nvSpPr>
        <p:spPr>
          <a:xfrm>
            <a:off x="6642100" y="6146800"/>
            <a:ext cx="418704" cy="523220"/>
          </a:xfrm>
          <a:prstGeom prst="rect">
            <a:avLst/>
          </a:prstGeom>
        </p:spPr>
        <p:txBody>
          <a:bodyPr wrap="none">
            <a:spAutoFit/>
          </a:bodyPr>
          <a:lstStyle/>
          <a:p>
            <a:r>
              <a:rPr lang="en-US" sz="2800" dirty="0" smtClean="0"/>
              <a:t>C</a:t>
            </a:r>
            <a:endParaRPr lang="en-PH" sz="2800" dirty="0"/>
          </a:p>
        </p:txBody>
      </p:sp>
      <p:sp>
        <p:nvSpPr>
          <p:cNvPr id="18" name="Rounded Rectangle 17"/>
          <p:cNvSpPr/>
          <p:nvPr/>
        </p:nvSpPr>
        <p:spPr>
          <a:xfrm>
            <a:off x="1752600" y="3962400"/>
            <a:ext cx="5410200" cy="27432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1524000" y="2057400"/>
            <a:ext cx="5181600" cy="6096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900" decel="100000" fill="hold"/>
                                        <p:tgtEl>
                                          <p:spTgt spid="1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1000"/>
                                        <p:tgtEl>
                                          <p:spTgt spid="18"/>
                                        </p:tgtEl>
                                      </p:cBhvr>
                                    </p:animEffect>
                                    <p:anim calcmode="lin" valueType="num">
                                      <p:cBhvr>
                                        <p:cTn id="34" dur="1000" fill="hold"/>
                                        <p:tgtEl>
                                          <p:spTgt spid="18"/>
                                        </p:tgtEl>
                                        <p:attrNameLst>
                                          <p:attrName>ppt_x</p:attrName>
                                        </p:attrNameLst>
                                      </p:cBhvr>
                                      <p:tavLst>
                                        <p:tav tm="0">
                                          <p:val>
                                            <p:strVal val="#ppt_x"/>
                                          </p:val>
                                        </p:tav>
                                        <p:tav tm="100000">
                                          <p:val>
                                            <p:strVal val="#ppt_x"/>
                                          </p:val>
                                        </p:tav>
                                      </p:tavLst>
                                    </p:anim>
                                    <p:anim calcmode="lin" valueType="num">
                                      <p:cBhvr>
                                        <p:cTn id="35" dur="900" decel="100000" fill="hold"/>
                                        <p:tgtEl>
                                          <p:spTgt spid="18"/>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80">
                                          <p:stCondLst>
                                            <p:cond delay="0"/>
                                          </p:stCondLst>
                                        </p:cTn>
                                        <p:tgtEl>
                                          <p:spTgt spid="11"/>
                                        </p:tgtEl>
                                      </p:cBhvr>
                                    </p:animEffect>
                                    <p:anim calcmode="lin" valueType="num">
                                      <p:cBhvr>
                                        <p:cTn id="4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7" dur="26">
                                          <p:stCondLst>
                                            <p:cond delay="650"/>
                                          </p:stCondLst>
                                        </p:cTn>
                                        <p:tgtEl>
                                          <p:spTgt spid="11"/>
                                        </p:tgtEl>
                                      </p:cBhvr>
                                      <p:to x="100000" y="60000"/>
                                    </p:animScale>
                                    <p:animScale>
                                      <p:cBhvr>
                                        <p:cTn id="48" dur="166" decel="50000">
                                          <p:stCondLst>
                                            <p:cond delay="676"/>
                                          </p:stCondLst>
                                        </p:cTn>
                                        <p:tgtEl>
                                          <p:spTgt spid="11"/>
                                        </p:tgtEl>
                                      </p:cBhvr>
                                      <p:to x="100000" y="100000"/>
                                    </p:animScale>
                                    <p:animScale>
                                      <p:cBhvr>
                                        <p:cTn id="49" dur="26">
                                          <p:stCondLst>
                                            <p:cond delay="1312"/>
                                          </p:stCondLst>
                                        </p:cTn>
                                        <p:tgtEl>
                                          <p:spTgt spid="11"/>
                                        </p:tgtEl>
                                      </p:cBhvr>
                                      <p:to x="100000" y="80000"/>
                                    </p:animScale>
                                    <p:animScale>
                                      <p:cBhvr>
                                        <p:cTn id="50" dur="166" decel="50000">
                                          <p:stCondLst>
                                            <p:cond delay="1338"/>
                                          </p:stCondLst>
                                        </p:cTn>
                                        <p:tgtEl>
                                          <p:spTgt spid="11"/>
                                        </p:tgtEl>
                                      </p:cBhvr>
                                      <p:to x="100000" y="100000"/>
                                    </p:animScale>
                                    <p:animScale>
                                      <p:cBhvr>
                                        <p:cTn id="51" dur="26">
                                          <p:stCondLst>
                                            <p:cond delay="1642"/>
                                          </p:stCondLst>
                                        </p:cTn>
                                        <p:tgtEl>
                                          <p:spTgt spid="11"/>
                                        </p:tgtEl>
                                      </p:cBhvr>
                                      <p:to x="100000" y="90000"/>
                                    </p:animScale>
                                    <p:animScale>
                                      <p:cBhvr>
                                        <p:cTn id="52" dur="166" decel="50000">
                                          <p:stCondLst>
                                            <p:cond delay="1668"/>
                                          </p:stCondLst>
                                        </p:cTn>
                                        <p:tgtEl>
                                          <p:spTgt spid="11"/>
                                        </p:tgtEl>
                                      </p:cBhvr>
                                      <p:to x="100000" y="100000"/>
                                    </p:animScale>
                                    <p:animScale>
                                      <p:cBhvr>
                                        <p:cTn id="53" dur="26">
                                          <p:stCondLst>
                                            <p:cond delay="1808"/>
                                          </p:stCondLst>
                                        </p:cTn>
                                        <p:tgtEl>
                                          <p:spTgt spid="11"/>
                                        </p:tgtEl>
                                      </p:cBhvr>
                                      <p:to x="100000" y="95000"/>
                                    </p:animScale>
                                    <p:animScale>
                                      <p:cBhvr>
                                        <p:cTn id="54" dur="166" decel="50000">
                                          <p:stCondLst>
                                            <p:cond delay="1834"/>
                                          </p:stCondLst>
                                        </p:cTn>
                                        <p:tgtEl>
                                          <p:spTgt spid="11"/>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down)">
                                      <p:cBhvr>
                                        <p:cTn id="57" dur="580">
                                          <p:stCondLst>
                                            <p:cond delay="0"/>
                                          </p:stCondLst>
                                        </p:cTn>
                                        <p:tgtEl>
                                          <p:spTgt spid="12"/>
                                        </p:tgtEl>
                                      </p:cBhvr>
                                    </p:animEffect>
                                    <p:anim calcmode="lin" valueType="num">
                                      <p:cBhvr>
                                        <p:cTn id="5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63" dur="26">
                                          <p:stCondLst>
                                            <p:cond delay="650"/>
                                          </p:stCondLst>
                                        </p:cTn>
                                        <p:tgtEl>
                                          <p:spTgt spid="12"/>
                                        </p:tgtEl>
                                      </p:cBhvr>
                                      <p:to x="100000" y="60000"/>
                                    </p:animScale>
                                    <p:animScale>
                                      <p:cBhvr>
                                        <p:cTn id="64" dur="166" decel="50000">
                                          <p:stCondLst>
                                            <p:cond delay="676"/>
                                          </p:stCondLst>
                                        </p:cTn>
                                        <p:tgtEl>
                                          <p:spTgt spid="12"/>
                                        </p:tgtEl>
                                      </p:cBhvr>
                                      <p:to x="100000" y="100000"/>
                                    </p:animScale>
                                    <p:animScale>
                                      <p:cBhvr>
                                        <p:cTn id="65" dur="26">
                                          <p:stCondLst>
                                            <p:cond delay="1312"/>
                                          </p:stCondLst>
                                        </p:cTn>
                                        <p:tgtEl>
                                          <p:spTgt spid="12"/>
                                        </p:tgtEl>
                                      </p:cBhvr>
                                      <p:to x="100000" y="80000"/>
                                    </p:animScale>
                                    <p:animScale>
                                      <p:cBhvr>
                                        <p:cTn id="66" dur="166" decel="50000">
                                          <p:stCondLst>
                                            <p:cond delay="1338"/>
                                          </p:stCondLst>
                                        </p:cTn>
                                        <p:tgtEl>
                                          <p:spTgt spid="12"/>
                                        </p:tgtEl>
                                      </p:cBhvr>
                                      <p:to x="100000" y="100000"/>
                                    </p:animScale>
                                    <p:animScale>
                                      <p:cBhvr>
                                        <p:cTn id="67" dur="26">
                                          <p:stCondLst>
                                            <p:cond delay="1642"/>
                                          </p:stCondLst>
                                        </p:cTn>
                                        <p:tgtEl>
                                          <p:spTgt spid="12"/>
                                        </p:tgtEl>
                                      </p:cBhvr>
                                      <p:to x="100000" y="90000"/>
                                    </p:animScale>
                                    <p:animScale>
                                      <p:cBhvr>
                                        <p:cTn id="68" dur="166" decel="50000">
                                          <p:stCondLst>
                                            <p:cond delay="1668"/>
                                          </p:stCondLst>
                                        </p:cTn>
                                        <p:tgtEl>
                                          <p:spTgt spid="12"/>
                                        </p:tgtEl>
                                      </p:cBhvr>
                                      <p:to x="100000" y="100000"/>
                                    </p:animScale>
                                    <p:animScale>
                                      <p:cBhvr>
                                        <p:cTn id="69" dur="26">
                                          <p:stCondLst>
                                            <p:cond delay="1808"/>
                                          </p:stCondLst>
                                        </p:cTn>
                                        <p:tgtEl>
                                          <p:spTgt spid="12"/>
                                        </p:tgtEl>
                                      </p:cBhvr>
                                      <p:to x="100000" y="95000"/>
                                    </p:animScale>
                                    <p:animScale>
                                      <p:cBhvr>
                                        <p:cTn id="70" dur="166" decel="50000">
                                          <p:stCondLst>
                                            <p:cond delay="1834"/>
                                          </p:stCondLst>
                                        </p:cTn>
                                        <p:tgtEl>
                                          <p:spTgt spid="12"/>
                                        </p:tgtEl>
                                      </p:cBhvr>
                                      <p:to x="100000" y="100000"/>
                                    </p:animScale>
                                  </p:childTnLst>
                                </p:cTn>
                              </p:par>
                              <p:par>
                                <p:cTn id="71" presetID="26" presetClass="entr" presetSubtype="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ipe(down)">
                                      <p:cBhvr>
                                        <p:cTn id="73" dur="580">
                                          <p:stCondLst>
                                            <p:cond delay="0"/>
                                          </p:stCondLst>
                                        </p:cTn>
                                        <p:tgtEl>
                                          <p:spTgt spid="13"/>
                                        </p:tgtEl>
                                      </p:cBhvr>
                                    </p:animEffect>
                                    <p:anim calcmode="lin" valueType="num">
                                      <p:cBhvr>
                                        <p:cTn id="74"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79" dur="26">
                                          <p:stCondLst>
                                            <p:cond delay="650"/>
                                          </p:stCondLst>
                                        </p:cTn>
                                        <p:tgtEl>
                                          <p:spTgt spid="13"/>
                                        </p:tgtEl>
                                      </p:cBhvr>
                                      <p:to x="100000" y="60000"/>
                                    </p:animScale>
                                    <p:animScale>
                                      <p:cBhvr>
                                        <p:cTn id="80" dur="166" decel="50000">
                                          <p:stCondLst>
                                            <p:cond delay="676"/>
                                          </p:stCondLst>
                                        </p:cTn>
                                        <p:tgtEl>
                                          <p:spTgt spid="13"/>
                                        </p:tgtEl>
                                      </p:cBhvr>
                                      <p:to x="100000" y="100000"/>
                                    </p:animScale>
                                    <p:animScale>
                                      <p:cBhvr>
                                        <p:cTn id="81" dur="26">
                                          <p:stCondLst>
                                            <p:cond delay="1312"/>
                                          </p:stCondLst>
                                        </p:cTn>
                                        <p:tgtEl>
                                          <p:spTgt spid="13"/>
                                        </p:tgtEl>
                                      </p:cBhvr>
                                      <p:to x="100000" y="80000"/>
                                    </p:animScale>
                                    <p:animScale>
                                      <p:cBhvr>
                                        <p:cTn id="82" dur="166" decel="50000">
                                          <p:stCondLst>
                                            <p:cond delay="1338"/>
                                          </p:stCondLst>
                                        </p:cTn>
                                        <p:tgtEl>
                                          <p:spTgt spid="13"/>
                                        </p:tgtEl>
                                      </p:cBhvr>
                                      <p:to x="100000" y="100000"/>
                                    </p:animScale>
                                    <p:animScale>
                                      <p:cBhvr>
                                        <p:cTn id="83" dur="26">
                                          <p:stCondLst>
                                            <p:cond delay="1642"/>
                                          </p:stCondLst>
                                        </p:cTn>
                                        <p:tgtEl>
                                          <p:spTgt spid="13"/>
                                        </p:tgtEl>
                                      </p:cBhvr>
                                      <p:to x="100000" y="90000"/>
                                    </p:animScale>
                                    <p:animScale>
                                      <p:cBhvr>
                                        <p:cTn id="84" dur="166" decel="50000">
                                          <p:stCondLst>
                                            <p:cond delay="1668"/>
                                          </p:stCondLst>
                                        </p:cTn>
                                        <p:tgtEl>
                                          <p:spTgt spid="13"/>
                                        </p:tgtEl>
                                      </p:cBhvr>
                                      <p:to x="100000" y="100000"/>
                                    </p:animScale>
                                    <p:animScale>
                                      <p:cBhvr>
                                        <p:cTn id="85" dur="26">
                                          <p:stCondLst>
                                            <p:cond delay="1808"/>
                                          </p:stCondLst>
                                        </p:cTn>
                                        <p:tgtEl>
                                          <p:spTgt spid="13"/>
                                        </p:tgtEl>
                                      </p:cBhvr>
                                      <p:to x="100000" y="95000"/>
                                    </p:animScale>
                                    <p:animScale>
                                      <p:cBhvr>
                                        <p:cTn id="86" dur="166" decel="50000">
                                          <p:stCondLst>
                                            <p:cond delay="1834"/>
                                          </p:stCondLst>
                                        </p:cTn>
                                        <p:tgtEl>
                                          <p:spTgt spid="13"/>
                                        </p:tgtEl>
                                      </p:cBhvr>
                                      <p:to x="100000" y="100000"/>
                                    </p:animScale>
                                  </p:childTnLst>
                                </p:cTn>
                              </p:par>
                              <p:par>
                                <p:cTn id="87" presetID="26"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wipe(down)">
                                      <p:cBhvr>
                                        <p:cTn id="89" dur="580">
                                          <p:stCondLst>
                                            <p:cond delay="0"/>
                                          </p:stCondLst>
                                        </p:cTn>
                                        <p:tgtEl>
                                          <p:spTgt spid="15"/>
                                        </p:tgtEl>
                                      </p:cBhvr>
                                    </p:animEffect>
                                    <p:anim calcmode="lin" valueType="num">
                                      <p:cBhvr>
                                        <p:cTn id="9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9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9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9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9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95" dur="26">
                                          <p:stCondLst>
                                            <p:cond delay="650"/>
                                          </p:stCondLst>
                                        </p:cTn>
                                        <p:tgtEl>
                                          <p:spTgt spid="15"/>
                                        </p:tgtEl>
                                      </p:cBhvr>
                                      <p:to x="100000" y="60000"/>
                                    </p:animScale>
                                    <p:animScale>
                                      <p:cBhvr>
                                        <p:cTn id="96" dur="166" decel="50000">
                                          <p:stCondLst>
                                            <p:cond delay="676"/>
                                          </p:stCondLst>
                                        </p:cTn>
                                        <p:tgtEl>
                                          <p:spTgt spid="15"/>
                                        </p:tgtEl>
                                      </p:cBhvr>
                                      <p:to x="100000" y="100000"/>
                                    </p:animScale>
                                    <p:animScale>
                                      <p:cBhvr>
                                        <p:cTn id="97" dur="26">
                                          <p:stCondLst>
                                            <p:cond delay="1312"/>
                                          </p:stCondLst>
                                        </p:cTn>
                                        <p:tgtEl>
                                          <p:spTgt spid="15"/>
                                        </p:tgtEl>
                                      </p:cBhvr>
                                      <p:to x="100000" y="80000"/>
                                    </p:animScale>
                                    <p:animScale>
                                      <p:cBhvr>
                                        <p:cTn id="98" dur="166" decel="50000">
                                          <p:stCondLst>
                                            <p:cond delay="1338"/>
                                          </p:stCondLst>
                                        </p:cTn>
                                        <p:tgtEl>
                                          <p:spTgt spid="15"/>
                                        </p:tgtEl>
                                      </p:cBhvr>
                                      <p:to x="100000" y="100000"/>
                                    </p:animScale>
                                    <p:animScale>
                                      <p:cBhvr>
                                        <p:cTn id="99" dur="26">
                                          <p:stCondLst>
                                            <p:cond delay="1642"/>
                                          </p:stCondLst>
                                        </p:cTn>
                                        <p:tgtEl>
                                          <p:spTgt spid="15"/>
                                        </p:tgtEl>
                                      </p:cBhvr>
                                      <p:to x="100000" y="90000"/>
                                    </p:animScale>
                                    <p:animScale>
                                      <p:cBhvr>
                                        <p:cTn id="100" dur="166" decel="50000">
                                          <p:stCondLst>
                                            <p:cond delay="1668"/>
                                          </p:stCondLst>
                                        </p:cTn>
                                        <p:tgtEl>
                                          <p:spTgt spid="15"/>
                                        </p:tgtEl>
                                      </p:cBhvr>
                                      <p:to x="100000" y="100000"/>
                                    </p:animScale>
                                    <p:animScale>
                                      <p:cBhvr>
                                        <p:cTn id="101" dur="26">
                                          <p:stCondLst>
                                            <p:cond delay="1808"/>
                                          </p:stCondLst>
                                        </p:cTn>
                                        <p:tgtEl>
                                          <p:spTgt spid="15"/>
                                        </p:tgtEl>
                                      </p:cBhvr>
                                      <p:to x="100000" y="95000"/>
                                    </p:animScale>
                                    <p:animScale>
                                      <p:cBhvr>
                                        <p:cTn id="102" dur="166" decel="50000">
                                          <p:stCondLst>
                                            <p:cond delay="1834"/>
                                          </p:stCondLst>
                                        </p:cTn>
                                        <p:tgtEl>
                                          <p:spTgt spid="15"/>
                                        </p:tgtEl>
                                      </p:cBhvr>
                                      <p:to x="100000" y="100000"/>
                                    </p:animScale>
                                  </p:childTnLst>
                                </p:cTn>
                              </p:par>
                              <p:par>
                                <p:cTn id="103" presetID="26" presetClass="entr" presetSubtype="0" fill="hold" grpId="0" nodeType="with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wipe(down)">
                                      <p:cBhvr>
                                        <p:cTn id="105" dur="580">
                                          <p:stCondLst>
                                            <p:cond delay="0"/>
                                          </p:stCondLst>
                                        </p:cTn>
                                        <p:tgtEl>
                                          <p:spTgt spid="16"/>
                                        </p:tgtEl>
                                      </p:cBhvr>
                                    </p:animEffect>
                                    <p:anim calcmode="lin" valueType="num">
                                      <p:cBhvr>
                                        <p:cTn id="106"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11" dur="26">
                                          <p:stCondLst>
                                            <p:cond delay="650"/>
                                          </p:stCondLst>
                                        </p:cTn>
                                        <p:tgtEl>
                                          <p:spTgt spid="16"/>
                                        </p:tgtEl>
                                      </p:cBhvr>
                                      <p:to x="100000" y="60000"/>
                                    </p:animScale>
                                    <p:animScale>
                                      <p:cBhvr>
                                        <p:cTn id="112" dur="166" decel="50000">
                                          <p:stCondLst>
                                            <p:cond delay="676"/>
                                          </p:stCondLst>
                                        </p:cTn>
                                        <p:tgtEl>
                                          <p:spTgt spid="16"/>
                                        </p:tgtEl>
                                      </p:cBhvr>
                                      <p:to x="100000" y="100000"/>
                                    </p:animScale>
                                    <p:animScale>
                                      <p:cBhvr>
                                        <p:cTn id="113" dur="26">
                                          <p:stCondLst>
                                            <p:cond delay="1312"/>
                                          </p:stCondLst>
                                        </p:cTn>
                                        <p:tgtEl>
                                          <p:spTgt spid="16"/>
                                        </p:tgtEl>
                                      </p:cBhvr>
                                      <p:to x="100000" y="80000"/>
                                    </p:animScale>
                                    <p:animScale>
                                      <p:cBhvr>
                                        <p:cTn id="114" dur="166" decel="50000">
                                          <p:stCondLst>
                                            <p:cond delay="1338"/>
                                          </p:stCondLst>
                                        </p:cTn>
                                        <p:tgtEl>
                                          <p:spTgt spid="16"/>
                                        </p:tgtEl>
                                      </p:cBhvr>
                                      <p:to x="100000" y="100000"/>
                                    </p:animScale>
                                    <p:animScale>
                                      <p:cBhvr>
                                        <p:cTn id="115" dur="26">
                                          <p:stCondLst>
                                            <p:cond delay="1642"/>
                                          </p:stCondLst>
                                        </p:cTn>
                                        <p:tgtEl>
                                          <p:spTgt spid="16"/>
                                        </p:tgtEl>
                                      </p:cBhvr>
                                      <p:to x="100000" y="90000"/>
                                    </p:animScale>
                                    <p:animScale>
                                      <p:cBhvr>
                                        <p:cTn id="116" dur="166" decel="50000">
                                          <p:stCondLst>
                                            <p:cond delay="1668"/>
                                          </p:stCondLst>
                                        </p:cTn>
                                        <p:tgtEl>
                                          <p:spTgt spid="16"/>
                                        </p:tgtEl>
                                      </p:cBhvr>
                                      <p:to x="100000" y="100000"/>
                                    </p:animScale>
                                    <p:animScale>
                                      <p:cBhvr>
                                        <p:cTn id="117" dur="26">
                                          <p:stCondLst>
                                            <p:cond delay="1808"/>
                                          </p:stCondLst>
                                        </p:cTn>
                                        <p:tgtEl>
                                          <p:spTgt spid="16"/>
                                        </p:tgtEl>
                                      </p:cBhvr>
                                      <p:to x="100000" y="95000"/>
                                    </p:animScale>
                                    <p:animScale>
                                      <p:cBhvr>
                                        <p:cTn id="118" dur="166" decel="50000">
                                          <p:stCondLst>
                                            <p:cond delay="1834"/>
                                          </p:stCondLst>
                                        </p:cTn>
                                        <p:tgtEl>
                                          <p:spTgt spid="16"/>
                                        </p:tgtEl>
                                      </p:cBhvr>
                                      <p:to x="100000" y="100000"/>
                                    </p:animScale>
                                  </p:childTnLst>
                                </p:cTn>
                              </p:par>
                              <p:par>
                                <p:cTn id="119" presetID="26" presetClass="entr" presetSubtype="0" fill="hold" grpId="0" nodeType="withEffect">
                                  <p:stCondLst>
                                    <p:cond delay="0"/>
                                  </p:stCondLst>
                                  <p:childTnLst>
                                    <p:set>
                                      <p:cBhvr>
                                        <p:cTn id="120" dur="1" fill="hold">
                                          <p:stCondLst>
                                            <p:cond delay="0"/>
                                          </p:stCondLst>
                                        </p:cTn>
                                        <p:tgtEl>
                                          <p:spTgt spid="17"/>
                                        </p:tgtEl>
                                        <p:attrNameLst>
                                          <p:attrName>style.visibility</p:attrName>
                                        </p:attrNameLst>
                                      </p:cBhvr>
                                      <p:to>
                                        <p:strVal val="visible"/>
                                      </p:to>
                                    </p:set>
                                    <p:animEffect transition="in" filter="wipe(down)">
                                      <p:cBhvr>
                                        <p:cTn id="121" dur="580">
                                          <p:stCondLst>
                                            <p:cond delay="0"/>
                                          </p:stCondLst>
                                        </p:cTn>
                                        <p:tgtEl>
                                          <p:spTgt spid="17"/>
                                        </p:tgtEl>
                                      </p:cBhvr>
                                    </p:animEffect>
                                    <p:anim calcmode="lin" valueType="num">
                                      <p:cBhvr>
                                        <p:cTn id="122"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27" dur="26">
                                          <p:stCondLst>
                                            <p:cond delay="650"/>
                                          </p:stCondLst>
                                        </p:cTn>
                                        <p:tgtEl>
                                          <p:spTgt spid="17"/>
                                        </p:tgtEl>
                                      </p:cBhvr>
                                      <p:to x="100000" y="60000"/>
                                    </p:animScale>
                                    <p:animScale>
                                      <p:cBhvr>
                                        <p:cTn id="128" dur="166" decel="50000">
                                          <p:stCondLst>
                                            <p:cond delay="676"/>
                                          </p:stCondLst>
                                        </p:cTn>
                                        <p:tgtEl>
                                          <p:spTgt spid="17"/>
                                        </p:tgtEl>
                                      </p:cBhvr>
                                      <p:to x="100000" y="100000"/>
                                    </p:animScale>
                                    <p:animScale>
                                      <p:cBhvr>
                                        <p:cTn id="129" dur="26">
                                          <p:stCondLst>
                                            <p:cond delay="1312"/>
                                          </p:stCondLst>
                                        </p:cTn>
                                        <p:tgtEl>
                                          <p:spTgt spid="17"/>
                                        </p:tgtEl>
                                      </p:cBhvr>
                                      <p:to x="100000" y="80000"/>
                                    </p:animScale>
                                    <p:animScale>
                                      <p:cBhvr>
                                        <p:cTn id="130" dur="166" decel="50000">
                                          <p:stCondLst>
                                            <p:cond delay="1338"/>
                                          </p:stCondLst>
                                        </p:cTn>
                                        <p:tgtEl>
                                          <p:spTgt spid="17"/>
                                        </p:tgtEl>
                                      </p:cBhvr>
                                      <p:to x="100000" y="100000"/>
                                    </p:animScale>
                                    <p:animScale>
                                      <p:cBhvr>
                                        <p:cTn id="131" dur="26">
                                          <p:stCondLst>
                                            <p:cond delay="1642"/>
                                          </p:stCondLst>
                                        </p:cTn>
                                        <p:tgtEl>
                                          <p:spTgt spid="17"/>
                                        </p:tgtEl>
                                      </p:cBhvr>
                                      <p:to x="100000" y="90000"/>
                                    </p:animScale>
                                    <p:animScale>
                                      <p:cBhvr>
                                        <p:cTn id="132" dur="166" decel="50000">
                                          <p:stCondLst>
                                            <p:cond delay="1668"/>
                                          </p:stCondLst>
                                        </p:cTn>
                                        <p:tgtEl>
                                          <p:spTgt spid="17"/>
                                        </p:tgtEl>
                                      </p:cBhvr>
                                      <p:to x="100000" y="100000"/>
                                    </p:animScale>
                                    <p:animScale>
                                      <p:cBhvr>
                                        <p:cTn id="133" dur="26">
                                          <p:stCondLst>
                                            <p:cond delay="1808"/>
                                          </p:stCondLst>
                                        </p:cTn>
                                        <p:tgtEl>
                                          <p:spTgt spid="17"/>
                                        </p:tgtEl>
                                      </p:cBhvr>
                                      <p:to x="100000" y="95000"/>
                                    </p:animScale>
                                    <p:animScale>
                                      <p:cBhvr>
                                        <p:cTn id="134" dur="166" decel="50000">
                                          <p:stCondLst>
                                            <p:cond delay="1834"/>
                                          </p:stCondLst>
                                        </p:cTn>
                                        <p:tgtEl>
                                          <p:spTgt spid="17"/>
                                        </p:tgtEl>
                                      </p:cBhvr>
                                      <p:to x="100000" y="100000"/>
                                    </p:animScale>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14"/>
                                        </p:tgtEl>
                                        <p:attrNameLst>
                                          <p:attrName>style.visibility</p:attrName>
                                        </p:attrNameLst>
                                      </p:cBhvr>
                                      <p:to>
                                        <p:strVal val="visible"/>
                                      </p:to>
                                    </p:set>
                                    <p:anim calcmode="lin" valueType="num">
                                      <p:cBhvr additive="base">
                                        <p:cTn id="139" dur="500" fill="hold"/>
                                        <p:tgtEl>
                                          <p:spTgt spid="14"/>
                                        </p:tgtEl>
                                        <p:attrNameLst>
                                          <p:attrName>ppt_x</p:attrName>
                                        </p:attrNameLst>
                                      </p:cBhvr>
                                      <p:tavLst>
                                        <p:tav tm="0">
                                          <p:val>
                                            <p:strVal val="#ppt_x"/>
                                          </p:val>
                                        </p:tav>
                                        <p:tav tm="100000">
                                          <p:val>
                                            <p:strVal val="#ppt_x"/>
                                          </p:val>
                                        </p:tav>
                                      </p:tavLst>
                                    </p:anim>
                                    <p:anim calcmode="lin" valueType="num">
                                      <p:cBhvr additive="base">
                                        <p:cTn id="1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0" presetClass="entr" presetSubtype="0" fill="hold" grpId="0" nodeType="clickEffect">
                                  <p:stCondLst>
                                    <p:cond delay="0"/>
                                  </p:stCondLst>
                                  <p:childTnLst>
                                    <p:set>
                                      <p:cBhvr>
                                        <p:cTn id="144" dur="1" fill="hold">
                                          <p:stCondLst>
                                            <p:cond delay="0"/>
                                          </p:stCondLst>
                                        </p:cTn>
                                        <p:tgtEl>
                                          <p:spTgt spid="20"/>
                                        </p:tgtEl>
                                        <p:attrNameLst>
                                          <p:attrName>style.visibility</p:attrName>
                                        </p:attrNameLst>
                                      </p:cBhvr>
                                      <p:to>
                                        <p:strVal val="visible"/>
                                      </p:to>
                                    </p:set>
                                    <p:animEffect transition="in" filter="wedge">
                                      <p:cBhvr>
                                        <p:cTn id="14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animBg="1"/>
      <p:bldP spid="12" grpId="0" animBg="1"/>
      <p:bldP spid="13" grpId="0" animBg="1"/>
      <p:bldP spid="14" grpId="0"/>
      <p:bldP spid="15" grpId="0"/>
      <p:bldP spid="16" grpId="0"/>
      <p:bldP spid="17" grpId="0"/>
      <p:bldP spid="18"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81000"/>
            <a:ext cx="8382000" cy="1077218"/>
          </a:xfrm>
          <a:prstGeom prst="rect">
            <a:avLst/>
          </a:prstGeom>
        </p:spPr>
        <p:txBody>
          <a:bodyPr wrap="square">
            <a:spAutoFit/>
          </a:bodyPr>
          <a:lstStyle/>
          <a:p>
            <a:r>
              <a:rPr lang="en-US" sz="3200" dirty="0" smtClean="0"/>
              <a:t>11. What is the sum of the measures of the</a:t>
            </a:r>
          </a:p>
          <a:p>
            <a:r>
              <a:rPr lang="en-US" sz="3200" dirty="0" smtClean="0"/>
              <a:t>      interior angles of a regular heptagon?</a:t>
            </a:r>
          </a:p>
        </p:txBody>
      </p:sp>
      <p:sp>
        <p:nvSpPr>
          <p:cNvPr id="6" name="Rectangle 5"/>
          <p:cNvSpPr/>
          <p:nvPr/>
        </p:nvSpPr>
        <p:spPr>
          <a:xfrm>
            <a:off x="1295400" y="1828800"/>
            <a:ext cx="1502334" cy="584775"/>
          </a:xfrm>
          <a:prstGeom prst="rect">
            <a:avLst/>
          </a:prstGeom>
        </p:spPr>
        <p:txBody>
          <a:bodyPr wrap="none">
            <a:spAutoFit/>
          </a:bodyPr>
          <a:lstStyle/>
          <a:p>
            <a:r>
              <a:rPr lang="en-US" sz="3200" dirty="0" smtClean="0"/>
              <a:t>a. 1260°</a:t>
            </a:r>
            <a:endParaRPr lang="en-US" sz="3200" dirty="0"/>
          </a:p>
        </p:txBody>
      </p:sp>
      <p:sp>
        <p:nvSpPr>
          <p:cNvPr id="7" name="Rectangle 6"/>
          <p:cNvSpPr/>
          <p:nvPr/>
        </p:nvSpPr>
        <p:spPr>
          <a:xfrm>
            <a:off x="1246773" y="2514600"/>
            <a:ext cx="1539589" cy="584775"/>
          </a:xfrm>
          <a:prstGeom prst="rect">
            <a:avLst/>
          </a:prstGeom>
        </p:spPr>
        <p:txBody>
          <a:bodyPr wrap="none">
            <a:spAutoFit/>
          </a:bodyPr>
          <a:lstStyle/>
          <a:p>
            <a:r>
              <a:rPr lang="en-US" sz="3200" dirty="0" smtClean="0"/>
              <a:t>b. 1080°</a:t>
            </a:r>
            <a:endParaRPr lang="en-US" sz="3200" dirty="0"/>
          </a:p>
        </p:txBody>
      </p:sp>
      <p:sp>
        <p:nvSpPr>
          <p:cNvPr id="8" name="Rectangle 7"/>
          <p:cNvSpPr/>
          <p:nvPr/>
        </p:nvSpPr>
        <p:spPr>
          <a:xfrm>
            <a:off x="4648200" y="1828800"/>
            <a:ext cx="1418145" cy="584775"/>
          </a:xfrm>
          <a:prstGeom prst="rect">
            <a:avLst/>
          </a:prstGeom>
        </p:spPr>
        <p:txBody>
          <a:bodyPr wrap="none">
            <a:spAutoFit/>
          </a:bodyPr>
          <a:lstStyle/>
          <a:p>
            <a:r>
              <a:rPr lang="en-US" sz="3200" dirty="0" smtClean="0"/>
              <a:t>c. 900°</a:t>
            </a:r>
            <a:endParaRPr lang="en-US" sz="3200" dirty="0"/>
          </a:p>
        </p:txBody>
      </p:sp>
      <p:sp>
        <p:nvSpPr>
          <p:cNvPr id="9" name="Rectangle 8"/>
          <p:cNvSpPr/>
          <p:nvPr/>
        </p:nvSpPr>
        <p:spPr>
          <a:xfrm>
            <a:off x="4634574" y="2590800"/>
            <a:ext cx="1523174" cy="584775"/>
          </a:xfrm>
          <a:prstGeom prst="rect">
            <a:avLst/>
          </a:prstGeom>
        </p:spPr>
        <p:txBody>
          <a:bodyPr wrap="none">
            <a:spAutoFit/>
          </a:bodyPr>
          <a:lstStyle/>
          <a:p>
            <a:r>
              <a:rPr lang="en-US" sz="3200" dirty="0" smtClean="0"/>
              <a:t>d. 112.5°</a:t>
            </a:r>
          </a:p>
        </p:txBody>
      </p:sp>
      <p:sp>
        <p:nvSpPr>
          <p:cNvPr id="10" name="Rectangle 9"/>
          <p:cNvSpPr/>
          <p:nvPr/>
        </p:nvSpPr>
        <p:spPr>
          <a:xfrm>
            <a:off x="533400" y="3352800"/>
            <a:ext cx="8153400" cy="1200329"/>
          </a:xfrm>
          <a:prstGeom prst="rect">
            <a:avLst/>
          </a:prstGeom>
        </p:spPr>
        <p:txBody>
          <a:bodyPr wrap="square">
            <a:spAutoFit/>
          </a:bodyPr>
          <a:lstStyle/>
          <a:p>
            <a:r>
              <a:rPr lang="en-US" b="1" dirty="0" smtClean="0"/>
              <a:t>Solution:</a:t>
            </a:r>
          </a:p>
          <a:p>
            <a:pPr>
              <a:lnSpc>
                <a:spcPct val="150000"/>
              </a:lnSpc>
            </a:pPr>
            <a:r>
              <a:rPr lang="en-US" b="1" dirty="0" smtClean="0"/>
              <a:t>	    Let	        = Total of the measures of the interior angles of the polygon</a:t>
            </a:r>
          </a:p>
          <a:p>
            <a:pPr>
              <a:lnSpc>
                <a:spcPct val="150000"/>
              </a:lnSpc>
            </a:pPr>
            <a:r>
              <a:rPr lang="en-US" b="1" dirty="0" smtClean="0"/>
              <a:t>	          n = no. of sides of the polygon.</a:t>
            </a:r>
          </a:p>
        </p:txBody>
      </p:sp>
      <p:graphicFrame>
        <p:nvGraphicFramePr>
          <p:cNvPr id="11" name="Object 1"/>
          <p:cNvGraphicFramePr>
            <a:graphicFrameLocks noChangeAspect="1"/>
          </p:cNvGraphicFramePr>
          <p:nvPr/>
        </p:nvGraphicFramePr>
        <p:xfrm>
          <a:off x="2057400" y="3670300"/>
          <a:ext cx="821460" cy="468313"/>
        </p:xfrm>
        <a:graphic>
          <a:graphicData uri="http://schemas.openxmlformats.org/presentationml/2006/ole">
            <p:oleObj spid="_x0000_s130049" name="Equation" r:id="rId6" imgW="393480" imgH="203040" progId="Equation.3">
              <p:embed/>
            </p:oleObj>
          </a:graphicData>
        </a:graphic>
      </p:graphicFrame>
      <p:graphicFrame>
        <p:nvGraphicFramePr>
          <p:cNvPr id="12" name="Object 2"/>
          <p:cNvGraphicFramePr>
            <a:graphicFrameLocks noChangeAspect="1"/>
          </p:cNvGraphicFramePr>
          <p:nvPr/>
        </p:nvGraphicFramePr>
        <p:xfrm>
          <a:off x="1752600" y="4953001"/>
          <a:ext cx="2290763" cy="425820"/>
        </p:xfrm>
        <a:graphic>
          <a:graphicData uri="http://schemas.openxmlformats.org/presentationml/2006/ole">
            <p:oleObj spid="_x0000_s130050" name="Equation" r:id="rId7" imgW="1206360" imgH="203040" progId="Equation.3">
              <p:embed/>
            </p:oleObj>
          </a:graphicData>
        </a:graphic>
      </p:graphicFrame>
      <p:graphicFrame>
        <p:nvGraphicFramePr>
          <p:cNvPr id="13" name="Object 3"/>
          <p:cNvGraphicFramePr>
            <a:graphicFrameLocks noChangeAspect="1"/>
          </p:cNvGraphicFramePr>
          <p:nvPr/>
        </p:nvGraphicFramePr>
        <p:xfrm>
          <a:off x="4200525" y="4984750"/>
          <a:ext cx="1614488" cy="425450"/>
        </p:xfrm>
        <a:graphic>
          <a:graphicData uri="http://schemas.openxmlformats.org/presentationml/2006/ole">
            <p:oleObj spid="_x0000_s130051" name="Equation" r:id="rId8" imgW="850680" imgH="203040" progId="Equation.3">
              <p:embed/>
            </p:oleObj>
          </a:graphicData>
        </a:graphic>
      </p:graphicFrame>
      <p:graphicFrame>
        <p:nvGraphicFramePr>
          <p:cNvPr id="14" name="Object 4"/>
          <p:cNvGraphicFramePr>
            <a:graphicFrameLocks noChangeAspect="1"/>
          </p:cNvGraphicFramePr>
          <p:nvPr/>
        </p:nvGraphicFramePr>
        <p:xfrm>
          <a:off x="5780088" y="4957763"/>
          <a:ext cx="1155700" cy="452437"/>
        </p:xfrm>
        <a:graphic>
          <a:graphicData uri="http://schemas.openxmlformats.org/presentationml/2006/ole">
            <p:oleObj spid="_x0000_s130052" name="Equation" r:id="rId9" imgW="609480" imgH="215640" progId="Equation.3">
              <p:embed/>
            </p:oleObj>
          </a:graphicData>
        </a:graphic>
      </p:graphicFrame>
      <p:graphicFrame>
        <p:nvGraphicFramePr>
          <p:cNvPr id="15" name="Object 5"/>
          <p:cNvGraphicFramePr>
            <a:graphicFrameLocks noChangeAspect="1"/>
          </p:cNvGraphicFramePr>
          <p:nvPr/>
        </p:nvGraphicFramePr>
        <p:xfrm>
          <a:off x="1152524" y="5334000"/>
          <a:ext cx="2847975" cy="654050"/>
        </p:xfrm>
        <a:graphic>
          <a:graphicData uri="http://schemas.openxmlformats.org/presentationml/2006/ole">
            <p:oleObj spid="_x0000_s130053" name="Equation" r:id="rId10" imgW="787320" imgH="177480" progId="Equation.3">
              <p:embed/>
            </p:oleObj>
          </a:graphicData>
        </a:graphic>
      </p:graphicFrame>
      <p:sp>
        <p:nvSpPr>
          <p:cNvPr id="16" name="Rounded Rectangle 15"/>
          <p:cNvSpPr/>
          <p:nvPr/>
        </p:nvSpPr>
        <p:spPr>
          <a:xfrm>
            <a:off x="457200" y="3200400"/>
            <a:ext cx="8153400" cy="2819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4648200" y="1854200"/>
            <a:ext cx="12954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fade">
                                      <p:cBhvr>
                                        <p:cTn id="27" dur="1000"/>
                                        <p:tgtEl>
                                          <p:spTgt spid="10">
                                            <p:txEl>
                                              <p:pRg st="0" end="0"/>
                                            </p:txEl>
                                          </p:spTgt>
                                        </p:tgtEl>
                                      </p:cBhvr>
                                    </p:animEffect>
                                    <p:anim calcmode="lin" valueType="num">
                                      <p:cBhvr>
                                        <p:cTn id="2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900" decel="100000" fill="hold"/>
                                        <p:tgtEl>
                                          <p:spTgt spid="16"/>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 calcmode="lin" valueType="num">
                                      <p:cBhvr>
                                        <p:cTn id="41" dur="10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10">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0">
                                            <p:txEl>
                                              <p:pRg st="1" end="1"/>
                                            </p:txEl>
                                          </p:spTgt>
                                        </p:tgtEl>
                                      </p:cBhvr>
                                    </p:animEffect>
                                  </p:childTnLst>
                                </p:cTn>
                              </p:par>
                              <p:par>
                                <p:cTn id="44" presetID="29" presetClass="entr" presetSubtype="0"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 calcmode="lin" valueType="num">
                                      <p:cBhvr>
                                        <p:cTn id="46" dur="1000" fill="hold"/>
                                        <p:tgtEl>
                                          <p:spTgt spid="11"/>
                                        </p:tgtEl>
                                        <p:attrNameLst>
                                          <p:attrName>ppt_x</p:attrName>
                                        </p:attrNameLst>
                                      </p:cBhvr>
                                      <p:tavLst>
                                        <p:tav tm="0">
                                          <p:val>
                                            <p:strVal val="#ppt_x-.2"/>
                                          </p:val>
                                        </p:tav>
                                        <p:tav tm="100000">
                                          <p:val>
                                            <p:strVal val="#ppt_x"/>
                                          </p:val>
                                        </p:tav>
                                      </p:tavLst>
                                    </p:anim>
                                    <p:anim calcmode="lin" valueType="num">
                                      <p:cBhvr>
                                        <p:cTn id="47"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48" dur="10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29" presetClass="entr" presetSubtype="0" fill="hold" nodeType="clickEffect">
                                  <p:stCondLst>
                                    <p:cond delay="0"/>
                                  </p:stCondLst>
                                  <p:childTnLst>
                                    <p:set>
                                      <p:cBhvr>
                                        <p:cTn id="52" dur="1" fill="hold">
                                          <p:stCondLst>
                                            <p:cond delay="0"/>
                                          </p:stCondLst>
                                        </p:cTn>
                                        <p:tgtEl>
                                          <p:spTgt spid="10">
                                            <p:txEl>
                                              <p:pRg st="2" end="2"/>
                                            </p:txEl>
                                          </p:spTgt>
                                        </p:tgtEl>
                                        <p:attrNameLst>
                                          <p:attrName>style.visibility</p:attrName>
                                        </p:attrNameLst>
                                      </p:cBhvr>
                                      <p:to>
                                        <p:strVal val="visible"/>
                                      </p:to>
                                    </p:set>
                                    <p:anim calcmode="lin" valueType="num">
                                      <p:cBhvr>
                                        <p:cTn id="53" dur="1000" fill="hold"/>
                                        <p:tgtEl>
                                          <p:spTgt spid="10">
                                            <p:txEl>
                                              <p:pRg st="2" end="2"/>
                                            </p:txEl>
                                          </p:spTgt>
                                        </p:tgtEl>
                                        <p:attrNameLst>
                                          <p:attrName>ppt_x</p:attrName>
                                        </p:attrNameLst>
                                      </p:cBhvr>
                                      <p:tavLst>
                                        <p:tav tm="0">
                                          <p:val>
                                            <p:strVal val="#ppt_x-.2"/>
                                          </p:val>
                                        </p:tav>
                                        <p:tav tm="100000">
                                          <p:val>
                                            <p:strVal val="#ppt_x"/>
                                          </p:val>
                                        </p:tav>
                                      </p:tavLst>
                                    </p:anim>
                                    <p:anim calcmode="lin" valueType="num">
                                      <p:cBhvr>
                                        <p:cTn id="54" dur="1000" fill="hold"/>
                                        <p:tgtEl>
                                          <p:spTgt spid="10">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5" dur="1000"/>
                                        <p:tgtEl>
                                          <p:spTgt spid="10">
                                            <p:txEl>
                                              <p:pRg st="2" end="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9" presetClass="entr" presetSubtype="0"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anim calcmode="lin" valueType="num">
                                      <p:cBhvr>
                                        <p:cTn id="60" dur="1000" fill="hold"/>
                                        <p:tgtEl>
                                          <p:spTgt spid="12"/>
                                        </p:tgtEl>
                                        <p:attrNameLst>
                                          <p:attrName>ppt_x</p:attrName>
                                        </p:attrNameLst>
                                      </p:cBhvr>
                                      <p:tavLst>
                                        <p:tav tm="0">
                                          <p:val>
                                            <p:strVal val="#ppt_x-.2"/>
                                          </p:val>
                                        </p:tav>
                                        <p:tav tm="100000">
                                          <p:val>
                                            <p:strVal val="#ppt_x"/>
                                          </p:val>
                                        </p:tav>
                                      </p:tavLst>
                                    </p:anim>
                                    <p:anim calcmode="lin" valueType="num">
                                      <p:cBhvr>
                                        <p:cTn id="61"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62" dur="10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29" presetClass="entr" presetSubtype="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1000" fill="hold"/>
                                        <p:tgtEl>
                                          <p:spTgt spid="13"/>
                                        </p:tgtEl>
                                        <p:attrNameLst>
                                          <p:attrName>ppt_x</p:attrName>
                                        </p:attrNameLst>
                                      </p:cBhvr>
                                      <p:tavLst>
                                        <p:tav tm="0">
                                          <p:val>
                                            <p:strVal val="#ppt_x-.2"/>
                                          </p:val>
                                        </p:tav>
                                        <p:tav tm="100000">
                                          <p:val>
                                            <p:strVal val="#ppt_x"/>
                                          </p:val>
                                        </p:tav>
                                      </p:tavLst>
                                    </p:anim>
                                    <p:anim calcmode="lin" valueType="num">
                                      <p:cBhvr>
                                        <p:cTn id="68"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69" dur="10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29" presetClass="entr" presetSubtype="0"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 calcmode="lin" valueType="num">
                                      <p:cBhvr>
                                        <p:cTn id="74" dur="1000" fill="hold"/>
                                        <p:tgtEl>
                                          <p:spTgt spid="14"/>
                                        </p:tgtEl>
                                        <p:attrNameLst>
                                          <p:attrName>ppt_x</p:attrName>
                                        </p:attrNameLst>
                                      </p:cBhvr>
                                      <p:tavLst>
                                        <p:tav tm="0">
                                          <p:val>
                                            <p:strVal val="#ppt_x-.2"/>
                                          </p:val>
                                        </p:tav>
                                        <p:tav tm="100000">
                                          <p:val>
                                            <p:strVal val="#ppt_x"/>
                                          </p:val>
                                        </p:tav>
                                      </p:tavLst>
                                    </p:anim>
                                    <p:anim calcmode="lin" valueType="num">
                                      <p:cBhvr>
                                        <p:cTn id="75" dur="10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76" dur="1000"/>
                                        <p:tgtEl>
                                          <p:spTgt spid="14"/>
                                        </p:tgtEl>
                                      </p:cBhvr>
                                    </p:animEffect>
                                  </p:childTnLst>
                                </p:cTn>
                              </p:par>
                            </p:childTnLst>
                          </p:cTn>
                        </p:par>
                      </p:childTnLst>
                    </p:cTn>
                  </p:par>
                  <p:par>
                    <p:cTn id="77" fill="hold">
                      <p:stCondLst>
                        <p:cond delay="indefinite"/>
                      </p:stCondLst>
                      <p:childTnLst>
                        <p:par>
                          <p:cTn id="78" fill="hold">
                            <p:stCondLst>
                              <p:cond delay="0"/>
                            </p:stCondLst>
                            <p:childTnLst>
                              <p:par>
                                <p:cTn id="79" presetID="29" presetClass="entr" presetSubtype="0"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anim calcmode="lin" valueType="num">
                                      <p:cBhvr>
                                        <p:cTn id="81" dur="1000" fill="hold"/>
                                        <p:tgtEl>
                                          <p:spTgt spid="15"/>
                                        </p:tgtEl>
                                        <p:attrNameLst>
                                          <p:attrName>ppt_x</p:attrName>
                                        </p:attrNameLst>
                                      </p:cBhvr>
                                      <p:tavLst>
                                        <p:tav tm="0">
                                          <p:val>
                                            <p:strVal val="#ppt_x-.2"/>
                                          </p:val>
                                        </p:tav>
                                        <p:tav tm="100000">
                                          <p:val>
                                            <p:strVal val="#ppt_x"/>
                                          </p:val>
                                        </p:tav>
                                      </p:tavLst>
                                    </p:anim>
                                    <p:anim calcmode="lin" valueType="num">
                                      <p:cBhvr>
                                        <p:cTn id="82" dur="1000" fill="hold"/>
                                        <p:tgtEl>
                                          <p:spTgt spid="15"/>
                                        </p:tgtEl>
                                        <p:attrNameLst>
                                          <p:attrName>ppt_y</p:attrName>
                                        </p:attrNameLst>
                                      </p:cBhvr>
                                      <p:tavLst>
                                        <p:tav tm="0">
                                          <p:val>
                                            <p:strVal val="#ppt_y"/>
                                          </p:val>
                                        </p:tav>
                                        <p:tav tm="100000">
                                          <p:val>
                                            <p:strVal val="#ppt_y"/>
                                          </p:val>
                                        </p:tav>
                                      </p:tavLst>
                                    </p:anim>
                                    <p:animEffect transition="in" filter="wipe(right)" prLst="gradientSize: 0.1">
                                      <p:cBhvr>
                                        <p:cTn id="83" dur="1000"/>
                                        <p:tgtEl>
                                          <p:spTgt spid="15"/>
                                        </p:tgtEl>
                                      </p:cBhvr>
                                    </p:animEffect>
                                  </p:childTnLst>
                                </p:cTn>
                              </p:par>
                            </p:childTnLst>
                          </p:cTn>
                        </p:par>
                      </p:childTnLst>
                    </p:cTn>
                  </p:par>
                  <p:par>
                    <p:cTn id="84" fill="hold">
                      <p:stCondLst>
                        <p:cond delay="indefinite"/>
                      </p:stCondLst>
                      <p:childTnLst>
                        <p:par>
                          <p:cTn id="85" fill="hold">
                            <p:stCondLst>
                              <p:cond delay="0"/>
                            </p:stCondLst>
                            <p:childTnLst>
                              <p:par>
                                <p:cTn id="86" presetID="20" presetClass="entr" presetSubtype="0" fill="hold" grpId="0" nodeType="click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wedge">
                                      <p:cBhvr>
                                        <p:cTn id="88"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6" grpId="0" animBg="1"/>
      <p:bldP spid="1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04800"/>
            <a:ext cx="8382000" cy="1384995"/>
          </a:xfrm>
          <a:prstGeom prst="rect">
            <a:avLst/>
          </a:prstGeom>
        </p:spPr>
        <p:txBody>
          <a:bodyPr wrap="square">
            <a:spAutoFit/>
          </a:bodyPr>
          <a:lstStyle/>
          <a:p>
            <a:pPr marL="520700" indent="-520700"/>
            <a:r>
              <a:rPr lang="en-US" sz="2800" dirty="0" smtClean="0"/>
              <a:t>12. Marco has two sticks of length 9 cm and 12 cm. He needs a third stick to form a right triangle. What could be the length of the third stick?</a:t>
            </a:r>
          </a:p>
        </p:txBody>
      </p:sp>
      <p:sp>
        <p:nvSpPr>
          <p:cNvPr id="6" name="Rectangle 5"/>
          <p:cNvSpPr/>
          <p:nvPr/>
        </p:nvSpPr>
        <p:spPr>
          <a:xfrm>
            <a:off x="1905000" y="1752600"/>
            <a:ext cx="1497526" cy="584775"/>
          </a:xfrm>
          <a:prstGeom prst="rect">
            <a:avLst/>
          </a:prstGeom>
        </p:spPr>
        <p:txBody>
          <a:bodyPr wrap="none">
            <a:spAutoFit/>
          </a:bodyPr>
          <a:lstStyle/>
          <a:p>
            <a:r>
              <a:rPr lang="en-US" sz="3200" dirty="0" smtClean="0"/>
              <a:t>a. 12cm</a:t>
            </a:r>
            <a:endParaRPr lang="en-US" sz="3200" dirty="0"/>
          </a:p>
        </p:txBody>
      </p:sp>
      <p:sp>
        <p:nvSpPr>
          <p:cNvPr id="7" name="Rectangle 6"/>
          <p:cNvSpPr/>
          <p:nvPr/>
        </p:nvSpPr>
        <p:spPr>
          <a:xfrm>
            <a:off x="1856373" y="2438400"/>
            <a:ext cx="1516762" cy="584775"/>
          </a:xfrm>
          <a:prstGeom prst="rect">
            <a:avLst/>
          </a:prstGeom>
        </p:spPr>
        <p:txBody>
          <a:bodyPr wrap="none">
            <a:spAutoFit/>
          </a:bodyPr>
          <a:lstStyle/>
          <a:p>
            <a:r>
              <a:rPr lang="en-US" sz="3200" dirty="0" smtClean="0"/>
              <a:t>b. 13cm</a:t>
            </a:r>
            <a:endParaRPr lang="en-US" sz="3200" dirty="0"/>
          </a:p>
        </p:txBody>
      </p:sp>
      <p:sp>
        <p:nvSpPr>
          <p:cNvPr id="8" name="Rectangle 7"/>
          <p:cNvSpPr/>
          <p:nvPr/>
        </p:nvSpPr>
        <p:spPr>
          <a:xfrm>
            <a:off x="4950448" y="1752600"/>
            <a:ext cx="1473480" cy="584775"/>
          </a:xfrm>
          <a:prstGeom prst="rect">
            <a:avLst/>
          </a:prstGeom>
        </p:spPr>
        <p:txBody>
          <a:bodyPr wrap="none">
            <a:spAutoFit/>
          </a:bodyPr>
          <a:lstStyle/>
          <a:p>
            <a:r>
              <a:rPr lang="en-US" sz="3200" dirty="0" smtClean="0"/>
              <a:t>c. 14cm</a:t>
            </a:r>
            <a:endParaRPr lang="en-US" sz="3200" dirty="0"/>
          </a:p>
        </p:txBody>
      </p:sp>
      <p:sp>
        <p:nvSpPr>
          <p:cNvPr id="9" name="Rectangle 8"/>
          <p:cNvSpPr/>
          <p:nvPr/>
        </p:nvSpPr>
        <p:spPr>
          <a:xfrm>
            <a:off x="4936822" y="2451100"/>
            <a:ext cx="1516762" cy="584775"/>
          </a:xfrm>
          <a:prstGeom prst="rect">
            <a:avLst/>
          </a:prstGeom>
        </p:spPr>
        <p:txBody>
          <a:bodyPr wrap="none">
            <a:spAutoFit/>
          </a:bodyPr>
          <a:lstStyle/>
          <a:p>
            <a:r>
              <a:rPr lang="en-US" sz="3200" dirty="0" smtClean="0"/>
              <a:t>d. 15cm</a:t>
            </a:r>
          </a:p>
        </p:txBody>
      </p:sp>
      <p:sp>
        <p:nvSpPr>
          <p:cNvPr id="38" name="Rounded Rectangle 37"/>
          <p:cNvSpPr/>
          <p:nvPr/>
        </p:nvSpPr>
        <p:spPr>
          <a:xfrm>
            <a:off x="4953000" y="2464375"/>
            <a:ext cx="14478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TextBox 38"/>
          <p:cNvSpPr txBox="1"/>
          <p:nvPr/>
        </p:nvSpPr>
        <p:spPr>
          <a:xfrm>
            <a:off x="1066800" y="3454380"/>
            <a:ext cx="5334000" cy="3139321"/>
          </a:xfrm>
          <a:prstGeom prst="rect">
            <a:avLst/>
          </a:prstGeom>
          <a:noFill/>
        </p:spPr>
        <p:txBody>
          <a:bodyPr wrap="square" rtlCol="0">
            <a:spAutoFit/>
          </a:bodyPr>
          <a:lstStyle/>
          <a:p>
            <a:r>
              <a:rPr lang="en-PH" sz="2200" dirty="0" smtClean="0"/>
              <a:t>Solution:</a:t>
            </a:r>
          </a:p>
          <a:p>
            <a:r>
              <a:rPr lang="en-PH" sz="2200" dirty="0" smtClean="0"/>
              <a:t>	Let a = 9cm</a:t>
            </a:r>
          </a:p>
          <a:p>
            <a:r>
              <a:rPr lang="en-PH" sz="2200" dirty="0" smtClean="0"/>
              <a:t>	       b = 12cm</a:t>
            </a:r>
          </a:p>
          <a:p>
            <a:pPr lvl="1"/>
            <a:r>
              <a:rPr lang="en-PH" sz="2200" dirty="0" smtClean="0"/>
              <a:t>     	       c  = ?</a:t>
            </a:r>
          </a:p>
          <a:p>
            <a:r>
              <a:rPr lang="en-PH" sz="2200" dirty="0" smtClean="0"/>
              <a:t>               c</a:t>
            </a:r>
            <a:r>
              <a:rPr lang="en-PH" sz="2200" baseline="30000" dirty="0" smtClean="0"/>
              <a:t>2</a:t>
            </a:r>
            <a:r>
              <a:rPr lang="en-PH" sz="2200" dirty="0" smtClean="0"/>
              <a:t> = a</a:t>
            </a:r>
            <a:r>
              <a:rPr lang="en-PH" sz="2200" baseline="30000" dirty="0" smtClean="0"/>
              <a:t>2</a:t>
            </a:r>
            <a:r>
              <a:rPr lang="en-PH" sz="2200" dirty="0" smtClean="0"/>
              <a:t> + b</a:t>
            </a:r>
            <a:r>
              <a:rPr lang="en-PH" sz="2200" baseline="30000" dirty="0" smtClean="0"/>
              <a:t>2</a:t>
            </a:r>
            <a:endParaRPr lang="en-PH" sz="2200" dirty="0" smtClean="0"/>
          </a:p>
          <a:p>
            <a:r>
              <a:rPr lang="en-PH" sz="2200" dirty="0" smtClean="0"/>
              <a:t>	 c</a:t>
            </a:r>
            <a:r>
              <a:rPr lang="en-PH" sz="2200" baseline="30000" dirty="0" smtClean="0"/>
              <a:t>2</a:t>
            </a:r>
            <a:r>
              <a:rPr lang="en-PH" sz="2200" dirty="0" smtClean="0"/>
              <a:t> = 9</a:t>
            </a:r>
            <a:r>
              <a:rPr lang="en-PH" sz="2200" baseline="30000" dirty="0" smtClean="0"/>
              <a:t>2</a:t>
            </a:r>
            <a:r>
              <a:rPr lang="en-PH" sz="2200" dirty="0" smtClean="0"/>
              <a:t> + 12</a:t>
            </a:r>
            <a:r>
              <a:rPr lang="en-PH" sz="2200" baseline="30000" dirty="0" smtClean="0"/>
              <a:t>2</a:t>
            </a:r>
            <a:endParaRPr lang="en-PH" sz="2200" dirty="0" smtClean="0"/>
          </a:p>
          <a:p>
            <a:r>
              <a:rPr lang="en-PH" sz="2200" dirty="0" smtClean="0"/>
              <a:t> 	 c</a:t>
            </a:r>
            <a:r>
              <a:rPr lang="en-PH" sz="2200" baseline="30000" dirty="0" smtClean="0"/>
              <a:t>2</a:t>
            </a:r>
            <a:r>
              <a:rPr lang="en-PH" sz="2200" dirty="0" smtClean="0"/>
              <a:t> = 81 + 144</a:t>
            </a:r>
          </a:p>
          <a:p>
            <a:r>
              <a:rPr lang="en-PH" sz="2200" dirty="0" smtClean="0"/>
              <a:t>	 c</a:t>
            </a:r>
            <a:r>
              <a:rPr lang="en-PH" sz="2200" baseline="30000" dirty="0" smtClean="0"/>
              <a:t>2</a:t>
            </a:r>
            <a:r>
              <a:rPr lang="en-PH" sz="2200" dirty="0" smtClean="0"/>
              <a:t> = 225</a:t>
            </a:r>
          </a:p>
          <a:p>
            <a:r>
              <a:rPr lang="en-PH" sz="2200" dirty="0" smtClean="0"/>
              <a:t>	   c = 15</a:t>
            </a:r>
          </a:p>
        </p:txBody>
      </p:sp>
      <p:sp>
        <p:nvSpPr>
          <p:cNvPr id="40" name="Rounded Rectangle 39"/>
          <p:cNvSpPr/>
          <p:nvPr/>
        </p:nvSpPr>
        <p:spPr>
          <a:xfrm>
            <a:off x="914400" y="3429000"/>
            <a:ext cx="7239000" cy="3200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39">
                                            <p:txEl>
                                              <p:pRg st="0" end="0"/>
                                            </p:txEl>
                                          </p:spTgt>
                                        </p:tgtEl>
                                        <p:attrNameLst>
                                          <p:attrName>style.visibility</p:attrName>
                                        </p:attrNameLst>
                                      </p:cBhvr>
                                      <p:to>
                                        <p:strVal val="visible"/>
                                      </p:to>
                                    </p:set>
                                    <p:animEffect transition="in" filter="fade">
                                      <p:cBhvr>
                                        <p:cTn id="27" dur="1000"/>
                                        <p:tgtEl>
                                          <p:spTgt spid="39">
                                            <p:txEl>
                                              <p:pRg st="0" end="0"/>
                                            </p:txEl>
                                          </p:spTgt>
                                        </p:tgtEl>
                                      </p:cBhvr>
                                    </p:animEffect>
                                    <p:anim calcmode="lin" valueType="num">
                                      <p:cBhvr>
                                        <p:cTn id="28"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39">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9">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animEffect transition="in" filter="fade">
                                      <p:cBhvr>
                                        <p:cTn id="33" dur="1000"/>
                                        <p:tgtEl>
                                          <p:spTgt spid="40"/>
                                        </p:tgtEl>
                                      </p:cBhvr>
                                    </p:animEffect>
                                    <p:anim calcmode="lin" valueType="num">
                                      <p:cBhvr>
                                        <p:cTn id="34" dur="1000" fill="hold"/>
                                        <p:tgtEl>
                                          <p:spTgt spid="40"/>
                                        </p:tgtEl>
                                        <p:attrNameLst>
                                          <p:attrName>ppt_x</p:attrName>
                                        </p:attrNameLst>
                                      </p:cBhvr>
                                      <p:tavLst>
                                        <p:tav tm="0">
                                          <p:val>
                                            <p:strVal val="#ppt_x"/>
                                          </p:val>
                                        </p:tav>
                                        <p:tav tm="100000">
                                          <p:val>
                                            <p:strVal val="#ppt_x"/>
                                          </p:val>
                                        </p:tav>
                                      </p:tavLst>
                                    </p:anim>
                                    <p:anim calcmode="lin" valueType="num">
                                      <p:cBhvr>
                                        <p:cTn id="35" dur="900" decel="100000" fill="hold"/>
                                        <p:tgtEl>
                                          <p:spTgt spid="40"/>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40"/>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39">
                                            <p:txEl>
                                              <p:pRg st="1" end="1"/>
                                            </p:txEl>
                                          </p:spTgt>
                                        </p:tgtEl>
                                        <p:attrNameLst>
                                          <p:attrName>style.visibility</p:attrName>
                                        </p:attrNameLst>
                                      </p:cBhvr>
                                      <p:to>
                                        <p:strVal val="visible"/>
                                      </p:to>
                                    </p:set>
                                    <p:anim calcmode="lin" valueType="num">
                                      <p:cBhvr>
                                        <p:cTn id="41" dur="1000" fill="hold"/>
                                        <p:tgtEl>
                                          <p:spTgt spid="39">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39">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3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39">
                                            <p:txEl>
                                              <p:pRg st="2" end="2"/>
                                            </p:txEl>
                                          </p:spTgt>
                                        </p:tgtEl>
                                        <p:attrNameLst>
                                          <p:attrName>style.visibility</p:attrName>
                                        </p:attrNameLst>
                                      </p:cBhvr>
                                      <p:to>
                                        <p:strVal val="visible"/>
                                      </p:to>
                                    </p:set>
                                    <p:anim calcmode="lin" valueType="num">
                                      <p:cBhvr>
                                        <p:cTn id="48" dur="1000" fill="hold"/>
                                        <p:tgtEl>
                                          <p:spTgt spid="39">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39">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39">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39">
                                            <p:txEl>
                                              <p:pRg st="3" end="3"/>
                                            </p:txEl>
                                          </p:spTgt>
                                        </p:tgtEl>
                                        <p:attrNameLst>
                                          <p:attrName>style.visibility</p:attrName>
                                        </p:attrNameLst>
                                      </p:cBhvr>
                                      <p:to>
                                        <p:strVal val="visible"/>
                                      </p:to>
                                    </p:set>
                                    <p:anim calcmode="lin" valueType="num">
                                      <p:cBhvr>
                                        <p:cTn id="55" dur="1000" fill="hold"/>
                                        <p:tgtEl>
                                          <p:spTgt spid="39">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39">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39">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39">
                                            <p:txEl>
                                              <p:pRg st="4" end="4"/>
                                            </p:txEl>
                                          </p:spTgt>
                                        </p:tgtEl>
                                        <p:attrNameLst>
                                          <p:attrName>style.visibility</p:attrName>
                                        </p:attrNameLst>
                                      </p:cBhvr>
                                      <p:to>
                                        <p:strVal val="visible"/>
                                      </p:to>
                                    </p:set>
                                    <p:anim calcmode="lin" valueType="num">
                                      <p:cBhvr>
                                        <p:cTn id="62" dur="1000" fill="hold"/>
                                        <p:tgtEl>
                                          <p:spTgt spid="39">
                                            <p:txEl>
                                              <p:pRg st="4" end="4"/>
                                            </p:txEl>
                                          </p:spTgt>
                                        </p:tgtEl>
                                        <p:attrNameLst>
                                          <p:attrName>ppt_x</p:attrName>
                                        </p:attrNameLst>
                                      </p:cBhvr>
                                      <p:tavLst>
                                        <p:tav tm="0">
                                          <p:val>
                                            <p:strVal val="#ppt_x-.2"/>
                                          </p:val>
                                        </p:tav>
                                        <p:tav tm="100000">
                                          <p:val>
                                            <p:strVal val="#ppt_x"/>
                                          </p:val>
                                        </p:tav>
                                      </p:tavLst>
                                    </p:anim>
                                    <p:anim calcmode="lin" valueType="num">
                                      <p:cBhvr>
                                        <p:cTn id="63" dur="1000" fill="hold"/>
                                        <p:tgtEl>
                                          <p:spTgt spid="39">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39">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39">
                                            <p:txEl>
                                              <p:pRg st="5" end="5"/>
                                            </p:txEl>
                                          </p:spTgt>
                                        </p:tgtEl>
                                        <p:attrNameLst>
                                          <p:attrName>style.visibility</p:attrName>
                                        </p:attrNameLst>
                                      </p:cBhvr>
                                      <p:to>
                                        <p:strVal val="visible"/>
                                      </p:to>
                                    </p:set>
                                    <p:anim calcmode="lin" valueType="num">
                                      <p:cBhvr>
                                        <p:cTn id="69" dur="1000" fill="hold"/>
                                        <p:tgtEl>
                                          <p:spTgt spid="39">
                                            <p:txEl>
                                              <p:pRg st="5" end="5"/>
                                            </p:txEl>
                                          </p:spTgt>
                                        </p:tgtEl>
                                        <p:attrNameLst>
                                          <p:attrName>ppt_x</p:attrName>
                                        </p:attrNameLst>
                                      </p:cBhvr>
                                      <p:tavLst>
                                        <p:tav tm="0">
                                          <p:val>
                                            <p:strVal val="#ppt_x-.2"/>
                                          </p:val>
                                        </p:tav>
                                        <p:tav tm="100000">
                                          <p:val>
                                            <p:strVal val="#ppt_x"/>
                                          </p:val>
                                        </p:tav>
                                      </p:tavLst>
                                    </p:anim>
                                    <p:anim calcmode="lin" valueType="num">
                                      <p:cBhvr>
                                        <p:cTn id="70" dur="1000" fill="hold"/>
                                        <p:tgtEl>
                                          <p:spTgt spid="39">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1" dur="1000"/>
                                        <p:tgtEl>
                                          <p:spTgt spid="39">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9" presetClass="entr" presetSubtype="0" fill="hold" nodeType="clickEffect">
                                  <p:stCondLst>
                                    <p:cond delay="0"/>
                                  </p:stCondLst>
                                  <p:childTnLst>
                                    <p:set>
                                      <p:cBhvr>
                                        <p:cTn id="75" dur="1" fill="hold">
                                          <p:stCondLst>
                                            <p:cond delay="0"/>
                                          </p:stCondLst>
                                        </p:cTn>
                                        <p:tgtEl>
                                          <p:spTgt spid="39">
                                            <p:txEl>
                                              <p:pRg st="6" end="6"/>
                                            </p:txEl>
                                          </p:spTgt>
                                        </p:tgtEl>
                                        <p:attrNameLst>
                                          <p:attrName>style.visibility</p:attrName>
                                        </p:attrNameLst>
                                      </p:cBhvr>
                                      <p:to>
                                        <p:strVal val="visible"/>
                                      </p:to>
                                    </p:set>
                                    <p:anim calcmode="lin" valueType="num">
                                      <p:cBhvr>
                                        <p:cTn id="76" dur="1000" fill="hold"/>
                                        <p:tgtEl>
                                          <p:spTgt spid="39">
                                            <p:txEl>
                                              <p:pRg st="6" end="6"/>
                                            </p:txEl>
                                          </p:spTgt>
                                        </p:tgtEl>
                                        <p:attrNameLst>
                                          <p:attrName>ppt_x</p:attrName>
                                        </p:attrNameLst>
                                      </p:cBhvr>
                                      <p:tavLst>
                                        <p:tav tm="0">
                                          <p:val>
                                            <p:strVal val="#ppt_x-.2"/>
                                          </p:val>
                                        </p:tav>
                                        <p:tav tm="100000">
                                          <p:val>
                                            <p:strVal val="#ppt_x"/>
                                          </p:val>
                                        </p:tav>
                                      </p:tavLst>
                                    </p:anim>
                                    <p:anim calcmode="lin" valueType="num">
                                      <p:cBhvr>
                                        <p:cTn id="77" dur="1000" fill="hold"/>
                                        <p:tgtEl>
                                          <p:spTgt spid="39">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8" dur="1000"/>
                                        <p:tgtEl>
                                          <p:spTgt spid="39">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39">
                                            <p:txEl>
                                              <p:pRg st="7" end="7"/>
                                            </p:txEl>
                                          </p:spTgt>
                                        </p:tgtEl>
                                        <p:attrNameLst>
                                          <p:attrName>style.visibility</p:attrName>
                                        </p:attrNameLst>
                                      </p:cBhvr>
                                      <p:to>
                                        <p:strVal val="visible"/>
                                      </p:to>
                                    </p:set>
                                    <p:anim calcmode="lin" valueType="num">
                                      <p:cBhvr>
                                        <p:cTn id="83" dur="1000" fill="hold"/>
                                        <p:tgtEl>
                                          <p:spTgt spid="39">
                                            <p:txEl>
                                              <p:pRg st="7" end="7"/>
                                            </p:txEl>
                                          </p:spTgt>
                                        </p:tgtEl>
                                        <p:attrNameLst>
                                          <p:attrName>ppt_x</p:attrName>
                                        </p:attrNameLst>
                                      </p:cBhvr>
                                      <p:tavLst>
                                        <p:tav tm="0">
                                          <p:val>
                                            <p:strVal val="#ppt_x-.2"/>
                                          </p:val>
                                        </p:tav>
                                        <p:tav tm="100000">
                                          <p:val>
                                            <p:strVal val="#ppt_x"/>
                                          </p:val>
                                        </p:tav>
                                      </p:tavLst>
                                    </p:anim>
                                    <p:anim calcmode="lin" valueType="num">
                                      <p:cBhvr>
                                        <p:cTn id="84" dur="1000" fill="hold"/>
                                        <p:tgtEl>
                                          <p:spTgt spid="39">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85" dur="1000"/>
                                        <p:tgtEl>
                                          <p:spTgt spid="39">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9" presetClass="entr" presetSubtype="0" fill="hold" nodeType="clickEffect">
                                  <p:stCondLst>
                                    <p:cond delay="0"/>
                                  </p:stCondLst>
                                  <p:childTnLst>
                                    <p:set>
                                      <p:cBhvr>
                                        <p:cTn id="89" dur="1" fill="hold">
                                          <p:stCondLst>
                                            <p:cond delay="0"/>
                                          </p:stCondLst>
                                        </p:cTn>
                                        <p:tgtEl>
                                          <p:spTgt spid="39">
                                            <p:txEl>
                                              <p:pRg st="8" end="8"/>
                                            </p:txEl>
                                          </p:spTgt>
                                        </p:tgtEl>
                                        <p:attrNameLst>
                                          <p:attrName>style.visibility</p:attrName>
                                        </p:attrNameLst>
                                      </p:cBhvr>
                                      <p:to>
                                        <p:strVal val="visible"/>
                                      </p:to>
                                    </p:set>
                                    <p:anim calcmode="lin" valueType="num">
                                      <p:cBhvr>
                                        <p:cTn id="90" dur="1000" fill="hold"/>
                                        <p:tgtEl>
                                          <p:spTgt spid="39">
                                            <p:txEl>
                                              <p:pRg st="8" end="8"/>
                                            </p:txEl>
                                          </p:spTgt>
                                        </p:tgtEl>
                                        <p:attrNameLst>
                                          <p:attrName>ppt_x</p:attrName>
                                        </p:attrNameLst>
                                      </p:cBhvr>
                                      <p:tavLst>
                                        <p:tav tm="0">
                                          <p:val>
                                            <p:strVal val="#ppt_x-.2"/>
                                          </p:val>
                                        </p:tav>
                                        <p:tav tm="100000">
                                          <p:val>
                                            <p:strVal val="#ppt_x"/>
                                          </p:val>
                                        </p:tav>
                                      </p:tavLst>
                                    </p:anim>
                                    <p:anim calcmode="lin" valueType="num">
                                      <p:cBhvr>
                                        <p:cTn id="91" dur="1000" fill="hold"/>
                                        <p:tgtEl>
                                          <p:spTgt spid="39">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92" dur="1000"/>
                                        <p:tgtEl>
                                          <p:spTgt spid="39">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0" presetClass="entr" presetSubtype="0"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wedge">
                                      <p:cBhvr>
                                        <p:cTn id="97"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8" grpId="0" animBg="1"/>
      <p:bldP spid="4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81000"/>
            <a:ext cx="8382000" cy="1200329"/>
          </a:xfrm>
          <a:prstGeom prst="rect">
            <a:avLst/>
          </a:prstGeom>
        </p:spPr>
        <p:txBody>
          <a:bodyPr wrap="square">
            <a:spAutoFit/>
          </a:bodyPr>
          <a:lstStyle/>
          <a:p>
            <a:r>
              <a:rPr lang="en-US" sz="2400" dirty="0" smtClean="0"/>
              <a:t>13. The figure below shows a spinner with12 sectors. When</a:t>
            </a:r>
          </a:p>
          <a:p>
            <a:r>
              <a:rPr lang="en-US" sz="2400" dirty="0" smtClean="0"/>
              <a:t>      someone spins the arrow, it is equally likely to stop on    </a:t>
            </a:r>
          </a:p>
          <a:p>
            <a:r>
              <a:rPr lang="en-US" sz="2400" dirty="0" smtClean="0"/>
              <a:t>      any sector.</a:t>
            </a:r>
          </a:p>
        </p:txBody>
      </p:sp>
      <p:graphicFrame>
        <p:nvGraphicFramePr>
          <p:cNvPr id="6" name="Chart 5"/>
          <p:cNvGraphicFramePr/>
          <p:nvPr/>
        </p:nvGraphicFramePr>
        <p:xfrm>
          <a:off x="2895600" y="1143000"/>
          <a:ext cx="3124200" cy="2514600"/>
        </p:xfrm>
        <a:graphic>
          <a:graphicData uri="http://schemas.openxmlformats.org/drawingml/2006/chart">
            <c:chart xmlns:c="http://schemas.openxmlformats.org/drawingml/2006/chart" xmlns:r="http://schemas.openxmlformats.org/officeDocument/2006/relationships" r:id="rId5"/>
          </a:graphicData>
        </a:graphic>
      </p:graphicFrame>
      <p:sp>
        <p:nvSpPr>
          <p:cNvPr id="7" name="Rectangle 6"/>
          <p:cNvSpPr/>
          <p:nvPr/>
        </p:nvSpPr>
        <p:spPr>
          <a:xfrm>
            <a:off x="762000" y="3688140"/>
            <a:ext cx="8382000" cy="1569660"/>
          </a:xfrm>
          <a:prstGeom prst="rect">
            <a:avLst/>
          </a:prstGeom>
        </p:spPr>
        <p:txBody>
          <a:bodyPr wrap="square">
            <a:spAutoFit/>
          </a:bodyPr>
          <a:lstStyle/>
          <a:p>
            <a:r>
              <a:rPr lang="en-US" sz="2400" dirty="0" smtClean="0"/>
              <a:t>½ of the number of sectors are blue, 1/12 are green, ¼  are orange, and 1/6 are red. If a person spins the arrow, </a:t>
            </a:r>
          </a:p>
          <a:p>
            <a:r>
              <a:rPr lang="en-US" sz="2400" dirty="0" smtClean="0"/>
              <a:t> on which color sector does the spinner have the least probability to stop?</a:t>
            </a:r>
          </a:p>
        </p:txBody>
      </p:sp>
      <p:sp>
        <p:nvSpPr>
          <p:cNvPr id="8" name="Rectangle 7"/>
          <p:cNvSpPr/>
          <p:nvPr/>
        </p:nvSpPr>
        <p:spPr>
          <a:xfrm>
            <a:off x="2169974" y="5334000"/>
            <a:ext cx="1418145" cy="584775"/>
          </a:xfrm>
          <a:prstGeom prst="rect">
            <a:avLst/>
          </a:prstGeom>
        </p:spPr>
        <p:txBody>
          <a:bodyPr wrap="none">
            <a:spAutoFit/>
          </a:bodyPr>
          <a:lstStyle/>
          <a:p>
            <a:r>
              <a:rPr lang="en-US" sz="3200" dirty="0" smtClean="0"/>
              <a:t>a. Blue</a:t>
            </a:r>
            <a:endParaRPr lang="en-US" sz="3200" dirty="0"/>
          </a:p>
        </p:txBody>
      </p:sp>
      <p:sp>
        <p:nvSpPr>
          <p:cNvPr id="9" name="Rectangle 8"/>
          <p:cNvSpPr/>
          <p:nvPr/>
        </p:nvSpPr>
        <p:spPr>
          <a:xfrm>
            <a:off x="2121347" y="6019800"/>
            <a:ext cx="1679434" cy="584775"/>
          </a:xfrm>
          <a:prstGeom prst="rect">
            <a:avLst/>
          </a:prstGeom>
        </p:spPr>
        <p:txBody>
          <a:bodyPr wrap="none">
            <a:spAutoFit/>
          </a:bodyPr>
          <a:lstStyle/>
          <a:p>
            <a:r>
              <a:rPr lang="en-US" sz="3200" dirty="0" smtClean="0"/>
              <a:t>b. Green</a:t>
            </a:r>
            <a:endParaRPr lang="en-US" sz="3200" dirty="0"/>
          </a:p>
        </p:txBody>
      </p:sp>
      <p:sp>
        <p:nvSpPr>
          <p:cNvPr id="10" name="Rectangle 9"/>
          <p:cNvSpPr/>
          <p:nvPr/>
        </p:nvSpPr>
        <p:spPr>
          <a:xfrm>
            <a:off x="5245547" y="5334000"/>
            <a:ext cx="1894108" cy="584775"/>
          </a:xfrm>
          <a:prstGeom prst="rect">
            <a:avLst/>
          </a:prstGeom>
        </p:spPr>
        <p:txBody>
          <a:bodyPr wrap="none">
            <a:spAutoFit/>
          </a:bodyPr>
          <a:lstStyle/>
          <a:p>
            <a:r>
              <a:rPr lang="en-US" sz="3200" dirty="0" smtClean="0"/>
              <a:t>c. Orange</a:t>
            </a:r>
            <a:endParaRPr lang="en-US" sz="3200" dirty="0"/>
          </a:p>
        </p:txBody>
      </p:sp>
      <p:sp>
        <p:nvSpPr>
          <p:cNvPr id="11" name="Rectangle 10"/>
          <p:cNvSpPr/>
          <p:nvPr/>
        </p:nvSpPr>
        <p:spPr>
          <a:xfrm>
            <a:off x="5219700" y="6032500"/>
            <a:ext cx="1308756" cy="584775"/>
          </a:xfrm>
          <a:prstGeom prst="rect">
            <a:avLst/>
          </a:prstGeom>
        </p:spPr>
        <p:txBody>
          <a:bodyPr wrap="none">
            <a:spAutoFit/>
          </a:bodyPr>
          <a:lstStyle/>
          <a:p>
            <a:r>
              <a:rPr lang="en-US" sz="3200" dirty="0" smtClean="0"/>
              <a:t>d. Red</a:t>
            </a:r>
          </a:p>
        </p:txBody>
      </p:sp>
      <p:cxnSp>
        <p:nvCxnSpPr>
          <p:cNvPr id="13" name="Straight Connector 12"/>
          <p:cNvCxnSpPr/>
          <p:nvPr/>
        </p:nvCxnSpPr>
        <p:spPr>
          <a:xfrm rot="1800000">
            <a:off x="3352800" y="2400300"/>
            <a:ext cx="219456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3600000">
            <a:off x="3362961" y="2385373"/>
            <a:ext cx="219456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9000000">
            <a:off x="3370893" y="2385060"/>
            <a:ext cx="219456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7200000" flipV="1">
            <a:off x="3362961" y="2402527"/>
            <a:ext cx="219456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3340100" y="2400300"/>
            <a:ext cx="219456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flipV="1">
            <a:off x="3347720" y="2392680"/>
            <a:ext cx="219456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Right Arrow 20"/>
          <p:cNvSpPr/>
          <p:nvPr/>
        </p:nvSpPr>
        <p:spPr>
          <a:xfrm rot="20572104">
            <a:off x="4736349" y="2129260"/>
            <a:ext cx="685800" cy="198119"/>
          </a:xfrm>
          <a:prstGeom prst="right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2" name="Rounded Rectangle 21"/>
          <p:cNvSpPr/>
          <p:nvPr/>
        </p:nvSpPr>
        <p:spPr>
          <a:xfrm>
            <a:off x="2133600" y="6032500"/>
            <a:ext cx="15240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from="(-#ppt_w/2)" to="(#ppt_x)" calcmode="lin" valueType="num">
                                      <p:cBhvr>
                                        <p:cTn id="7" dur="600" fill="hold">
                                          <p:stCondLst>
                                            <p:cond delay="0"/>
                                          </p:stCondLst>
                                        </p:cTn>
                                        <p:tgtEl>
                                          <p:spTgt spid="5"/>
                                        </p:tgtEl>
                                        <p:attrNameLst>
                                          <p:attrName>ppt_x</p:attrName>
                                        </p:attrNameLst>
                                      </p:cBhvr>
                                    </p:anim>
                                    <p:anim from="0" to="-1.0" calcmode="lin" valueType="num">
                                      <p:cBhvr>
                                        <p:cTn id="8" dur="200" decel="50000" autoRev="1" fill="hold">
                                          <p:stCondLst>
                                            <p:cond delay="600"/>
                                          </p:stCondLst>
                                        </p:cTn>
                                        <p:tgtEl>
                                          <p:spTgt spid="5"/>
                                        </p:tgtEl>
                                        <p:attrNameLst>
                                          <p:attrName>xshear</p:attrName>
                                        </p:attrNameLst>
                                      </p:cBhvr>
                                    </p:anim>
                                    <p:animScale>
                                      <p:cBhvr>
                                        <p:cTn id="9" dur="200" decel="100000" autoRev="1" fill="hold">
                                          <p:stCondLst>
                                            <p:cond delay="600"/>
                                          </p:stCondLst>
                                        </p:cTn>
                                        <p:tgtEl>
                                          <p:spTgt spid="5"/>
                                        </p:tgtEl>
                                      </p:cBhvr>
                                      <p:from x="100000" y="100000"/>
                                      <p:to x="80000" y="100000"/>
                                    </p:animScale>
                                    <p:anim by="(#ppt_h/3+#ppt_w*0.1)" calcmode="lin" valueType="num">
                                      <p:cBhvr additive="sum">
                                        <p:cTn id="10" dur="200" decel="100000" autoRev="1" fill="hold">
                                          <p:stCondLst>
                                            <p:cond delay="600"/>
                                          </p:stCondLst>
                                        </p:cTn>
                                        <p:tgtEl>
                                          <p:spTgt spid="5"/>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par>
                                <p:cTn id="29" presetID="26"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80">
                                          <p:stCondLst>
                                            <p:cond delay="0"/>
                                          </p:stCondLst>
                                        </p:cTn>
                                        <p:tgtEl>
                                          <p:spTgt spid="13"/>
                                        </p:tgtEl>
                                      </p:cBhvr>
                                    </p:animEffect>
                                    <p:anim calcmode="lin" valueType="num">
                                      <p:cBhvr>
                                        <p:cTn id="3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37" dur="26">
                                          <p:stCondLst>
                                            <p:cond delay="650"/>
                                          </p:stCondLst>
                                        </p:cTn>
                                        <p:tgtEl>
                                          <p:spTgt spid="13"/>
                                        </p:tgtEl>
                                      </p:cBhvr>
                                      <p:to x="100000" y="60000"/>
                                    </p:animScale>
                                    <p:animScale>
                                      <p:cBhvr>
                                        <p:cTn id="38" dur="166" decel="50000">
                                          <p:stCondLst>
                                            <p:cond delay="676"/>
                                          </p:stCondLst>
                                        </p:cTn>
                                        <p:tgtEl>
                                          <p:spTgt spid="13"/>
                                        </p:tgtEl>
                                      </p:cBhvr>
                                      <p:to x="100000" y="100000"/>
                                    </p:animScale>
                                    <p:animScale>
                                      <p:cBhvr>
                                        <p:cTn id="39" dur="26">
                                          <p:stCondLst>
                                            <p:cond delay="1312"/>
                                          </p:stCondLst>
                                        </p:cTn>
                                        <p:tgtEl>
                                          <p:spTgt spid="13"/>
                                        </p:tgtEl>
                                      </p:cBhvr>
                                      <p:to x="100000" y="80000"/>
                                    </p:animScale>
                                    <p:animScale>
                                      <p:cBhvr>
                                        <p:cTn id="40" dur="166" decel="50000">
                                          <p:stCondLst>
                                            <p:cond delay="1338"/>
                                          </p:stCondLst>
                                        </p:cTn>
                                        <p:tgtEl>
                                          <p:spTgt spid="13"/>
                                        </p:tgtEl>
                                      </p:cBhvr>
                                      <p:to x="100000" y="100000"/>
                                    </p:animScale>
                                    <p:animScale>
                                      <p:cBhvr>
                                        <p:cTn id="41" dur="26">
                                          <p:stCondLst>
                                            <p:cond delay="1642"/>
                                          </p:stCondLst>
                                        </p:cTn>
                                        <p:tgtEl>
                                          <p:spTgt spid="13"/>
                                        </p:tgtEl>
                                      </p:cBhvr>
                                      <p:to x="100000" y="90000"/>
                                    </p:animScale>
                                    <p:animScale>
                                      <p:cBhvr>
                                        <p:cTn id="42" dur="166" decel="50000">
                                          <p:stCondLst>
                                            <p:cond delay="1668"/>
                                          </p:stCondLst>
                                        </p:cTn>
                                        <p:tgtEl>
                                          <p:spTgt spid="13"/>
                                        </p:tgtEl>
                                      </p:cBhvr>
                                      <p:to x="100000" y="100000"/>
                                    </p:animScale>
                                    <p:animScale>
                                      <p:cBhvr>
                                        <p:cTn id="43" dur="26">
                                          <p:stCondLst>
                                            <p:cond delay="1808"/>
                                          </p:stCondLst>
                                        </p:cTn>
                                        <p:tgtEl>
                                          <p:spTgt spid="13"/>
                                        </p:tgtEl>
                                      </p:cBhvr>
                                      <p:to x="100000" y="95000"/>
                                    </p:animScale>
                                    <p:animScale>
                                      <p:cBhvr>
                                        <p:cTn id="44" dur="166" decel="50000">
                                          <p:stCondLst>
                                            <p:cond delay="1834"/>
                                          </p:stCondLst>
                                        </p:cTn>
                                        <p:tgtEl>
                                          <p:spTgt spid="13"/>
                                        </p:tgtEl>
                                      </p:cBhvr>
                                      <p:to x="100000" y="100000"/>
                                    </p:animScale>
                                  </p:childTnLst>
                                </p:cTn>
                              </p:par>
                              <p:par>
                                <p:cTn id="45" presetID="26"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down)">
                                      <p:cBhvr>
                                        <p:cTn id="47" dur="580">
                                          <p:stCondLst>
                                            <p:cond delay="0"/>
                                          </p:stCondLst>
                                        </p:cTn>
                                        <p:tgtEl>
                                          <p:spTgt spid="16"/>
                                        </p:tgtEl>
                                      </p:cBhvr>
                                    </p:animEffect>
                                    <p:anim calcmode="lin" valueType="num">
                                      <p:cBhvr>
                                        <p:cTn id="4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53" dur="26">
                                          <p:stCondLst>
                                            <p:cond delay="650"/>
                                          </p:stCondLst>
                                        </p:cTn>
                                        <p:tgtEl>
                                          <p:spTgt spid="16"/>
                                        </p:tgtEl>
                                      </p:cBhvr>
                                      <p:to x="100000" y="60000"/>
                                    </p:animScale>
                                    <p:animScale>
                                      <p:cBhvr>
                                        <p:cTn id="54" dur="166" decel="50000">
                                          <p:stCondLst>
                                            <p:cond delay="676"/>
                                          </p:stCondLst>
                                        </p:cTn>
                                        <p:tgtEl>
                                          <p:spTgt spid="16"/>
                                        </p:tgtEl>
                                      </p:cBhvr>
                                      <p:to x="100000" y="100000"/>
                                    </p:animScale>
                                    <p:animScale>
                                      <p:cBhvr>
                                        <p:cTn id="55" dur="26">
                                          <p:stCondLst>
                                            <p:cond delay="1312"/>
                                          </p:stCondLst>
                                        </p:cTn>
                                        <p:tgtEl>
                                          <p:spTgt spid="16"/>
                                        </p:tgtEl>
                                      </p:cBhvr>
                                      <p:to x="100000" y="80000"/>
                                    </p:animScale>
                                    <p:animScale>
                                      <p:cBhvr>
                                        <p:cTn id="56" dur="166" decel="50000">
                                          <p:stCondLst>
                                            <p:cond delay="1338"/>
                                          </p:stCondLst>
                                        </p:cTn>
                                        <p:tgtEl>
                                          <p:spTgt spid="16"/>
                                        </p:tgtEl>
                                      </p:cBhvr>
                                      <p:to x="100000" y="100000"/>
                                    </p:animScale>
                                    <p:animScale>
                                      <p:cBhvr>
                                        <p:cTn id="57" dur="26">
                                          <p:stCondLst>
                                            <p:cond delay="1642"/>
                                          </p:stCondLst>
                                        </p:cTn>
                                        <p:tgtEl>
                                          <p:spTgt spid="16"/>
                                        </p:tgtEl>
                                      </p:cBhvr>
                                      <p:to x="100000" y="90000"/>
                                    </p:animScale>
                                    <p:animScale>
                                      <p:cBhvr>
                                        <p:cTn id="58" dur="166" decel="50000">
                                          <p:stCondLst>
                                            <p:cond delay="1668"/>
                                          </p:stCondLst>
                                        </p:cTn>
                                        <p:tgtEl>
                                          <p:spTgt spid="16"/>
                                        </p:tgtEl>
                                      </p:cBhvr>
                                      <p:to x="100000" y="100000"/>
                                    </p:animScale>
                                    <p:animScale>
                                      <p:cBhvr>
                                        <p:cTn id="59" dur="26">
                                          <p:stCondLst>
                                            <p:cond delay="1808"/>
                                          </p:stCondLst>
                                        </p:cTn>
                                        <p:tgtEl>
                                          <p:spTgt spid="16"/>
                                        </p:tgtEl>
                                      </p:cBhvr>
                                      <p:to x="100000" y="95000"/>
                                    </p:animScale>
                                    <p:animScale>
                                      <p:cBhvr>
                                        <p:cTn id="60" dur="166" decel="50000">
                                          <p:stCondLst>
                                            <p:cond delay="1834"/>
                                          </p:stCondLst>
                                        </p:cTn>
                                        <p:tgtEl>
                                          <p:spTgt spid="16"/>
                                        </p:tgtEl>
                                      </p:cBhvr>
                                      <p:to x="100000" y="100000"/>
                                    </p:animScale>
                                  </p:childTnLst>
                                </p:cTn>
                              </p:par>
                              <p:par>
                                <p:cTn id="61" presetID="26" presetClass="entr" presetSubtype="0"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wipe(down)">
                                      <p:cBhvr>
                                        <p:cTn id="63" dur="580">
                                          <p:stCondLst>
                                            <p:cond delay="0"/>
                                          </p:stCondLst>
                                        </p:cTn>
                                        <p:tgtEl>
                                          <p:spTgt spid="17"/>
                                        </p:tgtEl>
                                      </p:cBhvr>
                                    </p:animEffect>
                                    <p:anim calcmode="lin" valueType="num">
                                      <p:cBhvr>
                                        <p:cTn id="64"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65"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66"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67"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68"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69" dur="26">
                                          <p:stCondLst>
                                            <p:cond delay="650"/>
                                          </p:stCondLst>
                                        </p:cTn>
                                        <p:tgtEl>
                                          <p:spTgt spid="17"/>
                                        </p:tgtEl>
                                      </p:cBhvr>
                                      <p:to x="100000" y="60000"/>
                                    </p:animScale>
                                    <p:animScale>
                                      <p:cBhvr>
                                        <p:cTn id="70" dur="166" decel="50000">
                                          <p:stCondLst>
                                            <p:cond delay="676"/>
                                          </p:stCondLst>
                                        </p:cTn>
                                        <p:tgtEl>
                                          <p:spTgt spid="17"/>
                                        </p:tgtEl>
                                      </p:cBhvr>
                                      <p:to x="100000" y="100000"/>
                                    </p:animScale>
                                    <p:animScale>
                                      <p:cBhvr>
                                        <p:cTn id="71" dur="26">
                                          <p:stCondLst>
                                            <p:cond delay="1312"/>
                                          </p:stCondLst>
                                        </p:cTn>
                                        <p:tgtEl>
                                          <p:spTgt spid="17"/>
                                        </p:tgtEl>
                                      </p:cBhvr>
                                      <p:to x="100000" y="80000"/>
                                    </p:animScale>
                                    <p:animScale>
                                      <p:cBhvr>
                                        <p:cTn id="72" dur="166" decel="50000">
                                          <p:stCondLst>
                                            <p:cond delay="1338"/>
                                          </p:stCondLst>
                                        </p:cTn>
                                        <p:tgtEl>
                                          <p:spTgt spid="17"/>
                                        </p:tgtEl>
                                      </p:cBhvr>
                                      <p:to x="100000" y="100000"/>
                                    </p:animScale>
                                    <p:animScale>
                                      <p:cBhvr>
                                        <p:cTn id="73" dur="26">
                                          <p:stCondLst>
                                            <p:cond delay="1642"/>
                                          </p:stCondLst>
                                        </p:cTn>
                                        <p:tgtEl>
                                          <p:spTgt spid="17"/>
                                        </p:tgtEl>
                                      </p:cBhvr>
                                      <p:to x="100000" y="90000"/>
                                    </p:animScale>
                                    <p:animScale>
                                      <p:cBhvr>
                                        <p:cTn id="74" dur="166" decel="50000">
                                          <p:stCondLst>
                                            <p:cond delay="1668"/>
                                          </p:stCondLst>
                                        </p:cTn>
                                        <p:tgtEl>
                                          <p:spTgt spid="17"/>
                                        </p:tgtEl>
                                      </p:cBhvr>
                                      <p:to x="100000" y="100000"/>
                                    </p:animScale>
                                    <p:animScale>
                                      <p:cBhvr>
                                        <p:cTn id="75" dur="26">
                                          <p:stCondLst>
                                            <p:cond delay="1808"/>
                                          </p:stCondLst>
                                        </p:cTn>
                                        <p:tgtEl>
                                          <p:spTgt spid="17"/>
                                        </p:tgtEl>
                                      </p:cBhvr>
                                      <p:to x="100000" y="95000"/>
                                    </p:animScale>
                                    <p:animScale>
                                      <p:cBhvr>
                                        <p:cTn id="76" dur="166" decel="50000">
                                          <p:stCondLst>
                                            <p:cond delay="1834"/>
                                          </p:stCondLst>
                                        </p:cTn>
                                        <p:tgtEl>
                                          <p:spTgt spid="17"/>
                                        </p:tgtEl>
                                      </p:cBhvr>
                                      <p:to x="100000" y="100000"/>
                                    </p:animScale>
                                  </p:childTnLst>
                                </p:cTn>
                              </p:par>
                              <p:par>
                                <p:cTn id="77" presetID="26" presetClass="entr" presetSubtype="0"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down)">
                                      <p:cBhvr>
                                        <p:cTn id="79" dur="580">
                                          <p:stCondLst>
                                            <p:cond delay="0"/>
                                          </p:stCondLst>
                                        </p:cTn>
                                        <p:tgtEl>
                                          <p:spTgt spid="18"/>
                                        </p:tgtEl>
                                      </p:cBhvr>
                                    </p:animEffect>
                                    <p:anim calcmode="lin" valueType="num">
                                      <p:cBhvr>
                                        <p:cTn id="80"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85" dur="26">
                                          <p:stCondLst>
                                            <p:cond delay="650"/>
                                          </p:stCondLst>
                                        </p:cTn>
                                        <p:tgtEl>
                                          <p:spTgt spid="18"/>
                                        </p:tgtEl>
                                      </p:cBhvr>
                                      <p:to x="100000" y="60000"/>
                                    </p:animScale>
                                    <p:animScale>
                                      <p:cBhvr>
                                        <p:cTn id="86" dur="166" decel="50000">
                                          <p:stCondLst>
                                            <p:cond delay="676"/>
                                          </p:stCondLst>
                                        </p:cTn>
                                        <p:tgtEl>
                                          <p:spTgt spid="18"/>
                                        </p:tgtEl>
                                      </p:cBhvr>
                                      <p:to x="100000" y="100000"/>
                                    </p:animScale>
                                    <p:animScale>
                                      <p:cBhvr>
                                        <p:cTn id="87" dur="26">
                                          <p:stCondLst>
                                            <p:cond delay="1312"/>
                                          </p:stCondLst>
                                        </p:cTn>
                                        <p:tgtEl>
                                          <p:spTgt spid="18"/>
                                        </p:tgtEl>
                                      </p:cBhvr>
                                      <p:to x="100000" y="80000"/>
                                    </p:animScale>
                                    <p:animScale>
                                      <p:cBhvr>
                                        <p:cTn id="88" dur="166" decel="50000">
                                          <p:stCondLst>
                                            <p:cond delay="1338"/>
                                          </p:stCondLst>
                                        </p:cTn>
                                        <p:tgtEl>
                                          <p:spTgt spid="18"/>
                                        </p:tgtEl>
                                      </p:cBhvr>
                                      <p:to x="100000" y="100000"/>
                                    </p:animScale>
                                    <p:animScale>
                                      <p:cBhvr>
                                        <p:cTn id="89" dur="26">
                                          <p:stCondLst>
                                            <p:cond delay="1642"/>
                                          </p:stCondLst>
                                        </p:cTn>
                                        <p:tgtEl>
                                          <p:spTgt spid="18"/>
                                        </p:tgtEl>
                                      </p:cBhvr>
                                      <p:to x="100000" y="90000"/>
                                    </p:animScale>
                                    <p:animScale>
                                      <p:cBhvr>
                                        <p:cTn id="90" dur="166" decel="50000">
                                          <p:stCondLst>
                                            <p:cond delay="1668"/>
                                          </p:stCondLst>
                                        </p:cTn>
                                        <p:tgtEl>
                                          <p:spTgt spid="18"/>
                                        </p:tgtEl>
                                      </p:cBhvr>
                                      <p:to x="100000" y="100000"/>
                                    </p:animScale>
                                    <p:animScale>
                                      <p:cBhvr>
                                        <p:cTn id="91" dur="26">
                                          <p:stCondLst>
                                            <p:cond delay="1808"/>
                                          </p:stCondLst>
                                        </p:cTn>
                                        <p:tgtEl>
                                          <p:spTgt spid="18"/>
                                        </p:tgtEl>
                                      </p:cBhvr>
                                      <p:to x="100000" y="95000"/>
                                    </p:animScale>
                                    <p:animScale>
                                      <p:cBhvr>
                                        <p:cTn id="92" dur="166" decel="50000">
                                          <p:stCondLst>
                                            <p:cond delay="1834"/>
                                          </p:stCondLst>
                                        </p:cTn>
                                        <p:tgtEl>
                                          <p:spTgt spid="18"/>
                                        </p:tgtEl>
                                      </p:cBhvr>
                                      <p:to x="100000" y="100000"/>
                                    </p:animScale>
                                  </p:childTnLst>
                                </p:cTn>
                              </p:par>
                              <p:par>
                                <p:cTn id="93" presetID="26" presetClass="entr" presetSubtype="0" fill="hold" nodeType="with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wipe(down)">
                                      <p:cBhvr>
                                        <p:cTn id="95" dur="580">
                                          <p:stCondLst>
                                            <p:cond delay="0"/>
                                          </p:stCondLst>
                                        </p:cTn>
                                        <p:tgtEl>
                                          <p:spTgt spid="19"/>
                                        </p:tgtEl>
                                      </p:cBhvr>
                                    </p:animEffect>
                                    <p:anim calcmode="lin" valueType="num">
                                      <p:cBhvr>
                                        <p:cTn id="96"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97"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98"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99"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100"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101" dur="26">
                                          <p:stCondLst>
                                            <p:cond delay="650"/>
                                          </p:stCondLst>
                                        </p:cTn>
                                        <p:tgtEl>
                                          <p:spTgt spid="19"/>
                                        </p:tgtEl>
                                      </p:cBhvr>
                                      <p:to x="100000" y="60000"/>
                                    </p:animScale>
                                    <p:animScale>
                                      <p:cBhvr>
                                        <p:cTn id="102" dur="166" decel="50000">
                                          <p:stCondLst>
                                            <p:cond delay="676"/>
                                          </p:stCondLst>
                                        </p:cTn>
                                        <p:tgtEl>
                                          <p:spTgt spid="19"/>
                                        </p:tgtEl>
                                      </p:cBhvr>
                                      <p:to x="100000" y="100000"/>
                                    </p:animScale>
                                    <p:animScale>
                                      <p:cBhvr>
                                        <p:cTn id="103" dur="26">
                                          <p:stCondLst>
                                            <p:cond delay="1312"/>
                                          </p:stCondLst>
                                        </p:cTn>
                                        <p:tgtEl>
                                          <p:spTgt spid="19"/>
                                        </p:tgtEl>
                                      </p:cBhvr>
                                      <p:to x="100000" y="80000"/>
                                    </p:animScale>
                                    <p:animScale>
                                      <p:cBhvr>
                                        <p:cTn id="104" dur="166" decel="50000">
                                          <p:stCondLst>
                                            <p:cond delay="1338"/>
                                          </p:stCondLst>
                                        </p:cTn>
                                        <p:tgtEl>
                                          <p:spTgt spid="19"/>
                                        </p:tgtEl>
                                      </p:cBhvr>
                                      <p:to x="100000" y="100000"/>
                                    </p:animScale>
                                    <p:animScale>
                                      <p:cBhvr>
                                        <p:cTn id="105" dur="26">
                                          <p:stCondLst>
                                            <p:cond delay="1642"/>
                                          </p:stCondLst>
                                        </p:cTn>
                                        <p:tgtEl>
                                          <p:spTgt spid="19"/>
                                        </p:tgtEl>
                                      </p:cBhvr>
                                      <p:to x="100000" y="90000"/>
                                    </p:animScale>
                                    <p:animScale>
                                      <p:cBhvr>
                                        <p:cTn id="106" dur="166" decel="50000">
                                          <p:stCondLst>
                                            <p:cond delay="1668"/>
                                          </p:stCondLst>
                                        </p:cTn>
                                        <p:tgtEl>
                                          <p:spTgt spid="19"/>
                                        </p:tgtEl>
                                      </p:cBhvr>
                                      <p:to x="100000" y="100000"/>
                                    </p:animScale>
                                    <p:animScale>
                                      <p:cBhvr>
                                        <p:cTn id="107" dur="26">
                                          <p:stCondLst>
                                            <p:cond delay="1808"/>
                                          </p:stCondLst>
                                        </p:cTn>
                                        <p:tgtEl>
                                          <p:spTgt spid="19"/>
                                        </p:tgtEl>
                                      </p:cBhvr>
                                      <p:to x="100000" y="95000"/>
                                    </p:animScale>
                                    <p:animScale>
                                      <p:cBhvr>
                                        <p:cTn id="108" dur="166" decel="50000">
                                          <p:stCondLst>
                                            <p:cond delay="1834"/>
                                          </p:stCondLst>
                                        </p:cTn>
                                        <p:tgtEl>
                                          <p:spTgt spid="19"/>
                                        </p:tgtEl>
                                      </p:cBhvr>
                                      <p:to x="100000" y="100000"/>
                                    </p:animScale>
                                  </p:childTnLst>
                                </p:cTn>
                              </p:par>
                              <p:par>
                                <p:cTn id="109" presetID="26" presetClass="entr" presetSubtype="0" fill="hold" nodeType="withEffect">
                                  <p:stCondLst>
                                    <p:cond delay="0"/>
                                  </p:stCondLst>
                                  <p:childTnLst>
                                    <p:set>
                                      <p:cBhvr>
                                        <p:cTn id="110" dur="1" fill="hold">
                                          <p:stCondLst>
                                            <p:cond delay="0"/>
                                          </p:stCondLst>
                                        </p:cTn>
                                        <p:tgtEl>
                                          <p:spTgt spid="20"/>
                                        </p:tgtEl>
                                        <p:attrNameLst>
                                          <p:attrName>style.visibility</p:attrName>
                                        </p:attrNameLst>
                                      </p:cBhvr>
                                      <p:to>
                                        <p:strVal val="visible"/>
                                      </p:to>
                                    </p:set>
                                    <p:animEffect transition="in" filter="wipe(down)">
                                      <p:cBhvr>
                                        <p:cTn id="111" dur="580">
                                          <p:stCondLst>
                                            <p:cond delay="0"/>
                                          </p:stCondLst>
                                        </p:cTn>
                                        <p:tgtEl>
                                          <p:spTgt spid="20"/>
                                        </p:tgtEl>
                                      </p:cBhvr>
                                    </p:animEffect>
                                    <p:anim calcmode="lin" valueType="num">
                                      <p:cBhvr>
                                        <p:cTn id="112"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113"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14"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115"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116"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117" dur="26">
                                          <p:stCondLst>
                                            <p:cond delay="650"/>
                                          </p:stCondLst>
                                        </p:cTn>
                                        <p:tgtEl>
                                          <p:spTgt spid="20"/>
                                        </p:tgtEl>
                                      </p:cBhvr>
                                      <p:to x="100000" y="60000"/>
                                    </p:animScale>
                                    <p:animScale>
                                      <p:cBhvr>
                                        <p:cTn id="118" dur="166" decel="50000">
                                          <p:stCondLst>
                                            <p:cond delay="676"/>
                                          </p:stCondLst>
                                        </p:cTn>
                                        <p:tgtEl>
                                          <p:spTgt spid="20"/>
                                        </p:tgtEl>
                                      </p:cBhvr>
                                      <p:to x="100000" y="100000"/>
                                    </p:animScale>
                                    <p:animScale>
                                      <p:cBhvr>
                                        <p:cTn id="119" dur="26">
                                          <p:stCondLst>
                                            <p:cond delay="1312"/>
                                          </p:stCondLst>
                                        </p:cTn>
                                        <p:tgtEl>
                                          <p:spTgt spid="20"/>
                                        </p:tgtEl>
                                      </p:cBhvr>
                                      <p:to x="100000" y="80000"/>
                                    </p:animScale>
                                    <p:animScale>
                                      <p:cBhvr>
                                        <p:cTn id="120" dur="166" decel="50000">
                                          <p:stCondLst>
                                            <p:cond delay="1338"/>
                                          </p:stCondLst>
                                        </p:cTn>
                                        <p:tgtEl>
                                          <p:spTgt spid="20"/>
                                        </p:tgtEl>
                                      </p:cBhvr>
                                      <p:to x="100000" y="100000"/>
                                    </p:animScale>
                                    <p:animScale>
                                      <p:cBhvr>
                                        <p:cTn id="121" dur="26">
                                          <p:stCondLst>
                                            <p:cond delay="1642"/>
                                          </p:stCondLst>
                                        </p:cTn>
                                        <p:tgtEl>
                                          <p:spTgt spid="20"/>
                                        </p:tgtEl>
                                      </p:cBhvr>
                                      <p:to x="100000" y="90000"/>
                                    </p:animScale>
                                    <p:animScale>
                                      <p:cBhvr>
                                        <p:cTn id="122" dur="166" decel="50000">
                                          <p:stCondLst>
                                            <p:cond delay="1668"/>
                                          </p:stCondLst>
                                        </p:cTn>
                                        <p:tgtEl>
                                          <p:spTgt spid="20"/>
                                        </p:tgtEl>
                                      </p:cBhvr>
                                      <p:to x="100000" y="100000"/>
                                    </p:animScale>
                                    <p:animScale>
                                      <p:cBhvr>
                                        <p:cTn id="123" dur="26">
                                          <p:stCondLst>
                                            <p:cond delay="1808"/>
                                          </p:stCondLst>
                                        </p:cTn>
                                        <p:tgtEl>
                                          <p:spTgt spid="20"/>
                                        </p:tgtEl>
                                      </p:cBhvr>
                                      <p:to x="100000" y="95000"/>
                                    </p:animScale>
                                    <p:animScale>
                                      <p:cBhvr>
                                        <p:cTn id="124" dur="166" decel="50000">
                                          <p:stCondLst>
                                            <p:cond delay="1834"/>
                                          </p:stCondLst>
                                        </p:cTn>
                                        <p:tgtEl>
                                          <p:spTgt spid="20"/>
                                        </p:tgtEl>
                                      </p:cBhvr>
                                      <p:to x="100000" y="100000"/>
                                    </p:animScale>
                                  </p:childTnLst>
                                </p:cTn>
                              </p:par>
                              <p:par>
                                <p:cTn id="125" presetID="26" presetClass="entr" presetSubtype="0" fill="hold" grpId="0" nodeType="withEffect">
                                  <p:stCondLst>
                                    <p:cond delay="0"/>
                                  </p:stCondLst>
                                  <p:childTnLst>
                                    <p:set>
                                      <p:cBhvr>
                                        <p:cTn id="126" dur="1" fill="hold">
                                          <p:stCondLst>
                                            <p:cond delay="0"/>
                                          </p:stCondLst>
                                        </p:cTn>
                                        <p:tgtEl>
                                          <p:spTgt spid="21"/>
                                        </p:tgtEl>
                                        <p:attrNameLst>
                                          <p:attrName>style.visibility</p:attrName>
                                        </p:attrNameLst>
                                      </p:cBhvr>
                                      <p:to>
                                        <p:strVal val="visible"/>
                                      </p:to>
                                    </p:set>
                                    <p:animEffect transition="in" filter="wipe(down)">
                                      <p:cBhvr>
                                        <p:cTn id="127" dur="580">
                                          <p:stCondLst>
                                            <p:cond delay="0"/>
                                          </p:stCondLst>
                                        </p:cTn>
                                        <p:tgtEl>
                                          <p:spTgt spid="21"/>
                                        </p:tgtEl>
                                      </p:cBhvr>
                                    </p:animEffect>
                                    <p:anim calcmode="lin" valueType="num">
                                      <p:cBhvr>
                                        <p:cTn id="128"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129"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30"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131"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132"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133" dur="26">
                                          <p:stCondLst>
                                            <p:cond delay="650"/>
                                          </p:stCondLst>
                                        </p:cTn>
                                        <p:tgtEl>
                                          <p:spTgt spid="21"/>
                                        </p:tgtEl>
                                      </p:cBhvr>
                                      <p:to x="100000" y="60000"/>
                                    </p:animScale>
                                    <p:animScale>
                                      <p:cBhvr>
                                        <p:cTn id="134" dur="166" decel="50000">
                                          <p:stCondLst>
                                            <p:cond delay="676"/>
                                          </p:stCondLst>
                                        </p:cTn>
                                        <p:tgtEl>
                                          <p:spTgt spid="21"/>
                                        </p:tgtEl>
                                      </p:cBhvr>
                                      <p:to x="100000" y="100000"/>
                                    </p:animScale>
                                    <p:animScale>
                                      <p:cBhvr>
                                        <p:cTn id="135" dur="26">
                                          <p:stCondLst>
                                            <p:cond delay="1312"/>
                                          </p:stCondLst>
                                        </p:cTn>
                                        <p:tgtEl>
                                          <p:spTgt spid="21"/>
                                        </p:tgtEl>
                                      </p:cBhvr>
                                      <p:to x="100000" y="80000"/>
                                    </p:animScale>
                                    <p:animScale>
                                      <p:cBhvr>
                                        <p:cTn id="136" dur="166" decel="50000">
                                          <p:stCondLst>
                                            <p:cond delay="1338"/>
                                          </p:stCondLst>
                                        </p:cTn>
                                        <p:tgtEl>
                                          <p:spTgt spid="21"/>
                                        </p:tgtEl>
                                      </p:cBhvr>
                                      <p:to x="100000" y="100000"/>
                                    </p:animScale>
                                    <p:animScale>
                                      <p:cBhvr>
                                        <p:cTn id="137" dur="26">
                                          <p:stCondLst>
                                            <p:cond delay="1642"/>
                                          </p:stCondLst>
                                        </p:cTn>
                                        <p:tgtEl>
                                          <p:spTgt spid="21"/>
                                        </p:tgtEl>
                                      </p:cBhvr>
                                      <p:to x="100000" y="90000"/>
                                    </p:animScale>
                                    <p:animScale>
                                      <p:cBhvr>
                                        <p:cTn id="138" dur="166" decel="50000">
                                          <p:stCondLst>
                                            <p:cond delay="1668"/>
                                          </p:stCondLst>
                                        </p:cTn>
                                        <p:tgtEl>
                                          <p:spTgt spid="21"/>
                                        </p:tgtEl>
                                      </p:cBhvr>
                                      <p:to x="100000" y="100000"/>
                                    </p:animScale>
                                    <p:animScale>
                                      <p:cBhvr>
                                        <p:cTn id="139" dur="26">
                                          <p:stCondLst>
                                            <p:cond delay="1808"/>
                                          </p:stCondLst>
                                        </p:cTn>
                                        <p:tgtEl>
                                          <p:spTgt spid="21"/>
                                        </p:tgtEl>
                                      </p:cBhvr>
                                      <p:to x="100000" y="95000"/>
                                    </p:animScale>
                                    <p:animScale>
                                      <p:cBhvr>
                                        <p:cTn id="140" dur="166" decel="50000">
                                          <p:stCondLst>
                                            <p:cond delay="1834"/>
                                          </p:stCondLst>
                                        </p:cTn>
                                        <p:tgtEl>
                                          <p:spTgt spid="21"/>
                                        </p:tgtEl>
                                      </p:cBhvr>
                                      <p:to x="100000" y="100000"/>
                                    </p:animScale>
                                  </p:childTnLst>
                                </p:cTn>
                              </p:par>
                            </p:childTnLst>
                          </p:cTn>
                        </p:par>
                      </p:childTnLst>
                    </p:cTn>
                  </p:par>
                  <p:par>
                    <p:cTn id="141" fill="hold">
                      <p:stCondLst>
                        <p:cond delay="indefinite"/>
                      </p:stCondLst>
                      <p:childTnLst>
                        <p:par>
                          <p:cTn id="142" fill="hold">
                            <p:stCondLst>
                              <p:cond delay="0"/>
                            </p:stCondLst>
                            <p:childTnLst>
                              <p:par>
                                <p:cTn id="143" presetID="23" presetClass="entr" presetSubtype="16" fill="hold" grpId="0" nodeType="clickEffect">
                                  <p:stCondLst>
                                    <p:cond delay="0"/>
                                  </p:stCondLst>
                                  <p:childTnLst>
                                    <p:set>
                                      <p:cBhvr>
                                        <p:cTn id="144" dur="1" fill="hold">
                                          <p:stCondLst>
                                            <p:cond delay="0"/>
                                          </p:stCondLst>
                                        </p:cTn>
                                        <p:tgtEl>
                                          <p:spTgt spid="7"/>
                                        </p:tgtEl>
                                        <p:attrNameLst>
                                          <p:attrName>style.visibility</p:attrName>
                                        </p:attrNameLst>
                                      </p:cBhvr>
                                      <p:to>
                                        <p:strVal val="visible"/>
                                      </p:to>
                                    </p:set>
                                    <p:anim calcmode="lin" valueType="num">
                                      <p:cBhvr>
                                        <p:cTn id="145" dur="500" fill="hold"/>
                                        <p:tgtEl>
                                          <p:spTgt spid="7"/>
                                        </p:tgtEl>
                                        <p:attrNameLst>
                                          <p:attrName>ppt_w</p:attrName>
                                        </p:attrNameLst>
                                      </p:cBhvr>
                                      <p:tavLst>
                                        <p:tav tm="0">
                                          <p:val>
                                            <p:fltVal val="0"/>
                                          </p:val>
                                        </p:tav>
                                        <p:tav tm="100000">
                                          <p:val>
                                            <p:strVal val="#ppt_w"/>
                                          </p:val>
                                        </p:tav>
                                      </p:tavLst>
                                    </p:anim>
                                    <p:anim calcmode="lin" valueType="num">
                                      <p:cBhvr>
                                        <p:cTn id="146"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12" presetClass="entr" presetSubtype="4" fill="hold" grpId="0" nodeType="clickEffect">
                                  <p:stCondLst>
                                    <p:cond delay="0"/>
                                  </p:stCondLst>
                                  <p:childTnLst>
                                    <p:set>
                                      <p:cBhvr>
                                        <p:cTn id="150" dur="1" fill="hold">
                                          <p:stCondLst>
                                            <p:cond delay="0"/>
                                          </p:stCondLst>
                                        </p:cTn>
                                        <p:tgtEl>
                                          <p:spTgt spid="8"/>
                                        </p:tgtEl>
                                        <p:attrNameLst>
                                          <p:attrName>style.visibility</p:attrName>
                                        </p:attrNameLst>
                                      </p:cBhvr>
                                      <p:to>
                                        <p:strVal val="visible"/>
                                      </p:to>
                                    </p:set>
                                    <p:animEffect transition="in" filter="slide(fromBottom)">
                                      <p:cBhvr>
                                        <p:cTn id="151" dur="500"/>
                                        <p:tgtEl>
                                          <p:spTgt spid="8"/>
                                        </p:tgtEl>
                                      </p:cBhvr>
                                    </p:animEffect>
                                  </p:childTnLst>
                                </p:cTn>
                              </p:par>
                              <p:par>
                                <p:cTn id="152" presetID="12" presetClass="entr" presetSubtype="4" fill="hold" grpId="0" nodeType="withEffect">
                                  <p:stCondLst>
                                    <p:cond delay="0"/>
                                  </p:stCondLst>
                                  <p:childTnLst>
                                    <p:set>
                                      <p:cBhvr>
                                        <p:cTn id="153" dur="1" fill="hold">
                                          <p:stCondLst>
                                            <p:cond delay="0"/>
                                          </p:stCondLst>
                                        </p:cTn>
                                        <p:tgtEl>
                                          <p:spTgt spid="9"/>
                                        </p:tgtEl>
                                        <p:attrNameLst>
                                          <p:attrName>style.visibility</p:attrName>
                                        </p:attrNameLst>
                                      </p:cBhvr>
                                      <p:to>
                                        <p:strVal val="visible"/>
                                      </p:to>
                                    </p:set>
                                    <p:animEffect transition="in" filter="slide(fromBottom)">
                                      <p:cBhvr>
                                        <p:cTn id="154" dur="500"/>
                                        <p:tgtEl>
                                          <p:spTgt spid="9"/>
                                        </p:tgtEl>
                                      </p:cBhvr>
                                    </p:animEffect>
                                  </p:childTnLst>
                                </p:cTn>
                              </p:par>
                              <p:par>
                                <p:cTn id="155" presetID="12" presetClass="entr" presetSubtype="4" fill="hold" grpId="0" nodeType="withEffect">
                                  <p:stCondLst>
                                    <p:cond delay="0"/>
                                  </p:stCondLst>
                                  <p:childTnLst>
                                    <p:set>
                                      <p:cBhvr>
                                        <p:cTn id="156" dur="1" fill="hold">
                                          <p:stCondLst>
                                            <p:cond delay="0"/>
                                          </p:stCondLst>
                                        </p:cTn>
                                        <p:tgtEl>
                                          <p:spTgt spid="10"/>
                                        </p:tgtEl>
                                        <p:attrNameLst>
                                          <p:attrName>style.visibility</p:attrName>
                                        </p:attrNameLst>
                                      </p:cBhvr>
                                      <p:to>
                                        <p:strVal val="visible"/>
                                      </p:to>
                                    </p:set>
                                    <p:animEffect transition="in" filter="slide(fromBottom)">
                                      <p:cBhvr>
                                        <p:cTn id="157" dur="500"/>
                                        <p:tgtEl>
                                          <p:spTgt spid="10"/>
                                        </p:tgtEl>
                                      </p:cBhvr>
                                    </p:animEffect>
                                  </p:childTnLst>
                                </p:cTn>
                              </p:par>
                              <p:par>
                                <p:cTn id="158" presetID="12" presetClass="entr" presetSubtype="4" fill="hold" grpId="0" nodeType="withEffect">
                                  <p:stCondLst>
                                    <p:cond delay="0"/>
                                  </p:stCondLst>
                                  <p:childTnLst>
                                    <p:set>
                                      <p:cBhvr>
                                        <p:cTn id="159" dur="1" fill="hold">
                                          <p:stCondLst>
                                            <p:cond delay="0"/>
                                          </p:stCondLst>
                                        </p:cTn>
                                        <p:tgtEl>
                                          <p:spTgt spid="11"/>
                                        </p:tgtEl>
                                        <p:attrNameLst>
                                          <p:attrName>style.visibility</p:attrName>
                                        </p:attrNameLst>
                                      </p:cBhvr>
                                      <p:to>
                                        <p:strVal val="visible"/>
                                      </p:to>
                                    </p:set>
                                    <p:animEffect transition="in" filter="slide(fromBottom)">
                                      <p:cBhvr>
                                        <p:cTn id="160" dur="500"/>
                                        <p:tgtEl>
                                          <p:spTgt spid="11"/>
                                        </p:tgtEl>
                                      </p:cBhvr>
                                    </p:animEffect>
                                  </p:childTnLst>
                                </p:cTn>
                              </p:par>
                            </p:childTnLst>
                          </p:cTn>
                        </p:par>
                      </p:childTnLst>
                    </p:cTn>
                  </p:par>
                  <p:par>
                    <p:cTn id="161" fill="hold">
                      <p:stCondLst>
                        <p:cond delay="indefinite"/>
                      </p:stCondLst>
                      <p:childTnLst>
                        <p:par>
                          <p:cTn id="162" fill="hold">
                            <p:stCondLst>
                              <p:cond delay="0"/>
                            </p:stCondLst>
                            <p:childTnLst>
                              <p:par>
                                <p:cTn id="163" presetID="20" presetClass="entr" presetSubtype="0" fill="hold" grpId="0" nodeType="clickEffect">
                                  <p:stCondLst>
                                    <p:cond delay="0"/>
                                  </p:stCondLst>
                                  <p:childTnLst>
                                    <p:set>
                                      <p:cBhvr>
                                        <p:cTn id="164" dur="1" fill="hold">
                                          <p:stCondLst>
                                            <p:cond delay="0"/>
                                          </p:stCondLst>
                                        </p:cTn>
                                        <p:tgtEl>
                                          <p:spTgt spid="22"/>
                                        </p:tgtEl>
                                        <p:attrNameLst>
                                          <p:attrName>style.visibility</p:attrName>
                                        </p:attrNameLst>
                                      </p:cBhvr>
                                      <p:to>
                                        <p:strVal val="visible"/>
                                      </p:to>
                                    </p:set>
                                    <p:animEffect transition="in" filter="wedge">
                                      <p:cBhvr>
                                        <p:cTn id="165"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p:bldAsOne/>
      </p:bldGraphic>
      <p:bldP spid="7" grpId="0"/>
      <p:bldP spid="8" grpId="0"/>
      <p:bldP spid="9" grpId="0"/>
      <p:bldP spid="10" grpId="0"/>
      <p:bldP spid="11" grpId="0"/>
      <p:bldP spid="21" grpId="0" animBg="1"/>
      <p:bldP spid="2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1000" y="304800"/>
            <a:ext cx="8382000" cy="1569660"/>
          </a:xfrm>
          <a:prstGeom prst="rect">
            <a:avLst/>
          </a:prstGeom>
        </p:spPr>
        <p:txBody>
          <a:bodyPr wrap="square">
            <a:spAutoFit/>
          </a:bodyPr>
          <a:lstStyle/>
          <a:p>
            <a:pPr marL="571500" indent="-571500"/>
            <a:r>
              <a:rPr lang="en-US" sz="3200" dirty="0" smtClean="0"/>
              <a:t>14. A card is picked at random from an ordinary deck of cards. Find the probability of picking a queen? </a:t>
            </a:r>
          </a:p>
        </p:txBody>
      </p:sp>
      <p:sp>
        <p:nvSpPr>
          <p:cNvPr id="6" name="Rectangle 5"/>
          <p:cNvSpPr/>
          <p:nvPr/>
        </p:nvSpPr>
        <p:spPr>
          <a:xfrm>
            <a:off x="2209800" y="1701225"/>
            <a:ext cx="1106393" cy="584775"/>
          </a:xfrm>
          <a:prstGeom prst="rect">
            <a:avLst/>
          </a:prstGeom>
        </p:spPr>
        <p:txBody>
          <a:bodyPr wrap="none">
            <a:spAutoFit/>
          </a:bodyPr>
          <a:lstStyle/>
          <a:p>
            <a:r>
              <a:rPr lang="en-US" sz="3200" dirty="0" smtClean="0"/>
              <a:t>a. 1/6</a:t>
            </a:r>
            <a:endParaRPr lang="en-US" sz="3200" dirty="0"/>
          </a:p>
        </p:txBody>
      </p:sp>
      <p:sp>
        <p:nvSpPr>
          <p:cNvPr id="7" name="Rectangle 6"/>
          <p:cNvSpPr/>
          <p:nvPr/>
        </p:nvSpPr>
        <p:spPr>
          <a:xfrm>
            <a:off x="2186573" y="2387025"/>
            <a:ext cx="1049070" cy="584775"/>
          </a:xfrm>
          <a:prstGeom prst="rect">
            <a:avLst/>
          </a:prstGeom>
        </p:spPr>
        <p:txBody>
          <a:bodyPr wrap="none">
            <a:spAutoFit/>
          </a:bodyPr>
          <a:lstStyle/>
          <a:p>
            <a:r>
              <a:rPr lang="en-US" sz="3200" dirty="0" smtClean="0"/>
              <a:t>b. ¼ </a:t>
            </a:r>
            <a:endParaRPr lang="en-US" sz="3200" dirty="0"/>
          </a:p>
        </p:txBody>
      </p:sp>
      <p:sp>
        <p:nvSpPr>
          <p:cNvPr id="8" name="Rectangle 7"/>
          <p:cNvSpPr/>
          <p:nvPr/>
        </p:nvSpPr>
        <p:spPr>
          <a:xfrm>
            <a:off x="4880488" y="1701225"/>
            <a:ext cx="1338828" cy="584775"/>
          </a:xfrm>
          <a:prstGeom prst="rect">
            <a:avLst/>
          </a:prstGeom>
        </p:spPr>
        <p:txBody>
          <a:bodyPr wrap="none">
            <a:spAutoFit/>
          </a:bodyPr>
          <a:lstStyle/>
          <a:p>
            <a:r>
              <a:rPr lang="en-US" sz="3200" dirty="0" smtClean="0"/>
              <a:t>c. 1/13</a:t>
            </a:r>
            <a:endParaRPr lang="en-US" sz="3200" dirty="0"/>
          </a:p>
        </p:txBody>
      </p:sp>
      <p:sp>
        <p:nvSpPr>
          <p:cNvPr id="9" name="Rectangle 8"/>
          <p:cNvSpPr/>
          <p:nvPr/>
        </p:nvSpPr>
        <p:spPr>
          <a:xfrm>
            <a:off x="4866862" y="2463225"/>
            <a:ext cx="1066318" cy="584775"/>
          </a:xfrm>
          <a:prstGeom prst="rect">
            <a:avLst/>
          </a:prstGeom>
        </p:spPr>
        <p:txBody>
          <a:bodyPr wrap="none">
            <a:spAutoFit/>
          </a:bodyPr>
          <a:lstStyle/>
          <a:p>
            <a:r>
              <a:rPr lang="en-US" sz="3200" dirty="0" smtClean="0"/>
              <a:t>d. ½ </a:t>
            </a:r>
          </a:p>
        </p:txBody>
      </p:sp>
      <p:sp>
        <p:nvSpPr>
          <p:cNvPr id="11" name="TextBox 10"/>
          <p:cNvSpPr txBox="1"/>
          <p:nvPr/>
        </p:nvSpPr>
        <p:spPr>
          <a:xfrm>
            <a:off x="1466850" y="3162300"/>
            <a:ext cx="2266950" cy="461665"/>
          </a:xfrm>
          <a:prstGeom prst="rect">
            <a:avLst/>
          </a:prstGeom>
          <a:noFill/>
        </p:spPr>
        <p:txBody>
          <a:bodyPr wrap="square" rtlCol="0">
            <a:spAutoFit/>
          </a:bodyPr>
          <a:lstStyle/>
          <a:p>
            <a:r>
              <a:rPr lang="en-PH" sz="2400" dirty="0" smtClean="0"/>
              <a:t>Solution:</a:t>
            </a:r>
          </a:p>
        </p:txBody>
      </p:sp>
      <p:graphicFrame>
        <p:nvGraphicFramePr>
          <p:cNvPr id="12" name="Object 5"/>
          <p:cNvGraphicFramePr>
            <a:graphicFrameLocks noChangeAspect="1"/>
          </p:cNvGraphicFramePr>
          <p:nvPr/>
        </p:nvGraphicFramePr>
        <p:xfrm>
          <a:off x="2209800" y="3581400"/>
          <a:ext cx="1041400" cy="358775"/>
        </p:xfrm>
        <a:graphic>
          <a:graphicData uri="http://schemas.openxmlformats.org/presentationml/2006/ole">
            <p:oleObj spid="_x0000_s153601" name="Equation" r:id="rId6" imgW="596880" imgH="203040" progId="Equation.3">
              <p:embed/>
            </p:oleObj>
          </a:graphicData>
        </a:graphic>
      </p:graphicFrame>
      <p:graphicFrame>
        <p:nvGraphicFramePr>
          <p:cNvPr id="13" name="Object 6"/>
          <p:cNvGraphicFramePr>
            <a:graphicFrameLocks noChangeAspect="1"/>
          </p:cNvGraphicFramePr>
          <p:nvPr/>
        </p:nvGraphicFramePr>
        <p:xfrm>
          <a:off x="2176463" y="3949700"/>
          <a:ext cx="995362" cy="360363"/>
        </p:xfrm>
        <a:graphic>
          <a:graphicData uri="http://schemas.openxmlformats.org/presentationml/2006/ole">
            <p:oleObj spid="_x0000_s153602" name="Equation" r:id="rId7" imgW="571320" imgH="203040" progId="Equation.3">
              <p:embed/>
            </p:oleObj>
          </a:graphicData>
        </a:graphic>
      </p:graphicFrame>
      <p:graphicFrame>
        <p:nvGraphicFramePr>
          <p:cNvPr id="14" name="Object 7"/>
          <p:cNvGraphicFramePr>
            <a:graphicFrameLocks noChangeAspect="1"/>
          </p:cNvGraphicFramePr>
          <p:nvPr/>
        </p:nvGraphicFramePr>
        <p:xfrm>
          <a:off x="2265363" y="4287838"/>
          <a:ext cx="1460500" cy="741362"/>
        </p:xfrm>
        <a:graphic>
          <a:graphicData uri="http://schemas.openxmlformats.org/presentationml/2006/ole">
            <p:oleObj spid="_x0000_s153603" name="Equation" r:id="rId8" imgW="838080" imgH="419040" progId="Equation.3">
              <p:embed/>
            </p:oleObj>
          </a:graphicData>
        </a:graphic>
      </p:graphicFrame>
      <p:sp>
        <p:nvSpPr>
          <p:cNvPr id="15" name="Rounded Rectangle 14"/>
          <p:cNvSpPr/>
          <p:nvPr/>
        </p:nvSpPr>
        <p:spPr>
          <a:xfrm>
            <a:off x="1219200" y="3124200"/>
            <a:ext cx="3352800" cy="34290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Object 8"/>
          <p:cNvGraphicFramePr>
            <a:graphicFrameLocks noChangeAspect="1"/>
          </p:cNvGraphicFramePr>
          <p:nvPr/>
        </p:nvGraphicFramePr>
        <p:xfrm>
          <a:off x="2882542" y="5051425"/>
          <a:ext cx="596900" cy="696913"/>
        </p:xfrm>
        <a:graphic>
          <a:graphicData uri="http://schemas.openxmlformats.org/presentationml/2006/ole">
            <p:oleObj spid="_x0000_s153604" name="Equation" r:id="rId9" imgW="342720" imgH="393480" progId="Equation.3">
              <p:embed/>
            </p:oleObj>
          </a:graphicData>
        </a:graphic>
      </p:graphicFrame>
      <p:graphicFrame>
        <p:nvGraphicFramePr>
          <p:cNvPr id="17" name="Object 9"/>
          <p:cNvGraphicFramePr>
            <a:graphicFrameLocks noChangeAspect="1"/>
          </p:cNvGraphicFramePr>
          <p:nvPr/>
        </p:nvGraphicFramePr>
        <p:xfrm>
          <a:off x="2892425" y="5730875"/>
          <a:ext cx="552450" cy="696913"/>
        </p:xfrm>
        <a:graphic>
          <a:graphicData uri="http://schemas.openxmlformats.org/presentationml/2006/ole">
            <p:oleObj spid="_x0000_s153605" name="Equation" r:id="rId10" imgW="317160" imgH="393480" progId="Equation.3">
              <p:embed/>
            </p:oleObj>
          </a:graphicData>
        </a:graphic>
      </p:graphicFrame>
      <p:sp>
        <p:nvSpPr>
          <p:cNvPr id="18" name="Rounded Rectangle 17"/>
          <p:cNvSpPr/>
          <p:nvPr/>
        </p:nvSpPr>
        <p:spPr>
          <a:xfrm>
            <a:off x="4876800" y="1752600"/>
            <a:ext cx="12954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900" decel="100000" fill="hold"/>
                                        <p:tgtEl>
                                          <p:spTgt spid="1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1000"/>
                                        <p:tgtEl>
                                          <p:spTgt spid="15"/>
                                        </p:tgtEl>
                                      </p:cBhvr>
                                    </p:animEffect>
                                    <p:anim calcmode="lin" valueType="num">
                                      <p:cBhvr>
                                        <p:cTn id="34" dur="1000" fill="hold"/>
                                        <p:tgtEl>
                                          <p:spTgt spid="15"/>
                                        </p:tgtEl>
                                        <p:attrNameLst>
                                          <p:attrName>ppt_x</p:attrName>
                                        </p:attrNameLst>
                                      </p:cBhvr>
                                      <p:tavLst>
                                        <p:tav tm="0">
                                          <p:val>
                                            <p:strVal val="#ppt_x"/>
                                          </p:val>
                                        </p:tav>
                                        <p:tav tm="100000">
                                          <p:val>
                                            <p:strVal val="#ppt_x"/>
                                          </p:val>
                                        </p:tav>
                                      </p:tavLst>
                                    </p:anim>
                                    <p:anim calcmode="lin" valueType="num">
                                      <p:cBhvr>
                                        <p:cTn id="35" dur="900" decel="100000" fill="hold"/>
                                        <p:tgtEl>
                                          <p:spTgt spid="15"/>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5"/>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1000" fill="hold"/>
                                        <p:tgtEl>
                                          <p:spTgt spid="12"/>
                                        </p:tgtEl>
                                        <p:attrNameLst>
                                          <p:attrName>ppt_x</p:attrName>
                                        </p:attrNameLst>
                                      </p:cBhvr>
                                      <p:tavLst>
                                        <p:tav tm="0">
                                          <p:val>
                                            <p:strVal val="#ppt_x-.2"/>
                                          </p:val>
                                        </p:tav>
                                        <p:tav tm="100000">
                                          <p:val>
                                            <p:strVal val="#ppt_x"/>
                                          </p:val>
                                        </p:tav>
                                      </p:tavLst>
                                    </p:anim>
                                    <p:anim calcmode="lin" valueType="num">
                                      <p:cBhvr>
                                        <p:cTn id="42"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p:cTn id="48" dur="1000" fill="hold"/>
                                        <p:tgtEl>
                                          <p:spTgt spid="13"/>
                                        </p:tgtEl>
                                        <p:attrNameLst>
                                          <p:attrName>ppt_x</p:attrName>
                                        </p:attrNameLst>
                                      </p:cBhvr>
                                      <p:tavLst>
                                        <p:tav tm="0">
                                          <p:val>
                                            <p:strVal val="#ppt_x-.2"/>
                                          </p:val>
                                        </p:tav>
                                        <p:tav tm="100000">
                                          <p:val>
                                            <p:strVal val="#ppt_x"/>
                                          </p:val>
                                        </p:tav>
                                      </p:tavLst>
                                    </p:anim>
                                    <p:anim calcmode="lin" valueType="num">
                                      <p:cBhvr>
                                        <p:cTn id="49"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1000" fill="hold"/>
                                        <p:tgtEl>
                                          <p:spTgt spid="14"/>
                                        </p:tgtEl>
                                        <p:attrNameLst>
                                          <p:attrName>ppt_x</p:attrName>
                                        </p:attrNameLst>
                                      </p:cBhvr>
                                      <p:tavLst>
                                        <p:tav tm="0">
                                          <p:val>
                                            <p:strVal val="#ppt_x-.2"/>
                                          </p:val>
                                        </p:tav>
                                        <p:tav tm="100000">
                                          <p:val>
                                            <p:strVal val="#ppt_x"/>
                                          </p:val>
                                        </p:tav>
                                      </p:tavLst>
                                    </p:anim>
                                    <p:anim calcmode="lin" valueType="num">
                                      <p:cBhvr>
                                        <p:cTn id="56" dur="10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1000" fill="hold"/>
                                        <p:tgtEl>
                                          <p:spTgt spid="16"/>
                                        </p:tgtEl>
                                        <p:attrNameLst>
                                          <p:attrName>ppt_x</p:attrName>
                                        </p:attrNameLst>
                                      </p:cBhvr>
                                      <p:tavLst>
                                        <p:tav tm="0">
                                          <p:val>
                                            <p:strVal val="#ppt_x-.2"/>
                                          </p:val>
                                        </p:tav>
                                        <p:tav tm="100000">
                                          <p:val>
                                            <p:strVal val="#ppt_x"/>
                                          </p:val>
                                        </p:tav>
                                      </p:tavLst>
                                    </p:anim>
                                    <p:anim calcmode="lin" valueType="num">
                                      <p:cBhvr>
                                        <p:cTn id="63" dur="10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64" dur="10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p:cTn id="69" dur="1000" fill="hold"/>
                                        <p:tgtEl>
                                          <p:spTgt spid="17"/>
                                        </p:tgtEl>
                                        <p:attrNameLst>
                                          <p:attrName>ppt_x</p:attrName>
                                        </p:attrNameLst>
                                      </p:cBhvr>
                                      <p:tavLst>
                                        <p:tav tm="0">
                                          <p:val>
                                            <p:strVal val="#ppt_x-.2"/>
                                          </p:val>
                                        </p:tav>
                                        <p:tav tm="100000">
                                          <p:val>
                                            <p:strVal val="#ppt_x"/>
                                          </p:val>
                                        </p:tav>
                                      </p:tavLst>
                                    </p:anim>
                                    <p:anim calcmode="lin" valueType="num">
                                      <p:cBhvr>
                                        <p:cTn id="70" dur="10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71" dur="10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4" presetID="20" presetClass="entr" presetSubtype="0" fill="hold" grpId="0" nodeType="click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wedge">
                                      <p:cBhvr>
                                        <p:cTn id="7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5" grpId="0" animBg="1"/>
      <p:bldP spid="1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1000" y="304800"/>
            <a:ext cx="8382000" cy="1077218"/>
          </a:xfrm>
          <a:prstGeom prst="rect">
            <a:avLst/>
          </a:prstGeom>
        </p:spPr>
        <p:txBody>
          <a:bodyPr wrap="square">
            <a:spAutoFit/>
          </a:bodyPr>
          <a:lstStyle/>
          <a:p>
            <a:pPr marL="571500" indent="-571500"/>
            <a:r>
              <a:rPr lang="en-US" sz="3200" dirty="0" smtClean="0"/>
              <a:t>15. What is the probability of getting a multiple of 3 when a die is tossed?</a:t>
            </a:r>
          </a:p>
        </p:txBody>
      </p:sp>
      <p:sp>
        <p:nvSpPr>
          <p:cNvPr id="6" name="Rectangle 5"/>
          <p:cNvSpPr/>
          <p:nvPr/>
        </p:nvSpPr>
        <p:spPr>
          <a:xfrm>
            <a:off x="1828800" y="1447800"/>
            <a:ext cx="1106393" cy="584775"/>
          </a:xfrm>
          <a:prstGeom prst="rect">
            <a:avLst/>
          </a:prstGeom>
        </p:spPr>
        <p:txBody>
          <a:bodyPr wrap="none">
            <a:spAutoFit/>
          </a:bodyPr>
          <a:lstStyle/>
          <a:p>
            <a:r>
              <a:rPr lang="en-US" sz="3200" dirty="0" smtClean="0"/>
              <a:t>a. 1/6</a:t>
            </a:r>
            <a:endParaRPr lang="en-US" sz="3200" dirty="0"/>
          </a:p>
        </p:txBody>
      </p:sp>
      <p:sp>
        <p:nvSpPr>
          <p:cNvPr id="7" name="Rectangle 6"/>
          <p:cNvSpPr/>
          <p:nvPr/>
        </p:nvSpPr>
        <p:spPr>
          <a:xfrm>
            <a:off x="1780173" y="2133600"/>
            <a:ext cx="1049070" cy="584775"/>
          </a:xfrm>
          <a:prstGeom prst="rect">
            <a:avLst/>
          </a:prstGeom>
        </p:spPr>
        <p:txBody>
          <a:bodyPr wrap="none">
            <a:spAutoFit/>
          </a:bodyPr>
          <a:lstStyle/>
          <a:p>
            <a:r>
              <a:rPr lang="en-US" sz="3200" dirty="0" smtClean="0"/>
              <a:t>b. ¼ </a:t>
            </a:r>
            <a:endParaRPr lang="en-US" sz="3200" dirty="0"/>
          </a:p>
        </p:txBody>
      </p:sp>
      <p:sp>
        <p:nvSpPr>
          <p:cNvPr id="8" name="Rectangle 7"/>
          <p:cNvSpPr/>
          <p:nvPr/>
        </p:nvSpPr>
        <p:spPr>
          <a:xfrm>
            <a:off x="4499488" y="1447800"/>
            <a:ext cx="1063112" cy="584775"/>
          </a:xfrm>
          <a:prstGeom prst="rect">
            <a:avLst/>
          </a:prstGeom>
        </p:spPr>
        <p:txBody>
          <a:bodyPr wrap="none">
            <a:spAutoFit/>
          </a:bodyPr>
          <a:lstStyle/>
          <a:p>
            <a:r>
              <a:rPr lang="en-US" sz="3200" dirty="0" smtClean="0"/>
              <a:t>c. 1/3</a:t>
            </a:r>
            <a:endParaRPr lang="en-US" sz="3200" dirty="0"/>
          </a:p>
        </p:txBody>
      </p:sp>
      <p:sp>
        <p:nvSpPr>
          <p:cNvPr id="9" name="Rectangle 8"/>
          <p:cNvSpPr/>
          <p:nvPr/>
        </p:nvSpPr>
        <p:spPr>
          <a:xfrm>
            <a:off x="4485862" y="2209800"/>
            <a:ext cx="1066318" cy="584775"/>
          </a:xfrm>
          <a:prstGeom prst="rect">
            <a:avLst/>
          </a:prstGeom>
        </p:spPr>
        <p:txBody>
          <a:bodyPr wrap="none">
            <a:spAutoFit/>
          </a:bodyPr>
          <a:lstStyle/>
          <a:p>
            <a:r>
              <a:rPr lang="en-US" sz="3200" dirty="0" smtClean="0"/>
              <a:t>d. ½ </a:t>
            </a:r>
          </a:p>
        </p:txBody>
      </p:sp>
      <p:sp>
        <p:nvSpPr>
          <p:cNvPr id="10" name="Rectangle 9"/>
          <p:cNvSpPr/>
          <p:nvPr/>
        </p:nvSpPr>
        <p:spPr>
          <a:xfrm>
            <a:off x="762000" y="2981504"/>
            <a:ext cx="6781800" cy="3724096"/>
          </a:xfrm>
          <a:prstGeom prst="rect">
            <a:avLst/>
          </a:prstGeom>
        </p:spPr>
        <p:txBody>
          <a:bodyPr wrap="square">
            <a:spAutoFit/>
          </a:bodyPr>
          <a:lstStyle/>
          <a:p>
            <a:r>
              <a:rPr lang="en-US" sz="2400" b="1" dirty="0" smtClean="0"/>
              <a:t>Solution:</a:t>
            </a:r>
          </a:p>
          <a:p>
            <a:r>
              <a:rPr lang="en-US" sz="2400" b="1" dirty="0" smtClean="0"/>
              <a:t>	Let S = sample space</a:t>
            </a:r>
          </a:p>
          <a:p>
            <a:r>
              <a:rPr lang="en-US" sz="2400" b="1" dirty="0" smtClean="0"/>
              <a:t>	       E = event of multiples of 3</a:t>
            </a:r>
          </a:p>
          <a:p>
            <a:r>
              <a:rPr lang="en-US" sz="2400" b="1" dirty="0" smtClean="0"/>
              <a:t>	n(S) = cardinality of the sample space</a:t>
            </a:r>
          </a:p>
          <a:p>
            <a:r>
              <a:rPr lang="en-US" sz="2400" b="1" dirty="0" smtClean="0"/>
              <a:t>	n(E) = cardinality of the event</a:t>
            </a:r>
          </a:p>
          <a:p>
            <a:r>
              <a:rPr lang="en-US" sz="2400" b="1" dirty="0" smtClean="0"/>
              <a:t>	      S = { 1, 2, 3, 4, 5, 6}		E = {3,6}</a:t>
            </a:r>
          </a:p>
          <a:p>
            <a:r>
              <a:rPr lang="en-US" sz="2400" b="1" dirty="0" smtClean="0"/>
              <a:t>	P(E) = n(E)/ n(S)</a:t>
            </a:r>
          </a:p>
          <a:p>
            <a:r>
              <a:rPr lang="en-US" sz="2400" b="1" dirty="0" smtClean="0"/>
              <a:t>	         = 2/6 </a:t>
            </a:r>
          </a:p>
          <a:p>
            <a:r>
              <a:rPr lang="en-US" sz="4400" b="1" dirty="0" smtClean="0"/>
              <a:t>	    = 1/3 </a:t>
            </a:r>
          </a:p>
        </p:txBody>
      </p:sp>
      <p:sp>
        <p:nvSpPr>
          <p:cNvPr id="11" name="Rounded Rectangle 10"/>
          <p:cNvSpPr/>
          <p:nvPr/>
        </p:nvSpPr>
        <p:spPr>
          <a:xfrm>
            <a:off x="685800" y="2829104"/>
            <a:ext cx="6781800" cy="38100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483100" y="1498600"/>
            <a:ext cx="11430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fade">
                                      <p:cBhvr>
                                        <p:cTn id="27" dur="1000"/>
                                        <p:tgtEl>
                                          <p:spTgt spid="10">
                                            <p:txEl>
                                              <p:pRg st="0" end="0"/>
                                            </p:txEl>
                                          </p:spTgt>
                                        </p:tgtEl>
                                      </p:cBhvr>
                                    </p:animEffect>
                                    <p:anim calcmode="lin" valueType="num">
                                      <p:cBhvr>
                                        <p:cTn id="2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900" decel="100000" fill="hold"/>
                                        <p:tgtEl>
                                          <p:spTgt spid="1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 calcmode="lin" valueType="num">
                                      <p:cBhvr>
                                        <p:cTn id="41" dur="10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10">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0">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0">
                                            <p:txEl>
                                              <p:pRg st="2" end="2"/>
                                            </p:txEl>
                                          </p:spTgt>
                                        </p:tgtEl>
                                        <p:attrNameLst>
                                          <p:attrName>style.visibility</p:attrName>
                                        </p:attrNameLst>
                                      </p:cBhvr>
                                      <p:to>
                                        <p:strVal val="visible"/>
                                      </p:to>
                                    </p:set>
                                    <p:anim calcmode="lin" valueType="num">
                                      <p:cBhvr>
                                        <p:cTn id="48" dur="1000" fill="hold"/>
                                        <p:tgtEl>
                                          <p:spTgt spid="10">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10">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0">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0">
                                            <p:txEl>
                                              <p:pRg st="3" end="3"/>
                                            </p:txEl>
                                          </p:spTgt>
                                        </p:tgtEl>
                                        <p:attrNameLst>
                                          <p:attrName>style.visibility</p:attrName>
                                        </p:attrNameLst>
                                      </p:cBhvr>
                                      <p:to>
                                        <p:strVal val="visible"/>
                                      </p:to>
                                    </p:set>
                                    <p:anim calcmode="lin" valueType="num">
                                      <p:cBhvr>
                                        <p:cTn id="55" dur="1000" fill="hold"/>
                                        <p:tgtEl>
                                          <p:spTgt spid="10">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10">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0">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10">
                                            <p:txEl>
                                              <p:pRg st="4" end="4"/>
                                            </p:txEl>
                                          </p:spTgt>
                                        </p:tgtEl>
                                        <p:attrNameLst>
                                          <p:attrName>style.visibility</p:attrName>
                                        </p:attrNameLst>
                                      </p:cBhvr>
                                      <p:to>
                                        <p:strVal val="visible"/>
                                      </p:to>
                                    </p:set>
                                    <p:anim calcmode="lin" valueType="num">
                                      <p:cBhvr>
                                        <p:cTn id="62" dur="1000" fill="hold"/>
                                        <p:tgtEl>
                                          <p:spTgt spid="10">
                                            <p:txEl>
                                              <p:pRg st="4" end="4"/>
                                            </p:txEl>
                                          </p:spTgt>
                                        </p:tgtEl>
                                        <p:attrNameLst>
                                          <p:attrName>ppt_x</p:attrName>
                                        </p:attrNameLst>
                                      </p:cBhvr>
                                      <p:tavLst>
                                        <p:tav tm="0">
                                          <p:val>
                                            <p:strVal val="#ppt_x-.2"/>
                                          </p:val>
                                        </p:tav>
                                        <p:tav tm="100000">
                                          <p:val>
                                            <p:strVal val="#ppt_x"/>
                                          </p:val>
                                        </p:tav>
                                      </p:tavLst>
                                    </p:anim>
                                    <p:anim calcmode="lin" valueType="num">
                                      <p:cBhvr>
                                        <p:cTn id="63" dur="1000" fill="hold"/>
                                        <p:tgtEl>
                                          <p:spTgt spid="10">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10">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10">
                                            <p:txEl>
                                              <p:pRg st="5" end="5"/>
                                            </p:txEl>
                                          </p:spTgt>
                                        </p:tgtEl>
                                        <p:attrNameLst>
                                          <p:attrName>style.visibility</p:attrName>
                                        </p:attrNameLst>
                                      </p:cBhvr>
                                      <p:to>
                                        <p:strVal val="visible"/>
                                      </p:to>
                                    </p:set>
                                    <p:anim calcmode="lin" valueType="num">
                                      <p:cBhvr>
                                        <p:cTn id="69" dur="1000" fill="hold"/>
                                        <p:tgtEl>
                                          <p:spTgt spid="10">
                                            <p:txEl>
                                              <p:pRg st="5" end="5"/>
                                            </p:txEl>
                                          </p:spTgt>
                                        </p:tgtEl>
                                        <p:attrNameLst>
                                          <p:attrName>ppt_x</p:attrName>
                                        </p:attrNameLst>
                                      </p:cBhvr>
                                      <p:tavLst>
                                        <p:tav tm="0">
                                          <p:val>
                                            <p:strVal val="#ppt_x-.2"/>
                                          </p:val>
                                        </p:tav>
                                        <p:tav tm="100000">
                                          <p:val>
                                            <p:strVal val="#ppt_x"/>
                                          </p:val>
                                        </p:tav>
                                      </p:tavLst>
                                    </p:anim>
                                    <p:anim calcmode="lin" valueType="num">
                                      <p:cBhvr>
                                        <p:cTn id="70" dur="1000" fill="hold"/>
                                        <p:tgtEl>
                                          <p:spTgt spid="10">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1" dur="1000"/>
                                        <p:tgtEl>
                                          <p:spTgt spid="10">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9" presetClass="entr" presetSubtype="0" fill="hold" nodeType="clickEffect">
                                  <p:stCondLst>
                                    <p:cond delay="0"/>
                                  </p:stCondLst>
                                  <p:childTnLst>
                                    <p:set>
                                      <p:cBhvr>
                                        <p:cTn id="75" dur="1" fill="hold">
                                          <p:stCondLst>
                                            <p:cond delay="0"/>
                                          </p:stCondLst>
                                        </p:cTn>
                                        <p:tgtEl>
                                          <p:spTgt spid="10">
                                            <p:txEl>
                                              <p:pRg st="6" end="6"/>
                                            </p:txEl>
                                          </p:spTgt>
                                        </p:tgtEl>
                                        <p:attrNameLst>
                                          <p:attrName>style.visibility</p:attrName>
                                        </p:attrNameLst>
                                      </p:cBhvr>
                                      <p:to>
                                        <p:strVal val="visible"/>
                                      </p:to>
                                    </p:set>
                                    <p:anim calcmode="lin" valueType="num">
                                      <p:cBhvr>
                                        <p:cTn id="76" dur="1000" fill="hold"/>
                                        <p:tgtEl>
                                          <p:spTgt spid="10">
                                            <p:txEl>
                                              <p:pRg st="6" end="6"/>
                                            </p:txEl>
                                          </p:spTgt>
                                        </p:tgtEl>
                                        <p:attrNameLst>
                                          <p:attrName>ppt_x</p:attrName>
                                        </p:attrNameLst>
                                      </p:cBhvr>
                                      <p:tavLst>
                                        <p:tav tm="0">
                                          <p:val>
                                            <p:strVal val="#ppt_x-.2"/>
                                          </p:val>
                                        </p:tav>
                                        <p:tav tm="100000">
                                          <p:val>
                                            <p:strVal val="#ppt_x"/>
                                          </p:val>
                                        </p:tav>
                                      </p:tavLst>
                                    </p:anim>
                                    <p:anim calcmode="lin" valueType="num">
                                      <p:cBhvr>
                                        <p:cTn id="77" dur="1000" fill="hold"/>
                                        <p:tgtEl>
                                          <p:spTgt spid="10">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8" dur="1000"/>
                                        <p:tgtEl>
                                          <p:spTgt spid="10">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10">
                                            <p:txEl>
                                              <p:pRg st="7" end="7"/>
                                            </p:txEl>
                                          </p:spTgt>
                                        </p:tgtEl>
                                        <p:attrNameLst>
                                          <p:attrName>style.visibility</p:attrName>
                                        </p:attrNameLst>
                                      </p:cBhvr>
                                      <p:to>
                                        <p:strVal val="visible"/>
                                      </p:to>
                                    </p:set>
                                    <p:anim calcmode="lin" valueType="num">
                                      <p:cBhvr>
                                        <p:cTn id="83" dur="1000" fill="hold"/>
                                        <p:tgtEl>
                                          <p:spTgt spid="10">
                                            <p:txEl>
                                              <p:pRg st="7" end="7"/>
                                            </p:txEl>
                                          </p:spTgt>
                                        </p:tgtEl>
                                        <p:attrNameLst>
                                          <p:attrName>ppt_x</p:attrName>
                                        </p:attrNameLst>
                                      </p:cBhvr>
                                      <p:tavLst>
                                        <p:tav tm="0">
                                          <p:val>
                                            <p:strVal val="#ppt_x-.2"/>
                                          </p:val>
                                        </p:tav>
                                        <p:tav tm="100000">
                                          <p:val>
                                            <p:strVal val="#ppt_x"/>
                                          </p:val>
                                        </p:tav>
                                      </p:tavLst>
                                    </p:anim>
                                    <p:anim calcmode="lin" valueType="num">
                                      <p:cBhvr>
                                        <p:cTn id="84" dur="1000" fill="hold"/>
                                        <p:tgtEl>
                                          <p:spTgt spid="10">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85" dur="1000"/>
                                        <p:tgtEl>
                                          <p:spTgt spid="10">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9" presetClass="entr" presetSubtype="0" fill="hold" nodeType="clickEffect">
                                  <p:stCondLst>
                                    <p:cond delay="0"/>
                                  </p:stCondLst>
                                  <p:childTnLst>
                                    <p:set>
                                      <p:cBhvr>
                                        <p:cTn id="89" dur="1" fill="hold">
                                          <p:stCondLst>
                                            <p:cond delay="0"/>
                                          </p:stCondLst>
                                        </p:cTn>
                                        <p:tgtEl>
                                          <p:spTgt spid="10">
                                            <p:txEl>
                                              <p:pRg st="8" end="8"/>
                                            </p:txEl>
                                          </p:spTgt>
                                        </p:tgtEl>
                                        <p:attrNameLst>
                                          <p:attrName>style.visibility</p:attrName>
                                        </p:attrNameLst>
                                      </p:cBhvr>
                                      <p:to>
                                        <p:strVal val="visible"/>
                                      </p:to>
                                    </p:set>
                                    <p:anim calcmode="lin" valueType="num">
                                      <p:cBhvr>
                                        <p:cTn id="90" dur="1000" fill="hold"/>
                                        <p:tgtEl>
                                          <p:spTgt spid="10">
                                            <p:txEl>
                                              <p:pRg st="8" end="8"/>
                                            </p:txEl>
                                          </p:spTgt>
                                        </p:tgtEl>
                                        <p:attrNameLst>
                                          <p:attrName>ppt_x</p:attrName>
                                        </p:attrNameLst>
                                      </p:cBhvr>
                                      <p:tavLst>
                                        <p:tav tm="0">
                                          <p:val>
                                            <p:strVal val="#ppt_x-.2"/>
                                          </p:val>
                                        </p:tav>
                                        <p:tav tm="100000">
                                          <p:val>
                                            <p:strVal val="#ppt_x"/>
                                          </p:val>
                                        </p:tav>
                                      </p:tavLst>
                                    </p:anim>
                                    <p:anim calcmode="lin" valueType="num">
                                      <p:cBhvr>
                                        <p:cTn id="91" dur="1000" fill="hold"/>
                                        <p:tgtEl>
                                          <p:spTgt spid="10">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92" dur="1000"/>
                                        <p:tgtEl>
                                          <p:spTgt spid="10">
                                            <p:txEl>
                                              <p:pRg st="8" end="8"/>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0" presetClass="entr" presetSubtype="0" fill="hold" grpId="0" nodeType="clickEffect">
                                  <p:stCondLst>
                                    <p:cond delay="0"/>
                                  </p:stCondLst>
                                  <p:childTnLst>
                                    <p:set>
                                      <p:cBhvr>
                                        <p:cTn id="96" dur="1" fill="hold">
                                          <p:stCondLst>
                                            <p:cond delay="0"/>
                                          </p:stCondLst>
                                        </p:cTn>
                                        <p:tgtEl>
                                          <p:spTgt spid="12"/>
                                        </p:tgtEl>
                                        <p:attrNameLst>
                                          <p:attrName>style.visibility</p:attrName>
                                        </p:attrNameLst>
                                      </p:cBhvr>
                                      <p:to>
                                        <p:strVal val="visible"/>
                                      </p:to>
                                    </p:set>
                                    <p:animEffect transition="in" filter="wedge">
                                      <p:cBhvr>
                                        <p:cTn id="9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animBg="1"/>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228600" y="76200"/>
            <a:ext cx="8839200" cy="2062103"/>
          </a:xfrm>
          <a:prstGeom prst="rect">
            <a:avLst/>
          </a:prstGeom>
        </p:spPr>
        <p:txBody>
          <a:bodyPr wrap="square">
            <a:spAutoFit/>
          </a:bodyPr>
          <a:lstStyle/>
          <a:p>
            <a:r>
              <a:rPr lang="en-US" sz="3200" dirty="0" smtClean="0"/>
              <a:t>16. In a candy jar, there are 15 lemons, 12 </a:t>
            </a:r>
          </a:p>
          <a:p>
            <a:r>
              <a:rPr lang="en-US" sz="3200" dirty="0" smtClean="0"/>
              <a:t>      chocolates and 3 mints. If a candy is </a:t>
            </a:r>
          </a:p>
          <a:p>
            <a:r>
              <a:rPr lang="en-US" sz="3200" dirty="0" smtClean="0"/>
              <a:t>      picked at random, what is the probability</a:t>
            </a:r>
          </a:p>
          <a:p>
            <a:r>
              <a:rPr lang="en-US" sz="3200" dirty="0" smtClean="0"/>
              <a:t>      of getting a mint?</a:t>
            </a:r>
          </a:p>
        </p:txBody>
      </p:sp>
      <p:sp>
        <p:nvSpPr>
          <p:cNvPr id="6" name="Rectangle 5"/>
          <p:cNvSpPr/>
          <p:nvPr/>
        </p:nvSpPr>
        <p:spPr>
          <a:xfrm>
            <a:off x="1600200" y="2184975"/>
            <a:ext cx="1031051" cy="584775"/>
          </a:xfrm>
          <a:prstGeom prst="rect">
            <a:avLst/>
          </a:prstGeom>
        </p:spPr>
        <p:txBody>
          <a:bodyPr wrap="none">
            <a:spAutoFit/>
          </a:bodyPr>
          <a:lstStyle/>
          <a:p>
            <a:r>
              <a:rPr lang="en-US" sz="3200" dirty="0" smtClean="0"/>
              <a:t>a. ½ </a:t>
            </a:r>
            <a:endParaRPr lang="en-US" sz="3200" dirty="0"/>
          </a:p>
        </p:txBody>
      </p:sp>
      <p:sp>
        <p:nvSpPr>
          <p:cNvPr id="7" name="Rectangle 6"/>
          <p:cNvSpPr/>
          <p:nvPr/>
        </p:nvSpPr>
        <p:spPr>
          <a:xfrm>
            <a:off x="1551573" y="2870775"/>
            <a:ext cx="1191736" cy="584775"/>
          </a:xfrm>
          <a:prstGeom prst="rect">
            <a:avLst/>
          </a:prstGeom>
        </p:spPr>
        <p:txBody>
          <a:bodyPr wrap="none">
            <a:spAutoFit/>
          </a:bodyPr>
          <a:lstStyle/>
          <a:p>
            <a:r>
              <a:rPr lang="en-US" sz="3200" dirty="0" smtClean="0"/>
              <a:t>b. 1/3 </a:t>
            </a:r>
            <a:endParaRPr lang="en-US" sz="3200" dirty="0"/>
          </a:p>
        </p:txBody>
      </p:sp>
      <p:sp>
        <p:nvSpPr>
          <p:cNvPr id="8" name="Rectangle 7"/>
          <p:cNvSpPr/>
          <p:nvPr/>
        </p:nvSpPr>
        <p:spPr>
          <a:xfrm>
            <a:off x="4648200" y="2133600"/>
            <a:ext cx="1098378" cy="584775"/>
          </a:xfrm>
          <a:prstGeom prst="rect">
            <a:avLst/>
          </a:prstGeom>
        </p:spPr>
        <p:txBody>
          <a:bodyPr wrap="none">
            <a:spAutoFit/>
          </a:bodyPr>
          <a:lstStyle/>
          <a:p>
            <a:r>
              <a:rPr lang="en-US" sz="3200" dirty="0" smtClean="0"/>
              <a:t>c. 1/6</a:t>
            </a:r>
            <a:endParaRPr lang="en-US" sz="3200" dirty="0"/>
          </a:p>
        </p:txBody>
      </p:sp>
      <p:sp>
        <p:nvSpPr>
          <p:cNvPr id="9" name="Rectangle 8"/>
          <p:cNvSpPr/>
          <p:nvPr/>
        </p:nvSpPr>
        <p:spPr>
          <a:xfrm>
            <a:off x="4634574" y="2895600"/>
            <a:ext cx="1370888" cy="584775"/>
          </a:xfrm>
          <a:prstGeom prst="rect">
            <a:avLst/>
          </a:prstGeom>
        </p:spPr>
        <p:txBody>
          <a:bodyPr wrap="none">
            <a:spAutoFit/>
          </a:bodyPr>
          <a:lstStyle/>
          <a:p>
            <a:r>
              <a:rPr lang="en-US" sz="3200" dirty="0" smtClean="0"/>
              <a:t>d. 1/10 </a:t>
            </a:r>
          </a:p>
        </p:txBody>
      </p:sp>
      <p:sp>
        <p:nvSpPr>
          <p:cNvPr id="10" name="Rectangle 9"/>
          <p:cNvSpPr/>
          <p:nvPr/>
        </p:nvSpPr>
        <p:spPr>
          <a:xfrm>
            <a:off x="1143000" y="3503235"/>
            <a:ext cx="6858000" cy="3354765"/>
          </a:xfrm>
          <a:prstGeom prst="rect">
            <a:avLst/>
          </a:prstGeom>
        </p:spPr>
        <p:txBody>
          <a:bodyPr wrap="square">
            <a:spAutoFit/>
          </a:bodyPr>
          <a:lstStyle/>
          <a:p>
            <a:r>
              <a:rPr lang="en-US" sz="2400" b="1" dirty="0" smtClean="0"/>
              <a:t>Solution:</a:t>
            </a:r>
          </a:p>
          <a:p>
            <a:r>
              <a:rPr lang="en-US" sz="2400" b="1" dirty="0" smtClean="0"/>
              <a:t>	Let n(S) = cardinality of the sample space</a:t>
            </a:r>
          </a:p>
          <a:p>
            <a:r>
              <a:rPr lang="en-US" sz="2400" b="1" dirty="0" smtClean="0"/>
              <a:t>	       n(E) = cardinality of the mint</a:t>
            </a:r>
          </a:p>
          <a:p>
            <a:r>
              <a:rPr lang="en-US" sz="2400" b="1" dirty="0" smtClean="0"/>
              <a:t>	       n(S) = 15 + 12 + 3			n(E) = 3</a:t>
            </a:r>
          </a:p>
          <a:p>
            <a:r>
              <a:rPr lang="en-US" sz="2400" b="1" dirty="0" smtClean="0"/>
              <a:t>                             = 30</a:t>
            </a:r>
          </a:p>
          <a:p>
            <a:r>
              <a:rPr lang="en-US" sz="2400" b="1" dirty="0" smtClean="0"/>
              <a:t>	P(E) = n(E)/ n(S)</a:t>
            </a:r>
          </a:p>
          <a:p>
            <a:r>
              <a:rPr lang="en-US" sz="2400" b="1" dirty="0" smtClean="0"/>
              <a:t>	         = 3/30 </a:t>
            </a:r>
          </a:p>
          <a:p>
            <a:r>
              <a:rPr lang="en-US" sz="4400" b="1" dirty="0" smtClean="0"/>
              <a:t>	    = 1/10 </a:t>
            </a:r>
          </a:p>
        </p:txBody>
      </p:sp>
      <p:sp>
        <p:nvSpPr>
          <p:cNvPr id="11" name="Rounded Rectangle 10"/>
          <p:cNvSpPr/>
          <p:nvPr/>
        </p:nvSpPr>
        <p:spPr>
          <a:xfrm>
            <a:off x="876300" y="3477835"/>
            <a:ext cx="6934200" cy="3278565"/>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648200" y="2895600"/>
            <a:ext cx="12954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fade">
                                      <p:cBhvr>
                                        <p:cTn id="27" dur="1000"/>
                                        <p:tgtEl>
                                          <p:spTgt spid="10">
                                            <p:txEl>
                                              <p:pRg st="0" end="0"/>
                                            </p:txEl>
                                          </p:spTgt>
                                        </p:tgtEl>
                                      </p:cBhvr>
                                    </p:animEffect>
                                    <p:anim calcmode="lin" valueType="num">
                                      <p:cBhvr>
                                        <p:cTn id="2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900" decel="100000" fill="hold"/>
                                        <p:tgtEl>
                                          <p:spTgt spid="1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 calcmode="lin" valueType="num">
                                      <p:cBhvr>
                                        <p:cTn id="41" dur="10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10">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0">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0">
                                            <p:txEl>
                                              <p:pRg st="2" end="2"/>
                                            </p:txEl>
                                          </p:spTgt>
                                        </p:tgtEl>
                                        <p:attrNameLst>
                                          <p:attrName>style.visibility</p:attrName>
                                        </p:attrNameLst>
                                      </p:cBhvr>
                                      <p:to>
                                        <p:strVal val="visible"/>
                                      </p:to>
                                    </p:set>
                                    <p:anim calcmode="lin" valueType="num">
                                      <p:cBhvr>
                                        <p:cTn id="48" dur="1000" fill="hold"/>
                                        <p:tgtEl>
                                          <p:spTgt spid="10">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10">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0">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0">
                                            <p:txEl>
                                              <p:pRg st="3" end="3"/>
                                            </p:txEl>
                                          </p:spTgt>
                                        </p:tgtEl>
                                        <p:attrNameLst>
                                          <p:attrName>style.visibility</p:attrName>
                                        </p:attrNameLst>
                                      </p:cBhvr>
                                      <p:to>
                                        <p:strVal val="visible"/>
                                      </p:to>
                                    </p:set>
                                    <p:anim calcmode="lin" valueType="num">
                                      <p:cBhvr>
                                        <p:cTn id="55" dur="1000" fill="hold"/>
                                        <p:tgtEl>
                                          <p:spTgt spid="10">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10">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0">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9" presetClass="entr" presetSubtype="0" fill="hold" nodeType="clickEffect">
                                  <p:stCondLst>
                                    <p:cond delay="0"/>
                                  </p:stCondLst>
                                  <p:childTnLst>
                                    <p:set>
                                      <p:cBhvr>
                                        <p:cTn id="61" dur="1" fill="hold">
                                          <p:stCondLst>
                                            <p:cond delay="0"/>
                                          </p:stCondLst>
                                        </p:cTn>
                                        <p:tgtEl>
                                          <p:spTgt spid="10">
                                            <p:txEl>
                                              <p:pRg st="4" end="4"/>
                                            </p:txEl>
                                          </p:spTgt>
                                        </p:tgtEl>
                                        <p:attrNameLst>
                                          <p:attrName>style.visibility</p:attrName>
                                        </p:attrNameLst>
                                      </p:cBhvr>
                                      <p:to>
                                        <p:strVal val="visible"/>
                                      </p:to>
                                    </p:set>
                                    <p:anim calcmode="lin" valueType="num">
                                      <p:cBhvr>
                                        <p:cTn id="62" dur="1000" fill="hold"/>
                                        <p:tgtEl>
                                          <p:spTgt spid="10">
                                            <p:txEl>
                                              <p:pRg st="4" end="4"/>
                                            </p:txEl>
                                          </p:spTgt>
                                        </p:tgtEl>
                                        <p:attrNameLst>
                                          <p:attrName>ppt_x</p:attrName>
                                        </p:attrNameLst>
                                      </p:cBhvr>
                                      <p:tavLst>
                                        <p:tav tm="0">
                                          <p:val>
                                            <p:strVal val="#ppt_x-.2"/>
                                          </p:val>
                                        </p:tav>
                                        <p:tav tm="100000">
                                          <p:val>
                                            <p:strVal val="#ppt_x"/>
                                          </p:val>
                                        </p:tav>
                                      </p:tavLst>
                                    </p:anim>
                                    <p:anim calcmode="lin" valueType="num">
                                      <p:cBhvr>
                                        <p:cTn id="63" dur="1000" fill="hold"/>
                                        <p:tgtEl>
                                          <p:spTgt spid="10">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10">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9" presetClass="entr" presetSubtype="0" fill="hold" nodeType="clickEffect">
                                  <p:stCondLst>
                                    <p:cond delay="0"/>
                                  </p:stCondLst>
                                  <p:childTnLst>
                                    <p:set>
                                      <p:cBhvr>
                                        <p:cTn id="68" dur="1" fill="hold">
                                          <p:stCondLst>
                                            <p:cond delay="0"/>
                                          </p:stCondLst>
                                        </p:cTn>
                                        <p:tgtEl>
                                          <p:spTgt spid="10">
                                            <p:txEl>
                                              <p:pRg st="5" end="5"/>
                                            </p:txEl>
                                          </p:spTgt>
                                        </p:tgtEl>
                                        <p:attrNameLst>
                                          <p:attrName>style.visibility</p:attrName>
                                        </p:attrNameLst>
                                      </p:cBhvr>
                                      <p:to>
                                        <p:strVal val="visible"/>
                                      </p:to>
                                    </p:set>
                                    <p:anim calcmode="lin" valueType="num">
                                      <p:cBhvr>
                                        <p:cTn id="69" dur="1000" fill="hold"/>
                                        <p:tgtEl>
                                          <p:spTgt spid="10">
                                            <p:txEl>
                                              <p:pRg st="5" end="5"/>
                                            </p:txEl>
                                          </p:spTgt>
                                        </p:tgtEl>
                                        <p:attrNameLst>
                                          <p:attrName>ppt_x</p:attrName>
                                        </p:attrNameLst>
                                      </p:cBhvr>
                                      <p:tavLst>
                                        <p:tav tm="0">
                                          <p:val>
                                            <p:strVal val="#ppt_x-.2"/>
                                          </p:val>
                                        </p:tav>
                                        <p:tav tm="100000">
                                          <p:val>
                                            <p:strVal val="#ppt_x"/>
                                          </p:val>
                                        </p:tav>
                                      </p:tavLst>
                                    </p:anim>
                                    <p:anim calcmode="lin" valueType="num">
                                      <p:cBhvr>
                                        <p:cTn id="70" dur="1000" fill="hold"/>
                                        <p:tgtEl>
                                          <p:spTgt spid="10">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71" dur="1000"/>
                                        <p:tgtEl>
                                          <p:spTgt spid="10">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9" presetClass="entr" presetSubtype="0" fill="hold" nodeType="clickEffect">
                                  <p:stCondLst>
                                    <p:cond delay="0"/>
                                  </p:stCondLst>
                                  <p:childTnLst>
                                    <p:set>
                                      <p:cBhvr>
                                        <p:cTn id="75" dur="1" fill="hold">
                                          <p:stCondLst>
                                            <p:cond delay="0"/>
                                          </p:stCondLst>
                                        </p:cTn>
                                        <p:tgtEl>
                                          <p:spTgt spid="10">
                                            <p:txEl>
                                              <p:pRg st="6" end="6"/>
                                            </p:txEl>
                                          </p:spTgt>
                                        </p:tgtEl>
                                        <p:attrNameLst>
                                          <p:attrName>style.visibility</p:attrName>
                                        </p:attrNameLst>
                                      </p:cBhvr>
                                      <p:to>
                                        <p:strVal val="visible"/>
                                      </p:to>
                                    </p:set>
                                    <p:anim calcmode="lin" valueType="num">
                                      <p:cBhvr>
                                        <p:cTn id="76" dur="1000" fill="hold"/>
                                        <p:tgtEl>
                                          <p:spTgt spid="10">
                                            <p:txEl>
                                              <p:pRg st="6" end="6"/>
                                            </p:txEl>
                                          </p:spTgt>
                                        </p:tgtEl>
                                        <p:attrNameLst>
                                          <p:attrName>ppt_x</p:attrName>
                                        </p:attrNameLst>
                                      </p:cBhvr>
                                      <p:tavLst>
                                        <p:tav tm="0">
                                          <p:val>
                                            <p:strVal val="#ppt_x-.2"/>
                                          </p:val>
                                        </p:tav>
                                        <p:tav tm="100000">
                                          <p:val>
                                            <p:strVal val="#ppt_x"/>
                                          </p:val>
                                        </p:tav>
                                      </p:tavLst>
                                    </p:anim>
                                    <p:anim calcmode="lin" valueType="num">
                                      <p:cBhvr>
                                        <p:cTn id="77" dur="1000" fill="hold"/>
                                        <p:tgtEl>
                                          <p:spTgt spid="10">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8" dur="1000"/>
                                        <p:tgtEl>
                                          <p:spTgt spid="10">
                                            <p:txEl>
                                              <p:pRg st="6" end="6"/>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10">
                                            <p:txEl>
                                              <p:pRg st="7" end="7"/>
                                            </p:txEl>
                                          </p:spTgt>
                                        </p:tgtEl>
                                        <p:attrNameLst>
                                          <p:attrName>style.visibility</p:attrName>
                                        </p:attrNameLst>
                                      </p:cBhvr>
                                      <p:to>
                                        <p:strVal val="visible"/>
                                      </p:to>
                                    </p:set>
                                    <p:anim calcmode="lin" valueType="num">
                                      <p:cBhvr>
                                        <p:cTn id="83" dur="1000" fill="hold"/>
                                        <p:tgtEl>
                                          <p:spTgt spid="10">
                                            <p:txEl>
                                              <p:pRg st="7" end="7"/>
                                            </p:txEl>
                                          </p:spTgt>
                                        </p:tgtEl>
                                        <p:attrNameLst>
                                          <p:attrName>ppt_x</p:attrName>
                                        </p:attrNameLst>
                                      </p:cBhvr>
                                      <p:tavLst>
                                        <p:tav tm="0">
                                          <p:val>
                                            <p:strVal val="#ppt_x-.2"/>
                                          </p:val>
                                        </p:tav>
                                        <p:tav tm="100000">
                                          <p:val>
                                            <p:strVal val="#ppt_x"/>
                                          </p:val>
                                        </p:tav>
                                      </p:tavLst>
                                    </p:anim>
                                    <p:anim calcmode="lin" valueType="num">
                                      <p:cBhvr>
                                        <p:cTn id="84" dur="1000" fill="hold"/>
                                        <p:tgtEl>
                                          <p:spTgt spid="10">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85" dur="1000"/>
                                        <p:tgtEl>
                                          <p:spTgt spid="10">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0" presetClass="entr" presetSubtype="0"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wedge">
                                      <p:cBhvr>
                                        <p:cTn id="9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animBg="1"/>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81000" y="187035"/>
            <a:ext cx="8229600" cy="1946565"/>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noProof="0" dirty="0" smtClean="0"/>
              <a:t>17</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How</a:t>
            </a:r>
            <a:r>
              <a:rPr kumimoji="0" lang="en-US" sz="2400" b="0" i="0" u="none" strike="noStrike" kern="1200" cap="none" spc="0" normalizeH="0" noProof="0" dirty="0" smtClean="0">
                <a:ln>
                  <a:noFill/>
                </a:ln>
                <a:solidFill>
                  <a:schemeClr val="tx1"/>
                </a:solidFill>
                <a:effectLst/>
                <a:uLnTx/>
                <a:uFillTx/>
                <a:latin typeface="+mn-lt"/>
                <a:ea typeface="+mn-ea"/>
                <a:cs typeface="+mn-cs"/>
              </a:rPr>
              <a:t> many sets of answers are possible for a true or false test with 10 questions?</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a:t>
            </a:r>
            <a:r>
              <a:rPr lang="en-US" sz="2400" dirty="0" smtClean="0"/>
              <a:t>1024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a:t>
            </a:r>
            <a:r>
              <a:rPr lang="en-US" sz="2400" noProof="0" dirty="0" smtClean="0"/>
              <a:t>256</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512			d. 2</a:t>
            </a:r>
          </a:p>
        </p:txBody>
      </p:sp>
      <p:sp>
        <p:nvSpPr>
          <p:cNvPr id="6" name="Rectangle 5"/>
          <p:cNvSpPr/>
          <p:nvPr/>
        </p:nvSpPr>
        <p:spPr>
          <a:xfrm>
            <a:off x="1219200" y="2502795"/>
            <a:ext cx="6934200" cy="3231654"/>
          </a:xfrm>
          <a:prstGeom prst="rect">
            <a:avLst/>
          </a:prstGeom>
        </p:spPr>
        <p:txBody>
          <a:bodyPr wrap="square">
            <a:spAutoFit/>
          </a:bodyPr>
          <a:lstStyle/>
          <a:p>
            <a:r>
              <a:rPr lang="en-US" sz="2400" b="1" dirty="0" smtClean="0"/>
              <a:t>Solution:</a:t>
            </a:r>
          </a:p>
          <a:p>
            <a:r>
              <a:rPr lang="en-US" sz="2400" b="1" dirty="0" smtClean="0"/>
              <a:t>	Let x = total number of sets of answers</a:t>
            </a:r>
          </a:p>
          <a:p>
            <a:r>
              <a:rPr lang="en-US" sz="2400" b="1" dirty="0" smtClean="0"/>
              <a:t>	       a = no. of options</a:t>
            </a:r>
          </a:p>
          <a:p>
            <a:r>
              <a:rPr lang="en-US" sz="2400" b="1" dirty="0" smtClean="0"/>
              <a:t>	       b = no. of items</a:t>
            </a:r>
          </a:p>
          <a:p>
            <a:r>
              <a:rPr lang="en-US" b="1" dirty="0" smtClean="0"/>
              <a:t>	</a:t>
            </a:r>
            <a:r>
              <a:rPr lang="en-US" sz="3600" b="1" dirty="0" smtClean="0"/>
              <a:t>x = </a:t>
            </a:r>
            <a:r>
              <a:rPr lang="en-US" sz="3600" b="1" dirty="0" err="1" smtClean="0"/>
              <a:t>a</a:t>
            </a:r>
            <a:r>
              <a:rPr lang="en-US" sz="3600" b="1" baseline="30000" dirty="0" err="1" smtClean="0"/>
              <a:t>b</a:t>
            </a:r>
            <a:r>
              <a:rPr lang="en-US" sz="3600" b="1" dirty="0" smtClean="0"/>
              <a:t> </a:t>
            </a:r>
          </a:p>
          <a:p>
            <a:r>
              <a:rPr lang="en-US" sz="3600" b="1" dirty="0" smtClean="0"/>
              <a:t>	x = 2</a:t>
            </a:r>
            <a:r>
              <a:rPr lang="en-US" sz="3600" b="1" baseline="30000" dirty="0" smtClean="0"/>
              <a:t>10</a:t>
            </a:r>
            <a:r>
              <a:rPr lang="en-US" sz="3600" b="1" dirty="0" smtClean="0"/>
              <a:t> </a:t>
            </a:r>
          </a:p>
          <a:p>
            <a:r>
              <a:rPr lang="en-US" sz="3600" b="1" dirty="0" smtClean="0"/>
              <a:t>	x = 1024</a:t>
            </a:r>
          </a:p>
        </p:txBody>
      </p:sp>
      <p:sp>
        <p:nvSpPr>
          <p:cNvPr id="11" name="Rounded Rectangle 10"/>
          <p:cNvSpPr/>
          <p:nvPr/>
        </p:nvSpPr>
        <p:spPr>
          <a:xfrm>
            <a:off x="1053920" y="2362200"/>
            <a:ext cx="6333599" cy="35052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269642" y="1143000"/>
            <a:ext cx="1092558"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900" decel="100000" fill="hold"/>
                                        <p:tgtEl>
                                          <p:spTgt spid="1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 calcmode="lin" valueType="num">
                                      <p:cBhvr>
                                        <p:cTn id="42"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3"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6">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p:cTn id="49"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6">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 calcmode="lin" valueType="num">
                                      <p:cBhvr>
                                        <p:cTn id="56"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6">
                                            <p:txEl>
                                              <p:pRg st="5" end="5"/>
                                            </p:txEl>
                                          </p:spTgt>
                                        </p:tgtEl>
                                        <p:attrNameLst>
                                          <p:attrName>style.visibility</p:attrName>
                                        </p:attrNameLst>
                                      </p:cBhvr>
                                      <p:to>
                                        <p:strVal val="visible"/>
                                      </p:to>
                                    </p:set>
                                    <p:anim calcmode="lin" valueType="num">
                                      <p:cBhvr>
                                        <p:cTn id="63" dur="1000" fill="hold"/>
                                        <p:tgtEl>
                                          <p:spTgt spid="6">
                                            <p:txEl>
                                              <p:pRg st="5" end="5"/>
                                            </p:txEl>
                                          </p:spTgt>
                                        </p:tgtEl>
                                        <p:attrNameLst>
                                          <p:attrName>ppt_x</p:attrName>
                                        </p:attrNameLst>
                                      </p:cBhvr>
                                      <p:tavLst>
                                        <p:tav tm="0">
                                          <p:val>
                                            <p:strVal val="#ppt_x-.2"/>
                                          </p:val>
                                        </p:tav>
                                        <p:tav tm="100000">
                                          <p:val>
                                            <p:strVal val="#ppt_x"/>
                                          </p:val>
                                        </p:tav>
                                      </p:tavLst>
                                    </p:anim>
                                    <p:anim calcmode="lin" valueType="num">
                                      <p:cBhvr>
                                        <p:cTn id="64" dur="1000" fill="hold"/>
                                        <p:tgtEl>
                                          <p:spTgt spid="6">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6">
                                            <p:txEl>
                                              <p:pRg st="5" end="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6">
                                            <p:txEl>
                                              <p:pRg st="6" end="6"/>
                                            </p:txEl>
                                          </p:spTgt>
                                        </p:tgtEl>
                                        <p:attrNameLst>
                                          <p:attrName>style.visibility</p:attrName>
                                        </p:attrNameLst>
                                      </p:cBhvr>
                                      <p:to>
                                        <p:strVal val="visible"/>
                                      </p:to>
                                    </p:set>
                                    <p:anim calcmode="lin" valueType="num">
                                      <p:cBhvr>
                                        <p:cTn id="70" dur="1000" fill="hold"/>
                                        <p:tgtEl>
                                          <p:spTgt spid="6">
                                            <p:txEl>
                                              <p:pRg st="6" end="6"/>
                                            </p:txEl>
                                          </p:spTgt>
                                        </p:tgtEl>
                                        <p:attrNameLst>
                                          <p:attrName>ppt_x</p:attrName>
                                        </p:attrNameLst>
                                      </p:cBhvr>
                                      <p:tavLst>
                                        <p:tav tm="0">
                                          <p:val>
                                            <p:strVal val="#ppt_x-.2"/>
                                          </p:val>
                                        </p:tav>
                                        <p:tav tm="100000">
                                          <p:val>
                                            <p:strVal val="#ppt_x"/>
                                          </p:val>
                                        </p:tav>
                                      </p:tavLst>
                                    </p:anim>
                                    <p:anim calcmode="lin" valueType="num">
                                      <p:cBhvr>
                                        <p:cTn id="71" dur="1000" fill="hold"/>
                                        <p:tgtEl>
                                          <p:spTgt spid="6">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72" dur="1000"/>
                                        <p:tgtEl>
                                          <p:spTgt spid="6">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0" presetClass="entr" presetSubtype="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wedge">
                                      <p:cBhvr>
                                        <p:cTn id="7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304800"/>
            <a:ext cx="8001000" cy="2308324"/>
          </a:xfrm>
          <a:prstGeom prst="rect">
            <a:avLst/>
          </a:prstGeom>
        </p:spPr>
        <p:txBody>
          <a:bodyPr wrap="square">
            <a:spAutoFit/>
          </a:bodyPr>
          <a:lstStyle/>
          <a:p>
            <a:pPr lvl="0"/>
            <a:r>
              <a:rPr lang="en-US" sz="3600" dirty="0" smtClean="0"/>
              <a:t>18. The mean score of a set of 40 test </a:t>
            </a:r>
          </a:p>
          <a:p>
            <a:pPr lvl="0"/>
            <a:r>
              <a:rPr lang="en-US" sz="3600" dirty="0" smtClean="0"/>
              <a:t>       scores is 81. Find the sum of the</a:t>
            </a:r>
          </a:p>
          <a:p>
            <a:pPr lvl="0"/>
            <a:r>
              <a:rPr lang="en-US" sz="3600" dirty="0" smtClean="0"/>
              <a:t>       40 test scores.</a:t>
            </a:r>
          </a:p>
          <a:p>
            <a:pPr lvl="0"/>
            <a:endParaRPr lang="en-US" sz="3600" dirty="0"/>
          </a:p>
        </p:txBody>
      </p:sp>
      <p:sp>
        <p:nvSpPr>
          <p:cNvPr id="6" name="Rectangle 5"/>
          <p:cNvSpPr/>
          <p:nvPr/>
        </p:nvSpPr>
        <p:spPr>
          <a:xfrm>
            <a:off x="1496427" y="2286000"/>
            <a:ext cx="1603709" cy="584775"/>
          </a:xfrm>
          <a:prstGeom prst="rect">
            <a:avLst/>
          </a:prstGeom>
        </p:spPr>
        <p:txBody>
          <a:bodyPr wrap="none">
            <a:spAutoFit/>
          </a:bodyPr>
          <a:lstStyle/>
          <a:p>
            <a:r>
              <a:rPr lang="en-US" sz="3200" dirty="0" smtClean="0"/>
              <a:t>a. 2 250 </a:t>
            </a:r>
            <a:endParaRPr lang="en-US" sz="3200" dirty="0"/>
          </a:p>
        </p:txBody>
      </p:sp>
      <p:sp>
        <p:nvSpPr>
          <p:cNvPr id="7" name="Rectangle 6"/>
          <p:cNvSpPr/>
          <p:nvPr/>
        </p:nvSpPr>
        <p:spPr>
          <a:xfrm>
            <a:off x="1447800" y="2971800"/>
            <a:ext cx="1608325" cy="584775"/>
          </a:xfrm>
          <a:prstGeom prst="rect">
            <a:avLst/>
          </a:prstGeom>
        </p:spPr>
        <p:txBody>
          <a:bodyPr wrap="none">
            <a:spAutoFit/>
          </a:bodyPr>
          <a:lstStyle/>
          <a:p>
            <a:r>
              <a:rPr lang="en-US" sz="3200" dirty="0" smtClean="0"/>
              <a:t>b. 2 280</a:t>
            </a:r>
            <a:endParaRPr lang="en-US" sz="3200" dirty="0"/>
          </a:p>
        </p:txBody>
      </p:sp>
      <p:sp>
        <p:nvSpPr>
          <p:cNvPr id="8" name="Rectangle 7"/>
          <p:cNvSpPr/>
          <p:nvPr/>
        </p:nvSpPr>
        <p:spPr>
          <a:xfrm>
            <a:off x="4936996" y="2209800"/>
            <a:ext cx="1517147" cy="584775"/>
          </a:xfrm>
          <a:prstGeom prst="rect">
            <a:avLst/>
          </a:prstGeom>
        </p:spPr>
        <p:txBody>
          <a:bodyPr wrap="none">
            <a:spAutoFit/>
          </a:bodyPr>
          <a:lstStyle/>
          <a:p>
            <a:r>
              <a:rPr lang="en-US" sz="3200" dirty="0" smtClean="0"/>
              <a:t>c. 2 820</a:t>
            </a:r>
            <a:endParaRPr lang="en-US" sz="3200" dirty="0"/>
          </a:p>
        </p:txBody>
      </p:sp>
      <p:sp>
        <p:nvSpPr>
          <p:cNvPr id="9" name="Rectangle 8"/>
          <p:cNvSpPr/>
          <p:nvPr/>
        </p:nvSpPr>
        <p:spPr>
          <a:xfrm>
            <a:off x="4923370" y="2971800"/>
            <a:ext cx="1553630" cy="584775"/>
          </a:xfrm>
          <a:prstGeom prst="rect">
            <a:avLst/>
          </a:prstGeom>
        </p:spPr>
        <p:txBody>
          <a:bodyPr wrap="none">
            <a:spAutoFit/>
          </a:bodyPr>
          <a:lstStyle/>
          <a:p>
            <a:r>
              <a:rPr lang="en-US" sz="3200" dirty="0" smtClean="0"/>
              <a:t>d. 3 240</a:t>
            </a:r>
          </a:p>
        </p:txBody>
      </p:sp>
      <p:sp>
        <p:nvSpPr>
          <p:cNvPr id="10" name="Rectangle 9"/>
          <p:cNvSpPr/>
          <p:nvPr/>
        </p:nvSpPr>
        <p:spPr>
          <a:xfrm>
            <a:off x="838200" y="3657600"/>
            <a:ext cx="5467843" cy="954107"/>
          </a:xfrm>
          <a:prstGeom prst="rect">
            <a:avLst/>
          </a:prstGeom>
        </p:spPr>
        <p:txBody>
          <a:bodyPr wrap="none">
            <a:spAutoFit/>
          </a:bodyPr>
          <a:lstStyle/>
          <a:p>
            <a:r>
              <a:rPr lang="en-US" sz="2800" b="1" dirty="0" smtClean="0"/>
              <a:t>Solution:</a:t>
            </a:r>
          </a:p>
          <a:p>
            <a:r>
              <a:rPr lang="en-US" sz="2800" b="1" dirty="0" smtClean="0"/>
              <a:t>	Let </a:t>
            </a:r>
            <a:r>
              <a:rPr lang="el-GR" sz="2800" b="1" dirty="0" smtClean="0"/>
              <a:t>Σ</a:t>
            </a:r>
            <a:r>
              <a:rPr lang="en-US" sz="2800" b="1" dirty="0" smtClean="0"/>
              <a:t>X = sum of the scores</a:t>
            </a:r>
          </a:p>
        </p:txBody>
      </p:sp>
      <p:graphicFrame>
        <p:nvGraphicFramePr>
          <p:cNvPr id="11" name="Object 2"/>
          <p:cNvGraphicFramePr>
            <a:graphicFrameLocks noChangeAspect="1"/>
          </p:cNvGraphicFramePr>
          <p:nvPr/>
        </p:nvGraphicFramePr>
        <p:xfrm>
          <a:off x="2571750" y="4667250"/>
          <a:ext cx="1695450" cy="971550"/>
        </p:xfrm>
        <a:graphic>
          <a:graphicData uri="http://schemas.openxmlformats.org/presentationml/2006/ole">
            <p:oleObj spid="_x0000_s151553" name="Equation" r:id="rId6" imgW="799920" imgH="507960" progId="Equation.3">
              <p:embed/>
            </p:oleObj>
          </a:graphicData>
        </a:graphic>
      </p:graphicFrame>
      <p:graphicFrame>
        <p:nvGraphicFramePr>
          <p:cNvPr id="12" name="Object 3"/>
          <p:cNvGraphicFramePr>
            <a:graphicFrameLocks noChangeAspect="1"/>
          </p:cNvGraphicFramePr>
          <p:nvPr/>
        </p:nvGraphicFramePr>
        <p:xfrm>
          <a:off x="2533650" y="5657850"/>
          <a:ext cx="1695450" cy="971550"/>
        </p:xfrm>
        <a:graphic>
          <a:graphicData uri="http://schemas.openxmlformats.org/presentationml/2006/ole">
            <p:oleObj spid="_x0000_s151554" name="Equation" r:id="rId7" imgW="799920" imgH="507960" progId="Equation.3">
              <p:embed/>
            </p:oleObj>
          </a:graphicData>
        </a:graphic>
      </p:graphicFrame>
      <p:graphicFrame>
        <p:nvGraphicFramePr>
          <p:cNvPr id="13" name="Object 4"/>
          <p:cNvGraphicFramePr>
            <a:graphicFrameLocks noChangeAspect="1"/>
          </p:cNvGraphicFramePr>
          <p:nvPr/>
        </p:nvGraphicFramePr>
        <p:xfrm>
          <a:off x="4727575" y="5562601"/>
          <a:ext cx="3018616" cy="838200"/>
        </p:xfrm>
        <a:graphic>
          <a:graphicData uri="http://schemas.openxmlformats.org/presentationml/2006/ole">
            <p:oleObj spid="_x0000_s151555" name="Equation" r:id="rId8" imgW="825480" imgH="253800" progId="Equation.3">
              <p:embed/>
            </p:oleObj>
          </a:graphicData>
        </a:graphic>
      </p:graphicFrame>
      <p:sp>
        <p:nvSpPr>
          <p:cNvPr id="14" name="Rounded Rectangle 13"/>
          <p:cNvSpPr/>
          <p:nvPr/>
        </p:nvSpPr>
        <p:spPr>
          <a:xfrm>
            <a:off x="685800" y="3581400"/>
            <a:ext cx="7162800" cy="31242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4953000" y="3048000"/>
            <a:ext cx="14478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900" decel="100000" fill="hold"/>
                                        <p:tgtEl>
                                          <p:spTgt spid="1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000"/>
                                        <p:tgtEl>
                                          <p:spTgt spid="14"/>
                                        </p:tgtEl>
                                      </p:cBhvr>
                                    </p:animEffect>
                                    <p:anim calcmode="lin" valueType="num">
                                      <p:cBhvr>
                                        <p:cTn id="34" dur="1000" fill="hold"/>
                                        <p:tgtEl>
                                          <p:spTgt spid="14"/>
                                        </p:tgtEl>
                                        <p:attrNameLst>
                                          <p:attrName>ppt_x</p:attrName>
                                        </p:attrNameLst>
                                      </p:cBhvr>
                                      <p:tavLst>
                                        <p:tav tm="0">
                                          <p:val>
                                            <p:strVal val="#ppt_x"/>
                                          </p:val>
                                        </p:tav>
                                        <p:tav tm="100000">
                                          <p:val>
                                            <p:strVal val="#ppt_x"/>
                                          </p:val>
                                        </p:tav>
                                      </p:tavLst>
                                    </p:anim>
                                    <p:anim calcmode="lin" valueType="num">
                                      <p:cBhvr>
                                        <p:cTn id="35" dur="900" decel="100000" fill="hold"/>
                                        <p:tgtEl>
                                          <p:spTgt spid="14"/>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1000" fill="hold"/>
                                        <p:tgtEl>
                                          <p:spTgt spid="11"/>
                                        </p:tgtEl>
                                        <p:attrNameLst>
                                          <p:attrName>ppt_x</p:attrName>
                                        </p:attrNameLst>
                                      </p:cBhvr>
                                      <p:tavLst>
                                        <p:tav tm="0">
                                          <p:val>
                                            <p:strVal val="#ppt_x-.2"/>
                                          </p:val>
                                        </p:tav>
                                        <p:tav tm="100000">
                                          <p:val>
                                            <p:strVal val="#ppt_x"/>
                                          </p:val>
                                        </p:tav>
                                      </p:tavLst>
                                    </p:anim>
                                    <p:anim calcmode="lin" valueType="num">
                                      <p:cBhvr>
                                        <p:cTn id="42"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1000" fill="hold"/>
                                        <p:tgtEl>
                                          <p:spTgt spid="12"/>
                                        </p:tgtEl>
                                        <p:attrNameLst>
                                          <p:attrName>ppt_x</p:attrName>
                                        </p:attrNameLst>
                                      </p:cBhvr>
                                      <p:tavLst>
                                        <p:tav tm="0">
                                          <p:val>
                                            <p:strVal val="#ppt_x-.2"/>
                                          </p:val>
                                        </p:tav>
                                        <p:tav tm="100000">
                                          <p:val>
                                            <p:strVal val="#ppt_x"/>
                                          </p:val>
                                        </p:tav>
                                      </p:tavLst>
                                    </p:anim>
                                    <p:anim calcmode="lin" valueType="num">
                                      <p:cBhvr>
                                        <p:cTn id="49" dur="1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1000" fill="hold"/>
                                        <p:tgtEl>
                                          <p:spTgt spid="13"/>
                                        </p:tgtEl>
                                        <p:attrNameLst>
                                          <p:attrName>ppt_x</p:attrName>
                                        </p:attrNameLst>
                                      </p:cBhvr>
                                      <p:tavLst>
                                        <p:tav tm="0">
                                          <p:val>
                                            <p:strVal val="#ppt_x-.2"/>
                                          </p:val>
                                        </p:tav>
                                        <p:tav tm="100000">
                                          <p:val>
                                            <p:strVal val="#ppt_x"/>
                                          </p:val>
                                        </p:tav>
                                      </p:tavLst>
                                    </p:anim>
                                    <p:anim calcmode="lin" valueType="num">
                                      <p:cBhvr>
                                        <p:cTn id="56"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edge">
                                      <p:cBhvr>
                                        <p:cTn id="6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4" grpId="0" animBg="1"/>
      <p:bldP spid="1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685800"/>
            <a:ext cx="8153400" cy="2246769"/>
          </a:xfrm>
          <a:prstGeom prst="rect">
            <a:avLst/>
          </a:prstGeom>
        </p:spPr>
        <p:txBody>
          <a:bodyPr wrap="square">
            <a:spAutoFit/>
          </a:bodyPr>
          <a:lstStyle/>
          <a:p>
            <a:r>
              <a:rPr lang="en-US" sz="2800" dirty="0" smtClean="0"/>
              <a:t>19. A show manufacturer conducted a survey of the</a:t>
            </a:r>
          </a:p>
          <a:p>
            <a:r>
              <a:rPr lang="en-US" sz="2800" dirty="0" smtClean="0"/>
              <a:t>     average shoe size among women to help him</a:t>
            </a:r>
          </a:p>
          <a:p>
            <a:r>
              <a:rPr lang="en-US" sz="2800" dirty="0" smtClean="0"/>
              <a:t>     decide what shoe size to put on display. What</a:t>
            </a:r>
          </a:p>
          <a:p>
            <a:r>
              <a:rPr lang="en-US" sz="2800" dirty="0" smtClean="0"/>
              <a:t>     measure of central tendency would be most </a:t>
            </a:r>
          </a:p>
          <a:p>
            <a:r>
              <a:rPr lang="en-US" sz="2800" dirty="0" smtClean="0"/>
              <a:t>     appropriate for his purpose?</a:t>
            </a:r>
          </a:p>
        </p:txBody>
      </p:sp>
      <p:sp>
        <p:nvSpPr>
          <p:cNvPr id="6" name="Rectangle 5"/>
          <p:cNvSpPr/>
          <p:nvPr/>
        </p:nvSpPr>
        <p:spPr>
          <a:xfrm>
            <a:off x="2424453" y="3159443"/>
            <a:ext cx="1637756" cy="584775"/>
          </a:xfrm>
          <a:prstGeom prst="rect">
            <a:avLst/>
          </a:prstGeom>
        </p:spPr>
        <p:txBody>
          <a:bodyPr wrap="none">
            <a:spAutoFit/>
          </a:bodyPr>
          <a:lstStyle/>
          <a:p>
            <a:r>
              <a:rPr lang="en-US" sz="3200" dirty="0" smtClean="0"/>
              <a:t>a. mean</a:t>
            </a:r>
            <a:endParaRPr lang="en-US" sz="3200" dirty="0"/>
          </a:p>
        </p:txBody>
      </p:sp>
      <p:sp>
        <p:nvSpPr>
          <p:cNvPr id="7" name="Rectangle 6"/>
          <p:cNvSpPr/>
          <p:nvPr/>
        </p:nvSpPr>
        <p:spPr>
          <a:xfrm>
            <a:off x="2375826" y="3845243"/>
            <a:ext cx="1563248" cy="584775"/>
          </a:xfrm>
          <a:prstGeom prst="rect">
            <a:avLst/>
          </a:prstGeom>
        </p:spPr>
        <p:txBody>
          <a:bodyPr wrap="none">
            <a:spAutoFit/>
          </a:bodyPr>
          <a:lstStyle/>
          <a:p>
            <a:r>
              <a:rPr lang="en-US" sz="3200" dirty="0" smtClean="0"/>
              <a:t>b. mode</a:t>
            </a:r>
            <a:endParaRPr lang="en-US" sz="3200" dirty="0"/>
          </a:p>
        </p:txBody>
      </p:sp>
      <p:sp>
        <p:nvSpPr>
          <p:cNvPr id="8" name="Rectangle 7"/>
          <p:cNvSpPr/>
          <p:nvPr/>
        </p:nvSpPr>
        <p:spPr>
          <a:xfrm>
            <a:off x="2375826" y="4444425"/>
            <a:ext cx="1811714" cy="584775"/>
          </a:xfrm>
          <a:prstGeom prst="rect">
            <a:avLst/>
          </a:prstGeom>
        </p:spPr>
        <p:txBody>
          <a:bodyPr wrap="none">
            <a:spAutoFit/>
          </a:bodyPr>
          <a:lstStyle/>
          <a:p>
            <a:r>
              <a:rPr lang="en-US" sz="3200" dirty="0" smtClean="0"/>
              <a:t>c. median</a:t>
            </a:r>
            <a:endParaRPr lang="en-US" sz="3200" dirty="0"/>
          </a:p>
        </p:txBody>
      </p:sp>
      <p:sp>
        <p:nvSpPr>
          <p:cNvPr id="9" name="Rectangle 8"/>
          <p:cNvSpPr/>
          <p:nvPr/>
        </p:nvSpPr>
        <p:spPr>
          <a:xfrm>
            <a:off x="2362200" y="5206425"/>
            <a:ext cx="3375796" cy="584775"/>
          </a:xfrm>
          <a:prstGeom prst="rect">
            <a:avLst/>
          </a:prstGeom>
        </p:spPr>
        <p:txBody>
          <a:bodyPr wrap="none">
            <a:spAutoFit/>
          </a:bodyPr>
          <a:lstStyle/>
          <a:p>
            <a:r>
              <a:rPr lang="en-US" sz="3200" dirty="0" smtClean="0"/>
              <a:t>d. any of the three</a:t>
            </a:r>
          </a:p>
        </p:txBody>
      </p:sp>
      <p:sp>
        <p:nvSpPr>
          <p:cNvPr id="10" name="Rounded Rectangle 9"/>
          <p:cNvSpPr/>
          <p:nvPr/>
        </p:nvSpPr>
        <p:spPr>
          <a:xfrm>
            <a:off x="2324100" y="3873500"/>
            <a:ext cx="16002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edge">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6" grpId="0"/>
      <p:bldP spid="7" grpId="0"/>
      <p:bldP spid="8" grpId="0"/>
      <p:bldP spid="9" grpId="0"/>
      <p:bldP spid="1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228600"/>
            <a:ext cx="8382000" cy="1754326"/>
          </a:xfrm>
          <a:prstGeom prst="rect">
            <a:avLst/>
          </a:prstGeom>
        </p:spPr>
        <p:txBody>
          <a:bodyPr wrap="square">
            <a:spAutoFit/>
          </a:bodyPr>
          <a:lstStyle/>
          <a:p>
            <a:pPr lvl="0"/>
            <a:r>
              <a:rPr lang="en-US" sz="3600" dirty="0" smtClean="0"/>
              <a:t>20. In how many ways can 5 basketball</a:t>
            </a:r>
          </a:p>
          <a:p>
            <a:pPr lvl="0"/>
            <a:r>
              <a:rPr lang="en-US" sz="3600" dirty="0" smtClean="0"/>
              <a:t>      players be chosen from a group of</a:t>
            </a:r>
          </a:p>
          <a:p>
            <a:pPr lvl="0"/>
            <a:r>
              <a:rPr lang="en-US" sz="3600" dirty="0" smtClean="0"/>
              <a:t>      9 players?</a:t>
            </a:r>
            <a:endParaRPr lang="en-US" sz="3600" dirty="0"/>
          </a:p>
        </p:txBody>
      </p:sp>
      <p:sp>
        <p:nvSpPr>
          <p:cNvPr id="6" name="Rectangle 5"/>
          <p:cNvSpPr/>
          <p:nvPr/>
        </p:nvSpPr>
        <p:spPr>
          <a:xfrm>
            <a:off x="1725027" y="2209800"/>
            <a:ext cx="1140056" cy="584775"/>
          </a:xfrm>
          <a:prstGeom prst="rect">
            <a:avLst/>
          </a:prstGeom>
        </p:spPr>
        <p:txBody>
          <a:bodyPr wrap="none">
            <a:spAutoFit/>
          </a:bodyPr>
          <a:lstStyle/>
          <a:p>
            <a:r>
              <a:rPr lang="en-US" sz="3200" dirty="0" smtClean="0"/>
              <a:t>a. 126</a:t>
            </a:r>
            <a:endParaRPr lang="en-US" sz="3200" dirty="0"/>
          </a:p>
        </p:txBody>
      </p:sp>
      <p:sp>
        <p:nvSpPr>
          <p:cNvPr id="7" name="Rectangle 6"/>
          <p:cNvSpPr/>
          <p:nvPr/>
        </p:nvSpPr>
        <p:spPr>
          <a:xfrm>
            <a:off x="1676400" y="2895600"/>
            <a:ext cx="1134028" cy="584775"/>
          </a:xfrm>
          <a:prstGeom prst="rect">
            <a:avLst/>
          </a:prstGeom>
        </p:spPr>
        <p:txBody>
          <a:bodyPr wrap="none">
            <a:spAutoFit/>
          </a:bodyPr>
          <a:lstStyle/>
          <a:p>
            <a:r>
              <a:rPr lang="en-US" sz="3200" dirty="0" smtClean="0"/>
              <a:t>b. 212</a:t>
            </a:r>
            <a:endParaRPr lang="en-US" sz="3200" dirty="0"/>
          </a:p>
        </p:txBody>
      </p:sp>
      <p:sp>
        <p:nvSpPr>
          <p:cNvPr id="8" name="Rectangle 7"/>
          <p:cNvSpPr/>
          <p:nvPr/>
        </p:nvSpPr>
        <p:spPr>
          <a:xfrm>
            <a:off x="4801059" y="2139375"/>
            <a:ext cx="1550809" cy="584775"/>
          </a:xfrm>
          <a:prstGeom prst="rect">
            <a:avLst/>
          </a:prstGeom>
        </p:spPr>
        <p:txBody>
          <a:bodyPr wrap="none">
            <a:spAutoFit/>
          </a:bodyPr>
          <a:lstStyle/>
          <a:p>
            <a:r>
              <a:rPr lang="en-US" sz="3200" dirty="0" smtClean="0"/>
              <a:t>c. 15 120</a:t>
            </a:r>
            <a:endParaRPr lang="en-US" sz="3200" dirty="0"/>
          </a:p>
        </p:txBody>
      </p:sp>
      <p:sp>
        <p:nvSpPr>
          <p:cNvPr id="9" name="Rectangle 8"/>
          <p:cNvSpPr/>
          <p:nvPr/>
        </p:nvSpPr>
        <p:spPr>
          <a:xfrm>
            <a:off x="4787433" y="2901375"/>
            <a:ext cx="2070567" cy="584775"/>
          </a:xfrm>
          <a:prstGeom prst="rect">
            <a:avLst/>
          </a:prstGeom>
        </p:spPr>
        <p:txBody>
          <a:bodyPr wrap="none">
            <a:spAutoFit/>
          </a:bodyPr>
          <a:lstStyle/>
          <a:p>
            <a:r>
              <a:rPr lang="en-US" sz="3200" dirty="0" smtClean="0"/>
              <a:t>d. 362 880</a:t>
            </a:r>
          </a:p>
        </p:txBody>
      </p:sp>
      <p:sp>
        <p:nvSpPr>
          <p:cNvPr id="10" name="Rectangle 9"/>
          <p:cNvSpPr/>
          <p:nvPr/>
        </p:nvSpPr>
        <p:spPr>
          <a:xfrm>
            <a:off x="304800" y="3581400"/>
            <a:ext cx="1736373" cy="523220"/>
          </a:xfrm>
          <a:prstGeom prst="rect">
            <a:avLst/>
          </a:prstGeom>
        </p:spPr>
        <p:txBody>
          <a:bodyPr wrap="none">
            <a:spAutoFit/>
          </a:bodyPr>
          <a:lstStyle/>
          <a:p>
            <a:r>
              <a:rPr lang="en-US" sz="2800" b="1" dirty="0" smtClean="0"/>
              <a:t>Solution:</a:t>
            </a:r>
          </a:p>
        </p:txBody>
      </p:sp>
      <p:graphicFrame>
        <p:nvGraphicFramePr>
          <p:cNvPr id="11" name="Object 3"/>
          <p:cNvGraphicFramePr>
            <a:graphicFrameLocks noChangeAspect="1"/>
          </p:cNvGraphicFramePr>
          <p:nvPr/>
        </p:nvGraphicFramePr>
        <p:xfrm>
          <a:off x="1219200" y="4038600"/>
          <a:ext cx="4648200" cy="1103481"/>
        </p:xfrm>
        <a:graphic>
          <a:graphicData uri="http://schemas.openxmlformats.org/presentationml/2006/ole">
            <p:oleObj spid="_x0000_s149505" name="Equation" r:id="rId6" imgW="1739880" imgH="419040" progId="Equation.3">
              <p:embed/>
            </p:oleObj>
          </a:graphicData>
        </a:graphic>
      </p:graphicFrame>
      <p:sp>
        <p:nvSpPr>
          <p:cNvPr id="12" name="Rectangle 5"/>
          <p:cNvSpPr>
            <a:spLocks noChangeArrowheads="1"/>
          </p:cNvSpPr>
          <p:nvPr/>
        </p:nvSpPr>
        <p:spPr bwMode="auto">
          <a:xfrm>
            <a:off x="0" y="2286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PH"/>
          </a:p>
        </p:txBody>
      </p:sp>
      <p:graphicFrame>
        <p:nvGraphicFramePr>
          <p:cNvPr id="13" name="Object 6"/>
          <p:cNvGraphicFramePr>
            <a:graphicFrameLocks noChangeAspect="1"/>
          </p:cNvGraphicFramePr>
          <p:nvPr/>
        </p:nvGraphicFramePr>
        <p:xfrm>
          <a:off x="3873908" y="5334000"/>
          <a:ext cx="4203292" cy="1143001"/>
        </p:xfrm>
        <a:graphic>
          <a:graphicData uri="http://schemas.openxmlformats.org/presentationml/2006/ole">
            <p:oleObj spid="_x0000_s149506" name="Equation" r:id="rId7" imgW="1447560" imgH="393480" progId="Equation.3">
              <p:embed/>
            </p:oleObj>
          </a:graphicData>
        </a:graphic>
      </p:graphicFrame>
      <p:sp>
        <p:nvSpPr>
          <p:cNvPr id="14" name="Rounded Rectangle 13"/>
          <p:cNvSpPr/>
          <p:nvPr/>
        </p:nvSpPr>
        <p:spPr>
          <a:xfrm>
            <a:off x="152400" y="3505200"/>
            <a:ext cx="8001000" cy="31242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1676401" y="2286000"/>
            <a:ext cx="12954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900" decel="100000" fill="hold"/>
                                        <p:tgtEl>
                                          <p:spTgt spid="1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000"/>
                                        <p:tgtEl>
                                          <p:spTgt spid="14"/>
                                        </p:tgtEl>
                                      </p:cBhvr>
                                    </p:animEffect>
                                    <p:anim calcmode="lin" valueType="num">
                                      <p:cBhvr>
                                        <p:cTn id="34" dur="1000" fill="hold"/>
                                        <p:tgtEl>
                                          <p:spTgt spid="14"/>
                                        </p:tgtEl>
                                        <p:attrNameLst>
                                          <p:attrName>ppt_x</p:attrName>
                                        </p:attrNameLst>
                                      </p:cBhvr>
                                      <p:tavLst>
                                        <p:tav tm="0">
                                          <p:val>
                                            <p:strVal val="#ppt_x"/>
                                          </p:val>
                                        </p:tav>
                                        <p:tav tm="100000">
                                          <p:val>
                                            <p:strVal val="#ppt_x"/>
                                          </p:val>
                                        </p:tav>
                                      </p:tavLst>
                                    </p:anim>
                                    <p:anim calcmode="lin" valueType="num">
                                      <p:cBhvr>
                                        <p:cTn id="35" dur="900" decel="100000" fill="hold"/>
                                        <p:tgtEl>
                                          <p:spTgt spid="14"/>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1000" fill="hold"/>
                                        <p:tgtEl>
                                          <p:spTgt spid="11"/>
                                        </p:tgtEl>
                                        <p:attrNameLst>
                                          <p:attrName>ppt_x</p:attrName>
                                        </p:attrNameLst>
                                      </p:cBhvr>
                                      <p:tavLst>
                                        <p:tav tm="0">
                                          <p:val>
                                            <p:strVal val="#ppt_x-.2"/>
                                          </p:val>
                                        </p:tav>
                                        <p:tav tm="100000">
                                          <p:val>
                                            <p:strVal val="#ppt_x"/>
                                          </p:val>
                                        </p:tav>
                                      </p:tavLst>
                                    </p:anim>
                                    <p:anim calcmode="lin" valueType="num">
                                      <p:cBhvr>
                                        <p:cTn id="42"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p:cTn id="48" dur="1000" fill="hold"/>
                                        <p:tgtEl>
                                          <p:spTgt spid="13"/>
                                        </p:tgtEl>
                                        <p:attrNameLst>
                                          <p:attrName>ppt_x</p:attrName>
                                        </p:attrNameLst>
                                      </p:cBhvr>
                                      <p:tavLst>
                                        <p:tav tm="0">
                                          <p:val>
                                            <p:strVal val="#ppt_x-.2"/>
                                          </p:val>
                                        </p:tav>
                                        <p:tav tm="100000">
                                          <p:val>
                                            <p:strVal val="#ppt_x"/>
                                          </p:val>
                                        </p:tav>
                                      </p:tavLst>
                                    </p:anim>
                                    <p:anim calcmode="lin" valueType="num">
                                      <p:cBhvr>
                                        <p:cTn id="49" dur="10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20"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edge">
                                      <p:cBhvr>
                                        <p:cTn id="55"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p:bldP spid="7" grpId="0"/>
      <p:bldP spid="8" grpId="0"/>
      <p:bldP spid="9" grpId="0"/>
      <p:bldP spid="10" grpId="0" autoUpdateAnimBg="0"/>
      <p:bldP spid="14" grpId="0" animBg="1"/>
      <p:bldP spid="1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1000" y="228600"/>
            <a:ext cx="8382000" cy="2308324"/>
          </a:xfrm>
          <a:prstGeom prst="rect">
            <a:avLst/>
          </a:prstGeom>
        </p:spPr>
        <p:txBody>
          <a:bodyPr wrap="square">
            <a:spAutoFit/>
          </a:bodyPr>
          <a:lstStyle/>
          <a:p>
            <a:pPr lvl="0"/>
            <a:r>
              <a:rPr lang="en-US" sz="3600" dirty="0" smtClean="0"/>
              <a:t>21. How many 4-digit numbers can you</a:t>
            </a:r>
          </a:p>
          <a:p>
            <a:pPr lvl="0"/>
            <a:r>
              <a:rPr lang="en-US" sz="3600" dirty="0" smtClean="0"/>
              <a:t>      write using the digits 8, 4, 3 and 5 if</a:t>
            </a:r>
          </a:p>
          <a:p>
            <a:pPr lvl="0"/>
            <a:r>
              <a:rPr lang="en-US" sz="3600" dirty="0" smtClean="0"/>
              <a:t>      the digits may appear more than</a:t>
            </a:r>
          </a:p>
          <a:p>
            <a:pPr lvl="0"/>
            <a:r>
              <a:rPr lang="en-US" sz="3600" dirty="0" smtClean="0"/>
              <a:t>      once in each number?</a:t>
            </a:r>
            <a:endParaRPr lang="en-US" sz="3600" dirty="0"/>
          </a:p>
        </p:txBody>
      </p:sp>
      <p:sp>
        <p:nvSpPr>
          <p:cNvPr id="6" name="Rectangle 5"/>
          <p:cNvSpPr/>
          <p:nvPr/>
        </p:nvSpPr>
        <p:spPr>
          <a:xfrm>
            <a:off x="1967253" y="2667000"/>
            <a:ext cx="987771" cy="584775"/>
          </a:xfrm>
          <a:prstGeom prst="rect">
            <a:avLst/>
          </a:prstGeom>
        </p:spPr>
        <p:txBody>
          <a:bodyPr wrap="none">
            <a:spAutoFit/>
          </a:bodyPr>
          <a:lstStyle/>
          <a:p>
            <a:r>
              <a:rPr lang="en-US" sz="3200" dirty="0" smtClean="0"/>
              <a:t>a. 22</a:t>
            </a:r>
            <a:endParaRPr lang="en-US" sz="3200" dirty="0"/>
          </a:p>
        </p:txBody>
      </p:sp>
      <p:sp>
        <p:nvSpPr>
          <p:cNvPr id="7" name="Rectangle 6"/>
          <p:cNvSpPr/>
          <p:nvPr/>
        </p:nvSpPr>
        <p:spPr>
          <a:xfrm>
            <a:off x="1918626" y="3352800"/>
            <a:ext cx="1060098" cy="584775"/>
          </a:xfrm>
          <a:prstGeom prst="rect">
            <a:avLst/>
          </a:prstGeom>
        </p:spPr>
        <p:txBody>
          <a:bodyPr wrap="none">
            <a:spAutoFit/>
          </a:bodyPr>
          <a:lstStyle/>
          <a:p>
            <a:r>
              <a:rPr lang="en-US" sz="3200" dirty="0" smtClean="0"/>
              <a:t>b. 24</a:t>
            </a:r>
            <a:endParaRPr lang="en-US" sz="3200" dirty="0"/>
          </a:p>
        </p:txBody>
      </p:sp>
      <p:sp>
        <p:nvSpPr>
          <p:cNvPr id="8" name="Rectangle 7"/>
          <p:cNvSpPr/>
          <p:nvPr/>
        </p:nvSpPr>
        <p:spPr>
          <a:xfrm>
            <a:off x="4570193" y="2667000"/>
            <a:ext cx="1033424" cy="584775"/>
          </a:xfrm>
          <a:prstGeom prst="rect">
            <a:avLst/>
          </a:prstGeom>
        </p:spPr>
        <p:txBody>
          <a:bodyPr wrap="none">
            <a:spAutoFit/>
          </a:bodyPr>
          <a:lstStyle/>
          <a:p>
            <a:r>
              <a:rPr lang="en-US" sz="3200" dirty="0" smtClean="0"/>
              <a:t>c. 64</a:t>
            </a:r>
            <a:endParaRPr lang="en-US" sz="3200" dirty="0"/>
          </a:p>
        </p:txBody>
      </p:sp>
      <p:sp>
        <p:nvSpPr>
          <p:cNvPr id="9" name="Rectangle 8"/>
          <p:cNvSpPr/>
          <p:nvPr/>
        </p:nvSpPr>
        <p:spPr>
          <a:xfrm>
            <a:off x="4556567" y="3378200"/>
            <a:ext cx="1234633" cy="584775"/>
          </a:xfrm>
          <a:prstGeom prst="rect">
            <a:avLst/>
          </a:prstGeom>
        </p:spPr>
        <p:txBody>
          <a:bodyPr wrap="none">
            <a:spAutoFit/>
          </a:bodyPr>
          <a:lstStyle/>
          <a:p>
            <a:r>
              <a:rPr lang="en-US" sz="3200" dirty="0" smtClean="0"/>
              <a:t>d. 256</a:t>
            </a:r>
          </a:p>
        </p:txBody>
      </p:sp>
      <p:sp>
        <p:nvSpPr>
          <p:cNvPr id="10" name="Rectangle 9"/>
          <p:cNvSpPr/>
          <p:nvPr/>
        </p:nvSpPr>
        <p:spPr>
          <a:xfrm>
            <a:off x="1609880" y="4419600"/>
            <a:ext cx="1736373" cy="523220"/>
          </a:xfrm>
          <a:prstGeom prst="rect">
            <a:avLst/>
          </a:prstGeom>
        </p:spPr>
        <p:txBody>
          <a:bodyPr wrap="none">
            <a:spAutoFit/>
          </a:bodyPr>
          <a:lstStyle/>
          <a:p>
            <a:r>
              <a:rPr lang="en-US" sz="2800" b="1" dirty="0" smtClean="0"/>
              <a:t>Solution:</a:t>
            </a:r>
          </a:p>
        </p:txBody>
      </p:sp>
      <p:sp>
        <p:nvSpPr>
          <p:cNvPr id="11" name="Rectangle 10"/>
          <p:cNvSpPr/>
          <p:nvPr/>
        </p:nvSpPr>
        <p:spPr>
          <a:xfrm>
            <a:off x="2295680" y="4953000"/>
            <a:ext cx="3266920" cy="830997"/>
          </a:xfrm>
          <a:prstGeom prst="rect">
            <a:avLst/>
          </a:prstGeom>
        </p:spPr>
        <p:txBody>
          <a:bodyPr wrap="none">
            <a:spAutoFit/>
          </a:bodyPr>
          <a:lstStyle/>
          <a:p>
            <a:r>
              <a:rPr lang="en-US" sz="2800" b="1" dirty="0" smtClean="0"/>
              <a:t>4 x 4 x 4 x 4 = </a:t>
            </a:r>
            <a:r>
              <a:rPr lang="en-US" sz="4800" b="1" dirty="0" smtClean="0"/>
              <a:t>256</a:t>
            </a:r>
          </a:p>
        </p:txBody>
      </p:sp>
      <p:sp>
        <p:nvSpPr>
          <p:cNvPr id="12" name="Rounded Rectangle 11"/>
          <p:cNvSpPr/>
          <p:nvPr/>
        </p:nvSpPr>
        <p:spPr>
          <a:xfrm>
            <a:off x="1447800" y="4343400"/>
            <a:ext cx="4495800" cy="17526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4572000" y="3441700"/>
            <a:ext cx="1219200" cy="4572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900" decel="100000" fill="hold"/>
                                        <p:tgtEl>
                                          <p:spTgt spid="10"/>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1000"/>
                                        <p:tgtEl>
                                          <p:spTgt spid="12"/>
                                        </p:tgtEl>
                                      </p:cBhvr>
                                    </p:animEffect>
                                    <p:anim calcmode="lin" valueType="num">
                                      <p:cBhvr>
                                        <p:cTn id="34" dur="1000" fill="hold"/>
                                        <p:tgtEl>
                                          <p:spTgt spid="12"/>
                                        </p:tgtEl>
                                        <p:attrNameLst>
                                          <p:attrName>ppt_x</p:attrName>
                                        </p:attrNameLst>
                                      </p:cBhvr>
                                      <p:tavLst>
                                        <p:tav tm="0">
                                          <p:val>
                                            <p:strVal val="#ppt_x"/>
                                          </p:val>
                                        </p:tav>
                                        <p:tav tm="100000">
                                          <p:val>
                                            <p:strVal val="#ppt_x"/>
                                          </p:val>
                                        </p:tav>
                                      </p:tavLst>
                                    </p:anim>
                                    <p:anim calcmode="lin" valueType="num">
                                      <p:cBhvr>
                                        <p:cTn id="35" dur="900" decel="100000" fill="hold"/>
                                        <p:tgtEl>
                                          <p:spTgt spid="12"/>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1000" fill="hold"/>
                                        <p:tgtEl>
                                          <p:spTgt spid="11"/>
                                        </p:tgtEl>
                                        <p:attrNameLst>
                                          <p:attrName>ppt_x</p:attrName>
                                        </p:attrNameLst>
                                      </p:cBhvr>
                                      <p:tavLst>
                                        <p:tav tm="0">
                                          <p:val>
                                            <p:strVal val="#ppt_x-.2"/>
                                          </p:val>
                                        </p:tav>
                                        <p:tav tm="100000">
                                          <p:val>
                                            <p:strVal val="#ppt_x"/>
                                          </p:val>
                                        </p:tav>
                                      </p:tavLst>
                                    </p:anim>
                                    <p:anim calcmode="lin" valueType="num">
                                      <p:cBhvr>
                                        <p:cTn id="42" dur="1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0"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edge">
                                      <p:cBhvr>
                                        <p:cTn id="48"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utoUpdateAnimBg="0"/>
      <p:bldP spid="11" grpId="0" autoUpdateAnimBg="0"/>
      <p:bldP spid="12" grpId="0" animBg="1"/>
      <p:bldP spid="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04800" y="200890"/>
            <a:ext cx="8686800" cy="3047999"/>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22</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How</a:t>
            </a:r>
            <a:r>
              <a:rPr kumimoji="0" lang="en-US" sz="2400" b="0" i="0" u="none" strike="noStrike" kern="1200" cap="none" spc="0" normalizeH="0" noProof="0" dirty="0" smtClean="0">
                <a:ln>
                  <a:noFill/>
                </a:ln>
                <a:solidFill>
                  <a:schemeClr val="tx1"/>
                </a:solidFill>
                <a:effectLst/>
                <a:uLnTx/>
                <a:uFillTx/>
                <a:latin typeface="+mn-lt"/>
                <a:ea typeface="+mn-ea"/>
                <a:cs typeface="+mn-cs"/>
              </a:rPr>
              <a:t> many 3-digit numbers can be formed from the digits 1 – 7, if the digits cannot be repeated</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343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a:t>
            </a:r>
            <a:r>
              <a:rPr lang="en-US" sz="2400" noProof="0" dirty="0" smtClean="0"/>
              <a:t>330</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a:t>
            </a:r>
            <a:r>
              <a:rPr lang="en-US" sz="2400" noProof="0" dirty="0" smtClean="0"/>
              <a:t>210</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d. </a:t>
            </a:r>
            <a:r>
              <a:rPr lang="en-US" sz="2400" dirty="0" smtClean="0"/>
              <a:t>180</a:t>
            </a:r>
            <a:endParaRPr kumimoji="0" lang="en-PH"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1905000" y="3398534"/>
            <a:ext cx="3429000" cy="1738938"/>
          </a:xfrm>
          <a:prstGeom prst="rect">
            <a:avLst/>
          </a:prstGeom>
        </p:spPr>
        <p:txBody>
          <a:bodyPr wrap="square">
            <a:spAutoFit/>
          </a:bodyPr>
          <a:lstStyle/>
          <a:p>
            <a:r>
              <a:rPr lang="en-US" sz="2400" b="1" dirty="0" smtClean="0"/>
              <a:t>Solution:</a:t>
            </a:r>
          </a:p>
          <a:p>
            <a:r>
              <a:rPr lang="en-US" sz="2400" b="1" dirty="0" smtClean="0"/>
              <a:t>	Rule of Product</a:t>
            </a:r>
          </a:p>
          <a:p>
            <a:r>
              <a:rPr lang="en-US" sz="2400" b="1" dirty="0" smtClean="0"/>
              <a:t>Repetition is not allowed</a:t>
            </a:r>
          </a:p>
          <a:p>
            <a:endParaRPr lang="en-US" sz="700" b="1" dirty="0" smtClean="0"/>
          </a:p>
          <a:p>
            <a:r>
              <a:rPr lang="en-US" sz="2800" b="1" dirty="0" smtClean="0"/>
              <a:t>	</a:t>
            </a:r>
            <a:r>
              <a:rPr lang="en-US" sz="2800" b="1" u="sng" dirty="0" smtClean="0"/>
              <a:t> 7 </a:t>
            </a:r>
            <a:r>
              <a:rPr lang="en-US" sz="2800" b="1" dirty="0" smtClean="0"/>
              <a:t>  </a:t>
            </a:r>
            <a:r>
              <a:rPr lang="en-US" sz="2800" b="1" u="sng" dirty="0" smtClean="0"/>
              <a:t> 6 </a:t>
            </a:r>
            <a:r>
              <a:rPr lang="en-US" sz="2800" b="1" dirty="0" smtClean="0"/>
              <a:t>  </a:t>
            </a:r>
            <a:r>
              <a:rPr lang="en-US" sz="2800" b="1" u="sng" dirty="0" smtClean="0"/>
              <a:t> 5 </a:t>
            </a:r>
            <a:r>
              <a:rPr lang="en-US" sz="2800" b="1" dirty="0" smtClean="0"/>
              <a:t> = 210</a:t>
            </a:r>
          </a:p>
        </p:txBody>
      </p:sp>
      <p:sp>
        <p:nvSpPr>
          <p:cNvPr id="9" name="Rounded Rectangle 8"/>
          <p:cNvSpPr/>
          <p:nvPr/>
        </p:nvSpPr>
        <p:spPr>
          <a:xfrm>
            <a:off x="1751526" y="3276600"/>
            <a:ext cx="3734874" cy="19050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168759" y="2057400"/>
            <a:ext cx="977720" cy="4947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900" decel="100000" fill="hold"/>
                                        <p:tgtEl>
                                          <p:spTgt spid="9"/>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 calcmode="lin" valueType="num">
                                      <p:cBhvr>
                                        <p:cTn id="41"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6">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6">
                                            <p:txEl>
                                              <p:pRg st="2" end="2"/>
                                            </p:txEl>
                                          </p:spTgt>
                                        </p:tgtEl>
                                        <p:attrNameLst>
                                          <p:attrName>style.visibility</p:attrName>
                                        </p:attrNameLst>
                                      </p:cBhvr>
                                      <p:to>
                                        <p:strVal val="visible"/>
                                      </p:to>
                                    </p:set>
                                    <p:anim calcmode="lin" valueType="num">
                                      <p:cBhvr>
                                        <p:cTn id="48"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6">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6">
                                            <p:txEl>
                                              <p:pRg st="4" end="4"/>
                                            </p:txEl>
                                          </p:spTgt>
                                        </p:tgtEl>
                                        <p:attrNameLst>
                                          <p:attrName>style.visibility</p:attrName>
                                        </p:attrNameLst>
                                      </p:cBhvr>
                                      <p:to>
                                        <p:strVal val="visible"/>
                                      </p:to>
                                    </p:set>
                                    <p:anim calcmode="lin" valueType="num">
                                      <p:cBhvr>
                                        <p:cTn id="55"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6"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6">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edge">
                                      <p:cBhvr>
                                        <p:cTn id="6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04800" y="200890"/>
            <a:ext cx="8686800" cy="3047999"/>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23</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Suppose that a</a:t>
            </a:r>
            <a:r>
              <a:rPr kumimoji="0" lang="en-US" sz="2400" b="0" i="0" u="none" strike="noStrike" kern="1200" cap="none" spc="0" normalizeH="0" noProof="0" dirty="0" smtClean="0">
                <a:ln>
                  <a:noFill/>
                </a:ln>
                <a:solidFill>
                  <a:schemeClr val="tx1"/>
                </a:solidFill>
                <a:effectLst/>
                <a:uLnTx/>
                <a:uFillTx/>
                <a:latin typeface="+mn-lt"/>
                <a:ea typeface="+mn-ea"/>
                <a:cs typeface="+mn-cs"/>
              </a:rPr>
              <a:t> </a:t>
            </a:r>
            <a:r>
              <a:rPr lang="en-US" sz="2400" dirty="0" smtClean="0"/>
              <a:t>family has 2 children. What is the probability that the family has at least 1 girl?</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3/4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a:t>
            </a:r>
            <a:r>
              <a:rPr lang="en-US" sz="2400" noProof="0" dirty="0" smtClean="0"/>
              <a:t>1/2</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c. </a:t>
            </a:r>
            <a:r>
              <a:rPr lang="en-US" sz="2400" noProof="0" dirty="0" smtClean="0"/>
              <a:t>1/3</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d. </a:t>
            </a:r>
            <a:r>
              <a:rPr lang="en-US" sz="2400" dirty="0" smtClean="0"/>
              <a:t>1/4</a:t>
            </a:r>
            <a:endParaRPr kumimoji="0" lang="en-PH"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Rectangle 5"/>
          <p:cNvSpPr/>
          <p:nvPr/>
        </p:nvSpPr>
        <p:spPr>
          <a:xfrm>
            <a:off x="914400" y="3398534"/>
            <a:ext cx="3429000" cy="461665"/>
          </a:xfrm>
          <a:prstGeom prst="rect">
            <a:avLst/>
          </a:prstGeom>
        </p:spPr>
        <p:txBody>
          <a:bodyPr wrap="square">
            <a:spAutoFit/>
          </a:bodyPr>
          <a:lstStyle/>
          <a:p>
            <a:r>
              <a:rPr lang="en-US" sz="2400" b="1" dirty="0" smtClean="0"/>
              <a:t>Solution:</a:t>
            </a:r>
          </a:p>
        </p:txBody>
      </p:sp>
      <p:sp>
        <p:nvSpPr>
          <p:cNvPr id="9" name="Rounded Rectangle 8"/>
          <p:cNvSpPr/>
          <p:nvPr/>
        </p:nvSpPr>
        <p:spPr>
          <a:xfrm>
            <a:off x="760926" y="3276600"/>
            <a:ext cx="7544874" cy="2819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168759" y="1257837"/>
            <a:ext cx="964841" cy="4185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graphicFrame>
        <p:nvGraphicFramePr>
          <p:cNvPr id="11" name="Table 10"/>
          <p:cNvGraphicFramePr>
            <a:graphicFrameLocks noGrp="1"/>
          </p:cNvGraphicFramePr>
          <p:nvPr/>
        </p:nvGraphicFramePr>
        <p:xfrm>
          <a:off x="1219200" y="3909060"/>
          <a:ext cx="3276600" cy="1577340"/>
        </p:xfrm>
        <a:graphic>
          <a:graphicData uri="http://schemas.openxmlformats.org/drawingml/2006/table">
            <a:tbl>
              <a:tblPr firstRow="1" bandRow="1">
                <a:tableStyleId>{5940675A-B579-460E-94D1-54222C63F5DA}</a:tableStyleId>
              </a:tblPr>
              <a:tblGrid>
                <a:gridCol w="1295400"/>
                <a:gridCol w="889000"/>
                <a:gridCol w="1092200"/>
              </a:tblGrid>
              <a:tr h="393700">
                <a:tc>
                  <a:txBody>
                    <a:bodyPr/>
                    <a:lstStyle/>
                    <a:p>
                      <a:pPr algn="ctr"/>
                      <a:r>
                        <a:rPr lang="en-US" sz="2000" b="1" dirty="0" smtClean="0"/>
                        <a:t>Outcomes</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smtClean="0"/>
                        <a:t>f</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err="1" smtClean="0"/>
                        <a:t>rf</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algn="ctr"/>
                      <a:r>
                        <a:rPr lang="en-US" dirty="0" smtClean="0"/>
                        <a:t>2G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algn="ctr"/>
                      <a:r>
                        <a:rPr lang="en-US" dirty="0" smtClean="0"/>
                        <a:t>1G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2/4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algn="ctr"/>
                      <a:r>
                        <a:rPr lang="en-US" dirty="0" smtClean="0"/>
                        <a:t>0G</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smtClean="0"/>
                        <a:t>1/4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graphicFrame>
        <p:nvGraphicFramePr>
          <p:cNvPr id="157698" name="Object 2"/>
          <p:cNvGraphicFramePr>
            <a:graphicFrameLocks noChangeAspect="1"/>
          </p:cNvGraphicFramePr>
          <p:nvPr/>
        </p:nvGraphicFramePr>
        <p:xfrm>
          <a:off x="4724400" y="3657600"/>
          <a:ext cx="3443288" cy="388937"/>
        </p:xfrm>
        <a:graphic>
          <a:graphicData uri="http://schemas.openxmlformats.org/presentationml/2006/ole">
            <p:oleObj spid="_x0000_s157698" name="Equation" r:id="rId6" imgW="1625400" imgH="203040" progId="Equation.3">
              <p:embed/>
            </p:oleObj>
          </a:graphicData>
        </a:graphic>
      </p:graphicFrame>
      <p:graphicFrame>
        <p:nvGraphicFramePr>
          <p:cNvPr id="157699" name="Object 3"/>
          <p:cNvGraphicFramePr>
            <a:graphicFrameLocks noChangeAspect="1"/>
          </p:cNvGraphicFramePr>
          <p:nvPr/>
        </p:nvGraphicFramePr>
        <p:xfrm>
          <a:off x="5892800" y="4038600"/>
          <a:ext cx="1076325" cy="754062"/>
        </p:xfrm>
        <a:graphic>
          <a:graphicData uri="http://schemas.openxmlformats.org/presentationml/2006/ole">
            <p:oleObj spid="_x0000_s157699" name="Equation" r:id="rId7" imgW="507960" imgH="393480" progId="Equation.3">
              <p:embed/>
            </p:oleObj>
          </a:graphicData>
        </a:graphic>
      </p:graphicFrame>
      <p:graphicFrame>
        <p:nvGraphicFramePr>
          <p:cNvPr id="157700" name="Object 4"/>
          <p:cNvGraphicFramePr>
            <a:graphicFrameLocks noChangeAspect="1"/>
          </p:cNvGraphicFramePr>
          <p:nvPr/>
        </p:nvGraphicFramePr>
        <p:xfrm>
          <a:off x="4727575" y="4808538"/>
          <a:ext cx="1749425" cy="754062"/>
        </p:xfrm>
        <a:graphic>
          <a:graphicData uri="http://schemas.openxmlformats.org/presentationml/2006/ole">
            <p:oleObj spid="_x0000_s157700" name="Equation" r:id="rId8" imgW="825480" imgH="393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slide(fromBottom)">
                                      <p:cBhvr>
                                        <p:cTn id="19" dur="500"/>
                                        <p:tgtEl>
                                          <p:spTgt spid="5">
                                            <p:txEl>
                                              <p:pRg st="4" end="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slide(fromBottom)">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1000"/>
                                        <p:tgtEl>
                                          <p:spTgt spid="6">
                                            <p:txEl>
                                              <p:pRg st="0" end="0"/>
                                            </p:txEl>
                                          </p:spTgt>
                                        </p:tgtEl>
                                      </p:cBhvr>
                                    </p:animEffect>
                                    <p:anim calcmode="lin" valueType="num">
                                      <p:cBhvr>
                                        <p:cTn id="2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900" decel="100000" fill="hold"/>
                                        <p:tgtEl>
                                          <p:spTgt spid="9"/>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down)">
                                      <p:cBhvr>
                                        <p:cTn id="41" dur="580">
                                          <p:stCondLst>
                                            <p:cond delay="0"/>
                                          </p:stCondLst>
                                        </p:cTn>
                                        <p:tgtEl>
                                          <p:spTgt spid="11"/>
                                        </p:tgtEl>
                                      </p:cBhvr>
                                    </p:animEffect>
                                    <p:anim calcmode="lin" valueType="num">
                                      <p:cBhvr>
                                        <p:cTn id="4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47" dur="26">
                                          <p:stCondLst>
                                            <p:cond delay="650"/>
                                          </p:stCondLst>
                                        </p:cTn>
                                        <p:tgtEl>
                                          <p:spTgt spid="11"/>
                                        </p:tgtEl>
                                      </p:cBhvr>
                                      <p:to x="100000" y="60000"/>
                                    </p:animScale>
                                    <p:animScale>
                                      <p:cBhvr>
                                        <p:cTn id="48" dur="166" decel="50000">
                                          <p:stCondLst>
                                            <p:cond delay="676"/>
                                          </p:stCondLst>
                                        </p:cTn>
                                        <p:tgtEl>
                                          <p:spTgt spid="11"/>
                                        </p:tgtEl>
                                      </p:cBhvr>
                                      <p:to x="100000" y="100000"/>
                                    </p:animScale>
                                    <p:animScale>
                                      <p:cBhvr>
                                        <p:cTn id="49" dur="26">
                                          <p:stCondLst>
                                            <p:cond delay="1312"/>
                                          </p:stCondLst>
                                        </p:cTn>
                                        <p:tgtEl>
                                          <p:spTgt spid="11"/>
                                        </p:tgtEl>
                                      </p:cBhvr>
                                      <p:to x="100000" y="80000"/>
                                    </p:animScale>
                                    <p:animScale>
                                      <p:cBhvr>
                                        <p:cTn id="50" dur="166" decel="50000">
                                          <p:stCondLst>
                                            <p:cond delay="1338"/>
                                          </p:stCondLst>
                                        </p:cTn>
                                        <p:tgtEl>
                                          <p:spTgt spid="11"/>
                                        </p:tgtEl>
                                      </p:cBhvr>
                                      <p:to x="100000" y="100000"/>
                                    </p:animScale>
                                    <p:animScale>
                                      <p:cBhvr>
                                        <p:cTn id="51" dur="26">
                                          <p:stCondLst>
                                            <p:cond delay="1642"/>
                                          </p:stCondLst>
                                        </p:cTn>
                                        <p:tgtEl>
                                          <p:spTgt spid="11"/>
                                        </p:tgtEl>
                                      </p:cBhvr>
                                      <p:to x="100000" y="90000"/>
                                    </p:animScale>
                                    <p:animScale>
                                      <p:cBhvr>
                                        <p:cTn id="52" dur="166" decel="50000">
                                          <p:stCondLst>
                                            <p:cond delay="1668"/>
                                          </p:stCondLst>
                                        </p:cTn>
                                        <p:tgtEl>
                                          <p:spTgt spid="11"/>
                                        </p:tgtEl>
                                      </p:cBhvr>
                                      <p:to x="100000" y="100000"/>
                                    </p:animScale>
                                    <p:animScale>
                                      <p:cBhvr>
                                        <p:cTn id="53" dur="26">
                                          <p:stCondLst>
                                            <p:cond delay="1808"/>
                                          </p:stCondLst>
                                        </p:cTn>
                                        <p:tgtEl>
                                          <p:spTgt spid="11"/>
                                        </p:tgtEl>
                                      </p:cBhvr>
                                      <p:to x="100000" y="95000"/>
                                    </p:animScale>
                                    <p:animScale>
                                      <p:cBhvr>
                                        <p:cTn id="54" dur="166" decel="50000">
                                          <p:stCondLst>
                                            <p:cond delay="1834"/>
                                          </p:stCondLst>
                                        </p:cTn>
                                        <p:tgtEl>
                                          <p:spTgt spid="11"/>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nodeType="clickEffect">
                                  <p:stCondLst>
                                    <p:cond delay="0"/>
                                  </p:stCondLst>
                                  <p:childTnLst>
                                    <p:set>
                                      <p:cBhvr>
                                        <p:cTn id="58" dur="1" fill="hold">
                                          <p:stCondLst>
                                            <p:cond delay="0"/>
                                          </p:stCondLst>
                                        </p:cTn>
                                        <p:tgtEl>
                                          <p:spTgt spid="157698"/>
                                        </p:tgtEl>
                                        <p:attrNameLst>
                                          <p:attrName>style.visibility</p:attrName>
                                        </p:attrNameLst>
                                      </p:cBhvr>
                                      <p:to>
                                        <p:strVal val="visible"/>
                                      </p:to>
                                    </p:set>
                                    <p:anim calcmode="lin" valueType="num">
                                      <p:cBhvr>
                                        <p:cTn id="59" dur="1000" fill="hold"/>
                                        <p:tgtEl>
                                          <p:spTgt spid="157698"/>
                                        </p:tgtEl>
                                        <p:attrNameLst>
                                          <p:attrName>ppt_x</p:attrName>
                                        </p:attrNameLst>
                                      </p:cBhvr>
                                      <p:tavLst>
                                        <p:tav tm="0">
                                          <p:val>
                                            <p:strVal val="#ppt_x-.2"/>
                                          </p:val>
                                        </p:tav>
                                        <p:tav tm="100000">
                                          <p:val>
                                            <p:strVal val="#ppt_x"/>
                                          </p:val>
                                        </p:tav>
                                      </p:tavLst>
                                    </p:anim>
                                    <p:anim calcmode="lin" valueType="num">
                                      <p:cBhvr>
                                        <p:cTn id="60" dur="1000" fill="hold"/>
                                        <p:tgtEl>
                                          <p:spTgt spid="157698"/>
                                        </p:tgtEl>
                                        <p:attrNameLst>
                                          <p:attrName>ppt_y</p:attrName>
                                        </p:attrNameLst>
                                      </p:cBhvr>
                                      <p:tavLst>
                                        <p:tav tm="0">
                                          <p:val>
                                            <p:strVal val="#ppt_y"/>
                                          </p:val>
                                        </p:tav>
                                        <p:tav tm="100000">
                                          <p:val>
                                            <p:strVal val="#ppt_y"/>
                                          </p:val>
                                        </p:tav>
                                      </p:tavLst>
                                    </p:anim>
                                    <p:animEffect transition="in" filter="wipe(right)" prLst="gradientSize: 0.1">
                                      <p:cBhvr>
                                        <p:cTn id="61" dur="1000"/>
                                        <p:tgtEl>
                                          <p:spTgt spid="157698"/>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nodeType="clickEffect">
                                  <p:stCondLst>
                                    <p:cond delay="0"/>
                                  </p:stCondLst>
                                  <p:childTnLst>
                                    <p:set>
                                      <p:cBhvr>
                                        <p:cTn id="65" dur="1" fill="hold">
                                          <p:stCondLst>
                                            <p:cond delay="0"/>
                                          </p:stCondLst>
                                        </p:cTn>
                                        <p:tgtEl>
                                          <p:spTgt spid="157699"/>
                                        </p:tgtEl>
                                        <p:attrNameLst>
                                          <p:attrName>style.visibility</p:attrName>
                                        </p:attrNameLst>
                                      </p:cBhvr>
                                      <p:to>
                                        <p:strVal val="visible"/>
                                      </p:to>
                                    </p:set>
                                    <p:anim calcmode="lin" valueType="num">
                                      <p:cBhvr>
                                        <p:cTn id="66" dur="1000" fill="hold"/>
                                        <p:tgtEl>
                                          <p:spTgt spid="157699"/>
                                        </p:tgtEl>
                                        <p:attrNameLst>
                                          <p:attrName>ppt_x</p:attrName>
                                        </p:attrNameLst>
                                      </p:cBhvr>
                                      <p:tavLst>
                                        <p:tav tm="0">
                                          <p:val>
                                            <p:strVal val="#ppt_x-.2"/>
                                          </p:val>
                                        </p:tav>
                                        <p:tav tm="100000">
                                          <p:val>
                                            <p:strVal val="#ppt_x"/>
                                          </p:val>
                                        </p:tav>
                                      </p:tavLst>
                                    </p:anim>
                                    <p:anim calcmode="lin" valueType="num">
                                      <p:cBhvr>
                                        <p:cTn id="67" dur="1000" fill="hold"/>
                                        <p:tgtEl>
                                          <p:spTgt spid="157699"/>
                                        </p:tgtEl>
                                        <p:attrNameLst>
                                          <p:attrName>ppt_y</p:attrName>
                                        </p:attrNameLst>
                                      </p:cBhvr>
                                      <p:tavLst>
                                        <p:tav tm="0">
                                          <p:val>
                                            <p:strVal val="#ppt_y"/>
                                          </p:val>
                                        </p:tav>
                                        <p:tav tm="100000">
                                          <p:val>
                                            <p:strVal val="#ppt_y"/>
                                          </p:val>
                                        </p:tav>
                                      </p:tavLst>
                                    </p:anim>
                                    <p:animEffect transition="in" filter="wipe(right)" prLst="gradientSize: 0.1">
                                      <p:cBhvr>
                                        <p:cTn id="68" dur="1000"/>
                                        <p:tgtEl>
                                          <p:spTgt spid="157699"/>
                                        </p:tgtEl>
                                      </p:cBhvr>
                                    </p:animEffect>
                                  </p:childTnLst>
                                </p:cTn>
                              </p:par>
                            </p:childTnLst>
                          </p:cTn>
                        </p:par>
                      </p:childTnLst>
                    </p:cTn>
                  </p:par>
                  <p:par>
                    <p:cTn id="69" fill="hold">
                      <p:stCondLst>
                        <p:cond delay="indefinite"/>
                      </p:stCondLst>
                      <p:childTnLst>
                        <p:par>
                          <p:cTn id="70" fill="hold">
                            <p:stCondLst>
                              <p:cond delay="0"/>
                            </p:stCondLst>
                            <p:childTnLst>
                              <p:par>
                                <p:cTn id="71" presetID="29" presetClass="entr" presetSubtype="0" fill="hold" nodeType="clickEffect">
                                  <p:stCondLst>
                                    <p:cond delay="0"/>
                                  </p:stCondLst>
                                  <p:childTnLst>
                                    <p:set>
                                      <p:cBhvr>
                                        <p:cTn id="72" dur="1" fill="hold">
                                          <p:stCondLst>
                                            <p:cond delay="0"/>
                                          </p:stCondLst>
                                        </p:cTn>
                                        <p:tgtEl>
                                          <p:spTgt spid="157700"/>
                                        </p:tgtEl>
                                        <p:attrNameLst>
                                          <p:attrName>style.visibility</p:attrName>
                                        </p:attrNameLst>
                                      </p:cBhvr>
                                      <p:to>
                                        <p:strVal val="visible"/>
                                      </p:to>
                                    </p:set>
                                    <p:anim calcmode="lin" valueType="num">
                                      <p:cBhvr>
                                        <p:cTn id="73" dur="1000" fill="hold"/>
                                        <p:tgtEl>
                                          <p:spTgt spid="157700"/>
                                        </p:tgtEl>
                                        <p:attrNameLst>
                                          <p:attrName>ppt_x</p:attrName>
                                        </p:attrNameLst>
                                      </p:cBhvr>
                                      <p:tavLst>
                                        <p:tav tm="0">
                                          <p:val>
                                            <p:strVal val="#ppt_x-.2"/>
                                          </p:val>
                                        </p:tav>
                                        <p:tav tm="100000">
                                          <p:val>
                                            <p:strVal val="#ppt_x"/>
                                          </p:val>
                                        </p:tav>
                                      </p:tavLst>
                                    </p:anim>
                                    <p:anim calcmode="lin" valueType="num">
                                      <p:cBhvr>
                                        <p:cTn id="74" dur="1000" fill="hold"/>
                                        <p:tgtEl>
                                          <p:spTgt spid="157700"/>
                                        </p:tgtEl>
                                        <p:attrNameLst>
                                          <p:attrName>ppt_y</p:attrName>
                                        </p:attrNameLst>
                                      </p:cBhvr>
                                      <p:tavLst>
                                        <p:tav tm="0">
                                          <p:val>
                                            <p:strVal val="#ppt_y"/>
                                          </p:val>
                                        </p:tav>
                                        <p:tav tm="100000">
                                          <p:val>
                                            <p:strVal val="#ppt_y"/>
                                          </p:val>
                                        </p:tav>
                                      </p:tavLst>
                                    </p:anim>
                                    <p:animEffect transition="in" filter="wipe(right)" prLst="gradientSize: 0.1">
                                      <p:cBhvr>
                                        <p:cTn id="75" dur="1000"/>
                                        <p:tgtEl>
                                          <p:spTgt spid="157700"/>
                                        </p:tgtEl>
                                      </p:cBhvr>
                                    </p:animEffect>
                                  </p:childTnLst>
                                </p:cTn>
                              </p:par>
                            </p:childTnLst>
                          </p:cTn>
                        </p:par>
                      </p:childTnLst>
                    </p:cTn>
                  </p:par>
                  <p:par>
                    <p:cTn id="76" fill="hold">
                      <p:stCondLst>
                        <p:cond delay="indefinite"/>
                      </p:stCondLst>
                      <p:childTnLst>
                        <p:par>
                          <p:cTn id="77" fill="hold">
                            <p:stCondLst>
                              <p:cond delay="0"/>
                            </p:stCondLst>
                            <p:childTnLst>
                              <p:par>
                                <p:cTn id="78" presetID="20" presetClass="entr" presetSubtype="0"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edge">
                                      <p:cBhvr>
                                        <p:cTn id="80"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381000" y="152400"/>
            <a:ext cx="8382000" cy="1754326"/>
          </a:xfrm>
          <a:prstGeom prst="rect">
            <a:avLst/>
          </a:prstGeom>
        </p:spPr>
        <p:txBody>
          <a:bodyPr wrap="square">
            <a:spAutoFit/>
          </a:bodyPr>
          <a:lstStyle/>
          <a:p>
            <a:pPr lvl="0"/>
            <a:r>
              <a:rPr lang="en-US" sz="3600" dirty="0" smtClean="0"/>
              <a:t>24. In how many ways can 5 people be</a:t>
            </a:r>
          </a:p>
          <a:p>
            <a:pPr lvl="0"/>
            <a:r>
              <a:rPr lang="en-US" sz="3600" dirty="0" smtClean="0"/>
              <a:t>      seated in a row of 5 vacant chairs if</a:t>
            </a:r>
          </a:p>
          <a:p>
            <a:pPr lvl="0"/>
            <a:r>
              <a:rPr lang="en-US" sz="3600" dirty="0" smtClean="0"/>
              <a:t>      they can sit anywhere?</a:t>
            </a:r>
            <a:endParaRPr lang="en-US" sz="3600" dirty="0"/>
          </a:p>
        </p:txBody>
      </p:sp>
      <p:sp>
        <p:nvSpPr>
          <p:cNvPr id="6" name="Rectangle 5"/>
          <p:cNvSpPr/>
          <p:nvPr/>
        </p:nvSpPr>
        <p:spPr>
          <a:xfrm>
            <a:off x="1648827" y="2057400"/>
            <a:ext cx="1138453" cy="584775"/>
          </a:xfrm>
          <a:prstGeom prst="rect">
            <a:avLst/>
          </a:prstGeom>
        </p:spPr>
        <p:txBody>
          <a:bodyPr wrap="none">
            <a:spAutoFit/>
          </a:bodyPr>
          <a:lstStyle/>
          <a:p>
            <a:r>
              <a:rPr lang="en-US" sz="3200" dirty="0" smtClean="0"/>
              <a:t>a. 120</a:t>
            </a:r>
            <a:endParaRPr lang="en-US" sz="3200" dirty="0"/>
          </a:p>
        </p:txBody>
      </p:sp>
      <p:sp>
        <p:nvSpPr>
          <p:cNvPr id="7" name="Rectangle 6"/>
          <p:cNvSpPr/>
          <p:nvPr/>
        </p:nvSpPr>
        <p:spPr>
          <a:xfrm>
            <a:off x="1600200" y="2743200"/>
            <a:ext cx="1060098" cy="584775"/>
          </a:xfrm>
          <a:prstGeom prst="rect">
            <a:avLst/>
          </a:prstGeom>
        </p:spPr>
        <p:txBody>
          <a:bodyPr wrap="none">
            <a:spAutoFit/>
          </a:bodyPr>
          <a:lstStyle/>
          <a:p>
            <a:r>
              <a:rPr lang="en-US" sz="3200" dirty="0" smtClean="0"/>
              <a:t>b. 90</a:t>
            </a:r>
            <a:endParaRPr lang="en-US" sz="3200" dirty="0"/>
          </a:p>
        </p:txBody>
      </p:sp>
      <p:sp>
        <p:nvSpPr>
          <p:cNvPr id="8" name="Rectangle 7"/>
          <p:cNvSpPr/>
          <p:nvPr/>
        </p:nvSpPr>
        <p:spPr>
          <a:xfrm>
            <a:off x="4757776" y="2006025"/>
            <a:ext cx="1033424" cy="584775"/>
          </a:xfrm>
          <a:prstGeom prst="rect">
            <a:avLst/>
          </a:prstGeom>
        </p:spPr>
        <p:txBody>
          <a:bodyPr wrap="none">
            <a:spAutoFit/>
          </a:bodyPr>
          <a:lstStyle/>
          <a:p>
            <a:r>
              <a:rPr lang="en-US" sz="3200" dirty="0" smtClean="0"/>
              <a:t>c. 64</a:t>
            </a:r>
            <a:endParaRPr lang="en-US" sz="3200" dirty="0"/>
          </a:p>
        </p:txBody>
      </p:sp>
      <p:sp>
        <p:nvSpPr>
          <p:cNvPr id="9" name="Rectangle 8"/>
          <p:cNvSpPr/>
          <p:nvPr/>
        </p:nvSpPr>
        <p:spPr>
          <a:xfrm>
            <a:off x="4744150" y="2768025"/>
            <a:ext cx="1013804" cy="584775"/>
          </a:xfrm>
          <a:prstGeom prst="rect">
            <a:avLst/>
          </a:prstGeom>
        </p:spPr>
        <p:txBody>
          <a:bodyPr wrap="none">
            <a:spAutoFit/>
          </a:bodyPr>
          <a:lstStyle/>
          <a:p>
            <a:r>
              <a:rPr lang="en-US" sz="3200" dirty="0" smtClean="0"/>
              <a:t>d. 25</a:t>
            </a:r>
          </a:p>
        </p:txBody>
      </p:sp>
      <p:sp>
        <p:nvSpPr>
          <p:cNvPr id="10" name="Rectangle 9"/>
          <p:cNvSpPr/>
          <p:nvPr/>
        </p:nvSpPr>
        <p:spPr>
          <a:xfrm>
            <a:off x="1806505" y="3576697"/>
            <a:ext cx="4137095" cy="2062103"/>
          </a:xfrm>
          <a:prstGeom prst="rect">
            <a:avLst/>
          </a:prstGeom>
        </p:spPr>
        <p:txBody>
          <a:bodyPr wrap="none">
            <a:spAutoFit/>
          </a:bodyPr>
          <a:lstStyle/>
          <a:p>
            <a:r>
              <a:rPr lang="en-US" sz="2800" b="1" dirty="0" smtClean="0"/>
              <a:t>Solution:</a:t>
            </a:r>
          </a:p>
          <a:p>
            <a:r>
              <a:rPr lang="en-US" sz="2800" b="1" dirty="0" smtClean="0"/>
              <a:t>	</a:t>
            </a:r>
            <a:r>
              <a:rPr lang="en-US" sz="2800" b="1" baseline="-25000" dirty="0" smtClean="0"/>
              <a:t>5</a:t>
            </a:r>
            <a:r>
              <a:rPr lang="en-US" sz="2800" b="1" dirty="0" smtClean="0"/>
              <a:t>P</a:t>
            </a:r>
            <a:r>
              <a:rPr lang="en-US" sz="2800" b="1" baseline="-25000" dirty="0" smtClean="0"/>
              <a:t>5</a:t>
            </a:r>
            <a:r>
              <a:rPr lang="en-US" sz="2800" b="1" dirty="0" smtClean="0"/>
              <a:t> = 5!</a:t>
            </a:r>
          </a:p>
          <a:p>
            <a:r>
              <a:rPr lang="en-US" sz="2800" b="1" dirty="0" smtClean="0"/>
              <a:t>	      = 5 x 4 x 3 x 2 x 1</a:t>
            </a:r>
          </a:p>
          <a:p>
            <a:r>
              <a:rPr lang="en-US" sz="4400" b="1" dirty="0" smtClean="0"/>
              <a:t>	   = 120</a:t>
            </a:r>
          </a:p>
        </p:txBody>
      </p:sp>
      <p:sp>
        <p:nvSpPr>
          <p:cNvPr id="11" name="Rounded Rectangle 10"/>
          <p:cNvSpPr/>
          <p:nvPr/>
        </p:nvSpPr>
        <p:spPr>
          <a:xfrm>
            <a:off x="1730305" y="3576697"/>
            <a:ext cx="4114800" cy="20574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1676400" y="2121437"/>
            <a:ext cx="1143000" cy="4947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5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slide(fromBottom)">
                                      <p:cBhvr>
                                        <p:cTn id="19" dur="500"/>
                                        <p:tgtEl>
                                          <p:spTgt spid="8"/>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slide(fromBottom)">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nodeType="clickEffect">
                                  <p:stCondLst>
                                    <p:cond delay="0"/>
                                  </p:stCondLst>
                                  <p:childTnLst>
                                    <p:set>
                                      <p:cBhvr>
                                        <p:cTn id="26" dur="1" fill="hold">
                                          <p:stCondLst>
                                            <p:cond delay="0"/>
                                          </p:stCondLst>
                                        </p:cTn>
                                        <p:tgtEl>
                                          <p:spTgt spid="10">
                                            <p:txEl>
                                              <p:pRg st="0" end="0"/>
                                            </p:txEl>
                                          </p:spTgt>
                                        </p:tgtEl>
                                        <p:attrNameLst>
                                          <p:attrName>style.visibility</p:attrName>
                                        </p:attrNameLst>
                                      </p:cBhvr>
                                      <p:to>
                                        <p:strVal val="visible"/>
                                      </p:to>
                                    </p:set>
                                    <p:animEffect transition="in" filter="fade">
                                      <p:cBhvr>
                                        <p:cTn id="27" dur="1000"/>
                                        <p:tgtEl>
                                          <p:spTgt spid="10">
                                            <p:txEl>
                                              <p:pRg st="0" end="0"/>
                                            </p:txEl>
                                          </p:spTgt>
                                        </p:tgtEl>
                                      </p:cBhvr>
                                    </p:animEffect>
                                    <p:anim calcmode="lin" valueType="num">
                                      <p:cBhvr>
                                        <p:cTn id="2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900" decel="100000" fill="hold"/>
                                        <p:tgtEl>
                                          <p:spTgt spid="11"/>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 calcmode="lin" valueType="num">
                                      <p:cBhvr>
                                        <p:cTn id="41" dur="10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2" dur="1000" fill="hold"/>
                                        <p:tgtEl>
                                          <p:spTgt spid="10">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10">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nodeType="clickEffect">
                                  <p:stCondLst>
                                    <p:cond delay="0"/>
                                  </p:stCondLst>
                                  <p:childTnLst>
                                    <p:set>
                                      <p:cBhvr>
                                        <p:cTn id="47" dur="1" fill="hold">
                                          <p:stCondLst>
                                            <p:cond delay="0"/>
                                          </p:stCondLst>
                                        </p:cTn>
                                        <p:tgtEl>
                                          <p:spTgt spid="10">
                                            <p:txEl>
                                              <p:pRg st="2" end="2"/>
                                            </p:txEl>
                                          </p:spTgt>
                                        </p:tgtEl>
                                        <p:attrNameLst>
                                          <p:attrName>style.visibility</p:attrName>
                                        </p:attrNameLst>
                                      </p:cBhvr>
                                      <p:to>
                                        <p:strVal val="visible"/>
                                      </p:to>
                                    </p:set>
                                    <p:anim calcmode="lin" valueType="num">
                                      <p:cBhvr>
                                        <p:cTn id="48" dur="1000" fill="hold"/>
                                        <p:tgtEl>
                                          <p:spTgt spid="10">
                                            <p:txEl>
                                              <p:pRg st="2" end="2"/>
                                            </p:txEl>
                                          </p:spTgt>
                                        </p:tgtEl>
                                        <p:attrNameLst>
                                          <p:attrName>ppt_x</p:attrName>
                                        </p:attrNameLst>
                                      </p:cBhvr>
                                      <p:tavLst>
                                        <p:tav tm="0">
                                          <p:val>
                                            <p:strVal val="#ppt_x-.2"/>
                                          </p:val>
                                        </p:tav>
                                        <p:tav tm="100000">
                                          <p:val>
                                            <p:strVal val="#ppt_x"/>
                                          </p:val>
                                        </p:tav>
                                      </p:tavLst>
                                    </p:anim>
                                    <p:anim calcmode="lin" valueType="num">
                                      <p:cBhvr>
                                        <p:cTn id="49" dur="1000" fill="hold"/>
                                        <p:tgtEl>
                                          <p:spTgt spid="10">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10">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9" presetClass="entr" presetSubtype="0" fill="hold" nodeType="clickEffect">
                                  <p:stCondLst>
                                    <p:cond delay="0"/>
                                  </p:stCondLst>
                                  <p:childTnLst>
                                    <p:set>
                                      <p:cBhvr>
                                        <p:cTn id="54" dur="1" fill="hold">
                                          <p:stCondLst>
                                            <p:cond delay="0"/>
                                          </p:stCondLst>
                                        </p:cTn>
                                        <p:tgtEl>
                                          <p:spTgt spid="10">
                                            <p:txEl>
                                              <p:pRg st="3" end="3"/>
                                            </p:txEl>
                                          </p:spTgt>
                                        </p:tgtEl>
                                        <p:attrNameLst>
                                          <p:attrName>style.visibility</p:attrName>
                                        </p:attrNameLst>
                                      </p:cBhvr>
                                      <p:to>
                                        <p:strVal val="visible"/>
                                      </p:to>
                                    </p:set>
                                    <p:anim calcmode="lin" valueType="num">
                                      <p:cBhvr>
                                        <p:cTn id="55" dur="1000" fill="hold"/>
                                        <p:tgtEl>
                                          <p:spTgt spid="10">
                                            <p:txEl>
                                              <p:pRg st="3" end="3"/>
                                            </p:txEl>
                                          </p:spTgt>
                                        </p:tgtEl>
                                        <p:attrNameLst>
                                          <p:attrName>ppt_x</p:attrName>
                                        </p:attrNameLst>
                                      </p:cBhvr>
                                      <p:tavLst>
                                        <p:tav tm="0">
                                          <p:val>
                                            <p:strVal val="#ppt_x-.2"/>
                                          </p:val>
                                        </p:tav>
                                        <p:tav tm="100000">
                                          <p:val>
                                            <p:strVal val="#ppt_x"/>
                                          </p:val>
                                        </p:tav>
                                      </p:tavLst>
                                    </p:anim>
                                    <p:anim calcmode="lin" valueType="num">
                                      <p:cBhvr>
                                        <p:cTn id="56" dur="1000" fill="hold"/>
                                        <p:tgtEl>
                                          <p:spTgt spid="10">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7" dur="1000"/>
                                        <p:tgtEl>
                                          <p:spTgt spid="10">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edge">
                                      <p:cBhvr>
                                        <p:cTn id="6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animBg="1"/>
      <p:bldP spid="1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Content Placeholder 2"/>
          <p:cNvSpPr txBox="1">
            <a:spLocks/>
          </p:cNvSpPr>
          <p:nvPr/>
        </p:nvSpPr>
        <p:spPr>
          <a:xfrm>
            <a:off x="381000" y="187035"/>
            <a:ext cx="8229600" cy="1946565"/>
          </a:xfrm>
          <a:prstGeom prst="rect">
            <a:avLst/>
          </a:prstGeom>
        </p:spPr>
        <p:txBody>
          <a:bodyPr/>
          <a:lstStyle/>
          <a:p>
            <a:pPr marL="463550" marR="0" lvl="0" indent="-46355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smtClean="0"/>
              <a:t>25</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Find the number of distinct permutations of the letters in the word ‘</a:t>
            </a:r>
            <a:r>
              <a:rPr lang="en-US" sz="2400" dirty="0" smtClean="0"/>
              <a:t>BALLOON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PH"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a. 270			c. 1260</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b. 720			d. </a:t>
            </a:r>
            <a:r>
              <a:rPr kumimoji="0" lang="en-US" sz="2400" b="0" i="0" u="none" strike="noStrike" kern="1200" cap="none" spc="0" normalizeH="0" baseline="0" noProof="0" smtClean="0">
                <a:ln>
                  <a:noFill/>
                </a:ln>
                <a:solidFill>
                  <a:schemeClr val="tx1"/>
                </a:solidFill>
                <a:effectLst/>
                <a:uLnTx/>
                <a:uFillTx/>
                <a:latin typeface="+mn-lt"/>
                <a:ea typeface="+mn-ea"/>
                <a:cs typeface="+mn-cs"/>
              </a:rPr>
              <a:t>5040</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Rectangle 5"/>
          <p:cNvSpPr/>
          <p:nvPr/>
        </p:nvSpPr>
        <p:spPr>
          <a:xfrm>
            <a:off x="765881" y="2274196"/>
            <a:ext cx="6934200" cy="2031325"/>
          </a:xfrm>
          <a:prstGeom prst="rect">
            <a:avLst/>
          </a:prstGeom>
        </p:spPr>
        <p:txBody>
          <a:bodyPr wrap="square">
            <a:spAutoFit/>
          </a:bodyPr>
          <a:lstStyle/>
          <a:p>
            <a:r>
              <a:rPr lang="en-US" b="1" dirty="0" smtClean="0"/>
              <a:t>Solution:</a:t>
            </a:r>
          </a:p>
          <a:p>
            <a:pPr>
              <a:lnSpc>
                <a:spcPct val="150000"/>
              </a:lnSpc>
            </a:pPr>
            <a:r>
              <a:rPr lang="en-US" b="1" dirty="0" smtClean="0"/>
              <a:t>	Let n = number of letters in the word BALLOON</a:t>
            </a:r>
          </a:p>
          <a:p>
            <a:pPr>
              <a:lnSpc>
                <a:spcPct val="150000"/>
              </a:lnSpc>
            </a:pPr>
            <a:r>
              <a:rPr lang="en-US" b="1" dirty="0" smtClean="0"/>
              <a:t>	  </a:t>
            </a:r>
            <a:r>
              <a:rPr lang="en-US" b="1" dirty="0" err="1" smtClean="0"/>
              <a:t>nPn</a:t>
            </a:r>
            <a:r>
              <a:rPr lang="en-US" b="1" dirty="0" smtClean="0"/>
              <a:t> = permutation of n letters</a:t>
            </a:r>
          </a:p>
          <a:p>
            <a:pPr>
              <a:lnSpc>
                <a:spcPct val="150000"/>
              </a:lnSpc>
            </a:pPr>
            <a:r>
              <a:rPr lang="en-US" b="1" dirty="0" smtClean="0"/>
              <a:t>	       a = no. of L’s</a:t>
            </a:r>
          </a:p>
          <a:p>
            <a:pPr>
              <a:lnSpc>
                <a:spcPct val="150000"/>
              </a:lnSpc>
            </a:pPr>
            <a:r>
              <a:rPr lang="en-US" b="1" dirty="0" smtClean="0"/>
              <a:t>	       b = no. of O’s</a:t>
            </a:r>
          </a:p>
        </p:txBody>
      </p:sp>
      <p:graphicFrame>
        <p:nvGraphicFramePr>
          <p:cNvPr id="7" name="Object 1"/>
          <p:cNvGraphicFramePr>
            <a:graphicFrameLocks noChangeAspect="1"/>
          </p:cNvGraphicFramePr>
          <p:nvPr/>
        </p:nvGraphicFramePr>
        <p:xfrm>
          <a:off x="1154819" y="4483996"/>
          <a:ext cx="2111376" cy="1066800"/>
        </p:xfrm>
        <a:graphic>
          <a:graphicData uri="http://schemas.openxmlformats.org/presentationml/2006/ole">
            <p:oleObj spid="_x0000_s158722" name="Equation" r:id="rId6" imgW="749160" imgH="393480" progId="Equation.3">
              <p:embed/>
            </p:oleObj>
          </a:graphicData>
        </a:graphic>
      </p:graphicFrame>
      <p:graphicFrame>
        <p:nvGraphicFramePr>
          <p:cNvPr id="8" name="Object 2"/>
          <p:cNvGraphicFramePr>
            <a:graphicFrameLocks noChangeAspect="1"/>
          </p:cNvGraphicFramePr>
          <p:nvPr/>
        </p:nvGraphicFramePr>
        <p:xfrm>
          <a:off x="3282068" y="4395095"/>
          <a:ext cx="1370013" cy="1235585"/>
        </p:xfrm>
        <a:graphic>
          <a:graphicData uri="http://schemas.openxmlformats.org/presentationml/2006/ole">
            <p:oleObj spid="_x0000_s158723" name="Equation" r:id="rId7" imgW="419040" imgH="393480" progId="Equation.3">
              <p:embed/>
            </p:oleObj>
          </a:graphicData>
        </a:graphic>
      </p:graphicFrame>
      <p:graphicFrame>
        <p:nvGraphicFramePr>
          <p:cNvPr id="9" name="Object 3"/>
          <p:cNvGraphicFramePr>
            <a:graphicFrameLocks noChangeAspect="1"/>
          </p:cNvGraphicFramePr>
          <p:nvPr/>
        </p:nvGraphicFramePr>
        <p:xfrm>
          <a:off x="4460875" y="4419600"/>
          <a:ext cx="4302125" cy="1143000"/>
        </p:xfrm>
        <a:graphic>
          <a:graphicData uri="http://schemas.openxmlformats.org/presentationml/2006/ole">
            <p:oleObj spid="_x0000_s158724" name="Equation" r:id="rId8" imgW="1422360" imgH="393480" progId="Equation.3">
              <p:embed/>
            </p:oleObj>
          </a:graphicData>
        </a:graphic>
      </p:graphicFrame>
      <p:graphicFrame>
        <p:nvGraphicFramePr>
          <p:cNvPr id="10" name="Object 5"/>
          <p:cNvGraphicFramePr>
            <a:graphicFrameLocks noChangeAspect="1"/>
          </p:cNvGraphicFramePr>
          <p:nvPr/>
        </p:nvGraphicFramePr>
        <p:xfrm>
          <a:off x="596900" y="5486400"/>
          <a:ext cx="4622800" cy="838200"/>
        </p:xfrm>
        <a:graphic>
          <a:graphicData uri="http://schemas.openxmlformats.org/presentationml/2006/ole">
            <p:oleObj spid="_x0000_s158725" name="Equation" r:id="rId9" imgW="1079280" imgH="203040" progId="Equation.3">
              <p:embed/>
            </p:oleObj>
          </a:graphicData>
        </a:graphic>
      </p:graphicFrame>
      <p:sp>
        <p:nvSpPr>
          <p:cNvPr id="11" name="Rounded Rectangle 10"/>
          <p:cNvSpPr/>
          <p:nvPr/>
        </p:nvSpPr>
        <p:spPr>
          <a:xfrm>
            <a:off x="600601" y="2133600"/>
            <a:ext cx="8086199" cy="4560195"/>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038600" y="1193800"/>
            <a:ext cx="1168758" cy="443247"/>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cxnSp>
        <p:nvCxnSpPr>
          <p:cNvPr id="14" name="Straight Connector 13"/>
          <p:cNvCxnSpPr/>
          <p:nvPr/>
        </p:nvCxnSpPr>
        <p:spPr>
          <a:xfrm rot="16200000" flipH="1">
            <a:off x="6591300" y="4508500"/>
            <a:ext cx="381000"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867400" y="5156200"/>
            <a:ext cx="1816100" cy="254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slide(fromBottom)">
                                      <p:cBhvr>
                                        <p:cTn id="13" dur="500"/>
                                        <p:tgtEl>
                                          <p:spTgt spid="5">
                                            <p:txEl>
                                              <p:pRg st="2" end="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slide(fromBottom)">
                                      <p:cBhvr>
                                        <p:cTn id="16" dur="5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
                                            <p:txEl>
                                              <p:pRg st="0" end="0"/>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
                                            <p:txEl>
                                              <p:pRg st="0" end="0"/>
                                            </p:txEl>
                                          </p:spTgt>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900" decel="100000" fill="hold"/>
                                        <p:tgtEl>
                                          <p:spTgt spid="11"/>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 calcmode="lin" valueType="num">
                                      <p:cBhvr>
                                        <p:cTn id="35" dur="1000" fill="hold"/>
                                        <p:tgtEl>
                                          <p:spTgt spid="6">
                                            <p:txEl>
                                              <p:pRg st="1" end="1"/>
                                            </p:txEl>
                                          </p:spTgt>
                                        </p:tgtEl>
                                        <p:attrNameLst>
                                          <p:attrName>ppt_x</p:attrName>
                                        </p:attrNameLst>
                                      </p:cBhvr>
                                      <p:tavLst>
                                        <p:tav tm="0">
                                          <p:val>
                                            <p:strVal val="#ppt_x-.2"/>
                                          </p:val>
                                        </p:tav>
                                        <p:tav tm="100000">
                                          <p:val>
                                            <p:strVal val="#ppt_x"/>
                                          </p:val>
                                        </p:tav>
                                      </p:tavLst>
                                    </p:anim>
                                    <p:anim calcmode="lin" valueType="num">
                                      <p:cBhvr>
                                        <p:cTn id="36" dur="1000" fill="hold"/>
                                        <p:tgtEl>
                                          <p:spTgt spid="6">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 calcmode="lin" valueType="num">
                                      <p:cBhvr>
                                        <p:cTn id="42" dur="1000" fill="hold"/>
                                        <p:tgtEl>
                                          <p:spTgt spid="6">
                                            <p:txEl>
                                              <p:pRg st="2" end="2"/>
                                            </p:txEl>
                                          </p:spTgt>
                                        </p:tgtEl>
                                        <p:attrNameLst>
                                          <p:attrName>ppt_x</p:attrName>
                                        </p:attrNameLst>
                                      </p:cBhvr>
                                      <p:tavLst>
                                        <p:tav tm="0">
                                          <p:val>
                                            <p:strVal val="#ppt_x-.2"/>
                                          </p:val>
                                        </p:tav>
                                        <p:tav tm="100000">
                                          <p:val>
                                            <p:strVal val="#ppt_x"/>
                                          </p:val>
                                        </p:tav>
                                      </p:tavLst>
                                    </p:anim>
                                    <p:anim calcmode="lin" valueType="num">
                                      <p:cBhvr>
                                        <p:cTn id="43" dur="1000" fill="hold"/>
                                        <p:tgtEl>
                                          <p:spTgt spid="6">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6">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p:cTn id="49" dur="1000" fill="hold"/>
                                        <p:tgtEl>
                                          <p:spTgt spid="6">
                                            <p:txEl>
                                              <p:pRg st="3" end="3"/>
                                            </p:txEl>
                                          </p:spTgt>
                                        </p:tgtEl>
                                        <p:attrNameLst>
                                          <p:attrName>ppt_x</p:attrName>
                                        </p:attrNameLst>
                                      </p:cBhvr>
                                      <p:tavLst>
                                        <p:tav tm="0">
                                          <p:val>
                                            <p:strVal val="#ppt_x-.2"/>
                                          </p:val>
                                        </p:tav>
                                        <p:tav tm="100000">
                                          <p:val>
                                            <p:strVal val="#ppt_x"/>
                                          </p:val>
                                        </p:tav>
                                      </p:tavLst>
                                    </p:anim>
                                    <p:anim calcmode="lin" valueType="num">
                                      <p:cBhvr>
                                        <p:cTn id="50" dur="1000" fill="hold"/>
                                        <p:tgtEl>
                                          <p:spTgt spid="6">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6">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6">
                                            <p:txEl>
                                              <p:pRg st="4" end="4"/>
                                            </p:txEl>
                                          </p:spTgt>
                                        </p:tgtEl>
                                        <p:attrNameLst>
                                          <p:attrName>style.visibility</p:attrName>
                                        </p:attrNameLst>
                                      </p:cBhvr>
                                      <p:to>
                                        <p:strVal val="visible"/>
                                      </p:to>
                                    </p:set>
                                    <p:anim calcmode="lin" valueType="num">
                                      <p:cBhvr>
                                        <p:cTn id="56" dur="1000" fill="hold"/>
                                        <p:tgtEl>
                                          <p:spTgt spid="6">
                                            <p:txEl>
                                              <p:pRg st="4" end="4"/>
                                            </p:txEl>
                                          </p:spTgt>
                                        </p:tgtEl>
                                        <p:attrNameLst>
                                          <p:attrName>ppt_x</p:attrName>
                                        </p:attrNameLst>
                                      </p:cBhvr>
                                      <p:tavLst>
                                        <p:tav tm="0">
                                          <p:val>
                                            <p:strVal val="#ppt_x-.2"/>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6">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p:cTn id="63" dur="1000" fill="hold"/>
                                        <p:tgtEl>
                                          <p:spTgt spid="7"/>
                                        </p:tgtEl>
                                        <p:attrNameLst>
                                          <p:attrName>ppt_x</p:attrName>
                                        </p:attrNameLst>
                                      </p:cBhvr>
                                      <p:tavLst>
                                        <p:tav tm="0">
                                          <p:val>
                                            <p:strVal val="#ppt_x-.2"/>
                                          </p:val>
                                        </p:tav>
                                        <p:tav tm="100000">
                                          <p:val>
                                            <p:strVal val="#ppt_x"/>
                                          </p:val>
                                        </p:tav>
                                      </p:tavLst>
                                    </p:anim>
                                    <p:anim calcmode="lin" valueType="num">
                                      <p:cBhvr>
                                        <p:cTn id="64"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65" dur="1000"/>
                                        <p:tgtEl>
                                          <p:spTgt spid="7"/>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 calcmode="lin" valueType="num">
                                      <p:cBhvr>
                                        <p:cTn id="70" dur="1000" fill="hold"/>
                                        <p:tgtEl>
                                          <p:spTgt spid="8"/>
                                        </p:tgtEl>
                                        <p:attrNameLst>
                                          <p:attrName>ppt_x</p:attrName>
                                        </p:attrNameLst>
                                      </p:cBhvr>
                                      <p:tavLst>
                                        <p:tav tm="0">
                                          <p:val>
                                            <p:strVal val="#ppt_x-.2"/>
                                          </p:val>
                                        </p:tav>
                                        <p:tav tm="100000">
                                          <p:val>
                                            <p:strVal val="#ppt_x"/>
                                          </p:val>
                                        </p:tav>
                                      </p:tavLst>
                                    </p:anim>
                                    <p:anim calcmode="lin" valueType="num">
                                      <p:cBhvr>
                                        <p:cTn id="71"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72" dur="10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29" presetClass="entr" presetSubtype="0"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1000" fill="hold"/>
                                        <p:tgtEl>
                                          <p:spTgt spid="9"/>
                                        </p:tgtEl>
                                        <p:attrNameLst>
                                          <p:attrName>ppt_x</p:attrName>
                                        </p:attrNameLst>
                                      </p:cBhvr>
                                      <p:tavLst>
                                        <p:tav tm="0">
                                          <p:val>
                                            <p:strVal val="#ppt_x-.2"/>
                                          </p:val>
                                        </p:tav>
                                        <p:tav tm="100000">
                                          <p:val>
                                            <p:strVal val="#ppt_x"/>
                                          </p:val>
                                        </p:tav>
                                      </p:tavLst>
                                    </p:anim>
                                    <p:anim calcmode="lin" valueType="num">
                                      <p:cBhvr>
                                        <p:cTn id="78"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79" dur="1000"/>
                                        <p:tgtEl>
                                          <p:spTgt spid="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wipe(down)">
                                      <p:cBhvr>
                                        <p:cTn id="84" dur="500"/>
                                        <p:tgtEl>
                                          <p:spTgt spid="15"/>
                                        </p:tgtEl>
                                      </p:cBhvr>
                                    </p:animEffect>
                                  </p:childTnLst>
                                </p:cTn>
                              </p:par>
                              <p:par>
                                <p:cTn id="85" presetID="22" presetClass="entr" presetSubtype="4" fill="hold" nodeType="withEffect">
                                  <p:stCondLst>
                                    <p:cond delay="0"/>
                                  </p:stCondLst>
                                  <p:childTnLst>
                                    <p:set>
                                      <p:cBhvr>
                                        <p:cTn id="86" dur="1" fill="hold">
                                          <p:stCondLst>
                                            <p:cond delay="0"/>
                                          </p:stCondLst>
                                        </p:cTn>
                                        <p:tgtEl>
                                          <p:spTgt spid="14"/>
                                        </p:tgtEl>
                                        <p:attrNameLst>
                                          <p:attrName>style.visibility</p:attrName>
                                        </p:attrNameLst>
                                      </p:cBhvr>
                                      <p:to>
                                        <p:strVal val="visible"/>
                                      </p:to>
                                    </p:set>
                                    <p:animEffect transition="in" filter="wipe(down)">
                                      <p:cBhvr>
                                        <p:cTn id="87" dur="500"/>
                                        <p:tgtEl>
                                          <p:spTgt spid="14"/>
                                        </p:tgtEl>
                                      </p:cBhvr>
                                    </p:animEffect>
                                  </p:childTnLst>
                                </p:cTn>
                              </p:par>
                            </p:childTnLst>
                          </p:cTn>
                        </p:par>
                      </p:childTnLst>
                    </p:cTn>
                  </p:par>
                  <p:par>
                    <p:cTn id="88" fill="hold">
                      <p:stCondLst>
                        <p:cond delay="indefinite"/>
                      </p:stCondLst>
                      <p:childTnLst>
                        <p:par>
                          <p:cTn id="89" fill="hold">
                            <p:stCondLst>
                              <p:cond delay="0"/>
                            </p:stCondLst>
                            <p:childTnLst>
                              <p:par>
                                <p:cTn id="90" presetID="29" presetClass="entr" presetSubtype="0"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 calcmode="lin" valueType="num">
                                      <p:cBhvr>
                                        <p:cTn id="92" dur="1000" fill="hold"/>
                                        <p:tgtEl>
                                          <p:spTgt spid="10"/>
                                        </p:tgtEl>
                                        <p:attrNameLst>
                                          <p:attrName>ppt_x</p:attrName>
                                        </p:attrNameLst>
                                      </p:cBhvr>
                                      <p:tavLst>
                                        <p:tav tm="0">
                                          <p:val>
                                            <p:strVal val="#ppt_x-.2"/>
                                          </p:val>
                                        </p:tav>
                                        <p:tav tm="100000">
                                          <p:val>
                                            <p:strVal val="#ppt_x"/>
                                          </p:val>
                                        </p:tav>
                                      </p:tavLst>
                                    </p:anim>
                                    <p:anim calcmode="lin" valueType="num">
                                      <p:cBhvr>
                                        <p:cTn id="93"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4" dur="1000"/>
                                        <p:tgtEl>
                                          <p:spTgt spid="10"/>
                                        </p:tgtEl>
                                      </p:cBhvr>
                                    </p:animEffect>
                                  </p:childTnLst>
                                </p:cTn>
                              </p:par>
                            </p:childTnLst>
                          </p:cTn>
                        </p:par>
                      </p:childTnLst>
                    </p:cTn>
                  </p:par>
                  <p:par>
                    <p:cTn id="95" fill="hold">
                      <p:stCondLst>
                        <p:cond delay="indefinite"/>
                      </p:stCondLst>
                      <p:childTnLst>
                        <p:par>
                          <p:cTn id="96" fill="hold">
                            <p:stCondLst>
                              <p:cond delay="0"/>
                            </p:stCondLst>
                            <p:childTnLst>
                              <p:par>
                                <p:cTn id="97" presetID="20" presetClass="entr" presetSubtype="0" fill="hold" grpId="0" nodeType="clickEffect">
                                  <p:stCondLst>
                                    <p:cond delay="0"/>
                                  </p:stCondLst>
                                  <p:childTnLst>
                                    <p:set>
                                      <p:cBhvr>
                                        <p:cTn id="98" dur="1" fill="hold">
                                          <p:stCondLst>
                                            <p:cond delay="0"/>
                                          </p:stCondLst>
                                        </p:cTn>
                                        <p:tgtEl>
                                          <p:spTgt spid="12"/>
                                        </p:tgtEl>
                                        <p:attrNameLst>
                                          <p:attrName>style.visibility</p:attrName>
                                        </p:attrNameLst>
                                      </p:cBhvr>
                                      <p:to>
                                        <p:strVal val="visible"/>
                                      </p:to>
                                    </p:set>
                                    <p:animEffect transition="in" filter="wedge">
                                      <p:cBhvr>
                                        <p:cTn id="9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457200" y="228600"/>
            <a:ext cx="8382000" cy="830997"/>
          </a:xfrm>
          <a:prstGeom prst="rect">
            <a:avLst/>
          </a:prstGeom>
        </p:spPr>
        <p:txBody>
          <a:bodyPr wrap="square">
            <a:spAutoFit/>
          </a:bodyPr>
          <a:lstStyle/>
          <a:p>
            <a:pPr marL="520700" lvl="0" indent="-520700"/>
            <a:r>
              <a:rPr lang="en-US" sz="2400" dirty="0" smtClean="0"/>
              <a:t>26. The following polygon shows a shop’s monthly sales of umbrellas for the year.</a:t>
            </a:r>
            <a:endParaRPr lang="en-US" sz="2400" dirty="0"/>
          </a:p>
        </p:txBody>
      </p:sp>
      <p:graphicFrame>
        <p:nvGraphicFramePr>
          <p:cNvPr id="6" name="Chart 5"/>
          <p:cNvGraphicFramePr/>
          <p:nvPr/>
        </p:nvGraphicFramePr>
        <p:xfrm>
          <a:off x="1447800" y="990600"/>
          <a:ext cx="6705600" cy="2438400"/>
        </p:xfrm>
        <a:graphic>
          <a:graphicData uri="http://schemas.openxmlformats.org/drawingml/2006/chart">
            <c:chart xmlns:c="http://schemas.openxmlformats.org/drawingml/2006/chart" xmlns:r="http://schemas.openxmlformats.org/officeDocument/2006/relationships" r:id="rId5"/>
          </a:graphicData>
        </a:graphic>
      </p:graphicFrame>
      <p:sp>
        <p:nvSpPr>
          <p:cNvPr id="7" name="Rectangle 6"/>
          <p:cNvSpPr/>
          <p:nvPr/>
        </p:nvSpPr>
        <p:spPr>
          <a:xfrm>
            <a:off x="4483856" y="3302000"/>
            <a:ext cx="926344" cy="369332"/>
          </a:xfrm>
          <a:prstGeom prst="rect">
            <a:avLst/>
          </a:prstGeom>
        </p:spPr>
        <p:txBody>
          <a:bodyPr wrap="none">
            <a:spAutoFit/>
          </a:bodyPr>
          <a:lstStyle/>
          <a:p>
            <a:r>
              <a:rPr lang="en-US" b="1" dirty="0" smtClean="0"/>
              <a:t>Months</a:t>
            </a:r>
          </a:p>
        </p:txBody>
      </p:sp>
      <p:sp>
        <p:nvSpPr>
          <p:cNvPr id="8" name="Rectangle 7"/>
          <p:cNvSpPr/>
          <p:nvPr/>
        </p:nvSpPr>
        <p:spPr>
          <a:xfrm rot="16200000">
            <a:off x="373706" y="1818528"/>
            <a:ext cx="2151166" cy="307777"/>
          </a:xfrm>
          <a:prstGeom prst="rect">
            <a:avLst/>
          </a:prstGeom>
        </p:spPr>
        <p:txBody>
          <a:bodyPr wrap="none">
            <a:spAutoFit/>
          </a:bodyPr>
          <a:lstStyle/>
          <a:p>
            <a:r>
              <a:rPr lang="en-US" sz="1400" b="1" dirty="0" smtClean="0"/>
              <a:t>Number of Umbrellas Sold</a:t>
            </a:r>
          </a:p>
        </p:txBody>
      </p:sp>
      <p:sp>
        <p:nvSpPr>
          <p:cNvPr id="9" name="Rectangle 8"/>
          <p:cNvSpPr/>
          <p:nvPr/>
        </p:nvSpPr>
        <p:spPr>
          <a:xfrm>
            <a:off x="533400" y="3576935"/>
            <a:ext cx="8252131" cy="461665"/>
          </a:xfrm>
          <a:prstGeom prst="rect">
            <a:avLst/>
          </a:prstGeom>
        </p:spPr>
        <p:txBody>
          <a:bodyPr wrap="none">
            <a:spAutoFit/>
          </a:bodyPr>
          <a:lstStyle/>
          <a:p>
            <a:r>
              <a:rPr lang="en-US" sz="2400" dirty="0" smtClean="0"/>
              <a:t>How many more umbrellas were sold in June than in November?</a:t>
            </a:r>
            <a:endParaRPr lang="en-US" sz="2400" dirty="0"/>
          </a:p>
        </p:txBody>
      </p:sp>
      <p:sp>
        <p:nvSpPr>
          <p:cNvPr id="10" name="Rectangle 9"/>
          <p:cNvSpPr/>
          <p:nvPr/>
        </p:nvSpPr>
        <p:spPr>
          <a:xfrm>
            <a:off x="1334122" y="3962400"/>
            <a:ext cx="993798" cy="584775"/>
          </a:xfrm>
          <a:prstGeom prst="rect">
            <a:avLst/>
          </a:prstGeom>
        </p:spPr>
        <p:txBody>
          <a:bodyPr wrap="none">
            <a:spAutoFit/>
          </a:bodyPr>
          <a:lstStyle/>
          <a:p>
            <a:r>
              <a:rPr lang="en-US" sz="3200" dirty="0" smtClean="0"/>
              <a:t>a. 45</a:t>
            </a:r>
            <a:endParaRPr lang="en-US" sz="3200" dirty="0"/>
          </a:p>
        </p:txBody>
      </p:sp>
      <p:sp>
        <p:nvSpPr>
          <p:cNvPr id="11" name="Rectangle 10"/>
          <p:cNvSpPr/>
          <p:nvPr/>
        </p:nvSpPr>
        <p:spPr>
          <a:xfrm>
            <a:off x="2961895" y="3962400"/>
            <a:ext cx="985334" cy="584775"/>
          </a:xfrm>
          <a:prstGeom prst="rect">
            <a:avLst/>
          </a:prstGeom>
        </p:spPr>
        <p:txBody>
          <a:bodyPr wrap="none">
            <a:spAutoFit/>
          </a:bodyPr>
          <a:lstStyle/>
          <a:p>
            <a:r>
              <a:rPr lang="en-US" sz="3200" dirty="0" smtClean="0"/>
              <a:t>b. 35</a:t>
            </a:r>
            <a:endParaRPr lang="en-US" sz="3200" dirty="0"/>
          </a:p>
        </p:txBody>
      </p:sp>
      <p:sp>
        <p:nvSpPr>
          <p:cNvPr id="12" name="Rectangle 11"/>
          <p:cNvSpPr/>
          <p:nvPr/>
        </p:nvSpPr>
        <p:spPr>
          <a:xfrm>
            <a:off x="4756600" y="3968055"/>
            <a:ext cx="990977" cy="584775"/>
          </a:xfrm>
          <a:prstGeom prst="rect">
            <a:avLst/>
          </a:prstGeom>
        </p:spPr>
        <p:txBody>
          <a:bodyPr wrap="none">
            <a:spAutoFit/>
          </a:bodyPr>
          <a:lstStyle/>
          <a:p>
            <a:r>
              <a:rPr lang="en-US" sz="3200" dirty="0" smtClean="0"/>
              <a:t>c. 30</a:t>
            </a:r>
            <a:endParaRPr lang="en-US" sz="3200" dirty="0"/>
          </a:p>
        </p:txBody>
      </p:sp>
      <p:sp>
        <p:nvSpPr>
          <p:cNvPr id="13" name="Rectangle 12"/>
          <p:cNvSpPr/>
          <p:nvPr/>
        </p:nvSpPr>
        <p:spPr>
          <a:xfrm>
            <a:off x="6467095" y="3962400"/>
            <a:ext cx="1076705" cy="584775"/>
          </a:xfrm>
          <a:prstGeom prst="rect">
            <a:avLst/>
          </a:prstGeom>
        </p:spPr>
        <p:txBody>
          <a:bodyPr wrap="none">
            <a:spAutoFit/>
          </a:bodyPr>
          <a:lstStyle/>
          <a:p>
            <a:r>
              <a:rPr lang="en-US" sz="3200" dirty="0" smtClean="0"/>
              <a:t>d. 20</a:t>
            </a:r>
          </a:p>
        </p:txBody>
      </p:sp>
      <p:sp>
        <p:nvSpPr>
          <p:cNvPr id="14" name="Rectangle 13"/>
          <p:cNvSpPr/>
          <p:nvPr/>
        </p:nvSpPr>
        <p:spPr>
          <a:xfrm>
            <a:off x="1066800" y="4724400"/>
            <a:ext cx="7772400" cy="1477328"/>
          </a:xfrm>
          <a:prstGeom prst="rect">
            <a:avLst/>
          </a:prstGeom>
        </p:spPr>
        <p:txBody>
          <a:bodyPr wrap="square">
            <a:spAutoFit/>
          </a:bodyPr>
          <a:lstStyle/>
          <a:p>
            <a:r>
              <a:rPr lang="en-US" b="1" dirty="0" smtClean="0"/>
              <a:t>Solution:</a:t>
            </a:r>
          </a:p>
          <a:p>
            <a:r>
              <a:rPr lang="en-US" sz="2000" dirty="0" smtClean="0"/>
              <a:t>Let x = difference between nos. of umbrellas sold in June and November</a:t>
            </a:r>
          </a:p>
          <a:p>
            <a:r>
              <a:rPr lang="en-US" sz="2000" b="1" dirty="0" smtClean="0"/>
              <a:t>      x = 45 – 15</a:t>
            </a:r>
          </a:p>
          <a:p>
            <a:r>
              <a:rPr lang="en-US" sz="3200" b="1" dirty="0" smtClean="0"/>
              <a:t>     = 30</a:t>
            </a:r>
          </a:p>
        </p:txBody>
      </p:sp>
      <p:sp>
        <p:nvSpPr>
          <p:cNvPr id="15" name="Rectangle 14"/>
          <p:cNvSpPr/>
          <p:nvPr/>
        </p:nvSpPr>
        <p:spPr>
          <a:xfrm>
            <a:off x="4521200" y="990600"/>
            <a:ext cx="418704" cy="369332"/>
          </a:xfrm>
          <a:prstGeom prst="rect">
            <a:avLst/>
          </a:prstGeom>
        </p:spPr>
        <p:txBody>
          <a:bodyPr wrap="none">
            <a:spAutoFit/>
          </a:bodyPr>
          <a:lstStyle/>
          <a:p>
            <a:r>
              <a:rPr lang="en-US" b="1" dirty="0" smtClean="0"/>
              <a:t>45</a:t>
            </a:r>
          </a:p>
        </p:txBody>
      </p:sp>
      <p:sp>
        <p:nvSpPr>
          <p:cNvPr id="16" name="Rectangle 15"/>
          <p:cNvSpPr/>
          <p:nvPr/>
        </p:nvSpPr>
        <p:spPr>
          <a:xfrm>
            <a:off x="7023496" y="1981200"/>
            <a:ext cx="418704" cy="369332"/>
          </a:xfrm>
          <a:prstGeom prst="rect">
            <a:avLst/>
          </a:prstGeom>
        </p:spPr>
        <p:txBody>
          <a:bodyPr wrap="none">
            <a:spAutoFit/>
          </a:bodyPr>
          <a:lstStyle/>
          <a:p>
            <a:r>
              <a:rPr lang="en-US" b="1" dirty="0" smtClean="0"/>
              <a:t>15</a:t>
            </a:r>
          </a:p>
        </p:txBody>
      </p:sp>
      <p:sp>
        <p:nvSpPr>
          <p:cNvPr id="18" name="Rounded Rectangle 17"/>
          <p:cNvSpPr/>
          <p:nvPr/>
        </p:nvSpPr>
        <p:spPr>
          <a:xfrm>
            <a:off x="914400" y="4648200"/>
            <a:ext cx="7772400" cy="15240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a:off x="4749800" y="4038600"/>
            <a:ext cx="990600" cy="494763"/>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par>
                                <p:cTn id="27" presetID="26"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par>
                                <p:cTn id="43" presetID="26"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80">
                                          <p:stCondLst>
                                            <p:cond delay="0"/>
                                          </p:stCondLst>
                                        </p:cTn>
                                        <p:tgtEl>
                                          <p:spTgt spid="8"/>
                                        </p:tgtEl>
                                      </p:cBhvr>
                                    </p:animEffect>
                                    <p:anim calcmode="lin" valueType="num">
                                      <p:cBhvr>
                                        <p:cTn id="46"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51" dur="26">
                                          <p:stCondLst>
                                            <p:cond delay="650"/>
                                          </p:stCondLst>
                                        </p:cTn>
                                        <p:tgtEl>
                                          <p:spTgt spid="8"/>
                                        </p:tgtEl>
                                      </p:cBhvr>
                                      <p:to x="100000" y="60000"/>
                                    </p:animScale>
                                    <p:animScale>
                                      <p:cBhvr>
                                        <p:cTn id="52" dur="166" decel="50000">
                                          <p:stCondLst>
                                            <p:cond delay="676"/>
                                          </p:stCondLst>
                                        </p:cTn>
                                        <p:tgtEl>
                                          <p:spTgt spid="8"/>
                                        </p:tgtEl>
                                      </p:cBhvr>
                                      <p:to x="100000" y="100000"/>
                                    </p:animScale>
                                    <p:animScale>
                                      <p:cBhvr>
                                        <p:cTn id="53" dur="26">
                                          <p:stCondLst>
                                            <p:cond delay="1312"/>
                                          </p:stCondLst>
                                        </p:cTn>
                                        <p:tgtEl>
                                          <p:spTgt spid="8"/>
                                        </p:tgtEl>
                                      </p:cBhvr>
                                      <p:to x="100000" y="80000"/>
                                    </p:animScale>
                                    <p:animScale>
                                      <p:cBhvr>
                                        <p:cTn id="54" dur="166" decel="50000">
                                          <p:stCondLst>
                                            <p:cond delay="1338"/>
                                          </p:stCondLst>
                                        </p:cTn>
                                        <p:tgtEl>
                                          <p:spTgt spid="8"/>
                                        </p:tgtEl>
                                      </p:cBhvr>
                                      <p:to x="100000" y="100000"/>
                                    </p:animScale>
                                    <p:animScale>
                                      <p:cBhvr>
                                        <p:cTn id="55" dur="26">
                                          <p:stCondLst>
                                            <p:cond delay="1642"/>
                                          </p:stCondLst>
                                        </p:cTn>
                                        <p:tgtEl>
                                          <p:spTgt spid="8"/>
                                        </p:tgtEl>
                                      </p:cBhvr>
                                      <p:to x="100000" y="90000"/>
                                    </p:animScale>
                                    <p:animScale>
                                      <p:cBhvr>
                                        <p:cTn id="56" dur="166" decel="50000">
                                          <p:stCondLst>
                                            <p:cond delay="1668"/>
                                          </p:stCondLst>
                                        </p:cTn>
                                        <p:tgtEl>
                                          <p:spTgt spid="8"/>
                                        </p:tgtEl>
                                      </p:cBhvr>
                                      <p:to x="100000" y="100000"/>
                                    </p:animScale>
                                    <p:animScale>
                                      <p:cBhvr>
                                        <p:cTn id="57" dur="26">
                                          <p:stCondLst>
                                            <p:cond delay="1808"/>
                                          </p:stCondLst>
                                        </p:cTn>
                                        <p:tgtEl>
                                          <p:spTgt spid="8"/>
                                        </p:tgtEl>
                                      </p:cBhvr>
                                      <p:to x="100000" y="95000"/>
                                    </p:animScale>
                                    <p:animScale>
                                      <p:cBhvr>
                                        <p:cTn id="58" dur="166" decel="50000">
                                          <p:stCondLst>
                                            <p:cond delay="1834"/>
                                          </p:stCondLst>
                                        </p:cTn>
                                        <p:tgtEl>
                                          <p:spTgt spid="8"/>
                                        </p:tgtEl>
                                      </p:cBhvr>
                                      <p:to x="100000" y="100000"/>
                                    </p:animScale>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nodeType="clickEffect">
                                  <p:stCondLst>
                                    <p:cond delay="0"/>
                                  </p:stCondLst>
                                  <p:childTnLst>
                                    <p:set>
                                      <p:cBhvr>
                                        <p:cTn id="62" dur="1" fill="hold">
                                          <p:stCondLst>
                                            <p:cond delay="0"/>
                                          </p:stCondLst>
                                        </p:cTn>
                                        <p:tgtEl>
                                          <p:spTgt spid="9">
                                            <p:txEl>
                                              <p:pRg st="0" end="0"/>
                                            </p:txEl>
                                          </p:spTgt>
                                        </p:tgtEl>
                                        <p:attrNameLst>
                                          <p:attrName>style.visibility</p:attrName>
                                        </p:attrNameLst>
                                      </p:cBhvr>
                                      <p:to>
                                        <p:strVal val="visible"/>
                                      </p:to>
                                    </p:set>
                                    <p:anim calcmode="lin" valueType="num">
                                      <p:cBhvr>
                                        <p:cTn id="63"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64" dur="500" fill="hold"/>
                                        <p:tgtEl>
                                          <p:spTgt spid="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slide(fromBottom)">
                                      <p:cBhvr>
                                        <p:cTn id="69" dur="500"/>
                                        <p:tgtEl>
                                          <p:spTgt spid="10"/>
                                        </p:tgtEl>
                                      </p:cBhvr>
                                    </p:animEffect>
                                  </p:childTnLst>
                                </p:cTn>
                              </p:par>
                              <p:par>
                                <p:cTn id="70" presetID="12" presetClass="entr" presetSubtype="4" fill="hold" grpId="0" nodeType="with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slide(fromBottom)">
                                      <p:cBhvr>
                                        <p:cTn id="72" dur="500"/>
                                        <p:tgtEl>
                                          <p:spTgt spid="11"/>
                                        </p:tgtEl>
                                      </p:cBhvr>
                                    </p:animEffect>
                                  </p:childTnLst>
                                </p:cTn>
                              </p:par>
                              <p:par>
                                <p:cTn id="73" presetID="12" presetClass="entr" presetSubtype="4" fill="hold" grpId="0"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slide(fromBottom)">
                                      <p:cBhvr>
                                        <p:cTn id="75" dur="500"/>
                                        <p:tgtEl>
                                          <p:spTgt spid="12"/>
                                        </p:tgtEl>
                                      </p:cBhvr>
                                    </p:animEffect>
                                  </p:childTnLst>
                                </p:cTn>
                              </p:par>
                              <p:par>
                                <p:cTn id="76" presetID="12" presetClass="entr" presetSubtype="4" fill="hold" grpId="0" nodeType="with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slide(fromBottom)">
                                      <p:cBhvr>
                                        <p:cTn id="78"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81" presetID="37" presetClass="entr" presetSubtype="0" fill="hold" nodeType="clickEffect">
                                  <p:stCondLst>
                                    <p:cond delay="0"/>
                                  </p:stCondLst>
                                  <p:childTnLst>
                                    <p:set>
                                      <p:cBhvr>
                                        <p:cTn id="82" dur="1" fill="hold">
                                          <p:stCondLst>
                                            <p:cond delay="0"/>
                                          </p:stCondLst>
                                        </p:cTn>
                                        <p:tgtEl>
                                          <p:spTgt spid="14">
                                            <p:txEl>
                                              <p:pRg st="0" end="0"/>
                                            </p:txEl>
                                          </p:spTgt>
                                        </p:tgtEl>
                                        <p:attrNameLst>
                                          <p:attrName>style.visibility</p:attrName>
                                        </p:attrNameLst>
                                      </p:cBhvr>
                                      <p:to>
                                        <p:strVal val="visible"/>
                                      </p:to>
                                    </p:set>
                                    <p:animEffect transition="in" filter="fade">
                                      <p:cBhvr>
                                        <p:cTn id="83" dur="1000"/>
                                        <p:tgtEl>
                                          <p:spTgt spid="14">
                                            <p:txEl>
                                              <p:pRg st="0" end="0"/>
                                            </p:txEl>
                                          </p:spTgt>
                                        </p:tgtEl>
                                      </p:cBhvr>
                                    </p:animEffect>
                                    <p:anim calcmode="lin" valueType="num">
                                      <p:cBhvr>
                                        <p:cTn id="84"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85" dur="900" decel="100000" fill="hold"/>
                                        <p:tgtEl>
                                          <p:spTgt spid="14">
                                            <p:txEl>
                                              <p:pRg st="0" end="0"/>
                                            </p:txEl>
                                          </p:spTgt>
                                        </p:tgtEl>
                                        <p:attrNameLst>
                                          <p:attrName>ppt_y</p:attrName>
                                        </p:attrNameLst>
                                      </p:cBhvr>
                                      <p:tavLst>
                                        <p:tav tm="0">
                                          <p:val>
                                            <p:strVal val="#ppt_y+1"/>
                                          </p:val>
                                        </p:tav>
                                        <p:tav tm="100000">
                                          <p:val>
                                            <p:strVal val="#ppt_y-.03"/>
                                          </p:val>
                                        </p:tav>
                                      </p:tavLst>
                                    </p:anim>
                                    <p:anim calcmode="lin" valueType="num">
                                      <p:cBhvr>
                                        <p:cTn id="86" dur="100" accel="100000" fill="hold">
                                          <p:stCondLst>
                                            <p:cond delay="900"/>
                                          </p:stCondLst>
                                        </p:cTn>
                                        <p:tgtEl>
                                          <p:spTgt spid="14">
                                            <p:txEl>
                                              <p:pRg st="0" end="0"/>
                                            </p:txEl>
                                          </p:spTgt>
                                        </p:tgtEl>
                                        <p:attrNameLst>
                                          <p:attrName>ppt_y</p:attrName>
                                        </p:attrNameLst>
                                      </p:cBhvr>
                                      <p:tavLst>
                                        <p:tav tm="0">
                                          <p:val>
                                            <p:strVal val="#ppt_y-.03"/>
                                          </p:val>
                                        </p:tav>
                                        <p:tav tm="100000">
                                          <p:val>
                                            <p:strVal val="#ppt_y"/>
                                          </p:val>
                                        </p:tav>
                                      </p:tavLst>
                                    </p:anim>
                                  </p:childTnLst>
                                </p:cTn>
                              </p:par>
                              <p:par>
                                <p:cTn id="87" presetID="37" presetClass="entr" presetSubtype="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1000"/>
                                        <p:tgtEl>
                                          <p:spTgt spid="18"/>
                                        </p:tgtEl>
                                      </p:cBhvr>
                                    </p:animEffect>
                                    <p:anim calcmode="lin" valueType="num">
                                      <p:cBhvr>
                                        <p:cTn id="90" dur="1000" fill="hold"/>
                                        <p:tgtEl>
                                          <p:spTgt spid="18"/>
                                        </p:tgtEl>
                                        <p:attrNameLst>
                                          <p:attrName>ppt_x</p:attrName>
                                        </p:attrNameLst>
                                      </p:cBhvr>
                                      <p:tavLst>
                                        <p:tav tm="0">
                                          <p:val>
                                            <p:strVal val="#ppt_x"/>
                                          </p:val>
                                        </p:tav>
                                        <p:tav tm="100000">
                                          <p:val>
                                            <p:strVal val="#ppt_x"/>
                                          </p:val>
                                        </p:tav>
                                      </p:tavLst>
                                    </p:anim>
                                    <p:anim calcmode="lin" valueType="num">
                                      <p:cBhvr>
                                        <p:cTn id="91" dur="900" decel="100000" fill="hold"/>
                                        <p:tgtEl>
                                          <p:spTgt spid="18"/>
                                        </p:tgtEl>
                                        <p:attrNameLst>
                                          <p:attrName>ppt_y</p:attrName>
                                        </p:attrNameLst>
                                      </p:cBhvr>
                                      <p:tavLst>
                                        <p:tav tm="0">
                                          <p:val>
                                            <p:strVal val="#ppt_y+1"/>
                                          </p:val>
                                        </p:tav>
                                        <p:tav tm="100000">
                                          <p:val>
                                            <p:strVal val="#ppt_y-.03"/>
                                          </p:val>
                                        </p:tav>
                                      </p:tavLst>
                                    </p:anim>
                                    <p:anim calcmode="lin" valueType="num">
                                      <p:cBhvr>
                                        <p:cTn id="92"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9" presetClass="entr" presetSubtype="0" fill="hold" nodeType="clickEffect">
                                  <p:stCondLst>
                                    <p:cond delay="0"/>
                                  </p:stCondLst>
                                  <p:childTnLst>
                                    <p:set>
                                      <p:cBhvr>
                                        <p:cTn id="96" dur="1" fill="hold">
                                          <p:stCondLst>
                                            <p:cond delay="0"/>
                                          </p:stCondLst>
                                        </p:cTn>
                                        <p:tgtEl>
                                          <p:spTgt spid="14">
                                            <p:txEl>
                                              <p:pRg st="1" end="1"/>
                                            </p:txEl>
                                          </p:spTgt>
                                        </p:tgtEl>
                                        <p:attrNameLst>
                                          <p:attrName>style.visibility</p:attrName>
                                        </p:attrNameLst>
                                      </p:cBhvr>
                                      <p:to>
                                        <p:strVal val="visible"/>
                                      </p:to>
                                    </p:set>
                                    <p:anim calcmode="lin" valueType="num">
                                      <p:cBhvr>
                                        <p:cTn id="97" dur="1000" fill="hold"/>
                                        <p:tgtEl>
                                          <p:spTgt spid="14">
                                            <p:txEl>
                                              <p:pRg st="1" end="1"/>
                                            </p:txEl>
                                          </p:spTgt>
                                        </p:tgtEl>
                                        <p:attrNameLst>
                                          <p:attrName>ppt_x</p:attrName>
                                        </p:attrNameLst>
                                      </p:cBhvr>
                                      <p:tavLst>
                                        <p:tav tm="0">
                                          <p:val>
                                            <p:strVal val="#ppt_x-.2"/>
                                          </p:val>
                                        </p:tav>
                                        <p:tav tm="100000">
                                          <p:val>
                                            <p:strVal val="#ppt_x"/>
                                          </p:val>
                                        </p:tav>
                                      </p:tavLst>
                                    </p:anim>
                                    <p:anim calcmode="lin" valueType="num">
                                      <p:cBhvr>
                                        <p:cTn id="98" dur="1000" fill="hold"/>
                                        <p:tgtEl>
                                          <p:spTgt spid="14">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99" dur="1000"/>
                                        <p:tgtEl>
                                          <p:spTgt spid="14">
                                            <p:txEl>
                                              <p:pRg st="1" end="1"/>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9" presetClass="entr" presetSubtype="0" fill="hold" nodeType="clickEffect">
                                  <p:stCondLst>
                                    <p:cond delay="0"/>
                                  </p:stCondLst>
                                  <p:childTnLst>
                                    <p:set>
                                      <p:cBhvr>
                                        <p:cTn id="103" dur="1" fill="hold">
                                          <p:stCondLst>
                                            <p:cond delay="0"/>
                                          </p:stCondLst>
                                        </p:cTn>
                                        <p:tgtEl>
                                          <p:spTgt spid="14">
                                            <p:txEl>
                                              <p:pRg st="2" end="2"/>
                                            </p:txEl>
                                          </p:spTgt>
                                        </p:tgtEl>
                                        <p:attrNameLst>
                                          <p:attrName>style.visibility</p:attrName>
                                        </p:attrNameLst>
                                      </p:cBhvr>
                                      <p:to>
                                        <p:strVal val="visible"/>
                                      </p:to>
                                    </p:set>
                                    <p:anim calcmode="lin" valueType="num">
                                      <p:cBhvr>
                                        <p:cTn id="104" dur="1000" fill="hold"/>
                                        <p:tgtEl>
                                          <p:spTgt spid="14">
                                            <p:txEl>
                                              <p:pRg st="2" end="2"/>
                                            </p:txEl>
                                          </p:spTgt>
                                        </p:tgtEl>
                                        <p:attrNameLst>
                                          <p:attrName>ppt_x</p:attrName>
                                        </p:attrNameLst>
                                      </p:cBhvr>
                                      <p:tavLst>
                                        <p:tav tm="0">
                                          <p:val>
                                            <p:strVal val="#ppt_x-.2"/>
                                          </p:val>
                                        </p:tav>
                                        <p:tav tm="100000">
                                          <p:val>
                                            <p:strVal val="#ppt_x"/>
                                          </p:val>
                                        </p:tav>
                                      </p:tavLst>
                                    </p:anim>
                                    <p:anim calcmode="lin" valueType="num">
                                      <p:cBhvr>
                                        <p:cTn id="105" dur="1000" fill="hold"/>
                                        <p:tgtEl>
                                          <p:spTgt spid="14">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06" dur="1000"/>
                                        <p:tgtEl>
                                          <p:spTgt spid="14">
                                            <p:txEl>
                                              <p:pRg st="2" end="2"/>
                                            </p:txEl>
                                          </p:spTgt>
                                        </p:tgtEl>
                                      </p:cBhvr>
                                    </p:animEffect>
                                  </p:childTnLst>
                                </p:cTn>
                              </p:par>
                              <p:par>
                                <p:cTn id="107" presetID="12" presetClass="entr" presetSubtype="4" fill="hold" grpId="0" nodeType="withEffect">
                                  <p:stCondLst>
                                    <p:cond delay="0"/>
                                  </p:stCondLst>
                                  <p:childTnLst>
                                    <p:set>
                                      <p:cBhvr>
                                        <p:cTn id="108" dur="1" fill="hold">
                                          <p:stCondLst>
                                            <p:cond delay="0"/>
                                          </p:stCondLst>
                                        </p:cTn>
                                        <p:tgtEl>
                                          <p:spTgt spid="15"/>
                                        </p:tgtEl>
                                        <p:attrNameLst>
                                          <p:attrName>style.visibility</p:attrName>
                                        </p:attrNameLst>
                                      </p:cBhvr>
                                      <p:to>
                                        <p:strVal val="visible"/>
                                      </p:to>
                                    </p:set>
                                    <p:animEffect transition="in" filter="slide(fromBottom)">
                                      <p:cBhvr>
                                        <p:cTn id="109" dur="500"/>
                                        <p:tgtEl>
                                          <p:spTgt spid="15"/>
                                        </p:tgtEl>
                                      </p:cBhvr>
                                    </p:animEffect>
                                  </p:childTnLst>
                                </p:cTn>
                              </p:par>
                              <p:par>
                                <p:cTn id="110" presetID="12" presetClass="entr" presetSubtype="4" fill="hold" grpId="0" nodeType="withEffect">
                                  <p:stCondLst>
                                    <p:cond delay="0"/>
                                  </p:stCondLst>
                                  <p:childTnLst>
                                    <p:set>
                                      <p:cBhvr>
                                        <p:cTn id="111" dur="1" fill="hold">
                                          <p:stCondLst>
                                            <p:cond delay="0"/>
                                          </p:stCondLst>
                                        </p:cTn>
                                        <p:tgtEl>
                                          <p:spTgt spid="16"/>
                                        </p:tgtEl>
                                        <p:attrNameLst>
                                          <p:attrName>style.visibility</p:attrName>
                                        </p:attrNameLst>
                                      </p:cBhvr>
                                      <p:to>
                                        <p:strVal val="visible"/>
                                      </p:to>
                                    </p:set>
                                    <p:animEffect transition="in" filter="slide(fromBottom)">
                                      <p:cBhvr>
                                        <p:cTn id="112" dur="500"/>
                                        <p:tgtEl>
                                          <p:spTgt spid="16"/>
                                        </p:tgtEl>
                                      </p:cBhvr>
                                    </p:animEffect>
                                  </p:childTnLst>
                                </p:cTn>
                              </p:par>
                            </p:childTnLst>
                          </p:cTn>
                        </p:par>
                      </p:childTnLst>
                    </p:cTn>
                  </p:par>
                  <p:par>
                    <p:cTn id="113" fill="hold">
                      <p:stCondLst>
                        <p:cond delay="indefinite"/>
                      </p:stCondLst>
                      <p:childTnLst>
                        <p:par>
                          <p:cTn id="114" fill="hold">
                            <p:stCondLst>
                              <p:cond delay="0"/>
                            </p:stCondLst>
                            <p:childTnLst>
                              <p:par>
                                <p:cTn id="115" presetID="29" presetClass="entr" presetSubtype="0" fill="hold" nodeType="clickEffect">
                                  <p:stCondLst>
                                    <p:cond delay="0"/>
                                  </p:stCondLst>
                                  <p:childTnLst>
                                    <p:set>
                                      <p:cBhvr>
                                        <p:cTn id="116" dur="1" fill="hold">
                                          <p:stCondLst>
                                            <p:cond delay="0"/>
                                          </p:stCondLst>
                                        </p:cTn>
                                        <p:tgtEl>
                                          <p:spTgt spid="14">
                                            <p:txEl>
                                              <p:pRg st="3" end="3"/>
                                            </p:txEl>
                                          </p:spTgt>
                                        </p:tgtEl>
                                        <p:attrNameLst>
                                          <p:attrName>style.visibility</p:attrName>
                                        </p:attrNameLst>
                                      </p:cBhvr>
                                      <p:to>
                                        <p:strVal val="visible"/>
                                      </p:to>
                                    </p:set>
                                    <p:anim calcmode="lin" valueType="num">
                                      <p:cBhvr>
                                        <p:cTn id="117" dur="1000" fill="hold"/>
                                        <p:tgtEl>
                                          <p:spTgt spid="14">
                                            <p:txEl>
                                              <p:pRg st="3" end="3"/>
                                            </p:txEl>
                                          </p:spTgt>
                                        </p:tgtEl>
                                        <p:attrNameLst>
                                          <p:attrName>ppt_x</p:attrName>
                                        </p:attrNameLst>
                                      </p:cBhvr>
                                      <p:tavLst>
                                        <p:tav tm="0">
                                          <p:val>
                                            <p:strVal val="#ppt_x-.2"/>
                                          </p:val>
                                        </p:tav>
                                        <p:tav tm="100000">
                                          <p:val>
                                            <p:strVal val="#ppt_x"/>
                                          </p:val>
                                        </p:tav>
                                      </p:tavLst>
                                    </p:anim>
                                    <p:anim calcmode="lin" valueType="num">
                                      <p:cBhvr>
                                        <p:cTn id="118" dur="1000" fill="hold"/>
                                        <p:tgtEl>
                                          <p:spTgt spid="14">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119" dur="1000"/>
                                        <p:tgtEl>
                                          <p:spTgt spid="14">
                                            <p:txEl>
                                              <p:pRg st="3" end="3"/>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20" presetClass="entr" presetSubtype="0" fill="hold" grpId="0" nodeType="clickEffect">
                                  <p:stCondLst>
                                    <p:cond delay="0"/>
                                  </p:stCondLst>
                                  <p:childTnLst>
                                    <p:set>
                                      <p:cBhvr>
                                        <p:cTn id="123" dur="1" fill="hold">
                                          <p:stCondLst>
                                            <p:cond delay="0"/>
                                          </p:stCondLst>
                                        </p:cTn>
                                        <p:tgtEl>
                                          <p:spTgt spid="19"/>
                                        </p:tgtEl>
                                        <p:attrNameLst>
                                          <p:attrName>style.visibility</p:attrName>
                                        </p:attrNameLst>
                                      </p:cBhvr>
                                      <p:to>
                                        <p:strVal val="visible"/>
                                      </p:to>
                                    </p:set>
                                    <p:animEffect transition="in" filter="wedge">
                                      <p:cBhvr>
                                        <p:cTn id="124"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p:bldAsOne/>
      </p:bldGraphic>
      <p:bldP spid="7" grpId="0"/>
      <p:bldP spid="8" grpId="0"/>
      <p:bldP spid="10" grpId="0"/>
      <p:bldP spid="11" grpId="0"/>
      <p:bldP spid="12" grpId="0"/>
      <p:bldP spid="13" grpId="0"/>
      <p:bldP spid="15" grpId="0"/>
      <p:bldP spid="16" grpId="0"/>
      <p:bldP spid="18" grpId="0" animBg="1"/>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graphicFrame>
        <p:nvGraphicFramePr>
          <p:cNvPr id="5" name="Table 4"/>
          <p:cNvGraphicFramePr>
            <a:graphicFrameLocks noGrp="1"/>
          </p:cNvGraphicFramePr>
          <p:nvPr/>
        </p:nvGraphicFramePr>
        <p:xfrm>
          <a:off x="838200" y="381000"/>
          <a:ext cx="7467596" cy="1295400"/>
        </p:xfrm>
        <a:graphic>
          <a:graphicData uri="http://schemas.openxmlformats.org/drawingml/2006/table">
            <a:tbl>
              <a:tblPr>
                <a:tableStyleId>{5940675A-B579-460E-94D1-54222C63F5DA}</a:tableStyleId>
              </a:tblPr>
              <a:tblGrid>
                <a:gridCol w="990600"/>
                <a:gridCol w="536078"/>
                <a:gridCol w="660102"/>
                <a:gridCol w="660102"/>
                <a:gridCol w="660102"/>
                <a:gridCol w="660102"/>
                <a:gridCol w="660102"/>
                <a:gridCol w="660102"/>
                <a:gridCol w="660102"/>
                <a:gridCol w="660102"/>
                <a:gridCol w="660102"/>
              </a:tblGrid>
              <a:tr h="613708">
                <a:tc>
                  <a:txBody>
                    <a:bodyPr/>
                    <a:lstStyle/>
                    <a:p>
                      <a:pPr marL="0" marR="0">
                        <a:lnSpc>
                          <a:spcPct val="115000"/>
                        </a:lnSpc>
                        <a:spcBef>
                          <a:spcPts val="0"/>
                        </a:spcBef>
                        <a:spcAft>
                          <a:spcPts val="0"/>
                        </a:spcAft>
                      </a:pPr>
                      <a:r>
                        <a:rPr lang="en-US" sz="2000" b="1" dirty="0"/>
                        <a:t>Student</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A</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B</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C</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D</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E</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F</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G</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H</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I</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J</a:t>
                      </a:r>
                      <a:endParaRPr lang="en-US" sz="2000" b="1" dirty="0">
                        <a:solidFill>
                          <a:srgbClr val="FFFF00"/>
                        </a:solidFill>
                        <a:latin typeface="Calibri"/>
                        <a:ea typeface="Calibri"/>
                        <a:cs typeface="Times New Roman"/>
                      </a:endParaRPr>
                    </a:p>
                  </a:txBody>
                  <a:tcPr marL="67671" marR="67671" marT="0" marB="0" anchor="ctr"/>
                </a:tc>
              </a:tr>
              <a:tr h="681692">
                <a:tc>
                  <a:txBody>
                    <a:bodyPr/>
                    <a:lstStyle/>
                    <a:p>
                      <a:pPr marL="0" marR="0">
                        <a:lnSpc>
                          <a:spcPct val="115000"/>
                        </a:lnSpc>
                        <a:spcBef>
                          <a:spcPts val="0"/>
                        </a:spcBef>
                        <a:spcAft>
                          <a:spcPts val="0"/>
                        </a:spcAft>
                      </a:pPr>
                      <a:r>
                        <a:rPr lang="en-US" sz="2000" b="1"/>
                        <a:t>Score</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18</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32</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10</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15</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27</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18</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23</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28</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29</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30</a:t>
                      </a:r>
                      <a:endParaRPr lang="en-US" sz="2000" b="1" dirty="0">
                        <a:solidFill>
                          <a:srgbClr val="FFFF00"/>
                        </a:solidFill>
                        <a:latin typeface="Calibri"/>
                        <a:ea typeface="Calibri"/>
                        <a:cs typeface="Times New Roman"/>
                      </a:endParaRPr>
                    </a:p>
                  </a:txBody>
                  <a:tcPr marL="67671" marR="67671" marT="0" marB="0" anchor="ctr"/>
                </a:tc>
              </a:tr>
            </a:tbl>
          </a:graphicData>
        </a:graphic>
      </p:graphicFrame>
      <p:sp>
        <p:nvSpPr>
          <p:cNvPr id="6" name="Rectangle 5"/>
          <p:cNvSpPr/>
          <p:nvPr/>
        </p:nvSpPr>
        <p:spPr>
          <a:xfrm>
            <a:off x="304800" y="1981200"/>
            <a:ext cx="8382000" cy="523220"/>
          </a:xfrm>
          <a:prstGeom prst="rect">
            <a:avLst/>
          </a:prstGeom>
        </p:spPr>
        <p:txBody>
          <a:bodyPr wrap="square">
            <a:spAutoFit/>
          </a:bodyPr>
          <a:lstStyle/>
          <a:p>
            <a:pPr lvl="0"/>
            <a:r>
              <a:rPr lang="en-US" sz="2800" dirty="0" smtClean="0"/>
              <a:t>27. What is the median score?</a:t>
            </a:r>
            <a:endParaRPr lang="en-US" sz="2800" dirty="0"/>
          </a:p>
        </p:txBody>
      </p:sp>
      <p:sp>
        <p:nvSpPr>
          <p:cNvPr id="7" name="Rectangle 6"/>
          <p:cNvSpPr/>
          <p:nvPr/>
        </p:nvSpPr>
        <p:spPr>
          <a:xfrm>
            <a:off x="1725027" y="2590800"/>
            <a:ext cx="938077" cy="584775"/>
          </a:xfrm>
          <a:prstGeom prst="rect">
            <a:avLst/>
          </a:prstGeom>
        </p:spPr>
        <p:txBody>
          <a:bodyPr wrap="none">
            <a:spAutoFit/>
          </a:bodyPr>
          <a:lstStyle/>
          <a:p>
            <a:r>
              <a:rPr lang="en-US" sz="3200" dirty="0" smtClean="0"/>
              <a:t>a. 18</a:t>
            </a:r>
            <a:endParaRPr lang="en-US" sz="3200" dirty="0"/>
          </a:p>
        </p:txBody>
      </p:sp>
      <p:sp>
        <p:nvSpPr>
          <p:cNvPr id="8" name="Rectangle 7"/>
          <p:cNvSpPr/>
          <p:nvPr/>
        </p:nvSpPr>
        <p:spPr>
          <a:xfrm>
            <a:off x="1676400" y="3276600"/>
            <a:ext cx="1060098" cy="584775"/>
          </a:xfrm>
          <a:prstGeom prst="rect">
            <a:avLst/>
          </a:prstGeom>
        </p:spPr>
        <p:txBody>
          <a:bodyPr wrap="none">
            <a:spAutoFit/>
          </a:bodyPr>
          <a:lstStyle/>
          <a:p>
            <a:r>
              <a:rPr lang="en-US" sz="3200" dirty="0" smtClean="0"/>
              <a:t>b. 20</a:t>
            </a:r>
            <a:endParaRPr lang="en-US" sz="3200" dirty="0"/>
          </a:p>
        </p:txBody>
      </p:sp>
      <p:sp>
        <p:nvSpPr>
          <p:cNvPr id="9" name="Rectangle 8"/>
          <p:cNvSpPr/>
          <p:nvPr/>
        </p:nvSpPr>
        <p:spPr>
          <a:xfrm>
            <a:off x="4800600" y="2590800"/>
            <a:ext cx="962508" cy="584775"/>
          </a:xfrm>
          <a:prstGeom prst="rect">
            <a:avLst/>
          </a:prstGeom>
        </p:spPr>
        <p:txBody>
          <a:bodyPr wrap="none">
            <a:spAutoFit/>
          </a:bodyPr>
          <a:lstStyle/>
          <a:p>
            <a:r>
              <a:rPr lang="en-US" sz="3200" dirty="0" smtClean="0"/>
              <a:t>c. 23</a:t>
            </a:r>
            <a:endParaRPr lang="en-US" sz="3200" dirty="0"/>
          </a:p>
        </p:txBody>
      </p:sp>
      <p:sp>
        <p:nvSpPr>
          <p:cNvPr id="10" name="Rectangle 9"/>
          <p:cNvSpPr/>
          <p:nvPr/>
        </p:nvSpPr>
        <p:spPr>
          <a:xfrm>
            <a:off x="4724400" y="3352800"/>
            <a:ext cx="1013804" cy="584775"/>
          </a:xfrm>
          <a:prstGeom prst="rect">
            <a:avLst/>
          </a:prstGeom>
        </p:spPr>
        <p:txBody>
          <a:bodyPr wrap="none">
            <a:spAutoFit/>
          </a:bodyPr>
          <a:lstStyle/>
          <a:p>
            <a:r>
              <a:rPr lang="en-US" sz="3200" dirty="0" smtClean="0"/>
              <a:t>d. 25</a:t>
            </a:r>
          </a:p>
        </p:txBody>
      </p:sp>
      <p:sp>
        <p:nvSpPr>
          <p:cNvPr id="11" name="Rectangle 10"/>
          <p:cNvSpPr/>
          <p:nvPr/>
        </p:nvSpPr>
        <p:spPr>
          <a:xfrm>
            <a:off x="1676400" y="4114800"/>
            <a:ext cx="5181600" cy="1569660"/>
          </a:xfrm>
          <a:prstGeom prst="rect">
            <a:avLst/>
          </a:prstGeom>
        </p:spPr>
        <p:txBody>
          <a:bodyPr wrap="square">
            <a:spAutoFit/>
          </a:bodyPr>
          <a:lstStyle/>
          <a:p>
            <a:r>
              <a:rPr lang="en-US" sz="2000" b="1" dirty="0" smtClean="0"/>
              <a:t>Solution:</a:t>
            </a:r>
          </a:p>
          <a:p>
            <a:r>
              <a:rPr lang="en-US" sz="2000" b="1" dirty="0" smtClean="0"/>
              <a:t>	32, 30, 29, 28, 27, 23, 18, 18, 15, 10</a:t>
            </a:r>
          </a:p>
          <a:p>
            <a:r>
              <a:rPr lang="en-US" sz="2000" b="1" dirty="0" smtClean="0"/>
              <a:t>	</a:t>
            </a:r>
            <a:r>
              <a:rPr lang="en-US" sz="2000" b="1" dirty="0" err="1" smtClean="0"/>
              <a:t>Mdn</a:t>
            </a:r>
            <a:r>
              <a:rPr lang="en-US" sz="2000" b="1" dirty="0" smtClean="0"/>
              <a:t> = (27 + 23)/2</a:t>
            </a:r>
          </a:p>
          <a:p>
            <a:r>
              <a:rPr lang="en-US" sz="3600" b="1" dirty="0" smtClean="0"/>
              <a:t>             = 25</a:t>
            </a:r>
          </a:p>
        </p:txBody>
      </p:sp>
      <p:sp>
        <p:nvSpPr>
          <p:cNvPr id="12" name="Rounded Rectangle 11"/>
          <p:cNvSpPr/>
          <p:nvPr/>
        </p:nvSpPr>
        <p:spPr>
          <a:xfrm>
            <a:off x="1600200" y="4038600"/>
            <a:ext cx="4876800" cy="1600200"/>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4724400" y="3352800"/>
            <a:ext cx="10668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Bottom)">
                                      <p:cBhvr>
                                        <p:cTn id="34" dur="500"/>
                                        <p:tgtEl>
                                          <p:spTgt spid="8"/>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Bottom)">
                                      <p:cBhvr>
                                        <p:cTn id="37" dur="500"/>
                                        <p:tgtEl>
                                          <p:spTgt spid="9"/>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slide(fromBottom)">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37" presetClass="entr" presetSubtype="0" fill="hold" nodeType="click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fade">
                                      <p:cBhvr>
                                        <p:cTn id="45" dur="1000"/>
                                        <p:tgtEl>
                                          <p:spTgt spid="11">
                                            <p:txEl>
                                              <p:pRg st="0" end="0"/>
                                            </p:txEl>
                                          </p:spTgt>
                                        </p:tgtEl>
                                      </p:cBhvr>
                                    </p:animEffect>
                                    <p:anim calcmode="lin" valueType="num">
                                      <p:cBhvr>
                                        <p:cTn id="46"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7" dur="900" decel="100000" fill="hold"/>
                                        <p:tgtEl>
                                          <p:spTgt spid="11">
                                            <p:txEl>
                                              <p:pRg st="0" end="0"/>
                                            </p:txEl>
                                          </p:spTgt>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11">
                                            <p:txEl>
                                              <p:pRg st="0" end="0"/>
                                            </p:txEl>
                                          </p:spTgt>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900" decel="100000" fill="hold"/>
                                        <p:tgtEl>
                                          <p:spTgt spid="12"/>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9" presetClass="entr" presetSubtype="0" fill="hold" nodeType="clickEffect">
                                  <p:stCondLst>
                                    <p:cond delay="0"/>
                                  </p:stCondLst>
                                  <p:childTnLst>
                                    <p:set>
                                      <p:cBhvr>
                                        <p:cTn id="58" dur="1" fill="hold">
                                          <p:stCondLst>
                                            <p:cond delay="0"/>
                                          </p:stCondLst>
                                        </p:cTn>
                                        <p:tgtEl>
                                          <p:spTgt spid="11">
                                            <p:txEl>
                                              <p:pRg st="1" end="1"/>
                                            </p:txEl>
                                          </p:spTgt>
                                        </p:tgtEl>
                                        <p:attrNameLst>
                                          <p:attrName>style.visibility</p:attrName>
                                        </p:attrNameLst>
                                      </p:cBhvr>
                                      <p:to>
                                        <p:strVal val="visible"/>
                                      </p:to>
                                    </p:set>
                                    <p:anim calcmode="lin" valueType="num">
                                      <p:cBhvr>
                                        <p:cTn id="59" dur="1000" fill="hold"/>
                                        <p:tgtEl>
                                          <p:spTgt spid="11">
                                            <p:txEl>
                                              <p:pRg st="1" end="1"/>
                                            </p:txEl>
                                          </p:spTgt>
                                        </p:tgtEl>
                                        <p:attrNameLst>
                                          <p:attrName>ppt_x</p:attrName>
                                        </p:attrNameLst>
                                      </p:cBhvr>
                                      <p:tavLst>
                                        <p:tav tm="0">
                                          <p:val>
                                            <p:strVal val="#ppt_x-.2"/>
                                          </p:val>
                                        </p:tav>
                                        <p:tav tm="100000">
                                          <p:val>
                                            <p:strVal val="#ppt_x"/>
                                          </p:val>
                                        </p:tav>
                                      </p:tavLst>
                                    </p:anim>
                                    <p:anim calcmode="lin" valueType="num">
                                      <p:cBhvr>
                                        <p:cTn id="60" dur="1000" fill="hold"/>
                                        <p:tgtEl>
                                          <p:spTgt spid="11">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61" dur="1000"/>
                                        <p:tgtEl>
                                          <p:spTgt spid="11">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9" presetClass="entr" presetSubtype="0" fill="hold" nodeType="clickEffect">
                                  <p:stCondLst>
                                    <p:cond delay="0"/>
                                  </p:stCondLst>
                                  <p:childTnLst>
                                    <p:set>
                                      <p:cBhvr>
                                        <p:cTn id="65" dur="1" fill="hold">
                                          <p:stCondLst>
                                            <p:cond delay="0"/>
                                          </p:stCondLst>
                                        </p:cTn>
                                        <p:tgtEl>
                                          <p:spTgt spid="11">
                                            <p:txEl>
                                              <p:pRg st="2" end="2"/>
                                            </p:txEl>
                                          </p:spTgt>
                                        </p:tgtEl>
                                        <p:attrNameLst>
                                          <p:attrName>style.visibility</p:attrName>
                                        </p:attrNameLst>
                                      </p:cBhvr>
                                      <p:to>
                                        <p:strVal val="visible"/>
                                      </p:to>
                                    </p:set>
                                    <p:anim calcmode="lin" valueType="num">
                                      <p:cBhvr>
                                        <p:cTn id="66" dur="1000" fill="hold"/>
                                        <p:tgtEl>
                                          <p:spTgt spid="11">
                                            <p:txEl>
                                              <p:pRg st="2" end="2"/>
                                            </p:txEl>
                                          </p:spTgt>
                                        </p:tgtEl>
                                        <p:attrNameLst>
                                          <p:attrName>ppt_x</p:attrName>
                                        </p:attrNameLst>
                                      </p:cBhvr>
                                      <p:tavLst>
                                        <p:tav tm="0">
                                          <p:val>
                                            <p:strVal val="#ppt_x-.2"/>
                                          </p:val>
                                        </p:tav>
                                        <p:tav tm="100000">
                                          <p:val>
                                            <p:strVal val="#ppt_x"/>
                                          </p:val>
                                        </p:tav>
                                      </p:tavLst>
                                    </p:anim>
                                    <p:anim calcmode="lin" valueType="num">
                                      <p:cBhvr>
                                        <p:cTn id="67" dur="1000" fill="hold"/>
                                        <p:tgtEl>
                                          <p:spTgt spid="11">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68" dur="1000"/>
                                        <p:tgtEl>
                                          <p:spTgt spid="11">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9" presetClass="entr" presetSubtype="0" fill="hold" nodeType="clickEffect">
                                  <p:stCondLst>
                                    <p:cond delay="0"/>
                                  </p:stCondLst>
                                  <p:childTnLst>
                                    <p:set>
                                      <p:cBhvr>
                                        <p:cTn id="72" dur="1" fill="hold">
                                          <p:stCondLst>
                                            <p:cond delay="0"/>
                                          </p:stCondLst>
                                        </p:cTn>
                                        <p:tgtEl>
                                          <p:spTgt spid="11">
                                            <p:txEl>
                                              <p:pRg st="3" end="3"/>
                                            </p:txEl>
                                          </p:spTgt>
                                        </p:tgtEl>
                                        <p:attrNameLst>
                                          <p:attrName>style.visibility</p:attrName>
                                        </p:attrNameLst>
                                      </p:cBhvr>
                                      <p:to>
                                        <p:strVal val="visible"/>
                                      </p:to>
                                    </p:set>
                                    <p:anim calcmode="lin" valueType="num">
                                      <p:cBhvr>
                                        <p:cTn id="73" dur="1000" fill="hold"/>
                                        <p:tgtEl>
                                          <p:spTgt spid="11">
                                            <p:txEl>
                                              <p:pRg st="3" end="3"/>
                                            </p:txEl>
                                          </p:spTgt>
                                        </p:tgtEl>
                                        <p:attrNameLst>
                                          <p:attrName>ppt_x</p:attrName>
                                        </p:attrNameLst>
                                      </p:cBhvr>
                                      <p:tavLst>
                                        <p:tav tm="0">
                                          <p:val>
                                            <p:strVal val="#ppt_x-.2"/>
                                          </p:val>
                                        </p:tav>
                                        <p:tav tm="100000">
                                          <p:val>
                                            <p:strVal val="#ppt_x"/>
                                          </p:val>
                                        </p:tav>
                                      </p:tavLst>
                                    </p:anim>
                                    <p:anim calcmode="lin" valueType="num">
                                      <p:cBhvr>
                                        <p:cTn id="74" dur="1000" fill="hold"/>
                                        <p:tgtEl>
                                          <p:spTgt spid="11">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75" dur="1000"/>
                                        <p:tgtEl>
                                          <p:spTgt spid="11">
                                            <p:txEl>
                                              <p:pRg st="3" end="3"/>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0" presetClass="entr" presetSubtype="0"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edge">
                                      <p:cBhvr>
                                        <p:cTn id="80"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2"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graphicFrame>
        <p:nvGraphicFramePr>
          <p:cNvPr id="5" name="Table 4"/>
          <p:cNvGraphicFramePr>
            <a:graphicFrameLocks noGrp="1"/>
          </p:cNvGraphicFramePr>
          <p:nvPr/>
        </p:nvGraphicFramePr>
        <p:xfrm>
          <a:off x="838200" y="381000"/>
          <a:ext cx="7467596" cy="1295400"/>
        </p:xfrm>
        <a:graphic>
          <a:graphicData uri="http://schemas.openxmlformats.org/drawingml/2006/table">
            <a:tbl>
              <a:tblPr>
                <a:tableStyleId>{5940675A-B579-460E-94D1-54222C63F5DA}</a:tableStyleId>
              </a:tblPr>
              <a:tblGrid>
                <a:gridCol w="990600"/>
                <a:gridCol w="536078"/>
                <a:gridCol w="660102"/>
                <a:gridCol w="660102"/>
                <a:gridCol w="660102"/>
                <a:gridCol w="660102"/>
                <a:gridCol w="660102"/>
                <a:gridCol w="660102"/>
                <a:gridCol w="660102"/>
                <a:gridCol w="660102"/>
                <a:gridCol w="660102"/>
              </a:tblGrid>
              <a:tr h="613708">
                <a:tc>
                  <a:txBody>
                    <a:bodyPr/>
                    <a:lstStyle/>
                    <a:p>
                      <a:pPr marL="0" marR="0">
                        <a:lnSpc>
                          <a:spcPct val="115000"/>
                        </a:lnSpc>
                        <a:spcBef>
                          <a:spcPts val="0"/>
                        </a:spcBef>
                        <a:spcAft>
                          <a:spcPts val="0"/>
                        </a:spcAft>
                      </a:pPr>
                      <a:r>
                        <a:rPr lang="en-US" sz="2000" b="1" dirty="0"/>
                        <a:t>Student</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A</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B</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C</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D</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E</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F</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G</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H</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I</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J</a:t>
                      </a:r>
                      <a:endParaRPr lang="en-US" sz="2000" b="1" dirty="0">
                        <a:solidFill>
                          <a:srgbClr val="FFFF00"/>
                        </a:solidFill>
                        <a:latin typeface="Calibri"/>
                        <a:ea typeface="Calibri"/>
                        <a:cs typeface="Times New Roman"/>
                      </a:endParaRPr>
                    </a:p>
                  </a:txBody>
                  <a:tcPr marL="67671" marR="67671" marT="0" marB="0" anchor="ctr"/>
                </a:tc>
              </a:tr>
              <a:tr h="681692">
                <a:tc>
                  <a:txBody>
                    <a:bodyPr/>
                    <a:lstStyle/>
                    <a:p>
                      <a:pPr marL="0" marR="0">
                        <a:lnSpc>
                          <a:spcPct val="115000"/>
                        </a:lnSpc>
                        <a:spcBef>
                          <a:spcPts val="0"/>
                        </a:spcBef>
                        <a:spcAft>
                          <a:spcPts val="0"/>
                        </a:spcAft>
                      </a:pPr>
                      <a:r>
                        <a:rPr lang="en-US" sz="2000" b="1"/>
                        <a:t>Score</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18</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32</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10</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15</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27</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18</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23</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28</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29</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30</a:t>
                      </a:r>
                      <a:endParaRPr lang="en-US" sz="2000" b="1" dirty="0">
                        <a:solidFill>
                          <a:srgbClr val="FFFF00"/>
                        </a:solidFill>
                        <a:latin typeface="Calibri"/>
                        <a:ea typeface="Calibri"/>
                        <a:cs typeface="Times New Roman"/>
                      </a:endParaRPr>
                    </a:p>
                  </a:txBody>
                  <a:tcPr marL="67671" marR="67671" marT="0" marB="0" anchor="ctr"/>
                </a:tc>
              </a:tr>
            </a:tbl>
          </a:graphicData>
        </a:graphic>
      </p:graphicFrame>
      <p:sp>
        <p:nvSpPr>
          <p:cNvPr id="6" name="Rectangle 5"/>
          <p:cNvSpPr/>
          <p:nvPr/>
        </p:nvSpPr>
        <p:spPr>
          <a:xfrm>
            <a:off x="609600" y="2057400"/>
            <a:ext cx="6400800" cy="523220"/>
          </a:xfrm>
          <a:prstGeom prst="rect">
            <a:avLst/>
          </a:prstGeom>
        </p:spPr>
        <p:txBody>
          <a:bodyPr wrap="square">
            <a:spAutoFit/>
          </a:bodyPr>
          <a:lstStyle/>
          <a:p>
            <a:pPr lvl="0"/>
            <a:r>
              <a:rPr lang="en-US" sz="2800" dirty="0" smtClean="0"/>
              <a:t>28. What is the mode of the scores?</a:t>
            </a:r>
            <a:endParaRPr lang="en-US" sz="2800" dirty="0"/>
          </a:p>
        </p:txBody>
      </p:sp>
      <p:sp>
        <p:nvSpPr>
          <p:cNvPr id="7" name="Rectangle 6"/>
          <p:cNvSpPr/>
          <p:nvPr/>
        </p:nvSpPr>
        <p:spPr>
          <a:xfrm>
            <a:off x="1877427" y="2565975"/>
            <a:ext cx="938077" cy="584775"/>
          </a:xfrm>
          <a:prstGeom prst="rect">
            <a:avLst/>
          </a:prstGeom>
        </p:spPr>
        <p:txBody>
          <a:bodyPr wrap="none">
            <a:spAutoFit/>
          </a:bodyPr>
          <a:lstStyle/>
          <a:p>
            <a:r>
              <a:rPr lang="en-US" sz="3200" dirty="0" smtClean="0"/>
              <a:t>a. 18</a:t>
            </a:r>
            <a:endParaRPr lang="en-US" sz="3200" dirty="0"/>
          </a:p>
        </p:txBody>
      </p:sp>
      <p:sp>
        <p:nvSpPr>
          <p:cNvPr id="8" name="Rectangle 7"/>
          <p:cNvSpPr/>
          <p:nvPr/>
        </p:nvSpPr>
        <p:spPr>
          <a:xfrm>
            <a:off x="1828800" y="3251775"/>
            <a:ext cx="1060098" cy="584775"/>
          </a:xfrm>
          <a:prstGeom prst="rect">
            <a:avLst/>
          </a:prstGeom>
        </p:spPr>
        <p:txBody>
          <a:bodyPr wrap="none">
            <a:spAutoFit/>
          </a:bodyPr>
          <a:lstStyle/>
          <a:p>
            <a:r>
              <a:rPr lang="en-US" sz="3200" dirty="0" smtClean="0"/>
              <a:t>b. 20</a:t>
            </a:r>
            <a:endParaRPr lang="en-US" sz="3200" dirty="0"/>
          </a:p>
        </p:txBody>
      </p:sp>
      <p:sp>
        <p:nvSpPr>
          <p:cNvPr id="9" name="Rectangle 8"/>
          <p:cNvSpPr/>
          <p:nvPr/>
        </p:nvSpPr>
        <p:spPr>
          <a:xfrm>
            <a:off x="4828692" y="2501900"/>
            <a:ext cx="962508" cy="584775"/>
          </a:xfrm>
          <a:prstGeom prst="rect">
            <a:avLst/>
          </a:prstGeom>
        </p:spPr>
        <p:txBody>
          <a:bodyPr wrap="none">
            <a:spAutoFit/>
          </a:bodyPr>
          <a:lstStyle/>
          <a:p>
            <a:r>
              <a:rPr lang="en-US" sz="3200" dirty="0" smtClean="0"/>
              <a:t>c. 23</a:t>
            </a:r>
            <a:endParaRPr lang="en-US" sz="3200" dirty="0"/>
          </a:p>
        </p:txBody>
      </p:sp>
      <p:sp>
        <p:nvSpPr>
          <p:cNvPr id="10" name="Rectangle 9"/>
          <p:cNvSpPr/>
          <p:nvPr/>
        </p:nvSpPr>
        <p:spPr>
          <a:xfrm>
            <a:off x="4752492" y="3263900"/>
            <a:ext cx="1013804" cy="584775"/>
          </a:xfrm>
          <a:prstGeom prst="rect">
            <a:avLst/>
          </a:prstGeom>
        </p:spPr>
        <p:txBody>
          <a:bodyPr wrap="none">
            <a:spAutoFit/>
          </a:bodyPr>
          <a:lstStyle/>
          <a:p>
            <a:r>
              <a:rPr lang="en-US" sz="3200" dirty="0" smtClean="0"/>
              <a:t>d. 25</a:t>
            </a:r>
          </a:p>
        </p:txBody>
      </p:sp>
      <p:sp>
        <p:nvSpPr>
          <p:cNvPr id="11" name="Rounded Rectangle 10"/>
          <p:cNvSpPr/>
          <p:nvPr/>
        </p:nvSpPr>
        <p:spPr>
          <a:xfrm>
            <a:off x="1803400" y="2616200"/>
            <a:ext cx="10668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Bottom)">
                                      <p:cBhvr>
                                        <p:cTn id="34" dur="500"/>
                                        <p:tgtEl>
                                          <p:spTgt spid="8"/>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Bottom)">
                                      <p:cBhvr>
                                        <p:cTn id="37" dur="500"/>
                                        <p:tgtEl>
                                          <p:spTgt spid="9"/>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slide(fromBottom)">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0"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edge">
                                      <p:cBhvr>
                                        <p:cTn id="4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5105400" y="0"/>
            <a:ext cx="3590925" cy="3552825"/>
          </a:xfrm>
          <a:prstGeom prst="rect">
            <a:avLst/>
          </a:prstGeom>
          <a:noFill/>
          <a:ln w="9525">
            <a:noFill/>
            <a:miter lim="800000"/>
            <a:headEnd/>
            <a:tailEnd/>
          </a:ln>
        </p:spPr>
      </p:pic>
      <p:graphicFrame>
        <p:nvGraphicFramePr>
          <p:cNvPr id="5" name="Table 4"/>
          <p:cNvGraphicFramePr>
            <a:graphicFrameLocks noGrp="1"/>
          </p:cNvGraphicFramePr>
          <p:nvPr/>
        </p:nvGraphicFramePr>
        <p:xfrm>
          <a:off x="838200" y="381000"/>
          <a:ext cx="7467596" cy="1295400"/>
        </p:xfrm>
        <a:graphic>
          <a:graphicData uri="http://schemas.openxmlformats.org/drawingml/2006/table">
            <a:tbl>
              <a:tblPr>
                <a:tableStyleId>{5940675A-B579-460E-94D1-54222C63F5DA}</a:tableStyleId>
              </a:tblPr>
              <a:tblGrid>
                <a:gridCol w="990600"/>
                <a:gridCol w="536078"/>
                <a:gridCol w="660102"/>
                <a:gridCol w="660102"/>
                <a:gridCol w="660102"/>
                <a:gridCol w="660102"/>
                <a:gridCol w="660102"/>
                <a:gridCol w="660102"/>
                <a:gridCol w="660102"/>
                <a:gridCol w="660102"/>
                <a:gridCol w="660102"/>
              </a:tblGrid>
              <a:tr h="613708">
                <a:tc>
                  <a:txBody>
                    <a:bodyPr/>
                    <a:lstStyle/>
                    <a:p>
                      <a:pPr marL="0" marR="0">
                        <a:lnSpc>
                          <a:spcPct val="115000"/>
                        </a:lnSpc>
                        <a:spcBef>
                          <a:spcPts val="0"/>
                        </a:spcBef>
                        <a:spcAft>
                          <a:spcPts val="0"/>
                        </a:spcAft>
                      </a:pPr>
                      <a:r>
                        <a:rPr lang="en-US" sz="2000" b="1" dirty="0"/>
                        <a:t>Student</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A</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B</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C</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D</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E</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F</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G</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H</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I</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J</a:t>
                      </a:r>
                      <a:endParaRPr lang="en-US" sz="2000" b="1" dirty="0">
                        <a:solidFill>
                          <a:srgbClr val="FFFF00"/>
                        </a:solidFill>
                        <a:latin typeface="Calibri"/>
                        <a:ea typeface="Calibri"/>
                        <a:cs typeface="Times New Roman"/>
                      </a:endParaRPr>
                    </a:p>
                  </a:txBody>
                  <a:tcPr marL="67671" marR="67671" marT="0" marB="0" anchor="ctr"/>
                </a:tc>
              </a:tr>
              <a:tr h="681692">
                <a:tc>
                  <a:txBody>
                    <a:bodyPr/>
                    <a:lstStyle/>
                    <a:p>
                      <a:pPr marL="0" marR="0">
                        <a:lnSpc>
                          <a:spcPct val="115000"/>
                        </a:lnSpc>
                        <a:spcBef>
                          <a:spcPts val="0"/>
                        </a:spcBef>
                        <a:spcAft>
                          <a:spcPts val="0"/>
                        </a:spcAft>
                      </a:pPr>
                      <a:r>
                        <a:rPr lang="en-US" sz="2000" b="1"/>
                        <a:t>Score</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18</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32</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10</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15</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27</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18</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23</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28</a:t>
                      </a:r>
                      <a:endParaRPr lang="en-US" sz="2000" b="1" dirty="0">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a:t>29</a:t>
                      </a:r>
                      <a:endParaRPr lang="en-US" sz="2000" b="1">
                        <a:solidFill>
                          <a:srgbClr val="FFFF00"/>
                        </a:solidFill>
                        <a:latin typeface="Calibri"/>
                        <a:ea typeface="Calibri"/>
                        <a:cs typeface="Times New Roman"/>
                      </a:endParaRPr>
                    </a:p>
                  </a:txBody>
                  <a:tcPr marL="67671" marR="67671" marT="0" marB="0" anchor="ctr"/>
                </a:tc>
                <a:tc>
                  <a:txBody>
                    <a:bodyPr/>
                    <a:lstStyle/>
                    <a:p>
                      <a:pPr marL="0" marR="0">
                        <a:lnSpc>
                          <a:spcPct val="115000"/>
                        </a:lnSpc>
                        <a:spcBef>
                          <a:spcPts val="0"/>
                        </a:spcBef>
                        <a:spcAft>
                          <a:spcPts val="0"/>
                        </a:spcAft>
                      </a:pPr>
                      <a:r>
                        <a:rPr lang="en-US" sz="2000" b="1" dirty="0"/>
                        <a:t>30</a:t>
                      </a:r>
                      <a:endParaRPr lang="en-US" sz="2000" b="1" dirty="0">
                        <a:solidFill>
                          <a:srgbClr val="FFFF00"/>
                        </a:solidFill>
                        <a:latin typeface="Calibri"/>
                        <a:ea typeface="Calibri"/>
                        <a:cs typeface="Times New Roman"/>
                      </a:endParaRPr>
                    </a:p>
                  </a:txBody>
                  <a:tcPr marL="67671" marR="67671" marT="0" marB="0" anchor="ctr"/>
                </a:tc>
              </a:tr>
            </a:tbl>
          </a:graphicData>
        </a:graphic>
      </p:graphicFrame>
      <p:sp>
        <p:nvSpPr>
          <p:cNvPr id="6" name="Rectangle 5"/>
          <p:cNvSpPr/>
          <p:nvPr/>
        </p:nvSpPr>
        <p:spPr>
          <a:xfrm>
            <a:off x="609600" y="1905000"/>
            <a:ext cx="7467600" cy="646331"/>
          </a:xfrm>
          <a:prstGeom prst="rect">
            <a:avLst/>
          </a:prstGeom>
        </p:spPr>
        <p:txBody>
          <a:bodyPr wrap="square">
            <a:spAutoFit/>
          </a:bodyPr>
          <a:lstStyle/>
          <a:p>
            <a:pPr lvl="0"/>
            <a:r>
              <a:rPr lang="en-US" sz="3600" dirty="0" smtClean="0"/>
              <a:t>29. What is the range of the scores?</a:t>
            </a:r>
            <a:endParaRPr lang="en-US" sz="3600" dirty="0"/>
          </a:p>
        </p:txBody>
      </p:sp>
      <p:sp>
        <p:nvSpPr>
          <p:cNvPr id="7" name="Rectangle 6"/>
          <p:cNvSpPr/>
          <p:nvPr/>
        </p:nvSpPr>
        <p:spPr>
          <a:xfrm>
            <a:off x="1953627" y="2514600"/>
            <a:ext cx="938077" cy="584775"/>
          </a:xfrm>
          <a:prstGeom prst="rect">
            <a:avLst/>
          </a:prstGeom>
        </p:spPr>
        <p:txBody>
          <a:bodyPr wrap="none">
            <a:spAutoFit/>
          </a:bodyPr>
          <a:lstStyle/>
          <a:p>
            <a:r>
              <a:rPr lang="en-US" sz="3200" dirty="0" smtClean="0"/>
              <a:t>a. 18</a:t>
            </a:r>
            <a:endParaRPr lang="en-US" sz="3200" dirty="0"/>
          </a:p>
        </p:txBody>
      </p:sp>
      <p:sp>
        <p:nvSpPr>
          <p:cNvPr id="8" name="Rectangle 7"/>
          <p:cNvSpPr/>
          <p:nvPr/>
        </p:nvSpPr>
        <p:spPr>
          <a:xfrm>
            <a:off x="1905000" y="3200400"/>
            <a:ext cx="1005788" cy="584775"/>
          </a:xfrm>
          <a:prstGeom prst="rect">
            <a:avLst/>
          </a:prstGeom>
        </p:spPr>
        <p:txBody>
          <a:bodyPr wrap="none">
            <a:spAutoFit/>
          </a:bodyPr>
          <a:lstStyle/>
          <a:p>
            <a:r>
              <a:rPr lang="en-US" sz="3200" dirty="0" smtClean="0"/>
              <a:t>b. 22</a:t>
            </a:r>
            <a:endParaRPr lang="en-US" sz="3200" dirty="0"/>
          </a:p>
        </p:txBody>
      </p:sp>
      <p:sp>
        <p:nvSpPr>
          <p:cNvPr id="9" name="Rectangle 8"/>
          <p:cNvSpPr/>
          <p:nvPr/>
        </p:nvSpPr>
        <p:spPr>
          <a:xfrm>
            <a:off x="4876800" y="2451100"/>
            <a:ext cx="962508" cy="584775"/>
          </a:xfrm>
          <a:prstGeom prst="rect">
            <a:avLst/>
          </a:prstGeom>
        </p:spPr>
        <p:txBody>
          <a:bodyPr wrap="none">
            <a:spAutoFit/>
          </a:bodyPr>
          <a:lstStyle/>
          <a:p>
            <a:r>
              <a:rPr lang="en-US" sz="3200" dirty="0" smtClean="0"/>
              <a:t>c. 23</a:t>
            </a:r>
            <a:endParaRPr lang="en-US" sz="3200" dirty="0"/>
          </a:p>
        </p:txBody>
      </p:sp>
      <p:sp>
        <p:nvSpPr>
          <p:cNvPr id="10" name="Rectangle 9"/>
          <p:cNvSpPr/>
          <p:nvPr/>
        </p:nvSpPr>
        <p:spPr>
          <a:xfrm>
            <a:off x="4800600" y="3213100"/>
            <a:ext cx="1013804" cy="584775"/>
          </a:xfrm>
          <a:prstGeom prst="rect">
            <a:avLst/>
          </a:prstGeom>
        </p:spPr>
        <p:txBody>
          <a:bodyPr wrap="none">
            <a:spAutoFit/>
          </a:bodyPr>
          <a:lstStyle/>
          <a:p>
            <a:r>
              <a:rPr lang="en-US" sz="3200" dirty="0" smtClean="0"/>
              <a:t>d. 25</a:t>
            </a:r>
          </a:p>
        </p:txBody>
      </p:sp>
      <p:sp>
        <p:nvSpPr>
          <p:cNvPr id="11" name="Rounded Rectangle 10"/>
          <p:cNvSpPr/>
          <p:nvPr/>
        </p:nvSpPr>
        <p:spPr>
          <a:xfrm>
            <a:off x="1879600" y="3238500"/>
            <a:ext cx="1066800" cy="53340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slide(fromBottom)">
                                      <p:cBhvr>
                                        <p:cTn id="31" dur="500"/>
                                        <p:tgtEl>
                                          <p:spTgt spid="7"/>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lide(fromBottom)">
                                      <p:cBhvr>
                                        <p:cTn id="34" dur="500"/>
                                        <p:tgtEl>
                                          <p:spTgt spid="8"/>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slide(fromBottom)">
                                      <p:cBhvr>
                                        <p:cTn id="37" dur="500"/>
                                        <p:tgtEl>
                                          <p:spTgt spid="9"/>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slide(fromBottom)">
                                      <p:cBhvr>
                                        <p:cTn id="4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43" presetID="20"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edge">
                                      <p:cBhvr>
                                        <p:cTn id="4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duotone>
              <a:schemeClr val="bg2">
                <a:shade val="45000"/>
                <a:satMod val="135000"/>
              </a:schemeClr>
              <a:prstClr val="white"/>
            </a:duotone>
          </a:blip>
          <a:srcRect/>
          <a:stretch>
            <a:fillRect/>
          </a:stretch>
        </p:blipFill>
        <p:spPr bwMode="auto">
          <a:xfrm>
            <a:off x="1295400" y="3581400"/>
            <a:ext cx="7848600" cy="327660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duotone>
              <a:schemeClr val="bg2">
                <a:shade val="45000"/>
                <a:satMod val="135000"/>
              </a:schemeClr>
              <a:prstClr val="white"/>
            </a:duotone>
            <a:lum bright="10000"/>
          </a:blip>
          <a:srcRect/>
          <a:stretch>
            <a:fillRect/>
          </a:stretch>
        </p:blipFill>
        <p:spPr bwMode="auto">
          <a:xfrm rot="1143128">
            <a:off x="452388" y="588853"/>
            <a:ext cx="4191000" cy="3475038"/>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105400" y="0"/>
            <a:ext cx="3590925" cy="3552825"/>
          </a:xfrm>
          <a:prstGeom prst="rect">
            <a:avLst/>
          </a:prstGeom>
          <a:noFill/>
          <a:ln w="9525">
            <a:noFill/>
            <a:miter lim="800000"/>
            <a:headEnd/>
            <a:tailEnd/>
          </a:ln>
        </p:spPr>
      </p:pic>
      <p:sp>
        <p:nvSpPr>
          <p:cNvPr id="5" name="Rectangle 4"/>
          <p:cNvSpPr/>
          <p:nvPr/>
        </p:nvSpPr>
        <p:spPr>
          <a:xfrm>
            <a:off x="76200" y="76200"/>
            <a:ext cx="8915400" cy="3631763"/>
          </a:xfrm>
          <a:prstGeom prst="rect">
            <a:avLst/>
          </a:prstGeom>
        </p:spPr>
        <p:txBody>
          <a:bodyPr wrap="square">
            <a:spAutoFit/>
          </a:bodyPr>
          <a:lstStyle/>
          <a:p>
            <a:pPr marL="398463" indent="-398463"/>
            <a:r>
              <a:rPr lang="en-US" sz="2000" dirty="0" smtClean="0"/>
              <a:t>30. The table shows the student’s grades and the corresponding number of units for each subject. </a:t>
            </a:r>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2000" dirty="0" smtClean="0"/>
          </a:p>
          <a:p>
            <a:pPr marL="463550" indent="-463550"/>
            <a:endParaRPr lang="en-US" sz="1400" dirty="0" smtClean="0"/>
          </a:p>
          <a:p>
            <a:pPr marL="463550" indent="-463550"/>
            <a:endParaRPr lang="en-US" sz="1200" dirty="0" smtClean="0"/>
          </a:p>
          <a:p>
            <a:pPr marL="463550" indent="-463550"/>
            <a:endParaRPr lang="en-US" dirty="0" smtClean="0"/>
          </a:p>
          <a:p>
            <a:pPr marL="463550"/>
            <a:r>
              <a:rPr lang="en-US" sz="2000" dirty="0" smtClean="0"/>
              <a:t>What is the mean (average) of the grades?</a:t>
            </a:r>
          </a:p>
        </p:txBody>
      </p:sp>
      <p:graphicFrame>
        <p:nvGraphicFramePr>
          <p:cNvPr id="6" name="Table 5"/>
          <p:cNvGraphicFramePr>
            <a:graphicFrameLocks noGrp="1"/>
          </p:cNvGraphicFramePr>
          <p:nvPr/>
        </p:nvGraphicFramePr>
        <p:xfrm>
          <a:off x="2286000" y="457200"/>
          <a:ext cx="6019800" cy="2743200"/>
        </p:xfrm>
        <a:graphic>
          <a:graphicData uri="http://schemas.openxmlformats.org/drawingml/2006/table">
            <a:tbl>
              <a:tblPr firstRow="1" bandRow="1">
                <a:tableStyleId>{5940675A-B579-460E-94D1-54222C63F5DA}</a:tableStyleId>
              </a:tblPr>
              <a:tblGrid>
                <a:gridCol w="2006600"/>
                <a:gridCol w="2006600"/>
                <a:gridCol w="2006600"/>
              </a:tblGrid>
              <a:tr h="243840">
                <a:tc>
                  <a:txBody>
                    <a:bodyPr/>
                    <a:lstStyle/>
                    <a:p>
                      <a:pPr algn="ctr"/>
                      <a:r>
                        <a:rPr lang="en-US" sz="1400" b="1" dirty="0" smtClean="0"/>
                        <a:t>Subjects</a:t>
                      </a:r>
                      <a:endParaRPr lang="en-US" sz="1400" b="1" dirty="0">
                        <a:solidFill>
                          <a:schemeClr val="tx1"/>
                        </a:solidFill>
                      </a:endParaRPr>
                    </a:p>
                  </a:txBody>
                  <a:tcPr/>
                </a:tc>
                <a:tc>
                  <a:txBody>
                    <a:bodyPr/>
                    <a:lstStyle/>
                    <a:p>
                      <a:pPr algn="ctr"/>
                      <a:r>
                        <a:rPr lang="en-US" sz="1400" b="1" dirty="0" smtClean="0"/>
                        <a:t>Units</a:t>
                      </a:r>
                      <a:r>
                        <a:rPr lang="en-US" sz="1400" b="1" baseline="0" dirty="0" smtClean="0"/>
                        <a:t> (Weight)</a:t>
                      </a:r>
                      <a:endParaRPr lang="en-US" sz="1400" b="1" dirty="0">
                        <a:solidFill>
                          <a:schemeClr val="tx1"/>
                        </a:solidFill>
                      </a:endParaRPr>
                    </a:p>
                  </a:txBody>
                  <a:tcPr/>
                </a:tc>
                <a:tc>
                  <a:txBody>
                    <a:bodyPr/>
                    <a:lstStyle/>
                    <a:p>
                      <a:pPr algn="ctr"/>
                      <a:r>
                        <a:rPr lang="en-US" sz="1400" b="1" dirty="0" smtClean="0"/>
                        <a:t>Grade</a:t>
                      </a:r>
                      <a:endParaRPr lang="en-US" sz="1400" b="1" dirty="0">
                        <a:solidFill>
                          <a:schemeClr val="tx1"/>
                        </a:solidFill>
                      </a:endParaRPr>
                    </a:p>
                  </a:txBody>
                  <a:tcPr/>
                </a:tc>
              </a:tr>
              <a:tr h="167640">
                <a:tc>
                  <a:txBody>
                    <a:bodyPr/>
                    <a:lstStyle/>
                    <a:p>
                      <a:pPr algn="l"/>
                      <a:r>
                        <a:rPr lang="en-US" sz="1400" b="1" dirty="0" smtClean="0"/>
                        <a:t>Filipino</a:t>
                      </a:r>
                      <a:endParaRPr lang="en-US" sz="1400" b="1" dirty="0">
                        <a:solidFill>
                          <a:schemeClr val="tx1"/>
                        </a:solidFill>
                      </a:endParaRPr>
                    </a:p>
                  </a:txBody>
                  <a:tcPr/>
                </a:tc>
                <a:tc>
                  <a:txBody>
                    <a:bodyPr/>
                    <a:lstStyle/>
                    <a:p>
                      <a:pPr algn="ctr"/>
                      <a:r>
                        <a:rPr lang="en-US" sz="1400" b="1" dirty="0" smtClean="0">
                          <a:solidFill>
                            <a:schemeClr val="tx1"/>
                          </a:solidFill>
                        </a:rPr>
                        <a:t>1.2</a:t>
                      </a:r>
                      <a:endParaRPr lang="en-US" sz="1400" b="1" dirty="0">
                        <a:solidFill>
                          <a:schemeClr val="tx1"/>
                        </a:solidFill>
                      </a:endParaRPr>
                    </a:p>
                  </a:txBody>
                  <a:tcPr/>
                </a:tc>
                <a:tc>
                  <a:txBody>
                    <a:bodyPr/>
                    <a:lstStyle/>
                    <a:p>
                      <a:pPr algn="ctr"/>
                      <a:r>
                        <a:rPr lang="en-US" sz="1400" b="1" dirty="0" smtClean="0"/>
                        <a:t>86</a:t>
                      </a:r>
                      <a:endParaRPr lang="en-US" sz="1400" b="1" dirty="0">
                        <a:solidFill>
                          <a:schemeClr val="tx1"/>
                        </a:solidFill>
                      </a:endParaRPr>
                    </a:p>
                  </a:txBody>
                  <a:tcPr/>
                </a:tc>
              </a:tr>
              <a:tr h="167640">
                <a:tc>
                  <a:txBody>
                    <a:bodyPr/>
                    <a:lstStyle/>
                    <a:p>
                      <a:pPr algn="l"/>
                      <a:r>
                        <a:rPr lang="en-US" sz="1400" b="1" dirty="0" smtClean="0"/>
                        <a:t>English</a:t>
                      </a:r>
                      <a:endParaRPr lang="en-US" sz="1400" b="1" dirty="0">
                        <a:solidFill>
                          <a:schemeClr val="tx1"/>
                        </a:solidFill>
                      </a:endParaRPr>
                    </a:p>
                  </a:txBody>
                  <a:tcPr/>
                </a:tc>
                <a:tc>
                  <a:txBody>
                    <a:bodyPr/>
                    <a:lstStyle/>
                    <a:p>
                      <a:pPr algn="ctr"/>
                      <a:r>
                        <a:rPr lang="en-US" sz="1400" b="1" dirty="0" smtClean="0">
                          <a:solidFill>
                            <a:schemeClr val="tx1"/>
                          </a:solidFill>
                        </a:rPr>
                        <a:t>1.5</a:t>
                      </a:r>
                      <a:endParaRPr lang="en-US" sz="1400" b="1" dirty="0">
                        <a:solidFill>
                          <a:schemeClr val="tx1"/>
                        </a:solidFill>
                      </a:endParaRPr>
                    </a:p>
                  </a:txBody>
                  <a:tcPr/>
                </a:tc>
                <a:tc>
                  <a:txBody>
                    <a:bodyPr/>
                    <a:lstStyle/>
                    <a:p>
                      <a:pPr algn="ctr"/>
                      <a:r>
                        <a:rPr lang="en-US" sz="1400" b="1" dirty="0" smtClean="0">
                          <a:solidFill>
                            <a:schemeClr val="tx1"/>
                          </a:solidFill>
                        </a:rPr>
                        <a:t>89</a:t>
                      </a:r>
                      <a:endParaRPr lang="en-US" sz="1400" b="1" dirty="0">
                        <a:solidFill>
                          <a:schemeClr val="tx1"/>
                        </a:solidFill>
                      </a:endParaRPr>
                    </a:p>
                  </a:txBody>
                  <a:tcPr/>
                </a:tc>
              </a:tr>
              <a:tr h="167640">
                <a:tc>
                  <a:txBody>
                    <a:bodyPr/>
                    <a:lstStyle/>
                    <a:p>
                      <a:pPr algn="l"/>
                      <a:r>
                        <a:rPr lang="en-US" sz="1400" b="1" dirty="0" smtClean="0">
                          <a:solidFill>
                            <a:schemeClr val="tx1"/>
                          </a:solidFill>
                        </a:rPr>
                        <a:t>Math</a:t>
                      </a:r>
                      <a:endParaRPr lang="en-US" sz="1400" b="1" dirty="0">
                        <a:solidFill>
                          <a:schemeClr val="tx1"/>
                        </a:solidFill>
                      </a:endParaRPr>
                    </a:p>
                  </a:txBody>
                  <a:tcPr/>
                </a:tc>
                <a:tc>
                  <a:txBody>
                    <a:bodyPr/>
                    <a:lstStyle/>
                    <a:p>
                      <a:pPr algn="ctr"/>
                      <a:r>
                        <a:rPr lang="en-US" sz="1400" b="1" dirty="0" smtClean="0">
                          <a:solidFill>
                            <a:schemeClr val="tx1"/>
                          </a:solidFill>
                        </a:rPr>
                        <a:t>1.5</a:t>
                      </a:r>
                      <a:endParaRPr lang="en-US" sz="1400" b="1" dirty="0">
                        <a:solidFill>
                          <a:schemeClr val="tx1"/>
                        </a:solidFill>
                      </a:endParaRPr>
                    </a:p>
                  </a:txBody>
                  <a:tcPr/>
                </a:tc>
                <a:tc>
                  <a:txBody>
                    <a:bodyPr/>
                    <a:lstStyle/>
                    <a:p>
                      <a:pPr algn="ctr"/>
                      <a:r>
                        <a:rPr lang="en-US" sz="1400" b="1" dirty="0" smtClean="0">
                          <a:solidFill>
                            <a:schemeClr val="tx1"/>
                          </a:solidFill>
                        </a:rPr>
                        <a:t>94</a:t>
                      </a:r>
                      <a:endParaRPr lang="en-US" sz="1400" b="1" dirty="0">
                        <a:solidFill>
                          <a:schemeClr val="tx1"/>
                        </a:solidFill>
                      </a:endParaRPr>
                    </a:p>
                  </a:txBody>
                  <a:tcPr/>
                </a:tc>
              </a:tr>
              <a:tr h="0">
                <a:tc>
                  <a:txBody>
                    <a:bodyPr/>
                    <a:lstStyle/>
                    <a:p>
                      <a:pPr algn="l"/>
                      <a:r>
                        <a:rPr lang="en-US" sz="1400" b="1" dirty="0" smtClean="0"/>
                        <a:t>Science</a:t>
                      </a:r>
                      <a:endParaRPr lang="en-US" sz="1400" b="1" dirty="0">
                        <a:solidFill>
                          <a:schemeClr val="tx1"/>
                        </a:solidFill>
                      </a:endParaRPr>
                    </a:p>
                  </a:txBody>
                  <a:tcPr/>
                </a:tc>
                <a:tc>
                  <a:txBody>
                    <a:bodyPr/>
                    <a:lstStyle/>
                    <a:p>
                      <a:pPr algn="ctr"/>
                      <a:r>
                        <a:rPr lang="en-US" sz="1400" b="1" dirty="0" smtClean="0">
                          <a:solidFill>
                            <a:schemeClr val="tx1"/>
                          </a:solidFill>
                        </a:rPr>
                        <a:t>1.8</a:t>
                      </a:r>
                      <a:endParaRPr lang="en-US" sz="1400" b="1" dirty="0">
                        <a:solidFill>
                          <a:schemeClr val="tx1"/>
                        </a:solidFill>
                      </a:endParaRPr>
                    </a:p>
                  </a:txBody>
                  <a:tcPr/>
                </a:tc>
                <a:tc>
                  <a:txBody>
                    <a:bodyPr/>
                    <a:lstStyle/>
                    <a:p>
                      <a:pPr algn="ctr"/>
                      <a:r>
                        <a:rPr lang="en-US" sz="1400" b="1" dirty="0" smtClean="0">
                          <a:solidFill>
                            <a:schemeClr val="tx1"/>
                          </a:solidFill>
                        </a:rPr>
                        <a:t>93</a:t>
                      </a:r>
                      <a:endParaRPr lang="en-US" sz="1400" b="1" dirty="0">
                        <a:solidFill>
                          <a:schemeClr val="tx1"/>
                        </a:solidFill>
                      </a:endParaRPr>
                    </a:p>
                  </a:txBody>
                  <a:tcPr/>
                </a:tc>
              </a:tr>
              <a:tr h="167640">
                <a:tc>
                  <a:txBody>
                    <a:bodyPr/>
                    <a:lstStyle/>
                    <a:p>
                      <a:pPr algn="l"/>
                      <a:r>
                        <a:rPr lang="en-US" sz="1400" b="1" dirty="0" err="1" smtClean="0">
                          <a:solidFill>
                            <a:schemeClr val="tx1"/>
                          </a:solidFill>
                        </a:rPr>
                        <a:t>Araling</a:t>
                      </a:r>
                      <a:r>
                        <a:rPr lang="en-US" sz="1400" b="1" dirty="0" smtClean="0">
                          <a:solidFill>
                            <a:schemeClr val="tx1"/>
                          </a:solidFill>
                        </a:rPr>
                        <a:t> </a:t>
                      </a:r>
                      <a:r>
                        <a:rPr lang="en-US" sz="1400" b="1" dirty="0" err="1" smtClean="0">
                          <a:solidFill>
                            <a:schemeClr val="tx1"/>
                          </a:solidFill>
                        </a:rPr>
                        <a:t>Panlipunan</a:t>
                      </a:r>
                      <a:endParaRPr lang="en-US" sz="1400" b="1" dirty="0">
                        <a:solidFill>
                          <a:schemeClr val="tx1"/>
                        </a:solidFill>
                      </a:endParaRPr>
                    </a:p>
                  </a:txBody>
                  <a:tcPr/>
                </a:tc>
                <a:tc>
                  <a:txBody>
                    <a:bodyPr/>
                    <a:lstStyle/>
                    <a:p>
                      <a:pPr algn="ctr"/>
                      <a:r>
                        <a:rPr lang="en-US" sz="1400" b="1" dirty="0" smtClean="0">
                          <a:solidFill>
                            <a:schemeClr val="tx1"/>
                          </a:solidFill>
                        </a:rPr>
                        <a:t>1.2</a:t>
                      </a:r>
                      <a:endParaRPr lang="en-US" sz="1400" b="1" dirty="0">
                        <a:solidFill>
                          <a:schemeClr val="tx1"/>
                        </a:solidFill>
                      </a:endParaRPr>
                    </a:p>
                  </a:txBody>
                  <a:tcPr/>
                </a:tc>
                <a:tc>
                  <a:txBody>
                    <a:bodyPr/>
                    <a:lstStyle/>
                    <a:p>
                      <a:pPr algn="ctr"/>
                      <a:r>
                        <a:rPr lang="en-US" sz="1400" b="1" dirty="0" smtClean="0">
                          <a:solidFill>
                            <a:schemeClr val="tx1"/>
                          </a:solidFill>
                        </a:rPr>
                        <a:t>88</a:t>
                      </a:r>
                      <a:endParaRPr lang="en-US" sz="1400" b="1" dirty="0">
                        <a:solidFill>
                          <a:schemeClr val="tx1"/>
                        </a:solidFill>
                      </a:endParaRPr>
                    </a:p>
                  </a:txBody>
                  <a:tcPr/>
                </a:tc>
              </a:tr>
              <a:tr h="167640">
                <a:tc>
                  <a:txBody>
                    <a:bodyPr/>
                    <a:lstStyle/>
                    <a:p>
                      <a:pPr algn="l"/>
                      <a:r>
                        <a:rPr lang="en-US" sz="1400" b="1" dirty="0" smtClean="0">
                          <a:solidFill>
                            <a:schemeClr val="tx1"/>
                          </a:solidFill>
                        </a:rPr>
                        <a:t>TLE</a:t>
                      </a:r>
                      <a:endParaRPr lang="en-US" sz="1400" b="1" dirty="0">
                        <a:solidFill>
                          <a:schemeClr val="tx1"/>
                        </a:solidFill>
                      </a:endParaRPr>
                    </a:p>
                  </a:txBody>
                  <a:tcPr/>
                </a:tc>
                <a:tc>
                  <a:txBody>
                    <a:bodyPr/>
                    <a:lstStyle/>
                    <a:p>
                      <a:pPr algn="ctr"/>
                      <a:r>
                        <a:rPr lang="en-US" sz="1400" b="1" dirty="0" smtClean="0">
                          <a:solidFill>
                            <a:schemeClr val="tx1"/>
                          </a:solidFill>
                        </a:rPr>
                        <a:t>1.2</a:t>
                      </a:r>
                      <a:endParaRPr lang="en-US" sz="1400" b="1" dirty="0">
                        <a:solidFill>
                          <a:schemeClr val="tx1"/>
                        </a:solidFill>
                      </a:endParaRPr>
                    </a:p>
                  </a:txBody>
                  <a:tcPr/>
                </a:tc>
                <a:tc>
                  <a:txBody>
                    <a:bodyPr/>
                    <a:lstStyle/>
                    <a:p>
                      <a:pPr algn="ctr"/>
                      <a:r>
                        <a:rPr lang="en-US" sz="1400" b="1" dirty="0" smtClean="0">
                          <a:solidFill>
                            <a:schemeClr val="tx1"/>
                          </a:solidFill>
                        </a:rPr>
                        <a:t>87</a:t>
                      </a:r>
                      <a:endParaRPr lang="en-US" sz="1400" b="1" dirty="0">
                        <a:solidFill>
                          <a:schemeClr val="tx1"/>
                        </a:solidFill>
                      </a:endParaRPr>
                    </a:p>
                  </a:txBody>
                  <a:tcPr/>
                </a:tc>
              </a:tr>
              <a:tr h="152400">
                <a:tc>
                  <a:txBody>
                    <a:bodyPr/>
                    <a:lstStyle/>
                    <a:p>
                      <a:pPr algn="l"/>
                      <a:r>
                        <a:rPr lang="en-US" sz="1400" b="1" dirty="0" smtClean="0">
                          <a:solidFill>
                            <a:schemeClr val="tx1"/>
                          </a:solidFill>
                        </a:rPr>
                        <a:t>MSEP</a:t>
                      </a:r>
                      <a:endParaRPr lang="en-US" sz="1400" b="1" dirty="0">
                        <a:solidFill>
                          <a:schemeClr val="tx1"/>
                        </a:solidFill>
                      </a:endParaRPr>
                    </a:p>
                  </a:txBody>
                  <a:tcPr/>
                </a:tc>
                <a:tc>
                  <a:txBody>
                    <a:bodyPr/>
                    <a:lstStyle/>
                    <a:p>
                      <a:pPr algn="ctr"/>
                      <a:r>
                        <a:rPr lang="en-US" sz="1400" b="1" dirty="0" smtClean="0">
                          <a:solidFill>
                            <a:schemeClr val="tx1"/>
                          </a:solidFill>
                        </a:rPr>
                        <a:t>1.2</a:t>
                      </a:r>
                      <a:endParaRPr lang="en-US" sz="1400" b="1" dirty="0">
                        <a:solidFill>
                          <a:schemeClr val="tx1"/>
                        </a:solidFill>
                      </a:endParaRPr>
                    </a:p>
                  </a:txBody>
                  <a:tcPr/>
                </a:tc>
                <a:tc>
                  <a:txBody>
                    <a:bodyPr/>
                    <a:lstStyle/>
                    <a:p>
                      <a:pPr algn="ctr"/>
                      <a:r>
                        <a:rPr lang="en-US" sz="1400" b="1" dirty="0" smtClean="0">
                          <a:solidFill>
                            <a:schemeClr val="tx1"/>
                          </a:solidFill>
                        </a:rPr>
                        <a:t>93</a:t>
                      </a:r>
                      <a:endParaRPr lang="en-US" sz="1400" b="1" dirty="0">
                        <a:solidFill>
                          <a:schemeClr val="tx1"/>
                        </a:solidFill>
                      </a:endParaRPr>
                    </a:p>
                  </a:txBody>
                  <a:tcPr/>
                </a:tc>
              </a:tr>
              <a:tr h="167640">
                <a:tc>
                  <a:txBody>
                    <a:bodyPr/>
                    <a:lstStyle/>
                    <a:p>
                      <a:pPr algn="l"/>
                      <a:r>
                        <a:rPr lang="en-US" sz="1400" b="1" dirty="0" smtClean="0">
                          <a:solidFill>
                            <a:schemeClr val="tx1"/>
                          </a:solidFill>
                        </a:rPr>
                        <a:t>EP</a:t>
                      </a:r>
                      <a:endParaRPr lang="en-US" sz="1400" b="1" dirty="0">
                        <a:solidFill>
                          <a:schemeClr val="tx1"/>
                        </a:solidFill>
                      </a:endParaRPr>
                    </a:p>
                  </a:txBody>
                  <a:tcPr/>
                </a:tc>
                <a:tc>
                  <a:txBody>
                    <a:bodyPr/>
                    <a:lstStyle/>
                    <a:p>
                      <a:pPr algn="ctr"/>
                      <a:r>
                        <a:rPr lang="en-US" sz="1400" b="1" dirty="0" smtClean="0">
                          <a:solidFill>
                            <a:schemeClr val="tx1"/>
                          </a:solidFill>
                        </a:rPr>
                        <a:t>0.6</a:t>
                      </a:r>
                      <a:endParaRPr lang="en-US" sz="1400" b="1" dirty="0">
                        <a:solidFill>
                          <a:schemeClr val="tx1"/>
                        </a:solidFill>
                      </a:endParaRPr>
                    </a:p>
                  </a:txBody>
                  <a:tcPr/>
                </a:tc>
                <a:tc>
                  <a:txBody>
                    <a:bodyPr/>
                    <a:lstStyle/>
                    <a:p>
                      <a:pPr algn="ctr"/>
                      <a:r>
                        <a:rPr lang="en-US" sz="1400" b="1" dirty="0" smtClean="0">
                          <a:solidFill>
                            <a:schemeClr val="tx1"/>
                          </a:solidFill>
                        </a:rPr>
                        <a:t>92</a:t>
                      </a:r>
                      <a:endParaRPr lang="en-US" sz="1400" b="1" dirty="0">
                        <a:solidFill>
                          <a:schemeClr val="tx1"/>
                        </a:solidFill>
                      </a:endParaRPr>
                    </a:p>
                  </a:txBody>
                  <a:tcPr/>
                </a:tc>
              </a:tr>
            </a:tbl>
          </a:graphicData>
        </a:graphic>
      </p:graphicFrame>
      <p:sp>
        <p:nvSpPr>
          <p:cNvPr id="7" name="Rectangle 6"/>
          <p:cNvSpPr/>
          <p:nvPr/>
        </p:nvSpPr>
        <p:spPr>
          <a:xfrm>
            <a:off x="990600" y="3559033"/>
            <a:ext cx="1013419" cy="400110"/>
          </a:xfrm>
          <a:prstGeom prst="rect">
            <a:avLst/>
          </a:prstGeom>
        </p:spPr>
        <p:txBody>
          <a:bodyPr wrap="none">
            <a:spAutoFit/>
          </a:bodyPr>
          <a:lstStyle/>
          <a:p>
            <a:r>
              <a:rPr lang="en-US" sz="2000" dirty="0" smtClean="0"/>
              <a:t>a. 89.85</a:t>
            </a:r>
            <a:endParaRPr lang="en-US" sz="2000" dirty="0"/>
          </a:p>
        </p:txBody>
      </p:sp>
      <p:sp>
        <p:nvSpPr>
          <p:cNvPr id="8" name="Rectangle 7"/>
          <p:cNvSpPr/>
          <p:nvPr/>
        </p:nvSpPr>
        <p:spPr>
          <a:xfrm>
            <a:off x="2396975" y="3559033"/>
            <a:ext cx="1024639" cy="400110"/>
          </a:xfrm>
          <a:prstGeom prst="rect">
            <a:avLst/>
          </a:prstGeom>
        </p:spPr>
        <p:txBody>
          <a:bodyPr wrap="none">
            <a:spAutoFit/>
          </a:bodyPr>
          <a:lstStyle/>
          <a:p>
            <a:r>
              <a:rPr lang="en-US" sz="2000" dirty="0" smtClean="0"/>
              <a:t>b. 90.12</a:t>
            </a:r>
            <a:endParaRPr lang="en-US" sz="2000" dirty="0"/>
          </a:p>
        </p:txBody>
      </p:sp>
      <p:sp>
        <p:nvSpPr>
          <p:cNvPr id="9" name="Rectangle 8"/>
          <p:cNvSpPr/>
          <p:nvPr/>
        </p:nvSpPr>
        <p:spPr>
          <a:xfrm>
            <a:off x="3572035" y="3554568"/>
            <a:ext cx="998991" cy="400110"/>
          </a:xfrm>
          <a:prstGeom prst="rect">
            <a:avLst/>
          </a:prstGeom>
        </p:spPr>
        <p:txBody>
          <a:bodyPr wrap="none">
            <a:spAutoFit/>
          </a:bodyPr>
          <a:lstStyle/>
          <a:p>
            <a:r>
              <a:rPr lang="en-US" sz="2000" dirty="0" smtClean="0"/>
              <a:t>c. 90.38</a:t>
            </a:r>
            <a:endParaRPr lang="en-US" sz="2000" dirty="0"/>
          </a:p>
        </p:txBody>
      </p:sp>
      <p:sp>
        <p:nvSpPr>
          <p:cNvPr id="10" name="Rectangle 9"/>
          <p:cNvSpPr/>
          <p:nvPr/>
        </p:nvSpPr>
        <p:spPr>
          <a:xfrm>
            <a:off x="4648200" y="3554568"/>
            <a:ext cx="1024639" cy="400110"/>
          </a:xfrm>
          <a:prstGeom prst="rect">
            <a:avLst/>
          </a:prstGeom>
        </p:spPr>
        <p:txBody>
          <a:bodyPr wrap="none">
            <a:spAutoFit/>
          </a:bodyPr>
          <a:lstStyle/>
          <a:p>
            <a:r>
              <a:rPr lang="en-US" sz="2000" dirty="0" smtClean="0"/>
              <a:t>d. 91.02</a:t>
            </a:r>
          </a:p>
        </p:txBody>
      </p:sp>
      <p:sp>
        <p:nvSpPr>
          <p:cNvPr id="11" name="Rounded Rectangle 10"/>
          <p:cNvSpPr/>
          <p:nvPr/>
        </p:nvSpPr>
        <p:spPr>
          <a:xfrm>
            <a:off x="3581400" y="3581400"/>
            <a:ext cx="914400" cy="328410"/>
          </a:xfrm>
          <a:prstGeom prst="round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aphicFrame>
        <p:nvGraphicFramePr>
          <p:cNvPr id="12" name="Table 11"/>
          <p:cNvGraphicFramePr>
            <a:graphicFrameLocks noGrp="1"/>
          </p:cNvGraphicFramePr>
          <p:nvPr/>
        </p:nvGraphicFramePr>
        <p:xfrm>
          <a:off x="4394916" y="4114800"/>
          <a:ext cx="3200400" cy="2590800"/>
        </p:xfrm>
        <a:graphic>
          <a:graphicData uri="http://schemas.openxmlformats.org/drawingml/2006/table">
            <a:tbl>
              <a:tblPr firstRow="1" bandRow="1">
                <a:tableStyleId>{5940675A-B579-460E-94D1-54222C63F5DA}</a:tableStyleId>
              </a:tblPr>
              <a:tblGrid>
                <a:gridCol w="1371600"/>
                <a:gridCol w="685800"/>
                <a:gridCol w="381000"/>
                <a:gridCol w="762000"/>
              </a:tblGrid>
              <a:tr h="219075">
                <a:tc>
                  <a:txBody>
                    <a:bodyPr/>
                    <a:lstStyle/>
                    <a:p>
                      <a:pPr algn="ctr"/>
                      <a:r>
                        <a:rPr lang="en-US" sz="1100" b="1" dirty="0" smtClean="0"/>
                        <a:t>Subjects</a:t>
                      </a:r>
                      <a:endParaRPr lang="en-US" sz="1100" b="1" dirty="0">
                        <a:solidFill>
                          <a:schemeClr val="tx1"/>
                        </a:solidFill>
                      </a:endParaRPr>
                    </a:p>
                  </a:txBody>
                  <a:tcPr/>
                </a:tc>
                <a:tc>
                  <a:txBody>
                    <a:bodyPr/>
                    <a:lstStyle/>
                    <a:p>
                      <a:pPr algn="ctr"/>
                      <a:r>
                        <a:rPr lang="en-US" sz="1100" b="1" dirty="0" smtClean="0"/>
                        <a:t>f</a:t>
                      </a:r>
                      <a:endParaRPr lang="en-US" sz="1100" b="1" dirty="0">
                        <a:solidFill>
                          <a:schemeClr val="tx1"/>
                        </a:solidFill>
                      </a:endParaRPr>
                    </a:p>
                  </a:txBody>
                  <a:tcPr/>
                </a:tc>
                <a:tc>
                  <a:txBody>
                    <a:bodyPr/>
                    <a:lstStyle/>
                    <a:p>
                      <a:pPr algn="ctr"/>
                      <a:r>
                        <a:rPr lang="en-US" sz="1100" b="1" dirty="0" smtClean="0"/>
                        <a:t>x</a:t>
                      </a:r>
                      <a:endParaRPr lang="en-US" sz="1100" b="1" dirty="0">
                        <a:solidFill>
                          <a:schemeClr val="tx1"/>
                        </a:solidFill>
                      </a:endParaRPr>
                    </a:p>
                  </a:txBody>
                  <a:tcPr/>
                </a:tc>
                <a:tc>
                  <a:txBody>
                    <a:bodyPr/>
                    <a:lstStyle/>
                    <a:p>
                      <a:pPr algn="ctr"/>
                      <a:r>
                        <a:rPr lang="en-US" sz="1100" b="1" dirty="0" err="1" smtClean="0">
                          <a:solidFill>
                            <a:schemeClr val="tx1"/>
                          </a:solidFill>
                        </a:rPr>
                        <a:t>fx</a:t>
                      </a:r>
                      <a:endParaRPr lang="en-US" sz="1100" b="1" dirty="0">
                        <a:solidFill>
                          <a:schemeClr val="tx1"/>
                        </a:solidFill>
                      </a:endParaRPr>
                    </a:p>
                  </a:txBody>
                  <a:tcPr/>
                </a:tc>
              </a:tr>
              <a:tr h="219075">
                <a:tc>
                  <a:txBody>
                    <a:bodyPr/>
                    <a:lstStyle/>
                    <a:p>
                      <a:pPr algn="l"/>
                      <a:r>
                        <a:rPr lang="en-US" sz="1100" b="1" dirty="0" smtClean="0"/>
                        <a:t>Filipino</a:t>
                      </a:r>
                      <a:endParaRPr lang="en-US" sz="1100" b="1" dirty="0">
                        <a:solidFill>
                          <a:schemeClr val="tx1"/>
                        </a:solidFill>
                      </a:endParaRPr>
                    </a:p>
                  </a:txBody>
                  <a:tcPr/>
                </a:tc>
                <a:tc>
                  <a:txBody>
                    <a:bodyPr/>
                    <a:lstStyle/>
                    <a:p>
                      <a:pPr algn="ctr"/>
                      <a:r>
                        <a:rPr lang="en-US" sz="1100" b="1" dirty="0" smtClean="0">
                          <a:solidFill>
                            <a:schemeClr val="tx1"/>
                          </a:solidFill>
                        </a:rPr>
                        <a:t>1.2</a:t>
                      </a:r>
                      <a:endParaRPr lang="en-US" sz="1100" b="1" dirty="0">
                        <a:solidFill>
                          <a:schemeClr val="tx1"/>
                        </a:solidFill>
                      </a:endParaRPr>
                    </a:p>
                  </a:txBody>
                  <a:tcPr/>
                </a:tc>
                <a:tc>
                  <a:txBody>
                    <a:bodyPr/>
                    <a:lstStyle/>
                    <a:p>
                      <a:pPr algn="ctr"/>
                      <a:r>
                        <a:rPr lang="en-US" sz="1100" b="1" dirty="0" smtClean="0"/>
                        <a:t>86</a:t>
                      </a:r>
                      <a:endParaRPr lang="en-US" sz="1100" b="1" dirty="0">
                        <a:solidFill>
                          <a:schemeClr val="tx1"/>
                        </a:solidFill>
                      </a:endParaRPr>
                    </a:p>
                  </a:txBody>
                  <a:tcPr/>
                </a:tc>
                <a:tc>
                  <a:txBody>
                    <a:bodyPr/>
                    <a:lstStyle/>
                    <a:p>
                      <a:pPr algn="ctr"/>
                      <a:r>
                        <a:rPr lang="en-US" sz="1100" b="1" dirty="0" smtClean="0">
                          <a:solidFill>
                            <a:schemeClr val="tx1"/>
                          </a:solidFill>
                        </a:rPr>
                        <a:t>103.2</a:t>
                      </a:r>
                      <a:endParaRPr lang="en-US" sz="1100" b="1" dirty="0">
                        <a:solidFill>
                          <a:schemeClr val="tx1"/>
                        </a:solidFill>
                      </a:endParaRPr>
                    </a:p>
                  </a:txBody>
                  <a:tcPr/>
                </a:tc>
              </a:tr>
              <a:tr h="219075">
                <a:tc>
                  <a:txBody>
                    <a:bodyPr/>
                    <a:lstStyle/>
                    <a:p>
                      <a:pPr algn="l"/>
                      <a:r>
                        <a:rPr lang="en-US" sz="1100" b="1" dirty="0" smtClean="0"/>
                        <a:t>English</a:t>
                      </a:r>
                      <a:endParaRPr lang="en-US" sz="1100" b="1" dirty="0">
                        <a:solidFill>
                          <a:schemeClr val="tx1"/>
                        </a:solidFill>
                      </a:endParaRPr>
                    </a:p>
                  </a:txBody>
                  <a:tcPr/>
                </a:tc>
                <a:tc>
                  <a:txBody>
                    <a:bodyPr/>
                    <a:lstStyle/>
                    <a:p>
                      <a:pPr algn="ctr"/>
                      <a:r>
                        <a:rPr lang="en-US" sz="1100" b="1" dirty="0" smtClean="0">
                          <a:solidFill>
                            <a:schemeClr val="tx1"/>
                          </a:solidFill>
                        </a:rPr>
                        <a:t>1.5</a:t>
                      </a:r>
                      <a:endParaRPr lang="en-US" sz="1100" b="1" dirty="0">
                        <a:solidFill>
                          <a:schemeClr val="tx1"/>
                        </a:solidFill>
                      </a:endParaRPr>
                    </a:p>
                  </a:txBody>
                  <a:tcPr/>
                </a:tc>
                <a:tc>
                  <a:txBody>
                    <a:bodyPr/>
                    <a:lstStyle/>
                    <a:p>
                      <a:pPr algn="ctr"/>
                      <a:r>
                        <a:rPr lang="en-US" sz="1100" b="1" dirty="0" smtClean="0">
                          <a:solidFill>
                            <a:schemeClr val="tx1"/>
                          </a:solidFill>
                        </a:rPr>
                        <a:t>89</a:t>
                      </a:r>
                      <a:endParaRPr lang="en-US" sz="1100" b="1" dirty="0">
                        <a:solidFill>
                          <a:schemeClr val="tx1"/>
                        </a:solidFill>
                      </a:endParaRPr>
                    </a:p>
                  </a:txBody>
                  <a:tcPr/>
                </a:tc>
                <a:tc>
                  <a:txBody>
                    <a:bodyPr/>
                    <a:lstStyle/>
                    <a:p>
                      <a:pPr algn="ctr"/>
                      <a:r>
                        <a:rPr lang="en-US" sz="1100" b="1" dirty="0" smtClean="0">
                          <a:solidFill>
                            <a:schemeClr val="tx1"/>
                          </a:solidFill>
                        </a:rPr>
                        <a:t>133.5</a:t>
                      </a:r>
                      <a:endParaRPr lang="en-US" sz="1100" b="1" dirty="0">
                        <a:solidFill>
                          <a:schemeClr val="tx1"/>
                        </a:solidFill>
                      </a:endParaRPr>
                    </a:p>
                  </a:txBody>
                  <a:tcPr/>
                </a:tc>
              </a:tr>
              <a:tr h="219075">
                <a:tc>
                  <a:txBody>
                    <a:bodyPr/>
                    <a:lstStyle/>
                    <a:p>
                      <a:pPr algn="l"/>
                      <a:r>
                        <a:rPr lang="en-US" sz="1100" b="1" dirty="0" smtClean="0">
                          <a:solidFill>
                            <a:schemeClr val="tx1"/>
                          </a:solidFill>
                        </a:rPr>
                        <a:t>Math</a:t>
                      </a:r>
                      <a:endParaRPr lang="en-US" sz="1100" b="1" dirty="0">
                        <a:solidFill>
                          <a:schemeClr val="tx1"/>
                        </a:solidFill>
                      </a:endParaRPr>
                    </a:p>
                  </a:txBody>
                  <a:tcPr/>
                </a:tc>
                <a:tc>
                  <a:txBody>
                    <a:bodyPr/>
                    <a:lstStyle/>
                    <a:p>
                      <a:pPr algn="ctr"/>
                      <a:r>
                        <a:rPr lang="en-US" sz="1100" b="1" dirty="0" smtClean="0">
                          <a:solidFill>
                            <a:schemeClr val="tx1"/>
                          </a:solidFill>
                        </a:rPr>
                        <a:t>1.5</a:t>
                      </a:r>
                      <a:endParaRPr lang="en-US" sz="1100" b="1" dirty="0">
                        <a:solidFill>
                          <a:schemeClr val="tx1"/>
                        </a:solidFill>
                      </a:endParaRPr>
                    </a:p>
                  </a:txBody>
                  <a:tcPr/>
                </a:tc>
                <a:tc>
                  <a:txBody>
                    <a:bodyPr/>
                    <a:lstStyle/>
                    <a:p>
                      <a:pPr algn="ctr"/>
                      <a:r>
                        <a:rPr lang="en-US" sz="1100" b="1" dirty="0" smtClean="0">
                          <a:solidFill>
                            <a:schemeClr val="tx1"/>
                          </a:solidFill>
                        </a:rPr>
                        <a:t>94</a:t>
                      </a:r>
                      <a:endParaRPr lang="en-US" sz="1100" b="1" dirty="0">
                        <a:solidFill>
                          <a:schemeClr val="tx1"/>
                        </a:solidFill>
                      </a:endParaRPr>
                    </a:p>
                  </a:txBody>
                  <a:tcPr/>
                </a:tc>
                <a:tc>
                  <a:txBody>
                    <a:bodyPr/>
                    <a:lstStyle/>
                    <a:p>
                      <a:pPr algn="ctr"/>
                      <a:r>
                        <a:rPr lang="en-US" sz="1100" b="1" dirty="0" smtClean="0">
                          <a:solidFill>
                            <a:schemeClr val="tx1"/>
                          </a:solidFill>
                        </a:rPr>
                        <a:t>141.0</a:t>
                      </a:r>
                      <a:endParaRPr lang="en-US" sz="1100" b="1" dirty="0">
                        <a:solidFill>
                          <a:schemeClr val="tx1"/>
                        </a:solidFill>
                      </a:endParaRPr>
                    </a:p>
                  </a:txBody>
                  <a:tcPr/>
                </a:tc>
              </a:tr>
              <a:tr h="219075">
                <a:tc>
                  <a:txBody>
                    <a:bodyPr/>
                    <a:lstStyle/>
                    <a:p>
                      <a:pPr algn="l"/>
                      <a:r>
                        <a:rPr lang="en-US" sz="1100" b="1" dirty="0" smtClean="0"/>
                        <a:t>Science</a:t>
                      </a:r>
                      <a:endParaRPr lang="en-US" sz="1100" b="1" dirty="0">
                        <a:solidFill>
                          <a:schemeClr val="tx1"/>
                        </a:solidFill>
                      </a:endParaRPr>
                    </a:p>
                  </a:txBody>
                  <a:tcPr/>
                </a:tc>
                <a:tc>
                  <a:txBody>
                    <a:bodyPr/>
                    <a:lstStyle/>
                    <a:p>
                      <a:pPr algn="ctr"/>
                      <a:r>
                        <a:rPr lang="en-US" sz="1100" b="1" dirty="0" smtClean="0">
                          <a:solidFill>
                            <a:schemeClr val="tx1"/>
                          </a:solidFill>
                        </a:rPr>
                        <a:t>1.8</a:t>
                      </a:r>
                      <a:endParaRPr lang="en-US" sz="1100" b="1" dirty="0">
                        <a:solidFill>
                          <a:schemeClr val="tx1"/>
                        </a:solidFill>
                      </a:endParaRPr>
                    </a:p>
                  </a:txBody>
                  <a:tcPr/>
                </a:tc>
                <a:tc>
                  <a:txBody>
                    <a:bodyPr/>
                    <a:lstStyle/>
                    <a:p>
                      <a:pPr algn="ctr"/>
                      <a:r>
                        <a:rPr lang="en-US" sz="1100" b="1" dirty="0" smtClean="0">
                          <a:solidFill>
                            <a:schemeClr val="tx1"/>
                          </a:solidFill>
                        </a:rPr>
                        <a:t>93</a:t>
                      </a:r>
                      <a:endParaRPr lang="en-US" sz="1100" b="1" dirty="0">
                        <a:solidFill>
                          <a:schemeClr val="tx1"/>
                        </a:solidFill>
                      </a:endParaRPr>
                    </a:p>
                  </a:txBody>
                  <a:tcPr/>
                </a:tc>
                <a:tc>
                  <a:txBody>
                    <a:bodyPr/>
                    <a:lstStyle/>
                    <a:p>
                      <a:pPr algn="ctr"/>
                      <a:r>
                        <a:rPr lang="en-US" sz="1100" b="1" dirty="0" smtClean="0">
                          <a:solidFill>
                            <a:schemeClr val="tx1"/>
                          </a:solidFill>
                        </a:rPr>
                        <a:t>167.4</a:t>
                      </a:r>
                      <a:endParaRPr lang="en-US" sz="1100" b="1" dirty="0">
                        <a:solidFill>
                          <a:schemeClr val="tx1"/>
                        </a:solidFill>
                      </a:endParaRPr>
                    </a:p>
                  </a:txBody>
                  <a:tcPr/>
                </a:tc>
              </a:tr>
              <a:tr h="219075">
                <a:tc>
                  <a:txBody>
                    <a:bodyPr/>
                    <a:lstStyle/>
                    <a:p>
                      <a:pPr algn="l"/>
                      <a:r>
                        <a:rPr lang="en-US" sz="1100" b="1" dirty="0" err="1" smtClean="0">
                          <a:solidFill>
                            <a:schemeClr val="tx1"/>
                          </a:solidFill>
                        </a:rPr>
                        <a:t>Araling</a:t>
                      </a:r>
                      <a:r>
                        <a:rPr lang="en-US" sz="1100" b="1" dirty="0" smtClean="0">
                          <a:solidFill>
                            <a:schemeClr val="tx1"/>
                          </a:solidFill>
                        </a:rPr>
                        <a:t> </a:t>
                      </a:r>
                      <a:r>
                        <a:rPr lang="en-US" sz="1100" b="1" dirty="0" err="1" smtClean="0">
                          <a:solidFill>
                            <a:schemeClr val="tx1"/>
                          </a:solidFill>
                        </a:rPr>
                        <a:t>Panlipunan</a:t>
                      </a:r>
                      <a:endParaRPr lang="en-US" sz="1100" b="1" dirty="0">
                        <a:solidFill>
                          <a:schemeClr val="tx1"/>
                        </a:solidFill>
                      </a:endParaRPr>
                    </a:p>
                  </a:txBody>
                  <a:tcPr/>
                </a:tc>
                <a:tc>
                  <a:txBody>
                    <a:bodyPr/>
                    <a:lstStyle/>
                    <a:p>
                      <a:pPr algn="ctr"/>
                      <a:r>
                        <a:rPr lang="en-US" sz="1100" b="1" dirty="0" smtClean="0">
                          <a:solidFill>
                            <a:schemeClr val="tx1"/>
                          </a:solidFill>
                        </a:rPr>
                        <a:t>1.2</a:t>
                      </a:r>
                      <a:endParaRPr lang="en-US" sz="1100" b="1" dirty="0">
                        <a:solidFill>
                          <a:schemeClr val="tx1"/>
                        </a:solidFill>
                      </a:endParaRPr>
                    </a:p>
                  </a:txBody>
                  <a:tcPr/>
                </a:tc>
                <a:tc>
                  <a:txBody>
                    <a:bodyPr/>
                    <a:lstStyle/>
                    <a:p>
                      <a:pPr algn="ctr"/>
                      <a:r>
                        <a:rPr lang="en-US" sz="1100" b="1" dirty="0" smtClean="0">
                          <a:solidFill>
                            <a:schemeClr val="tx1"/>
                          </a:solidFill>
                        </a:rPr>
                        <a:t>88</a:t>
                      </a:r>
                      <a:endParaRPr lang="en-US" sz="1100" b="1" dirty="0">
                        <a:solidFill>
                          <a:schemeClr val="tx1"/>
                        </a:solidFill>
                      </a:endParaRPr>
                    </a:p>
                  </a:txBody>
                  <a:tcPr/>
                </a:tc>
                <a:tc>
                  <a:txBody>
                    <a:bodyPr/>
                    <a:lstStyle/>
                    <a:p>
                      <a:pPr algn="ctr"/>
                      <a:r>
                        <a:rPr lang="en-US" sz="1100" b="1" dirty="0" smtClean="0">
                          <a:solidFill>
                            <a:schemeClr val="tx1"/>
                          </a:solidFill>
                        </a:rPr>
                        <a:t>105.6</a:t>
                      </a:r>
                      <a:endParaRPr lang="en-US" sz="1100" b="1" dirty="0">
                        <a:solidFill>
                          <a:schemeClr val="tx1"/>
                        </a:solidFill>
                      </a:endParaRPr>
                    </a:p>
                  </a:txBody>
                  <a:tcPr/>
                </a:tc>
              </a:tr>
              <a:tr h="219075">
                <a:tc>
                  <a:txBody>
                    <a:bodyPr/>
                    <a:lstStyle/>
                    <a:p>
                      <a:pPr algn="l"/>
                      <a:r>
                        <a:rPr lang="en-US" sz="1100" b="1" dirty="0" smtClean="0">
                          <a:solidFill>
                            <a:schemeClr val="tx1"/>
                          </a:solidFill>
                        </a:rPr>
                        <a:t>TLE</a:t>
                      </a:r>
                      <a:endParaRPr lang="en-US" sz="1100" b="1" dirty="0">
                        <a:solidFill>
                          <a:schemeClr val="tx1"/>
                        </a:solidFill>
                      </a:endParaRPr>
                    </a:p>
                  </a:txBody>
                  <a:tcPr/>
                </a:tc>
                <a:tc>
                  <a:txBody>
                    <a:bodyPr/>
                    <a:lstStyle/>
                    <a:p>
                      <a:pPr algn="ctr"/>
                      <a:r>
                        <a:rPr lang="en-US" sz="1100" b="1" dirty="0" smtClean="0">
                          <a:solidFill>
                            <a:schemeClr val="tx1"/>
                          </a:solidFill>
                        </a:rPr>
                        <a:t>1.2</a:t>
                      </a:r>
                      <a:endParaRPr lang="en-US" sz="1100" b="1" dirty="0">
                        <a:solidFill>
                          <a:schemeClr val="tx1"/>
                        </a:solidFill>
                      </a:endParaRPr>
                    </a:p>
                  </a:txBody>
                  <a:tcPr/>
                </a:tc>
                <a:tc>
                  <a:txBody>
                    <a:bodyPr/>
                    <a:lstStyle/>
                    <a:p>
                      <a:pPr algn="ctr"/>
                      <a:r>
                        <a:rPr lang="en-US" sz="1100" b="1" dirty="0" smtClean="0">
                          <a:solidFill>
                            <a:schemeClr val="tx1"/>
                          </a:solidFill>
                        </a:rPr>
                        <a:t>87</a:t>
                      </a:r>
                      <a:endParaRPr lang="en-US" sz="1100" b="1" dirty="0">
                        <a:solidFill>
                          <a:schemeClr val="tx1"/>
                        </a:solidFill>
                      </a:endParaRPr>
                    </a:p>
                  </a:txBody>
                  <a:tcPr/>
                </a:tc>
                <a:tc>
                  <a:txBody>
                    <a:bodyPr/>
                    <a:lstStyle/>
                    <a:p>
                      <a:pPr algn="ctr"/>
                      <a:r>
                        <a:rPr lang="en-US" sz="1100" b="1" dirty="0" smtClean="0">
                          <a:solidFill>
                            <a:schemeClr val="tx1"/>
                          </a:solidFill>
                        </a:rPr>
                        <a:t>104.4</a:t>
                      </a:r>
                      <a:endParaRPr lang="en-US" sz="1100" b="1" dirty="0">
                        <a:solidFill>
                          <a:schemeClr val="tx1"/>
                        </a:solidFill>
                      </a:endParaRPr>
                    </a:p>
                  </a:txBody>
                  <a:tcPr/>
                </a:tc>
              </a:tr>
              <a:tr h="219075">
                <a:tc>
                  <a:txBody>
                    <a:bodyPr/>
                    <a:lstStyle/>
                    <a:p>
                      <a:pPr algn="l"/>
                      <a:r>
                        <a:rPr lang="en-US" sz="1100" b="1" dirty="0" smtClean="0">
                          <a:solidFill>
                            <a:schemeClr val="tx1"/>
                          </a:solidFill>
                        </a:rPr>
                        <a:t>MSEP</a:t>
                      </a:r>
                      <a:endParaRPr lang="en-US" sz="1100" b="1" dirty="0">
                        <a:solidFill>
                          <a:schemeClr val="tx1"/>
                        </a:solidFill>
                      </a:endParaRPr>
                    </a:p>
                  </a:txBody>
                  <a:tcPr/>
                </a:tc>
                <a:tc>
                  <a:txBody>
                    <a:bodyPr/>
                    <a:lstStyle/>
                    <a:p>
                      <a:pPr algn="ctr"/>
                      <a:r>
                        <a:rPr lang="en-US" sz="1100" b="1" dirty="0" smtClean="0">
                          <a:solidFill>
                            <a:schemeClr val="tx1"/>
                          </a:solidFill>
                        </a:rPr>
                        <a:t>1.2</a:t>
                      </a:r>
                      <a:endParaRPr lang="en-US" sz="1100" b="1" dirty="0">
                        <a:solidFill>
                          <a:schemeClr val="tx1"/>
                        </a:solidFill>
                      </a:endParaRPr>
                    </a:p>
                  </a:txBody>
                  <a:tcPr/>
                </a:tc>
                <a:tc>
                  <a:txBody>
                    <a:bodyPr/>
                    <a:lstStyle/>
                    <a:p>
                      <a:pPr algn="ctr"/>
                      <a:r>
                        <a:rPr lang="en-US" sz="1100" b="1" dirty="0" smtClean="0">
                          <a:solidFill>
                            <a:schemeClr val="tx1"/>
                          </a:solidFill>
                        </a:rPr>
                        <a:t>93</a:t>
                      </a:r>
                      <a:endParaRPr lang="en-US" sz="1100" b="1" dirty="0">
                        <a:solidFill>
                          <a:schemeClr val="tx1"/>
                        </a:solidFill>
                      </a:endParaRPr>
                    </a:p>
                  </a:txBody>
                  <a:tcPr/>
                </a:tc>
                <a:tc>
                  <a:txBody>
                    <a:bodyPr/>
                    <a:lstStyle/>
                    <a:p>
                      <a:pPr algn="ctr"/>
                      <a:r>
                        <a:rPr lang="en-US" sz="1100" b="1" dirty="0" smtClean="0">
                          <a:solidFill>
                            <a:schemeClr val="tx1"/>
                          </a:solidFill>
                        </a:rPr>
                        <a:t>111.6</a:t>
                      </a:r>
                      <a:endParaRPr lang="en-US" sz="1100" b="1" dirty="0">
                        <a:solidFill>
                          <a:schemeClr val="tx1"/>
                        </a:solidFill>
                      </a:endParaRPr>
                    </a:p>
                  </a:txBody>
                  <a:tcPr/>
                </a:tc>
              </a:tr>
              <a:tr h="219075">
                <a:tc>
                  <a:txBody>
                    <a:bodyPr/>
                    <a:lstStyle/>
                    <a:p>
                      <a:pPr algn="l"/>
                      <a:r>
                        <a:rPr lang="en-US" sz="1100" b="1" dirty="0" smtClean="0">
                          <a:solidFill>
                            <a:schemeClr val="tx1"/>
                          </a:solidFill>
                        </a:rPr>
                        <a:t>EP</a:t>
                      </a:r>
                      <a:endParaRPr lang="en-US" sz="1100" b="1" dirty="0">
                        <a:solidFill>
                          <a:schemeClr val="tx1"/>
                        </a:solidFill>
                      </a:endParaRPr>
                    </a:p>
                  </a:txBody>
                  <a:tcPr/>
                </a:tc>
                <a:tc>
                  <a:txBody>
                    <a:bodyPr/>
                    <a:lstStyle/>
                    <a:p>
                      <a:pPr algn="ctr"/>
                      <a:r>
                        <a:rPr lang="en-US" sz="1100" b="1" dirty="0" smtClean="0">
                          <a:solidFill>
                            <a:schemeClr val="tx1"/>
                          </a:solidFill>
                        </a:rPr>
                        <a:t>0.6</a:t>
                      </a:r>
                      <a:endParaRPr lang="en-US" sz="1100" b="1" dirty="0">
                        <a:solidFill>
                          <a:schemeClr val="tx1"/>
                        </a:solidFill>
                      </a:endParaRPr>
                    </a:p>
                  </a:txBody>
                  <a:tcPr/>
                </a:tc>
                <a:tc>
                  <a:txBody>
                    <a:bodyPr/>
                    <a:lstStyle/>
                    <a:p>
                      <a:pPr algn="ctr"/>
                      <a:r>
                        <a:rPr lang="en-US" sz="1100" b="1" dirty="0" smtClean="0">
                          <a:solidFill>
                            <a:schemeClr val="tx1"/>
                          </a:solidFill>
                        </a:rPr>
                        <a:t>92</a:t>
                      </a:r>
                      <a:endParaRPr lang="en-US" sz="1100" b="1" dirty="0">
                        <a:solidFill>
                          <a:schemeClr val="tx1"/>
                        </a:solidFill>
                      </a:endParaRPr>
                    </a:p>
                  </a:txBody>
                  <a:tcPr/>
                </a:tc>
                <a:tc>
                  <a:txBody>
                    <a:bodyPr/>
                    <a:lstStyle/>
                    <a:p>
                      <a:pPr algn="ctr"/>
                      <a:r>
                        <a:rPr lang="en-US" sz="1100" b="1" dirty="0" smtClean="0">
                          <a:solidFill>
                            <a:schemeClr val="tx1"/>
                          </a:solidFill>
                        </a:rPr>
                        <a:t>55.2</a:t>
                      </a:r>
                      <a:endParaRPr lang="en-US" sz="1100" b="1" dirty="0">
                        <a:solidFill>
                          <a:schemeClr val="tx1"/>
                        </a:solidFill>
                      </a:endParaRPr>
                    </a:p>
                  </a:txBody>
                  <a:tcPr/>
                </a:tc>
              </a:tr>
              <a:tr h="219075">
                <a:tc>
                  <a:txBody>
                    <a:bodyPr/>
                    <a:lstStyle/>
                    <a:p>
                      <a:pPr algn="l"/>
                      <a:endParaRPr lang="en-US" sz="1100" b="1" dirty="0">
                        <a:solidFill>
                          <a:schemeClr val="tx1"/>
                        </a:solidFill>
                      </a:endParaRPr>
                    </a:p>
                  </a:txBody>
                  <a:tcPr/>
                </a:tc>
                <a:tc>
                  <a:txBody>
                    <a:bodyPr/>
                    <a:lstStyle/>
                    <a:p>
                      <a:pPr algn="ctr"/>
                      <a:r>
                        <a:rPr lang="en-US" sz="1100" b="1" dirty="0" smtClean="0">
                          <a:solidFill>
                            <a:schemeClr val="tx1"/>
                          </a:solidFill>
                        </a:rPr>
                        <a:t>N = 10.2</a:t>
                      </a:r>
                      <a:endParaRPr lang="en-US" sz="1100" b="1" dirty="0">
                        <a:solidFill>
                          <a:schemeClr val="tx1"/>
                        </a:solidFill>
                      </a:endParaRPr>
                    </a:p>
                  </a:txBody>
                  <a:tcPr>
                    <a:solidFill>
                      <a:schemeClr val="bg1">
                        <a:lumMod val="75000"/>
                      </a:schemeClr>
                    </a:solidFill>
                  </a:tcPr>
                </a:tc>
                <a:tc>
                  <a:txBody>
                    <a:bodyPr/>
                    <a:lstStyle/>
                    <a:p>
                      <a:pPr algn="ctr"/>
                      <a:endParaRPr lang="en-US" sz="1100" b="1" dirty="0">
                        <a:solidFill>
                          <a:schemeClr val="tx1"/>
                        </a:solidFill>
                      </a:endParaRPr>
                    </a:p>
                  </a:txBody>
                  <a:tcPr/>
                </a:tc>
                <a:tc>
                  <a:txBody>
                    <a:bodyPr/>
                    <a:lstStyle/>
                    <a:p>
                      <a:pPr algn="ctr"/>
                      <a:r>
                        <a:rPr lang="en-US" sz="1100" b="1" dirty="0" smtClean="0">
                          <a:solidFill>
                            <a:schemeClr val="tx1"/>
                          </a:solidFill>
                        </a:rPr>
                        <a:t>921.9</a:t>
                      </a:r>
                      <a:endParaRPr lang="en-US" sz="1100" b="1" dirty="0">
                        <a:solidFill>
                          <a:schemeClr val="tx1"/>
                        </a:solidFill>
                      </a:endParaRPr>
                    </a:p>
                  </a:txBody>
                  <a:tcPr>
                    <a:solidFill>
                      <a:schemeClr val="bg1">
                        <a:lumMod val="75000"/>
                      </a:schemeClr>
                    </a:solidFill>
                  </a:tcPr>
                </a:tc>
              </a:tr>
            </a:tbl>
          </a:graphicData>
        </a:graphic>
      </p:graphicFrame>
      <p:sp>
        <p:nvSpPr>
          <p:cNvPr id="13" name="Rectangle 12"/>
          <p:cNvSpPr/>
          <p:nvPr/>
        </p:nvSpPr>
        <p:spPr>
          <a:xfrm>
            <a:off x="1346916" y="4011768"/>
            <a:ext cx="1141659" cy="400110"/>
          </a:xfrm>
          <a:prstGeom prst="rect">
            <a:avLst/>
          </a:prstGeom>
        </p:spPr>
        <p:txBody>
          <a:bodyPr wrap="none">
            <a:spAutoFit/>
          </a:bodyPr>
          <a:lstStyle/>
          <a:p>
            <a:r>
              <a:rPr lang="en-US" sz="2000" b="1" dirty="0" smtClean="0"/>
              <a:t>Solution:</a:t>
            </a:r>
            <a:endParaRPr lang="en-PH" sz="2000" b="1" dirty="0"/>
          </a:p>
        </p:txBody>
      </p:sp>
      <p:sp>
        <p:nvSpPr>
          <p:cNvPr id="14" name="Rounded Rectangle 13"/>
          <p:cNvSpPr/>
          <p:nvPr/>
        </p:nvSpPr>
        <p:spPr>
          <a:xfrm>
            <a:off x="1219200" y="3987084"/>
            <a:ext cx="6833316" cy="2767884"/>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3906" name="Object 2"/>
          <p:cNvGraphicFramePr>
            <a:graphicFrameLocks noChangeAspect="1"/>
          </p:cNvGraphicFramePr>
          <p:nvPr/>
        </p:nvGraphicFramePr>
        <p:xfrm>
          <a:off x="1499316" y="4548188"/>
          <a:ext cx="1452563" cy="825500"/>
        </p:xfrm>
        <a:graphic>
          <a:graphicData uri="http://schemas.openxmlformats.org/presentationml/2006/ole">
            <p:oleObj spid="_x0000_s200706" name="Equation" r:id="rId6" imgW="685800" imgH="431640" progId="Equation.3">
              <p:embed/>
            </p:oleObj>
          </a:graphicData>
        </a:graphic>
      </p:graphicFrame>
      <p:graphicFrame>
        <p:nvGraphicFramePr>
          <p:cNvPr id="123907" name="Object 3"/>
          <p:cNvGraphicFramePr>
            <a:graphicFrameLocks noChangeAspect="1"/>
          </p:cNvGraphicFramePr>
          <p:nvPr/>
        </p:nvGraphicFramePr>
        <p:xfrm>
          <a:off x="3013791" y="4613275"/>
          <a:ext cx="1130300" cy="754063"/>
        </p:xfrm>
        <a:graphic>
          <a:graphicData uri="http://schemas.openxmlformats.org/presentationml/2006/ole">
            <p:oleObj spid="_x0000_s200707" name="Equation" r:id="rId7" imgW="533160" imgH="393480" progId="Equation.3">
              <p:embed/>
            </p:oleObj>
          </a:graphicData>
        </a:graphic>
      </p:graphicFrame>
      <p:graphicFrame>
        <p:nvGraphicFramePr>
          <p:cNvPr id="123908" name="Object 4"/>
          <p:cNvGraphicFramePr>
            <a:graphicFrameLocks noChangeAspect="1"/>
          </p:cNvGraphicFramePr>
          <p:nvPr/>
        </p:nvGraphicFramePr>
        <p:xfrm>
          <a:off x="1773954" y="5373688"/>
          <a:ext cx="1076325" cy="341312"/>
        </p:xfrm>
        <a:graphic>
          <a:graphicData uri="http://schemas.openxmlformats.org/presentationml/2006/ole">
            <p:oleObj spid="_x0000_s200708" name="Equation" r:id="rId8" imgW="507960" imgH="1774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p:cTn id="31" dur="500" fill="hold"/>
                                        <p:tgtEl>
                                          <p:spTgt spid="5">
                                            <p:txEl>
                                              <p:pRg st="10" end="10"/>
                                            </p:txEl>
                                          </p:spTgt>
                                        </p:tgtEl>
                                        <p:attrNameLst>
                                          <p:attrName>ppt_w</p:attrName>
                                        </p:attrNameLst>
                                      </p:cBhvr>
                                      <p:tavLst>
                                        <p:tav tm="0">
                                          <p:val>
                                            <p:fltVal val="0"/>
                                          </p:val>
                                        </p:tav>
                                        <p:tav tm="100000">
                                          <p:val>
                                            <p:strVal val="#ppt_w"/>
                                          </p:val>
                                        </p:tav>
                                      </p:tavLst>
                                    </p:anim>
                                    <p:anim calcmode="lin" valueType="num">
                                      <p:cBhvr>
                                        <p:cTn id="32" dur="500" fill="hold"/>
                                        <p:tgtEl>
                                          <p:spTgt spid="5">
                                            <p:txEl>
                                              <p:pRg st="10" end="10"/>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slide(fromBottom)">
                                      <p:cBhvr>
                                        <p:cTn id="37" dur="500"/>
                                        <p:tgtEl>
                                          <p:spTgt spid="7"/>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slide(fromBottom)">
                                      <p:cBhvr>
                                        <p:cTn id="40" dur="500"/>
                                        <p:tgtEl>
                                          <p:spTgt spid="8"/>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slide(fromBottom)">
                                      <p:cBhvr>
                                        <p:cTn id="43" dur="500"/>
                                        <p:tgtEl>
                                          <p:spTgt spid="9"/>
                                        </p:tgtEl>
                                      </p:cBhvr>
                                    </p:animEffect>
                                  </p:childTnLst>
                                </p:cTn>
                              </p:par>
                              <p:par>
                                <p:cTn id="44" presetID="12" presetClass="entr" presetSubtype="4"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slide(fromBottom)">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37"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900" decel="100000" fill="hold"/>
                                        <p:tgtEl>
                                          <p:spTgt spid="13"/>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par>
                                <p:cTn id="55" presetID="37"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1000"/>
                                        <p:tgtEl>
                                          <p:spTgt spid="14"/>
                                        </p:tgtEl>
                                      </p:cBhvr>
                                    </p:animEffect>
                                    <p:anim calcmode="lin" valueType="num">
                                      <p:cBhvr>
                                        <p:cTn id="58" dur="1000" fill="hold"/>
                                        <p:tgtEl>
                                          <p:spTgt spid="14"/>
                                        </p:tgtEl>
                                        <p:attrNameLst>
                                          <p:attrName>ppt_x</p:attrName>
                                        </p:attrNameLst>
                                      </p:cBhvr>
                                      <p:tavLst>
                                        <p:tav tm="0">
                                          <p:val>
                                            <p:strVal val="#ppt_x"/>
                                          </p:val>
                                        </p:tav>
                                        <p:tav tm="100000">
                                          <p:val>
                                            <p:strVal val="#ppt_x"/>
                                          </p:val>
                                        </p:tav>
                                      </p:tavLst>
                                    </p:anim>
                                    <p:anim calcmode="lin" valueType="num">
                                      <p:cBhvr>
                                        <p:cTn id="59" dur="900" decel="100000" fill="hold"/>
                                        <p:tgtEl>
                                          <p:spTgt spid="14"/>
                                        </p:tgtEl>
                                        <p:attrNameLst>
                                          <p:attrName>ppt_y</p:attrName>
                                        </p:attrNameLst>
                                      </p:cBhvr>
                                      <p:tavLst>
                                        <p:tav tm="0">
                                          <p:val>
                                            <p:strVal val="#ppt_y+1"/>
                                          </p:val>
                                        </p:tav>
                                        <p:tav tm="100000">
                                          <p:val>
                                            <p:strVal val="#ppt_y-.03"/>
                                          </p:val>
                                        </p:tav>
                                      </p:tavLst>
                                    </p:anim>
                                    <p:anim calcmode="lin" valueType="num">
                                      <p:cBhvr>
                                        <p:cTn id="60"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down)">
                                      <p:cBhvr>
                                        <p:cTn id="65" dur="580">
                                          <p:stCondLst>
                                            <p:cond delay="0"/>
                                          </p:stCondLst>
                                        </p:cTn>
                                        <p:tgtEl>
                                          <p:spTgt spid="12"/>
                                        </p:tgtEl>
                                      </p:cBhvr>
                                    </p:animEffect>
                                    <p:anim calcmode="lin" valueType="num">
                                      <p:cBhvr>
                                        <p:cTn id="6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71" dur="26">
                                          <p:stCondLst>
                                            <p:cond delay="650"/>
                                          </p:stCondLst>
                                        </p:cTn>
                                        <p:tgtEl>
                                          <p:spTgt spid="12"/>
                                        </p:tgtEl>
                                      </p:cBhvr>
                                      <p:to x="100000" y="60000"/>
                                    </p:animScale>
                                    <p:animScale>
                                      <p:cBhvr>
                                        <p:cTn id="72" dur="166" decel="50000">
                                          <p:stCondLst>
                                            <p:cond delay="676"/>
                                          </p:stCondLst>
                                        </p:cTn>
                                        <p:tgtEl>
                                          <p:spTgt spid="12"/>
                                        </p:tgtEl>
                                      </p:cBhvr>
                                      <p:to x="100000" y="100000"/>
                                    </p:animScale>
                                    <p:animScale>
                                      <p:cBhvr>
                                        <p:cTn id="73" dur="26">
                                          <p:stCondLst>
                                            <p:cond delay="1312"/>
                                          </p:stCondLst>
                                        </p:cTn>
                                        <p:tgtEl>
                                          <p:spTgt spid="12"/>
                                        </p:tgtEl>
                                      </p:cBhvr>
                                      <p:to x="100000" y="80000"/>
                                    </p:animScale>
                                    <p:animScale>
                                      <p:cBhvr>
                                        <p:cTn id="74" dur="166" decel="50000">
                                          <p:stCondLst>
                                            <p:cond delay="1338"/>
                                          </p:stCondLst>
                                        </p:cTn>
                                        <p:tgtEl>
                                          <p:spTgt spid="12"/>
                                        </p:tgtEl>
                                      </p:cBhvr>
                                      <p:to x="100000" y="100000"/>
                                    </p:animScale>
                                    <p:animScale>
                                      <p:cBhvr>
                                        <p:cTn id="75" dur="26">
                                          <p:stCondLst>
                                            <p:cond delay="1642"/>
                                          </p:stCondLst>
                                        </p:cTn>
                                        <p:tgtEl>
                                          <p:spTgt spid="12"/>
                                        </p:tgtEl>
                                      </p:cBhvr>
                                      <p:to x="100000" y="90000"/>
                                    </p:animScale>
                                    <p:animScale>
                                      <p:cBhvr>
                                        <p:cTn id="76" dur="166" decel="50000">
                                          <p:stCondLst>
                                            <p:cond delay="1668"/>
                                          </p:stCondLst>
                                        </p:cTn>
                                        <p:tgtEl>
                                          <p:spTgt spid="12"/>
                                        </p:tgtEl>
                                      </p:cBhvr>
                                      <p:to x="100000" y="100000"/>
                                    </p:animScale>
                                    <p:animScale>
                                      <p:cBhvr>
                                        <p:cTn id="77" dur="26">
                                          <p:stCondLst>
                                            <p:cond delay="1808"/>
                                          </p:stCondLst>
                                        </p:cTn>
                                        <p:tgtEl>
                                          <p:spTgt spid="12"/>
                                        </p:tgtEl>
                                      </p:cBhvr>
                                      <p:to x="100000" y="95000"/>
                                    </p:animScale>
                                    <p:animScale>
                                      <p:cBhvr>
                                        <p:cTn id="78" dur="166" decel="50000">
                                          <p:stCondLst>
                                            <p:cond delay="1834"/>
                                          </p:stCondLst>
                                        </p:cTn>
                                        <p:tgtEl>
                                          <p:spTgt spid="12"/>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29" presetClass="entr" presetSubtype="0" fill="hold" nodeType="clickEffect">
                                  <p:stCondLst>
                                    <p:cond delay="0"/>
                                  </p:stCondLst>
                                  <p:childTnLst>
                                    <p:set>
                                      <p:cBhvr>
                                        <p:cTn id="82" dur="1" fill="hold">
                                          <p:stCondLst>
                                            <p:cond delay="0"/>
                                          </p:stCondLst>
                                        </p:cTn>
                                        <p:tgtEl>
                                          <p:spTgt spid="123906"/>
                                        </p:tgtEl>
                                        <p:attrNameLst>
                                          <p:attrName>style.visibility</p:attrName>
                                        </p:attrNameLst>
                                      </p:cBhvr>
                                      <p:to>
                                        <p:strVal val="visible"/>
                                      </p:to>
                                    </p:set>
                                    <p:anim calcmode="lin" valueType="num">
                                      <p:cBhvr>
                                        <p:cTn id="83" dur="1000" fill="hold"/>
                                        <p:tgtEl>
                                          <p:spTgt spid="123906"/>
                                        </p:tgtEl>
                                        <p:attrNameLst>
                                          <p:attrName>ppt_x</p:attrName>
                                        </p:attrNameLst>
                                      </p:cBhvr>
                                      <p:tavLst>
                                        <p:tav tm="0">
                                          <p:val>
                                            <p:strVal val="#ppt_x-.2"/>
                                          </p:val>
                                        </p:tav>
                                        <p:tav tm="100000">
                                          <p:val>
                                            <p:strVal val="#ppt_x"/>
                                          </p:val>
                                        </p:tav>
                                      </p:tavLst>
                                    </p:anim>
                                    <p:anim calcmode="lin" valueType="num">
                                      <p:cBhvr>
                                        <p:cTn id="84" dur="1000" fill="hold"/>
                                        <p:tgtEl>
                                          <p:spTgt spid="123906"/>
                                        </p:tgtEl>
                                        <p:attrNameLst>
                                          <p:attrName>ppt_y</p:attrName>
                                        </p:attrNameLst>
                                      </p:cBhvr>
                                      <p:tavLst>
                                        <p:tav tm="0">
                                          <p:val>
                                            <p:strVal val="#ppt_y"/>
                                          </p:val>
                                        </p:tav>
                                        <p:tav tm="100000">
                                          <p:val>
                                            <p:strVal val="#ppt_y"/>
                                          </p:val>
                                        </p:tav>
                                      </p:tavLst>
                                    </p:anim>
                                    <p:animEffect transition="in" filter="wipe(right)" prLst="gradientSize: 0.1">
                                      <p:cBhvr>
                                        <p:cTn id="85" dur="1000"/>
                                        <p:tgtEl>
                                          <p:spTgt spid="123906"/>
                                        </p:tgtEl>
                                      </p:cBhvr>
                                    </p:animEffect>
                                  </p:childTnLst>
                                </p:cTn>
                              </p:par>
                            </p:childTnLst>
                          </p:cTn>
                        </p:par>
                      </p:childTnLst>
                    </p:cTn>
                  </p:par>
                  <p:par>
                    <p:cTn id="86" fill="hold">
                      <p:stCondLst>
                        <p:cond delay="indefinite"/>
                      </p:stCondLst>
                      <p:childTnLst>
                        <p:par>
                          <p:cTn id="87" fill="hold">
                            <p:stCondLst>
                              <p:cond delay="0"/>
                            </p:stCondLst>
                            <p:childTnLst>
                              <p:par>
                                <p:cTn id="88" presetID="29" presetClass="entr" presetSubtype="0" fill="hold" nodeType="clickEffect">
                                  <p:stCondLst>
                                    <p:cond delay="0"/>
                                  </p:stCondLst>
                                  <p:childTnLst>
                                    <p:set>
                                      <p:cBhvr>
                                        <p:cTn id="89" dur="1" fill="hold">
                                          <p:stCondLst>
                                            <p:cond delay="0"/>
                                          </p:stCondLst>
                                        </p:cTn>
                                        <p:tgtEl>
                                          <p:spTgt spid="123907"/>
                                        </p:tgtEl>
                                        <p:attrNameLst>
                                          <p:attrName>style.visibility</p:attrName>
                                        </p:attrNameLst>
                                      </p:cBhvr>
                                      <p:to>
                                        <p:strVal val="visible"/>
                                      </p:to>
                                    </p:set>
                                    <p:anim calcmode="lin" valueType="num">
                                      <p:cBhvr>
                                        <p:cTn id="90" dur="1000" fill="hold"/>
                                        <p:tgtEl>
                                          <p:spTgt spid="123907"/>
                                        </p:tgtEl>
                                        <p:attrNameLst>
                                          <p:attrName>ppt_x</p:attrName>
                                        </p:attrNameLst>
                                      </p:cBhvr>
                                      <p:tavLst>
                                        <p:tav tm="0">
                                          <p:val>
                                            <p:strVal val="#ppt_x-.2"/>
                                          </p:val>
                                        </p:tav>
                                        <p:tav tm="100000">
                                          <p:val>
                                            <p:strVal val="#ppt_x"/>
                                          </p:val>
                                        </p:tav>
                                      </p:tavLst>
                                    </p:anim>
                                    <p:anim calcmode="lin" valueType="num">
                                      <p:cBhvr>
                                        <p:cTn id="91" dur="1000" fill="hold"/>
                                        <p:tgtEl>
                                          <p:spTgt spid="123907"/>
                                        </p:tgtEl>
                                        <p:attrNameLst>
                                          <p:attrName>ppt_y</p:attrName>
                                        </p:attrNameLst>
                                      </p:cBhvr>
                                      <p:tavLst>
                                        <p:tav tm="0">
                                          <p:val>
                                            <p:strVal val="#ppt_y"/>
                                          </p:val>
                                        </p:tav>
                                        <p:tav tm="100000">
                                          <p:val>
                                            <p:strVal val="#ppt_y"/>
                                          </p:val>
                                        </p:tav>
                                      </p:tavLst>
                                    </p:anim>
                                    <p:animEffect transition="in" filter="wipe(right)" prLst="gradientSize: 0.1">
                                      <p:cBhvr>
                                        <p:cTn id="92" dur="1000"/>
                                        <p:tgtEl>
                                          <p:spTgt spid="123907"/>
                                        </p:tgtEl>
                                      </p:cBhvr>
                                    </p:animEffect>
                                  </p:childTnLst>
                                </p:cTn>
                              </p:par>
                            </p:childTnLst>
                          </p:cTn>
                        </p:par>
                      </p:childTnLst>
                    </p:cTn>
                  </p:par>
                  <p:par>
                    <p:cTn id="93" fill="hold">
                      <p:stCondLst>
                        <p:cond delay="indefinite"/>
                      </p:stCondLst>
                      <p:childTnLst>
                        <p:par>
                          <p:cTn id="94" fill="hold">
                            <p:stCondLst>
                              <p:cond delay="0"/>
                            </p:stCondLst>
                            <p:childTnLst>
                              <p:par>
                                <p:cTn id="95" presetID="29" presetClass="entr" presetSubtype="0" fill="hold" nodeType="clickEffect">
                                  <p:stCondLst>
                                    <p:cond delay="0"/>
                                  </p:stCondLst>
                                  <p:childTnLst>
                                    <p:set>
                                      <p:cBhvr>
                                        <p:cTn id="96" dur="1" fill="hold">
                                          <p:stCondLst>
                                            <p:cond delay="0"/>
                                          </p:stCondLst>
                                        </p:cTn>
                                        <p:tgtEl>
                                          <p:spTgt spid="123908"/>
                                        </p:tgtEl>
                                        <p:attrNameLst>
                                          <p:attrName>style.visibility</p:attrName>
                                        </p:attrNameLst>
                                      </p:cBhvr>
                                      <p:to>
                                        <p:strVal val="visible"/>
                                      </p:to>
                                    </p:set>
                                    <p:anim calcmode="lin" valueType="num">
                                      <p:cBhvr>
                                        <p:cTn id="97" dur="1000" fill="hold"/>
                                        <p:tgtEl>
                                          <p:spTgt spid="123908"/>
                                        </p:tgtEl>
                                        <p:attrNameLst>
                                          <p:attrName>ppt_x</p:attrName>
                                        </p:attrNameLst>
                                      </p:cBhvr>
                                      <p:tavLst>
                                        <p:tav tm="0">
                                          <p:val>
                                            <p:strVal val="#ppt_x-.2"/>
                                          </p:val>
                                        </p:tav>
                                        <p:tav tm="100000">
                                          <p:val>
                                            <p:strVal val="#ppt_x"/>
                                          </p:val>
                                        </p:tav>
                                      </p:tavLst>
                                    </p:anim>
                                    <p:anim calcmode="lin" valueType="num">
                                      <p:cBhvr>
                                        <p:cTn id="98" dur="1000" fill="hold"/>
                                        <p:tgtEl>
                                          <p:spTgt spid="123908"/>
                                        </p:tgtEl>
                                        <p:attrNameLst>
                                          <p:attrName>ppt_y</p:attrName>
                                        </p:attrNameLst>
                                      </p:cBhvr>
                                      <p:tavLst>
                                        <p:tav tm="0">
                                          <p:val>
                                            <p:strVal val="#ppt_y"/>
                                          </p:val>
                                        </p:tav>
                                        <p:tav tm="100000">
                                          <p:val>
                                            <p:strVal val="#ppt_y"/>
                                          </p:val>
                                        </p:tav>
                                      </p:tavLst>
                                    </p:anim>
                                    <p:animEffect transition="in" filter="wipe(right)" prLst="gradientSize: 0.1">
                                      <p:cBhvr>
                                        <p:cTn id="99" dur="1000"/>
                                        <p:tgtEl>
                                          <p:spTgt spid="123908"/>
                                        </p:tgtEl>
                                      </p:cBhvr>
                                    </p:animEffect>
                                  </p:childTnLst>
                                </p:cTn>
                              </p:par>
                            </p:childTnLst>
                          </p:cTn>
                        </p:par>
                      </p:childTnLst>
                    </p:cTn>
                  </p:par>
                  <p:par>
                    <p:cTn id="100" fill="hold">
                      <p:stCondLst>
                        <p:cond delay="indefinite"/>
                      </p:stCondLst>
                      <p:childTnLst>
                        <p:par>
                          <p:cTn id="101" fill="hold">
                            <p:stCondLst>
                              <p:cond delay="0"/>
                            </p:stCondLst>
                            <p:childTnLst>
                              <p:par>
                                <p:cTn id="102" presetID="20" presetClass="entr" presetSubtype="0" fill="hold" grpId="0" nodeType="clickEffect">
                                  <p:stCondLst>
                                    <p:cond delay="0"/>
                                  </p:stCondLst>
                                  <p:childTnLst>
                                    <p:set>
                                      <p:cBhvr>
                                        <p:cTn id="103" dur="1" fill="hold">
                                          <p:stCondLst>
                                            <p:cond delay="0"/>
                                          </p:stCondLst>
                                        </p:cTn>
                                        <p:tgtEl>
                                          <p:spTgt spid="11"/>
                                        </p:tgtEl>
                                        <p:attrNameLst>
                                          <p:attrName>style.visibility</p:attrName>
                                        </p:attrNameLst>
                                      </p:cBhvr>
                                      <p:to>
                                        <p:strVal val="visible"/>
                                      </p:to>
                                    </p:set>
                                    <p:animEffect transition="in" filter="wedge">
                                      <p:cBhvr>
                                        <p:cTn id="104"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7" grpId="0"/>
      <p:bldP spid="8" grpId="0"/>
      <p:bldP spid="9" grpId="0"/>
      <p:bldP spid="10" grpId="0"/>
      <p:bldP spid="11" grpId="0" animBg="1"/>
      <p:bldP spid="13" grpId="0"/>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778</TotalTime>
  <Words>2706</Words>
  <Application>Microsoft Office PowerPoint</Application>
  <PresentationFormat>On-screen Show (4:3)</PresentationFormat>
  <Paragraphs>940</Paragraphs>
  <Slides>62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4" baseType="lpstr">
      <vt:lpstr>Office Theme</vt:lpstr>
      <vt:lpstr>Equation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Deftones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wilmer</dc:creator>
  <cp:lastModifiedBy>gcafe</cp:lastModifiedBy>
  <cp:revision>110</cp:revision>
  <dcterms:created xsi:type="dcterms:W3CDTF">2010-07-29T10:18:25Z</dcterms:created>
  <dcterms:modified xsi:type="dcterms:W3CDTF">2017-06-26T06:34:30Z</dcterms:modified>
</cp:coreProperties>
</file>