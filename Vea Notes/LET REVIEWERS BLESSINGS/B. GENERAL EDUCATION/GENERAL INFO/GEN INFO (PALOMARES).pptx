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39" roundtripDataSignature="AMtx7miSq7Txr4xbmTg8A8DI5LNc6a6l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customschemas.google.com/relationships/presentationmetadata" Target="metadata"/><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8" name="Google Shape;38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8" name="Google Shape;39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74f74c63b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74f74c63b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4" name="Google Shape;42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4" name="Google Shape;504;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4" name="Google Shape;514;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4" name="Google Shape;544;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4" name="Google Shape;564;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4" name="Google Shape;584;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4" name="Google Shape;594;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4" name="Google Shape;604;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4" name="Google Shape;614;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4" name="Google Shape;624;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3" name="Google Shape;633;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2" name="Google Shape;642;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1" name="Google Shape;651;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0" name="Google Shape;660;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9" name="Google Shape;669;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8" name="Google Shape;678;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1" name="Google Shape;691;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0" name="Google Shape;700;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1" name="Google Shape;711;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0" name="Google Shape;720;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2" name="Google Shape;732;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5" name="Google Shape;745;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4" name="Google Shape;754;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3" name="Google Shape;763;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2" name="Google Shape;772;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1" name="Google Shape;781;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0" name="Google Shape;790;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9" name="Google Shape;799;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8" name="Google Shape;808;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7" name="Google Shape;817;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6" name="Google Shape;826;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5" name="Google Shape;835;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4" name="Google Shape;844;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3" name="Google Shape;853;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2" name="Google Shape;862;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1" name="Google Shape;871;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0" name="Google Shape;880;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9" name="Google Shape;889;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8" name="Google Shape;898;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7" name="Google Shape;907;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6" name="Google Shape;916;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5" name="Google Shape;925;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4" name="Google Shape;934;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3" name="Google Shape;943;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2" name="Google Shape;952;p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1" name="Google Shape;961;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0" name="Google Shape;970;p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0" name="Google Shape;980;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0" name="Google Shape;990;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0" name="Google Shape;1000;p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0" name="Google Shape;1010;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0" name="Google Shape;1020;p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0" name="Google Shape;1030;p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0" name="Google Shape;1040;p1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9" name="Google Shape;1049;p1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9" name="Google Shape;1059;p10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9" name="Google Shape;1069;p10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9" name="Google Shape;1079;p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9" name="Google Shape;1089;p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9" name="Google Shape;1099;p1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9" name="Google Shape;1109;p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0" name="Google Shape;1120;p1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0" name="Google Shape;1130;p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0" name="Google Shape;1140;p1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0" name="Google Shape;1150;p1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9" name="Google Shape;1159;p1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9" name="Google Shape;1169;p1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9" name="Google Shape;1179;p1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9" name="Google Shape;1189;p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8" name="Google Shape;1198;p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8" name="Google Shape;1208;p1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8" name="Google Shape;1218;p1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8" name="Google Shape;1228;p1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8" name="Google Shape;1238;p1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8" name="Google Shape;1248;p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8" name="Google Shape;1258;p1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8" name="Google Shape;1268;p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8" name="Google Shape;1278;p1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8" name="Google Shape;1288;p1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8" name="Google Shape;1298;p1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8" name="Google Shape;1308;p1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8" name="Google Shape;1318;p1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8" name="Google Shape;1328;p1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8" name="Google Shape;1338;p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p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8" name="Google Shape;1348;p1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8" name="Google Shape;1358;p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8" name="Google Shape;1368;p1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5" name="Google Shape;15;p1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137"/>
          <p:cNvSpPr/>
          <p:nvPr/>
        </p:nvSpPr>
        <p:spPr>
          <a:xfrm>
            <a:off x="0" y="0"/>
            <a:ext cx="9144000" cy="6858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1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1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1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1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1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1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9" name="Google Shape;59;p1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0" name="Google Shape;60;p1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45"/>
          <p:cNvSpPr/>
          <p:nvPr>
            <p:ph idx="2" type="pic"/>
          </p:nvPr>
        </p:nvSpPr>
        <p:spPr>
          <a:xfrm>
            <a:off x="1792288" y="612775"/>
            <a:ext cx="5486400" cy="4114800"/>
          </a:xfrm>
          <a:prstGeom prst="rect">
            <a:avLst/>
          </a:prstGeom>
          <a:noFill/>
          <a:ln>
            <a:noFill/>
          </a:ln>
        </p:spPr>
      </p:sp>
      <p:sp>
        <p:nvSpPr>
          <p:cNvPr id="66" name="Google Shape;66;p1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7" name="Google Shape;67;p1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3" name="Google Shape;73;p1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1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136"/>
          <p:cNvSpPr/>
          <p:nvPr/>
        </p:nvSpPr>
        <p:spPr>
          <a:xfrm>
            <a:off x="0" y="0"/>
            <a:ext cx="9144000" cy="6858000"/>
          </a:xfrm>
          <a:prstGeom prst="rect">
            <a:avLst/>
          </a:prstGeom>
          <a:blipFill rotWithShape="1">
            <a:blip r:embed="rId1">
              <a:alphaModFix amt="41000"/>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5.png"/><Relationship Id="rId4"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3.gi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3.gi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3.gi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3.gi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3.gi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3.gi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3.gi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3.gi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3.gi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3.gi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3.gi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3.gi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3.gi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3.gif"/></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3.gi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3.gi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gi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3.gi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3.gi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3.gi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3.gi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3.gi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3.gif"/></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3.gif"/></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3.gif"/></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3.gif"/></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3.gif"/></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3.gi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3.gif"/></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3.gif"/></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3.gi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3.gif"/></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3.gi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3.gi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3.gif"/></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3.gif"/></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3.gi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3.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1458600" y="2112150"/>
            <a:ext cx="6226800" cy="151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0E6"/>
              </a:buClr>
              <a:buSzPts val="4400"/>
              <a:buFont typeface="Calibri"/>
              <a:buNone/>
            </a:pPr>
            <a:r>
              <a:rPr b="1" lang="en-US"/>
              <a:t>GENERAL INFORMATION</a:t>
            </a:r>
            <a:endParaRPr b="1"/>
          </a:p>
        </p:txBody>
      </p:sp>
      <p:sp>
        <p:nvSpPr>
          <p:cNvPr id="87" name="Google Shape;87;p1"/>
          <p:cNvSpPr txBox="1"/>
          <p:nvPr>
            <p:ph type="ctrTitle"/>
          </p:nvPr>
        </p:nvSpPr>
        <p:spPr>
          <a:xfrm>
            <a:off x="1720500" y="4325600"/>
            <a:ext cx="5703000" cy="982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0E6"/>
              </a:buClr>
              <a:buSzPts val="3960"/>
              <a:buFont typeface="Calibri"/>
              <a:buNone/>
            </a:pPr>
            <a:r>
              <a:rPr lang="en-US" sz="3060"/>
              <a:t>Prepared by: </a:t>
            </a:r>
            <a:endParaRPr sz="3060"/>
          </a:p>
          <a:p>
            <a:pPr indent="0" lvl="0" marL="0" rtl="0" algn="ctr">
              <a:lnSpc>
                <a:spcPct val="100000"/>
              </a:lnSpc>
              <a:spcBef>
                <a:spcPts val="0"/>
              </a:spcBef>
              <a:spcAft>
                <a:spcPts val="0"/>
              </a:spcAft>
              <a:buClr>
                <a:srgbClr val="FFF0E6"/>
              </a:buClr>
              <a:buSzPts val="3960"/>
              <a:buFont typeface="Calibri"/>
              <a:buNone/>
            </a:pPr>
            <a:r>
              <a:rPr lang="en-US" sz="3060"/>
              <a:t>Christopher U. Palomares, LPT</a:t>
            </a:r>
            <a:endParaRPr sz="306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Calibri"/>
              <a:buNone/>
            </a:pPr>
            <a:r>
              <a:rPr lang="en-US" sz="3200"/>
              <a:t>Choose the sentence that expresses the thought clearly and that has no error in structure/spelling.</a:t>
            </a:r>
            <a:endParaRPr sz="3200"/>
          </a:p>
        </p:txBody>
      </p:sp>
      <p:sp>
        <p:nvSpPr>
          <p:cNvPr id="93" name="Google Shape;93;p3"/>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 farmer did plow, plant, harvest his corn in record time.</a:t>
            </a:r>
            <a:endParaRPr b="0" i="0" sz="3200" u="none" cap="none" strike="noStrike">
              <a:solidFill>
                <a:schemeClr val="lt1"/>
              </a:solidFill>
              <a:latin typeface="Calibri"/>
              <a:ea typeface="Calibri"/>
              <a:cs typeface="Calibri"/>
              <a:sym typeface="Calibri"/>
            </a:endParaRPr>
          </a:p>
        </p:txBody>
      </p:sp>
      <p:sp>
        <p:nvSpPr>
          <p:cNvPr id="94" name="Google Shape;94;p3"/>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The farmer plowed, planted, and harvested his corn in record time.</a:t>
            </a:r>
            <a:endParaRPr b="0" i="0" sz="3200" u="none" cap="none" strike="noStrike">
              <a:solidFill>
                <a:schemeClr val="lt1"/>
              </a:solidFill>
              <a:latin typeface="Calibri"/>
              <a:ea typeface="Calibri"/>
              <a:cs typeface="Calibri"/>
              <a:sym typeface="Calibri"/>
            </a:endParaRPr>
          </a:p>
        </p:txBody>
      </p:sp>
      <p:sp>
        <p:nvSpPr>
          <p:cNvPr id="95" name="Google Shape;95;p3"/>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The farmer has plowed, planted, and harvested his corn in record time.</a:t>
            </a:r>
            <a:endParaRPr b="0" i="0" sz="3200" u="none" cap="none" strike="noStrike">
              <a:solidFill>
                <a:schemeClr val="lt1"/>
              </a:solidFill>
              <a:latin typeface="Calibri"/>
              <a:ea typeface="Calibri"/>
              <a:cs typeface="Calibri"/>
              <a:sym typeface="Calibri"/>
            </a:endParaRPr>
          </a:p>
        </p:txBody>
      </p:sp>
      <p:sp>
        <p:nvSpPr>
          <p:cNvPr id="96" name="Google Shape;96;p3"/>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The farmer plowed, has planted, and has harvested his corn in record time.</a:t>
            </a:r>
            <a:endParaRPr b="0" i="0" sz="3200" u="none" cap="none" strike="noStrike">
              <a:solidFill>
                <a:srgbClr val="000000"/>
              </a:solidFill>
              <a:latin typeface="Calibri"/>
              <a:ea typeface="Calibri"/>
              <a:cs typeface="Calibri"/>
              <a:sym typeface="Calibri"/>
            </a:endParaRPr>
          </a:p>
        </p:txBody>
      </p:sp>
      <p:pic>
        <p:nvPicPr>
          <p:cNvPr descr="AG00051_" id="97" name="Google Shape;97;p3"/>
          <p:cNvPicPr preferRelativeResize="0"/>
          <p:nvPr/>
        </p:nvPicPr>
        <p:blipFill rotWithShape="1">
          <a:blip r:embed="rId3">
            <a:alphaModFix/>
          </a:blip>
          <a:srcRect b="0" l="0" r="0" t="0"/>
          <a:stretch/>
        </p:blipFill>
        <p:spPr>
          <a:xfrm>
            <a:off x="152400" y="4572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Calibri"/>
              <a:buNone/>
            </a:pPr>
            <a:r>
              <a:rPr lang="en-US" sz="3200"/>
              <a:t>The traffic flow at the corner was jammed. Tom feared getting late so he _____ with a bus and leaped at the door.</a:t>
            </a:r>
            <a:endParaRPr sz="3200"/>
          </a:p>
        </p:txBody>
      </p:sp>
      <p:sp>
        <p:nvSpPr>
          <p:cNvPr id="103" name="Google Shape;103;p4"/>
          <p:cNvSpPr/>
          <p:nvPr/>
        </p:nvSpPr>
        <p:spPr>
          <a:xfrm>
            <a:off x="3048000" y="2743200"/>
            <a:ext cx="3048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catch up</a:t>
            </a:r>
            <a:endParaRPr b="0" i="0" sz="3200" u="none" cap="none" strike="noStrike">
              <a:solidFill>
                <a:schemeClr val="lt1"/>
              </a:solidFill>
              <a:latin typeface="Calibri"/>
              <a:ea typeface="Calibri"/>
              <a:cs typeface="Calibri"/>
              <a:sym typeface="Calibri"/>
            </a:endParaRPr>
          </a:p>
        </p:txBody>
      </p:sp>
      <p:sp>
        <p:nvSpPr>
          <p:cNvPr id="104" name="Google Shape;104;p4"/>
          <p:cNvSpPr/>
          <p:nvPr/>
        </p:nvSpPr>
        <p:spPr>
          <a:xfrm>
            <a:off x="3048000" y="3657600"/>
            <a:ext cx="3048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was catching</a:t>
            </a:r>
            <a:endParaRPr b="0" i="0" sz="3200" u="none" cap="none" strike="noStrike">
              <a:solidFill>
                <a:schemeClr val="lt1"/>
              </a:solidFill>
              <a:latin typeface="Calibri"/>
              <a:ea typeface="Calibri"/>
              <a:cs typeface="Calibri"/>
              <a:sym typeface="Calibri"/>
            </a:endParaRPr>
          </a:p>
        </p:txBody>
      </p:sp>
      <p:sp>
        <p:nvSpPr>
          <p:cNvPr id="105" name="Google Shape;105;p4"/>
          <p:cNvSpPr/>
          <p:nvPr/>
        </p:nvSpPr>
        <p:spPr>
          <a:xfrm>
            <a:off x="3048000" y="4572000"/>
            <a:ext cx="3048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caught up</a:t>
            </a:r>
            <a:endParaRPr b="0" i="0" sz="3200" u="none" cap="none" strike="noStrike">
              <a:solidFill>
                <a:schemeClr val="lt1"/>
              </a:solidFill>
              <a:latin typeface="Calibri"/>
              <a:ea typeface="Calibri"/>
              <a:cs typeface="Calibri"/>
              <a:sym typeface="Calibri"/>
            </a:endParaRPr>
          </a:p>
        </p:txBody>
      </p:sp>
      <p:sp>
        <p:nvSpPr>
          <p:cNvPr id="106" name="Google Shape;106;p4"/>
          <p:cNvSpPr/>
          <p:nvPr/>
        </p:nvSpPr>
        <p:spPr>
          <a:xfrm>
            <a:off x="3048000" y="5486400"/>
            <a:ext cx="3048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has caught</a:t>
            </a:r>
            <a:endParaRPr b="0" i="0" sz="3200" u="none" cap="none" strike="noStrike">
              <a:solidFill>
                <a:srgbClr val="000000"/>
              </a:solidFill>
              <a:latin typeface="Calibri"/>
              <a:ea typeface="Calibri"/>
              <a:cs typeface="Calibri"/>
              <a:sym typeface="Calibri"/>
            </a:endParaRPr>
          </a:p>
        </p:txBody>
      </p:sp>
      <p:pic>
        <p:nvPicPr>
          <p:cNvPr descr="AG00051_" id="107" name="Google Shape;107;p4"/>
          <p:cNvPicPr preferRelativeResize="0"/>
          <p:nvPr/>
        </p:nvPicPr>
        <p:blipFill rotWithShape="1">
          <a:blip r:embed="rId3">
            <a:alphaModFix/>
          </a:blip>
          <a:srcRect b="0" l="0" r="0" t="0"/>
          <a:stretch/>
        </p:blipFill>
        <p:spPr>
          <a:xfrm>
            <a:off x="2057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457200" y="381000"/>
            <a:ext cx="8229600" cy="19351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Teacher Mae Ann always tries to help people, but recently she has been ____ kind and generous.</a:t>
            </a:r>
            <a:endParaRPr sz="3600"/>
          </a:p>
        </p:txBody>
      </p:sp>
      <p:sp>
        <p:nvSpPr>
          <p:cNvPr id="113" name="Google Shape;113;p5"/>
          <p:cNvSpPr/>
          <p:nvPr/>
        </p:nvSpPr>
        <p:spPr>
          <a:xfrm>
            <a:off x="3048000" y="2743200"/>
            <a:ext cx="3048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principally</a:t>
            </a:r>
            <a:endParaRPr b="0" i="0" sz="3200" u="none" cap="none" strike="noStrike">
              <a:solidFill>
                <a:schemeClr val="lt1"/>
              </a:solidFill>
              <a:latin typeface="Calibri"/>
              <a:ea typeface="Calibri"/>
              <a:cs typeface="Calibri"/>
              <a:sym typeface="Calibri"/>
            </a:endParaRPr>
          </a:p>
        </p:txBody>
      </p:sp>
      <p:sp>
        <p:nvSpPr>
          <p:cNvPr id="114" name="Google Shape;114;p5"/>
          <p:cNvSpPr/>
          <p:nvPr/>
        </p:nvSpPr>
        <p:spPr>
          <a:xfrm>
            <a:off x="3048000" y="3657600"/>
            <a:ext cx="3048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usually</a:t>
            </a:r>
            <a:endParaRPr b="0" i="0" sz="3200" u="none" cap="none" strike="noStrike">
              <a:solidFill>
                <a:schemeClr val="lt1"/>
              </a:solidFill>
              <a:latin typeface="Calibri"/>
              <a:ea typeface="Calibri"/>
              <a:cs typeface="Calibri"/>
              <a:sym typeface="Calibri"/>
            </a:endParaRPr>
          </a:p>
        </p:txBody>
      </p:sp>
      <p:sp>
        <p:nvSpPr>
          <p:cNvPr id="115" name="Google Shape;115;p5"/>
          <p:cNvSpPr/>
          <p:nvPr/>
        </p:nvSpPr>
        <p:spPr>
          <a:xfrm>
            <a:off x="3048000" y="4572000"/>
            <a:ext cx="3048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especially</a:t>
            </a:r>
            <a:endParaRPr b="0" i="0" sz="3200" u="none" cap="none" strike="noStrike">
              <a:solidFill>
                <a:schemeClr val="lt1"/>
              </a:solidFill>
              <a:latin typeface="Calibri"/>
              <a:ea typeface="Calibri"/>
              <a:cs typeface="Calibri"/>
              <a:sym typeface="Calibri"/>
            </a:endParaRPr>
          </a:p>
        </p:txBody>
      </p:sp>
      <p:sp>
        <p:nvSpPr>
          <p:cNvPr id="116" name="Google Shape;116;p5"/>
          <p:cNvSpPr/>
          <p:nvPr/>
        </p:nvSpPr>
        <p:spPr>
          <a:xfrm>
            <a:off x="3048000" y="5486400"/>
            <a:ext cx="3048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largely</a:t>
            </a:r>
            <a:endParaRPr b="0" i="0" sz="3200" u="none" cap="none" strike="noStrike">
              <a:solidFill>
                <a:srgbClr val="000000"/>
              </a:solidFill>
              <a:latin typeface="Calibri"/>
              <a:ea typeface="Calibri"/>
              <a:cs typeface="Calibri"/>
              <a:sym typeface="Calibri"/>
            </a:endParaRPr>
          </a:p>
        </p:txBody>
      </p:sp>
      <p:pic>
        <p:nvPicPr>
          <p:cNvPr descr="AG00051_" id="117" name="Google Shape;117;p5"/>
          <p:cNvPicPr preferRelativeResize="0"/>
          <p:nvPr/>
        </p:nvPicPr>
        <p:blipFill rotWithShape="1">
          <a:blip r:embed="rId3">
            <a:alphaModFix/>
          </a:blip>
          <a:srcRect b="0" l="0" r="0" t="0"/>
          <a:stretch/>
        </p:blipFill>
        <p:spPr>
          <a:xfrm>
            <a:off x="2214546" y="4724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457200" y="381000"/>
            <a:ext cx="8229600" cy="1935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i="1" lang="en-US" sz="3600"/>
              <a:t>“I die just when the dawn breaks to herald the day.”</a:t>
            </a:r>
            <a:br>
              <a:rPr lang="en-US" sz="3600"/>
            </a:br>
            <a:r>
              <a:rPr lang="en-US" sz="3600"/>
              <a:t>This is a famous quote from _________.</a:t>
            </a:r>
            <a:endParaRPr sz="3600"/>
          </a:p>
        </p:txBody>
      </p:sp>
      <p:sp>
        <p:nvSpPr>
          <p:cNvPr id="123" name="Google Shape;123;p6"/>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Jose P. Rizal</a:t>
            </a:r>
            <a:endParaRPr b="0" i="0" sz="3200" u="none" cap="none" strike="noStrike">
              <a:solidFill>
                <a:schemeClr val="lt1"/>
              </a:solidFill>
              <a:latin typeface="Calibri"/>
              <a:ea typeface="Calibri"/>
              <a:cs typeface="Calibri"/>
              <a:sym typeface="Calibri"/>
            </a:endParaRPr>
          </a:p>
        </p:txBody>
      </p:sp>
      <p:sp>
        <p:nvSpPr>
          <p:cNvPr id="124" name="Google Shape;124;p6"/>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Benigno Aquino</a:t>
            </a:r>
            <a:endParaRPr b="0" i="0" sz="3200" u="none" cap="none" strike="noStrike">
              <a:solidFill>
                <a:schemeClr val="lt1"/>
              </a:solidFill>
              <a:latin typeface="Calibri"/>
              <a:ea typeface="Calibri"/>
              <a:cs typeface="Calibri"/>
              <a:sym typeface="Calibri"/>
            </a:endParaRPr>
          </a:p>
        </p:txBody>
      </p:sp>
      <p:sp>
        <p:nvSpPr>
          <p:cNvPr id="125" name="Google Shape;125;p6"/>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Jose Aquino</a:t>
            </a:r>
            <a:endParaRPr b="0" i="0" sz="3200" u="none" cap="none" strike="noStrike">
              <a:solidFill>
                <a:schemeClr val="lt1"/>
              </a:solidFill>
              <a:latin typeface="Calibri"/>
              <a:ea typeface="Calibri"/>
              <a:cs typeface="Calibri"/>
              <a:sym typeface="Calibri"/>
            </a:endParaRPr>
          </a:p>
        </p:txBody>
      </p:sp>
      <p:sp>
        <p:nvSpPr>
          <p:cNvPr id="126" name="Google Shape;126;p6"/>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Manuel L. Quezon</a:t>
            </a:r>
            <a:endParaRPr b="0" i="0" sz="3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Both Ruben and _____ plan to go.</a:t>
            </a:r>
            <a:endParaRPr sz="3600"/>
          </a:p>
        </p:txBody>
      </p:sp>
      <p:sp>
        <p:nvSpPr>
          <p:cNvPr id="132" name="Google Shape;132;p8"/>
          <p:cNvSpPr/>
          <p:nvPr/>
        </p:nvSpPr>
        <p:spPr>
          <a:xfrm>
            <a:off x="3200400" y="2743200"/>
            <a:ext cx="27432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I</a:t>
            </a:r>
            <a:endParaRPr b="0" i="0" sz="3200" u="none" cap="none" strike="noStrike">
              <a:solidFill>
                <a:schemeClr val="lt1"/>
              </a:solidFill>
              <a:latin typeface="Calibri"/>
              <a:ea typeface="Calibri"/>
              <a:cs typeface="Calibri"/>
              <a:sym typeface="Calibri"/>
            </a:endParaRPr>
          </a:p>
        </p:txBody>
      </p:sp>
      <p:sp>
        <p:nvSpPr>
          <p:cNvPr id="133" name="Google Shape;133;p8"/>
          <p:cNvSpPr/>
          <p:nvPr/>
        </p:nvSpPr>
        <p:spPr>
          <a:xfrm>
            <a:off x="3200400" y="3657600"/>
            <a:ext cx="27432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me</a:t>
            </a:r>
            <a:endParaRPr b="0" i="0" sz="3200" u="none" cap="none" strike="noStrike">
              <a:solidFill>
                <a:schemeClr val="lt1"/>
              </a:solidFill>
              <a:latin typeface="Calibri"/>
              <a:ea typeface="Calibri"/>
              <a:cs typeface="Calibri"/>
              <a:sym typeface="Calibri"/>
            </a:endParaRPr>
          </a:p>
        </p:txBody>
      </p:sp>
      <p:sp>
        <p:nvSpPr>
          <p:cNvPr id="134" name="Google Shape;134;p8"/>
          <p:cNvSpPr/>
          <p:nvPr/>
        </p:nvSpPr>
        <p:spPr>
          <a:xfrm>
            <a:off x="3200400" y="4572000"/>
            <a:ext cx="27432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myself</a:t>
            </a:r>
            <a:endParaRPr b="0" i="0" sz="3200" u="none" cap="none" strike="noStrike">
              <a:solidFill>
                <a:schemeClr val="lt1"/>
              </a:solidFill>
              <a:latin typeface="Calibri"/>
              <a:ea typeface="Calibri"/>
              <a:cs typeface="Calibri"/>
              <a:sym typeface="Calibri"/>
            </a:endParaRPr>
          </a:p>
        </p:txBody>
      </p:sp>
      <p:sp>
        <p:nvSpPr>
          <p:cNvPr id="135" name="Google Shape;135;p8"/>
          <p:cNvSpPr/>
          <p:nvPr/>
        </p:nvSpPr>
        <p:spPr>
          <a:xfrm>
            <a:off x="3200400" y="5486400"/>
            <a:ext cx="27432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me myself</a:t>
            </a:r>
            <a:endParaRPr b="0" i="0" sz="3200" u="none" cap="none" strike="noStrike">
              <a:solidFill>
                <a:srgbClr val="000000"/>
              </a:solidFill>
              <a:latin typeface="Calibri"/>
              <a:ea typeface="Calibri"/>
              <a:cs typeface="Calibri"/>
              <a:sym typeface="Calibri"/>
            </a:endParaRPr>
          </a:p>
        </p:txBody>
      </p:sp>
      <p:pic>
        <p:nvPicPr>
          <p:cNvPr descr="AG00051_" id="136" name="Google Shape;136;p8"/>
          <p:cNvPicPr preferRelativeResize="0"/>
          <p:nvPr/>
        </p:nvPicPr>
        <p:blipFill rotWithShape="1">
          <a:blip r:embed="rId3">
            <a:alphaModFix/>
          </a:blip>
          <a:srcRect b="0" l="0" r="0" t="0"/>
          <a:stretch/>
        </p:blipFill>
        <p:spPr>
          <a:xfrm>
            <a:off x="2286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type="title"/>
          </p:nvPr>
        </p:nvSpPr>
        <p:spPr>
          <a:xfrm>
            <a:off x="457200" y="838200"/>
            <a:ext cx="83820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Your father is paying for your plane ticket, _____?</a:t>
            </a:r>
            <a:endParaRPr sz="3600"/>
          </a:p>
        </p:txBody>
      </p:sp>
      <p:sp>
        <p:nvSpPr>
          <p:cNvPr id="142" name="Google Shape;142;p9"/>
          <p:cNvSpPr/>
          <p:nvPr/>
        </p:nvSpPr>
        <p:spPr>
          <a:xfrm>
            <a:off x="3200400" y="2743200"/>
            <a:ext cx="25146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is he</a:t>
            </a:r>
            <a:endParaRPr b="0" i="0" sz="3200" u="none" cap="none" strike="noStrike">
              <a:solidFill>
                <a:schemeClr val="lt1"/>
              </a:solidFill>
              <a:latin typeface="Calibri"/>
              <a:ea typeface="Calibri"/>
              <a:cs typeface="Calibri"/>
              <a:sym typeface="Calibri"/>
            </a:endParaRPr>
          </a:p>
        </p:txBody>
      </p:sp>
      <p:sp>
        <p:nvSpPr>
          <p:cNvPr id="143" name="Google Shape;143;p9"/>
          <p:cNvSpPr/>
          <p:nvPr/>
        </p:nvSpPr>
        <p:spPr>
          <a:xfrm>
            <a:off x="3200400" y="3657600"/>
            <a:ext cx="25146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isn’t it</a:t>
            </a:r>
            <a:endParaRPr b="0" i="0" sz="3200" u="none" cap="none" strike="noStrike">
              <a:solidFill>
                <a:schemeClr val="lt1"/>
              </a:solidFill>
              <a:latin typeface="Calibri"/>
              <a:ea typeface="Calibri"/>
              <a:cs typeface="Calibri"/>
              <a:sym typeface="Calibri"/>
            </a:endParaRPr>
          </a:p>
        </p:txBody>
      </p:sp>
      <p:sp>
        <p:nvSpPr>
          <p:cNvPr id="144" name="Google Shape;144;p9"/>
          <p:cNvSpPr/>
          <p:nvPr/>
        </p:nvSpPr>
        <p:spPr>
          <a:xfrm>
            <a:off x="3200400" y="4572000"/>
            <a:ext cx="25146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aren’t you</a:t>
            </a:r>
            <a:endParaRPr b="0" i="0" sz="3200" u="none" cap="none" strike="noStrike">
              <a:solidFill>
                <a:schemeClr val="lt1"/>
              </a:solidFill>
              <a:latin typeface="Calibri"/>
              <a:ea typeface="Calibri"/>
              <a:cs typeface="Calibri"/>
              <a:sym typeface="Calibri"/>
            </a:endParaRPr>
          </a:p>
        </p:txBody>
      </p:sp>
      <p:sp>
        <p:nvSpPr>
          <p:cNvPr id="145" name="Google Shape;145;p9"/>
          <p:cNvSpPr/>
          <p:nvPr/>
        </p:nvSpPr>
        <p:spPr>
          <a:xfrm>
            <a:off x="3200400" y="5486400"/>
            <a:ext cx="2514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isn’t he</a:t>
            </a:r>
            <a:endParaRPr b="0" i="0" sz="3200" u="none" cap="none" strike="noStrike">
              <a:solidFill>
                <a:srgbClr val="000000"/>
              </a:solidFill>
              <a:latin typeface="Calibri"/>
              <a:ea typeface="Calibri"/>
              <a:cs typeface="Calibri"/>
              <a:sym typeface="Calibri"/>
            </a:endParaRPr>
          </a:p>
        </p:txBody>
      </p:sp>
      <p:pic>
        <p:nvPicPr>
          <p:cNvPr descr="AG00051_" id="146" name="Google Shape;146;p9"/>
          <p:cNvPicPr preferRelativeResize="0"/>
          <p:nvPr/>
        </p:nvPicPr>
        <p:blipFill rotWithShape="1">
          <a:blip r:embed="rId3">
            <a:alphaModFix/>
          </a:blip>
          <a:srcRect b="0" l="0" r="0" t="0"/>
          <a:stretch/>
        </p:blipFill>
        <p:spPr>
          <a:xfrm>
            <a:off x="22860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type="title"/>
          </p:nvPr>
        </p:nvSpPr>
        <p:spPr>
          <a:xfrm>
            <a:off x="457200" y="838200"/>
            <a:ext cx="83820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We should work for a total ban _____ of pesticides that are harmful to man.</a:t>
            </a:r>
            <a:endParaRPr sz="3600"/>
          </a:p>
        </p:txBody>
      </p:sp>
      <p:sp>
        <p:nvSpPr>
          <p:cNvPr id="152" name="Google Shape;152;p10"/>
          <p:cNvSpPr/>
          <p:nvPr/>
        </p:nvSpPr>
        <p:spPr>
          <a:xfrm>
            <a:off x="3086100" y="2743200"/>
            <a:ext cx="2971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by the use</a:t>
            </a:r>
            <a:endParaRPr b="0" i="0" sz="3200" u="none" cap="none" strike="noStrike">
              <a:solidFill>
                <a:schemeClr val="lt1"/>
              </a:solidFill>
              <a:latin typeface="Calibri"/>
              <a:ea typeface="Calibri"/>
              <a:cs typeface="Calibri"/>
              <a:sym typeface="Calibri"/>
            </a:endParaRPr>
          </a:p>
        </p:txBody>
      </p:sp>
      <p:sp>
        <p:nvSpPr>
          <p:cNvPr id="153" name="Google Shape;153;p10"/>
          <p:cNvSpPr/>
          <p:nvPr/>
        </p:nvSpPr>
        <p:spPr>
          <a:xfrm>
            <a:off x="3048000" y="3657600"/>
            <a:ext cx="2971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on using</a:t>
            </a:r>
            <a:endParaRPr b="0" i="0" sz="3200" u="none" cap="none" strike="noStrike">
              <a:solidFill>
                <a:schemeClr val="lt1"/>
              </a:solidFill>
              <a:latin typeface="Calibri"/>
              <a:ea typeface="Calibri"/>
              <a:cs typeface="Calibri"/>
              <a:sym typeface="Calibri"/>
            </a:endParaRPr>
          </a:p>
        </p:txBody>
      </p:sp>
      <p:sp>
        <p:nvSpPr>
          <p:cNvPr id="154" name="Google Shape;154;p10"/>
          <p:cNvSpPr/>
          <p:nvPr/>
        </p:nvSpPr>
        <p:spPr>
          <a:xfrm>
            <a:off x="3048000" y="4572000"/>
            <a:ext cx="2971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with the use</a:t>
            </a:r>
            <a:endParaRPr b="0" i="0" sz="3200" u="none" cap="none" strike="noStrike">
              <a:solidFill>
                <a:schemeClr val="lt1"/>
              </a:solidFill>
              <a:latin typeface="Calibri"/>
              <a:ea typeface="Calibri"/>
              <a:cs typeface="Calibri"/>
              <a:sym typeface="Calibri"/>
            </a:endParaRPr>
          </a:p>
        </p:txBody>
      </p:sp>
      <p:sp>
        <p:nvSpPr>
          <p:cNvPr id="155" name="Google Shape;155;p10"/>
          <p:cNvSpPr/>
          <p:nvPr/>
        </p:nvSpPr>
        <p:spPr>
          <a:xfrm>
            <a:off x="3048000" y="5486400"/>
            <a:ext cx="2971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on the use</a:t>
            </a:r>
            <a:endParaRPr b="0" i="0" sz="3200" u="none" cap="none" strike="noStrike">
              <a:solidFill>
                <a:srgbClr val="000000"/>
              </a:solidFill>
              <a:latin typeface="Calibri"/>
              <a:ea typeface="Calibri"/>
              <a:cs typeface="Calibri"/>
              <a:sym typeface="Calibri"/>
            </a:endParaRPr>
          </a:p>
        </p:txBody>
      </p:sp>
      <p:pic>
        <p:nvPicPr>
          <p:cNvPr descr="AG00051_" id="156" name="Google Shape;156;p10"/>
          <p:cNvPicPr preferRelativeResize="0"/>
          <p:nvPr/>
        </p:nvPicPr>
        <p:blipFill rotWithShape="1">
          <a:blip r:embed="rId3">
            <a:alphaModFix/>
          </a:blip>
          <a:srcRect b="0" l="0" r="0" t="0"/>
          <a:stretch/>
        </p:blipFill>
        <p:spPr>
          <a:xfrm>
            <a:off x="20574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457200" y="838200"/>
            <a:ext cx="83820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4000"/>
              <a:buFont typeface="Calibri"/>
              <a:buNone/>
            </a:pPr>
            <a:r>
              <a:rPr lang="en-US" sz="4000"/>
              <a:t>Susan _____ in bed too long and missed her classes.</a:t>
            </a:r>
            <a:endParaRPr sz="4000"/>
          </a:p>
        </p:txBody>
      </p:sp>
      <p:sp>
        <p:nvSpPr>
          <p:cNvPr id="162" name="Google Shape;162;p11"/>
          <p:cNvSpPr/>
          <p:nvPr/>
        </p:nvSpPr>
        <p:spPr>
          <a:xfrm>
            <a:off x="1752600" y="3200400"/>
            <a:ext cx="17526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A. laid</a:t>
            </a:r>
            <a:endParaRPr b="0" i="0" sz="3600" u="none" cap="none" strike="noStrike">
              <a:solidFill>
                <a:schemeClr val="lt1"/>
              </a:solidFill>
              <a:latin typeface="Calibri"/>
              <a:ea typeface="Calibri"/>
              <a:cs typeface="Calibri"/>
              <a:sym typeface="Calibri"/>
            </a:endParaRPr>
          </a:p>
        </p:txBody>
      </p:sp>
      <p:sp>
        <p:nvSpPr>
          <p:cNvPr id="163" name="Google Shape;163;p11"/>
          <p:cNvSpPr/>
          <p:nvPr/>
        </p:nvSpPr>
        <p:spPr>
          <a:xfrm>
            <a:off x="1714500" y="4114800"/>
            <a:ext cx="17526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B. lays</a:t>
            </a:r>
            <a:endParaRPr b="0" i="0" sz="3600" u="none" cap="none" strike="noStrike">
              <a:solidFill>
                <a:schemeClr val="lt1"/>
              </a:solidFill>
              <a:latin typeface="Calibri"/>
              <a:ea typeface="Calibri"/>
              <a:cs typeface="Calibri"/>
              <a:sym typeface="Calibri"/>
            </a:endParaRPr>
          </a:p>
        </p:txBody>
      </p:sp>
      <p:sp>
        <p:nvSpPr>
          <p:cNvPr id="164" name="Google Shape;164;p11"/>
          <p:cNvSpPr/>
          <p:nvPr/>
        </p:nvSpPr>
        <p:spPr>
          <a:xfrm>
            <a:off x="5486400" y="3200400"/>
            <a:ext cx="17526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C. lied</a:t>
            </a:r>
            <a:endParaRPr b="0" i="0" sz="3600" u="none" cap="none" strike="noStrike">
              <a:solidFill>
                <a:schemeClr val="lt1"/>
              </a:solidFill>
              <a:latin typeface="Calibri"/>
              <a:ea typeface="Calibri"/>
              <a:cs typeface="Calibri"/>
              <a:sym typeface="Calibri"/>
            </a:endParaRPr>
          </a:p>
        </p:txBody>
      </p:sp>
      <p:sp>
        <p:nvSpPr>
          <p:cNvPr id="165" name="Google Shape;165;p11"/>
          <p:cNvSpPr/>
          <p:nvPr/>
        </p:nvSpPr>
        <p:spPr>
          <a:xfrm>
            <a:off x="5486400" y="4114800"/>
            <a:ext cx="1752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Calibri"/>
                <a:ea typeface="Calibri"/>
                <a:cs typeface="Calibri"/>
                <a:sym typeface="Calibri"/>
              </a:rPr>
              <a:t>D. lay</a:t>
            </a:r>
            <a:endParaRPr b="0" i="0" sz="3600" u="none" cap="none" strike="noStrike">
              <a:solidFill>
                <a:srgbClr val="000000"/>
              </a:solidFill>
              <a:latin typeface="Calibri"/>
              <a:ea typeface="Calibri"/>
              <a:cs typeface="Calibri"/>
              <a:sym typeface="Calibri"/>
            </a:endParaRPr>
          </a:p>
        </p:txBody>
      </p:sp>
      <p:pic>
        <p:nvPicPr>
          <p:cNvPr descr="AG00051_" id="166" name="Google Shape;166;p11"/>
          <p:cNvPicPr preferRelativeResize="0"/>
          <p:nvPr/>
        </p:nvPicPr>
        <p:blipFill rotWithShape="1">
          <a:blip r:embed="rId3">
            <a:alphaModFix/>
          </a:blip>
          <a:srcRect b="0" l="0" r="0" t="0"/>
          <a:stretch/>
        </p:blipFill>
        <p:spPr>
          <a:xfrm>
            <a:off x="4572000" y="4191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After 10 unfruitful years, Fe finally quit the job. She _____ along with her boss for a long time.</a:t>
            </a:r>
            <a:endParaRPr sz="3600"/>
          </a:p>
        </p:txBody>
      </p:sp>
      <p:sp>
        <p:nvSpPr>
          <p:cNvPr id="172" name="Google Shape;172;p12"/>
          <p:cNvSpPr/>
          <p:nvPr/>
        </p:nvSpPr>
        <p:spPr>
          <a:xfrm>
            <a:off x="2438400" y="2719754"/>
            <a:ext cx="4267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hasn’t been getting</a:t>
            </a:r>
            <a:endParaRPr b="0" i="0" sz="3200" u="none" cap="none" strike="noStrike">
              <a:solidFill>
                <a:schemeClr val="lt1"/>
              </a:solidFill>
              <a:latin typeface="Calibri"/>
              <a:ea typeface="Calibri"/>
              <a:cs typeface="Calibri"/>
              <a:sym typeface="Calibri"/>
            </a:endParaRPr>
          </a:p>
        </p:txBody>
      </p:sp>
      <p:sp>
        <p:nvSpPr>
          <p:cNvPr id="173" name="Google Shape;173;p12"/>
          <p:cNvSpPr/>
          <p:nvPr/>
        </p:nvSpPr>
        <p:spPr>
          <a:xfrm>
            <a:off x="2438400" y="3710354"/>
            <a:ext cx="4267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didn’t get</a:t>
            </a:r>
            <a:endParaRPr b="0" i="0" sz="3200" u="none" cap="none" strike="noStrike">
              <a:solidFill>
                <a:schemeClr val="lt1"/>
              </a:solidFill>
              <a:latin typeface="Calibri"/>
              <a:ea typeface="Calibri"/>
              <a:cs typeface="Calibri"/>
              <a:sym typeface="Calibri"/>
            </a:endParaRPr>
          </a:p>
        </p:txBody>
      </p:sp>
      <p:sp>
        <p:nvSpPr>
          <p:cNvPr id="174" name="Google Shape;174;p12"/>
          <p:cNvSpPr/>
          <p:nvPr/>
        </p:nvSpPr>
        <p:spPr>
          <a:xfrm>
            <a:off x="2438400" y="4700954"/>
            <a:ext cx="4267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hadn’t been getting</a:t>
            </a:r>
            <a:endParaRPr b="0" i="0" sz="3200" u="none" cap="none" strike="noStrike">
              <a:solidFill>
                <a:schemeClr val="lt1"/>
              </a:solidFill>
              <a:latin typeface="Calibri"/>
              <a:ea typeface="Calibri"/>
              <a:cs typeface="Calibri"/>
              <a:sym typeface="Calibri"/>
            </a:endParaRPr>
          </a:p>
        </p:txBody>
      </p:sp>
      <p:sp>
        <p:nvSpPr>
          <p:cNvPr id="175" name="Google Shape;175;p12"/>
          <p:cNvSpPr/>
          <p:nvPr/>
        </p:nvSpPr>
        <p:spPr>
          <a:xfrm>
            <a:off x="2438400" y="5767754"/>
            <a:ext cx="4267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isn’t getting</a:t>
            </a:r>
            <a:endParaRPr b="0" i="0" sz="3200" u="none" cap="none" strike="noStrike">
              <a:solidFill>
                <a:srgbClr val="000000"/>
              </a:solidFill>
              <a:latin typeface="Calibri"/>
              <a:ea typeface="Calibri"/>
              <a:cs typeface="Calibri"/>
              <a:sym typeface="Calibri"/>
            </a:endParaRPr>
          </a:p>
        </p:txBody>
      </p:sp>
      <p:pic>
        <p:nvPicPr>
          <p:cNvPr descr="AG00051_" id="176" name="Google Shape;176;p12"/>
          <p:cNvPicPr preferRelativeResize="0"/>
          <p:nvPr/>
        </p:nvPicPr>
        <p:blipFill rotWithShape="1">
          <a:blip r:embed="rId3">
            <a:alphaModFix/>
          </a:blip>
          <a:srcRect b="0" l="0" r="0" t="0"/>
          <a:stretch/>
        </p:blipFill>
        <p:spPr>
          <a:xfrm>
            <a:off x="1524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Today, car manufacturers have begun to AUTOMATE their assembly lines by using robots. What does this trend mean?</a:t>
            </a:r>
            <a:endParaRPr sz="3600"/>
          </a:p>
        </p:txBody>
      </p:sp>
      <p:sp>
        <p:nvSpPr>
          <p:cNvPr id="182" name="Google Shape;182;p13"/>
          <p:cNvSpPr/>
          <p:nvPr/>
        </p:nvSpPr>
        <p:spPr>
          <a:xfrm>
            <a:off x="1600200" y="2719754"/>
            <a:ext cx="6477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Operate through machines</a:t>
            </a:r>
            <a:endParaRPr b="0" i="0" sz="3200" u="none" cap="none" strike="noStrike">
              <a:solidFill>
                <a:schemeClr val="lt1"/>
              </a:solidFill>
              <a:latin typeface="Calibri"/>
              <a:ea typeface="Calibri"/>
              <a:cs typeface="Calibri"/>
              <a:sym typeface="Calibri"/>
            </a:endParaRPr>
          </a:p>
        </p:txBody>
      </p:sp>
      <p:sp>
        <p:nvSpPr>
          <p:cNvPr id="183" name="Google Shape;183;p13"/>
          <p:cNvSpPr/>
          <p:nvPr/>
        </p:nvSpPr>
        <p:spPr>
          <a:xfrm>
            <a:off x="1562100" y="3710354"/>
            <a:ext cx="6477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Cars are now automatic</a:t>
            </a:r>
            <a:endParaRPr b="0" i="0" sz="3200" u="none" cap="none" strike="noStrike">
              <a:solidFill>
                <a:schemeClr val="lt1"/>
              </a:solidFill>
              <a:latin typeface="Calibri"/>
              <a:ea typeface="Calibri"/>
              <a:cs typeface="Calibri"/>
              <a:sym typeface="Calibri"/>
            </a:endParaRPr>
          </a:p>
        </p:txBody>
      </p:sp>
      <p:sp>
        <p:nvSpPr>
          <p:cNvPr id="184" name="Google Shape;184;p13"/>
          <p:cNvSpPr/>
          <p:nvPr/>
        </p:nvSpPr>
        <p:spPr>
          <a:xfrm>
            <a:off x="1562100" y="4700954"/>
            <a:ext cx="6477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Operates through human workers</a:t>
            </a:r>
            <a:endParaRPr b="0" i="0" sz="3200" u="none" cap="none" strike="noStrike">
              <a:solidFill>
                <a:schemeClr val="lt1"/>
              </a:solidFill>
              <a:latin typeface="Calibri"/>
              <a:ea typeface="Calibri"/>
              <a:cs typeface="Calibri"/>
              <a:sym typeface="Calibri"/>
            </a:endParaRPr>
          </a:p>
        </p:txBody>
      </p:sp>
      <p:sp>
        <p:nvSpPr>
          <p:cNvPr id="185" name="Google Shape;185;p13"/>
          <p:cNvSpPr/>
          <p:nvPr/>
        </p:nvSpPr>
        <p:spPr>
          <a:xfrm>
            <a:off x="1562100" y="5767754"/>
            <a:ext cx="64770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Produce more efficient cars</a:t>
            </a:r>
            <a:endParaRPr b="0" i="0" sz="3200" u="none" cap="none" strike="noStrike">
              <a:solidFill>
                <a:srgbClr val="000000"/>
              </a:solidFill>
              <a:latin typeface="Calibri"/>
              <a:ea typeface="Calibri"/>
              <a:cs typeface="Calibri"/>
              <a:sym typeface="Calibri"/>
            </a:endParaRPr>
          </a:p>
        </p:txBody>
      </p:sp>
      <p:pic>
        <p:nvPicPr>
          <p:cNvPr descr="AG00051_" id="186" name="Google Shape;186;p13"/>
          <p:cNvPicPr preferRelativeResize="0"/>
          <p:nvPr/>
        </p:nvPicPr>
        <p:blipFill rotWithShape="1">
          <a:blip r:embed="rId3">
            <a:alphaModFix/>
          </a:blip>
          <a:srcRect b="0" l="0" r="0" t="0"/>
          <a:stretch/>
        </p:blipFill>
        <p:spPr>
          <a:xfrm>
            <a:off x="6096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4"/>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She described her classmate’s statement as too SOPHOMORIC. This means ________.</a:t>
            </a:r>
            <a:endParaRPr sz="3600"/>
          </a:p>
        </p:txBody>
      </p:sp>
      <p:sp>
        <p:nvSpPr>
          <p:cNvPr id="192" name="Google Shape;192;p14"/>
          <p:cNvSpPr/>
          <p:nvPr/>
        </p:nvSpPr>
        <p:spPr>
          <a:xfrm>
            <a:off x="3200400" y="2719754"/>
            <a:ext cx="2743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grown up</a:t>
            </a:r>
            <a:endParaRPr b="0" i="0" sz="3200" u="none" cap="none" strike="noStrike">
              <a:solidFill>
                <a:schemeClr val="lt1"/>
              </a:solidFill>
              <a:latin typeface="Calibri"/>
              <a:ea typeface="Calibri"/>
              <a:cs typeface="Calibri"/>
              <a:sym typeface="Calibri"/>
            </a:endParaRPr>
          </a:p>
        </p:txBody>
      </p:sp>
      <p:sp>
        <p:nvSpPr>
          <p:cNvPr id="193" name="Google Shape;193;p14"/>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mature</a:t>
            </a:r>
            <a:endParaRPr b="0" i="0" sz="3200" u="none" cap="none" strike="noStrike">
              <a:solidFill>
                <a:schemeClr val="lt1"/>
              </a:solidFill>
              <a:latin typeface="Calibri"/>
              <a:ea typeface="Calibri"/>
              <a:cs typeface="Calibri"/>
              <a:sym typeface="Calibri"/>
            </a:endParaRPr>
          </a:p>
        </p:txBody>
      </p:sp>
      <p:sp>
        <p:nvSpPr>
          <p:cNvPr id="194" name="Google Shape;194;p14"/>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wise</a:t>
            </a:r>
            <a:endParaRPr b="0" i="0" sz="3200" u="none" cap="none" strike="noStrike">
              <a:solidFill>
                <a:schemeClr val="lt1"/>
              </a:solidFill>
              <a:latin typeface="Calibri"/>
              <a:ea typeface="Calibri"/>
              <a:cs typeface="Calibri"/>
              <a:sym typeface="Calibri"/>
            </a:endParaRPr>
          </a:p>
        </p:txBody>
      </p:sp>
      <p:sp>
        <p:nvSpPr>
          <p:cNvPr id="195" name="Google Shape;195;p14"/>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immature</a:t>
            </a:r>
            <a:endParaRPr b="0" i="0" sz="3200" u="none" cap="none" strike="noStrike">
              <a:solidFill>
                <a:srgbClr val="000000"/>
              </a:solidFill>
              <a:latin typeface="Calibri"/>
              <a:ea typeface="Calibri"/>
              <a:cs typeface="Calibri"/>
              <a:sym typeface="Calibri"/>
            </a:endParaRPr>
          </a:p>
        </p:txBody>
      </p:sp>
      <p:pic>
        <p:nvPicPr>
          <p:cNvPr descr="AG00051_" id="196" name="Google Shape;196;p14"/>
          <p:cNvPicPr preferRelativeResize="0"/>
          <p:nvPr/>
        </p:nvPicPr>
        <p:blipFill rotWithShape="1">
          <a:blip r:embed="rId3">
            <a:alphaModFix/>
          </a:blip>
          <a:srcRect b="0" l="0" r="0" t="0"/>
          <a:stretch/>
        </p:blipFill>
        <p:spPr>
          <a:xfrm>
            <a:off x="22860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Is this the spot _____ had the accident?</a:t>
            </a:r>
            <a:endParaRPr sz="3600"/>
          </a:p>
        </p:txBody>
      </p:sp>
      <p:sp>
        <p:nvSpPr>
          <p:cNvPr id="202" name="Google Shape;202;p15"/>
          <p:cNvSpPr/>
          <p:nvPr/>
        </p:nvSpPr>
        <p:spPr>
          <a:xfrm>
            <a:off x="3200400" y="2719754"/>
            <a:ext cx="2743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wherein</a:t>
            </a:r>
            <a:endParaRPr b="0" i="0" sz="3200" u="none" cap="none" strike="noStrike">
              <a:solidFill>
                <a:schemeClr val="lt1"/>
              </a:solidFill>
              <a:latin typeface="Calibri"/>
              <a:ea typeface="Calibri"/>
              <a:cs typeface="Calibri"/>
              <a:sym typeface="Calibri"/>
            </a:endParaRPr>
          </a:p>
        </p:txBody>
      </p:sp>
      <p:sp>
        <p:nvSpPr>
          <p:cNvPr id="203" name="Google Shape;203;p15"/>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where</a:t>
            </a:r>
            <a:endParaRPr b="0" i="0" sz="3200" u="none" cap="none" strike="noStrike">
              <a:solidFill>
                <a:schemeClr val="lt1"/>
              </a:solidFill>
              <a:latin typeface="Calibri"/>
              <a:ea typeface="Calibri"/>
              <a:cs typeface="Calibri"/>
              <a:sym typeface="Calibri"/>
            </a:endParaRPr>
          </a:p>
        </p:txBody>
      </p:sp>
      <p:sp>
        <p:nvSpPr>
          <p:cNvPr id="204" name="Google Shape;204;p15"/>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why</a:t>
            </a:r>
            <a:endParaRPr b="0" i="0" sz="3200" u="none" cap="none" strike="noStrike">
              <a:solidFill>
                <a:schemeClr val="lt1"/>
              </a:solidFill>
              <a:latin typeface="Calibri"/>
              <a:ea typeface="Calibri"/>
              <a:cs typeface="Calibri"/>
              <a:sym typeface="Calibri"/>
            </a:endParaRPr>
          </a:p>
        </p:txBody>
      </p:sp>
      <p:sp>
        <p:nvSpPr>
          <p:cNvPr id="205" name="Google Shape;205;p15"/>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which</a:t>
            </a:r>
            <a:endParaRPr b="0" i="0" sz="3200" u="none" cap="none" strike="noStrike">
              <a:solidFill>
                <a:srgbClr val="000000"/>
              </a:solidFill>
              <a:latin typeface="Calibri"/>
              <a:ea typeface="Calibri"/>
              <a:cs typeface="Calibri"/>
              <a:sym typeface="Calibri"/>
            </a:endParaRPr>
          </a:p>
        </p:txBody>
      </p:sp>
      <p:pic>
        <p:nvPicPr>
          <p:cNvPr descr="AG00051_" id="206" name="Google Shape;206;p15"/>
          <p:cNvPicPr preferRelativeResize="0"/>
          <p:nvPr/>
        </p:nvPicPr>
        <p:blipFill rotWithShape="1">
          <a:blip r:embed="rId3">
            <a:alphaModFix/>
          </a:blip>
          <a:srcRect b="0" l="0" r="0" t="0"/>
          <a:stretch/>
        </p:blipFill>
        <p:spPr>
          <a:xfrm>
            <a:off x="22098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If I ______ a Senator, I would live in Ayala village .</a:t>
            </a:r>
            <a:endParaRPr sz="3600"/>
          </a:p>
        </p:txBody>
      </p:sp>
      <p:sp>
        <p:nvSpPr>
          <p:cNvPr id="212" name="Google Shape;212;p16"/>
          <p:cNvSpPr/>
          <p:nvPr/>
        </p:nvSpPr>
        <p:spPr>
          <a:xfrm>
            <a:off x="3200400" y="2719754"/>
            <a:ext cx="2743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should be</a:t>
            </a:r>
            <a:endParaRPr b="0" i="0" sz="3200" u="none" cap="none" strike="noStrike">
              <a:solidFill>
                <a:schemeClr val="lt1"/>
              </a:solidFill>
              <a:latin typeface="Calibri"/>
              <a:ea typeface="Calibri"/>
              <a:cs typeface="Calibri"/>
              <a:sym typeface="Calibri"/>
            </a:endParaRPr>
          </a:p>
        </p:txBody>
      </p:sp>
      <p:sp>
        <p:nvSpPr>
          <p:cNvPr id="213" name="Google Shape;213;p16"/>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am</a:t>
            </a:r>
            <a:endParaRPr b="0" i="0" sz="3200" u="none" cap="none" strike="noStrike">
              <a:solidFill>
                <a:schemeClr val="lt1"/>
              </a:solidFill>
              <a:latin typeface="Calibri"/>
              <a:ea typeface="Calibri"/>
              <a:cs typeface="Calibri"/>
              <a:sym typeface="Calibri"/>
            </a:endParaRPr>
          </a:p>
        </p:txBody>
      </p:sp>
      <p:sp>
        <p:nvSpPr>
          <p:cNvPr id="214" name="Google Shape;214;p16"/>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were</a:t>
            </a:r>
            <a:endParaRPr b="0" i="0" sz="3200" u="none" cap="none" strike="noStrike">
              <a:solidFill>
                <a:schemeClr val="lt1"/>
              </a:solidFill>
              <a:latin typeface="Calibri"/>
              <a:ea typeface="Calibri"/>
              <a:cs typeface="Calibri"/>
              <a:sym typeface="Calibri"/>
            </a:endParaRPr>
          </a:p>
        </p:txBody>
      </p:sp>
      <p:sp>
        <p:nvSpPr>
          <p:cNvPr id="215" name="Google Shape;215;p16"/>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was</a:t>
            </a:r>
            <a:endParaRPr b="0" i="0" sz="3200" u="none" cap="none" strike="noStrike">
              <a:solidFill>
                <a:srgbClr val="000000"/>
              </a:solidFill>
              <a:latin typeface="Calibri"/>
              <a:ea typeface="Calibri"/>
              <a:cs typeface="Calibri"/>
              <a:sym typeface="Calibri"/>
            </a:endParaRPr>
          </a:p>
        </p:txBody>
      </p:sp>
      <p:pic>
        <p:nvPicPr>
          <p:cNvPr descr="AG00051_" id="216" name="Google Shape;216;p16"/>
          <p:cNvPicPr preferRelativeResize="0"/>
          <p:nvPr/>
        </p:nvPicPr>
        <p:blipFill rotWithShape="1">
          <a:blip r:embed="rId3">
            <a:alphaModFix/>
          </a:blip>
          <a:srcRect b="0" l="0" r="0" t="0"/>
          <a:stretch/>
        </p:blipFill>
        <p:spPr>
          <a:xfrm>
            <a:off x="22098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7"/>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_______ not making the most of _______ opportunities.</a:t>
            </a:r>
            <a:endParaRPr sz="3600"/>
          </a:p>
        </p:txBody>
      </p:sp>
      <p:sp>
        <p:nvSpPr>
          <p:cNvPr id="222" name="Google Shape;222;p17"/>
          <p:cNvSpPr/>
          <p:nvPr/>
        </p:nvSpPr>
        <p:spPr>
          <a:xfrm>
            <a:off x="2667000" y="2719754"/>
            <a:ext cx="3276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You’re - you’re</a:t>
            </a:r>
            <a:endParaRPr b="0" i="0" sz="3200" u="none" cap="none" strike="noStrike">
              <a:solidFill>
                <a:schemeClr val="lt1"/>
              </a:solidFill>
              <a:latin typeface="Calibri"/>
              <a:ea typeface="Calibri"/>
              <a:cs typeface="Calibri"/>
              <a:sym typeface="Calibri"/>
            </a:endParaRPr>
          </a:p>
        </p:txBody>
      </p:sp>
      <p:sp>
        <p:nvSpPr>
          <p:cNvPr id="223" name="Google Shape;223;p17"/>
          <p:cNvSpPr/>
          <p:nvPr/>
        </p:nvSpPr>
        <p:spPr>
          <a:xfrm>
            <a:off x="2667000" y="3710354"/>
            <a:ext cx="3276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You - your </a:t>
            </a:r>
            <a:endParaRPr b="0" i="0" sz="3200" u="none" cap="none" strike="noStrike">
              <a:solidFill>
                <a:schemeClr val="lt1"/>
              </a:solidFill>
              <a:latin typeface="Calibri"/>
              <a:ea typeface="Calibri"/>
              <a:cs typeface="Calibri"/>
              <a:sym typeface="Calibri"/>
            </a:endParaRPr>
          </a:p>
        </p:txBody>
      </p:sp>
      <p:sp>
        <p:nvSpPr>
          <p:cNvPr id="224" name="Google Shape;224;p17"/>
          <p:cNvSpPr/>
          <p:nvPr/>
        </p:nvSpPr>
        <p:spPr>
          <a:xfrm>
            <a:off x="2667000" y="4700954"/>
            <a:ext cx="3276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You’re - your</a:t>
            </a:r>
            <a:endParaRPr b="0" i="0" sz="3200" u="none" cap="none" strike="noStrike">
              <a:solidFill>
                <a:schemeClr val="lt1"/>
              </a:solidFill>
              <a:latin typeface="Calibri"/>
              <a:ea typeface="Calibri"/>
              <a:cs typeface="Calibri"/>
              <a:sym typeface="Calibri"/>
            </a:endParaRPr>
          </a:p>
        </p:txBody>
      </p:sp>
      <p:sp>
        <p:nvSpPr>
          <p:cNvPr id="225" name="Google Shape;225;p17"/>
          <p:cNvSpPr/>
          <p:nvPr/>
        </p:nvSpPr>
        <p:spPr>
          <a:xfrm>
            <a:off x="2667000" y="5767754"/>
            <a:ext cx="32766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You’re – you </a:t>
            </a:r>
            <a:endParaRPr b="0" i="0" sz="3200" u="none" cap="none" strike="noStrike">
              <a:solidFill>
                <a:srgbClr val="000000"/>
              </a:solidFill>
              <a:latin typeface="Calibri"/>
              <a:ea typeface="Calibri"/>
              <a:cs typeface="Calibri"/>
              <a:sym typeface="Calibri"/>
            </a:endParaRPr>
          </a:p>
        </p:txBody>
      </p:sp>
      <p:pic>
        <p:nvPicPr>
          <p:cNvPr descr="AG00051_" id="226" name="Google Shape;226;p17"/>
          <p:cNvPicPr preferRelativeResize="0"/>
          <p:nvPr/>
        </p:nvPicPr>
        <p:blipFill rotWithShape="1">
          <a:blip r:embed="rId3">
            <a:alphaModFix/>
          </a:blip>
          <a:srcRect b="0" l="0" r="0" t="0"/>
          <a:stretch/>
        </p:blipFill>
        <p:spPr>
          <a:xfrm>
            <a:off x="16764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8"/>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Which word does NOT mean the same as the other three?</a:t>
            </a:r>
            <a:endParaRPr sz="3600"/>
          </a:p>
        </p:txBody>
      </p:sp>
      <p:sp>
        <p:nvSpPr>
          <p:cNvPr id="232" name="Google Shape;232;p18"/>
          <p:cNvSpPr/>
          <p:nvPr/>
        </p:nvSpPr>
        <p:spPr>
          <a:xfrm>
            <a:off x="3390900" y="2719754"/>
            <a:ext cx="2362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furnish</a:t>
            </a:r>
            <a:endParaRPr b="0" i="0" sz="3200" u="none" cap="none" strike="noStrike">
              <a:solidFill>
                <a:schemeClr val="lt1"/>
              </a:solidFill>
              <a:latin typeface="Calibri"/>
              <a:ea typeface="Calibri"/>
              <a:cs typeface="Calibri"/>
              <a:sym typeface="Calibri"/>
            </a:endParaRPr>
          </a:p>
        </p:txBody>
      </p:sp>
      <p:sp>
        <p:nvSpPr>
          <p:cNvPr id="233" name="Google Shape;233;p18"/>
          <p:cNvSpPr/>
          <p:nvPr/>
        </p:nvSpPr>
        <p:spPr>
          <a:xfrm>
            <a:off x="3352800" y="3710354"/>
            <a:ext cx="2362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defend</a:t>
            </a:r>
            <a:endParaRPr b="0" i="0" sz="3200" u="none" cap="none" strike="noStrike">
              <a:solidFill>
                <a:schemeClr val="lt1"/>
              </a:solidFill>
              <a:latin typeface="Calibri"/>
              <a:ea typeface="Calibri"/>
              <a:cs typeface="Calibri"/>
              <a:sym typeface="Calibri"/>
            </a:endParaRPr>
          </a:p>
        </p:txBody>
      </p:sp>
      <p:sp>
        <p:nvSpPr>
          <p:cNvPr id="234" name="Google Shape;234;p18"/>
          <p:cNvSpPr/>
          <p:nvPr/>
        </p:nvSpPr>
        <p:spPr>
          <a:xfrm>
            <a:off x="3352800" y="4700954"/>
            <a:ext cx="2362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supply</a:t>
            </a:r>
            <a:endParaRPr b="0" i="0" sz="3200" u="none" cap="none" strike="noStrike">
              <a:solidFill>
                <a:schemeClr val="lt1"/>
              </a:solidFill>
              <a:latin typeface="Calibri"/>
              <a:ea typeface="Calibri"/>
              <a:cs typeface="Calibri"/>
              <a:sym typeface="Calibri"/>
            </a:endParaRPr>
          </a:p>
        </p:txBody>
      </p:sp>
      <p:sp>
        <p:nvSpPr>
          <p:cNvPr id="235" name="Google Shape;235;p18"/>
          <p:cNvSpPr/>
          <p:nvPr/>
        </p:nvSpPr>
        <p:spPr>
          <a:xfrm>
            <a:off x="3352800" y="5767754"/>
            <a:ext cx="2362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equip</a:t>
            </a:r>
            <a:endParaRPr b="0" i="0" sz="3200" u="none" cap="none" strike="noStrike">
              <a:solidFill>
                <a:srgbClr val="000000"/>
              </a:solidFill>
              <a:latin typeface="Calibri"/>
              <a:ea typeface="Calibri"/>
              <a:cs typeface="Calibri"/>
              <a:sym typeface="Calibri"/>
            </a:endParaRPr>
          </a:p>
        </p:txBody>
      </p:sp>
      <p:pic>
        <p:nvPicPr>
          <p:cNvPr descr="AG00051_" id="236" name="Google Shape;236;p18"/>
          <p:cNvPicPr preferRelativeResize="0"/>
          <p:nvPr/>
        </p:nvPicPr>
        <p:blipFill rotWithShape="1">
          <a:blip r:embed="rId3">
            <a:alphaModFix/>
          </a:blip>
          <a:srcRect b="0" l="0" r="0" t="0"/>
          <a:stretch/>
        </p:blipFill>
        <p:spPr>
          <a:xfrm>
            <a:off x="2362200" y="3810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“Nothing that happens in this world ever happens by chance; it is all part of a grand design.” The author speaks of one’s _____.</a:t>
            </a:r>
            <a:endParaRPr sz="3600"/>
          </a:p>
        </p:txBody>
      </p:sp>
      <p:sp>
        <p:nvSpPr>
          <p:cNvPr id="242" name="Google Shape;242;p19"/>
          <p:cNvSpPr/>
          <p:nvPr/>
        </p:nvSpPr>
        <p:spPr>
          <a:xfrm>
            <a:off x="3390900" y="2719754"/>
            <a:ext cx="2362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destiny</a:t>
            </a:r>
            <a:endParaRPr b="0" i="0" sz="3200" u="none" cap="none" strike="noStrike">
              <a:solidFill>
                <a:schemeClr val="lt1"/>
              </a:solidFill>
              <a:latin typeface="Calibri"/>
              <a:ea typeface="Calibri"/>
              <a:cs typeface="Calibri"/>
              <a:sym typeface="Calibri"/>
            </a:endParaRPr>
          </a:p>
        </p:txBody>
      </p:sp>
      <p:sp>
        <p:nvSpPr>
          <p:cNvPr id="243" name="Google Shape;243;p19"/>
          <p:cNvSpPr/>
          <p:nvPr/>
        </p:nvSpPr>
        <p:spPr>
          <a:xfrm>
            <a:off x="3352800" y="3710354"/>
            <a:ext cx="2362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luck</a:t>
            </a:r>
            <a:endParaRPr b="0" i="0" sz="3200" u="none" cap="none" strike="noStrike">
              <a:solidFill>
                <a:schemeClr val="lt1"/>
              </a:solidFill>
              <a:latin typeface="Calibri"/>
              <a:ea typeface="Calibri"/>
              <a:cs typeface="Calibri"/>
              <a:sym typeface="Calibri"/>
            </a:endParaRPr>
          </a:p>
        </p:txBody>
      </p:sp>
      <p:sp>
        <p:nvSpPr>
          <p:cNvPr id="244" name="Google Shape;244;p19"/>
          <p:cNvSpPr/>
          <p:nvPr/>
        </p:nvSpPr>
        <p:spPr>
          <a:xfrm>
            <a:off x="3352800" y="4700954"/>
            <a:ext cx="2362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dream</a:t>
            </a:r>
            <a:endParaRPr b="0" i="0" sz="3200" u="none" cap="none" strike="noStrike">
              <a:solidFill>
                <a:schemeClr val="lt1"/>
              </a:solidFill>
              <a:latin typeface="Calibri"/>
              <a:ea typeface="Calibri"/>
              <a:cs typeface="Calibri"/>
              <a:sym typeface="Calibri"/>
            </a:endParaRPr>
          </a:p>
        </p:txBody>
      </p:sp>
      <p:sp>
        <p:nvSpPr>
          <p:cNvPr id="245" name="Google Shape;245;p19"/>
          <p:cNvSpPr/>
          <p:nvPr/>
        </p:nvSpPr>
        <p:spPr>
          <a:xfrm>
            <a:off x="3352800" y="5767754"/>
            <a:ext cx="2362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ambition</a:t>
            </a:r>
            <a:endParaRPr b="0" i="0" sz="3200" u="none" cap="none" strike="noStrike">
              <a:solidFill>
                <a:srgbClr val="000000"/>
              </a:solidFill>
              <a:latin typeface="Calibri"/>
              <a:ea typeface="Calibri"/>
              <a:cs typeface="Calibri"/>
              <a:sym typeface="Calibri"/>
            </a:endParaRPr>
          </a:p>
        </p:txBody>
      </p:sp>
      <p:pic>
        <p:nvPicPr>
          <p:cNvPr descr="AG00051_" id="246" name="Google Shape;246;p19"/>
          <p:cNvPicPr preferRelativeResize="0"/>
          <p:nvPr/>
        </p:nvPicPr>
        <p:blipFill rotWithShape="1">
          <a:blip r:embed="rId3">
            <a:alphaModFix/>
          </a:blip>
          <a:srcRect b="0" l="0" r="0" t="0"/>
          <a:stretch/>
        </p:blipFill>
        <p:spPr>
          <a:xfrm>
            <a:off x="24384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0"/>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It’s now two hours past his schedule, the facilitator may not come anymore, but we’ll still be ready in case he ______.</a:t>
            </a:r>
            <a:endParaRPr sz="3600"/>
          </a:p>
        </p:txBody>
      </p:sp>
      <p:sp>
        <p:nvSpPr>
          <p:cNvPr id="252" name="Google Shape;252;p20"/>
          <p:cNvSpPr/>
          <p:nvPr/>
        </p:nvSpPr>
        <p:spPr>
          <a:xfrm>
            <a:off x="3390900" y="2719754"/>
            <a:ext cx="2362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may</a:t>
            </a:r>
            <a:endParaRPr b="0" i="0" sz="3200" u="none" cap="none" strike="noStrike">
              <a:solidFill>
                <a:schemeClr val="lt1"/>
              </a:solidFill>
              <a:latin typeface="Calibri"/>
              <a:ea typeface="Calibri"/>
              <a:cs typeface="Calibri"/>
              <a:sym typeface="Calibri"/>
            </a:endParaRPr>
          </a:p>
        </p:txBody>
      </p:sp>
      <p:sp>
        <p:nvSpPr>
          <p:cNvPr id="253" name="Google Shape;253;p20"/>
          <p:cNvSpPr/>
          <p:nvPr/>
        </p:nvSpPr>
        <p:spPr>
          <a:xfrm>
            <a:off x="3352800" y="3710354"/>
            <a:ext cx="2362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is coming</a:t>
            </a:r>
            <a:endParaRPr b="0" i="0" sz="3200" u="none" cap="none" strike="noStrike">
              <a:solidFill>
                <a:schemeClr val="lt1"/>
              </a:solidFill>
              <a:latin typeface="Calibri"/>
              <a:ea typeface="Calibri"/>
              <a:cs typeface="Calibri"/>
              <a:sym typeface="Calibri"/>
            </a:endParaRPr>
          </a:p>
        </p:txBody>
      </p:sp>
      <p:sp>
        <p:nvSpPr>
          <p:cNvPr id="254" name="Google Shape;254;p20"/>
          <p:cNvSpPr/>
          <p:nvPr/>
        </p:nvSpPr>
        <p:spPr>
          <a:xfrm>
            <a:off x="3352800" y="4700954"/>
            <a:ext cx="2362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does</a:t>
            </a:r>
            <a:endParaRPr b="0" i="0" sz="3200" u="none" cap="none" strike="noStrike">
              <a:solidFill>
                <a:schemeClr val="lt1"/>
              </a:solidFill>
              <a:latin typeface="Calibri"/>
              <a:ea typeface="Calibri"/>
              <a:cs typeface="Calibri"/>
              <a:sym typeface="Calibri"/>
            </a:endParaRPr>
          </a:p>
        </p:txBody>
      </p:sp>
      <p:sp>
        <p:nvSpPr>
          <p:cNvPr id="255" name="Google Shape;255;p20"/>
          <p:cNvSpPr/>
          <p:nvPr/>
        </p:nvSpPr>
        <p:spPr>
          <a:xfrm>
            <a:off x="3352800" y="5767754"/>
            <a:ext cx="2362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will come</a:t>
            </a:r>
            <a:endParaRPr b="0" i="0" sz="3200" u="none" cap="none" strike="noStrike">
              <a:solidFill>
                <a:srgbClr val="000000"/>
              </a:solidFill>
              <a:latin typeface="Calibri"/>
              <a:ea typeface="Calibri"/>
              <a:cs typeface="Calibri"/>
              <a:sym typeface="Calibri"/>
            </a:endParaRPr>
          </a:p>
        </p:txBody>
      </p:sp>
      <p:pic>
        <p:nvPicPr>
          <p:cNvPr descr="AG00051_" id="256" name="Google Shape;256;p20"/>
          <p:cNvPicPr preferRelativeResize="0"/>
          <p:nvPr/>
        </p:nvPicPr>
        <p:blipFill rotWithShape="1">
          <a:blip r:embed="rId3">
            <a:alphaModFix/>
          </a:blip>
          <a:srcRect b="0" l="0" r="0" t="0"/>
          <a:stretch/>
        </p:blipFill>
        <p:spPr>
          <a:xfrm>
            <a:off x="23622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The surprised teacher asked, “What was all the HUBHUB about? HUBHUB means ____. </a:t>
            </a:r>
            <a:endParaRPr sz="3600"/>
          </a:p>
        </p:txBody>
      </p:sp>
      <p:sp>
        <p:nvSpPr>
          <p:cNvPr id="262" name="Google Shape;262;p21"/>
          <p:cNvSpPr/>
          <p:nvPr/>
        </p:nvSpPr>
        <p:spPr>
          <a:xfrm>
            <a:off x="3143250" y="2719754"/>
            <a:ext cx="28575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hush</a:t>
            </a:r>
            <a:endParaRPr b="0" i="0" sz="3200" u="none" cap="none" strike="noStrike">
              <a:solidFill>
                <a:schemeClr val="lt1"/>
              </a:solidFill>
              <a:latin typeface="Calibri"/>
              <a:ea typeface="Calibri"/>
              <a:cs typeface="Calibri"/>
              <a:sym typeface="Calibri"/>
            </a:endParaRPr>
          </a:p>
        </p:txBody>
      </p:sp>
      <p:sp>
        <p:nvSpPr>
          <p:cNvPr id="263" name="Google Shape;263;p21"/>
          <p:cNvSpPr/>
          <p:nvPr/>
        </p:nvSpPr>
        <p:spPr>
          <a:xfrm>
            <a:off x="3162300" y="3710354"/>
            <a:ext cx="28575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serenity</a:t>
            </a:r>
            <a:endParaRPr b="0" i="0" sz="3200" u="none" cap="none" strike="noStrike">
              <a:solidFill>
                <a:schemeClr val="lt1"/>
              </a:solidFill>
              <a:latin typeface="Calibri"/>
              <a:ea typeface="Calibri"/>
              <a:cs typeface="Calibri"/>
              <a:sym typeface="Calibri"/>
            </a:endParaRPr>
          </a:p>
        </p:txBody>
      </p:sp>
      <p:sp>
        <p:nvSpPr>
          <p:cNvPr id="264" name="Google Shape;264;p21"/>
          <p:cNvSpPr/>
          <p:nvPr/>
        </p:nvSpPr>
        <p:spPr>
          <a:xfrm>
            <a:off x="3162300" y="4700954"/>
            <a:ext cx="28575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commotion</a:t>
            </a:r>
            <a:endParaRPr b="0" i="0" sz="3200" u="none" cap="none" strike="noStrike">
              <a:solidFill>
                <a:schemeClr val="lt1"/>
              </a:solidFill>
              <a:latin typeface="Calibri"/>
              <a:ea typeface="Calibri"/>
              <a:cs typeface="Calibri"/>
              <a:sym typeface="Calibri"/>
            </a:endParaRPr>
          </a:p>
        </p:txBody>
      </p:sp>
      <p:sp>
        <p:nvSpPr>
          <p:cNvPr id="265" name="Google Shape;265;p21"/>
          <p:cNvSpPr/>
          <p:nvPr/>
        </p:nvSpPr>
        <p:spPr>
          <a:xfrm>
            <a:off x="3162300" y="5767754"/>
            <a:ext cx="28575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stillness</a:t>
            </a:r>
            <a:endParaRPr b="0" i="0" sz="3200" u="none" cap="none" strike="noStrike">
              <a:solidFill>
                <a:srgbClr val="000000"/>
              </a:solidFill>
              <a:latin typeface="Calibri"/>
              <a:ea typeface="Calibri"/>
              <a:cs typeface="Calibri"/>
              <a:sym typeface="Calibri"/>
            </a:endParaRPr>
          </a:p>
        </p:txBody>
      </p:sp>
      <p:pic>
        <p:nvPicPr>
          <p:cNvPr descr="AG00051_" id="266" name="Google Shape;266;p21"/>
          <p:cNvPicPr preferRelativeResize="0"/>
          <p:nvPr/>
        </p:nvPicPr>
        <p:blipFill rotWithShape="1">
          <a:blip r:embed="rId3">
            <a:alphaModFix/>
          </a:blip>
          <a:srcRect b="0" l="0" r="0" t="0"/>
          <a:stretch/>
        </p:blipFill>
        <p:spPr>
          <a:xfrm>
            <a:off x="22098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2"/>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Who was the General who said “I shall return” after training troops in Australia?</a:t>
            </a:r>
            <a:endParaRPr sz="3600"/>
          </a:p>
        </p:txBody>
      </p:sp>
      <p:sp>
        <p:nvSpPr>
          <p:cNvPr id="272" name="Google Shape;272;p22"/>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Carlos P. Romulo</a:t>
            </a:r>
            <a:endParaRPr b="0" i="0" sz="3200" u="none" cap="none" strike="noStrike">
              <a:solidFill>
                <a:schemeClr val="lt1"/>
              </a:solidFill>
              <a:latin typeface="Calibri"/>
              <a:ea typeface="Calibri"/>
              <a:cs typeface="Calibri"/>
              <a:sym typeface="Calibri"/>
            </a:endParaRPr>
          </a:p>
        </p:txBody>
      </p:sp>
      <p:sp>
        <p:nvSpPr>
          <p:cNvPr id="273" name="Google Shape;273;p22"/>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Douglas McArthur</a:t>
            </a:r>
            <a:endParaRPr b="0" i="0" sz="3200" u="none" cap="none" strike="noStrike">
              <a:solidFill>
                <a:schemeClr val="lt1"/>
              </a:solidFill>
              <a:latin typeface="Calibri"/>
              <a:ea typeface="Calibri"/>
              <a:cs typeface="Calibri"/>
              <a:sym typeface="Calibri"/>
            </a:endParaRPr>
          </a:p>
        </p:txBody>
      </p:sp>
      <p:sp>
        <p:nvSpPr>
          <p:cNvPr id="274" name="Google Shape;274;p22"/>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J. de la Torre</a:t>
            </a:r>
            <a:endParaRPr b="0" i="0" sz="3200" u="none" cap="none" strike="noStrike">
              <a:solidFill>
                <a:schemeClr val="lt1"/>
              </a:solidFill>
              <a:latin typeface="Calibri"/>
              <a:ea typeface="Calibri"/>
              <a:cs typeface="Calibri"/>
              <a:sym typeface="Calibri"/>
            </a:endParaRPr>
          </a:p>
        </p:txBody>
      </p:sp>
      <p:sp>
        <p:nvSpPr>
          <p:cNvPr id="275" name="Google Shape;275;p22"/>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G. Wainright</a:t>
            </a:r>
            <a:endParaRPr b="0" i="0" sz="3200" u="none" cap="none" strike="noStrike">
              <a:solidFill>
                <a:srgbClr val="000000"/>
              </a:solidFill>
              <a:latin typeface="Calibri"/>
              <a:ea typeface="Calibri"/>
              <a:cs typeface="Calibri"/>
              <a:sym typeface="Calibri"/>
            </a:endParaRPr>
          </a:p>
        </p:txBody>
      </p:sp>
      <p:pic>
        <p:nvPicPr>
          <p:cNvPr descr="AG00051_" id="276" name="Google Shape;276;p22"/>
          <p:cNvPicPr preferRelativeResize="0"/>
          <p:nvPr/>
        </p:nvPicPr>
        <p:blipFill rotWithShape="1">
          <a:blip r:embed="rId3">
            <a:alphaModFix/>
          </a:blip>
          <a:srcRect b="0" l="0" r="0" t="0"/>
          <a:stretch/>
        </p:blipFill>
        <p:spPr>
          <a:xfrm>
            <a:off x="1676400" y="3733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3"/>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I should have returned the book last Tuesday; it is now five days _______. </a:t>
            </a:r>
            <a:endParaRPr sz="3600"/>
          </a:p>
        </p:txBody>
      </p:sp>
      <p:sp>
        <p:nvSpPr>
          <p:cNvPr id="282" name="Google Shape;282;p23"/>
          <p:cNvSpPr/>
          <p:nvPr/>
        </p:nvSpPr>
        <p:spPr>
          <a:xfrm>
            <a:off x="2667000" y="2743200"/>
            <a:ext cx="35814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delayed</a:t>
            </a:r>
            <a:endParaRPr b="0" i="0" sz="3200" u="none" cap="none" strike="noStrike">
              <a:solidFill>
                <a:schemeClr val="lt1"/>
              </a:solidFill>
              <a:latin typeface="Calibri"/>
              <a:ea typeface="Calibri"/>
              <a:cs typeface="Calibri"/>
              <a:sym typeface="Calibri"/>
            </a:endParaRPr>
          </a:p>
        </p:txBody>
      </p:sp>
      <p:sp>
        <p:nvSpPr>
          <p:cNvPr id="283" name="Google Shape;283;p23"/>
          <p:cNvSpPr/>
          <p:nvPr/>
        </p:nvSpPr>
        <p:spPr>
          <a:xfrm>
            <a:off x="2667000" y="3657600"/>
            <a:ext cx="35814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postponed</a:t>
            </a:r>
            <a:endParaRPr b="0" i="0" sz="3200" u="none" cap="none" strike="noStrike">
              <a:solidFill>
                <a:schemeClr val="lt1"/>
              </a:solidFill>
              <a:latin typeface="Calibri"/>
              <a:ea typeface="Calibri"/>
              <a:cs typeface="Calibri"/>
              <a:sym typeface="Calibri"/>
            </a:endParaRPr>
          </a:p>
        </p:txBody>
      </p:sp>
      <p:sp>
        <p:nvSpPr>
          <p:cNvPr id="284" name="Google Shape;284;p23"/>
          <p:cNvSpPr/>
          <p:nvPr/>
        </p:nvSpPr>
        <p:spPr>
          <a:xfrm>
            <a:off x="2667000" y="4572000"/>
            <a:ext cx="35814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overdue</a:t>
            </a:r>
            <a:endParaRPr b="0" i="0" sz="3200" u="none" cap="none" strike="noStrike">
              <a:solidFill>
                <a:schemeClr val="lt1"/>
              </a:solidFill>
              <a:latin typeface="Calibri"/>
              <a:ea typeface="Calibri"/>
              <a:cs typeface="Calibri"/>
              <a:sym typeface="Calibri"/>
            </a:endParaRPr>
          </a:p>
        </p:txBody>
      </p:sp>
      <p:sp>
        <p:nvSpPr>
          <p:cNvPr id="285" name="Google Shape;285;p23"/>
          <p:cNvSpPr/>
          <p:nvPr/>
        </p:nvSpPr>
        <p:spPr>
          <a:xfrm>
            <a:off x="2667000" y="5486400"/>
            <a:ext cx="35814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beyond deadline</a:t>
            </a:r>
            <a:endParaRPr b="0" i="0" sz="3200" u="none" cap="none" strike="noStrike">
              <a:solidFill>
                <a:srgbClr val="000000"/>
              </a:solidFill>
              <a:latin typeface="Calibri"/>
              <a:ea typeface="Calibri"/>
              <a:cs typeface="Calibri"/>
              <a:sym typeface="Calibri"/>
            </a:endParaRPr>
          </a:p>
        </p:txBody>
      </p:sp>
      <p:pic>
        <p:nvPicPr>
          <p:cNvPr descr="AG00051_" id="286" name="Google Shape;286;p23"/>
          <p:cNvPicPr preferRelativeResize="0"/>
          <p:nvPr/>
        </p:nvPicPr>
        <p:blipFill rotWithShape="1">
          <a:blip r:embed="rId3">
            <a:alphaModFix/>
          </a:blip>
          <a:srcRect b="0" l="0" r="0" t="0"/>
          <a:stretch/>
        </p:blipFill>
        <p:spPr>
          <a:xfrm>
            <a:off x="1676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4"/>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I saw a nasty _______ between two cars this morning.</a:t>
            </a:r>
            <a:endParaRPr sz="3600"/>
          </a:p>
        </p:txBody>
      </p:sp>
      <p:sp>
        <p:nvSpPr>
          <p:cNvPr id="292" name="Google Shape;292;p24"/>
          <p:cNvSpPr/>
          <p:nvPr/>
        </p:nvSpPr>
        <p:spPr>
          <a:xfrm>
            <a:off x="3238500" y="2743200"/>
            <a:ext cx="2667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happening</a:t>
            </a:r>
            <a:endParaRPr b="0" i="0" sz="3200" u="none" cap="none" strike="noStrike">
              <a:solidFill>
                <a:schemeClr val="lt1"/>
              </a:solidFill>
              <a:latin typeface="Calibri"/>
              <a:ea typeface="Calibri"/>
              <a:cs typeface="Calibri"/>
              <a:sym typeface="Calibri"/>
            </a:endParaRPr>
          </a:p>
        </p:txBody>
      </p:sp>
      <p:sp>
        <p:nvSpPr>
          <p:cNvPr id="293" name="Google Shape;293;p24"/>
          <p:cNvSpPr/>
          <p:nvPr/>
        </p:nvSpPr>
        <p:spPr>
          <a:xfrm>
            <a:off x="3200400" y="3657600"/>
            <a:ext cx="2667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damage</a:t>
            </a:r>
            <a:endParaRPr b="0" i="0" sz="3200" u="none" cap="none" strike="noStrike">
              <a:solidFill>
                <a:schemeClr val="lt1"/>
              </a:solidFill>
              <a:latin typeface="Calibri"/>
              <a:ea typeface="Calibri"/>
              <a:cs typeface="Calibri"/>
              <a:sym typeface="Calibri"/>
            </a:endParaRPr>
          </a:p>
        </p:txBody>
      </p:sp>
      <p:sp>
        <p:nvSpPr>
          <p:cNvPr id="294" name="Google Shape;294;p24"/>
          <p:cNvSpPr/>
          <p:nvPr/>
        </p:nvSpPr>
        <p:spPr>
          <a:xfrm>
            <a:off x="3200400" y="4572000"/>
            <a:ext cx="2667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accident</a:t>
            </a:r>
            <a:endParaRPr b="0" i="0" sz="3200" u="none" cap="none" strike="noStrike">
              <a:solidFill>
                <a:schemeClr val="lt1"/>
              </a:solidFill>
              <a:latin typeface="Calibri"/>
              <a:ea typeface="Calibri"/>
              <a:cs typeface="Calibri"/>
              <a:sym typeface="Calibri"/>
            </a:endParaRPr>
          </a:p>
        </p:txBody>
      </p:sp>
      <p:sp>
        <p:nvSpPr>
          <p:cNvPr id="295" name="Google Shape;295;p24"/>
          <p:cNvSpPr/>
          <p:nvPr/>
        </p:nvSpPr>
        <p:spPr>
          <a:xfrm>
            <a:off x="3200400" y="5486400"/>
            <a:ext cx="2667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danger</a:t>
            </a:r>
            <a:endParaRPr b="0" i="0" sz="3200" u="none" cap="none" strike="noStrike">
              <a:solidFill>
                <a:srgbClr val="000000"/>
              </a:solidFill>
              <a:latin typeface="Calibri"/>
              <a:ea typeface="Calibri"/>
              <a:cs typeface="Calibri"/>
              <a:sym typeface="Calibri"/>
            </a:endParaRPr>
          </a:p>
        </p:txBody>
      </p:sp>
      <p:pic>
        <p:nvPicPr>
          <p:cNvPr descr="AG00051_" id="296" name="Google Shape;296;p24"/>
          <p:cNvPicPr preferRelativeResize="0"/>
          <p:nvPr/>
        </p:nvPicPr>
        <p:blipFill rotWithShape="1">
          <a:blip r:embed="rId3">
            <a:alphaModFix/>
          </a:blip>
          <a:srcRect b="0" l="0" r="0" t="0"/>
          <a:stretch/>
        </p:blipFill>
        <p:spPr>
          <a:xfrm>
            <a:off x="22860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5"/>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Which passage is expressed effectively and without structural error/s?</a:t>
            </a:r>
            <a:endParaRPr sz="3600"/>
          </a:p>
        </p:txBody>
      </p:sp>
      <p:sp>
        <p:nvSpPr>
          <p:cNvPr id="302" name="Google Shape;302;p25"/>
          <p:cNvSpPr/>
          <p:nvPr/>
        </p:nvSpPr>
        <p:spPr>
          <a:xfrm>
            <a:off x="1219200" y="2719754"/>
            <a:ext cx="73914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I would not want to be themselves.</a:t>
            </a:r>
            <a:endParaRPr b="0" i="0" sz="3200" u="none" cap="none" strike="noStrike">
              <a:solidFill>
                <a:schemeClr val="lt1"/>
              </a:solidFill>
              <a:latin typeface="Calibri"/>
              <a:ea typeface="Calibri"/>
              <a:cs typeface="Calibri"/>
              <a:sym typeface="Calibri"/>
            </a:endParaRPr>
          </a:p>
        </p:txBody>
      </p:sp>
      <p:sp>
        <p:nvSpPr>
          <p:cNvPr id="303" name="Google Shape;303;p25"/>
          <p:cNvSpPr/>
          <p:nvPr/>
        </p:nvSpPr>
        <p:spPr>
          <a:xfrm>
            <a:off x="1181100" y="3710354"/>
            <a:ext cx="73914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 would not want to be himself/herself.</a:t>
            </a:r>
            <a:endParaRPr b="0" i="0" sz="3200" u="none" cap="none" strike="noStrike">
              <a:solidFill>
                <a:schemeClr val="lt1"/>
              </a:solidFill>
              <a:latin typeface="Calibri"/>
              <a:ea typeface="Calibri"/>
              <a:cs typeface="Calibri"/>
              <a:sym typeface="Calibri"/>
            </a:endParaRPr>
          </a:p>
        </p:txBody>
      </p:sp>
      <p:sp>
        <p:nvSpPr>
          <p:cNvPr id="304" name="Google Shape;304;p25"/>
          <p:cNvSpPr/>
          <p:nvPr/>
        </p:nvSpPr>
        <p:spPr>
          <a:xfrm>
            <a:off x="1181100" y="4700954"/>
            <a:ext cx="73914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I would not want to be he/she.</a:t>
            </a:r>
            <a:endParaRPr b="0" i="0" sz="3200" u="none" cap="none" strike="noStrike">
              <a:solidFill>
                <a:schemeClr val="lt1"/>
              </a:solidFill>
              <a:latin typeface="Calibri"/>
              <a:ea typeface="Calibri"/>
              <a:cs typeface="Calibri"/>
              <a:sym typeface="Calibri"/>
            </a:endParaRPr>
          </a:p>
        </p:txBody>
      </p:sp>
      <p:sp>
        <p:nvSpPr>
          <p:cNvPr id="305" name="Google Shape;305;p25"/>
          <p:cNvSpPr/>
          <p:nvPr/>
        </p:nvSpPr>
        <p:spPr>
          <a:xfrm>
            <a:off x="1181100" y="5767754"/>
            <a:ext cx="73914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I would not want to be theirselves.</a:t>
            </a:r>
            <a:endParaRPr b="0" i="0" sz="3200" u="none" cap="none" strike="noStrike">
              <a:solidFill>
                <a:srgbClr val="000000"/>
              </a:solidFill>
              <a:latin typeface="Calibri"/>
              <a:ea typeface="Calibri"/>
              <a:cs typeface="Calibri"/>
              <a:sym typeface="Calibri"/>
            </a:endParaRPr>
          </a:p>
        </p:txBody>
      </p:sp>
      <p:pic>
        <p:nvPicPr>
          <p:cNvPr descr="AG00051_" id="306" name="Google Shape;306;p25"/>
          <p:cNvPicPr preferRelativeResize="0"/>
          <p:nvPr/>
        </p:nvPicPr>
        <p:blipFill rotWithShape="1">
          <a:blip r:embed="rId3">
            <a:alphaModFix/>
          </a:blip>
          <a:srcRect b="0" l="0" r="0" t="0"/>
          <a:stretch/>
        </p:blipFill>
        <p:spPr>
          <a:xfrm>
            <a:off x="3048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Which passage is expressed effectively and without structural error/s?</a:t>
            </a:r>
            <a:endParaRPr sz="3600"/>
          </a:p>
        </p:txBody>
      </p:sp>
      <p:sp>
        <p:nvSpPr>
          <p:cNvPr id="312" name="Google Shape;312;p26"/>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Having called the other students and they, the secretary went home.</a:t>
            </a:r>
            <a:endParaRPr b="0" i="0" sz="3200" u="none" cap="none" strike="noStrike">
              <a:solidFill>
                <a:schemeClr val="lt1"/>
              </a:solidFill>
              <a:latin typeface="Calibri"/>
              <a:ea typeface="Calibri"/>
              <a:cs typeface="Calibri"/>
              <a:sym typeface="Calibri"/>
            </a:endParaRPr>
          </a:p>
        </p:txBody>
      </p:sp>
      <p:sp>
        <p:nvSpPr>
          <p:cNvPr id="313" name="Google Shape;313;p26"/>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Having called the other students and ourselves, the secretary went home. </a:t>
            </a:r>
            <a:endParaRPr b="0" i="0" sz="3200" u="none" cap="none" strike="noStrike">
              <a:solidFill>
                <a:schemeClr val="lt1"/>
              </a:solidFill>
              <a:latin typeface="Calibri"/>
              <a:ea typeface="Calibri"/>
              <a:cs typeface="Calibri"/>
              <a:sym typeface="Calibri"/>
            </a:endParaRPr>
          </a:p>
        </p:txBody>
      </p:sp>
      <p:sp>
        <p:nvSpPr>
          <p:cNvPr id="314" name="Google Shape;314;p26"/>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Having called the other students and we, the secretary went home.</a:t>
            </a:r>
            <a:endParaRPr b="0" i="0" sz="3200" u="none" cap="none" strike="noStrike">
              <a:solidFill>
                <a:schemeClr val="lt1"/>
              </a:solidFill>
              <a:latin typeface="Calibri"/>
              <a:ea typeface="Calibri"/>
              <a:cs typeface="Calibri"/>
              <a:sym typeface="Calibri"/>
            </a:endParaRPr>
          </a:p>
        </p:txBody>
      </p:sp>
      <p:sp>
        <p:nvSpPr>
          <p:cNvPr id="315" name="Google Shape;315;p26"/>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Having called the other students and us, the secretary went home.</a:t>
            </a:r>
            <a:endParaRPr b="0" i="0" sz="3200" u="none" cap="none" strike="noStrike">
              <a:solidFill>
                <a:schemeClr val="dk1"/>
              </a:solidFill>
              <a:latin typeface="Calibri"/>
              <a:ea typeface="Calibri"/>
              <a:cs typeface="Calibri"/>
              <a:sym typeface="Calibri"/>
            </a:endParaRPr>
          </a:p>
        </p:txBody>
      </p:sp>
      <p:pic>
        <p:nvPicPr>
          <p:cNvPr descr="AG00051_" id="316" name="Google Shape;316;p26"/>
          <p:cNvPicPr preferRelativeResize="0"/>
          <p:nvPr/>
        </p:nvPicPr>
        <p:blipFill rotWithShape="1">
          <a:blip r:embed="rId3">
            <a:alphaModFix/>
          </a:blip>
          <a:srcRect b="0" l="0" r="0" t="0"/>
          <a:stretch/>
        </p:blipFill>
        <p:spPr>
          <a:xfrm>
            <a:off x="1524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7"/>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Thomas Carlyle said, “The man without a purpose is like a ship without a rudder…” It could be interpreted as ___________.</a:t>
            </a:r>
            <a:endParaRPr sz="3600"/>
          </a:p>
        </p:txBody>
      </p:sp>
      <p:sp>
        <p:nvSpPr>
          <p:cNvPr id="322" name="Google Shape;322;p27"/>
          <p:cNvSpPr/>
          <p:nvPr/>
        </p:nvSpPr>
        <p:spPr>
          <a:xfrm>
            <a:off x="533400" y="2719754"/>
            <a:ext cx="8229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there should be sufficient energy in one’s life.</a:t>
            </a:r>
            <a:endParaRPr b="0" i="0" sz="3200" u="none" cap="none" strike="noStrike">
              <a:solidFill>
                <a:schemeClr val="lt1"/>
              </a:solidFill>
              <a:latin typeface="Calibri"/>
              <a:ea typeface="Calibri"/>
              <a:cs typeface="Calibri"/>
              <a:sym typeface="Calibri"/>
            </a:endParaRPr>
          </a:p>
        </p:txBody>
      </p:sp>
      <p:sp>
        <p:nvSpPr>
          <p:cNvPr id="323" name="Google Shape;323;p27"/>
          <p:cNvSpPr/>
          <p:nvPr/>
        </p:nvSpPr>
        <p:spPr>
          <a:xfrm>
            <a:off x="533400" y="3710354"/>
            <a:ext cx="8229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direction can never come into one’s life. </a:t>
            </a:r>
            <a:endParaRPr b="0" i="0" sz="3200" u="none" cap="none" strike="noStrike">
              <a:solidFill>
                <a:schemeClr val="lt1"/>
              </a:solidFill>
              <a:latin typeface="Calibri"/>
              <a:ea typeface="Calibri"/>
              <a:cs typeface="Calibri"/>
              <a:sym typeface="Calibri"/>
            </a:endParaRPr>
          </a:p>
        </p:txBody>
      </p:sp>
      <p:sp>
        <p:nvSpPr>
          <p:cNvPr id="324" name="Google Shape;324;p27"/>
          <p:cNvSpPr/>
          <p:nvPr/>
        </p:nvSpPr>
        <p:spPr>
          <a:xfrm>
            <a:off x="533400" y="4700954"/>
            <a:ext cx="8229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one’s life doesn’t need to be controlled.</a:t>
            </a:r>
            <a:endParaRPr b="0" i="0" sz="3200" u="none" cap="none" strike="noStrike">
              <a:solidFill>
                <a:schemeClr val="lt1"/>
              </a:solidFill>
              <a:latin typeface="Calibri"/>
              <a:ea typeface="Calibri"/>
              <a:cs typeface="Calibri"/>
              <a:sym typeface="Calibri"/>
            </a:endParaRPr>
          </a:p>
        </p:txBody>
      </p:sp>
      <p:sp>
        <p:nvSpPr>
          <p:cNvPr id="325" name="Google Shape;325;p27"/>
          <p:cNvSpPr/>
          <p:nvPr/>
        </p:nvSpPr>
        <p:spPr>
          <a:xfrm>
            <a:off x="533400" y="5767754"/>
            <a:ext cx="82296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there is a strong driving force in one’s life.</a:t>
            </a:r>
            <a:endParaRPr b="0" i="0" sz="3200" u="none" cap="none" strike="noStrike">
              <a:solidFill>
                <a:srgbClr val="000000"/>
              </a:solidFill>
              <a:latin typeface="Calibri"/>
              <a:ea typeface="Calibri"/>
              <a:cs typeface="Calibri"/>
              <a:sym typeface="Calibri"/>
            </a:endParaRPr>
          </a:p>
        </p:txBody>
      </p:sp>
      <p:pic>
        <p:nvPicPr>
          <p:cNvPr descr="AG00051_" id="326" name="Google Shape;326;p27"/>
          <p:cNvPicPr preferRelativeResize="0"/>
          <p:nvPr/>
        </p:nvPicPr>
        <p:blipFill rotWithShape="1">
          <a:blip r:embed="rId3">
            <a:alphaModFix/>
          </a:blip>
          <a:srcRect b="0" l="0" r="0" t="0"/>
          <a:stretch/>
        </p:blipFill>
        <p:spPr>
          <a:xfrm>
            <a:off x="1524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8"/>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Calibri"/>
              <a:buNone/>
            </a:pPr>
            <a:r>
              <a:rPr lang="en-US" sz="3200"/>
              <a:t>Who said, </a:t>
            </a:r>
            <a:r>
              <a:rPr i="1" lang="en-US" sz="3200"/>
              <a:t>“The Filipino is worth dying for?”</a:t>
            </a:r>
            <a:endParaRPr i="1" sz="3200"/>
          </a:p>
        </p:txBody>
      </p:sp>
      <p:sp>
        <p:nvSpPr>
          <p:cNvPr id="332" name="Google Shape;332;p28"/>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Benigno Aquino </a:t>
            </a:r>
            <a:endParaRPr b="0" i="0" sz="3200" u="none" cap="none" strike="noStrike">
              <a:solidFill>
                <a:schemeClr val="lt1"/>
              </a:solidFill>
              <a:latin typeface="Calibri"/>
              <a:ea typeface="Calibri"/>
              <a:cs typeface="Calibri"/>
              <a:sym typeface="Calibri"/>
            </a:endParaRPr>
          </a:p>
        </p:txBody>
      </p:sp>
      <p:sp>
        <p:nvSpPr>
          <p:cNvPr id="333" name="Google Shape;333;p28"/>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Carlos P. Garcia</a:t>
            </a:r>
            <a:endParaRPr b="0" i="0" sz="3200" u="none" cap="none" strike="noStrike">
              <a:solidFill>
                <a:schemeClr val="lt1"/>
              </a:solidFill>
              <a:latin typeface="Calibri"/>
              <a:ea typeface="Calibri"/>
              <a:cs typeface="Calibri"/>
              <a:sym typeface="Calibri"/>
            </a:endParaRPr>
          </a:p>
        </p:txBody>
      </p:sp>
      <p:sp>
        <p:nvSpPr>
          <p:cNvPr id="334" name="Google Shape;334;p28"/>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Fidel V. Ramos</a:t>
            </a:r>
            <a:endParaRPr b="0" i="0" sz="3200" u="none" cap="none" strike="noStrike">
              <a:solidFill>
                <a:schemeClr val="lt1"/>
              </a:solidFill>
              <a:latin typeface="Calibri"/>
              <a:ea typeface="Calibri"/>
              <a:cs typeface="Calibri"/>
              <a:sym typeface="Calibri"/>
            </a:endParaRPr>
          </a:p>
        </p:txBody>
      </p:sp>
      <p:sp>
        <p:nvSpPr>
          <p:cNvPr id="335" name="Google Shape;335;p28"/>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Jose P. Rizal</a:t>
            </a:r>
            <a:endParaRPr b="0" i="0" sz="3200" u="none" cap="none" strike="noStrike">
              <a:solidFill>
                <a:schemeClr val="dk1"/>
              </a:solidFill>
              <a:latin typeface="Calibri"/>
              <a:ea typeface="Calibri"/>
              <a:cs typeface="Calibri"/>
              <a:sym typeface="Calibri"/>
            </a:endParaRPr>
          </a:p>
        </p:txBody>
      </p:sp>
      <p:pic>
        <p:nvPicPr>
          <p:cNvPr descr="AG00051_" id="336" name="Google Shape;336;p28"/>
          <p:cNvPicPr preferRelativeResize="0"/>
          <p:nvPr/>
        </p:nvPicPr>
        <p:blipFill rotWithShape="1">
          <a:blip r:embed="rId3">
            <a:alphaModFix/>
          </a:blip>
          <a:srcRect b="0" l="0" r="0" t="0"/>
          <a:stretch/>
        </p:blipFill>
        <p:spPr>
          <a:xfrm>
            <a:off x="17526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9"/>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Calibri"/>
              <a:buNone/>
            </a:pPr>
            <a:r>
              <a:rPr lang="en-US" sz="3200"/>
              <a:t>Who is remembered for his famous quotation?</a:t>
            </a:r>
            <a:br>
              <a:rPr lang="en-US" sz="3200"/>
            </a:br>
            <a:r>
              <a:rPr i="1" lang="en-US" sz="3200"/>
              <a:t>“My loyalty to my party ends where my loyalty to my country begins.”</a:t>
            </a:r>
            <a:endParaRPr i="1" sz="3200"/>
          </a:p>
        </p:txBody>
      </p:sp>
      <p:sp>
        <p:nvSpPr>
          <p:cNvPr id="342" name="Google Shape;342;p29"/>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Carlos P. Garcia</a:t>
            </a:r>
            <a:endParaRPr b="0" i="0" sz="3200" u="none" cap="none" strike="noStrike">
              <a:solidFill>
                <a:schemeClr val="lt1"/>
              </a:solidFill>
              <a:latin typeface="Calibri"/>
              <a:ea typeface="Calibri"/>
              <a:cs typeface="Calibri"/>
              <a:sym typeface="Calibri"/>
            </a:endParaRPr>
          </a:p>
        </p:txBody>
      </p:sp>
      <p:sp>
        <p:nvSpPr>
          <p:cNvPr id="343" name="Google Shape;343;p29"/>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Ferdinand Marcos </a:t>
            </a:r>
            <a:endParaRPr b="0" i="0" sz="3200" u="none" cap="none" strike="noStrike">
              <a:solidFill>
                <a:schemeClr val="lt1"/>
              </a:solidFill>
              <a:latin typeface="Calibri"/>
              <a:ea typeface="Calibri"/>
              <a:cs typeface="Calibri"/>
              <a:sym typeface="Calibri"/>
            </a:endParaRPr>
          </a:p>
        </p:txBody>
      </p:sp>
      <p:sp>
        <p:nvSpPr>
          <p:cNvPr id="344" name="Google Shape;344;p29"/>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Manuel L. Quezon</a:t>
            </a:r>
            <a:endParaRPr b="0" i="0" sz="3200" u="none" cap="none" strike="noStrike">
              <a:solidFill>
                <a:schemeClr val="lt1"/>
              </a:solidFill>
              <a:latin typeface="Calibri"/>
              <a:ea typeface="Calibri"/>
              <a:cs typeface="Calibri"/>
              <a:sym typeface="Calibri"/>
            </a:endParaRPr>
          </a:p>
        </p:txBody>
      </p:sp>
      <p:sp>
        <p:nvSpPr>
          <p:cNvPr id="345" name="Google Shape;345;p29"/>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Manuel Roxas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0"/>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Which sentence clearly and effectively states the idea and has no structural error/s?</a:t>
            </a:r>
            <a:endParaRPr sz="3600"/>
          </a:p>
        </p:txBody>
      </p:sp>
      <p:sp>
        <p:nvSpPr>
          <p:cNvPr id="351" name="Google Shape;351;p30"/>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 interest at a loan company is higher than at bank.</a:t>
            </a:r>
            <a:endParaRPr b="0" i="0" sz="3200" u="none" cap="none" strike="noStrike">
              <a:solidFill>
                <a:schemeClr val="lt1"/>
              </a:solidFill>
              <a:latin typeface="Calibri"/>
              <a:ea typeface="Calibri"/>
              <a:cs typeface="Calibri"/>
              <a:sym typeface="Calibri"/>
            </a:endParaRPr>
          </a:p>
        </p:txBody>
      </p:sp>
      <p:sp>
        <p:nvSpPr>
          <p:cNvPr id="352" name="Google Shape;352;p30"/>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The interest at a loan company is higher than a bank. </a:t>
            </a:r>
            <a:endParaRPr b="0" i="0" sz="3200" u="none" cap="none" strike="noStrike">
              <a:solidFill>
                <a:schemeClr val="lt1"/>
              </a:solidFill>
              <a:latin typeface="Calibri"/>
              <a:ea typeface="Calibri"/>
              <a:cs typeface="Calibri"/>
              <a:sym typeface="Calibri"/>
            </a:endParaRPr>
          </a:p>
        </p:txBody>
      </p:sp>
      <p:sp>
        <p:nvSpPr>
          <p:cNvPr id="353" name="Google Shape;353;p30"/>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The interest of a loan company is higher than a bank.</a:t>
            </a:r>
            <a:endParaRPr b="0" i="0" sz="3200" u="none" cap="none" strike="noStrike">
              <a:solidFill>
                <a:schemeClr val="lt1"/>
              </a:solidFill>
              <a:latin typeface="Calibri"/>
              <a:ea typeface="Calibri"/>
              <a:cs typeface="Calibri"/>
              <a:sym typeface="Calibri"/>
            </a:endParaRPr>
          </a:p>
        </p:txBody>
      </p:sp>
      <p:sp>
        <p:nvSpPr>
          <p:cNvPr id="354" name="Google Shape;354;p30"/>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The interest of a loan company is higher than in a bank.</a:t>
            </a:r>
            <a:endParaRPr b="0" i="0" sz="3200" u="none" cap="none" strike="noStrike">
              <a:solidFill>
                <a:schemeClr val="dk1"/>
              </a:solidFill>
              <a:latin typeface="Calibri"/>
              <a:ea typeface="Calibri"/>
              <a:cs typeface="Calibri"/>
              <a:sym typeface="Calibri"/>
            </a:endParaRPr>
          </a:p>
        </p:txBody>
      </p:sp>
      <p:pic>
        <p:nvPicPr>
          <p:cNvPr descr="AG00051_" id="355" name="Google Shape;355;p30"/>
          <p:cNvPicPr preferRelativeResize="0"/>
          <p:nvPr/>
        </p:nvPicPr>
        <p:blipFill rotWithShape="1">
          <a:blip r:embed="rId3">
            <a:alphaModFix/>
          </a:blip>
          <a:srcRect b="0" l="0" r="0" t="0"/>
          <a:stretch/>
        </p:blipFill>
        <p:spPr>
          <a:xfrm>
            <a:off x="152400" y="5943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1"/>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Select the sentence that clearly and effectively states the idea and has no structural error/s.</a:t>
            </a:r>
            <a:endParaRPr sz="3600"/>
          </a:p>
        </p:txBody>
      </p:sp>
      <p:sp>
        <p:nvSpPr>
          <p:cNvPr id="361" name="Google Shape;361;p31"/>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 examinees need pencils, a calculator, and a ball pen.</a:t>
            </a:r>
            <a:endParaRPr b="0" i="0" sz="3200" u="none" cap="none" strike="noStrike">
              <a:solidFill>
                <a:schemeClr val="lt1"/>
              </a:solidFill>
              <a:latin typeface="Calibri"/>
              <a:ea typeface="Calibri"/>
              <a:cs typeface="Calibri"/>
              <a:sym typeface="Calibri"/>
            </a:endParaRPr>
          </a:p>
        </p:txBody>
      </p:sp>
      <p:sp>
        <p:nvSpPr>
          <p:cNvPr id="362" name="Google Shape;362;p31"/>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The examinees need double pencils simply a calculator, and ball pen.</a:t>
            </a:r>
            <a:endParaRPr b="0" i="0" sz="3200" u="none" cap="none" strike="noStrike">
              <a:solidFill>
                <a:schemeClr val="lt1"/>
              </a:solidFill>
              <a:latin typeface="Calibri"/>
              <a:ea typeface="Calibri"/>
              <a:cs typeface="Calibri"/>
              <a:sym typeface="Calibri"/>
            </a:endParaRPr>
          </a:p>
        </p:txBody>
      </p:sp>
      <p:sp>
        <p:nvSpPr>
          <p:cNvPr id="363" name="Google Shape;363;p31"/>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The examinees need two pencils, a simple calculator, and a ball pen.</a:t>
            </a:r>
            <a:endParaRPr b="0" i="0" sz="3200" u="none" cap="none" strike="noStrike">
              <a:solidFill>
                <a:schemeClr val="lt1"/>
              </a:solidFill>
              <a:latin typeface="Calibri"/>
              <a:ea typeface="Calibri"/>
              <a:cs typeface="Calibri"/>
              <a:sym typeface="Calibri"/>
            </a:endParaRPr>
          </a:p>
        </p:txBody>
      </p:sp>
      <p:sp>
        <p:nvSpPr>
          <p:cNvPr id="364" name="Google Shape;364;p31"/>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The examinees need two sharpened pencils, a calculator, and ball pen.</a:t>
            </a:r>
            <a:endParaRPr b="0" i="0" sz="3200" u="none" cap="none" strike="noStrike">
              <a:solidFill>
                <a:schemeClr val="dk1"/>
              </a:solidFill>
              <a:latin typeface="Calibri"/>
              <a:ea typeface="Calibri"/>
              <a:cs typeface="Calibri"/>
              <a:sym typeface="Calibri"/>
            </a:endParaRPr>
          </a:p>
        </p:txBody>
      </p:sp>
      <p:pic>
        <p:nvPicPr>
          <p:cNvPr descr="AG00051_" id="365" name="Google Shape;365;p31"/>
          <p:cNvPicPr preferRelativeResize="0"/>
          <p:nvPr/>
        </p:nvPicPr>
        <p:blipFill rotWithShape="1">
          <a:blip r:embed="rId3">
            <a:alphaModFix/>
          </a:blip>
          <a:srcRect b="0" l="0" r="0" t="0"/>
          <a:stretch/>
        </p:blipFill>
        <p:spPr>
          <a:xfrm>
            <a:off x="1524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2"/>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There was HIATUS of two years before I went back to college. HIATUS means ____.</a:t>
            </a:r>
            <a:endParaRPr sz="3600"/>
          </a:p>
        </p:txBody>
      </p:sp>
      <p:sp>
        <p:nvSpPr>
          <p:cNvPr id="371" name="Google Shape;371;p32"/>
          <p:cNvSpPr/>
          <p:nvPr/>
        </p:nvSpPr>
        <p:spPr>
          <a:xfrm>
            <a:off x="2800350" y="2719754"/>
            <a:ext cx="3429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lapse</a:t>
            </a:r>
            <a:endParaRPr b="0" i="0" sz="3200" u="none" cap="none" strike="noStrike">
              <a:solidFill>
                <a:schemeClr val="lt1"/>
              </a:solidFill>
              <a:latin typeface="Calibri"/>
              <a:ea typeface="Calibri"/>
              <a:cs typeface="Calibri"/>
              <a:sym typeface="Calibri"/>
            </a:endParaRPr>
          </a:p>
        </p:txBody>
      </p:sp>
      <p:sp>
        <p:nvSpPr>
          <p:cNvPr id="372" name="Google Shape;372;p32"/>
          <p:cNvSpPr/>
          <p:nvPr/>
        </p:nvSpPr>
        <p:spPr>
          <a:xfrm>
            <a:off x="2819400" y="3710354"/>
            <a:ext cx="3429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uninterruption</a:t>
            </a:r>
            <a:endParaRPr b="0" i="0" sz="3200" u="none" cap="none" strike="noStrike">
              <a:solidFill>
                <a:schemeClr val="lt1"/>
              </a:solidFill>
              <a:latin typeface="Calibri"/>
              <a:ea typeface="Calibri"/>
              <a:cs typeface="Calibri"/>
              <a:sym typeface="Calibri"/>
            </a:endParaRPr>
          </a:p>
        </p:txBody>
      </p:sp>
      <p:sp>
        <p:nvSpPr>
          <p:cNvPr id="373" name="Google Shape;373;p32"/>
          <p:cNvSpPr/>
          <p:nvPr/>
        </p:nvSpPr>
        <p:spPr>
          <a:xfrm>
            <a:off x="2819400" y="4700954"/>
            <a:ext cx="3429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length</a:t>
            </a:r>
            <a:endParaRPr b="0" i="0" sz="3200" u="none" cap="none" strike="noStrike">
              <a:solidFill>
                <a:schemeClr val="lt1"/>
              </a:solidFill>
              <a:latin typeface="Calibri"/>
              <a:ea typeface="Calibri"/>
              <a:cs typeface="Calibri"/>
              <a:sym typeface="Calibri"/>
            </a:endParaRPr>
          </a:p>
        </p:txBody>
      </p:sp>
      <p:sp>
        <p:nvSpPr>
          <p:cNvPr id="374" name="Google Shape;374;p32"/>
          <p:cNvSpPr/>
          <p:nvPr/>
        </p:nvSpPr>
        <p:spPr>
          <a:xfrm>
            <a:off x="2819400" y="5767754"/>
            <a:ext cx="34290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continuation</a:t>
            </a:r>
            <a:endParaRPr b="0" i="0" sz="3200" u="none" cap="none" strike="noStrike">
              <a:solidFill>
                <a:srgbClr val="000000"/>
              </a:solidFill>
              <a:latin typeface="Calibri"/>
              <a:ea typeface="Calibri"/>
              <a:cs typeface="Calibri"/>
              <a:sym typeface="Calibri"/>
            </a:endParaRPr>
          </a:p>
        </p:txBody>
      </p:sp>
      <p:pic>
        <p:nvPicPr>
          <p:cNvPr descr="AG00051_" id="375" name="Google Shape;375;p32"/>
          <p:cNvPicPr preferRelativeResize="0"/>
          <p:nvPr/>
        </p:nvPicPr>
        <p:blipFill rotWithShape="1">
          <a:blip r:embed="rId3">
            <a:alphaModFix/>
          </a:blip>
          <a:srcRect b="0" l="0" r="0" t="0"/>
          <a:stretch/>
        </p:blipFill>
        <p:spPr>
          <a:xfrm>
            <a:off x="18288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3"/>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I was speaking to Ana on the phone when suddenly we were __________.</a:t>
            </a:r>
            <a:endParaRPr sz="3600"/>
          </a:p>
        </p:txBody>
      </p:sp>
      <p:sp>
        <p:nvSpPr>
          <p:cNvPr id="381" name="Google Shape;381;p33"/>
          <p:cNvSpPr/>
          <p:nvPr/>
        </p:nvSpPr>
        <p:spPr>
          <a:xfrm>
            <a:off x="2800350" y="2719754"/>
            <a:ext cx="3429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disconnected</a:t>
            </a:r>
            <a:endParaRPr b="0" i="0" sz="3200" u="none" cap="none" strike="noStrike">
              <a:solidFill>
                <a:schemeClr val="lt1"/>
              </a:solidFill>
              <a:latin typeface="Calibri"/>
              <a:ea typeface="Calibri"/>
              <a:cs typeface="Calibri"/>
              <a:sym typeface="Calibri"/>
            </a:endParaRPr>
          </a:p>
        </p:txBody>
      </p:sp>
      <p:sp>
        <p:nvSpPr>
          <p:cNvPr id="382" name="Google Shape;382;p33"/>
          <p:cNvSpPr/>
          <p:nvPr/>
        </p:nvSpPr>
        <p:spPr>
          <a:xfrm>
            <a:off x="2819400" y="3710354"/>
            <a:ext cx="3429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cut off</a:t>
            </a:r>
            <a:endParaRPr b="0" i="0" sz="3200" u="none" cap="none" strike="noStrike">
              <a:solidFill>
                <a:schemeClr val="lt1"/>
              </a:solidFill>
              <a:latin typeface="Calibri"/>
              <a:ea typeface="Calibri"/>
              <a:cs typeface="Calibri"/>
              <a:sym typeface="Calibri"/>
            </a:endParaRPr>
          </a:p>
        </p:txBody>
      </p:sp>
      <p:sp>
        <p:nvSpPr>
          <p:cNvPr id="383" name="Google Shape;383;p33"/>
          <p:cNvSpPr/>
          <p:nvPr/>
        </p:nvSpPr>
        <p:spPr>
          <a:xfrm>
            <a:off x="2819400" y="4700954"/>
            <a:ext cx="3429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hung up</a:t>
            </a:r>
            <a:endParaRPr b="0" i="0" sz="3200" u="none" cap="none" strike="noStrike">
              <a:solidFill>
                <a:schemeClr val="lt1"/>
              </a:solidFill>
              <a:latin typeface="Calibri"/>
              <a:ea typeface="Calibri"/>
              <a:cs typeface="Calibri"/>
              <a:sym typeface="Calibri"/>
            </a:endParaRPr>
          </a:p>
        </p:txBody>
      </p:sp>
      <p:sp>
        <p:nvSpPr>
          <p:cNvPr id="384" name="Google Shape;384;p33"/>
          <p:cNvSpPr/>
          <p:nvPr/>
        </p:nvSpPr>
        <p:spPr>
          <a:xfrm>
            <a:off x="2819400" y="5767754"/>
            <a:ext cx="34290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broken down</a:t>
            </a:r>
            <a:endParaRPr b="0" i="0" sz="3200" u="none" cap="none" strike="noStrike">
              <a:solidFill>
                <a:srgbClr val="000000"/>
              </a:solidFill>
              <a:latin typeface="Calibri"/>
              <a:ea typeface="Calibri"/>
              <a:cs typeface="Calibri"/>
              <a:sym typeface="Calibri"/>
            </a:endParaRPr>
          </a:p>
        </p:txBody>
      </p:sp>
      <p:pic>
        <p:nvPicPr>
          <p:cNvPr descr="AG00051_" id="385" name="Google Shape;385;p33"/>
          <p:cNvPicPr preferRelativeResize="0"/>
          <p:nvPr/>
        </p:nvPicPr>
        <p:blipFill rotWithShape="1">
          <a:blip r:embed="rId3">
            <a:alphaModFix/>
          </a:blip>
          <a:srcRect b="0" l="0" r="0" t="0"/>
          <a:stretch/>
        </p:blipFill>
        <p:spPr>
          <a:xfrm>
            <a:off x="19050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4"/>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“The Lord is my shepherd; I shall not want” is an expression of one’s _________.</a:t>
            </a:r>
            <a:endParaRPr sz="3600"/>
          </a:p>
        </p:txBody>
      </p:sp>
      <p:sp>
        <p:nvSpPr>
          <p:cNvPr id="391" name="Google Shape;391;p34"/>
          <p:cNvSpPr/>
          <p:nvPr/>
        </p:nvSpPr>
        <p:spPr>
          <a:xfrm>
            <a:off x="2171700" y="2719754"/>
            <a:ext cx="4800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total poverty</a:t>
            </a:r>
            <a:endParaRPr b="0" i="0" sz="3200" u="none" cap="none" strike="noStrike">
              <a:solidFill>
                <a:schemeClr val="lt1"/>
              </a:solidFill>
              <a:latin typeface="Calibri"/>
              <a:ea typeface="Calibri"/>
              <a:cs typeface="Calibri"/>
              <a:sym typeface="Calibri"/>
            </a:endParaRPr>
          </a:p>
        </p:txBody>
      </p:sp>
      <p:sp>
        <p:nvSpPr>
          <p:cNvPr id="392" name="Google Shape;392;p34"/>
          <p:cNvSpPr/>
          <p:nvPr/>
        </p:nvSpPr>
        <p:spPr>
          <a:xfrm>
            <a:off x="2133600" y="3710354"/>
            <a:ext cx="4800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blind ignorance</a:t>
            </a:r>
            <a:endParaRPr b="0" i="0" sz="3200" u="none" cap="none" strike="noStrike">
              <a:solidFill>
                <a:schemeClr val="lt1"/>
              </a:solidFill>
              <a:latin typeface="Calibri"/>
              <a:ea typeface="Calibri"/>
              <a:cs typeface="Calibri"/>
              <a:sym typeface="Calibri"/>
            </a:endParaRPr>
          </a:p>
        </p:txBody>
      </p:sp>
      <p:sp>
        <p:nvSpPr>
          <p:cNvPr id="393" name="Google Shape;393;p34"/>
          <p:cNvSpPr/>
          <p:nvPr/>
        </p:nvSpPr>
        <p:spPr>
          <a:xfrm>
            <a:off x="2133600" y="4700954"/>
            <a:ext cx="4800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love for self</a:t>
            </a:r>
            <a:endParaRPr b="0" i="0" sz="3200" u="none" cap="none" strike="noStrike">
              <a:solidFill>
                <a:schemeClr val="lt1"/>
              </a:solidFill>
              <a:latin typeface="Calibri"/>
              <a:ea typeface="Calibri"/>
              <a:cs typeface="Calibri"/>
              <a:sym typeface="Calibri"/>
            </a:endParaRPr>
          </a:p>
        </p:txBody>
      </p:sp>
      <p:sp>
        <p:nvSpPr>
          <p:cNvPr id="394" name="Google Shape;394;p34"/>
          <p:cNvSpPr/>
          <p:nvPr/>
        </p:nvSpPr>
        <p:spPr>
          <a:xfrm>
            <a:off x="2133600" y="5767754"/>
            <a:ext cx="48006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total submission to God</a:t>
            </a:r>
            <a:endParaRPr b="0" i="0" sz="3200" u="none" cap="none" strike="noStrike">
              <a:solidFill>
                <a:srgbClr val="000000"/>
              </a:solidFill>
              <a:latin typeface="Calibri"/>
              <a:ea typeface="Calibri"/>
              <a:cs typeface="Calibri"/>
              <a:sym typeface="Calibri"/>
            </a:endParaRPr>
          </a:p>
        </p:txBody>
      </p:sp>
      <p:pic>
        <p:nvPicPr>
          <p:cNvPr descr="AG00051_" id="395" name="Google Shape;395;p34"/>
          <p:cNvPicPr preferRelativeResize="0"/>
          <p:nvPr/>
        </p:nvPicPr>
        <p:blipFill rotWithShape="1">
          <a:blip r:embed="rId3">
            <a:alphaModFix/>
          </a:blip>
          <a:srcRect b="0" l="0" r="0" t="0"/>
          <a:stretch/>
        </p:blipFill>
        <p:spPr>
          <a:xfrm>
            <a:off x="1219200" y="5791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5"/>
          <p:cNvSpPr txBox="1"/>
          <p:nvPr>
            <p:ph type="title"/>
          </p:nvPr>
        </p:nvSpPr>
        <p:spPr>
          <a:xfrm>
            <a:off x="457200" y="274638"/>
            <a:ext cx="8229600" cy="1173162"/>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Which passage is expressed effectively and without structural error/s?</a:t>
            </a:r>
            <a:endParaRPr sz="3600"/>
          </a:p>
        </p:txBody>
      </p:sp>
      <p:sp>
        <p:nvSpPr>
          <p:cNvPr id="401" name="Google Shape;401;p35"/>
          <p:cNvSpPr/>
          <p:nvPr/>
        </p:nvSpPr>
        <p:spPr>
          <a:xfrm>
            <a:off x="342900" y="1524000"/>
            <a:ext cx="8458200" cy="12192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t>
            </a:r>
            <a:r>
              <a:rPr b="0" i="0" lang="en-US" sz="2300" u="none" cap="none" strike="noStrike">
                <a:solidFill>
                  <a:schemeClr val="lt1"/>
                </a:solidFill>
                <a:latin typeface="Calibri"/>
                <a:ea typeface="Calibri"/>
                <a:cs typeface="Calibri"/>
                <a:sym typeface="Calibri"/>
              </a:rPr>
              <a:t>The teacher explained that the Mean Percentage Score (MPS) of high school students in English was much lower than it has been in previous years.</a:t>
            </a:r>
            <a:endParaRPr b="0" i="0" sz="2300" u="none" cap="none" strike="noStrike">
              <a:solidFill>
                <a:schemeClr val="lt1"/>
              </a:solidFill>
              <a:latin typeface="Calibri"/>
              <a:ea typeface="Calibri"/>
              <a:cs typeface="Calibri"/>
              <a:sym typeface="Calibri"/>
            </a:endParaRPr>
          </a:p>
        </p:txBody>
      </p:sp>
      <p:sp>
        <p:nvSpPr>
          <p:cNvPr id="402" name="Google Shape;402;p35"/>
          <p:cNvSpPr/>
          <p:nvPr/>
        </p:nvSpPr>
        <p:spPr>
          <a:xfrm>
            <a:off x="304800" y="2971800"/>
            <a:ext cx="8458200" cy="12192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a:t>
            </a:r>
            <a:r>
              <a:rPr b="0" i="0" lang="en-US" sz="2300" u="none" cap="none" strike="noStrike">
                <a:solidFill>
                  <a:schemeClr val="lt1"/>
                </a:solidFill>
                <a:latin typeface="Calibri"/>
                <a:ea typeface="Calibri"/>
                <a:cs typeface="Calibri"/>
                <a:sym typeface="Calibri"/>
              </a:rPr>
              <a:t>The teacher explained that the Mean Percentage Score (MPS) of high school students in English was much lower than  the previous years.</a:t>
            </a:r>
            <a:endParaRPr b="0" i="0" sz="1400" u="none" cap="none" strike="noStrike">
              <a:solidFill>
                <a:srgbClr val="000000"/>
              </a:solidFill>
              <a:latin typeface="Arial"/>
              <a:ea typeface="Arial"/>
              <a:cs typeface="Arial"/>
              <a:sym typeface="Arial"/>
            </a:endParaRPr>
          </a:p>
        </p:txBody>
      </p:sp>
      <p:sp>
        <p:nvSpPr>
          <p:cNvPr id="403" name="Google Shape;403;p35"/>
          <p:cNvSpPr/>
          <p:nvPr/>
        </p:nvSpPr>
        <p:spPr>
          <a:xfrm>
            <a:off x="304800" y="4343400"/>
            <a:ext cx="8458200" cy="12192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t>
            </a:r>
            <a:r>
              <a:rPr b="0" i="0" lang="en-US" sz="2300" u="none" cap="none" strike="noStrike">
                <a:solidFill>
                  <a:schemeClr val="lt1"/>
                </a:solidFill>
                <a:latin typeface="Calibri"/>
                <a:ea typeface="Calibri"/>
                <a:cs typeface="Calibri"/>
                <a:sym typeface="Calibri"/>
              </a:rPr>
              <a:t>The teacher explained that the Mean Percentage Score (MPS) of high school students in English was much lower than  it had been in previous years.</a:t>
            </a:r>
            <a:endParaRPr b="0" i="0" sz="2300" u="none" cap="none" strike="noStrike">
              <a:solidFill>
                <a:schemeClr val="lt1"/>
              </a:solidFill>
              <a:latin typeface="Calibri"/>
              <a:ea typeface="Calibri"/>
              <a:cs typeface="Calibri"/>
              <a:sym typeface="Calibri"/>
            </a:endParaRPr>
          </a:p>
        </p:txBody>
      </p:sp>
      <p:sp>
        <p:nvSpPr>
          <p:cNvPr id="404" name="Google Shape;404;p35"/>
          <p:cNvSpPr/>
          <p:nvPr/>
        </p:nvSpPr>
        <p:spPr>
          <a:xfrm>
            <a:off x="304800" y="5715000"/>
            <a:ext cx="8458200" cy="990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a:t>
            </a:r>
            <a:r>
              <a:rPr b="0" i="0" lang="en-US" sz="2300" u="none" cap="none" strike="noStrike">
                <a:solidFill>
                  <a:schemeClr val="dk1"/>
                </a:solidFill>
                <a:latin typeface="Calibri"/>
                <a:ea typeface="Calibri"/>
                <a:cs typeface="Calibri"/>
                <a:sym typeface="Calibri"/>
              </a:rPr>
              <a:t>The teacher explained that the Mean Percentage Score (MPS) of high school students in English was lowest than  the previous years.</a:t>
            </a:r>
            <a:endParaRPr b="0" i="0" sz="2300" u="none" cap="none" strike="noStrike">
              <a:solidFill>
                <a:schemeClr val="dk1"/>
              </a:solidFill>
              <a:latin typeface="Calibri"/>
              <a:ea typeface="Calibri"/>
              <a:cs typeface="Calibri"/>
              <a:sym typeface="Calibri"/>
            </a:endParaRPr>
          </a:p>
        </p:txBody>
      </p:sp>
      <p:pic>
        <p:nvPicPr>
          <p:cNvPr descr="AG00051_" id="405" name="Google Shape;405;p35"/>
          <p:cNvPicPr preferRelativeResize="0"/>
          <p:nvPr/>
        </p:nvPicPr>
        <p:blipFill rotWithShape="1">
          <a:blip r:embed="rId3">
            <a:alphaModFix/>
          </a:blip>
          <a:srcRect b="0" l="0" r="0" t="0"/>
          <a:stretch/>
        </p:blipFill>
        <p:spPr>
          <a:xfrm>
            <a:off x="0" y="190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74f74c63b2_0_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11" name="Google Shape;411;g374f74c63b2_0_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6"/>
          <p:cNvSpPr txBox="1"/>
          <p:nvPr>
            <p:ph type="title"/>
          </p:nvPr>
        </p:nvSpPr>
        <p:spPr>
          <a:xfrm>
            <a:off x="457200" y="274638"/>
            <a:ext cx="8229600" cy="2011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i="1" lang="en-US" sz="3600"/>
              <a:t>“Ang mga mata mo ay tulad ng mga bituin sa kalangitan.”</a:t>
            </a:r>
            <a:br>
              <a:rPr i="1" lang="en-US" sz="3600"/>
            </a:br>
            <a:r>
              <a:rPr lang="en-US" sz="3600"/>
              <a:t>Ano ang ginagamit na pagpapahayag dito?</a:t>
            </a:r>
            <a:endParaRPr sz="3600"/>
          </a:p>
        </p:txBody>
      </p:sp>
      <p:sp>
        <p:nvSpPr>
          <p:cNvPr id="417" name="Google Shape;417;p36"/>
          <p:cNvSpPr/>
          <p:nvPr/>
        </p:nvSpPr>
        <p:spPr>
          <a:xfrm>
            <a:off x="2800350" y="2719754"/>
            <a:ext cx="3429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Pagtutulad</a:t>
            </a:r>
            <a:endParaRPr b="0" i="0" sz="3200" u="none" cap="none" strike="noStrike">
              <a:solidFill>
                <a:schemeClr val="lt1"/>
              </a:solidFill>
              <a:latin typeface="Calibri"/>
              <a:ea typeface="Calibri"/>
              <a:cs typeface="Calibri"/>
              <a:sym typeface="Calibri"/>
            </a:endParaRPr>
          </a:p>
        </p:txBody>
      </p:sp>
      <p:sp>
        <p:nvSpPr>
          <p:cNvPr id="418" name="Google Shape;418;p36"/>
          <p:cNvSpPr/>
          <p:nvPr/>
        </p:nvSpPr>
        <p:spPr>
          <a:xfrm>
            <a:off x="2819400" y="3710354"/>
            <a:ext cx="3429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Personipikasyon</a:t>
            </a:r>
            <a:endParaRPr b="0" i="0" sz="3200" u="none" cap="none" strike="noStrike">
              <a:solidFill>
                <a:schemeClr val="lt1"/>
              </a:solidFill>
              <a:latin typeface="Calibri"/>
              <a:ea typeface="Calibri"/>
              <a:cs typeface="Calibri"/>
              <a:sym typeface="Calibri"/>
            </a:endParaRPr>
          </a:p>
        </p:txBody>
      </p:sp>
      <p:sp>
        <p:nvSpPr>
          <p:cNvPr id="419" name="Google Shape;419;p36"/>
          <p:cNvSpPr/>
          <p:nvPr/>
        </p:nvSpPr>
        <p:spPr>
          <a:xfrm>
            <a:off x="2819400" y="4700954"/>
            <a:ext cx="3429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Pagwawangis</a:t>
            </a:r>
            <a:endParaRPr b="0" i="0" sz="3200" u="none" cap="none" strike="noStrike">
              <a:solidFill>
                <a:schemeClr val="lt1"/>
              </a:solidFill>
              <a:latin typeface="Calibri"/>
              <a:ea typeface="Calibri"/>
              <a:cs typeface="Calibri"/>
              <a:sym typeface="Calibri"/>
            </a:endParaRPr>
          </a:p>
        </p:txBody>
      </p:sp>
      <p:sp>
        <p:nvSpPr>
          <p:cNvPr id="420" name="Google Shape;420;p36"/>
          <p:cNvSpPr/>
          <p:nvPr/>
        </p:nvSpPr>
        <p:spPr>
          <a:xfrm>
            <a:off x="2819400" y="5767754"/>
            <a:ext cx="34290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Pang-uyam</a:t>
            </a:r>
            <a:endParaRPr b="0" i="0" sz="3200" u="none" cap="none" strike="noStrike">
              <a:solidFill>
                <a:srgbClr val="000000"/>
              </a:solidFill>
              <a:latin typeface="Calibri"/>
              <a:ea typeface="Calibri"/>
              <a:cs typeface="Calibri"/>
              <a:sym typeface="Calibri"/>
            </a:endParaRPr>
          </a:p>
        </p:txBody>
      </p:sp>
      <p:pic>
        <p:nvPicPr>
          <p:cNvPr descr="AG00051_" id="421" name="Google Shape;421;p36"/>
          <p:cNvPicPr preferRelativeResize="0"/>
          <p:nvPr/>
        </p:nvPicPr>
        <p:blipFill rotWithShape="1">
          <a:blip r:embed="rId3">
            <a:alphaModFix/>
          </a:blip>
          <a:srcRect b="0" l="0" r="0" t="0"/>
          <a:stretch/>
        </p:blipFill>
        <p:spPr>
          <a:xfrm>
            <a:off x="16764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7"/>
          <p:cNvSpPr txBox="1"/>
          <p:nvPr>
            <p:ph type="title"/>
          </p:nvPr>
        </p:nvSpPr>
        <p:spPr>
          <a:xfrm>
            <a:off x="304800" y="381000"/>
            <a:ext cx="8458200" cy="2133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Huwag limutin ang vernacular. Tutuhing iasimila ito sa pambansang wika sa ikauunlad ng kultura at lahi. Ang ibig sabihin ng iasimila ay ________.</a:t>
            </a:r>
            <a:endParaRPr sz="3600"/>
          </a:p>
        </p:txBody>
      </p:sp>
      <p:sp>
        <p:nvSpPr>
          <p:cNvPr id="427" name="Google Shape;427;p37"/>
          <p:cNvSpPr/>
          <p:nvPr/>
        </p:nvSpPr>
        <p:spPr>
          <a:xfrm>
            <a:off x="2800350" y="2872154"/>
            <a:ext cx="3429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papaunlarin</a:t>
            </a:r>
            <a:endParaRPr b="0" i="0" sz="3200" u="none" cap="none" strike="noStrike">
              <a:solidFill>
                <a:schemeClr val="lt1"/>
              </a:solidFill>
              <a:latin typeface="Calibri"/>
              <a:ea typeface="Calibri"/>
              <a:cs typeface="Calibri"/>
              <a:sym typeface="Calibri"/>
            </a:endParaRPr>
          </a:p>
        </p:txBody>
      </p:sp>
      <p:sp>
        <p:nvSpPr>
          <p:cNvPr id="428" name="Google Shape;428;p37"/>
          <p:cNvSpPr/>
          <p:nvPr/>
        </p:nvSpPr>
        <p:spPr>
          <a:xfrm>
            <a:off x="2819400" y="3862754"/>
            <a:ext cx="3429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papakinabangan</a:t>
            </a:r>
            <a:endParaRPr b="0" i="0" sz="3200" u="none" cap="none" strike="noStrike">
              <a:solidFill>
                <a:schemeClr val="lt1"/>
              </a:solidFill>
              <a:latin typeface="Calibri"/>
              <a:ea typeface="Calibri"/>
              <a:cs typeface="Calibri"/>
              <a:sym typeface="Calibri"/>
            </a:endParaRPr>
          </a:p>
        </p:txBody>
      </p:sp>
      <p:sp>
        <p:nvSpPr>
          <p:cNvPr id="429" name="Google Shape;429;p37"/>
          <p:cNvSpPr/>
          <p:nvPr/>
        </p:nvSpPr>
        <p:spPr>
          <a:xfrm>
            <a:off x="2819400" y="4853354"/>
            <a:ext cx="3429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pagyamanin</a:t>
            </a:r>
            <a:endParaRPr b="0" i="0" sz="3200" u="none" cap="none" strike="noStrike">
              <a:solidFill>
                <a:schemeClr val="lt1"/>
              </a:solidFill>
              <a:latin typeface="Calibri"/>
              <a:ea typeface="Calibri"/>
              <a:cs typeface="Calibri"/>
              <a:sym typeface="Calibri"/>
            </a:endParaRPr>
          </a:p>
        </p:txBody>
      </p:sp>
      <p:sp>
        <p:nvSpPr>
          <p:cNvPr id="430" name="Google Shape;430;p37"/>
          <p:cNvSpPr/>
          <p:nvPr/>
        </p:nvSpPr>
        <p:spPr>
          <a:xfrm>
            <a:off x="2819400" y="5920154"/>
            <a:ext cx="34290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papayabungin</a:t>
            </a:r>
            <a:endParaRPr b="0" i="0" sz="3200" u="none" cap="none" strike="noStrike">
              <a:solidFill>
                <a:srgbClr val="000000"/>
              </a:solidFill>
              <a:latin typeface="Calibri"/>
              <a:ea typeface="Calibri"/>
              <a:cs typeface="Calibri"/>
              <a:sym typeface="Calibri"/>
            </a:endParaRPr>
          </a:p>
        </p:txBody>
      </p:sp>
      <p:pic>
        <p:nvPicPr>
          <p:cNvPr descr="AG00051_" id="431" name="Google Shape;431;p37"/>
          <p:cNvPicPr preferRelativeResize="0"/>
          <p:nvPr/>
        </p:nvPicPr>
        <p:blipFill rotWithShape="1">
          <a:blip r:embed="rId3">
            <a:alphaModFix/>
          </a:blip>
          <a:srcRect b="0" l="0" r="0" t="0"/>
          <a:stretch/>
        </p:blipFill>
        <p:spPr>
          <a:xfrm>
            <a:off x="1752600" y="6019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8"/>
          <p:cNvSpPr txBox="1"/>
          <p:nvPr>
            <p:ph type="title"/>
          </p:nvPr>
        </p:nvSpPr>
        <p:spPr>
          <a:xfrm>
            <a:off x="457200" y="503238"/>
            <a:ext cx="8229600" cy="1858962"/>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Alin ang nagbibigay ng opinion tungkol sa isang napapanahong isyu sa pamamagitan ng larawan?</a:t>
            </a:r>
            <a:endParaRPr sz="3600"/>
          </a:p>
        </p:txBody>
      </p:sp>
      <p:sp>
        <p:nvSpPr>
          <p:cNvPr id="437" name="Google Shape;437;p38"/>
          <p:cNvSpPr/>
          <p:nvPr/>
        </p:nvSpPr>
        <p:spPr>
          <a:xfrm>
            <a:off x="2057400" y="2719754"/>
            <a:ext cx="5029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Kartong pang-editoryal</a:t>
            </a:r>
            <a:endParaRPr b="0" i="0" sz="3200" u="none" cap="none" strike="noStrike">
              <a:solidFill>
                <a:schemeClr val="lt1"/>
              </a:solidFill>
              <a:latin typeface="Calibri"/>
              <a:ea typeface="Calibri"/>
              <a:cs typeface="Calibri"/>
              <a:sym typeface="Calibri"/>
            </a:endParaRPr>
          </a:p>
        </p:txBody>
      </p:sp>
      <p:sp>
        <p:nvSpPr>
          <p:cNvPr id="438" name="Google Shape;438;p38"/>
          <p:cNvSpPr/>
          <p:nvPr/>
        </p:nvSpPr>
        <p:spPr>
          <a:xfrm>
            <a:off x="2057400" y="3710354"/>
            <a:ext cx="5029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Ilustrasyong karikatyur</a:t>
            </a:r>
            <a:endParaRPr b="0" i="0" sz="3200" u="none" cap="none" strike="noStrike">
              <a:solidFill>
                <a:schemeClr val="lt1"/>
              </a:solidFill>
              <a:latin typeface="Calibri"/>
              <a:ea typeface="Calibri"/>
              <a:cs typeface="Calibri"/>
              <a:sym typeface="Calibri"/>
            </a:endParaRPr>
          </a:p>
        </p:txBody>
      </p:sp>
      <p:sp>
        <p:nvSpPr>
          <p:cNvPr id="439" name="Google Shape;439;p38"/>
          <p:cNvSpPr/>
          <p:nvPr/>
        </p:nvSpPr>
        <p:spPr>
          <a:xfrm>
            <a:off x="2057400" y="4700954"/>
            <a:ext cx="5029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Larawan sa unang pahina</a:t>
            </a:r>
            <a:endParaRPr b="0" i="0" sz="3200" u="none" cap="none" strike="noStrike">
              <a:solidFill>
                <a:schemeClr val="lt1"/>
              </a:solidFill>
              <a:latin typeface="Calibri"/>
              <a:ea typeface="Calibri"/>
              <a:cs typeface="Calibri"/>
              <a:sym typeface="Calibri"/>
            </a:endParaRPr>
          </a:p>
        </p:txBody>
      </p:sp>
      <p:sp>
        <p:nvSpPr>
          <p:cNvPr id="440" name="Google Shape;440;p38"/>
          <p:cNvSpPr/>
          <p:nvPr/>
        </p:nvSpPr>
        <p:spPr>
          <a:xfrm>
            <a:off x="2057400" y="5767754"/>
            <a:ext cx="5029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Larawan sa huling pahina</a:t>
            </a:r>
            <a:endParaRPr b="0" i="0" sz="3200" u="none" cap="none" strike="noStrike">
              <a:solidFill>
                <a:srgbClr val="000000"/>
              </a:solidFill>
              <a:latin typeface="Calibri"/>
              <a:ea typeface="Calibri"/>
              <a:cs typeface="Calibri"/>
              <a:sym typeface="Calibri"/>
            </a:endParaRPr>
          </a:p>
        </p:txBody>
      </p:sp>
      <p:pic>
        <p:nvPicPr>
          <p:cNvPr descr="AG00051_" id="441" name="Google Shape;441;p38"/>
          <p:cNvPicPr preferRelativeResize="0"/>
          <p:nvPr/>
        </p:nvPicPr>
        <p:blipFill rotWithShape="1">
          <a:blip r:embed="rId3">
            <a:alphaModFix/>
          </a:blip>
          <a:srcRect b="0" l="0" r="0" t="0"/>
          <a:stretch/>
        </p:blipFill>
        <p:spPr>
          <a:xfrm>
            <a:off x="10668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9"/>
          <p:cNvSpPr txBox="1"/>
          <p:nvPr>
            <p:ph type="title"/>
          </p:nvPr>
        </p:nvSpPr>
        <p:spPr>
          <a:xfrm>
            <a:off x="457200" y="503238"/>
            <a:ext cx="8229600" cy="1477962"/>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Alin ang salawikain sa mga sumusunod:</a:t>
            </a:r>
            <a:endParaRPr sz="3600"/>
          </a:p>
        </p:txBody>
      </p:sp>
      <p:sp>
        <p:nvSpPr>
          <p:cNvPr id="447" name="Google Shape;447;p39"/>
          <p:cNvSpPr/>
          <p:nvPr/>
        </p:nvSpPr>
        <p:spPr>
          <a:xfrm>
            <a:off x="838200" y="2209800"/>
            <a:ext cx="7772400" cy="967154"/>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Calibri"/>
                <a:ea typeface="Calibri"/>
                <a:cs typeface="Calibri"/>
                <a:sym typeface="Calibri"/>
              </a:rPr>
              <a:t>A. May puno walang bunga, may dahon walang sanga.</a:t>
            </a:r>
            <a:endParaRPr b="0" i="0" sz="2600" u="none" cap="none" strike="noStrike">
              <a:solidFill>
                <a:schemeClr val="lt1"/>
              </a:solidFill>
              <a:latin typeface="Calibri"/>
              <a:ea typeface="Calibri"/>
              <a:cs typeface="Calibri"/>
              <a:sym typeface="Calibri"/>
            </a:endParaRPr>
          </a:p>
        </p:txBody>
      </p:sp>
      <p:sp>
        <p:nvSpPr>
          <p:cNvPr id="448" name="Google Shape;448;p39"/>
          <p:cNvSpPr/>
          <p:nvPr/>
        </p:nvSpPr>
        <p:spPr>
          <a:xfrm>
            <a:off x="838200" y="3481754"/>
            <a:ext cx="77724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Di maliparang uwak.</a:t>
            </a:r>
            <a:endParaRPr b="0" i="0" sz="3200" u="none" cap="none" strike="noStrike">
              <a:solidFill>
                <a:schemeClr val="lt1"/>
              </a:solidFill>
              <a:latin typeface="Calibri"/>
              <a:ea typeface="Calibri"/>
              <a:cs typeface="Calibri"/>
              <a:sym typeface="Calibri"/>
            </a:endParaRPr>
          </a:p>
        </p:txBody>
      </p:sp>
      <p:sp>
        <p:nvSpPr>
          <p:cNvPr id="449" name="Google Shape;449;p39"/>
          <p:cNvSpPr/>
          <p:nvPr/>
        </p:nvSpPr>
        <p:spPr>
          <a:xfrm>
            <a:off x="838200" y="4472354"/>
            <a:ext cx="77724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Nagbubuhat ng sariling bangko.</a:t>
            </a:r>
            <a:endParaRPr b="0" i="0" sz="3200" u="none" cap="none" strike="noStrike">
              <a:solidFill>
                <a:schemeClr val="lt1"/>
              </a:solidFill>
              <a:latin typeface="Calibri"/>
              <a:ea typeface="Calibri"/>
              <a:cs typeface="Calibri"/>
              <a:sym typeface="Calibri"/>
            </a:endParaRPr>
          </a:p>
        </p:txBody>
      </p:sp>
      <p:sp>
        <p:nvSpPr>
          <p:cNvPr id="450" name="Google Shape;450;p39"/>
          <p:cNvSpPr/>
          <p:nvPr/>
        </p:nvSpPr>
        <p:spPr>
          <a:xfrm>
            <a:off x="838200" y="5539154"/>
            <a:ext cx="77724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Nasa Diyos ang awa, nasa tao ang gawa.</a:t>
            </a:r>
            <a:endParaRPr b="0" i="0" sz="3200" u="none" cap="none" strike="noStrike">
              <a:solidFill>
                <a:srgbClr val="000000"/>
              </a:solidFill>
              <a:latin typeface="Calibri"/>
              <a:ea typeface="Calibri"/>
              <a:cs typeface="Calibri"/>
              <a:sym typeface="Calibri"/>
            </a:endParaRPr>
          </a:p>
        </p:txBody>
      </p:sp>
      <p:pic>
        <p:nvPicPr>
          <p:cNvPr descr="AG00051_" id="451" name="Google Shape;451;p39"/>
          <p:cNvPicPr preferRelativeResize="0"/>
          <p:nvPr/>
        </p:nvPicPr>
        <p:blipFill rotWithShape="1">
          <a:blip r:embed="rId3">
            <a:alphaModFix/>
          </a:blip>
          <a:srcRect b="0" l="0" r="0" t="0"/>
          <a:stretch/>
        </p:blipFill>
        <p:spPr>
          <a:xfrm>
            <a:off x="228600" y="5638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0"/>
          <p:cNvSpPr txBox="1"/>
          <p:nvPr>
            <p:ph type="title"/>
          </p:nvPr>
        </p:nvSpPr>
        <p:spPr>
          <a:xfrm>
            <a:off x="457200" y="503238"/>
            <a:ext cx="8229600" cy="1477962"/>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“Matagal nang lumagay sa tahimik si Mely.” Ang ibig sabihin ay:</a:t>
            </a:r>
            <a:endParaRPr sz="3600"/>
          </a:p>
        </p:txBody>
      </p:sp>
      <p:sp>
        <p:nvSpPr>
          <p:cNvPr id="457" name="Google Shape;457;p40"/>
          <p:cNvSpPr/>
          <p:nvPr/>
        </p:nvSpPr>
        <p:spPr>
          <a:xfrm>
            <a:off x="2895600" y="2719754"/>
            <a:ext cx="33528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Nanahimik na.</a:t>
            </a:r>
            <a:endParaRPr b="0" i="0" sz="3200" u="none" cap="none" strike="noStrike">
              <a:solidFill>
                <a:schemeClr val="lt1"/>
              </a:solidFill>
              <a:latin typeface="Calibri"/>
              <a:ea typeface="Calibri"/>
              <a:cs typeface="Calibri"/>
              <a:sym typeface="Calibri"/>
            </a:endParaRPr>
          </a:p>
        </p:txBody>
      </p:sp>
      <p:sp>
        <p:nvSpPr>
          <p:cNvPr id="458" name="Google Shape;458;p40"/>
          <p:cNvSpPr/>
          <p:nvPr/>
        </p:nvSpPr>
        <p:spPr>
          <a:xfrm>
            <a:off x="2895600" y="3710354"/>
            <a:ext cx="33528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Nag-asawa na.</a:t>
            </a:r>
            <a:endParaRPr b="0" i="0" sz="3200" u="none" cap="none" strike="noStrike">
              <a:solidFill>
                <a:schemeClr val="lt1"/>
              </a:solidFill>
              <a:latin typeface="Calibri"/>
              <a:ea typeface="Calibri"/>
              <a:cs typeface="Calibri"/>
              <a:sym typeface="Calibri"/>
            </a:endParaRPr>
          </a:p>
        </p:txBody>
      </p:sp>
      <p:sp>
        <p:nvSpPr>
          <p:cNvPr id="459" name="Google Shape;459;p40"/>
          <p:cNvSpPr/>
          <p:nvPr/>
        </p:nvSpPr>
        <p:spPr>
          <a:xfrm>
            <a:off x="2895600" y="4700954"/>
            <a:ext cx="33528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Lumisan na.</a:t>
            </a:r>
            <a:endParaRPr b="0" i="0" sz="3200" u="none" cap="none" strike="noStrike">
              <a:solidFill>
                <a:schemeClr val="lt1"/>
              </a:solidFill>
              <a:latin typeface="Calibri"/>
              <a:ea typeface="Calibri"/>
              <a:cs typeface="Calibri"/>
              <a:sym typeface="Calibri"/>
            </a:endParaRPr>
          </a:p>
        </p:txBody>
      </p:sp>
      <p:sp>
        <p:nvSpPr>
          <p:cNvPr id="460" name="Google Shape;460;p40"/>
          <p:cNvSpPr/>
          <p:nvPr/>
        </p:nvSpPr>
        <p:spPr>
          <a:xfrm>
            <a:off x="2895600" y="5767754"/>
            <a:ext cx="33528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Namatay na.</a:t>
            </a:r>
            <a:endParaRPr b="0" i="0" sz="3200" u="none" cap="none" strike="noStrike">
              <a:solidFill>
                <a:srgbClr val="000000"/>
              </a:solidFill>
              <a:latin typeface="Calibri"/>
              <a:ea typeface="Calibri"/>
              <a:cs typeface="Calibri"/>
              <a:sym typeface="Calibri"/>
            </a:endParaRPr>
          </a:p>
        </p:txBody>
      </p:sp>
      <p:pic>
        <p:nvPicPr>
          <p:cNvPr descr="AG00051_" id="461" name="Google Shape;461;p40"/>
          <p:cNvPicPr preferRelativeResize="0"/>
          <p:nvPr/>
        </p:nvPicPr>
        <p:blipFill rotWithShape="1">
          <a:blip r:embed="rId3">
            <a:alphaModFix/>
          </a:blip>
          <a:srcRect b="0" l="0" r="0" t="0"/>
          <a:stretch/>
        </p:blipFill>
        <p:spPr>
          <a:xfrm>
            <a:off x="19050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1"/>
          <p:cNvSpPr txBox="1"/>
          <p:nvPr>
            <p:ph type="title"/>
          </p:nvPr>
        </p:nvSpPr>
        <p:spPr>
          <a:xfrm>
            <a:off x="457200" y="503238"/>
            <a:ext cx="8229600" cy="2011362"/>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Sa taas ng mga bilihin ngayon, kahit “kahig ka ng kahig” ay wala pa ring maipon. Ano ang ibig sabihin nito?</a:t>
            </a:r>
            <a:endParaRPr sz="3600"/>
          </a:p>
        </p:txBody>
      </p:sp>
      <p:sp>
        <p:nvSpPr>
          <p:cNvPr id="467" name="Google Shape;467;p41"/>
          <p:cNvSpPr/>
          <p:nvPr/>
        </p:nvSpPr>
        <p:spPr>
          <a:xfrm>
            <a:off x="2743200" y="2719754"/>
            <a:ext cx="3657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Hindi bumili</a:t>
            </a:r>
            <a:endParaRPr b="0" i="0" sz="3200" u="none" cap="none" strike="noStrike">
              <a:solidFill>
                <a:schemeClr val="lt1"/>
              </a:solidFill>
              <a:latin typeface="Calibri"/>
              <a:ea typeface="Calibri"/>
              <a:cs typeface="Calibri"/>
              <a:sym typeface="Calibri"/>
            </a:endParaRPr>
          </a:p>
        </p:txBody>
      </p:sp>
      <p:sp>
        <p:nvSpPr>
          <p:cNvPr id="468" name="Google Shape;468;p41"/>
          <p:cNvSpPr/>
          <p:nvPr/>
        </p:nvSpPr>
        <p:spPr>
          <a:xfrm>
            <a:off x="2743200" y="3710354"/>
            <a:ext cx="3657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Hanap ng hanap</a:t>
            </a:r>
            <a:endParaRPr b="0" i="0" sz="3200" u="none" cap="none" strike="noStrike">
              <a:solidFill>
                <a:schemeClr val="lt1"/>
              </a:solidFill>
              <a:latin typeface="Calibri"/>
              <a:ea typeface="Calibri"/>
              <a:cs typeface="Calibri"/>
              <a:sym typeface="Calibri"/>
            </a:endParaRPr>
          </a:p>
        </p:txBody>
      </p:sp>
      <p:sp>
        <p:nvSpPr>
          <p:cNvPr id="469" name="Google Shape;469;p41"/>
          <p:cNvSpPr/>
          <p:nvPr/>
        </p:nvSpPr>
        <p:spPr>
          <a:xfrm>
            <a:off x="2743200" y="4700954"/>
            <a:ext cx="3657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Bawasan ang bili</a:t>
            </a:r>
            <a:endParaRPr b="0" i="0" sz="3200" u="none" cap="none" strike="noStrike">
              <a:solidFill>
                <a:schemeClr val="lt1"/>
              </a:solidFill>
              <a:latin typeface="Calibri"/>
              <a:ea typeface="Calibri"/>
              <a:cs typeface="Calibri"/>
              <a:sym typeface="Calibri"/>
            </a:endParaRPr>
          </a:p>
        </p:txBody>
      </p:sp>
      <p:sp>
        <p:nvSpPr>
          <p:cNvPr id="470" name="Google Shape;470;p41"/>
          <p:cNvSpPr/>
          <p:nvPr/>
        </p:nvSpPr>
        <p:spPr>
          <a:xfrm>
            <a:off x="2743200" y="5767754"/>
            <a:ext cx="36576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Gastos ng gastos</a:t>
            </a:r>
            <a:endParaRPr b="0" i="0" sz="3200" u="none" cap="none" strike="noStrike">
              <a:solidFill>
                <a:srgbClr val="000000"/>
              </a:solidFill>
              <a:latin typeface="Calibri"/>
              <a:ea typeface="Calibri"/>
              <a:cs typeface="Calibri"/>
              <a:sym typeface="Calibri"/>
            </a:endParaRPr>
          </a:p>
        </p:txBody>
      </p:sp>
      <p:pic>
        <p:nvPicPr>
          <p:cNvPr descr="AG00051_" id="471" name="Google Shape;471;p41"/>
          <p:cNvPicPr preferRelativeResize="0"/>
          <p:nvPr/>
        </p:nvPicPr>
        <p:blipFill rotWithShape="1">
          <a:blip r:embed="rId3">
            <a:alphaModFix/>
          </a:blip>
          <a:srcRect b="0" l="0" r="0" t="0"/>
          <a:stretch/>
        </p:blipFill>
        <p:spPr>
          <a:xfrm>
            <a:off x="1752600" y="3810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2"/>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Anong bahagi ng pananalita ang nasa malaking titik?</a:t>
            </a:r>
            <a:br>
              <a:rPr lang="en-US" sz="3600"/>
            </a:br>
            <a:r>
              <a:rPr lang="en-US" sz="3600"/>
              <a:t>Malungkot ANG MGA nagtapos na wala pang trabaho.</a:t>
            </a:r>
            <a:endParaRPr sz="3600"/>
          </a:p>
        </p:txBody>
      </p:sp>
      <p:sp>
        <p:nvSpPr>
          <p:cNvPr id="477" name="Google Shape;477;p42"/>
          <p:cNvSpPr/>
          <p:nvPr/>
        </p:nvSpPr>
        <p:spPr>
          <a:xfrm>
            <a:off x="3200400" y="2743200"/>
            <a:ext cx="2743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Pananda</a:t>
            </a:r>
            <a:endParaRPr b="0" i="0" sz="3200" u="none" cap="none" strike="noStrike">
              <a:solidFill>
                <a:schemeClr val="lt1"/>
              </a:solidFill>
              <a:latin typeface="Calibri"/>
              <a:ea typeface="Calibri"/>
              <a:cs typeface="Calibri"/>
              <a:sym typeface="Calibri"/>
            </a:endParaRPr>
          </a:p>
        </p:txBody>
      </p:sp>
      <p:sp>
        <p:nvSpPr>
          <p:cNvPr id="478" name="Google Shape;478;p42"/>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Parirala</a:t>
            </a:r>
            <a:endParaRPr b="0" i="0" sz="3200" u="none" cap="none" strike="noStrike">
              <a:solidFill>
                <a:schemeClr val="lt1"/>
              </a:solidFill>
              <a:latin typeface="Calibri"/>
              <a:ea typeface="Calibri"/>
              <a:cs typeface="Calibri"/>
              <a:sym typeface="Calibri"/>
            </a:endParaRPr>
          </a:p>
        </p:txBody>
      </p:sp>
      <p:sp>
        <p:nvSpPr>
          <p:cNvPr id="479" name="Google Shape;479;p42"/>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Pang-ukol</a:t>
            </a:r>
            <a:endParaRPr b="0" i="0" sz="3200" u="none" cap="none" strike="noStrike">
              <a:solidFill>
                <a:schemeClr val="lt1"/>
              </a:solidFill>
              <a:latin typeface="Calibri"/>
              <a:ea typeface="Calibri"/>
              <a:cs typeface="Calibri"/>
              <a:sym typeface="Calibri"/>
            </a:endParaRPr>
          </a:p>
        </p:txBody>
      </p:sp>
      <p:sp>
        <p:nvSpPr>
          <p:cNvPr id="480" name="Google Shape;480;p42"/>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Pangatnig</a:t>
            </a:r>
            <a:endParaRPr b="0" i="0" sz="3200" u="none" cap="none" strike="noStrike">
              <a:solidFill>
                <a:srgbClr val="000000"/>
              </a:solidFill>
              <a:latin typeface="Calibri"/>
              <a:ea typeface="Calibri"/>
              <a:cs typeface="Calibri"/>
              <a:sym typeface="Calibri"/>
            </a:endParaRPr>
          </a:p>
        </p:txBody>
      </p:sp>
      <p:pic>
        <p:nvPicPr>
          <p:cNvPr descr="AG00051_" id="481" name="Google Shape;481;p42"/>
          <p:cNvPicPr preferRelativeResize="0"/>
          <p:nvPr/>
        </p:nvPicPr>
        <p:blipFill rotWithShape="1">
          <a:blip r:embed="rId3">
            <a:alphaModFix/>
          </a:blip>
          <a:srcRect b="0" l="0" r="0" t="0"/>
          <a:stretch/>
        </p:blipFill>
        <p:spPr>
          <a:xfrm>
            <a:off x="22860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3"/>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“Kung anong bukambibig siyang laman ng dibdib.” Ito ay isang uri ng _________.</a:t>
            </a:r>
            <a:endParaRPr sz="3600"/>
          </a:p>
        </p:txBody>
      </p:sp>
      <p:sp>
        <p:nvSpPr>
          <p:cNvPr id="487" name="Google Shape;487;p43"/>
          <p:cNvSpPr/>
          <p:nvPr/>
        </p:nvSpPr>
        <p:spPr>
          <a:xfrm>
            <a:off x="3200400" y="2743200"/>
            <a:ext cx="2743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tula</a:t>
            </a:r>
            <a:endParaRPr b="0" i="0" sz="3200" u="none" cap="none" strike="noStrike">
              <a:solidFill>
                <a:schemeClr val="lt1"/>
              </a:solidFill>
              <a:latin typeface="Calibri"/>
              <a:ea typeface="Calibri"/>
              <a:cs typeface="Calibri"/>
              <a:sym typeface="Calibri"/>
            </a:endParaRPr>
          </a:p>
        </p:txBody>
      </p:sp>
      <p:sp>
        <p:nvSpPr>
          <p:cNvPr id="488" name="Google Shape;488;p43"/>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tugmaan</a:t>
            </a:r>
            <a:endParaRPr b="0" i="0" sz="3200" u="none" cap="none" strike="noStrike">
              <a:solidFill>
                <a:schemeClr val="lt1"/>
              </a:solidFill>
              <a:latin typeface="Calibri"/>
              <a:ea typeface="Calibri"/>
              <a:cs typeface="Calibri"/>
              <a:sym typeface="Calibri"/>
            </a:endParaRPr>
          </a:p>
        </p:txBody>
      </p:sp>
      <p:sp>
        <p:nvSpPr>
          <p:cNvPr id="489" name="Google Shape;489;p43"/>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bugtong</a:t>
            </a:r>
            <a:endParaRPr b="0" i="0" sz="3200" u="none" cap="none" strike="noStrike">
              <a:solidFill>
                <a:schemeClr val="lt1"/>
              </a:solidFill>
              <a:latin typeface="Calibri"/>
              <a:ea typeface="Calibri"/>
              <a:cs typeface="Calibri"/>
              <a:sym typeface="Calibri"/>
            </a:endParaRPr>
          </a:p>
        </p:txBody>
      </p:sp>
      <p:sp>
        <p:nvSpPr>
          <p:cNvPr id="490" name="Google Shape;490;p43"/>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salawikain</a:t>
            </a:r>
            <a:endParaRPr b="0" i="0" sz="3200" u="none" cap="none" strike="noStrike">
              <a:solidFill>
                <a:srgbClr val="000000"/>
              </a:solidFill>
              <a:latin typeface="Calibri"/>
              <a:ea typeface="Calibri"/>
              <a:cs typeface="Calibri"/>
              <a:sym typeface="Calibri"/>
            </a:endParaRPr>
          </a:p>
        </p:txBody>
      </p:sp>
      <p:pic>
        <p:nvPicPr>
          <p:cNvPr descr="AG00051_" id="491" name="Google Shape;491;p43"/>
          <p:cNvPicPr preferRelativeResize="0"/>
          <p:nvPr/>
        </p:nvPicPr>
        <p:blipFill rotWithShape="1">
          <a:blip r:embed="rId3">
            <a:alphaModFix/>
          </a:blip>
          <a:srcRect b="0" l="0" r="0" t="0"/>
          <a:stretch/>
        </p:blipFill>
        <p:spPr>
          <a:xfrm>
            <a:off x="2214546" y="39147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4"/>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Ano ang kahulugan ng tagbising panahon?</a:t>
            </a:r>
            <a:endParaRPr sz="3600"/>
          </a:p>
        </p:txBody>
      </p:sp>
      <p:sp>
        <p:nvSpPr>
          <p:cNvPr id="497" name="Google Shape;497;p44"/>
          <p:cNvSpPr/>
          <p:nvPr/>
        </p:nvSpPr>
        <p:spPr>
          <a:xfrm>
            <a:off x="3200400" y="2743200"/>
            <a:ext cx="2743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tag-ulan</a:t>
            </a:r>
            <a:endParaRPr b="0" i="0" sz="3200" u="none" cap="none" strike="noStrike">
              <a:solidFill>
                <a:schemeClr val="lt1"/>
              </a:solidFill>
              <a:latin typeface="Calibri"/>
              <a:ea typeface="Calibri"/>
              <a:cs typeface="Calibri"/>
              <a:sym typeface="Calibri"/>
            </a:endParaRPr>
          </a:p>
        </p:txBody>
      </p:sp>
      <p:sp>
        <p:nvSpPr>
          <p:cNvPr id="498" name="Google Shape;498;p44"/>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tag-init</a:t>
            </a:r>
            <a:endParaRPr b="0" i="0" sz="3200" u="none" cap="none" strike="noStrike">
              <a:solidFill>
                <a:schemeClr val="lt1"/>
              </a:solidFill>
              <a:latin typeface="Calibri"/>
              <a:ea typeface="Calibri"/>
              <a:cs typeface="Calibri"/>
              <a:sym typeface="Calibri"/>
            </a:endParaRPr>
          </a:p>
        </p:txBody>
      </p:sp>
      <p:sp>
        <p:nvSpPr>
          <p:cNvPr id="499" name="Google Shape;499;p44"/>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tag-lamig</a:t>
            </a:r>
            <a:endParaRPr b="0" i="0" sz="3200" u="none" cap="none" strike="noStrike">
              <a:solidFill>
                <a:schemeClr val="lt1"/>
              </a:solidFill>
              <a:latin typeface="Calibri"/>
              <a:ea typeface="Calibri"/>
              <a:cs typeface="Calibri"/>
              <a:sym typeface="Calibri"/>
            </a:endParaRPr>
          </a:p>
        </p:txBody>
      </p:sp>
      <p:sp>
        <p:nvSpPr>
          <p:cNvPr id="500" name="Google Shape;500;p44"/>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tag-tuyot</a:t>
            </a:r>
            <a:endParaRPr b="0" i="0" sz="3200" u="none" cap="none" strike="noStrike">
              <a:solidFill>
                <a:srgbClr val="000000"/>
              </a:solidFill>
              <a:latin typeface="Calibri"/>
              <a:ea typeface="Calibri"/>
              <a:cs typeface="Calibri"/>
              <a:sym typeface="Calibri"/>
            </a:endParaRPr>
          </a:p>
        </p:txBody>
      </p:sp>
      <p:pic>
        <p:nvPicPr>
          <p:cNvPr descr="AG00051_" id="501" name="Google Shape;501;p44"/>
          <p:cNvPicPr preferRelativeResize="0"/>
          <p:nvPr/>
        </p:nvPicPr>
        <p:blipFill rotWithShape="1">
          <a:blip r:embed="rId3">
            <a:alphaModFix/>
          </a:blip>
          <a:srcRect b="0" l="0" r="0" t="0"/>
          <a:stretch/>
        </p:blipFill>
        <p:spPr>
          <a:xfrm>
            <a:off x="2214546" y="60483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5"/>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Ang salitang apartment ay binubuo ng dalawang klaster. Tukuyin ito.</a:t>
            </a:r>
            <a:endParaRPr sz="3600"/>
          </a:p>
        </p:txBody>
      </p:sp>
      <p:sp>
        <p:nvSpPr>
          <p:cNvPr id="507" name="Google Shape;507;p45"/>
          <p:cNvSpPr/>
          <p:nvPr/>
        </p:nvSpPr>
        <p:spPr>
          <a:xfrm>
            <a:off x="3200400" y="2743200"/>
            <a:ext cx="2286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rt at tm</a:t>
            </a:r>
            <a:endParaRPr b="0" i="0" sz="3200" u="none" cap="none" strike="noStrike">
              <a:solidFill>
                <a:schemeClr val="lt1"/>
              </a:solidFill>
              <a:latin typeface="Calibri"/>
              <a:ea typeface="Calibri"/>
              <a:cs typeface="Calibri"/>
              <a:sym typeface="Calibri"/>
            </a:endParaRPr>
          </a:p>
        </p:txBody>
      </p:sp>
      <p:sp>
        <p:nvSpPr>
          <p:cNvPr id="508" name="Google Shape;508;p45"/>
          <p:cNvSpPr/>
          <p:nvPr/>
        </p:nvSpPr>
        <p:spPr>
          <a:xfrm>
            <a:off x="3200400" y="3710354"/>
            <a:ext cx="2286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pr at tm</a:t>
            </a:r>
            <a:endParaRPr b="0" i="0" sz="3200" u="none" cap="none" strike="noStrike">
              <a:solidFill>
                <a:schemeClr val="lt1"/>
              </a:solidFill>
              <a:latin typeface="Calibri"/>
              <a:ea typeface="Calibri"/>
              <a:cs typeface="Calibri"/>
              <a:sym typeface="Calibri"/>
            </a:endParaRPr>
          </a:p>
        </p:txBody>
      </p:sp>
      <p:sp>
        <p:nvSpPr>
          <p:cNvPr id="509" name="Google Shape;509;p45"/>
          <p:cNvSpPr/>
          <p:nvPr/>
        </p:nvSpPr>
        <p:spPr>
          <a:xfrm>
            <a:off x="3200400" y="4700954"/>
            <a:ext cx="2286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tm at nt</a:t>
            </a:r>
            <a:endParaRPr b="0" i="0" sz="3200" u="none" cap="none" strike="noStrike">
              <a:solidFill>
                <a:schemeClr val="lt1"/>
              </a:solidFill>
              <a:latin typeface="Calibri"/>
              <a:ea typeface="Calibri"/>
              <a:cs typeface="Calibri"/>
              <a:sym typeface="Calibri"/>
            </a:endParaRPr>
          </a:p>
        </p:txBody>
      </p:sp>
      <p:sp>
        <p:nvSpPr>
          <p:cNvPr id="510" name="Google Shape;510;p45"/>
          <p:cNvSpPr/>
          <p:nvPr/>
        </p:nvSpPr>
        <p:spPr>
          <a:xfrm>
            <a:off x="3200400" y="5767754"/>
            <a:ext cx="22860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rt at nt</a:t>
            </a:r>
            <a:endParaRPr b="0" i="0" sz="3200" u="none" cap="none" strike="noStrike">
              <a:solidFill>
                <a:srgbClr val="000000"/>
              </a:solidFill>
              <a:latin typeface="Calibri"/>
              <a:ea typeface="Calibri"/>
              <a:cs typeface="Calibri"/>
              <a:sym typeface="Calibri"/>
            </a:endParaRPr>
          </a:p>
        </p:txBody>
      </p:sp>
      <p:pic>
        <p:nvPicPr>
          <p:cNvPr descr="AG00051_" id="511" name="Google Shape;511;p45"/>
          <p:cNvPicPr preferRelativeResize="0"/>
          <p:nvPr/>
        </p:nvPicPr>
        <p:blipFill rotWithShape="1">
          <a:blip r:embed="rId3">
            <a:alphaModFix/>
          </a:blip>
          <a:srcRect b="0" l="0" r="0" t="0"/>
          <a:stretch/>
        </p:blipFill>
        <p:spPr>
          <a:xfrm>
            <a:off x="21336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6"/>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Ang butong tinangay ng aso walang pagsalang nalawayan nito. Ang kaisipang ito ay tumutukoy sa katotohanan ng:</a:t>
            </a:r>
            <a:endParaRPr sz="3600"/>
          </a:p>
        </p:txBody>
      </p:sp>
      <p:sp>
        <p:nvSpPr>
          <p:cNvPr id="517" name="Google Shape;517;p46"/>
          <p:cNvSpPr/>
          <p:nvPr/>
        </p:nvSpPr>
        <p:spPr>
          <a:xfrm>
            <a:off x="2628900" y="2842846"/>
            <a:ext cx="3886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pagnanakaw</a:t>
            </a:r>
            <a:endParaRPr b="0" i="0" sz="3200" u="none" cap="none" strike="noStrike">
              <a:solidFill>
                <a:schemeClr val="lt1"/>
              </a:solidFill>
              <a:latin typeface="Calibri"/>
              <a:ea typeface="Calibri"/>
              <a:cs typeface="Calibri"/>
              <a:sym typeface="Calibri"/>
            </a:endParaRPr>
          </a:p>
        </p:txBody>
      </p:sp>
      <p:sp>
        <p:nvSpPr>
          <p:cNvPr id="518" name="Google Shape;518;p46"/>
          <p:cNvSpPr/>
          <p:nvPr/>
        </p:nvSpPr>
        <p:spPr>
          <a:xfrm>
            <a:off x="2590800" y="3810000"/>
            <a:ext cx="3886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pakikipagkaibigan</a:t>
            </a:r>
            <a:endParaRPr b="0" i="0" sz="3200" u="none" cap="none" strike="noStrike">
              <a:solidFill>
                <a:schemeClr val="lt1"/>
              </a:solidFill>
              <a:latin typeface="Calibri"/>
              <a:ea typeface="Calibri"/>
              <a:cs typeface="Calibri"/>
              <a:sym typeface="Calibri"/>
            </a:endParaRPr>
          </a:p>
        </p:txBody>
      </p:sp>
      <p:sp>
        <p:nvSpPr>
          <p:cNvPr id="519" name="Google Shape;519;p46"/>
          <p:cNvSpPr/>
          <p:nvPr/>
        </p:nvSpPr>
        <p:spPr>
          <a:xfrm>
            <a:off x="2590800" y="4800600"/>
            <a:ext cx="3886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pagpapakain</a:t>
            </a:r>
            <a:endParaRPr b="0" i="0" sz="3200" u="none" cap="none" strike="noStrike">
              <a:solidFill>
                <a:schemeClr val="lt1"/>
              </a:solidFill>
              <a:latin typeface="Calibri"/>
              <a:ea typeface="Calibri"/>
              <a:cs typeface="Calibri"/>
              <a:sym typeface="Calibri"/>
            </a:endParaRPr>
          </a:p>
        </p:txBody>
      </p:sp>
      <p:sp>
        <p:nvSpPr>
          <p:cNvPr id="520" name="Google Shape;520;p46"/>
          <p:cNvSpPr/>
          <p:nvPr/>
        </p:nvSpPr>
        <p:spPr>
          <a:xfrm>
            <a:off x="2590800" y="5767754"/>
            <a:ext cx="3886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pagtatanan</a:t>
            </a:r>
            <a:endParaRPr b="0" i="0" sz="3200" u="none" cap="none" strike="noStrike">
              <a:solidFill>
                <a:srgbClr val="000000"/>
              </a:solidFill>
              <a:latin typeface="Calibri"/>
              <a:ea typeface="Calibri"/>
              <a:cs typeface="Calibri"/>
              <a:sym typeface="Calibri"/>
            </a:endParaRPr>
          </a:p>
        </p:txBody>
      </p:sp>
      <p:pic>
        <p:nvPicPr>
          <p:cNvPr descr="AG00051_" id="521" name="Google Shape;521;p46"/>
          <p:cNvPicPr preferRelativeResize="0"/>
          <p:nvPr/>
        </p:nvPicPr>
        <p:blipFill rotWithShape="1">
          <a:blip r:embed="rId3">
            <a:alphaModFix/>
          </a:blip>
          <a:srcRect b="0" l="0" r="0" t="0"/>
          <a:stretch/>
        </p:blipFill>
        <p:spPr>
          <a:xfrm>
            <a:off x="15240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7"/>
          <p:cNvSpPr txBox="1"/>
          <p:nvPr>
            <p:ph type="title"/>
          </p:nvPr>
        </p:nvSpPr>
        <p:spPr>
          <a:xfrm>
            <a:off x="457200" y="381000"/>
            <a:ext cx="8229600" cy="2133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Alin sa mga ito ang nagpapahayag sa paraang organisado at artistiko maging tuluyan o sa berso na nagmula sa imahinasyon?</a:t>
            </a:r>
            <a:endParaRPr sz="3600"/>
          </a:p>
        </p:txBody>
      </p:sp>
      <p:sp>
        <p:nvSpPr>
          <p:cNvPr id="527" name="Google Shape;527;p47"/>
          <p:cNvSpPr/>
          <p:nvPr/>
        </p:nvSpPr>
        <p:spPr>
          <a:xfrm>
            <a:off x="3314700" y="2895600"/>
            <a:ext cx="2514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panulaan</a:t>
            </a:r>
            <a:endParaRPr b="0" i="0" sz="3200" u="none" cap="none" strike="noStrike">
              <a:solidFill>
                <a:schemeClr val="lt1"/>
              </a:solidFill>
              <a:latin typeface="Calibri"/>
              <a:ea typeface="Calibri"/>
              <a:cs typeface="Calibri"/>
              <a:sym typeface="Calibri"/>
            </a:endParaRPr>
          </a:p>
        </p:txBody>
      </p:sp>
      <p:sp>
        <p:nvSpPr>
          <p:cNvPr id="528" name="Google Shape;528;p47"/>
          <p:cNvSpPr/>
          <p:nvPr/>
        </p:nvSpPr>
        <p:spPr>
          <a:xfrm>
            <a:off x="3276600" y="3862754"/>
            <a:ext cx="2514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epiko</a:t>
            </a:r>
            <a:endParaRPr b="0" i="0" sz="3200" u="none" cap="none" strike="noStrike">
              <a:solidFill>
                <a:schemeClr val="lt1"/>
              </a:solidFill>
              <a:latin typeface="Calibri"/>
              <a:ea typeface="Calibri"/>
              <a:cs typeface="Calibri"/>
              <a:sym typeface="Calibri"/>
            </a:endParaRPr>
          </a:p>
        </p:txBody>
      </p:sp>
      <p:sp>
        <p:nvSpPr>
          <p:cNvPr id="529" name="Google Shape;529;p47"/>
          <p:cNvSpPr/>
          <p:nvPr/>
        </p:nvSpPr>
        <p:spPr>
          <a:xfrm>
            <a:off x="3276600" y="4853354"/>
            <a:ext cx="2514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sanaysay</a:t>
            </a:r>
            <a:endParaRPr b="0" i="0" sz="3200" u="none" cap="none" strike="noStrike">
              <a:solidFill>
                <a:schemeClr val="lt1"/>
              </a:solidFill>
              <a:latin typeface="Calibri"/>
              <a:ea typeface="Calibri"/>
              <a:cs typeface="Calibri"/>
              <a:sym typeface="Calibri"/>
            </a:endParaRPr>
          </a:p>
        </p:txBody>
      </p:sp>
      <p:sp>
        <p:nvSpPr>
          <p:cNvPr id="530" name="Google Shape;530;p47"/>
          <p:cNvSpPr/>
          <p:nvPr/>
        </p:nvSpPr>
        <p:spPr>
          <a:xfrm>
            <a:off x="3276600" y="5920154"/>
            <a:ext cx="25146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panitikan</a:t>
            </a:r>
            <a:endParaRPr b="0" i="0" sz="3200" u="none" cap="none" strike="noStrike">
              <a:solidFill>
                <a:srgbClr val="000000"/>
              </a:solidFill>
              <a:latin typeface="Calibri"/>
              <a:ea typeface="Calibri"/>
              <a:cs typeface="Calibri"/>
              <a:sym typeface="Calibri"/>
            </a:endParaRPr>
          </a:p>
        </p:txBody>
      </p:sp>
      <p:pic>
        <p:nvPicPr>
          <p:cNvPr descr="AG00051_" id="531" name="Google Shape;531;p47"/>
          <p:cNvPicPr preferRelativeResize="0"/>
          <p:nvPr/>
        </p:nvPicPr>
        <p:blipFill rotWithShape="1">
          <a:blip r:embed="rId3">
            <a:alphaModFix/>
          </a:blip>
          <a:srcRect b="0" l="0" r="0" t="0"/>
          <a:stretch/>
        </p:blipFill>
        <p:spPr>
          <a:xfrm>
            <a:off x="2286000" y="5943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9"/>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Mag-aalas singko na _____ umaga _____ magising siya.</a:t>
            </a:r>
            <a:endParaRPr sz="3600"/>
          </a:p>
        </p:txBody>
      </p:sp>
      <p:sp>
        <p:nvSpPr>
          <p:cNvPr id="537" name="Google Shape;537;p49"/>
          <p:cNvSpPr/>
          <p:nvPr/>
        </p:nvSpPr>
        <p:spPr>
          <a:xfrm>
            <a:off x="3238500" y="2743200"/>
            <a:ext cx="2667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ng-nang</a:t>
            </a:r>
            <a:endParaRPr b="0" i="0" sz="3200" u="none" cap="none" strike="noStrike">
              <a:solidFill>
                <a:schemeClr val="lt1"/>
              </a:solidFill>
              <a:latin typeface="Calibri"/>
              <a:ea typeface="Calibri"/>
              <a:cs typeface="Calibri"/>
              <a:sym typeface="Calibri"/>
            </a:endParaRPr>
          </a:p>
        </p:txBody>
      </p:sp>
      <p:sp>
        <p:nvSpPr>
          <p:cNvPr id="538" name="Google Shape;538;p49"/>
          <p:cNvSpPr/>
          <p:nvPr/>
        </p:nvSpPr>
        <p:spPr>
          <a:xfrm>
            <a:off x="3200400" y="3710354"/>
            <a:ext cx="2667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nang-kapag</a:t>
            </a:r>
            <a:endParaRPr b="0" i="0" sz="3200" u="none" cap="none" strike="noStrike">
              <a:solidFill>
                <a:schemeClr val="lt1"/>
              </a:solidFill>
              <a:latin typeface="Calibri"/>
              <a:ea typeface="Calibri"/>
              <a:cs typeface="Calibri"/>
              <a:sym typeface="Calibri"/>
            </a:endParaRPr>
          </a:p>
        </p:txBody>
      </p:sp>
      <p:sp>
        <p:nvSpPr>
          <p:cNvPr id="539" name="Google Shape;539;p49"/>
          <p:cNvSpPr/>
          <p:nvPr/>
        </p:nvSpPr>
        <p:spPr>
          <a:xfrm>
            <a:off x="3200400" y="4700954"/>
            <a:ext cx="2667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nang-nang</a:t>
            </a:r>
            <a:endParaRPr b="0" i="0" sz="3200" u="none" cap="none" strike="noStrike">
              <a:solidFill>
                <a:schemeClr val="lt1"/>
              </a:solidFill>
              <a:latin typeface="Calibri"/>
              <a:ea typeface="Calibri"/>
              <a:cs typeface="Calibri"/>
              <a:sym typeface="Calibri"/>
            </a:endParaRPr>
          </a:p>
        </p:txBody>
      </p:sp>
      <p:sp>
        <p:nvSpPr>
          <p:cNvPr id="540" name="Google Shape;540;p49"/>
          <p:cNvSpPr/>
          <p:nvPr/>
        </p:nvSpPr>
        <p:spPr>
          <a:xfrm>
            <a:off x="3200400" y="5767754"/>
            <a:ext cx="26670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ng-at</a:t>
            </a:r>
            <a:endParaRPr b="0" i="0" sz="3200" u="none" cap="none" strike="noStrike">
              <a:solidFill>
                <a:srgbClr val="000000"/>
              </a:solidFill>
              <a:latin typeface="Calibri"/>
              <a:ea typeface="Calibri"/>
              <a:cs typeface="Calibri"/>
              <a:sym typeface="Calibri"/>
            </a:endParaRPr>
          </a:p>
        </p:txBody>
      </p:sp>
      <p:pic>
        <p:nvPicPr>
          <p:cNvPr descr="AG00051_" id="541" name="Google Shape;541;p49"/>
          <p:cNvPicPr preferRelativeResize="0"/>
          <p:nvPr/>
        </p:nvPicPr>
        <p:blipFill rotWithShape="1">
          <a:blip r:embed="rId3">
            <a:alphaModFix/>
          </a:blip>
          <a:srcRect b="0" l="0" r="0" t="0"/>
          <a:stretch/>
        </p:blipFill>
        <p:spPr>
          <a:xfrm>
            <a:off x="22098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0"/>
          <p:cNvSpPr txBox="1"/>
          <p:nvPr>
            <p:ph type="title"/>
          </p:nvPr>
        </p:nvSpPr>
        <p:spPr>
          <a:xfrm>
            <a:off x="304800" y="381000"/>
            <a:ext cx="8610600" cy="23622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4000"/>
              <a:buFont typeface="Calibri"/>
              <a:buNone/>
            </a:pPr>
            <a:r>
              <a:rPr lang="en-US" sz="4000"/>
              <a:t>Sino ang nangungusap sa quotation?</a:t>
            </a:r>
            <a:br>
              <a:rPr lang="en-US" sz="4000"/>
            </a:br>
            <a:r>
              <a:rPr i="1" lang="en-US" sz="4000"/>
              <a:t>“Ang pag-ibig ay hindi pag-ibig kapag nagbabago kung nakakakita ng pagbabago.”</a:t>
            </a:r>
            <a:endParaRPr i="1" sz="4000"/>
          </a:p>
        </p:txBody>
      </p:sp>
      <p:sp>
        <p:nvSpPr>
          <p:cNvPr id="547" name="Google Shape;547;p50"/>
          <p:cNvSpPr/>
          <p:nvPr/>
        </p:nvSpPr>
        <p:spPr>
          <a:xfrm>
            <a:off x="2438400" y="3124200"/>
            <a:ext cx="42672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Genoveva Matute</a:t>
            </a:r>
            <a:endParaRPr b="0" i="0" sz="3200" u="none" cap="none" strike="noStrike">
              <a:solidFill>
                <a:schemeClr val="lt1"/>
              </a:solidFill>
              <a:latin typeface="Calibri"/>
              <a:ea typeface="Calibri"/>
              <a:cs typeface="Calibri"/>
              <a:sym typeface="Calibri"/>
            </a:endParaRPr>
          </a:p>
        </p:txBody>
      </p:sp>
      <p:sp>
        <p:nvSpPr>
          <p:cNvPr id="548" name="Google Shape;548;p50"/>
          <p:cNvSpPr/>
          <p:nvPr/>
        </p:nvSpPr>
        <p:spPr>
          <a:xfrm>
            <a:off x="2438400" y="4038600"/>
            <a:ext cx="42672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William Shakespeare</a:t>
            </a:r>
            <a:endParaRPr b="0" i="0" sz="3200" u="none" cap="none" strike="noStrike">
              <a:solidFill>
                <a:schemeClr val="lt1"/>
              </a:solidFill>
              <a:latin typeface="Calibri"/>
              <a:ea typeface="Calibri"/>
              <a:cs typeface="Calibri"/>
              <a:sym typeface="Calibri"/>
            </a:endParaRPr>
          </a:p>
        </p:txBody>
      </p:sp>
      <p:sp>
        <p:nvSpPr>
          <p:cNvPr id="549" name="Google Shape;549;p50"/>
          <p:cNvSpPr/>
          <p:nvPr/>
        </p:nvSpPr>
        <p:spPr>
          <a:xfrm>
            <a:off x="2438400" y="4953000"/>
            <a:ext cx="42672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Robert Frost</a:t>
            </a:r>
            <a:endParaRPr b="0" i="0" sz="3200" u="none" cap="none" strike="noStrike">
              <a:solidFill>
                <a:schemeClr val="lt1"/>
              </a:solidFill>
              <a:latin typeface="Calibri"/>
              <a:ea typeface="Calibri"/>
              <a:cs typeface="Calibri"/>
              <a:sym typeface="Calibri"/>
            </a:endParaRPr>
          </a:p>
        </p:txBody>
      </p:sp>
      <p:sp>
        <p:nvSpPr>
          <p:cNvPr id="550" name="Google Shape;550;p50"/>
          <p:cNvSpPr/>
          <p:nvPr/>
        </p:nvSpPr>
        <p:spPr>
          <a:xfrm>
            <a:off x="2438400" y="5867400"/>
            <a:ext cx="42672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Jose Rizal</a:t>
            </a:r>
            <a:endParaRPr b="0" i="0" sz="3200" u="none" cap="none" strike="noStrike">
              <a:solidFill>
                <a:schemeClr val="dk1"/>
              </a:solidFill>
              <a:latin typeface="Calibri"/>
              <a:ea typeface="Calibri"/>
              <a:cs typeface="Calibri"/>
              <a:sym typeface="Calibri"/>
            </a:endParaRPr>
          </a:p>
        </p:txBody>
      </p:sp>
      <p:pic>
        <p:nvPicPr>
          <p:cNvPr descr="AG00051_" id="551" name="Google Shape;551;p50"/>
          <p:cNvPicPr preferRelativeResize="0"/>
          <p:nvPr/>
        </p:nvPicPr>
        <p:blipFill rotWithShape="1">
          <a:blip r:embed="rId3">
            <a:alphaModFix/>
          </a:blip>
          <a:srcRect b="0" l="0" r="0" t="0"/>
          <a:stretch/>
        </p:blipFill>
        <p:spPr>
          <a:xfrm>
            <a:off x="1447800" y="3200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Ponema ang tawag sa makabuluhang tunog ng wika. Ilan ang ponema ng Filipino?</a:t>
            </a:r>
            <a:endParaRPr sz="3600"/>
          </a:p>
        </p:txBody>
      </p:sp>
      <p:sp>
        <p:nvSpPr>
          <p:cNvPr id="557" name="Google Shape;557;p51"/>
          <p:cNvSpPr/>
          <p:nvPr/>
        </p:nvSpPr>
        <p:spPr>
          <a:xfrm>
            <a:off x="3657600" y="2743200"/>
            <a:ext cx="1600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28</a:t>
            </a:r>
            <a:endParaRPr b="0" i="0" sz="3200" u="none" cap="none" strike="noStrike">
              <a:solidFill>
                <a:schemeClr val="lt1"/>
              </a:solidFill>
              <a:latin typeface="Calibri"/>
              <a:ea typeface="Calibri"/>
              <a:cs typeface="Calibri"/>
              <a:sym typeface="Calibri"/>
            </a:endParaRPr>
          </a:p>
        </p:txBody>
      </p:sp>
      <p:sp>
        <p:nvSpPr>
          <p:cNvPr id="558" name="Google Shape;558;p51"/>
          <p:cNvSpPr/>
          <p:nvPr/>
        </p:nvSpPr>
        <p:spPr>
          <a:xfrm>
            <a:off x="3657600" y="3710354"/>
            <a:ext cx="1600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31</a:t>
            </a:r>
            <a:endParaRPr b="0" i="0" sz="3200" u="none" cap="none" strike="noStrike">
              <a:solidFill>
                <a:schemeClr val="lt1"/>
              </a:solidFill>
              <a:latin typeface="Calibri"/>
              <a:ea typeface="Calibri"/>
              <a:cs typeface="Calibri"/>
              <a:sym typeface="Calibri"/>
            </a:endParaRPr>
          </a:p>
        </p:txBody>
      </p:sp>
      <p:sp>
        <p:nvSpPr>
          <p:cNvPr id="559" name="Google Shape;559;p51"/>
          <p:cNvSpPr/>
          <p:nvPr/>
        </p:nvSpPr>
        <p:spPr>
          <a:xfrm>
            <a:off x="3657600" y="4700954"/>
            <a:ext cx="1600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20</a:t>
            </a:r>
            <a:endParaRPr b="0" i="0" sz="3200" u="none" cap="none" strike="noStrike">
              <a:solidFill>
                <a:schemeClr val="lt1"/>
              </a:solidFill>
              <a:latin typeface="Calibri"/>
              <a:ea typeface="Calibri"/>
              <a:cs typeface="Calibri"/>
              <a:sym typeface="Calibri"/>
            </a:endParaRPr>
          </a:p>
        </p:txBody>
      </p:sp>
      <p:sp>
        <p:nvSpPr>
          <p:cNvPr id="560" name="Google Shape;560;p51"/>
          <p:cNvSpPr/>
          <p:nvPr/>
        </p:nvSpPr>
        <p:spPr>
          <a:xfrm>
            <a:off x="3657600" y="5767754"/>
            <a:ext cx="1600200" cy="6330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21</a:t>
            </a:r>
            <a:endParaRPr b="0" i="0" sz="3200" u="none" cap="none" strike="noStrike">
              <a:solidFill>
                <a:srgbClr val="000000"/>
              </a:solidFill>
              <a:latin typeface="Calibri"/>
              <a:ea typeface="Calibri"/>
              <a:cs typeface="Calibri"/>
              <a:sym typeface="Calibri"/>
            </a:endParaRPr>
          </a:p>
        </p:txBody>
      </p:sp>
      <p:pic>
        <p:nvPicPr>
          <p:cNvPr descr="AG00051_" id="561" name="Google Shape;561;p51"/>
          <p:cNvPicPr preferRelativeResize="0"/>
          <p:nvPr/>
        </p:nvPicPr>
        <p:blipFill rotWithShape="1">
          <a:blip r:embed="rId3">
            <a:alphaModFix/>
          </a:blip>
          <a:srcRect b="0" l="0" r="0" t="0"/>
          <a:stretch/>
        </p:blipFill>
        <p:spPr>
          <a:xfrm>
            <a:off x="26670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Saan hinango ang mga kwentong tinatawag na parabula?</a:t>
            </a:r>
            <a:endParaRPr sz="3600"/>
          </a:p>
        </p:txBody>
      </p:sp>
      <p:sp>
        <p:nvSpPr>
          <p:cNvPr id="567" name="Google Shape;567;p52"/>
          <p:cNvSpPr/>
          <p:nvPr/>
        </p:nvSpPr>
        <p:spPr>
          <a:xfrm>
            <a:off x="2743200" y="2743200"/>
            <a:ext cx="36576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Mga pinagmulan</a:t>
            </a:r>
            <a:endParaRPr b="0" i="0" sz="3200" u="none" cap="none" strike="noStrike">
              <a:solidFill>
                <a:schemeClr val="lt1"/>
              </a:solidFill>
              <a:latin typeface="Calibri"/>
              <a:ea typeface="Calibri"/>
              <a:cs typeface="Calibri"/>
              <a:sym typeface="Calibri"/>
            </a:endParaRPr>
          </a:p>
        </p:txBody>
      </p:sp>
      <p:sp>
        <p:nvSpPr>
          <p:cNvPr id="568" name="Google Shape;568;p52"/>
          <p:cNvSpPr/>
          <p:nvPr/>
        </p:nvSpPr>
        <p:spPr>
          <a:xfrm>
            <a:off x="2743200" y="3657600"/>
            <a:ext cx="36576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Kasabihan </a:t>
            </a:r>
            <a:endParaRPr b="0" i="0" sz="3200" u="none" cap="none" strike="noStrike">
              <a:solidFill>
                <a:schemeClr val="lt1"/>
              </a:solidFill>
              <a:latin typeface="Calibri"/>
              <a:ea typeface="Calibri"/>
              <a:cs typeface="Calibri"/>
              <a:sym typeface="Calibri"/>
            </a:endParaRPr>
          </a:p>
        </p:txBody>
      </p:sp>
      <p:sp>
        <p:nvSpPr>
          <p:cNvPr id="569" name="Google Shape;569;p52"/>
          <p:cNvSpPr/>
          <p:nvPr/>
        </p:nvSpPr>
        <p:spPr>
          <a:xfrm>
            <a:off x="2743200" y="4572000"/>
            <a:ext cx="36576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Bibliya </a:t>
            </a:r>
            <a:endParaRPr b="0" i="0" sz="3200" u="none" cap="none" strike="noStrike">
              <a:solidFill>
                <a:schemeClr val="lt1"/>
              </a:solidFill>
              <a:latin typeface="Calibri"/>
              <a:ea typeface="Calibri"/>
              <a:cs typeface="Calibri"/>
              <a:sym typeface="Calibri"/>
            </a:endParaRPr>
          </a:p>
        </p:txBody>
      </p:sp>
      <p:sp>
        <p:nvSpPr>
          <p:cNvPr id="570" name="Google Shape;570;p52"/>
          <p:cNvSpPr/>
          <p:nvPr/>
        </p:nvSpPr>
        <p:spPr>
          <a:xfrm>
            <a:off x="2743200" y="5486400"/>
            <a:ext cx="3657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Kwentong bayan</a:t>
            </a:r>
            <a:endParaRPr b="0" i="0" sz="3200" u="none" cap="none" strike="noStrike">
              <a:solidFill>
                <a:schemeClr val="dk1"/>
              </a:solidFill>
              <a:latin typeface="Calibri"/>
              <a:ea typeface="Calibri"/>
              <a:cs typeface="Calibri"/>
              <a:sym typeface="Calibri"/>
            </a:endParaRPr>
          </a:p>
        </p:txBody>
      </p:sp>
      <p:pic>
        <p:nvPicPr>
          <p:cNvPr descr="AG00051_" id="571" name="Google Shape;571;p52"/>
          <p:cNvPicPr preferRelativeResize="0"/>
          <p:nvPr/>
        </p:nvPicPr>
        <p:blipFill rotWithShape="1">
          <a:blip r:embed="rId3">
            <a:alphaModFix/>
          </a:blip>
          <a:srcRect b="0" l="0" r="0" t="0"/>
          <a:stretch/>
        </p:blipFill>
        <p:spPr>
          <a:xfrm>
            <a:off x="1676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Alin dito ang ginagamit sa pagtuturo ng panitikan lalo na sa pagkasunod-sunod ng mga pangyayari sa kwento?</a:t>
            </a:r>
            <a:endParaRPr sz="3600"/>
          </a:p>
        </p:txBody>
      </p:sp>
      <p:sp>
        <p:nvSpPr>
          <p:cNvPr id="577" name="Google Shape;577;p53"/>
          <p:cNvSpPr/>
          <p:nvPr/>
        </p:nvSpPr>
        <p:spPr>
          <a:xfrm>
            <a:off x="2895600" y="2743200"/>
            <a:ext cx="3352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Story grammar</a:t>
            </a:r>
            <a:endParaRPr b="0" i="0" sz="3200" u="none" cap="none" strike="noStrike">
              <a:solidFill>
                <a:schemeClr val="lt1"/>
              </a:solidFill>
              <a:latin typeface="Calibri"/>
              <a:ea typeface="Calibri"/>
              <a:cs typeface="Calibri"/>
              <a:sym typeface="Calibri"/>
            </a:endParaRPr>
          </a:p>
        </p:txBody>
      </p:sp>
      <p:sp>
        <p:nvSpPr>
          <p:cNvPr id="578" name="Google Shape;578;p53"/>
          <p:cNvSpPr/>
          <p:nvPr/>
        </p:nvSpPr>
        <p:spPr>
          <a:xfrm>
            <a:off x="2895600" y="3657600"/>
            <a:ext cx="3352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Decoding</a:t>
            </a:r>
            <a:endParaRPr b="0" i="0" sz="3200" u="none" cap="none" strike="noStrike">
              <a:solidFill>
                <a:schemeClr val="lt1"/>
              </a:solidFill>
              <a:latin typeface="Calibri"/>
              <a:ea typeface="Calibri"/>
              <a:cs typeface="Calibri"/>
              <a:sym typeface="Calibri"/>
            </a:endParaRPr>
          </a:p>
        </p:txBody>
      </p:sp>
      <p:sp>
        <p:nvSpPr>
          <p:cNvPr id="579" name="Google Shape;579;p53"/>
          <p:cNvSpPr/>
          <p:nvPr/>
        </p:nvSpPr>
        <p:spPr>
          <a:xfrm>
            <a:off x="2895600" y="4572000"/>
            <a:ext cx="3352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Character web </a:t>
            </a:r>
            <a:endParaRPr b="0" i="0" sz="3200" u="none" cap="none" strike="noStrike">
              <a:solidFill>
                <a:schemeClr val="lt1"/>
              </a:solidFill>
              <a:latin typeface="Calibri"/>
              <a:ea typeface="Calibri"/>
              <a:cs typeface="Calibri"/>
              <a:sym typeface="Calibri"/>
            </a:endParaRPr>
          </a:p>
        </p:txBody>
      </p:sp>
      <p:sp>
        <p:nvSpPr>
          <p:cNvPr id="580" name="Google Shape;580;p53"/>
          <p:cNvSpPr/>
          <p:nvPr/>
        </p:nvSpPr>
        <p:spPr>
          <a:xfrm>
            <a:off x="2895600" y="5486400"/>
            <a:ext cx="3352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Story frame</a:t>
            </a:r>
            <a:endParaRPr b="0" i="0" sz="3200" u="none" cap="none" strike="noStrike">
              <a:solidFill>
                <a:schemeClr val="dk1"/>
              </a:solidFill>
              <a:latin typeface="Calibri"/>
              <a:ea typeface="Calibri"/>
              <a:cs typeface="Calibri"/>
              <a:sym typeface="Calibri"/>
            </a:endParaRPr>
          </a:p>
        </p:txBody>
      </p:sp>
      <p:pic>
        <p:nvPicPr>
          <p:cNvPr descr="AG00051_" id="581" name="Google Shape;581;p53"/>
          <p:cNvPicPr preferRelativeResize="0"/>
          <p:nvPr/>
        </p:nvPicPr>
        <p:blipFill rotWithShape="1">
          <a:blip r:embed="rId3">
            <a:alphaModFix/>
          </a:blip>
          <a:srcRect b="0" l="0" r="0" t="0"/>
          <a:stretch/>
        </p:blipFill>
        <p:spPr>
          <a:xfrm>
            <a:off x="19050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Alin dito ang gamit sa pagtuturo na replika na yari sa isang tunay o sintetik na material?</a:t>
            </a:r>
            <a:endParaRPr sz="3600"/>
          </a:p>
        </p:txBody>
      </p:sp>
      <p:sp>
        <p:nvSpPr>
          <p:cNvPr id="587" name="Google Shape;587;p54"/>
          <p:cNvSpPr/>
          <p:nvPr/>
        </p:nvSpPr>
        <p:spPr>
          <a:xfrm>
            <a:off x="3200400" y="2743200"/>
            <a:ext cx="27432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dayorama</a:t>
            </a:r>
            <a:endParaRPr b="0" i="0" sz="3200" u="none" cap="none" strike="noStrike">
              <a:solidFill>
                <a:schemeClr val="lt1"/>
              </a:solidFill>
              <a:latin typeface="Calibri"/>
              <a:ea typeface="Calibri"/>
              <a:cs typeface="Calibri"/>
              <a:sym typeface="Calibri"/>
            </a:endParaRPr>
          </a:p>
        </p:txBody>
      </p:sp>
      <p:sp>
        <p:nvSpPr>
          <p:cNvPr id="588" name="Google Shape;588;p54"/>
          <p:cNvSpPr/>
          <p:nvPr/>
        </p:nvSpPr>
        <p:spPr>
          <a:xfrm>
            <a:off x="3200400" y="3657600"/>
            <a:ext cx="27432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ispesimen</a:t>
            </a:r>
            <a:endParaRPr b="0" i="0" sz="3200" u="none" cap="none" strike="noStrike">
              <a:solidFill>
                <a:schemeClr val="lt1"/>
              </a:solidFill>
              <a:latin typeface="Calibri"/>
              <a:ea typeface="Calibri"/>
              <a:cs typeface="Calibri"/>
              <a:sym typeface="Calibri"/>
            </a:endParaRPr>
          </a:p>
        </p:txBody>
      </p:sp>
      <p:sp>
        <p:nvSpPr>
          <p:cNvPr id="589" name="Google Shape;589;p54"/>
          <p:cNvSpPr/>
          <p:nvPr/>
        </p:nvSpPr>
        <p:spPr>
          <a:xfrm>
            <a:off x="3200400" y="4572000"/>
            <a:ext cx="27432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papet</a:t>
            </a:r>
            <a:endParaRPr b="0" i="0" sz="3200" u="none" cap="none" strike="noStrike">
              <a:solidFill>
                <a:schemeClr val="lt1"/>
              </a:solidFill>
              <a:latin typeface="Calibri"/>
              <a:ea typeface="Calibri"/>
              <a:cs typeface="Calibri"/>
              <a:sym typeface="Calibri"/>
            </a:endParaRPr>
          </a:p>
        </p:txBody>
      </p:sp>
      <p:sp>
        <p:nvSpPr>
          <p:cNvPr id="590" name="Google Shape;590;p54"/>
          <p:cNvSpPr/>
          <p:nvPr/>
        </p:nvSpPr>
        <p:spPr>
          <a:xfrm>
            <a:off x="3200400" y="5486400"/>
            <a:ext cx="27432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mock-up</a:t>
            </a:r>
            <a:endParaRPr b="0" i="0" sz="3200" u="none" cap="none" strike="noStrike">
              <a:solidFill>
                <a:schemeClr val="dk1"/>
              </a:solidFill>
              <a:latin typeface="Calibri"/>
              <a:ea typeface="Calibri"/>
              <a:cs typeface="Calibri"/>
              <a:sym typeface="Calibri"/>
            </a:endParaRPr>
          </a:p>
        </p:txBody>
      </p:sp>
      <p:pic>
        <p:nvPicPr>
          <p:cNvPr descr="AG00051_" id="591" name="Google Shape;591;p54"/>
          <p:cNvPicPr preferRelativeResize="0"/>
          <p:nvPr/>
        </p:nvPicPr>
        <p:blipFill rotWithShape="1">
          <a:blip r:embed="rId3">
            <a:alphaModFix/>
          </a:blip>
          <a:srcRect b="0" l="0" r="0" t="0"/>
          <a:stretch/>
        </p:blipFill>
        <p:spPr>
          <a:xfrm>
            <a:off x="2286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Ano ang kahulugan ng idyomang ginamit sa pangungusap na “Marami sa mga magsasaka ang INALAT dahil sa patuloy na pagbuhos ng ulan”?</a:t>
            </a:r>
            <a:endParaRPr sz="3600"/>
          </a:p>
        </p:txBody>
      </p:sp>
      <p:sp>
        <p:nvSpPr>
          <p:cNvPr id="597" name="Google Shape;597;p55"/>
          <p:cNvSpPr/>
          <p:nvPr/>
        </p:nvSpPr>
        <p:spPr>
          <a:xfrm>
            <a:off x="2476500" y="2743200"/>
            <a:ext cx="41910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Nawalan ng pag-asa</a:t>
            </a:r>
            <a:endParaRPr b="0" i="0" sz="3200" u="none" cap="none" strike="noStrike">
              <a:solidFill>
                <a:schemeClr val="lt1"/>
              </a:solidFill>
              <a:latin typeface="Calibri"/>
              <a:ea typeface="Calibri"/>
              <a:cs typeface="Calibri"/>
              <a:sym typeface="Calibri"/>
            </a:endParaRPr>
          </a:p>
        </p:txBody>
      </p:sp>
      <p:sp>
        <p:nvSpPr>
          <p:cNvPr id="598" name="Google Shape;598;p55"/>
          <p:cNvSpPr/>
          <p:nvPr/>
        </p:nvSpPr>
        <p:spPr>
          <a:xfrm>
            <a:off x="2438400" y="3657600"/>
            <a:ext cx="4191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nanibago</a:t>
            </a:r>
            <a:endParaRPr b="0" i="0" sz="3200" u="none" cap="none" strike="noStrike">
              <a:solidFill>
                <a:schemeClr val="lt1"/>
              </a:solidFill>
              <a:latin typeface="Calibri"/>
              <a:ea typeface="Calibri"/>
              <a:cs typeface="Calibri"/>
              <a:sym typeface="Calibri"/>
            </a:endParaRPr>
          </a:p>
        </p:txBody>
      </p:sp>
      <p:sp>
        <p:nvSpPr>
          <p:cNvPr id="599" name="Google Shape;599;p55"/>
          <p:cNvSpPr/>
          <p:nvPr/>
        </p:nvSpPr>
        <p:spPr>
          <a:xfrm>
            <a:off x="2438400" y="4572000"/>
            <a:ext cx="4191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nagalit</a:t>
            </a:r>
            <a:endParaRPr b="0" i="0" sz="3200" u="none" cap="none" strike="noStrike">
              <a:solidFill>
                <a:schemeClr val="lt1"/>
              </a:solidFill>
              <a:latin typeface="Calibri"/>
              <a:ea typeface="Calibri"/>
              <a:cs typeface="Calibri"/>
              <a:sym typeface="Calibri"/>
            </a:endParaRPr>
          </a:p>
        </p:txBody>
      </p:sp>
      <p:sp>
        <p:nvSpPr>
          <p:cNvPr id="600" name="Google Shape;600;p55"/>
          <p:cNvSpPr/>
          <p:nvPr/>
        </p:nvSpPr>
        <p:spPr>
          <a:xfrm>
            <a:off x="2438400" y="5486400"/>
            <a:ext cx="4191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minalas</a:t>
            </a:r>
            <a:endParaRPr b="0" i="0" sz="3200" u="none" cap="none" strike="noStrike">
              <a:solidFill>
                <a:schemeClr val="dk1"/>
              </a:solidFill>
              <a:latin typeface="Calibri"/>
              <a:ea typeface="Calibri"/>
              <a:cs typeface="Calibri"/>
              <a:sym typeface="Calibri"/>
            </a:endParaRPr>
          </a:p>
        </p:txBody>
      </p:sp>
      <p:pic>
        <p:nvPicPr>
          <p:cNvPr descr="AG00051_" id="601" name="Google Shape;601;p55"/>
          <p:cNvPicPr preferRelativeResize="0"/>
          <p:nvPr/>
        </p:nvPicPr>
        <p:blipFill rotWithShape="1">
          <a:blip r:embed="rId3">
            <a:alphaModFix/>
          </a:blip>
          <a:srcRect b="0" l="0" r="0" t="0"/>
          <a:stretch/>
        </p:blipFill>
        <p:spPr>
          <a:xfrm>
            <a:off x="1524000" y="5638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6"/>
          <p:cNvSpPr txBox="1"/>
          <p:nvPr>
            <p:ph type="title"/>
          </p:nvPr>
        </p:nvSpPr>
        <p:spPr>
          <a:xfrm>
            <a:off x="457200" y="503238"/>
            <a:ext cx="8229600" cy="1477962"/>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Mapangarapin ang maliliit! Ang ibig sabihin  ng pahayag na ito ay ang mga taong mahihirap ay __________.</a:t>
            </a:r>
            <a:endParaRPr sz="3600"/>
          </a:p>
        </p:txBody>
      </p:sp>
      <p:sp>
        <p:nvSpPr>
          <p:cNvPr id="607" name="Google Shape;607;p56"/>
          <p:cNvSpPr/>
          <p:nvPr/>
        </p:nvSpPr>
        <p:spPr>
          <a:xfrm>
            <a:off x="914400" y="2438400"/>
            <a:ext cx="7772400" cy="8382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A. Nais umangat sa buhay kaya nakikipagsapalaran</a:t>
            </a:r>
            <a:endParaRPr b="0" i="0" sz="2800" u="none" cap="none" strike="noStrike">
              <a:solidFill>
                <a:schemeClr val="lt1"/>
              </a:solidFill>
              <a:latin typeface="Calibri"/>
              <a:ea typeface="Calibri"/>
              <a:cs typeface="Calibri"/>
              <a:sym typeface="Calibri"/>
            </a:endParaRPr>
          </a:p>
        </p:txBody>
      </p:sp>
      <p:sp>
        <p:nvSpPr>
          <p:cNvPr id="608" name="Google Shape;608;p56"/>
          <p:cNvSpPr/>
          <p:nvPr/>
        </p:nvSpPr>
        <p:spPr>
          <a:xfrm>
            <a:off x="914400" y="3581400"/>
            <a:ext cx="7772400" cy="738554"/>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May pangarap na guminhawa</a:t>
            </a:r>
            <a:endParaRPr b="0" i="0" sz="3200" u="none" cap="none" strike="noStrike">
              <a:solidFill>
                <a:schemeClr val="lt1"/>
              </a:solidFill>
              <a:latin typeface="Calibri"/>
              <a:ea typeface="Calibri"/>
              <a:cs typeface="Calibri"/>
              <a:sym typeface="Calibri"/>
            </a:endParaRPr>
          </a:p>
        </p:txBody>
      </p:sp>
      <p:sp>
        <p:nvSpPr>
          <p:cNvPr id="609" name="Google Shape;609;p56"/>
          <p:cNvSpPr/>
          <p:nvPr/>
        </p:nvSpPr>
        <p:spPr>
          <a:xfrm>
            <a:off x="914400" y="4648200"/>
            <a:ext cx="7772400" cy="861646"/>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Nananaginip ng gising</a:t>
            </a:r>
            <a:endParaRPr b="0" i="0" sz="3200" u="none" cap="none" strike="noStrike">
              <a:solidFill>
                <a:schemeClr val="lt1"/>
              </a:solidFill>
              <a:latin typeface="Calibri"/>
              <a:ea typeface="Calibri"/>
              <a:cs typeface="Calibri"/>
              <a:sym typeface="Calibri"/>
            </a:endParaRPr>
          </a:p>
        </p:txBody>
      </p:sp>
      <p:sp>
        <p:nvSpPr>
          <p:cNvPr id="610" name="Google Shape;610;p56"/>
          <p:cNvSpPr/>
          <p:nvPr/>
        </p:nvSpPr>
        <p:spPr>
          <a:xfrm>
            <a:off x="914400" y="5767754"/>
            <a:ext cx="7772400" cy="709246"/>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Gustong lumipad sa alapaap</a:t>
            </a:r>
            <a:endParaRPr b="0" i="0" sz="3200" u="none" cap="none" strike="noStrike">
              <a:solidFill>
                <a:srgbClr val="000000"/>
              </a:solidFill>
              <a:latin typeface="Calibri"/>
              <a:ea typeface="Calibri"/>
              <a:cs typeface="Calibri"/>
              <a:sym typeface="Calibri"/>
            </a:endParaRPr>
          </a:p>
        </p:txBody>
      </p:sp>
      <p:pic>
        <p:nvPicPr>
          <p:cNvPr descr="AG00051_" id="611" name="Google Shape;611;p56"/>
          <p:cNvPicPr preferRelativeResize="0"/>
          <p:nvPr/>
        </p:nvPicPr>
        <p:blipFill rotWithShape="1">
          <a:blip r:embed="rId3">
            <a:alphaModFix/>
          </a:blip>
          <a:srcRect b="0" l="0" r="0" t="0"/>
          <a:stretch/>
        </p:blipFill>
        <p:spPr>
          <a:xfrm>
            <a:off x="228600" y="2667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5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Aling pamaraan ang ginagamit ng guro na nagsisimula sa mga halimbawa patungo sa paglalahat?</a:t>
            </a:r>
            <a:endParaRPr sz="3600"/>
          </a:p>
        </p:txBody>
      </p:sp>
      <p:sp>
        <p:nvSpPr>
          <p:cNvPr id="617" name="Google Shape;617;p57"/>
          <p:cNvSpPr/>
          <p:nvPr/>
        </p:nvSpPr>
        <p:spPr>
          <a:xfrm>
            <a:off x="3390900" y="2743200"/>
            <a:ext cx="23622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Pabalak </a:t>
            </a:r>
            <a:endParaRPr b="0" i="0" sz="3200" u="none" cap="none" strike="noStrike">
              <a:solidFill>
                <a:schemeClr val="lt1"/>
              </a:solidFill>
              <a:latin typeface="Calibri"/>
              <a:ea typeface="Calibri"/>
              <a:cs typeface="Calibri"/>
              <a:sym typeface="Calibri"/>
            </a:endParaRPr>
          </a:p>
        </p:txBody>
      </p:sp>
      <p:sp>
        <p:nvSpPr>
          <p:cNvPr id="618" name="Google Shape;618;p57"/>
          <p:cNvSpPr/>
          <p:nvPr/>
        </p:nvSpPr>
        <p:spPr>
          <a:xfrm>
            <a:off x="3352800" y="3657600"/>
            <a:ext cx="23622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Pasaklaw</a:t>
            </a:r>
            <a:endParaRPr b="0" i="0" sz="3200" u="none" cap="none" strike="noStrike">
              <a:solidFill>
                <a:schemeClr val="lt1"/>
              </a:solidFill>
              <a:latin typeface="Calibri"/>
              <a:ea typeface="Calibri"/>
              <a:cs typeface="Calibri"/>
              <a:sym typeface="Calibri"/>
            </a:endParaRPr>
          </a:p>
        </p:txBody>
      </p:sp>
      <p:sp>
        <p:nvSpPr>
          <p:cNvPr id="619" name="Google Shape;619;p57"/>
          <p:cNvSpPr/>
          <p:nvPr/>
        </p:nvSpPr>
        <p:spPr>
          <a:xfrm>
            <a:off x="3352800" y="4572000"/>
            <a:ext cx="23622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Patuklas</a:t>
            </a:r>
            <a:endParaRPr b="0" i="0" sz="3200" u="none" cap="none" strike="noStrike">
              <a:solidFill>
                <a:schemeClr val="lt1"/>
              </a:solidFill>
              <a:latin typeface="Calibri"/>
              <a:ea typeface="Calibri"/>
              <a:cs typeface="Calibri"/>
              <a:sym typeface="Calibri"/>
            </a:endParaRPr>
          </a:p>
        </p:txBody>
      </p:sp>
      <p:sp>
        <p:nvSpPr>
          <p:cNvPr id="620" name="Google Shape;620;p57"/>
          <p:cNvSpPr/>
          <p:nvPr/>
        </p:nvSpPr>
        <p:spPr>
          <a:xfrm>
            <a:off x="3352800" y="5486400"/>
            <a:ext cx="23622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Pabuod</a:t>
            </a:r>
            <a:endParaRPr b="0" i="0" sz="3200" u="none" cap="none" strike="noStrike">
              <a:solidFill>
                <a:schemeClr val="dk1"/>
              </a:solidFill>
              <a:latin typeface="Calibri"/>
              <a:ea typeface="Calibri"/>
              <a:cs typeface="Calibri"/>
              <a:sym typeface="Calibri"/>
            </a:endParaRPr>
          </a:p>
        </p:txBody>
      </p:sp>
      <p:pic>
        <p:nvPicPr>
          <p:cNvPr descr="AG00051_" id="621" name="Google Shape;621;p57"/>
          <p:cNvPicPr preferRelativeResize="0"/>
          <p:nvPr/>
        </p:nvPicPr>
        <p:blipFill rotWithShape="1">
          <a:blip r:embed="rId3">
            <a:alphaModFix/>
          </a:blip>
          <a:srcRect b="0" l="0" r="0" t="0"/>
          <a:stretch/>
        </p:blipFill>
        <p:spPr>
          <a:xfrm>
            <a:off x="23622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5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In a certain school, the ratio of boys to girls is 3 to 7. If there are 150 boys and girls in the school, how many boys are there?</a:t>
            </a:r>
            <a:endParaRPr sz="3600"/>
          </a:p>
        </p:txBody>
      </p:sp>
      <p:sp>
        <p:nvSpPr>
          <p:cNvPr id="627" name="Google Shape;627;p58"/>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105</a:t>
            </a:r>
            <a:endParaRPr b="0" i="0" sz="3200" u="none" cap="none" strike="noStrike">
              <a:solidFill>
                <a:schemeClr val="lt1"/>
              </a:solidFill>
              <a:latin typeface="Calibri"/>
              <a:ea typeface="Calibri"/>
              <a:cs typeface="Calibri"/>
              <a:sym typeface="Calibri"/>
            </a:endParaRPr>
          </a:p>
        </p:txBody>
      </p:sp>
      <p:sp>
        <p:nvSpPr>
          <p:cNvPr id="628" name="Google Shape;628;p58"/>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90</a:t>
            </a:r>
            <a:endParaRPr b="0" i="0" sz="3200" u="none" cap="none" strike="noStrike">
              <a:solidFill>
                <a:schemeClr val="lt1"/>
              </a:solidFill>
              <a:latin typeface="Calibri"/>
              <a:ea typeface="Calibri"/>
              <a:cs typeface="Calibri"/>
              <a:sym typeface="Calibri"/>
            </a:endParaRPr>
          </a:p>
        </p:txBody>
      </p:sp>
      <p:sp>
        <p:nvSpPr>
          <p:cNvPr id="629" name="Google Shape;629;p58"/>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45</a:t>
            </a:r>
            <a:endParaRPr b="0" i="0" sz="3200" u="none" cap="none" strike="noStrike">
              <a:solidFill>
                <a:schemeClr val="lt1"/>
              </a:solidFill>
              <a:latin typeface="Calibri"/>
              <a:ea typeface="Calibri"/>
              <a:cs typeface="Calibri"/>
              <a:sym typeface="Calibri"/>
            </a:endParaRPr>
          </a:p>
        </p:txBody>
      </p:sp>
      <p:sp>
        <p:nvSpPr>
          <p:cNvPr id="630" name="Google Shape;630;p58"/>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75</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9"/>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One angle of a parallelogram is 35. What are the measures of the other three angles?</a:t>
            </a:r>
            <a:endParaRPr sz="3600"/>
          </a:p>
        </p:txBody>
      </p:sp>
      <p:sp>
        <p:nvSpPr>
          <p:cNvPr id="636" name="Google Shape;636;p59"/>
          <p:cNvSpPr/>
          <p:nvPr/>
        </p:nvSpPr>
        <p:spPr>
          <a:xfrm>
            <a:off x="2895600" y="2743200"/>
            <a:ext cx="32385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45°, 65°, 170°</a:t>
            </a:r>
            <a:endParaRPr b="0" i="0" sz="3200" u="none" cap="none" strike="noStrike">
              <a:solidFill>
                <a:schemeClr val="lt1"/>
              </a:solidFill>
              <a:latin typeface="Calibri"/>
              <a:ea typeface="Calibri"/>
              <a:cs typeface="Calibri"/>
              <a:sym typeface="Calibri"/>
            </a:endParaRPr>
          </a:p>
        </p:txBody>
      </p:sp>
      <p:sp>
        <p:nvSpPr>
          <p:cNvPr id="637" name="Google Shape;637;p59"/>
          <p:cNvSpPr/>
          <p:nvPr/>
        </p:nvSpPr>
        <p:spPr>
          <a:xfrm>
            <a:off x="2895600" y="3657600"/>
            <a:ext cx="32004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85°, 135°, 140°</a:t>
            </a:r>
            <a:endParaRPr b="0" i="0" sz="3200" u="none" cap="none" strike="noStrike">
              <a:solidFill>
                <a:schemeClr val="lt1"/>
              </a:solidFill>
              <a:latin typeface="Calibri"/>
              <a:ea typeface="Calibri"/>
              <a:cs typeface="Calibri"/>
              <a:sym typeface="Calibri"/>
            </a:endParaRPr>
          </a:p>
        </p:txBody>
      </p:sp>
      <p:sp>
        <p:nvSpPr>
          <p:cNvPr id="638" name="Google Shape;638;p59"/>
          <p:cNvSpPr/>
          <p:nvPr/>
        </p:nvSpPr>
        <p:spPr>
          <a:xfrm>
            <a:off x="2895600" y="4572000"/>
            <a:ext cx="32004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145°, 35°, 145°</a:t>
            </a:r>
            <a:endParaRPr b="0" i="0" sz="3200" u="none" cap="none" strike="noStrike">
              <a:solidFill>
                <a:schemeClr val="lt1"/>
              </a:solidFill>
              <a:latin typeface="Calibri"/>
              <a:ea typeface="Calibri"/>
              <a:cs typeface="Calibri"/>
              <a:sym typeface="Calibri"/>
            </a:endParaRPr>
          </a:p>
        </p:txBody>
      </p:sp>
      <p:sp>
        <p:nvSpPr>
          <p:cNvPr id="639" name="Google Shape;639;p59"/>
          <p:cNvSpPr/>
          <p:nvPr/>
        </p:nvSpPr>
        <p:spPr>
          <a:xfrm>
            <a:off x="2895600" y="5486400"/>
            <a:ext cx="32004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35°, 65°, 65°</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0"/>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The edges of a rectangular solid have these measures: 1.5 ft x ½ ft x 3 inches. What is its volume in cubic inches?</a:t>
            </a:r>
            <a:endParaRPr sz="3600"/>
          </a:p>
        </p:txBody>
      </p:sp>
      <p:sp>
        <p:nvSpPr>
          <p:cNvPr id="645" name="Google Shape;645;p60"/>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324</a:t>
            </a:r>
            <a:endParaRPr b="0" i="0" sz="3200" u="none" cap="none" strike="noStrike">
              <a:solidFill>
                <a:schemeClr val="lt1"/>
              </a:solidFill>
              <a:latin typeface="Calibri"/>
              <a:ea typeface="Calibri"/>
              <a:cs typeface="Calibri"/>
              <a:sym typeface="Calibri"/>
            </a:endParaRPr>
          </a:p>
        </p:txBody>
      </p:sp>
      <p:sp>
        <p:nvSpPr>
          <p:cNvPr id="646" name="Google Shape;646;p60"/>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225</a:t>
            </a:r>
            <a:endParaRPr b="0" i="0" sz="3200" u="none" cap="none" strike="noStrike">
              <a:solidFill>
                <a:schemeClr val="lt1"/>
              </a:solidFill>
              <a:latin typeface="Calibri"/>
              <a:ea typeface="Calibri"/>
              <a:cs typeface="Calibri"/>
              <a:sym typeface="Calibri"/>
            </a:endParaRPr>
          </a:p>
        </p:txBody>
      </p:sp>
      <p:sp>
        <p:nvSpPr>
          <p:cNvPr id="647" name="Google Shape;647;p60"/>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272</a:t>
            </a:r>
            <a:endParaRPr b="0" i="0" sz="3200" u="none" cap="none" strike="noStrike">
              <a:solidFill>
                <a:schemeClr val="lt1"/>
              </a:solidFill>
              <a:latin typeface="Calibri"/>
              <a:ea typeface="Calibri"/>
              <a:cs typeface="Calibri"/>
              <a:sym typeface="Calibri"/>
            </a:endParaRPr>
          </a:p>
        </p:txBody>
      </p:sp>
      <p:sp>
        <p:nvSpPr>
          <p:cNvPr id="648" name="Google Shape;648;p60"/>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27</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 water tank contains 8 liters when it is 20% full. How many liters does it contain when it is 75% full?</a:t>
            </a:r>
            <a:endParaRPr sz="3600"/>
          </a:p>
        </p:txBody>
      </p:sp>
      <p:sp>
        <p:nvSpPr>
          <p:cNvPr id="654" name="Google Shape;654;p61"/>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60</a:t>
            </a:r>
            <a:endParaRPr b="0" i="0" sz="3200" u="none" cap="none" strike="noStrike">
              <a:solidFill>
                <a:schemeClr val="lt1"/>
              </a:solidFill>
              <a:latin typeface="Calibri"/>
              <a:ea typeface="Calibri"/>
              <a:cs typeface="Calibri"/>
              <a:sym typeface="Calibri"/>
            </a:endParaRPr>
          </a:p>
        </p:txBody>
      </p:sp>
      <p:sp>
        <p:nvSpPr>
          <p:cNvPr id="655" name="Google Shape;655;p61"/>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30</a:t>
            </a:r>
            <a:endParaRPr b="0" i="0" sz="3200" u="none" cap="none" strike="noStrike">
              <a:solidFill>
                <a:schemeClr val="lt1"/>
              </a:solidFill>
              <a:latin typeface="Calibri"/>
              <a:ea typeface="Calibri"/>
              <a:cs typeface="Calibri"/>
              <a:sym typeface="Calibri"/>
            </a:endParaRPr>
          </a:p>
        </p:txBody>
      </p:sp>
      <p:sp>
        <p:nvSpPr>
          <p:cNvPr id="656" name="Google Shape;656;p61"/>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58</a:t>
            </a:r>
            <a:endParaRPr b="0" i="0" sz="3200" u="none" cap="none" strike="noStrike">
              <a:solidFill>
                <a:schemeClr val="lt1"/>
              </a:solidFill>
              <a:latin typeface="Calibri"/>
              <a:ea typeface="Calibri"/>
              <a:cs typeface="Calibri"/>
              <a:sym typeface="Calibri"/>
            </a:endParaRPr>
          </a:p>
        </p:txBody>
      </p:sp>
      <p:sp>
        <p:nvSpPr>
          <p:cNvPr id="657" name="Google Shape;657;p61"/>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15</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of the following has the largest value?</a:t>
            </a:r>
            <a:endParaRPr sz="3600"/>
          </a:p>
        </p:txBody>
      </p:sp>
      <p:sp>
        <p:nvSpPr>
          <p:cNvPr id="663" name="Google Shape;663;p62"/>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7</a:t>
            </a:r>
            <a:r>
              <a:rPr b="0" baseline="30000" i="0" lang="en-US" sz="3200" u="none" cap="none" strike="noStrike">
                <a:solidFill>
                  <a:schemeClr val="lt1"/>
                </a:solidFill>
                <a:latin typeface="Calibri"/>
                <a:ea typeface="Calibri"/>
                <a:cs typeface="Calibri"/>
                <a:sym typeface="Calibri"/>
              </a:rPr>
              <a:t>5</a:t>
            </a:r>
            <a:endParaRPr b="0" i="0" sz="3200" u="none" cap="none" strike="noStrike">
              <a:solidFill>
                <a:schemeClr val="lt1"/>
              </a:solidFill>
              <a:latin typeface="Calibri"/>
              <a:ea typeface="Calibri"/>
              <a:cs typeface="Calibri"/>
              <a:sym typeface="Calibri"/>
            </a:endParaRPr>
          </a:p>
        </p:txBody>
      </p:sp>
      <p:sp>
        <p:nvSpPr>
          <p:cNvPr id="664" name="Google Shape;664;p62"/>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3</a:t>
            </a:r>
            <a:r>
              <a:rPr b="0" baseline="30000" i="0" lang="en-US" sz="3200" u="none" cap="none" strike="noStrike">
                <a:solidFill>
                  <a:schemeClr val="lt1"/>
                </a:solidFill>
                <a:latin typeface="Calibri"/>
                <a:ea typeface="Calibri"/>
                <a:cs typeface="Calibri"/>
                <a:sym typeface="Calibri"/>
              </a:rPr>
              <a:t>9</a:t>
            </a:r>
            <a:endParaRPr b="0" i="0" sz="3200" u="none" cap="none" strike="noStrike">
              <a:solidFill>
                <a:schemeClr val="lt1"/>
              </a:solidFill>
              <a:latin typeface="Calibri"/>
              <a:ea typeface="Calibri"/>
              <a:cs typeface="Calibri"/>
              <a:sym typeface="Calibri"/>
            </a:endParaRPr>
          </a:p>
        </p:txBody>
      </p:sp>
      <p:sp>
        <p:nvSpPr>
          <p:cNvPr id="665" name="Google Shape;665;p62"/>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6</a:t>
            </a:r>
            <a:r>
              <a:rPr b="0" baseline="30000" i="0" lang="en-US" sz="3200" u="none" cap="none" strike="noStrike">
                <a:solidFill>
                  <a:schemeClr val="lt1"/>
                </a:solidFill>
                <a:latin typeface="Calibri"/>
                <a:ea typeface="Calibri"/>
                <a:cs typeface="Calibri"/>
                <a:sym typeface="Calibri"/>
              </a:rPr>
              <a:t>4</a:t>
            </a:r>
            <a:endParaRPr b="0" i="0" sz="3200" u="none" cap="none" strike="noStrike">
              <a:solidFill>
                <a:schemeClr val="lt1"/>
              </a:solidFill>
              <a:latin typeface="Calibri"/>
              <a:ea typeface="Calibri"/>
              <a:cs typeface="Calibri"/>
              <a:sym typeface="Calibri"/>
            </a:endParaRPr>
          </a:p>
        </p:txBody>
      </p:sp>
      <p:sp>
        <p:nvSpPr>
          <p:cNvPr id="666" name="Google Shape;666;p62"/>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9</a:t>
            </a:r>
            <a:r>
              <a:rPr b="0" baseline="30000" i="0" lang="en-US" sz="3200" u="none" cap="none" strike="noStrike">
                <a:solidFill>
                  <a:schemeClr val="dk1"/>
                </a:solidFill>
                <a:latin typeface="Calibri"/>
                <a:ea typeface="Calibri"/>
                <a:cs typeface="Calibri"/>
                <a:sym typeface="Calibri"/>
              </a:rPr>
              <a:t>3</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How many degrees are between the hands of a clock at 3:40?</a:t>
            </a:r>
            <a:endParaRPr sz="3600"/>
          </a:p>
        </p:txBody>
      </p:sp>
      <p:sp>
        <p:nvSpPr>
          <p:cNvPr id="672" name="Google Shape;672;p63"/>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140°</a:t>
            </a:r>
            <a:endParaRPr b="0" i="0" sz="3200" u="none" cap="none" strike="noStrike">
              <a:solidFill>
                <a:schemeClr val="lt1"/>
              </a:solidFill>
              <a:latin typeface="Calibri"/>
              <a:ea typeface="Calibri"/>
              <a:cs typeface="Calibri"/>
              <a:sym typeface="Calibri"/>
            </a:endParaRPr>
          </a:p>
        </p:txBody>
      </p:sp>
      <p:sp>
        <p:nvSpPr>
          <p:cNvPr id="673" name="Google Shape;673;p63"/>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130°</a:t>
            </a:r>
            <a:endParaRPr b="0" i="0" sz="3200" u="none" cap="none" strike="noStrike">
              <a:solidFill>
                <a:schemeClr val="lt1"/>
              </a:solidFill>
              <a:latin typeface="Calibri"/>
              <a:ea typeface="Calibri"/>
              <a:cs typeface="Calibri"/>
              <a:sym typeface="Calibri"/>
            </a:endParaRPr>
          </a:p>
        </p:txBody>
      </p:sp>
      <p:sp>
        <p:nvSpPr>
          <p:cNvPr id="674" name="Google Shape;674;p63"/>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125°</a:t>
            </a:r>
            <a:endParaRPr b="0" i="0" sz="3200" u="none" cap="none" strike="noStrike">
              <a:solidFill>
                <a:schemeClr val="lt1"/>
              </a:solidFill>
              <a:latin typeface="Calibri"/>
              <a:ea typeface="Calibri"/>
              <a:cs typeface="Calibri"/>
              <a:sym typeface="Calibri"/>
            </a:endParaRPr>
          </a:p>
        </p:txBody>
      </p:sp>
      <p:sp>
        <p:nvSpPr>
          <p:cNvPr id="675" name="Google Shape;675;p63"/>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150°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6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of these three fractions has the largest value?</a:t>
            </a:r>
            <a:endParaRPr sz="3600"/>
          </a:p>
        </p:txBody>
      </p:sp>
      <p:sp>
        <p:nvSpPr>
          <p:cNvPr id="681" name="Google Shape;681;p64"/>
          <p:cNvSpPr/>
          <p:nvPr/>
        </p:nvSpPr>
        <p:spPr>
          <a:xfrm>
            <a:off x="1981200" y="2928934"/>
            <a:ext cx="1643074" cy="1214446"/>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t>
            </a:r>
            <a:endParaRPr b="0" i="0" sz="3200" u="none" cap="none" strike="noStrike">
              <a:solidFill>
                <a:schemeClr val="lt1"/>
              </a:solidFill>
              <a:latin typeface="Calibri"/>
              <a:ea typeface="Calibri"/>
              <a:cs typeface="Calibri"/>
              <a:sym typeface="Calibri"/>
            </a:endParaRPr>
          </a:p>
        </p:txBody>
      </p:sp>
      <p:sp>
        <p:nvSpPr>
          <p:cNvPr id="682" name="Google Shape;682;p64"/>
          <p:cNvSpPr/>
          <p:nvPr/>
        </p:nvSpPr>
        <p:spPr>
          <a:xfrm>
            <a:off x="1981200" y="4572008"/>
            <a:ext cx="1643074" cy="1143008"/>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a:t>
            </a:r>
            <a:endParaRPr b="0" i="0" sz="3200" u="none" cap="none" strike="noStrike">
              <a:solidFill>
                <a:schemeClr val="lt1"/>
              </a:solidFill>
              <a:latin typeface="Calibri"/>
              <a:ea typeface="Calibri"/>
              <a:cs typeface="Calibri"/>
              <a:sym typeface="Calibri"/>
            </a:endParaRPr>
          </a:p>
        </p:txBody>
      </p:sp>
      <p:sp>
        <p:nvSpPr>
          <p:cNvPr id="683" name="Google Shape;683;p64"/>
          <p:cNvSpPr/>
          <p:nvPr/>
        </p:nvSpPr>
        <p:spPr>
          <a:xfrm>
            <a:off x="5367326" y="2928934"/>
            <a:ext cx="1643074" cy="1214446"/>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t>
            </a:r>
            <a:endParaRPr b="0" i="0" sz="3200" u="none" cap="none" strike="noStrike">
              <a:solidFill>
                <a:schemeClr val="lt1"/>
              </a:solidFill>
              <a:latin typeface="Calibri"/>
              <a:ea typeface="Calibri"/>
              <a:cs typeface="Calibri"/>
              <a:sym typeface="Calibri"/>
            </a:endParaRPr>
          </a:p>
        </p:txBody>
      </p:sp>
      <p:sp>
        <p:nvSpPr>
          <p:cNvPr id="684" name="Google Shape;684;p64"/>
          <p:cNvSpPr/>
          <p:nvPr/>
        </p:nvSpPr>
        <p:spPr>
          <a:xfrm>
            <a:off x="5367326" y="4572008"/>
            <a:ext cx="1643074" cy="1143008"/>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a:t>
            </a:r>
            <a:endParaRPr b="0" i="0" sz="3200" u="none" cap="none" strike="noStrike">
              <a:solidFill>
                <a:srgbClr val="000000"/>
              </a:solidFill>
              <a:latin typeface="Calibri"/>
              <a:ea typeface="Calibri"/>
              <a:cs typeface="Calibri"/>
              <a:sym typeface="Calibri"/>
            </a:endParaRPr>
          </a:p>
        </p:txBody>
      </p:sp>
      <p:pic>
        <p:nvPicPr>
          <p:cNvPr id="685" name="Google Shape;685;p64"/>
          <p:cNvPicPr preferRelativeResize="0"/>
          <p:nvPr/>
        </p:nvPicPr>
        <p:blipFill rotWithShape="1">
          <a:blip r:embed="rId3">
            <a:alphaModFix/>
          </a:blip>
          <a:srcRect b="0" l="0" r="0" t="0"/>
          <a:stretch/>
        </p:blipFill>
        <p:spPr>
          <a:xfrm>
            <a:off x="2713061" y="3022600"/>
            <a:ext cx="608012" cy="1049338"/>
          </a:xfrm>
          <a:prstGeom prst="rect">
            <a:avLst/>
          </a:prstGeom>
          <a:noFill/>
          <a:ln>
            <a:noFill/>
          </a:ln>
        </p:spPr>
      </p:pic>
      <p:pic>
        <p:nvPicPr>
          <p:cNvPr id="686" name="Google Shape;686;p64"/>
          <p:cNvPicPr preferRelativeResize="0"/>
          <p:nvPr/>
        </p:nvPicPr>
        <p:blipFill rotWithShape="1">
          <a:blip r:embed="rId4">
            <a:alphaModFix/>
          </a:blip>
          <a:srcRect b="0" l="0" r="0" t="0"/>
          <a:stretch/>
        </p:blipFill>
        <p:spPr>
          <a:xfrm>
            <a:off x="2813073" y="4595813"/>
            <a:ext cx="406400" cy="1047750"/>
          </a:xfrm>
          <a:prstGeom prst="rect">
            <a:avLst/>
          </a:prstGeom>
          <a:noFill/>
          <a:ln>
            <a:noFill/>
          </a:ln>
        </p:spPr>
      </p:pic>
      <p:pic>
        <p:nvPicPr>
          <p:cNvPr id="687" name="Google Shape;687;p64"/>
          <p:cNvPicPr preferRelativeResize="0"/>
          <p:nvPr/>
        </p:nvPicPr>
        <p:blipFill rotWithShape="1">
          <a:blip r:embed="rId5">
            <a:alphaModFix/>
          </a:blip>
          <a:srcRect b="0" l="0" r="0" t="0"/>
          <a:stretch/>
        </p:blipFill>
        <p:spPr>
          <a:xfrm>
            <a:off x="6080117" y="3000375"/>
            <a:ext cx="614362" cy="1003300"/>
          </a:xfrm>
          <a:prstGeom prst="rect">
            <a:avLst/>
          </a:prstGeom>
          <a:noFill/>
          <a:ln>
            <a:noFill/>
          </a:ln>
        </p:spPr>
      </p:pic>
      <p:pic>
        <p:nvPicPr>
          <p:cNvPr id="688" name="Google Shape;688;p64"/>
          <p:cNvPicPr preferRelativeResize="0"/>
          <p:nvPr/>
        </p:nvPicPr>
        <p:blipFill rotWithShape="1">
          <a:blip r:embed="rId6">
            <a:alphaModFix/>
          </a:blip>
          <a:srcRect b="0" l="0" r="0" t="0"/>
          <a:stretch/>
        </p:blipFill>
        <p:spPr>
          <a:xfrm>
            <a:off x="6200767" y="4643438"/>
            <a:ext cx="404812" cy="10477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6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If x = 3 and y = 2, then 2x + 3y = ______.</a:t>
            </a:r>
            <a:endParaRPr sz="3600"/>
          </a:p>
        </p:txBody>
      </p:sp>
      <p:sp>
        <p:nvSpPr>
          <p:cNvPr id="694" name="Google Shape;694;p65"/>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12</a:t>
            </a:r>
            <a:endParaRPr b="0" i="0" sz="3200" u="none" cap="none" strike="noStrike">
              <a:solidFill>
                <a:schemeClr val="lt1"/>
              </a:solidFill>
              <a:latin typeface="Calibri"/>
              <a:ea typeface="Calibri"/>
              <a:cs typeface="Calibri"/>
              <a:sym typeface="Calibri"/>
            </a:endParaRPr>
          </a:p>
        </p:txBody>
      </p:sp>
      <p:sp>
        <p:nvSpPr>
          <p:cNvPr id="695" name="Google Shape;695;p65"/>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10</a:t>
            </a:r>
            <a:endParaRPr b="0" i="0" sz="3200" u="none" cap="none" strike="noStrike">
              <a:solidFill>
                <a:schemeClr val="lt1"/>
              </a:solidFill>
              <a:latin typeface="Calibri"/>
              <a:ea typeface="Calibri"/>
              <a:cs typeface="Calibri"/>
              <a:sym typeface="Calibri"/>
            </a:endParaRPr>
          </a:p>
        </p:txBody>
      </p:sp>
      <p:sp>
        <p:nvSpPr>
          <p:cNvPr id="696" name="Google Shape;696;p65"/>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14</a:t>
            </a:r>
            <a:endParaRPr b="0" i="0" sz="3200" u="none" cap="none" strike="noStrike">
              <a:solidFill>
                <a:schemeClr val="lt1"/>
              </a:solidFill>
              <a:latin typeface="Calibri"/>
              <a:ea typeface="Calibri"/>
              <a:cs typeface="Calibri"/>
              <a:sym typeface="Calibri"/>
            </a:endParaRPr>
          </a:p>
        </p:txBody>
      </p:sp>
      <p:sp>
        <p:nvSpPr>
          <p:cNvPr id="697" name="Google Shape;697;p65"/>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5</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6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of these has a value different from the other three?</a:t>
            </a:r>
            <a:endParaRPr sz="3600"/>
          </a:p>
        </p:txBody>
      </p:sp>
      <p:sp>
        <p:nvSpPr>
          <p:cNvPr id="703" name="Google Shape;703;p66"/>
          <p:cNvSpPr/>
          <p:nvPr/>
        </p:nvSpPr>
        <p:spPr>
          <a:xfrm>
            <a:off x="1752600" y="29718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15%</a:t>
            </a:r>
            <a:endParaRPr b="0" i="0" sz="3200" u="none" cap="none" strike="noStrike">
              <a:solidFill>
                <a:schemeClr val="lt1"/>
              </a:solidFill>
              <a:latin typeface="Calibri"/>
              <a:ea typeface="Calibri"/>
              <a:cs typeface="Calibri"/>
              <a:sym typeface="Calibri"/>
            </a:endParaRPr>
          </a:p>
        </p:txBody>
      </p:sp>
      <p:sp>
        <p:nvSpPr>
          <p:cNvPr id="704" name="Google Shape;704;p66"/>
          <p:cNvSpPr/>
          <p:nvPr/>
        </p:nvSpPr>
        <p:spPr>
          <a:xfrm>
            <a:off x="1752600" y="3962400"/>
            <a:ext cx="1447800" cy="1371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a:t>
            </a:r>
            <a:endParaRPr b="0" i="0" sz="3200" u="none" cap="none" strike="noStrike">
              <a:solidFill>
                <a:schemeClr val="lt1"/>
              </a:solidFill>
              <a:latin typeface="Calibri"/>
              <a:ea typeface="Calibri"/>
              <a:cs typeface="Calibri"/>
              <a:sym typeface="Calibri"/>
            </a:endParaRPr>
          </a:p>
        </p:txBody>
      </p:sp>
      <p:sp>
        <p:nvSpPr>
          <p:cNvPr id="705" name="Google Shape;705;p66"/>
          <p:cNvSpPr/>
          <p:nvPr/>
        </p:nvSpPr>
        <p:spPr>
          <a:xfrm>
            <a:off x="5410200" y="29718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.15</a:t>
            </a:r>
            <a:endParaRPr b="0" i="0" sz="3200" u="none" cap="none" strike="noStrike">
              <a:solidFill>
                <a:schemeClr val="lt1"/>
              </a:solidFill>
              <a:latin typeface="Calibri"/>
              <a:ea typeface="Calibri"/>
              <a:cs typeface="Calibri"/>
              <a:sym typeface="Calibri"/>
            </a:endParaRPr>
          </a:p>
        </p:txBody>
      </p:sp>
      <p:sp>
        <p:nvSpPr>
          <p:cNvPr id="706" name="Google Shape;706;p66"/>
          <p:cNvSpPr/>
          <p:nvPr/>
        </p:nvSpPr>
        <p:spPr>
          <a:xfrm>
            <a:off x="5410200" y="3962400"/>
            <a:ext cx="1447800" cy="1371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a:t>
            </a:r>
            <a:endParaRPr b="0" i="0" sz="3200" u="none" cap="none" strike="noStrike">
              <a:solidFill>
                <a:schemeClr val="dk1"/>
              </a:solidFill>
              <a:latin typeface="Calibri"/>
              <a:ea typeface="Calibri"/>
              <a:cs typeface="Calibri"/>
              <a:sym typeface="Calibri"/>
            </a:endParaRPr>
          </a:p>
        </p:txBody>
      </p:sp>
      <p:pic>
        <p:nvPicPr>
          <p:cNvPr id="707" name="Google Shape;707;p66"/>
          <p:cNvPicPr preferRelativeResize="0"/>
          <p:nvPr/>
        </p:nvPicPr>
        <p:blipFill rotWithShape="1">
          <a:blip r:embed="rId3">
            <a:alphaModFix/>
          </a:blip>
          <a:srcRect b="0" l="0" r="0" t="0"/>
          <a:stretch/>
        </p:blipFill>
        <p:spPr>
          <a:xfrm>
            <a:off x="2320925" y="4114800"/>
            <a:ext cx="642938" cy="1047750"/>
          </a:xfrm>
          <a:prstGeom prst="rect">
            <a:avLst/>
          </a:prstGeom>
          <a:noFill/>
          <a:ln>
            <a:noFill/>
          </a:ln>
        </p:spPr>
      </p:pic>
      <p:pic>
        <p:nvPicPr>
          <p:cNvPr id="708" name="Google Shape;708;p66"/>
          <p:cNvPicPr preferRelativeResize="0"/>
          <p:nvPr/>
        </p:nvPicPr>
        <p:blipFill rotWithShape="1">
          <a:blip r:embed="rId4">
            <a:alphaModFix/>
          </a:blip>
          <a:srcRect b="0" l="0" r="0" t="0"/>
          <a:stretch/>
        </p:blipFill>
        <p:spPr>
          <a:xfrm>
            <a:off x="6019800" y="4114800"/>
            <a:ext cx="642938" cy="10477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The vertex angle of an isosceles triangle is 30°. What is the measure of one of the base angles?</a:t>
            </a:r>
            <a:endParaRPr sz="3600"/>
          </a:p>
        </p:txBody>
      </p:sp>
      <p:sp>
        <p:nvSpPr>
          <p:cNvPr id="714" name="Google Shape;714;p67"/>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150°</a:t>
            </a:r>
            <a:endParaRPr b="0" i="0" sz="3200" u="none" cap="none" strike="noStrike">
              <a:solidFill>
                <a:schemeClr val="lt1"/>
              </a:solidFill>
              <a:latin typeface="Calibri"/>
              <a:ea typeface="Calibri"/>
              <a:cs typeface="Calibri"/>
              <a:sym typeface="Calibri"/>
            </a:endParaRPr>
          </a:p>
        </p:txBody>
      </p:sp>
      <p:sp>
        <p:nvSpPr>
          <p:cNvPr id="715" name="Google Shape;715;p67"/>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60°</a:t>
            </a:r>
            <a:endParaRPr b="0" i="0" sz="3200" u="none" cap="none" strike="noStrike">
              <a:solidFill>
                <a:schemeClr val="lt1"/>
              </a:solidFill>
              <a:latin typeface="Calibri"/>
              <a:ea typeface="Calibri"/>
              <a:cs typeface="Calibri"/>
              <a:sym typeface="Calibri"/>
            </a:endParaRPr>
          </a:p>
        </p:txBody>
      </p:sp>
      <p:sp>
        <p:nvSpPr>
          <p:cNvPr id="716" name="Google Shape;716;p67"/>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75°</a:t>
            </a:r>
            <a:endParaRPr b="0" i="0" sz="3200" u="none" cap="none" strike="noStrike">
              <a:solidFill>
                <a:schemeClr val="lt1"/>
              </a:solidFill>
              <a:latin typeface="Calibri"/>
              <a:ea typeface="Calibri"/>
              <a:cs typeface="Calibri"/>
              <a:sym typeface="Calibri"/>
            </a:endParaRPr>
          </a:p>
        </p:txBody>
      </p:sp>
      <p:sp>
        <p:nvSpPr>
          <p:cNvPr id="717" name="Google Shape;717;p67"/>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70°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8"/>
          <p:cNvSpPr txBox="1"/>
          <p:nvPr>
            <p:ph type="title"/>
          </p:nvPr>
        </p:nvSpPr>
        <p:spPr>
          <a:xfrm>
            <a:off x="304800" y="381000"/>
            <a:ext cx="8610600" cy="14478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What is the value of                                      ?   </a:t>
            </a:r>
            <a:endParaRPr sz="3600"/>
          </a:p>
        </p:txBody>
      </p:sp>
      <p:pic>
        <p:nvPicPr>
          <p:cNvPr id="723" name="Google Shape;723;p68"/>
          <p:cNvPicPr preferRelativeResize="0"/>
          <p:nvPr/>
        </p:nvPicPr>
        <p:blipFill rotWithShape="1">
          <a:blip r:embed="rId3">
            <a:alphaModFix/>
          </a:blip>
          <a:srcRect b="0" l="0" r="0" t="0"/>
          <a:stretch/>
        </p:blipFill>
        <p:spPr>
          <a:xfrm>
            <a:off x="4267200" y="609600"/>
            <a:ext cx="3689351" cy="1047750"/>
          </a:xfrm>
          <a:prstGeom prst="rect">
            <a:avLst/>
          </a:prstGeom>
          <a:noFill/>
          <a:ln>
            <a:noFill/>
          </a:ln>
        </p:spPr>
      </p:pic>
      <p:sp>
        <p:nvSpPr>
          <p:cNvPr id="724" name="Google Shape;724;p68"/>
          <p:cNvSpPr/>
          <p:nvPr/>
        </p:nvSpPr>
        <p:spPr>
          <a:xfrm>
            <a:off x="1981200" y="2928934"/>
            <a:ext cx="1643074" cy="1214446"/>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t>
            </a:r>
            <a:endParaRPr b="0" i="0" sz="3200" u="none" cap="none" strike="noStrike">
              <a:solidFill>
                <a:schemeClr val="lt1"/>
              </a:solidFill>
              <a:latin typeface="Calibri"/>
              <a:ea typeface="Calibri"/>
              <a:cs typeface="Calibri"/>
              <a:sym typeface="Calibri"/>
            </a:endParaRPr>
          </a:p>
        </p:txBody>
      </p:sp>
      <p:sp>
        <p:nvSpPr>
          <p:cNvPr id="725" name="Google Shape;725;p68"/>
          <p:cNvSpPr/>
          <p:nvPr/>
        </p:nvSpPr>
        <p:spPr>
          <a:xfrm>
            <a:off x="1981200" y="4572008"/>
            <a:ext cx="1643074" cy="1143008"/>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22 </a:t>
            </a:r>
            <a:endParaRPr b="0" i="0" sz="3200" u="none" cap="none" strike="noStrike">
              <a:solidFill>
                <a:schemeClr val="lt1"/>
              </a:solidFill>
              <a:latin typeface="Calibri"/>
              <a:ea typeface="Calibri"/>
              <a:cs typeface="Calibri"/>
              <a:sym typeface="Calibri"/>
            </a:endParaRPr>
          </a:p>
        </p:txBody>
      </p:sp>
      <p:sp>
        <p:nvSpPr>
          <p:cNvPr id="726" name="Google Shape;726;p68"/>
          <p:cNvSpPr/>
          <p:nvPr/>
        </p:nvSpPr>
        <p:spPr>
          <a:xfrm>
            <a:off x="5367326" y="2928934"/>
            <a:ext cx="1643074" cy="1214446"/>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t>
            </a:r>
            <a:endParaRPr b="0" i="0" sz="3200" u="none" cap="none" strike="noStrike">
              <a:solidFill>
                <a:schemeClr val="lt1"/>
              </a:solidFill>
              <a:latin typeface="Calibri"/>
              <a:ea typeface="Calibri"/>
              <a:cs typeface="Calibri"/>
              <a:sym typeface="Calibri"/>
            </a:endParaRPr>
          </a:p>
        </p:txBody>
      </p:sp>
      <p:sp>
        <p:nvSpPr>
          <p:cNvPr id="727" name="Google Shape;727;p68"/>
          <p:cNvSpPr/>
          <p:nvPr/>
        </p:nvSpPr>
        <p:spPr>
          <a:xfrm>
            <a:off x="5367326" y="4572008"/>
            <a:ext cx="1643074" cy="1143008"/>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21 </a:t>
            </a:r>
            <a:endParaRPr b="0" i="0" sz="3200" u="none" cap="none" strike="noStrike">
              <a:solidFill>
                <a:srgbClr val="000000"/>
              </a:solidFill>
              <a:latin typeface="Calibri"/>
              <a:ea typeface="Calibri"/>
              <a:cs typeface="Calibri"/>
              <a:sym typeface="Calibri"/>
            </a:endParaRPr>
          </a:p>
        </p:txBody>
      </p:sp>
      <p:pic>
        <p:nvPicPr>
          <p:cNvPr id="728" name="Google Shape;728;p68"/>
          <p:cNvPicPr preferRelativeResize="0"/>
          <p:nvPr/>
        </p:nvPicPr>
        <p:blipFill rotWithShape="1">
          <a:blip r:embed="rId4">
            <a:alphaModFix/>
          </a:blip>
          <a:srcRect b="0" l="0" r="0" t="0"/>
          <a:stretch/>
        </p:blipFill>
        <p:spPr>
          <a:xfrm>
            <a:off x="2595563" y="3022600"/>
            <a:ext cx="844550" cy="1049338"/>
          </a:xfrm>
          <a:prstGeom prst="rect">
            <a:avLst/>
          </a:prstGeom>
          <a:noFill/>
          <a:ln>
            <a:noFill/>
          </a:ln>
        </p:spPr>
      </p:pic>
      <p:pic>
        <p:nvPicPr>
          <p:cNvPr id="729" name="Google Shape;729;p68"/>
          <p:cNvPicPr preferRelativeResize="0"/>
          <p:nvPr/>
        </p:nvPicPr>
        <p:blipFill rotWithShape="1">
          <a:blip r:embed="rId5">
            <a:alphaModFix/>
          </a:blip>
          <a:srcRect b="0" l="0" r="0" t="0"/>
          <a:stretch/>
        </p:blipFill>
        <p:spPr>
          <a:xfrm>
            <a:off x="5943600" y="2971800"/>
            <a:ext cx="844550" cy="104933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69"/>
          <p:cNvSpPr txBox="1"/>
          <p:nvPr>
            <p:ph type="title"/>
          </p:nvPr>
        </p:nvSpPr>
        <p:spPr>
          <a:xfrm>
            <a:off x="304800" y="381000"/>
            <a:ext cx="8610600" cy="14478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of these math sentences is NOT CORRECT?</a:t>
            </a:r>
            <a:endParaRPr sz="3600"/>
          </a:p>
        </p:txBody>
      </p:sp>
      <p:sp>
        <p:nvSpPr>
          <p:cNvPr id="735" name="Google Shape;735;p69"/>
          <p:cNvSpPr/>
          <p:nvPr/>
        </p:nvSpPr>
        <p:spPr>
          <a:xfrm>
            <a:off x="1371600" y="2895600"/>
            <a:ext cx="2743200" cy="1214446"/>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t>
            </a:r>
            <a:endParaRPr b="0" i="0" sz="3200" u="none" cap="none" strike="noStrike">
              <a:solidFill>
                <a:schemeClr val="lt1"/>
              </a:solidFill>
              <a:latin typeface="Calibri"/>
              <a:ea typeface="Calibri"/>
              <a:cs typeface="Calibri"/>
              <a:sym typeface="Calibri"/>
            </a:endParaRPr>
          </a:p>
        </p:txBody>
      </p:sp>
      <p:sp>
        <p:nvSpPr>
          <p:cNvPr id="736" name="Google Shape;736;p69"/>
          <p:cNvSpPr/>
          <p:nvPr/>
        </p:nvSpPr>
        <p:spPr>
          <a:xfrm>
            <a:off x="1371600" y="4572000"/>
            <a:ext cx="2743200" cy="1143008"/>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a:t>
            </a:r>
            <a:endParaRPr b="0" i="0" sz="3200" u="none" cap="none" strike="noStrike">
              <a:solidFill>
                <a:schemeClr val="lt1"/>
              </a:solidFill>
              <a:latin typeface="Calibri"/>
              <a:ea typeface="Calibri"/>
              <a:cs typeface="Calibri"/>
              <a:sym typeface="Calibri"/>
            </a:endParaRPr>
          </a:p>
        </p:txBody>
      </p:sp>
      <p:sp>
        <p:nvSpPr>
          <p:cNvPr id="737" name="Google Shape;737;p69"/>
          <p:cNvSpPr/>
          <p:nvPr/>
        </p:nvSpPr>
        <p:spPr>
          <a:xfrm>
            <a:off x="5257800" y="2895600"/>
            <a:ext cx="2743200" cy="1214446"/>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t>
            </a:r>
            <a:endParaRPr b="0" i="0" sz="3200" u="none" cap="none" strike="noStrike">
              <a:solidFill>
                <a:schemeClr val="lt1"/>
              </a:solidFill>
              <a:latin typeface="Calibri"/>
              <a:ea typeface="Calibri"/>
              <a:cs typeface="Calibri"/>
              <a:sym typeface="Calibri"/>
            </a:endParaRPr>
          </a:p>
        </p:txBody>
      </p:sp>
      <p:sp>
        <p:nvSpPr>
          <p:cNvPr id="738" name="Google Shape;738;p69"/>
          <p:cNvSpPr/>
          <p:nvPr/>
        </p:nvSpPr>
        <p:spPr>
          <a:xfrm>
            <a:off x="5257800" y="4572000"/>
            <a:ext cx="2743200" cy="1143008"/>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a:t>
            </a:r>
            <a:endParaRPr b="0" i="0" sz="3200" u="none" cap="none" strike="noStrike">
              <a:solidFill>
                <a:srgbClr val="000000"/>
              </a:solidFill>
              <a:latin typeface="Calibri"/>
              <a:ea typeface="Calibri"/>
              <a:cs typeface="Calibri"/>
              <a:sym typeface="Calibri"/>
            </a:endParaRPr>
          </a:p>
        </p:txBody>
      </p:sp>
      <p:pic>
        <p:nvPicPr>
          <p:cNvPr id="739" name="Google Shape;739;p69"/>
          <p:cNvPicPr preferRelativeResize="0"/>
          <p:nvPr/>
        </p:nvPicPr>
        <p:blipFill rotWithShape="1">
          <a:blip r:embed="rId3">
            <a:alphaModFix/>
          </a:blip>
          <a:srcRect b="0" l="0" r="0" t="0"/>
          <a:stretch/>
        </p:blipFill>
        <p:spPr>
          <a:xfrm>
            <a:off x="2057400" y="2971800"/>
            <a:ext cx="1925637" cy="1049338"/>
          </a:xfrm>
          <a:prstGeom prst="rect">
            <a:avLst/>
          </a:prstGeom>
          <a:noFill/>
          <a:ln>
            <a:noFill/>
          </a:ln>
        </p:spPr>
      </p:pic>
      <p:pic>
        <p:nvPicPr>
          <p:cNvPr id="740" name="Google Shape;740;p69"/>
          <p:cNvPicPr preferRelativeResize="0"/>
          <p:nvPr/>
        </p:nvPicPr>
        <p:blipFill rotWithShape="1">
          <a:blip r:embed="rId4">
            <a:alphaModFix/>
          </a:blip>
          <a:srcRect b="0" l="0" r="0" t="0"/>
          <a:stretch/>
        </p:blipFill>
        <p:spPr>
          <a:xfrm>
            <a:off x="1981200" y="4572000"/>
            <a:ext cx="1925638" cy="1049338"/>
          </a:xfrm>
          <a:prstGeom prst="rect">
            <a:avLst/>
          </a:prstGeom>
          <a:noFill/>
          <a:ln>
            <a:noFill/>
          </a:ln>
        </p:spPr>
      </p:pic>
      <p:pic>
        <p:nvPicPr>
          <p:cNvPr id="741" name="Google Shape;741;p69"/>
          <p:cNvPicPr preferRelativeResize="0"/>
          <p:nvPr/>
        </p:nvPicPr>
        <p:blipFill rotWithShape="1">
          <a:blip r:embed="rId5">
            <a:alphaModFix/>
          </a:blip>
          <a:srcRect b="0" l="0" r="0" t="0"/>
          <a:stretch/>
        </p:blipFill>
        <p:spPr>
          <a:xfrm>
            <a:off x="5969000" y="2971800"/>
            <a:ext cx="1722438" cy="1049338"/>
          </a:xfrm>
          <a:prstGeom prst="rect">
            <a:avLst/>
          </a:prstGeom>
          <a:noFill/>
          <a:ln>
            <a:noFill/>
          </a:ln>
        </p:spPr>
      </p:pic>
      <p:pic>
        <p:nvPicPr>
          <p:cNvPr id="742" name="Google Shape;742;p69"/>
          <p:cNvPicPr preferRelativeResize="0"/>
          <p:nvPr/>
        </p:nvPicPr>
        <p:blipFill rotWithShape="1">
          <a:blip r:embed="rId6">
            <a:alphaModFix/>
          </a:blip>
          <a:srcRect b="0" l="0" r="0" t="0"/>
          <a:stretch/>
        </p:blipFill>
        <p:spPr>
          <a:xfrm>
            <a:off x="5902325" y="4648200"/>
            <a:ext cx="1958975" cy="104933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70"/>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Joseph is 10 years older than his sister. If Joseph was 25 years of age in 1983, in what year could he have been born?</a:t>
            </a:r>
            <a:endParaRPr sz="3600"/>
          </a:p>
        </p:txBody>
      </p:sp>
      <p:sp>
        <p:nvSpPr>
          <p:cNvPr id="748" name="Google Shape;748;p70"/>
          <p:cNvSpPr/>
          <p:nvPr/>
        </p:nvSpPr>
        <p:spPr>
          <a:xfrm>
            <a:off x="3390900" y="2743200"/>
            <a:ext cx="17145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1948</a:t>
            </a:r>
            <a:endParaRPr b="0" i="0" sz="3200" u="none" cap="none" strike="noStrike">
              <a:solidFill>
                <a:schemeClr val="lt1"/>
              </a:solidFill>
              <a:latin typeface="Calibri"/>
              <a:ea typeface="Calibri"/>
              <a:cs typeface="Calibri"/>
              <a:sym typeface="Calibri"/>
            </a:endParaRPr>
          </a:p>
        </p:txBody>
      </p:sp>
      <p:sp>
        <p:nvSpPr>
          <p:cNvPr id="749" name="Google Shape;749;p70"/>
          <p:cNvSpPr/>
          <p:nvPr/>
        </p:nvSpPr>
        <p:spPr>
          <a:xfrm>
            <a:off x="3352800" y="3657600"/>
            <a:ext cx="17526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1963</a:t>
            </a:r>
            <a:endParaRPr b="0" i="0" sz="3200" u="none" cap="none" strike="noStrike">
              <a:solidFill>
                <a:schemeClr val="lt1"/>
              </a:solidFill>
              <a:latin typeface="Calibri"/>
              <a:ea typeface="Calibri"/>
              <a:cs typeface="Calibri"/>
              <a:sym typeface="Calibri"/>
            </a:endParaRPr>
          </a:p>
        </p:txBody>
      </p:sp>
      <p:sp>
        <p:nvSpPr>
          <p:cNvPr id="750" name="Google Shape;750;p70"/>
          <p:cNvSpPr/>
          <p:nvPr/>
        </p:nvSpPr>
        <p:spPr>
          <a:xfrm>
            <a:off x="3352800" y="4572000"/>
            <a:ext cx="17526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1958</a:t>
            </a:r>
            <a:endParaRPr b="0" i="0" sz="3200" u="none" cap="none" strike="noStrike">
              <a:solidFill>
                <a:schemeClr val="lt1"/>
              </a:solidFill>
              <a:latin typeface="Calibri"/>
              <a:ea typeface="Calibri"/>
              <a:cs typeface="Calibri"/>
              <a:sym typeface="Calibri"/>
            </a:endParaRPr>
          </a:p>
        </p:txBody>
      </p:sp>
      <p:sp>
        <p:nvSpPr>
          <p:cNvPr id="751" name="Google Shape;751;p70"/>
          <p:cNvSpPr/>
          <p:nvPr/>
        </p:nvSpPr>
        <p:spPr>
          <a:xfrm>
            <a:off x="3352800" y="5486400"/>
            <a:ext cx="1752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1953</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7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Joseph is 10 years older than his sister. If Joseph was 25 years of age in 1983, in what year could he have been born?</a:t>
            </a:r>
            <a:endParaRPr sz="3600"/>
          </a:p>
        </p:txBody>
      </p:sp>
      <p:sp>
        <p:nvSpPr>
          <p:cNvPr id="757" name="Google Shape;757;p71"/>
          <p:cNvSpPr/>
          <p:nvPr/>
        </p:nvSpPr>
        <p:spPr>
          <a:xfrm>
            <a:off x="3390900" y="2743200"/>
            <a:ext cx="17145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1948</a:t>
            </a:r>
            <a:endParaRPr b="0" i="0" sz="3200" u="none" cap="none" strike="noStrike">
              <a:solidFill>
                <a:schemeClr val="lt1"/>
              </a:solidFill>
              <a:latin typeface="Calibri"/>
              <a:ea typeface="Calibri"/>
              <a:cs typeface="Calibri"/>
              <a:sym typeface="Calibri"/>
            </a:endParaRPr>
          </a:p>
        </p:txBody>
      </p:sp>
      <p:sp>
        <p:nvSpPr>
          <p:cNvPr id="758" name="Google Shape;758;p71"/>
          <p:cNvSpPr/>
          <p:nvPr/>
        </p:nvSpPr>
        <p:spPr>
          <a:xfrm>
            <a:off x="3352800" y="3657600"/>
            <a:ext cx="17526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1963</a:t>
            </a:r>
            <a:endParaRPr b="0" i="0" sz="3200" u="none" cap="none" strike="noStrike">
              <a:solidFill>
                <a:schemeClr val="lt1"/>
              </a:solidFill>
              <a:latin typeface="Calibri"/>
              <a:ea typeface="Calibri"/>
              <a:cs typeface="Calibri"/>
              <a:sym typeface="Calibri"/>
            </a:endParaRPr>
          </a:p>
        </p:txBody>
      </p:sp>
      <p:sp>
        <p:nvSpPr>
          <p:cNvPr id="759" name="Google Shape;759;p71"/>
          <p:cNvSpPr/>
          <p:nvPr/>
        </p:nvSpPr>
        <p:spPr>
          <a:xfrm>
            <a:off x="3352800" y="4572000"/>
            <a:ext cx="17526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1958</a:t>
            </a:r>
            <a:endParaRPr b="0" i="0" sz="3200" u="none" cap="none" strike="noStrike">
              <a:solidFill>
                <a:schemeClr val="lt1"/>
              </a:solidFill>
              <a:latin typeface="Calibri"/>
              <a:ea typeface="Calibri"/>
              <a:cs typeface="Calibri"/>
              <a:sym typeface="Calibri"/>
            </a:endParaRPr>
          </a:p>
        </p:txBody>
      </p:sp>
      <p:sp>
        <p:nvSpPr>
          <p:cNvPr id="760" name="Google Shape;760;p71"/>
          <p:cNvSpPr/>
          <p:nvPr/>
        </p:nvSpPr>
        <p:spPr>
          <a:xfrm>
            <a:off x="3352800" y="5486400"/>
            <a:ext cx="1752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1953</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What number is next in this sequence?</a:t>
            </a:r>
            <a:br>
              <a:rPr lang="en-US" sz="3600"/>
            </a:br>
            <a:r>
              <a:rPr lang="en-US" sz="3600"/>
              <a:t>11120, 11260, 11420, 11600</a:t>
            </a:r>
            <a:endParaRPr sz="3600"/>
          </a:p>
        </p:txBody>
      </p:sp>
      <p:sp>
        <p:nvSpPr>
          <p:cNvPr id="766" name="Google Shape;766;p72"/>
          <p:cNvSpPr/>
          <p:nvPr/>
        </p:nvSpPr>
        <p:spPr>
          <a:xfrm>
            <a:off x="2869096" y="2743200"/>
            <a:ext cx="2236304"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11820</a:t>
            </a:r>
            <a:endParaRPr b="0" i="0" sz="3200" u="none" cap="none" strike="noStrike">
              <a:solidFill>
                <a:schemeClr val="lt1"/>
              </a:solidFill>
              <a:latin typeface="Calibri"/>
              <a:ea typeface="Calibri"/>
              <a:cs typeface="Calibri"/>
              <a:sym typeface="Calibri"/>
            </a:endParaRPr>
          </a:p>
        </p:txBody>
      </p:sp>
      <p:sp>
        <p:nvSpPr>
          <p:cNvPr id="767" name="Google Shape;767;p72"/>
          <p:cNvSpPr/>
          <p:nvPr/>
        </p:nvSpPr>
        <p:spPr>
          <a:xfrm>
            <a:off x="2819400" y="3657600"/>
            <a:ext cx="2286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11760</a:t>
            </a:r>
            <a:endParaRPr b="0" i="0" sz="3200" u="none" cap="none" strike="noStrike">
              <a:solidFill>
                <a:schemeClr val="lt1"/>
              </a:solidFill>
              <a:latin typeface="Calibri"/>
              <a:ea typeface="Calibri"/>
              <a:cs typeface="Calibri"/>
              <a:sym typeface="Calibri"/>
            </a:endParaRPr>
          </a:p>
        </p:txBody>
      </p:sp>
      <p:sp>
        <p:nvSpPr>
          <p:cNvPr id="768" name="Google Shape;768;p72"/>
          <p:cNvSpPr/>
          <p:nvPr/>
        </p:nvSpPr>
        <p:spPr>
          <a:xfrm>
            <a:off x="2819400" y="4572000"/>
            <a:ext cx="2286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11720</a:t>
            </a:r>
            <a:endParaRPr b="0" i="0" sz="3200" u="none" cap="none" strike="noStrike">
              <a:solidFill>
                <a:schemeClr val="lt1"/>
              </a:solidFill>
              <a:latin typeface="Calibri"/>
              <a:ea typeface="Calibri"/>
              <a:cs typeface="Calibri"/>
              <a:sym typeface="Calibri"/>
            </a:endParaRPr>
          </a:p>
        </p:txBody>
      </p:sp>
      <p:sp>
        <p:nvSpPr>
          <p:cNvPr id="769" name="Google Shape;769;p72"/>
          <p:cNvSpPr/>
          <p:nvPr/>
        </p:nvSpPr>
        <p:spPr>
          <a:xfrm>
            <a:off x="2819400" y="5486400"/>
            <a:ext cx="2286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11800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If the counting numbers 1 to 30 are written down, how many times does the digit 2 appear?</a:t>
            </a:r>
            <a:endParaRPr sz="3600"/>
          </a:p>
        </p:txBody>
      </p:sp>
      <p:sp>
        <p:nvSpPr>
          <p:cNvPr id="775" name="Google Shape;775;p73"/>
          <p:cNvSpPr/>
          <p:nvPr/>
        </p:nvSpPr>
        <p:spPr>
          <a:xfrm>
            <a:off x="3390900" y="2743200"/>
            <a:ext cx="17145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11</a:t>
            </a:r>
            <a:endParaRPr b="0" i="0" sz="3200" u="none" cap="none" strike="noStrike">
              <a:solidFill>
                <a:schemeClr val="lt1"/>
              </a:solidFill>
              <a:latin typeface="Calibri"/>
              <a:ea typeface="Calibri"/>
              <a:cs typeface="Calibri"/>
              <a:sym typeface="Calibri"/>
            </a:endParaRPr>
          </a:p>
        </p:txBody>
      </p:sp>
      <p:sp>
        <p:nvSpPr>
          <p:cNvPr id="776" name="Google Shape;776;p73"/>
          <p:cNvSpPr/>
          <p:nvPr/>
        </p:nvSpPr>
        <p:spPr>
          <a:xfrm>
            <a:off x="3352800" y="3657600"/>
            <a:ext cx="17526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14</a:t>
            </a:r>
            <a:endParaRPr b="0" i="0" sz="3200" u="none" cap="none" strike="noStrike">
              <a:solidFill>
                <a:schemeClr val="lt1"/>
              </a:solidFill>
              <a:latin typeface="Calibri"/>
              <a:ea typeface="Calibri"/>
              <a:cs typeface="Calibri"/>
              <a:sym typeface="Calibri"/>
            </a:endParaRPr>
          </a:p>
        </p:txBody>
      </p:sp>
      <p:sp>
        <p:nvSpPr>
          <p:cNvPr id="777" name="Google Shape;777;p73"/>
          <p:cNvSpPr/>
          <p:nvPr/>
        </p:nvSpPr>
        <p:spPr>
          <a:xfrm>
            <a:off x="3352800" y="4572000"/>
            <a:ext cx="17526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12</a:t>
            </a:r>
            <a:endParaRPr b="0" i="0" sz="3200" u="none" cap="none" strike="noStrike">
              <a:solidFill>
                <a:schemeClr val="lt1"/>
              </a:solidFill>
              <a:latin typeface="Calibri"/>
              <a:ea typeface="Calibri"/>
              <a:cs typeface="Calibri"/>
              <a:sym typeface="Calibri"/>
            </a:endParaRPr>
          </a:p>
        </p:txBody>
      </p:sp>
      <p:sp>
        <p:nvSpPr>
          <p:cNvPr id="778" name="Google Shape;778;p73"/>
          <p:cNvSpPr/>
          <p:nvPr/>
        </p:nvSpPr>
        <p:spPr>
          <a:xfrm>
            <a:off x="3352800" y="5486400"/>
            <a:ext cx="1752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13</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7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259:37 as ______.</a:t>
            </a:r>
            <a:endParaRPr sz="3600"/>
          </a:p>
        </p:txBody>
      </p:sp>
      <p:sp>
        <p:nvSpPr>
          <p:cNvPr id="784" name="Google Shape;784;p74"/>
          <p:cNvSpPr/>
          <p:nvPr/>
        </p:nvSpPr>
        <p:spPr>
          <a:xfrm>
            <a:off x="3390899" y="2743200"/>
            <a:ext cx="2161761"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84:12</a:t>
            </a:r>
            <a:endParaRPr b="0" i="0" sz="3200" u="none" cap="none" strike="noStrike">
              <a:solidFill>
                <a:schemeClr val="lt1"/>
              </a:solidFill>
              <a:latin typeface="Calibri"/>
              <a:ea typeface="Calibri"/>
              <a:cs typeface="Calibri"/>
              <a:sym typeface="Calibri"/>
            </a:endParaRPr>
          </a:p>
        </p:txBody>
      </p:sp>
      <p:sp>
        <p:nvSpPr>
          <p:cNvPr id="785" name="Google Shape;785;p74"/>
          <p:cNvSpPr/>
          <p:nvPr/>
        </p:nvSpPr>
        <p:spPr>
          <a:xfrm>
            <a:off x="3352800" y="3657600"/>
            <a:ext cx="22098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25:4</a:t>
            </a:r>
            <a:endParaRPr b="0" i="0" sz="3200" u="none" cap="none" strike="noStrike">
              <a:solidFill>
                <a:schemeClr val="lt1"/>
              </a:solidFill>
              <a:latin typeface="Calibri"/>
              <a:ea typeface="Calibri"/>
              <a:cs typeface="Calibri"/>
              <a:sym typeface="Calibri"/>
            </a:endParaRPr>
          </a:p>
        </p:txBody>
      </p:sp>
      <p:sp>
        <p:nvSpPr>
          <p:cNvPr id="786" name="Google Shape;786;p74"/>
          <p:cNvSpPr/>
          <p:nvPr/>
        </p:nvSpPr>
        <p:spPr>
          <a:xfrm>
            <a:off x="3352800" y="4572000"/>
            <a:ext cx="22098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5:1</a:t>
            </a:r>
            <a:endParaRPr b="0" i="0" sz="3200" u="none" cap="none" strike="noStrike">
              <a:solidFill>
                <a:schemeClr val="lt1"/>
              </a:solidFill>
              <a:latin typeface="Calibri"/>
              <a:ea typeface="Calibri"/>
              <a:cs typeface="Calibri"/>
              <a:sym typeface="Calibri"/>
            </a:endParaRPr>
          </a:p>
        </p:txBody>
      </p:sp>
      <p:sp>
        <p:nvSpPr>
          <p:cNvPr id="787" name="Google Shape;787;p74"/>
          <p:cNvSpPr/>
          <p:nvPr/>
        </p:nvSpPr>
        <p:spPr>
          <a:xfrm>
            <a:off x="3352800" y="5486400"/>
            <a:ext cx="22098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63:441</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7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What value of x will make this proportion correct? 13:x = 3.25:8.00</a:t>
            </a:r>
            <a:endParaRPr sz="3600"/>
          </a:p>
        </p:txBody>
      </p:sp>
      <p:sp>
        <p:nvSpPr>
          <p:cNvPr id="793" name="Google Shape;793;p75"/>
          <p:cNvSpPr/>
          <p:nvPr/>
        </p:nvSpPr>
        <p:spPr>
          <a:xfrm>
            <a:off x="3390900" y="2743200"/>
            <a:ext cx="1639957"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2</a:t>
            </a:r>
            <a:endParaRPr b="0" i="0" sz="3200" u="none" cap="none" strike="noStrike">
              <a:solidFill>
                <a:schemeClr val="lt1"/>
              </a:solidFill>
              <a:latin typeface="Calibri"/>
              <a:ea typeface="Calibri"/>
              <a:cs typeface="Calibri"/>
              <a:sym typeface="Calibri"/>
            </a:endParaRPr>
          </a:p>
        </p:txBody>
      </p:sp>
      <p:sp>
        <p:nvSpPr>
          <p:cNvPr id="794" name="Google Shape;794;p75"/>
          <p:cNvSpPr/>
          <p:nvPr/>
        </p:nvSpPr>
        <p:spPr>
          <a:xfrm>
            <a:off x="3352800" y="3657600"/>
            <a:ext cx="16764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3.5</a:t>
            </a:r>
            <a:endParaRPr b="0" i="0" sz="3200" u="none" cap="none" strike="noStrike">
              <a:solidFill>
                <a:schemeClr val="lt1"/>
              </a:solidFill>
              <a:latin typeface="Calibri"/>
              <a:ea typeface="Calibri"/>
              <a:cs typeface="Calibri"/>
              <a:sym typeface="Calibri"/>
            </a:endParaRPr>
          </a:p>
        </p:txBody>
      </p:sp>
      <p:sp>
        <p:nvSpPr>
          <p:cNvPr id="795" name="Google Shape;795;p75"/>
          <p:cNvSpPr/>
          <p:nvPr/>
        </p:nvSpPr>
        <p:spPr>
          <a:xfrm>
            <a:off x="3352800" y="4572000"/>
            <a:ext cx="16764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32</a:t>
            </a:r>
            <a:endParaRPr b="0" i="0" sz="3200" u="none" cap="none" strike="noStrike">
              <a:solidFill>
                <a:schemeClr val="lt1"/>
              </a:solidFill>
              <a:latin typeface="Calibri"/>
              <a:ea typeface="Calibri"/>
              <a:cs typeface="Calibri"/>
              <a:sym typeface="Calibri"/>
            </a:endParaRPr>
          </a:p>
        </p:txBody>
      </p:sp>
      <p:sp>
        <p:nvSpPr>
          <p:cNvPr id="796" name="Google Shape;796;p75"/>
          <p:cNvSpPr/>
          <p:nvPr/>
        </p:nvSpPr>
        <p:spPr>
          <a:xfrm>
            <a:off x="3352800" y="5486400"/>
            <a:ext cx="16764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20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How many glasses of Cola each to be filled with 150 cu.cm. of liquid can be made from 5 family size bottles of cola each containing 1.5 liters?</a:t>
            </a:r>
            <a:endParaRPr sz="3600"/>
          </a:p>
        </p:txBody>
      </p:sp>
      <p:sp>
        <p:nvSpPr>
          <p:cNvPr id="802" name="Google Shape;802;p76"/>
          <p:cNvSpPr/>
          <p:nvPr/>
        </p:nvSpPr>
        <p:spPr>
          <a:xfrm>
            <a:off x="3390900" y="2743200"/>
            <a:ext cx="1639957"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45</a:t>
            </a:r>
            <a:endParaRPr b="0" i="0" sz="3200" u="none" cap="none" strike="noStrike">
              <a:solidFill>
                <a:schemeClr val="lt1"/>
              </a:solidFill>
              <a:latin typeface="Calibri"/>
              <a:ea typeface="Calibri"/>
              <a:cs typeface="Calibri"/>
              <a:sym typeface="Calibri"/>
            </a:endParaRPr>
          </a:p>
        </p:txBody>
      </p:sp>
      <p:sp>
        <p:nvSpPr>
          <p:cNvPr id="803" name="Google Shape;803;p76"/>
          <p:cNvSpPr/>
          <p:nvPr/>
        </p:nvSpPr>
        <p:spPr>
          <a:xfrm>
            <a:off x="3352800" y="3657600"/>
            <a:ext cx="16764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50</a:t>
            </a:r>
            <a:endParaRPr b="0" i="0" sz="3200" u="none" cap="none" strike="noStrike">
              <a:solidFill>
                <a:schemeClr val="lt1"/>
              </a:solidFill>
              <a:latin typeface="Calibri"/>
              <a:ea typeface="Calibri"/>
              <a:cs typeface="Calibri"/>
              <a:sym typeface="Calibri"/>
            </a:endParaRPr>
          </a:p>
        </p:txBody>
      </p:sp>
      <p:sp>
        <p:nvSpPr>
          <p:cNvPr id="804" name="Google Shape;804;p76"/>
          <p:cNvSpPr/>
          <p:nvPr/>
        </p:nvSpPr>
        <p:spPr>
          <a:xfrm>
            <a:off x="3352800" y="4572000"/>
            <a:ext cx="16764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60</a:t>
            </a:r>
            <a:endParaRPr b="0" i="0" sz="3200" u="none" cap="none" strike="noStrike">
              <a:solidFill>
                <a:schemeClr val="lt1"/>
              </a:solidFill>
              <a:latin typeface="Calibri"/>
              <a:ea typeface="Calibri"/>
              <a:cs typeface="Calibri"/>
              <a:sym typeface="Calibri"/>
            </a:endParaRPr>
          </a:p>
        </p:txBody>
      </p:sp>
      <p:sp>
        <p:nvSpPr>
          <p:cNvPr id="805" name="Google Shape;805;p76"/>
          <p:cNvSpPr/>
          <p:nvPr/>
        </p:nvSpPr>
        <p:spPr>
          <a:xfrm>
            <a:off x="3352800" y="5486400"/>
            <a:ext cx="16764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40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What is the greatest common factor of the numbers 48, 12, and 32?</a:t>
            </a:r>
            <a:endParaRPr sz="3600"/>
          </a:p>
        </p:txBody>
      </p:sp>
      <p:sp>
        <p:nvSpPr>
          <p:cNvPr id="811" name="Google Shape;811;p77"/>
          <p:cNvSpPr/>
          <p:nvPr/>
        </p:nvSpPr>
        <p:spPr>
          <a:xfrm>
            <a:off x="3390900" y="2743200"/>
            <a:ext cx="1639957"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2</a:t>
            </a:r>
            <a:endParaRPr b="0" i="0" sz="3200" u="none" cap="none" strike="noStrike">
              <a:solidFill>
                <a:schemeClr val="lt1"/>
              </a:solidFill>
              <a:latin typeface="Calibri"/>
              <a:ea typeface="Calibri"/>
              <a:cs typeface="Calibri"/>
              <a:sym typeface="Calibri"/>
            </a:endParaRPr>
          </a:p>
        </p:txBody>
      </p:sp>
      <p:sp>
        <p:nvSpPr>
          <p:cNvPr id="812" name="Google Shape;812;p77"/>
          <p:cNvSpPr/>
          <p:nvPr/>
        </p:nvSpPr>
        <p:spPr>
          <a:xfrm>
            <a:off x="3352800" y="3657600"/>
            <a:ext cx="16764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4</a:t>
            </a:r>
            <a:endParaRPr b="0" i="0" sz="3200" u="none" cap="none" strike="noStrike">
              <a:solidFill>
                <a:schemeClr val="lt1"/>
              </a:solidFill>
              <a:latin typeface="Calibri"/>
              <a:ea typeface="Calibri"/>
              <a:cs typeface="Calibri"/>
              <a:sym typeface="Calibri"/>
            </a:endParaRPr>
          </a:p>
        </p:txBody>
      </p:sp>
      <p:sp>
        <p:nvSpPr>
          <p:cNvPr id="813" name="Google Shape;813;p77"/>
          <p:cNvSpPr/>
          <p:nvPr/>
        </p:nvSpPr>
        <p:spPr>
          <a:xfrm>
            <a:off x="3352800" y="4572000"/>
            <a:ext cx="16764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3</a:t>
            </a:r>
            <a:endParaRPr b="0" i="0" sz="3200" u="none" cap="none" strike="noStrike">
              <a:solidFill>
                <a:schemeClr val="lt1"/>
              </a:solidFill>
              <a:latin typeface="Calibri"/>
              <a:ea typeface="Calibri"/>
              <a:cs typeface="Calibri"/>
              <a:sym typeface="Calibri"/>
            </a:endParaRPr>
          </a:p>
        </p:txBody>
      </p:sp>
      <p:sp>
        <p:nvSpPr>
          <p:cNvPr id="814" name="Google Shape;814;p77"/>
          <p:cNvSpPr/>
          <p:nvPr/>
        </p:nvSpPr>
        <p:spPr>
          <a:xfrm>
            <a:off x="3352800" y="5486400"/>
            <a:ext cx="16764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6</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7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A car depreciates by 10% of its brand new price each year and by 15% in each succeeding year. By 2009, what would be the market price for a car bought brand new for P600,000 in 2004?</a:t>
            </a:r>
            <a:endParaRPr sz="3600"/>
          </a:p>
        </p:txBody>
      </p:sp>
      <p:sp>
        <p:nvSpPr>
          <p:cNvPr id="820" name="Google Shape;820;p78"/>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P390,000</a:t>
            </a:r>
            <a:endParaRPr b="0" i="0" sz="3200" u="none" cap="none" strike="noStrike">
              <a:solidFill>
                <a:schemeClr val="lt1"/>
              </a:solidFill>
              <a:latin typeface="Calibri"/>
              <a:ea typeface="Calibri"/>
              <a:cs typeface="Calibri"/>
              <a:sym typeface="Calibri"/>
            </a:endParaRPr>
          </a:p>
        </p:txBody>
      </p:sp>
      <p:sp>
        <p:nvSpPr>
          <p:cNvPr id="821" name="Google Shape;821;p78"/>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P480,000</a:t>
            </a:r>
            <a:endParaRPr b="0" i="0" sz="3200" u="none" cap="none" strike="noStrike">
              <a:solidFill>
                <a:schemeClr val="lt1"/>
              </a:solidFill>
              <a:latin typeface="Calibri"/>
              <a:ea typeface="Calibri"/>
              <a:cs typeface="Calibri"/>
              <a:sym typeface="Calibri"/>
            </a:endParaRPr>
          </a:p>
        </p:txBody>
      </p:sp>
      <p:sp>
        <p:nvSpPr>
          <p:cNvPr id="822" name="Google Shape;822;p78"/>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P210,000</a:t>
            </a:r>
            <a:endParaRPr b="0" i="0" sz="3200" u="none" cap="none" strike="noStrike">
              <a:solidFill>
                <a:schemeClr val="lt1"/>
              </a:solidFill>
              <a:latin typeface="Calibri"/>
              <a:ea typeface="Calibri"/>
              <a:cs typeface="Calibri"/>
              <a:sym typeface="Calibri"/>
            </a:endParaRPr>
          </a:p>
        </p:txBody>
      </p:sp>
      <p:sp>
        <p:nvSpPr>
          <p:cNvPr id="823" name="Google Shape;823;p78"/>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P420,000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79"/>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By how much is 35% of P220 greater than 55% of P140?</a:t>
            </a:r>
            <a:endParaRPr sz="3600"/>
          </a:p>
        </p:txBody>
      </p:sp>
      <p:sp>
        <p:nvSpPr>
          <p:cNvPr id="829" name="Google Shape;829;p79"/>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P10.00</a:t>
            </a:r>
            <a:endParaRPr b="0" i="0" sz="3200" u="none" cap="none" strike="noStrike">
              <a:solidFill>
                <a:schemeClr val="lt1"/>
              </a:solidFill>
              <a:latin typeface="Calibri"/>
              <a:ea typeface="Calibri"/>
              <a:cs typeface="Calibri"/>
              <a:sym typeface="Calibri"/>
            </a:endParaRPr>
          </a:p>
        </p:txBody>
      </p:sp>
      <p:sp>
        <p:nvSpPr>
          <p:cNvPr id="830" name="Google Shape;830;p79"/>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P0.00</a:t>
            </a:r>
            <a:endParaRPr b="0" i="0" sz="3200" u="none" cap="none" strike="noStrike">
              <a:solidFill>
                <a:schemeClr val="lt1"/>
              </a:solidFill>
              <a:latin typeface="Calibri"/>
              <a:ea typeface="Calibri"/>
              <a:cs typeface="Calibri"/>
              <a:sym typeface="Calibri"/>
            </a:endParaRPr>
          </a:p>
        </p:txBody>
      </p:sp>
      <p:sp>
        <p:nvSpPr>
          <p:cNvPr id="831" name="Google Shape;831;p79"/>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P20.00</a:t>
            </a:r>
            <a:endParaRPr b="0" i="0" sz="3200" u="none" cap="none" strike="noStrike">
              <a:solidFill>
                <a:schemeClr val="lt1"/>
              </a:solidFill>
              <a:latin typeface="Calibri"/>
              <a:ea typeface="Calibri"/>
              <a:cs typeface="Calibri"/>
              <a:sym typeface="Calibri"/>
            </a:endParaRPr>
          </a:p>
        </p:txBody>
      </p:sp>
      <p:sp>
        <p:nvSpPr>
          <p:cNvPr id="832" name="Google Shape;832;p79"/>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P16.00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80"/>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In the playground for kindergarten kids, 18 children are riding tricycles or bicycles. If there are 43 wheels in all, how many tricycles are there?</a:t>
            </a:r>
            <a:endParaRPr sz="3600"/>
          </a:p>
        </p:txBody>
      </p:sp>
      <p:sp>
        <p:nvSpPr>
          <p:cNvPr id="838" name="Google Shape;838;p80"/>
          <p:cNvSpPr/>
          <p:nvPr/>
        </p:nvSpPr>
        <p:spPr>
          <a:xfrm>
            <a:off x="2794552" y="2743200"/>
            <a:ext cx="1490871"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7</a:t>
            </a:r>
            <a:endParaRPr b="0" i="0" sz="3200" u="none" cap="none" strike="noStrike">
              <a:solidFill>
                <a:schemeClr val="lt1"/>
              </a:solidFill>
              <a:latin typeface="Calibri"/>
              <a:ea typeface="Calibri"/>
              <a:cs typeface="Calibri"/>
              <a:sym typeface="Calibri"/>
            </a:endParaRPr>
          </a:p>
        </p:txBody>
      </p:sp>
      <p:sp>
        <p:nvSpPr>
          <p:cNvPr id="839" name="Google Shape;839;p80"/>
          <p:cNvSpPr/>
          <p:nvPr/>
        </p:nvSpPr>
        <p:spPr>
          <a:xfrm>
            <a:off x="2743199" y="3657600"/>
            <a:ext cx="1524001"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8</a:t>
            </a:r>
            <a:endParaRPr b="0" i="0" sz="3200" u="none" cap="none" strike="noStrike">
              <a:solidFill>
                <a:schemeClr val="lt1"/>
              </a:solidFill>
              <a:latin typeface="Calibri"/>
              <a:ea typeface="Calibri"/>
              <a:cs typeface="Calibri"/>
              <a:sym typeface="Calibri"/>
            </a:endParaRPr>
          </a:p>
        </p:txBody>
      </p:sp>
      <p:sp>
        <p:nvSpPr>
          <p:cNvPr id="840" name="Google Shape;840;p80"/>
          <p:cNvSpPr/>
          <p:nvPr/>
        </p:nvSpPr>
        <p:spPr>
          <a:xfrm>
            <a:off x="2743199" y="4572000"/>
            <a:ext cx="1524001"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9</a:t>
            </a:r>
            <a:endParaRPr b="0" i="0" sz="3200" u="none" cap="none" strike="noStrike">
              <a:solidFill>
                <a:schemeClr val="lt1"/>
              </a:solidFill>
              <a:latin typeface="Calibri"/>
              <a:ea typeface="Calibri"/>
              <a:cs typeface="Calibri"/>
              <a:sym typeface="Calibri"/>
            </a:endParaRPr>
          </a:p>
        </p:txBody>
      </p:sp>
      <p:sp>
        <p:nvSpPr>
          <p:cNvPr id="841" name="Google Shape;841;p80"/>
          <p:cNvSpPr/>
          <p:nvPr/>
        </p:nvSpPr>
        <p:spPr>
          <a:xfrm>
            <a:off x="2743199" y="5486400"/>
            <a:ext cx="1524001"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11</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8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The edges of a cubical frame are made from plastic straws. How much longer is the total length of the plastic edges of a cube whose edges is 10cm compared to a cube whose edge is 8cm?</a:t>
            </a:r>
            <a:endParaRPr sz="3600"/>
          </a:p>
        </p:txBody>
      </p:sp>
      <p:sp>
        <p:nvSpPr>
          <p:cNvPr id="847" name="Google Shape;847;p81"/>
          <p:cNvSpPr/>
          <p:nvPr/>
        </p:nvSpPr>
        <p:spPr>
          <a:xfrm>
            <a:off x="3175552" y="2743200"/>
            <a:ext cx="1929848"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24 cm</a:t>
            </a:r>
            <a:endParaRPr b="0" i="0" sz="3200" u="none" cap="none" strike="noStrike">
              <a:solidFill>
                <a:schemeClr val="lt1"/>
              </a:solidFill>
              <a:latin typeface="Calibri"/>
              <a:ea typeface="Calibri"/>
              <a:cs typeface="Calibri"/>
              <a:sym typeface="Calibri"/>
            </a:endParaRPr>
          </a:p>
        </p:txBody>
      </p:sp>
      <p:sp>
        <p:nvSpPr>
          <p:cNvPr id="848" name="Google Shape;848;p81"/>
          <p:cNvSpPr/>
          <p:nvPr/>
        </p:nvSpPr>
        <p:spPr>
          <a:xfrm>
            <a:off x="3124199" y="3657600"/>
            <a:ext cx="1972733"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32 cm</a:t>
            </a:r>
            <a:endParaRPr b="0" i="0" sz="3200" u="none" cap="none" strike="noStrike">
              <a:solidFill>
                <a:schemeClr val="lt1"/>
              </a:solidFill>
              <a:latin typeface="Calibri"/>
              <a:ea typeface="Calibri"/>
              <a:cs typeface="Calibri"/>
              <a:sym typeface="Calibri"/>
            </a:endParaRPr>
          </a:p>
        </p:txBody>
      </p:sp>
      <p:sp>
        <p:nvSpPr>
          <p:cNvPr id="849" name="Google Shape;849;p81"/>
          <p:cNvSpPr/>
          <p:nvPr/>
        </p:nvSpPr>
        <p:spPr>
          <a:xfrm>
            <a:off x="3124199" y="4572000"/>
            <a:ext cx="1972733"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16 cm</a:t>
            </a:r>
            <a:endParaRPr b="0" i="0" sz="3200" u="none" cap="none" strike="noStrike">
              <a:solidFill>
                <a:schemeClr val="lt1"/>
              </a:solidFill>
              <a:latin typeface="Calibri"/>
              <a:ea typeface="Calibri"/>
              <a:cs typeface="Calibri"/>
              <a:sym typeface="Calibri"/>
            </a:endParaRPr>
          </a:p>
        </p:txBody>
      </p:sp>
      <p:sp>
        <p:nvSpPr>
          <p:cNvPr id="850" name="Google Shape;850;p81"/>
          <p:cNvSpPr/>
          <p:nvPr/>
        </p:nvSpPr>
        <p:spPr>
          <a:xfrm>
            <a:off x="3124199" y="5486400"/>
            <a:ext cx="1972733"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8 cm</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8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In a Mathematics test, 35 students passed and 30% failed. How many students took the test?</a:t>
            </a:r>
            <a:endParaRPr sz="3600"/>
          </a:p>
        </p:txBody>
      </p:sp>
      <p:sp>
        <p:nvSpPr>
          <p:cNvPr id="856" name="Google Shape;856;p82"/>
          <p:cNvSpPr/>
          <p:nvPr/>
        </p:nvSpPr>
        <p:spPr>
          <a:xfrm>
            <a:off x="3612872" y="2743200"/>
            <a:ext cx="1416328"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60</a:t>
            </a:r>
            <a:endParaRPr b="0" i="0" sz="3200" u="none" cap="none" strike="noStrike">
              <a:solidFill>
                <a:schemeClr val="lt1"/>
              </a:solidFill>
              <a:latin typeface="Calibri"/>
              <a:ea typeface="Calibri"/>
              <a:cs typeface="Calibri"/>
              <a:sym typeface="Calibri"/>
            </a:endParaRPr>
          </a:p>
        </p:txBody>
      </p:sp>
      <p:sp>
        <p:nvSpPr>
          <p:cNvPr id="857" name="Google Shape;857;p82"/>
          <p:cNvSpPr/>
          <p:nvPr/>
        </p:nvSpPr>
        <p:spPr>
          <a:xfrm>
            <a:off x="3561519" y="3657600"/>
            <a:ext cx="1447801"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50</a:t>
            </a:r>
            <a:endParaRPr b="0" i="0" sz="3200" u="none" cap="none" strike="noStrike">
              <a:solidFill>
                <a:schemeClr val="lt1"/>
              </a:solidFill>
              <a:latin typeface="Calibri"/>
              <a:ea typeface="Calibri"/>
              <a:cs typeface="Calibri"/>
              <a:sym typeface="Calibri"/>
            </a:endParaRPr>
          </a:p>
        </p:txBody>
      </p:sp>
      <p:sp>
        <p:nvSpPr>
          <p:cNvPr id="858" name="Google Shape;858;p82"/>
          <p:cNvSpPr/>
          <p:nvPr/>
        </p:nvSpPr>
        <p:spPr>
          <a:xfrm>
            <a:off x="3561519" y="4572000"/>
            <a:ext cx="1447801"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40</a:t>
            </a:r>
            <a:endParaRPr b="0" i="0" sz="3200" u="none" cap="none" strike="noStrike">
              <a:solidFill>
                <a:schemeClr val="lt1"/>
              </a:solidFill>
              <a:latin typeface="Calibri"/>
              <a:ea typeface="Calibri"/>
              <a:cs typeface="Calibri"/>
              <a:sym typeface="Calibri"/>
            </a:endParaRPr>
          </a:p>
        </p:txBody>
      </p:sp>
      <p:sp>
        <p:nvSpPr>
          <p:cNvPr id="859" name="Google Shape;859;p82"/>
          <p:cNvSpPr/>
          <p:nvPr/>
        </p:nvSpPr>
        <p:spPr>
          <a:xfrm>
            <a:off x="3561519" y="5486400"/>
            <a:ext cx="1447801"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30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8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The legs of one right triangle are 9 and 12, while those of another right triangle are 12 and 16. How much longer is the perimeter of the larger triangle than the perimeter of the smaller triangle?</a:t>
            </a:r>
            <a:endParaRPr sz="3600"/>
          </a:p>
        </p:txBody>
      </p:sp>
      <p:sp>
        <p:nvSpPr>
          <p:cNvPr id="865" name="Google Shape;865;p83"/>
          <p:cNvSpPr/>
          <p:nvPr/>
        </p:nvSpPr>
        <p:spPr>
          <a:xfrm>
            <a:off x="3612872" y="2743200"/>
            <a:ext cx="1416328"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84</a:t>
            </a:r>
            <a:endParaRPr b="0" i="0" sz="3200" u="none" cap="none" strike="noStrike">
              <a:solidFill>
                <a:schemeClr val="lt1"/>
              </a:solidFill>
              <a:latin typeface="Calibri"/>
              <a:ea typeface="Calibri"/>
              <a:cs typeface="Calibri"/>
              <a:sym typeface="Calibri"/>
            </a:endParaRPr>
          </a:p>
        </p:txBody>
      </p:sp>
      <p:sp>
        <p:nvSpPr>
          <p:cNvPr id="866" name="Google Shape;866;p83"/>
          <p:cNvSpPr/>
          <p:nvPr/>
        </p:nvSpPr>
        <p:spPr>
          <a:xfrm>
            <a:off x="3561519" y="3657600"/>
            <a:ext cx="1447801"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14</a:t>
            </a:r>
            <a:endParaRPr b="0" i="0" sz="3200" u="none" cap="none" strike="noStrike">
              <a:solidFill>
                <a:schemeClr val="lt1"/>
              </a:solidFill>
              <a:latin typeface="Calibri"/>
              <a:ea typeface="Calibri"/>
              <a:cs typeface="Calibri"/>
              <a:sym typeface="Calibri"/>
            </a:endParaRPr>
          </a:p>
        </p:txBody>
      </p:sp>
      <p:sp>
        <p:nvSpPr>
          <p:cNvPr id="867" name="Google Shape;867;p83"/>
          <p:cNvSpPr/>
          <p:nvPr/>
        </p:nvSpPr>
        <p:spPr>
          <a:xfrm>
            <a:off x="3561519" y="4572000"/>
            <a:ext cx="1447801"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7</a:t>
            </a:r>
            <a:endParaRPr b="0" i="0" sz="3200" u="none" cap="none" strike="noStrike">
              <a:solidFill>
                <a:schemeClr val="lt1"/>
              </a:solidFill>
              <a:latin typeface="Calibri"/>
              <a:ea typeface="Calibri"/>
              <a:cs typeface="Calibri"/>
              <a:sym typeface="Calibri"/>
            </a:endParaRPr>
          </a:p>
        </p:txBody>
      </p:sp>
      <p:sp>
        <p:nvSpPr>
          <p:cNvPr id="868" name="Google Shape;868;p83"/>
          <p:cNvSpPr/>
          <p:nvPr/>
        </p:nvSpPr>
        <p:spPr>
          <a:xfrm>
            <a:off x="3561519" y="5486400"/>
            <a:ext cx="1447801"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12</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8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Each bag contains 50 kg. What would be the increase in the price if the cost of one bag of rice goes from P950.00 to P1,200.00?</a:t>
            </a:r>
            <a:endParaRPr sz="3600"/>
          </a:p>
        </p:txBody>
      </p:sp>
      <p:sp>
        <p:nvSpPr>
          <p:cNvPr id="874" name="Google Shape;874;p84"/>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P250.00</a:t>
            </a:r>
            <a:endParaRPr b="0" i="0" sz="3200" u="none" cap="none" strike="noStrike">
              <a:solidFill>
                <a:schemeClr val="lt1"/>
              </a:solidFill>
              <a:latin typeface="Calibri"/>
              <a:ea typeface="Calibri"/>
              <a:cs typeface="Calibri"/>
              <a:sym typeface="Calibri"/>
            </a:endParaRPr>
          </a:p>
        </p:txBody>
      </p:sp>
      <p:sp>
        <p:nvSpPr>
          <p:cNvPr id="875" name="Google Shape;875;p84"/>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P7.50</a:t>
            </a:r>
            <a:endParaRPr b="0" i="0" sz="3200" u="none" cap="none" strike="noStrike">
              <a:solidFill>
                <a:schemeClr val="lt1"/>
              </a:solidFill>
              <a:latin typeface="Calibri"/>
              <a:ea typeface="Calibri"/>
              <a:cs typeface="Calibri"/>
              <a:sym typeface="Calibri"/>
            </a:endParaRPr>
          </a:p>
        </p:txBody>
      </p:sp>
      <p:sp>
        <p:nvSpPr>
          <p:cNvPr id="876" name="Google Shape;876;p84"/>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3.75</a:t>
            </a:r>
            <a:endParaRPr b="0" i="0" sz="3200" u="none" cap="none" strike="noStrike">
              <a:solidFill>
                <a:schemeClr val="lt1"/>
              </a:solidFill>
              <a:latin typeface="Calibri"/>
              <a:ea typeface="Calibri"/>
              <a:cs typeface="Calibri"/>
              <a:sym typeface="Calibri"/>
            </a:endParaRPr>
          </a:p>
        </p:txBody>
      </p:sp>
      <p:sp>
        <p:nvSpPr>
          <p:cNvPr id="877" name="Google Shape;877;p84"/>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P5.00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8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At what rate of interest should P2,400 be invested so that it will earn P880 in 8 months?</a:t>
            </a:r>
            <a:endParaRPr sz="3600"/>
          </a:p>
        </p:txBody>
      </p:sp>
      <p:sp>
        <p:nvSpPr>
          <p:cNvPr id="883" name="Google Shape;883;p85"/>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6 ½%</a:t>
            </a:r>
            <a:endParaRPr b="0" i="0" sz="3200" u="none" cap="none" strike="noStrike">
              <a:solidFill>
                <a:schemeClr val="lt1"/>
              </a:solidFill>
              <a:latin typeface="Calibri"/>
              <a:ea typeface="Calibri"/>
              <a:cs typeface="Calibri"/>
              <a:sym typeface="Calibri"/>
            </a:endParaRPr>
          </a:p>
        </p:txBody>
      </p:sp>
      <p:sp>
        <p:nvSpPr>
          <p:cNvPr id="884" name="Google Shape;884;p85"/>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5 ½%</a:t>
            </a:r>
            <a:endParaRPr b="0" i="0" sz="3200" u="none" cap="none" strike="noStrike">
              <a:solidFill>
                <a:schemeClr val="lt1"/>
              </a:solidFill>
              <a:latin typeface="Calibri"/>
              <a:ea typeface="Calibri"/>
              <a:cs typeface="Calibri"/>
              <a:sym typeface="Calibri"/>
            </a:endParaRPr>
          </a:p>
        </p:txBody>
      </p:sp>
      <p:sp>
        <p:nvSpPr>
          <p:cNvPr id="885" name="Google Shape;885;p85"/>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5%</a:t>
            </a:r>
            <a:endParaRPr b="0" i="0" sz="3200" u="none" cap="none" strike="noStrike">
              <a:solidFill>
                <a:schemeClr val="lt1"/>
              </a:solidFill>
              <a:latin typeface="Calibri"/>
              <a:ea typeface="Calibri"/>
              <a:cs typeface="Calibri"/>
              <a:sym typeface="Calibri"/>
            </a:endParaRPr>
          </a:p>
        </p:txBody>
      </p:sp>
      <p:sp>
        <p:nvSpPr>
          <p:cNvPr id="886" name="Google Shape;886;p85"/>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6%</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8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In the following number, which digit is in the thousandths place? 5672.13498</a:t>
            </a:r>
            <a:endParaRPr sz="3600"/>
          </a:p>
        </p:txBody>
      </p:sp>
      <p:sp>
        <p:nvSpPr>
          <p:cNvPr id="892" name="Google Shape;892;p86"/>
          <p:cNvSpPr/>
          <p:nvPr/>
        </p:nvSpPr>
        <p:spPr>
          <a:xfrm>
            <a:off x="3612873" y="2743200"/>
            <a:ext cx="1416327"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6</a:t>
            </a:r>
            <a:endParaRPr b="0" i="0" sz="3200" u="none" cap="none" strike="noStrike">
              <a:solidFill>
                <a:schemeClr val="lt1"/>
              </a:solidFill>
              <a:latin typeface="Calibri"/>
              <a:ea typeface="Calibri"/>
              <a:cs typeface="Calibri"/>
              <a:sym typeface="Calibri"/>
            </a:endParaRPr>
          </a:p>
        </p:txBody>
      </p:sp>
      <p:sp>
        <p:nvSpPr>
          <p:cNvPr id="893" name="Google Shape;893;p86"/>
          <p:cNvSpPr/>
          <p:nvPr/>
        </p:nvSpPr>
        <p:spPr>
          <a:xfrm>
            <a:off x="3561520" y="3657600"/>
            <a:ext cx="1447801"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4</a:t>
            </a:r>
            <a:endParaRPr b="0" i="0" sz="3200" u="none" cap="none" strike="noStrike">
              <a:solidFill>
                <a:schemeClr val="lt1"/>
              </a:solidFill>
              <a:latin typeface="Calibri"/>
              <a:ea typeface="Calibri"/>
              <a:cs typeface="Calibri"/>
              <a:sym typeface="Calibri"/>
            </a:endParaRPr>
          </a:p>
        </p:txBody>
      </p:sp>
      <p:sp>
        <p:nvSpPr>
          <p:cNvPr id="894" name="Google Shape;894;p86"/>
          <p:cNvSpPr/>
          <p:nvPr/>
        </p:nvSpPr>
        <p:spPr>
          <a:xfrm>
            <a:off x="3561520" y="4572000"/>
            <a:ext cx="1447801"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3</a:t>
            </a:r>
            <a:endParaRPr b="0" i="0" sz="3200" u="none" cap="none" strike="noStrike">
              <a:solidFill>
                <a:schemeClr val="lt1"/>
              </a:solidFill>
              <a:latin typeface="Calibri"/>
              <a:ea typeface="Calibri"/>
              <a:cs typeface="Calibri"/>
              <a:sym typeface="Calibri"/>
            </a:endParaRPr>
          </a:p>
        </p:txBody>
      </p:sp>
      <p:sp>
        <p:nvSpPr>
          <p:cNvPr id="895" name="Google Shape;895;p86"/>
          <p:cNvSpPr/>
          <p:nvPr/>
        </p:nvSpPr>
        <p:spPr>
          <a:xfrm>
            <a:off x="3561520" y="5486400"/>
            <a:ext cx="1447801"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9</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87"/>
          <p:cNvSpPr txBox="1"/>
          <p:nvPr>
            <p:ph type="title"/>
          </p:nvPr>
        </p:nvSpPr>
        <p:spPr>
          <a:xfrm>
            <a:off x="304800" y="381000"/>
            <a:ext cx="8610600" cy="25908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A child can be admitted to Grade 1 if he/she is at least 5 years and 10 months old by June of the school year. Which of these dates of birth will DISQUALIFY a child from being admitted to Grade 1 on June 15, 2009?</a:t>
            </a:r>
            <a:endParaRPr sz="3600"/>
          </a:p>
        </p:txBody>
      </p:sp>
      <p:sp>
        <p:nvSpPr>
          <p:cNvPr id="901" name="Google Shape;901;p87"/>
          <p:cNvSpPr/>
          <p:nvPr/>
        </p:nvSpPr>
        <p:spPr>
          <a:xfrm>
            <a:off x="2819400" y="3124200"/>
            <a:ext cx="3272855"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June 10, 2003</a:t>
            </a:r>
            <a:endParaRPr b="0" i="0" sz="3200" u="none" cap="none" strike="noStrike">
              <a:solidFill>
                <a:schemeClr val="lt1"/>
              </a:solidFill>
              <a:latin typeface="Calibri"/>
              <a:ea typeface="Calibri"/>
              <a:cs typeface="Calibri"/>
              <a:sym typeface="Calibri"/>
            </a:endParaRPr>
          </a:p>
        </p:txBody>
      </p:sp>
      <p:sp>
        <p:nvSpPr>
          <p:cNvPr id="902" name="Google Shape;902;p87"/>
          <p:cNvSpPr/>
          <p:nvPr/>
        </p:nvSpPr>
        <p:spPr>
          <a:xfrm>
            <a:off x="2750414" y="4038600"/>
            <a:ext cx="3345586"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Jan. 10, 2003</a:t>
            </a:r>
            <a:endParaRPr b="0" i="0" sz="3200" u="none" cap="none" strike="noStrike">
              <a:solidFill>
                <a:schemeClr val="lt1"/>
              </a:solidFill>
              <a:latin typeface="Calibri"/>
              <a:ea typeface="Calibri"/>
              <a:cs typeface="Calibri"/>
              <a:sym typeface="Calibri"/>
            </a:endParaRPr>
          </a:p>
        </p:txBody>
      </p:sp>
      <p:sp>
        <p:nvSpPr>
          <p:cNvPr id="903" name="Google Shape;903;p87"/>
          <p:cNvSpPr/>
          <p:nvPr/>
        </p:nvSpPr>
        <p:spPr>
          <a:xfrm>
            <a:off x="2750414" y="4953000"/>
            <a:ext cx="3345586"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April 30, 2003</a:t>
            </a:r>
            <a:endParaRPr b="0" i="0" sz="3200" u="none" cap="none" strike="noStrike">
              <a:solidFill>
                <a:schemeClr val="lt1"/>
              </a:solidFill>
              <a:latin typeface="Calibri"/>
              <a:ea typeface="Calibri"/>
              <a:cs typeface="Calibri"/>
              <a:sym typeface="Calibri"/>
            </a:endParaRPr>
          </a:p>
        </p:txBody>
      </p:sp>
      <p:sp>
        <p:nvSpPr>
          <p:cNvPr id="904" name="Google Shape;904;p87"/>
          <p:cNvSpPr/>
          <p:nvPr/>
        </p:nvSpPr>
        <p:spPr>
          <a:xfrm>
            <a:off x="2750414" y="5867400"/>
            <a:ext cx="3345586"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May 5, 2003</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8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How much greater is the sum of the first 20 counting numbers greater than the sum of the first 10 counting numbers?</a:t>
            </a:r>
            <a:endParaRPr sz="3600"/>
          </a:p>
        </p:txBody>
      </p:sp>
      <p:sp>
        <p:nvSpPr>
          <p:cNvPr id="910" name="Google Shape;910;p88"/>
          <p:cNvSpPr/>
          <p:nvPr/>
        </p:nvSpPr>
        <p:spPr>
          <a:xfrm>
            <a:off x="3612873" y="2743200"/>
            <a:ext cx="1584861"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110</a:t>
            </a:r>
            <a:endParaRPr b="0" i="0" sz="3200" u="none" cap="none" strike="noStrike">
              <a:solidFill>
                <a:schemeClr val="lt1"/>
              </a:solidFill>
              <a:latin typeface="Calibri"/>
              <a:ea typeface="Calibri"/>
              <a:cs typeface="Calibri"/>
              <a:sym typeface="Calibri"/>
            </a:endParaRPr>
          </a:p>
        </p:txBody>
      </p:sp>
      <p:sp>
        <p:nvSpPr>
          <p:cNvPr id="911" name="Google Shape;911;p88"/>
          <p:cNvSpPr/>
          <p:nvPr/>
        </p:nvSpPr>
        <p:spPr>
          <a:xfrm>
            <a:off x="3561520" y="3657600"/>
            <a:ext cx="162008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55</a:t>
            </a:r>
            <a:endParaRPr b="0" i="0" sz="3200" u="none" cap="none" strike="noStrike">
              <a:solidFill>
                <a:schemeClr val="lt1"/>
              </a:solidFill>
              <a:latin typeface="Calibri"/>
              <a:ea typeface="Calibri"/>
              <a:cs typeface="Calibri"/>
              <a:sym typeface="Calibri"/>
            </a:endParaRPr>
          </a:p>
        </p:txBody>
      </p:sp>
      <p:sp>
        <p:nvSpPr>
          <p:cNvPr id="912" name="Google Shape;912;p88"/>
          <p:cNvSpPr/>
          <p:nvPr/>
        </p:nvSpPr>
        <p:spPr>
          <a:xfrm>
            <a:off x="3561520" y="4572000"/>
            <a:ext cx="162008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155</a:t>
            </a:r>
            <a:endParaRPr b="0" i="0" sz="3200" u="none" cap="none" strike="noStrike">
              <a:solidFill>
                <a:schemeClr val="lt1"/>
              </a:solidFill>
              <a:latin typeface="Calibri"/>
              <a:ea typeface="Calibri"/>
              <a:cs typeface="Calibri"/>
              <a:sym typeface="Calibri"/>
            </a:endParaRPr>
          </a:p>
        </p:txBody>
      </p:sp>
      <p:sp>
        <p:nvSpPr>
          <p:cNvPr id="913" name="Google Shape;913;p88"/>
          <p:cNvSpPr/>
          <p:nvPr/>
        </p:nvSpPr>
        <p:spPr>
          <a:xfrm>
            <a:off x="3561520" y="5486400"/>
            <a:ext cx="162008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100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89"/>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of these numbers CANNOT possibly be a square number?</a:t>
            </a:r>
            <a:endParaRPr sz="3600"/>
          </a:p>
        </p:txBody>
      </p:sp>
      <p:sp>
        <p:nvSpPr>
          <p:cNvPr id="919" name="Google Shape;919;p89"/>
          <p:cNvSpPr/>
          <p:nvPr/>
        </p:nvSpPr>
        <p:spPr>
          <a:xfrm>
            <a:off x="3110516" y="2743200"/>
            <a:ext cx="2609023"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10217356</a:t>
            </a:r>
            <a:endParaRPr b="0" i="0" sz="3200" u="none" cap="none" strike="noStrike">
              <a:solidFill>
                <a:schemeClr val="lt1"/>
              </a:solidFill>
              <a:latin typeface="Calibri"/>
              <a:ea typeface="Calibri"/>
              <a:cs typeface="Calibri"/>
              <a:sym typeface="Calibri"/>
            </a:endParaRPr>
          </a:p>
        </p:txBody>
      </p:sp>
      <p:sp>
        <p:nvSpPr>
          <p:cNvPr id="920" name="Google Shape;920;p89"/>
          <p:cNvSpPr/>
          <p:nvPr/>
        </p:nvSpPr>
        <p:spPr>
          <a:xfrm>
            <a:off x="3048000" y="3657600"/>
            <a:ext cx="266700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35366809</a:t>
            </a:r>
            <a:endParaRPr b="0" i="0" sz="3200" u="none" cap="none" strike="noStrike">
              <a:solidFill>
                <a:schemeClr val="lt1"/>
              </a:solidFill>
              <a:latin typeface="Calibri"/>
              <a:ea typeface="Calibri"/>
              <a:cs typeface="Calibri"/>
              <a:sym typeface="Calibri"/>
            </a:endParaRPr>
          </a:p>
        </p:txBody>
      </p:sp>
      <p:sp>
        <p:nvSpPr>
          <p:cNvPr id="921" name="Google Shape;921;p89"/>
          <p:cNvSpPr/>
          <p:nvPr/>
        </p:nvSpPr>
        <p:spPr>
          <a:xfrm>
            <a:off x="3048000" y="4572000"/>
            <a:ext cx="266700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26275876</a:t>
            </a:r>
            <a:endParaRPr b="0" i="0" sz="3200" u="none" cap="none" strike="noStrike">
              <a:solidFill>
                <a:schemeClr val="lt1"/>
              </a:solidFill>
              <a:latin typeface="Calibri"/>
              <a:ea typeface="Calibri"/>
              <a:cs typeface="Calibri"/>
              <a:sym typeface="Calibri"/>
            </a:endParaRPr>
          </a:p>
        </p:txBody>
      </p:sp>
      <p:sp>
        <p:nvSpPr>
          <p:cNvPr id="922" name="Google Shape;922;p89"/>
          <p:cNvSpPr/>
          <p:nvPr/>
        </p:nvSpPr>
        <p:spPr>
          <a:xfrm>
            <a:off x="3048000" y="5486400"/>
            <a:ext cx="2667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2916488</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90"/>
          <p:cNvSpPr txBox="1"/>
          <p:nvPr>
            <p:ph type="title"/>
          </p:nvPr>
        </p:nvSpPr>
        <p:spPr>
          <a:xfrm>
            <a:off x="304800" y="381000"/>
            <a:ext cx="8610600" cy="25908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number is wrong in this sequence? What should the number be for the sequence to be CORRECT? 5, 15, 16, 48, 144, 147, 148, 444…</a:t>
            </a:r>
            <a:endParaRPr sz="3600"/>
          </a:p>
        </p:txBody>
      </p:sp>
      <p:sp>
        <p:nvSpPr>
          <p:cNvPr id="928" name="Google Shape;928;p90"/>
          <p:cNvSpPr/>
          <p:nvPr/>
        </p:nvSpPr>
        <p:spPr>
          <a:xfrm>
            <a:off x="2286000" y="3124200"/>
            <a:ext cx="4343400"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48; it should be 18</a:t>
            </a:r>
            <a:endParaRPr b="0" i="0" sz="3200" u="none" cap="none" strike="noStrike">
              <a:solidFill>
                <a:schemeClr val="lt1"/>
              </a:solidFill>
              <a:latin typeface="Calibri"/>
              <a:ea typeface="Calibri"/>
              <a:cs typeface="Calibri"/>
              <a:sym typeface="Calibri"/>
            </a:endParaRPr>
          </a:p>
        </p:txBody>
      </p:sp>
      <p:sp>
        <p:nvSpPr>
          <p:cNvPr id="929" name="Google Shape;929;p90"/>
          <p:cNvSpPr/>
          <p:nvPr/>
        </p:nvSpPr>
        <p:spPr>
          <a:xfrm>
            <a:off x="2286000" y="4038600"/>
            <a:ext cx="4359082"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147; it should be 145</a:t>
            </a:r>
            <a:endParaRPr b="0" i="0" sz="3200" u="none" cap="none" strike="noStrike">
              <a:solidFill>
                <a:schemeClr val="lt1"/>
              </a:solidFill>
              <a:latin typeface="Calibri"/>
              <a:ea typeface="Calibri"/>
              <a:cs typeface="Calibri"/>
              <a:sym typeface="Calibri"/>
            </a:endParaRPr>
          </a:p>
        </p:txBody>
      </p:sp>
      <p:sp>
        <p:nvSpPr>
          <p:cNvPr id="930" name="Google Shape;930;p90"/>
          <p:cNvSpPr/>
          <p:nvPr/>
        </p:nvSpPr>
        <p:spPr>
          <a:xfrm>
            <a:off x="2286000" y="4953000"/>
            <a:ext cx="4359082"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144; it should be 132</a:t>
            </a:r>
            <a:endParaRPr b="0" i="0" sz="3200" u="none" cap="none" strike="noStrike">
              <a:solidFill>
                <a:schemeClr val="lt1"/>
              </a:solidFill>
              <a:latin typeface="Calibri"/>
              <a:ea typeface="Calibri"/>
              <a:cs typeface="Calibri"/>
              <a:sym typeface="Calibri"/>
            </a:endParaRPr>
          </a:p>
        </p:txBody>
      </p:sp>
      <p:sp>
        <p:nvSpPr>
          <p:cNvPr id="931" name="Google Shape;931;p90"/>
          <p:cNvSpPr/>
          <p:nvPr/>
        </p:nvSpPr>
        <p:spPr>
          <a:xfrm>
            <a:off x="2286000" y="5867400"/>
            <a:ext cx="4359082"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144, it should be 49</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9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If July 12, 2003 fell on a Tuesday, on what day will July 12, 2005 fall?</a:t>
            </a:r>
            <a:endParaRPr sz="3600"/>
          </a:p>
        </p:txBody>
      </p:sp>
      <p:sp>
        <p:nvSpPr>
          <p:cNvPr id="937" name="Google Shape;937;p91"/>
          <p:cNvSpPr/>
          <p:nvPr/>
        </p:nvSpPr>
        <p:spPr>
          <a:xfrm>
            <a:off x="3110517" y="2743200"/>
            <a:ext cx="2299684"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Monday</a:t>
            </a:r>
            <a:endParaRPr b="0" i="0" sz="3200" u="none" cap="none" strike="noStrike">
              <a:solidFill>
                <a:schemeClr val="lt1"/>
              </a:solidFill>
              <a:latin typeface="Calibri"/>
              <a:ea typeface="Calibri"/>
              <a:cs typeface="Calibri"/>
              <a:sym typeface="Calibri"/>
            </a:endParaRPr>
          </a:p>
        </p:txBody>
      </p:sp>
      <p:sp>
        <p:nvSpPr>
          <p:cNvPr id="938" name="Google Shape;938;p91"/>
          <p:cNvSpPr/>
          <p:nvPr/>
        </p:nvSpPr>
        <p:spPr>
          <a:xfrm>
            <a:off x="3048000" y="3657600"/>
            <a:ext cx="2350787"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Thursday</a:t>
            </a:r>
            <a:endParaRPr b="0" i="0" sz="3200" u="none" cap="none" strike="noStrike">
              <a:solidFill>
                <a:schemeClr val="lt1"/>
              </a:solidFill>
              <a:latin typeface="Calibri"/>
              <a:ea typeface="Calibri"/>
              <a:cs typeface="Calibri"/>
              <a:sym typeface="Calibri"/>
            </a:endParaRPr>
          </a:p>
        </p:txBody>
      </p:sp>
      <p:sp>
        <p:nvSpPr>
          <p:cNvPr id="939" name="Google Shape;939;p91"/>
          <p:cNvSpPr/>
          <p:nvPr/>
        </p:nvSpPr>
        <p:spPr>
          <a:xfrm>
            <a:off x="3048000" y="4572000"/>
            <a:ext cx="2350787"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Sunday</a:t>
            </a:r>
            <a:endParaRPr b="0" i="0" sz="3200" u="none" cap="none" strike="noStrike">
              <a:solidFill>
                <a:schemeClr val="lt1"/>
              </a:solidFill>
              <a:latin typeface="Calibri"/>
              <a:ea typeface="Calibri"/>
              <a:cs typeface="Calibri"/>
              <a:sym typeface="Calibri"/>
            </a:endParaRPr>
          </a:p>
        </p:txBody>
      </p:sp>
      <p:sp>
        <p:nvSpPr>
          <p:cNvPr id="940" name="Google Shape;940;p91"/>
          <p:cNvSpPr/>
          <p:nvPr/>
        </p:nvSpPr>
        <p:spPr>
          <a:xfrm>
            <a:off x="3048000" y="5486400"/>
            <a:ext cx="2350787"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Friday</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9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How many vertices does a rectangular solid have?</a:t>
            </a:r>
            <a:endParaRPr sz="3600"/>
          </a:p>
        </p:txBody>
      </p:sp>
      <p:sp>
        <p:nvSpPr>
          <p:cNvPr id="946" name="Google Shape;946;p92"/>
          <p:cNvSpPr/>
          <p:nvPr/>
        </p:nvSpPr>
        <p:spPr>
          <a:xfrm>
            <a:off x="3612873" y="2743200"/>
            <a:ext cx="1584861" cy="609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8</a:t>
            </a:r>
            <a:endParaRPr b="0" i="0" sz="3200" u="none" cap="none" strike="noStrike">
              <a:solidFill>
                <a:schemeClr val="lt1"/>
              </a:solidFill>
              <a:latin typeface="Calibri"/>
              <a:ea typeface="Calibri"/>
              <a:cs typeface="Calibri"/>
              <a:sym typeface="Calibri"/>
            </a:endParaRPr>
          </a:p>
        </p:txBody>
      </p:sp>
      <p:sp>
        <p:nvSpPr>
          <p:cNvPr id="947" name="Google Shape;947;p92"/>
          <p:cNvSpPr/>
          <p:nvPr/>
        </p:nvSpPr>
        <p:spPr>
          <a:xfrm>
            <a:off x="3561520" y="3657600"/>
            <a:ext cx="1620080" cy="609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6</a:t>
            </a:r>
            <a:endParaRPr b="0" i="0" sz="3200" u="none" cap="none" strike="noStrike">
              <a:solidFill>
                <a:schemeClr val="lt1"/>
              </a:solidFill>
              <a:latin typeface="Calibri"/>
              <a:ea typeface="Calibri"/>
              <a:cs typeface="Calibri"/>
              <a:sym typeface="Calibri"/>
            </a:endParaRPr>
          </a:p>
        </p:txBody>
      </p:sp>
      <p:sp>
        <p:nvSpPr>
          <p:cNvPr id="948" name="Google Shape;948;p92"/>
          <p:cNvSpPr/>
          <p:nvPr/>
        </p:nvSpPr>
        <p:spPr>
          <a:xfrm>
            <a:off x="3561520" y="4572000"/>
            <a:ext cx="1620080" cy="609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4</a:t>
            </a:r>
            <a:endParaRPr b="0" i="0" sz="3200" u="none" cap="none" strike="noStrike">
              <a:solidFill>
                <a:schemeClr val="lt1"/>
              </a:solidFill>
              <a:latin typeface="Calibri"/>
              <a:ea typeface="Calibri"/>
              <a:cs typeface="Calibri"/>
              <a:sym typeface="Calibri"/>
            </a:endParaRPr>
          </a:p>
        </p:txBody>
      </p:sp>
      <p:sp>
        <p:nvSpPr>
          <p:cNvPr id="949" name="Google Shape;949;p92"/>
          <p:cNvSpPr/>
          <p:nvPr/>
        </p:nvSpPr>
        <p:spPr>
          <a:xfrm>
            <a:off x="3561520" y="5486400"/>
            <a:ext cx="162008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12</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93"/>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statement is FALSE?</a:t>
            </a:r>
            <a:endParaRPr sz="3600"/>
          </a:p>
        </p:txBody>
      </p:sp>
      <p:sp>
        <p:nvSpPr>
          <p:cNvPr id="955" name="Google Shape;955;p93"/>
          <p:cNvSpPr/>
          <p:nvPr/>
        </p:nvSpPr>
        <p:spPr>
          <a:xfrm>
            <a:off x="762000" y="1676400"/>
            <a:ext cx="8001000" cy="990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Solid particles have the strongest attractive forces in between.</a:t>
            </a:r>
            <a:endParaRPr b="0" i="0" sz="3200" u="none" cap="none" strike="noStrike">
              <a:solidFill>
                <a:schemeClr val="lt1"/>
              </a:solidFill>
              <a:latin typeface="Calibri"/>
              <a:ea typeface="Calibri"/>
              <a:cs typeface="Calibri"/>
              <a:sym typeface="Calibri"/>
            </a:endParaRPr>
          </a:p>
        </p:txBody>
      </p:sp>
      <p:sp>
        <p:nvSpPr>
          <p:cNvPr id="956" name="Google Shape;956;p93"/>
          <p:cNvSpPr/>
          <p:nvPr/>
        </p:nvSpPr>
        <p:spPr>
          <a:xfrm>
            <a:off x="762000" y="2895600"/>
            <a:ext cx="8001000" cy="990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Solids and liquids have more molecules per unit volume, hence their densities are higher.</a:t>
            </a:r>
            <a:endParaRPr b="0" i="0" sz="3200" u="none" cap="none" strike="noStrike">
              <a:solidFill>
                <a:schemeClr val="lt1"/>
              </a:solidFill>
              <a:latin typeface="Calibri"/>
              <a:ea typeface="Calibri"/>
              <a:cs typeface="Calibri"/>
              <a:sym typeface="Calibri"/>
            </a:endParaRPr>
          </a:p>
        </p:txBody>
      </p:sp>
      <p:sp>
        <p:nvSpPr>
          <p:cNvPr id="957" name="Google Shape;957;p93"/>
          <p:cNvSpPr/>
          <p:nvPr/>
        </p:nvSpPr>
        <p:spPr>
          <a:xfrm>
            <a:off x="762000" y="4267200"/>
            <a:ext cx="80010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Molecules of solids and liquids are more closely packed than those in gases.</a:t>
            </a:r>
            <a:endParaRPr b="0" i="0" sz="3200" u="none" cap="none" strike="noStrike">
              <a:solidFill>
                <a:schemeClr val="lt1"/>
              </a:solidFill>
              <a:latin typeface="Calibri"/>
              <a:ea typeface="Calibri"/>
              <a:cs typeface="Calibri"/>
              <a:sym typeface="Calibri"/>
            </a:endParaRPr>
          </a:p>
        </p:txBody>
      </p:sp>
      <p:sp>
        <p:nvSpPr>
          <p:cNvPr id="958" name="Google Shape;958;p93"/>
          <p:cNvSpPr/>
          <p:nvPr/>
        </p:nvSpPr>
        <p:spPr>
          <a:xfrm>
            <a:off x="762000" y="5562600"/>
            <a:ext cx="8001000" cy="9144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D. The gas phase has the least kinetic energy.</a:t>
            </a:r>
            <a:endParaRPr b="0" i="0" sz="3200" u="none" cap="none" strike="noStrike">
              <a:solidFill>
                <a:srgbClr val="000000"/>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94"/>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has the higher specific heat capacity: water or sand?</a:t>
            </a:r>
            <a:endParaRPr sz="3600"/>
          </a:p>
        </p:txBody>
      </p:sp>
      <p:sp>
        <p:nvSpPr>
          <p:cNvPr id="964" name="Google Shape;964;p94"/>
          <p:cNvSpPr/>
          <p:nvPr/>
        </p:nvSpPr>
        <p:spPr>
          <a:xfrm>
            <a:off x="3038451" y="2438400"/>
            <a:ext cx="3133749" cy="9144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Neither sand nor water</a:t>
            </a:r>
            <a:endParaRPr b="0" i="0" sz="3200" u="none" cap="none" strike="noStrike">
              <a:solidFill>
                <a:schemeClr val="lt1"/>
              </a:solidFill>
              <a:latin typeface="Calibri"/>
              <a:ea typeface="Calibri"/>
              <a:cs typeface="Calibri"/>
              <a:sym typeface="Calibri"/>
            </a:endParaRPr>
          </a:p>
        </p:txBody>
      </p:sp>
      <p:sp>
        <p:nvSpPr>
          <p:cNvPr id="965" name="Google Shape;965;p94"/>
          <p:cNvSpPr/>
          <p:nvPr/>
        </p:nvSpPr>
        <p:spPr>
          <a:xfrm>
            <a:off x="3010117" y="3581400"/>
            <a:ext cx="3152534"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Sand </a:t>
            </a:r>
            <a:endParaRPr b="0" i="0" sz="3200" u="none" cap="none" strike="noStrike">
              <a:solidFill>
                <a:schemeClr val="lt1"/>
              </a:solidFill>
              <a:latin typeface="Calibri"/>
              <a:ea typeface="Calibri"/>
              <a:cs typeface="Calibri"/>
              <a:sym typeface="Calibri"/>
            </a:endParaRPr>
          </a:p>
        </p:txBody>
      </p:sp>
      <p:sp>
        <p:nvSpPr>
          <p:cNvPr id="966" name="Google Shape;966;p94"/>
          <p:cNvSpPr/>
          <p:nvPr/>
        </p:nvSpPr>
        <p:spPr>
          <a:xfrm>
            <a:off x="3010117" y="4495800"/>
            <a:ext cx="3152534"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Both </a:t>
            </a:r>
            <a:endParaRPr b="0" i="0" sz="3200" u="none" cap="none" strike="noStrike">
              <a:solidFill>
                <a:schemeClr val="lt1"/>
              </a:solidFill>
              <a:latin typeface="Calibri"/>
              <a:ea typeface="Calibri"/>
              <a:cs typeface="Calibri"/>
              <a:sym typeface="Calibri"/>
            </a:endParaRPr>
          </a:p>
        </p:txBody>
      </p:sp>
      <p:sp>
        <p:nvSpPr>
          <p:cNvPr id="967" name="Google Shape;967;p94"/>
          <p:cNvSpPr/>
          <p:nvPr/>
        </p:nvSpPr>
        <p:spPr>
          <a:xfrm>
            <a:off x="3010117" y="5410200"/>
            <a:ext cx="3152534"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Water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95"/>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The direct transformation of a solid into the gas phase without passing through the liquid phase is called:</a:t>
            </a:r>
            <a:endParaRPr sz="3600"/>
          </a:p>
        </p:txBody>
      </p:sp>
      <p:sp>
        <p:nvSpPr>
          <p:cNvPr id="973" name="Google Shape;973;p95"/>
          <p:cNvSpPr/>
          <p:nvPr/>
        </p:nvSpPr>
        <p:spPr>
          <a:xfrm>
            <a:off x="3005126" y="2667000"/>
            <a:ext cx="3133749" cy="9144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Sublimation </a:t>
            </a:r>
            <a:endParaRPr b="0" i="0" sz="3200" u="none" cap="none" strike="noStrike">
              <a:solidFill>
                <a:schemeClr val="lt1"/>
              </a:solidFill>
              <a:latin typeface="Calibri"/>
              <a:ea typeface="Calibri"/>
              <a:cs typeface="Calibri"/>
              <a:sym typeface="Calibri"/>
            </a:endParaRPr>
          </a:p>
        </p:txBody>
      </p:sp>
      <p:sp>
        <p:nvSpPr>
          <p:cNvPr id="974" name="Google Shape;974;p95"/>
          <p:cNvSpPr/>
          <p:nvPr/>
        </p:nvSpPr>
        <p:spPr>
          <a:xfrm>
            <a:off x="2971800" y="3810000"/>
            <a:ext cx="3152534"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Compression  </a:t>
            </a:r>
            <a:endParaRPr b="0" i="0" sz="3200" u="none" cap="none" strike="noStrike">
              <a:solidFill>
                <a:schemeClr val="lt1"/>
              </a:solidFill>
              <a:latin typeface="Calibri"/>
              <a:ea typeface="Calibri"/>
              <a:cs typeface="Calibri"/>
              <a:sym typeface="Calibri"/>
            </a:endParaRPr>
          </a:p>
        </p:txBody>
      </p:sp>
      <p:sp>
        <p:nvSpPr>
          <p:cNvPr id="975" name="Google Shape;975;p95"/>
          <p:cNvSpPr/>
          <p:nvPr/>
        </p:nvSpPr>
        <p:spPr>
          <a:xfrm>
            <a:off x="2971800" y="4724400"/>
            <a:ext cx="3152534"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Evaporation  </a:t>
            </a:r>
            <a:endParaRPr b="0" i="0" sz="3200" u="none" cap="none" strike="noStrike">
              <a:solidFill>
                <a:schemeClr val="lt1"/>
              </a:solidFill>
              <a:latin typeface="Calibri"/>
              <a:ea typeface="Calibri"/>
              <a:cs typeface="Calibri"/>
              <a:sym typeface="Calibri"/>
            </a:endParaRPr>
          </a:p>
        </p:txBody>
      </p:sp>
      <p:sp>
        <p:nvSpPr>
          <p:cNvPr id="976" name="Google Shape;976;p95"/>
          <p:cNvSpPr/>
          <p:nvPr/>
        </p:nvSpPr>
        <p:spPr>
          <a:xfrm>
            <a:off x="2971800" y="5638800"/>
            <a:ext cx="3152534"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Freeze drying  </a:t>
            </a:r>
            <a:endParaRPr b="0" i="0" sz="3200" u="none" cap="none" strike="noStrike">
              <a:solidFill>
                <a:schemeClr val="dk1"/>
              </a:solidFill>
              <a:latin typeface="Calibri"/>
              <a:ea typeface="Calibri"/>
              <a:cs typeface="Calibri"/>
              <a:sym typeface="Calibri"/>
            </a:endParaRPr>
          </a:p>
        </p:txBody>
      </p:sp>
      <p:pic>
        <p:nvPicPr>
          <p:cNvPr descr="AG00051_" id="977" name="Google Shape;977;p95"/>
          <p:cNvPicPr preferRelativeResize="0"/>
          <p:nvPr/>
        </p:nvPicPr>
        <p:blipFill rotWithShape="1">
          <a:blip r:embed="rId3">
            <a:alphaModFix/>
          </a:blip>
          <a:srcRect b="0" l="0" r="0" t="0"/>
          <a:stretch/>
        </p:blipFill>
        <p:spPr>
          <a:xfrm>
            <a:off x="20574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96"/>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Why is it NOT advisable to repeatedly open the door of a refrigerator?</a:t>
            </a:r>
            <a:endParaRPr sz="3600"/>
          </a:p>
        </p:txBody>
      </p:sp>
      <p:sp>
        <p:nvSpPr>
          <p:cNvPr id="983" name="Google Shape;983;p96"/>
          <p:cNvSpPr/>
          <p:nvPr/>
        </p:nvSpPr>
        <p:spPr>
          <a:xfrm>
            <a:off x="609600" y="2133600"/>
            <a:ext cx="8153399"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A. It will loosen the hinges of the refrigerator’s door.</a:t>
            </a:r>
            <a:endParaRPr b="0" i="0" sz="2800" u="none" cap="none" strike="noStrike">
              <a:solidFill>
                <a:schemeClr val="lt1"/>
              </a:solidFill>
              <a:latin typeface="Calibri"/>
              <a:ea typeface="Calibri"/>
              <a:cs typeface="Calibri"/>
              <a:sym typeface="Calibri"/>
            </a:endParaRPr>
          </a:p>
        </p:txBody>
      </p:sp>
      <p:sp>
        <p:nvSpPr>
          <p:cNvPr id="984" name="Google Shape;984;p96"/>
          <p:cNvSpPr/>
          <p:nvPr/>
        </p:nvSpPr>
        <p:spPr>
          <a:xfrm>
            <a:off x="609600" y="3048000"/>
            <a:ext cx="8077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It leads to wastage in electrical energy.  </a:t>
            </a:r>
            <a:endParaRPr b="0" i="0" sz="3200" u="none" cap="none" strike="noStrike">
              <a:solidFill>
                <a:schemeClr val="lt1"/>
              </a:solidFill>
              <a:latin typeface="Calibri"/>
              <a:ea typeface="Calibri"/>
              <a:cs typeface="Calibri"/>
              <a:sym typeface="Calibri"/>
            </a:endParaRPr>
          </a:p>
        </p:txBody>
      </p:sp>
      <p:sp>
        <p:nvSpPr>
          <p:cNvPr id="985" name="Google Shape;985;p96"/>
          <p:cNvSpPr/>
          <p:nvPr/>
        </p:nvSpPr>
        <p:spPr>
          <a:xfrm>
            <a:off x="609600" y="3962400"/>
            <a:ext cx="8077200" cy="9144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C. Repeated opening introduces bacteria into the refrigerator.</a:t>
            </a:r>
            <a:endParaRPr b="0" i="0" sz="2800" u="none" cap="none" strike="noStrike">
              <a:solidFill>
                <a:schemeClr val="lt1"/>
              </a:solidFill>
              <a:latin typeface="Calibri"/>
              <a:ea typeface="Calibri"/>
              <a:cs typeface="Calibri"/>
              <a:sym typeface="Calibri"/>
            </a:endParaRPr>
          </a:p>
        </p:txBody>
      </p:sp>
      <p:sp>
        <p:nvSpPr>
          <p:cNvPr id="986" name="Google Shape;986;p96"/>
          <p:cNvSpPr/>
          <p:nvPr/>
        </p:nvSpPr>
        <p:spPr>
          <a:xfrm>
            <a:off x="609600" y="5029200"/>
            <a:ext cx="8077200" cy="16002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The warm air outside lowers the temperature inside, thus, making the refrigerator less efficient.</a:t>
            </a:r>
            <a:endParaRPr b="0" i="0" sz="3200" u="none" cap="none" strike="noStrike">
              <a:solidFill>
                <a:schemeClr val="dk1"/>
              </a:solidFill>
              <a:latin typeface="Calibri"/>
              <a:ea typeface="Calibri"/>
              <a:cs typeface="Calibri"/>
              <a:sym typeface="Calibri"/>
            </a:endParaRPr>
          </a:p>
        </p:txBody>
      </p:sp>
      <p:pic>
        <p:nvPicPr>
          <p:cNvPr descr="AG00051_" id="987" name="Google Shape;987;p96"/>
          <p:cNvPicPr preferRelativeResize="0"/>
          <p:nvPr/>
        </p:nvPicPr>
        <p:blipFill rotWithShape="1">
          <a:blip r:embed="rId3">
            <a:alphaModFix/>
          </a:blip>
          <a:srcRect b="0" l="0" r="0" t="0"/>
          <a:stretch/>
        </p:blipFill>
        <p:spPr>
          <a:xfrm>
            <a:off x="2286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97"/>
          <p:cNvSpPr txBox="1"/>
          <p:nvPr>
            <p:ph type="title"/>
          </p:nvPr>
        </p:nvSpPr>
        <p:spPr>
          <a:xfrm>
            <a:off x="228600" y="304800"/>
            <a:ext cx="8610600" cy="19050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What may occur when there is a severe damage to some parts of the brain due to lack of blood supply?</a:t>
            </a:r>
            <a:endParaRPr sz="3600"/>
          </a:p>
        </p:txBody>
      </p:sp>
      <p:sp>
        <p:nvSpPr>
          <p:cNvPr id="993" name="Google Shape;993;p97"/>
          <p:cNvSpPr/>
          <p:nvPr/>
        </p:nvSpPr>
        <p:spPr>
          <a:xfrm>
            <a:off x="2754098" y="2819400"/>
            <a:ext cx="3635805"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Stroke  </a:t>
            </a:r>
            <a:endParaRPr b="0" i="0" sz="3200" u="none" cap="none" strike="noStrike">
              <a:solidFill>
                <a:schemeClr val="lt1"/>
              </a:solidFill>
              <a:latin typeface="Calibri"/>
              <a:ea typeface="Calibri"/>
              <a:cs typeface="Calibri"/>
              <a:sym typeface="Calibri"/>
            </a:endParaRPr>
          </a:p>
        </p:txBody>
      </p:sp>
      <p:sp>
        <p:nvSpPr>
          <p:cNvPr id="994" name="Google Shape;994;p97"/>
          <p:cNvSpPr/>
          <p:nvPr/>
        </p:nvSpPr>
        <p:spPr>
          <a:xfrm>
            <a:off x="2732119" y="3733800"/>
            <a:ext cx="3657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Rheumatic heart </a:t>
            </a:r>
            <a:endParaRPr b="0" i="0" sz="3200" u="none" cap="none" strike="noStrike">
              <a:solidFill>
                <a:schemeClr val="lt1"/>
              </a:solidFill>
              <a:latin typeface="Calibri"/>
              <a:ea typeface="Calibri"/>
              <a:cs typeface="Calibri"/>
              <a:sym typeface="Calibri"/>
            </a:endParaRPr>
          </a:p>
        </p:txBody>
      </p:sp>
      <p:sp>
        <p:nvSpPr>
          <p:cNvPr id="995" name="Google Shape;995;p97"/>
          <p:cNvSpPr/>
          <p:nvPr/>
        </p:nvSpPr>
        <p:spPr>
          <a:xfrm>
            <a:off x="2732119" y="4648200"/>
            <a:ext cx="3657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Heart attack </a:t>
            </a:r>
            <a:endParaRPr b="0" i="0" sz="3200" u="none" cap="none" strike="noStrike">
              <a:solidFill>
                <a:schemeClr val="lt1"/>
              </a:solidFill>
              <a:latin typeface="Calibri"/>
              <a:ea typeface="Calibri"/>
              <a:cs typeface="Calibri"/>
              <a:sym typeface="Calibri"/>
            </a:endParaRPr>
          </a:p>
        </p:txBody>
      </p:sp>
      <p:sp>
        <p:nvSpPr>
          <p:cNvPr id="996" name="Google Shape;996;p97"/>
          <p:cNvSpPr/>
          <p:nvPr/>
        </p:nvSpPr>
        <p:spPr>
          <a:xfrm>
            <a:off x="2732119" y="5562600"/>
            <a:ext cx="36576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Thrombosis </a:t>
            </a:r>
            <a:endParaRPr b="0" i="0" sz="3200" u="none" cap="none" strike="noStrike">
              <a:solidFill>
                <a:schemeClr val="dk1"/>
              </a:solidFill>
              <a:latin typeface="Calibri"/>
              <a:ea typeface="Calibri"/>
              <a:cs typeface="Calibri"/>
              <a:sym typeface="Calibri"/>
            </a:endParaRPr>
          </a:p>
        </p:txBody>
      </p:sp>
      <p:pic>
        <p:nvPicPr>
          <p:cNvPr descr="AG00051_" id="997" name="Google Shape;997;p97"/>
          <p:cNvPicPr preferRelativeResize="0"/>
          <p:nvPr/>
        </p:nvPicPr>
        <p:blipFill rotWithShape="1">
          <a:blip r:embed="rId3">
            <a:alphaModFix/>
          </a:blip>
          <a:srcRect b="0" l="0" r="0" t="0"/>
          <a:stretch/>
        </p:blipFill>
        <p:spPr>
          <a:xfrm>
            <a:off x="17526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9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What kind of mirror is used in cars to give the driver a wider area and smaller image of the traffic behind him/her?</a:t>
            </a:r>
            <a:endParaRPr sz="3600"/>
          </a:p>
        </p:txBody>
      </p:sp>
      <p:sp>
        <p:nvSpPr>
          <p:cNvPr id="1003" name="Google Shape;1003;p98"/>
          <p:cNvSpPr/>
          <p:nvPr/>
        </p:nvSpPr>
        <p:spPr>
          <a:xfrm>
            <a:off x="2764995" y="2819400"/>
            <a:ext cx="3635805"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Double concave </a:t>
            </a:r>
            <a:endParaRPr b="0" i="0" sz="3200" u="none" cap="none" strike="noStrike">
              <a:solidFill>
                <a:schemeClr val="lt1"/>
              </a:solidFill>
              <a:latin typeface="Calibri"/>
              <a:ea typeface="Calibri"/>
              <a:cs typeface="Calibri"/>
              <a:sym typeface="Calibri"/>
            </a:endParaRPr>
          </a:p>
        </p:txBody>
      </p:sp>
      <p:sp>
        <p:nvSpPr>
          <p:cNvPr id="1004" name="Google Shape;1004;p98"/>
          <p:cNvSpPr/>
          <p:nvPr/>
        </p:nvSpPr>
        <p:spPr>
          <a:xfrm>
            <a:off x="2732119" y="3733800"/>
            <a:ext cx="3657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Convex </a:t>
            </a:r>
            <a:endParaRPr b="0" i="0" sz="3200" u="none" cap="none" strike="noStrike">
              <a:solidFill>
                <a:schemeClr val="lt1"/>
              </a:solidFill>
              <a:latin typeface="Calibri"/>
              <a:ea typeface="Calibri"/>
              <a:cs typeface="Calibri"/>
              <a:sym typeface="Calibri"/>
            </a:endParaRPr>
          </a:p>
        </p:txBody>
      </p:sp>
      <p:sp>
        <p:nvSpPr>
          <p:cNvPr id="1005" name="Google Shape;1005;p98"/>
          <p:cNvSpPr/>
          <p:nvPr/>
        </p:nvSpPr>
        <p:spPr>
          <a:xfrm>
            <a:off x="2732119" y="4648200"/>
            <a:ext cx="3657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Plane </a:t>
            </a:r>
            <a:endParaRPr b="0" i="0" sz="3200" u="none" cap="none" strike="noStrike">
              <a:solidFill>
                <a:schemeClr val="lt1"/>
              </a:solidFill>
              <a:latin typeface="Calibri"/>
              <a:ea typeface="Calibri"/>
              <a:cs typeface="Calibri"/>
              <a:sym typeface="Calibri"/>
            </a:endParaRPr>
          </a:p>
        </p:txBody>
      </p:sp>
      <p:sp>
        <p:nvSpPr>
          <p:cNvPr id="1006" name="Google Shape;1006;p98"/>
          <p:cNvSpPr/>
          <p:nvPr/>
        </p:nvSpPr>
        <p:spPr>
          <a:xfrm>
            <a:off x="2732119" y="5562600"/>
            <a:ext cx="36576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Concave </a:t>
            </a:r>
            <a:endParaRPr b="0" i="0" sz="3200" u="none" cap="none" strike="noStrike">
              <a:solidFill>
                <a:schemeClr val="dk1"/>
              </a:solidFill>
              <a:latin typeface="Calibri"/>
              <a:ea typeface="Calibri"/>
              <a:cs typeface="Calibri"/>
              <a:sym typeface="Calibri"/>
            </a:endParaRPr>
          </a:p>
        </p:txBody>
      </p:sp>
      <p:pic>
        <p:nvPicPr>
          <p:cNvPr descr="AG00051_" id="1007" name="Google Shape;1007;p98"/>
          <p:cNvPicPr preferRelativeResize="0"/>
          <p:nvPr/>
        </p:nvPicPr>
        <p:blipFill rotWithShape="1">
          <a:blip r:embed="rId3">
            <a:alphaModFix/>
          </a:blip>
          <a:srcRect b="0" l="0" r="0" t="0"/>
          <a:stretch/>
        </p:blipFill>
        <p:spPr>
          <a:xfrm>
            <a:off x="16764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99"/>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When you carry a heavy load with one arm, you tend to hold your free hand away from your body in order to ________.</a:t>
            </a:r>
            <a:endParaRPr sz="3600"/>
          </a:p>
        </p:txBody>
      </p:sp>
      <p:sp>
        <p:nvSpPr>
          <p:cNvPr id="1013" name="Google Shape;1013;p99"/>
          <p:cNvSpPr/>
          <p:nvPr/>
        </p:nvSpPr>
        <p:spPr>
          <a:xfrm>
            <a:off x="609600" y="2590800"/>
            <a:ext cx="8153399"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Be ready to grab something in case you fall</a:t>
            </a:r>
            <a:endParaRPr b="0" i="0" sz="3200" u="none" cap="none" strike="noStrike">
              <a:solidFill>
                <a:schemeClr val="lt1"/>
              </a:solidFill>
              <a:latin typeface="Calibri"/>
              <a:ea typeface="Calibri"/>
              <a:cs typeface="Calibri"/>
              <a:sym typeface="Calibri"/>
            </a:endParaRPr>
          </a:p>
        </p:txBody>
      </p:sp>
      <p:sp>
        <p:nvSpPr>
          <p:cNvPr id="1014" name="Google Shape;1014;p99"/>
          <p:cNvSpPr/>
          <p:nvPr/>
        </p:nvSpPr>
        <p:spPr>
          <a:xfrm>
            <a:off x="609600" y="3581400"/>
            <a:ext cx="8077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Change the weight of your body and load</a:t>
            </a:r>
            <a:endParaRPr b="0" i="0" sz="3200" u="none" cap="none" strike="noStrike">
              <a:solidFill>
                <a:schemeClr val="lt1"/>
              </a:solidFill>
              <a:latin typeface="Calibri"/>
              <a:ea typeface="Calibri"/>
              <a:cs typeface="Calibri"/>
              <a:sym typeface="Calibri"/>
            </a:endParaRPr>
          </a:p>
        </p:txBody>
      </p:sp>
      <p:sp>
        <p:nvSpPr>
          <p:cNvPr id="1015" name="Google Shape;1015;p99"/>
          <p:cNvSpPr/>
          <p:nvPr/>
        </p:nvSpPr>
        <p:spPr>
          <a:xfrm>
            <a:off x="609600" y="4572000"/>
            <a:ext cx="8077200" cy="7620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Change the mass of your body</a:t>
            </a:r>
            <a:endParaRPr b="0" i="0" sz="3200" u="none" cap="none" strike="noStrike">
              <a:solidFill>
                <a:schemeClr val="lt1"/>
              </a:solidFill>
              <a:latin typeface="Calibri"/>
              <a:ea typeface="Calibri"/>
              <a:cs typeface="Calibri"/>
              <a:sym typeface="Calibri"/>
            </a:endParaRPr>
          </a:p>
        </p:txBody>
      </p:sp>
      <p:sp>
        <p:nvSpPr>
          <p:cNvPr id="1016" name="Google Shape;1016;p99"/>
          <p:cNvSpPr/>
          <p:nvPr/>
        </p:nvSpPr>
        <p:spPr>
          <a:xfrm>
            <a:off x="609600" y="5638800"/>
            <a:ext cx="8153400" cy="7620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D. Change the center of gravity of your body and load</a:t>
            </a:r>
            <a:endParaRPr b="0" i="0" sz="2800" u="none" cap="none" strike="noStrike">
              <a:solidFill>
                <a:schemeClr val="dk1"/>
              </a:solidFill>
              <a:latin typeface="Calibri"/>
              <a:ea typeface="Calibri"/>
              <a:cs typeface="Calibri"/>
              <a:sym typeface="Calibri"/>
            </a:endParaRPr>
          </a:p>
        </p:txBody>
      </p:sp>
      <p:pic>
        <p:nvPicPr>
          <p:cNvPr descr="AG00051_" id="1017" name="Google Shape;1017;p99"/>
          <p:cNvPicPr preferRelativeResize="0"/>
          <p:nvPr/>
        </p:nvPicPr>
        <p:blipFill rotWithShape="1">
          <a:blip r:embed="rId3">
            <a:alphaModFix/>
          </a:blip>
          <a:srcRect b="0" l="0" r="0" t="0"/>
          <a:stretch/>
        </p:blipFill>
        <p:spPr>
          <a:xfrm>
            <a:off x="0" y="5791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00"/>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You inherited tallness from your father. Physical traits are transmitted from parents to offsprings through __________.</a:t>
            </a:r>
            <a:endParaRPr sz="3600"/>
          </a:p>
        </p:txBody>
      </p:sp>
      <p:sp>
        <p:nvSpPr>
          <p:cNvPr id="1023" name="Google Shape;1023;p100"/>
          <p:cNvSpPr/>
          <p:nvPr/>
        </p:nvSpPr>
        <p:spPr>
          <a:xfrm>
            <a:off x="2764996" y="2667000"/>
            <a:ext cx="326809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alleles </a:t>
            </a:r>
            <a:endParaRPr b="0" i="0" sz="3200" u="none" cap="none" strike="noStrike">
              <a:solidFill>
                <a:schemeClr val="lt1"/>
              </a:solidFill>
              <a:latin typeface="Calibri"/>
              <a:ea typeface="Calibri"/>
              <a:cs typeface="Calibri"/>
              <a:sym typeface="Calibri"/>
            </a:endParaRPr>
          </a:p>
        </p:txBody>
      </p:sp>
      <p:sp>
        <p:nvSpPr>
          <p:cNvPr id="1024" name="Google Shape;1024;p100"/>
          <p:cNvSpPr/>
          <p:nvPr/>
        </p:nvSpPr>
        <p:spPr>
          <a:xfrm>
            <a:off x="2732119" y="3581400"/>
            <a:ext cx="3287681"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genes </a:t>
            </a:r>
            <a:endParaRPr b="0" i="0" sz="3200" u="none" cap="none" strike="noStrike">
              <a:solidFill>
                <a:schemeClr val="lt1"/>
              </a:solidFill>
              <a:latin typeface="Calibri"/>
              <a:ea typeface="Calibri"/>
              <a:cs typeface="Calibri"/>
              <a:sym typeface="Calibri"/>
            </a:endParaRPr>
          </a:p>
        </p:txBody>
      </p:sp>
      <p:sp>
        <p:nvSpPr>
          <p:cNvPr id="1025" name="Google Shape;1025;p100"/>
          <p:cNvSpPr/>
          <p:nvPr/>
        </p:nvSpPr>
        <p:spPr>
          <a:xfrm>
            <a:off x="2732119" y="4495800"/>
            <a:ext cx="3287681"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gametes </a:t>
            </a:r>
            <a:endParaRPr b="0" i="0" sz="3200" u="none" cap="none" strike="noStrike">
              <a:solidFill>
                <a:schemeClr val="lt1"/>
              </a:solidFill>
              <a:latin typeface="Calibri"/>
              <a:ea typeface="Calibri"/>
              <a:cs typeface="Calibri"/>
              <a:sym typeface="Calibri"/>
            </a:endParaRPr>
          </a:p>
        </p:txBody>
      </p:sp>
      <p:sp>
        <p:nvSpPr>
          <p:cNvPr id="1026" name="Google Shape;1026;p100"/>
          <p:cNvSpPr/>
          <p:nvPr/>
        </p:nvSpPr>
        <p:spPr>
          <a:xfrm>
            <a:off x="2732119" y="5410200"/>
            <a:ext cx="3287681"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chromosomes</a:t>
            </a:r>
            <a:endParaRPr b="0" i="0" sz="3200" u="none" cap="none" strike="noStrike">
              <a:solidFill>
                <a:schemeClr val="dk1"/>
              </a:solidFill>
              <a:latin typeface="Calibri"/>
              <a:ea typeface="Calibri"/>
              <a:cs typeface="Calibri"/>
              <a:sym typeface="Calibri"/>
            </a:endParaRPr>
          </a:p>
        </p:txBody>
      </p:sp>
      <p:pic>
        <p:nvPicPr>
          <p:cNvPr descr="AG00051_" id="1027" name="Google Shape;1027;p100"/>
          <p:cNvPicPr preferRelativeResize="0"/>
          <p:nvPr/>
        </p:nvPicPr>
        <p:blipFill rotWithShape="1">
          <a:blip r:embed="rId3">
            <a:alphaModFix/>
          </a:blip>
          <a:srcRect b="0" l="0" r="0" t="0"/>
          <a:stretch/>
        </p:blipFill>
        <p:spPr>
          <a:xfrm>
            <a:off x="1752600" y="3733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01"/>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Which is a destructive fishing method wherein fishes are driven out of a coral reef by pounding the corals with a heavy weight?</a:t>
            </a:r>
            <a:endParaRPr sz="3600"/>
          </a:p>
        </p:txBody>
      </p:sp>
      <p:sp>
        <p:nvSpPr>
          <p:cNvPr id="1033" name="Google Shape;1033;p101"/>
          <p:cNvSpPr/>
          <p:nvPr/>
        </p:nvSpPr>
        <p:spPr>
          <a:xfrm>
            <a:off x="2640479" y="2667000"/>
            <a:ext cx="3863043"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Muro-ami</a:t>
            </a:r>
            <a:endParaRPr b="0" i="0" sz="3200" u="none" cap="none" strike="noStrike">
              <a:solidFill>
                <a:schemeClr val="lt1"/>
              </a:solidFill>
              <a:latin typeface="Calibri"/>
              <a:ea typeface="Calibri"/>
              <a:cs typeface="Calibri"/>
              <a:sym typeface="Calibri"/>
            </a:endParaRPr>
          </a:p>
        </p:txBody>
      </p:sp>
      <p:sp>
        <p:nvSpPr>
          <p:cNvPr id="1034" name="Google Shape;1034;p101"/>
          <p:cNvSpPr/>
          <p:nvPr/>
        </p:nvSpPr>
        <p:spPr>
          <a:xfrm>
            <a:off x="2578877" y="3581400"/>
            <a:ext cx="3886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Cyanide fishing</a:t>
            </a:r>
            <a:endParaRPr b="0" i="0" sz="3200" u="none" cap="none" strike="noStrike">
              <a:solidFill>
                <a:schemeClr val="lt1"/>
              </a:solidFill>
              <a:latin typeface="Calibri"/>
              <a:ea typeface="Calibri"/>
              <a:cs typeface="Calibri"/>
              <a:sym typeface="Calibri"/>
            </a:endParaRPr>
          </a:p>
        </p:txBody>
      </p:sp>
      <p:sp>
        <p:nvSpPr>
          <p:cNvPr id="1035" name="Google Shape;1035;p101"/>
          <p:cNvSpPr/>
          <p:nvPr/>
        </p:nvSpPr>
        <p:spPr>
          <a:xfrm>
            <a:off x="2578877" y="4495800"/>
            <a:ext cx="3886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Reef fishing </a:t>
            </a:r>
            <a:endParaRPr b="0" i="0" sz="3200" u="none" cap="none" strike="noStrike">
              <a:solidFill>
                <a:schemeClr val="lt1"/>
              </a:solidFill>
              <a:latin typeface="Calibri"/>
              <a:ea typeface="Calibri"/>
              <a:cs typeface="Calibri"/>
              <a:sym typeface="Calibri"/>
            </a:endParaRPr>
          </a:p>
        </p:txBody>
      </p:sp>
      <p:sp>
        <p:nvSpPr>
          <p:cNvPr id="1036" name="Google Shape;1036;p101"/>
          <p:cNvSpPr/>
          <p:nvPr/>
        </p:nvSpPr>
        <p:spPr>
          <a:xfrm>
            <a:off x="2578877" y="5410200"/>
            <a:ext cx="38862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Corals entrapping</a:t>
            </a:r>
            <a:endParaRPr b="0" i="0" sz="3200" u="none" cap="none" strike="noStrike">
              <a:solidFill>
                <a:schemeClr val="dk1"/>
              </a:solidFill>
              <a:latin typeface="Calibri"/>
              <a:ea typeface="Calibri"/>
              <a:cs typeface="Calibri"/>
              <a:sym typeface="Calibri"/>
            </a:endParaRPr>
          </a:p>
        </p:txBody>
      </p:sp>
      <p:pic>
        <p:nvPicPr>
          <p:cNvPr descr="AG00051_" id="1037" name="Google Shape;1037;p101"/>
          <p:cNvPicPr preferRelativeResize="0"/>
          <p:nvPr/>
        </p:nvPicPr>
        <p:blipFill rotWithShape="1">
          <a:blip r:embed="rId3">
            <a:alphaModFix/>
          </a:blip>
          <a:srcRect b="0" l="0" r="0" t="0"/>
          <a:stretch/>
        </p:blipFill>
        <p:spPr>
          <a:xfrm>
            <a:off x="1524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02"/>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The prevailing wind systems experienced in the Philippines are __________.</a:t>
            </a:r>
            <a:endParaRPr sz="3600"/>
          </a:p>
        </p:txBody>
      </p:sp>
      <p:sp>
        <p:nvSpPr>
          <p:cNvPr id="1043" name="Google Shape;1043;p102"/>
          <p:cNvSpPr/>
          <p:nvPr/>
        </p:nvSpPr>
        <p:spPr>
          <a:xfrm>
            <a:off x="1447800" y="2667000"/>
            <a:ext cx="6858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Northwest and southwest monsoon</a:t>
            </a:r>
            <a:endParaRPr b="0" i="0" sz="3200" u="none" cap="none" strike="noStrike">
              <a:solidFill>
                <a:schemeClr val="lt1"/>
              </a:solidFill>
              <a:latin typeface="Calibri"/>
              <a:ea typeface="Calibri"/>
              <a:cs typeface="Calibri"/>
              <a:sym typeface="Calibri"/>
            </a:endParaRPr>
          </a:p>
        </p:txBody>
      </p:sp>
      <p:sp>
        <p:nvSpPr>
          <p:cNvPr id="1044" name="Google Shape;1044;p102"/>
          <p:cNvSpPr/>
          <p:nvPr/>
        </p:nvSpPr>
        <p:spPr>
          <a:xfrm>
            <a:off x="1447800" y="3581400"/>
            <a:ext cx="6858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East and west monsoon</a:t>
            </a:r>
            <a:endParaRPr b="0" i="0" sz="3200" u="none" cap="none" strike="noStrike">
              <a:solidFill>
                <a:schemeClr val="lt1"/>
              </a:solidFill>
              <a:latin typeface="Calibri"/>
              <a:ea typeface="Calibri"/>
              <a:cs typeface="Calibri"/>
              <a:sym typeface="Calibri"/>
            </a:endParaRPr>
          </a:p>
        </p:txBody>
      </p:sp>
      <p:sp>
        <p:nvSpPr>
          <p:cNvPr id="1045" name="Google Shape;1045;p102"/>
          <p:cNvSpPr/>
          <p:nvPr/>
        </p:nvSpPr>
        <p:spPr>
          <a:xfrm>
            <a:off x="1447800" y="4495800"/>
            <a:ext cx="6858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Northeast and Southwest monsoon</a:t>
            </a:r>
            <a:endParaRPr b="0" i="0" sz="3200" u="none" cap="none" strike="noStrike">
              <a:solidFill>
                <a:schemeClr val="lt1"/>
              </a:solidFill>
              <a:latin typeface="Calibri"/>
              <a:ea typeface="Calibri"/>
              <a:cs typeface="Calibri"/>
              <a:sym typeface="Calibri"/>
            </a:endParaRPr>
          </a:p>
        </p:txBody>
      </p:sp>
      <p:sp>
        <p:nvSpPr>
          <p:cNvPr id="1046" name="Google Shape;1046;p102"/>
          <p:cNvSpPr/>
          <p:nvPr/>
        </p:nvSpPr>
        <p:spPr>
          <a:xfrm>
            <a:off x="1447800" y="5410200"/>
            <a:ext cx="68580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North and South monsoon</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03"/>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Jane placed some mothballs inside her cabinet. After a week, they were all gone. What happened to the mothballs?</a:t>
            </a:r>
            <a:endParaRPr sz="3600"/>
          </a:p>
        </p:txBody>
      </p:sp>
      <p:sp>
        <p:nvSpPr>
          <p:cNvPr id="1052" name="Google Shape;1052;p103"/>
          <p:cNvSpPr/>
          <p:nvPr/>
        </p:nvSpPr>
        <p:spPr>
          <a:xfrm>
            <a:off x="1257300" y="2667000"/>
            <a:ext cx="66294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They were dissolved by water in air.</a:t>
            </a:r>
            <a:endParaRPr b="0" i="0" sz="3200" u="none" cap="none" strike="noStrike">
              <a:solidFill>
                <a:schemeClr val="lt1"/>
              </a:solidFill>
              <a:latin typeface="Calibri"/>
              <a:ea typeface="Calibri"/>
              <a:cs typeface="Calibri"/>
              <a:sym typeface="Calibri"/>
            </a:endParaRPr>
          </a:p>
        </p:txBody>
      </p:sp>
      <p:sp>
        <p:nvSpPr>
          <p:cNvPr id="1053" name="Google Shape;1053;p103"/>
          <p:cNvSpPr/>
          <p:nvPr/>
        </p:nvSpPr>
        <p:spPr>
          <a:xfrm>
            <a:off x="1295400" y="3581400"/>
            <a:ext cx="66294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They melted.</a:t>
            </a:r>
            <a:endParaRPr b="0" i="0" sz="3200" u="none" cap="none" strike="noStrike">
              <a:solidFill>
                <a:schemeClr val="lt1"/>
              </a:solidFill>
              <a:latin typeface="Calibri"/>
              <a:ea typeface="Calibri"/>
              <a:cs typeface="Calibri"/>
              <a:sym typeface="Calibri"/>
            </a:endParaRPr>
          </a:p>
        </p:txBody>
      </p:sp>
      <p:sp>
        <p:nvSpPr>
          <p:cNvPr id="1054" name="Google Shape;1054;p103"/>
          <p:cNvSpPr/>
          <p:nvPr/>
        </p:nvSpPr>
        <p:spPr>
          <a:xfrm>
            <a:off x="1295400" y="4495800"/>
            <a:ext cx="66294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They sublimed.</a:t>
            </a:r>
            <a:endParaRPr b="0" i="0" sz="3200" u="none" cap="none" strike="noStrike">
              <a:solidFill>
                <a:schemeClr val="lt1"/>
              </a:solidFill>
              <a:latin typeface="Calibri"/>
              <a:ea typeface="Calibri"/>
              <a:cs typeface="Calibri"/>
              <a:sym typeface="Calibri"/>
            </a:endParaRPr>
          </a:p>
        </p:txBody>
      </p:sp>
      <p:sp>
        <p:nvSpPr>
          <p:cNvPr id="1055" name="Google Shape;1055;p103"/>
          <p:cNvSpPr/>
          <p:nvPr/>
        </p:nvSpPr>
        <p:spPr>
          <a:xfrm>
            <a:off x="1295400" y="5410200"/>
            <a:ext cx="66294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They condensed.</a:t>
            </a:r>
            <a:endParaRPr b="0" i="0" sz="3200" u="none" cap="none" strike="noStrike">
              <a:solidFill>
                <a:schemeClr val="dk1"/>
              </a:solidFill>
              <a:latin typeface="Calibri"/>
              <a:ea typeface="Calibri"/>
              <a:cs typeface="Calibri"/>
              <a:sym typeface="Calibri"/>
            </a:endParaRPr>
          </a:p>
        </p:txBody>
      </p:sp>
      <p:pic>
        <p:nvPicPr>
          <p:cNvPr descr="AG00051_" id="1056" name="Google Shape;1056;p103"/>
          <p:cNvPicPr preferRelativeResize="0"/>
          <p:nvPr/>
        </p:nvPicPr>
        <p:blipFill rotWithShape="1">
          <a:blip r:embed="rId3">
            <a:alphaModFix/>
          </a:blip>
          <a:srcRect b="0" l="0" r="0" t="0"/>
          <a:stretch/>
        </p:blipFill>
        <p:spPr>
          <a:xfrm>
            <a:off x="3810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04"/>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Of the state of matter, which has the weakest intermolecular force of attraction?</a:t>
            </a:r>
            <a:endParaRPr sz="3600"/>
          </a:p>
        </p:txBody>
      </p:sp>
      <p:sp>
        <p:nvSpPr>
          <p:cNvPr id="1062" name="Google Shape;1062;p104"/>
          <p:cNvSpPr/>
          <p:nvPr/>
        </p:nvSpPr>
        <p:spPr>
          <a:xfrm>
            <a:off x="3506050" y="2667000"/>
            <a:ext cx="2131901"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Plasma </a:t>
            </a:r>
            <a:endParaRPr b="0" i="0" sz="3200" u="none" cap="none" strike="noStrike">
              <a:solidFill>
                <a:schemeClr val="lt1"/>
              </a:solidFill>
              <a:latin typeface="Calibri"/>
              <a:ea typeface="Calibri"/>
              <a:cs typeface="Calibri"/>
              <a:sym typeface="Calibri"/>
            </a:endParaRPr>
          </a:p>
        </p:txBody>
      </p:sp>
      <p:sp>
        <p:nvSpPr>
          <p:cNvPr id="1063" name="Google Shape;1063;p104"/>
          <p:cNvSpPr/>
          <p:nvPr/>
        </p:nvSpPr>
        <p:spPr>
          <a:xfrm>
            <a:off x="3494119" y="3581400"/>
            <a:ext cx="2144681"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Liquid</a:t>
            </a:r>
            <a:endParaRPr b="0" i="0" sz="3200" u="none" cap="none" strike="noStrike">
              <a:solidFill>
                <a:schemeClr val="lt1"/>
              </a:solidFill>
              <a:latin typeface="Calibri"/>
              <a:ea typeface="Calibri"/>
              <a:cs typeface="Calibri"/>
              <a:sym typeface="Calibri"/>
            </a:endParaRPr>
          </a:p>
        </p:txBody>
      </p:sp>
      <p:sp>
        <p:nvSpPr>
          <p:cNvPr id="1064" name="Google Shape;1064;p104"/>
          <p:cNvSpPr/>
          <p:nvPr/>
        </p:nvSpPr>
        <p:spPr>
          <a:xfrm>
            <a:off x="3494119" y="4495800"/>
            <a:ext cx="2144681"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Solid </a:t>
            </a:r>
            <a:endParaRPr b="0" i="0" sz="3200" u="none" cap="none" strike="noStrike">
              <a:solidFill>
                <a:schemeClr val="lt1"/>
              </a:solidFill>
              <a:latin typeface="Calibri"/>
              <a:ea typeface="Calibri"/>
              <a:cs typeface="Calibri"/>
              <a:sym typeface="Calibri"/>
            </a:endParaRPr>
          </a:p>
        </p:txBody>
      </p:sp>
      <p:sp>
        <p:nvSpPr>
          <p:cNvPr id="1065" name="Google Shape;1065;p104"/>
          <p:cNvSpPr/>
          <p:nvPr/>
        </p:nvSpPr>
        <p:spPr>
          <a:xfrm>
            <a:off x="3494119" y="5410200"/>
            <a:ext cx="2144681"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Gas </a:t>
            </a:r>
            <a:endParaRPr b="0" i="0" sz="3200" u="none" cap="none" strike="noStrike">
              <a:solidFill>
                <a:schemeClr val="dk1"/>
              </a:solidFill>
              <a:latin typeface="Calibri"/>
              <a:ea typeface="Calibri"/>
              <a:cs typeface="Calibri"/>
              <a:sym typeface="Calibri"/>
            </a:endParaRPr>
          </a:p>
        </p:txBody>
      </p:sp>
      <p:pic>
        <p:nvPicPr>
          <p:cNvPr descr="AG00051_" id="1066" name="Google Shape;1066;p104"/>
          <p:cNvPicPr preferRelativeResize="0"/>
          <p:nvPr/>
        </p:nvPicPr>
        <p:blipFill rotWithShape="1">
          <a:blip r:embed="rId3">
            <a:alphaModFix/>
          </a:blip>
          <a:srcRect b="0" l="0" r="0" t="0"/>
          <a:stretch/>
        </p:blipFill>
        <p:spPr>
          <a:xfrm>
            <a:off x="25146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05"/>
          <p:cNvSpPr txBox="1"/>
          <p:nvPr>
            <p:ph type="title"/>
          </p:nvPr>
        </p:nvSpPr>
        <p:spPr>
          <a:xfrm>
            <a:off x="304800" y="381000"/>
            <a:ext cx="8610600" cy="19050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To be safe in the unlikely case of lightning strike, it is best to be inside a building framed with ______.</a:t>
            </a:r>
            <a:endParaRPr sz="3600"/>
          </a:p>
        </p:txBody>
      </p:sp>
      <p:sp>
        <p:nvSpPr>
          <p:cNvPr id="1072" name="Google Shape;1072;p105"/>
          <p:cNvSpPr/>
          <p:nvPr/>
        </p:nvSpPr>
        <p:spPr>
          <a:xfrm>
            <a:off x="3278299" y="2667000"/>
            <a:ext cx="2131901"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steel </a:t>
            </a:r>
            <a:endParaRPr b="0" i="0" sz="3200" u="none" cap="none" strike="noStrike">
              <a:solidFill>
                <a:schemeClr val="lt1"/>
              </a:solidFill>
              <a:latin typeface="Calibri"/>
              <a:ea typeface="Calibri"/>
              <a:cs typeface="Calibri"/>
              <a:sym typeface="Calibri"/>
            </a:endParaRPr>
          </a:p>
        </p:txBody>
      </p:sp>
      <p:sp>
        <p:nvSpPr>
          <p:cNvPr id="1073" name="Google Shape;1073;p105"/>
          <p:cNvSpPr/>
          <p:nvPr/>
        </p:nvSpPr>
        <p:spPr>
          <a:xfrm>
            <a:off x="3245422" y="3581400"/>
            <a:ext cx="2144681"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cement</a:t>
            </a:r>
            <a:endParaRPr b="0" i="0" sz="3200" u="none" cap="none" strike="noStrike">
              <a:solidFill>
                <a:schemeClr val="lt1"/>
              </a:solidFill>
              <a:latin typeface="Calibri"/>
              <a:ea typeface="Calibri"/>
              <a:cs typeface="Calibri"/>
              <a:sym typeface="Calibri"/>
            </a:endParaRPr>
          </a:p>
        </p:txBody>
      </p:sp>
      <p:sp>
        <p:nvSpPr>
          <p:cNvPr id="1074" name="Google Shape;1074;p105"/>
          <p:cNvSpPr/>
          <p:nvPr/>
        </p:nvSpPr>
        <p:spPr>
          <a:xfrm>
            <a:off x="3245422" y="4495800"/>
            <a:ext cx="2144681"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iron </a:t>
            </a:r>
            <a:endParaRPr b="0" i="0" sz="3200" u="none" cap="none" strike="noStrike">
              <a:solidFill>
                <a:schemeClr val="lt1"/>
              </a:solidFill>
              <a:latin typeface="Calibri"/>
              <a:ea typeface="Calibri"/>
              <a:cs typeface="Calibri"/>
              <a:sym typeface="Calibri"/>
            </a:endParaRPr>
          </a:p>
        </p:txBody>
      </p:sp>
      <p:sp>
        <p:nvSpPr>
          <p:cNvPr id="1075" name="Google Shape;1075;p105"/>
          <p:cNvSpPr/>
          <p:nvPr/>
        </p:nvSpPr>
        <p:spPr>
          <a:xfrm>
            <a:off x="3245422" y="5410200"/>
            <a:ext cx="2144681"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wood </a:t>
            </a:r>
            <a:endParaRPr b="0" i="0" sz="3200" u="none" cap="none" strike="noStrike">
              <a:solidFill>
                <a:schemeClr val="dk1"/>
              </a:solidFill>
              <a:latin typeface="Calibri"/>
              <a:ea typeface="Calibri"/>
              <a:cs typeface="Calibri"/>
              <a:sym typeface="Calibri"/>
            </a:endParaRPr>
          </a:p>
        </p:txBody>
      </p:sp>
      <p:pic>
        <p:nvPicPr>
          <p:cNvPr descr="AG00051_" id="1076" name="Google Shape;1076;p105"/>
          <p:cNvPicPr preferRelativeResize="0"/>
          <p:nvPr/>
        </p:nvPicPr>
        <p:blipFill rotWithShape="1">
          <a:blip r:embed="rId3">
            <a:alphaModFix/>
          </a:blip>
          <a:srcRect b="0" l="0" r="0" t="0"/>
          <a:stretch/>
        </p:blipFill>
        <p:spPr>
          <a:xfrm>
            <a:off x="22098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06"/>
          <p:cNvSpPr txBox="1"/>
          <p:nvPr>
            <p:ph type="title"/>
          </p:nvPr>
        </p:nvSpPr>
        <p:spPr>
          <a:xfrm>
            <a:off x="304800" y="381000"/>
            <a:ext cx="8610600" cy="1905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lang="en-US" sz="3600"/>
              <a:t>Which of these does NOT belong to the other three terms?</a:t>
            </a:r>
            <a:br>
              <a:rPr lang="en-US" sz="3600"/>
            </a:br>
            <a:r>
              <a:rPr lang="en-US" sz="3600"/>
              <a:t>Solution	 Colloid	Suspension	Element</a:t>
            </a:r>
            <a:endParaRPr sz="3600"/>
          </a:p>
        </p:txBody>
      </p:sp>
      <p:sp>
        <p:nvSpPr>
          <p:cNvPr id="1082" name="Google Shape;1082;p106"/>
          <p:cNvSpPr/>
          <p:nvPr/>
        </p:nvSpPr>
        <p:spPr>
          <a:xfrm>
            <a:off x="2930562" y="2667000"/>
            <a:ext cx="2726853"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Element</a:t>
            </a:r>
            <a:endParaRPr b="0" i="0" sz="3200" u="none" cap="none" strike="noStrike">
              <a:solidFill>
                <a:schemeClr val="lt1"/>
              </a:solidFill>
              <a:latin typeface="Calibri"/>
              <a:ea typeface="Calibri"/>
              <a:cs typeface="Calibri"/>
              <a:sym typeface="Calibri"/>
            </a:endParaRPr>
          </a:p>
        </p:txBody>
      </p:sp>
      <p:sp>
        <p:nvSpPr>
          <p:cNvPr id="1083" name="Google Shape;1083;p106"/>
          <p:cNvSpPr/>
          <p:nvPr/>
        </p:nvSpPr>
        <p:spPr>
          <a:xfrm>
            <a:off x="2895600" y="3581400"/>
            <a:ext cx="2743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Colloid</a:t>
            </a:r>
            <a:endParaRPr b="0" i="0" sz="3200" u="none" cap="none" strike="noStrike">
              <a:solidFill>
                <a:schemeClr val="lt1"/>
              </a:solidFill>
              <a:latin typeface="Calibri"/>
              <a:ea typeface="Calibri"/>
              <a:cs typeface="Calibri"/>
              <a:sym typeface="Calibri"/>
            </a:endParaRPr>
          </a:p>
        </p:txBody>
      </p:sp>
      <p:sp>
        <p:nvSpPr>
          <p:cNvPr id="1084" name="Google Shape;1084;p106"/>
          <p:cNvSpPr/>
          <p:nvPr/>
        </p:nvSpPr>
        <p:spPr>
          <a:xfrm>
            <a:off x="2895600" y="4495800"/>
            <a:ext cx="27432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Suspension</a:t>
            </a:r>
            <a:endParaRPr b="0" i="0" sz="3200" u="none" cap="none" strike="noStrike">
              <a:solidFill>
                <a:schemeClr val="lt1"/>
              </a:solidFill>
              <a:latin typeface="Calibri"/>
              <a:ea typeface="Calibri"/>
              <a:cs typeface="Calibri"/>
              <a:sym typeface="Calibri"/>
            </a:endParaRPr>
          </a:p>
        </p:txBody>
      </p:sp>
      <p:sp>
        <p:nvSpPr>
          <p:cNvPr id="1085" name="Google Shape;1085;p106"/>
          <p:cNvSpPr/>
          <p:nvPr/>
        </p:nvSpPr>
        <p:spPr>
          <a:xfrm>
            <a:off x="2895600" y="5410200"/>
            <a:ext cx="27432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Solution </a:t>
            </a:r>
            <a:endParaRPr b="0" i="0" sz="3200" u="none" cap="none" strike="noStrike">
              <a:solidFill>
                <a:schemeClr val="dk1"/>
              </a:solidFill>
              <a:latin typeface="Calibri"/>
              <a:ea typeface="Calibri"/>
              <a:cs typeface="Calibri"/>
              <a:sym typeface="Calibri"/>
            </a:endParaRPr>
          </a:p>
        </p:txBody>
      </p:sp>
      <p:pic>
        <p:nvPicPr>
          <p:cNvPr descr="AG00051_" id="1086" name="Google Shape;1086;p106"/>
          <p:cNvPicPr preferRelativeResize="0"/>
          <p:nvPr/>
        </p:nvPicPr>
        <p:blipFill rotWithShape="1">
          <a:blip r:embed="rId3">
            <a:alphaModFix/>
          </a:blip>
          <a:srcRect b="0" l="0" r="0" t="0"/>
          <a:stretch/>
        </p:blipFill>
        <p:spPr>
          <a:xfrm>
            <a:off x="1981200" y="27717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07"/>
          <p:cNvSpPr txBox="1"/>
          <p:nvPr>
            <p:ph type="title"/>
          </p:nvPr>
        </p:nvSpPr>
        <p:spPr>
          <a:xfrm>
            <a:off x="304800" y="381000"/>
            <a:ext cx="8610600" cy="11430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of these statements is FALSE?</a:t>
            </a:r>
            <a:endParaRPr sz="3600"/>
          </a:p>
        </p:txBody>
      </p:sp>
      <p:sp>
        <p:nvSpPr>
          <p:cNvPr id="1092" name="Google Shape;1092;p107"/>
          <p:cNvSpPr/>
          <p:nvPr/>
        </p:nvSpPr>
        <p:spPr>
          <a:xfrm>
            <a:off x="533400" y="1981200"/>
            <a:ext cx="8077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Water is heavier than oil.</a:t>
            </a:r>
            <a:endParaRPr b="0" i="0" sz="3200" u="none" cap="none" strike="noStrike">
              <a:solidFill>
                <a:schemeClr val="lt1"/>
              </a:solidFill>
              <a:latin typeface="Calibri"/>
              <a:ea typeface="Calibri"/>
              <a:cs typeface="Calibri"/>
              <a:sym typeface="Calibri"/>
            </a:endParaRPr>
          </a:p>
        </p:txBody>
      </p:sp>
      <p:sp>
        <p:nvSpPr>
          <p:cNvPr id="1093" name="Google Shape;1093;p107"/>
          <p:cNvSpPr/>
          <p:nvPr/>
        </p:nvSpPr>
        <p:spPr>
          <a:xfrm>
            <a:off x="533400" y="2971800"/>
            <a:ext cx="80772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Kerosene is lighter than water.</a:t>
            </a:r>
            <a:endParaRPr b="0" i="0" sz="3200" u="none" cap="none" strike="noStrike">
              <a:solidFill>
                <a:schemeClr val="lt1"/>
              </a:solidFill>
              <a:latin typeface="Calibri"/>
              <a:ea typeface="Calibri"/>
              <a:cs typeface="Calibri"/>
              <a:sym typeface="Calibri"/>
            </a:endParaRPr>
          </a:p>
        </p:txBody>
      </p:sp>
      <p:sp>
        <p:nvSpPr>
          <p:cNvPr id="1094" name="Google Shape;1094;p107"/>
          <p:cNvSpPr/>
          <p:nvPr/>
        </p:nvSpPr>
        <p:spPr>
          <a:xfrm>
            <a:off x="533400" y="4038600"/>
            <a:ext cx="80772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Fire caused by kerosene can be put out if water is poured on the fire.</a:t>
            </a:r>
            <a:endParaRPr b="0" i="0" sz="3200" u="none" cap="none" strike="noStrike">
              <a:solidFill>
                <a:schemeClr val="lt1"/>
              </a:solidFill>
              <a:latin typeface="Calibri"/>
              <a:ea typeface="Calibri"/>
              <a:cs typeface="Calibri"/>
              <a:sym typeface="Calibri"/>
            </a:endParaRPr>
          </a:p>
        </p:txBody>
      </p:sp>
      <p:sp>
        <p:nvSpPr>
          <p:cNvPr id="1095" name="Google Shape;1095;p107"/>
          <p:cNvSpPr/>
          <p:nvPr/>
        </p:nvSpPr>
        <p:spPr>
          <a:xfrm>
            <a:off x="533400" y="5410200"/>
            <a:ext cx="8077200" cy="1066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Rain or distilled water (a pure liquid) boils at constant temperature.</a:t>
            </a:r>
            <a:endParaRPr b="0" i="0" sz="3200" u="none" cap="none" strike="noStrike">
              <a:solidFill>
                <a:schemeClr val="dk1"/>
              </a:solidFill>
              <a:latin typeface="Calibri"/>
              <a:ea typeface="Calibri"/>
              <a:cs typeface="Calibri"/>
              <a:sym typeface="Calibri"/>
            </a:endParaRPr>
          </a:p>
        </p:txBody>
      </p:sp>
      <p:pic>
        <p:nvPicPr>
          <p:cNvPr descr="AG00051_" id="1096" name="Google Shape;1096;p107"/>
          <p:cNvPicPr preferRelativeResize="0"/>
          <p:nvPr/>
        </p:nvPicPr>
        <p:blipFill rotWithShape="1">
          <a:blip r:embed="rId3">
            <a:alphaModFix/>
          </a:blip>
          <a:srcRect b="0" l="0" r="0" t="0"/>
          <a:stretch/>
        </p:blipFill>
        <p:spPr>
          <a:xfrm>
            <a:off x="0" y="4343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08"/>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How can we prevent developing osteoporosis?</a:t>
            </a:r>
            <a:endParaRPr sz="3600"/>
          </a:p>
        </p:txBody>
      </p:sp>
      <p:sp>
        <p:nvSpPr>
          <p:cNvPr id="1102" name="Google Shape;1102;p108"/>
          <p:cNvSpPr/>
          <p:nvPr/>
        </p:nvSpPr>
        <p:spPr>
          <a:xfrm>
            <a:off x="685800" y="2286000"/>
            <a:ext cx="7848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Adequate intake of vitamins A and D</a:t>
            </a:r>
            <a:endParaRPr b="0" i="0" sz="3200" u="none" cap="none" strike="noStrike">
              <a:solidFill>
                <a:schemeClr val="lt1"/>
              </a:solidFill>
              <a:latin typeface="Calibri"/>
              <a:ea typeface="Calibri"/>
              <a:cs typeface="Calibri"/>
              <a:sym typeface="Calibri"/>
            </a:endParaRPr>
          </a:p>
        </p:txBody>
      </p:sp>
      <p:sp>
        <p:nvSpPr>
          <p:cNvPr id="1103" name="Google Shape;1103;p108"/>
          <p:cNvSpPr/>
          <p:nvPr/>
        </p:nvSpPr>
        <p:spPr>
          <a:xfrm>
            <a:off x="685800" y="3200400"/>
            <a:ext cx="7848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Adequate intake of calcium and vitamin D</a:t>
            </a:r>
            <a:endParaRPr b="0" i="0" sz="3200" u="none" cap="none" strike="noStrike">
              <a:solidFill>
                <a:schemeClr val="lt1"/>
              </a:solidFill>
              <a:latin typeface="Calibri"/>
              <a:ea typeface="Calibri"/>
              <a:cs typeface="Calibri"/>
              <a:sym typeface="Calibri"/>
            </a:endParaRPr>
          </a:p>
        </p:txBody>
      </p:sp>
      <p:sp>
        <p:nvSpPr>
          <p:cNvPr id="1104" name="Google Shape;1104;p108"/>
          <p:cNvSpPr/>
          <p:nvPr/>
        </p:nvSpPr>
        <p:spPr>
          <a:xfrm>
            <a:off x="685800" y="4114800"/>
            <a:ext cx="78486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Estrogen replacement therapy</a:t>
            </a:r>
            <a:endParaRPr b="0" i="0" sz="3200" u="none" cap="none" strike="noStrike">
              <a:solidFill>
                <a:schemeClr val="lt1"/>
              </a:solidFill>
              <a:latin typeface="Calibri"/>
              <a:ea typeface="Calibri"/>
              <a:cs typeface="Calibri"/>
              <a:sym typeface="Calibri"/>
            </a:endParaRPr>
          </a:p>
        </p:txBody>
      </p:sp>
      <p:sp>
        <p:nvSpPr>
          <p:cNvPr id="1105" name="Google Shape;1105;p108"/>
          <p:cNvSpPr/>
          <p:nvPr/>
        </p:nvSpPr>
        <p:spPr>
          <a:xfrm>
            <a:off x="685800" y="5334000"/>
            <a:ext cx="7848600" cy="1066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Less exercise to decrease bone density</a:t>
            </a:r>
            <a:endParaRPr b="0" i="0" sz="3200" u="none" cap="none" strike="noStrike">
              <a:solidFill>
                <a:schemeClr val="dk1"/>
              </a:solidFill>
              <a:latin typeface="Calibri"/>
              <a:ea typeface="Calibri"/>
              <a:cs typeface="Calibri"/>
              <a:sym typeface="Calibri"/>
            </a:endParaRPr>
          </a:p>
        </p:txBody>
      </p:sp>
      <p:pic>
        <p:nvPicPr>
          <p:cNvPr descr="AG00051_" id="1106" name="Google Shape;1106;p108"/>
          <p:cNvPicPr preferRelativeResize="0"/>
          <p:nvPr/>
        </p:nvPicPr>
        <p:blipFill rotWithShape="1">
          <a:blip r:embed="rId3">
            <a:alphaModFix/>
          </a:blip>
          <a:srcRect b="0" l="0" r="0" t="0"/>
          <a:stretch/>
        </p:blipFill>
        <p:spPr>
          <a:xfrm>
            <a:off x="0" y="3352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09"/>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Which statements correctly differentiate boiling from evaporation?</a:t>
            </a:r>
            <a:endParaRPr sz="3600"/>
          </a:p>
        </p:txBody>
      </p:sp>
      <p:sp>
        <p:nvSpPr>
          <p:cNvPr id="1112" name="Google Shape;1112;p109"/>
          <p:cNvSpPr txBox="1"/>
          <p:nvPr>
            <p:ph idx="1" type="body"/>
          </p:nvPr>
        </p:nvSpPr>
        <p:spPr>
          <a:xfrm>
            <a:off x="457200" y="1295401"/>
            <a:ext cx="8229600" cy="4343400"/>
          </a:xfrm>
          <a:prstGeom prst="rect">
            <a:avLst/>
          </a:prstGeom>
          <a:noFill/>
          <a:ln>
            <a:noFill/>
          </a:ln>
        </p:spPr>
        <p:txBody>
          <a:bodyPr anchorCtr="0" anchor="t" bIns="45700" lIns="91425" spcFirstLastPara="1" rIns="91425" wrap="square" tIns="45700">
            <a:normAutofit/>
          </a:bodyPr>
          <a:lstStyle/>
          <a:p>
            <a:pPr indent="-571500" lvl="0" marL="571500" rtl="0" algn="just">
              <a:lnSpc>
                <a:spcPct val="100000"/>
              </a:lnSpc>
              <a:spcBef>
                <a:spcPts val="0"/>
              </a:spcBef>
              <a:spcAft>
                <a:spcPts val="0"/>
              </a:spcAft>
              <a:buClr>
                <a:schemeClr val="dk1"/>
              </a:buClr>
              <a:buSzPts val="2800"/>
              <a:buFont typeface="Calibri"/>
              <a:buAutoNum type="romanUcPeriod"/>
            </a:pPr>
            <a:r>
              <a:rPr lang="en-US" sz="2800"/>
              <a:t>Boiling happens at a definite temperature while evaporation can occur at any temperature.</a:t>
            </a:r>
            <a:endParaRPr/>
          </a:p>
          <a:p>
            <a:pPr indent="-571500" lvl="0" marL="571500" rtl="0" algn="just">
              <a:lnSpc>
                <a:spcPct val="100000"/>
              </a:lnSpc>
              <a:spcBef>
                <a:spcPts val="560"/>
              </a:spcBef>
              <a:spcAft>
                <a:spcPts val="0"/>
              </a:spcAft>
              <a:buClr>
                <a:schemeClr val="dk1"/>
              </a:buClr>
              <a:buSzPts val="2800"/>
              <a:buFont typeface="Calibri"/>
              <a:buAutoNum type="romanUcPeriod"/>
            </a:pPr>
            <a:r>
              <a:rPr lang="en-US" sz="2800"/>
              <a:t>Boiling happens when the vapor pressure exerted by the liquid becomes equal to the atmospheric pressure, while evaporation occurs when high energy molecules at the liquid surface continuously escape to the space above the liquid.</a:t>
            </a:r>
            <a:endParaRPr/>
          </a:p>
          <a:p>
            <a:pPr indent="-571500" lvl="0" marL="571500" rtl="0" algn="just">
              <a:lnSpc>
                <a:spcPct val="100000"/>
              </a:lnSpc>
              <a:spcBef>
                <a:spcPts val="560"/>
              </a:spcBef>
              <a:spcAft>
                <a:spcPts val="0"/>
              </a:spcAft>
              <a:buClr>
                <a:schemeClr val="dk1"/>
              </a:buClr>
              <a:buSzPts val="2800"/>
              <a:buFont typeface="Calibri"/>
              <a:buAutoNum type="romanUcPeriod"/>
            </a:pPr>
            <a:r>
              <a:rPr lang="en-US" sz="2800"/>
              <a:t>Boiling is always associated with temperature while evaporation is related only to pressure.</a:t>
            </a:r>
            <a:endParaRPr/>
          </a:p>
        </p:txBody>
      </p:sp>
      <p:sp>
        <p:nvSpPr>
          <p:cNvPr id="1113" name="Google Shape;1113;p109"/>
          <p:cNvSpPr/>
          <p:nvPr/>
        </p:nvSpPr>
        <p:spPr>
          <a:xfrm>
            <a:off x="228600" y="5715000"/>
            <a:ext cx="19812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I and III</a:t>
            </a:r>
            <a:endParaRPr b="0" i="0" sz="3200" u="none" cap="none" strike="noStrike">
              <a:solidFill>
                <a:schemeClr val="lt1"/>
              </a:solidFill>
              <a:latin typeface="Calibri"/>
              <a:ea typeface="Calibri"/>
              <a:cs typeface="Calibri"/>
              <a:sym typeface="Calibri"/>
            </a:endParaRPr>
          </a:p>
        </p:txBody>
      </p:sp>
      <p:sp>
        <p:nvSpPr>
          <p:cNvPr id="1114" name="Google Shape;1114;p109"/>
          <p:cNvSpPr/>
          <p:nvPr/>
        </p:nvSpPr>
        <p:spPr>
          <a:xfrm>
            <a:off x="2667000" y="5715000"/>
            <a:ext cx="1752599"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 only </a:t>
            </a:r>
            <a:endParaRPr b="0" i="0" sz="3200" u="none" cap="none" strike="noStrike">
              <a:solidFill>
                <a:schemeClr val="lt1"/>
              </a:solidFill>
              <a:latin typeface="Calibri"/>
              <a:ea typeface="Calibri"/>
              <a:cs typeface="Calibri"/>
              <a:sym typeface="Calibri"/>
            </a:endParaRPr>
          </a:p>
        </p:txBody>
      </p:sp>
      <p:sp>
        <p:nvSpPr>
          <p:cNvPr id="1115" name="Google Shape;1115;p109"/>
          <p:cNvSpPr/>
          <p:nvPr/>
        </p:nvSpPr>
        <p:spPr>
          <a:xfrm>
            <a:off x="4876800" y="5715000"/>
            <a:ext cx="1752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II only </a:t>
            </a:r>
            <a:endParaRPr b="0" i="0" sz="3200" u="none" cap="none" strike="noStrike">
              <a:solidFill>
                <a:schemeClr val="lt1"/>
              </a:solidFill>
              <a:latin typeface="Calibri"/>
              <a:ea typeface="Calibri"/>
              <a:cs typeface="Calibri"/>
              <a:sym typeface="Calibri"/>
            </a:endParaRPr>
          </a:p>
        </p:txBody>
      </p:sp>
      <p:sp>
        <p:nvSpPr>
          <p:cNvPr id="1116" name="Google Shape;1116;p109"/>
          <p:cNvSpPr/>
          <p:nvPr/>
        </p:nvSpPr>
        <p:spPr>
          <a:xfrm>
            <a:off x="7010400" y="5715000"/>
            <a:ext cx="19050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I and II</a:t>
            </a:r>
            <a:endParaRPr b="0" i="0" sz="3200" u="none" cap="none" strike="noStrike">
              <a:solidFill>
                <a:schemeClr val="dk1"/>
              </a:solidFill>
              <a:latin typeface="Calibri"/>
              <a:ea typeface="Calibri"/>
              <a:cs typeface="Calibri"/>
              <a:sym typeface="Calibri"/>
            </a:endParaRPr>
          </a:p>
        </p:txBody>
      </p:sp>
      <p:pic>
        <p:nvPicPr>
          <p:cNvPr descr="AG00051_" id="1117" name="Google Shape;1117;p109"/>
          <p:cNvPicPr preferRelativeResize="0"/>
          <p:nvPr/>
        </p:nvPicPr>
        <p:blipFill rotWithShape="1">
          <a:blip r:embed="rId3">
            <a:alphaModFix/>
          </a:blip>
          <a:srcRect b="0" l="0" r="0" t="0"/>
          <a:stretch/>
        </p:blipFill>
        <p:spPr>
          <a:xfrm rot="5400000">
            <a:off x="7453312" y="5272088"/>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110"/>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4000"/>
              <a:buFont typeface="Calibri"/>
              <a:buNone/>
            </a:pPr>
            <a:r>
              <a:rPr lang="en-US" sz="4000"/>
              <a:t>Which of the following is heterogeneous?</a:t>
            </a:r>
            <a:endParaRPr sz="4000"/>
          </a:p>
        </p:txBody>
      </p:sp>
      <p:sp>
        <p:nvSpPr>
          <p:cNvPr id="1123" name="Google Shape;1123;p110"/>
          <p:cNvSpPr/>
          <p:nvPr/>
        </p:nvSpPr>
        <p:spPr>
          <a:xfrm>
            <a:off x="3159281" y="2667000"/>
            <a:ext cx="266296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Rain water</a:t>
            </a:r>
            <a:endParaRPr b="0" i="0" sz="3200" u="none" cap="none" strike="noStrike">
              <a:solidFill>
                <a:schemeClr val="lt1"/>
              </a:solidFill>
              <a:latin typeface="Calibri"/>
              <a:ea typeface="Calibri"/>
              <a:cs typeface="Calibri"/>
              <a:sym typeface="Calibri"/>
            </a:endParaRPr>
          </a:p>
        </p:txBody>
      </p:sp>
      <p:sp>
        <p:nvSpPr>
          <p:cNvPr id="1124" name="Google Shape;1124;p110"/>
          <p:cNvSpPr/>
          <p:nvPr/>
        </p:nvSpPr>
        <p:spPr>
          <a:xfrm>
            <a:off x="3124200" y="3581400"/>
            <a:ext cx="2678923"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Clean air</a:t>
            </a:r>
            <a:endParaRPr b="0" i="0" sz="3200" u="none" cap="none" strike="noStrike">
              <a:solidFill>
                <a:schemeClr val="lt1"/>
              </a:solidFill>
              <a:latin typeface="Calibri"/>
              <a:ea typeface="Calibri"/>
              <a:cs typeface="Calibri"/>
              <a:sym typeface="Calibri"/>
            </a:endParaRPr>
          </a:p>
        </p:txBody>
      </p:sp>
      <p:sp>
        <p:nvSpPr>
          <p:cNvPr id="1125" name="Google Shape;1125;p110"/>
          <p:cNvSpPr/>
          <p:nvPr/>
        </p:nvSpPr>
        <p:spPr>
          <a:xfrm>
            <a:off x="3124200" y="4495800"/>
            <a:ext cx="2678923"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Sea water</a:t>
            </a:r>
            <a:endParaRPr b="0" i="0" sz="3200" u="none" cap="none" strike="noStrike">
              <a:solidFill>
                <a:schemeClr val="lt1"/>
              </a:solidFill>
              <a:latin typeface="Calibri"/>
              <a:ea typeface="Calibri"/>
              <a:cs typeface="Calibri"/>
              <a:sym typeface="Calibri"/>
            </a:endParaRPr>
          </a:p>
        </p:txBody>
      </p:sp>
      <p:sp>
        <p:nvSpPr>
          <p:cNvPr id="1126" name="Google Shape;1126;p110"/>
          <p:cNvSpPr/>
          <p:nvPr/>
        </p:nvSpPr>
        <p:spPr>
          <a:xfrm>
            <a:off x="3124200" y="5410200"/>
            <a:ext cx="2678923"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Kerosene </a:t>
            </a:r>
            <a:endParaRPr b="0" i="0" sz="3200" u="none" cap="none" strike="noStrike">
              <a:solidFill>
                <a:schemeClr val="dk1"/>
              </a:solidFill>
              <a:latin typeface="Calibri"/>
              <a:ea typeface="Calibri"/>
              <a:cs typeface="Calibri"/>
              <a:sym typeface="Calibri"/>
            </a:endParaRPr>
          </a:p>
        </p:txBody>
      </p:sp>
      <p:pic>
        <p:nvPicPr>
          <p:cNvPr descr="AG00051_" id="1127" name="Google Shape;1127;p110"/>
          <p:cNvPicPr preferRelativeResize="0"/>
          <p:nvPr/>
        </p:nvPicPr>
        <p:blipFill rotWithShape="1">
          <a:blip r:embed="rId3">
            <a:alphaModFix/>
          </a:blip>
          <a:srcRect b="0" l="0" r="0" t="0"/>
          <a:stretch/>
        </p:blipFill>
        <p:spPr>
          <a:xfrm>
            <a:off x="21336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1"/>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4000"/>
              <a:buFont typeface="Calibri"/>
              <a:buNone/>
            </a:pPr>
            <a:r>
              <a:rPr lang="en-US" sz="4000"/>
              <a:t>Ozone depletion happens due to the release of CFC’s from ________.</a:t>
            </a:r>
            <a:endParaRPr sz="4000"/>
          </a:p>
        </p:txBody>
      </p:sp>
      <p:sp>
        <p:nvSpPr>
          <p:cNvPr id="1133" name="Google Shape;1133;p111"/>
          <p:cNvSpPr/>
          <p:nvPr/>
        </p:nvSpPr>
        <p:spPr>
          <a:xfrm>
            <a:off x="2299621" y="2667000"/>
            <a:ext cx="4544758"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annual respiration</a:t>
            </a:r>
            <a:endParaRPr b="0" i="0" sz="3200" u="none" cap="none" strike="noStrike">
              <a:solidFill>
                <a:schemeClr val="lt1"/>
              </a:solidFill>
              <a:latin typeface="Calibri"/>
              <a:ea typeface="Calibri"/>
              <a:cs typeface="Calibri"/>
              <a:sym typeface="Calibri"/>
            </a:endParaRPr>
          </a:p>
        </p:txBody>
      </p:sp>
      <p:sp>
        <p:nvSpPr>
          <p:cNvPr id="1134" name="Google Shape;1134;p111"/>
          <p:cNvSpPr/>
          <p:nvPr/>
        </p:nvSpPr>
        <p:spPr>
          <a:xfrm>
            <a:off x="2286000" y="3581400"/>
            <a:ext cx="4572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industrial combustion</a:t>
            </a:r>
            <a:endParaRPr b="0" i="0" sz="3200" u="none" cap="none" strike="noStrike">
              <a:solidFill>
                <a:schemeClr val="lt1"/>
              </a:solidFill>
              <a:latin typeface="Calibri"/>
              <a:ea typeface="Calibri"/>
              <a:cs typeface="Calibri"/>
              <a:sym typeface="Calibri"/>
            </a:endParaRPr>
          </a:p>
        </p:txBody>
      </p:sp>
      <p:sp>
        <p:nvSpPr>
          <p:cNvPr id="1135" name="Google Shape;1135;p111"/>
          <p:cNvSpPr/>
          <p:nvPr/>
        </p:nvSpPr>
        <p:spPr>
          <a:xfrm>
            <a:off x="2286000" y="4495800"/>
            <a:ext cx="4572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deforestation</a:t>
            </a:r>
            <a:endParaRPr b="0" i="0" sz="3200" u="none" cap="none" strike="noStrike">
              <a:solidFill>
                <a:schemeClr val="lt1"/>
              </a:solidFill>
              <a:latin typeface="Calibri"/>
              <a:ea typeface="Calibri"/>
              <a:cs typeface="Calibri"/>
              <a:sym typeface="Calibri"/>
            </a:endParaRPr>
          </a:p>
        </p:txBody>
      </p:sp>
      <p:sp>
        <p:nvSpPr>
          <p:cNvPr id="1136" name="Google Shape;1136;p111"/>
          <p:cNvSpPr/>
          <p:nvPr/>
        </p:nvSpPr>
        <p:spPr>
          <a:xfrm>
            <a:off x="2286000" y="5410200"/>
            <a:ext cx="45720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styrofoam and Freon</a:t>
            </a:r>
            <a:endParaRPr b="0" i="0" sz="3200" u="none" cap="none" strike="noStrike">
              <a:solidFill>
                <a:schemeClr val="dk1"/>
              </a:solidFill>
              <a:latin typeface="Calibri"/>
              <a:ea typeface="Calibri"/>
              <a:cs typeface="Calibri"/>
              <a:sym typeface="Calibri"/>
            </a:endParaRPr>
          </a:p>
        </p:txBody>
      </p:sp>
      <p:pic>
        <p:nvPicPr>
          <p:cNvPr descr="AG00051_" id="1137" name="Google Shape;1137;p111"/>
          <p:cNvPicPr preferRelativeResize="0"/>
          <p:nvPr/>
        </p:nvPicPr>
        <p:blipFill rotWithShape="1">
          <a:blip r:embed="rId3">
            <a:alphaModFix/>
          </a:blip>
          <a:srcRect b="0" l="0" r="0" t="0"/>
          <a:stretch/>
        </p:blipFill>
        <p:spPr>
          <a:xfrm>
            <a:off x="12954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12"/>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4000"/>
              <a:buFont typeface="Calibri"/>
              <a:buNone/>
            </a:pPr>
            <a:r>
              <a:rPr lang="en-US" sz="4000"/>
              <a:t>Which of the following has the longest wavelength?</a:t>
            </a:r>
            <a:endParaRPr sz="4000"/>
          </a:p>
        </p:txBody>
      </p:sp>
      <p:sp>
        <p:nvSpPr>
          <p:cNvPr id="1143" name="Google Shape;1143;p112"/>
          <p:cNvSpPr/>
          <p:nvPr/>
        </p:nvSpPr>
        <p:spPr>
          <a:xfrm>
            <a:off x="3511557" y="2667000"/>
            <a:ext cx="2120886"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Red </a:t>
            </a:r>
            <a:endParaRPr b="0" i="0" sz="3200" u="none" cap="none" strike="noStrike">
              <a:solidFill>
                <a:schemeClr val="lt1"/>
              </a:solidFill>
              <a:latin typeface="Calibri"/>
              <a:ea typeface="Calibri"/>
              <a:cs typeface="Calibri"/>
              <a:sym typeface="Calibri"/>
            </a:endParaRPr>
          </a:p>
        </p:txBody>
      </p:sp>
      <p:sp>
        <p:nvSpPr>
          <p:cNvPr id="1144" name="Google Shape;1144;p112"/>
          <p:cNvSpPr/>
          <p:nvPr/>
        </p:nvSpPr>
        <p:spPr>
          <a:xfrm>
            <a:off x="3505200" y="3581400"/>
            <a:ext cx="2133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Blue </a:t>
            </a:r>
            <a:endParaRPr b="0" i="0" sz="3200" u="none" cap="none" strike="noStrike">
              <a:solidFill>
                <a:schemeClr val="lt1"/>
              </a:solidFill>
              <a:latin typeface="Calibri"/>
              <a:ea typeface="Calibri"/>
              <a:cs typeface="Calibri"/>
              <a:sym typeface="Calibri"/>
            </a:endParaRPr>
          </a:p>
        </p:txBody>
      </p:sp>
      <p:sp>
        <p:nvSpPr>
          <p:cNvPr id="1145" name="Google Shape;1145;p112"/>
          <p:cNvSpPr/>
          <p:nvPr/>
        </p:nvSpPr>
        <p:spPr>
          <a:xfrm>
            <a:off x="3505200" y="4495800"/>
            <a:ext cx="2133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Yellow</a:t>
            </a:r>
            <a:endParaRPr b="0" i="0" sz="3200" u="none" cap="none" strike="noStrike">
              <a:solidFill>
                <a:schemeClr val="lt1"/>
              </a:solidFill>
              <a:latin typeface="Calibri"/>
              <a:ea typeface="Calibri"/>
              <a:cs typeface="Calibri"/>
              <a:sym typeface="Calibri"/>
            </a:endParaRPr>
          </a:p>
        </p:txBody>
      </p:sp>
      <p:sp>
        <p:nvSpPr>
          <p:cNvPr id="1146" name="Google Shape;1146;p112"/>
          <p:cNvSpPr/>
          <p:nvPr/>
        </p:nvSpPr>
        <p:spPr>
          <a:xfrm>
            <a:off x="3505200" y="5410200"/>
            <a:ext cx="21336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Green</a:t>
            </a:r>
            <a:endParaRPr b="0" i="0" sz="3200" u="none" cap="none" strike="noStrike">
              <a:solidFill>
                <a:schemeClr val="dk1"/>
              </a:solidFill>
              <a:latin typeface="Calibri"/>
              <a:ea typeface="Calibri"/>
              <a:cs typeface="Calibri"/>
              <a:sym typeface="Calibri"/>
            </a:endParaRPr>
          </a:p>
        </p:txBody>
      </p:sp>
      <p:pic>
        <p:nvPicPr>
          <p:cNvPr descr="AG00051_" id="1147" name="Google Shape;1147;p112"/>
          <p:cNvPicPr preferRelativeResize="0"/>
          <p:nvPr/>
        </p:nvPicPr>
        <p:blipFill rotWithShape="1">
          <a:blip r:embed="rId3">
            <a:alphaModFix/>
          </a:blip>
          <a:srcRect b="0" l="0" r="0" t="0"/>
          <a:stretch/>
        </p:blipFill>
        <p:spPr>
          <a:xfrm>
            <a:off x="2514600" y="28479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113"/>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4000"/>
              <a:buFont typeface="Calibri"/>
              <a:buNone/>
            </a:pPr>
            <a:r>
              <a:rPr lang="en-US" sz="4000"/>
              <a:t>Which of these characterizes organic compounds?</a:t>
            </a:r>
            <a:endParaRPr sz="4000"/>
          </a:p>
        </p:txBody>
      </p:sp>
      <p:sp>
        <p:nvSpPr>
          <p:cNvPr id="1153" name="Google Shape;1153;p113"/>
          <p:cNvSpPr/>
          <p:nvPr/>
        </p:nvSpPr>
        <p:spPr>
          <a:xfrm>
            <a:off x="685800" y="2362200"/>
            <a:ext cx="7848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They are compounds of any element.</a:t>
            </a:r>
            <a:endParaRPr b="0" i="0" sz="3200" u="none" cap="none" strike="noStrike">
              <a:solidFill>
                <a:schemeClr val="lt1"/>
              </a:solidFill>
              <a:latin typeface="Calibri"/>
              <a:ea typeface="Calibri"/>
              <a:cs typeface="Calibri"/>
              <a:sym typeface="Calibri"/>
            </a:endParaRPr>
          </a:p>
        </p:txBody>
      </p:sp>
      <p:sp>
        <p:nvSpPr>
          <p:cNvPr id="1154" name="Google Shape;1154;p113"/>
          <p:cNvSpPr/>
          <p:nvPr/>
        </p:nvSpPr>
        <p:spPr>
          <a:xfrm>
            <a:off x="685800" y="3276600"/>
            <a:ext cx="7848600" cy="9144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They cannot be broken down to simpler substances.</a:t>
            </a:r>
            <a:endParaRPr b="0" i="0" sz="3200" u="none" cap="none" strike="noStrike">
              <a:solidFill>
                <a:schemeClr val="lt1"/>
              </a:solidFill>
              <a:latin typeface="Calibri"/>
              <a:ea typeface="Calibri"/>
              <a:cs typeface="Calibri"/>
              <a:sym typeface="Calibri"/>
            </a:endParaRPr>
          </a:p>
        </p:txBody>
      </p:sp>
      <p:sp>
        <p:nvSpPr>
          <p:cNvPr id="1155" name="Google Shape;1155;p113"/>
          <p:cNvSpPr/>
          <p:nvPr/>
        </p:nvSpPr>
        <p:spPr>
          <a:xfrm>
            <a:off x="685800" y="4419600"/>
            <a:ext cx="7848600" cy="9906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They always require electrical means to separate.</a:t>
            </a:r>
            <a:endParaRPr b="0" i="0" sz="3200" u="none" cap="none" strike="noStrike">
              <a:solidFill>
                <a:schemeClr val="lt1"/>
              </a:solidFill>
              <a:latin typeface="Calibri"/>
              <a:ea typeface="Calibri"/>
              <a:cs typeface="Calibri"/>
              <a:sym typeface="Calibri"/>
            </a:endParaRPr>
          </a:p>
        </p:txBody>
      </p:sp>
      <p:sp>
        <p:nvSpPr>
          <p:cNvPr id="1156" name="Google Shape;1156;p113"/>
          <p:cNvSpPr/>
          <p:nvPr/>
        </p:nvSpPr>
        <p:spPr>
          <a:xfrm>
            <a:off x="685800" y="5638800"/>
            <a:ext cx="7848600" cy="7620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They are compounds containing carbon.</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114"/>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What happens to the speed of sound waves as it travels from a less dense medium to a denser medium?</a:t>
            </a:r>
            <a:endParaRPr sz="3600"/>
          </a:p>
        </p:txBody>
      </p:sp>
      <p:sp>
        <p:nvSpPr>
          <p:cNvPr id="1162" name="Google Shape;1162;p114"/>
          <p:cNvSpPr/>
          <p:nvPr/>
        </p:nvSpPr>
        <p:spPr>
          <a:xfrm>
            <a:off x="1409700" y="2819400"/>
            <a:ext cx="6324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 speed increases.</a:t>
            </a:r>
            <a:endParaRPr b="0" i="0" sz="3200" u="none" cap="none" strike="noStrike">
              <a:solidFill>
                <a:schemeClr val="lt1"/>
              </a:solidFill>
              <a:latin typeface="Calibri"/>
              <a:ea typeface="Calibri"/>
              <a:cs typeface="Calibri"/>
              <a:sym typeface="Calibri"/>
            </a:endParaRPr>
          </a:p>
        </p:txBody>
      </p:sp>
      <p:sp>
        <p:nvSpPr>
          <p:cNvPr id="1163" name="Google Shape;1163;p114"/>
          <p:cNvSpPr/>
          <p:nvPr/>
        </p:nvSpPr>
        <p:spPr>
          <a:xfrm>
            <a:off x="1447800" y="3810000"/>
            <a:ext cx="6324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The speed stays the same.</a:t>
            </a:r>
            <a:endParaRPr b="0" i="0" sz="3200" u="none" cap="none" strike="noStrike">
              <a:solidFill>
                <a:schemeClr val="lt1"/>
              </a:solidFill>
              <a:latin typeface="Calibri"/>
              <a:ea typeface="Calibri"/>
              <a:cs typeface="Calibri"/>
              <a:sym typeface="Calibri"/>
            </a:endParaRPr>
          </a:p>
        </p:txBody>
      </p:sp>
      <p:sp>
        <p:nvSpPr>
          <p:cNvPr id="1164" name="Google Shape;1164;p114"/>
          <p:cNvSpPr/>
          <p:nvPr/>
        </p:nvSpPr>
        <p:spPr>
          <a:xfrm>
            <a:off x="1447800" y="4724400"/>
            <a:ext cx="6324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Total internal reflection happens.</a:t>
            </a:r>
            <a:endParaRPr b="0" i="0" sz="3200" u="none" cap="none" strike="noStrike">
              <a:solidFill>
                <a:schemeClr val="lt1"/>
              </a:solidFill>
              <a:latin typeface="Calibri"/>
              <a:ea typeface="Calibri"/>
              <a:cs typeface="Calibri"/>
              <a:sym typeface="Calibri"/>
            </a:endParaRPr>
          </a:p>
        </p:txBody>
      </p:sp>
      <p:sp>
        <p:nvSpPr>
          <p:cNvPr id="1165" name="Google Shape;1165;p114"/>
          <p:cNvSpPr/>
          <p:nvPr/>
        </p:nvSpPr>
        <p:spPr>
          <a:xfrm>
            <a:off x="1447800" y="5638800"/>
            <a:ext cx="6324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The speed decreases.</a:t>
            </a:r>
            <a:endParaRPr b="0" i="0" sz="3200" u="none" cap="none" strike="noStrike">
              <a:solidFill>
                <a:schemeClr val="dk1"/>
              </a:solidFill>
              <a:latin typeface="Calibri"/>
              <a:ea typeface="Calibri"/>
              <a:cs typeface="Calibri"/>
              <a:sym typeface="Calibri"/>
            </a:endParaRPr>
          </a:p>
        </p:txBody>
      </p:sp>
      <p:pic>
        <p:nvPicPr>
          <p:cNvPr descr="AG00051_" id="1166" name="Google Shape;1166;p114"/>
          <p:cNvPicPr preferRelativeResize="0"/>
          <p:nvPr/>
        </p:nvPicPr>
        <p:blipFill rotWithShape="1">
          <a:blip r:embed="rId3">
            <a:alphaModFix/>
          </a:blip>
          <a:srcRect b="0" l="0" r="0" t="0"/>
          <a:stretch/>
        </p:blipFill>
        <p:spPr>
          <a:xfrm>
            <a:off x="4572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15"/>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Sound:Decibel::__________:__________</a:t>
            </a:r>
            <a:endParaRPr sz="3600"/>
          </a:p>
        </p:txBody>
      </p:sp>
      <p:sp>
        <p:nvSpPr>
          <p:cNvPr id="1172" name="Google Shape;1172;p115"/>
          <p:cNvSpPr/>
          <p:nvPr/>
        </p:nvSpPr>
        <p:spPr>
          <a:xfrm>
            <a:off x="2716224" y="2667000"/>
            <a:ext cx="3711552"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Area:Square</a:t>
            </a:r>
            <a:endParaRPr b="0" i="0" sz="3200" u="none" cap="none" strike="noStrike">
              <a:solidFill>
                <a:schemeClr val="lt1"/>
              </a:solidFill>
              <a:latin typeface="Calibri"/>
              <a:ea typeface="Calibri"/>
              <a:cs typeface="Calibri"/>
              <a:sym typeface="Calibri"/>
            </a:endParaRPr>
          </a:p>
        </p:txBody>
      </p:sp>
      <p:sp>
        <p:nvSpPr>
          <p:cNvPr id="1173" name="Google Shape;1173;p115"/>
          <p:cNvSpPr/>
          <p:nvPr/>
        </p:nvSpPr>
        <p:spPr>
          <a:xfrm>
            <a:off x="2667000" y="3581400"/>
            <a:ext cx="37338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Capacity:Hectare</a:t>
            </a:r>
            <a:endParaRPr b="0" i="0" sz="3200" u="none" cap="none" strike="noStrike">
              <a:solidFill>
                <a:schemeClr val="lt1"/>
              </a:solidFill>
              <a:latin typeface="Calibri"/>
              <a:ea typeface="Calibri"/>
              <a:cs typeface="Calibri"/>
              <a:sym typeface="Calibri"/>
            </a:endParaRPr>
          </a:p>
        </p:txBody>
      </p:sp>
      <p:sp>
        <p:nvSpPr>
          <p:cNvPr id="1174" name="Google Shape;1174;p115"/>
          <p:cNvSpPr/>
          <p:nvPr/>
        </p:nvSpPr>
        <p:spPr>
          <a:xfrm>
            <a:off x="2667000" y="4495800"/>
            <a:ext cx="37338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Length:Meter</a:t>
            </a:r>
            <a:endParaRPr b="0" i="0" sz="3200" u="none" cap="none" strike="noStrike">
              <a:solidFill>
                <a:schemeClr val="lt1"/>
              </a:solidFill>
              <a:latin typeface="Calibri"/>
              <a:ea typeface="Calibri"/>
              <a:cs typeface="Calibri"/>
              <a:sym typeface="Calibri"/>
            </a:endParaRPr>
          </a:p>
        </p:txBody>
      </p:sp>
      <p:sp>
        <p:nvSpPr>
          <p:cNvPr id="1175" name="Google Shape;1175;p115"/>
          <p:cNvSpPr/>
          <p:nvPr/>
        </p:nvSpPr>
        <p:spPr>
          <a:xfrm>
            <a:off x="2667000" y="5410200"/>
            <a:ext cx="37338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Volume:Cube</a:t>
            </a:r>
            <a:endParaRPr b="0" i="0" sz="3200" u="none" cap="none" strike="noStrike">
              <a:solidFill>
                <a:schemeClr val="dk1"/>
              </a:solidFill>
              <a:latin typeface="Calibri"/>
              <a:ea typeface="Calibri"/>
              <a:cs typeface="Calibri"/>
              <a:sym typeface="Calibri"/>
            </a:endParaRPr>
          </a:p>
        </p:txBody>
      </p:sp>
      <p:pic>
        <p:nvPicPr>
          <p:cNvPr descr="AG00051_" id="1176" name="Google Shape;1176;p115"/>
          <p:cNvPicPr preferRelativeResize="0"/>
          <p:nvPr/>
        </p:nvPicPr>
        <p:blipFill rotWithShape="1">
          <a:blip r:embed="rId3">
            <a:alphaModFix/>
          </a:blip>
          <a:srcRect b="0" l="0" r="0" t="0"/>
          <a:stretch/>
        </p:blipFill>
        <p:spPr>
          <a:xfrm>
            <a:off x="1676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16"/>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In which of the following medium would sound waves travel the fastest?</a:t>
            </a:r>
            <a:endParaRPr sz="3600"/>
          </a:p>
        </p:txBody>
      </p:sp>
      <p:sp>
        <p:nvSpPr>
          <p:cNvPr id="1182" name="Google Shape;1182;p116"/>
          <p:cNvSpPr/>
          <p:nvPr/>
        </p:nvSpPr>
        <p:spPr>
          <a:xfrm>
            <a:off x="2716224" y="2667000"/>
            <a:ext cx="3711552"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Vibrating objects</a:t>
            </a:r>
            <a:endParaRPr b="0" i="0" sz="3200" u="none" cap="none" strike="noStrike">
              <a:solidFill>
                <a:schemeClr val="lt1"/>
              </a:solidFill>
              <a:latin typeface="Calibri"/>
              <a:ea typeface="Calibri"/>
              <a:cs typeface="Calibri"/>
              <a:sym typeface="Calibri"/>
            </a:endParaRPr>
          </a:p>
        </p:txBody>
      </p:sp>
      <p:sp>
        <p:nvSpPr>
          <p:cNvPr id="1183" name="Google Shape;1183;p116"/>
          <p:cNvSpPr/>
          <p:nvPr/>
        </p:nvSpPr>
        <p:spPr>
          <a:xfrm>
            <a:off x="2667000" y="3581400"/>
            <a:ext cx="37338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Liquids </a:t>
            </a:r>
            <a:endParaRPr b="0" i="0" sz="3200" u="none" cap="none" strike="noStrike">
              <a:solidFill>
                <a:schemeClr val="lt1"/>
              </a:solidFill>
              <a:latin typeface="Calibri"/>
              <a:ea typeface="Calibri"/>
              <a:cs typeface="Calibri"/>
              <a:sym typeface="Calibri"/>
            </a:endParaRPr>
          </a:p>
        </p:txBody>
      </p:sp>
      <p:sp>
        <p:nvSpPr>
          <p:cNvPr id="1184" name="Google Shape;1184;p116"/>
          <p:cNvSpPr/>
          <p:nvPr/>
        </p:nvSpPr>
        <p:spPr>
          <a:xfrm>
            <a:off x="2667000" y="4495800"/>
            <a:ext cx="37338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Gases </a:t>
            </a:r>
            <a:endParaRPr b="0" i="0" sz="3200" u="none" cap="none" strike="noStrike">
              <a:solidFill>
                <a:schemeClr val="lt1"/>
              </a:solidFill>
              <a:latin typeface="Calibri"/>
              <a:ea typeface="Calibri"/>
              <a:cs typeface="Calibri"/>
              <a:sym typeface="Calibri"/>
            </a:endParaRPr>
          </a:p>
        </p:txBody>
      </p:sp>
      <p:sp>
        <p:nvSpPr>
          <p:cNvPr id="1185" name="Google Shape;1185;p116"/>
          <p:cNvSpPr/>
          <p:nvPr/>
        </p:nvSpPr>
        <p:spPr>
          <a:xfrm>
            <a:off x="2667000" y="5410200"/>
            <a:ext cx="37338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Solids </a:t>
            </a:r>
            <a:endParaRPr b="0" i="0" sz="3200" u="none" cap="none" strike="noStrike">
              <a:solidFill>
                <a:schemeClr val="dk1"/>
              </a:solidFill>
              <a:latin typeface="Calibri"/>
              <a:ea typeface="Calibri"/>
              <a:cs typeface="Calibri"/>
              <a:sym typeface="Calibri"/>
            </a:endParaRPr>
          </a:p>
        </p:txBody>
      </p:sp>
      <p:pic>
        <p:nvPicPr>
          <p:cNvPr descr="AG00051_" id="1186" name="Google Shape;1186;p116"/>
          <p:cNvPicPr preferRelativeResize="0"/>
          <p:nvPr/>
        </p:nvPicPr>
        <p:blipFill rotWithShape="1">
          <a:blip r:embed="rId3">
            <a:alphaModFix/>
          </a:blip>
          <a:srcRect b="0" l="0" r="0" t="0"/>
          <a:stretch/>
        </p:blipFill>
        <p:spPr>
          <a:xfrm>
            <a:off x="16764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17"/>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We always hear doctors warning us to limit salt intake. What is the effect of salt on cells?</a:t>
            </a:r>
            <a:endParaRPr sz="3600"/>
          </a:p>
        </p:txBody>
      </p:sp>
      <p:sp>
        <p:nvSpPr>
          <p:cNvPr id="1192" name="Google Shape;1192;p117"/>
          <p:cNvSpPr/>
          <p:nvPr/>
        </p:nvSpPr>
        <p:spPr>
          <a:xfrm>
            <a:off x="2171700" y="2819400"/>
            <a:ext cx="4800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Salt dehydrates the cell.</a:t>
            </a:r>
            <a:endParaRPr b="0" i="0" sz="3200" u="none" cap="none" strike="noStrike">
              <a:solidFill>
                <a:schemeClr val="lt1"/>
              </a:solidFill>
              <a:latin typeface="Calibri"/>
              <a:ea typeface="Calibri"/>
              <a:cs typeface="Calibri"/>
              <a:sym typeface="Calibri"/>
            </a:endParaRPr>
          </a:p>
        </p:txBody>
      </p:sp>
      <p:sp>
        <p:nvSpPr>
          <p:cNvPr id="1193" name="Google Shape;1193;p117"/>
          <p:cNvSpPr/>
          <p:nvPr/>
        </p:nvSpPr>
        <p:spPr>
          <a:xfrm>
            <a:off x="2133600" y="3810000"/>
            <a:ext cx="4800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Salt makes cells swell.</a:t>
            </a:r>
            <a:endParaRPr b="0" i="0" sz="3200" u="none" cap="none" strike="noStrike">
              <a:solidFill>
                <a:schemeClr val="lt1"/>
              </a:solidFill>
              <a:latin typeface="Calibri"/>
              <a:ea typeface="Calibri"/>
              <a:cs typeface="Calibri"/>
              <a:sym typeface="Calibri"/>
            </a:endParaRPr>
          </a:p>
        </p:txBody>
      </p:sp>
      <p:sp>
        <p:nvSpPr>
          <p:cNvPr id="1194" name="Google Shape;1194;p117"/>
          <p:cNvSpPr/>
          <p:nvPr/>
        </p:nvSpPr>
        <p:spPr>
          <a:xfrm>
            <a:off x="2133600" y="4724400"/>
            <a:ext cx="4800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Salt clogs the cell.</a:t>
            </a:r>
            <a:endParaRPr b="0" i="0" sz="3200" u="none" cap="none" strike="noStrike">
              <a:solidFill>
                <a:schemeClr val="lt1"/>
              </a:solidFill>
              <a:latin typeface="Calibri"/>
              <a:ea typeface="Calibri"/>
              <a:cs typeface="Calibri"/>
              <a:sym typeface="Calibri"/>
            </a:endParaRPr>
          </a:p>
        </p:txBody>
      </p:sp>
      <p:sp>
        <p:nvSpPr>
          <p:cNvPr id="1195" name="Google Shape;1195;p117"/>
          <p:cNvSpPr/>
          <p:nvPr/>
        </p:nvSpPr>
        <p:spPr>
          <a:xfrm>
            <a:off x="2133600" y="5638800"/>
            <a:ext cx="4800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Salt punctures the cell.</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18"/>
          <p:cNvSpPr txBox="1"/>
          <p:nvPr>
            <p:ph type="title"/>
          </p:nvPr>
        </p:nvSpPr>
        <p:spPr>
          <a:xfrm>
            <a:off x="304800" y="381000"/>
            <a:ext cx="8610600" cy="21336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Eight out of the top ten leading causes of morbidity in the Philippines are communicable. To prevent them from happening to your students, the best advice to give them is to _____________.</a:t>
            </a:r>
            <a:endParaRPr sz="3600"/>
          </a:p>
        </p:txBody>
      </p:sp>
      <p:sp>
        <p:nvSpPr>
          <p:cNvPr id="1201" name="Google Shape;1201;p118"/>
          <p:cNvSpPr/>
          <p:nvPr/>
        </p:nvSpPr>
        <p:spPr>
          <a:xfrm>
            <a:off x="1524000" y="2819400"/>
            <a:ext cx="6096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Avoid dangerous activities</a:t>
            </a:r>
            <a:endParaRPr b="0" i="0" sz="3200" u="none" cap="none" strike="noStrike">
              <a:solidFill>
                <a:schemeClr val="lt1"/>
              </a:solidFill>
              <a:latin typeface="Calibri"/>
              <a:ea typeface="Calibri"/>
              <a:cs typeface="Calibri"/>
              <a:sym typeface="Calibri"/>
            </a:endParaRPr>
          </a:p>
        </p:txBody>
      </p:sp>
      <p:sp>
        <p:nvSpPr>
          <p:cNvPr id="1202" name="Google Shape;1202;p118"/>
          <p:cNvSpPr/>
          <p:nvPr/>
        </p:nvSpPr>
        <p:spPr>
          <a:xfrm>
            <a:off x="1524000" y="3810000"/>
            <a:ext cx="6096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Clean the classroom often</a:t>
            </a:r>
            <a:endParaRPr b="0" i="0" sz="3200" u="none" cap="none" strike="noStrike">
              <a:solidFill>
                <a:schemeClr val="lt1"/>
              </a:solidFill>
              <a:latin typeface="Calibri"/>
              <a:ea typeface="Calibri"/>
              <a:cs typeface="Calibri"/>
              <a:sym typeface="Calibri"/>
            </a:endParaRPr>
          </a:p>
        </p:txBody>
      </p:sp>
      <p:sp>
        <p:nvSpPr>
          <p:cNvPr id="1203" name="Google Shape;1203;p118"/>
          <p:cNvSpPr/>
          <p:nvPr/>
        </p:nvSpPr>
        <p:spPr>
          <a:xfrm>
            <a:off x="1524000" y="4724400"/>
            <a:ext cx="6096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Cover the mouth when sneezing</a:t>
            </a:r>
            <a:endParaRPr b="0" i="0" sz="3200" u="none" cap="none" strike="noStrike">
              <a:solidFill>
                <a:schemeClr val="lt1"/>
              </a:solidFill>
              <a:latin typeface="Calibri"/>
              <a:ea typeface="Calibri"/>
              <a:cs typeface="Calibri"/>
              <a:sym typeface="Calibri"/>
            </a:endParaRPr>
          </a:p>
        </p:txBody>
      </p:sp>
      <p:sp>
        <p:nvSpPr>
          <p:cNvPr id="1204" name="Google Shape;1204;p118"/>
          <p:cNvSpPr/>
          <p:nvPr/>
        </p:nvSpPr>
        <p:spPr>
          <a:xfrm>
            <a:off x="1524000" y="5638800"/>
            <a:ext cx="6096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Wash hands frequently</a:t>
            </a:r>
            <a:endParaRPr b="0" i="0" sz="3200" u="none" cap="none" strike="noStrike">
              <a:solidFill>
                <a:schemeClr val="dk1"/>
              </a:solidFill>
              <a:latin typeface="Calibri"/>
              <a:ea typeface="Calibri"/>
              <a:cs typeface="Calibri"/>
              <a:sym typeface="Calibri"/>
            </a:endParaRPr>
          </a:p>
        </p:txBody>
      </p:sp>
      <p:pic>
        <p:nvPicPr>
          <p:cNvPr descr="AG00051_" id="1205" name="Google Shape;1205;p118"/>
          <p:cNvPicPr preferRelativeResize="0"/>
          <p:nvPr/>
        </p:nvPicPr>
        <p:blipFill rotWithShape="1">
          <a:blip r:embed="rId3">
            <a:alphaModFix/>
          </a:blip>
          <a:srcRect b="0" l="0" r="0" t="0"/>
          <a:stretch/>
        </p:blipFill>
        <p:spPr>
          <a:xfrm>
            <a:off x="609600" y="4876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119"/>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Iron-deficiency contributes to the poor scholastic performance of students. Which of the following food items is best for iron-deficient students?</a:t>
            </a:r>
            <a:endParaRPr sz="3600"/>
          </a:p>
        </p:txBody>
      </p:sp>
      <p:sp>
        <p:nvSpPr>
          <p:cNvPr id="1211" name="Google Shape;1211;p119"/>
          <p:cNvSpPr/>
          <p:nvPr/>
        </p:nvSpPr>
        <p:spPr>
          <a:xfrm>
            <a:off x="3435811" y="2667000"/>
            <a:ext cx="2272378"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Pechay </a:t>
            </a:r>
            <a:endParaRPr b="0" i="0" sz="3200" u="none" cap="none" strike="noStrike">
              <a:solidFill>
                <a:schemeClr val="lt1"/>
              </a:solidFill>
              <a:latin typeface="Calibri"/>
              <a:ea typeface="Calibri"/>
              <a:cs typeface="Calibri"/>
              <a:sym typeface="Calibri"/>
            </a:endParaRPr>
          </a:p>
        </p:txBody>
      </p:sp>
      <p:sp>
        <p:nvSpPr>
          <p:cNvPr id="1212" name="Google Shape;1212;p119"/>
          <p:cNvSpPr/>
          <p:nvPr/>
        </p:nvSpPr>
        <p:spPr>
          <a:xfrm>
            <a:off x="3429000" y="3581400"/>
            <a:ext cx="2286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Fish </a:t>
            </a:r>
            <a:endParaRPr b="0" i="0" sz="3200" u="none" cap="none" strike="noStrike">
              <a:solidFill>
                <a:schemeClr val="lt1"/>
              </a:solidFill>
              <a:latin typeface="Calibri"/>
              <a:ea typeface="Calibri"/>
              <a:cs typeface="Calibri"/>
              <a:sym typeface="Calibri"/>
            </a:endParaRPr>
          </a:p>
        </p:txBody>
      </p:sp>
      <p:sp>
        <p:nvSpPr>
          <p:cNvPr id="1213" name="Google Shape;1213;p119"/>
          <p:cNvSpPr/>
          <p:nvPr/>
        </p:nvSpPr>
        <p:spPr>
          <a:xfrm>
            <a:off x="3429000" y="4495800"/>
            <a:ext cx="2286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Sardines </a:t>
            </a:r>
            <a:endParaRPr b="0" i="0" sz="3200" u="none" cap="none" strike="noStrike">
              <a:solidFill>
                <a:schemeClr val="lt1"/>
              </a:solidFill>
              <a:latin typeface="Calibri"/>
              <a:ea typeface="Calibri"/>
              <a:cs typeface="Calibri"/>
              <a:sym typeface="Calibri"/>
            </a:endParaRPr>
          </a:p>
        </p:txBody>
      </p:sp>
      <p:sp>
        <p:nvSpPr>
          <p:cNvPr id="1214" name="Google Shape;1214;p119"/>
          <p:cNvSpPr/>
          <p:nvPr/>
        </p:nvSpPr>
        <p:spPr>
          <a:xfrm>
            <a:off x="3429000" y="5410200"/>
            <a:ext cx="22860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Liver  </a:t>
            </a:r>
            <a:endParaRPr b="0" i="0" sz="3200" u="none" cap="none" strike="noStrike">
              <a:solidFill>
                <a:schemeClr val="dk1"/>
              </a:solidFill>
              <a:latin typeface="Calibri"/>
              <a:ea typeface="Calibri"/>
              <a:cs typeface="Calibri"/>
              <a:sym typeface="Calibri"/>
            </a:endParaRPr>
          </a:p>
        </p:txBody>
      </p:sp>
      <p:pic>
        <p:nvPicPr>
          <p:cNvPr descr="AG00051_" id="1215" name="Google Shape;1215;p119"/>
          <p:cNvPicPr preferRelativeResize="0"/>
          <p:nvPr/>
        </p:nvPicPr>
        <p:blipFill rotWithShape="1">
          <a:blip r:embed="rId3">
            <a:alphaModFix/>
          </a:blip>
          <a:srcRect b="0" l="0" r="0" t="0"/>
          <a:stretch/>
        </p:blipFill>
        <p:spPr>
          <a:xfrm>
            <a:off x="24384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20"/>
          <p:cNvSpPr txBox="1"/>
          <p:nvPr>
            <p:ph type="title"/>
          </p:nvPr>
        </p:nvSpPr>
        <p:spPr>
          <a:xfrm>
            <a:off x="304800" y="381000"/>
            <a:ext cx="8610600" cy="21336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All of the following are effects of deforestation, EXCEPT:</a:t>
            </a:r>
            <a:endParaRPr sz="3600"/>
          </a:p>
        </p:txBody>
      </p:sp>
      <p:sp>
        <p:nvSpPr>
          <p:cNvPr id="1221" name="Google Shape;1221;p120"/>
          <p:cNvSpPr/>
          <p:nvPr/>
        </p:nvSpPr>
        <p:spPr>
          <a:xfrm>
            <a:off x="1714500" y="2819400"/>
            <a:ext cx="5715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Landslides </a:t>
            </a:r>
            <a:endParaRPr b="0" i="0" sz="3200" u="none" cap="none" strike="noStrike">
              <a:solidFill>
                <a:schemeClr val="lt1"/>
              </a:solidFill>
              <a:latin typeface="Calibri"/>
              <a:ea typeface="Calibri"/>
              <a:cs typeface="Calibri"/>
              <a:sym typeface="Calibri"/>
            </a:endParaRPr>
          </a:p>
        </p:txBody>
      </p:sp>
      <p:sp>
        <p:nvSpPr>
          <p:cNvPr id="1222" name="Google Shape;1222;p120"/>
          <p:cNvSpPr/>
          <p:nvPr/>
        </p:nvSpPr>
        <p:spPr>
          <a:xfrm>
            <a:off x="1676400" y="3810000"/>
            <a:ext cx="5715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Global warming </a:t>
            </a:r>
            <a:endParaRPr b="0" i="0" sz="3200" u="none" cap="none" strike="noStrike">
              <a:solidFill>
                <a:schemeClr val="lt1"/>
              </a:solidFill>
              <a:latin typeface="Calibri"/>
              <a:ea typeface="Calibri"/>
              <a:cs typeface="Calibri"/>
              <a:sym typeface="Calibri"/>
            </a:endParaRPr>
          </a:p>
        </p:txBody>
      </p:sp>
      <p:sp>
        <p:nvSpPr>
          <p:cNvPr id="1223" name="Google Shape;1223;p120"/>
          <p:cNvSpPr/>
          <p:nvPr/>
        </p:nvSpPr>
        <p:spPr>
          <a:xfrm>
            <a:off x="1676400" y="4724400"/>
            <a:ext cx="5715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Flash floods </a:t>
            </a:r>
            <a:endParaRPr b="0" i="0" sz="3200" u="none" cap="none" strike="noStrike">
              <a:solidFill>
                <a:schemeClr val="lt1"/>
              </a:solidFill>
              <a:latin typeface="Calibri"/>
              <a:ea typeface="Calibri"/>
              <a:cs typeface="Calibri"/>
              <a:sym typeface="Calibri"/>
            </a:endParaRPr>
          </a:p>
        </p:txBody>
      </p:sp>
      <p:sp>
        <p:nvSpPr>
          <p:cNvPr id="1224" name="Google Shape;1224;p120"/>
          <p:cNvSpPr/>
          <p:nvPr/>
        </p:nvSpPr>
        <p:spPr>
          <a:xfrm>
            <a:off x="1676400" y="5638800"/>
            <a:ext cx="5715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Destruction of the ozone layer</a:t>
            </a:r>
            <a:endParaRPr b="0" i="0" sz="3200" u="none" cap="none" strike="noStrike">
              <a:solidFill>
                <a:schemeClr val="dk1"/>
              </a:solidFill>
              <a:latin typeface="Calibri"/>
              <a:ea typeface="Calibri"/>
              <a:cs typeface="Calibri"/>
              <a:sym typeface="Calibri"/>
            </a:endParaRPr>
          </a:p>
        </p:txBody>
      </p:sp>
      <p:pic>
        <p:nvPicPr>
          <p:cNvPr descr="AG00051_" id="1225" name="Google Shape;1225;p120"/>
          <p:cNvPicPr preferRelativeResize="0"/>
          <p:nvPr/>
        </p:nvPicPr>
        <p:blipFill rotWithShape="1">
          <a:blip r:embed="rId3">
            <a:alphaModFix/>
          </a:blip>
          <a:srcRect b="0" l="0" r="0" t="0"/>
          <a:stretch/>
        </p:blipFill>
        <p:spPr>
          <a:xfrm>
            <a:off x="7620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121"/>
          <p:cNvSpPr txBox="1"/>
          <p:nvPr>
            <p:ph type="title"/>
          </p:nvPr>
        </p:nvSpPr>
        <p:spPr>
          <a:xfrm>
            <a:off x="304800" y="381000"/>
            <a:ext cx="8610600" cy="2057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Patients suffering from malfunction of the kidney are now assisted by a machine that serves as artificial kidney called __________.</a:t>
            </a:r>
            <a:endParaRPr sz="3600"/>
          </a:p>
        </p:txBody>
      </p:sp>
      <p:sp>
        <p:nvSpPr>
          <p:cNvPr id="1231" name="Google Shape;1231;p121"/>
          <p:cNvSpPr/>
          <p:nvPr/>
        </p:nvSpPr>
        <p:spPr>
          <a:xfrm>
            <a:off x="2362200" y="2819400"/>
            <a:ext cx="4419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Homeostatic machine</a:t>
            </a:r>
            <a:endParaRPr b="0" i="0" sz="3200" u="none" cap="none" strike="noStrike">
              <a:solidFill>
                <a:schemeClr val="lt1"/>
              </a:solidFill>
              <a:latin typeface="Calibri"/>
              <a:ea typeface="Calibri"/>
              <a:cs typeface="Calibri"/>
              <a:sym typeface="Calibri"/>
            </a:endParaRPr>
          </a:p>
        </p:txBody>
      </p:sp>
      <p:sp>
        <p:nvSpPr>
          <p:cNvPr id="1232" name="Google Shape;1232;p121"/>
          <p:cNvSpPr/>
          <p:nvPr/>
        </p:nvSpPr>
        <p:spPr>
          <a:xfrm>
            <a:off x="2362200" y="3810000"/>
            <a:ext cx="4419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Pacemaker </a:t>
            </a:r>
            <a:endParaRPr b="0" i="0" sz="3200" u="none" cap="none" strike="noStrike">
              <a:solidFill>
                <a:schemeClr val="lt1"/>
              </a:solidFill>
              <a:latin typeface="Calibri"/>
              <a:ea typeface="Calibri"/>
              <a:cs typeface="Calibri"/>
              <a:sym typeface="Calibri"/>
            </a:endParaRPr>
          </a:p>
        </p:txBody>
      </p:sp>
      <p:sp>
        <p:nvSpPr>
          <p:cNvPr id="1233" name="Google Shape;1233;p121"/>
          <p:cNvSpPr/>
          <p:nvPr/>
        </p:nvSpPr>
        <p:spPr>
          <a:xfrm>
            <a:off x="2362200" y="4724400"/>
            <a:ext cx="4419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Hemoscope </a:t>
            </a:r>
            <a:endParaRPr b="0" i="0" sz="3200" u="none" cap="none" strike="noStrike">
              <a:solidFill>
                <a:schemeClr val="lt1"/>
              </a:solidFill>
              <a:latin typeface="Calibri"/>
              <a:ea typeface="Calibri"/>
              <a:cs typeface="Calibri"/>
              <a:sym typeface="Calibri"/>
            </a:endParaRPr>
          </a:p>
        </p:txBody>
      </p:sp>
      <p:sp>
        <p:nvSpPr>
          <p:cNvPr id="1234" name="Google Shape;1234;p121"/>
          <p:cNvSpPr/>
          <p:nvPr/>
        </p:nvSpPr>
        <p:spPr>
          <a:xfrm>
            <a:off x="2362200" y="5638800"/>
            <a:ext cx="44196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hemodializer</a:t>
            </a:r>
            <a:endParaRPr b="0" i="0" sz="3200" u="none" cap="none" strike="noStrike">
              <a:solidFill>
                <a:schemeClr val="dk1"/>
              </a:solidFill>
              <a:latin typeface="Calibri"/>
              <a:ea typeface="Calibri"/>
              <a:cs typeface="Calibri"/>
              <a:sym typeface="Calibri"/>
            </a:endParaRPr>
          </a:p>
        </p:txBody>
      </p:sp>
      <p:pic>
        <p:nvPicPr>
          <p:cNvPr descr="AG00051_" id="1235" name="Google Shape;1235;p121"/>
          <p:cNvPicPr preferRelativeResize="0"/>
          <p:nvPr/>
        </p:nvPicPr>
        <p:blipFill rotWithShape="1">
          <a:blip r:embed="rId3">
            <a:alphaModFix/>
          </a:blip>
          <a:srcRect b="0" l="0" r="0" t="0"/>
          <a:stretch/>
        </p:blipFill>
        <p:spPr>
          <a:xfrm>
            <a:off x="11430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22"/>
          <p:cNvSpPr txBox="1"/>
          <p:nvPr>
            <p:ph type="title"/>
          </p:nvPr>
        </p:nvSpPr>
        <p:spPr>
          <a:xfrm>
            <a:off x="304800" y="381000"/>
            <a:ext cx="8610600" cy="18288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4000"/>
              <a:buFont typeface="Calibri"/>
              <a:buNone/>
            </a:pPr>
            <a:r>
              <a:rPr lang="en-US" sz="4000"/>
              <a:t>Why do we hear thunder some seconds after seeing lightning?</a:t>
            </a:r>
            <a:endParaRPr sz="4000"/>
          </a:p>
        </p:txBody>
      </p:sp>
      <p:sp>
        <p:nvSpPr>
          <p:cNvPr id="1241" name="Google Shape;1241;p122"/>
          <p:cNvSpPr/>
          <p:nvPr/>
        </p:nvSpPr>
        <p:spPr>
          <a:xfrm>
            <a:off x="1524000" y="2819400"/>
            <a:ext cx="6096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Light appears brighter in the sky.</a:t>
            </a:r>
            <a:endParaRPr b="0" i="0" sz="3200" u="none" cap="none" strike="noStrike">
              <a:solidFill>
                <a:schemeClr val="lt1"/>
              </a:solidFill>
              <a:latin typeface="Calibri"/>
              <a:ea typeface="Calibri"/>
              <a:cs typeface="Calibri"/>
              <a:sym typeface="Calibri"/>
            </a:endParaRPr>
          </a:p>
        </p:txBody>
      </p:sp>
      <p:sp>
        <p:nvSpPr>
          <p:cNvPr id="1242" name="Google Shape;1242;p122"/>
          <p:cNvSpPr/>
          <p:nvPr/>
        </p:nvSpPr>
        <p:spPr>
          <a:xfrm>
            <a:off x="1524000" y="3810000"/>
            <a:ext cx="6096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Light travels faster than sound.</a:t>
            </a:r>
            <a:endParaRPr b="0" i="0" sz="3200" u="none" cap="none" strike="noStrike">
              <a:solidFill>
                <a:schemeClr val="lt1"/>
              </a:solidFill>
              <a:latin typeface="Calibri"/>
              <a:ea typeface="Calibri"/>
              <a:cs typeface="Calibri"/>
              <a:sym typeface="Calibri"/>
            </a:endParaRPr>
          </a:p>
        </p:txBody>
      </p:sp>
      <p:sp>
        <p:nvSpPr>
          <p:cNvPr id="1243" name="Google Shape;1243;p122"/>
          <p:cNvSpPr/>
          <p:nvPr/>
        </p:nvSpPr>
        <p:spPr>
          <a:xfrm>
            <a:off x="1524000" y="4724400"/>
            <a:ext cx="6096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Sound travels 1,331 m/s.</a:t>
            </a:r>
            <a:endParaRPr b="0" i="0" sz="3200" u="none" cap="none" strike="noStrike">
              <a:solidFill>
                <a:schemeClr val="lt1"/>
              </a:solidFill>
              <a:latin typeface="Calibri"/>
              <a:ea typeface="Calibri"/>
              <a:cs typeface="Calibri"/>
              <a:sym typeface="Calibri"/>
            </a:endParaRPr>
          </a:p>
        </p:txBody>
      </p:sp>
      <p:sp>
        <p:nvSpPr>
          <p:cNvPr id="1244" name="Google Shape;1244;p122"/>
          <p:cNvSpPr/>
          <p:nvPr/>
        </p:nvSpPr>
        <p:spPr>
          <a:xfrm>
            <a:off x="1524000" y="5638800"/>
            <a:ext cx="6096000" cy="6096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Sound is released later actually.</a:t>
            </a:r>
            <a:endParaRPr b="0" i="0" sz="3200" u="none" cap="none" strike="noStrike">
              <a:solidFill>
                <a:schemeClr val="dk1"/>
              </a:solidFill>
              <a:latin typeface="Calibri"/>
              <a:ea typeface="Calibri"/>
              <a:cs typeface="Calibri"/>
              <a:sym typeface="Calibri"/>
            </a:endParaRPr>
          </a:p>
        </p:txBody>
      </p:sp>
      <p:pic>
        <p:nvPicPr>
          <p:cNvPr descr="AG00051_" id="1245" name="Google Shape;1245;p122"/>
          <p:cNvPicPr preferRelativeResize="0"/>
          <p:nvPr/>
        </p:nvPicPr>
        <p:blipFill rotWithShape="1">
          <a:blip r:embed="rId3">
            <a:alphaModFix/>
          </a:blip>
          <a:srcRect b="0" l="0" r="0" t="0"/>
          <a:stretch/>
        </p:blipFill>
        <p:spPr>
          <a:xfrm>
            <a:off x="609600" y="3962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2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The interaction between living organisms and nonliving organisms in the environment is called a/an __________.</a:t>
            </a:r>
            <a:endParaRPr sz="3600"/>
          </a:p>
        </p:txBody>
      </p:sp>
      <p:sp>
        <p:nvSpPr>
          <p:cNvPr id="1251" name="Google Shape;1251;p123"/>
          <p:cNvSpPr/>
          <p:nvPr/>
        </p:nvSpPr>
        <p:spPr>
          <a:xfrm>
            <a:off x="3208574" y="2895600"/>
            <a:ext cx="2726853"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species</a:t>
            </a:r>
            <a:endParaRPr b="0" i="0" sz="3200" u="none" cap="none" strike="noStrike">
              <a:solidFill>
                <a:schemeClr val="lt1"/>
              </a:solidFill>
              <a:latin typeface="Calibri"/>
              <a:ea typeface="Calibri"/>
              <a:cs typeface="Calibri"/>
              <a:sym typeface="Calibri"/>
            </a:endParaRPr>
          </a:p>
        </p:txBody>
      </p:sp>
      <p:sp>
        <p:nvSpPr>
          <p:cNvPr id="1252" name="Google Shape;1252;p123"/>
          <p:cNvSpPr/>
          <p:nvPr/>
        </p:nvSpPr>
        <p:spPr>
          <a:xfrm>
            <a:off x="3200401" y="3810000"/>
            <a:ext cx="2743199"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community </a:t>
            </a:r>
            <a:endParaRPr b="0" i="0" sz="3200" u="none" cap="none" strike="noStrike">
              <a:solidFill>
                <a:schemeClr val="lt1"/>
              </a:solidFill>
              <a:latin typeface="Calibri"/>
              <a:ea typeface="Calibri"/>
              <a:cs typeface="Calibri"/>
              <a:sym typeface="Calibri"/>
            </a:endParaRPr>
          </a:p>
        </p:txBody>
      </p:sp>
      <p:sp>
        <p:nvSpPr>
          <p:cNvPr id="1253" name="Google Shape;1253;p123"/>
          <p:cNvSpPr/>
          <p:nvPr/>
        </p:nvSpPr>
        <p:spPr>
          <a:xfrm>
            <a:off x="3200401" y="4724400"/>
            <a:ext cx="2743199"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population </a:t>
            </a:r>
            <a:endParaRPr b="0" i="0" sz="3200" u="none" cap="none" strike="noStrike">
              <a:solidFill>
                <a:schemeClr val="lt1"/>
              </a:solidFill>
              <a:latin typeface="Calibri"/>
              <a:ea typeface="Calibri"/>
              <a:cs typeface="Calibri"/>
              <a:sym typeface="Calibri"/>
            </a:endParaRPr>
          </a:p>
        </p:txBody>
      </p:sp>
      <p:sp>
        <p:nvSpPr>
          <p:cNvPr id="1254" name="Google Shape;1254;p123"/>
          <p:cNvSpPr/>
          <p:nvPr/>
        </p:nvSpPr>
        <p:spPr>
          <a:xfrm>
            <a:off x="3200401" y="5638800"/>
            <a:ext cx="2743199"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ecosystem  </a:t>
            </a:r>
            <a:endParaRPr b="0" i="0" sz="3200" u="none" cap="none" strike="noStrike">
              <a:solidFill>
                <a:schemeClr val="dk1"/>
              </a:solidFill>
              <a:latin typeface="Calibri"/>
              <a:ea typeface="Calibri"/>
              <a:cs typeface="Calibri"/>
              <a:sym typeface="Calibri"/>
            </a:endParaRPr>
          </a:p>
        </p:txBody>
      </p:sp>
      <p:pic>
        <p:nvPicPr>
          <p:cNvPr descr="AG00051_" id="1255" name="Google Shape;1255;p123"/>
          <p:cNvPicPr preferRelativeResize="0"/>
          <p:nvPr/>
        </p:nvPicPr>
        <p:blipFill rotWithShape="1">
          <a:blip r:embed="rId3">
            <a:alphaModFix/>
          </a:blip>
          <a:srcRect b="0" l="0" r="0" t="0"/>
          <a:stretch/>
        </p:blipFill>
        <p:spPr>
          <a:xfrm>
            <a:off x="22860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24"/>
          <p:cNvSpPr txBox="1"/>
          <p:nvPr>
            <p:ph type="title"/>
          </p:nvPr>
        </p:nvSpPr>
        <p:spPr>
          <a:xfrm>
            <a:off x="304800" y="381000"/>
            <a:ext cx="8610600" cy="19050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Meteorology is a very important branch of natural science, without which we cannot be informed of forthcoming __________.</a:t>
            </a:r>
            <a:endParaRPr sz="3600"/>
          </a:p>
        </p:txBody>
      </p:sp>
      <p:sp>
        <p:nvSpPr>
          <p:cNvPr id="1261" name="Google Shape;1261;p124"/>
          <p:cNvSpPr/>
          <p:nvPr/>
        </p:nvSpPr>
        <p:spPr>
          <a:xfrm>
            <a:off x="2932042" y="2895600"/>
            <a:ext cx="2726853"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earthquake</a:t>
            </a:r>
            <a:endParaRPr b="0" i="0" sz="3200" u="none" cap="none" strike="noStrike">
              <a:solidFill>
                <a:schemeClr val="lt1"/>
              </a:solidFill>
              <a:latin typeface="Calibri"/>
              <a:ea typeface="Calibri"/>
              <a:cs typeface="Calibri"/>
              <a:sym typeface="Calibri"/>
            </a:endParaRPr>
          </a:p>
        </p:txBody>
      </p:sp>
      <p:sp>
        <p:nvSpPr>
          <p:cNvPr id="1262" name="Google Shape;1262;p124"/>
          <p:cNvSpPr/>
          <p:nvPr/>
        </p:nvSpPr>
        <p:spPr>
          <a:xfrm>
            <a:off x="2895600" y="3810000"/>
            <a:ext cx="2743199"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typhoon</a:t>
            </a:r>
            <a:endParaRPr b="0" i="0" sz="3200" u="none" cap="none" strike="noStrike">
              <a:solidFill>
                <a:schemeClr val="lt1"/>
              </a:solidFill>
              <a:latin typeface="Calibri"/>
              <a:ea typeface="Calibri"/>
              <a:cs typeface="Calibri"/>
              <a:sym typeface="Calibri"/>
            </a:endParaRPr>
          </a:p>
        </p:txBody>
      </p:sp>
      <p:sp>
        <p:nvSpPr>
          <p:cNvPr id="1263" name="Google Shape;1263;p124"/>
          <p:cNvSpPr/>
          <p:nvPr/>
        </p:nvSpPr>
        <p:spPr>
          <a:xfrm>
            <a:off x="2895600" y="4724400"/>
            <a:ext cx="2743199"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meteor </a:t>
            </a:r>
            <a:endParaRPr b="0" i="0" sz="3200" u="none" cap="none" strike="noStrike">
              <a:solidFill>
                <a:schemeClr val="lt1"/>
              </a:solidFill>
              <a:latin typeface="Calibri"/>
              <a:ea typeface="Calibri"/>
              <a:cs typeface="Calibri"/>
              <a:sym typeface="Calibri"/>
            </a:endParaRPr>
          </a:p>
        </p:txBody>
      </p:sp>
      <p:sp>
        <p:nvSpPr>
          <p:cNvPr id="1264" name="Google Shape;1264;p124"/>
          <p:cNvSpPr/>
          <p:nvPr/>
        </p:nvSpPr>
        <p:spPr>
          <a:xfrm>
            <a:off x="2895600" y="5638800"/>
            <a:ext cx="2743199"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comet</a:t>
            </a:r>
            <a:endParaRPr b="0" i="0" sz="3200" u="none" cap="none" strike="noStrike">
              <a:solidFill>
                <a:schemeClr val="dk1"/>
              </a:solidFill>
              <a:latin typeface="Calibri"/>
              <a:ea typeface="Calibri"/>
              <a:cs typeface="Calibri"/>
              <a:sym typeface="Calibri"/>
            </a:endParaRPr>
          </a:p>
        </p:txBody>
      </p:sp>
      <p:pic>
        <p:nvPicPr>
          <p:cNvPr descr="AG00051_" id="1265" name="Google Shape;1265;p124"/>
          <p:cNvPicPr preferRelativeResize="0"/>
          <p:nvPr/>
        </p:nvPicPr>
        <p:blipFill rotWithShape="1">
          <a:blip r:embed="rId3">
            <a:alphaModFix/>
          </a:blip>
          <a:srcRect b="0" l="0" r="0" t="0"/>
          <a:stretch/>
        </p:blipFill>
        <p:spPr>
          <a:xfrm>
            <a:off x="1828800" y="3962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25"/>
          <p:cNvSpPr txBox="1"/>
          <p:nvPr>
            <p:ph type="title"/>
          </p:nvPr>
        </p:nvSpPr>
        <p:spPr>
          <a:xfrm>
            <a:off x="304800" y="381000"/>
            <a:ext cx="8610600" cy="22098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What is the best indicator of “quality education” as invoked in the Constitution? Generation of reliable measurements __________.</a:t>
            </a:r>
            <a:endParaRPr sz="3600"/>
          </a:p>
        </p:txBody>
      </p:sp>
      <p:sp>
        <p:nvSpPr>
          <p:cNvPr id="1271" name="Google Shape;1271;p125"/>
          <p:cNvSpPr/>
          <p:nvPr/>
        </p:nvSpPr>
        <p:spPr>
          <a:xfrm>
            <a:off x="2095500" y="2895600"/>
            <a:ext cx="4953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on cohort survival rate</a:t>
            </a:r>
            <a:endParaRPr b="0" i="0" sz="3200" u="none" cap="none" strike="noStrike">
              <a:solidFill>
                <a:schemeClr val="lt1"/>
              </a:solidFill>
              <a:latin typeface="Calibri"/>
              <a:ea typeface="Calibri"/>
              <a:cs typeface="Calibri"/>
              <a:sym typeface="Calibri"/>
            </a:endParaRPr>
          </a:p>
        </p:txBody>
      </p:sp>
      <p:sp>
        <p:nvSpPr>
          <p:cNvPr id="1272" name="Google Shape;1272;p125"/>
          <p:cNvSpPr/>
          <p:nvPr/>
        </p:nvSpPr>
        <p:spPr>
          <a:xfrm>
            <a:off x="2057400" y="3810000"/>
            <a:ext cx="4953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on drop-out rate</a:t>
            </a:r>
            <a:endParaRPr b="0" i="0" sz="3200" u="none" cap="none" strike="noStrike">
              <a:solidFill>
                <a:schemeClr val="lt1"/>
              </a:solidFill>
              <a:latin typeface="Calibri"/>
              <a:ea typeface="Calibri"/>
              <a:cs typeface="Calibri"/>
              <a:sym typeface="Calibri"/>
            </a:endParaRPr>
          </a:p>
        </p:txBody>
      </p:sp>
      <p:sp>
        <p:nvSpPr>
          <p:cNvPr id="1273" name="Google Shape;1273;p125"/>
          <p:cNvSpPr/>
          <p:nvPr/>
        </p:nvSpPr>
        <p:spPr>
          <a:xfrm>
            <a:off x="2057400" y="4724400"/>
            <a:ext cx="4953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of educational outcomes</a:t>
            </a:r>
            <a:endParaRPr b="0" i="0" sz="3200" u="none" cap="none" strike="noStrike">
              <a:solidFill>
                <a:schemeClr val="lt1"/>
              </a:solidFill>
              <a:latin typeface="Calibri"/>
              <a:ea typeface="Calibri"/>
              <a:cs typeface="Calibri"/>
              <a:sym typeface="Calibri"/>
            </a:endParaRPr>
          </a:p>
        </p:txBody>
      </p:sp>
      <p:sp>
        <p:nvSpPr>
          <p:cNvPr id="1274" name="Google Shape;1274;p125"/>
          <p:cNvSpPr/>
          <p:nvPr/>
        </p:nvSpPr>
        <p:spPr>
          <a:xfrm>
            <a:off x="2057400" y="5638800"/>
            <a:ext cx="49530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on participation rate</a:t>
            </a:r>
            <a:endParaRPr b="0" i="0" sz="3200" u="none" cap="none" strike="noStrike">
              <a:solidFill>
                <a:schemeClr val="dk1"/>
              </a:solidFill>
              <a:latin typeface="Calibri"/>
              <a:ea typeface="Calibri"/>
              <a:cs typeface="Calibri"/>
              <a:sym typeface="Calibri"/>
            </a:endParaRPr>
          </a:p>
        </p:txBody>
      </p:sp>
      <p:pic>
        <p:nvPicPr>
          <p:cNvPr descr="AG00051_" id="1275" name="Google Shape;1275;p125"/>
          <p:cNvPicPr preferRelativeResize="0"/>
          <p:nvPr/>
        </p:nvPicPr>
        <p:blipFill rotWithShape="1">
          <a:blip r:embed="rId3">
            <a:alphaModFix/>
          </a:blip>
          <a:srcRect b="0" l="0" r="0" t="0"/>
          <a:stretch/>
        </p:blipFill>
        <p:spPr>
          <a:xfrm>
            <a:off x="11430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2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Violation of human rights is a violation of the __________ of persons.</a:t>
            </a:r>
            <a:endParaRPr sz="3600"/>
          </a:p>
        </p:txBody>
      </p:sp>
      <p:sp>
        <p:nvSpPr>
          <p:cNvPr id="1281" name="Google Shape;1281;p126"/>
          <p:cNvSpPr/>
          <p:nvPr/>
        </p:nvSpPr>
        <p:spPr>
          <a:xfrm>
            <a:off x="3208574" y="2895600"/>
            <a:ext cx="2726853"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dignity</a:t>
            </a:r>
            <a:endParaRPr b="0" i="0" sz="3200" u="none" cap="none" strike="noStrike">
              <a:solidFill>
                <a:schemeClr val="lt1"/>
              </a:solidFill>
              <a:latin typeface="Calibri"/>
              <a:ea typeface="Calibri"/>
              <a:cs typeface="Calibri"/>
              <a:sym typeface="Calibri"/>
            </a:endParaRPr>
          </a:p>
        </p:txBody>
      </p:sp>
      <p:sp>
        <p:nvSpPr>
          <p:cNvPr id="1282" name="Google Shape;1282;p126"/>
          <p:cNvSpPr/>
          <p:nvPr/>
        </p:nvSpPr>
        <p:spPr>
          <a:xfrm>
            <a:off x="3200401" y="3810000"/>
            <a:ext cx="2743199"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intelligence </a:t>
            </a:r>
            <a:endParaRPr b="0" i="0" sz="3200" u="none" cap="none" strike="noStrike">
              <a:solidFill>
                <a:schemeClr val="lt1"/>
              </a:solidFill>
              <a:latin typeface="Calibri"/>
              <a:ea typeface="Calibri"/>
              <a:cs typeface="Calibri"/>
              <a:sym typeface="Calibri"/>
            </a:endParaRPr>
          </a:p>
        </p:txBody>
      </p:sp>
      <p:sp>
        <p:nvSpPr>
          <p:cNvPr id="1283" name="Google Shape;1283;p126"/>
          <p:cNvSpPr/>
          <p:nvPr/>
        </p:nvSpPr>
        <p:spPr>
          <a:xfrm>
            <a:off x="3200401" y="4724400"/>
            <a:ext cx="2743199"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emotions</a:t>
            </a:r>
            <a:endParaRPr b="0" i="0" sz="3200" u="none" cap="none" strike="noStrike">
              <a:solidFill>
                <a:schemeClr val="lt1"/>
              </a:solidFill>
              <a:latin typeface="Calibri"/>
              <a:ea typeface="Calibri"/>
              <a:cs typeface="Calibri"/>
              <a:sym typeface="Calibri"/>
            </a:endParaRPr>
          </a:p>
        </p:txBody>
      </p:sp>
      <p:sp>
        <p:nvSpPr>
          <p:cNvPr id="1284" name="Google Shape;1284;p126"/>
          <p:cNvSpPr/>
          <p:nvPr/>
        </p:nvSpPr>
        <p:spPr>
          <a:xfrm>
            <a:off x="3200401" y="5638800"/>
            <a:ext cx="2743199"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freedom</a:t>
            </a:r>
            <a:endParaRPr b="0" i="0" sz="3200" u="none" cap="none" strike="noStrike">
              <a:solidFill>
                <a:schemeClr val="dk1"/>
              </a:solidFill>
              <a:latin typeface="Calibri"/>
              <a:ea typeface="Calibri"/>
              <a:cs typeface="Calibri"/>
              <a:sym typeface="Calibri"/>
            </a:endParaRPr>
          </a:p>
        </p:txBody>
      </p:sp>
      <p:pic>
        <p:nvPicPr>
          <p:cNvPr descr="AG00051_" id="1285" name="Google Shape;1285;p126"/>
          <p:cNvPicPr preferRelativeResize="0"/>
          <p:nvPr/>
        </p:nvPicPr>
        <p:blipFill rotWithShape="1">
          <a:blip r:embed="rId3">
            <a:alphaModFix/>
          </a:blip>
          <a:srcRect b="0" l="0" r="0" t="0"/>
          <a:stretch/>
        </p:blipFill>
        <p:spPr>
          <a:xfrm>
            <a:off x="22860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12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What term best describes a peaceful community?</a:t>
            </a:r>
            <a:endParaRPr sz="3600"/>
          </a:p>
        </p:txBody>
      </p:sp>
      <p:sp>
        <p:nvSpPr>
          <p:cNvPr id="1291" name="Google Shape;1291;p127"/>
          <p:cNvSpPr/>
          <p:nvPr/>
        </p:nvSpPr>
        <p:spPr>
          <a:xfrm>
            <a:off x="3208574" y="2895600"/>
            <a:ext cx="2726853"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Harmony</a:t>
            </a:r>
            <a:endParaRPr b="0" i="0" sz="3200" u="none" cap="none" strike="noStrike">
              <a:solidFill>
                <a:schemeClr val="lt1"/>
              </a:solidFill>
              <a:latin typeface="Calibri"/>
              <a:ea typeface="Calibri"/>
              <a:cs typeface="Calibri"/>
              <a:sym typeface="Calibri"/>
            </a:endParaRPr>
          </a:p>
        </p:txBody>
      </p:sp>
      <p:sp>
        <p:nvSpPr>
          <p:cNvPr id="1292" name="Google Shape;1292;p127"/>
          <p:cNvSpPr/>
          <p:nvPr/>
        </p:nvSpPr>
        <p:spPr>
          <a:xfrm>
            <a:off x="3200401" y="3810000"/>
            <a:ext cx="2743199"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Tolerance </a:t>
            </a:r>
            <a:endParaRPr b="0" i="0" sz="3200" u="none" cap="none" strike="noStrike">
              <a:solidFill>
                <a:schemeClr val="lt1"/>
              </a:solidFill>
              <a:latin typeface="Calibri"/>
              <a:ea typeface="Calibri"/>
              <a:cs typeface="Calibri"/>
              <a:sym typeface="Calibri"/>
            </a:endParaRPr>
          </a:p>
        </p:txBody>
      </p:sp>
      <p:sp>
        <p:nvSpPr>
          <p:cNvPr id="1293" name="Google Shape;1293;p127"/>
          <p:cNvSpPr/>
          <p:nvPr/>
        </p:nvSpPr>
        <p:spPr>
          <a:xfrm>
            <a:off x="3200401" y="4724400"/>
            <a:ext cx="2743199"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Spirituality </a:t>
            </a:r>
            <a:endParaRPr b="0" i="0" sz="3200" u="none" cap="none" strike="noStrike">
              <a:solidFill>
                <a:schemeClr val="lt1"/>
              </a:solidFill>
              <a:latin typeface="Calibri"/>
              <a:ea typeface="Calibri"/>
              <a:cs typeface="Calibri"/>
              <a:sym typeface="Calibri"/>
            </a:endParaRPr>
          </a:p>
        </p:txBody>
      </p:sp>
      <p:sp>
        <p:nvSpPr>
          <p:cNvPr id="1294" name="Google Shape;1294;p127"/>
          <p:cNvSpPr/>
          <p:nvPr/>
        </p:nvSpPr>
        <p:spPr>
          <a:xfrm>
            <a:off x="3200401" y="5638800"/>
            <a:ext cx="2743199"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Ethics </a:t>
            </a:r>
            <a:endParaRPr b="0" i="0" sz="3200" u="none" cap="none" strike="noStrike">
              <a:solidFill>
                <a:schemeClr val="dk1"/>
              </a:solidFill>
              <a:latin typeface="Calibri"/>
              <a:ea typeface="Calibri"/>
              <a:cs typeface="Calibri"/>
              <a:sym typeface="Calibri"/>
            </a:endParaRPr>
          </a:p>
        </p:txBody>
      </p:sp>
      <p:pic>
        <p:nvPicPr>
          <p:cNvPr descr="AG00051_" id="1295" name="Google Shape;1295;p127"/>
          <p:cNvPicPr preferRelativeResize="0"/>
          <p:nvPr/>
        </p:nvPicPr>
        <p:blipFill rotWithShape="1">
          <a:blip r:embed="rId3">
            <a:alphaModFix/>
          </a:blip>
          <a:srcRect b="0" l="0" r="0" t="0"/>
          <a:stretch/>
        </p:blipFill>
        <p:spPr>
          <a:xfrm>
            <a:off x="2209800" y="3048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28"/>
          <p:cNvSpPr txBox="1"/>
          <p:nvPr>
            <p:ph type="title"/>
          </p:nvPr>
        </p:nvSpPr>
        <p:spPr>
          <a:xfrm>
            <a:off x="304800" y="381000"/>
            <a:ext cx="8610600" cy="2438400"/>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100000"/>
              </a:lnSpc>
              <a:spcBef>
                <a:spcPts val="0"/>
              </a:spcBef>
              <a:spcAft>
                <a:spcPts val="0"/>
              </a:spcAft>
              <a:buClr>
                <a:schemeClr val="dk1"/>
              </a:buClr>
              <a:buSzPct val="100000"/>
              <a:buFont typeface="Calibri"/>
              <a:buNone/>
            </a:pPr>
            <a:r>
              <a:rPr lang="en-US" sz="3600"/>
              <a:t>The logo of the Olympic Games represents the interconnectedness of the countries in the world. While the Games highlight the strength of the nations in sports, what does the global activity promote?</a:t>
            </a:r>
            <a:endParaRPr sz="3600"/>
          </a:p>
        </p:txBody>
      </p:sp>
      <p:sp>
        <p:nvSpPr>
          <p:cNvPr id="1301" name="Google Shape;1301;p128"/>
          <p:cNvSpPr/>
          <p:nvPr/>
        </p:nvSpPr>
        <p:spPr>
          <a:xfrm>
            <a:off x="2937521" y="3124200"/>
            <a:ext cx="3268959"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World peace</a:t>
            </a:r>
            <a:endParaRPr b="0" i="0" sz="3200" u="none" cap="none" strike="noStrike">
              <a:solidFill>
                <a:schemeClr val="lt1"/>
              </a:solidFill>
              <a:latin typeface="Calibri"/>
              <a:ea typeface="Calibri"/>
              <a:cs typeface="Calibri"/>
              <a:sym typeface="Calibri"/>
            </a:endParaRPr>
          </a:p>
        </p:txBody>
      </p:sp>
      <p:sp>
        <p:nvSpPr>
          <p:cNvPr id="1302" name="Google Shape;1302;p128"/>
          <p:cNvSpPr/>
          <p:nvPr/>
        </p:nvSpPr>
        <p:spPr>
          <a:xfrm>
            <a:off x="2895600" y="4038600"/>
            <a:ext cx="3276599"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World tourism</a:t>
            </a:r>
            <a:endParaRPr b="0" i="0" sz="3200" u="none" cap="none" strike="noStrike">
              <a:solidFill>
                <a:schemeClr val="lt1"/>
              </a:solidFill>
              <a:latin typeface="Calibri"/>
              <a:ea typeface="Calibri"/>
              <a:cs typeface="Calibri"/>
              <a:sym typeface="Calibri"/>
            </a:endParaRPr>
          </a:p>
        </p:txBody>
      </p:sp>
      <p:sp>
        <p:nvSpPr>
          <p:cNvPr id="1303" name="Google Shape;1303;p128"/>
          <p:cNvSpPr/>
          <p:nvPr/>
        </p:nvSpPr>
        <p:spPr>
          <a:xfrm>
            <a:off x="2895600" y="4953000"/>
            <a:ext cx="3276599"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World industry</a:t>
            </a:r>
            <a:endParaRPr b="0" i="0" sz="3200" u="none" cap="none" strike="noStrike">
              <a:solidFill>
                <a:schemeClr val="lt1"/>
              </a:solidFill>
              <a:latin typeface="Calibri"/>
              <a:ea typeface="Calibri"/>
              <a:cs typeface="Calibri"/>
              <a:sym typeface="Calibri"/>
            </a:endParaRPr>
          </a:p>
        </p:txBody>
      </p:sp>
      <p:sp>
        <p:nvSpPr>
          <p:cNvPr id="1304" name="Google Shape;1304;p128"/>
          <p:cNvSpPr/>
          <p:nvPr/>
        </p:nvSpPr>
        <p:spPr>
          <a:xfrm>
            <a:off x="2895600" y="5867400"/>
            <a:ext cx="3276599"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World history</a:t>
            </a:r>
            <a:endParaRPr b="0" i="0" sz="3200" u="none" cap="none" strike="noStrike">
              <a:solidFill>
                <a:schemeClr val="dk1"/>
              </a:solidFill>
              <a:latin typeface="Calibri"/>
              <a:ea typeface="Calibri"/>
              <a:cs typeface="Calibri"/>
              <a:sym typeface="Calibri"/>
            </a:endParaRPr>
          </a:p>
        </p:txBody>
      </p:sp>
      <p:pic>
        <p:nvPicPr>
          <p:cNvPr descr="AG00051_" id="1305" name="Google Shape;1305;p128"/>
          <p:cNvPicPr preferRelativeResize="0"/>
          <p:nvPr/>
        </p:nvPicPr>
        <p:blipFill rotWithShape="1">
          <a:blip r:embed="rId3">
            <a:alphaModFix/>
          </a:blip>
          <a:srcRect b="0" l="0" r="0" t="0"/>
          <a:stretch/>
        </p:blipFill>
        <p:spPr>
          <a:xfrm>
            <a:off x="1905000" y="3276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129"/>
          <p:cNvSpPr txBox="1"/>
          <p:nvPr>
            <p:ph type="title"/>
          </p:nvPr>
        </p:nvSpPr>
        <p:spPr>
          <a:xfrm>
            <a:off x="304800" y="381000"/>
            <a:ext cx="8610600" cy="22098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The UNESCO is an international organization promoting which programs of the United Nations?</a:t>
            </a:r>
            <a:endParaRPr sz="3600"/>
          </a:p>
        </p:txBody>
      </p:sp>
      <p:sp>
        <p:nvSpPr>
          <p:cNvPr id="1311" name="Google Shape;1311;p129"/>
          <p:cNvSpPr/>
          <p:nvPr/>
        </p:nvSpPr>
        <p:spPr>
          <a:xfrm>
            <a:off x="1714500" y="2895600"/>
            <a:ext cx="57150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Education, Science, Culture</a:t>
            </a:r>
            <a:endParaRPr b="0" i="0" sz="3200" u="none" cap="none" strike="noStrike">
              <a:solidFill>
                <a:schemeClr val="lt1"/>
              </a:solidFill>
              <a:latin typeface="Calibri"/>
              <a:ea typeface="Calibri"/>
              <a:cs typeface="Calibri"/>
              <a:sym typeface="Calibri"/>
            </a:endParaRPr>
          </a:p>
        </p:txBody>
      </p:sp>
      <p:sp>
        <p:nvSpPr>
          <p:cNvPr id="1312" name="Google Shape;1312;p129"/>
          <p:cNvSpPr/>
          <p:nvPr/>
        </p:nvSpPr>
        <p:spPr>
          <a:xfrm>
            <a:off x="1676400" y="3810000"/>
            <a:ext cx="5715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Unity, Organization, Education</a:t>
            </a:r>
            <a:endParaRPr b="0" i="0" sz="3200" u="none" cap="none" strike="noStrike">
              <a:solidFill>
                <a:schemeClr val="lt1"/>
              </a:solidFill>
              <a:latin typeface="Calibri"/>
              <a:ea typeface="Calibri"/>
              <a:cs typeface="Calibri"/>
              <a:sym typeface="Calibri"/>
            </a:endParaRPr>
          </a:p>
        </p:txBody>
      </p:sp>
      <p:sp>
        <p:nvSpPr>
          <p:cNvPr id="1313" name="Google Shape;1313;p129"/>
          <p:cNvSpPr/>
          <p:nvPr/>
        </p:nvSpPr>
        <p:spPr>
          <a:xfrm>
            <a:off x="1676400" y="4724400"/>
            <a:ext cx="5715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Competence, Science, Nature</a:t>
            </a:r>
            <a:endParaRPr b="0" i="0" sz="3200" u="none" cap="none" strike="noStrike">
              <a:solidFill>
                <a:schemeClr val="lt1"/>
              </a:solidFill>
              <a:latin typeface="Calibri"/>
              <a:ea typeface="Calibri"/>
              <a:cs typeface="Calibri"/>
              <a:sym typeface="Calibri"/>
            </a:endParaRPr>
          </a:p>
        </p:txBody>
      </p:sp>
      <p:sp>
        <p:nvSpPr>
          <p:cNvPr id="1314" name="Google Shape;1314;p129"/>
          <p:cNvSpPr/>
          <p:nvPr/>
        </p:nvSpPr>
        <p:spPr>
          <a:xfrm>
            <a:off x="1676400" y="5638800"/>
            <a:ext cx="57150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National, Unity, Science</a:t>
            </a:r>
            <a:endParaRPr b="0" i="0" sz="3200" u="none" cap="none" strike="noStrike">
              <a:solidFill>
                <a:schemeClr val="dk1"/>
              </a:solidFill>
              <a:latin typeface="Calibri"/>
              <a:ea typeface="Calibri"/>
              <a:cs typeface="Calibri"/>
              <a:sym typeface="Calibri"/>
            </a:endParaRPr>
          </a:p>
        </p:txBody>
      </p:sp>
      <p:pic>
        <p:nvPicPr>
          <p:cNvPr descr="AG00051_" id="1315" name="Google Shape;1315;p129"/>
          <p:cNvPicPr preferRelativeResize="0"/>
          <p:nvPr/>
        </p:nvPicPr>
        <p:blipFill rotWithShape="1">
          <a:blip r:embed="rId3">
            <a:alphaModFix/>
          </a:blip>
          <a:srcRect b="0" l="0" r="0" t="0"/>
          <a:stretch/>
        </p:blipFill>
        <p:spPr>
          <a:xfrm>
            <a:off x="762000" y="3048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30"/>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Which is a negative consequence of our value of close family ties?</a:t>
            </a:r>
            <a:endParaRPr sz="3600"/>
          </a:p>
        </p:txBody>
      </p:sp>
      <p:sp>
        <p:nvSpPr>
          <p:cNvPr id="1321" name="Google Shape;1321;p130"/>
          <p:cNvSpPr/>
          <p:nvPr/>
        </p:nvSpPr>
        <p:spPr>
          <a:xfrm>
            <a:off x="1428750" y="2286000"/>
            <a:ext cx="6286500" cy="990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The development of prolonged dependence</a:t>
            </a:r>
            <a:endParaRPr b="0" i="0" sz="3200" u="none" cap="none" strike="noStrike">
              <a:solidFill>
                <a:schemeClr val="lt1"/>
              </a:solidFill>
              <a:latin typeface="Calibri"/>
              <a:ea typeface="Calibri"/>
              <a:cs typeface="Calibri"/>
              <a:sym typeface="Calibri"/>
            </a:endParaRPr>
          </a:p>
        </p:txBody>
      </p:sp>
      <p:sp>
        <p:nvSpPr>
          <p:cNvPr id="1322" name="Google Shape;1322;p130"/>
          <p:cNvSpPr/>
          <p:nvPr/>
        </p:nvSpPr>
        <p:spPr>
          <a:xfrm>
            <a:off x="1409700" y="3581400"/>
            <a:ext cx="62865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Permanence of marriage</a:t>
            </a:r>
            <a:endParaRPr b="0" i="0" sz="3200" u="none" cap="none" strike="noStrike">
              <a:solidFill>
                <a:schemeClr val="lt1"/>
              </a:solidFill>
              <a:latin typeface="Calibri"/>
              <a:ea typeface="Calibri"/>
              <a:cs typeface="Calibri"/>
              <a:sym typeface="Calibri"/>
            </a:endParaRPr>
          </a:p>
        </p:txBody>
      </p:sp>
      <p:sp>
        <p:nvSpPr>
          <p:cNvPr id="1323" name="Google Shape;1323;p130"/>
          <p:cNvSpPr/>
          <p:nvPr/>
        </p:nvSpPr>
        <p:spPr>
          <a:xfrm>
            <a:off x="1409700" y="4648200"/>
            <a:ext cx="62865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Double-standard mentality</a:t>
            </a:r>
            <a:endParaRPr b="0" i="0" sz="3200" u="none" cap="none" strike="noStrike">
              <a:solidFill>
                <a:schemeClr val="lt1"/>
              </a:solidFill>
              <a:latin typeface="Calibri"/>
              <a:ea typeface="Calibri"/>
              <a:cs typeface="Calibri"/>
              <a:sym typeface="Calibri"/>
            </a:endParaRPr>
          </a:p>
        </p:txBody>
      </p:sp>
      <p:sp>
        <p:nvSpPr>
          <p:cNvPr id="1324" name="Google Shape;1324;p130"/>
          <p:cNvSpPr/>
          <p:nvPr/>
        </p:nvSpPr>
        <p:spPr>
          <a:xfrm>
            <a:off x="1409700" y="5638800"/>
            <a:ext cx="62865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Stability of the family</a:t>
            </a:r>
            <a:endParaRPr b="0" i="0" sz="3200" u="none" cap="none" strike="noStrike">
              <a:solidFill>
                <a:schemeClr val="dk1"/>
              </a:solidFill>
              <a:latin typeface="Calibri"/>
              <a:ea typeface="Calibri"/>
              <a:cs typeface="Calibri"/>
              <a:sym typeface="Calibri"/>
            </a:endParaRPr>
          </a:p>
        </p:txBody>
      </p:sp>
      <p:pic>
        <p:nvPicPr>
          <p:cNvPr descr="AG00051_" id="1325" name="Google Shape;1325;p130"/>
          <p:cNvPicPr preferRelativeResize="0"/>
          <p:nvPr/>
        </p:nvPicPr>
        <p:blipFill rotWithShape="1">
          <a:blip r:embed="rId3">
            <a:alphaModFix/>
          </a:blip>
          <a:srcRect b="0" l="0" r="0" t="0"/>
          <a:stretch/>
        </p:blipFill>
        <p:spPr>
          <a:xfrm>
            <a:off x="381000" y="2514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31"/>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“No pain, no gain; no cross, no crown.” What do these short statements point to?</a:t>
            </a:r>
            <a:endParaRPr sz="3600"/>
          </a:p>
        </p:txBody>
      </p:sp>
      <p:sp>
        <p:nvSpPr>
          <p:cNvPr id="1331" name="Google Shape;1331;p131"/>
          <p:cNvSpPr/>
          <p:nvPr/>
        </p:nvSpPr>
        <p:spPr>
          <a:xfrm>
            <a:off x="914400" y="2286000"/>
            <a:ext cx="7848600" cy="9906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Why suffer when there are a lot of pain relievers available.</a:t>
            </a:r>
            <a:endParaRPr b="0" i="0" sz="3200" u="none" cap="none" strike="noStrike">
              <a:solidFill>
                <a:schemeClr val="lt1"/>
              </a:solidFill>
              <a:latin typeface="Calibri"/>
              <a:ea typeface="Calibri"/>
              <a:cs typeface="Calibri"/>
              <a:sym typeface="Calibri"/>
            </a:endParaRPr>
          </a:p>
        </p:txBody>
      </p:sp>
      <p:sp>
        <p:nvSpPr>
          <p:cNvPr id="1332" name="Google Shape;1332;p131"/>
          <p:cNvSpPr/>
          <p:nvPr/>
        </p:nvSpPr>
        <p:spPr>
          <a:xfrm>
            <a:off x="914400" y="3429000"/>
            <a:ext cx="7848600" cy="9906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Be willing to pay the price for every dream you want to realize.</a:t>
            </a:r>
            <a:endParaRPr b="0" i="0" sz="3200" u="none" cap="none" strike="noStrike">
              <a:solidFill>
                <a:schemeClr val="lt1"/>
              </a:solidFill>
              <a:latin typeface="Calibri"/>
              <a:ea typeface="Calibri"/>
              <a:cs typeface="Calibri"/>
              <a:sym typeface="Calibri"/>
            </a:endParaRPr>
          </a:p>
        </p:txBody>
      </p:sp>
      <p:sp>
        <p:nvSpPr>
          <p:cNvPr id="1333" name="Google Shape;1333;p131"/>
          <p:cNvSpPr/>
          <p:nvPr/>
        </p:nvSpPr>
        <p:spPr>
          <a:xfrm>
            <a:off x="914400" y="4648200"/>
            <a:ext cx="78486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Life is a heavy burden to carry.</a:t>
            </a:r>
            <a:endParaRPr b="0" i="0" sz="3200" u="none" cap="none" strike="noStrike">
              <a:solidFill>
                <a:schemeClr val="lt1"/>
              </a:solidFill>
              <a:latin typeface="Calibri"/>
              <a:ea typeface="Calibri"/>
              <a:cs typeface="Calibri"/>
              <a:sym typeface="Calibri"/>
            </a:endParaRPr>
          </a:p>
        </p:txBody>
      </p:sp>
      <p:sp>
        <p:nvSpPr>
          <p:cNvPr id="1334" name="Google Shape;1334;p131"/>
          <p:cNvSpPr/>
          <p:nvPr/>
        </p:nvSpPr>
        <p:spPr>
          <a:xfrm>
            <a:off x="838200" y="5638800"/>
            <a:ext cx="7924800" cy="7620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Others make our life miserable many times.</a:t>
            </a:r>
            <a:endParaRPr b="0" i="0" sz="3200" u="none" cap="none" strike="noStrike">
              <a:solidFill>
                <a:schemeClr val="dk1"/>
              </a:solidFill>
              <a:latin typeface="Calibri"/>
              <a:ea typeface="Calibri"/>
              <a:cs typeface="Calibri"/>
              <a:sym typeface="Calibri"/>
            </a:endParaRPr>
          </a:p>
        </p:txBody>
      </p:sp>
      <p:pic>
        <p:nvPicPr>
          <p:cNvPr descr="AG00051_" id="1335" name="Google Shape;1335;p131"/>
          <p:cNvPicPr preferRelativeResize="0"/>
          <p:nvPr/>
        </p:nvPicPr>
        <p:blipFill rotWithShape="1">
          <a:blip r:embed="rId3">
            <a:alphaModFix/>
          </a:blip>
          <a:srcRect b="0" l="0" r="0" t="0"/>
          <a:stretch/>
        </p:blipFill>
        <p:spPr>
          <a:xfrm>
            <a:off x="152400" y="3733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32"/>
          <p:cNvSpPr txBox="1"/>
          <p:nvPr>
            <p:ph type="title"/>
          </p:nvPr>
        </p:nvSpPr>
        <p:spPr>
          <a:xfrm>
            <a:off x="304800" y="381000"/>
            <a:ext cx="8610600" cy="2438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Children learn how to open a coconut and other common chores in a coconut farm. In this instance, culture is transmitted by __________.</a:t>
            </a:r>
            <a:endParaRPr sz="3600"/>
          </a:p>
        </p:txBody>
      </p:sp>
      <p:sp>
        <p:nvSpPr>
          <p:cNvPr id="1341" name="Google Shape;1341;p132"/>
          <p:cNvSpPr/>
          <p:nvPr/>
        </p:nvSpPr>
        <p:spPr>
          <a:xfrm>
            <a:off x="2937521" y="3124200"/>
            <a:ext cx="3268959"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immersion</a:t>
            </a:r>
            <a:endParaRPr b="0" i="0" sz="3200" u="none" cap="none" strike="noStrike">
              <a:solidFill>
                <a:schemeClr val="lt1"/>
              </a:solidFill>
              <a:latin typeface="Calibri"/>
              <a:ea typeface="Calibri"/>
              <a:cs typeface="Calibri"/>
              <a:sym typeface="Calibri"/>
            </a:endParaRPr>
          </a:p>
        </p:txBody>
      </p:sp>
      <p:sp>
        <p:nvSpPr>
          <p:cNvPr id="1342" name="Google Shape;1342;p132"/>
          <p:cNvSpPr/>
          <p:nvPr/>
        </p:nvSpPr>
        <p:spPr>
          <a:xfrm>
            <a:off x="2895600" y="4038600"/>
            <a:ext cx="3276599"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enculturation</a:t>
            </a:r>
            <a:endParaRPr b="0" i="0" sz="3200" u="none" cap="none" strike="noStrike">
              <a:solidFill>
                <a:schemeClr val="lt1"/>
              </a:solidFill>
              <a:latin typeface="Calibri"/>
              <a:ea typeface="Calibri"/>
              <a:cs typeface="Calibri"/>
              <a:sym typeface="Calibri"/>
            </a:endParaRPr>
          </a:p>
        </p:txBody>
      </p:sp>
      <p:sp>
        <p:nvSpPr>
          <p:cNvPr id="1343" name="Google Shape;1343;p132"/>
          <p:cNvSpPr/>
          <p:nvPr/>
        </p:nvSpPr>
        <p:spPr>
          <a:xfrm>
            <a:off x="2895600" y="4953000"/>
            <a:ext cx="3276599"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assimilation</a:t>
            </a:r>
            <a:endParaRPr b="0" i="0" sz="3200" u="none" cap="none" strike="noStrike">
              <a:solidFill>
                <a:schemeClr val="lt1"/>
              </a:solidFill>
              <a:latin typeface="Calibri"/>
              <a:ea typeface="Calibri"/>
              <a:cs typeface="Calibri"/>
              <a:sym typeface="Calibri"/>
            </a:endParaRPr>
          </a:p>
        </p:txBody>
      </p:sp>
      <p:sp>
        <p:nvSpPr>
          <p:cNvPr id="1344" name="Google Shape;1344;p132"/>
          <p:cNvSpPr/>
          <p:nvPr/>
        </p:nvSpPr>
        <p:spPr>
          <a:xfrm>
            <a:off x="2895600" y="5867400"/>
            <a:ext cx="3276599"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acculturation</a:t>
            </a:r>
            <a:endParaRPr b="0" i="0" sz="3200" u="none" cap="none" strike="noStrike">
              <a:solidFill>
                <a:schemeClr val="dk1"/>
              </a:solidFill>
              <a:latin typeface="Calibri"/>
              <a:ea typeface="Calibri"/>
              <a:cs typeface="Calibri"/>
              <a:sym typeface="Calibri"/>
            </a:endParaRPr>
          </a:p>
        </p:txBody>
      </p:sp>
      <p:pic>
        <p:nvPicPr>
          <p:cNvPr descr="AG00051_" id="1345" name="Google Shape;1345;p132"/>
          <p:cNvPicPr preferRelativeResize="0"/>
          <p:nvPr/>
        </p:nvPicPr>
        <p:blipFill rotWithShape="1">
          <a:blip r:embed="rId3">
            <a:alphaModFix/>
          </a:blip>
          <a:srcRect b="0" l="0" r="0" t="0"/>
          <a:stretch/>
        </p:blipFill>
        <p:spPr>
          <a:xfrm>
            <a:off x="1905000" y="3276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133"/>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Which of the following statements accurately reflects a strong “school culture”?</a:t>
            </a:r>
            <a:endParaRPr sz="3600"/>
          </a:p>
        </p:txBody>
      </p:sp>
      <p:sp>
        <p:nvSpPr>
          <p:cNvPr id="1351" name="Google Shape;1351;p133"/>
          <p:cNvSpPr/>
          <p:nvPr/>
        </p:nvSpPr>
        <p:spPr>
          <a:xfrm>
            <a:off x="1219200" y="2438400"/>
            <a:ext cx="7239000" cy="8382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Has informal rules of behavior</a:t>
            </a:r>
            <a:endParaRPr b="0" i="0" sz="3200" u="none" cap="none" strike="noStrike">
              <a:solidFill>
                <a:schemeClr val="lt1"/>
              </a:solidFill>
              <a:latin typeface="Calibri"/>
              <a:ea typeface="Calibri"/>
              <a:cs typeface="Calibri"/>
              <a:sym typeface="Calibri"/>
            </a:endParaRPr>
          </a:p>
        </p:txBody>
      </p:sp>
      <p:sp>
        <p:nvSpPr>
          <p:cNvPr id="1352" name="Google Shape;1352;p133"/>
          <p:cNvSpPr/>
          <p:nvPr/>
        </p:nvSpPr>
        <p:spPr>
          <a:xfrm>
            <a:off x="1200150" y="3581400"/>
            <a:ext cx="72390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Has a network of communications</a:t>
            </a:r>
            <a:endParaRPr b="0" i="0" sz="3200" u="none" cap="none" strike="noStrike">
              <a:solidFill>
                <a:schemeClr val="lt1"/>
              </a:solidFill>
              <a:latin typeface="Calibri"/>
              <a:ea typeface="Calibri"/>
              <a:cs typeface="Calibri"/>
              <a:sym typeface="Calibri"/>
            </a:endParaRPr>
          </a:p>
        </p:txBody>
      </p:sp>
      <p:sp>
        <p:nvSpPr>
          <p:cNvPr id="1353" name="Google Shape;1353;p133"/>
          <p:cNvSpPr/>
          <p:nvPr/>
        </p:nvSpPr>
        <p:spPr>
          <a:xfrm>
            <a:off x="1200150" y="4648200"/>
            <a:ext cx="723900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Has high standards of performance</a:t>
            </a:r>
            <a:endParaRPr b="0" i="0" sz="3200" u="none" cap="none" strike="noStrike">
              <a:solidFill>
                <a:schemeClr val="lt1"/>
              </a:solidFill>
              <a:latin typeface="Calibri"/>
              <a:ea typeface="Calibri"/>
              <a:cs typeface="Calibri"/>
              <a:sym typeface="Calibri"/>
            </a:endParaRPr>
          </a:p>
        </p:txBody>
      </p:sp>
      <p:sp>
        <p:nvSpPr>
          <p:cNvPr id="1354" name="Google Shape;1354;p133"/>
          <p:cNvSpPr/>
          <p:nvPr/>
        </p:nvSpPr>
        <p:spPr>
          <a:xfrm>
            <a:off x="1200150" y="5638800"/>
            <a:ext cx="72390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Has definite organizational core values</a:t>
            </a:r>
            <a:endParaRPr b="0" i="0" sz="3200" u="none" cap="none" strike="noStrike">
              <a:solidFill>
                <a:schemeClr val="dk1"/>
              </a:solidFill>
              <a:latin typeface="Calibri"/>
              <a:ea typeface="Calibri"/>
              <a:cs typeface="Calibri"/>
              <a:sym typeface="Calibri"/>
            </a:endParaRPr>
          </a:p>
        </p:txBody>
      </p:sp>
      <p:pic>
        <p:nvPicPr>
          <p:cNvPr descr="AG00051_" id="1355" name="Google Shape;1355;p133"/>
          <p:cNvPicPr preferRelativeResize="0"/>
          <p:nvPr/>
        </p:nvPicPr>
        <p:blipFill rotWithShape="1">
          <a:blip r:embed="rId3">
            <a:alphaModFix/>
          </a:blip>
          <a:srcRect b="0" l="0" r="0" t="0"/>
          <a:stretch/>
        </p:blipFill>
        <p:spPr>
          <a:xfrm>
            <a:off x="304800" y="5791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34"/>
          <p:cNvSpPr txBox="1"/>
          <p:nvPr>
            <p:ph type="title"/>
          </p:nvPr>
        </p:nvSpPr>
        <p:spPr>
          <a:xfrm>
            <a:off x="304800" y="381000"/>
            <a:ext cx="8610600" cy="24384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3600"/>
              <a:buFont typeface="Calibri"/>
              <a:buNone/>
            </a:pPr>
            <a:r>
              <a:rPr lang="en-US" sz="3600"/>
              <a:t>Which has been said to be the strongest factor that drives most Filipino men and women to leave their families and work abroad?</a:t>
            </a:r>
            <a:endParaRPr sz="3600"/>
          </a:p>
        </p:txBody>
      </p:sp>
      <p:sp>
        <p:nvSpPr>
          <p:cNvPr id="1361" name="Google Shape;1361;p134"/>
          <p:cNvSpPr/>
          <p:nvPr/>
        </p:nvSpPr>
        <p:spPr>
          <a:xfrm>
            <a:off x="2209800" y="3124200"/>
            <a:ext cx="4800600" cy="6858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Poverty </a:t>
            </a:r>
            <a:endParaRPr b="0" i="0" sz="3200" u="none" cap="none" strike="noStrike">
              <a:solidFill>
                <a:schemeClr val="lt1"/>
              </a:solidFill>
              <a:latin typeface="Calibri"/>
              <a:ea typeface="Calibri"/>
              <a:cs typeface="Calibri"/>
              <a:sym typeface="Calibri"/>
            </a:endParaRPr>
          </a:p>
        </p:txBody>
      </p:sp>
      <p:sp>
        <p:nvSpPr>
          <p:cNvPr id="1362" name="Google Shape;1362;p134"/>
          <p:cNvSpPr/>
          <p:nvPr/>
        </p:nvSpPr>
        <p:spPr>
          <a:xfrm>
            <a:off x="2209800" y="4038600"/>
            <a:ext cx="480060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Illiteracy </a:t>
            </a:r>
            <a:endParaRPr b="0" i="0" sz="3200" u="none" cap="none" strike="noStrike">
              <a:solidFill>
                <a:schemeClr val="lt1"/>
              </a:solidFill>
              <a:latin typeface="Calibri"/>
              <a:ea typeface="Calibri"/>
              <a:cs typeface="Calibri"/>
              <a:sym typeface="Calibri"/>
            </a:endParaRPr>
          </a:p>
        </p:txBody>
      </p:sp>
      <p:sp>
        <p:nvSpPr>
          <p:cNvPr id="1363" name="Google Shape;1363;p134"/>
          <p:cNvSpPr/>
          <p:nvPr/>
        </p:nvSpPr>
        <p:spPr>
          <a:xfrm>
            <a:off x="2209801" y="4953000"/>
            <a:ext cx="4800599"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Insurgency </a:t>
            </a:r>
            <a:endParaRPr b="0" i="0" sz="3200" u="none" cap="none" strike="noStrike">
              <a:solidFill>
                <a:schemeClr val="lt1"/>
              </a:solidFill>
              <a:latin typeface="Calibri"/>
              <a:ea typeface="Calibri"/>
              <a:cs typeface="Calibri"/>
              <a:sym typeface="Calibri"/>
            </a:endParaRPr>
          </a:p>
        </p:txBody>
      </p:sp>
      <p:sp>
        <p:nvSpPr>
          <p:cNvPr id="1364" name="Google Shape;1364;p134"/>
          <p:cNvSpPr/>
          <p:nvPr/>
        </p:nvSpPr>
        <p:spPr>
          <a:xfrm>
            <a:off x="2209800" y="5867400"/>
            <a:ext cx="480060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Consumeristic mentality</a:t>
            </a:r>
            <a:endParaRPr b="0" i="0" sz="3200" u="none" cap="none" strike="noStrike">
              <a:solidFill>
                <a:schemeClr val="dk1"/>
              </a:solidFill>
              <a:latin typeface="Calibri"/>
              <a:ea typeface="Calibri"/>
              <a:cs typeface="Calibri"/>
              <a:sym typeface="Calibri"/>
            </a:endParaRPr>
          </a:p>
        </p:txBody>
      </p:sp>
      <p:pic>
        <p:nvPicPr>
          <p:cNvPr descr="AG00051_" id="1365" name="Google Shape;1365;p134"/>
          <p:cNvPicPr preferRelativeResize="0"/>
          <p:nvPr/>
        </p:nvPicPr>
        <p:blipFill rotWithShape="1">
          <a:blip r:embed="rId3">
            <a:alphaModFix/>
          </a:blip>
          <a:srcRect b="0" l="0" r="0" t="0"/>
          <a:stretch/>
        </p:blipFill>
        <p:spPr>
          <a:xfrm>
            <a:off x="1143000" y="32289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135"/>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3600"/>
              <a:buFont typeface="Calibri"/>
              <a:buNone/>
            </a:pPr>
            <a:r>
              <a:rPr lang="en-US" sz="3600"/>
              <a:t>The cultural heritage of Southeast Asia has been designated by UNESCO as __________.</a:t>
            </a:r>
            <a:endParaRPr sz="3600"/>
          </a:p>
        </p:txBody>
      </p:sp>
      <p:sp>
        <p:nvSpPr>
          <p:cNvPr id="1371" name="Google Shape;1371;p135"/>
          <p:cNvSpPr/>
          <p:nvPr/>
        </p:nvSpPr>
        <p:spPr>
          <a:xfrm>
            <a:off x="1809750" y="2438400"/>
            <a:ext cx="5276850" cy="838200"/>
          </a:xfrm>
          <a:prstGeom prst="roundRect">
            <a:avLst>
              <a:gd fmla="val 16667" name="adj"/>
            </a:avLst>
          </a:prstGeom>
          <a:solidFill>
            <a:srgbClr val="00B05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World Heritage Sites</a:t>
            </a:r>
            <a:endParaRPr b="0" i="0" sz="3200" u="none" cap="none" strike="noStrike">
              <a:solidFill>
                <a:schemeClr val="lt1"/>
              </a:solidFill>
              <a:latin typeface="Calibri"/>
              <a:ea typeface="Calibri"/>
              <a:cs typeface="Calibri"/>
              <a:sym typeface="Calibri"/>
            </a:endParaRPr>
          </a:p>
        </p:txBody>
      </p:sp>
      <p:sp>
        <p:nvSpPr>
          <p:cNvPr id="1372" name="Google Shape;1372;p135"/>
          <p:cNvSpPr/>
          <p:nvPr/>
        </p:nvSpPr>
        <p:spPr>
          <a:xfrm>
            <a:off x="1790700" y="3581400"/>
            <a:ext cx="5276850" cy="685800"/>
          </a:xfrm>
          <a:prstGeom prst="roundRect">
            <a:avLst>
              <a:gd fmla="val 16667" name="adj"/>
            </a:avLst>
          </a:prstGeom>
          <a:solidFill>
            <a:srgbClr val="FF0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B. World International Center</a:t>
            </a:r>
            <a:endParaRPr b="0" i="0" sz="3200" u="none" cap="none" strike="noStrike">
              <a:solidFill>
                <a:schemeClr val="lt1"/>
              </a:solidFill>
              <a:latin typeface="Calibri"/>
              <a:ea typeface="Calibri"/>
              <a:cs typeface="Calibri"/>
              <a:sym typeface="Calibri"/>
            </a:endParaRPr>
          </a:p>
        </p:txBody>
      </p:sp>
      <p:sp>
        <p:nvSpPr>
          <p:cNvPr id="1373" name="Google Shape;1373;p135"/>
          <p:cNvSpPr/>
          <p:nvPr/>
        </p:nvSpPr>
        <p:spPr>
          <a:xfrm>
            <a:off x="1790700" y="4648200"/>
            <a:ext cx="5276850" cy="685800"/>
          </a:xfrm>
          <a:prstGeom prst="roundRect">
            <a:avLst>
              <a:gd fmla="val 16667" name="adj"/>
            </a:avLst>
          </a:prstGeom>
          <a:solidFill>
            <a:srgbClr val="0070C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World Cultural Heritage</a:t>
            </a:r>
            <a:endParaRPr b="0" i="0" sz="3200" u="none" cap="none" strike="noStrike">
              <a:solidFill>
                <a:schemeClr val="lt1"/>
              </a:solidFill>
              <a:latin typeface="Calibri"/>
              <a:ea typeface="Calibri"/>
              <a:cs typeface="Calibri"/>
              <a:sym typeface="Calibri"/>
            </a:endParaRPr>
          </a:p>
        </p:txBody>
      </p:sp>
      <p:sp>
        <p:nvSpPr>
          <p:cNvPr id="1374" name="Google Shape;1374;p135"/>
          <p:cNvSpPr/>
          <p:nvPr/>
        </p:nvSpPr>
        <p:spPr>
          <a:xfrm>
            <a:off x="1790700" y="5638800"/>
            <a:ext cx="5276850" cy="685800"/>
          </a:xfrm>
          <a:prstGeom prst="roundRect">
            <a:avLst>
              <a:gd fmla="val 16667" name="adj"/>
            </a:avLst>
          </a:prstGeom>
          <a:solidFill>
            <a:srgbClr val="FFC000"/>
          </a:solidFill>
          <a:ln>
            <a:noFill/>
          </a:ln>
          <a:effectLst>
            <a:outerShdw blurRad="190500" algn="ctr" dir="2700000" dist="228600">
              <a:srgbClr val="000000">
                <a:alpha val="29411"/>
              </a:srgbClr>
            </a:outerShdw>
          </a:effectLst>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D. World Tourist Spots</a:t>
            </a:r>
            <a:endParaRPr b="0" i="0" sz="3200" u="none" cap="none" strike="noStrike">
              <a:solidFill>
                <a:schemeClr val="dk1"/>
              </a:solidFill>
              <a:latin typeface="Calibri"/>
              <a:ea typeface="Calibri"/>
              <a:cs typeface="Calibri"/>
              <a:sym typeface="Calibri"/>
            </a:endParaRPr>
          </a:p>
        </p:txBody>
      </p:sp>
      <p:pic>
        <p:nvPicPr>
          <p:cNvPr descr="AG00051_" id="1375" name="Google Shape;1375;p135"/>
          <p:cNvPicPr preferRelativeResize="0"/>
          <p:nvPr/>
        </p:nvPicPr>
        <p:blipFill rotWithShape="1">
          <a:blip r:embed="rId3">
            <a:alphaModFix/>
          </a:blip>
          <a:srcRect b="0" l="0" r="0" t="0"/>
          <a:stretch/>
        </p:blipFill>
        <p:spPr>
          <a:xfrm>
            <a:off x="762000" y="2667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stract teal and white scribble with paint splatters for multi-use presentation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2009-09-19T23:03:40Z</dcterms:created>
  <dc:creator>Joseph</dc:creator>
</cp:coreProperties>
</file>