
<file path=[Content_Types].xml><?xml version="1.0" encoding="utf-8"?>
<Types xmlns="http://schemas.openxmlformats.org/package/2006/content-types">
  <Override PartName="/ppt/slides/slide47.xml" ContentType="application/vnd.openxmlformats-officedocument.presentationml.slide+xml"/>
  <Override PartName="/ppt/slides/slide94.xml" ContentType="application/vnd.openxmlformats-officedocument.presentationml.slide+xml"/>
  <Override PartName="/ppt/slides/slide142.xml" ContentType="application/vnd.openxmlformats-officedocument.presentationml.slide+xml"/>
  <Override PartName="/ppt/slides/slide120.xml" ContentType="application/vnd.openxmlformats-officedocument.presentationml.slide+xml"/>
  <Override PartName="/ppt/slides/slide218.xml" ContentType="application/vnd.openxmlformats-officedocument.presentationml.slide+xml"/>
  <Override PartName="/ppt/slides/slide265.xml" ContentType="application/vnd.openxmlformats-officedocument.presentationml.slide+xml"/>
  <Override PartName="/ppt/notesSlides/notesSlide38.xml" ContentType="application/vnd.openxmlformats-officedocument.presentationml.notesSlide+xml"/>
  <Override PartName="/ppt/slides/slide25.xml" ContentType="application/vnd.openxmlformats-officedocument.presentationml.slide+xml"/>
  <Override PartName="/ppt/slides/slide72.xml" ContentType="application/vnd.openxmlformats-officedocument.presentationml.slide+xml"/>
  <Override PartName="/ppt/slideLayouts/slideLayout2.xml" ContentType="application/vnd.openxmlformats-officedocument.presentationml.slideLayout+xml"/>
  <Default Extension="xml" ContentType="application/xml"/>
  <Override PartName="/ppt/slides/slide50.xml" ContentType="application/vnd.openxmlformats-officedocument.presentationml.slide+xml"/>
  <Override PartName="/ppt/slides/slide243.xml" ContentType="application/vnd.openxmlformats-officedocument.presentationml.slide+xml"/>
  <Override PartName="/ppt/slides/slide290.xml" ContentType="application/vnd.openxmlformats-officedocument.presentationml.slide+xml"/>
  <Override PartName="/ppt/notesSlides/notesSlide16.xml" ContentType="application/vnd.openxmlformats-officedocument.presentationml.notesSlide+xml"/>
  <Override PartName="/ppt/notesSlides/notesSlide63.xml" ContentType="application/vnd.openxmlformats-officedocument.presentationml.notesSlide+xml"/>
  <Override PartName="/ppt/slides/slide221.xml" ContentType="application/vnd.openxmlformats-officedocument.presentationml.slide+xml"/>
  <Override PartName="/ppt/notesSlides/notesSlide41.xml" ContentType="application/vnd.openxmlformats-officedocument.presentationml.notesSlide+xml"/>
  <Override PartName="/ppt/slides/slide147.xml" ContentType="application/vnd.openxmlformats-officedocument.presentationml.slide+xml"/>
  <Override PartName="/ppt/slides/slide158.xml" ContentType="application/vnd.openxmlformats-officedocument.presentationml.slide+xml"/>
  <Override PartName="/ppt/slides/slide194.xml" ContentType="application/vnd.openxmlformats-officedocument.presentationml.slide+xml"/>
  <Override PartName="/ppt/slides/slide210.xml" ContentType="application/vnd.openxmlformats-officedocument.presentationml.slide+xml"/>
  <Override PartName="/ppt/notesSlides/notesSlide30.xml" ContentType="application/vnd.openxmlformats-officedocument.presentationml.notesSlide+xml"/>
  <Override PartName="/ppt/slides/slide99.xml" ContentType="application/vnd.openxmlformats-officedocument.presentationml.slide+xml"/>
  <Override PartName="/ppt/slides/slide136.xml" ContentType="application/vnd.openxmlformats-officedocument.presentationml.slide+xml"/>
  <Override PartName="/ppt/slides/slide183.xml" ContentType="application/vnd.openxmlformats-officedocument.presentationml.slide+xml"/>
  <Override PartName="/ppt/notesSlides/notesSlide7.xml" ContentType="application/vnd.openxmlformats-officedocument.presentationml.notesSlide+xml"/>
  <Override PartName="/ppt/slides/slide77.xml" ContentType="application/vnd.openxmlformats-officedocument.presentationml.slide+xml"/>
  <Override PartName="/ppt/slides/slide88.xml" ContentType="application/vnd.openxmlformats-officedocument.presentationml.slide+xml"/>
  <Override PartName="/ppt/slides/slide125.xml" ContentType="application/vnd.openxmlformats-officedocument.presentationml.slide+xml"/>
  <Override PartName="/ppt/slides/slide172.xml" ContentType="application/vnd.openxmlformats-officedocument.presentationml.slide+xml"/>
  <Override PartName="/ppt/slides/slide259.xml" ContentType="application/vnd.openxmlformats-officedocument.presentationml.slide+xml"/>
  <Override PartName="/ppt/slides/slide5.xml" ContentType="application/vnd.openxmlformats-officedocument.presentationml.slide+xml"/>
  <Override PartName="/ppt/slides/slide19.xml" ContentType="application/vnd.openxmlformats-officedocument.presentationml.slide+xml"/>
  <Override PartName="/ppt/slides/slide66.xml" ContentType="application/vnd.openxmlformats-officedocument.presentationml.slide+xml"/>
  <Override PartName="/ppt/slides/slide103.xml" ContentType="application/vnd.openxmlformats-officedocument.presentationml.slide+xml"/>
  <Override PartName="/ppt/slides/slide114.xml" ContentType="application/vnd.openxmlformats-officedocument.presentationml.slide+xml"/>
  <Override PartName="/ppt/slides/slide150.xml" ContentType="application/vnd.openxmlformats-officedocument.presentationml.slide+xml"/>
  <Override PartName="/ppt/slides/slide161.xml" ContentType="application/vnd.openxmlformats-officedocument.presentationml.slide+xml"/>
  <Override PartName="/ppt/slides/slide248.xml" ContentType="application/vnd.openxmlformats-officedocument.presentationml.slide+xml"/>
  <Override PartName="/ppt/slides/slide295.xml" ContentType="application/vnd.openxmlformats-officedocument.presentationml.slide+xml"/>
  <Override PartName="/ppt/slides/slide300.xml" ContentType="application/vnd.openxmlformats-officedocument.presentationml.slide+xml"/>
  <Override PartName="/ppt/slides/slide311.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55.xml" ContentType="application/vnd.openxmlformats-officedocument.presentationml.slide+xml"/>
  <Override PartName="/ppt/slides/slide237.xml" ContentType="application/vnd.openxmlformats-officedocument.presentationml.slide+xml"/>
  <Override PartName="/ppt/slides/slide284.xml" ContentType="application/vnd.openxmlformats-officedocument.presentationml.slide+xml"/>
  <Override PartName="/ppt/theme/theme2.xml" ContentType="application/vnd.openxmlformats-officedocument.theme+xml"/>
  <Override PartName="/ppt/notesSlides/notesSlide57.xml" ContentType="application/vnd.openxmlformats-officedocument.presentationml.notesSlide+xml"/>
  <Override PartName="/ppt/slides/slide33.xml" ContentType="application/vnd.openxmlformats-officedocument.presentationml.slide+xml"/>
  <Override PartName="/ppt/slides/slide44.xml" ContentType="application/vnd.openxmlformats-officedocument.presentationml.slide+xml"/>
  <Override PartName="/ppt/slides/slide80.xml" ContentType="application/vnd.openxmlformats-officedocument.presentationml.slide+xml"/>
  <Override PartName="/ppt/slides/slide91.xml" ContentType="application/vnd.openxmlformats-officedocument.presentationml.slide+xml"/>
  <Override PartName="/ppt/slides/slide215.xml" ContentType="application/vnd.openxmlformats-officedocument.presentationml.slide+xml"/>
  <Override PartName="/ppt/slides/slide226.xml" ContentType="application/vnd.openxmlformats-officedocument.presentationml.slide+xml"/>
  <Override PartName="/ppt/slides/slide262.xml" ContentType="application/vnd.openxmlformats-officedocument.presentationml.slide+xml"/>
  <Override PartName="/ppt/slides/slide273.xml" ContentType="application/vnd.openxmlformats-officedocument.presentationml.slide+xml"/>
  <Override PartName="/ppt/notesSlides/notesSlide46.xml" ContentType="application/vnd.openxmlformats-officedocument.presentationml.notesSlide+xml"/>
  <Override PartName="/ppt/presentation.xml" ContentType="application/vnd.openxmlformats-officedocument.presentationml.presentation.main+xml"/>
  <Override PartName="/ppt/slides/slide22.xml" ContentType="application/vnd.openxmlformats-officedocument.presentationml.slide+xml"/>
  <Override PartName="/ppt/slides/slide199.xml" ContentType="application/vnd.openxmlformats-officedocument.presentationml.slide+xml"/>
  <Override PartName="/ppt/slides/slide204.xml" ContentType="application/vnd.openxmlformats-officedocument.presentationml.slide+xml"/>
  <Override PartName="/ppt/slides/slide251.xml" ContentType="application/vnd.openxmlformats-officedocument.presentationml.slide+xml"/>
  <Override PartName="/ppt/notesSlides/notesSlide24.xml" ContentType="application/vnd.openxmlformats-officedocument.presentationml.notesSlide+xml"/>
  <Override PartName="/ppt/notesSlides/notesSlide3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188.xml" ContentType="application/vnd.openxmlformats-officedocument.presentationml.slide+xml"/>
  <Override PartName="/ppt/slides/slide240.xml" ContentType="application/vnd.openxmlformats-officedocument.presentationml.slide+xml"/>
  <Override PartName="/ppt/notesSlides/notesSlide13.xml" ContentType="application/vnd.openxmlformats-officedocument.presentationml.notesSlide+xml"/>
  <Override PartName="/ppt/notesSlides/notesSlide60.xml" ContentType="application/vnd.openxmlformats-officedocument.presentationml.notesSlide+xml"/>
  <Override PartName="/ppt/slides/slide119.xml" ContentType="application/vnd.openxmlformats-officedocument.presentationml.slide+xml"/>
  <Override PartName="/ppt/slides/slide166.xml" ContentType="application/vnd.openxmlformats-officedocument.presentationml.slide+xml"/>
  <Override PartName="/ppt/slides/slide177.xml" ContentType="application/vnd.openxmlformats-officedocument.presentationml.slide+xml"/>
  <Override PartName="/ppt/slides/slide316.xml" ContentType="application/vnd.openxmlformats-officedocument.presentationml.slide+xml"/>
  <Override PartName="/ppt/slideLayouts/slideLayout10.xml" ContentType="application/vnd.openxmlformats-officedocument.presentationml.slideLayout+xml"/>
  <Override PartName="/ppt/slides/slide108.xml" ContentType="application/vnd.openxmlformats-officedocument.presentationml.slide+xml"/>
  <Override PartName="/ppt/slides/slide155.xml" ContentType="application/vnd.openxmlformats-officedocument.presentationml.slide+xml"/>
  <Override PartName="/ppt/slides/slide305.xml" ContentType="application/vnd.openxmlformats-officedocument.presentationml.slide+xml"/>
  <Override PartName="/ppt/slides/slide49.xml" ContentType="application/vnd.openxmlformats-officedocument.presentationml.slide+xml"/>
  <Override PartName="/ppt/slides/slide96.xml" ContentType="application/vnd.openxmlformats-officedocument.presentationml.slide+xml"/>
  <Override PartName="/ppt/slides/slide144.xml" ContentType="application/vnd.openxmlformats-officedocument.presentationml.slide+xml"/>
  <Override PartName="/ppt/slides/slide191.xml" ContentType="application/vnd.openxmlformats-officedocument.presentationml.slide+xml"/>
  <Override PartName="/ppt/slides/slide278.xml" ContentType="application/vnd.openxmlformats-officedocument.presentationml.slide+xml"/>
  <Override PartName="/ppt/slides/slide289.xml" ContentType="application/vnd.openxmlformats-officedocument.presentationml.slide+xml"/>
  <Override PartName="/ppt/notesSlides/notesSlide4.xml" ContentType="application/vnd.openxmlformats-officedocument.presentationml.notesSlide+xml"/>
  <Override PartName="/ppt/slides/slide38.xml" ContentType="application/vnd.openxmlformats-officedocument.presentationml.slide+xml"/>
  <Override PartName="/ppt/slides/slide85.xml" ContentType="application/vnd.openxmlformats-officedocument.presentationml.slide+xml"/>
  <Override PartName="/ppt/slides/slide122.xml" ContentType="application/vnd.openxmlformats-officedocument.presentationml.slide+xml"/>
  <Override PartName="/ppt/slides/slide133.xml" ContentType="application/vnd.openxmlformats-officedocument.presentationml.slide+xml"/>
  <Override PartName="/ppt/slides/slide180.xml" ContentType="application/vnd.openxmlformats-officedocument.presentationml.slide+xml"/>
  <Override PartName="/ppt/slides/slide267.xml" ContentType="application/vnd.openxmlformats-officedocument.presentationml.slide+xml"/>
  <Override PartName="/ppt/slides/slide27.xml" ContentType="application/vnd.openxmlformats-officedocument.presentationml.slide+xml"/>
  <Override PartName="/ppt/slides/slide74.xml" ContentType="application/vnd.openxmlformats-officedocument.presentationml.slide+xml"/>
  <Override PartName="/ppt/slides/slide111.xml" ContentType="application/vnd.openxmlformats-officedocument.presentationml.slide+xml"/>
  <Override PartName="/ppt/slides/slide209.xml" ContentType="application/vnd.openxmlformats-officedocument.presentationml.slide+xml"/>
  <Override PartName="/ppt/slides/slide256.xml" ContentType="application/vnd.openxmlformats-officedocument.presentationml.slide+xml"/>
  <Override PartName="/ppt/slideLayouts/slideLayout4.xml" ContentType="application/vnd.openxmlformats-officedocument.presentationml.slideLayout+xml"/>
  <Override PartName="/ppt/notesSlides/notesSlide29.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100.xml" ContentType="application/vnd.openxmlformats-officedocument.presentationml.slide+xml"/>
  <Override PartName="/ppt/slides/slide234.xml" ContentType="application/vnd.openxmlformats-officedocument.presentationml.slide+xml"/>
  <Override PartName="/ppt/slides/slide245.xml" ContentType="application/vnd.openxmlformats-officedocument.presentationml.slide+xml"/>
  <Override PartName="/ppt/slides/slide281.xml" ContentType="application/vnd.openxmlformats-officedocument.presentationml.slide+xml"/>
  <Override PartName="/ppt/slides/slide292.xml" ContentType="application/vnd.openxmlformats-officedocument.presentationml.slide+xml"/>
  <Override PartName="/ppt/notesSlides/notesSlide18.xml" ContentType="application/vnd.openxmlformats-officedocument.presentationml.notesSlide+xml"/>
  <Override PartName="/ppt/notesSlides/notesSlide65.xml" ContentType="application/vnd.openxmlformats-officedocument.presentationml.notesSlide+xml"/>
  <Override PartName="/ppt/slides/slide41.xml" ContentType="application/vnd.openxmlformats-officedocument.presentationml.slide+xml"/>
  <Override PartName="/ppt/slides/slide223.xml" ContentType="application/vnd.openxmlformats-officedocument.presentationml.slide+xml"/>
  <Override PartName="/ppt/slides/slide270.xml" ContentType="application/vnd.openxmlformats-officedocument.presentationml.slide+xml"/>
  <Override PartName="/ppt/notesSlides/notesSlide43.xml" ContentType="application/vnd.openxmlformats-officedocument.presentationml.notesSlide+xml"/>
  <Override PartName="/ppt/notesSlides/notesSlide54.xml" ContentType="application/vnd.openxmlformats-officedocument.presentationml.notesSlide+xml"/>
  <Override PartName="/ppt/slides/slide30.xml" ContentType="application/vnd.openxmlformats-officedocument.presentationml.slide+xml"/>
  <Override PartName="/ppt/slides/slide149.xml" ContentType="application/vnd.openxmlformats-officedocument.presentationml.slide+xml"/>
  <Override PartName="/ppt/slides/slide196.xml" ContentType="application/vnd.openxmlformats-officedocument.presentationml.slide+xml"/>
  <Override PartName="/ppt/slides/slide212.xml" ContentType="application/vnd.openxmlformats-officedocument.presentationml.slide+xml"/>
  <Override PartName="/ppt/notesSlides/notesSlide32.xml" ContentType="application/vnd.openxmlformats-officedocument.presentationml.notesSlide+xml"/>
  <Override PartName="/ppt/slides/slide138.xml" ContentType="application/vnd.openxmlformats-officedocument.presentationml.slide+xml"/>
  <Override PartName="/ppt/slides/slide185.xml" ContentType="application/vnd.openxmlformats-officedocument.presentationml.slide+xml"/>
  <Override PartName="/ppt/slides/slide201.xml" ContentType="application/vnd.openxmlformats-officedocument.presentationml.slide+xml"/>
  <Override PartName="/ppt/notesSlides/notesSlide9.xml" ContentType="application/vnd.openxmlformats-officedocument.presentationml.notesSlide+xml"/>
  <Override PartName="/ppt/notesSlides/notesSlide21.xml" ContentType="application/vnd.openxmlformats-officedocument.presentationml.notesSlide+xml"/>
  <Override PartName="/ppt/slides/slide79.xml" ContentType="application/vnd.openxmlformats-officedocument.presentationml.slide+xml"/>
  <Override PartName="/ppt/slides/slide127.xml" ContentType="application/vnd.openxmlformats-officedocument.presentationml.slide+xml"/>
  <Override PartName="/ppt/slides/slide174.xml" ContentType="application/vnd.openxmlformats-officedocument.presentationml.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68.xml" ContentType="application/vnd.openxmlformats-officedocument.presentationml.slide+xml"/>
  <Override PartName="/ppt/slides/slide116.xml" ContentType="application/vnd.openxmlformats-officedocument.presentationml.slide+xml"/>
  <Override PartName="/ppt/slides/slide163.xml" ContentType="application/vnd.openxmlformats-officedocument.presentationml.slide+xml"/>
  <Override PartName="/ppt/slides/slide297.xml" ContentType="application/vnd.openxmlformats-officedocument.presentationml.slide+xml"/>
  <Override PartName="/ppt/slides/slide302.xml" ContentType="application/vnd.openxmlformats-officedocument.presentationml.slide+xml"/>
  <Override PartName="/ppt/slides/slide313.xml" ContentType="application/vnd.openxmlformats-officedocument.presentationml.slide+xml"/>
  <Override PartName="/ppt/slideLayouts/slideLayout9.xml" ContentType="application/vnd.openxmlformats-officedocument.presentationml.slideLayout+xml"/>
  <Override PartName="/ppt/slides/slide57.xml" ContentType="application/vnd.openxmlformats-officedocument.presentationml.slide+xml"/>
  <Override PartName="/ppt/slides/slide105.xml" ContentType="application/vnd.openxmlformats-officedocument.presentationml.slide+xml"/>
  <Override PartName="/ppt/slides/slide141.xml" ContentType="application/vnd.openxmlformats-officedocument.presentationml.slide+xml"/>
  <Override PartName="/ppt/slides/slide152.xml" ContentType="application/vnd.openxmlformats-officedocument.presentationml.slide+xml"/>
  <Override PartName="/ppt/slides/slide239.xml" ContentType="application/vnd.openxmlformats-officedocument.presentationml.slide+xml"/>
  <Override PartName="/ppt/slides/slide286.xml" ContentType="application/vnd.openxmlformats-officedocument.presentationml.slide+xml"/>
  <Override PartName="/ppt/notesSlides/notesSlide1.xml" ContentType="application/vnd.openxmlformats-officedocument.presentationml.notesSlide+xml"/>
  <Override PartName="/ppt/notesSlides/notesSlide59.xml" ContentType="application/vnd.openxmlformats-officedocument.presentationml.notesSlide+xml"/>
  <Override PartName="/ppt/slides/slide46.xml" ContentType="application/vnd.openxmlformats-officedocument.presentationml.slide+xml"/>
  <Override PartName="/ppt/slides/slide93.xml" ContentType="application/vnd.openxmlformats-officedocument.presentationml.slide+xml"/>
  <Override PartName="/ppt/slides/slide130.xml" ContentType="application/vnd.openxmlformats-officedocument.presentationml.slide+xml"/>
  <Override PartName="/ppt/slides/slide217.xml" ContentType="application/vnd.openxmlformats-officedocument.presentationml.slide+xml"/>
  <Override PartName="/ppt/slides/slide228.xml" ContentType="application/vnd.openxmlformats-officedocument.presentationml.slide+xml"/>
  <Override PartName="/ppt/slides/slide264.xml" ContentType="application/vnd.openxmlformats-officedocument.presentationml.slide+xml"/>
  <Override PartName="/ppt/slides/slide275.xml" ContentType="application/vnd.openxmlformats-officedocument.presentationml.slide+xml"/>
  <Override PartName="/ppt/notesSlides/notesSlide48.xml" ContentType="application/vnd.openxmlformats-officedocument.presentationml.notesSlide+xml"/>
  <Override PartName="/ppt/slides/slide24.xml" ContentType="application/vnd.openxmlformats-officedocument.presentationml.slide+xml"/>
  <Override PartName="/ppt/slides/slide35.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Override PartName="/ppt/slides/slide206.xml" ContentType="application/vnd.openxmlformats-officedocument.presentationml.slide+xml"/>
  <Override PartName="/ppt/slides/slide253.xml" ContentType="application/vnd.openxmlformats-officedocument.presentationml.slide+xml"/>
  <Override PartName="/ppt/notesSlides/notesSlide37.xml" ContentType="application/vnd.openxmlformats-officedocument.presentationml.notesSlide+xml"/>
  <Override PartName="/ppt/slides/slide13.xml" ContentType="application/vnd.openxmlformats-officedocument.presentationml.slide+xml"/>
  <Override PartName="/ppt/slides/slide60.xml" ContentType="application/vnd.openxmlformats-officedocument.presentationml.slide+xml"/>
  <Override PartName="/ppt/slides/slide242.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6.xml" ContentType="application/vnd.openxmlformats-officedocument.presentationml.notesSlide+xml"/>
  <Override PartName="/ppt/notesSlides/notesSlide62.xml" ContentType="application/vnd.openxmlformats-officedocument.presentationml.notesSlide+xml"/>
  <Override PartName="/ppt/slides/slide168.xml" ContentType="application/vnd.openxmlformats-officedocument.presentationml.slide+xml"/>
  <Override PartName="/ppt/slides/slide179.xml" ContentType="application/vnd.openxmlformats-officedocument.presentationml.slide+xml"/>
  <Override PartName="/ppt/slides/slide231.xml" ContentType="application/vnd.openxmlformats-officedocument.presentationml.slide+xml"/>
  <Override PartName="/ppt/notesSlides/notesSlide51.xml" ContentType="application/vnd.openxmlformats-officedocument.presentationml.notesSlide+xml"/>
  <Override PartName="/ppt/slides/slide157.xml" ContentType="application/vnd.openxmlformats-officedocument.presentationml.slide+xml"/>
  <Override PartName="/ppt/slides/slide220.xml" ContentType="application/vnd.openxmlformats-officedocument.presentationml.slide+xml"/>
  <Override PartName="/ppt/slides/slide307.xml" ContentType="application/vnd.openxmlformats-officedocument.presentationml.slide+xml"/>
  <Override PartName="/ppt/notesSlides/notesSlide40.xml" ContentType="application/vnd.openxmlformats-officedocument.presentationml.notesSlide+xml"/>
  <Override PartName="/ppt/slides/slide98.xml" ContentType="application/vnd.openxmlformats-officedocument.presentationml.slide+xml"/>
  <Override PartName="/ppt/slides/slide146.xml" ContentType="application/vnd.openxmlformats-officedocument.presentationml.slide+xml"/>
  <Override PartName="/ppt/slides/slide193.xml" ContentType="application/vnd.openxmlformats-officedocument.presentationml.slide+xml"/>
  <Override PartName="/ppt/notesSlides/notesSlide6.xml" ContentType="application/vnd.openxmlformats-officedocument.presentationml.notesSlide+xml"/>
  <Override PartName="/ppt/slides/slide87.xml" ContentType="application/vnd.openxmlformats-officedocument.presentationml.slide+xml"/>
  <Override PartName="/ppt/slides/slide124.xml" ContentType="application/vnd.openxmlformats-officedocument.presentationml.slide+xml"/>
  <Override PartName="/ppt/slides/slide135.xml" ContentType="application/vnd.openxmlformats-officedocument.presentationml.slide+xml"/>
  <Override PartName="/ppt/slides/slide171.xml" ContentType="application/vnd.openxmlformats-officedocument.presentationml.slide+xml"/>
  <Override PartName="/ppt/slides/slide182.xml" ContentType="application/vnd.openxmlformats-officedocument.presentationml.slide+xml"/>
  <Override PartName="/ppt/slides/slide269.xml" ContentType="application/vnd.openxmlformats-officedocument.presentationml.slide+xml"/>
  <Override PartName="/ppt/slides/slide29.xml" ContentType="application/vnd.openxmlformats-officedocument.presentationml.slide+xml"/>
  <Override PartName="/ppt/slides/slide76.xml" ContentType="application/vnd.openxmlformats-officedocument.presentationml.slide+xml"/>
  <Override PartName="/ppt/slides/slide113.xml" ContentType="application/vnd.openxmlformats-officedocument.presentationml.slide+xml"/>
  <Override PartName="/ppt/slides/slide160.xml" ContentType="application/vnd.openxmlformats-officedocument.presentationml.slide+xml"/>
  <Override PartName="/ppt/slides/slide258.xml" ContentType="application/vnd.openxmlformats-officedocument.presentationml.slide+xml"/>
  <Override PartName="/ppt/slides/slide310.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102.xml" ContentType="application/vnd.openxmlformats-officedocument.presentationml.slide+xml"/>
  <Override PartName="/ppt/slides/slide236.xml" ContentType="application/vnd.openxmlformats-officedocument.presentationml.slide+xml"/>
  <Override PartName="/ppt/slides/slide247.xml" ContentType="application/vnd.openxmlformats-officedocument.presentationml.slide+xml"/>
  <Override PartName="/ppt/slides/slide283.xml" ContentType="application/vnd.openxmlformats-officedocument.presentationml.slide+xml"/>
  <Override PartName="/ppt/slides/slide294.xml" ContentType="application/vnd.openxmlformats-officedocument.presentationml.slide+xml"/>
  <Override PartName="/ppt/slideLayouts/slideLayout6.xml" ContentType="application/vnd.openxmlformats-officedocument.presentationml.slideLayout+xml"/>
  <Override PartName="/ppt/notesSlides/notesSlide67.xml" ContentType="application/vnd.openxmlformats-officedocument.presentationml.notesSlide+xml"/>
  <Override PartName="/ppt/slides/slide43.xml" ContentType="application/vnd.openxmlformats-officedocument.presentationml.slide+xml"/>
  <Override PartName="/ppt/slides/slide90.xml" ContentType="application/vnd.openxmlformats-officedocument.presentationml.slide+xml"/>
  <Override PartName="/ppt/slides/slide225.xml" ContentType="application/vnd.openxmlformats-officedocument.presentationml.slide+xml"/>
  <Override PartName="/ppt/slides/slide272.xml" ContentType="application/vnd.openxmlformats-officedocument.presentationml.slide+xml"/>
  <Override PartName="/ppt/theme/theme1.xml" ContentType="application/vnd.openxmlformats-officedocument.theme+xml"/>
  <Override PartName="/ppt/notesSlides/notesSlide45.xml" ContentType="application/vnd.openxmlformats-officedocument.presentationml.notesSlide+xml"/>
  <Override PartName="/ppt/notesSlides/notesSlide56.xml" ContentType="application/vnd.openxmlformats-officedocument.presentationml.notesSlide+xml"/>
  <Override PartName="/ppt/slides/slide32.xml" ContentType="application/vnd.openxmlformats-officedocument.presentationml.slide+xml"/>
  <Override PartName="/ppt/slides/slide214.xml" ContentType="application/vnd.openxmlformats-officedocument.presentationml.slide+xml"/>
  <Override PartName="/ppt/slides/slide261.xml" ContentType="application/vnd.openxmlformats-officedocument.presentationml.slide+xml"/>
  <Override PartName="/ppt/notesSlides/notesSlide34.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slides/slide187.xml" ContentType="application/vnd.openxmlformats-officedocument.presentationml.slide+xml"/>
  <Override PartName="/ppt/slides/slide198.xml" ContentType="application/vnd.openxmlformats-officedocument.presentationml.slide+xml"/>
  <Override PartName="/ppt/slides/slide203.xml" ContentType="application/vnd.openxmlformats-officedocument.presentationml.slide+xml"/>
  <Override PartName="/ppt/slides/slide250.xml" ContentType="application/vnd.openxmlformats-officedocument.presentationml.slide+xml"/>
  <Override PartName="/ppt/notesSlides/notesSlide23.xml" ContentType="application/vnd.openxmlformats-officedocument.presentationml.notesSlide+xml"/>
  <Override PartName="/ppt/slides/slide129.xml" ContentType="application/vnd.openxmlformats-officedocument.presentationml.slide+xml"/>
  <Override PartName="/ppt/slides/slide176.xml" ContentType="application/vnd.openxmlformats-officedocument.presentationml.slide+xml"/>
  <Override PartName="/ppt/notesSlides/notesSlide12.xml" ContentType="application/vnd.openxmlformats-officedocument.presentationml.notesSlide+xml"/>
  <Override PartName="/ppt/slides/slide118.xml" ContentType="application/vnd.openxmlformats-officedocument.presentationml.slide+xml"/>
  <Override PartName="/ppt/slides/slide165.xml" ContentType="application/vnd.openxmlformats-officedocument.presentationml.slide+xml"/>
  <Override PartName="/ppt/slides/slide299.xml" ContentType="application/vnd.openxmlformats-officedocument.presentationml.slide+xml"/>
  <Override PartName="/ppt/slides/slide304.xml" ContentType="application/vnd.openxmlformats-officedocument.presentationml.slide+xml"/>
  <Override PartName="/ppt/slides/slide315.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107.xml" ContentType="application/vnd.openxmlformats-officedocument.presentationml.slide+xml"/>
  <Override PartName="/ppt/slides/slide143.xml" ContentType="application/vnd.openxmlformats-officedocument.presentationml.slide+xml"/>
  <Override PartName="/ppt/slides/slide154.xml" ContentType="application/vnd.openxmlformats-officedocument.presentationml.slide+xml"/>
  <Override PartName="/ppt/slides/slide190.xml" ContentType="application/vnd.openxmlformats-officedocument.presentationml.slide+xml"/>
  <Override PartName="/ppt/slides/slide288.xml" ContentType="application/vnd.openxmlformats-officedocument.presentationml.slide+xml"/>
  <Override PartName="/ppt/viewProps.xml" ContentType="application/vnd.openxmlformats-officedocument.presentationml.viewProps+xml"/>
  <Override PartName="/ppt/slides/slide48.xml" ContentType="application/vnd.openxmlformats-officedocument.presentationml.slide+xml"/>
  <Override PartName="/ppt/slides/slide95.xml" ContentType="application/vnd.openxmlformats-officedocument.presentationml.slide+xml"/>
  <Override PartName="/ppt/slides/slide132.xml" ContentType="application/vnd.openxmlformats-officedocument.presentationml.slide+xml"/>
  <Override PartName="/ppt/slides/slide277.xml" ContentType="application/vnd.openxmlformats-officedocument.presentationml.slide+xml"/>
  <Override PartName="/ppt/notesSlides/notesSlide3.xml" ContentType="application/vnd.openxmlformats-officedocument.presentationml.notesSlide+xml"/>
  <Override PartName="/ppt/slides/slide26.xml" ContentType="application/vnd.openxmlformats-officedocument.presentationml.slide+xml"/>
  <Override PartName="/ppt/slides/slide37.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121.xml" ContentType="application/vnd.openxmlformats-officedocument.presentationml.slide+xml"/>
  <Override PartName="/ppt/slides/slide208.xml" ContentType="application/vnd.openxmlformats-officedocument.presentationml.slide+xml"/>
  <Override PartName="/ppt/slides/slide219.xml" ContentType="application/vnd.openxmlformats-officedocument.presentationml.slide+xml"/>
  <Override PartName="/ppt/slides/slide255.xml" ContentType="application/vnd.openxmlformats-officedocument.presentationml.slide+xml"/>
  <Override PartName="/ppt/slides/slide266.xml" ContentType="application/vnd.openxmlformats-officedocument.presentationml.slide+xml"/>
  <Override PartName="/ppt/presProps.xml" ContentType="application/vnd.openxmlformats-officedocument.presentationml.presProps+xml"/>
  <Override PartName="/ppt/notesSlides/notesSlide3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62.xml" ContentType="application/vnd.openxmlformats-officedocument.presentationml.slide+xml"/>
  <Override PartName="/ppt/slides/slide110.xml" ContentType="application/vnd.openxmlformats-officedocument.presentationml.slide+xml"/>
  <Override PartName="/ppt/slides/slide244.xml" ContentType="application/vnd.openxmlformats-officedocument.presentationml.slide+xml"/>
  <Override PartName="/ppt/slides/slide291.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64.xml" ContentType="application/vnd.openxmlformats-officedocument.presentationml.notesSlide+xml"/>
  <Override PartName="/ppt/slides/slide51.xml" ContentType="application/vnd.openxmlformats-officedocument.presentationml.slide+xml"/>
  <Override PartName="/ppt/slides/slide233.xml" ContentType="application/vnd.openxmlformats-officedocument.presentationml.slide+xml"/>
  <Override PartName="/ppt/slides/slide280.xml" ContentType="application/vnd.openxmlformats-officedocument.presentationml.slide+xml"/>
  <Override PartName="/ppt/notesSlides/notesSlide53.xml" ContentType="application/vnd.openxmlformats-officedocument.presentationml.notesSlide+xml"/>
  <Override PartName="/ppt/slides/slide40.xml" ContentType="application/vnd.openxmlformats-officedocument.presentationml.slide+xml"/>
  <Override PartName="/ppt/slides/slide159.xml" ContentType="application/vnd.openxmlformats-officedocument.presentationml.slide+xml"/>
  <Override PartName="/ppt/slides/slide211.xml" ContentType="application/vnd.openxmlformats-officedocument.presentationml.slide+xml"/>
  <Override PartName="/ppt/slides/slide222.xml" ContentType="application/vnd.openxmlformats-officedocument.presentationml.slide+xml"/>
  <Override PartName="/ppt/slides/slide309.xml" ContentType="application/vnd.openxmlformats-officedocument.presentationml.slide+xml"/>
  <Override PartName="/ppt/notesSlides/notesSlide42.xml" ContentType="application/vnd.openxmlformats-officedocument.presentationml.notesSlide+xml"/>
  <Override PartName="/ppt/slides/slide148.xml" ContentType="application/vnd.openxmlformats-officedocument.presentationml.slide+xml"/>
  <Override PartName="/ppt/slides/slide195.xml" ContentType="application/vnd.openxmlformats-officedocument.presentationml.slide+xml"/>
  <Override PartName="/ppt/slides/slide200.xml" ContentType="application/vnd.openxmlformats-officedocument.presentationml.slide+xml"/>
  <Default Extension="gif" ContentType="image/gif"/>
  <Override PartName="/ppt/notesSlides/notesSlide8.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slides/slide89.xml" ContentType="application/vnd.openxmlformats-officedocument.presentationml.slide+xml"/>
  <Override PartName="/ppt/slides/slide126.xml" ContentType="application/vnd.openxmlformats-officedocument.presentationml.slide+xml"/>
  <Override PartName="/ppt/slides/slide137.xml" ContentType="application/vnd.openxmlformats-officedocument.presentationml.slide+xml"/>
  <Override PartName="/ppt/slides/slide173.xml" ContentType="application/vnd.openxmlformats-officedocument.presentationml.slide+xml"/>
  <Override PartName="/ppt/slides/slide184.xml" ContentType="application/vnd.openxmlformats-officedocument.presentationml.slide+xml"/>
  <Override PartName="/ppt/slides/slide78.xml" ContentType="application/vnd.openxmlformats-officedocument.presentationml.slide+xml"/>
  <Override PartName="/ppt/slides/slide115.xml" ContentType="application/vnd.openxmlformats-officedocument.presentationml.slide+xml"/>
  <Override PartName="/ppt/slides/slide162.xml" ContentType="application/vnd.openxmlformats-officedocument.presentationml.slide+xml"/>
  <Override PartName="/ppt/slides/slide312.xml" ContentType="application/vnd.openxmlformats-officedocument.presentationml.slide+xml"/>
  <Override PartName="/docProps/core.xml" ContentType="application/vnd.openxmlformats-package.core-properties+xml"/>
  <Override PartName="/ppt/slides/slide6.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104.xml" ContentType="application/vnd.openxmlformats-officedocument.presentationml.slide+xml"/>
  <Override PartName="/ppt/slides/slide151.xml" ContentType="application/vnd.openxmlformats-officedocument.presentationml.slide+xml"/>
  <Override PartName="/ppt/slides/slide238.xml" ContentType="application/vnd.openxmlformats-officedocument.presentationml.slide+xml"/>
  <Override PartName="/ppt/slides/slide249.xml" ContentType="application/vnd.openxmlformats-officedocument.presentationml.slide+xml"/>
  <Override PartName="/ppt/slides/slide285.xml" ContentType="application/vnd.openxmlformats-officedocument.presentationml.slide+xml"/>
  <Override PartName="/ppt/slides/slide296.xml" ContentType="application/vnd.openxmlformats-officedocument.presentationml.slide+xml"/>
  <Override PartName="/ppt/slides/slide301.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5.xml" ContentType="application/vnd.openxmlformats-officedocument.presentationml.slide+xml"/>
  <Override PartName="/ppt/slides/slide92.xml" ContentType="application/vnd.openxmlformats-officedocument.presentationml.slide+xml"/>
  <Override PartName="/ppt/slides/slide140.xml" ContentType="application/vnd.openxmlformats-officedocument.presentationml.slide+xml"/>
  <Override PartName="/ppt/slides/slide227.xml" ContentType="application/vnd.openxmlformats-officedocument.presentationml.slide+xml"/>
  <Override PartName="/ppt/slides/slide274.xml" ContentType="application/vnd.openxmlformats-officedocument.presentationml.slide+xml"/>
  <Override PartName="/ppt/notesSlides/notesSlide47.xml" ContentType="application/vnd.openxmlformats-officedocument.presentationml.notesSlide+xml"/>
  <Override PartName="/ppt/notesSlides/notesSlide58.xml" ContentType="application/vnd.openxmlformats-officedocument.presentationml.notesSlide+xml"/>
  <Override PartName="/ppt/slides/slide34.xml" ContentType="application/vnd.openxmlformats-officedocument.presentationml.slide+xml"/>
  <Override PartName="/ppt/slides/slide81.xml" ContentType="application/vnd.openxmlformats-officedocument.presentationml.slide+xml"/>
  <Override PartName="/ppt/slides/slide216.xml" ContentType="application/vnd.openxmlformats-officedocument.presentationml.slide+xml"/>
  <Override PartName="/ppt/slides/slide263.xml" ContentType="application/vnd.openxmlformats-officedocument.presentationml.slide+xml"/>
  <Override PartName="/ppt/notesSlides/notesSlide36.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70.xml" ContentType="application/vnd.openxmlformats-officedocument.presentationml.slide+xml"/>
  <Override PartName="/ppt/slides/slide189.xml" ContentType="application/vnd.openxmlformats-officedocument.presentationml.slide+xml"/>
  <Override PartName="/ppt/slides/slide205.xml" ContentType="application/vnd.openxmlformats-officedocument.presentationml.slide+xml"/>
  <Override PartName="/ppt/slides/slide241.xml" ContentType="application/vnd.openxmlformats-officedocument.presentationml.slide+xml"/>
  <Override PartName="/ppt/slides/slide252.xml" ContentType="application/vnd.openxmlformats-officedocument.presentationml.slide+xml"/>
  <Override PartName="/ppt/notesSlides/notesSlide25.xml" ContentType="application/vnd.openxmlformats-officedocument.presentationml.notesSlide+xml"/>
  <Override PartName="/ppt/slides/slide12.xml" ContentType="application/vnd.openxmlformats-officedocument.presentationml.slide+xml"/>
  <Override PartName="/ppt/slides/slide178.xml" ContentType="application/vnd.openxmlformats-officedocument.presentationml.slide+xml"/>
  <Override PartName="/ppt/slides/slide230.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61.xml" ContentType="application/vnd.openxmlformats-officedocument.presentationml.notesSlide+xml"/>
  <Override PartName="/ppt/slides/slide167.xml" ContentType="application/vnd.openxmlformats-officedocument.presentationml.slide+xml"/>
  <Override PartName="/ppt/slides/slide306.xml" ContentType="application/vnd.openxmlformats-officedocument.presentationml.slide+xml"/>
  <Override PartName="/ppt/notesSlides/notesSlide50.xml" ContentType="application/vnd.openxmlformats-officedocument.presentationml.notesSlide+xml"/>
  <Override PartName="/ppt/slides/slide109.xml" ContentType="application/vnd.openxmlformats-officedocument.presentationml.slide+xml"/>
  <Override PartName="/ppt/slides/slide145.xml" ContentType="application/vnd.openxmlformats-officedocument.presentationml.slide+xml"/>
  <Override PartName="/ppt/slides/slide156.xml" ContentType="application/vnd.openxmlformats-officedocument.presentationml.slide+xml"/>
  <Override PartName="/ppt/slides/slide192.xml" ContentType="application/vnd.openxmlformats-officedocument.presentationml.slide+xml"/>
  <Override PartName="/ppt/slides/slide97.xml" ContentType="application/vnd.openxmlformats-officedocument.presentationml.slide+xml"/>
  <Override PartName="/ppt/slides/slide134.xml" ContentType="application/vnd.openxmlformats-officedocument.presentationml.slide+xml"/>
  <Override PartName="/ppt/slides/slide181.xml" ContentType="application/vnd.openxmlformats-officedocument.presentationml.slide+xml"/>
  <Override PartName="/ppt/slides/slide279.xml" ContentType="application/vnd.openxmlformats-officedocument.presentationml.slide+xml"/>
  <Override PartName="/ppt/notesSlides/notesSlide5.xml" ContentType="application/vnd.openxmlformats-officedocument.presentationml.notesSlide+xml"/>
  <Override PartName="/ppt/slides/slide28.xml" ContentType="application/vnd.openxmlformats-officedocument.presentationml.slide+xml"/>
  <Override PartName="/ppt/slides/slide39.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123.xml" ContentType="application/vnd.openxmlformats-officedocument.presentationml.slide+xml"/>
  <Override PartName="/ppt/slides/slide170.xml" ContentType="application/vnd.openxmlformats-officedocument.presentationml.slide+xml"/>
  <Override PartName="/ppt/slides/slide257.xml" ContentType="application/vnd.openxmlformats-officedocument.presentationml.slide+xml"/>
  <Override PartName="/ppt/slides/slide268.xml" ContentType="application/vnd.openxmlformats-officedocument.presentationml.slide+xml"/>
  <Override PartName="/ppt/slides/slide3.xml" ContentType="application/vnd.openxmlformats-officedocument.presentationml.slide+xml"/>
  <Override PartName="/ppt/slides/slide17.xml" ContentType="application/vnd.openxmlformats-officedocument.presentationml.slide+xml"/>
  <Override PartName="/ppt/slides/slide64.xml" ContentType="application/vnd.openxmlformats-officedocument.presentationml.slide+xml"/>
  <Override PartName="/ppt/slides/slide101.xml" ContentType="application/vnd.openxmlformats-officedocument.presentationml.slide+xml"/>
  <Override PartName="/ppt/slides/slide112.xml" ContentType="application/vnd.openxmlformats-officedocument.presentationml.slide+xml"/>
  <Override PartName="/ppt/slides/slide246.xml" ContentType="application/vnd.openxmlformats-officedocument.presentationml.slide+xml"/>
  <Override PartName="/ppt/slides/slide293.xml" ContentType="application/vnd.openxmlformats-officedocument.presentationml.slide+xml"/>
  <Override PartName="/ppt/slideLayouts/slideLayout5.xml" ContentType="application/vnd.openxmlformats-officedocument.presentationml.slideLayout+xml"/>
  <Override PartName="/ppt/notesSlides/notesSlide19.xml" ContentType="application/vnd.openxmlformats-officedocument.presentationml.notesSlide+xml"/>
  <Override PartName="/ppt/notesSlides/notesSlide66.xml" ContentType="application/vnd.openxmlformats-officedocument.presentationml.notesSlide+xml"/>
  <Override PartName="/ppt/slides/slide53.xml" ContentType="application/vnd.openxmlformats-officedocument.presentationml.slide+xml"/>
  <Override PartName="/ppt/slides/slide235.xml" ContentType="application/vnd.openxmlformats-officedocument.presentationml.slide+xml"/>
  <Override PartName="/ppt/slides/slide282.xml" ContentType="application/vnd.openxmlformats-officedocument.presentationml.slide+xml"/>
  <Default Extension="jpeg" ContentType="image/jpeg"/>
  <Override PartName="/ppt/notesSlides/notesSlide55.xml" ContentType="application/vnd.openxmlformats-officedocument.presentationml.notesSlide+xml"/>
  <Override PartName="/ppt/slides/slide31.xml" ContentType="application/vnd.openxmlformats-officedocument.presentationml.slide+xml"/>
  <Override PartName="/ppt/slides/slide42.xml" ContentType="application/vnd.openxmlformats-officedocument.presentationml.slide+xml"/>
  <Override PartName="/ppt/slides/slide213.xml" ContentType="application/vnd.openxmlformats-officedocument.presentationml.slide+xml"/>
  <Override PartName="/ppt/slides/slide224.xml" ContentType="application/vnd.openxmlformats-officedocument.presentationml.slide+xml"/>
  <Override PartName="/ppt/slides/slide260.xml" ContentType="application/vnd.openxmlformats-officedocument.presentationml.slide+xml"/>
  <Override PartName="/ppt/slides/slide271.xml" ContentType="application/vnd.openxmlformats-officedocument.presentationml.slide+xml"/>
  <Override PartName="/ppt/notesSlides/notesSlide44.xml" ContentType="application/vnd.openxmlformats-officedocument.presentationml.notesSlide+xml"/>
  <Override PartName="/ppt/slides/slide20.xml" ContentType="application/vnd.openxmlformats-officedocument.presentationml.slide+xml"/>
  <Override PartName="/ppt/slides/slide197.xml" ContentType="application/vnd.openxmlformats-officedocument.presentationml.slide+xml"/>
  <Override PartName="/ppt/slides/slide202.xml" ContentType="application/vnd.openxmlformats-officedocument.presentationml.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slides/slide139.xml" ContentType="application/vnd.openxmlformats-officedocument.presentationml.slide+xml"/>
  <Override PartName="/ppt/slides/slide186.xml" ContentType="application/vnd.openxmlformats-officedocument.presentationml.slide+xml"/>
  <Override PartName="/ppt/notesSlides/notesSlide11.xml" ContentType="application/vnd.openxmlformats-officedocument.presentationml.notesSlide+xml"/>
  <Override PartName="/ppt/slides/slide117.xml" ContentType="application/vnd.openxmlformats-officedocument.presentationml.slide+xml"/>
  <Override PartName="/ppt/slides/slide128.xml" ContentType="application/vnd.openxmlformats-officedocument.presentationml.slide+xml"/>
  <Override PartName="/ppt/slides/slide164.xml" ContentType="application/vnd.openxmlformats-officedocument.presentationml.slide+xml"/>
  <Override PartName="/ppt/slides/slide175.xml" ContentType="application/vnd.openxmlformats-officedocument.presentationml.slide+xml"/>
  <Override PartName="/ppt/slides/slide314.xml" ContentType="application/vnd.openxmlformats-officedocument.presentationml.slide+xml"/>
  <Override PartName="/ppt/slides/slide8.xml" ContentType="application/vnd.openxmlformats-officedocument.presentationml.slide+xml"/>
  <Override PartName="/ppt/slides/slide69.xml" ContentType="application/vnd.openxmlformats-officedocument.presentationml.slide+xml"/>
  <Override PartName="/ppt/slides/slide106.xml" ContentType="application/vnd.openxmlformats-officedocument.presentationml.slide+xml"/>
  <Override PartName="/ppt/slides/slide153.xml" ContentType="application/vnd.openxmlformats-officedocument.presentationml.slide+xml"/>
  <Override PartName="/ppt/slides/slide287.xml" ContentType="application/vnd.openxmlformats-officedocument.presentationml.slide+xml"/>
  <Override PartName="/ppt/slides/slide298.xml" ContentType="application/vnd.openxmlformats-officedocument.presentationml.slide+xml"/>
  <Override PartName="/ppt/slides/slide303.xml" ContentType="application/vnd.openxmlformats-officedocument.presentationml.slide+xml"/>
  <Override PartName="/ppt/slides/slide58.xml" ContentType="application/vnd.openxmlformats-officedocument.presentationml.slide+xml"/>
  <Override PartName="/ppt/slides/slide229.xml" ContentType="application/vnd.openxmlformats-officedocument.presentationml.slide+xml"/>
  <Override PartName="/ppt/slides/slide276.xml" ContentType="application/vnd.openxmlformats-officedocument.presentationml.slide+xml"/>
  <Override PartName="/ppt/notesSlides/notesSlide2.xml" ContentType="application/vnd.openxmlformats-officedocument.presentationml.notesSlide+xml"/>
  <Override PartName="/ppt/slides/slide36.xml" ContentType="application/vnd.openxmlformats-officedocument.presentationml.slide+xml"/>
  <Override PartName="/ppt/slides/slide83.xml" ContentType="application/vnd.openxmlformats-officedocument.presentationml.slide+xml"/>
  <Override PartName="/ppt/slides/slide131.xml" ContentType="application/vnd.openxmlformats-officedocument.presentationml.slide+xml"/>
  <Override PartName="/ppt/notesSlides/notesSlide49.xml" ContentType="application/vnd.openxmlformats-officedocument.presentationml.notesSlide+xml"/>
  <Override PartName="/ppt/slides/slide207.xml" ContentType="application/vnd.openxmlformats-officedocument.presentationml.slide+xml"/>
  <Override PartName="/ppt/slides/slide254.xml" ContentType="application/vnd.openxmlformats-officedocument.presentationml.slide+xml"/>
  <Override PartName="/ppt/notesSlides/notesSlide27.xml" ContentType="application/vnd.openxmlformats-officedocument.presentationml.notesSlide+xml"/>
  <Override PartName="/ppt/slides/slide14.xml" ContentType="application/vnd.openxmlformats-officedocument.presentationml.slide+xml"/>
  <Override PartName="/ppt/slides/slide61.xml" ContentType="application/vnd.openxmlformats-officedocument.presentationml.slide+xml"/>
  <Override PartName="/ppt/slides/slide232.xml" ContentType="application/vnd.openxmlformats-officedocument.presentationml.slide+xml"/>
  <Override PartName="/ppt/notesMasters/notesMaster1.xml" ContentType="application/vnd.openxmlformats-officedocument.presentationml.notesMaster+xml"/>
  <Override PartName="/ppt/slides/slide169.xml" ContentType="application/vnd.openxmlformats-officedocument.presentationml.slide+xml"/>
  <Override PartName="/ppt/slides/slide308.xml" ContentType="application/vnd.openxmlformats-officedocument.presentationml.slide+xml"/>
  <Override PartName="/ppt/tableStyles.xml" ContentType="application/vnd.openxmlformats-officedocument.presentationml.tableStyles+xml"/>
  <Override PartName="/ppt/notesSlides/notesSlide52.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18"/>
  </p:notesMasterIdLst>
  <p:sldIdLst>
    <p:sldId id="256" r:id="rId2"/>
    <p:sldId id="257" r:id="rId3"/>
    <p:sldId id="258" r:id="rId4"/>
    <p:sldId id="259" r:id="rId5"/>
    <p:sldId id="260" r:id="rId6"/>
    <p:sldId id="261" r:id="rId7"/>
    <p:sldId id="262" r:id="rId8"/>
    <p:sldId id="263" r:id="rId9"/>
    <p:sldId id="464" r:id="rId10"/>
    <p:sldId id="264" r:id="rId11"/>
    <p:sldId id="265" r:id="rId12"/>
    <p:sldId id="266" r:id="rId13"/>
    <p:sldId id="267" r:id="rId14"/>
    <p:sldId id="268" r:id="rId15"/>
    <p:sldId id="269" r:id="rId16"/>
    <p:sldId id="465" r:id="rId17"/>
    <p:sldId id="270" r:id="rId18"/>
    <p:sldId id="273" r:id="rId19"/>
    <p:sldId id="271" r:id="rId20"/>
    <p:sldId id="274" r:id="rId21"/>
    <p:sldId id="272" r:id="rId22"/>
    <p:sldId id="275" r:id="rId23"/>
    <p:sldId id="276" r:id="rId24"/>
    <p:sldId id="277" r:id="rId25"/>
    <p:sldId id="278" r:id="rId26"/>
    <p:sldId id="279" r:id="rId27"/>
    <p:sldId id="280" r:id="rId28"/>
    <p:sldId id="281" r:id="rId29"/>
    <p:sldId id="282" r:id="rId30"/>
    <p:sldId id="466" r:id="rId31"/>
    <p:sldId id="283" r:id="rId32"/>
    <p:sldId id="284" r:id="rId33"/>
    <p:sldId id="285" r:id="rId34"/>
    <p:sldId id="471" r:id="rId35"/>
    <p:sldId id="286" r:id="rId36"/>
    <p:sldId id="287" r:id="rId37"/>
    <p:sldId id="288" r:id="rId38"/>
    <p:sldId id="289" r:id="rId39"/>
    <p:sldId id="290" r:id="rId40"/>
    <p:sldId id="291" r:id="rId41"/>
    <p:sldId id="469" r:id="rId42"/>
    <p:sldId id="292" r:id="rId43"/>
    <p:sldId id="293" r:id="rId44"/>
    <p:sldId id="294" r:id="rId45"/>
    <p:sldId id="295" r:id="rId46"/>
    <p:sldId id="296" r:id="rId47"/>
    <p:sldId id="297" r:id="rId48"/>
    <p:sldId id="468" r:id="rId49"/>
    <p:sldId id="298" r:id="rId50"/>
    <p:sldId id="299" r:id="rId51"/>
    <p:sldId id="472" r:id="rId52"/>
    <p:sldId id="300" r:id="rId53"/>
    <p:sldId id="301" r:id="rId54"/>
    <p:sldId id="302" r:id="rId55"/>
    <p:sldId id="473" r:id="rId56"/>
    <p:sldId id="303" r:id="rId57"/>
    <p:sldId id="304" r:id="rId58"/>
    <p:sldId id="474" r:id="rId59"/>
    <p:sldId id="305" r:id="rId60"/>
    <p:sldId id="306" r:id="rId61"/>
    <p:sldId id="307" r:id="rId62"/>
    <p:sldId id="475" r:id="rId63"/>
    <p:sldId id="308" r:id="rId64"/>
    <p:sldId id="476" r:id="rId65"/>
    <p:sldId id="309" r:id="rId66"/>
    <p:sldId id="310" r:id="rId67"/>
    <p:sldId id="477" r:id="rId68"/>
    <p:sldId id="311" r:id="rId69"/>
    <p:sldId id="312" r:id="rId70"/>
    <p:sldId id="478" r:id="rId71"/>
    <p:sldId id="313" r:id="rId72"/>
    <p:sldId id="479" r:id="rId73"/>
    <p:sldId id="314" r:id="rId74"/>
    <p:sldId id="315" r:id="rId75"/>
    <p:sldId id="316" r:id="rId76"/>
    <p:sldId id="317" r:id="rId77"/>
    <p:sldId id="480" r:id="rId78"/>
    <p:sldId id="318" r:id="rId79"/>
    <p:sldId id="319" r:id="rId80"/>
    <p:sldId id="320" r:id="rId81"/>
    <p:sldId id="321" r:id="rId82"/>
    <p:sldId id="481" r:id="rId83"/>
    <p:sldId id="322" r:id="rId84"/>
    <p:sldId id="482" r:id="rId85"/>
    <p:sldId id="323" r:id="rId86"/>
    <p:sldId id="324" r:id="rId87"/>
    <p:sldId id="483" r:id="rId88"/>
    <p:sldId id="325" r:id="rId89"/>
    <p:sldId id="484" r:id="rId90"/>
    <p:sldId id="326" r:id="rId91"/>
    <p:sldId id="327" r:id="rId92"/>
    <p:sldId id="328" r:id="rId93"/>
    <p:sldId id="566" r:id="rId94"/>
    <p:sldId id="567" r:id="rId95"/>
    <p:sldId id="568" r:id="rId96"/>
    <p:sldId id="569" r:id="rId97"/>
    <p:sldId id="570" r:id="rId98"/>
    <p:sldId id="571" r:id="rId99"/>
    <p:sldId id="329" r:id="rId100"/>
    <p:sldId id="330" r:id="rId101"/>
    <p:sldId id="485" r:id="rId102"/>
    <p:sldId id="331" r:id="rId103"/>
    <p:sldId id="486" r:id="rId104"/>
    <p:sldId id="332" r:id="rId105"/>
    <p:sldId id="487" r:id="rId106"/>
    <p:sldId id="333" r:id="rId107"/>
    <p:sldId id="488" r:id="rId108"/>
    <p:sldId id="334" r:id="rId109"/>
    <p:sldId id="335" r:id="rId110"/>
    <p:sldId id="489" r:id="rId111"/>
    <p:sldId id="336" r:id="rId112"/>
    <p:sldId id="337" r:id="rId113"/>
    <p:sldId id="490" r:id="rId114"/>
    <p:sldId id="338" r:id="rId115"/>
    <p:sldId id="491" r:id="rId116"/>
    <p:sldId id="339" r:id="rId117"/>
    <p:sldId id="492" r:id="rId118"/>
    <p:sldId id="340" r:id="rId119"/>
    <p:sldId id="493" r:id="rId120"/>
    <p:sldId id="341" r:id="rId121"/>
    <p:sldId id="494" r:id="rId122"/>
    <p:sldId id="342" r:id="rId123"/>
    <p:sldId id="343" r:id="rId124"/>
    <p:sldId id="344" r:id="rId125"/>
    <p:sldId id="345" r:id="rId126"/>
    <p:sldId id="495" r:id="rId127"/>
    <p:sldId id="346" r:id="rId128"/>
    <p:sldId id="496" r:id="rId129"/>
    <p:sldId id="347" r:id="rId130"/>
    <p:sldId id="497" r:id="rId131"/>
    <p:sldId id="348" r:id="rId132"/>
    <p:sldId id="349" r:id="rId133"/>
    <p:sldId id="498" r:id="rId134"/>
    <p:sldId id="350" r:id="rId135"/>
    <p:sldId id="351" r:id="rId136"/>
    <p:sldId id="499" r:id="rId137"/>
    <p:sldId id="352" r:id="rId138"/>
    <p:sldId id="353" r:id="rId139"/>
    <p:sldId id="354" r:id="rId140"/>
    <p:sldId id="500" r:id="rId141"/>
    <p:sldId id="355" r:id="rId142"/>
    <p:sldId id="356" r:id="rId143"/>
    <p:sldId id="501" r:id="rId144"/>
    <p:sldId id="357" r:id="rId145"/>
    <p:sldId id="358" r:id="rId146"/>
    <p:sldId id="359" r:id="rId147"/>
    <p:sldId id="360" r:id="rId148"/>
    <p:sldId id="361" r:id="rId149"/>
    <p:sldId id="502" r:id="rId150"/>
    <p:sldId id="362" r:id="rId151"/>
    <p:sldId id="363" r:id="rId152"/>
    <p:sldId id="503" r:id="rId153"/>
    <p:sldId id="364" r:id="rId154"/>
    <p:sldId id="504" r:id="rId155"/>
    <p:sldId id="365" r:id="rId156"/>
    <p:sldId id="366" r:id="rId157"/>
    <p:sldId id="367" r:id="rId158"/>
    <p:sldId id="368" r:id="rId159"/>
    <p:sldId id="369" r:id="rId160"/>
    <p:sldId id="370" r:id="rId161"/>
    <p:sldId id="371" r:id="rId162"/>
    <p:sldId id="372" r:id="rId163"/>
    <p:sldId id="373" r:id="rId164"/>
    <p:sldId id="374" r:id="rId165"/>
    <p:sldId id="375" r:id="rId166"/>
    <p:sldId id="376" r:id="rId167"/>
    <p:sldId id="377" r:id="rId168"/>
    <p:sldId id="378" r:id="rId169"/>
    <p:sldId id="379" r:id="rId170"/>
    <p:sldId id="381" r:id="rId171"/>
    <p:sldId id="380" r:id="rId172"/>
    <p:sldId id="382" r:id="rId173"/>
    <p:sldId id="383" r:id="rId174"/>
    <p:sldId id="384" r:id="rId175"/>
    <p:sldId id="505" r:id="rId176"/>
    <p:sldId id="385" r:id="rId177"/>
    <p:sldId id="506" r:id="rId178"/>
    <p:sldId id="386" r:id="rId179"/>
    <p:sldId id="387" r:id="rId180"/>
    <p:sldId id="388" r:id="rId181"/>
    <p:sldId id="389" r:id="rId182"/>
    <p:sldId id="390" r:id="rId183"/>
    <p:sldId id="572" r:id="rId184"/>
    <p:sldId id="391" r:id="rId185"/>
    <p:sldId id="392" r:id="rId186"/>
    <p:sldId id="507" r:id="rId187"/>
    <p:sldId id="393" r:id="rId188"/>
    <p:sldId id="508" r:id="rId189"/>
    <p:sldId id="394" r:id="rId190"/>
    <p:sldId id="509" r:id="rId191"/>
    <p:sldId id="395" r:id="rId192"/>
    <p:sldId id="396" r:id="rId193"/>
    <p:sldId id="397" r:id="rId194"/>
    <p:sldId id="510" r:id="rId195"/>
    <p:sldId id="398" r:id="rId196"/>
    <p:sldId id="511" r:id="rId197"/>
    <p:sldId id="399" r:id="rId198"/>
    <p:sldId id="512" r:id="rId199"/>
    <p:sldId id="400" r:id="rId200"/>
    <p:sldId id="513" r:id="rId201"/>
    <p:sldId id="401" r:id="rId202"/>
    <p:sldId id="402" r:id="rId203"/>
    <p:sldId id="515" r:id="rId204"/>
    <p:sldId id="403" r:id="rId205"/>
    <p:sldId id="404" r:id="rId206"/>
    <p:sldId id="405" r:id="rId207"/>
    <p:sldId id="516" r:id="rId208"/>
    <p:sldId id="406" r:id="rId209"/>
    <p:sldId id="565" r:id="rId210"/>
    <p:sldId id="407" r:id="rId211"/>
    <p:sldId id="408" r:id="rId212"/>
    <p:sldId id="517" r:id="rId213"/>
    <p:sldId id="409" r:id="rId214"/>
    <p:sldId id="410" r:id="rId215"/>
    <p:sldId id="518" r:id="rId216"/>
    <p:sldId id="411" r:id="rId217"/>
    <p:sldId id="412" r:id="rId218"/>
    <p:sldId id="519" r:id="rId219"/>
    <p:sldId id="413" r:id="rId220"/>
    <p:sldId id="514" r:id="rId221"/>
    <p:sldId id="414" r:id="rId222"/>
    <p:sldId id="520" r:id="rId223"/>
    <p:sldId id="415" r:id="rId224"/>
    <p:sldId id="521" r:id="rId225"/>
    <p:sldId id="416" r:id="rId226"/>
    <p:sldId id="522" r:id="rId227"/>
    <p:sldId id="417" r:id="rId228"/>
    <p:sldId id="523" r:id="rId229"/>
    <p:sldId id="418" r:id="rId230"/>
    <p:sldId id="524" r:id="rId231"/>
    <p:sldId id="419" r:id="rId232"/>
    <p:sldId id="525" r:id="rId233"/>
    <p:sldId id="420" r:id="rId234"/>
    <p:sldId id="526" r:id="rId235"/>
    <p:sldId id="421" r:id="rId236"/>
    <p:sldId id="527" r:id="rId237"/>
    <p:sldId id="422" r:id="rId238"/>
    <p:sldId id="528" r:id="rId239"/>
    <p:sldId id="423" r:id="rId240"/>
    <p:sldId id="529" r:id="rId241"/>
    <p:sldId id="424" r:id="rId242"/>
    <p:sldId id="530" r:id="rId243"/>
    <p:sldId id="425" r:id="rId244"/>
    <p:sldId id="531" r:id="rId245"/>
    <p:sldId id="426" r:id="rId246"/>
    <p:sldId id="532" r:id="rId247"/>
    <p:sldId id="427" r:id="rId248"/>
    <p:sldId id="533" r:id="rId249"/>
    <p:sldId id="428" r:id="rId250"/>
    <p:sldId id="534" r:id="rId251"/>
    <p:sldId id="429" r:id="rId252"/>
    <p:sldId id="535" r:id="rId253"/>
    <p:sldId id="430" r:id="rId254"/>
    <p:sldId id="536" r:id="rId255"/>
    <p:sldId id="431" r:id="rId256"/>
    <p:sldId id="537" r:id="rId257"/>
    <p:sldId id="432" r:id="rId258"/>
    <p:sldId id="538" r:id="rId259"/>
    <p:sldId id="433" r:id="rId260"/>
    <p:sldId id="539" r:id="rId261"/>
    <p:sldId id="434" r:id="rId262"/>
    <p:sldId id="540" r:id="rId263"/>
    <p:sldId id="435" r:id="rId264"/>
    <p:sldId id="541" r:id="rId265"/>
    <p:sldId id="436" r:id="rId266"/>
    <p:sldId id="542" r:id="rId267"/>
    <p:sldId id="437" r:id="rId268"/>
    <p:sldId id="543" r:id="rId269"/>
    <p:sldId id="438" r:id="rId270"/>
    <p:sldId id="544" r:id="rId271"/>
    <p:sldId id="439" r:id="rId272"/>
    <p:sldId id="545" r:id="rId273"/>
    <p:sldId id="440" r:id="rId274"/>
    <p:sldId id="546" r:id="rId275"/>
    <p:sldId id="441" r:id="rId276"/>
    <p:sldId id="547" r:id="rId277"/>
    <p:sldId id="442" r:id="rId278"/>
    <p:sldId id="548" r:id="rId279"/>
    <p:sldId id="443" r:id="rId280"/>
    <p:sldId id="549" r:id="rId281"/>
    <p:sldId id="444" r:id="rId282"/>
    <p:sldId id="550" r:id="rId283"/>
    <p:sldId id="445" r:id="rId284"/>
    <p:sldId id="551" r:id="rId285"/>
    <p:sldId id="446" r:id="rId286"/>
    <p:sldId id="552" r:id="rId287"/>
    <p:sldId id="447" r:id="rId288"/>
    <p:sldId id="553" r:id="rId289"/>
    <p:sldId id="448" r:id="rId290"/>
    <p:sldId id="554" r:id="rId291"/>
    <p:sldId id="449" r:id="rId292"/>
    <p:sldId id="555" r:id="rId293"/>
    <p:sldId id="450" r:id="rId294"/>
    <p:sldId id="556" r:id="rId295"/>
    <p:sldId id="451" r:id="rId296"/>
    <p:sldId id="557" r:id="rId297"/>
    <p:sldId id="452" r:id="rId298"/>
    <p:sldId id="453" r:id="rId299"/>
    <p:sldId id="454" r:id="rId300"/>
    <p:sldId id="455" r:id="rId301"/>
    <p:sldId id="558" r:id="rId302"/>
    <p:sldId id="456" r:id="rId303"/>
    <p:sldId id="559" r:id="rId304"/>
    <p:sldId id="457" r:id="rId305"/>
    <p:sldId id="564" r:id="rId306"/>
    <p:sldId id="458" r:id="rId307"/>
    <p:sldId id="560" r:id="rId308"/>
    <p:sldId id="459" r:id="rId309"/>
    <p:sldId id="561" r:id="rId310"/>
    <p:sldId id="460" r:id="rId311"/>
    <p:sldId id="562" r:id="rId312"/>
    <p:sldId id="461" r:id="rId313"/>
    <p:sldId id="462" r:id="rId314"/>
    <p:sldId id="563" r:id="rId315"/>
    <p:sldId id="463" r:id="rId316"/>
    <p:sldId id="573" r:id="rId3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clrMru>
    <a:srgbClr val="FFFF00"/>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vertBarState="maximized">
    <p:restoredLeft sz="37941" autoAdjust="0"/>
    <p:restoredTop sz="94624" autoAdjust="0"/>
  </p:normalViewPr>
  <p:slideViewPr>
    <p:cSldViewPr>
      <p:cViewPr varScale="1">
        <p:scale>
          <a:sx n="69" d="100"/>
          <a:sy n="69" d="100"/>
        </p:scale>
        <p:origin x="-1158" y="-102"/>
      </p:cViewPr>
      <p:guideLst>
        <p:guide orient="horz" pos="2160"/>
        <p:guide pos="2880"/>
      </p:guideLst>
    </p:cSldViewPr>
  </p:slideViewPr>
  <p:outlineViewPr>
    <p:cViewPr>
      <p:scale>
        <a:sx n="33" d="100"/>
        <a:sy n="33" d="100"/>
      </p:scale>
      <p:origin x="0" y="187152"/>
    </p:cViewPr>
  </p:outlin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99" Type="http://schemas.openxmlformats.org/officeDocument/2006/relationships/slide" Target="slides/slide298.xml"/><Relationship Id="rId303" Type="http://schemas.openxmlformats.org/officeDocument/2006/relationships/slide" Target="slides/slide302.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slide" Target="slides/slide225.xml"/><Relationship Id="rId247" Type="http://schemas.openxmlformats.org/officeDocument/2006/relationships/slide" Target="slides/slide246.xml"/><Relationship Id="rId107" Type="http://schemas.openxmlformats.org/officeDocument/2006/relationships/slide" Target="slides/slide106.xml"/><Relationship Id="rId268" Type="http://schemas.openxmlformats.org/officeDocument/2006/relationships/slide" Target="slides/slide267.xml"/><Relationship Id="rId289" Type="http://schemas.openxmlformats.org/officeDocument/2006/relationships/slide" Target="slides/slide288.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314" Type="http://schemas.openxmlformats.org/officeDocument/2006/relationships/slide" Target="slides/slide313.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37" Type="http://schemas.openxmlformats.org/officeDocument/2006/relationships/slide" Target="slides/slide236.xml"/><Relationship Id="rId258" Type="http://schemas.openxmlformats.org/officeDocument/2006/relationships/slide" Target="slides/slide257.xml"/><Relationship Id="rId279" Type="http://schemas.openxmlformats.org/officeDocument/2006/relationships/slide" Target="slides/slide278.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290" Type="http://schemas.openxmlformats.org/officeDocument/2006/relationships/slide" Target="slides/slide289.xml"/><Relationship Id="rId304" Type="http://schemas.openxmlformats.org/officeDocument/2006/relationships/slide" Target="slides/slide303.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slide" Target="slides/slide226.xml"/><Relationship Id="rId248" Type="http://schemas.openxmlformats.org/officeDocument/2006/relationships/slide" Target="slides/slide247.xml"/><Relationship Id="rId269" Type="http://schemas.openxmlformats.org/officeDocument/2006/relationships/slide" Target="slides/slide268.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280" Type="http://schemas.openxmlformats.org/officeDocument/2006/relationships/slide" Target="slides/slide279.xml"/><Relationship Id="rId315" Type="http://schemas.openxmlformats.org/officeDocument/2006/relationships/slide" Target="slides/slide314.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8" Type="http://schemas.openxmlformats.org/officeDocument/2006/relationships/slide" Target="slides/slide237.xml"/><Relationship Id="rId259" Type="http://schemas.openxmlformats.org/officeDocument/2006/relationships/slide" Target="slides/slide258.xml"/><Relationship Id="rId23" Type="http://schemas.openxmlformats.org/officeDocument/2006/relationships/slide" Target="slides/slide22.xml"/><Relationship Id="rId119" Type="http://schemas.openxmlformats.org/officeDocument/2006/relationships/slide" Target="slides/slide118.xml"/><Relationship Id="rId270" Type="http://schemas.openxmlformats.org/officeDocument/2006/relationships/slide" Target="slides/slide269.xml"/><Relationship Id="rId291" Type="http://schemas.openxmlformats.org/officeDocument/2006/relationships/slide" Target="slides/slide290.xml"/><Relationship Id="rId305" Type="http://schemas.openxmlformats.org/officeDocument/2006/relationships/slide" Target="slides/slide304.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slide" Target="slides/slide227.xml"/><Relationship Id="rId249" Type="http://schemas.openxmlformats.org/officeDocument/2006/relationships/slide" Target="slides/slide248.xml"/><Relationship Id="rId13" Type="http://schemas.openxmlformats.org/officeDocument/2006/relationships/slide" Target="slides/slide12.xml"/><Relationship Id="rId109" Type="http://schemas.openxmlformats.org/officeDocument/2006/relationships/slide" Target="slides/slide108.xml"/><Relationship Id="rId260" Type="http://schemas.openxmlformats.org/officeDocument/2006/relationships/slide" Target="slides/slide259.xml"/><Relationship Id="rId281" Type="http://schemas.openxmlformats.org/officeDocument/2006/relationships/slide" Target="slides/slide280.xml"/><Relationship Id="rId316" Type="http://schemas.openxmlformats.org/officeDocument/2006/relationships/slide" Target="slides/slide315.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39" Type="http://schemas.openxmlformats.org/officeDocument/2006/relationships/slide" Target="slides/slide238.xml"/><Relationship Id="rId250" Type="http://schemas.openxmlformats.org/officeDocument/2006/relationships/slide" Target="slides/slide249.xml"/><Relationship Id="rId271" Type="http://schemas.openxmlformats.org/officeDocument/2006/relationships/slide" Target="slides/slide270.xml"/><Relationship Id="rId292" Type="http://schemas.openxmlformats.org/officeDocument/2006/relationships/slide" Target="slides/slide291.xml"/><Relationship Id="rId306" Type="http://schemas.openxmlformats.org/officeDocument/2006/relationships/slide" Target="slides/slide305.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slide" Target="slides/slide228.xml"/><Relationship Id="rId19" Type="http://schemas.openxmlformats.org/officeDocument/2006/relationships/slide" Target="slides/slide18.xml"/><Relationship Id="rId224" Type="http://schemas.openxmlformats.org/officeDocument/2006/relationships/slide" Target="slides/slide223.xml"/><Relationship Id="rId240" Type="http://schemas.openxmlformats.org/officeDocument/2006/relationships/slide" Target="slides/slide239.xml"/><Relationship Id="rId245" Type="http://schemas.openxmlformats.org/officeDocument/2006/relationships/slide" Target="slides/slide244.xml"/><Relationship Id="rId261" Type="http://schemas.openxmlformats.org/officeDocument/2006/relationships/slide" Target="slides/slide260.xml"/><Relationship Id="rId266" Type="http://schemas.openxmlformats.org/officeDocument/2006/relationships/slide" Target="slides/slide265.xml"/><Relationship Id="rId287" Type="http://schemas.openxmlformats.org/officeDocument/2006/relationships/slide" Target="slides/slide286.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282" Type="http://schemas.openxmlformats.org/officeDocument/2006/relationships/slide" Target="slides/slide281.xml"/><Relationship Id="rId312" Type="http://schemas.openxmlformats.org/officeDocument/2006/relationships/slide" Target="slides/slide311.xml"/><Relationship Id="rId317" Type="http://schemas.openxmlformats.org/officeDocument/2006/relationships/slide" Target="slides/slide31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219" Type="http://schemas.openxmlformats.org/officeDocument/2006/relationships/slide" Target="slides/slide218.xml"/><Relationship Id="rId3" Type="http://schemas.openxmlformats.org/officeDocument/2006/relationships/slide" Target="slides/slide2.xml"/><Relationship Id="rId214" Type="http://schemas.openxmlformats.org/officeDocument/2006/relationships/slide" Target="slides/slide213.xml"/><Relationship Id="rId230" Type="http://schemas.openxmlformats.org/officeDocument/2006/relationships/slide" Target="slides/slide229.xml"/><Relationship Id="rId235" Type="http://schemas.openxmlformats.org/officeDocument/2006/relationships/slide" Target="slides/slide234.xml"/><Relationship Id="rId251" Type="http://schemas.openxmlformats.org/officeDocument/2006/relationships/slide" Target="slides/slide250.xml"/><Relationship Id="rId256" Type="http://schemas.openxmlformats.org/officeDocument/2006/relationships/slide" Target="slides/slide255.xml"/><Relationship Id="rId277" Type="http://schemas.openxmlformats.org/officeDocument/2006/relationships/slide" Target="slides/slide276.xml"/><Relationship Id="rId298" Type="http://schemas.openxmlformats.org/officeDocument/2006/relationships/slide" Target="slides/slide297.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72" Type="http://schemas.openxmlformats.org/officeDocument/2006/relationships/slide" Target="slides/slide271.xml"/><Relationship Id="rId293" Type="http://schemas.openxmlformats.org/officeDocument/2006/relationships/slide" Target="slides/slide292.xml"/><Relationship Id="rId302" Type="http://schemas.openxmlformats.org/officeDocument/2006/relationships/slide" Target="slides/slide301.xml"/><Relationship Id="rId307" Type="http://schemas.openxmlformats.org/officeDocument/2006/relationships/slide" Target="slides/slide30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slide" Target="slides/slide208.xml"/><Relationship Id="rId190" Type="http://schemas.openxmlformats.org/officeDocument/2006/relationships/slide" Target="slides/slide189.xml"/><Relationship Id="rId204" Type="http://schemas.openxmlformats.org/officeDocument/2006/relationships/slide" Target="slides/slide203.xml"/><Relationship Id="rId220" Type="http://schemas.openxmlformats.org/officeDocument/2006/relationships/slide" Target="slides/slide219.xml"/><Relationship Id="rId225" Type="http://schemas.openxmlformats.org/officeDocument/2006/relationships/slide" Target="slides/slide224.xml"/><Relationship Id="rId241" Type="http://schemas.openxmlformats.org/officeDocument/2006/relationships/slide" Target="slides/slide240.xml"/><Relationship Id="rId246" Type="http://schemas.openxmlformats.org/officeDocument/2006/relationships/slide" Target="slides/slide245.xml"/><Relationship Id="rId267" Type="http://schemas.openxmlformats.org/officeDocument/2006/relationships/slide" Target="slides/slide266.xml"/><Relationship Id="rId288" Type="http://schemas.openxmlformats.org/officeDocument/2006/relationships/slide" Target="slides/slide287.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262" Type="http://schemas.openxmlformats.org/officeDocument/2006/relationships/slide" Target="slides/slide261.xml"/><Relationship Id="rId283" Type="http://schemas.openxmlformats.org/officeDocument/2006/relationships/slide" Target="slides/slide282.xml"/><Relationship Id="rId313" Type="http://schemas.openxmlformats.org/officeDocument/2006/relationships/slide" Target="slides/slide312.xml"/><Relationship Id="rId318"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slide" Target="slides/slide256.xml"/><Relationship Id="rId278" Type="http://schemas.openxmlformats.org/officeDocument/2006/relationships/slide" Target="slides/slide277.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slide" Target="slides/slide251.xml"/><Relationship Id="rId273" Type="http://schemas.openxmlformats.org/officeDocument/2006/relationships/slide" Target="slides/slide272.xml"/><Relationship Id="rId294" Type="http://schemas.openxmlformats.org/officeDocument/2006/relationships/slide" Target="slides/slide293.xml"/><Relationship Id="rId308" Type="http://schemas.openxmlformats.org/officeDocument/2006/relationships/slide" Target="slides/slide307.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263" Type="http://schemas.openxmlformats.org/officeDocument/2006/relationships/slide" Target="slides/slide262.xml"/><Relationship Id="rId284" Type="http://schemas.openxmlformats.org/officeDocument/2006/relationships/slide" Target="slides/slide283.xml"/><Relationship Id="rId319" Type="http://schemas.openxmlformats.org/officeDocument/2006/relationships/presProps" Target="presProps.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slide" Target="slides/slide252.xml"/><Relationship Id="rId274" Type="http://schemas.openxmlformats.org/officeDocument/2006/relationships/slide" Target="slides/slide273.xml"/><Relationship Id="rId295" Type="http://schemas.openxmlformats.org/officeDocument/2006/relationships/slide" Target="slides/slide294.xml"/><Relationship Id="rId309" Type="http://schemas.openxmlformats.org/officeDocument/2006/relationships/slide" Target="slides/slide308.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320" Type="http://schemas.openxmlformats.org/officeDocument/2006/relationships/viewProps" Target="viewProps.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264" Type="http://schemas.openxmlformats.org/officeDocument/2006/relationships/slide" Target="slides/slide263.xml"/><Relationship Id="rId285" Type="http://schemas.openxmlformats.org/officeDocument/2006/relationships/slide" Target="slides/slide284.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310" Type="http://schemas.openxmlformats.org/officeDocument/2006/relationships/slide" Target="slides/slide309.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54" Type="http://schemas.openxmlformats.org/officeDocument/2006/relationships/slide" Target="slides/slide253.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275" Type="http://schemas.openxmlformats.org/officeDocument/2006/relationships/slide" Target="slides/slide274.xml"/><Relationship Id="rId296" Type="http://schemas.openxmlformats.org/officeDocument/2006/relationships/slide" Target="slides/slide295.xml"/><Relationship Id="rId300" Type="http://schemas.openxmlformats.org/officeDocument/2006/relationships/slide" Target="slides/slide299.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321" Type="http://schemas.openxmlformats.org/officeDocument/2006/relationships/theme" Target="theme/theme1.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slide" Target="slides/slide243.xml"/><Relationship Id="rId18" Type="http://schemas.openxmlformats.org/officeDocument/2006/relationships/slide" Target="slides/slide17.xml"/><Relationship Id="rId39" Type="http://schemas.openxmlformats.org/officeDocument/2006/relationships/slide" Target="slides/slide38.xml"/><Relationship Id="rId265" Type="http://schemas.openxmlformats.org/officeDocument/2006/relationships/slide" Target="slides/slide264.xml"/><Relationship Id="rId286" Type="http://schemas.openxmlformats.org/officeDocument/2006/relationships/slide" Target="slides/slide285.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311" Type="http://schemas.openxmlformats.org/officeDocument/2006/relationships/slide" Target="slides/slide310.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255" Type="http://schemas.openxmlformats.org/officeDocument/2006/relationships/slide" Target="slides/slide254.xml"/><Relationship Id="rId276" Type="http://schemas.openxmlformats.org/officeDocument/2006/relationships/slide" Target="slides/slide275.xml"/><Relationship Id="rId297" Type="http://schemas.openxmlformats.org/officeDocument/2006/relationships/slide" Target="slides/slide296.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301" Type="http://schemas.openxmlformats.org/officeDocument/2006/relationships/slide" Target="slides/slide300.xml"/><Relationship Id="rId322"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84CFD98-0B79-469B-B0C2-5B7827A0176B}" type="datetimeFigureOut">
              <a:rPr lang="en-US" smtClean="0"/>
              <a:pPr/>
              <a:t>5/31/2017</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5B1DEBC-DD22-4364-920D-10A3F53645C6}" type="slidenum">
              <a:rPr lang="en-US" smtClean="0"/>
              <a:pPr/>
              <a:t>‹#›</a:t>
            </a:fld>
            <a:endParaRPr lang="en-US"/>
          </a:p>
        </p:txBody>
      </p:sp>
    </p:spTree>
    <p:extLst>
      <p:ext uri="{BB962C8B-B14F-4D97-AF65-F5344CB8AC3E}">
        <p14:creationId xmlns="" xmlns:p14="http://schemas.microsoft.com/office/powerpoint/2010/main" val="27678838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21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214.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217.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230.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300.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30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30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3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5B1DEBC-DD22-4364-920D-10A3F53645C6}" type="slidenum">
              <a:rPr lang="en-US" smtClean="0"/>
              <a:pPr/>
              <a:t>15</a:t>
            </a:fld>
            <a:endParaRPr lang="en-US"/>
          </a:p>
        </p:txBody>
      </p:sp>
    </p:spTree>
    <p:extLst>
      <p:ext uri="{BB962C8B-B14F-4D97-AF65-F5344CB8AC3E}">
        <p14:creationId xmlns="" xmlns:p14="http://schemas.microsoft.com/office/powerpoint/2010/main" val="28155124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5B1DEBC-DD22-4364-920D-10A3F53645C6}" type="slidenum">
              <a:rPr lang="en-US" smtClean="0"/>
              <a:pPr/>
              <a:t>17</a:t>
            </a:fld>
            <a:endParaRPr lang="en-US"/>
          </a:p>
        </p:txBody>
      </p:sp>
    </p:spTree>
    <p:extLst>
      <p:ext uri="{BB962C8B-B14F-4D97-AF65-F5344CB8AC3E}">
        <p14:creationId xmlns="" xmlns:p14="http://schemas.microsoft.com/office/powerpoint/2010/main" val="33047803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Rules</a:t>
            </a:r>
            <a:r>
              <a:rPr lang="en-US" baseline="0" dirty="0" smtClean="0"/>
              <a:t> in grammar in using either</a:t>
            </a:r>
            <a:endParaRPr lang="en-US" dirty="0"/>
          </a:p>
        </p:txBody>
      </p:sp>
      <p:sp>
        <p:nvSpPr>
          <p:cNvPr id="4" name="Slide Number Placeholder 3"/>
          <p:cNvSpPr>
            <a:spLocks noGrp="1"/>
          </p:cNvSpPr>
          <p:nvPr>
            <p:ph type="sldNum" sz="quarter" idx="10"/>
          </p:nvPr>
        </p:nvSpPr>
        <p:spPr/>
        <p:txBody>
          <a:bodyPr/>
          <a:lstStyle/>
          <a:p>
            <a:fld id="{35B1DEBC-DD22-4364-920D-10A3F53645C6}" type="slidenum">
              <a:rPr lang="en-US" smtClean="0"/>
              <a:pPr/>
              <a:t>20</a:t>
            </a:fld>
            <a:endParaRPr lang="en-US"/>
          </a:p>
        </p:txBody>
      </p:sp>
    </p:spTree>
    <p:extLst>
      <p:ext uri="{BB962C8B-B14F-4D97-AF65-F5344CB8AC3E}">
        <p14:creationId xmlns="" xmlns:p14="http://schemas.microsoft.com/office/powerpoint/2010/main" val="13005070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5B1DEBC-DD22-4364-920D-10A3F53645C6}" type="slidenum">
              <a:rPr lang="en-US" smtClean="0"/>
              <a:pPr/>
              <a:t>21</a:t>
            </a:fld>
            <a:endParaRPr lang="en-US"/>
          </a:p>
        </p:txBody>
      </p:sp>
    </p:spTree>
    <p:extLst>
      <p:ext uri="{BB962C8B-B14F-4D97-AF65-F5344CB8AC3E}">
        <p14:creationId xmlns="" xmlns:p14="http://schemas.microsoft.com/office/powerpoint/2010/main" val="9755899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err="1" smtClean="0"/>
              <a:t>sv</a:t>
            </a:r>
            <a:endParaRPr lang="en-US" dirty="0"/>
          </a:p>
        </p:txBody>
      </p:sp>
      <p:sp>
        <p:nvSpPr>
          <p:cNvPr id="4" name="Slide Number Placeholder 3"/>
          <p:cNvSpPr>
            <a:spLocks noGrp="1"/>
          </p:cNvSpPr>
          <p:nvPr>
            <p:ph type="sldNum" sz="quarter" idx="10"/>
          </p:nvPr>
        </p:nvSpPr>
        <p:spPr/>
        <p:txBody>
          <a:bodyPr/>
          <a:lstStyle/>
          <a:p>
            <a:fld id="{35B1DEBC-DD22-4364-920D-10A3F53645C6}" type="slidenum">
              <a:rPr lang="en-US" smtClean="0"/>
              <a:pPr/>
              <a:t>23</a:t>
            </a:fld>
            <a:endParaRPr lang="en-US"/>
          </a:p>
        </p:txBody>
      </p:sp>
    </p:spTree>
    <p:extLst>
      <p:ext uri="{BB962C8B-B14F-4D97-AF65-F5344CB8AC3E}">
        <p14:creationId xmlns="" xmlns:p14="http://schemas.microsoft.com/office/powerpoint/2010/main" val="39255527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5B1DEBC-DD22-4364-920D-10A3F53645C6}" type="slidenum">
              <a:rPr lang="en-US" smtClean="0"/>
              <a:pPr/>
              <a:t>26</a:t>
            </a:fld>
            <a:endParaRPr lang="en-US"/>
          </a:p>
        </p:txBody>
      </p:sp>
    </p:spTree>
    <p:extLst>
      <p:ext uri="{BB962C8B-B14F-4D97-AF65-F5344CB8AC3E}">
        <p14:creationId xmlns="" xmlns:p14="http://schemas.microsoft.com/office/powerpoint/2010/main" val="35008155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Meaning !!</a:t>
            </a:r>
            <a:endParaRPr lang="en-US" dirty="0"/>
          </a:p>
        </p:txBody>
      </p:sp>
      <p:sp>
        <p:nvSpPr>
          <p:cNvPr id="4" name="Slide Number Placeholder 3"/>
          <p:cNvSpPr>
            <a:spLocks noGrp="1"/>
          </p:cNvSpPr>
          <p:nvPr>
            <p:ph type="sldNum" sz="quarter" idx="10"/>
          </p:nvPr>
        </p:nvSpPr>
        <p:spPr/>
        <p:txBody>
          <a:bodyPr/>
          <a:lstStyle/>
          <a:p>
            <a:fld id="{35B1DEBC-DD22-4364-920D-10A3F53645C6}" type="slidenum">
              <a:rPr lang="en-US" smtClean="0"/>
              <a:pPr/>
              <a:t>29</a:t>
            </a:fld>
            <a:endParaRPr lang="en-US"/>
          </a:p>
        </p:txBody>
      </p:sp>
    </p:spTree>
    <p:extLst>
      <p:ext uri="{BB962C8B-B14F-4D97-AF65-F5344CB8AC3E}">
        <p14:creationId xmlns="" xmlns:p14="http://schemas.microsoft.com/office/powerpoint/2010/main" val="18225719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5B1DEBC-DD22-4364-920D-10A3F53645C6}" type="slidenum">
              <a:rPr lang="en-US" smtClean="0"/>
              <a:pPr/>
              <a:t>30</a:t>
            </a:fld>
            <a:endParaRPr lang="en-US"/>
          </a:p>
        </p:txBody>
      </p:sp>
    </p:spTree>
    <p:extLst>
      <p:ext uri="{BB962C8B-B14F-4D97-AF65-F5344CB8AC3E}">
        <p14:creationId xmlns="" xmlns:p14="http://schemas.microsoft.com/office/powerpoint/2010/main" val="22073999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parallelism</a:t>
            </a:r>
            <a:endParaRPr lang="en-US" dirty="0"/>
          </a:p>
        </p:txBody>
      </p:sp>
      <p:sp>
        <p:nvSpPr>
          <p:cNvPr id="4" name="Slide Number Placeholder 3"/>
          <p:cNvSpPr>
            <a:spLocks noGrp="1"/>
          </p:cNvSpPr>
          <p:nvPr>
            <p:ph type="sldNum" sz="quarter" idx="10"/>
          </p:nvPr>
        </p:nvSpPr>
        <p:spPr/>
        <p:txBody>
          <a:bodyPr/>
          <a:lstStyle/>
          <a:p>
            <a:fld id="{35B1DEBC-DD22-4364-920D-10A3F53645C6}" type="slidenum">
              <a:rPr lang="en-US" smtClean="0"/>
              <a:pPr/>
              <a:t>31</a:t>
            </a:fld>
            <a:endParaRPr lang="en-US"/>
          </a:p>
        </p:txBody>
      </p:sp>
    </p:spTree>
    <p:extLst>
      <p:ext uri="{BB962C8B-B14F-4D97-AF65-F5344CB8AC3E}">
        <p14:creationId xmlns="" xmlns:p14="http://schemas.microsoft.com/office/powerpoint/2010/main" val="462721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Um . </a:t>
            </a:r>
            <a:r>
              <a:rPr lang="en-US" dirty="0" err="1" smtClean="0"/>
              <a:t>Ver</a:t>
            </a:r>
            <a:r>
              <a:rPr lang="en-US" dirty="0" smtClean="0"/>
              <a:t> . </a:t>
            </a:r>
            <a:r>
              <a:rPr lang="en-US" dirty="0" err="1" smtClean="0"/>
              <a:t>Frming</a:t>
            </a:r>
            <a:r>
              <a:rPr lang="en-US" dirty="0" smtClean="0"/>
              <a:t> f the past</a:t>
            </a:r>
            <a:r>
              <a:rPr lang="en-US" baseline="0" dirty="0" smtClean="0"/>
              <a:t> tense of LIE</a:t>
            </a:r>
            <a:endParaRPr lang="en-US" dirty="0"/>
          </a:p>
        </p:txBody>
      </p:sp>
      <p:sp>
        <p:nvSpPr>
          <p:cNvPr id="4" name="Slide Number Placeholder 3"/>
          <p:cNvSpPr>
            <a:spLocks noGrp="1"/>
          </p:cNvSpPr>
          <p:nvPr>
            <p:ph type="sldNum" sz="quarter" idx="10"/>
          </p:nvPr>
        </p:nvSpPr>
        <p:spPr/>
        <p:txBody>
          <a:bodyPr/>
          <a:lstStyle/>
          <a:p>
            <a:fld id="{35B1DEBC-DD22-4364-920D-10A3F53645C6}" type="slidenum">
              <a:rPr lang="en-US" smtClean="0"/>
              <a:pPr/>
              <a:t>33</a:t>
            </a:fld>
            <a:endParaRPr lang="en-US"/>
          </a:p>
        </p:txBody>
      </p:sp>
    </p:spTree>
    <p:extLst>
      <p:ext uri="{BB962C8B-B14F-4D97-AF65-F5344CB8AC3E}">
        <p14:creationId xmlns="" xmlns:p14="http://schemas.microsoft.com/office/powerpoint/2010/main" val="5187707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Um . </a:t>
            </a:r>
            <a:r>
              <a:rPr lang="en-US" dirty="0" err="1" smtClean="0"/>
              <a:t>Ver</a:t>
            </a:r>
            <a:r>
              <a:rPr lang="en-US" dirty="0" smtClean="0"/>
              <a:t> . </a:t>
            </a:r>
            <a:r>
              <a:rPr lang="en-US" dirty="0" err="1" smtClean="0"/>
              <a:t>Frming</a:t>
            </a:r>
            <a:r>
              <a:rPr lang="en-US" dirty="0" smtClean="0"/>
              <a:t> f the past</a:t>
            </a:r>
            <a:r>
              <a:rPr lang="en-US" baseline="0" dirty="0" smtClean="0"/>
              <a:t> tense of LIE</a:t>
            </a:r>
            <a:endParaRPr lang="en-US" dirty="0"/>
          </a:p>
        </p:txBody>
      </p:sp>
      <p:sp>
        <p:nvSpPr>
          <p:cNvPr id="4" name="Slide Number Placeholder 3"/>
          <p:cNvSpPr>
            <a:spLocks noGrp="1"/>
          </p:cNvSpPr>
          <p:nvPr>
            <p:ph type="sldNum" sz="quarter" idx="10"/>
          </p:nvPr>
        </p:nvSpPr>
        <p:spPr/>
        <p:txBody>
          <a:bodyPr/>
          <a:lstStyle/>
          <a:p>
            <a:fld id="{35B1DEBC-DD22-4364-920D-10A3F53645C6}" type="slidenum">
              <a:rPr lang="en-US" smtClean="0"/>
              <a:pPr/>
              <a:t>34</a:t>
            </a:fld>
            <a:endParaRPr lang="en-US"/>
          </a:p>
        </p:txBody>
      </p:sp>
    </p:spTree>
    <p:extLst>
      <p:ext uri="{BB962C8B-B14F-4D97-AF65-F5344CB8AC3E}">
        <p14:creationId xmlns="" xmlns:p14="http://schemas.microsoft.com/office/powerpoint/2010/main" val="22162824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Using of IF</a:t>
            </a:r>
            <a:endParaRPr lang="en-US" dirty="0"/>
          </a:p>
        </p:txBody>
      </p:sp>
      <p:sp>
        <p:nvSpPr>
          <p:cNvPr id="4" name="Slide Number Placeholder 3"/>
          <p:cNvSpPr>
            <a:spLocks noGrp="1"/>
          </p:cNvSpPr>
          <p:nvPr>
            <p:ph type="sldNum" sz="quarter" idx="10"/>
          </p:nvPr>
        </p:nvSpPr>
        <p:spPr/>
        <p:txBody>
          <a:bodyPr/>
          <a:lstStyle/>
          <a:p>
            <a:fld id="{35B1DEBC-DD22-4364-920D-10A3F53645C6}" type="slidenum">
              <a:rPr lang="en-US" smtClean="0"/>
              <a:pPr/>
              <a:t>40</a:t>
            </a:fld>
            <a:endParaRPr lang="en-US"/>
          </a:p>
        </p:txBody>
      </p:sp>
    </p:spTree>
    <p:extLst>
      <p:ext uri="{BB962C8B-B14F-4D97-AF65-F5344CB8AC3E}">
        <p14:creationId xmlns="" xmlns:p14="http://schemas.microsoft.com/office/powerpoint/2010/main" val="21163806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Using of IF</a:t>
            </a:r>
            <a:endParaRPr lang="en-US" dirty="0"/>
          </a:p>
        </p:txBody>
      </p:sp>
      <p:sp>
        <p:nvSpPr>
          <p:cNvPr id="4" name="Slide Number Placeholder 3"/>
          <p:cNvSpPr>
            <a:spLocks noGrp="1"/>
          </p:cNvSpPr>
          <p:nvPr>
            <p:ph type="sldNum" sz="quarter" idx="10"/>
          </p:nvPr>
        </p:nvSpPr>
        <p:spPr/>
        <p:txBody>
          <a:bodyPr/>
          <a:lstStyle/>
          <a:p>
            <a:fld id="{35B1DEBC-DD22-4364-920D-10A3F53645C6}" type="slidenum">
              <a:rPr lang="en-US" smtClean="0"/>
              <a:pPr/>
              <a:t>41</a:t>
            </a:fld>
            <a:endParaRPr lang="en-US"/>
          </a:p>
        </p:txBody>
      </p:sp>
    </p:spTree>
    <p:extLst>
      <p:ext uri="{BB962C8B-B14F-4D97-AF65-F5344CB8AC3E}">
        <p14:creationId xmlns="" xmlns:p14="http://schemas.microsoft.com/office/powerpoint/2010/main" val="9838301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Meaning of SOPHOMORIC</a:t>
            </a:r>
            <a:endParaRPr lang="en-US" dirty="0"/>
          </a:p>
        </p:txBody>
      </p:sp>
      <p:sp>
        <p:nvSpPr>
          <p:cNvPr id="4" name="Slide Number Placeholder 3"/>
          <p:cNvSpPr>
            <a:spLocks noGrp="1"/>
          </p:cNvSpPr>
          <p:nvPr>
            <p:ph type="sldNum" sz="quarter" idx="10"/>
          </p:nvPr>
        </p:nvSpPr>
        <p:spPr/>
        <p:txBody>
          <a:bodyPr/>
          <a:lstStyle/>
          <a:p>
            <a:fld id="{35B1DEBC-DD22-4364-920D-10A3F53645C6}" type="slidenum">
              <a:rPr lang="en-US" smtClean="0"/>
              <a:pPr/>
              <a:t>47</a:t>
            </a:fld>
            <a:endParaRPr lang="en-US"/>
          </a:p>
        </p:txBody>
      </p:sp>
    </p:spTree>
    <p:extLst>
      <p:ext uri="{BB962C8B-B14F-4D97-AF65-F5344CB8AC3E}">
        <p14:creationId xmlns="" xmlns:p14="http://schemas.microsoft.com/office/powerpoint/2010/main" val="3964363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Meaning of SOPHOMORIC</a:t>
            </a:r>
            <a:endParaRPr lang="en-US" dirty="0"/>
          </a:p>
        </p:txBody>
      </p:sp>
      <p:sp>
        <p:nvSpPr>
          <p:cNvPr id="4" name="Slide Number Placeholder 3"/>
          <p:cNvSpPr>
            <a:spLocks noGrp="1"/>
          </p:cNvSpPr>
          <p:nvPr>
            <p:ph type="sldNum" sz="quarter" idx="10"/>
          </p:nvPr>
        </p:nvSpPr>
        <p:spPr/>
        <p:txBody>
          <a:bodyPr/>
          <a:lstStyle/>
          <a:p>
            <a:fld id="{35B1DEBC-DD22-4364-920D-10A3F53645C6}" type="slidenum">
              <a:rPr lang="en-US" smtClean="0"/>
              <a:pPr/>
              <a:t>48</a:t>
            </a:fld>
            <a:endParaRPr lang="en-US"/>
          </a:p>
        </p:txBody>
      </p:sp>
    </p:spTree>
    <p:extLst>
      <p:ext uri="{BB962C8B-B14F-4D97-AF65-F5344CB8AC3E}">
        <p14:creationId xmlns="" xmlns:p14="http://schemas.microsoft.com/office/powerpoint/2010/main" val="25449150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err="1" smtClean="0"/>
              <a:t>differnce</a:t>
            </a:r>
            <a:endParaRPr lang="en-US" dirty="0"/>
          </a:p>
        </p:txBody>
      </p:sp>
      <p:sp>
        <p:nvSpPr>
          <p:cNvPr id="4" name="Slide Number Placeholder 3"/>
          <p:cNvSpPr>
            <a:spLocks noGrp="1"/>
          </p:cNvSpPr>
          <p:nvPr>
            <p:ph type="sldNum" sz="quarter" idx="10"/>
          </p:nvPr>
        </p:nvSpPr>
        <p:spPr/>
        <p:txBody>
          <a:bodyPr/>
          <a:lstStyle/>
          <a:p>
            <a:fld id="{35B1DEBC-DD22-4364-920D-10A3F53645C6}" type="slidenum">
              <a:rPr lang="en-US" smtClean="0"/>
              <a:pPr/>
              <a:t>50</a:t>
            </a:fld>
            <a:endParaRPr lang="en-US"/>
          </a:p>
        </p:txBody>
      </p:sp>
    </p:spTree>
    <p:extLst>
      <p:ext uri="{BB962C8B-B14F-4D97-AF65-F5344CB8AC3E}">
        <p14:creationId xmlns="" xmlns:p14="http://schemas.microsoft.com/office/powerpoint/2010/main" val="31050833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5B1DEBC-DD22-4364-920D-10A3F53645C6}" type="slidenum">
              <a:rPr lang="en-US" smtClean="0"/>
              <a:pPr/>
              <a:t>52</a:t>
            </a:fld>
            <a:endParaRPr lang="en-US"/>
          </a:p>
        </p:txBody>
      </p:sp>
    </p:spTree>
    <p:extLst>
      <p:ext uri="{BB962C8B-B14F-4D97-AF65-F5344CB8AC3E}">
        <p14:creationId xmlns="" xmlns:p14="http://schemas.microsoft.com/office/powerpoint/2010/main" val="19821050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sym typeface="Wingdings" pitchFamily="2" charset="2"/>
              </a:rPr>
              <a:t></a:t>
            </a:r>
            <a:endParaRPr lang="en-US" dirty="0"/>
          </a:p>
        </p:txBody>
      </p:sp>
      <p:sp>
        <p:nvSpPr>
          <p:cNvPr id="4" name="Slide Number Placeholder 3"/>
          <p:cNvSpPr>
            <a:spLocks noGrp="1"/>
          </p:cNvSpPr>
          <p:nvPr>
            <p:ph type="sldNum" sz="quarter" idx="10"/>
          </p:nvPr>
        </p:nvSpPr>
        <p:spPr/>
        <p:txBody>
          <a:bodyPr/>
          <a:lstStyle/>
          <a:p>
            <a:fld id="{35B1DEBC-DD22-4364-920D-10A3F53645C6}" type="slidenum">
              <a:rPr lang="en-US" smtClean="0"/>
              <a:pPr/>
              <a:t>53</a:t>
            </a:fld>
            <a:endParaRPr lang="en-US"/>
          </a:p>
        </p:txBody>
      </p:sp>
    </p:spTree>
    <p:extLst>
      <p:ext uri="{BB962C8B-B14F-4D97-AF65-F5344CB8AC3E}">
        <p14:creationId xmlns="" xmlns:p14="http://schemas.microsoft.com/office/powerpoint/2010/main" val="25469467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ctr"/>
            <a:r>
              <a:rPr lang="en-US" dirty="0" smtClean="0"/>
              <a:t>Meaning</a:t>
            </a:r>
          </a:p>
          <a:p>
            <a:pPr algn="ctr"/>
            <a:endParaRPr lang="en-US" dirty="0"/>
          </a:p>
        </p:txBody>
      </p:sp>
      <p:sp>
        <p:nvSpPr>
          <p:cNvPr id="4" name="Slide Number Placeholder 3"/>
          <p:cNvSpPr>
            <a:spLocks noGrp="1"/>
          </p:cNvSpPr>
          <p:nvPr>
            <p:ph type="sldNum" sz="quarter" idx="10"/>
          </p:nvPr>
        </p:nvSpPr>
        <p:spPr/>
        <p:txBody>
          <a:bodyPr/>
          <a:lstStyle/>
          <a:p>
            <a:fld id="{35B1DEBC-DD22-4364-920D-10A3F53645C6}" type="slidenum">
              <a:rPr lang="en-US" smtClean="0"/>
              <a:pPr/>
              <a:t>54</a:t>
            </a:fld>
            <a:endParaRPr lang="en-US"/>
          </a:p>
        </p:txBody>
      </p:sp>
    </p:spTree>
    <p:extLst>
      <p:ext uri="{BB962C8B-B14F-4D97-AF65-F5344CB8AC3E}">
        <p14:creationId xmlns="" xmlns:p14="http://schemas.microsoft.com/office/powerpoint/2010/main" val="203692113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difference</a:t>
            </a:r>
            <a:endParaRPr lang="en-US" dirty="0"/>
          </a:p>
        </p:txBody>
      </p:sp>
      <p:sp>
        <p:nvSpPr>
          <p:cNvPr id="4" name="Slide Number Placeholder 3"/>
          <p:cNvSpPr>
            <a:spLocks noGrp="1"/>
          </p:cNvSpPr>
          <p:nvPr>
            <p:ph type="sldNum" sz="quarter" idx="10"/>
          </p:nvPr>
        </p:nvSpPr>
        <p:spPr/>
        <p:txBody>
          <a:bodyPr/>
          <a:lstStyle/>
          <a:p>
            <a:fld id="{35B1DEBC-DD22-4364-920D-10A3F53645C6}" type="slidenum">
              <a:rPr lang="en-US" smtClean="0"/>
              <a:pPr/>
              <a:t>56</a:t>
            </a:fld>
            <a:endParaRPr lang="en-US"/>
          </a:p>
        </p:txBody>
      </p:sp>
    </p:spTree>
    <p:extLst>
      <p:ext uri="{BB962C8B-B14F-4D97-AF65-F5344CB8AC3E}">
        <p14:creationId xmlns="" xmlns:p14="http://schemas.microsoft.com/office/powerpoint/2010/main" val="29223931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difference</a:t>
            </a:r>
            <a:endParaRPr lang="en-US" dirty="0"/>
          </a:p>
        </p:txBody>
      </p:sp>
      <p:sp>
        <p:nvSpPr>
          <p:cNvPr id="4" name="Slide Number Placeholder 3"/>
          <p:cNvSpPr>
            <a:spLocks noGrp="1"/>
          </p:cNvSpPr>
          <p:nvPr>
            <p:ph type="sldNum" sz="quarter" idx="10"/>
          </p:nvPr>
        </p:nvSpPr>
        <p:spPr/>
        <p:txBody>
          <a:bodyPr/>
          <a:lstStyle/>
          <a:p>
            <a:fld id="{35B1DEBC-DD22-4364-920D-10A3F53645C6}" type="slidenum">
              <a:rPr lang="en-US" smtClean="0"/>
              <a:pPr/>
              <a:t>57</a:t>
            </a:fld>
            <a:endParaRPr lang="en-US"/>
          </a:p>
        </p:txBody>
      </p:sp>
    </p:spTree>
    <p:extLst>
      <p:ext uri="{BB962C8B-B14F-4D97-AF65-F5344CB8AC3E}">
        <p14:creationId xmlns="" xmlns:p14="http://schemas.microsoft.com/office/powerpoint/2010/main" val="63937059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difference</a:t>
            </a:r>
            <a:endParaRPr lang="en-US" dirty="0"/>
          </a:p>
        </p:txBody>
      </p:sp>
      <p:sp>
        <p:nvSpPr>
          <p:cNvPr id="4" name="Slide Number Placeholder 3"/>
          <p:cNvSpPr>
            <a:spLocks noGrp="1"/>
          </p:cNvSpPr>
          <p:nvPr>
            <p:ph type="sldNum" sz="quarter" idx="10"/>
          </p:nvPr>
        </p:nvSpPr>
        <p:spPr/>
        <p:txBody>
          <a:bodyPr/>
          <a:lstStyle/>
          <a:p>
            <a:fld id="{35B1DEBC-DD22-4364-920D-10A3F53645C6}" type="slidenum">
              <a:rPr lang="en-US" smtClean="0"/>
              <a:pPr/>
              <a:t>61</a:t>
            </a:fld>
            <a:endParaRPr lang="en-US"/>
          </a:p>
        </p:txBody>
      </p:sp>
    </p:spTree>
    <p:extLst>
      <p:ext uri="{BB962C8B-B14F-4D97-AF65-F5344CB8AC3E}">
        <p14:creationId xmlns="" xmlns:p14="http://schemas.microsoft.com/office/powerpoint/2010/main" val="423325350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difference</a:t>
            </a:r>
            <a:endParaRPr lang="en-US" dirty="0"/>
          </a:p>
        </p:txBody>
      </p:sp>
      <p:sp>
        <p:nvSpPr>
          <p:cNvPr id="4" name="Slide Number Placeholder 3"/>
          <p:cNvSpPr>
            <a:spLocks noGrp="1"/>
          </p:cNvSpPr>
          <p:nvPr>
            <p:ph type="sldNum" sz="quarter" idx="10"/>
          </p:nvPr>
        </p:nvSpPr>
        <p:spPr/>
        <p:txBody>
          <a:bodyPr/>
          <a:lstStyle/>
          <a:p>
            <a:fld id="{35B1DEBC-DD22-4364-920D-10A3F53645C6}" type="slidenum">
              <a:rPr lang="en-US" smtClean="0"/>
              <a:pPr/>
              <a:t>62</a:t>
            </a:fld>
            <a:endParaRPr lang="en-US"/>
          </a:p>
        </p:txBody>
      </p:sp>
    </p:spTree>
    <p:extLst>
      <p:ext uri="{BB962C8B-B14F-4D97-AF65-F5344CB8AC3E}">
        <p14:creationId xmlns="" xmlns:p14="http://schemas.microsoft.com/office/powerpoint/2010/main" val="124345442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difference</a:t>
            </a:r>
            <a:endParaRPr lang="en-US" dirty="0"/>
          </a:p>
        </p:txBody>
      </p:sp>
      <p:sp>
        <p:nvSpPr>
          <p:cNvPr id="4" name="Slide Number Placeholder 3"/>
          <p:cNvSpPr>
            <a:spLocks noGrp="1"/>
          </p:cNvSpPr>
          <p:nvPr>
            <p:ph type="sldNum" sz="quarter" idx="10"/>
          </p:nvPr>
        </p:nvSpPr>
        <p:spPr/>
        <p:txBody>
          <a:bodyPr/>
          <a:lstStyle/>
          <a:p>
            <a:fld id="{35B1DEBC-DD22-4364-920D-10A3F53645C6}" type="slidenum">
              <a:rPr lang="en-US" smtClean="0"/>
              <a:pPr/>
              <a:t>66</a:t>
            </a:fld>
            <a:endParaRPr lang="en-US"/>
          </a:p>
        </p:txBody>
      </p:sp>
    </p:spTree>
    <p:extLst>
      <p:ext uri="{BB962C8B-B14F-4D97-AF65-F5344CB8AC3E}">
        <p14:creationId xmlns="" xmlns:p14="http://schemas.microsoft.com/office/powerpoint/2010/main" val="205208253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meaning</a:t>
            </a:r>
            <a:endParaRPr lang="en-US" dirty="0"/>
          </a:p>
        </p:txBody>
      </p:sp>
      <p:sp>
        <p:nvSpPr>
          <p:cNvPr id="4" name="Slide Number Placeholder 3"/>
          <p:cNvSpPr>
            <a:spLocks noGrp="1"/>
          </p:cNvSpPr>
          <p:nvPr>
            <p:ph type="sldNum" sz="quarter" idx="10"/>
          </p:nvPr>
        </p:nvSpPr>
        <p:spPr/>
        <p:txBody>
          <a:bodyPr/>
          <a:lstStyle/>
          <a:p>
            <a:fld id="{35B1DEBC-DD22-4364-920D-10A3F53645C6}" type="slidenum">
              <a:rPr lang="en-US" smtClean="0"/>
              <a:pPr/>
              <a:t>69</a:t>
            </a:fld>
            <a:endParaRPr lang="en-US"/>
          </a:p>
        </p:txBody>
      </p:sp>
    </p:spTree>
    <p:extLst>
      <p:ext uri="{BB962C8B-B14F-4D97-AF65-F5344CB8AC3E}">
        <p14:creationId xmlns="" xmlns:p14="http://schemas.microsoft.com/office/powerpoint/2010/main" val="302768482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meaning</a:t>
            </a:r>
            <a:endParaRPr lang="en-US" dirty="0"/>
          </a:p>
        </p:txBody>
      </p:sp>
      <p:sp>
        <p:nvSpPr>
          <p:cNvPr id="4" name="Slide Number Placeholder 3"/>
          <p:cNvSpPr>
            <a:spLocks noGrp="1"/>
          </p:cNvSpPr>
          <p:nvPr>
            <p:ph type="sldNum" sz="quarter" idx="10"/>
          </p:nvPr>
        </p:nvSpPr>
        <p:spPr/>
        <p:txBody>
          <a:bodyPr/>
          <a:lstStyle/>
          <a:p>
            <a:fld id="{35B1DEBC-DD22-4364-920D-10A3F53645C6}" type="slidenum">
              <a:rPr lang="en-US" smtClean="0"/>
              <a:pPr/>
              <a:t>71</a:t>
            </a:fld>
            <a:endParaRPr lang="en-US"/>
          </a:p>
        </p:txBody>
      </p:sp>
    </p:spTree>
    <p:extLst>
      <p:ext uri="{BB962C8B-B14F-4D97-AF65-F5344CB8AC3E}">
        <p14:creationId xmlns="" xmlns:p14="http://schemas.microsoft.com/office/powerpoint/2010/main" val="423367599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err="1" smtClean="0"/>
              <a:t>Balik</a:t>
            </a:r>
            <a:r>
              <a:rPr lang="en-US" dirty="0" smtClean="0"/>
              <a:t> </a:t>
            </a:r>
            <a:r>
              <a:rPr lang="en-US" dirty="0" err="1" smtClean="0"/>
              <a:t>harap</a:t>
            </a:r>
            <a:r>
              <a:rPr lang="en-US" dirty="0" smtClean="0"/>
              <a:t> – backstabber</a:t>
            </a:r>
            <a:r>
              <a:rPr lang="en-US" baseline="0" dirty="0" smtClean="0"/>
              <a:t> ! </a:t>
            </a:r>
            <a:r>
              <a:rPr lang="en-US" baseline="0" dirty="0" err="1" smtClean="0"/>
              <a:t>Buwayng</a:t>
            </a:r>
            <a:r>
              <a:rPr lang="en-US" baseline="0" dirty="0" smtClean="0"/>
              <a:t> </a:t>
            </a:r>
            <a:r>
              <a:rPr lang="en-US" baseline="0" dirty="0" err="1" smtClean="0"/>
              <a:t>lubog</a:t>
            </a:r>
            <a:r>
              <a:rPr lang="en-US" baseline="0" dirty="0" smtClean="0"/>
              <a:t> – </a:t>
            </a:r>
            <a:r>
              <a:rPr lang="en-US" baseline="0" dirty="0" err="1" smtClean="0"/>
              <a:t>taksil</a:t>
            </a:r>
            <a:r>
              <a:rPr lang="en-US" baseline="0" dirty="0" smtClean="0"/>
              <a:t> </a:t>
            </a:r>
            <a:r>
              <a:rPr lang="en-US" baseline="0" dirty="0" err="1" smtClean="0"/>
              <a:t>sa</a:t>
            </a:r>
            <a:r>
              <a:rPr lang="en-US" baseline="0" dirty="0" smtClean="0"/>
              <a:t> </a:t>
            </a:r>
            <a:r>
              <a:rPr lang="en-US" baseline="0" dirty="0" err="1" smtClean="0"/>
              <a:t>kapwa</a:t>
            </a:r>
            <a:endParaRPr lang="en-US" dirty="0"/>
          </a:p>
        </p:txBody>
      </p:sp>
      <p:sp>
        <p:nvSpPr>
          <p:cNvPr id="4" name="Slide Number Placeholder 3"/>
          <p:cNvSpPr>
            <a:spLocks noGrp="1"/>
          </p:cNvSpPr>
          <p:nvPr>
            <p:ph type="sldNum" sz="quarter" idx="10"/>
          </p:nvPr>
        </p:nvSpPr>
        <p:spPr/>
        <p:txBody>
          <a:bodyPr/>
          <a:lstStyle/>
          <a:p>
            <a:fld id="{35B1DEBC-DD22-4364-920D-10A3F53645C6}" type="slidenum">
              <a:rPr lang="en-US" smtClean="0"/>
              <a:pPr/>
              <a:t>72</a:t>
            </a:fld>
            <a:endParaRPr lang="en-US"/>
          </a:p>
        </p:txBody>
      </p:sp>
    </p:spTree>
    <p:extLst>
      <p:ext uri="{BB962C8B-B14F-4D97-AF65-F5344CB8AC3E}">
        <p14:creationId xmlns="" xmlns:p14="http://schemas.microsoft.com/office/powerpoint/2010/main" val="14899990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Who ??</a:t>
            </a:r>
            <a:endParaRPr lang="en-US" dirty="0"/>
          </a:p>
        </p:txBody>
      </p:sp>
      <p:sp>
        <p:nvSpPr>
          <p:cNvPr id="4" name="Slide Number Placeholder 3"/>
          <p:cNvSpPr>
            <a:spLocks noGrp="1"/>
          </p:cNvSpPr>
          <p:nvPr>
            <p:ph type="sldNum" sz="quarter" idx="10"/>
          </p:nvPr>
        </p:nvSpPr>
        <p:spPr/>
        <p:txBody>
          <a:bodyPr/>
          <a:lstStyle/>
          <a:p>
            <a:fld id="{35B1DEBC-DD22-4364-920D-10A3F53645C6}" type="slidenum">
              <a:rPr lang="en-US" smtClean="0"/>
              <a:pPr/>
              <a:t>76</a:t>
            </a:fld>
            <a:endParaRPr lang="en-US"/>
          </a:p>
        </p:txBody>
      </p:sp>
    </p:spTree>
    <p:extLst>
      <p:ext uri="{BB962C8B-B14F-4D97-AF65-F5344CB8AC3E}">
        <p14:creationId xmlns="" xmlns:p14="http://schemas.microsoft.com/office/powerpoint/2010/main" val="28162614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5B1DEBC-DD22-4364-920D-10A3F53645C6}" type="slidenum">
              <a:rPr lang="en-US" smtClean="0"/>
              <a:pPr/>
              <a:t>80</a:t>
            </a:fld>
            <a:endParaRPr lang="en-US"/>
          </a:p>
        </p:txBody>
      </p:sp>
    </p:spTree>
    <p:extLst>
      <p:ext uri="{BB962C8B-B14F-4D97-AF65-F5344CB8AC3E}">
        <p14:creationId xmlns="" xmlns:p14="http://schemas.microsoft.com/office/powerpoint/2010/main" val="201315672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smtClean="0"/>
          </a:p>
          <a:p>
            <a:endParaRPr lang="en-US" dirty="0"/>
          </a:p>
        </p:txBody>
      </p:sp>
      <p:sp>
        <p:nvSpPr>
          <p:cNvPr id="4" name="Slide Number Placeholder 3"/>
          <p:cNvSpPr>
            <a:spLocks noGrp="1"/>
          </p:cNvSpPr>
          <p:nvPr>
            <p:ph type="sldNum" sz="quarter" idx="10"/>
          </p:nvPr>
        </p:nvSpPr>
        <p:spPr/>
        <p:txBody>
          <a:bodyPr/>
          <a:lstStyle/>
          <a:p>
            <a:fld id="{35B1DEBC-DD22-4364-920D-10A3F53645C6}" type="slidenum">
              <a:rPr lang="en-US" smtClean="0"/>
              <a:pPr/>
              <a:t>81</a:t>
            </a:fld>
            <a:endParaRPr lang="en-US"/>
          </a:p>
        </p:txBody>
      </p:sp>
    </p:spTree>
    <p:extLst>
      <p:ext uri="{BB962C8B-B14F-4D97-AF65-F5344CB8AC3E}">
        <p14:creationId xmlns="" xmlns:p14="http://schemas.microsoft.com/office/powerpoint/2010/main" val="136624351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smtClean="0"/>
          </a:p>
          <a:p>
            <a:endParaRPr lang="en-US" dirty="0"/>
          </a:p>
        </p:txBody>
      </p:sp>
      <p:sp>
        <p:nvSpPr>
          <p:cNvPr id="4" name="Slide Number Placeholder 3"/>
          <p:cNvSpPr>
            <a:spLocks noGrp="1"/>
          </p:cNvSpPr>
          <p:nvPr>
            <p:ph type="sldNum" sz="quarter" idx="10"/>
          </p:nvPr>
        </p:nvSpPr>
        <p:spPr/>
        <p:txBody>
          <a:bodyPr/>
          <a:lstStyle/>
          <a:p>
            <a:fld id="{35B1DEBC-DD22-4364-920D-10A3F53645C6}" type="slidenum">
              <a:rPr lang="en-US" smtClean="0"/>
              <a:pPr/>
              <a:t>83</a:t>
            </a:fld>
            <a:endParaRPr lang="en-US"/>
          </a:p>
        </p:txBody>
      </p:sp>
    </p:spTree>
    <p:extLst>
      <p:ext uri="{BB962C8B-B14F-4D97-AF65-F5344CB8AC3E}">
        <p14:creationId xmlns="" xmlns:p14="http://schemas.microsoft.com/office/powerpoint/2010/main" val="211992605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meaning</a:t>
            </a:r>
            <a:endParaRPr lang="en-US" dirty="0"/>
          </a:p>
        </p:txBody>
      </p:sp>
      <p:sp>
        <p:nvSpPr>
          <p:cNvPr id="4" name="Slide Number Placeholder 3"/>
          <p:cNvSpPr>
            <a:spLocks noGrp="1"/>
          </p:cNvSpPr>
          <p:nvPr>
            <p:ph type="sldNum" sz="quarter" idx="10"/>
          </p:nvPr>
        </p:nvSpPr>
        <p:spPr/>
        <p:txBody>
          <a:bodyPr/>
          <a:lstStyle/>
          <a:p>
            <a:fld id="{35B1DEBC-DD22-4364-920D-10A3F53645C6}" type="slidenum">
              <a:rPr lang="en-US" smtClean="0"/>
              <a:pPr/>
              <a:t>86</a:t>
            </a:fld>
            <a:endParaRPr lang="en-US"/>
          </a:p>
        </p:txBody>
      </p:sp>
    </p:spTree>
    <p:extLst>
      <p:ext uri="{BB962C8B-B14F-4D97-AF65-F5344CB8AC3E}">
        <p14:creationId xmlns="" xmlns:p14="http://schemas.microsoft.com/office/powerpoint/2010/main" val="34488096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5B1DEBC-DD22-4364-920D-10A3F53645C6}" type="slidenum">
              <a:rPr lang="en-US" smtClean="0"/>
              <a:pPr/>
              <a:t>88</a:t>
            </a:fld>
            <a:endParaRPr lang="en-US"/>
          </a:p>
        </p:txBody>
      </p:sp>
    </p:spTree>
    <p:extLst>
      <p:ext uri="{BB962C8B-B14F-4D97-AF65-F5344CB8AC3E}">
        <p14:creationId xmlns="" xmlns:p14="http://schemas.microsoft.com/office/powerpoint/2010/main" val="132421521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meaning</a:t>
            </a:r>
            <a:endParaRPr lang="en-US" dirty="0"/>
          </a:p>
        </p:txBody>
      </p:sp>
      <p:sp>
        <p:nvSpPr>
          <p:cNvPr id="4" name="Slide Number Placeholder 3"/>
          <p:cNvSpPr>
            <a:spLocks noGrp="1"/>
          </p:cNvSpPr>
          <p:nvPr>
            <p:ph type="sldNum" sz="quarter" idx="10"/>
          </p:nvPr>
        </p:nvSpPr>
        <p:spPr/>
        <p:txBody>
          <a:bodyPr/>
          <a:lstStyle/>
          <a:p>
            <a:fld id="{35B1DEBC-DD22-4364-920D-10A3F53645C6}" type="slidenum">
              <a:rPr lang="en-US" smtClean="0"/>
              <a:pPr/>
              <a:t>91</a:t>
            </a:fld>
            <a:endParaRPr lang="en-US"/>
          </a:p>
        </p:txBody>
      </p:sp>
    </p:spTree>
    <p:extLst>
      <p:ext uri="{BB962C8B-B14F-4D97-AF65-F5344CB8AC3E}">
        <p14:creationId xmlns="" xmlns:p14="http://schemas.microsoft.com/office/powerpoint/2010/main" val="35208984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meaning</a:t>
            </a:r>
            <a:endParaRPr lang="en-US" dirty="0"/>
          </a:p>
        </p:txBody>
      </p:sp>
      <p:sp>
        <p:nvSpPr>
          <p:cNvPr id="4" name="Slide Number Placeholder 3"/>
          <p:cNvSpPr>
            <a:spLocks noGrp="1"/>
          </p:cNvSpPr>
          <p:nvPr>
            <p:ph type="sldNum" sz="quarter" idx="10"/>
          </p:nvPr>
        </p:nvSpPr>
        <p:spPr/>
        <p:txBody>
          <a:bodyPr/>
          <a:lstStyle/>
          <a:p>
            <a:fld id="{35B1DEBC-DD22-4364-920D-10A3F53645C6}" type="slidenum">
              <a:rPr lang="en-US" smtClean="0"/>
              <a:pPr/>
              <a:t>92</a:t>
            </a:fld>
            <a:endParaRPr lang="en-US"/>
          </a:p>
        </p:txBody>
      </p:sp>
    </p:spTree>
    <p:extLst>
      <p:ext uri="{BB962C8B-B14F-4D97-AF65-F5344CB8AC3E}">
        <p14:creationId xmlns="" xmlns:p14="http://schemas.microsoft.com/office/powerpoint/2010/main" val="107366051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 is from the Author’s Dedication</a:t>
            </a:r>
            <a:endParaRPr lang="en-US" dirty="0"/>
          </a:p>
        </p:txBody>
      </p:sp>
      <p:sp>
        <p:nvSpPr>
          <p:cNvPr id="4" name="Slide Number Placeholder 3"/>
          <p:cNvSpPr>
            <a:spLocks noGrp="1"/>
          </p:cNvSpPr>
          <p:nvPr>
            <p:ph type="sldNum" sz="quarter" idx="10"/>
          </p:nvPr>
        </p:nvSpPr>
        <p:spPr/>
        <p:txBody>
          <a:bodyPr/>
          <a:lstStyle/>
          <a:p>
            <a:fld id="{35B1DEBC-DD22-4364-920D-10A3F53645C6}" type="slidenum">
              <a:rPr lang="en-US" smtClean="0"/>
              <a:pPr/>
              <a:t>105</a:t>
            </a:fld>
            <a:endParaRPr lang="en-US"/>
          </a:p>
        </p:txBody>
      </p:sp>
    </p:spTree>
    <p:extLst>
      <p:ext uri="{BB962C8B-B14F-4D97-AF65-F5344CB8AC3E}">
        <p14:creationId xmlns="" xmlns:p14="http://schemas.microsoft.com/office/powerpoint/2010/main" val="105770406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Who</a:t>
            </a:r>
            <a:r>
              <a:rPr lang="en-US" baseline="0" dirty="0" smtClean="0"/>
              <a:t> ??</a:t>
            </a:r>
          </a:p>
          <a:p>
            <a:endParaRPr lang="en-US" dirty="0"/>
          </a:p>
        </p:txBody>
      </p:sp>
      <p:sp>
        <p:nvSpPr>
          <p:cNvPr id="4" name="Slide Number Placeholder 3"/>
          <p:cNvSpPr>
            <a:spLocks noGrp="1"/>
          </p:cNvSpPr>
          <p:nvPr>
            <p:ph type="sldNum" sz="quarter" idx="10"/>
          </p:nvPr>
        </p:nvSpPr>
        <p:spPr/>
        <p:txBody>
          <a:bodyPr/>
          <a:lstStyle/>
          <a:p>
            <a:fld id="{35B1DEBC-DD22-4364-920D-10A3F53645C6}" type="slidenum">
              <a:rPr lang="en-US" smtClean="0"/>
              <a:pPr/>
              <a:t>108</a:t>
            </a:fld>
            <a:endParaRPr lang="en-US"/>
          </a:p>
        </p:txBody>
      </p:sp>
    </p:spTree>
    <p:extLst>
      <p:ext uri="{BB962C8B-B14F-4D97-AF65-F5344CB8AC3E}">
        <p14:creationId xmlns="" xmlns:p14="http://schemas.microsoft.com/office/powerpoint/2010/main" val="21777672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difference</a:t>
            </a:r>
            <a:endParaRPr lang="en-US" dirty="0"/>
          </a:p>
        </p:txBody>
      </p:sp>
      <p:sp>
        <p:nvSpPr>
          <p:cNvPr id="4" name="Slide Number Placeholder 3"/>
          <p:cNvSpPr>
            <a:spLocks noGrp="1"/>
          </p:cNvSpPr>
          <p:nvPr>
            <p:ph type="sldNum" sz="quarter" idx="10"/>
          </p:nvPr>
        </p:nvSpPr>
        <p:spPr/>
        <p:txBody>
          <a:bodyPr/>
          <a:lstStyle/>
          <a:p>
            <a:fld id="{35B1DEBC-DD22-4364-920D-10A3F53645C6}" type="slidenum">
              <a:rPr lang="en-US" smtClean="0"/>
              <a:pPr/>
              <a:t>112</a:t>
            </a:fld>
            <a:endParaRPr lang="en-US"/>
          </a:p>
        </p:txBody>
      </p:sp>
    </p:spTree>
    <p:extLst>
      <p:ext uri="{BB962C8B-B14F-4D97-AF65-F5344CB8AC3E}">
        <p14:creationId xmlns="" xmlns:p14="http://schemas.microsoft.com/office/powerpoint/2010/main" val="410505051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Who ??</a:t>
            </a:r>
            <a:endParaRPr lang="en-US" dirty="0"/>
          </a:p>
        </p:txBody>
      </p:sp>
      <p:sp>
        <p:nvSpPr>
          <p:cNvPr id="4" name="Slide Number Placeholder 3"/>
          <p:cNvSpPr>
            <a:spLocks noGrp="1"/>
          </p:cNvSpPr>
          <p:nvPr>
            <p:ph type="sldNum" sz="quarter" idx="10"/>
          </p:nvPr>
        </p:nvSpPr>
        <p:spPr/>
        <p:txBody>
          <a:bodyPr/>
          <a:lstStyle/>
          <a:p>
            <a:fld id="{35B1DEBC-DD22-4364-920D-10A3F53645C6}" type="slidenum">
              <a:rPr lang="en-US" smtClean="0"/>
              <a:pPr/>
              <a:t>118</a:t>
            </a:fld>
            <a:endParaRPr lang="en-US"/>
          </a:p>
        </p:txBody>
      </p:sp>
    </p:spTree>
    <p:extLst>
      <p:ext uri="{BB962C8B-B14F-4D97-AF65-F5344CB8AC3E}">
        <p14:creationId xmlns="" xmlns:p14="http://schemas.microsoft.com/office/powerpoint/2010/main" val="46947695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who</a:t>
            </a:r>
            <a:endParaRPr lang="en-US" dirty="0"/>
          </a:p>
        </p:txBody>
      </p:sp>
      <p:sp>
        <p:nvSpPr>
          <p:cNvPr id="4" name="Slide Number Placeholder 3"/>
          <p:cNvSpPr>
            <a:spLocks noGrp="1"/>
          </p:cNvSpPr>
          <p:nvPr>
            <p:ph type="sldNum" sz="quarter" idx="10"/>
          </p:nvPr>
        </p:nvSpPr>
        <p:spPr/>
        <p:txBody>
          <a:bodyPr/>
          <a:lstStyle/>
          <a:p>
            <a:fld id="{35B1DEBC-DD22-4364-920D-10A3F53645C6}" type="slidenum">
              <a:rPr lang="en-US" smtClean="0"/>
              <a:pPr/>
              <a:t>120</a:t>
            </a:fld>
            <a:endParaRPr lang="en-US"/>
          </a:p>
        </p:txBody>
      </p:sp>
    </p:spTree>
    <p:extLst>
      <p:ext uri="{BB962C8B-B14F-4D97-AF65-F5344CB8AC3E}">
        <p14:creationId xmlns="" xmlns:p14="http://schemas.microsoft.com/office/powerpoint/2010/main" val="313694084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Schismatic apostate - </a:t>
            </a:r>
            <a:r>
              <a:rPr lang="en-US" dirty="0" err="1" smtClean="0"/>
              <a:t>itiniwalag</a:t>
            </a:r>
            <a:endParaRPr lang="en-US" dirty="0"/>
          </a:p>
        </p:txBody>
      </p:sp>
      <p:sp>
        <p:nvSpPr>
          <p:cNvPr id="4" name="Slide Number Placeholder 3"/>
          <p:cNvSpPr>
            <a:spLocks noGrp="1"/>
          </p:cNvSpPr>
          <p:nvPr>
            <p:ph type="sldNum" sz="quarter" idx="10"/>
          </p:nvPr>
        </p:nvSpPr>
        <p:spPr/>
        <p:txBody>
          <a:bodyPr/>
          <a:lstStyle/>
          <a:p>
            <a:fld id="{35B1DEBC-DD22-4364-920D-10A3F53645C6}" type="slidenum">
              <a:rPr lang="en-US" smtClean="0"/>
              <a:pPr/>
              <a:t>121</a:t>
            </a:fld>
            <a:endParaRPr lang="en-US"/>
          </a:p>
        </p:txBody>
      </p:sp>
    </p:spTree>
    <p:extLst>
      <p:ext uri="{BB962C8B-B14F-4D97-AF65-F5344CB8AC3E}">
        <p14:creationId xmlns="" xmlns:p14="http://schemas.microsoft.com/office/powerpoint/2010/main" val="132291273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acronym</a:t>
            </a:r>
            <a:endParaRPr lang="en-US" dirty="0"/>
          </a:p>
        </p:txBody>
      </p:sp>
      <p:sp>
        <p:nvSpPr>
          <p:cNvPr id="4" name="Slide Number Placeholder 3"/>
          <p:cNvSpPr>
            <a:spLocks noGrp="1"/>
          </p:cNvSpPr>
          <p:nvPr>
            <p:ph type="sldNum" sz="quarter" idx="10"/>
          </p:nvPr>
        </p:nvSpPr>
        <p:spPr/>
        <p:txBody>
          <a:bodyPr/>
          <a:lstStyle/>
          <a:p>
            <a:fld id="{35B1DEBC-DD22-4364-920D-10A3F53645C6}" type="slidenum">
              <a:rPr lang="en-US" smtClean="0"/>
              <a:pPr/>
              <a:t>125</a:t>
            </a:fld>
            <a:endParaRPr lang="en-US"/>
          </a:p>
        </p:txBody>
      </p:sp>
    </p:spTree>
    <p:extLst>
      <p:ext uri="{BB962C8B-B14F-4D97-AF65-F5344CB8AC3E}">
        <p14:creationId xmlns="" xmlns:p14="http://schemas.microsoft.com/office/powerpoint/2010/main" val="384687158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meaning</a:t>
            </a:r>
            <a:endParaRPr lang="en-US" dirty="0"/>
          </a:p>
        </p:txBody>
      </p:sp>
      <p:sp>
        <p:nvSpPr>
          <p:cNvPr id="4" name="Slide Number Placeholder 3"/>
          <p:cNvSpPr>
            <a:spLocks noGrp="1"/>
          </p:cNvSpPr>
          <p:nvPr>
            <p:ph type="sldNum" sz="quarter" idx="10"/>
          </p:nvPr>
        </p:nvSpPr>
        <p:spPr/>
        <p:txBody>
          <a:bodyPr/>
          <a:lstStyle/>
          <a:p>
            <a:fld id="{35B1DEBC-DD22-4364-920D-10A3F53645C6}" type="slidenum">
              <a:rPr lang="en-US" smtClean="0"/>
              <a:pPr/>
              <a:t>129</a:t>
            </a:fld>
            <a:endParaRPr lang="en-US"/>
          </a:p>
        </p:txBody>
      </p:sp>
    </p:spTree>
    <p:extLst>
      <p:ext uri="{BB962C8B-B14F-4D97-AF65-F5344CB8AC3E}">
        <p14:creationId xmlns="" xmlns:p14="http://schemas.microsoft.com/office/powerpoint/2010/main" val="333968739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From</a:t>
            </a:r>
            <a:r>
              <a:rPr lang="en-US" baseline="0" dirty="0" smtClean="0"/>
              <a:t> which ??</a:t>
            </a:r>
            <a:endParaRPr lang="en-US" dirty="0"/>
          </a:p>
        </p:txBody>
      </p:sp>
      <p:sp>
        <p:nvSpPr>
          <p:cNvPr id="4" name="Slide Number Placeholder 3"/>
          <p:cNvSpPr>
            <a:spLocks noGrp="1"/>
          </p:cNvSpPr>
          <p:nvPr>
            <p:ph type="sldNum" sz="quarter" idx="10"/>
          </p:nvPr>
        </p:nvSpPr>
        <p:spPr/>
        <p:txBody>
          <a:bodyPr/>
          <a:lstStyle/>
          <a:p>
            <a:fld id="{35B1DEBC-DD22-4364-920D-10A3F53645C6}" type="slidenum">
              <a:rPr lang="en-US" smtClean="0"/>
              <a:pPr/>
              <a:t>135</a:t>
            </a:fld>
            <a:endParaRPr lang="en-US"/>
          </a:p>
        </p:txBody>
      </p:sp>
    </p:spTree>
    <p:extLst>
      <p:ext uri="{BB962C8B-B14F-4D97-AF65-F5344CB8AC3E}">
        <p14:creationId xmlns="" xmlns:p14="http://schemas.microsoft.com/office/powerpoint/2010/main" val="176030421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difference</a:t>
            </a:r>
            <a:endParaRPr lang="en-US" dirty="0"/>
          </a:p>
        </p:txBody>
      </p:sp>
      <p:sp>
        <p:nvSpPr>
          <p:cNvPr id="4" name="Slide Number Placeholder 3"/>
          <p:cNvSpPr>
            <a:spLocks noGrp="1"/>
          </p:cNvSpPr>
          <p:nvPr>
            <p:ph type="sldNum" sz="quarter" idx="10"/>
          </p:nvPr>
        </p:nvSpPr>
        <p:spPr/>
        <p:txBody>
          <a:bodyPr/>
          <a:lstStyle/>
          <a:p>
            <a:fld id="{35B1DEBC-DD22-4364-920D-10A3F53645C6}" type="slidenum">
              <a:rPr lang="en-US" smtClean="0"/>
              <a:pPr/>
              <a:t>138</a:t>
            </a:fld>
            <a:endParaRPr lang="en-US"/>
          </a:p>
        </p:txBody>
      </p:sp>
    </p:spTree>
    <p:extLst>
      <p:ext uri="{BB962C8B-B14F-4D97-AF65-F5344CB8AC3E}">
        <p14:creationId xmlns="" xmlns:p14="http://schemas.microsoft.com/office/powerpoint/2010/main" val="13846513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Influence</a:t>
            </a:r>
            <a:r>
              <a:rPr lang="en-US" baseline="0" dirty="0" smtClean="0"/>
              <a:t> of other</a:t>
            </a:r>
            <a:endParaRPr lang="en-US" dirty="0"/>
          </a:p>
        </p:txBody>
      </p:sp>
      <p:sp>
        <p:nvSpPr>
          <p:cNvPr id="4" name="Slide Number Placeholder 3"/>
          <p:cNvSpPr>
            <a:spLocks noGrp="1"/>
          </p:cNvSpPr>
          <p:nvPr>
            <p:ph type="sldNum" sz="quarter" idx="10"/>
          </p:nvPr>
        </p:nvSpPr>
        <p:spPr/>
        <p:txBody>
          <a:bodyPr/>
          <a:lstStyle/>
          <a:p>
            <a:fld id="{35B1DEBC-DD22-4364-920D-10A3F53645C6}" type="slidenum">
              <a:rPr lang="en-US" smtClean="0"/>
              <a:pPr/>
              <a:t>141</a:t>
            </a:fld>
            <a:endParaRPr lang="en-US"/>
          </a:p>
        </p:txBody>
      </p:sp>
    </p:spTree>
    <p:extLst>
      <p:ext uri="{BB962C8B-B14F-4D97-AF65-F5344CB8AC3E}">
        <p14:creationId xmlns="" xmlns:p14="http://schemas.microsoft.com/office/powerpoint/2010/main" val="80483370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meaning</a:t>
            </a:r>
            <a:endParaRPr lang="en-US" dirty="0"/>
          </a:p>
        </p:txBody>
      </p:sp>
      <p:sp>
        <p:nvSpPr>
          <p:cNvPr id="4" name="Slide Number Placeholder 3"/>
          <p:cNvSpPr>
            <a:spLocks noGrp="1"/>
          </p:cNvSpPr>
          <p:nvPr>
            <p:ph type="sldNum" sz="quarter" idx="10"/>
          </p:nvPr>
        </p:nvSpPr>
        <p:spPr/>
        <p:txBody>
          <a:bodyPr/>
          <a:lstStyle/>
          <a:p>
            <a:fld id="{35B1DEBC-DD22-4364-920D-10A3F53645C6}" type="slidenum">
              <a:rPr lang="en-US" smtClean="0"/>
              <a:pPr/>
              <a:t>145</a:t>
            </a:fld>
            <a:endParaRPr lang="en-US"/>
          </a:p>
        </p:txBody>
      </p:sp>
    </p:spTree>
    <p:extLst>
      <p:ext uri="{BB962C8B-B14F-4D97-AF65-F5344CB8AC3E}">
        <p14:creationId xmlns="" xmlns:p14="http://schemas.microsoft.com/office/powerpoint/2010/main" val="293984353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meaning</a:t>
            </a:r>
            <a:endParaRPr lang="en-US" dirty="0"/>
          </a:p>
        </p:txBody>
      </p:sp>
      <p:sp>
        <p:nvSpPr>
          <p:cNvPr id="4" name="Slide Number Placeholder 3"/>
          <p:cNvSpPr>
            <a:spLocks noGrp="1"/>
          </p:cNvSpPr>
          <p:nvPr>
            <p:ph type="sldNum" sz="quarter" idx="10"/>
          </p:nvPr>
        </p:nvSpPr>
        <p:spPr/>
        <p:txBody>
          <a:bodyPr/>
          <a:lstStyle/>
          <a:p>
            <a:fld id="{35B1DEBC-DD22-4364-920D-10A3F53645C6}" type="slidenum">
              <a:rPr lang="en-US" smtClean="0"/>
              <a:pPr/>
              <a:t>147</a:t>
            </a:fld>
            <a:endParaRPr lang="en-US"/>
          </a:p>
        </p:txBody>
      </p:sp>
    </p:spTree>
    <p:extLst>
      <p:ext uri="{BB962C8B-B14F-4D97-AF65-F5344CB8AC3E}">
        <p14:creationId xmlns="" xmlns:p14="http://schemas.microsoft.com/office/powerpoint/2010/main" val="3470324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Who ??</a:t>
            </a:r>
            <a:endParaRPr lang="en-US" dirty="0"/>
          </a:p>
        </p:txBody>
      </p:sp>
      <p:sp>
        <p:nvSpPr>
          <p:cNvPr id="4" name="Slide Number Placeholder 3"/>
          <p:cNvSpPr>
            <a:spLocks noGrp="1"/>
          </p:cNvSpPr>
          <p:nvPr>
            <p:ph type="sldNum" sz="quarter" idx="10"/>
          </p:nvPr>
        </p:nvSpPr>
        <p:spPr/>
        <p:txBody>
          <a:bodyPr/>
          <a:lstStyle/>
          <a:p>
            <a:fld id="{35B1DEBC-DD22-4364-920D-10A3F53645C6}" type="slidenum">
              <a:rPr lang="en-US" smtClean="0"/>
              <a:pPr/>
              <a:t>148</a:t>
            </a:fld>
            <a:endParaRPr lang="en-US"/>
          </a:p>
        </p:txBody>
      </p:sp>
    </p:spTree>
    <p:extLst>
      <p:ext uri="{BB962C8B-B14F-4D97-AF65-F5344CB8AC3E}">
        <p14:creationId xmlns="" xmlns:p14="http://schemas.microsoft.com/office/powerpoint/2010/main" val="251045130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Meaning</a:t>
            </a:r>
            <a:r>
              <a:rPr lang="en-US" baseline="0" dirty="0" smtClean="0"/>
              <a:t> ?</a:t>
            </a:r>
            <a:endParaRPr lang="en-US" dirty="0"/>
          </a:p>
        </p:txBody>
      </p:sp>
      <p:sp>
        <p:nvSpPr>
          <p:cNvPr id="4" name="Slide Number Placeholder 3"/>
          <p:cNvSpPr>
            <a:spLocks noGrp="1"/>
          </p:cNvSpPr>
          <p:nvPr>
            <p:ph type="sldNum" sz="quarter" idx="10"/>
          </p:nvPr>
        </p:nvSpPr>
        <p:spPr/>
        <p:txBody>
          <a:bodyPr/>
          <a:lstStyle/>
          <a:p>
            <a:fld id="{35B1DEBC-DD22-4364-920D-10A3F53645C6}" type="slidenum">
              <a:rPr lang="en-US" smtClean="0"/>
              <a:pPr/>
              <a:t>157</a:t>
            </a:fld>
            <a:endParaRPr lang="en-US"/>
          </a:p>
        </p:txBody>
      </p:sp>
    </p:spTree>
    <p:extLst>
      <p:ext uri="{BB962C8B-B14F-4D97-AF65-F5344CB8AC3E}">
        <p14:creationId xmlns="" xmlns:p14="http://schemas.microsoft.com/office/powerpoint/2010/main" val="188366801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meaning</a:t>
            </a:r>
            <a:endParaRPr lang="en-US" dirty="0"/>
          </a:p>
        </p:txBody>
      </p:sp>
      <p:sp>
        <p:nvSpPr>
          <p:cNvPr id="4" name="Slide Number Placeholder 3"/>
          <p:cNvSpPr>
            <a:spLocks noGrp="1"/>
          </p:cNvSpPr>
          <p:nvPr>
            <p:ph type="sldNum" sz="quarter" idx="10"/>
          </p:nvPr>
        </p:nvSpPr>
        <p:spPr/>
        <p:txBody>
          <a:bodyPr/>
          <a:lstStyle/>
          <a:p>
            <a:fld id="{35B1DEBC-DD22-4364-920D-10A3F53645C6}" type="slidenum">
              <a:rPr lang="en-US" smtClean="0"/>
              <a:pPr/>
              <a:t>163</a:t>
            </a:fld>
            <a:endParaRPr lang="en-US"/>
          </a:p>
        </p:txBody>
      </p:sp>
    </p:spTree>
    <p:extLst>
      <p:ext uri="{BB962C8B-B14F-4D97-AF65-F5344CB8AC3E}">
        <p14:creationId xmlns="" xmlns:p14="http://schemas.microsoft.com/office/powerpoint/2010/main" val="365523858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5B1DEBC-DD22-4364-920D-10A3F53645C6}" type="slidenum">
              <a:rPr lang="en-US" smtClean="0"/>
              <a:pPr/>
              <a:t>165</a:t>
            </a:fld>
            <a:endParaRPr lang="en-US"/>
          </a:p>
        </p:txBody>
      </p:sp>
    </p:spTree>
    <p:extLst>
      <p:ext uri="{BB962C8B-B14F-4D97-AF65-F5344CB8AC3E}">
        <p14:creationId xmlns="" xmlns:p14="http://schemas.microsoft.com/office/powerpoint/2010/main" val="265707801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What ??</a:t>
            </a:r>
            <a:endParaRPr lang="en-US" dirty="0"/>
          </a:p>
        </p:txBody>
      </p:sp>
      <p:sp>
        <p:nvSpPr>
          <p:cNvPr id="4" name="Slide Number Placeholder 3"/>
          <p:cNvSpPr>
            <a:spLocks noGrp="1"/>
          </p:cNvSpPr>
          <p:nvPr>
            <p:ph type="sldNum" sz="quarter" idx="10"/>
          </p:nvPr>
        </p:nvSpPr>
        <p:spPr/>
        <p:txBody>
          <a:bodyPr/>
          <a:lstStyle/>
          <a:p>
            <a:fld id="{35B1DEBC-DD22-4364-920D-10A3F53645C6}" type="slidenum">
              <a:rPr lang="en-US" smtClean="0"/>
              <a:pPr/>
              <a:t>172</a:t>
            </a:fld>
            <a:endParaRPr lang="en-US"/>
          </a:p>
        </p:txBody>
      </p:sp>
    </p:spTree>
    <p:extLst>
      <p:ext uri="{BB962C8B-B14F-4D97-AF65-F5344CB8AC3E}">
        <p14:creationId xmlns="" xmlns:p14="http://schemas.microsoft.com/office/powerpoint/2010/main" val="375840073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meaning</a:t>
            </a:r>
            <a:endParaRPr lang="en-US" dirty="0"/>
          </a:p>
        </p:txBody>
      </p:sp>
      <p:sp>
        <p:nvSpPr>
          <p:cNvPr id="4" name="Slide Number Placeholder 3"/>
          <p:cNvSpPr>
            <a:spLocks noGrp="1"/>
          </p:cNvSpPr>
          <p:nvPr>
            <p:ph type="sldNum" sz="quarter" idx="10"/>
          </p:nvPr>
        </p:nvSpPr>
        <p:spPr/>
        <p:txBody>
          <a:bodyPr/>
          <a:lstStyle/>
          <a:p>
            <a:fld id="{35B1DEBC-DD22-4364-920D-10A3F53645C6}" type="slidenum">
              <a:rPr lang="en-US" smtClean="0"/>
              <a:pPr/>
              <a:t>185</a:t>
            </a:fld>
            <a:endParaRPr lang="en-US"/>
          </a:p>
        </p:txBody>
      </p:sp>
    </p:spTree>
    <p:extLst>
      <p:ext uri="{BB962C8B-B14F-4D97-AF65-F5344CB8AC3E}">
        <p14:creationId xmlns="" xmlns:p14="http://schemas.microsoft.com/office/powerpoint/2010/main" val="372834729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V1/P1</a:t>
            </a:r>
            <a:r>
              <a:rPr lang="en-US" baseline="0" dirty="0" smtClean="0"/>
              <a:t> = V2/P2</a:t>
            </a:r>
            <a:endParaRPr lang="en-US" dirty="0"/>
          </a:p>
        </p:txBody>
      </p:sp>
      <p:sp>
        <p:nvSpPr>
          <p:cNvPr id="4" name="Slide Number Placeholder 3"/>
          <p:cNvSpPr>
            <a:spLocks noGrp="1"/>
          </p:cNvSpPr>
          <p:nvPr>
            <p:ph type="sldNum" sz="quarter" idx="10"/>
          </p:nvPr>
        </p:nvSpPr>
        <p:spPr/>
        <p:txBody>
          <a:bodyPr/>
          <a:lstStyle/>
          <a:p>
            <a:fld id="{35B1DEBC-DD22-4364-920D-10A3F53645C6}" type="slidenum">
              <a:rPr lang="en-US" smtClean="0"/>
              <a:pPr/>
              <a:t>187</a:t>
            </a:fld>
            <a:endParaRPr lang="en-US"/>
          </a:p>
        </p:txBody>
      </p:sp>
    </p:spTree>
    <p:extLst>
      <p:ext uri="{BB962C8B-B14F-4D97-AF65-F5344CB8AC3E}">
        <p14:creationId xmlns="" xmlns:p14="http://schemas.microsoft.com/office/powerpoint/2010/main" val="429271086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err="1" smtClean="0"/>
              <a:t>meaniing</a:t>
            </a:r>
            <a:endParaRPr lang="en-US" dirty="0"/>
          </a:p>
        </p:txBody>
      </p:sp>
      <p:sp>
        <p:nvSpPr>
          <p:cNvPr id="4" name="Slide Number Placeholder 3"/>
          <p:cNvSpPr>
            <a:spLocks noGrp="1"/>
          </p:cNvSpPr>
          <p:nvPr>
            <p:ph type="sldNum" sz="quarter" idx="10"/>
          </p:nvPr>
        </p:nvSpPr>
        <p:spPr/>
        <p:txBody>
          <a:bodyPr/>
          <a:lstStyle/>
          <a:p>
            <a:fld id="{35B1DEBC-DD22-4364-920D-10A3F53645C6}" type="slidenum">
              <a:rPr lang="en-US" smtClean="0"/>
              <a:pPr/>
              <a:t>193</a:t>
            </a:fld>
            <a:endParaRPr lang="en-US"/>
          </a:p>
        </p:txBody>
      </p:sp>
    </p:spTree>
    <p:extLst>
      <p:ext uri="{BB962C8B-B14F-4D97-AF65-F5344CB8AC3E}">
        <p14:creationId xmlns="" xmlns:p14="http://schemas.microsoft.com/office/powerpoint/2010/main" val="241786170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Perihelion and aphelion – point in the orbit</a:t>
            </a:r>
          </a:p>
          <a:p>
            <a:r>
              <a:rPr lang="en-US" dirty="0" smtClean="0"/>
              <a:t>Perigee</a:t>
            </a:r>
            <a:r>
              <a:rPr lang="en-US" baseline="0" dirty="0" smtClean="0"/>
              <a:t> and apogee - satellite</a:t>
            </a:r>
            <a:endParaRPr lang="en-US" dirty="0"/>
          </a:p>
        </p:txBody>
      </p:sp>
      <p:sp>
        <p:nvSpPr>
          <p:cNvPr id="4" name="Slide Number Placeholder 3"/>
          <p:cNvSpPr>
            <a:spLocks noGrp="1"/>
          </p:cNvSpPr>
          <p:nvPr>
            <p:ph type="sldNum" sz="quarter" idx="10"/>
          </p:nvPr>
        </p:nvSpPr>
        <p:spPr/>
        <p:txBody>
          <a:bodyPr/>
          <a:lstStyle/>
          <a:p>
            <a:fld id="{35B1DEBC-DD22-4364-920D-10A3F53645C6}" type="slidenum">
              <a:rPr lang="en-US" smtClean="0"/>
              <a:pPr/>
              <a:t>194</a:t>
            </a:fld>
            <a:endParaRPr lang="en-US"/>
          </a:p>
        </p:txBody>
      </p:sp>
    </p:spTree>
    <p:extLst>
      <p:ext uri="{BB962C8B-B14F-4D97-AF65-F5344CB8AC3E}">
        <p14:creationId xmlns="" xmlns:p14="http://schemas.microsoft.com/office/powerpoint/2010/main" val="21695365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difference</a:t>
            </a:r>
            <a:endParaRPr lang="en-US" dirty="0"/>
          </a:p>
        </p:txBody>
      </p:sp>
      <p:sp>
        <p:nvSpPr>
          <p:cNvPr id="4" name="Slide Number Placeholder 3"/>
          <p:cNvSpPr>
            <a:spLocks noGrp="1"/>
          </p:cNvSpPr>
          <p:nvPr>
            <p:ph type="sldNum" sz="quarter" idx="10"/>
          </p:nvPr>
        </p:nvSpPr>
        <p:spPr/>
        <p:txBody>
          <a:bodyPr/>
          <a:lstStyle/>
          <a:p>
            <a:fld id="{35B1DEBC-DD22-4364-920D-10A3F53645C6}" type="slidenum">
              <a:rPr lang="en-US" smtClean="0"/>
              <a:pPr/>
              <a:t>199</a:t>
            </a:fld>
            <a:endParaRPr lang="en-US"/>
          </a:p>
        </p:txBody>
      </p:sp>
    </p:spTree>
    <p:extLst>
      <p:ext uri="{BB962C8B-B14F-4D97-AF65-F5344CB8AC3E}">
        <p14:creationId xmlns="" xmlns:p14="http://schemas.microsoft.com/office/powerpoint/2010/main" val="62247197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5B1DEBC-DD22-4364-920D-10A3F53645C6}" type="slidenum">
              <a:rPr lang="en-US" smtClean="0"/>
              <a:pPr/>
              <a:t>202</a:t>
            </a:fld>
            <a:endParaRPr lang="en-US"/>
          </a:p>
        </p:txBody>
      </p:sp>
    </p:spTree>
    <p:extLst>
      <p:ext uri="{BB962C8B-B14F-4D97-AF65-F5344CB8AC3E}">
        <p14:creationId xmlns="" xmlns:p14="http://schemas.microsoft.com/office/powerpoint/2010/main" val="107498726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difference</a:t>
            </a:r>
            <a:endParaRPr lang="en-US" dirty="0"/>
          </a:p>
        </p:txBody>
      </p:sp>
      <p:sp>
        <p:nvSpPr>
          <p:cNvPr id="4" name="Slide Number Placeholder 3"/>
          <p:cNvSpPr>
            <a:spLocks noGrp="1"/>
          </p:cNvSpPr>
          <p:nvPr>
            <p:ph type="sldNum" sz="quarter" idx="10"/>
          </p:nvPr>
        </p:nvSpPr>
        <p:spPr/>
        <p:txBody>
          <a:bodyPr/>
          <a:lstStyle/>
          <a:p>
            <a:fld id="{35B1DEBC-DD22-4364-920D-10A3F53645C6}" type="slidenum">
              <a:rPr lang="en-US" smtClean="0"/>
              <a:pPr/>
              <a:t>211</a:t>
            </a:fld>
            <a:endParaRPr lang="en-US"/>
          </a:p>
        </p:txBody>
      </p:sp>
    </p:spTree>
    <p:extLst>
      <p:ext uri="{BB962C8B-B14F-4D97-AF65-F5344CB8AC3E}">
        <p14:creationId xmlns="" xmlns:p14="http://schemas.microsoft.com/office/powerpoint/2010/main" val="310153569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err="1" smtClean="0"/>
              <a:t>Ilang</a:t>
            </a:r>
            <a:r>
              <a:rPr lang="en-US" dirty="0" smtClean="0"/>
              <a:t> wavelength ??</a:t>
            </a:r>
            <a:endParaRPr lang="en-US" dirty="0"/>
          </a:p>
        </p:txBody>
      </p:sp>
      <p:sp>
        <p:nvSpPr>
          <p:cNvPr id="4" name="Slide Number Placeholder 3"/>
          <p:cNvSpPr>
            <a:spLocks noGrp="1"/>
          </p:cNvSpPr>
          <p:nvPr>
            <p:ph type="sldNum" sz="quarter" idx="10"/>
          </p:nvPr>
        </p:nvSpPr>
        <p:spPr/>
        <p:txBody>
          <a:bodyPr/>
          <a:lstStyle/>
          <a:p>
            <a:fld id="{35B1DEBC-DD22-4364-920D-10A3F53645C6}" type="slidenum">
              <a:rPr lang="en-US" smtClean="0"/>
              <a:pPr/>
              <a:t>214</a:t>
            </a:fld>
            <a:endParaRPr lang="en-US"/>
          </a:p>
        </p:txBody>
      </p:sp>
    </p:spTree>
    <p:extLst>
      <p:ext uri="{BB962C8B-B14F-4D97-AF65-F5344CB8AC3E}">
        <p14:creationId xmlns="" xmlns:p14="http://schemas.microsoft.com/office/powerpoint/2010/main" val="302986545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A</a:t>
            </a:r>
            <a:r>
              <a:rPr lang="en-US" baseline="0" dirty="0" smtClean="0"/>
              <a:t>LL ITEMS SOLUTION</a:t>
            </a:r>
            <a:endParaRPr lang="en-US" dirty="0"/>
          </a:p>
        </p:txBody>
      </p:sp>
      <p:sp>
        <p:nvSpPr>
          <p:cNvPr id="4" name="Slide Number Placeholder 3"/>
          <p:cNvSpPr>
            <a:spLocks noGrp="1"/>
          </p:cNvSpPr>
          <p:nvPr>
            <p:ph type="sldNum" sz="quarter" idx="10"/>
          </p:nvPr>
        </p:nvSpPr>
        <p:spPr/>
        <p:txBody>
          <a:bodyPr/>
          <a:lstStyle/>
          <a:p>
            <a:fld id="{35B1DEBC-DD22-4364-920D-10A3F53645C6}" type="slidenum">
              <a:rPr lang="en-US" smtClean="0"/>
              <a:pPr/>
              <a:t>217</a:t>
            </a:fld>
            <a:endParaRPr lang="en-US"/>
          </a:p>
        </p:txBody>
      </p:sp>
    </p:spTree>
    <p:extLst>
      <p:ext uri="{BB962C8B-B14F-4D97-AF65-F5344CB8AC3E}">
        <p14:creationId xmlns="" xmlns:p14="http://schemas.microsoft.com/office/powerpoint/2010/main" val="206623051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5B1DEBC-DD22-4364-920D-10A3F53645C6}" type="slidenum">
              <a:rPr lang="en-US" smtClean="0"/>
              <a:pPr/>
              <a:t>230</a:t>
            </a:fld>
            <a:endParaRPr lang="en-US"/>
          </a:p>
        </p:txBody>
      </p:sp>
    </p:spTree>
    <p:extLst>
      <p:ext uri="{BB962C8B-B14F-4D97-AF65-F5344CB8AC3E}">
        <p14:creationId xmlns="" xmlns:p14="http://schemas.microsoft.com/office/powerpoint/2010/main" val="409831190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Who ?</a:t>
            </a:r>
            <a:endParaRPr lang="en-US" dirty="0"/>
          </a:p>
        </p:txBody>
      </p:sp>
      <p:sp>
        <p:nvSpPr>
          <p:cNvPr id="4" name="Slide Number Placeholder 3"/>
          <p:cNvSpPr>
            <a:spLocks noGrp="1"/>
          </p:cNvSpPr>
          <p:nvPr>
            <p:ph type="sldNum" sz="quarter" idx="10"/>
          </p:nvPr>
        </p:nvSpPr>
        <p:spPr/>
        <p:txBody>
          <a:bodyPr/>
          <a:lstStyle/>
          <a:p>
            <a:fld id="{35B1DEBC-DD22-4364-920D-10A3F53645C6}" type="slidenum">
              <a:rPr lang="en-US" smtClean="0"/>
              <a:pPr/>
              <a:t>300</a:t>
            </a:fld>
            <a:endParaRPr lang="en-US"/>
          </a:p>
        </p:txBody>
      </p:sp>
    </p:spTree>
    <p:extLst>
      <p:ext uri="{BB962C8B-B14F-4D97-AF65-F5344CB8AC3E}">
        <p14:creationId xmlns="" xmlns:p14="http://schemas.microsoft.com/office/powerpoint/2010/main" val="974362303"/>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What</a:t>
            </a:r>
            <a:r>
              <a:rPr lang="en-US" baseline="0" dirty="0" smtClean="0"/>
              <a:t> era ??</a:t>
            </a:r>
            <a:endParaRPr lang="en-US" dirty="0"/>
          </a:p>
        </p:txBody>
      </p:sp>
      <p:sp>
        <p:nvSpPr>
          <p:cNvPr id="4" name="Slide Number Placeholder 3"/>
          <p:cNvSpPr>
            <a:spLocks noGrp="1"/>
          </p:cNvSpPr>
          <p:nvPr>
            <p:ph type="sldNum" sz="quarter" idx="10"/>
          </p:nvPr>
        </p:nvSpPr>
        <p:spPr/>
        <p:txBody>
          <a:bodyPr/>
          <a:lstStyle/>
          <a:p>
            <a:fld id="{35B1DEBC-DD22-4364-920D-10A3F53645C6}" type="slidenum">
              <a:rPr lang="en-US" smtClean="0"/>
              <a:pPr/>
              <a:t>306</a:t>
            </a:fld>
            <a:endParaRPr lang="en-US"/>
          </a:p>
        </p:txBody>
      </p:sp>
    </p:spTree>
    <p:extLst>
      <p:ext uri="{BB962C8B-B14F-4D97-AF65-F5344CB8AC3E}">
        <p14:creationId xmlns="" xmlns:p14="http://schemas.microsoft.com/office/powerpoint/2010/main" val="365352896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err="1" smtClean="0"/>
              <a:t>Tawag</a:t>
            </a:r>
            <a:r>
              <a:rPr lang="en-US" dirty="0" smtClean="0"/>
              <a:t> </a:t>
            </a:r>
            <a:r>
              <a:rPr lang="en-US" dirty="0" err="1" smtClean="0"/>
              <a:t>sa</a:t>
            </a:r>
            <a:r>
              <a:rPr lang="en-US" dirty="0" smtClean="0"/>
              <a:t> </a:t>
            </a:r>
            <a:r>
              <a:rPr lang="en-US" dirty="0" err="1" smtClean="0"/>
              <a:t>kanila</a:t>
            </a:r>
            <a:endParaRPr lang="en-US" dirty="0"/>
          </a:p>
        </p:txBody>
      </p:sp>
      <p:sp>
        <p:nvSpPr>
          <p:cNvPr id="4" name="Slide Number Placeholder 3"/>
          <p:cNvSpPr>
            <a:spLocks noGrp="1"/>
          </p:cNvSpPr>
          <p:nvPr>
            <p:ph type="sldNum" sz="quarter" idx="10"/>
          </p:nvPr>
        </p:nvSpPr>
        <p:spPr/>
        <p:txBody>
          <a:bodyPr/>
          <a:lstStyle/>
          <a:p>
            <a:fld id="{35B1DEBC-DD22-4364-920D-10A3F53645C6}" type="slidenum">
              <a:rPr lang="en-US" smtClean="0"/>
              <a:pPr/>
              <a:t>308</a:t>
            </a:fld>
            <a:endParaRPr lang="en-US"/>
          </a:p>
        </p:txBody>
      </p:sp>
    </p:spTree>
    <p:extLst>
      <p:ext uri="{BB962C8B-B14F-4D97-AF65-F5344CB8AC3E}">
        <p14:creationId xmlns="" xmlns:p14="http://schemas.microsoft.com/office/powerpoint/2010/main" val="403558863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functions</a:t>
            </a:r>
            <a:endParaRPr lang="en-US" dirty="0"/>
          </a:p>
        </p:txBody>
      </p:sp>
      <p:sp>
        <p:nvSpPr>
          <p:cNvPr id="4" name="Slide Number Placeholder 3"/>
          <p:cNvSpPr>
            <a:spLocks noGrp="1"/>
          </p:cNvSpPr>
          <p:nvPr>
            <p:ph type="sldNum" sz="quarter" idx="10"/>
          </p:nvPr>
        </p:nvSpPr>
        <p:spPr/>
        <p:txBody>
          <a:bodyPr/>
          <a:lstStyle/>
          <a:p>
            <a:fld id="{35B1DEBC-DD22-4364-920D-10A3F53645C6}" type="slidenum">
              <a:rPr lang="en-US" smtClean="0"/>
              <a:pPr/>
              <a:t>310</a:t>
            </a:fld>
            <a:endParaRPr lang="en-US"/>
          </a:p>
        </p:txBody>
      </p:sp>
    </p:spTree>
    <p:extLst>
      <p:ext uri="{BB962C8B-B14F-4D97-AF65-F5344CB8AC3E}">
        <p14:creationId xmlns="" xmlns:p14="http://schemas.microsoft.com/office/powerpoint/2010/main" val="165431761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927AF3D9-4254-472A-A100-0D5DE0C39F06}" type="datetimeFigureOut">
              <a:rPr lang="en-US" smtClean="0"/>
              <a:pPr/>
              <a:t>5/31/2017</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B22CE234-461F-4FFB-948B-CC111FA27E51}" type="slidenum">
              <a:rPr lang="en-US" smtClean="0"/>
              <a:pPr/>
              <a:t>‹#›</a:t>
            </a:fld>
            <a:endParaRPr lang="en-US"/>
          </a:p>
        </p:txBody>
      </p:sp>
    </p:spTree>
  </p:cSld>
  <p:clrMapOvr>
    <a:masterClrMapping/>
  </p:clrMapOvr>
  <p:transition>
    <p:push/>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927AF3D9-4254-472A-A100-0D5DE0C39F06}" type="datetimeFigureOut">
              <a:rPr lang="en-US" smtClean="0"/>
              <a:pPr/>
              <a:t>5/31/2017</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22CE234-461F-4FFB-948B-CC111FA27E51}" type="slidenum">
              <a:rPr lang="en-US" smtClean="0"/>
              <a:pPr/>
              <a:t>‹#›</a:t>
            </a:fld>
            <a:endParaRPr lang="en-US"/>
          </a:p>
        </p:txBody>
      </p:sp>
      <p:sp>
        <p:nvSpPr>
          <p:cNvPr id="7" name="Title 6"/>
          <p:cNvSpPr>
            <a:spLocks noGrp="1"/>
          </p:cNvSpPr>
          <p:nvPr>
            <p:ph type="title"/>
          </p:nvPr>
        </p:nvSpPr>
        <p:spPr/>
        <p:txBody>
          <a:bodyPr rtlCol="0"/>
          <a:lstStyle>
            <a:extLst/>
          </a:lstStyle>
          <a:p>
            <a:r>
              <a:rPr kumimoji="0" lang="en-US" smtClean="0"/>
              <a:t>Click to edit Master title style</a:t>
            </a:r>
            <a:endParaRPr kumimoji="0" lang="en-US"/>
          </a:p>
        </p:txBody>
      </p:sp>
    </p:spTree>
  </p:cSld>
  <p:clrMapOvr>
    <a:masterClrMapping/>
  </p:clrMapOvr>
  <p:transition>
    <p:push/>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927AF3D9-4254-472A-A100-0D5DE0C39F06}" type="datetimeFigureOut">
              <a:rPr lang="en-US" smtClean="0"/>
              <a:pPr/>
              <a:t>5/31/2017</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22CE234-461F-4FFB-948B-CC111FA27E51}" type="slidenum">
              <a:rPr lang="en-US" smtClean="0"/>
              <a:pPr/>
              <a:t>‹#›</a:t>
            </a:fld>
            <a:endParaRPr lang="en-US"/>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transition>
    <p:push/>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927AF3D9-4254-472A-A100-0D5DE0C39F06}" type="datetimeFigureOut">
              <a:rPr lang="en-US" smtClean="0"/>
              <a:pPr/>
              <a:t>5/31/2017</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22CE234-461F-4FFB-948B-CC111FA27E51}" type="slidenum">
              <a:rPr lang="en-US" smtClean="0"/>
              <a:pPr/>
              <a:t>‹#›</a:t>
            </a:fld>
            <a:endParaRPr lang="en-US"/>
          </a:p>
        </p:txBody>
      </p:sp>
      <p:sp>
        <p:nvSpPr>
          <p:cNvPr id="8" name="Title 7"/>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transition>
    <p:push/>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927AF3D9-4254-472A-A100-0D5DE0C39F06}" type="datetimeFigureOut">
              <a:rPr lang="en-US" smtClean="0"/>
              <a:pPr/>
              <a:t>5/31/2017</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B22CE234-461F-4FFB-948B-CC111FA27E51}"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transition>
    <p:push/>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extLst/>
          </a:lstStyle>
          <a:p>
            <a:fld id="{927AF3D9-4254-472A-A100-0D5DE0C39F06}" type="datetimeFigureOut">
              <a:rPr lang="en-US" smtClean="0"/>
              <a:pPr/>
              <a:t>5/31/2017</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B22CE234-461F-4FFB-948B-CC111FA27E51}" type="slidenum">
              <a:rPr lang="en-US" smtClean="0"/>
              <a:pPr/>
              <a:t>‹#›</a:t>
            </a:fld>
            <a:endParaRPr lang="en-US"/>
          </a:p>
        </p:txBody>
      </p:sp>
      <p:sp>
        <p:nvSpPr>
          <p:cNvPr id="6" name="Title 5"/>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transition>
    <p:push/>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extLst/>
          </a:lstStyle>
          <a:p>
            <a:fld id="{927AF3D9-4254-472A-A100-0D5DE0C39F06}" type="datetimeFigureOut">
              <a:rPr lang="en-US" smtClean="0"/>
              <a:pPr/>
              <a:t>5/31/2017</a:t>
            </a:fld>
            <a:endParaRPr lang="en-US"/>
          </a:p>
        </p:txBody>
      </p:sp>
      <p:sp>
        <p:nvSpPr>
          <p:cNvPr id="3" name="Footer Placeholder 2"/>
          <p:cNvSpPr>
            <a:spLocks noGrp="1"/>
          </p:cNvSpPr>
          <p:nvPr>
            <p:ph type="ftr" sz="quarter" idx="11"/>
          </p:nvPr>
        </p:nvSpPr>
        <p:spPr/>
        <p:txBody>
          <a:bodyPr/>
          <a:lstStyle>
            <a:extLst/>
          </a:lstStyle>
          <a:p>
            <a:endParaRPr lang="en-US"/>
          </a:p>
        </p:txBody>
      </p:sp>
      <p:sp>
        <p:nvSpPr>
          <p:cNvPr id="4" name="Slide Number Placeholder 3"/>
          <p:cNvSpPr>
            <a:spLocks noGrp="1"/>
          </p:cNvSpPr>
          <p:nvPr>
            <p:ph type="sldNum" sz="quarter" idx="12"/>
          </p:nvPr>
        </p:nvSpPr>
        <p:spPr/>
        <p:txBody>
          <a:bodyPr/>
          <a:lstStyle>
            <a:extLst/>
          </a:lstStyle>
          <a:p>
            <a:fld id="{B22CE234-461F-4FFB-948B-CC111FA27E51}" type="slidenum">
              <a:rPr lang="en-US" smtClean="0"/>
              <a:pPr/>
              <a:t>‹#›</a:t>
            </a:fld>
            <a:endParaRPr lang="en-US"/>
          </a:p>
        </p:txBody>
      </p:sp>
    </p:spTree>
  </p:cSld>
  <p:clrMapOvr>
    <a:masterClrMapping/>
  </p:clrMapOvr>
  <p:transition>
    <p:push/>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extLst/>
          </a:lstStyle>
          <a:p>
            <a:fld id="{927AF3D9-4254-472A-A100-0D5DE0C39F06}" type="datetimeFigureOut">
              <a:rPr lang="en-US" smtClean="0"/>
              <a:pPr/>
              <a:t>5/31/2017</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22CE234-461F-4FFB-948B-CC111FA27E51}"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transition>
    <p:push/>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927AF3D9-4254-472A-A100-0D5DE0C39F06}" type="datetimeFigureOut">
              <a:rPr lang="en-US" smtClean="0"/>
              <a:pPr/>
              <a:t>5/31/2017</a:t>
            </a:fld>
            <a:endParaRPr lang="en-US"/>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B22CE234-461F-4FFB-948B-CC111FA27E51}" type="slidenum">
              <a:rPr lang="en-US" smtClean="0"/>
              <a:pPr/>
              <a:t>‹#›</a:t>
            </a:fld>
            <a:endParaRPr lang="en-US"/>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smtClean="0"/>
              <a:t>Click to edit Master title style</a:t>
            </a:r>
            <a:endParaRPr kumimoji="0" lang="en-US"/>
          </a:p>
        </p:txBody>
      </p:sp>
      <p:sp>
        <p:nvSpPr>
          <p:cNvPr id="8" name="Freeform 7"/>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9" name="Freeform 8"/>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transition>
    <p:push/>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481329"/>
            <a:ext cx="8229600" cy="4386071"/>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927AF3D9-4254-472A-A100-0D5DE0C39F06}" type="datetimeFigureOut">
              <a:rPr lang="en-US" smtClean="0"/>
              <a:pPr/>
              <a:t>5/31/2017</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22CE234-461F-4FFB-948B-CC111FA27E51}" type="slidenum">
              <a:rPr lang="en-US" smtClean="0"/>
              <a:pPr/>
              <a:t>‹#›</a:t>
            </a:fld>
            <a:endParaRPr lang="en-US"/>
          </a:p>
        </p:txBody>
      </p:sp>
    </p:spTree>
  </p:cSld>
  <p:clrMapOvr>
    <a:masterClrMapping/>
  </p:clrMapOvr>
  <p:transition>
    <p:push/>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1"/>
            <a:ext cx="6324600" cy="5592760"/>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927AF3D9-4254-472A-A100-0D5DE0C39F06}" type="datetimeFigureOut">
              <a:rPr lang="en-US" smtClean="0"/>
              <a:pPr/>
              <a:t>5/31/2017</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22CE234-461F-4FFB-948B-CC111FA27E51}" type="slidenum">
              <a:rPr lang="en-US" smtClean="0"/>
              <a:pPr/>
              <a:t>‹#›</a:t>
            </a:fld>
            <a:endParaRPr lang="en-US"/>
          </a:p>
        </p:txBody>
      </p:sp>
    </p:spTree>
  </p:cSld>
  <p:clrMapOvr>
    <a:masterClrMapping/>
  </p:clrMapOvr>
  <p:transition>
    <p:push/>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3" name="Freeform 12"/>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Freeform 11"/>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927AF3D9-4254-472A-A100-0D5DE0C39F06}" type="datetimeFigureOut">
              <a:rPr lang="en-US" smtClean="0"/>
              <a:pPr/>
              <a:t>5/31/2017</a:t>
            </a:fld>
            <a:endParaRPr lang="en-US"/>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US"/>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B22CE234-461F-4FFB-948B-CC111FA27E51}"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p:push/>
  </p:transition>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57.xml"/><Relationship Id="rId1" Type="http://schemas.openxmlformats.org/officeDocument/2006/relationships/slideLayout" Target="../slideLayouts/slideLayout2.xml"/><Relationship Id="rId4" Type="http://schemas.openxmlformats.org/officeDocument/2006/relationships/image" Target="../media/image13.jpeg"/></Relationships>
</file>

<file path=ppt/slides/_rels/slide195.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2" Type="http://schemas.openxmlformats.org/officeDocument/2006/relationships/image" Target="../media/image17.gif"/><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219.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3.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5.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7.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23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39.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24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41.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3.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24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45.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7.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9.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25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51.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3.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25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55.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25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57.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25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59.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26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61.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3.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26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65.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26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67.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26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69.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27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71.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27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73.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27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75.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7.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9.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1.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28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283.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5.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7.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28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289.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290.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291.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29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293.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29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295.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29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29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98.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299.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300.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2.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4.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6.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8.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0.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2.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313.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5.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Layout" Target="../slideLayouts/slideLayout2.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back1.jpg"/>
          <p:cNvPicPr>
            <a:picLocks noChangeAspect="1"/>
          </p:cNvPicPr>
          <p:nvPr/>
        </p:nvPicPr>
        <p:blipFill>
          <a:blip r:embed="rId2"/>
          <a:stretch>
            <a:fillRect/>
          </a:stretch>
        </p:blipFill>
        <p:spPr>
          <a:xfrm>
            <a:off x="0" y="-1"/>
            <a:ext cx="9144000" cy="6858001"/>
          </a:xfrm>
          <a:prstGeom prst="rect">
            <a:avLst/>
          </a:prstGeom>
        </p:spPr>
      </p:pic>
      <p:sp>
        <p:nvSpPr>
          <p:cNvPr id="2" name="Title 1"/>
          <p:cNvSpPr>
            <a:spLocks noGrp="1"/>
          </p:cNvSpPr>
          <p:nvPr>
            <p:ph type="ctrTitle"/>
          </p:nvPr>
        </p:nvSpPr>
        <p:spPr>
          <a:xfrm>
            <a:off x="0" y="1501775"/>
            <a:ext cx="9144000" cy="1470025"/>
          </a:xfrm>
        </p:spPr>
        <p:txBody>
          <a:bodyPr>
            <a:noAutofit/>
          </a:bodyPr>
          <a:lstStyle/>
          <a:p>
            <a:pPr algn="ctr"/>
            <a:r>
              <a:rPr lang="en-US" sz="3200" b="1" dirty="0" smtClean="0">
                <a:solidFill>
                  <a:schemeClr val="tx1"/>
                </a:solidFill>
                <a:latin typeface="Arial" pitchFamily="34" charset="0"/>
                <a:cs typeface="Arial" pitchFamily="34" charset="0"/>
              </a:rPr>
              <a:t>Final Coaching Program for the Licensure Examination for Teachers</a:t>
            </a:r>
            <a:endParaRPr lang="en-US" sz="3200" b="1" dirty="0">
              <a:solidFill>
                <a:schemeClr val="tx1"/>
              </a:solidFill>
              <a:latin typeface="Arial" pitchFamily="34" charset="0"/>
              <a:cs typeface="Arial" pitchFamily="34" charset="0"/>
            </a:endParaRPr>
          </a:p>
        </p:txBody>
      </p:sp>
      <p:sp>
        <p:nvSpPr>
          <p:cNvPr id="3" name="Subtitle 2"/>
          <p:cNvSpPr>
            <a:spLocks noGrp="1"/>
          </p:cNvSpPr>
          <p:nvPr>
            <p:ph type="subTitle" idx="1"/>
          </p:nvPr>
        </p:nvSpPr>
        <p:spPr>
          <a:xfrm>
            <a:off x="1371600" y="533400"/>
            <a:ext cx="6400800" cy="990600"/>
          </a:xfrm>
        </p:spPr>
        <p:txBody>
          <a:bodyPr>
            <a:normAutofit fontScale="77500" lnSpcReduction="20000"/>
          </a:bodyPr>
          <a:lstStyle/>
          <a:p>
            <a:pPr algn="ctr"/>
            <a:r>
              <a:rPr lang="en-US" dirty="0" smtClean="0">
                <a:solidFill>
                  <a:schemeClr val="tx1"/>
                </a:solidFill>
              </a:rPr>
              <a:t>Philippine Normal University</a:t>
            </a:r>
          </a:p>
          <a:p>
            <a:pPr algn="ctr"/>
            <a:r>
              <a:rPr lang="en-US" dirty="0" smtClean="0">
                <a:solidFill>
                  <a:schemeClr val="tx1"/>
                </a:solidFill>
              </a:rPr>
              <a:t>National Center for Teacher Education</a:t>
            </a:r>
          </a:p>
          <a:p>
            <a:pPr algn="ctr"/>
            <a:r>
              <a:rPr lang="en-US" dirty="0" smtClean="0">
                <a:solidFill>
                  <a:schemeClr val="tx1"/>
                </a:solidFill>
              </a:rPr>
              <a:t>Taft avenue, Manila </a:t>
            </a:r>
            <a:endParaRPr lang="en-US" dirty="0">
              <a:solidFill>
                <a:schemeClr val="tx1"/>
              </a:solidFill>
            </a:endParaRPr>
          </a:p>
        </p:txBody>
      </p:sp>
      <p:sp>
        <p:nvSpPr>
          <p:cNvPr id="6" name="TextBox 5"/>
          <p:cNvSpPr txBox="1"/>
          <p:nvPr/>
        </p:nvSpPr>
        <p:spPr>
          <a:xfrm>
            <a:off x="0" y="3276600"/>
            <a:ext cx="9144000" cy="830997"/>
          </a:xfrm>
          <a:prstGeom prst="rect">
            <a:avLst/>
          </a:prstGeom>
          <a:solidFill>
            <a:srgbClr val="FFFF00"/>
          </a:solidFill>
        </p:spPr>
        <p:txBody>
          <a:bodyPr wrap="square" rtlCol="0">
            <a:spAutoFit/>
          </a:bodyPr>
          <a:lstStyle/>
          <a:p>
            <a:pPr algn="ctr"/>
            <a:r>
              <a:rPr lang="en-US" sz="4800" b="1" dirty="0" smtClean="0"/>
              <a:t>GENERAL EDUCATION</a:t>
            </a:r>
            <a:endParaRPr lang="en-US" sz="4800" b="1" dirty="0"/>
          </a:p>
        </p:txBody>
      </p:sp>
      <p:sp>
        <p:nvSpPr>
          <p:cNvPr id="7" name="TextBox 6"/>
          <p:cNvSpPr txBox="1"/>
          <p:nvPr/>
        </p:nvSpPr>
        <p:spPr>
          <a:xfrm>
            <a:off x="2667000" y="4267200"/>
            <a:ext cx="3657600" cy="1938992"/>
          </a:xfrm>
          <a:prstGeom prst="rect">
            <a:avLst/>
          </a:prstGeom>
          <a:noFill/>
        </p:spPr>
        <p:txBody>
          <a:bodyPr wrap="square" rtlCol="0">
            <a:spAutoFit/>
          </a:bodyPr>
          <a:lstStyle/>
          <a:p>
            <a:pPr algn="ctr"/>
            <a:r>
              <a:rPr lang="en-US" sz="2400" b="1" dirty="0" smtClean="0"/>
              <a:t>English</a:t>
            </a:r>
          </a:p>
          <a:p>
            <a:pPr algn="ctr"/>
            <a:r>
              <a:rPr lang="en-US" sz="2400" b="1" dirty="0" smtClean="0"/>
              <a:t>Filipino</a:t>
            </a:r>
          </a:p>
          <a:p>
            <a:pPr algn="ctr"/>
            <a:r>
              <a:rPr lang="en-US" sz="2400" b="1" dirty="0" smtClean="0"/>
              <a:t>Social Sciences</a:t>
            </a:r>
          </a:p>
          <a:p>
            <a:pPr algn="ctr"/>
            <a:r>
              <a:rPr lang="en-US" sz="2400" b="1" dirty="0" smtClean="0"/>
              <a:t>Science</a:t>
            </a:r>
          </a:p>
          <a:p>
            <a:pPr algn="ctr"/>
            <a:r>
              <a:rPr lang="en-US" sz="2400" b="1" dirty="0" smtClean="0"/>
              <a:t>Mathematics</a:t>
            </a:r>
            <a:endParaRPr lang="en-US" sz="2400" b="1" dirty="0"/>
          </a:p>
        </p:txBody>
      </p:sp>
    </p:spTree>
  </p:cSld>
  <p:clrMapOvr>
    <a:masterClrMapping/>
  </p:clrMapOvr>
  <p:transition>
    <p:push/>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1"/>
            <a:ext cx="8229600" cy="2209799"/>
          </a:xfrm>
        </p:spPr>
        <p:txBody>
          <a:bodyPr>
            <a:normAutofit/>
          </a:bodyPr>
          <a:lstStyle/>
          <a:p>
            <a:pPr algn="ctr">
              <a:buNone/>
            </a:pPr>
            <a:r>
              <a:rPr lang="en-US" sz="7200" dirty="0" smtClean="0">
                <a:latin typeface="Arial Black" pitchFamily="34" charset="0"/>
              </a:rPr>
              <a:t>ENGLISH</a:t>
            </a:r>
          </a:p>
          <a:p>
            <a:pPr algn="ctr">
              <a:buNone/>
            </a:pPr>
            <a:r>
              <a:rPr lang="en-US" sz="4800" dirty="0" smtClean="0"/>
              <a:t>Items 1-40</a:t>
            </a:r>
            <a:endParaRPr lang="en-US" sz="4800" dirty="0"/>
          </a:p>
        </p:txBody>
      </p:sp>
    </p:spTree>
  </p:cSld>
  <p:clrMapOvr>
    <a:masterClrMapping/>
  </p:clrMapOvr>
  <p:transition>
    <p:push/>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14400"/>
            <a:ext cx="8229600" cy="4525963"/>
          </a:xfrm>
        </p:spPr>
        <p:txBody>
          <a:bodyPr/>
          <a:lstStyle/>
          <a:p>
            <a:pPr marL="514350" lvl="0" indent="-514350">
              <a:buNone/>
            </a:pPr>
            <a:r>
              <a:rPr lang="en-US" dirty="0" smtClean="0"/>
              <a:t>1. </a:t>
            </a:r>
            <a:r>
              <a:rPr lang="en-US" sz="3200" dirty="0" smtClean="0"/>
              <a:t>The words “inadequate, disembark,    uneducated, and illegitimate” have prefixes that are:</a:t>
            </a:r>
            <a:endParaRPr lang="en-US" dirty="0" smtClean="0"/>
          </a:p>
          <a:p>
            <a:pPr marL="514350" lvl="0" indent="0">
              <a:buNone/>
            </a:pPr>
            <a:r>
              <a:rPr lang="en-US" dirty="0" smtClean="0"/>
              <a:t> </a:t>
            </a:r>
          </a:p>
          <a:p>
            <a:pPr marL="514350" lvl="0" indent="52388">
              <a:buFont typeface="+mj-lt"/>
              <a:buAutoNum type="alphaUcPeriod"/>
            </a:pPr>
            <a:r>
              <a:rPr lang="en-US" sz="3600" dirty="0" smtClean="0"/>
              <a:t> </a:t>
            </a:r>
            <a:r>
              <a:rPr lang="en-US" sz="3200" dirty="0" smtClean="0"/>
              <a:t>Positive </a:t>
            </a:r>
          </a:p>
          <a:p>
            <a:pPr marL="514350" lvl="0" indent="52388">
              <a:buFont typeface="+mj-lt"/>
              <a:buAutoNum type="alphaUcPeriod"/>
            </a:pPr>
            <a:r>
              <a:rPr lang="en-US" sz="3200" dirty="0"/>
              <a:t> Common </a:t>
            </a:r>
            <a:endParaRPr lang="en-US" sz="3200" dirty="0" smtClean="0"/>
          </a:p>
          <a:p>
            <a:pPr marL="514350" lvl="0" indent="52388">
              <a:buFont typeface="+mj-lt"/>
              <a:buAutoNum type="alphaUcPeriod"/>
            </a:pPr>
            <a:r>
              <a:rPr lang="en-US" sz="3200" dirty="0"/>
              <a:t> </a:t>
            </a:r>
            <a:r>
              <a:rPr lang="en-US" sz="3200" dirty="0" smtClean="0"/>
              <a:t>Negative</a:t>
            </a:r>
          </a:p>
          <a:p>
            <a:pPr marL="514350" lvl="0" indent="52388">
              <a:buFont typeface="+mj-lt"/>
              <a:buAutoNum type="alphaUcPeriod"/>
            </a:pPr>
            <a:r>
              <a:rPr lang="en-US" sz="3200" dirty="0"/>
              <a:t> Neutral</a:t>
            </a:r>
            <a:endParaRPr lang="en-US" sz="3200" dirty="0" smtClean="0"/>
          </a:p>
          <a:p>
            <a:pPr>
              <a:buNone/>
            </a:pPr>
            <a:endParaRPr lang="en-US"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390586" y="42093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lvl="0">
              <a:buNone/>
            </a:pPr>
            <a:r>
              <a:rPr lang="en-US" sz="3200" dirty="0" smtClean="0"/>
              <a:t>2. Which </a:t>
            </a:r>
            <a:r>
              <a:rPr lang="en-US" sz="3200" dirty="0"/>
              <a:t>one does NOT belong</a:t>
            </a:r>
            <a:r>
              <a:rPr lang="en-US" sz="3200" dirty="0" smtClean="0"/>
              <a:t>?</a:t>
            </a:r>
          </a:p>
          <a:p>
            <a:pPr lvl="0">
              <a:buNone/>
            </a:pPr>
            <a:endParaRPr lang="en-US" sz="3200" dirty="0" smtClean="0"/>
          </a:p>
          <a:p>
            <a:pPr marL="798513" lvl="0" indent="-290513">
              <a:buFont typeface="+mj-lt"/>
              <a:buAutoNum type="alphaUcPeriod"/>
            </a:pPr>
            <a:r>
              <a:rPr lang="en-US" sz="3200" dirty="0" smtClean="0"/>
              <a:t> Assumption</a:t>
            </a:r>
          </a:p>
          <a:p>
            <a:pPr marL="798513" lvl="0" indent="-290513">
              <a:buFont typeface="+mj-lt"/>
              <a:buAutoNum type="alphaUcPeriod"/>
            </a:pPr>
            <a:r>
              <a:rPr lang="en-US" sz="3200" dirty="0"/>
              <a:t> </a:t>
            </a:r>
            <a:r>
              <a:rPr lang="en-US" sz="3200" dirty="0" smtClean="0"/>
              <a:t>Summary</a:t>
            </a:r>
          </a:p>
          <a:p>
            <a:pPr marL="798513" lvl="0" indent="-290513">
              <a:buFont typeface="+mj-lt"/>
              <a:buAutoNum type="alphaUcPeriod"/>
            </a:pPr>
            <a:r>
              <a:rPr lang="en-US" sz="3200" dirty="0"/>
              <a:t> Synthesis </a:t>
            </a:r>
            <a:endParaRPr lang="en-US" sz="3200" dirty="0" smtClean="0"/>
          </a:p>
          <a:p>
            <a:pPr marL="798513" lvl="0" indent="-290513">
              <a:buFont typeface="+mj-lt"/>
              <a:buAutoNum type="alphaUcPeriod"/>
            </a:pPr>
            <a:r>
              <a:rPr lang="en-US" sz="3200" dirty="0"/>
              <a:t> Generalization</a:t>
            </a:r>
            <a:r>
              <a:rPr lang="en-US" sz="3200" dirty="0" smtClean="0"/>
              <a:t> </a:t>
            </a:r>
            <a:r>
              <a:rPr lang="en-US" sz="3200" dirty="0"/>
              <a:t>	</a:t>
            </a:r>
          </a:p>
          <a:p>
            <a:pPr>
              <a:buNone/>
            </a:pPr>
            <a:endParaRPr lang="en-US" sz="32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238186" y="28377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pPr marL="566738" lvl="0" indent="-457200">
              <a:buNone/>
            </a:pPr>
            <a:r>
              <a:rPr lang="en-US" sz="3200" dirty="0" smtClean="0"/>
              <a:t>3. </a:t>
            </a:r>
            <a:r>
              <a:rPr lang="en-US" sz="3200" dirty="0"/>
              <a:t>Complete the statement: “Blessed are ______poor for____ shall be welcomed in heaven</a:t>
            </a:r>
            <a:r>
              <a:rPr lang="en-US" sz="3200" dirty="0" smtClean="0"/>
              <a:t>.</a:t>
            </a:r>
          </a:p>
          <a:p>
            <a:pPr marL="566738" lvl="0" indent="-457200">
              <a:buNone/>
            </a:pPr>
            <a:endParaRPr lang="en-US" sz="3200" dirty="0" smtClean="0"/>
          </a:p>
          <a:p>
            <a:pPr marL="514350" lvl="0" indent="-166688">
              <a:buFont typeface="+mj-lt"/>
              <a:buAutoNum type="alphaUcPeriod"/>
            </a:pPr>
            <a:r>
              <a:rPr lang="en-US" sz="3200" dirty="0" smtClean="0"/>
              <a:t> the-you </a:t>
            </a:r>
          </a:p>
          <a:p>
            <a:pPr marL="514350" lvl="0" indent="-166688">
              <a:buFont typeface="+mj-lt"/>
              <a:buAutoNum type="alphaUcPeriod"/>
            </a:pPr>
            <a:r>
              <a:rPr lang="en-US" sz="3200" dirty="0"/>
              <a:t> </a:t>
            </a:r>
            <a:r>
              <a:rPr lang="en-US" sz="3200" dirty="0" smtClean="0"/>
              <a:t>the-they</a:t>
            </a:r>
          </a:p>
          <a:p>
            <a:pPr marL="514350" lvl="0" indent="-166688">
              <a:buFont typeface="+mj-lt"/>
              <a:buAutoNum type="alphaUcPeriod"/>
            </a:pPr>
            <a:r>
              <a:rPr lang="en-US" sz="3200" dirty="0"/>
              <a:t> </a:t>
            </a:r>
            <a:r>
              <a:rPr lang="en-US" sz="3200" dirty="0" smtClean="0"/>
              <a:t>you-they</a:t>
            </a:r>
          </a:p>
          <a:p>
            <a:pPr marL="514350" lvl="0" indent="-166688">
              <a:buFont typeface="+mj-lt"/>
              <a:buAutoNum type="alphaUcPeriod"/>
            </a:pPr>
            <a:r>
              <a:rPr lang="en-US" sz="3200" dirty="0"/>
              <a:t> they-they</a:t>
            </a:r>
          </a:p>
          <a:p>
            <a:pPr>
              <a:buNone/>
            </a:pPr>
            <a:r>
              <a:rPr lang="en-US" sz="3200" dirty="0" smtClean="0"/>
              <a:t>	</a:t>
            </a:r>
            <a:endParaRPr lang="en-US" sz="32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9586" y="42855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36637"/>
            <a:ext cx="8229600" cy="4525963"/>
          </a:xfrm>
        </p:spPr>
        <p:txBody>
          <a:bodyPr>
            <a:noAutofit/>
          </a:bodyPr>
          <a:lstStyle/>
          <a:p>
            <a:pPr marL="508000" lvl="0" indent="-398463">
              <a:buNone/>
            </a:pPr>
            <a:r>
              <a:rPr lang="en-US" sz="3200" dirty="0" smtClean="0"/>
              <a:t>4. </a:t>
            </a:r>
            <a:r>
              <a:rPr lang="en-US" sz="3200" dirty="0"/>
              <a:t>To make a fantastic group work, each member must </a:t>
            </a:r>
            <a:r>
              <a:rPr lang="en-US" sz="3200" u="sng" dirty="0"/>
              <a:t>put his/her finger in the pie.</a:t>
            </a:r>
            <a:r>
              <a:rPr lang="en-US" sz="3200" dirty="0"/>
              <a:t> The underlined phrase means: </a:t>
            </a:r>
            <a:endParaRPr lang="en-US" sz="3200" dirty="0" smtClean="0"/>
          </a:p>
          <a:p>
            <a:pPr marL="508000" lvl="0" indent="-398463">
              <a:buNone/>
            </a:pPr>
            <a:endParaRPr lang="en-US" sz="3200" dirty="0"/>
          </a:p>
          <a:p>
            <a:pPr marL="855663" indent="-288925">
              <a:buFont typeface="+mj-lt"/>
              <a:buAutoNum type="alphaUcPeriod"/>
            </a:pPr>
            <a:r>
              <a:rPr lang="en-US" sz="3200" dirty="0"/>
              <a:t> </a:t>
            </a:r>
            <a:r>
              <a:rPr lang="en-US" sz="3200" dirty="0" smtClean="0"/>
              <a:t>bake </a:t>
            </a:r>
            <a:r>
              <a:rPr lang="en-US" sz="3200" dirty="0"/>
              <a:t>a </a:t>
            </a:r>
            <a:r>
              <a:rPr lang="en-US" sz="3200" dirty="0" smtClean="0"/>
              <a:t>pie</a:t>
            </a:r>
          </a:p>
          <a:p>
            <a:pPr marL="855663" indent="-288925">
              <a:buFont typeface="+mj-lt"/>
              <a:buAutoNum type="alphaUcPeriod"/>
            </a:pPr>
            <a:r>
              <a:rPr lang="en-US" sz="3200" dirty="0"/>
              <a:t> taste a </a:t>
            </a:r>
            <a:r>
              <a:rPr lang="en-US" sz="3200" dirty="0" smtClean="0"/>
              <a:t>pie</a:t>
            </a:r>
          </a:p>
          <a:p>
            <a:pPr marL="855663" indent="-288925">
              <a:buFont typeface="+mj-lt"/>
              <a:buAutoNum type="alphaUcPeriod"/>
            </a:pPr>
            <a:r>
              <a:rPr lang="en-US" sz="3200" dirty="0"/>
              <a:t> join a </a:t>
            </a:r>
            <a:r>
              <a:rPr lang="en-US" sz="3200" dirty="0" smtClean="0"/>
              <a:t>group</a:t>
            </a:r>
          </a:p>
          <a:p>
            <a:pPr marL="855663" indent="-288925">
              <a:buFont typeface="+mj-lt"/>
              <a:buAutoNum type="alphaUcPeriod"/>
            </a:pPr>
            <a:r>
              <a:rPr lang="en-US" sz="3200" dirty="0"/>
              <a:t> participate in a group</a:t>
            </a:r>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390586" y="5428574"/>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508000" lvl="0" indent="-398463">
              <a:buNone/>
            </a:pPr>
            <a:r>
              <a:rPr lang="en-US" sz="3200" dirty="0" smtClean="0"/>
              <a:t>5. </a:t>
            </a:r>
            <a:r>
              <a:rPr lang="en-US" sz="3200" dirty="0"/>
              <a:t>Your mother isn’t supporting you, </a:t>
            </a:r>
            <a:r>
              <a:rPr lang="en-US" sz="3200" dirty="0" smtClean="0"/>
              <a:t>________?</a:t>
            </a:r>
          </a:p>
          <a:p>
            <a:pPr marL="508000" lvl="0" indent="-398463">
              <a:buNone/>
            </a:pPr>
            <a:endParaRPr lang="en-US" sz="3200" dirty="0"/>
          </a:p>
          <a:p>
            <a:pPr marL="798513" indent="-290513">
              <a:buFont typeface="+mj-lt"/>
              <a:buAutoNum type="alphaUcPeriod"/>
            </a:pPr>
            <a:r>
              <a:rPr lang="en-US" sz="3200" dirty="0"/>
              <a:t> </a:t>
            </a:r>
            <a:r>
              <a:rPr lang="en-US" sz="3200" dirty="0" smtClean="0"/>
              <a:t>isn’t she</a:t>
            </a:r>
          </a:p>
          <a:p>
            <a:pPr marL="798513" indent="-290513">
              <a:buFont typeface="+mj-lt"/>
              <a:buAutoNum type="alphaUcPeriod"/>
            </a:pPr>
            <a:r>
              <a:rPr lang="en-US" sz="3200" dirty="0" smtClean="0"/>
              <a:t> </a:t>
            </a:r>
            <a:r>
              <a:rPr lang="en-US" sz="3200" dirty="0"/>
              <a:t>is </a:t>
            </a:r>
            <a:r>
              <a:rPr lang="en-US" sz="3200" dirty="0" smtClean="0"/>
              <a:t>she</a:t>
            </a:r>
          </a:p>
          <a:p>
            <a:pPr marL="798513" indent="-290513">
              <a:buFont typeface="+mj-lt"/>
              <a:buAutoNum type="alphaUcPeriod"/>
            </a:pPr>
            <a:r>
              <a:rPr lang="en-US" sz="3200" dirty="0"/>
              <a:t> aren’t she? </a:t>
            </a:r>
            <a:endParaRPr lang="en-US" sz="3200" dirty="0" smtClean="0"/>
          </a:p>
          <a:p>
            <a:pPr marL="798513" indent="-290513">
              <a:buFont typeface="+mj-lt"/>
              <a:buAutoNum type="alphaUcPeriod"/>
            </a:pPr>
            <a:r>
              <a:rPr lang="en-US" sz="3200" dirty="0"/>
              <a:t> is he?</a:t>
            </a:r>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314386" y="3828374"/>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5800" y="457200"/>
            <a:ext cx="8686800" cy="4525963"/>
          </a:xfrm>
        </p:spPr>
        <p:txBody>
          <a:bodyPr>
            <a:noAutofit/>
          </a:bodyPr>
          <a:lstStyle/>
          <a:p>
            <a:pPr>
              <a:buNone/>
            </a:pPr>
            <a:r>
              <a:rPr lang="en-US" sz="2800" dirty="0" smtClean="0"/>
              <a:t>A </a:t>
            </a:r>
            <a:r>
              <a:rPr lang="en-US" sz="2800" b="1" dirty="0" smtClean="0"/>
              <a:t>positive</a:t>
            </a:r>
            <a:r>
              <a:rPr lang="en-US" sz="2800" dirty="0" smtClean="0"/>
              <a:t> statement is followed by a </a:t>
            </a:r>
          </a:p>
          <a:p>
            <a:pPr>
              <a:buNone/>
            </a:pPr>
            <a:r>
              <a:rPr lang="en-US" sz="2800" b="1" dirty="0" smtClean="0"/>
              <a:t>negative </a:t>
            </a:r>
            <a:r>
              <a:rPr lang="en-US" sz="2800" dirty="0" smtClean="0"/>
              <a:t>question tag.</a:t>
            </a:r>
          </a:p>
          <a:p>
            <a:pPr>
              <a:buNone/>
            </a:pPr>
            <a:endParaRPr lang="en-US" sz="2800" dirty="0" smtClean="0"/>
          </a:p>
          <a:p>
            <a:r>
              <a:rPr lang="en-US" sz="2800" dirty="0" smtClean="0"/>
              <a:t>Jack </a:t>
            </a:r>
            <a:r>
              <a:rPr lang="en-US" sz="2800" b="1" dirty="0" smtClean="0"/>
              <a:t>is</a:t>
            </a:r>
            <a:r>
              <a:rPr lang="en-US" sz="2800" dirty="0" smtClean="0"/>
              <a:t> from Spain, </a:t>
            </a:r>
            <a:r>
              <a:rPr lang="en-US" sz="2800" b="1" dirty="0" smtClean="0"/>
              <a:t>isn't </a:t>
            </a:r>
            <a:r>
              <a:rPr lang="en-US" sz="2800" dirty="0" smtClean="0"/>
              <a:t>he?</a:t>
            </a:r>
          </a:p>
          <a:p>
            <a:r>
              <a:rPr lang="en-US" sz="2800" dirty="0" smtClean="0"/>
              <a:t>Mary </a:t>
            </a:r>
            <a:r>
              <a:rPr lang="en-US" sz="2800" b="1" dirty="0" smtClean="0"/>
              <a:t>can</a:t>
            </a:r>
            <a:r>
              <a:rPr lang="en-US" sz="2800" dirty="0" smtClean="0"/>
              <a:t> speak English, </a:t>
            </a:r>
            <a:r>
              <a:rPr lang="en-US" sz="2800" b="1" dirty="0" smtClean="0"/>
              <a:t>can't</a:t>
            </a:r>
            <a:r>
              <a:rPr lang="en-US" sz="2800" dirty="0" smtClean="0"/>
              <a:t> she?</a:t>
            </a:r>
          </a:p>
          <a:p>
            <a:pPr>
              <a:buNone/>
            </a:pPr>
            <a:endParaRPr lang="en-US" sz="2800" dirty="0" smtClean="0"/>
          </a:p>
          <a:p>
            <a:pPr>
              <a:buNone/>
            </a:pPr>
            <a:r>
              <a:rPr lang="en-US" sz="2800" dirty="0" smtClean="0"/>
              <a:t>A </a:t>
            </a:r>
            <a:r>
              <a:rPr lang="en-US" sz="2800" b="1" dirty="0" smtClean="0"/>
              <a:t>negative</a:t>
            </a:r>
            <a:r>
              <a:rPr lang="en-US" sz="2800" dirty="0" smtClean="0"/>
              <a:t> statement is followed by a </a:t>
            </a:r>
          </a:p>
          <a:p>
            <a:pPr>
              <a:buNone/>
            </a:pPr>
            <a:r>
              <a:rPr lang="en-US" sz="2800" b="1" dirty="0" smtClean="0"/>
              <a:t>positive</a:t>
            </a:r>
            <a:r>
              <a:rPr lang="en-US" sz="2800" dirty="0" smtClean="0"/>
              <a:t> question tag.</a:t>
            </a:r>
          </a:p>
          <a:p>
            <a:pPr>
              <a:buNone/>
            </a:pPr>
            <a:endParaRPr lang="en-US" sz="2800" dirty="0" smtClean="0"/>
          </a:p>
          <a:p>
            <a:r>
              <a:rPr lang="en-US" sz="2800" dirty="0" smtClean="0"/>
              <a:t>They </a:t>
            </a:r>
            <a:r>
              <a:rPr lang="en-US" sz="2800" b="1" dirty="0" smtClean="0"/>
              <a:t>aren't </a:t>
            </a:r>
            <a:r>
              <a:rPr lang="en-US" sz="2800" dirty="0" smtClean="0"/>
              <a:t>funny,</a:t>
            </a:r>
            <a:r>
              <a:rPr lang="en-US" sz="2800" b="1" dirty="0" smtClean="0"/>
              <a:t> are </a:t>
            </a:r>
            <a:r>
              <a:rPr lang="en-US" sz="2800" dirty="0" smtClean="0"/>
              <a:t>they?</a:t>
            </a:r>
          </a:p>
          <a:p>
            <a:r>
              <a:rPr lang="en-US" sz="2800" dirty="0" smtClean="0"/>
              <a:t>He</a:t>
            </a:r>
            <a:r>
              <a:rPr lang="en-US" sz="2800" b="1" dirty="0" smtClean="0"/>
              <a:t> shouldn't</a:t>
            </a:r>
            <a:r>
              <a:rPr lang="en-US" sz="2800" dirty="0" smtClean="0"/>
              <a:t> say things like that,</a:t>
            </a:r>
            <a:r>
              <a:rPr lang="en-US" sz="2800" b="1" dirty="0" smtClean="0"/>
              <a:t> should </a:t>
            </a:r>
            <a:r>
              <a:rPr lang="en-US" sz="2800" dirty="0" smtClean="0"/>
              <a:t>he?</a:t>
            </a:r>
          </a:p>
          <a:p>
            <a:pPr>
              <a:buNone/>
            </a:pPr>
            <a:r>
              <a:rPr lang="en-US" sz="2800" dirty="0" smtClean="0"/>
              <a:t/>
            </a:r>
            <a:br>
              <a:rPr lang="en-US" sz="2800" dirty="0" smtClean="0"/>
            </a:br>
            <a:endParaRPr lang="en-US" sz="2800" dirty="0"/>
          </a:p>
        </p:txBody>
      </p:sp>
    </p:spTree>
  </p:cSld>
  <p:clrMapOvr>
    <a:masterClrMapping/>
  </p:clrMapOvr>
  <p:transition>
    <p:push/>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66800"/>
            <a:ext cx="8229600" cy="4525963"/>
          </a:xfrm>
        </p:spPr>
        <p:txBody>
          <a:bodyPr/>
          <a:lstStyle/>
          <a:p>
            <a:pPr marL="566738" lvl="0" indent="-457200">
              <a:buNone/>
            </a:pPr>
            <a:r>
              <a:rPr lang="en-US" dirty="0" smtClean="0"/>
              <a:t>6. </a:t>
            </a:r>
            <a:r>
              <a:rPr lang="en-US" sz="3200" dirty="0"/>
              <a:t>The suspect was spared because all he said were all </a:t>
            </a:r>
            <a:r>
              <a:rPr lang="en-US" sz="3200" u="sng" dirty="0"/>
              <a:t>white lies. </a:t>
            </a:r>
            <a:r>
              <a:rPr lang="en-US" sz="3200" dirty="0"/>
              <a:t>The underlined word phrase means</a:t>
            </a:r>
            <a:r>
              <a:rPr lang="en-US" sz="3200" dirty="0" smtClean="0"/>
              <a:t>:</a:t>
            </a:r>
          </a:p>
          <a:p>
            <a:pPr marL="566738" lvl="0" indent="-457200">
              <a:buNone/>
            </a:pPr>
            <a:endParaRPr lang="en-US" dirty="0"/>
          </a:p>
          <a:p>
            <a:pPr marL="855663" indent="-288925">
              <a:buFont typeface="+mj-lt"/>
              <a:buAutoNum type="alphaUcPeriod"/>
            </a:pPr>
            <a:r>
              <a:rPr lang="en-US" dirty="0"/>
              <a:t> </a:t>
            </a:r>
            <a:r>
              <a:rPr lang="en-US" sz="3200" dirty="0"/>
              <a:t>Lies that are harmless </a:t>
            </a:r>
            <a:endParaRPr lang="en-US" sz="3200" dirty="0" smtClean="0"/>
          </a:p>
          <a:p>
            <a:pPr marL="855663" indent="-288925">
              <a:buFont typeface="+mj-lt"/>
              <a:buAutoNum type="alphaUcPeriod"/>
            </a:pPr>
            <a:r>
              <a:rPr lang="en-US" sz="3200" dirty="0" smtClean="0"/>
              <a:t> </a:t>
            </a:r>
            <a:r>
              <a:rPr lang="en-US" sz="3200" dirty="0"/>
              <a:t>Lies recited are illogical </a:t>
            </a:r>
            <a:endParaRPr lang="en-US" sz="3200" dirty="0" smtClean="0"/>
          </a:p>
          <a:p>
            <a:pPr marL="855663" indent="-288925">
              <a:buFont typeface="+mj-lt"/>
              <a:buAutoNum type="alphaUcPeriod"/>
            </a:pPr>
            <a:r>
              <a:rPr lang="en-US" sz="3200" dirty="0"/>
              <a:t> Lies are </a:t>
            </a:r>
            <a:r>
              <a:rPr lang="en-US" sz="3200" dirty="0" smtClean="0"/>
              <a:t>typewritten</a:t>
            </a:r>
          </a:p>
          <a:p>
            <a:pPr marL="855663" indent="-288925">
              <a:buFont typeface="+mj-lt"/>
              <a:buAutoNum type="alphaUcPeriod"/>
            </a:pPr>
            <a:r>
              <a:rPr lang="en-US" sz="3200" dirty="0"/>
              <a:t> The lies that made in public</a:t>
            </a:r>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314386" y="3218774"/>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525963"/>
          </a:xfrm>
        </p:spPr>
        <p:txBody>
          <a:bodyPr>
            <a:normAutofit/>
          </a:bodyPr>
          <a:lstStyle/>
          <a:p>
            <a:pPr marL="566738" lvl="0" indent="-457200">
              <a:buNone/>
            </a:pPr>
            <a:r>
              <a:rPr lang="en-US" sz="3200" dirty="0" smtClean="0"/>
              <a:t>7. </a:t>
            </a:r>
            <a:r>
              <a:rPr lang="en-US" sz="3200" dirty="0"/>
              <a:t>Your essay received a low mark. Did your mentor suggest _____a new one</a:t>
            </a:r>
            <a:r>
              <a:rPr lang="en-US" sz="3200" dirty="0" smtClean="0"/>
              <a:t>?</a:t>
            </a:r>
          </a:p>
          <a:p>
            <a:pPr marL="566738" lvl="0" indent="-457200">
              <a:buNone/>
            </a:pPr>
            <a:endParaRPr lang="en-US" sz="3200" dirty="0"/>
          </a:p>
          <a:p>
            <a:pPr marL="514350" indent="-166688">
              <a:buFont typeface="+mj-lt"/>
              <a:buAutoNum type="alphaUcPeriod"/>
            </a:pPr>
            <a:r>
              <a:rPr lang="en-US" sz="3200" dirty="0"/>
              <a:t> you will make </a:t>
            </a:r>
            <a:endParaRPr lang="en-US" sz="3200" dirty="0" smtClean="0"/>
          </a:p>
          <a:p>
            <a:pPr marL="514350" indent="-166688">
              <a:buFont typeface="+mj-lt"/>
              <a:buAutoNum type="alphaUcPeriod"/>
            </a:pPr>
            <a:r>
              <a:rPr lang="en-US" sz="3200" dirty="0"/>
              <a:t> </a:t>
            </a:r>
            <a:r>
              <a:rPr lang="en-US" sz="3200" dirty="0" smtClean="0"/>
              <a:t>writing</a:t>
            </a:r>
          </a:p>
          <a:p>
            <a:pPr marL="514350" indent="-166688">
              <a:buFont typeface="+mj-lt"/>
              <a:buAutoNum type="alphaUcPeriod"/>
            </a:pPr>
            <a:r>
              <a:rPr lang="en-US" sz="3200" dirty="0"/>
              <a:t> to </a:t>
            </a:r>
            <a:r>
              <a:rPr lang="en-US" sz="3200" dirty="0" smtClean="0"/>
              <a:t>write</a:t>
            </a:r>
          </a:p>
          <a:p>
            <a:pPr marL="514350" indent="-166688">
              <a:buFont typeface="+mj-lt"/>
              <a:buAutoNum type="alphaUcPeriod"/>
            </a:pPr>
            <a:r>
              <a:rPr lang="en-US" sz="3200" dirty="0"/>
              <a:t> revise</a:t>
            </a:r>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238185" y="34473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12837"/>
            <a:ext cx="8229600" cy="4525963"/>
          </a:xfrm>
        </p:spPr>
        <p:txBody>
          <a:bodyPr>
            <a:normAutofit/>
          </a:bodyPr>
          <a:lstStyle/>
          <a:p>
            <a:pPr marL="508000" lvl="0" indent="-398463">
              <a:buNone/>
            </a:pPr>
            <a:r>
              <a:rPr lang="en-US" sz="3200" dirty="0" smtClean="0"/>
              <a:t>8. </a:t>
            </a:r>
            <a:r>
              <a:rPr lang="en-US" sz="3200" dirty="0"/>
              <a:t>A person with a positive outlook in life can ______ with depression</a:t>
            </a:r>
            <a:r>
              <a:rPr lang="en-US" sz="3200" dirty="0" smtClean="0"/>
              <a:t>.</a:t>
            </a:r>
          </a:p>
          <a:p>
            <a:pPr marL="508000" lvl="0" indent="-398463">
              <a:buNone/>
            </a:pPr>
            <a:endParaRPr lang="en-US" sz="3200" dirty="0"/>
          </a:p>
          <a:p>
            <a:pPr marL="798513" indent="-290513">
              <a:buFont typeface="+mj-lt"/>
              <a:buAutoNum type="alphaUcPeriod"/>
            </a:pPr>
            <a:r>
              <a:rPr lang="en-US" sz="3200" dirty="0"/>
              <a:t> cope </a:t>
            </a:r>
            <a:r>
              <a:rPr lang="en-US" sz="3200" dirty="0" smtClean="0"/>
              <a:t>up</a:t>
            </a:r>
          </a:p>
          <a:p>
            <a:pPr marL="798513" indent="-290513">
              <a:buFont typeface="+mj-lt"/>
              <a:buAutoNum type="alphaUcPeriod"/>
            </a:pPr>
            <a:r>
              <a:rPr lang="en-US" sz="3200" dirty="0"/>
              <a:t> cope </a:t>
            </a:r>
            <a:r>
              <a:rPr lang="en-US" sz="3200" dirty="0" smtClean="0"/>
              <a:t>on</a:t>
            </a:r>
          </a:p>
          <a:p>
            <a:pPr marL="798513" indent="-290513">
              <a:buFont typeface="+mj-lt"/>
              <a:buAutoNum type="alphaUcPeriod"/>
            </a:pPr>
            <a:r>
              <a:rPr lang="en-US" sz="3200" dirty="0"/>
              <a:t> cope </a:t>
            </a:r>
            <a:r>
              <a:rPr lang="en-US" sz="3200" dirty="0" smtClean="0"/>
              <a:t>in</a:t>
            </a:r>
          </a:p>
          <a:p>
            <a:pPr marL="798513" indent="-290513">
              <a:buFont typeface="+mj-lt"/>
              <a:buAutoNum type="alphaUcPeriod"/>
            </a:pPr>
            <a:r>
              <a:rPr lang="en-US" sz="3200" dirty="0"/>
              <a:t> </a:t>
            </a:r>
            <a:r>
              <a:rPr lang="en-US" sz="3200" dirty="0" smtClean="0"/>
              <a:t>cope</a:t>
            </a:r>
          </a:p>
          <a:p>
            <a:pPr marL="514350" indent="-166688">
              <a:buNone/>
            </a:pPr>
            <a:endParaRPr lang="en-US" sz="32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161985" y="45141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60437"/>
            <a:ext cx="8229600" cy="4525963"/>
          </a:xfrm>
        </p:spPr>
        <p:txBody>
          <a:bodyPr>
            <a:normAutofit/>
          </a:bodyPr>
          <a:lstStyle/>
          <a:p>
            <a:pPr marL="566738" lvl="0" indent="-457200">
              <a:buNone/>
            </a:pPr>
            <a:r>
              <a:rPr lang="en-US" sz="3200" dirty="0" smtClean="0"/>
              <a:t>9. </a:t>
            </a:r>
            <a:r>
              <a:rPr lang="en-US" sz="3200" dirty="0"/>
              <a:t>Is this the place _______ you left your bag</a:t>
            </a:r>
            <a:r>
              <a:rPr lang="en-US" sz="3200" dirty="0" smtClean="0"/>
              <a:t>?</a:t>
            </a:r>
          </a:p>
          <a:p>
            <a:pPr marL="566738" lvl="0" indent="-457200">
              <a:buNone/>
            </a:pPr>
            <a:endParaRPr lang="en-US" sz="3200" dirty="0"/>
          </a:p>
          <a:p>
            <a:pPr marL="914400" indent="-347663">
              <a:buFont typeface="+mj-lt"/>
              <a:buAutoNum type="alphaUcPeriod"/>
            </a:pPr>
            <a:r>
              <a:rPr lang="en-US" sz="3200" dirty="0"/>
              <a:t> why </a:t>
            </a:r>
            <a:endParaRPr lang="en-US" sz="3200" dirty="0" smtClean="0"/>
          </a:p>
          <a:p>
            <a:pPr marL="914400" indent="-347663">
              <a:buFont typeface="+mj-lt"/>
              <a:buAutoNum type="alphaUcPeriod"/>
            </a:pPr>
            <a:r>
              <a:rPr lang="en-US" sz="3200" dirty="0"/>
              <a:t> </a:t>
            </a:r>
            <a:r>
              <a:rPr lang="en-US" sz="3200" dirty="0" smtClean="0"/>
              <a:t>where</a:t>
            </a:r>
          </a:p>
          <a:p>
            <a:pPr marL="914400" indent="-347663">
              <a:buFont typeface="+mj-lt"/>
              <a:buAutoNum type="alphaUcPeriod"/>
            </a:pPr>
            <a:r>
              <a:rPr lang="en-US" sz="3200" dirty="0"/>
              <a:t> </a:t>
            </a:r>
            <a:r>
              <a:rPr lang="en-US" sz="3200" dirty="0" smtClean="0"/>
              <a:t>wherein</a:t>
            </a:r>
          </a:p>
          <a:p>
            <a:pPr marL="914400" indent="-347663">
              <a:buFont typeface="+mj-lt"/>
              <a:buAutoNum type="alphaUcPeriod"/>
            </a:pPr>
            <a:r>
              <a:rPr lang="en-US" sz="3200" dirty="0"/>
              <a:t> which</a:t>
            </a:r>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466786" y="3267951"/>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65237"/>
            <a:ext cx="8229600" cy="4525963"/>
          </a:xfrm>
        </p:spPr>
        <p:txBody>
          <a:bodyPr>
            <a:normAutofit/>
          </a:bodyPr>
          <a:lstStyle/>
          <a:p>
            <a:pPr marL="739775" lvl="0" indent="-630238">
              <a:buNone/>
            </a:pPr>
            <a:r>
              <a:rPr lang="en-US" sz="3200" dirty="0" smtClean="0"/>
              <a:t>10. </a:t>
            </a:r>
            <a:r>
              <a:rPr lang="en-US" sz="3200" dirty="0"/>
              <a:t>The towels you gave me are _____ for me to dry the table</a:t>
            </a:r>
            <a:r>
              <a:rPr lang="en-US" sz="3200" dirty="0" smtClean="0"/>
              <a:t>.</a:t>
            </a:r>
          </a:p>
          <a:p>
            <a:pPr marL="739775" lvl="0" indent="-630238">
              <a:buNone/>
            </a:pPr>
            <a:endParaRPr lang="en-US" sz="3200" dirty="0"/>
          </a:p>
          <a:p>
            <a:pPr marL="798513" indent="-58738">
              <a:buFont typeface="+mj-lt"/>
              <a:buAutoNum type="alphaUcPeriod"/>
            </a:pPr>
            <a:r>
              <a:rPr lang="en-US" sz="3200" dirty="0" smtClean="0"/>
              <a:t> very dry</a:t>
            </a:r>
          </a:p>
          <a:p>
            <a:pPr marL="798513" indent="-58738">
              <a:buFont typeface="+mj-lt"/>
              <a:buAutoNum type="alphaUcPeriod"/>
            </a:pPr>
            <a:r>
              <a:rPr lang="en-US" sz="3200" dirty="0"/>
              <a:t> </a:t>
            </a:r>
            <a:r>
              <a:rPr lang="en-US" sz="3200" dirty="0" smtClean="0"/>
              <a:t>very wet</a:t>
            </a:r>
          </a:p>
          <a:p>
            <a:pPr marL="798513" indent="-58738">
              <a:buFont typeface="+mj-lt"/>
              <a:buAutoNum type="alphaUcPeriod"/>
            </a:pPr>
            <a:r>
              <a:rPr lang="en-US" sz="3200" dirty="0"/>
              <a:t> so </a:t>
            </a:r>
            <a:r>
              <a:rPr lang="en-US" sz="3200" dirty="0" smtClean="0"/>
              <a:t>wet</a:t>
            </a:r>
          </a:p>
          <a:p>
            <a:pPr marL="798513" indent="-58738">
              <a:buFont typeface="+mj-lt"/>
              <a:buAutoNum type="alphaUcPeriod"/>
            </a:pPr>
            <a:r>
              <a:rPr lang="en-US" sz="3200" dirty="0"/>
              <a:t> too wet</a:t>
            </a:r>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655566" y="4593312"/>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36637"/>
            <a:ext cx="8229600" cy="4525963"/>
          </a:xfrm>
        </p:spPr>
        <p:txBody>
          <a:bodyPr>
            <a:noAutofit/>
          </a:bodyPr>
          <a:lstStyle/>
          <a:p>
            <a:pPr marL="566738" lvl="0" indent="-566738">
              <a:buNone/>
            </a:pPr>
            <a:r>
              <a:rPr lang="en-US" sz="3200" dirty="0" smtClean="0"/>
              <a:t>11. </a:t>
            </a:r>
            <a:r>
              <a:rPr lang="en-US" sz="3200" dirty="0"/>
              <a:t>The speaker approached the stage with his spiel. His hands were shaking and he was sweating tremendously. He experienced: </a:t>
            </a:r>
            <a:endParaRPr lang="en-US" sz="3200" dirty="0" smtClean="0"/>
          </a:p>
          <a:p>
            <a:pPr marL="566738" lvl="0" indent="-566738">
              <a:buNone/>
            </a:pPr>
            <a:endParaRPr lang="en-US" sz="3200" dirty="0" smtClean="0"/>
          </a:p>
          <a:p>
            <a:pPr marL="566738" lvl="0" indent="0">
              <a:buFont typeface="+mj-lt"/>
              <a:buAutoNum type="alphaUcPeriod"/>
            </a:pPr>
            <a:r>
              <a:rPr lang="en-US" sz="3200" dirty="0"/>
              <a:t>	</a:t>
            </a:r>
            <a:r>
              <a:rPr lang="en-US" sz="3200" dirty="0" smtClean="0"/>
              <a:t>Heart </a:t>
            </a:r>
            <a:r>
              <a:rPr lang="en-US" sz="3200" dirty="0"/>
              <a:t>attack </a:t>
            </a:r>
            <a:endParaRPr lang="en-US" sz="3200" dirty="0" smtClean="0"/>
          </a:p>
          <a:p>
            <a:pPr marL="566738" lvl="0" indent="0">
              <a:buFont typeface="+mj-lt"/>
              <a:buAutoNum type="alphaUcPeriod"/>
            </a:pPr>
            <a:r>
              <a:rPr lang="en-US" sz="3200" dirty="0"/>
              <a:t> </a:t>
            </a:r>
            <a:r>
              <a:rPr lang="en-US" sz="3200" dirty="0" smtClean="0"/>
              <a:t>Nausea</a:t>
            </a:r>
          </a:p>
          <a:p>
            <a:pPr marL="566738" lvl="0" indent="0">
              <a:buFont typeface="+mj-lt"/>
              <a:buAutoNum type="alphaUcPeriod"/>
            </a:pPr>
            <a:r>
              <a:rPr lang="en-US" sz="3200" dirty="0"/>
              <a:t> Stage </a:t>
            </a:r>
            <a:r>
              <a:rPr lang="en-US" sz="3200" dirty="0" smtClean="0"/>
              <a:t>fright</a:t>
            </a:r>
          </a:p>
          <a:p>
            <a:pPr marL="566738" lvl="0" indent="0">
              <a:buFont typeface="+mj-lt"/>
              <a:buAutoNum type="alphaUcPeriod"/>
            </a:pPr>
            <a:r>
              <a:rPr lang="en-US" sz="3200" dirty="0"/>
              <a:t> Epilepsy</a:t>
            </a:r>
          </a:p>
          <a:p>
            <a:pPr>
              <a:buNone/>
            </a:pPr>
            <a:endParaRPr lang="en-US" sz="32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466785" y="48951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12837"/>
            <a:ext cx="8229600" cy="4525963"/>
          </a:xfrm>
        </p:spPr>
        <p:txBody>
          <a:bodyPr>
            <a:normAutofit/>
          </a:bodyPr>
          <a:lstStyle/>
          <a:p>
            <a:pPr marL="566738" indent="-566738">
              <a:buNone/>
            </a:pPr>
            <a:r>
              <a:rPr lang="en-US" sz="3200" dirty="0" smtClean="0"/>
              <a:t>12. </a:t>
            </a:r>
            <a:r>
              <a:rPr lang="en-US" sz="3200" dirty="0"/>
              <a:t>“He was like a snake in the </a:t>
            </a:r>
            <a:r>
              <a:rPr lang="en-US" sz="3200" dirty="0" smtClean="0"/>
              <a:t>night.” What </a:t>
            </a:r>
            <a:r>
              <a:rPr lang="en-US" sz="3200" dirty="0"/>
              <a:t>figure of speech is present</a:t>
            </a:r>
            <a:r>
              <a:rPr lang="en-US" sz="3200" dirty="0" smtClean="0"/>
              <a:t>?</a:t>
            </a:r>
          </a:p>
          <a:p>
            <a:pPr marL="566738" indent="-566738">
              <a:buNone/>
            </a:pPr>
            <a:endParaRPr lang="en-US" sz="3200" dirty="0" smtClean="0"/>
          </a:p>
          <a:p>
            <a:pPr marL="566738" indent="0">
              <a:buFont typeface="+mj-lt"/>
              <a:buAutoNum type="alphaUcPeriod"/>
            </a:pPr>
            <a:r>
              <a:rPr lang="en-US" sz="3200" dirty="0"/>
              <a:t>	</a:t>
            </a:r>
            <a:r>
              <a:rPr lang="en-US" sz="3200" dirty="0" smtClean="0"/>
              <a:t>Personification</a:t>
            </a:r>
          </a:p>
          <a:p>
            <a:pPr marL="566738" indent="0">
              <a:buFont typeface="+mj-lt"/>
              <a:buAutoNum type="alphaUcPeriod"/>
            </a:pPr>
            <a:r>
              <a:rPr lang="en-US" sz="3200" dirty="0"/>
              <a:t> </a:t>
            </a:r>
            <a:r>
              <a:rPr lang="en-US" sz="3200" dirty="0" smtClean="0"/>
              <a:t>Simile</a:t>
            </a:r>
          </a:p>
          <a:p>
            <a:pPr marL="566738" indent="0">
              <a:buFont typeface="+mj-lt"/>
              <a:buAutoNum type="alphaUcPeriod"/>
            </a:pPr>
            <a:r>
              <a:rPr lang="en-US" sz="3200" dirty="0"/>
              <a:t> </a:t>
            </a:r>
            <a:r>
              <a:rPr lang="en-US" sz="3200" dirty="0" smtClean="0"/>
              <a:t>Metaphor</a:t>
            </a:r>
          </a:p>
          <a:p>
            <a:pPr marL="566738" indent="0">
              <a:buFont typeface="+mj-lt"/>
              <a:buAutoNum type="alphaUcPeriod"/>
            </a:pPr>
            <a:r>
              <a:rPr lang="en-US" sz="3200" dirty="0"/>
              <a:t> Apostrophe</a:t>
            </a:r>
          </a:p>
        </p:txBody>
      </p:sp>
      <p:pic>
        <p:nvPicPr>
          <p:cNvPr id="4" name="Picture 4" descr="C:\Documents and Settings\Administrator\Desktop\hand_right.gif"/>
          <p:cNvPicPr>
            <a:picLocks noChangeAspect="1" noChangeArrowheads="1" noCrop="1"/>
          </p:cNvPicPr>
          <p:nvPr/>
        </p:nvPicPr>
        <p:blipFill>
          <a:blip r:embed="rId3">
            <a:extLst>
              <a:ext uri="{28A0092B-C50C-407E-A947-70E740481C1C}">
                <a14:useLocalDpi xmlns="" xmlns:a14="http://schemas.microsoft.com/office/drawing/2010/main" val="0"/>
              </a:ext>
            </a:extLst>
          </a:blip>
          <a:srcRect/>
          <a:stretch>
            <a:fillRect/>
          </a:stretch>
        </p:blipFill>
        <p:spPr bwMode="auto">
          <a:xfrm rot="21434720">
            <a:off x="390585" y="3447374"/>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609600"/>
            <a:ext cx="8991600" cy="5181600"/>
          </a:xfrm>
        </p:spPr>
        <p:txBody>
          <a:bodyPr>
            <a:normAutofit fontScale="92500" lnSpcReduction="20000"/>
          </a:bodyPr>
          <a:lstStyle/>
          <a:p>
            <a:pPr marL="566738" indent="-566738">
              <a:buNone/>
            </a:pPr>
            <a:endParaRPr lang="en-US" sz="3200" dirty="0" smtClean="0"/>
          </a:p>
          <a:p>
            <a:pPr marL="566738" indent="0">
              <a:buFont typeface="+mj-lt"/>
              <a:buAutoNum type="alphaUcPeriod"/>
            </a:pPr>
            <a:r>
              <a:rPr lang="en-US" sz="3200" dirty="0"/>
              <a:t>	</a:t>
            </a:r>
            <a:r>
              <a:rPr lang="en-US" sz="3200" dirty="0" smtClean="0"/>
              <a:t>Personification- Attributing or applying human qualities to inanimate objects, animals, or natural phenomena</a:t>
            </a:r>
          </a:p>
          <a:p>
            <a:pPr marL="566738" indent="0">
              <a:buFont typeface="+mj-lt"/>
              <a:buAutoNum type="alphaUcPeriod"/>
            </a:pPr>
            <a:endParaRPr lang="en-US" sz="3200" dirty="0" smtClean="0"/>
          </a:p>
          <a:p>
            <a:pPr marL="566738" indent="0">
              <a:buFont typeface="+mj-lt"/>
              <a:buAutoNum type="alphaUcPeriod"/>
            </a:pPr>
            <a:r>
              <a:rPr lang="en-US" sz="3200" dirty="0"/>
              <a:t> </a:t>
            </a:r>
            <a:r>
              <a:rPr lang="en-US" sz="3200" dirty="0" smtClean="0"/>
              <a:t>Simile- Comparison between two things using </a:t>
            </a:r>
            <a:r>
              <a:rPr lang="en-US" sz="3200" i="1" dirty="0" smtClean="0"/>
              <a:t>like</a:t>
            </a:r>
            <a:r>
              <a:rPr lang="en-US" sz="3200" dirty="0" smtClean="0"/>
              <a:t> or </a:t>
            </a:r>
            <a:r>
              <a:rPr lang="en-US" sz="3200" i="1" dirty="0" smtClean="0"/>
              <a:t>as</a:t>
            </a:r>
            <a:endParaRPr lang="en-US" sz="3200" dirty="0" smtClean="0"/>
          </a:p>
          <a:p>
            <a:pPr marL="566738" indent="0">
              <a:buFont typeface="+mj-lt"/>
              <a:buAutoNum type="alphaUcPeriod"/>
            </a:pPr>
            <a:endParaRPr lang="en-US" sz="3200" dirty="0" smtClean="0"/>
          </a:p>
          <a:p>
            <a:pPr marL="566738" indent="0">
              <a:buFont typeface="+mj-lt"/>
              <a:buAutoNum type="alphaUcPeriod"/>
            </a:pPr>
            <a:r>
              <a:rPr lang="en-US" sz="3200" dirty="0"/>
              <a:t> </a:t>
            </a:r>
            <a:r>
              <a:rPr lang="en-US" sz="3200" dirty="0" smtClean="0"/>
              <a:t>Metaphor- Figurative language</a:t>
            </a:r>
          </a:p>
          <a:p>
            <a:pPr marL="566738" indent="0">
              <a:buFont typeface="+mj-lt"/>
              <a:buAutoNum type="alphaUcPeriod"/>
            </a:pPr>
            <a:endParaRPr lang="en-US" sz="3200" dirty="0" smtClean="0"/>
          </a:p>
          <a:p>
            <a:pPr marL="566738" indent="0">
              <a:buFont typeface="+mj-lt"/>
              <a:buAutoNum type="alphaUcPeriod"/>
            </a:pPr>
            <a:r>
              <a:rPr lang="en-US" sz="3200" dirty="0"/>
              <a:t> </a:t>
            </a:r>
            <a:r>
              <a:rPr lang="en-US" sz="3200" dirty="0" smtClean="0"/>
              <a:t>Apostrophe- Addressing a thing, an abstraction or a person not present</a:t>
            </a:r>
            <a:endParaRPr lang="en-US" sz="3200" dirty="0"/>
          </a:p>
        </p:txBody>
      </p:sp>
    </p:spTree>
  </p:cSld>
  <p:clrMapOvr>
    <a:masterClrMapping/>
  </p:clrMapOvr>
  <p:transition>
    <p:push/>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74509"/>
            <a:ext cx="8229600" cy="4940491"/>
          </a:xfrm>
        </p:spPr>
        <p:txBody>
          <a:bodyPr>
            <a:noAutofit/>
          </a:bodyPr>
          <a:lstStyle/>
          <a:p>
            <a:pPr marL="623888" lvl="0" indent="-623888">
              <a:buNone/>
            </a:pPr>
            <a:r>
              <a:rPr lang="en-US" sz="2800" dirty="0" smtClean="0"/>
              <a:t>13. </a:t>
            </a:r>
            <a:r>
              <a:rPr lang="en-US" sz="2800" dirty="0"/>
              <a:t>What is “true learning” as exemplified in this quotation: “Only one who burst with eagerness do I instruct. Only one who bubbles with excitement do I enlighten</a:t>
            </a:r>
            <a:r>
              <a:rPr lang="en-US" sz="2800" dirty="0" smtClean="0"/>
              <a:t>.”</a:t>
            </a:r>
          </a:p>
          <a:p>
            <a:pPr marL="623888" lvl="0" indent="-623888">
              <a:buNone/>
            </a:pPr>
            <a:endParaRPr lang="en-US" sz="2800" dirty="0" smtClean="0"/>
          </a:p>
          <a:p>
            <a:pPr marL="1146175" lvl="1" indent="-463550">
              <a:buFont typeface="+mj-lt"/>
              <a:buAutoNum type="alphaUcPeriod"/>
            </a:pPr>
            <a:r>
              <a:rPr lang="en-US" sz="2800" dirty="0"/>
              <a:t>learning makes human being a follower of instruction</a:t>
            </a:r>
          </a:p>
          <a:p>
            <a:pPr marL="1146175" lvl="1" indent="-463550">
              <a:buFont typeface="+mj-lt"/>
              <a:buAutoNum type="alphaUcPeriod"/>
            </a:pPr>
            <a:r>
              <a:rPr lang="en-US" sz="2800" dirty="0"/>
              <a:t>learning involves patience and tenacity </a:t>
            </a:r>
          </a:p>
          <a:p>
            <a:pPr marL="1146175" lvl="1" indent="-463550">
              <a:buFont typeface="+mj-lt"/>
              <a:buAutoNum type="alphaUcPeriod"/>
            </a:pPr>
            <a:r>
              <a:rPr lang="en-US" sz="2800" dirty="0"/>
              <a:t>learning has the ability to make a man</a:t>
            </a:r>
          </a:p>
          <a:p>
            <a:pPr marL="1146175" lvl="1" indent="-463550">
              <a:buFont typeface="+mj-lt"/>
              <a:buAutoNum type="alphaUcPeriod"/>
            </a:pPr>
            <a:r>
              <a:rPr lang="en-US" sz="2800" dirty="0"/>
              <a:t>learning is coupled with commitment and passion</a:t>
            </a:r>
          </a:p>
          <a:p>
            <a:pPr marL="623888" lvl="0" indent="0">
              <a:buNone/>
            </a:pPr>
            <a:endParaRPr lang="en-US" sz="2800" dirty="0"/>
          </a:p>
          <a:p>
            <a:pPr>
              <a:buNone/>
            </a:pPr>
            <a:endParaRPr lang="en-US" sz="2800" dirty="0"/>
          </a:p>
        </p:txBody>
      </p:sp>
      <p:pic>
        <p:nvPicPr>
          <p:cNvPr id="4" name="Picture 4" descr="C:\Documents and Settings\Administrator\Desktop\hand_right.gif"/>
          <p:cNvPicPr>
            <a:picLocks noChangeAspect="1" noChangeArrowheads="1" noCrop="1"/>
          </p:cNvPicPr>
          <p:nvPr/>
        </p:nvPicPr>
        <p:blipFill>
          <a:blip r:embed="rId3">
            <a:extLst>
              <a:ext uri="{28A0092B-C50C-407E-A947-70E740481C1C}">
                <a14:useLocalDpi xmlns="" xmlns:a14="http://schemas.microsoft.com/office/drawing/2010/main" val="0"/>
              </a:ext>
            </a:extLst>
          </a:blip>
          <a:srcRect/>
          <a:stretch>
            <a:fillRect/>
          </a:stretch>
        </p:blipFill>
        <p:spPr bwMode="auto">
          <a:xfrm rot="21434720">
            <a:off x="542985" y="49713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0" y="1524000"/>
            <a:ext cx="8229600" cy="4525963"/>
          </a:xfrm>
        </p:spPr>
        <p:txBody>
          <a:bodyPr>
            <a:normAutofit/>
          </a:bodyPr>
          <a:lstStyle/>
          <a:p>
            <a:pPr>
              <a:buNone/>
            </a:pPr>
            <a:r>
              <a:rPr lang="en-US" sz="3200" dirty="0" smtClean="0"/>
              <a:t>14. ________ not making the most of______ opportunities. </a:t>
            </a:r>
          </a:p>
          <a:p>
            <a:pPr>
              <a:buNone/>
            </a:pPr>
            <a:endParaRPr lang="en-US" sz="3200" dirty="0" smtClean="0"/>
          </a:p>
          <a:p>
            <a:pPr marL="624078" indent="-514350">
              <a:buFont typeface="+mj-lt"/>
              <a:buAutoNum type="alphaUcPeriod"/>
            </a:pPr>
            <a:r>
              <a:rPr lang="en-US" sz="3200" dirty="0" smtClean="0"/>
              <a:t> You’re – you’re</a:t>
            </a:r>
          </a:p>
          <a:p>
            <a:pPr marL="624078" indent="-514350">
              <a:buFont typeface="+mj-lt"/>
              <a:buAutoNum type="alphaUcPeriod"/>
            </a:pPr>
            <a:r>
              <a:rPr lang="en-US" sz="3200" dirty="0" smtClean="0"/>
              <a:t> You’re – you</a:t>
            </a:r>
          </a:p>
          <a:p>
            <a:pPr marL="624078" indent="-514350">
              <a:buFont typeface="+mj-lt"/>
              <a:buAutoNum type="alphaUcPeriod"/>
            </a:pPr>
            <a:r>
              <a:rPr lang="en-US" sz="3200" dirty="0" smtClean="0"/>
              <a:t> You’re – your</a:t>
            </a:r>
          </a:p>
          <a:p>
            <a:pPr marL="624078" indent="-514350">
              <a:buFont typeface="+mj-lt"/>
              <a:buAutoNum type="alphaUcPeriod"/>
            </a:pPr>
            <a:r>
              <a:rPr lang="en-US" sz="3200" dirty="0" smtClean="0"/>
              <a:t> You- your</a:t>
            </a:r>
          </a:p>
          <a:p>
            <a:pPr marL="624078" indent="-514350">
              <a:buFont typeface="+mj-lt"/>
              <a:buAutoNum type="alphaUcPeriod"/>
            </a:pPr>
            <a:endParaRPr lang="en-US" sz="3200" dirty="0" smtClean="0"/>
          </a:p>
          <a:p>
            <a:pPr>
              <a:buNone/>
            </a:pPr>
            <a:endParaRPr lang="en-US" sz="32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238184" y="4440912"/>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623888" indent="-623888">
              <a:buNone/>
            </a:pPr>
            <a:r>
              <a:rPr lang="en-US" sz="3200" dirty="0" smtClean="0"/>
              <a:t>15. </a:t>
            </a:r>
            <a:r>
              <a:rPr lang="en-US" sz="3200" dirty="0"/>
              <a:t>This will be just between you and </a:t>
            </a:r>
            <a:r>
              <a:rPr lang="en-US" sz="3200" dirty="0" smtClean="0"/>
              <a:t> _________.</a:t>
            </a:r>
          </a:p>
          <a:p>
            <a:pPr marL="623888" indent="-623888">
              <a:buNone/>
            </a:pPr>
            <a:endParaRPr lang="en-US" sz="3200" dirty="0" smtClean="0"/>
          </a:p>
          <a:p>
            <a:pPr marL="566738" indent="57150">
              <a:buFont typeface="+mj-lt"/>
              <a:buAutoNum type="alphaUcPeriod"/>
            </a:pPr>
            <a:r>
              <a:rPr lang="en-US" sz="3200" dirty="0" smtClean="0"/>
              <a:t> Myself</a:t>
            </a:r>
          </a:p>
          <a:p>
            <a:pPr marL="566738" indent="57150">
              <a:buFont typeface="+mj-lt"/>
              <a:buAutoNum type="alphaUcPeriod"/>
            </a:pPr>
            <a:r>
              <a:rPr lang="en-US" sz="3200" dirty="0"/>
              <a:t> </a:t>
            </a:r>
            <a:r>
              <a:rPr lang="en-US" sz="3200" dirty="0" smtClean="0"/>
              <a:t>I</a:t>
            </a:r>
          </a:p>
          <a:p>
            <a:pPr marL="566738" indent="57150">
              <a:buFont typeface="+mj-lt"/>
              <a:buAutoNum type="alphaUcPeriod"/>
            </a:pPr>
            <a:r>
              <a:rPr lang="en-US" sz="3200" dirty="0"/>
              <a:t> </a:t>
            </a:r>
            <a:r>
              <a:rPr lang="en-US" sz="3200" dirty="0" smtClean="0"/>
              <a:t>Me</a:t>
            </a:r>
          </a:p>
          <a:p>
            <a:pPr marL="566738" indent="57150">
              <a:buFont typeface="+mj-lt"/>
              <a:buAutoNum type="alphaUcPeriod"/>
            </a:pPr>
            <a:r>
              <a:rPr lang="en-US" sz="3200" dirty="0"/>
              <a:t> </a:t>
            </a:r>
            <a:r>
              <a:rPr lang="en-US" sz="3200" dirty="0" smtClean="0"/>
              <a:t>Mine</a:t>
            </a:r>
            <a:endParaRPr lang="en-US" sz="32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390585" y="43617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14400"/>
            <a:ext cx="8229600" cy="4525963"/>
          </a:xfrm>
        </p:spPr>
        <p:txBody>
          <a:bodyPr>
            <a:normAutofit/>
          </a:bodyPr>
          <a:lstStyle/>
          <a:p>
            <a:pPr marL="623888" indent="-623888">
              <a:buNone/>
            </a:pPr>
            <a:r>
              <a:rPr lang="en-US" sz="3200" dirty="0" smtClean="0"/>
              <a:t>16. </a:t>
            </a:r>
            <a:r>
              <a:rPr lang="en-US" sz="3200" dirty="0"/>
              <a:t>Either the physicians in this hospital or the chief administrator ______ going to have to make decision</a:t>
            </a:r>
            <a:r>
              <a:rPr lang="en-US" sz="3200" dirty="0" smtClean="0"/>
              <a:t>.</a:t>
            </a:r>
          </a:p>
          <a:p>
            <a:pPr marL="623888" indent="-623888">
              <a:buNone/>
            </a:pPr>
            <a:endParaRPr lang="en-US" sz="3200" dirty="0" smtClean="0"/>
          </a:p>
          <a:p>
            <a:pPr marL="623888" indent="0">
              <a:buFont typeface="+mj-lt"/>
              <a:buAutoNum type="alphaUcPeriod"/>
            </a:pPr>
            <a:r>
              <a:rPr lang="en-US" sz="3200" dirty="0" smtClean="0"/>
              <a:t> is</a:t>
            </a:r>
          </a:p>
          <a:p>
            <a:pPr marL="623888" indent="0">
              <a:buFont typeface="+mj-lt"/>
              <a:buAutoNum type="alphaUcPeriod"/>
            </a:pPr>
            <a:r>
              <a:rPr lang="en-US" sz="3200" dirty="0"/>
              <a:t> </a:t>
            </a:r>
            <a:r>
              <a:rPr lang="en-US" sz="3200" dirty="0" smtClean="0"/>
              <a:t>are</a:t>
            </a:r>
          </a:p>
          <a:p>
            <a:pPr marL="623888" indent="0">
              <a:buFont typeface="+mj-lt"/>
              <a:buAutoNum type="alphaUcPeriod"/>
            </a:pPr>
            <a:r>
              <a:rPr lang="en-US" sz="3200" dirty="0"/>
              <a:t> </a:t>
            </a:r>
            <a:r>
              <a:rPr lang="en-US" sz="3200" dirty="0" smtClean="0"/>
              <a:t>was</a:t>
            </a:r>
          </a:p>
          <a:p>
            <a:pPr marL="623888" indent="0">
              <a:buFont typeface="+mj-lt"/>
              <a:buAutoNum type="alphaUcPeriod"/>
            </a:pPr>
            <a:r>
              <a:rPr lang="en-US" sz="3200" dirty="0"/>
              <a:t> </a:t>
            </a:r>
            <a:r>
              <a:rPr lang="en-US" sz="3200" dirty="0" smtClean="0"/>
              <a:t>were</a:t>
            </a:r>
            <a:endParaRPr lang="en-US" sz="3200" dirty="0"/>
          </a:p>
        </p:txBody>
      </p:sp>
      <p:pic>
        <p:nvPicPr>
          <p:cNvPr id="4" name="Picture 4" descr="C:\Documents and Settings\Administrator\Desktop\hand_right.gif"/>
          <p:cNvPicPr>
            <a:picLocks noChangeAspect="1" noChangeArrowheads="1" noCrop="1"/>
          </p:cNvPicPr>
          <p:nvPr/>
        </p:nvPicPr>
        <p:blipFill>
          <a:blip r:embed="rId3">
            <a:extLst>
              <a:ext uri="{28A0092B-C50C-407E-A947-70E740481C1C}">
                <a14:useLocalDpi xmlns="" xmlns:a14="http://schemas.microsoft.com/office/drawing/2010/main" val="0"/>
              </a:ext>
            </a:extLst>
          </a:blip>
          <a:srcRect/>
          <a:stretch>
            <a:fillRect/>
          </a:stretch>
        </p:blipFill>
        <p:spPr bwMode="auto">
          <a:xfrm rot="21434720">
            <a:off x="542986" y="3188932"/>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371600"/>
            <a:ext cx="8229600" cy="4525963"/>
          </a:xfrm>
        </p:spPr>
        <p:txBody>
          <a:bodyPr>
            <a:normAutofit/>
          </a:bodyPr>
          <a:lstStyle/>
          <a:p>
            <a:pPr marL="566738" indent="-566738">
              <a:buNone/>
            </a:pPr>
            <a:r>
              <a:rPr lang="en-US" sz="3200" dirty="0" smtClean="0"/>
              <a:t>17. </a:t>
            </a:r>
            <a:r>
              <a:rPr lang="en-US" sz="3200" dirty="0"/>
              <a:t>_______ my boss or my sisters in the union going to win this grievance?</a:t>
            </a:r>
            <a:r>
              <a:rPr lang="en-US" sz="3200" dirty="0" smtClean="0"/>
              <a:t> </a:t>
            </a:r>
          </a:p>
          <a:p>
            <a:pPr marL="566738" indent="-566738">
              <a:buNone/>
            </a:pPr>
            <a:endParaRPr lang="en-US" sz="3200" dirty="0" smtClean="0"/>
          </a:p>
          <a:p>
            <a:pPr marL="566738" indent="0">
              <a:buFont typeface="+mj-lt"/>
              <a:buAutoNum type="alphaUcPeriod"/>
            </a:pPr>
            <a:r>
              <a:rPr lang="en-US" sz="3200" dirty="0"/>
              <a:t>	</a:t>
            </a:r>
            <a:r>
              <a:rPr lang="en-US" sz="3200" dirty="0" smtClean="0"/>
              <a:t>Is </a:t>
            </a:r>
          </a:p>
          <a:p>
            <a:pPr marL="566738" indent="0">
              <a:buFont typeface="+mj-lt"/>
              <a:buAutoNum type="alphaUcPeriod"/>
            </a:pPr>
            <a:r>
              <a:rPr lang="en-US" sz="3200" dirty="0"/>
              <a:t> A</a:t>
            </a:r>
            <a:r>
              <a:rPr lang="en-US" sz="3200" dirty="0" smtClean="0"/>
              <a:t>re</a:t>
            </a:r>
          </a:p>
          <a:p>
            <a:pPr marL="566738" indent="0">
              <a:buFont typeface="+mj-lt"/>
              <a:buAutoNum type="alphaUcPeriod"/>
            </a:pPr>
            <a:r>
              <a:rPr lang="en-US" sz="3200" dirty="0"/>
              <a:t> W</a:t>
            </a:r>
            <a:r>
              <a:rPr lang="en-US" sz="3200" dirty="0" smtClean="0"/>
              <a:t>as </a:t>
            </a:r>
          </a:p>
          <a:p>
            <a:pPr marL="566738" indent="0">
              <a:buFont typeface="+mj-lt"/>
              <a:buAutoNum type="alphaUcPeriod"/>
            </a:pPr>
            <a:r>
              <a:rPr lang="en-US" sz="3200" dirty="0"/>
              <a:t> W</a:t>
            </a:r>
            <a:r>
              <a:rPr lang="en-US" sz="3200" dirty="0" smtClean="0"/>
              <a:t>ere</a:t>
            </a:r>
            <a:endParaRPr lang="en-US" sz="3200" dirty="0"/>
          </a:p>
        </p:txBody>
      </p:sp>
      <p:pic>
        <p:nvPicPr>
          <p:cNvPr id="4" name="Picture 4" descr="C:\Documents and Settings\Administrator\Desktop\hand_right.gif"/>
          <p:cNvPicPr>
            <a:picLocks noChangeAspect="1" noChangeArrowheads="1" noCrop="1"/>
          </p:cNvPicPr>
          <p:nvPr/>
        </p:nvPicPr>
        <p:blipFill>
          <a:blip r:embed="rId3">
            <a:extLst>
              <a:ext uri="{28A0092B-C50C-407E-A947-70E740481C1C}">
                <a14:useLocalDpi xmlns="" xmlns:a14="http://schemas.microsoft.com/office/drawing/2010/main" val="0"/>
              </a:ext>
            </a:extLst>
          </a:blip>
          <a:srcRect/>
          <a:stretch>
            <a:fillRect/>
          </a:stretch>
        </p:blipFill>
        <p:spPr bwMode="auto">
          <a:xfrm rot="21434720">
            <a:off x="542985" y="3142574"/>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990600"/>
            <a:ext cx="8229600" cy="4525963"/>
          </a:xfrm>
        </p:spPr>
        <p:txBody>
          <a:bodyPr>
            <a:normAutofit/>
          </a:bodyPr>
          <a:lstStyle/>
          <a:p>
            <a:pPr marL="623888" indent="-623888">
              <a:buNone/>
            </a:pPr>
            <a:r>
              <a:rPr lang="en-US" sz="3200" dirty="0" smtClean="0"/>
              <a:t>18. </a:t>
            </a:r>
            <a:r>
              <a:rPr lang="en-US" sz="3200" dirty="0"/>
              <a:t>The tornadoes that tear through this country every spring _______ more than just a nuisance</a:t>
            </a:r>
            <a:r>
              <a:rPr lang="en-US" sz="3200" dirty="0" smtClean="0"/>
              <a:t>.</a:t>
            </a:r>
          </a:p>
          <a:p>
            <a:pPr marL="623888" indent="-623888">
              <a:buNone/>
            </a:pPr>
            <a:endParaRPr lang="en-US" sz="3200" dirty="0" smtClean="0"/>
          </a:p>
          <a:p>
            <a:pPr marL="566738" indent="0">
              <a:buFont typeface="+mj-lt"/>
              <a:buAutoNum type="alphaUcPeriod"/>
            </a:pPr>
            <a:r>
              <a:rPr lang="en-US" sz="3200" dirty="0" smtClean="0"/>
              <a:t> are</a:t>
            </a:r>
          </a:p>
          <a:p>
            <a:pPr marL="566738" indent="0">
              <a:buFont typeface="+mj-lt"/>
              <a:buAutoNum type="alphaUcPeriod"/>
            </a:pPr>
            <a:r>
              <a:rPr lang="en-US" sz="3200" dirty="0"/>
              <a:t> </a:t>
            </a:r>
            <a:r>
              <a:rPr lang="en-US" sz="3200" dirty="0" smtClean="0"/>
              <a:t>is</a:t>
            </a:r>
          </a:p>
          <a:p>
            <a:pPr marL="566738" indent="0">
              <a:buFont typeface="+mj-lt"/>
              <a:buAutoNum type="alphaUcPeriod"/>
            </a:pPr>
            <a:r>
              <a:rPr lang="en-US" sz="3200" dirty="0"/>
              <a:t> </a:t>
            </a:r>
            <a:r>
              <a:rPr lang="en-US" sz="3200" dirty="0" smtClean="0"/>
              <a:t>was</a:t>
            </a:r>
          </a:p>
          <a:p>
            <a:pPr marL="566738" indent="0">
              <a:buFont typeface="+mj-lt"/>
              <a:buAutoNum type="alphaUcPeriod"/>
            </a:pPr>
            <a:r>
              <a:rPr lang="en-US" sz="3200" dirty="0"/>
              <a:t> </a:t>
            </a:r>
            <a:r>
              <a:rPr lang="en-US" sz="3200" dirty="0" smtClean="0"/>
              <a:t>were</a:t>
            </a:r>
            <a:endParaRPr lang="en-US" sz="32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542984" y="3294974"/>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600"/>
            <a:ext cx="8229600" cy="4525963"/>
          </a:xfrm>
        </p:spPr>
        <p:txBody>
          <a:bodyPr>
            <a:normAutofit/>
          </a:bodyPr>
          <a:lstStyle/>
          <a:p>
            <a:pPr marL="623888" indent="-623888">
              <a:buNone/>
            </a:pPr>
            <a:r>
              <a:rPr lang="en-US" sz="3200" dirty="0" smtClean="0"/>
              <a:t>19. </a:t>
            </a:r>
            <a:r>
              <a:rPr lang="en-US" sz="3200" dirty="0"/>
              <a:t>Kara </a:t>
            </a:r>
            <a:r>
              <a:rPr lang="en-US" sz="3200" dirty="0" err="1"/>
              <a:t>Wolters</a:t>
            </a:r>
            <a:r>
              <a:rPr lang="en-US" sz="3200" dirty="0"/>
              <a:t>, together with her teammates,______ a formidable opponent on the basketball court</a:t>
            </a:r>
            <a:r>
              <a:rPr lang="en-US" sz="3200" dirty="0" smtClean="0"/>
              <a:t>.</a:t>
            </a:r>
          </a:p>
          <a:p>
            <a:pPr marL="623888" indent="-623888">
              <a:buNone/>
            </a:pPr>
            <a:endParaRPr lang="en-US" sz="3200" dirty="0" smtClean="0"/>
          </a:p>
          <a:p>
            <a:pPr marL="623888" indent="0">
              <a:buFont typeface="+mj-lt"/>
              <a:buAutoNum type="alphaUcPeriod"/>
            </a:pPr>
            <a:r>
              <a:rPr lang="en-US" sz="3200" dirty="0" smtClean="0"/>
              <a:t> </a:t>
            </a:r>
            <a:r>
              <a:rPr lang="en-US" sz="3200" dirty="0"/>
              <a:t>Presents </a:t>
            </a:r>
            <a:endParaRPr lang="en-US" sz="3200" dirty="0" smtClean="0"/>
          </a:p>
          <a:p>
            <a:pPr marL="623888" indent="0">
              <a:buFont typeface="+mj-lt"/>
              <a:buAutoNum type="alphaUcPeriod"/>
            </a:pPr>
            <a:r>
              <a:rPr lang="en-US" sz="3200" dirty="0"/>
              <a:t> </a:t>
            </a:r>
            <a:r>
              <a:rPr lang="en-US" sz="3200" dirty="0" smtClean="0"/>
              <a:t>Present</a:t>
            </a:r>
          </a:p>
          <a:p>
            <a:pPr marL="623888" indent="0">
              <a:buFont typeface="+mj-lt"/>
              <a:buAutoNum type="alphaUcPeriod"/>
            </a:pPr>
            <a:r>
              <a:rPr lang="en-US" sz="3200" dirty="0"/>
              <a:t> </a:t>
            </a:r>
            <a:r>
              <a:rPr lang="en-US" sz="3200" dirty="0" smtClean="0"/>
              <a:t>Plays</a:t>
            </a:r>
          </a:p>
          <a:p>
            <a:pPr marL="623888" indent="0">
              <a:buFont typeface="+mj-lt"/>
              <a:buAutoNum type="alphaUcPeriod"/>
            </a:pPr>
            <a:r>
              <a:rPr lang="en-US" sz="3200" dirty="0"/>
              <a:t> </a:t>
            </a:r>
            <a:r>
              <a:rPr lang="en-US" sz="3200" dirty="0" smtClean="0"/>
              <a:t>Play</a:t>
            </a:r>
            <a:endParaRPr lang="en-US" sz="3200" dirty="0"/>
          </a:p>
        </p:txBody>
      </p:sp>
      <p:pic>
        <p:nvPicPr>
          <p:cNvPr id="4" name="Picture 4" descr="C:\Documents and Settings\Administrator\Desktop\hand_right.gif"/>
          <p:cNvPicPr>
            <a:picLocks noChangeAspect="1" noChangeArrowheads="1" noCrop="1"/>
          </p:cNvPicPr>
          <p:nvPr/>
        </p:nvPicPr>
        <p:blipFill>
          <a:blip r:embed="rId3">
            <a:extLst>
              <a:ext uri="{28A0092B-C50C-407E-A947-70E740481C1C}">
                <a14:useLocalDpi xmlns="" xmlns:a14="http://schemas.microsoft.com/office/drawing/2010/main" val="0"/>
              </a:ext>
            </a:extLst>
          </a:blip>
          <a:srcRect/>
          <a:stretch>
            <a:fillRect/>
          </a:stretch>
        </p:blipFill>
        <p:spPr bwMode="auto">
          <a:xfrm rot="21434720">
            <a:off x="390584" y="3218774"/>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600"/>
            <a:ext cx="8229600" cy="4525963"/>
          </a:xfrm>
        </p:spPr>
        <p:txBody>
          <a:bodyPr>
            <a:normAutofit/>
          </a:bodyPr>
          <a:lstStyle/>
          <a:p>
            <a:pPr marL="566738" indent="-566738">
              <a:buNone/>
            </a:pPr>
            <a:r>
              <a:rPr lang="en-US" sz="3200" dirty="0" smtClean="0"/>
              <a:t>20. </a:t>
            </a:r>
            <a:r>
              <a:rPr lang="en-US" sz="3200" dirty="0"/>
              <a:t>The reporter was accused in court because of his news story. The story was </a:t>
            </a:r>
            <a:r>
              <a:rPr lang="en-US" sz="3200" dirty="0" smtClean="0"/>
              <a:t>____.</a:t>
            </a:r>
          </a:p>
          <a:p>
            <a:pPr marL="566738" indent="-566738">
              <a:buNone/>
            </a:pPr>
            <a:endParaRPr lang="en-US" sz="3200" dirty="0" smtClean="0"/>
          </a:p>
          <a:p>
            <a:pPr marL="566738" indent="0">
              <a:buFont typeface="+mj-lt"/>
              <a:buAutoNum type="alphaUcPeriod"/>
            </a:pPr>
            <a:r>
              <a:rPr lang="en-US" sz="3200" dirty="0"/>
              <a:t>	</a:t>
            </a:r>
            <a:r>
              <a:rPr lang="en-US" sz="3200" dirty="0" smtClean="0"/>
              <a:t> </a:t>
            </a:r>
            <a:r>
              <a:rPr lang="en-US" sz="3200" dirty="0"/>
              <a:t>tainted with </a:t>
            </a:r>
            <a:r>
              <a:rPr lang="en-US" sz="3200" dirty="0" smtClean="0"/>
              <a:t>malice</a:t>
            </a:r>
          </a:p>
          <a:p>
            <a:pPr marL="566738" indent="0">
              <a:buFont typeface="+mj-lt"/>
              <a:buAutoNum type="alphaUcPeriod"/>
            </a:pPr>
            <a:r>
              <a:rPr lang="en-US" sz="3200" dirty="0"/>
              <a:t> a narration of </a:t>
            </a:r>
            <a:r>
              <a:rPr lang="en-US" sz="3200" dirty="0" smtClean="0"/>
              <a:t>facts</a:t>
            </a:r>
          </a:p>
          <a:p>
            <a:pPr marL="566738" indent="0">
              <a:buFont typeface="+mj-lt"/>
              <a:buAutoNum type="alphaUcPeriod"/>
            </a:pPr>
            <a:r>
              <a:rPr lang="en-US" sz="3200" dirty="0"/>
              <a:t> too personal to </a:t>
            </a:r>
            <a:r>
              <a:rPr lang="en-US" sz="3200" dirty="0" smtClean="0"/>
              <a:t>take</a:t>
            </a:r>
          </a:p>
          <a:p>
            <a:pPr marL="566738" indent="0">
              <a:buFont typeface="+mj-lt"/>
              <a:buAutoNum type="alphaUcPeriod"/>
            </a:pPr>
            <a:r>
              <a:rPr lang="en-US" sz="3200" dirty="0"/>
              <a:t> full of distorted facts</a:t>
            </a:r>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390584" y="32187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838200"/>
            <a:ext cx="8229600" cy="4525963"/>
          </a:xfrm>
        </p:spPr>
        <p:txBody>
          <a:bodyPr>
            <a:noAutofit/>
          </a:bodyPr>
          <a:lstStyle/>
          <a:p>
            <a:pPr marL="623888" indent="-623888">
              <a:buNone/>
            </a:pPr>
            <a:r>
              <a:rPr lang="en-US" sz="3200" dirty="0" smtClean="0"/>
              <a:t>21. </a:t>
            </a:r>
            <a:r>
              <a:rPr lang="en-US" sz="3200" dirty="0"/>
              <a:t>“How much money did you bring for shopping?” Which of the following answer this question</a:t>
            </a:r>
            <a:r>
              <a:rPr lang="en-US" sz="3200" dirty="0" smtClean="0"/>
              <a:t>?</a:t>
            </a:r>
          </a:p>
          <a:p>
            <a:pPr marL="623888" indent="-623888">
              <a:buNone/>
            </a:pPr>
            <a:endParaRPr lang="en-US" sz="3200" dirty="0" smtClean="0"/>
          </a:p>
          <a:p>
            <a:pPr marL="914400" lvl="0" indent="-290513">
              <a:buFont typeface="+mj-lt"/>
              <a:buAutoNum type="alphaUcPeriod"/>
            </a:pPr>
            <a:r>
              <a:rPr lang="en-US" sz="3200" dirty="0" smtClean="0"/>
              <a:t>I </a:t>
            </a:r>
            <a:r>
              <a:rPr lang="en-US" sz="3200" dirty="0"/>
              <a:t>have some change in my purse</a:t>
            </a:r>
          </a:p>
          <a:p>
            <a:pPr marL="914400" lvl="0" indent="-290513">
              <a:buFont typeface="+mj-lt"/>
              <a:buAutoNum type="alphaUcPeriod"/>
            </a:pPr>
            <a:r>
              <a:rPr lang="en-US" sz="3200" dirty="0" smtClean="0"/>
              <a:t>None</a:t>
            </a:r>
            <a:r>
              <a:rPr lang="en-US" sz="3200" dirty="0"/>
              <a:t>, but I have a credit card</a:t>
            </a:r>
          </a:p>
          <a:p>
            <a:pPr marL="914400" lvl="0" indent="-290513">
              <a:buFont typeface="+mj-lt"/>
              <a:buAutoNum type="alphaUcPeriod"/>
            </a:pPr>
            <a:r>
              <a:rPr lang="en-US" sz="3200" dirty="0"/>
              <a:t>I have P500.00 inside the envelope in my desk</a:t>
            </a:r>
          </a:p>
          <a:p>
            <a:pPr marL="914400" lvl="0" indent="-290513">
              <a:buFont typeface="+mj-lt"/>
              <a:buAutoNum type="alphaUcPeriod"/>
            </a:pPr>
            <a:r>
              <a:rPr lang="en-US" sz="3200" dirty="0"/>
              <a:t>All the cash I have was spent at the grocery store yesterday</a:t>
            </a:r>
          </a:p>
          <a:p>
            <a:pPr marL="623888" indent="-623888">
              <a:buNone/>
            </a:pPr>
            <a:endParaRPr lang="en-US" sz="32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466785" y="35997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600200"/>
            <a:ext cx="8382000" cy="4525963"/>
          </a:xfrm>
        </p:spPr>
        <p:txBody>
          <a:bodyPr>
            <a:normAutofit/>
          </a:bodyPr>
          <a:lstStyle/>
          <a:p>
            <a:pPr marL="566738" indent="-566738">
              <a:buNone/>
            </a:pPr>
            <a:r>
              <a:rPr lang="en-US" sz="3200" dirty="0" smtClean="0"/>
              <a:t>22. </a:t>
            </a:r>
            <a:r>
              <a:rPr lang="en-US" sz="3200" dirty="0"/>
              <a:t>Your father is paying for your plane </a:t>
            </a:r>
            <a:r>
              <a:rPr lang="en-US" sz="3200" dirty="0" smtClean="0"/>
              <a:t>ticket, ________?</a:t>
            </a:r>
          </a:p>
          <a:p>
            <a:pPr marL="566738" indent="-566738">
              <a:buNone/>
            </a:pPr>
            <a:endParaRPr lang="en-US" sz="3200" dirty="0" smtClean="0"/>
          </a:p>
          <a:p>
            <a:pPr marL="566738" indent="0">
              <a:buFont typeface="+mj-lt"/>
              <a:buAutoNum type="alphaUcPeriod"/>
            </a:pPr>
            <a:r>
              <a:rPr lang="en-US" sz="3200" dirty="0" smtClean="0"/>
              <a:t> isn't it</a:t>
            </a:r>
          </a:p>
          <a:p>
            <a:pPr marL="566738" indent="0">
              <a:buFont typeface="+mj-lt"/>
              <a:buAutoNum type="alphaUcPeriod"/>
            </a:pPr>
            <a:r>
              <a:rPr lang="en-US" sz="3200" dirty="0"/>
              <a:t> </a:t>
            </a:r>
            <a:r>
              <a:rPr lang="en-US" sz="3200" dirty="0" smtClean="0"/>
              <a:t>is he</a:t>
            </a:r>
          </a:p>
          <a:p>
            <a:pPr marL="566738" indent="0">
              <a:buFont typeface="+mj-lt"/>
              <a:buAutoNum type="alphaUcPeriod"/>
            </a:pPr>
            <a:r>
              <a:rPr lang="en-US" sz="3200" dirty="0"/>
              <a:t> </a:t>
            </a:r>
            <a:r>
              <a:rPr lang="en-US" sz="3200" dirty="0" smtClean="0"/>
              <a:t>isn't he</a:t>
            </a:r>
          </a:p>
          <a:p>
            <a:pPr marL="566738" indent="0">
              <a:buFont typeface="+mj-lt"/>
              <a:buAutoNum type="alphaUcPeriod"/>
            </a:pPr>
            <a:r>
              <a:rPr lang="en-US" sz="3200" dirty="0"/>
              <a:t> aren't you</a:t>
            </a:r>
          </a:p>
          <a:p>
            <a:pPr>
              <a:buNone/>
            </a:pPr>
            <a:endParaRPr lang="en-US" sz="3200" dirty="0"/>
          </a:p>
        </p:txBody>
      </p:sp>
      <p:pic>
        <p:nvPicPr>
          <p:cNvPr id="4" name="Picture 4" descr="C:\Documents and Settings\Administrator\Desktop\hand_right.gif"/>
          <p:cNvPicPr>
            <a:picLocks noChangeAspect="1" noChangeArrowheads="1" noCrop="1"/>
          </p:cNvPicPr>
          <p:nvPr/>
        </p:nvPicPr>
        <p:blipFill>
          <a:blip r:embed="rId3">
            <a:extLst>
              <a:ext uri="{28A0092B-C50C-407E-A947-70E740481C1C}">
                <a14:useLocalDpi xmlns="" xmlns:a14="http://schemas.microsoft.com/office/drawing/2010/main" val="0"/>
              </a:ext>
            </a:extLst>
          </a:blip>
          <a:srcRect/>
          <a:stretch>
            <a:fillRect/>
          </a:stretch>
        </p:blipFill>
        <p:spPr bwMode="auto">
          <a:xfrm rot="21434720">
            <a:off x="466785" y="44379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8229600" cy="4525963"/>
          </a:xfrm>
        </p:spPr>
        <p:txBody>
          <a:bodyPr>
            <a:noAutofit/>
          </a:bodyPr>
          <a:lstStyle/>
          <a:p>
            <a:pPr marL="623888" indent="-623888">
              <a:buNone/>
            </a:pPr>
            <a:r>
              <a:rPr lang="en-US" sz="3200" dirty="0" smtClean="0"/>
              <a:t>23. </a:t>
            </a:r>
            <a:r>
              <a:rPr lang="en-US" sz="3200" dirty="0"/>
              <a:t>A fire alarm was rung. How may classes exit properly? What is heard from the principal</a:t>
            </a:r>
            <a:r>
              <a:rPr lang="en-US" sz="3200" dirty="0" smtClean="0"/>
              <a:t>?</a:t>
            </a:r>
          </a:p>
          <a:p>
            <a:pPr marL="914400" lvl="0" indent="-347663">
              <a:buFont typeface="+mj-lt"/>
              <a:buAutoNum type="alphaUcPeriod"/>
            </a:pPr>
            <a:r>
              <a:rPr lang="en-US" sz="3200" dirty="0"/>
              <a:t>“Keep cool. Get down quietly.”</a:t>
            </a:r>
          </a:p>
          <a:p>
            <a:pPr marL="914400" lvl="0" indent="-347663">
              <a:buFont typeface="+mj-lt"/>
              <a:buAutoNum type="alphaUcPeriod"/>
            </a:pPr>
            <a:r>
              <a:rPr lang="en-US" sz="3200" dirty="0"/>
              <a:t>“Get in touch with your parents, fast”</a:t>
            </a:r>
          </a:p>
          <a:p>
            <a:pPr marL="914400" lvl="0" indent="-347663">
              <a:buFont typeface="+mj-lt"/>
              <a:buAutoNum type="alphaUcPeriod"/>
            </a:pPr>
            <a:r>
              <a:rPr lang="en-US" sz="3200" dirty="0"/>
              <a:t>“Leave your things. March down the stair briskly.”</a:t>
            </a:r>
          </a:p>
          <a:p>
            <a:pPr marL="914400" lvl="0" indent="-347663">
              <a:buFont typeface="+mj-lt"/>
              <a:buAutoNum type="alphaUcPeriod"/>
            </a:pPr>
            <a:r>
              <a:rPr lang="en-US" sz="3200" dirty="0"/>
              <a:t>“Dismiss your classes.”</a:t>
            </a:r>
          </a:p>
          <a:p>
            <a:pPr marL="566738" indent="0">
              <a:buNone/>
            </a:pPr>
            <a:endParaRPr lang="en-US" sz="32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390585" y="40569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257800"/>
          </a:xfrm>
        </p:spPr>
        <p:txBody>
          <a:bodyPr>
            <a:noAutofit/>
          </a:bodyPr>
          <a:lstStyle/>
          <a:p>
            <a:pPr marL="739775" indent="-630238">
              <a:buNone/>
            </a:pPr>
            <a:r>
              <a:rPr lang="en-US" sz="3200" dirty="0" smtClean="0"/>
              <a:t>24. </a:t>
            </a:r>
            <a:r>
              <a:rPr lang="en-US" sz="3200" dirty="0"/>
              <a:t>Which is the BEST way to write the underlined portion of this sentence?</a:t>
            </a:r>
          </a:p>
          <a:p>
            <a:pPr>
              <a:buNone/>
            </a:pPr>
            <a:r>
              <a:rPr lang="en-US" sz="3200" dirty="0" smtClean="0"/>
              <a:t>    	</a:t>
            </a:r>
            <a:r>
              <a:rPr lang="en-US" sz="3200" i="1" dirty="0" smtClean="0"/>
              <a:t>The </a:t>
            </a:r>
            <a:r>
              <a:rPr lang="en-US" sz="3200" i="1" u="sng" dirty="0"/>
              <a:t>studies revealing</a:t>
            </a:r>
            <a:r>
              <a:rPr lang="en-US" sz="3200" i="1" dirty="0"/>
              <a:t> that, for various reasons, girls spent less time working with computers than boys</a:t>
            </a:r>
            <a:r>
              <a:rPr lang="en-US" sz="3200" i="1" dirty="0" smtClean="0"/>
              <a:t>.</a:t>
            </a:r>
          </a:p>
          <a:p>
            <a:pPr>
              <a:buNone/>
            </a:pPr>
            <a:endParaRPr lang="en-US" sz="3200" i="1" dirty="0" smtClean="0"/>
          </a:p>
          <a:p>
            <a:pPr marL="739775" indent="0">
              <a:buFont typeface="+mj-lt"/>
              <a:buAutoNum type="alphaUcPeriod"/>
            </a:pPr>
            <a:r>
              <a:rPr lang="en-US" sz="3200" dirty="0" smtClean="0"/>
              <a:t> </a:t>
            </a:r>
            <a:r>
              <a:rPr lang="en-US" sz="3200" dirty="0"/>
              <a:t>Revealing studies </a:t>
            </a:r>
            <a:endParaRPr lang="en-US" sz="3200" dirty="0" smtClean="0"/>
          </a:p>
          <a:p>
            <a:pPr marL="739775" indent="0">
              <a:buFont typeface="+mj-lt"/>
              <a:buAutoNum type="alphaUcPeriod"/>
            </a:pPr>
            <a:r>
              <a:rPr lang="en-US" sz="3200" dirty="0"/>
              <a:t> Studies revealed </a:t>
            </a:r>
            <a:endParaRPr lang="en-US" sz="3200" dirty="0" smtClean="0"/>
          </a:p>
          <a:p>
            <a:pPr marL="739775" indent="0">
              <a:buFont typeface="+mj-lt"/>
              <a:buAutoNum type="alphaUcPeriod"/>
            </a:pPr>
            <a:r>
              <a:rPr lang="en-US" sz="3200" dirty="0"/>
              <a:t> Studies </a:t>
            </a:r>
            <a:r>
              <a:rPr lang="en-US" sz="3200" dirty="0" smtClean="0"/>
              <a:t>revelations</a:t>
            </a:r>
          </a:p>
          <a:p>
            <a:pPr marL="739775" indent="0">
              <a:buFont typeface="+mj-lt"/>
              <a:buAutoNum type="alphaUcPeriod"/>
            </a:pPr>
            <a:r>
              <a:rPr lang="en-US" sz="3200" dirty="0"/>
              <a:t> Studies will </a:t>
            </a:r>
            <a:r>
              <a:rPr lang="en-US" sz="3200" dirty="0" smtClean="0"/>
              <a:t>reveal</a:t>
            </a:r>
          </a:p>
          <a:p>
            <a:pPr marL="514350" indent="52388">
              <a:buNone/>
            </a:pPr>
            <a:endParaRPr lang="en-US" sz="3200" i="1" dirty="0" smtClean="0"/>
          </a:p>
          <a:p>
            <a:pPr>
              <a:buNone/>
            </a:pPr>
            <a:r>
              <a:rPr lang="en-US" sz="3200" i="1" dirty="0"/>
              <a:t>	</a:t>
            </a:r>
          </a:p>
          <a:p>
            <a:pPr>
              <a:buNone/>
            </a:pPr>
            <a:endParaRPr lang="en-US" sz="32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619185" y="43617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481328"/>
            <a:ext cx="8382000" cy="4525963"/>
          </a:xfrm>
        </p:spPr>
        <p:txBody>
          <a:bodyPr>
            <a:normAutofit/>
          </a:bodyPr>
          <a:lstStyle/>
          <a:p>
            <a:pPr marL="623888" indent="-623888">
              <a:buNone/>
            </a:pPr>
            <a:r>
              <a:rPr lang="en-US" sz="3200" dirty="0" smtClean="0"/>
              <a:t>25. </a:t>
            </a:r>
            <a:r>
              <a:rPr lang="en-US" sz="3200" dirty="0"/>
              <a:t>People who are too _________ are liable to be deceived by unscrupulous individuals</a:t>
            </a:r>
            <a:r>
              <a:rPr lang="en-US" sz="3200" dirty="0" smtClean="0"/>
              <a:t>.</a:t>
            </a:r>
          </a:p>
          <a:p>
            <a:pPr marL="623888" indent="-623888">
              <a:buNone/>
            </a:pPr>
            <a:endParaRPr lang="en-US" sz="3200" dirty="0" smtClean="0"/>
          </a:p>
          <a:p>
            <a:pPr marL="623888" indent="0">
              <a:buFont typeface="+mj-lt"/>
              <a:buAutoNum type="alphaUcPeriod"/>
            </a:pPr>
            <a:r>
              <a:rPr lang="en-US" sz="3200" dirty="0" smtClean="0"/>
              <a:t> credulous</a:t>
            </a:r>
          </a:p>
          <a:p>
            <a:pPr marL="623888" indent="0">
              <a:buFont typeface="+mj-lt"/>
              <a:buAutoNum type="alphaUcPeriod"/>
            </a:pPr>
            <a:r>
              <a:rPr lang="en-US" sz="3200" dirty="0"/>
              <a:t> </a:t>
            </a:r>
            <a:r>
              <a:rPr lang="en-US" sz="3200" dirty="0" smtClean="0"/>
              <a:t>wary</a:t>
            </a:r>
          </a:p>
          <a:p>
            <a:pPr marL="623888" indent="0">
              <a:buFont typeface="+mj-lt"/>
              <a:buAutoNum type="alphaUcPeriod"/>
            </a:pPr>
            <a:r>
              <a:rPr lang="en-US" sz="3200" dirty="0"/>
              <a:t> </a:t>
            </a:r>
            <a:r>
              <a:rPr lang="en-US" sz="3200" dirty="0" smtClean="0"/>
              <a:t>cynical </a:t>
            </a:r>
          </a:p>
          <a:p>
            <a:pPr marL="623888" indent="0">
              <a:buFont typeface="+mj-lt"/>
              <a:buAutoNum type="alphaUcPeriod"/>
            </a:pPr>
            <a:r>
              <a:rPr lang="en-US" sz="3200" dirty="0"/>
              <a:t> </a:t>
            </a:r>
            <a:r>
              <a:rPr lang="en-US" sz="3200" dirty="0" smtClean="0"/>
              <a:t>demanding</a:t>
            </a:r>
            <a:endParaRPr lang="en-US" sz="3200" dirty="0"/>
          </a:p>
        </p:txBody>
      </p:sp>
      <p:pic>
        <p:nvPicPr>
          <p:cNvPr id="4" name="Picture 4" descr="C:\Documents and Settings\Administrator\Desktop\hand_right.gif"/>
          <p:cNvPicPr>
            <a:picLocks noChangeAspect="1" noChangeArrowheads="1" noCrop="1"/>
          </p:cNvPicPr>
          <p:nvPr/>
        </p:nvPicPr>
        <p:blipFill>
          <a:blip r:embed="rId3">
            <a:extLst>
              <a:ext uri="{28A0092B-C50C-407E-A947-70E740481C1C}">
                <a14:useLocalDpi xmlns="" xmlns:a14="http://schemas.microsoft.com/office/drawing/2010/main" val="0"/>
              </a:ext>
            </a:extLst>
          </a:blip>
          <a:srcRect/>
          <a:stretch>
            <a:fillRect/>
          </a:stretch>
        </p:blipFill>
        <p:spPr bwMode="auto">
          <a:xfrm rot="21434720">
            <a:off x="466785" y="37521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0"/>
            <a:ext cx="8382000" cy="4525963"/>
          </a:xfrm>
        </p:spPr>
        <p:txBody>
          <a:bodyPr>
            <a:noAutofit/>
          </a:bodyPr>
          <a:lstStyle/>
          <a:p>
            <a:pPr marL="623888" indent="-623888">
              <a:buNone/>
            </a:pPr>
            <a:endParaRPr lang="en-US" sz="2400" dirty="0" smtClean="0"/>
          </a:p>
          <a:p>
            <a:pPr marL="623888" indent="-623888">
              <a:buNone/>
            </a:pPr>
            <a:endParaRPr lang="en-US" sz="2400" dirty="0" smtClean="0"/>
          </a:p>
          <a:p>
            <a:pPr marL="623888" indent="0">
              <a:buFont typeface="+mj-lt"/>
              <a:buAutoNum type="alphaUcPeriod"/>
            </a:pPr>
            <a:r>
              <a:rPr lang="en-US" sz="2400" dirty="0" smtClean="0"/>
              <a:t> Credulous- is a state of willingness to believe in one or many people or things in the absence of reasonable proof or knowledge.</a:t>
            </a:r>
          </a:p>
          <a:p>
            <a:pPr marL="623888" indent="0">
              <a:buFont typeface="+mj-lt"/>
              <a:buAutoNum type="alphaUcPeriod"/>
            </a:pPr>
            <a:endParaRPr lang="en-US" sz="2400" dirty="0" smtClean="0"/>
          </a:p>
          <a:p>
            <a:pPr marL="623888" indent="0">
              <a:buFont typeface="+mj-lt"/>
              <a:buAutoNum type="alphaUcPeriod"/>
            </a:pPr>
            <a:r>
              <a:rPr lang="en-US" sz="2400" dirty="0"/>
              <a:t> </a:t>
            </a:r>
            <a:r>
              <a:rPr lang="en-US" sz="2400" dirty="0" smtClean="0"/>
              <a:t>Wary- marked by keen caution</a:t>
            </a:r>
          </a:p>
          <a:p>
            <a:pPr marL="623888" indent="0">
              <a:buFont typeface="+mj-lt"/>
              <a:buAutoNum type="alphaUcPeriod"/>
            </a:pPr>
            <a:endParaRPr lang="en-US" sz="2400" dirty="0" smtClean="0"/>
          </a:p>
          <a:p>
            <a:pPr marL="623888" indent="0">
              <a:buFont typeface="+mj-lt"/>
              <a:buAutoNum type="alphaUcPeriod"/>
            </a:pPr>
            <a:r>
              <a:rPr lang="en-US" sz="2400" dirty="0"/>
              <a:t> </a:t>
            </a:r>
            <a:r>
              <a:rPr lang="en-US" sz="2400" dirty="0" smtClean="0"/>
              <a:t>Cynical- based on or reflecting a belief that human conduct is motivated primarily by self-interest  </a:t>
            </a:r>
          </a:p>
          <a:p>
            <a:pPr marL="623888" indent="0">
              <a:buFont typeface="+mj-lt"/>
              <a:buAutoNum type="alphaUcPeriod"/>
            </a:pPr>
            <a:endParaRPr lang="en-US" sz="2400" dirty="0" smtClean="0"/>
          </a:p>
          <a:p>
            <a:pPr marL="623888" indent="0">
              <a:buFont typeface="+mj-lt"/>
              <a:buAutoNum type="alphaUcPeriod"/>
            </a:pPr>
            <a:r>
              <a:rPr lang="en-US" sz="2400" dirty="0"/>
              <a:t> </a:t>
            </a:r>
            <a:r>
              <a:rPr lang="en-US" sz="2400" dirty="0" smtClean="0"/>
              <a:t>Demanding- requiring much skill or effort:</a:t>
            </a:r>
            <a:endParaRPr lang="en-US" sz="2400" dirty="0"/>
          </a:p>
        </p:txBody>
      </p:sp>
    </p:spTree>
  </p:cSld>
  <p:clrMapOvr>
    <a:masterClrMapping/>
  </p:clrMapOvr>
  <p:transition>
    <p:push/>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457200"/>
            <a:ext cx="8229600" cy="4678363"/>
          </a:xfrm>
        </p:spPr>
        <p:txBody>
          <a:bodyPr>
            <a:noAutofit/>
          </a:bodyPr>
          <a:lstStyle/>
          <a:p>
            <a:pPr marL="566738" indent="-566738">
              <a:buNone/>
            </a:pPr>
            <a:r>
              <a:rPr lang="en-US" sz="2800" dirty="0" smtClean="0"/>
              <a:t>26. </a:t>
            </a:r>
            <a:r>
              <a:rPr lang="en-US" sz="2800" dirty="0"/>
              <a:t>Choose the sentence that expresses the thought clearly and that has no error in structure/spelling</a:t>
            </a:r>
            <a:r>
              <a:rPr lang="en-US" sz="2800" dirty="0" smtClean="0"/>
              <a:t>.</a:t>
            </a:r>
          </a:p>
          <a:p>
            <a:pPr marL="566738" indent="-566738">
              <a:buNone/>
            </a:pPr>
            <a:endParaRPr lang="en-US" sz="2800" dirty="0" smtClean="0"/>
          </a:p>
          <a:p>
            <a:pPr marL="855663" lvl="0" indent="-390525">
              <a:buFont typeface="+mj-lt"/>
              <a:buAutoNum type="alphaUcPeriod"/>
            </a:pPr>
            <a:r>
              <a:rPr lang="en-US" sz="2800" dirty="0" smtClean="0"/>
              <a:t>The </a:t>
            </a:r>
            <a:r>
              <a:rPr lang="en-US" sz="2800" dirty="0"/>
              <a:t>farmer did plow, plant, harvest his corn in record time.</a:t>
            </a:r>
          </a:p>
          <a:p>
            <a:pPr marL="855663" lvl="0" indent="-390525">
              <a:buFont typeface="+mj-lt"/>
              <a:buAutoNum type="alphaUcPeriod"/>
            </a:pPr>
            <a:r>
              <a:rPr lang="en-US" sz="2800" dirty="0"/>
              <a:t>The farmer plowed, planted and harvested his corn in record time.</a:t>
            </a:r>
          </a:p>
          <a:p>
            <a:pPr marL="855663" lvl="0" indent="-390525">
              <a:buFont typeface="+mj-lt"/>
              <a:buAutoNum type="alphaUcPeriod"/>
            </a:pPr>
            <a:r>
              <a:rPr lang="en-US" sz="2800" dirty="0"/>
              <a:t>The farmer has plowed, planted the harvested his corn in record time.</a:t>
            </a:r>
          </a:p>
          <a:p>
            <a:pPr marL="855663" lvl="0" indent="-390525">
              <a:buFont typeface="+mj-lt"/>
              <a:buAutoNum type="alphaUcPeriod"/>
            </a:pPr>
            <a:r>
              <a:rPr lang="en-US" sz="2800" dirty="0"/>
              <a:t>The farmer plowed, has planted and has harvested his corn in record   time.</a:t>
            </a:r>
          </a:p>
          <a:p>
            <a:pPr marL="623888" indent="-623888">
              <a:buNone/>
            </a:pPr>
            <a:endParaRPr lang="en-US" sz="2800" dirty="0"/>
          </a:p>
        </p:txBody>
      </p:sp>
      <p:pic>
        <p:nvPicPr>
          <p:cNvPr id="4" name="Picture 4" descr="C:\Documents and Settings\Administrator\Desktop\hand_right.gif"/>
          <p:cNvPicPr>
            <a:picLocks noChangeAspect="1" noChangeArrowheads="1" noCrop="1"/>
          </p:cNvPicPr>
          <p:nvPr/>
        </p:nvPicPr>
        <p:blipFill>
          <a:blip r:embed="rId3">
            <a:extLst>
              <a:ext uri="{28A0092B-C50C-407E-A947-70E740481C1C}">
                <a14:useLocalDpi xmlns="" xmlns:a14="http://schemas.microsoft.com/office/drawing/2010/main" val="0"/>
              </a:ext>
            </a:extLst>
          </a:blip>
          <a:srcRect/>
          <a:stretch>
            <a:fillRect/>
          </a:stretch>
        </p:blipFill>
        <p:spPr bwMode="auto">
          <a:xfrm rot="21434720">
            <a:off x="314386" y="33711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525963"/>
          </a:xfrm>
        </p:spPr>
        <p:txBody>
          <a:bodyPr>
            <a:normAutofit/>
          </a:bodyPr>
          <a:lstStyle/>
          <a:p>
            <a:pPr marL="566738" indent="-566738">
              <a:buNone/>
            </a:pPr>
            <a:r>
              <a:rPr lang="en-US" sz="3200" dirty="0" smtClean="0"/>
              <a:t>27. </a:t>
            </a:r>
            <a:r>
              <a:rPr lang="en-US" sz="3200" dirty="0"/>
              <a:t>Teacher Mary always tries to help people, but recently she has been ______ kind and generous</a:t>
            </a:r>
            <a:r>
              <a:rPr lang="en-US" sz="3200" dirty="0" smtClean="0"/>
              <a:t>.</a:t>
            </a:r>
          </a:p>
          <a:p>
            <a:pPr marL="566738" indent="-566738">
              <a:buNone/>
            </a:pPr>
            <a:endParaRPr lang="en-US" sz="3200" dirty="0" smtClean="0"/>
          </a:p>
          <a:p>
            <a:pPr marL="566738" indent="0">
              <a:buFont typeface="+mj-lt"/>
              <a:buAutoNum type="alphaUcPeriod"/>
            </a:pPr>
            <a:r>
              <a:rPr lang="en-US" sz="3200" dirty="0"/>
              <a:t>	</a:t>
            </a:r>
            <a:r>
              <a:rPr lang="en-US" sz="3200" dirty="0" smtClean="0"/>
              <a:t>principally</a:t>
            </a:r>
          </a:p>
          <a:p>
            <a:pPr marL="566738" indent="0">
              <a:buFont typeface="+mj-lt"/>
              <a:buAutoNum type="alphaUcPeriod"/>
            </a:pPr>
            <a:r>
              <a:rPr lang="en-US" sz="3200" dirty="0"/>
              <a:t> </a:t>
            </a:r>
            <a:r>
              <a:rPr lang="en-US" sz="3200" dirty="0" smtClean="0"/>
              <a:t>usually</a:t>
            </a:r>
          </a:p>
          <a:p>
            <a:pPr marL="566738" indent="0">
              <a:buFont typeface="+mj-lt"/>
              <a:buAutoNum type="alphaUcPeriod"/>
            </a:pPr>
            <a:r>
              <a:rPr lang="en-US" sz="3200" dirty="0"/>
              <a:t> </a:t>
            </a:r>
            <a:r>
              <a:rPr lang="en-US" sz="3200" dirty="0" smtClean="0"/>
              <a:t>especially </a:t>
            </a:r>
          </a:p>
          <a:p>
            <a:pPr marL="566738" indent="0">
              <a:buFont typeface="+mj-lt"/>
              <a:buAutoNum type="alphaUcPeriod"/>
            </a:pPr>
            <a:r>
              <a:rPr lang="en-US" sz="3200" dirty="0"/>
              <a:t> </a:t>
            </a:r>
            <a:r>
              <a:rPr lang="en-US" sz="3200" dirty="0" smtClean="0"/>
              <a:t>largely</a:t>
            </a:r>
            <a:endParaRPr lang="en-US" sz="32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466786" y="45141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623888" indent="-623888">
              <a:buNone/>
            </a:pPr>
            <a:r>
              <a:rPr lang="en-US" sz="3200" dirty="0" smtClean="0"/>
              <a:t>28. </a:t>
            </a:r>
            <a:r>
              <a:rPr lang="en-US" sz="3200" dirty="0"/>
              <a:t>Susan ______ in bed too long and missed her classes</a:t>
            </a:r>
            <a:r>
              <a:rPr lang="en-US" sz="3200" dirty="0" smtClean="0"/>
              <a:t>.</a:t>
            </a:r>
          </a:p>
          <a:p>
            <a:pPr marL="623888" indent="-623888">
              <a:buNone/>
            </a:pPr>
            <a:endParaRPr lang="en-US" sz="3200" dirty="0" smtClean="0"/>
          </a:p>
          <a:p>
            <a:pPr marL="623888" indent="0">
              <a:buFont typeface="+mj-lt"/>
              <a:buAutoNum type="alphaUcPeriod"/>
            </a:pPr>
            <a:r>
              <a:rPr lang="en-US" sz="3200" dirty="0" smtClean="0"/>
              <a:t> laid</a:t>
            </a:r>
          </a:p>
          <a:p>
            <a:pPr marL="623888" indent="0">
              <a:buFont typeface="+mj-lt"/>
              <a:buAutoNum type="alphaUcPeriod"/>
            </a:pPr>
            <a:r>
              <a:rPr lang="en-US" sz="3200" dirty="0"/>
              <a:t> </a:t>
            </a:r>
            <a:r>
              <a:rPr lang="en-US" sz="3200" dirty="0" smtClean="0"/>
              <a:t>lays</a:t>
            </a:r>
          </a:p>
          <a:p>
            <a:pPr marL="623888" indent="0">
              <a:buFont typeface="+mj-lt"/>
              <a:buAutoNum type="alphaUcPeriod"/>
            </a:pPr>
            <a:r>
              <a:rPr lang="en-US" sz="3200" dirty="0"/>
              <a:t> </a:t>
            </a:r>
            <a:r>
              <a:rPr lang="en-US" sz="3200" dirty="0" smtClean="0"/>
              <a:t>lied</a:t>
            </a:r>
          </a:p>
          <a:p>
            <a:pPr marL="623888" indent="0">
              <a:buFont typeface="+mj-lt"/>
              <a:buAutoNum type="alphaUcPeriod"/>
            </a:pPr>
            <a:r>
              <a:rPr lang="en-US" sz="3200" dirty="0"/>
              <a:t> </a:t>
            </a:r>
            <a:r>
              <a:rPr lang="en-US" sz="3200" dirty="0" smtClean="0"/>
              <a:t>lay</a:t>
            </a:r>
            <a:endParaRPr lang="en-US" sz="3200" dirty="0"/>
          </a:p>
        </p:txBody>
      </p:sp>
      <p:pic>
        <p:nvPicPr>
          <p:cNvPr id="4" name="Picture 4" descr="C:\Documents and Settings\Administrator\Desktop\hand_right.gif"/>
          <p:cNvPicPr>
            <a:picLocks noChangeAspect="1" noChangeArrowheads="1" noCrop="1"/>
          </p:cNvPicPr>
          <p:nvPr/>
        </p:nvPicPr>
        <p:blipFill>
          <a:blip r:embed="rId3">
            <a:extLst>
              <a:ext uri="{28A0092B-C50C-407E-A947-70E740481C1C}">
                <a14:useLocalDpi xmlns="" xmlns:a14="http://schemas.microsoft.com/office/drawing/2010/main" val="0"/>
              </a:ext>
            </a:extLst>
          </a:blip>
          <a:srcRect/>
          <a:stretch>
            <a:fillRect/>
          </a:stretch>
        </p:blipFill>
        <p:spPr bwMode="auto">
          <a:xfrm rot="21434720">
            <a:off x="466786" y="4818974"/>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nvGraphicFramePr>
        <p:xfrm>
          <a:off x="533400" y="1593850"/>
          <a:ext cx="8305800" cy="3282950"/>
        </p:xfrm>
        <a:graphic>
          <a:graphicData uri="http://schemas.openxmlformats.org/drawingml/2006/table">
            <a:tbl>
              <a:tblPr firstRow="1" bandRow="1">
                <a:tableStyleId>{5C22544A-7EE6-4342-B048-85BDC9FD1C3A}</a:tableStyleId>
              </a:tblPr>
              <a:tblGrid>
                <a:gridCol w="2076450"/>
                <a:gridCol w="2076450"/>
                <a:gridCol w="2076450"/>
                <a:gridCol w="2076450"/>
              </a:tblGrid>
              <a:tr h="955675">
                <a:tc>
                  <a:txBody>
                    <a:bodyPr/>
                    <a:lstStyle/>
                    <a:p>
                      <a:r>
                        <a:rPr lang="en-US" sz="2800" dirty="0" smtClean="0"/>
                        <a:t>Infinitive</a:t>
                      </a:r>
                      <a:endParaRPr lang="en-US" sz="2800" dirty="0"/>
                    </a:p>
                  </a:txBody>
                  <a:tcPr/>
                </a:tc>
                <a:tc>
                  <a:txBody>
                    <a:bodyPr/>
                    <a:lstStyle/>
                    <a:p>
                      <a:r>
                        <a:rPr lang="en-US" sz="2800" dirty="0" smtClean="0"/>
                        <a:t>Def.</a:t>
                      </a:r>
                      <a:endParaRPr lang="en-US" sz="2800" dirty="0"/>
                    </a:p>
                  </a:txBody>
                  <a:tcPr/>
                </a:tc>
                <a:tc>
                  <a:txBody>
                    <a:bodyPr/>
                    <a:lstStyle/>
                    <a:p>
                      <a:r>
                        <a:rPr lang="en-US" sz="2800" dirty="0" smtClean="0"/>
                        <a:t>Present</a:t>
                      </a:r>
                      <a:r>
                        <a:rPr lang="en-US" sz="2800" baseline="0" dirty="0" smtClean="0"/>
                        <a:t> Form</a:t>
                      </a:r>
                      <a:endParaRPr lang="en-US" sz="2800" dirty="0"/>
                    </a:p>
                  </a:txBody>
                  <a:tcPr/>
                </a:tc>
                <a:tc>
                  <a:txBody>
                    <a:bodyPr/>
                    <a:lstStyle/>
                    <a:p>
                      <a:r>
                        <a:rPr lang="en-US" sz="2800" dirty="0" smtClean="0"/>
                        <a:t>Past Form</a:t>
                      </a:r>
                      <a:endParaRPr lang="en-US" sz="2800" dirty="0"/>
                    </a:p>
                  </a:txBody>
                  <a:tcPr/>
                </a:tc>
              </a:tr>
              <a:tr h="1365250">
                <a:tc>
                  <a:txBody>
                    <a:bodyPr/>
                    <a:lstStyle/>
                    <a:p>
                      <a:r>
                        <a:rPr lang="en-US" sz="2800" dirty="0" smtClean="0"/>
                        <a:t>To lay</a:t>
                      </a:r>
                      <a:endParaRPr lang="en-US" sz="2800" dirty="0"/>
                    </a:p>
                  </a:txBody>
                  <a:tcPr/>
                </a:tc>
                <a:tc>
                  <a:txBody>
                    <a:bodyPr/>
                    <a:lstStyle/>
                    <a:p>
                      <a:r>
                        <a:rPr lang="en-US" sz="2800" dirty="0" smtClean="0"/>
                        <a:t>To put something down</a:t>
                      </a:r>
                      <a:endParaRPr lang="en-US" sz="2800" dirty="0"/>
                    </a:p>
                  </a:txBody>
                  <a:tcPr/>
                </a:tc>
                <a:tc>
                  <a:txBody>
                    <a:bodyPr/>
                    <a:lstStyle/>
                    <a:p>
                      <a:r>
                        <a:rPr lang="en-US" sz="2800" dirty="0" smtClean="0"/>
                        <a:t>lay</a:t>
                      </a:r>
                      <a:r>
                        <a:rPr lang="en-US" sz="2800" baseline="0" dirty="0" smtClean="0"/>
                        <a:t>(s)</a:t>
                      </a:r>
                      <a:endParaRPr lang="en-US" sz="2800" dirty="0"/>
                    </a:p>
                  </a:txBody>
                  <a:tcPr/>
                </a:tc>
                <a:tc>
                  <a:txBody>
                    <a:bodyPr/>
                    <a:lstStyle/>
                    <a:p>
                      <a:r>
                        <a:rPr lang="en-US" sz="2800" dirty="0" smtClean="0"/>
                        <a:t>laid</a:t>
                      </a:r>
                      <a:endParaRPr lang="en-US" sz="2800" dirty="0"/>
                    </a:p>
                  </a:txBody>
                  <a:tcPr/>
                </a:tc>
              </a:tr>
              <a:tr h="955675">
                <a:tc>
                  <a:txBody>
                    <a:bodyPr/>
                    <a:lstStyle/>
                    <a:p>
                      <a:r>
                        <a:rPr lang="en-US" sz="2800" dirty="0" smtClean="0"/>
                        <a:t>To lie</a:t>
                      </a:r>
                      <a:endParaRPr lang="en-US" sz="2800" dirty="0"/>
                    </a:p>
                  </a:txBody>
                  <a:tcPr/>
                </a:tc>
                <a:tc>
                  <a:txBody>
                    <a:bodyPr/>
                    <a:lstStyle/>
                    <a:p>
                      <a:r>
                        <a:rPr lang="en-US" sz="2800" dirty="0" smtClean="0"/>
                        <a:t>To rest or recline</a:t>
                      </a:r>
                      <a:endParaRPr lang="en-US" sz="2800" dirty="0"/>
                    </a:p>
                  </a:txBody>
                  <a:tcPr/>
                </a:tc>
                <a:tc>
                  <a:txBody>
                    <a:bodyPr/>
                    <a:lstStyle/>
                    <a:p>
                      <a:r>
                        <a:rPr lang="en-US" sz="2800" dirty="0" smtClean="0"/>
                        <a:t>lie(s)</a:t>
                      </a:r>
                      <a:endParaRPr lang="en-US" sz="2800" dirty="0"/>
                    </a:p>
                  </a:txBody>
                  <a:tcPr/>
                </a:tc>
                <a:tc>
                  <a:txBody>
                    <a:bodyPr/>
                    <a:lstStyle/>
                    <a:p>
                      <a:r>
                        <a:rPr lang="en-US" sz="2800" dirty="0" smtClean="0"/>
                        <a:t>lay</a:t>
                      </a:r>
                      <a:endParaRPr lang="en-US" sz="2800" dirty="0"/>
                    </a:p>
                  </a:txBody>
                  <a:tcPr/>
                </a:tc>
              </a:tr>
            </a:tbl>
          </a:graphicData>
        </a:graphic>
      </p:graphicFrame>
    </p:spTree>
  </p:cSld>
  <p:clrMapOvr>
    <a:masterClrMapping/>
  </p:clrMapOvr>
  <p:transition>
    <p:push/>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990600"/>
            <a:ext cx="8229600" cy="4525963"/>
          </a:xfrm>
        </p:spPr>
        <p:txBody>
          <a:bodyPr>
            <a:noAutofit/>
          </a:bodyPr>
          <a:lstStyle/>
          <a:p>
            <a:pPr marL="623888" indent="-623888">
              <a:buNone/>
            </a:pPr>
            <a:r>
              <a:rPr lang="en-US" sz="3200" dirty="0" smtClean="0"/>
              <a:t>29. </a:t>
            </a:r>
            <a:r>
              <a:rPr lang="en-US" sz="3200" dirty="0"/>
              <a:t>It’s now two hours past his schedule, the facilitator may not come anymore, but we’ll still be ready in case he </a:t>
            </a:r>
            <a:r>
              <a:rPr lang="en-US" sz="3200" dirty="0" smtClean="0"/>
              <a:t>_________.</a:t>
            </a:r>
          </a:p>
          <a:p>
            <a:pPr marL="623888" indent="-623888">
              <a:buNone/>
            </a:pPr>
            <a:endParaRPr lang="en-US" sz="3200" dirty="0" smtClean="0"/>
          </a:p>
          <a:p>
            <a:pPr marL="623888" indent="0">
              <a:buFont typeface="+mj-lt"/>
              <a:buAutoNum type="alphaUcPeriod"/>
            </a:pPr>
            <a:r>
              <a:rPr lang="en-US" sz="3200" dirty="0" smtClean="0"/>
              <a:t> may </a:t>
            </a:r>
          </a:p>
          <a:p>
            <a:pPr marL="623888" indent="0">
              <a:buFont typeface="+mj-lt"/>
              <a:buAutoNum type="alphaUcPeriod"/>
            </a:pPr>
            <a:r>
              <a:rPr lang="en-US" sz="3200" dirty="0"/>
              <a:t> </a:t>
            </a:r>
            <a:r>
              <a:rPr lang="en-US" sz="3200" dirty="0" smtClean="0"/>
              <a:t>is coming </a:t>
            </a:r>
          </a:p>
          <a:p>
            <a:pPr marL="623888" indent="0">
              <a:buFont typeface="+mj-lt"/>
              <a:buAutoNum type="alphaUcPeriod"/>
            </a:pPr>
            <a:r>
              <a:rPr lang="en-US" sz="3200" dirty="0"/>
              <a:t> </a:t>
            </a:r>
            <a:r>
              <a:rPr lang="en-US" sz="3200" dirty="0" smtClean="0"/>
              <a:t>does </a:t>
            </a:r>
          </a:p>
          <a:p>
            <a:pPr marL="623888" indent="0">
              <a:buFont typeface="+mj-lt"/>
              <a:buAutoNum type="alphaUcPeriod"/>
            </a:pPr>
            <a:r>
              <a:rPr lang="en-US" sz="3200" dirty="0"/>
              <a:t> </a:t>
            </a:r>
            <a:r>
              <a:rPr lang="en-US" sz="3200" dirty="0" smtClean="0"/>
              <a:t>will come</a:t>
            </a:r>
          </a:p>
          <a:p>
            <a:pPr marL="623888" indent="0">
              <a:buNone/>
            </a:pPr>
            <a:endParaRPr lang="en-US" sz="3200" dirty="0"/>
          </a:p>
          <a:p>
            <a:pPr>
              <a:buNone/>
            </a:pPr>
            <a:endParaRPr lang="en-US" sz="32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619185" y="47427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229600" cy="4940491"/>
          </a:xfrm>
        </p:spPr>
        <p:txBody>
          <a:bodyPr>
            <a:noAutofit/>
          </a:bodyPr>
          <a:lstStyle/>
          <a:p>
            <a:pPr marL="623888" indent="-623888">
              <a:buNone/>
            </a:pPr>
            <a:r>
              <a:rPr lang="en-US" sz="3200" dirty="0" smtClean="0"/>
              <a:t>30. </a:t>
            </a:r>
            <a:r>
              <a:rPr lang="en-US" sz="3200" dirty="0"/>
              <a:t>Which sentence clearly and effectively states the idea and has no structural error/s</a:t>
            </a:r>
            <a:r>
              <a:rPr lang="en-US" sz="3200" dirty="0" smtClean="0"/>
              <a:t>?</a:t>
            </a:r>
          </a:p>
          <a:p>
            <a:pPr marL="798513" lvl="0" indent="-333375">
              <a:buFont typeface="+mj-lt"/>
              <a:buAutoNum type="alphaUcPeriod"/>
            </a:pPr>
            <a:r>
              <a:rPr lang="en-US" sz="3200" dirty="0" smtClean="0"/>
              <a:t>The </a:t>
            </a:r>
            <a:r>
              <a:rPr lang="en-US" sz="3200" dirty="0"/>
              <a:t>interest at a loan company is higher than at bank</a:t>
            </a:r>
          </a:p>
          <a:p>
            <a:pPr marL="798513" lvl="0" indent="-333375">
              <a:buFont typeface="+mj-lt"/>
              <a:buAutoNum type="alphaUcPeriod"/>
            </a:pPr>
            <a:r>
              <a:rPr lang="en-US" sz="3200" dirty="0"/>
              <a:t>The interest at a loan company is higher than a bank</a:t>
            </a:r>
          </a:p>
          <a:p>
            <a:pPr marL="798513" lvl="0" indent="-333375">
              <a:buFont typeface="+mj-lt"/>
              <a:buAutoNum type="alphaUcPeriod"/>
            </a:pPr>
            <a:r>
              <a:rPr lang="en-US" sz="3200" dirty="0"/>
              <a:t>The interest of a loan company is higher than a bank</a:t>
            </a:r>
          </a:p>
          <a:p>
            <a:pPr marL="798513" lvl="0" indent="-333375">
              <a:buFont typeface="+mj-lt"/>
              <a:buAutoNum type="alphaUcPeriod"/>
            </a:pPr>
            <a:r>
              <a:rPr lang="en-US" sz="3200" dirty="0"/>
              <a:t>The interest of a loan company is higher than in a bank</a:t>
            </a:r>
          </a:p>
          <a:p>
            <a:pPr marL="623888" indent="-623888">
              <a:buNone/>
            </a:pPr>
            <a:endParaRPr lang="en-US" sz="32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314384" y="26091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66800"/>
            <a:ext cx="8229600" cy="4525963"/>
          </a:xfrm>
        </p:spPr>
        <p:txBody>
          <a:bodyPr>
            <a:noAutofit/>
          </a:bodyPr>
          <a:lstStyle/>
          <a:p>
            <a:pPr marL="566738" indent="-566738">
              <a:buNone/>
            </a:pPr>
            <a:r>
              <a:rPr lang="en-US" sz="3200" dirty="0" smtClean="0"/>
              <a:t>31. </a:t>
            </a:r>
            <a:r>
              <a:rPr lang="en-US" sz="3200" dirty="0"/>
              <a:t>Those mischievous children _________ tricks on their teachers which always got them into a lot of trouble</a:t>
            </a:r>
            <a:r>
              <a:rPr lang="en-US" sz="3200" dirty="0" smtClean="0"/>
              <a:t>.</a:t>
            </a:r>
          </a:p>
          <a:p>
            <a:pPr marL="566738" indent="-566738">
              <a:buNone/>
            </a:pPr>
            <a:endParaRPr lang="en-US" sz="3200" dirty="0" smtClean="0"/>
          </a:p>
          <a:p>
            <a:pPr marL="566738" indent="0">
              <a:buFont typeface="+mj-lt"/>
              <a:buAutoNum type="alphaUcPeriod"/>
            </a:pPr>
            <a:r>
              <a:rPr lang="en-US" sz="3200" dirty="0"/>
              <a:t>	</a:t>
            </a:r>
            <a:r>
              <a:rPr lang="en-US" sz="3200" dirty="0" smtClean="0"/>
              <a:t>Used </a:t>
            </a:r>
            <a:r>
              <a:rPr lang="en-US" sz="3200" dirty="0"/>
              <a:t>to play </a:t>
            </a:r>
            <a:endParaRPr lang="en-US" sz="3200" dirty="0" smtClean="0"/>
          </a:p>
          <a:p>
            <a:pPr marL="566738" indent="0">
              <a:buFont typeface="+mj-lt"/>
              <a:buAutoNum type="alphaUcPeriod"/>
            </a:pPr>
            <a:r>
              <a:rPr lang="en-US" sz="3200" dirty="0"/>
              <a:t> May have </a:t>
            </a:r>
            <a:r>
              <a:rPr lang="en-US" sz="3200" dirty="0" smtClean="0"/>
              <a:t>played</a:t>
            </a:r>
          </a:p>
          <a:p>
            <a:pPr marL="566738" indent="0">
              <a:buFont typeface="+mj-lt"/>
              <a:buAutoNum type="alphaUcPeriod"/>
            </a:pPr>
            <a:r>
              <a:rPr lang="en-US" sz="3200" dirty="0"/>
              <a:t> Could </a:t>
            </a:r>
            <a:r>
              <a:rPr lang="en-US" sz="3200" dirty="0" smtClean="0"/>
              <a:t>play</a:t>
            </a:r>
          </a:p>
          <a:p>
            <a:pPr marL="566738" indent="0">
              <a:buFont typeface="+mj-lt"/>
              <a:buAutoNum type="alphaUcPeriod"/>
            </a:pPr>
            <a:r>
              <a:rPr lang="en-US" sz="3200" dirty="0"/>
              <a:t> Could have played</a:t>
            </a:r>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390586" y="37521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95400"/>
            <a:ext cx="8229600" cy="4525963"/>
          </a:xfrm>
        </p:spPr>
        <p:txBody>
          <a:bodyPr>
            <a:normAutofit/>
          </a:bodyPr>
          <a:lstStyle/>
          <a:p>
            <a:pPr marL="623888" indent="-623888">
              <a:buNone/>
            </a:pPr>
            <a:r>
              <a:rPr lang="en-US" sz="3200" dirty="0" smtClean="0"/>
              <a:t>32. </a:t>
            </a:r>
            <a:r>
              <a:rPr lang="en-US" sz="3200" dirty="0"/>
              <a:t>What is meant by the statement: Values are absolute</a:t>
            </a:r>
            <a:r>
              <a:rPr lang="en-US" sz="3200" dirty="0" smtClean="0"/>
              <a:t>?</a:t>
            </a:r>
          </a:p>
          <a:p>
            <a:pPr marL="623888" indent="-623888">
              <a:buNone/>
            </a:pPr>
            <a:endParaRPr lang="en-US" sz="3200" dirty="0" smtClean="0"/>
          </a:p>
          <a:p>
            <a:pPr marL="623888" indent="0">
              <a:buFont typeface="+mj-lt"/>
              <a:buAutoNum type="alphaUcPeriod"/>
            </a:pPr>
            <a:r>
              <a:rPr lang="en-US" sz="3200" dirty="0" smtClean="0"/>
              <a:t> Changing</a:t>
            </a:r>
          </a:p>
          <a:p>
            <a:pPr marL="623888" indent="0">
              <a:buFont typeface="+mj-lt"/>
              <a:buAutoNum type="alphaUcPeriod"/>
            </a:pPr>
            <a:r>
              <a:rPr lang="en-US" sz="3200" dirty="0"/>
              <a:t> Subjective </a:t>
            </a:r>
            <a:endParaRPr lang="en-US" sz="3200" dirty="0" smtClean="0"/>
          </a:p>
          <a:p>
            <a:pPr marL="623888" lvl="0" indent="0">
              <a:buFont typeface="+mj-lt"/>
              <a:buAutoNum type="alphaUcPeriod"/>
            </a:pPr>
            <a:r>
              <a:rPr lang="en-US" sz="3200" dirty="0"/>
              <a:t> Personal</a:t>
            </a:r>
          </a:p>
          <a:p>
            <a:pPr marL="623888" indent="0">
              <a:buFont typeface="+mj-lt"/>
              <a:buAutoNum type="alphaUcPeriod"/>
            </a:pPr>
            <a:r>
              <a:rPr lang="en-US" sz="3200" dirty="0" smtClean="0"/>
              <a:t> </a:t>
            </a:r>
            <a:r>
              <a:rPr lang="en-US" sz="3200" dirty="0"/>
              <a:t>U</a:t>
            </a:r>
            <a:r>
              <a:rPr lang="en-US" sz="3200" dirty="0" smtClean="0"/>
              <a:t>nchanging </a:t>
            </a:r>
            <a:endParaRPr lang="en-US" sz="32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466785" y="48189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623888" indent="-623888">
              <a:buNone/>
            </a:pPr>
            <a:r>
              <a:rPr lang="en-US" sz="3200" dirty="0" smtClean="0"/>
              <a:t>33. </a:t>
            </a:r>
            <a:r>
              <a:rPr lang="en-US" sz="3200" dirty="0"/>
              <a:t>With the Cold War in mind, which does NOT belong</a:t>
            </a:r>
            <a:r>
              <a:rPr lang="en-US" sz="3200" dirty="0" smtClean="0"/>
              <a:t>?</a:t>
            </a:r>
          </a:p>
          <a:p>
            <a:pPr marL="623888" indent="-623888">
              <a:buNone/>
            </a:pPr>
            <a:endParaRPr lang="en-US" sz="3200" dirty="0" smtClean="0"/>
          </a:p>
          <a:p>
            <a:pPr marL="623888" indent="-57150">
              <a:buFont typeface="+mj-lt"/>
              <a:buAutoNum type="alphaUcPeriod"/>
            </a:pPr>
            <a:r>
              <a:rPr lang="en-US" sz="3200" dirty="0"/>
              <a:t> </a:t>
            </a:r>
            <a:r>
              <a:rPr lang="en-US" sz="3200" dirty="0" smtClean="0"/>
              <a:t>Dialogue</a:t>
            </a:r>
          </a:p>
          <a:p>
            <a:pPr marL="623888" indent="-57150">
              <a:buFont typeface="+mj-lt"/>
              <a:buAutoNum type="alphaUcPeriod"/>
            </a:pPr>
            <a:r>
              <a:rPr lang="en-US" sz="3200" dirty="0"/>
              <a:t> </a:t>
            </a:r>
            <a:r>
              <a:rPr lang="en-US" sz="3200" dirty="0" smtClean="0"/>
              <a:t>Competition</a:t>
            </a:r>
          </a:p>
          <a:p>
            <a:pPr marL="623888" indent="-57150">
              <a:buFont typeface="+mj-lt"/>
              <a:buAutoNum type="alphaUcPeriod"/>
            </a:pPr>
            <a:r>
              <a:rPr lang="en-US" sz="3200" dirty="0"/>
              <a:t> </a:t>
            </a:r>
            <a:r>
              <a:rPr lang="en-US" sz="3200" dirty="0" smtClean="0"/>
              <a:t>Tension</a:t>
            </a:r>
          </a:p>
          <a:p>
            <a:pPr marL="623888" indent="-57150">
              <a:buFont typeface="+mj-lt"/>
              <a:buAutoNum type="alphaUcPeriod"/>
            </a:pPr>
            <a:r>
              <a:rPr lang="en-US" sz="3200" dirty="0"/>
              <a:t> </a:t>
            </a:r>
            <a:r>
              <a:rPr lang="en-US" sz="3200" dirty="0" smtClean="0"/>
              <a:t>Conflict</a:t>
            </a:r>
            <a:endParaRPr lang="en-US" sz="32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390584" y="32187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623888" indent="-623888">
              <a:buNone/>
            </a:pPr>
            <a:r>
              <a:rPr lang="en-US" sz="3200" dirty="0" smtClean="0"/>
              <a:t>34. </a:t>
            </a:r>
            <a:r>
              <a:rPr lang="en-US" sz="3200" dirty="0"/>
              <a:t>If she _______ President, she would live in </a:t>
            </a:r>
            <a:r>
              <a:rPr lang="en-US" sz="3200" dirty="0" err="1"/>
              <a:t>Malacañang</a:t>
            </a:r>
            <a:r>
              <a:rPr lang="en-US" sz="3200" dirty="0" smtClean="0"/>
              <a:t>.</a:t>
            </a:r>
          </a:p>
          <a:p>
            <a:pPr marL="623888" indent="-623888">
              <a:buNone/>
            </a:pPr>
            <a:endParaRPr lang="en-US" sz="3200" dirty="0" smtClean="0"/>
          </a:p>
          <a:p>
            <a:pPr marL="914400" indent="-290513">
              <a:buFont typeface="+mj-lt"/>
              <a:buAutoNum type="alphaUcPeriod"/>
            </a:pPr>
            <a:r>
              <a:rPr lang="en-US" sz="3200" dirty="0" smtClean="0"/>
              <a:t> was</a:t>
            </a:r>
          </a:p>
          <a:p>
            <a:pPr marL="914400" indent="-290513">
              <a:buFont typeface="+mj-lt"/>
              <a:buAutoNum type="alphaUcPeriod"/>
            </a:pPr>
            <a:r>
              <a:rPr lang="en-US" sz="3200" dirty="0" smtClean="0"/>
              <a:t> were</a:t>
            </a:r>
          </a:p>
          <a:p>
            <a:pPr marL="914400" indent="-290513">
              <a:buFont typeface="+mj-lt"/>
              <a:buAutoNum type="alphaUcPeriod"/>
            </a:pPr>
            <a:r>
              <a:rPr lang="en-US" sz="3200" dirty="0" smtClean="0"/>
              <a:t> am</a:t>
            </a:r>
          </a:p>
          <a:p>
            <a:pPr marL="914400" indent="-290513">
              <a:buFont typeface="+mj-lt"/>
              <a:buAutoNum type="alphaUcPeriod"/>
            </a:pPr>
            <a:r>
              <a:rPr lang="en-US" sz="3200" dirty="0" smtClean="0"/>
              <a:t> should be</a:t>
            </a:r>
            <a:endParaRPr lang="en-US" sz="3200" dirty="0"/>
          </a:p>
          <a:p>
            <a:pPr>
              <a:buNone/>
            </a:pPr>
            <a:endParaRPr lang="en-US" sz="3200" dirty="0"/>
          </a:p>
        </p:txBody>
      </p:sp>
      <p:pic>
        <p:nvPicPr>
          <p:cNvPr id="4" name="Picture 4" descr="C:\Documents and Settings\Administrator\Desktop\hand_right.gif"/>
          <p:cNvPicPr>
            <a:picLocks noChangeAspect="1" noChangeArrowheads="1" noCrop="1"/>
          </p:cNvPicPr>
          <p:nvPr/>
        </p:nvPicPr>
        <p:blipFill>
          <a:blip r:embed="rId3">
            <a:extLst>
              <a:ext uri="{28A0092B-C50C-407E-A947-70E740481C1C}">
                <a14:useLocalDpi xmlns="" xmlns:a14="http://schemas.microsoft.com/office/drawing/2010/main" val="0"/>
              </a:ext>
            </a:extLst>
          </a:blip>
          <a:srcRect/>
          <a:stretch>
            <a:fillRect/>
          </a:stretch>
        </p:blipFill>
        <p:spPr bwMode="auto">
          <a:xfrm rot="21434720">
            <a:off x="466785" y="37521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normAutofit fontScale="85000" lnSpcReduction="10000"/>
          </a:bodyPr>
          <a:lstStyle/>
          <a:p>
            <a:pPr>
              <a:buNone/>
            </a:pPr>
            <a:r>
              <a:rPr lang="en-US" dirty="0" smtClean="0"/>
              <a:t>For </a:t>
            </a:r>
            <a:r>
              <a:rPr lang="en-US" b="1" dirty="0" smtClean="0"/>
              <a:t>present unreal</a:t>
            </a:r>
            <a:r>
              <a:rPr lang="en-US" dirty="0" smtClean="0"/>
              <a:t> events, we put the verb in the condition clause one step back — into the past:</a:t>
            </a:r>
          </a:p>
          <a:p>
            <a:r>
              <a:rPr lang="en-US" dirty="0" smtClean="0"/>
              <a:t>If the Bulls </a:t>
            </a:r>
            <a:r>
              <a:rPr lang="en-US" u="sng" dirty="0" smtClean="0"/>
              <a:t>won</a:t>
            </a:r>
            <a:r>
              <a:rPr lang="en-US" dirty="0" smtClean="0"/>
              <a:t> another championship, Roberto </a:t>
            </a:r>
            <a:r>
              <a:rPr lang="en-US" u="sng" dirty="0" smtClean="0"/>
              <a:t>would drive</a:t>
            </a:r>
            <a:r>
              <a:rPr lang="en-US" dirty="0" smtClean="0"/>
              <a:t> into Chicago for the celebration.</a:t>
            </a:r>
          </a:p>
          <a:p>
            <a:r>
              <a:rPr lang="en-US" dirty="0" smtClean="0"/>
              <a:t>I </a:t>
            </a:r>
            <a:r>
              <a:rPr lang="en-US" u="sng" dirty="0" smtClean="0"/>
              <a:t>wish</a:t>
            </a:r>
            <a:r>
              <a:rPr lang="en-US" dirty="0" smtClean="0"/>
              <a:t> I </a:t>
            </a:r>
            <a:r>
              <a:rPr lang="en-US" u="sng" dirty="0" smtClean="0"/>
              <a:t>had</a:t>
            </a:r>
            <a:r>
              <a:rPr lang="en-US" dirty="0" smtClean="0"/>
              <a:t> tickets.</a:t>
            </a:r>
          </a:p>
          <a:p>
            <a:r>
              <a:rPr lang="en-US" dirty="0" smtClean="0"/>
              <a:t>If they </a:t>
            </a:r>
            <a:r>
              <a:rPr lang="en-US" u="sng" dirty="0" smtClean="0"/>
              <a:t>were</a:t>
            </a:r>
            <a:r>
              <a:rPr lang="en-US" dirty="0" smtClean="0"/>
              <a:t> available anywhere, I </a:t>
            </a:r>
            <a:r>
              <a:rPr lang="en-US" u="sng" dirty="0" smtClean="0"/>
              <a:t>would pay</a:t>
            </a:r>
            <a:r>
              <a:rPr lang="en-US" dirty="0" smtClean="0"/>
              <a:t> any price for them.</a:t>
            </a:r>
          </a:p>
          <a:p>
            <a:r>
              <a:rPr lang="en-US" dirty="0" smtClean="0"/>
              <a:t>If he </a:t>
            </a:r>
            <a:r>
              <a:rPr lang="en-US" u="sng" dirty="0" smtClean="0"/>
              <a:t>were</a:t>
            </a:r>
            <a:r>
              <a:rPr lang="en-US" dirty="0" smtClean="0"/>
              <a:t> a good friend, he </a:t>
            </a:r>
            <a:r>
              <a:rPr lang="en-US" u="sng" dirty="0" smtClean="0"/>
              <a:t>would buy</a:t>
            </a:r>
            <a:r>
              <a:rPr lang="en-US" dirty="0" smtClean="0"/>
              <a:t> them for me.</a:t>
            </a:r>
          </a:p>
          <a:p>
            <a:pPr>
              <a:buNone/>
            </a:pPr>
            <a:endParaRPr lang="en-US" b="1" dirty="0" smtClean="0"/>
          </a:p>
          <a:p>
            <a:pPr>
              <a:buNone/>
            </a:pPr>
            <a:r>
              <a:rPr lang="en-US" b="1" dirty="0" smtClean="0"/>
              <a:t>Note</a:t>
            </a:r>
            <a:r>
              <a:rPr lang="en-US" dirty="0" smtClean="0"/>
              <a:t> that wishing is always an unreal condition. Note, too, that the verb </a:t>
            </a:r>
            <a:r>
              <a:rPr lang="en-US" b="1" i="1" dirty="0" smtClean="0"/>
              <a:t>to be</a:t>
            </a:r>
            <a:r>
              <a:rPr lang="en-US" dirty="0" smtClean="0"/>
              <a:t> uses the form </a:t>
            </a:r>
            <a:r>
              <a:rPr lang="en-US" b="1" i="1" dirty="0" smtClean="0"/>
              <a:t>were</a:t>
            </a:r>
            <a:r>
              <a:rPr lang="en-US" b="1" dirty="0" smtClean="0"/>
              <a:t> </a:t>
            </a:r>
            <a:r>
              <a:rPr lang="en-US" dirty="0" smtClean="0"/>
              <a:t>in an unreal condition.</a:t>
            </a:r>
          </a:p>
          <a:p>
            <a:pPr>
              <a:buNone/>
            </a:pPr>
            <a:endParaRPr lang="en-US" dirty="0"/>
          </a:p>
        </p:txBody>
      </p:sp>
    </p:spTree>
  </p:cSld>
  <p:clrMapOvr>
    <a:masterClrMapping/>
  </p:clrMapOvr>
  <p:transition>
    <p:push/>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990600"/>
            <a:ext cx="8229600" cy="4525963"/>
          </a:xfrm>
        </p:spPr>
        <p:txBody>
          <a:bodyPr>
            <a:noAutofit/>
          </a:bodyPr>
          <a:lstStyle/>
          <a:p>
            <a:pPr marL="623888" indent="-623888">
              <a:buNone/>
            </a:pPr>
            <a:r>
              <a:rPr lang="en-US" sz="3200" dirty="0" smtClean="0"/>
              <a:t>35. </a:t>
            </a:r>
            <a:r>
              <a:rPr lang="en-US" sz="3200" dirty="0"/>
              <a:t>“Nothing that happens in this world ever happens by chance; it is all part of a grand design.” The author speaks of one’s </a:t>
            </a:r>
            <a:r>
              <a:rPr lang="en-US" sz="3200" dirty="0" smtClean="0"/>
              <a:t>______.</a:t>
            </a:r>
          </a:p>
          <a:p>
            <a:pPr marL="623888" indent="-623888">
              <a:buNone/>
            </a:pPr>
            <a:endParaRPr lang="en-US" sz="3200" dirty="0" smtClean="0"/>
          </a:p>
          <a:p>
            <a:pPr marL="914400" indent="-290513">
              <a:buFont typeface="+mj-lt"/>
              <a:buAutoNum type="alphaUcPeriod"/>
            </a:pPr>
            <a:r>
              <a:rPr lang="en-US" sz="3200" dirty="0" smtClean="0"/>
              <a:t> lucky</a:t>
            </a:r>
          </a:p>
          <a:p>
            <a:pPr marL="914400" indent="-290513">
              <a:buFont typeface="+mj-lt"/>
              <a:buAutoNum type="alphaUcPeriod"/>
            </a:pPr>
            <a:r>
              <a:rPr lang="en-US" sz="3200" dirty="0" smtClean="0"/>
              <a:t> destiny</a:t>
            </a:r>
          </a:p>
          <a:p>
            <a:pPr marL="914400" indent="-290513">
              <a:buFont typeface="+mj-lt"/>
              <a:buAutoNum type="alphaUcPeriod"/>
            </a:pPr>
            <a:r>
              <a:rPr lang="en-US" sz="3200" dirty="0"/>
              <a:t> </a:t>
            </a:r>
            <a:r>
              <a:rPr lang="en-US" sz="3200" dirty="0" smtClean="0"/>
              <a:t>dream</a:t>
            </a:r>
          </a:p>
          <a:p>
            <a:pPr marL="914400" indent="-290513">
              <a:buFont typeface="+mj-lt"/>
              <a:buAutoNum type="alphaUcPeriod"/>
            </a:pPr>
            <a:r>
              <a:rPr lang="en-US" sz="3200" dirty="0" smtClean="0"/>
              <a:t> ambition</a:t>
            </a:r>
            <a:endParaRPr lang="en-US" sz="32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542985" y="42855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525963"/>
          </a:xfrm>
        </p:spPr>
        <p:txBody>
          <a:bodyPr>
            <a:normAutofit/>
          </a:bodyPr>
          <a:lstStyle/>
          <a:p>
            <a:pPr marL="623888" indent="-623888">
              <a:buNone/>
            </a:pPr>
            <a:r>
              <a:rPr lang="en-US" sz="3200" dirty="0" smtClean="0"/>
              <a:t>36. </a:t>
            </a:r>
            <a:r>
              <a:rPr lang="en-US" sz="3200" dirty="0"/>
              <a:t>Which </a:t>
            </a:r>
            <a:r>
              <a:rPr lang="en-US" sz="3200" dirty="0" smtClean="0"/>
              <a:t>word </a:t>
            </a:r>
            <a:r>
              <a:rPr lang="en-US" sz="3200" dirty="0"/>
              <a:t>does NOT mean the same as the other three</a:t>
            </a:r>
            <a:r>
              <a:rPr lang="en-US" sz="3200" dirty="0" smtClean="0"/>
              <a:t>?</a:t>
            </a:r>
          </a:p>
          <a:p>
            <a:pPr marL="623888" indent="-623888">
              <a:buNone/>
            </a:pPr>
            <a:endParaRPr lang="en-US" sz="3200" dirty="0" smtClean="0"/>
          </a:p>
          <a:p>
            <a:pPr marL="623888" indent="-57150">
              <a:buFont typeface="+mj-lt"/>
              <a:buAutoNum type="alphaUcPeriod"/>
            </a:pPr>
            <a:r>
              <a:rPr lang="en-US" sz="3200" dirty="0"/>
              <a:t>	</a:t>
            </a:r>
            <a:r>
              <a:rPr lang="en-US" sz="3200" dirty="0" smtClean="0"/>
              <a:t>Defend</a:t>
            </a:r>
          </a:p>
          <a:p>
            <a:pPr marL="623888" indent="-57150">
              <a:buFont typeface="+mj-lt"/>
              <a:buAutoNum type="alphaUcPeriod"/>
            </a:pPr>
            <a:r>
              <a:rPr lang="en-US" sz="3200" dirty="0" smtClean="0"/>
              <a:t> Supply</a:t>
            </a:r>
          </a:p>
          <a:p>
            <a:pPr marL="623888" indent="-57150">
              <a:buFont typeface="+mj-lt"/>
              <a:buAutoNum type="alphaUcPeriod"/>
            </a:pPr>
            <a:r>
              <a:rPr lang="en-US" sz="3200" dirty="0"/>
              <a:t> </a:t>
            </a:r>
            <a:r>
              <a:rPr lang="en-US" sz="3200" dirty="0" smtClean="0"/>
              <a:t>Equip </a:t>
            </a:r>
          </a:p>
          <a:p>
            <a:pPr marL="623888" indent="-57150">
              <a:buFont typeface="+mj-lt"/>
              <a:buAutoNum type="alphaUcPeriod"/>
            </a:pPr>
            <a:r>
              <a:rPr lang="en-US" sz="3200" dirty="0" smtClean="0"/>
              <a:t> Furnish </a:t>
            </a:r>
            <a:endParaRPr lang="en-US" sz="32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390586" y="29139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95400"/>
            <a:ext cx="8229600" cy="4525963"/>
          </a:xfrm>
        </p:spPr>
        <p:txBody>
          <a:bodyPr>
            <a:noAutofit/>
          </a:bodyPr>
          <a:lstStyle/>
          <a:p>
            <a:pPr marL="566738" indent="-566738">
              <a:buNone/>
            </a:pPr>
            <a:r>
              <a:rPr lang="en-US" sz="3200" dirty="0" smtClean="0"/>
              <a:t>37. </a:t>
            </a:r>
            <a:r>
              <a:rPr lang="en-US" sz="3200" dirty="0"/>
              <a:t>Today, car manufacturers have begun to AUTOMATE their assembly lines using robots.  What does this trend mean</a:t>
            </a:r>
            <a:r>
              <a:rPr lang="en-US" sz="3200" dirty="0" smtClean="0"/>
              <a:t>?</a:t>
            </a:r>
          </a:p>
          <a:p>
            <a:pPr marL="566738" indent="-566738">
              <a:buNone/>
            </a:pPr>
            <a:endParaRPr lang="en-US" sz="3200" dirty="0" smtClean="0"/>
          </a:p>
          <a:p>
            <a:pPr marL="566738" indent="0">
              <a:buFont typeface="+mj-lt"/>
              <a:buAutoNum type="alphaUcPeriod"/>
            </a:pPr>
            <a:r>
              <a:rPr lang="en-US" sz="3200" dirty="0"/>
              <a:t>	</a:t>
            </a:r>
            <a:r>
              <a:rPr lang="en-US" sz="3200" dirty="0" smtClean="0"/>
              <a:t>Operate </a:t>
            </a:r>
            <a:r>
              <a:rPr lang="en-US" sz="3200" dirty="0"/>
              <a:t>through human workers </a:t>
            </a:r>
            <a:endParaRPr lang="en-US" sz="3200" dirty="0" smtClean="0"/>
          </a:p>
          <a:p>
            <a:pPr marL="566738" indent="0">
              <a:buFont typeface="+mj-lt"/>
              <a:buAutoNum type="alphaUcPeriod"/>
            </a:pPr>
            <a:r>
              <a:rPr lang="en-US" sz="3200" dirty="0"/>
              <a:t> </a:t>
            </a:r>
            <a:r>
              <a:rPr lang="en-US" sz="3200" dirty="0" smtClean="0"/>
              <a:t>Cars </a:t>
            </a:r>
            <a:r>
              <a:rPr lang="en-US" sz="3200" dirty="0"/>
              <a:t>are now </a:t>
            </a:r>
            <a:r>
              <a:rPr lang="en-US" sz="3200" dirty="0" smtClean="0"/>
              <a:t>automatic</a:t>
            </a:r>
          </a:p>
          <a:p>
            <a:pPr marL="566738" indent="0">
              <a:buFont typeface="+mj-lt"/>
              <a:buAutoNum type="alphaUcPeriod"/>
            </a:pPr>
            <a:r>
              <a:rPr lang="en-US" sz="3200" dirty="0"/>
              <a:t> Operate through </a:t>
            </a:r>
            <a:r>
              <a:rPr lang="en-US" sz="3200" dirty="0" smtClean="0"/>
              <a:t>machines</a:t>
            </a:r>
          </a:p>
          <a:p>
            <a:pPr marL="566738" indent="0">
              <a:buFont typeface="+mj-lt"/>
              <a:buAutoNum type="alphaUcPeriod"/>
            </a:pPr>
            <a:r>
              <a:rPr lang="en-US" sz="3200" dirty="0"/>
              <a:t> Produce more efficient cars</a:t>
            </a:r>
            <a:r>
              <a:rPr lang="en-US" sz="3200" dirty="0" smtClean="0"/>
              <a:t> </a:t>
            </a:r>
            <a:endParaRPr lang="en-US" sz="3200" dirty="0"/>
          </a:p>
          <a:p>
            <a:pPr>
              <a:buNone/>
            </a:pPr>
            <a:endParaRPr lang="en-US" sz="32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390586" y="51237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None/>
            </a:pPr>
            <a:r>
              <a:rPr lang="en-US" sz="3200" dirty="0" smtClean="0"/>
              <a:t>38. </a:t>
            </a:r>
            <a:r>
              <a:rPr lang="en-US" sz="3200" dirty="0"/>
              <a:t>Both Ruben and _____ plan to go</a:t>
            </a:r>
            <a:r>
              <a:rPr lang="en-US" sz="3200" dirty="0" smtClean="0"/>
              <a:t>.</a:t>
            </a:r>
          </a:p>
          <a:p>
            <a:pPr>
              <a:buNone/>
            </a:pPr>
            <a:endParaRPr lang="en-US" sz="3200" dirty="0"/>
          </a:p>
          <a:p>
            <a:pPr marL="1030288" indent="-231775">
              <a:buFont typeface="+mj-lt"/>
              <a:buAutoNum type="alphaUcPeriod"/>
            </a:pPr>
            <a:r>
              <a:rPr lang="en-US" sz="3200" dirty="0" smtClean="0"/>
              <a:t> I</a:t>
            </a:r>
          </a:p>
          <a:p>
            <a:pPr marL="1030288" indent="-231775">
              <a:buFont typeface="+mj-lt"/>
              <a:buAutoNum type="alphaUcPeriod"/>
            </a:pPr>
            <a:r>
              <a:rPr lang="en-US" sz="3200" dirty="0" smtClean="0"/>
              <a:t> me</a:t>
            </a:r>
          </a:p>
          <a:p>
            <a:pPr marL="1030288" indent="-231775">
              <a:buFont typeface="+mj-lt"/>
              <a:buAutoNum type="alphaUcPeriod"/>
            </a:pPr>
            <a:r>
              <a:rPr lang="en-US" sz="3200" dirty="0" smtClean="0"/>
              <a:t> myself</a:t>
            </a:r>
          </a:p>
          <a:p>
            <a:pPr marL="1030288" indent="-231775">
              <a:buFont typeface="+mj-lt"/>
              <a:buAutoNum type="alphaUcPeriod"/>
            </a:pPr>
            <a:r>
              <a:rPr lang="en-US" sz="3200" dirty="0" smtClean="0"/>
              <a:t> me myself</a:t>
            </a:r>
            <a:endParaRPr lang="en-US" sz="32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619186" y="26853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623888" indent="-623888">
              <a:buNone/>
            </a:pPr>
            <a:r>
              <a:rPr lang="en-US" sz="3200" dirty="0" smtClean="0"/>
              <a:t>39. </a:t>
            </a:r>
            <a:r>
              <a:rPr lang="en-US" sz="3200" dirty="0"/>
              <a:t>We should work for a total ban ______ pesticides that are harmful to man</a:t>
            </a:r>
            <a:r>
              <a:rPr lang="en-US" sz="3200" dirty="0" smtClean="0"/>
              <a:t>.</a:t>
            </a:r>
          </a:p>
          <a:p>
            <a:pPr marL="623888" indent="-623888">
              <a:buNone/>
            </a:pPr>
            <a:endParaRPr lang="en-US" sz="3200" dirty="0" smtClean="0"/>
          </a:p>
          <a:p>
            <a:pPr marL="623888" indent="-57150">
              <a:buFont typeface="+mj-lt"/>
              <a:buAutoNum type="alphaUcPeriod"/>
            </a:pPr>
            <a:r>
              <a:rPr lang="en-US" sz="3200" dirty="0" smtClean="0"/>
              <a:t> by </a:t>
            </a:r>
            <a:r>
              <a:rPr lang="en-US" sz="3200" dirty="0"/>
              <a:t>the use </a:t>
            </a:r>
            <a:endParaRPr lang="en-US" sz="3200" dirty="0" smtClean="0"/>
          </a:p>
          <a:p>
            <a:pPr marL="623888" indent="-57150">
              <a:buFont typeface="+mj-lt"/>
              <a:buAutoNum type="alphaUcPeriod"/>
            </a:pPr>
            <a:r>
              <a:rPr lang="en-US" sz="3200" dirty="0" smtClean="0"/>
              <a:t> with </a:t>
            </a:r>
            <a:r>
              <a:rPr lang="en-US" sz="3200" dirty="0"/>
              <a:t>the use </a:t>
            </a:r>
            <a:endParaRPr lang="en-US" sz="3200" dirty="0" smtClean="0"/>
          </a:p>
          <a:p>
            <a:pPr marL="623888" indent="-57150">
              <a:buFont typeface="+mj-lt"/>
              <a:buAutoNum type="alphaUcPeriod"/>
            </a:pPr>
            <a:r>
              <a:rPr lang="en-US" sz="3200" dirty="0"/>
              <a:t> on </a:t>
            </a:r>
            <a:r>
              <a:rPr lang="en-US" sz="3200" dirty="0" smtClean="0"/>
              <a:t>using</a:t>
            </a:r>
          </a:p>
          <a:p>
            <a:pPr marL="623888" indent="-57150">
              <a:buFont typeface="+mj-lt"/>
              <a:buAutoNum type="alphaUcPeriod"/>
            </a:pPr>
            <a:r>
              <a:rPr lang="en-US" sz="3200" dirty="0"/>
              <a:t> on the use of</a:t>
            </a:r>
          </a:p>
          <a:p>
            <a:pPr>
              <a:buNone/>
            </a:pPr>
            <a:endParaRPr lang="en-US" sz="32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390586" y="53523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457200"/>
            <a:ext cx="8229600" cy="5016691"/>
          </a:xfrm>
        </p:spPr>
        <p:txBody>
          <a:bodyPr>
            <a:noAutofit/>
          </a:bodyPr>
          <a:lstStyle/>
          <a:p>
            <a:pPr marL="739775" indent="-630238">
              <a:buNone/>
            </a:pPr>
            <a:r>
              <a:rPr lang="en-US" sz="3200" dirty="0" smtClean="0"/>
              <a:t>40. She described her classmate’s statement as SOPHOMORIC.  This means _____.</a:t>
            </a:r>
          </a:p>
          <a:p>
            <a:pPr marL="739775" indent="-630238">
              <a:buNone/>
            </a:pPr>
            <a:endParaRPr lang="en-US" sz="3200" dirty="0" smtClean="0"/>
          </a:p>
          <a:p>
            <a:pPr marL="739775" indent="0">
              <a:buFont typeface="+mj-lt"/>
              <a:buAutoNum type="alphaUcPeriod"/>
            </a:pPr>
            <a:r>
              <a:rPr lang="en-US" sz="3200" dirty="0" smtClean="0"/>
              <a:t> grown up </a:t>
            </a:r>
          </a:p>
          <a:p>
            <a:pPr marL="739775" indent="0">
              <a:buFont typeface="+mj-lt"/>
              <a:buAutoNum type="alphaUcPeriod"/>
            </a:pPr>
            <a:r>
              <a:rPr lang="en-US" sz="3200" dirty="0" smtClean="0"/>
              <a:t> mature</a:t>
            </a:r>
          </a:p>
          <a:p>
            <a:pPr marL="739775" indent="0">
              <a:buFont typeface="+mj-lt"/>
              <a:buAutoNum type="alphaUcPeriod"/>
            </a:pPr>
            <a:r>
              <a:rPr lang="en-US" sz="3200" dirty="0" smtClean="0"/>
              <a:t> immature</a:t>
            </a:r>
          </a:p>
          <a:p>
            <a:pPr marL="739775" indent="0">
              <a:buFont typeface="+mj-lt"/>
              <a:buAutoNum type="alphaUcPeriod"/>
            </a:pPr>
            <a:r>
              <a:rPr lang="en-US" sz="3200" dirty="0" smtClean="0"/>
              <a:t> wise</a:t>
            </a:r>
          </a:p>
          <a:p>
            <a:pPr marL="739775" indent="0">
              <a:buNone/>
            </a:pPr>
            <a:endParaRPr lang="en-US" sz="3200" dirty="0" smtClean="0"/>
          </a:p>
          <a:p>
            <a:pPr marL="739775" indent="0">
              <a:buNone/>
            </a:pPr>
            <a:endParaRPr lang="en-US" sz="3200" dirty="0" smtClean="0"/>
          </a:p>
          <a:p>
            <a:pPr marL="739775" indent="0">
              <a:buNone/>
            </a:pPr>
            <a:endParaRPr lang="en-US" sz="3200" dirty="0" smtClean="0"/>
          </a:p>
          <a:p>
            <a:pPr marL="739775" indent="0" algn="r">
              <a:buNone/>
            </a:pPr>
            <a:r>
              <a:rPr lang="en-US" sz="3200" dirty="0" smtClean="0"/>
              <a:t>		END</a:t>
            </a:r>
          </a:p>
        </p:txBody>
      </p:sp>
      <p:pic>
        <p:nvPicPr>
          <p:cNvPr id="3" name="Picture 4" descr="C:\Documents and Settings\Administrator\Desktop\hand_right.gif"/>
          <p:cNvPicPr>
            <a:picLocks noChangeAspect="1" noChangeArrowheads="1" noCrop="1"/>
          </p:cNvPicPr>
          <p:nvPr/>
        </p:nvPicPr>
        <p:blipFill>
          <a:blip r:embed="rId3">
            <a:extLst>
              <a:ext uri="{28A0092B-C50C-407E-A947-70E740481C1C}">
                <a14:useLocalDpi xmlns="" xmlns:a14="http://schemas.microsoft.com/office/drawing/2010/main" val="0"/>
              </a:ext>
            </a:extLst>
          </a:blip>
          <a:srcRect/>
          <a:stretch>
            <a:fillRect/>
          </a:stretch>
        </p:blipFill>
        <p:spPr bwMode="auto">
          <a:xfrm rot="21434720">
            <a:off x="466785" y="3752174"/>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990600"/>
            <a:ext cx="8458200" cy="5016691"/>
          </a:xfrm>
        </p:spPr>
        <p:txBody>
          <a:bodyPr>
            <a:noAutofit/>
          </a:bodyPr>
          <a:lstStyle/>
          <a:p>
            <a:pPr marL="739775" indent="-630238">
              <a:buNone/>
            </a:pPr>
            <a:r>
              <a:rPr lang="en-US" sz="4000" dirty="0" smtClean="0"/>
              <a:t>SOPHOMORIC</a:t>
            </a:r>
          </a:p>
          <a:p>
            <a:pPr marL="739775" indent="-630238">
              <a:buNone/>
            </a:pPr>
            <a:endParaRPr lang="en-US" sz="3200" dirty="0" smtClean="0"/>
          </a:p>
          <a:p>
            <a:pPr marL="739775" indent="-630238">
              <a:buNone/>
            </a:pPr>
            <a:r>
              <a:rPr lang="en-US" sz="3200" dirty="0" smtClean="0"/>
              <a:t>- conceited and overconfident of</a:t>
            </a:r>
          </a:p>
          <a:p>
            <a:pPr marL="739775" indent="-630238">
              <a:buNone/>
            </a:pPr>
            <a:r>
              <a:rPr lang="en-US" sz="3200" dirty="0" smtClean="0"/>
              <a:t> knowledge but poorly informed and </a:t>
            </a:r>
          </a:p>
          <a:p>
            <a:pPr marL="739775" indent="-630238">
              <a:buNone/>
            </a:pPr>
            <a:r>
              <a:rPr lang="en-US" sz="3200" dirty="0" smtClean="0"/>
              <a:t>immature</a:t>
            </a:r>
          </a:p>
          <a:p>
            <a:pPr marL="739775" indent="-630238">
              <a:buNone/>
            </a:pPr>
            <a:endParaRPr lang="en-US" sz="3200" dirty="0" smtClean="0"/>
          </a:p>
        </p:txBody>
      </p:sp>
    </p:spTree>
  </p:cSld>
  <p:clrMapOvr>
    <a:masterClrMapping/>
  </p:clrMapOvr>
  <p:transition>
    <p:push/>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back1.jpg"/>
          <p:cNvPicPr>
            <a:picLocks noChangeAspect="1"/>
          </p:cNvPicPr>
          <p:nvPr/>
        </p:nvPicPr>
        <p:blipFill>
          <a:blip r:embed="rId2"/>
          <a:stretch>
            <a:fillRect/>
          </a:stretch>
        </p:blipFill>
        <p:spPr>
          <a:xfrm>
            <a:off x="0" y="0"/>
            <a:ext cx="9169830" cy="6858000"/>
          </a:xfrm>
          <a:prstGeom prst="rect">
            <a:avLst/>
          </a:prstGeom>
        </p:spPr>
      </p:pic>
      <p:sp>
        <p:nvSpPr>
          <p:cNvPr id="2" name="Content Placeholder 1"/>
          <p:cNvSpPr>
            <a:spLocks noGrp="1"/>
          </p:cNvSpPr>
          <p:nvPr>
            <p:ph idx="1"/>
          </p:nvPr>
        </p:nvSpPr>
        <p:spPr/>
        <p:txBody>
          <a:bodyPr/>
          <a:lstStyle/>
          <a:p>
            <a:pPr algn="ctr">
              <a:buNone/>
            </a:pPr>
            <a:endParaRPr lang="en-US" sz="4400" dirty="0" smtClean="0">
              <a:latin typeface="Arial Black" pitchFamily="34" charset="0"/>
            </a:endParaRPr>
          </a:p>
          <a:p>
            <a:pPr algn="ctr">
              <a:buNone/>
            </a:pPr>
            <a:endParaRPr lang="en-US" sz="4400" dirty="0" smtClean="0">
              <a:latin typeface="Arial Black" pitchFamily="34" charset="0"/>
            </a:endParaRPr>
          </a:p>
          <a:p>
            <a:pPr algn="ctr">
              <a:buNone/>
            </a:pPr>
            <a:r>
              <a:rPr lang="en-US" sz="7200" dirty="0" smtClean="0">
                <a:latin typeface="Arial Black" pitchFamily="34" charset="0"/>
              </a:rPr>
              <a:t>FILIPINO</a:t>
            </a:r>
          </a:p>
          <a:p>
            <a:pPr algn="ctr">
              <a:buNone/>
            </a:pPr>
            <a:r>
              <a:rPr lang="en-US" sz="4800" dirty="0" smtClean="0"/>
              <a:t>Items 1-30</a:t>
            </a:r>
          </a:p>
          <a:p>
            <a:pPr>
              <a:buNone/>
            </a:pPr>
            <a:endParaRPr lang="en-US" dirty="0"/>
          </a:p>
        </p:txBody>
      </p:sp>
      <p:sp>
        <p:nvSpPr>
          <p:cNvPr id="3" name="Title 2"/>
          <p:cNvSpPr>
            <a:spLocks noGrp="1"/>
          </p:cNvSpPr>
          <p:nvPr>
            <p:ph type="title"/>
          </p:nvPr>
        </p:nvSpPr>
        <p:spPr/>
        <p:txBody>
          <a:bodyPr/>
          <a:lstStyle/>
          <a:p>
            <a:endParaRPr lang="en-US" dirty="0"/>
          </a:p>
        </p:txBody>
      </p:sp>
    </p:spTree>
  </p:cSld>
  <p:clrMapOvr>
    <a:masterClrMapping/>
  </p:clrMapOvr>
  <p:transition>
    <p:push/>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762000"/>
            <a:ext cx="8229600" cy="4525963"/>
          </a:xfrm>
        </p:spPr>
        <p:txBody>
          <a:bodyPr>
            <a:noAutofit/>
          </a:bodyPr>
          <a:lstStyle/>
          <a:p>
            <a:pPr marL="508000" indent="-398463">
              <a:buNone/>
            </a:pPr>
            <a:r>
              <a:rPr lang="en-US" sz="3200" dirty="0" smtClean="0"/>
              <a:t>1. </a:t>
            </a:r>
            <a:r>
              <a:rPr lang="en-US" sz="3200" dirty="0" err="1" smtClean="0"/>
              <a:t>Anong</a:t>
            </a:r>
            <a:r>
              <a:rPr lang="en-US" sz="3200" dirty="0" smtClean="0"/>
              <a:t> </a:t>
            </a:r>
            <a:r>
              <a:rPr lang="en-US" sz="3200" dirty="0" err="1" smtClean="0"/>
              <a:t>uri</a:t>
            </a:r>
            <a:r>
              <a:rPr lang="en-US" sz="3200" dirty="0" smtClean="0"/>
              <a:t> </a:t>
            </a:r>
            <a:r>
              <a:rPr lang="en-US" sz="3200" dirty="0" err="1" smtClean="0"/>
              <a:t>ng</a:t>
            </a:r>
            <a:r>
              <a:rPr lang="en-US" sz="3200" dirty="0" smtClean="0"/>
              <a:t> </a:t>
            </a:r>
            <a:r>
              <a:rPr lang="en-US" sz="3200" dirty="0" err="1" smtClean="0"/>
              <a:t>tayutay</a:t>
            </a:r>
            <a:r>
              <a:rPr lang="en-US" sz="3200" dirty="0" smtClean="0"/>
              <a:t> </a:t>
            </a:r>
            <a:r>
              <a:rPr lang="en-US" sz="3200" dirty="0" err="1" smtClean="0"/>
              <a:t>ang</a:t>
            </a:r>
            <a:r>
              <a:rPr lang="en-US" sz="3200" dirty="0" smtClean="0"/>
              <a:t> </a:t>
            </a:r>
            <a:r>
              <a:rPr lang="en-US" sz="3200" dirty="0" err="1" smtClean="0"/>
              <a:t>ginamit</a:t>
            </a:r>
            <a:r>
              <a:rPr lang="en-US" sz="3200" dirty="0" smtClean="0"/>
              <a:t> </a:t>
            </a:r>
            <a:r>
              <a:rPr lang="en-US" sz="3200" dirty="0" err="1" smtClean="0"/>
              <a:t>sa</a:t>
            </a:r>
            <a:r>
              <a:rPr lang="en-US" sz="3200" dirty="0" smtClean="0"/>
              <a:t> </a:t>
            </a:r>
            <a:r>
              <a:rPr lang="en-US" sz="3200" dirty="0" err="1" smtClean="0"/>
              <a:t>sumusunod</a:t>
            </a:r>
            <a:r>
              <a:rPr lang="en-US" sz="3200" dirty="0" smtClean="0"/>
              <a:t> </a:t>
            </a:r>
            <a:r>
              <a:rPr lang="en-US" sz="3200" dirty="0" err="1" smtClean="0"/>
              <a:t>na</a:t>
            </a:r>
            <a:r>
              <a:rPr lang="en-US" sz="3200" dirty="0" smtClean="0"/>
              <a:t> </a:t>
            </a:r>
            <a:r>
              <a:rPr lang="en-US" sz="3200" dirty="0" err="1" smtClean="0"/>
              <a:t>pangungusap</a:t>
            </a:r>
            <a:r>
              <a:rPr lang="en-US" sz="3200" dirty="0" smtClean="0"/>
              <a:t>?</a:t>
            </a:r>
          </a:p>
          <a:p>
            <a:pPr marL="365125" indent="142875">
              <a:buNone/>
            </a:pPr>
            <a:r>
              <a:rPr lang="en-US" sz="3200" dirty="0" smtClean="0"/>
              <a:t>	NADUROG ANG KANYANG PUSO SA TINDI NG DALAMHATI.</a:t>
            </a:r>
          </a:p>
          <a:p>
            <a:pPr marL="365125" indent="142875">
              <a:buNone/>
            </a:pPr>
            <a:endParaRPr lang="en-US" sz="3200" dirty="0" smtClean="0"/>
          </a:p>
          <a:p>
            <a:pPr marL="623888" indent="-115888">
              <a:buFont typeface="+mj-lt"/>
              <a:buAutoNum type="alphaUcPeriod"/>
            </a:pPr>
            <a:r>
              <a:rPr lang="en-US" sz="3200" dirty="0" smtClean="0"/>
              <a:t> </a:t>
            </a:r>
            <a:r>
              <a:rPr lang="en-US" sz="3200" dirty="0" err="1" smtClean="0"/>
              <a:t>Pagmamalabis</a:t>
            </a:r>
            <a:endParaRPr lang="en-US" sz="3200" dirty="0" smtClean="0"/>
          </a:p>
          <a:p>
            <a:pPr marL="623888" indent="-115888">
              <a:buFont typeface="+mj-lt"/>
              <a:buAutoNum type="alphaUcPeriod"/>
            </a:pPr>
            <a:r>
              <a:rPr lang="en-US" sz="3200" dirty="0" smtClean="0"/>
              <a:t> </a:t>
            </a:r>
            <a:r>
              <a:rPr lang="en-US" sz="3200" dirty="0" err="1" smtClean="0"/>
              <a:t>Pagpapalit-tawag</a:t>
            </a:r>
            <a:endParaRPr lang="en-US" sz="3200" dirty="0" smtClean="0"/>
          </a:p>
          <a:p>
            <a:pPr marL="623888" indent="-115888">
              <a:buFont typeface="+mj-lt"/>
              <a:buAutoNum type="alphaUcPeriod"/>
            </a:pPr>
            <a:r>
              <a:rPr lang="en-US" sz="3200" dirty="0" smtClean="0"/>
              <a:t> </a:t>
            </a:r>
            <a:r>
              <a:rPr lang="en-US" sz="3200" dirty="0" err="1" smtClean="0"/>
              <a:t>Pagwawangis</a:t>
            </a:r>
            <a:endParaRPr lang="en-US" sz="3200" dirty="0" smtClean="0"/>
          </a:p>
          <a:p>
            <a:pPr marL="623888" indent="-115888">
              <a:buFont typeface="+mj-lt"/>
              <a:buAutoNum type="alphaUcPeriod"/>
            </a:pPr>
            <a:r>
              <a:rPr lang="en-US" sz="3200" dirty="0" smtClean="0"/>
              <a:t> </a:t>
            </a:r>
            <a:r>
              <a:rPr lang="en-US" sz="3200" dirty="0" err="1" smtClean="0"/>
              <a:t>Pagkahabag</a:t>
            </a:r>
            <a:endParaRPr lang="en-US" sz="3200" dirty="0"/>
          </a:p>
        </p:txBody>
      </p:sp>
      <p:pic>
        <p:nvPicPr>
          <p:cNvPr id="4" name="Picture 4" descr="C:\Documents and Settings\Administrator\Desktop\hand_right.gif"/>
          <p:cNvPicPr>
            <a:picLocks noChangeAspect="1" noChangeArrowheads="1" noCrop="1"/>
          </p:cNvPicPr>
          <p:nvPr/>
        </p:nvPicPr>
        <p:blipFill>
          <a:blip r:embed="rId3">
            <a:extLst>
              <a:ext uri="{28A0092B-C50C-407E-A947-70E740481C1C}">
                <a14:useLocalDpi xmlns="" xmlns:a14="http://schemas.microsoft.com/office/drawing/2010/main" val="0"/>
              </a:ext>
            </a:extLst>
          </a:blip>
          <a:srcRect/>
          <a:stretch>
            <a:fillRect/>
          </a:stretch>
        </p:blipFill>
        <p:spPr bwMode="auto">
          <a:xfrm rot="21434720">
            <a:off x="314384" y="35997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698309"/>
            <a:ext cx="8229600" cy="5550091"/>
          </a:xfrm>
        </p:spPr>
        <p:txBody>
          <a:bodyPr>
            <a:normAutofit fontScale="85000" lnSpcReduction="20000"/>
          </a:bodyPr>
          <a:lstStyle/>
          <a:p>
            <a:pPr>
              <a:buNone/>
            </a:pPr>
            <a:r>
              <a:rPr lang="en-US" dirty="0" smtClean="0"/>
              <a:t> A. </a:t>
            </a:r>
            <a:r>
              <a:rPr lang="en-US" dirty="0" err="1" smtClean="0"/>
              <a:t>Pagmamalabis</a:t>
            </a:r>
            <a:r>
              <a:rPr lang="en-US" dirty="0" smtClean="0"/>
              <a:t> - </a:t>
            </a:r>
            <a:r>
              <a:rPr lang="en-US" dirty="0" err="1" smtClean="0"/>
              <a:t>Lubhang</a:t>
            </a:r>
            <a:r>
              <a:rPr lang="en-US" dirty="0" smtClean="0"/>
              <a:t> </a:t>
            </a:r>
            <a:r>
              <a:rPr lang="en-US" dirty="0" err="1" smtClean="0"/>
              <a:t>pinalalabis</a:t>
            </a:r>
            <a:r>
              <a:rPr lang="en-US" dirty="0" smtClean="0"/>
              <a:t> </a:t>
            </a:r>
            <a:r>
              <a:rPr lang="en-US" dirty="0" err="1" smtClean="0"/>
              <a:t>ang</a:t>
            </a:r>
            <a:r>
              <a:rPr lang="en-US" dirty="0" smtClean="0"/>
              <a:t> </a:t>
            </a:r>
            <a:r>
              <a:rPr lang="en-US" dirty="0" err="1" smtClean="0"/>
              <a:t>katunayan</a:t>
            </a:r>
            <a:r>
              <a:rPr lang="en-US" dirty="0" smtClean="0"/>
              <a:t> </a:t>
            </a:r>
            <a:r>
              <a:rPr lang="en-US" dirty="0" err="1" smtClean="0"/>
              <a:t>ng</a:t>
            </a:r>
            <a:r>
              <a:rPr lang="en-US" dirty="0" smtClean="0"/>
              <a:t> </a:t>
            </a:r>
            <a:r>
              <a:rPr lang="en-US" dirty="0" err="1" smtClean="0"/>
              <a:t>kalagayan</a:t>
            </a:r>
            <a:r>
              <a:rPr lang="en-US" dirty="0" smtClean="0"/>
              <a:t> </a:t>
            </a:r>
            <a:r>
              <a:rPr lang="en-US" dirty="0" err="1" smtClean="0"/>
              <a:t>ng</a:t>
            </a:r>
            <a:r>
              <a:rPr lang="en-US" dirty="0" smtClean="0"/>
              <a:t> </a:t>
            </a:r>
            <a:r>
              <a:rPr lang="en-US" dirty="0" err="1" smtClean="0"/>
              <a:t>tao</a:t>
            </a:r>
            <a:r>
              <a:rPr lang="en-US" dirty="0" smtClean="0"/>
              <a:t>, </a:t>
            </a:r>
            <a:r>
              <a:rPr lang="en-US" dirty="0" err="1" smtClean="0"/>
              <a:t>bagay</a:t>
            </a:r>
            <a:r>
              <a:rPr lang="en-US" dirty="0" smtClean="0"/>
              <a:t>, </a:t>
            </a:r>
            <a:r>
              <a:rPr lang="en-US" dirty="0" err="1" smtClean="0"/>
              <a:t>pangyayari</a:t>
            </a:r>
            <a:r>
              <a:rPr lang="en-US" dirty="0" smtClean="0"/>
              <a:t>, at </a:t>
            </a:r>
            <a:r>
              <a:rPr lang="en-US" dirty="0" err="1" smtClean="0"/>
              <a:t>iba</a:t>
            </a:r>
            <a:r>
              <a:rPr lang="en-US" dirty="0" smtClean="0"/>
              <a:t> pa </a:t>
            </a:r>
            <a:r>
              <a:rPr lang="en-US" dirty="0" err="1" smtClean="0"/>
              <a:t>sa</a:t>
            </a:r>
            <a:r>
              <a:rPr lang="en-US" dirty="0" smtClean="0"/>
              <a:t> </a:t>
            </a:r>
            <a:r>
              <a:rPr lang="en-US" dirty="0" err="1" smtClean="0"/>
              <a:t>pagpapahayag</a:t>
            </a:r>
            <a:r>
              <a:rPr lang="en-US" dirty="0" smtClean="0"/>
              <a:t> </a:t>
            </a:r>
            <a:r>
              <a:rPr lang="en-US" dirty="0" err="1" smtClean="0"/>
              <a:t>nito</a:t>
            </a:r>
            <a:r>
              <a:rPr lang="en-US" dirty="0" smtClean="0"/>
              <a:t> </a:t>
            </a:r>
          </a:p>
          <a:p>
            <a:pPr>
              <a:buNone/>
            </a:pPr>
            <a:endParaRPr lang="en-US" dirty="0" smtClean="0"/>
          </a:p>
          <a:p>
            <a:pPr>
              <a:buNone/>
            </a:pPr>
            <a:r>
              <a:rPr lang="en-US" dirty="0" smtClean="0"/>
              <a:t>B. </a:t>
            </a:r>
            <a:r>
              <a:rPr lang="en-US" dirty="0" err="1" smtClean="0"/>
              <a:t>Pagpapalit-tawag</a:t>
            </a:r>
            <a:r>
              <a:rPr lang="en-US" dirty="0" smtClean="0"/>
              <a:t>- </a:t>
            </a:r>
            <a:r>
              <a:rPr lang="en-US" dirty="0" err="1" smtClean="0"/>
              <a:t>Pagpapalit</a:t>
            </a:r>
            <a:r>
              <a:rPr lang="en-US" dirty="0" smtClean="0"/>
              <a:t> </a:t>
            </a:r>
            <a:r>
              <a:rPr lang="en-US" dirty="0" err="1" smtClean="0"/>
              <a:t>ng</a:t>
            </a:r>
            <a:r>
              <a:rPr lang="en-US" dirty="0" smtClean="0"/>
              <a:t> </a:t>
            </a:r>
            <a:r>
              <a:rPr lang="en-US" dirty="0" err="1" smtClean="0"/>
              <a:t>katawagan</a:t>
            </a:r>
            <a:r>
              <a:rPr lang="en-US" dirty="0" smtClean="0"/>
              <a:t> </a:t>
            </a:r>
            <a:r>
              <a:rPr lang="en-US" dirty="0" err="1" smtClean="0"/>
              <a:t>sa</a:t>
            </a:r>
            <a:r>
              <a:rPr lang="en-US" dirty="0" smtClean="0"/>
              <a:t> </a:t>
            </a:r>
            <a:r>
              <a:rPr lang="en-US" dirty="0" err="1" smtClean="0"/>
              <a:t>isang</a:t>
            </a:r>
            <a:r>
              <a:rPr lang="en-US" dirty="0" smtClean="0"/>
              <a:t> </a:t>
            </a:r>
            <a:r>
              <a:rPr lang="en-US" dirty="0" err="1" smtClean="0"/>
              <a:t>karaniwang</a:t>
            </a:r>
            <a:r>
              <a:rPr lang="en-US" dirty="0" smtClean="0"/>
              <a:t> </a:t>
            </a:r>
            <a:r>
              <a:rPr lang="en-US" dirty="0" err="1" smtClean="0"/>
              <a:t>bagay</a:t>
            </a:r>
            <a:r>
              <a:rPr lang="en-US" dirty="0" smtClean="0"/>
              <a:t> </a:t>
            </a:r>
            <a:r>
              <a:rPr lang="en-US" dirty="0" err="1" smtClean="0"/>
              <a:t>na</a:t>
            </a:r>
            <a:r>
              <a:rPr lang="en-US" dirty="0" smtClean="0"/>
              <a:t> </a:t>
            </a:r>
            <a:r>
              <a:rPr lang="en-US" dirty="0" err="1" smtClean="0"/>
              <a:t>magkaugnay</a:t>
            </a:r>
            <a:r>
              <a:rPr lang="en-US" dirty="0" smtClean="0"/>
              <a:t>. </a:t>
            </a:r>
          </a:p>
          <a:p>
            <a:pPr>
              <a:buNone/>
            </a:pPr>
            <a:r>
              <a:rPr lang="fi-FI" i="1" dirty="0" smtClean="0"/>
              <a:t>Bukas ay makukuha ko na ang korona (kapangyarihan)</a:t>
            </a:r>
            <a:endParaRPr lang="en-US" i="1" dirty="0" smtClean="0"/>
          </a:p>
          <a:p>
            <a:pPr>
              <a:buNone/>
            </a:pPr>
            <a:endParaRPr lang="en-US" dirty="0" smtClean="0"/>
          </a:p>
          <a:p>
            <a:pPr>
              <a:buNone/>
            </a:pPr>
            <a:r>
              <a:rPr lang="en-US" dirty="0" smtClean="0"/>
              <a:t>C. </a:t>
            </a:r>
            <a:r>
              <a:rPr lang="en-US" dirty="0" err="1" smtClean="0"/>
              <a:t>Pagwawangis</a:t>
            </a:r>
            <a:r>
              <a:rPr lang="en-US" dirty="0" smtClean="0"/>
              <a:t>- </a:t>
            </a:r>
            <a:r>
              <a:rPr lang="en-US" dirty="0" err="1" smtClean="0"/>
              <a:t>Ito'y</a:t>
            </a:r>
            <a:r>
              <a:rPr lang="en-US" dirty="0" smtClean="0"/>
              <a:t> </a:t>
            </a:r>
            <a:r>
              <a:rPr lang="en-US" dirty="0" err="1" smtClean="0"/>
              <a:t>naghahambing</a:t>
            </a:r>
            <a:r>
              <a:rPr lang="en-US" dirty="0" smtClean="0"/>
              <a:t> din </a:t>
            </a:r>
            <a:r>
              <a:rPr lang="en-US" dirty="0" err="1" smtClean="0"/>
              <a:t>gaya</a:t>
            </a:r>
            <a:r>
              <a:rPr lang="en-US" dirty="0" smtClean="0"/>
              <a:t> </a:t>
            </a:r>
            <a:r>
              <a:rPr lang="en-US" dirty="0" err="1" smtClean="0"/>
              <a:t>ng</a:t>
            </a:r>
            <a:r>
              <a:rPr lang="en-US" dirty="0" smtClean="0"/>
              <a:t>, </a:t>
            </a:r>
            <a:r>
              <a:rPr lang="en-US" dirty="0" err="1" smtClean="0"/>
              <a:t>pagtutulad</a:t>
            </a:r>
            <a:r>
              <a:rPr lang="en-US" dirty="0" smtClean="0"/>
              <a:t> </a:t>
            </a:r>
            <a:r>
              <a:rPr lang="en-US" dirty="0" err="1" smtClean="0"/>
              <a:t>ngunit</a:t>
            </a:r>
            <a:r>
              <a:rPr lang="en-US" dirty="0" smtClean="0"/>
              <a:t> </a:t>
            </a:r>
            <a:r>
              <a:rPr lang="en-US" dirty="0" err="1" smtClean="0"/>
              <a:t>hindi</a:t>
            </a:r>
            <a:r>
              <a:rPr lang="en-US" dirty="0" smtClean="0"/>
              <a:t> </a:t>
            </a:r>
            <a:r>
              <a:rPr lang="en-US" dirty="0" err="1" smtClean="0"/>
              <a:t>ginagamitan</a:t>
            </a:r>
            <a:r>
              <a:rPr lang="en-US" dirty="0" smtClean="0"/>
              <a:t> </a:t>
            </a:r>
            <a:r>
              <a:rPr lang="en-US" dirty="0" err="1" smtClean="0"/>
              <a:t>ng</a:t>
            </a:r>
            <a:r>
              <a:rPr lang="en-US" dirty="0" smtClean="0"/>
              <a:t> </a:t>
            </a:r>
            <a:r>
              <a:rPr lang="en-US" dirty="0" err="1" smtClean="0"/>
              <a:t>mga</a:t>
            </a:r>
            <a:r>
              <a:rPr lang="en-US" dirty="0" smtClean="0"/>
              <a:t> </a:t>
            </a:r>
            <a:r>
              <a:rPr lang="en-US" dirty="0" err="1" smtClean="0"/>
              <a:t>salitang</a:t>
            </a:r>
            <a:r>
              <a:rPr lang="en-US" dirty="0" smtClean="0"/>
              <a:t> </a:t>
            </a:r>
            <a:r>
              <a:rPr lang="en-US" dirty="0" err="1" smtClean="0"/>
              <a:t>gaya</a:t>
            </a:r>
            <a:r>
              <a:rPr lang="en-US" dirty="0" smtClean="0"/>
              <a:t> </a:t>
            </a:r>
            <a:r>
              <a:rPr lang="en-US" dirty="0" err="1" smtClean="0"/>
              <a:t>ng</a:t>
            </a:r>
            <a:r>
              <a:rPr lang="en-US" dirty="0" smtClean="0"/>
              <a:t>, </a:t>
            </a:r>
            <a:r>
              <a:rPr lang="en-US" dirty="0" err="1" smtClean="0"/>
              <a:t>kapara</a:t>
            </a:r>
            <a:r>
              <a:rPr lang="en-US" dirty="0" smtClean="0"/>
              <a:t>, </a:t>
            </a:r>
            <a:r>
              <a:rPr lang="en-US" dirty="0" err="1" smtClean="0"/>
              <a:t>kawangis</a:t>
            </a:r>
            <a:r>
              <a:rPr lang="en-US" dirty="0" smtClean="0"/>
              <a:t>, </a:t>
            </a:r>
            <a:r>
              <a:rPr lang="en-US" dirty="0" err="1" smtClean="0"/>
              <a:t>tila</a:t>
            </a:r>
            <a:r>
              <a:rPr lang="en-US" dirty="0" smtClean="0"/>
              <a:t>, at </a:t>
            </a:r>
            <a:r>
              <a:rPr lang="en-US" dirty="0" err="1" smtClean="0"/>
              <a:t>katulad</a:t>
            </a:r>
            <a:r>
              <a:rPr lang="en-US" dirty="0" smtClean="0"/>
              <a:t> </a:t>
            </a:r>
            <a:r>
              <a:rPr lang="en-US" dirty="0" err="1" smtClean="0"/>
              <a:t>sapagkat</a:t>
            </a:r>
            <a:r>
              <a:rPr lang="en-US" dirty="0" smtClean="0"/>
              <a:t> </a:t>
            </a:r>
            <a:r>
              <a:rPr lang="en-US" dirty="0" err="1" smtClean="0"/>
              <a:t>ito</a:t>
            </a:r>
            <a:r>
              <a:rPr lang="en-US" dirty="0" smtClean="0"/>
              <a:t> ay </a:t>
            </a:r>
            <a:r>
              <a:rPr lang="en-US" dirty="0" err="1" smtClean="0"/>
              <a:t>tiyakang</a:t>
            </a:r>
            <a:r>
              <a:rPr lang="en-US" dirty="0" smtClean="0"/>
              <a:t> </a:t>
            </a:r>
            <a:r>
              <a:rPr lang="en-US" dirty="0" err="1" smtClean="0"/>
              <a:t>paghahambing</a:t>
            </a:r>
            <a:r>
              <a:rPr lang="en-US" dirty="0" smtClean="0"/>
              <a:t>.</a:t>
            </a:r>
          </a:p>
          <a:p>
            <a:pPr>
              <a:buNone/>
            </a:pPr>
            <a:r>
              <a:rPr lang="en-US" i="1" dirty="0" err="1" smtClean="0"/>
              <a:t>Ang</a:t>
            </a:r>
            <a:r>
              <a:rPr lang="en-US" i="1" dirty="0" smtClean="0"/>
              <a:t> </a:t>
            </a:r>
            <a:r>
              <a:rPr lang="en-US" i="1" dirty="0" err="1" smtClean="0"/>
              <a:t>puso</a:t>
            </a:r>
            <a:r>
              <a:rPr lang="en-US" i="1" dirty="0" smtClean="0"/>
              <a:t> </a:t>
            </a:r>
            <a:r>
              <a:rPr lang="en-US" i="1" dirty="0" err="1" smtClean="0"/>
              <a:t>niya</a:t>
            </a:r>
            <a:r>
              <a:rPr lang="en-US" i="1" dirty="0" smtClean="0"/>
              <a:t> ay </a:t>
            </a:r>
            <a:r>
              <a:rPr lang="en-US" i="1" dirty="0" err="1" smtClean="0"/>
              <a:t>bato</a:t>
            </a:r>
            <a:r>
              <a:rPr lang="en-US" i="1" dirty="0" smtClean="0"/>
              <a:t>.</a:t>
            </a:r>
          </a:p>
          <a:p>
            <a:pPr>
              <a:buNone/>
            </a:pPr>
            <a:endParaRPr lang="en-US" dirty="0" smtClean="0"/>
          </a:p>
          <a:p>
            <a:pPr>
              <a:buNone/>
            </a:pPr>
            <a:r>
              <a:rPr lang="en-US" dirty="0" smtClean="0"/>
              <a:t>D. </a:t>
            </a:r>
            <a:r>
              <a:rPr lang="en-US" dirty="0" err="1" smtClean="0"/>
              <a:t>Pagkahabag</a:t>
            </a:r>
            <a:r>
              <a:rPr lang="en-US" dirty="0" smtClean="0"/>
              <a:t> – </a:t>
            </a:r>
            <a:r>
              <a:rPr lang="en-US" dirty="0" err="1" smtClean="0"/>
              <a:t>pagkaawa</a:t>
            </a:r>
            <a:endParaRPr lang="en-US" dirty="0" smtClean="0"/>
          </a:p>
          <a:p>
            <a:pPr>
              <a:buNone/>
            </a:pPr>
            <a:r>
              <a:rPr lang="en-US" dirty="0" smtClean="0"/>
              <a:t>	</a:t>
            </a:r>
          </a:p>
          <a:p>
            <a:pPr>
              <a:buNone/>
            </a:pPr>
            <a:endParaRPr lang="en-US" dirty="0"/>
          </a:p>
        </p:txBody>
      </p:sp>
    </p:spTree>
  </p:cSld>
  <p:clrMapOvr>
    <a:masterClrMapping/>
  </p:clrMapOvr>
  <p:transition>
    <p:push/>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219200"/>
            <a:ext cx="8229600" cy="4525963"/>
          </a:xfrm>
        </p:spPr>
        <p:txBody>
          <a:bodyPr>
            <a:noAutofit/>
          </a:bodyPr>
          <a:lstStyle/>
          <a:p>
            <a:pPr marL="566738" indent="-457200">
              <a:buNone/>
            </a:pPr>
            <a:r>
              <a:rPr lang="en-US" sz="3200" dirty="0" smtClean="0"/>
              <a:t>2. </a:t>
            </a:r>
            <a:r>
              <a:rPr lang="en-US" sz="3200" dirty="0" err="1" smtClean="0"/>
              <a:t>Bakit</a:t>
            </a:r>
            <a:r>
              <a:rPr lang="en-US" sz="3200" dirty="0" smtClean="0"/>
              <a:t> </a:t>
            </a:r>
            <a:r>
              <a:rPr lang="en-US" sz="3200" dirty="0" err="1" smtClean="0"/>
              <a:t>ayaw</a:t>
            </a:r>
            <a:r>
              <a:rPr lang="en-US" sz="3200" dirty="0" smtClean="0"/>
              <a:t> </a:t>
            </a:r>
            <a:r>
              <a:rPr lang="en-US" sz="3200" dirty="0" err="1" smtClean="0"/>
              <a:t>mong</a:t>
            </a:r>
            <a:r>
              <a:rPr lang="en-US" sz="3200" dirty="0" smtClean="0"/>
              <a:t> </a:t>
            </a:r>
            <a:r>
              <a:rPr lang="en-US" sz="3200" dirty="0" err="1" smtClean="0"/>
              <a:t>ilibing</a:t>
            </a:r>
            <a:r>
              <a:rPr lang="en-US" sz="3200" dirty="0" smtClean="0"/>
              <a:t> </a:t>
            </a:r>
            <a:r>
              <a:rPr lang="en-US" sz="3200" dirty="0" err="1" smtClean="0"/>
              <a:t>sa</a:t>
            </a:r>
            <a:r>
              <a:rPr lang="en-US" sz="3200" dirty="0" smtClean="0"/>
              <a:t> </a:t>
            </a:r>
            <a:r>
              <a:rPr lang="en-US" sz="3200" dirty="0" err="1" smtClean="0"/>
              <a:t>limot</a:t>
            </a:r>
            <a:r>
              <a:rPr lang="en-US" sz="3200" dirty="0" smtClean="0"/>
              <a:t> </a:t>
            </a:r>
            <a:r>
              <a:rPr lang="en-US" sz="3200" dirty="0" err="1" smtClean="0"/>
              <a:t>ang</a:t>
            </a:r>
            <a:r>
              <a:rPr lang="en-US" sz="3200" dirty="0" smtClean="0"/>
              <a:t> </a:t>
            </a:r>
            <a:r>
              <a:rPr lang="en-US" sz="3200" dirty="0" err="1" smtClean="0"/>
              <a:t>malungkot</a:t>
            </a:r>
            <a:r>
              <a:rPr lang="en-US" sz="3200" dirty="0" smtClean="0"/>
              <a:t> </a:t>
            </a:r>
            <a:r>
              <a:rPr lang="en-US" sz="3200" dirty="0" err="1" smtClean="0"/>
              <a:t>na</a:t>
            </a:r>
            <a:r>
              <a:rPr lang="en-US" sz="3200" dirty="0" smtClean="0"/>
              <a:t> </a:t>
            </a:r>
            <a:r>
              <a:rPr lang="en-US" sz="3200" dirty="0" err="1" smtClean="0"/>
              <a:t>pangyayari</a:t>
            </a:r>
            <a:r>
              <a:rPr lang="en-US" sz="3200" dirty="0" smtClean="0"/>
              <a:t> </a:t>
            </a:r>
            <a:r>
              <a:rPr lang="en-US" sz="3200" dirty="0" err="1" smtClean="0"/>
              <a:t>sa</a:t>
            </a:r>
            <a:r>
              <a:rPr lang="en-US" sz="3200" dirty="0" smtClean="0"/>
              <a:t> </a:t>
            </a:r>
            <a:r>
              <a:rPr lang="en-US" sz="3200" dirty="0" err="1" smtClean="0"/>
              <a:t>iyong</a:t>
            </a:r>
            <a:r>
              <a:rPr lang="en-US" sz="3200" dirty="0" smtClean="0"/>
              <a:t> </a:t>
            </a:r>
            <a:r>
              <a:rPr lang="en-US" sz="3200" dirty="0" err="1" smtClean="0"/>
              <a:t>buhay</a:t>
            </a:r>
            <a:r>
              <a:rPr lang="en-US" sz="3200" dirty="0" smtClean="0"/>
              <a:t>? </a:t>
            </a:r>
            <a:r>
              <a:rPr lang="en-US" sz="3200" dirty="0" err="1" smtClean="0"/>
              <a:t>Ibigay</a:t>
            </a:r>
            <a:r>
              <a:rPr lang="en-US" sz="3200" dirty="0" smtClean="0"/>
              <a:t> </a:t>
            </a:r>
            <a:r>
              <a:rPr lang="en-US" sz="3200" dirty="0" err="1" smtClean="0"/>
              <a:t>ang</a:t>
            </a:r>
            <a:r>
              <a:rPr lang="en-US" sz="3200" dirty="0" smtClean="0"/>
              <a:t> </a:t>
            </a:r>
            <a:r>
              <a:rPr lang="en-US" sz="3200" dirty="0" err="1" smtClean="0"/>
              <a:t>kahulugan</a:t>
            </a:r>
            <a:r>
              <a:rPr lang="en-US" sz="3200" dirty="0" smtClean="0"/>
              <a:t>.</a:t>
            </a:r>
          </a:p>
          <a:p>
            <a:pPr marL="566738" indent="-457200">
              <a:buNone/>
            </a:pPr>
            <a:endParaRPr lang="en-US" sz="3200" dirty="0" smtClean="0"/>
          </a:p>
          <a:p>
            <a:pPr marL="623888" indent="-57150">
              <a:buFont typeface="+mj-lt"/>
              <a:buAutoNum type="alphaUcPeriod"/>
            </a:pPr>
            <a:r>
              <a:rPr lang="en-US" sz="3200" dirty="0" smtClean="0"/>
              <a:t> </a:t>
            </a:r>
            <a:r>
              <a:rPr lang="en-US" sz="3200" dirty="0" err="1" smtClean="0"/>
              <a:t>sariwain</a:t>
            </a:r>
            <a:endParaRPr lang="en-US" sz="3200" dirty="0" smtClean="0"/>
          </a:p>
          <a:p>
            <a:pPr marL="623888" indent="-57150">
              <a:buFont typeface="+mj-lt"/>
              <a:buAutoNum type="alphaUcPeriod"/>
            </a:pPr>
            <a:r>
              <a:rPr lang="en-US" sz="3200" dirty="0" smtClean="0"/>
              <a:t> </a:t>
            </a:r>
            <a:r>
              <a:rPr lang="en-US" sz="3200" dirty="0" err="1" smtClean="0"/>
              <a:t>alalahanin</a:t>
            </a:r>
            <a:endParaRPr lang="en-US" sz="3200" dirty="0" smtClean="0"/>
          </a:p>
          <a:p>
            <a:pPr marL="623888" indent="-57150">
              <a:buFont typeface="+mj-lt"/>
              <a:buAutoNum type="alphaUcPeriod"/>
            </a:pPr>
            <a:r>
              <a:rPr lang="en-US" sz="3200" dirty="0" smtClean="0"/>
              <a:t> </a:t>
            </a:r>
            <a:r>
              <a:rPr lang="en-US" sz="3200" dirty="0" err="1" smtClean="0"/>
              <a:t>iwasan</a:t>
            </a:r>
            <a:endParaRPr lang="en-US" sz="3200" dirty="0" smtClean="0"/>
          </a:p>
          <a:p>
            <a:pPr marL="623888" indent="-57150">
              <a:buFont typeface="+mj-lt"/>
              <a:buAutoNum type="alphaUcPeriod"/>
            </a:pPr>
            <a:r>
              <a:rPr lang="en-US" sz="3200" dirty="0" smtClean="0"/>
              <a:t> </a:t>
            </a:r>
            <a:r>
              <a:rPr lang="en-US" sz="3200" dirty="0" err="1" smtClean="0"/>
              <a:t>kalimutan</a:t>
            </a:r>
            <a:endParaRPr lang="en-US" sz="3200" dirty="0"/>
          </a:p>
        </p:txBody>
      </p:sp>
      <p:pic>
        <p:nvPicPr>
          <p:cNvPr id="4" name="Picture 4" descr="C:\Documents and Settings\Administrator\Desktop\hand_right.gif"/>
          <p:cNvPicPr>
            <a:picLocks noChangeAspect="1" noChangeArrowheads="1" noCrop="1"/>
          </p:cNvPicPr>
          <p:nvPr/>
        </p:nvPicPr>
        <p:blipFill>
          <a:blip r:embed="rId3">
            <a:extLst>
              <a:ext uri="{28A0092B-C50C-407E-A947-70E740481C1C}">
                <a14:useLocalDpi xmlns="" xmlns:a14="http://schemas.microsoft.com/office/drawing/2010/main" val="0"/>
              </a:ext>
            </a:extLst>
          </a:blip>
          <a:srcRect/>
          <a:stretch>
            <a:fillRect/>
          </a:stretch>
        </p:blipFill>
        <p:spPr bwMode="auto">
          <a:xfrm rot="21434720">
            <a:off x="390586" y="51237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566738" indent="-457200">
              <a:buNone/>
            </a:pPr>
            <a:r>
              <a:rPr lang="en-US" sz="3200" dirty="0" smtClean="0"/>
              <a:t>3. </a:t>
            </a:r>
            <a:r>
              <a:rPr lang="en-US" sz="3200" dirty="0" err="1" smtClean="0"/>
              <a:t>Ano</a:t>
            </a:r>
            <a:r>
              <a:rPr lang="en-US" sz="3200" dirty="0" smtClean="0"/>
              <a:t> </a:t>
            </a:r>
            <a:r>
              <a:rPr lang="en-US" sz="3200" dirty="0" err="1" smtClean="0"/>
              <a:t>ang</a:t>
            </a:r>
            <a:r>
              <a:rPr lang="en-US" sz="3200" dirty="0" smtClean="0"/>
              <a:t> </a:t>
            </a:r>
            <a:r>
              <a:rPr lang="en-US" sz="3200" dirty="0" err="1" smtClean="0"/>
              <a:t>kahulugan</a:t>
            </a:r>
            <a:r>
              <a:rPr lang="en-US" sz="3200" dirty="0" smtClean="0"/>
              <a:t> </a:t>
            </a:r>
            <a:r>
              <a:rPr lang="en-US" sz="3200" dirty="0" err="1" smtClean="0"/>
              <a:t>ng</a:t>
            </a:r>
            <a:r>
              <a:rPr lang="en-US" sz="3200" dirty="0" smtClean="0"/>
              <a:t> </a:t>
            </a:r>
            <a:r>
              <a:rPr lang="en-US" sz="3200" dirty="0" err="1" smtClean="0"/>
              <a:t>tagbising</a:t>
            </a:r>
            <a:r>
              <a:rPr lang="en-US" sz="3200" dirty="0" smtClean="0"/>
              <a:t> </a:t>
            </a:r>
            <a:r>
              <a:rPr lang="en-US" sz="3200" dirty="0" err="1" smtClean="0"/>
              <a:t>panahon</a:t>
            </a:r>
            <a:r>
              <a:rPr lang="en-US" sz="3200" dirty="0" smtClean="0"/>
              <a:t>?</a:t>
            </a:r>
          </a:p>
          <a:p>
            <a:pPr marL="566738" indent="-457200">
              <a:buNone/>
            </a:pPr>
            <a:endParaRPr lang="en-US" sz="3200" dirty="0" smtClean="0"/>
          </a:p>
          <a:p>
            <a:pPr marL="623888" indent="-57150">
              <a:buFont typeface="+mj-lt"/>
              <a:buAutoNum type="alphaUcPeriod"/>
            </a:pPr>
            <a:r>
              <a:rPr lang="en-US" sz="3200" dirty="0" smtClean="0"/>
              <a:t>	</a:t>
            </a:r>
            <a:r>
              <a:rPr lang="en-US" sz="3200" dirty="0" err="1" smtClean="0"/>
              <a:t>isaisip</a:t>
            </a:r>
            <a:endParaRPr lang="en-US" sz="3200" dirty="0" smtClean="0"/>
          </a:p>
          <a:p>
            <a:pPr marL="623888" indent="-57150">
              <a:buFont typeface="+mj-lt"/>
              <a:buAutoNum type="alphaUcPeriod"/>
            </a:pPr>
            <a:r>
              <a:rPr lang="en-US" sz="3200" dirty="0" smtClean="0"/>
              <a:t> </a:t>
            </a:r>
            <a:r>
              <a:rPr lang="en-US" sz="3200" dirty="0" err="1" smtClean="0"/>
              <a:t>tagtuyot</a:t>
            </a:r>
            <a:endParaRPr lang="en-US" sz="3200" dirty="0" smtClean="0"/>
          </a:p>
          <a:p>
            <a:pPr marL="623888" indent="-57150">
              <a:buFont typeface="+mj-lt"/>
              <a:buAutoNum type="alphaUcPeriod"/>
            </a:pPr>
            <a:r>
              <a:rPr lang="en-US" sz="3200" dirty="0" smtClean="0"/>
              <a:t> </a:t>
            </a:r>
            <a:r>
              <a:rPr lang="en-US" sz="3200" dirty="0" err="1" smtClean="0"/>
              <a:t>singilin</a:t>
            </a:r>
            <a:endParaRPr lang="en-US" sz="3200" dirty="0" smtClean="0"/>
          </a:p>
          <a:p>
            <a:pPr marL="623888" indent="-57150">
              <a:buFont typeface="+mj-lt"/>
              <a:buAutoNum type="alphaUcPeriod"/>
            </a:pPr>
            <a:r>
              <a:rPr lang="en-US" sz="3200" dirty="0" smtClean="0"/>
              <a:t> tag-</a:t>
            </a:r>
            <a:r>
              <a:rPr lang="en-US" sz="3200" dirty="0" err="1" smtClean="0"/>
              <a:t>ulan</a:t>
            </a:r>
            <a:r>
              <a:rPr lang="en-US" sz="3200" dirty="0" smtClean="0"/>
              <a:t>	</a:t>
            </a:r>
            <a:endParaRPr lang="en-US" sz="3200" dirty="0"/>
          </a:p>
        </p:txBody>
      </p:sp>
      <p:pic>
        <p:nvPicPr>
          <p:cNvPr id="4" name="Picture 4" descr="C:\Documents and Settings\Administrator\Desktop\hand_right.gif"/>
          <p:cNvPicPr>
            <a:picLocks noChangeAspect="1" noChangeArrowheads="1" noCrop="1"/>
          </p:cNvPicPr>
          <p:nvPr/>
        </p:nvPicPr>
        <p:blipFill>
          <a:blip r:embed="rId3">
            <a:extLst>
              <a:ext uri="{28A0092B-C50C-407E-A947-70E740481C1C}">
                <a14:useLocalDpi xmlns="" xmlns:a14="http://schemas.microsoft.com/office/drawing/2010/main" val="0"/>
              </a:ext>
            </a:extLst>
          </a:blip>
          <a:srcRect/>
          <a:stretch>
            <a:fillRect/>
          </a:stretch>
        </p:blipFill>
        <p:spPr bwMode="auto">
          <a:xfrm rot="21434720">
            <a:off x="314385" y="3828374"/>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33400" y="990600"/>
            <a:ext cx="8229600" cy="4525963"/>
          </a:xfrm>
        </p:spPr>
        <p:txBody>
          <a:bodyPr>
            <a:normAutofit/>
          </a:bodyPr>
          <a:lstStyle/>
          <a:p>
            <a:pPr marL="566738" indent="-457200">
              <a:buNone/>
            </a:pPr>
            <a:r>
              <a:rPr lang="en-US" sz="3200" dirty="0" smtClean="0"/>
              <a:t>4. </a:t>
            </a:r>
            <a:r>
              <a:rPr lang="en-US" sz="3200" dirty="0" err="1" smtClean="0"/>
              <a:t>Alin</a:t>
            </a:r>
            <a:r>
              <a:rPr lang="en-US" sz="3200" dirty="0" smtClean="0"/>
              <a:t> </a:t>
            </a:r>
            <a:r>
              <a:rPr lang="en-US" sz="3200" dirty="0" err="1" smtClean="0"/>
              <a:t>sa</a:t>
            </a:r>
            <a:r>
              <a:rPr lang="en-US" sz="3200" dirty="0" smtClean="0"/>
              <a:t> </a:t>
            </a:r>
            <a:r>
              <a:rPr lang="en-US" sz="3200" dirty="0" err="1" smtClean="0"/>
              <a:t>mga</a:t>
            </a:r>
            <a:r>
              <a:rPr lang="en-US" sz="3200" dirty="0" smtClean="0"/>
              <a:t> </a:t>
            </a:r>
            <a:r>
              <a:rPr lang="en-US" sz="3200" dirty="0" err="1" smtClean="0"/>
              <a:t>sumusunod</a:t>
            </a:r>
            <a:r>
              <a:rPr lang="en-US" sz="3200" dirty="0" smtClean="0"/>
              <a:t> </a:t>
            </a:r>
            <a:r>
              <a:rPr lang="en-US" sz="3200" dirty="0" err="1" smtClean="0"/>
              <a:t>ang</a:t>
            </a:r>
            <a:r>
              <a:rPr lang="en-US" sz="3200" dirty="0" smtClean="0"/>
              <a:t> </a:t>
            </a:r>
            <a:r>
              <a:rPr lang="en-US" sz="3200" dirty="0" err="1" smtClean="0"/>
              <a:t>magiging</a:t>
            </a:r>
            <a:r>
              <a:rPr lang="en-US" sz="3200" dirty="0" smtClean="0"/>
              <a:t> </a:t>
            </a:r>
            <a:r>
              <a:rPr lang="en-US" sz="3200" dirty="0" err="1" smtClean="0"/>
              <a:t>tulong</a:t>
            </a:r>
            <a:r>
              <a:rPr lang="en-US" sz="3200" dirty="0" smtClean="0"/>
              <a:t> </a:t>
            </a:r>
            <a:r>
              <a:rPr lang="en-US" sz="3200" dirty="0" err="1" smtClean="0"/>
              <a:t>sa</a:t>
            </a:r>
            <a:r>
              <a:rPr lang="en-US" sz="3200" dirty="0" smtClean="0"/>
              <a:t> </a:t>
            </a:r>
            <a:r>
              <a:rPr lang="en-US" sz="3200" dirty="0" err="1" smtClean="0"/>
              <a:t>pagsasalin</a:t>
            </a:r>
            <a:r>
              <a:rPr lang="en-US" sz="3200" dirty="0" smtClean="0"/>
              <a:t> </a:t>
            </a:r>
            <a:r>
              <a:rPr lang="en-US" sz="3200" dirty="0" err="1" smtClean="0"/>
              <a:t>ng</a:t>
            </a:r>
            <a:r>
              <a:rPr lang="en-US" sz="3200" dirty="0" smtClean="0"/>
              <a:t> </a:t>
            </a:r>
            <a:r>
              <a:rPr lang="en-US" sz="3200" dirty="0" err="1" smtClean="0"/>
              <a:t>wikang</a:t>
            </a:r>
            <a:r>
              <a:rPr lang="en-US" sz="3200" dirty="0" smtClean="0"/>
              <a:t> Filipino?</a:t>
            </a:r>
          </a:p>
          <a:p>
            <a:pPr marL="566738" indent="-457200">
              <a:buNone/>
            </a:pPr>
            <a:endParaRPr lang="en-US" sz="3200" dirty="0" smtClean="0"/>
          </a:p>
          <a:p>
            <a:pPr marL="623888" indent="-57150">
              <a:buFont typeface="+mj-lt"/>
              <a:buAutoNum type="alphaUcPeriod"/>
            </a:pPr>
            <a:r>
              <a:rPr lang="en-US" sz="3200" dirty="0" smtClean="0"/>
              <a:t> </a:t>
            </a:r>
            <a:r>
              <a:rPr lang="en-US" sz="3200" dirty="0" err="1" smtClean="0"/>
              <a:t>Komersiyalisasyon</a:t>
            </a:r>
            <a:endParaRPr lang="en-US" sz="3200" dirty="0" smtClean="0"/>
          </a:p>
          <a:p>
            <a:pPr marL="623888" indent="-57150">
              <a:buFont typeface="+mj-lt"/>
              <a:buAutoNum type="alphaUcPeriod"/>
            </a:pPr>
            <a:r>
              <a:rPr lang="en-US" sz="3200" dirty="0" smtClean="0"/>
              <a:t> </a:t>
            </a:r>
            <a:r>
              <a:rPr lang="en-US" sz="3200" dirty="0" err="1" smtClean="0"/>
              <a:t>Intelektwalisasyon</a:t>
            </a:r>
            <a:endParaRPr lang="en-US" sz="3200" dirty="0" smtClean="0"/>
          </a:p>
          <a:p>
            <a:pPr marL="623888" indent="-57150">
              <a:buFont typeface="+mj-lt"/>
              <a:buAutoNum type="alphaUcPeriod"/>
            </a:pPr>
            <a:r>
              <a:rPr lang="en-US" sz="3200" dirty="0" smtClean="0"/>
              <a:t> </a:t>
            </a:r>
            <a:r>
              <a:rPr lang="en-US" sz="3200" dirty="0" err="1" smtClean="0"/>
              <a:t>Modernisasyon</a:t>
            </a:r>
            <a:endParaRPr lang="en-US" sz="3200" dirty="0" smtClean="0"/>
          </a:p>
          <a:p>
            <a:pPr marL="623888" indent="-57150">
              <a:buFont typeface="+mj-lt"/>
              <a:buAutoNum type="alphaUcPeriod"/>
            </a:pPr>
            <a:r>
              <a:rPr lang="en-US" sz="3200" dirty="0" smtClean="0"/>
              <a:t> </a:t>
            </a:r>
            <a:r>
              <a:rPr lang="en-US" sz="3200" dirty="0" err="1" smtClean="0"/>
              <a:t>Istandardisasyon</a:t>
            </a:r>
            <a:endParaRPr lang="en-US" sz="3200" dirty="0"/>
          </a:p>
        </p:txBody>
      </p:sp>
      <p:pic>
        <p:nvPicPr>
          <p:cNvPr id="4" name="Picture 4" descr="C:\Documents and Settings\Administrator\Desktop\hand_right.gif"/>
          <p:cNvPicPr>
            <a:picLocks noChangeAspect="1" noChangeArrowheads="1" noCrop="1"/>
          </p:cNvPicPr>
          <p:nvPr/>
        </p:nvPicPr>
        <p:blipFill>
          <a:blip r:embed="rId3">
            <a:extLst>
              <a:ext uri="{28A0092B-C50C-407E-A947-70E740481C1C}">
                <a14:useLocalDpi xmlns="" xmlns:a14="http://schemas.microsoft.com/office/drawing/2010/main" val="0"/>
              </a:ext>
            </a:extLst>
          </a:blip>
          <a:srcRect/>
          <a:stretch>
            <a:fillRect/>
          </a:stretch>
        </p:blipFill>
        <p:spPr bwMode="auto">
          <a:xfrm rot="21434720">
            <a:off x="466786" y="48951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143000"/>
            <a:ext cx="8229600" cy="4525963"/>
          </a:xfrm>
        </p:spPr>
        <p:txBody>
          <a:bodyPr/>
          <a:lstStyle/>
          <a:p>
            <a:pPr>
              <a:buNone/>
            </a:pPr>
            <a:r>
              <a:rPr lang="en-US" dirty="0" smtClean="0"/>
              <a:t>	</a:t>
            </a:r>
            <a:r>
              <a:rPr lang="en-US" dirty="0" err="1" smtClean="0"/>
              <a:t>Ang</a:t>
            </a:r>
            <a:r>
              <a:rPr lang="en-US" dirty="0" smtClean="0"/>
              <a:t> </a:t>
            </a:r>
            <a:r>
              <a:rPr lang="en-US" b="1" i="1" dirty="0" err="1" smtClean="0"/>
              <a:t>intelektwalisadong</a:t>
            </a:r>
            <a:r>
              <a:rPr lang="en-US" b="1" i="1" dirty="0" smtClean="0"/>
              <a:t>  </a:t>
            </a:r>
            <a:r>
              <a:rPr lang="en-US" dirty="0" err="1" smtClean="0"/>
              <a:t>wika</a:t>
            </a:r>
            <a:r>
              <a:rPr lang="en-US" dirty="0" smtClean="0"/>
              <a:t> ay </a:t>
            </a:r>
            <a:r>
              <a:rPr lang="en-US" dirty="0" err="1" smtClean="0"/>
              <a:t>nangangahulugan</a:t>
            </a:r>
            <a:r>
              <a:rPr lang="en-US" dirty="0" smtClean="0"/>
              <a:t> </a:t>
            </a:r>
            <a:r>
              <a:rPr lang="en-US" dirty="0" err="1" smtClean="0"/>
              <a:t>na</a:t>
            </a:r>
            <a:r>
              <a:rPr lang="en-US" dirty="0" smtClean="0"/>
              <a:t> </a:t>
            </a:r>
            <a:r>
              <a:rPr lang="en-US" dirty="0" err="1" smtClean="0"/>
              <a:t>isang</a:t>
            </a:r>
            <a:r>
              <a:rPr lang="en-US" dirty="0" smtClean="0"/>
              <a:t> </a:t>
            </a:r>
            <a:r>
              <a:rPr lang="en-US" dirty="0" err="1" smtClean="0"/>
              <a:t>wikang</a:t>
            </a:r>
            <a:r>
              <a:rPr lang="en-US" dirty="0" smtClean="0"/>
              <a:t> </a:t>
            </a:r>
            <a:r>
              <a:rPr lang="en-US" dirty="0" err="1" smtClean="0"/>
              <a:t>malawak</a:t>
            </a:r>
            <a:r>
              <a:rPr lang="en-US" dirty="0" smtClean="0"/>
              <a:t> </a:t>
            </a:r>
            <a:r>
              <a:rPr lang="en-US" dirty="0" err="1" smtClean="0"/>
              <a:t>na</a:t>
            </a:r>
            <a:r>
              <a:rPr lang="en-US" dirty="0" smtClean="0"/>
              <a:t> </a:t>
            </a:r>
            <a:r>
              <a:rPr lang="en-US" dirty="0" err="1" smtClean="0"/>
              <a:t>nagagamit</a:t>
            </a:r>
            <a:r>
              <a:rPr lang="en-US" dirty="0" smtClean="0"/>
              <a:t> </a:t>
            </a:r>
            <a:r>
              <a:rPr lang="en-US" dirty="0" err="1" smtClean="0"/>
              <a:t>sa</a:t>
            </a:r>
            <a:r>
              <a:rPr lang="en-US" dirty="0" smtClean="0"/>
              <a:t> </a:t>
            </a:r>
            <a:r>
              <a:rPr lang="en-US" dirty="0" err="1" smtClean="0"/>
              <a:t>isang</a:t>
            </a:r>
            <a:r>
              <a:rPr lang="en-US" dirty="0" smtClean="0"/>
              <a:t> </a:t>
            </a:r>
            <a:r>
              <a:rPr lang="en-US" dirty="0" err="1" smtClean="0"/>
              <a:t>bansa</a:t>
            </a:r>
            <a:endParaRPr lang="en-US" dirty="0" smtClean="0"/>
          </a:p>
          <a:p>
            <a:pPr>
              <a:buNone/>
            </a:pPr>
            <a:endParaRPr lang="en-US" dirty="0" smtClean="0"/>
          </a:p>
          <a:p>
            <a:pPr>
              <a:buNone/>
            </a:pPr>
            <a:r>
              <a:rPr lang="en-US" dirty="0" smtClean="0"/>
              <a:t>	</a:t>
            </a:r>
            <a:r>
              <a:rPr lang="en-US" dirty="0" err="1" smtClean="0"/>
              <a:t>Ang</a:t>
            </a:r>
            <a:r>
              <a:rPr lang="en-US" dirty="0" smtClean="0"/>
              <a:t> </a:t>
            </a:r>
            <a:r>
              <a:rPr lang="en-US" b="1" i="1" dirty="0" err="1" smtClean="0"/>
              <a:t>istandardisasyon</a:t>
            </a:r>
            <a:r>
              <a:rPr lang="en-US" b="1" i="1" dirty="0" smtClean="0"/>
              <a:t> </a:t>
            </a:r>
            <a:r>
              <a:rPr lang="en-US" b="1" i="1" dirty="0" err="1" smtClean="0"/>
              <a:t>ng</a:t>
            </a:r>
            <a:r>
              <a:rPr lang="en-US" b="1" i="1" dirty="0" smtClean="0"/>
              <a:t> </a:t>
            </a:r>
            <a:r>
              <a:rPr lang="en-US" b="1" i="1" dirty="0" err="1" smtClean="0"/>
              <a:t>wika</a:t>
            </a:r>
            <a:r>
              <a:rPr lang="en-US" b="1" i="1" dirty="0" smtClean="0"/>
              <a:t> </a:t>
            </a:r>
            <a:r>
              <a:rPr lang="en-US" dirty="0" smtClean="0"/>
              <a:t>ay </a:t>
            </a:r>
            <a:r>
              <a:rPr lang="en-US" dirty="0" err="1" smtClean="0"/>
              <a:t>isang</a:t>
            </a:r>
            <a:r>
              <a:rPr lang="en-US" dirty="0" smtClean="0"/>
              <a:t> </a:t>
            </a:r>
            <a:r>
              <a:rPr lang="en-US" dirty="0" err="1" smtClean="0"/>
              <a:t>pamamaraan</a:t>
            </a:r>
            <a:r>
              <a:rPr lang="en-US" dirty="0" smtClean="0"/>
              <a:t> o </a:t>
            </a:r>
            <a:r>
              <a:rPr lang="en-US" dirty="0" err="1" smtClean="0"/>
              <a:t>proseso</a:t>
            </a:r>
            <a:r>
              <a:rPr lang="en-US" dirty="0" smtClean="0"/>
              <a:t> kung </a:t>
            </a:r>
            <a:r>
              <a:rPr lang="en-US" dirty="0" err="1" smtClean="0"/>
              <a:t>paanomaaaring</a:t>
            </a:r>
            <a:r>
              <a:rPr lang="en-US" dirty="0" smtClean="0"/>
              <a:t> </a:t>
            </a:r>
            <a:r>
              <a:rPr lang="en-US" dirty="0" err="1" smtClean="0"/>
              <a:t>tanggapin</a:t>
            </a:r>
            <a:r>
              <a:rPr lang="en-US" dirty="0" smtClean="0"/>
              <a:t> at </a:t>
            </a:r>
            <a:r>
              <a:rPr lang="en-US" dirty="0" err="1" smtClean="0"/>
              <a:t>gamitin</a:t>
            </a:r>
            <a:r>
              <a:rPr lang="en-US" dirty="0" smtClean="0"/>
              <a:t> </a:t>
            </a:r>
            <a:r>
              <a:rPr lang="en-US" dirty="0" err="1" smtClean="0"/>
              <a:t>ng</a:t>
            </a:r>
            <a:r>
              <a:rPr lang="en-US" dirty="0" smtClean="0"/>
              <a:t> </a:t>
            </a:r>
            <a:r>
              <a:rPr lang="en-US" dirty="0" err="1" smtClean="0"/>
              <a:t>nakararamingtaong</a:t>
            </a:r>
            <a:r>
              <a:rPr lang="en-US" dirty="0" smtClean="0"/>
              <a:t> </a:t>
            </a:r>
            <a:r>
              <a:rPr lang="en-US" dirty="0" err="1" smtClean="0"/>
              <a:t>gumagamit</a:t>
            </a:r>
            <a:r>
              <a:rPr lang="en-US" dirty="0" smtClean="0"/>
              <a:t> </a:t>
            </a:r>
            <a:r>
              <a:rPr lang="en-US" dirty="0" err="1" smtClean="0"/>
              <a:t>ng</a:t>
            </a:r>
            <a:r>
              <a:rPr lang="en-US" dirty="0" smtClean="0"/>
              <a:t> </a:t>
            </a:r>
            <a:r>
              <a:rPr lang="en-US" dirty="0" err="1" smtClean="0"/>
              <a:t>wika</a:t>
            </a:r>
            <a:r>
              <a:rPr lang="en-US" dirty="0" smtClean="0"/>
              <a:t> </a:t>
            </a:r>
            <a:r>
              <a:rPr lang="en-US" dirty="0" err="1" smtClean="0"/>
              <a:t>ang</a:t>
            </a:r>
            <a:r>
              <a:rPr lang="en-US" dirty="0" smtClean="0"/>
              <a:t> </a:t>
            </a:r>
            <a:r>
              <a:rPr lang="en-US" dirty="0" err="1" smtClean="0"/>
              <a:t>isang</a:t>
            </a:r>
            <a:r>
              <a:rPr lang="en-US" dirty="0" smtClean="0"/>
              <a:t> </a:t>
            </a:r>
            <a:r>
              <a:rPr lang="en-US" dirty="0" err="1" smtClean="0"/>
              <a:t>tiyak</a:t>
            </a:r>
            <a:r>
              <a:rPr lang="en-US" dirty="0" smtClean="0"/>
              <a:t> </a:t>
            </a:r>
            <a:r>
              <a:rPr lang="en-US" dirty="0" err="1" smtClean="0"/>
              <a:t>natalaan</a:t>
            </a:r>
            <a:r>
              <a:rPr lang="en-US" dirty="0" smtClean="0"/>
              <a:t> </a:t>
            </a:r>
            <a:r>
              <a:rPr lang="en-US" dirty="0" err="1" smtClean="0"/>
              <a:t>ng</a:t>
            </a:r>
            <a:r>
              <a:rPr lang="en-US" dirty="0" smtClean="0"/>
              <a:t> </a:t>
            </a:r>
            <a:r>
              <a:rPr lang="en-US" dirty="0" err="1" smtClean="0"/>
              <a:t>mga</a:t>
            </a:r>
            <a:r>
              <a:rPr lang="en-US" dirty="0" smtClean="0"/>
              <a:t> </a:t>
            </a:r>
            <a:r>
              <a:rPr lang="en-US" dirty="0" err="1" smtClean="0"/>
              <a:t>talasalitaan</a:t>
            </a:r>
            <a:r>
              <a:rPr lang="en-US" dirty="0" smtClean="0"/>
              <a:t> o </a:t>
            </a:r>
            <a:r>
              <a:rPr lang="en-US" dirty="0" err="1" smtClean="0"/>
              <a:t>bokabularyo</a:t>
            </a:r>
            <a:r>
              <a:rPr lang="en-US" dirty="0" smtClean="0"/>
              <a:t> </a:t>
            </a:r>
            <a:r>
              <a:rPr lang="en-US" dirty="0" err="1" smtClean="0"/>
              <a:t>saisang</a:t>
            </a:r>
            <a:r>
              <a:rPr lang="en-US" dirty="0" smtClean="0"/>
              <a:t> </a:t>
            </a:r>
            <a:r>
              <a:rPr lang="en-US" dirty="0" err="1" smtClean="0"/>
              <a:t>tiyak</a:t>
            </a:r>
            <a:r>
              <a:rPr lang="en-US" dirty="0" smtClean="0"/>
              <a:t> </a:t>
            </a:r>
            <a:r>
              <a:rPr lang="en-US" dirty="0" err="1" smtClean="0"/>
              <a:t>na</a:t>
            </a:r>
            <a:r>
              <a:rPr lang="en-US" dirty="0" smtClean="0"/>
              <a:t> </a:t>
            </a:r>
            <a:r>
              <a:rPr lang="en-US" dirty="0" err="1" smtClean="0"/>
              <a:t>disiplina</a:t>
            </a:r>
            <a:r>
              <a:rPr lang="en-US" dirty="0" smtClean="0"/>
              <a:t> </a:t>
            </a:r>
            <a:r>
              <a:rPr lang="en-US" dirty="0" err="1" smtClean="0"/>
              <a:t>ng</a:t>
            </a:r>
            <a:r>
              <a:rPr lang="en-US" dirty="0" smtClean="0"/>
              <a:t> </a:t>
            </a:r>
            <a:r>
              <a:rPr lang="en-US" dirty="0" err="1" smtClean="0"/>
              <a:t>karunungan</a:t>
            </a:r>
            <a:endParaRPr lang="en-US" dirty="0" smtClean="0"/>
          </a:p>
          <a:p>
            <a:pPr>
              <a:buNone/>
            </a:pPr>
            <a:endParaRPr lang="en-US" dirty="0"/>
          </a:p>
        </p:txBody>
      </p:sp>
    </p:spTree>
  </p:cSld>
  <p:clrMapOvr>
    <a:masterClrMapping/>
  </p:clrMapOvr>
  <p:transition>
    <p:push/>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990600"/>
            <a:ext cx="8229600" cy="4525963"/>
          </a:xfrm>
        </p:spPr>
        <p:txBody>
          <a:bodyPr>
            <a:noAutofit/>
          </a:bodyPr>
          <a:lstStyle/>
          <a:p>
            <a:pPr marL="566738" indent="-457200">
              <a:buNone/>
            </a:pPr>
            <a:r>
              <a:rPr lang="en-US" sz="3200" dirty="0" smtClean="0"/>
              <a:t>5. </a:t>
            </a:r>
            <a:r>
              <a:rPr lang="en-US" sz="3200" dirty="0" err="1" smtClean="0"/>
              <a:t>Ang</a:t>
            </a:r>
            <a:r>
              <a:rPr lang="en-US" sz="3200" dirty="0" smtClean="0"/>
              <a:t> </a:t>
            </a:r>
            <a:r>
              <a:rPr lang="en-US" sz="3200" dirty="0" err="1" smtClean="0"/>
              <a:t>pagtuturo</a:t>
            </a:r>
            <a:r>
              <a:rPr lang="en-US" sz="3200" dirty="0" smtClean="0"/>
              <a:t> </a:t>
            </a:r>
            <a:r>
              <a:rPr lang="en-US" sz="3200" dirty="0" err="1" smtClean="0"/>
              <a:t>ng</a:t>
            </a:r>
            <a:r>
              <a:rPr lang="en-US" sz="3200" dirty="0" smtClean="0"/>
              <a:t> Filipino </a:t>
            </a:r>
            <a:r>
              <a:rPr lang="en-US" sz="3200" dirty="0" err="1" smtClean="0"/>
              <a:t>bilang</a:t>
            </a:r>
            <a:r>
              <a:rPr lang="en-US" sz="3200" dirty="0" smtClean="0"/>
              <a:t> </a:t>
            </a:r>
            <a:r>
              <a:rPr lang="en-US" sz="3200" dirty="0" err="1" smtClean="0"/>
              <a:t>pangalawang</a:t>
            </a:r>
            <a:r>
              <a:rPr lang="en-US" sz="3200" dirty="0" smtClean="0"/>
              <a:t> </a:t>
            </a:r>
            <a:r>
              <a:rPr lang="en-US" sz="3200" dirty="0" err="1" smtClean="0"/>
              <a:t>wika</a:t>
            </a:r>
            <a:r>
              <a:rPr lang="en-US" sz="3200" dirty="0" smtClean="0"/>
              <a:t> ay </a:t>
            </a:r>
            <a:r>
              <a:rPr lang="en-US" sz="3200" dirty="0" err="1" smtClean="0"/>
              <a:t>higit</a:t>
            </a:r>
            <a:r>
              <a:rPr lang="en-US" sz="3200" dirty="0" smtClean="0"/>
              <a:t> </a:t>
            </a:r>
            <a:r>
              <a:rPr lang="en-US" sz="3200" dirty="0" err="1" smtClean="0"/>
              <a:t>na</a:t>
            </a:r>
            <a:r>
              <a:rPr lang="en-US" sz="3200" dirty="0" smtClean="0"/>
              <a:t> </a:t>
            </a:r>
            <a:r>
              <a:rPr lang="en-US" sz="3200" dirty="0" err="1" smtClean="0"/>
              <a:t>magiging</a:t>
            </a:r>
            <a:r>
              <a:rPr lang="en-US" sz="3200" dirty="0" smtClean="0"/>
              <a:t> </a:t>
            </a:r>
            <a:r>
              <a:rPr lang="en-US" sz="3200" i="1" dirty="0" err="1" smtClean="0"/>
              <a:t>mabisa</a:t>
            </a:r>
            <a:r>
              <a:rPr lang="en-US" sz="3200" dirty="0" smtClean="0"/>
              <a:t> kung </a:t>
            </a:r>
            <a:r>
              <a:rPr lang="en-US" sz="3200" dirty="0" err="1" smtClean="0"/>
              <a:t>gagamit</a:t>
            </a:r>
            <a:r>
              <a:rPr lang="en-US" sz="3200" dirty="0" smtClean="0"/>
              <a:t> </a:t>
            </a:r>
            <a:r>
              <a:rPr lang="en-US" sz="3200" dirty="0" err="1" smtClean="0"/>
              <a:t>ng</a:t>
            </a:r>
            <a:r>
              <a:rPr lang="en-US" sz="3200" dirty="0" smtClean="0"/>
              <a:t>  ____________.</a:t>
            </a:r>
          </a:p>
          <a:p>
            <a:pPr marL="566738" indent="-457200">
              <a:buNone/>
            </a:pPr>
            <a:endParaRPr lang="en-US" sz="3200" dirty="0" smtClean="0"/>
          </a:p>
          <a:p>
            <a:pPr marL="623888" indent="-57150">
              <a:buFont typeface="+mj-lt"/>
              <a:buAutoNum type="alphaUcPeriod"/>
            </a:pPr>
            <a:r>
              <a:rPr lang="en-US" sz="3200" dirty="0" smtClean="0"/>
              <a:t> </a:t>
            </a:r>
            <a:r>
              <a:rPr lang="en-US" sz="3200" dirty="0" err="1" smtClean="0"/>
              <a:t>pagsasaulo</a:t>
            </a:r>
            <a:endParaRPr lang="en-US" sz="3200" dirty="0" smtClean="0"/>
          </a:p>
          <a:p>
            <a:pPr marL="623888" indent="-57150">
              <a:buFont typeface="+mj-lt"/>
              <a:buAutoNum type="alphaUcPeriod"/>
            </a:pPr>
            <a:r>
              <a:rPr lang="en-US" sz="3200" dirty="0" smtClean="0"/>
              <a:t> </a:t>
            </a:r>
            <a:r>
              <a:rPr lang="en-US" sz="3200" dirty="0" err="1" smtClean="0"/>
              <a:t>tanong-sagot</a:t>
            </a:r>
            <a:endParaRPr lang="en-US" sz="3200" dirty="0" smtClean="0"/>
          </a:p>
          <a:p>
            <a:pPr marL="623888" indent="-57150">
              <a:buFont typeface="+mj-lt"/>
              <a:buAutoNum type="alphaUcPeriod"/>
            </a:pPr>
            <a:r>
              <a:rPr lang="en-US" sz="3200" dirty="0" smtClean="0"/>
              <a:t> </a:t>
            </a:r>
            <a:r>
              <a:rPr lang="en-US" sz="3200" dirty="0" err="1" smtClean="0"/>
              <a:t>pagkukuwento</a:t>
            </a:r>
            <a:endParaRPr lang="en-US" sz="3200" dirty="0" smtClean="0"/>
          </a:p>
          <a:p>
            <a:pPr marL="623888" indent="-57150">
              <a:buFont typeface="+mj-lt"/>
              <a:buAutoNum type="alphaUcPeriod"/>
            </a:pPr>
            <a:r>
              <a:rPr lang="en-US" sz="3200" dirty="0" smtClean="0"/>
              <a:t> </a:t>
            </a:r>
            <a:r>
              <a:rPr lang="en-US" sz="3200" dirty="0" err="1" smtClean="0"/>
              <a:t>modelo</a:t>
            </a:r>
            <a:endParaRPr lang="en-US" sz="3200" dirty="0" smtClean="0"/>
          </a:p>
        </p:txBody>
      </p:sp>
      <p:pic>
        <p:nvPicPr>
          <p:cNvPr id="4" name="Picture 4" descr="C:\Documents and Settings\Administrator\Desktop\hand_right.gif"/>
          <p:cNvPicPr>
            <a:picLocks noChangeAspect="1" noChangeArrowheads="1" noCrop="1"/>
          </p:cNvPicPr>
          <p:nvPr/>
        </p:nvPicPr>
        <p:blipFill>
          <a:blip r:embed="rId3">
            <a:extLst>
              <a:ext uri="{28A0092B-C50C-407E-A947-70E740481C1C}">
                <a14:useLocalDpi xmlns="" xmlns:a14="http://schemas.microsoft.com/office/drawing/2010/main" val="0"/>
              </a:ext>
            </a:extLst>
          </a:blip>
          <a:srcRect/>
          <a:stretch>
            <a:fillRect/>
          </a:stretch>
        </p:blipFill>
        <p:spPr bwMode="auto">
          <a:xfrm rot="21434720">
            <a:off x="390586" y="52761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914400"/>
            <a:ext cx="8229600" cy="4525963"/>
          </a:xfrm>
        </p:spPr>
        <p:txBody>
          <a:bodyPr>
            <a:noAutofit/>
          </a:bodyPr>
          <a:lstStyle/>
          <a:p>
            <a:pPr marL="508000" indent="-398463">
              <a:buNone/>
            </a:pPr>
            <a:r>
              <a:rPr lang="en-US" sz="3200" dirty="0" smtClean="0"/>
              <a:t>6. </a:t>
            </a:r>
            <a:r>
              <a:rPr lang="en-US" sz="3200" dirty="0" err="1" smtClean="0"/>
              <a:t>Anong</a:t>
            </a:r>
            <a:r>
              <a:rPr lang="en-US" sz="3200" dirty="0" smtClean="0"/>
              <a:t> </a:t>
            </a:r>
            <a:r>
              <a:rPr lang="en-US" sz="3200" dirty="0" err="1" smtClean="0"/>
              <a:t>bahagi</a:t>
            </a:r>
            <a:r>
              <a:rPr lang="en-US" sz="3200" dirty="0" smtClean="0"/>
              <a:t> </a:t>
            </a:r>
            <a:r>
              <a:rPr lang="en-US" sz="3200" dirty="0" err="1" smtClean="0"/>
              <a:t>ng</a:t>
            </a:r>
            <a:r>
              <a:rPr lang="en-US" sz="3200" dirty="0" smtClean="0"/>
              <a:t> </a:t>
            </a:r>
            <a:r>
              <a:rPr lang="en-US" sz="3200" dirty="0" err="1" smtClean="0"/>
              <a:t>pananalita</a:t>
            </a:r>
            <a:r>
              <a:rPr lang="en-US" sz="3200" dirty="0" smtClean="0"/>
              <a:t> </a:t>
            </a:r>
            <a:r>
              <a:rPr lang="en-US" sz="3200" dirty="0" err="1" smtClean="0"/>
              <a:t>ang</a:t>
            </a:r>
            <a:r>
              <a:rPr lang="en-US" sz="3200" dirty="0" smtClean="0"/>
              <a:t> </a:t>
            </a:r>
            <a:r>
              <a:rPr lang="en-US" sz="3200" dirty="0" err="1" smtClean="0"/>
              <a:t>nasa</a:t>
            </a:r>
            <a:r>
              <a:rPr lang="en-US" sz="3200" dirty="0" smtClean="0"/>
              <a:t> </a:t>
            </a:r>
            <a:r>
              <a:rPr lang="en-US" sz="3200" dirty="0" err="1" smtClean="0"/>
              <a:t>malaking</a:t>
            </a:r>
            <a:r>
              <a:rPr lang="en-US" sz="3200" dirty="0" smtClean="0"/>
              <a:t> </a:t>
            </a:r>
            <a:r>
              <a:rPr lang="en-US" sz="3200" dirty="0" err="1" smtClean="0"/>
              <a:t>titik</a:t>
            </a:r>
            <a:r>
              <a:rPr lang="en-US" sz="3200" dirty="0" smtClean="0"/>
              <a:t>?</a:t>
            </a:r>
          </a:p>
          <a:p>
            <a:pPr>
              <a:buNone/>
            </a:pPr>
            <a:r>
              <a:rPr lang="en-US" sz="3200" dirty="0" smtClean="0"/>
              <a:t>		</a:t>
            </a:r>
            <a:r>
              <a:rPr lang="en-US" sz="3200" i="1" dirty="0" err="1" smtClean="0"/>
              <a:t>Malungkot</a:t>
            </a:r>
            <a:r>
              <a:rPr lang="en-US" sz="3200" i="1" dirty="0" smtClean="0"/>
              <a:t> </a:t>
            </a:r>
            <a:r>
              <a:rPr lang="en-US" sz="3200" dirty="0" smtClean="0"/>
              <a:t>ANG MGA </a:t>
            </a:r>
            <a:r>
              <a:rPr lang="en-US" sz="3200" i="1" dirty="0" err="1" smtClean="0"/>
              <a:t>nagtapos</a:t>
            </a:r>
            <a:r>
              <a:rPr lang="en-US" sz="3200" i="1" dirty="0" smtClean="0"/>
              <a:t> </a:t>
            </a:r>
            <a:r>
              <a:rPr lang="en-US" sz="3200" i="1" dirty="0" err="1" smtClean="0"/>
              <a:t>na</a:t>
            </a:r>
            <a:r>
              <a:rPr lang="en-US" sz="3200" i="1" dirty="0" smtClean="0"/>
              <a:t> </a:t>
            </a:r>
            <a:r>
              <a:rPr lang="en-US" sz="3200" i="1" dirty="0" err="1" smtClean="0"/>
              <a:t>wala</a:t>
            </a:r>
            <a:r>
              <a:rPr lang="en-US" sz="3200" i="1" dirty="0" smtClean="0"/>
              <a:t> pang </a:t>
            </a:r>
            <a:r>
              <a:rPr lang="en-US" sz="3200" i="1" dirty="0" err="1" smtClean="0"/>
              <a:t>trabaho</a:t>
            </a:r>
            <a:r>
              <a:rPr lang="en-US" sz="3200" i="1" dirty="0" smtClean="0"/>
              <a:t>.</a:t>
            </a:r>
          </a:p>
          <a:p>
            <a:pPr>
              <a:buNone/>
            </a:pPr>
            <a:endParaRPr lang="en-US" sz="3200" i="1" dirty="0" smtClean="0"/>
          </a:p>
          <a:p>
            <a:pPr marL="623888" indent="-115888">
              <a:buFont typeface="+mj-lt"/>
              <a:buAutoNum type="alphaUcPeriod"/>
            </a:pPr>
            <a:r>
              <a:rPr lang="en-US" sz="3200" dirty="0" smtClean="0"/>
              <a:t> </a:t>
            </a:r>
            <a:r>
              <a:rPr lang="en-US" sz="3200" dirty="0" err="1" smtClean="0"/>
              <a:t>Pananda</a:t>
            </a:r>
            <a:endParaRPr lang="en-US" sz="3200" dirty="0" smtClean="0"/>
          </a:p>
          <a:p>
            <a:pPr marL="623888" indent="-115888">
              <a:buFont typeface="+mj-lt"/>
              <a:buAutoNum type="alphaUcPeriod"/>
            </a:pPr>
            <a:r>
              <a:rPr lang="en-US" sz="3200" dirty="0" smtClean="0"/>
              <a:t> </a:t>
            </a:r>
            <a:r>
              <a:rPr lang="en-US" sz="3200" dirty="0" err="1" smtClean="0"/>
              <a:t>Pangatnig</a:t>
            </a:r>
            <a:endParaRPr lang="en-US" sz="3200" dirty="0" smtClean="0"/>
          </a:p>
          <a:p>
            <a:pPr marL="623888" indent="-115888">
              <a:buFont typeface="+mj-lt"/>
              <a:buAutoNum type="alphaUcPeriod"/>
            </a:pPr>
            <a:r>
              <a:rPr lang="en-US" sz="3200" dirty="0" smtClean="0"/>
              <a:t> Pang-</a:t>
            </a:r>
            <a:r>
              <a:rPr lang="en-US" sz="3200" dirty="0" err="1" smtClean="0"/>
              <a:t>ukol</a:t>
            </a:r>
            <a:endParaRPr lang="en-US" sz="3200" dirty="0" smtClean="0"/>
          </a:p>
          <a:p>
            <a:pPr marL="623888" indent="-115888">
              <a:buFont typeface="+mj-lt"/>
              <a:buAutoNum type="alphaUcPeriod"/>
            </a:pPr>
            <a:r>
              <a:rPr lang="en-US" sz="3200" dirty="0" smtClean="0"/>
              <a:t> </a:t>
            </a:r>
            <a:r>
              <a:rPr lang="en-US" sz="3200" dirty="0" err="1" smtClean="0"/>
              <a:t>Parirala</a:t>
            </a:r>
            <a:endParaRPr lang="en-US" sz="3200" dirty="0" smtClean="0"/>
          </a:p>
          <a:p>
            <a:pPr>
              <a:buNone/>
            </a:pPr>
            <a:endParaRPr lang="en-US" sz="3200" dirty="0"/>
          </a:p>
        </p:txBody>
      </p:sp>
      <p:pic>
        <p:nvPicPr>
          <p:cNvPr id="4" name="Picture 4" descr="C:\Documents and Settings\Administrator\Desktop\hand_right.gif"/>
          <p:cNvPicPr>
            <a:picLocks noChangeAspect="1" noChangeArrowheads="1" noCrop="1"/>
          </p:cNvPicPr>
          <p:nvPr/>
        </p:nvPicPr>
        <p:blipFill>
          <a:blip r:embed="rId3">
            <a:extLst>
              <a:ext uri="{28A0092B-C50C-407E-A947-70E740481C1C}">
                <a14:useLocalDpi xmlns="" xmlns:a14="http://schemas.microsoft.com/office/drawing/2010/main" val="0"/>
              </a:ext>
            </a:extLst>
          </a:blip>
          <a:srcRect/>
          <a:stretch>
            <a:fillRect/>
          </a:stretch>
        </p:blipFill>
        <p:spPr bwMode="auto">
          <a:xfrm rot="21434720">
            <a:off x="390586" y="36759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1000" y="609600"/>
            <a:ext cx="8229600" cy="5715000"/>
          </a:xfrm>
        </p:spPr>
        <p:txBody>
          <a:bodyPr>
            <a:normAutofit/>
          </a:bodyPr>
          <a:lstStyle/>
          <a:p>
            <a:pPr>
              <a:buNone/>
            </a:pPr>
            <a:r>
              <a:rPr lang="en-US" sz="2400" b="1" dirty="0" err="1" smtClean="0"/>
              <a:t>Pananda</a:t>
            </a:r>
            <a:r>
              <a:rPr lang="en-US" sz="2400" dirty="0" smtClean="0"/>
              <a:t> - </a:t>
            </a:r>
            <a:r>
              <a:rPr lang="en-US" sz="2400" dirty="0" err="1" smtClean="0"/>
              <a:t>ito</a:t>
            </a:r>
            <a:r>
              <a:rPr lang="en-US" sz="2400" dirty="0" smtClean="0"/>
              <a:t> ay </a:t>
            </a:r>
            <a:r>
              <a:rPr lang="en-US" sz="2400" dirty="0" err="1" smtClean="0"/>
              <a:t>nagpapakilala</a:t>
            </a:r>
            <a:r>
              <a:rPr lang="en-US" sz="2400" dirty="0" smtClean="0"/>
              <a:t> o </a:t>
            </a:r>
            <a:r>
              <a:rPr lang="en-US" sz="2400" dirty="0" err="1" smtClean="0"/>
              <a:t>nagsisilbing</a:t>
            </a:r>
            <a:r>
              <a:rPr lang="en-US" sz="2400" dirty="0" smtClean="0"/>
              <a:t> </a:t>
            </a:r>
            <a:r>
              <a:rPr lang="en-US" sz="2400" dirty="0" err="1" smtClean="0"/>
              <a:t>tanda</a:t>
            </a:r>
            <a:r>
              <a:rPr lang="en-US" sz="2400" dirty="0" smtClean="0"/>
              <a:t> </a:t>
            </a:r>
            <a:r>
              <a:rPr lang="en-US" sz="2400" dirty="0" err="1" smtClean="0"/>
              <a:t>ng</a:t>
            </a:r>
            <a:r>
              <a:rPr lang="en-US" sz="2400" dirty="0" smtClean="0"/>
              <a:t> </a:t>
            </a:r>
            <a:r>
              <a:rPr lang="en-US" sz="2400" dirty="0" err="1" smtClean="0"/>
              <a:t>gamit</a:t>
            </a:r>
            <a:r>
              <a:rPr lang="en-US" sz="2400" dirty="0" smtClean="0"/>
              <a:t> </a:t>
            </a:r>
            <a:r>
              <a:rPr lang="en-US" sz="2400" dirty="0" err="1" smtClean="0"/>
              <a:t>na</a:t>
            </a:r>
            <a:r>
              <a:rPr lang="en-US" sz="2400" dirty="0" smtClean="0"/>
              <a:t> </a:t>
            </a:r>
            <a:r>
              <a:rPr lang="en-US" sz="2400" dirty="0" err="1" smtClean="0"/>
              <a:t>pambalarila</a:t>
            </a:r>
            <a:r>
              <a:rPr lang="en-US" sz="2400" dirty="0" smtClean="0"/>
              <a:t> </a:t>
            </a:r>
            <a:r>
              <a:rPr lang="en-US" sz="2400" dirty="0" err="1" smtClean="0"/>
              <a:t>ng</a:t>
            </a:r>
            <a:r>
              <a:rPr lang="en-US" sz="2400" dirty="0" smtClean="0"/>
              <a:t> </a:t>
            </a:r>
            <a:r>
              <a:rPr lang="en-US" sz="2400" dirty="0" err="1" smtClean="0"/>
              <a:t>isang</a:t>
            </a:r>
            <a:r>
              <a:rPr lang="en-US" sz="2400" dirty="0" smtClean="0"/>
              <a:t> </a:t>
            </a:r>
            <a:r>
              <a:rPr lang="en-US" sz="2400" dirty="0" err="1" smtClean="0"/>
              <a:t>salita</a:t>
            </a:r>
            <a:r>
              <a:rPr lang="en-US" sz="2400" dirty="0" smtClean="0"/>
              <a:t> </a:t>
            </a:r>
            <a:r>
              <a:rPr lang="en-US" sz="2400" dirty="0" err="1" smtClean="0"/>
              <a:t>sa</a:t>
            </a:r>
            <a:r>
              <a:rPr lang="en-US" sz="2400" dirty="0" smtClean="0"/>
              <a:t> </a:t>
            </a:r>
            <a:r>
              <a:rPr lang="en-US" sz="2400" dirty="0" err="1" smtClean="0"/>
              <a:t>loob</a:t>
            </a:r>
            <a:r>
              <a:rPr lang="en-US" sz="2400" dirty="0" smtClean="0"/>
              <a:t> </a:t>
            </a:r>
            <a:r>
              <a:rPr lang="en-US" sz="2400" dirty="0" err="1" smtClean="0"/>
              <a:t>ng</a:t>
            </a:r>
            <a:r>
              <a:rPr lang="en-US" sz="2400" dirty="0" smtClean="0"/>
              <a:t> </a:t>
            </a:r>
            <a:r>
              <a:rPr lang="en-US" sz="2400" dirty="0" err="1" smtClean="0"/>
              <a:t>pangungusap</a:t>
            </a:r>
            <a:r>
              <a:rPr lang="en-US" sz="2400" dirty="0" smtClean="0"/>
              <a:t>. </a:t>
            </a:r>
            <a:r>
              <a:rPr lang="en-US" sz="2400" b="1" i="1" dirty="0" err="1" smtClean="0"/>
              <a:t>ang</a:t>
            </a:r>
            <a:r>
              <a:rPr lang="en-US" sz="2400" b="1" i="1" dirty="0" smtClean="0"/>
              <a:t> </a:t>
            </a:r>
            <a:r>
              <a:rPr lang="en-US" sz="2400" b="1" i="1" dirty="0" err="1" smtClean="0"/>
              <a:t>mga</a:t>
            </a:r>
            <a:r>
              <a:rPr lang="en-US" sz="2400" b="1" i="1" dirty="0" smtClean="0"/>
              <a:t>, </a:t>
            </a:r>
            <a:r>
              <a:rPr lang="en-US" sz="2400" b="1" i="1" dirty="0" err="1" smtClean="0"/>
              <a:t>si</a:t>
            </a:r>
            <a:r>
              <a:rPr lang="en-US" sz="2400" b="1" i="1" dirty="0" smtClean="0"/>
              <a:t>/</a:t>
            </a:r>
            <a:r>
              <a:rPr lang="en-US" sz="2400" b="1" i="1" dirty="0" err="1" smtClean="0"/>
              <a:t>sina</a:t>
            </a:r>
            <a:r>
              <a:rPr lang="en-US" sz="2400" b="1" i="1" dirty="0" smtClean="0"/>
              <a:t> </a:t>
            </a:r>
            <a:r>
              <a:rPr lang="en-US" sz="2400" dirty="0" err="1" smtClean="0"/>
              <a:t>atbp</a:t>
            </a:r>
            <a:r>
              <a:rPr lang="en-US" sz="2400" dirty="0" smtClean="0"/>
              <a:t>.</a:t>
            </a:r>
          </a:p>
          <a:p>
            <a:pPr>
              <a:buNone/>
            </a:pPr>
            <a:r>
              <a:rPr lang="en-US" sz="2400" b="1" dirty="0" err="1" smtClean="0"/>
              <a:t>Pangatnig</a:t>
            </a:r>
            <a:r>
              <a:rPr lang="en-US" sz="2400" b="1" dirty="0" smtClean="0"/>
              <a:t> </a:t>
            </a:r>
            <a:r>
              <a:rPr lang="en-US" sz="2400" dirty="0" smtClean="0"/>
              <a:t>– </a:t>
            </a:r>
            <a:r>
              <a:rPr lang="sv-SE" sz="2400" dirty="0" smtClean="0"/>
              <a:t>kataga, salita o grupo ng mga salitang nagpapakita ng pagkakaugnay ng isang salita sa isa pang salita o isang kaisipan sa isa pang kaisipan. s</a:t>
            </a:r>
            <a:r>
              <a:rPr lang="sv-SE" sz="2400" b="1" i="1" dirty="0" smtClean="0"/>
              <a:t>apagkat, at, o, marahil</a:t>
            </a:r>
          </a:p>
          <a:p>
            <a:pPr>
              <a:buNone/>
            </a:pPr>
            <a:r>
              <a:rPr lang="sv-SE" sz="2400" b="1" dirty="0" smtClean="0"/>
              <a:t>Pang-ukol - </a:t>
            </a:r>
            <a:r>
              <a:rPr lang="en-US" sz="2400" dirty="0" err="1" smtClean="0"/>
              <a:t>ginagamit</a:t>
            </a:r>
            <a:r>
              <a:rPr lang="en-US" sz="2400" dirty="0" smtClean="0"/>
              <a:t> </a:t>
            </a:r>
            <a:r>
              <a:rPr lang="en-US" sz="2400" dirty="0" err="1" smtClean="0"/>
              <a:t>upang</a:t>
            </a:r>
            <a:r>
              <a:rPr lang="en-US" sz="2400" dirty="0" smtClean="0"/>
              <a:t> </a:t>
            </a:r>
            <a:r>
              <a:rPr lang="en-US" sz="2400" dirty="0" err="1" smtClean="0"/>
              <a:t>matukoy</a:t>
            </a:r>
            <a:r>
              <a:rPr lang="en-US" sz="2400" dirty="0" smtClean="0"/>
              <a:t> kung sang </a:t>
            </a:r>
            <a:r>
              <a:rPr lang="en-US" sz="2400" dirty="0" err="1" smtClean="0"/>
              <a:t>lunan</a:t>
            </a:r>
            <a:r>
              <a:rPr lang="en-US" sz="2400" dirty="0" smtClean="0"/>
              <a:t> o kung </a:t>
            </a:r>
            <a:r>
              <a:rPr lang="en-US" sz="2400" dirty="0" err="1" smtClean="0"/>
              <a:t>anong</a:t>
            </a:r>
            <a:r>
              <a:rPr lang="en-US" sz="2400" dirty="0" smtClean="0"/>
              <a:t> </a:t>
            </a:r>
            <a:r>
              <a:rPr lang="en-US" sz="2400" dirty="0" err="1" smtClean="0"/>
              <a:t>bagay</a:t>
            </a:r>
            <a:r>
              <a:rPr lang="en-US" sz="2400" dirty="0" smtClean="0"/>
              <a:t> </a:t>
            </a:r>
            <a:r>
              <a:rPr lang="en-US" sz="2400" dirty="0" err="1" smtClean="0"/>
              <a:t>ang</a:t>
            </a:r>
            <a:r>
              <a:rPr lang="en-US" sz="2400" dirty="0" smtClean="0"/>
              <a:t> </a:t>
            </a:r>
            <a:r>
              <a:rPr lang="en-US" sz="2400" dirty="0" err="1" smtClean="0"/>
              <a:t>mula</a:t>
            </a:r>
            <a:r>
              <a:rPr lang="en-US" sz="2400" dirty="0" smtClean="0"/>
              <a:t> o </a:t>
            </a:r>
            <a:r>
              <a:rPr lang="en-US" sz="2400" dirty="0" err="1" smtClean="0"/>
              <a:t>tungo</a:t>
            </a:r>
            <a:r>
              <a:rPr lang="en-US" sz="2400" dirty="0" smtClean="0"/>
              <a:t>, </a:t>
            </a:r>
            <a:r>
              <a:rPr lang="en-US" sz="2400" dirty="0" err="1" smtClean="0"/>
              <a:t>ang</a:t>
            </a:r>
            <a:r>
              <a:rPr lang="en-US" sz="2400" dirty="0" smtClean="0"/>
              <a:t> </a:t>
            </a:r>
            <a:r>
              <a:rPr lang="en-US" sz="2400" dirty="0" err="1" smtClean="0"/>
              <a:t>kinaroroonan</a:t>
            </a:r>
            <a:r>
              <a:rPr lang="en-US" sz="2400" dirty="0" smtClean="0"/>
              <a:t>, </a:t>
            </a:r>
            <a:r>
              <a:rPr lang="en-US" sz="2400" dirty="0" err="1" smtClean="0"/>
              <a:t>ang</a:t>
            </a:r>
            <a:r>
              <a:rPr lang="en-US" sz="2400" dirty="0" smtClean="0"/>
              <a:t> </a:t>
            </a:r>
            <a:r>
              <a:rPr lang="en-US" sz="2400" dirty="0" err="1" smtClean="0"/>
              <a:t>pinangyarihan</a:t>
            </a:r>
            <a:r>
              <a:rPr lang="en-US" sz="2400" dirty="0" smtClean="0"/>
              <a:t> o kina-</a:t>
            </a:r>
            <a:r>
              <a:rPr lang="en-US" sz="2400" dirty="0" err="1" smtClean="0"/>
              <a:t>uukulan</a:t>
            </a:r>
            <a:r>
              <a:rPr lang="en-US" sz="2400" dirty="0" smtClean="0"/>
              <a:t> </a:t>
            </a:r>
            <a:r>
              <a:rPr lang="en-US" sz="2400" dirty="0" err="1" smtClean="0"/>
              <a:t>ng</a:t>
            </a:r>
            <a:r>
              <a:rPr lang="en-US" sz="2400" dirty="0" smtClean="0"/>
              <a:t> </a:t>
            </a:r>
            <a:r>
              <a:rPr lang="en-US" sz="2400" dirty="0" err="1" smtClean="0"/>
              <a:t>isang</a:t>
            </a:r>
            <a:r>
              <a:rPr lang="en-US" sz="2400" dirty="0" smtClean="0"/>
              <a:t> kilos, </a:t>
            </a:r>
            <a:r>
              <a:rPr lang="en-US" sz="2400" dirty="0" err="1" smtClean="0"/>
              <a:t>gawa</a:t>
            </a:r>
            <a:r>
              <a:rPr lang="en-US" sz="2400" dirty="0" smtClean="0"/>
              <a:t>, </a:t>
            </a:r>
            <a:r>
              <a:rPr lang="en-US" sz="2400" dirty="0" err="1" smtClean="0"/>
              <a:t>balak</a:t>
            </a:r>
            <a:r>
              <a:rPr lang="en-US" sz="2400" dirty="0" smtClean="0"/>
              <a:t> </a:t>
            </a:r>
            <a:r>
              <a:rPr lang="en-US" sz="2400" dirty="0" err="1" smtClean="0"/>
              <a:t>ari</a:t>
            </a:r>
            <a:r>
              <a:rPr lang="en-US" sz="2400" dirty="0" smtClean="0"/>
              <a:t> o </a:t>
            </a:r>
            <a:r>
              <a:rPr lang="en-US" sz="2400" dirty="0" err="1" smtClean="0"/>
              <a:t>layon</a:t>
            </a:r>
            <a:r>
              <a:rPr lang="en-US" sz="2400" dirty="0" smtClean="0"/>
              <a:t>. </a:t>
            </a:r>
            <a:r>
              <a:rPr lang="en-US" sz="2400" b="1" i="1" dirty="0" err="1" smtClean="0"/>
              <a:t>alinsunod</a:t>
            </a:r>
            <a:r>
              <a:rPr lang="en-US" sz="2400" b="1" i="1" dirty="0" smtClean="0"/>
              <a:t>, </a:t>
            </a:r>
            <a:r>
              <a:rPr lang="en-US" sz="2400" b="1" i="1" dirty="0" err="1" smtClean="0"/>
              <a:t>tungkol</a:t>
            </a:r>
            <a:r>
              <a:rPr lang="en-US" sz="2400" b="1" i="1" dirty="0" smtClean="0"/>
              <a:t>, </a:t>
            </a:r>
            <a:r>
              <a:rPr lang="en-US" sz="2400" b="1" i="1" dirty="0" err="1" smtClean="0"/>
              <a:t>ayon</a:t>
            </a:r>
            <a:r>
              <a:rPr lang="en-US" sz="2400" b="1" i="1" dirty="0" smtClean="0"/>
              <a:t> </a:t>
            </a:r>
            <a:r>
              <a:rPr lang="en-US" sz="2400" b="1" i="1" dirty="0" err="1" smtClean="0"/>
              <a:t>sa</a:t>
            </a:r>
            <a:endParaRPr lang="en-US" sz="2400" b="1" i="1" dirty="0" smtClean="0"/>
          </a:p>
          <a:p>
            <a:pPr>
              <a:buNone/>
            </a:pPr>
            <a:r>
              <a:rPr lang="en-US" sz="2400" b="1" dirty="0" err="1" smtClean="0"/>
              <a:t>Parirala</a:t>
            </a:r>
            <a:r>
              <a:rPr lang="en-US" sz="2400" b="1" dirty="0" smtClean="0"/>
              <a:t> – </a:t>
            </a:r>
            <a:r>
              <a:rPr lang="en-US" sz="2400" dirty="0" err="1" smtClean="0"/>
              <a:t>lipon</a:t>
            </a:r>
            <a:r>
              <a:rPr lang="en-US" sz="2400" dirty="0" smtClean="0"/>
              <a:t> </a:t>
            </a:r>
            <a:r>
              <a:rPr lang="en-US" sz="2400" dirty="0" err="1" smtClean="0"/>
              <a:t>ng</a:t>
            </a:r>
            <a:r>
              <a:rPr lang="en-US" sz="2400" dirty="0" smtClean="0"/>
              <a:t> </a:t>
            </a:r>
            <a:r>
              <a:rPr lang="en-US" sz="2400" dirty="0" err="1" smtClean="0"/>
              <a:t>salita</a:t>
            </a:r>
            <a:r>
              <a:rPr lang="en-US" sz="2400" dirty="0" smtClean="0"/>
              <a:t> o </a:t>
            </a:r>
            <a:r>
              <a:rPr lang="en-US" sz="2400" dirty="0" err="1" smtClean="0"/>
              <a:t>kataga</a:t>
            </a:r>
            <a:r>
              <a:rPr lang="en-US" sz="2400" dirty="0" smtClean="0"/>
              <a:t> </a:t>
            </a:r>
            <a:r>
              <a:rPr lang="en-US" sz="2400" dirty="0" err="1" smtClean="0"/>
              <a:t>na</a:t>
            </a:r>
            <a:r>
              <a:rPr lang="en-US" sz="2400" dirty="0" smtClean="0"/>
              <a:t> </a:t>
            </a:r>
            <a:r>
              <a:rPr lang="en-US" sz="2400" dirty="0" err="1" smtClean="0"/>
              <a:t>walang</a:t>
            </a:r>
            <a:r>
              <a:rPr lang="en-US" sz="2400" dirty="0" smtClean="0"/>
              <a:t> </a:t>
            </a:r>
            <a:r>
              <a:rPr lang="en-US" sz="2400" dirty="0" err="1" smtClean="0"/>
              <a:t>simuno</a:t>
            </a:r>
            <a:r>
              <a:rPr lang="en-US" sz="2400" dirty="0" smtClean="0"/>
              <a:t> o </a:t>
            </a:r>
            <a:r>
              <a:rPr lang="en-US" sz="2400" dirty="0" err="1" smtClean="0"/>
              <a:t>panaguri</a:t>
            </a:r>
            <a:endParaRPr lang="en-US" sz="2400" dirty="0"/>
          </a:p>
        </p:txBody>
      </p:sp>
    </p:spTree>
  </p:cSld>
  <p:clrMapOvr>
    <a:masterClrMapping/>
  </p:clrMapOvr>
  <p:transition>
    <p:push/>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838200"/>
            <a:ext cx="8229600" cy="4525963"/>
          </a:xfrm>
        </p:spPr>
        <p:txBody>
          <a:bodyPr>
            <a:noAutofit/>
          </a:bodyPr>
          <a:lstStyle/>
          <a:p>
            <a:pPr marL="566738" indent="-457200">
              <a:buNone/>
            </a:pPr>
            <a:r>
              <a:rPr lang="en-US" sz="3200" dirty="0" smtClean="0"/>
              <a:t>7. “</a:t>
            </a:r>
            <a:r>
              <a:rPr lang="en-US" sz="3200" dirty="0" err="1" smtClean="0"/>
              <a:t>Yaon</a:t>
            </a:r>
            <a:r>
              <a:rPr lang="en-US" sz="3200" dirty="0" smtClean="0"/>
              <a:t> </a:t>
            </a:r>
            <a:r>
              <a:rPr lang="en-US" sz="3200" dirty="0" err="1" smtClean="0"/>
              <a:t>lamang</a:t>
            </a:r>
            <a:r>
              <a:rPr lang="en-US" sz="3200" dirty="0" smtClean="0"/>
              <a:t> </a:t>
            </a:r>
            <a:r>
              <a:rPr lang="en-US" sz="3200" dirty="0" err="1" smtClean="0"/>
              <a:t>nakakakilala</a:t>
            </a:r>
            <a:r>
              <a:rPr lang="en-US" sz="3200" dirty="0" smtClean="0"/>
              <a:t> </a:t>
            </a:r>
            <a:r>
              <a:rPr lang="en-US" sz="3200" dirty="0" err="1" smtClean="0"/>
              <a:t>ng</a:t>
            </a:r>
            <a:r>
              <a:rPr lang="en-US" sz="3200" dirty="0" smtClean="0"/>
              <a:t> </a:t>
            </a:r>
            <a:r>
              <a:rPr lang="en-US" sz="3200" dirty="0" err="1" smtClean="0"/>
              <a:t>mga</a:t>
            </a:r>
            <a:r>
              <a:rPr lang="en-US" sz="3200" dirty="0" smtClean="0"/>
              <a:t> </a:t>
            </a:r>
            <a:r>
              <a:rPr lang="en-US" sz="3200" dirty="0" err="1" smtClean="0"/>
              <a:t>lihim</a:t>
            </a:r>
            <a:r>
              <a:rPr lang="en-US" sz="3200" dirty="0" smtClean="0"/>
              <a:t> </a:t>
            </a:r>
            <a:r>
              <a:rPr lang="en-US" sz="3200" dirty="0" err="1" smtClean="0"/>
              <a:t>na</a:t>
            </a:r>
            <a:r>
              <a:rPr lang="en-US" sz="3200" dirty="0" smtClean="0"/>
              <a:t> </a:t>
            </a:r>
            <a:r>
              <a:rPr lang="en-US" sz="3200" dirty="0" err="1" smtClean="0"/>
              <a:t>kalungkutan</a:t>
            </a:r>
            <a:r>
              <a:rPr lang="en-US" sz="3200" dirty="0" smtClean="0"/>
              <a:t> </a:t>
            </a:r>
            <a:r>
              <a:rPr lang="en-US" sz="3200" dirty="0" err="1" smtClean="0"/>
              <a:t>ang</a:t>
            </a:r>
            <a:r>
              <a:rPr lang="en-US" sz="3200" dirty="0" smtClean="0"/>
              <a:t> </a:t>
            </a:r>
            <a:r>
              <a:rPr lang="en-US" sz="3200" dirty="0" err="1" smtClean="0"/>
              <a:t>maaaring</a:t>
            </a:r>
            <a:r>
              <a:rPr lang="en-US" sz="3200" dirty="0" smtClean="0"/>
              <a:t> </a:t>
            </a:r>
            <a:r>
              <a:rPr lang="en-US" sz="3200" dirty="0" err="1" smtClean="0"/>
              <a:t>makakilala</a:t>
            </a:r>
            <a:r>
              <a:rPr lang="en-US" sz="3200" dirty="0" smtClean="0"/>
              <a:t> </a:t>
            </a:r>
            <a:r>
              <a:rPr lang="en-US" sz="3200" dirty="0" err="1" smtClean="0"/>
              <a:t>ng</a:t>
            </a:r>
            <a:r>
              <a:rPr lang="en-US" sz="3200" dirty="0" smtClean="0"/>
              <a:t> </a:t>
            </a:r>
            <a:r>
              <a:rPr lang="en-US" sz="3200" dirty="0" err="1" smtClean="0"/>
              <a:t>mga</a:t>
            </a:r>
            <a:r>
              <a:rPr lang="en-US" sz="3200" dirty="0" smtClean="0"/>
              <a:t> </a:t>
            </a:r>
            <a:r>
              <a:rPr lang="en-US" sz="3200" dirty="0" err="1" smtClean="0"/>
              <a:t>lihim</a:t>
            </a:r>
            <a:r>
              <a:rPr lang="en-US" sz="3200" dirty="0" smtClean="0"/>
              <a:t> </a:t>
            </a:r>
            <a:r>
              <a:rPr lang="en-US" sz="3200" dirty="0" err="1" smtClean="0"/>
              <a:t>na</a:t>
            </a:r>
            <a:r>
              <a:rPr lang="en-US" sz="3200" dirty="0" smtClean="0"/>
              <a:t> </a:t>
            </a:r>
            <a:r>
              <a:rPr lang="en-US" sz="3200" dirty="0" err="1" smtClean="0"/>
              <a:t>kaligayahan</a:t>
            </a:r>
            <a:r>
              <a:rPr lang="en-US" sz="3200" dirty="0" smtClean="0"/>
              <a:t>.” </a:t>
            </a:r>
            <a:r>
              <a:rPr lang="en-US" sz="3200" dirty="0" err="1" smtClean="0"/>
              <a:t>Ang</a:t>
            </a:r>
            <a:r>
              <a:rPr lang="en-US" sz="3200" dirty="0" smtClean="0"/>
              <a:t> </a:t>
            </a:r>
            <a:r>
              <a:rPr lang="en-US" sz="3200" dirty="0" err="1" smtClean="0"/>
              <a:t>mga</a:t>
            </a:r>
            <a:r>
              <a:rPr lang="en-US" sz="3200" dirty="0" smtClean="0"/>
              <a:t> </a:t>
            </a:r>
            <a:r>
              <a:rPr lang="en-US" sz="3200" dirty="0" err="1" smtClean="0"/>
              <a:t>pahayag</a:t>
            </a:r>
            <a:r>
              <a:rPr lang="en-US" sz="3200" dirty="0" smtClean="0"/>
              <a:t> </a:t>
            </a:r>
            <a:r>
              <a:rPr lang="en-US" sz="3200" dirty="0" err="1" smtClean="0"/>
              <a:t>na</a:t>
            </a:r>
            <a:r>
              <a:rPr lang="en-US" sz="3200" dirty="0" smtClean="0"/>
              <a:t> </a:t>
            </a:r>
            <a:r>
              <a:rPr lang="en-US" sz="3200" dirty="0" err="1" smtClean="0"/>
              <a:t>ito</a:t>
            </a:r>
            <a:r>
              <a:rPr lang="en-US" sz="3200" dirty="0" smtClean="0"/>
              <a:t> ay </a:t>
            </a:r>
            <a:r>
              <a:rPr lang="en-US" sz="3200" dirty="0" err="1" smtClean="0"/>
              <a:t>nagsasaad</a:t>
            </a:r>
            <a:r>
              <a:rPr lang="en-US" sz="3200" dirty="0" smtClean="0"/>
              <a:t> </a:t>
            </a:r>
            <a:r>
              <a:rPr lang="en-US" sz="3200" dirty="0" err="1" smtClean="0"/>
              <a:t>ng</a:t>
            </a:r>
            <a:r>
              <a:rPr lang="en-US" sz="3200" dirty="0" smtClean="0"/>
              <a:t> _____________.</a:t>
            </a:r>
          </a:p>
          <a:p>
            <a:pPr marL="566738" indent="-457200">
              <a:buNone/>
            </a:pPr>
            <a:endParaRPr lang="en-US" sz="3200" dirty="0" smtClean="0"/>
          </a:p>
          <a:p>
            <a:pPr marL="623888" indent="0">
              <a:buFont typeface="+mj-lt"/>
              <a:buAutoNum type="alphaUcPeriod"/>
            </a:pPr>
            <a:r>
              <a:rPr lang="en-US" sz="3200" dirty="0" smtClean="0"/>
              <a:t> </a:t>
            </a:r>
            <a:r>
              <a:rPr lang="en-US" sz="3200" dirty="0" err="1" smtClean="0"/>
              <a:t>kapangitan</a:t>
            </a:r>
            <a:r>
              <a:rPr lang="en-US" sz="3200" dirty="0" smtClean="0"/>
              <a:t> </a:t>
            </a:r>
            <a:r>
              <a:rPr lang="en-US" sz="3200" dirty="0" err="1" smtClean="0"/>
              <a:t>ng</a:t>
            </a:r>
            <a:r>
              <a:rPr lang="en-US" sz="3200" dirty="0" smtClean="0"/>
              <a:t> </a:t>
            </a:r>
            <a:r>
              <a:rPr lang="en-US" sz="3200" dirty="0" err="1" smtClean="0"/>
              <a:t>buhay</a:t>
            </a:r>
            <a:endParaRPr lang="en-US" sz="3200" dirty="0" smtClean="0"/>
          </a:p>
          <a:p>
            <a:pPr marL="623888" indent="0">
              <a:buFont typeface="+mj-lt"/>
              <a:buAutoNum type="alphaUcPeriod"/>
            </a:pPr>
            <a:r>
              <a:rPr lang="en-US" sz="3200" dirty="0" smtClean="0"/>
              <a:t> </a:t>
            </a:r>
            <a:r>
              <a:rPr lang="en-US" sz="3200" dirty="0" err="1" smtClean="0"/>
              <a:t>kalungkutan</a:t>
            </a:r>
            <a:r>
              <a:rPr lang="en-US" sz="3200" dirty="0" smtClean="0"/>
              <a:t> </a:t>
            </a:r>
            <a:r>
              <a:rPr lang="en-US" sz="3200" dirty="0" err="1" smtClean="0"/>
              <a:t>ang</a:t>
            </a:r>
            <a:r>
              <a:rPr lang="en-US" sz="3200" dirty="0" smtClean="0"/>
              <a:t> </a:t>
            </a:r>
            <a:r>
              <a:rPr lang="en-US" sz="3200" dirty="0" err="1" smtClean="0"/>
              <a:t>mabuhay</a:t>
            </a:r>
            <a:endParaRPr lang="en-US" sz="3200" dirty="0" smtClean="0"/>
          </a:p>
          <a:p>
            <a:pPr marL="623888" indent="0">
              <a:buFont typeface="+mj-lt"/>
              <a:buAutoNum type="alphaUcPeriod"/>
            </a:pPr>
            <a:r>
              <a:rPr lang="en-US" sz="3200" dirty="0" smtClean="0"/>
              <a:t> </a:t>
            </a:r>
            <a:r>
              <a:rPr lang="en-US" sz="3200" dirty="0" err="1" smtClean="0"/>
              <a:t>kagandahan</a:t>
            </a:r>
            <a:r>
              <a:rPr lang="en-US" sz="3200" dirty="0" smtClean="0"/>
              <a:t> </a:t>
            </a:r>
            <a:r>
              <a:rPr lang="en-US" sz="3200" dirty="0" err="1" smtClean="0"/>
              <a:t>ng</a:t>
            </a:r>
            <a:r>
              <a:rPr lang="en-US" sz="3200" dirty="0" smtClean="0"/>
              <a:t> </a:t>
            </a:r>
            <a:r>
              <a:rPr lang="en-US" sz="3200" dirty="0" err="1" smtClean="0"/>
              <a:t>buhay</a:t>
            </a:r>
            <a:endParaRPr lang="en-US" sz="3200" dirty="0" smtClean="0"/>
          </a:p>
          <a:p>
            <a:pPr marL="623888" indent="0">
              <a:buFont typeface="+mj-lt"/>
              <a:buAutoNum type="alphaUcPeriod"/>
            </a:pPr>
            <a:r>
              <a:rPr lang="en-US" sz="3200" dirty="0" smtClean="0"/>
              <a:t> </a:t>
            </a:r>
            <a:r>
              <a:rPr lang="en-US" sz="3200" dirty="0" err="1" smtClean="0"/>
              <a:t>paghihikahos</a:t>
            </a:r>
            <a:r>
              <a:rPr lang="en-US" sz="3200" dirty="0" smtClean="0"/>
              <a:t> </a:t>
            </a:r>
            <a:r>
              <a:rPr lang="en-US" sz="3200" dirty="0" err="1" smtClean="0"/>
              <a:t>sa</a:t>
            </a:r>
            <a:r>
              <a:rPr lang="en-US" sz="3200" dirty="0" smtClean="0"/>
              <a:t> </a:t>
            </a:r>
            <a:r>
              <a:rPr lang="en-US" sz="3200" dirty="0" err="1" smtClean="0"/>
              <a:t>buhay</a:t>
            </a:r>
            <a:endParaRPr lang="en-US" sz="3200" dirty="0" smtClean="0"/>
          </a:p>
          <a:p>
            <a:pPr>
              <a:buNone/>
            </a:pPr>
            <a:endParaRPr lang="en-US" sz="32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466785" y="51237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762000"/>
            <a:ext cx="8229600" cy="4525963"/>
          </a:xfrm>
        </p:spPr>
        <p:txBody>
          <a:bodyPr>
            <a:noAutofit/>
          </a:bodyPr>
          <a:lstStyle/>
          <a:p>
            <a:pPr marL="566738" indent="-457200">
              <a:buNone/>
            </a:pPr>
            <a:r>
              <a:rPr lang="en-US" sz="3200" dirty="0" smtClean="0"/>
              <a:t>8. </a:t>
            </a:r>
            <a:r>
              <a:rPr lang="en-US" sz="3200" dirty="0" err="1" smtClean="0"/>
              <a:t>Kailan</a:t>
            </a:r>
            <a:r>
              <a:rPr lang="en-US" sz="3200" dirty="0" smtClean="0"/>
              <a:t> </a:t>
            </a:r>
            <a:r>
              <a:rPr lang="en-US" sz="3200" dirty="0" err="1" smtClean="0"/>
              <a:t>ginagamit</a:t>
            </a:r>
            <a:r>
              <a:rPr lang="en-US" sz="3200" dirty="0" smtClean="0"/>
              <a:t> </a:t>
            </a:r>
            <a:r>
              <a:rPr lang="en-US" sz="3200" dirty="0" err="1" smtClean="0"/>
              <a:t>ang</a:t>
            </a:r>
            <a:r>
              <a:rPr lang="en-US" sz="3200" dirty="0" smtClean="0"/>
              <a:t> IKA </a:t>
            </a:r>
            <a:r>
              <a:rPr lang="en-US" sz="3200" dirty="0" err="1" smtClean="0"/>
              <a:t>na</a:t>
            </a:r>
            <a:r>
              <a:rPr lang="en-US" sz="3200" dirty="0" smtClean="0"/>
              <a:t> may </a:t>
            </a:r>
            <a:r>
              <a:rPr lang="en-US" sz="3200" dirty="0" err="1" smtClean="0"/>
              <a:t>gitling</a:t>
            </a:r>
            <a:r>
              <a:rPr lang="en-US" sz="3200" dirty="0" smtClean="0"/>
              <a:t>?</a:t>
            </a:r>
          </a:p>
          <a:p>
            <a:pPr marL="566738" indent="-457200">
              <a:buNone/>
            </a:pPr>
            <a:endParaRPr lang="en-US" sz="3200" dirty="0" smtClean="0"/>
          </a:p>
          <a:p>
            <a:pPr marL="849313" lvl="1" indent="-282575">
              <a:buFont typeface="+mj-lt"/>
              <a:buAutoNum type="alphaUcPeriod"/>
            </a:pPr>
            <a:r>
              <a:rPr lang="en-US" sz="3200" dirty="0" smtClean="0"/>
              <a:t> Kung </a:t>
            </a:r>
            <a:r>
              <a:rPr lang="en-US" sz="3200" dirty="0" err="1" smtClean="0"/>
              <a:t>ginagamit</a:t>
            </a:r>
            <a:r>
              <a:rPr lang="en-US" sz="3200" dirty="0" smtClean="0"/>
              <a:t> </a:t>
            </a:r>
            <a:r>
              <a:rPr lang="en-US" sz="3200" dirty="0" err="1" smtClean="0"/>
              <a:t>na</a:t>
            </a:r>
            <a:r>
              <a:rPr lang="en-US" sz="3200" dirty="0" smtClean="0"/>
              <a:t> </a:t>
            </a:r>
            <a:r>
              <a:rPr lang="en-US" sz="3200" dirty="0" err="1" smtClean="0"/>
              <a:t>panlapi</a:t>
            </a:r>
            <a:r>
              <a:rPr lang="en-US" sz="3200" dirty="0" smtClean="0"/>
              <a:t> </a:t>
            </a:r>
            <a:r>
              <a:rPr lang="en-US" sz="3200" dirty="0" err="1" smtClean="0"/>
              <a:t>sa</a:t>
            </a:r>
            <a:r>
              <a:rPr lang="en-US" sz="3200" dirty="0" smtClean="0"/>
              <a:t> </a:t>
            </a:r>
            <a:r>
              <a:rPr lang="en-US" sz="3200" dirty="0" err="1" smtClean="0"/>
              <a:t>isang</a:t>
            </a:r>
            <a:r>
              <a:rPr lang="en-US" sz="3200" dirty="0" smtClean="0"/>
              <a:t> </a:t>
            </a:r>
            <a:r>
              <a:rPr lang="en-US" sz="3200" dirty="0" err="1" smtClean="0"/>
              <a:t>salita</a:t>
            </a:r>
            <a:endParaRPr lang="en-US" sz="3200" dirty="0" smtClean="0"/>
          </a:p>
          <a:p>
            <a:pPr marL="849313" lvl="1" indent="-282575">
              <a:buFont typeface="+mj-lt"/>
              <a:buAutoNum type="alphaUcPeriod"/>
            </a:pPr>
            <a:r>
              <a:rPr lang="en-US" sz="3200" dirty="0" smtClean="0"/>
              <a:t> Kung </a:t>
            </a:r>
            <a:r>
              <a:rPr lang="en-US" sz="3200" dirty="0" err="1" smtClean="0"/>
              <a:t>ang</a:t>
            </a:r>
            <a:r>
              <a:rPr lang="en-US" sz="3200" dirty="0" smtClean="0"/>
              <a:t> </a:t>
            </a:r>
            <a:r>
              <a:rPr lang="en-US" sz="3200" dirty="0" err="1" smtClean="0"/>
              <a:t>ikakabit</a:t>
            </a:r>
            <a:r>
              <a:rPr lang="en-US" sz="3200" dirty="0" smtClean="0"/>
              <a:t> ay </a:t>
            </a:r>
            <a:r>
              <a:rPr lang="en-US" sz="3200" dirty="0" err="1" smtClean="0"/>
              <a:t>isang</a:t>
            </a:r>
            <a:r>
              <a:rPr lang="en-US" sz="3200" dirty="0" smtClean="0"/>
              <a:t> </a:t>
            </a:r>
            <a:r>
              <a:rPr lang="en-US" sz="3200" dirty="0" err="1" smtClean="0"/>
              <a:t>panlapi</a:t>
            </a:r>
            <a:endParaRPr lang="en-US" sz="3200" dirty="0" smtClean="0"/>
          </a:p>
          <a:p>
            <a:pPr marL="849313" lvl="1" indent="-282575">
              <a:buFont typeface="+mj-lt"/>
              <a:buAutoNum type="alphaUcPeriod"/>
            </a:pPr>
            <a:r>
              <a:rPr lang="en-US" sz="3200" dirty="0" smtClean="0"/>
              <a:t> Kung </a:t>
            </a:r>
            <a:r>
              <a:rPr lang="en-US" sz="3200" dirty="0" err="1" smtClean="0"/>
              <a:t>ang</a:t>
            </a:r>
            <a:r>
              <a:rPr lang="en-US" sz="3200" dirty="0" smtClean="0"/>
              <a:t> </a:t>
            </a:r>
            <a:r>
              <a:rPr lang="en-US" sz="3200" dirty="0" err="1" smtClean="0"/>
              <a:t>bilang</a:t>
            </a:r>
            <a:r>
              <a:rPr lang="en-US" sz="3200" dirty="0" smtClean="0"/>
              <a:t> ay </a:t>
            </a:r>
            <a:r>
              <a:rPr lang="en-US" sz="3200" dirty="0" err="1" smtClean="0"/>
              <a:t>isinusulat</a:t>
            </a:r>
            <a:r>
              <a:rPr lang="en-US" sz="3200" dirty="0" smtClean="0"/>
              <a:t> </a:t>
            </a:r>
            <a:r>
              <a:rPr lang="en-US" sz="3200" dirty="0" err="1" smtClean="0"/>
              <a:t>na</a:t>
            </a:r>
            <a:r>
              <a:rPr lang="en-US" sz="3200" dirty="0" smtClean="0"/>
              <a:t> </a:t>
            </a:r>
            <a:r>
              <a:rPr lang="en-US" sz="3200" dirty="0" err="1" smtClean="0"/>
              <a:t>buo</a:t>
            </a:r>
            <a:endParaRPr lang="en-US" sz="3200" dirty="0" smtClean="0"/>
          </a:p>
          <a:p>
            <a:pPr marL="849313" lvl="1" indent="-282575">
              <a:buFont typeface="+mj-lt"/>
              <a:buAutoNum type="alphaUcPeriod"/>
            </a:pPr>
            <a:r>
              <a:rPr lang="en-US" sz="3200" dirty="0" smtClean="0"/>
              <a:t> Kung </a:t>
            </a:r>
            <a:r>
              <a:rPr lang="en-US" sz="3200" dirty="0" err="1" smtClean="0"/>
              <a:t>mismong</a:t>
            </a:r>
            <a:r>
              <a:rPr lang="en-US" sz="3200" dirty="0" smtClean="0"/>
              <a:t> </a:t>
            </a:r>
            <a:r>
              <a:rPr lang="en-US" sz="3200" dirty="0" err="1" smtClean="0"/>
              <a:t>bilang</a:t>
            </a:r>
            <a:r>
              <a:rPr lang="en-US" sz="3200" dirty="0" smtClean="0"/>
              <a:t> </a:t>
            </a:r>
            <a:r>
              <a:rPr lang="en-US" sz="3200" dirty="0" err="1" smtClean="0"/>
              <a:t>ang</a:t>
            </a:r>
            <a:r>
              <a:rPr lang="en-US" sz="3200" dirty="0" smtClean="0"/>
              <a:t> </a:t>
            </a:r>
            <a:r>
              <a:rPr lang="en-US" sz="3200" dirty="0" err="1" smtClean="0"/>
              <a:t>susunod</a:t>
            </a:r>
            <a:r>
              <a:rPr lang="en-US" sz="3200" dirty="0" smtClean="0"/>
              <a:t> </a:t>
            </a:r>
            <a:r>
              <a:rPr lang="en-US" sz="3200" dirty="0" err="1" smtClean="0"/>
              <a:t>na</a:t>
            </a:r>
            <a:r>
              <a:rPr lang="en-US" sz="3200" dirty="0" smtClean="0"/>
              <a:t> </a:t>
            </a:r>
            <a:r>
              <a:rPr lang="en-US" sz="3200" dirty="0" err="1" smtClean="0"/>
              <a:t>isusulat</a:t>
            </a:r>
            <a:endParaRPr lang="en-US" sz="3200" dirty="0" smtClean="0"/>
          </a:p>
          <a:p>
            <a:pPr>
              <a:buNone/>
            </a:pPr>
            <a:endParaRPr lang="en-US" sz="32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390584" y="49713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33400" y="990600"/>
            <a:ext cx="8229600" cy="4525963"/>
          </a:xfrm>
        </p:spPr>
        <p:txBody>
          <a:bodyPr>
            <a:noAutofit/>
          </a:bodyPr>
          <a:lstStyle/>
          <a:p>
            <a:pPr marL="566738" indent="-457200">
              <a:buNone/>
            </a:pPr>
            <a:r>
              <a:rPr lang="en-US" sz="3200" dirty="0" smtClean="0"/>
              <a:t>9. </a:t>
            </a:r>
            <a:r>
              <a:rPr lang="en-US" sz="3200" dirty="0" err="1" smtClean="0"/>
              <a:t>Ibigay</a:t>
            </a:r>
            <a:r>
              <a:rPr lang="en-US" sz="3200" dirty="0" smtClean="0"/>
              <a:t> </a:t>
            </a:r>
            <a:r>
              <a:rPr lang="en-US" sz="3200" dirty="0" err="1" smtClean="0"/>
              <a:t>ang</a:t>
            </a:r>
            <a:r>
              <a:rPr lang="en-US" sz="3200" dirty="0" smtClean="0"/>
              <a:t> </a:t>
            </a:r>
            <a:r>
              <a:rPr lang="en-US" sz="3200" dirty="0" err="1" smtClean="0"/>
              <a:t>uri</a:t>
            </a:r>
            <a:r>
              <a:rPr lang="en-US" sz="3200" dirty="0" smtClean="0"/>
              <a:t> </a:t>
            </a:r>
            <a:r>
              <a:rPr lang="en-US" sz="3200" dirty="0" err="1" smtClean="0"/>
              <a:t>ng</a:t>
            </a:r>
            <a:r>
              <a:rPr lang="en-US" sz="3200" dirty="0" smtClean="0"/>
              <a:t> </a:t>
            </a:r>
            <a:r>
              <a:rPr lang="en-US" sz="3200" dirty="0" err="1" smtClean="0"/>
              <a:t>tayutay</a:t>
            </a:r>
            <a:r>
              <a:rPr lang="en-US" sz="3200" dirty="0" smtClean="0"/>
              <a:t> </a:t>
            </a:r>
            <a:r>
              <a:rPr lang="en-US" sz="3200" dirty="0" err="1" smtClean="0"/>
              <a:t>na</a:t>
            </a:r>
            <a:r>
              <a:rPr lang="en-US" sz="3200" dirty="0" smtClean="0"/>
              <a:t> </a:t>
            </a:r>
            <a:r>
              <a:rPr lang="en-US" sz="3200" dirty="0" err="1" smtClean="0"/>
              <a:t>ginagamit</a:t>
            </a:r>
            <a:r>
              <a:rPr lang="en-US" sz="3200" dirty="0" smtClean="0"/>
              <a:t> </a:t>
            </a:r>
            <a:r>
              <a:rPr lang="en-US" sz="3200" dirty="0" err="1" smtClean="0"/>
              <a:t>sa</a:t>
            </a:r>
            <a:r>
              <a:rPr lang="en-US" sz="3200" dirty="0" smtClean="0"/>
              <a:t> </a:t>
            </a:r>
            <a:r>
              <a:rPr lang="en-US" sz="3200" dirty="0" err="1" smtClean="0"/>
              <a:t>pahayag</a:t>
            </a:r>
            <a:r>
              <a:rPr lang="en-US" sz="3200" dirty="0" smtClean="0"/>
              <a:t> </a:t>
            </a:r>
            <a:r>
              <a:rPr lang="en-US" sz="3200" dirty="0" err="1" smtClean="0"/>
              <a:t>na</a:t>
            </a:r>
            <a:r>
              <a:rPr lang="en-US" sz="3200" dirty="0" smtClean="0"/>
              <a:t> </a:t>
            </a:r>
            <a:r>
              <a:rPr lang="en-US" sz="3200" dirty="0" err="1" smtClean="0"/>
              <a:t>ito</a:t>
            </a:r>
            <a:r>
              <a:rPr lang="en-US" sz="3200" dirty="0" smtClean="0"/>
              <a:t>.</a:t>
            </a:r>
          </a:p>
          <a:p>
            <a:pPr>
              <a:buNone/>
            </a:pPr>
            <a:r>
              <a:rPr lang="en-US" sz="3200" dirty="0" smtClean="0"/>
              <a:t>	ANG KANYANG MGA MATA NA WARING NAGMAMAKAAWA SA AKIN.</a:t>
            </a:r>
          </a:p>
          <a:p>
            <a:pPr>
              <a:buNone/>
            </a:pPr>
            <a:endParaRPr lang="en-US" sz="3200" dirty="0" smtClean="0"/>
          </a:p>
          <a:p>
            <a:pPr marL="623888" indent="-57150">
              <a:buFont typeface="+mj-lt"/>
              <a:buAutoNum type="alphaUcPeriod"/>
            </a:pPr>
            <a:r>
              <a:rPr lang="en-US" sz="3200" dirty="0" smtClean="0"/>
              <a:t> </a:t>
            </a:r>
            <a:r>
              <a:rPr lang="en-US" sz="3200" dirty="0" err="1" smtClean="0"/>
              <a:t>Sinekdoke</a:t>
            </a:r>
            <a:endParaRPr lang="en-US" sz="3200" dirty="0" smtClean="0"/>
          </a:p>
          <a:p>
            <a:pPr marL="623888" indent="-57150">
              <a:buFont typeface="+mj-lt"/>
              <a:buAutoNum type="alphaUcPeriod"/>
            </a:pPr>
            <a:r>
              <a:rPr lang="en-US" sz="3200" dirty="0" smtClean="0"/>
              <a:t> </a:t>
            </a:r>
            <a:r>
              <a:rPr lang="en-US" sz="3200" dirty="0" err="1" smtClean="0"/>
              <a:t>Personipikasyon</a:t>
            </a:r>
            <a:endParaRPr lang="en-US" sz="3200" dirty="0" smtClean="0"/>
          </a:p>
          <a:p>
            <a:pPr marL="623888" indent="-57150">
              <a:buFont typeface="+mj-lt"/>
              <a:buAutoNum type="alphaUcPeriod"/>
            </a:pPr>
            <a:r>
              <a:rPr lang="en-US" sz="3200" dirty="0" smtClean="0"/>
              <a:t> Ironiya</a:t>
            </a:r>
          </a:p>
          <a:p>
            <a:pPr marL="623888" indent="-57150">
              <a:buFont typeface="+mj-lt"/>
              <a:buAutoNum type="alphaUcPeriod"/>
            </a:pPr>
            <a:r>
              <a:rPr lang="en-US" sz="3200" dirty="0" smtClean="0"/>
              <a:t> </a:t>
            </a:r>
            <a:r>
              <a:rPr lang="en-US" sz="3200" dirty="0" err="1" smtClean="0"/>
              <a:t>Apostrope</a:t>
            </a:r>
            <a:endParaRPr lang="en-US" sz="3200" dirty="0" smtClean="0"/>
          </a:p>
          <a:p>
            <a:pPr>
              <a:buNone/>
            </a:pPr>
            <a:endParaRPr lang="en-US" sz="3200" dirty="0"/>
          </a:p>
        </p:txBody>
      </p:sp>
      <p:pic>
        <p:nvPicPr>
          <p:cNvPr id="4" name="Picture 4" descr="C:\Documents and Settings\Administrator\Desktop\hand_right.gif"/>
          <p:cNvPicPr>
            <a:picLocks noChangeAspect="1" noChangeArrowheads="1" noCrop="1"/>
          </p:cNvPicPr>
          <p:nvPr/>
        </p:nvPicPr>
        <p:blipFill>
          <a:blip r:embed="rId3">
            <a:extLst>
              <a:ext uri="{28A0092B-C50C-407E-A947-70E740481C1C}">
                <a14:useLocalDpi xmlns="" xmlns:a14="http://schemas.microsoft.com/office/drawing/2010/main" val="0"/>
              </a:ext>
            </a:extLst>
          </a:blip>
          <a:srcRect/>
          <a:stretch>
            <a:fillRect/>
          </a:stretch>
        </p:blipFill>
        <p:spPr bwMode="auto">
          <a:xfrm rot="21434720">
            <a:off x="542985" y="4361774"/>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33400" y="304800"/>
            <a:ext cx="8229600" cy="4525963"/>
          </a:xfrm>
        </p:spPr>
        <p:txBody>
          <a:bodyPr>
            <a:noAutofit/>
          </a:bodyPr>
          <a:lstStyle/>
          <a:p>
            <a:pPr marL="566738" indent="-457200">
              <a:buNone/>
            </a:pPr>
            <a:endParaRPr lang="en-US" sz="2400" dirty="0" smtClean="0"/>
          </a:p>
          <a:p>
            <a:r>
              <a:rPr lang="en-US" sz="2400" dirty="0" smtClean="0"/>
              <a:t> </a:t>
            </a:r>
            <a:r>
              <a:rPr lang="en-US" sz="2400" b="1" dirty="0" err="1" smtClean="0"/>
              <a:t>Sinekdoke</a:t>
            </a:r>
            <a:r>
              <a:rPr lang="en-US" sz="2400" dirty="0" err="1" smtClean="0"/>
              <a:t>-nagbabaggit</a:t>
            </a:r>
            <a:r>
              <a:rPr lang="en-US" sz="2400" dirty="0" smtClean="0"/>
              <a:t> </a:t>
            </a:r>
            <a:r>
              <a:rPr lang="en-US" sz="2400" dirty="0" err="1" smtClean="0"/>
              <a:t>sa</a:t>
            </a:r>
            <a:r>
              <a:rPr lang="en-US" sz="2400" dirty="0" smtClean="0"/>
              <a:t> </a:t>
            </a:r>
            <a:r>
              <a:rPr lang="en-US" sz="2400" dirty="0" err="1" smtClean="0"/>
              <a:t>isang</a:t>
            </a:r>
            <a:r>
              <a:rPr lang="en-US" sz="2400" dirty="0" smtClean="0"/>
              <a:t> </a:t>
            </a:r>
            <a:r>
              <a:rPr lang="en-US" sz="2400" dirty="0" err="1" smtClean="0"/>
              <a:t>bahagi</a:t>
            </a:r>
            <a:r>
              <a:rPr lang="en-US" sz="2400" dirty="0" smtClean="0"/>
              <a:t> </a:t>
            </a:r>
            <a:r>
              <a:rPr lang="en-US" sz="2400" dirty="0" err="1" smtClean="0"/>
              <a:t>upang</a:t>
            </a:r>
            <a:r>
              <a:rPr lang="en-US" sz="2400" dirty="0" smtClean="0"/>
              <a:t> </a:t>
            </a:r>
            <a:r>
              <a:rPr lang="en-US" sz="2400" dirty="0" err="1" smtClean="0"/>
              <a:t>sakupin</a:t>
            </a:r>
            <a:r>
              <a:rPr lang="en-US" sz="2400" dirty="0" smtClean="0"/>
              <a:t> o </a:t>
            </a:r>
            <a:r>
              <a:rPr lang="en-US" sz="2400" dirty="0" err="1" smtClean="0"/>
              <a:t>tukuyin</a:t>
            </a:r>
            <a:r>
              <a:rPr lang="en-US" sz="2400" dirty="0" smtClean="0"/>
              <a:t> </a:t>
            </a:r>
            <a:r>
              <a:rPr lang="en-US" sz="2400" dirty="0" err="1" smtClean="0"/>
              <a:t>ang</a:t>
            </a:r>
            <a:r>
              <a:rPr lang="en-US" sz="2400" dirty="0" smtClean="0"/>
              <a:t> </a:t>
            </a:r>
            <a:r>
              <a:rPr lang="en-US" sz="2400" dirty="0" err="1" smtClean="0"/>
              <a:t>kabuuan</a:t>
            </a:r>
            <a:r>
              <a:rPr lang="en-US" sz="2400" dirty="0" smtClean="0"/>
              <a:t>. </a:t>
            </a:r>
            <a:r>
              <a:rPr lang="en-US" sz="2000" b="1" i="1" dirty="0" err="1" smtClean="0"/>
              <a:t>Hanggang</a:t>
            </a:r>
            <a:r>
              <a:rPr lang="en-US" sz="2000" b="1" i="1" dirty="0" smtClean="0"/>
              <a:t> </a:t>
            </a:r>
            <a:r>
              <a:rPr lang="en-US" sz="2000" b="1" i="1" dirty="0" err="1" smtClean="0"/>
              <a:t>sa</a:t>
            </a:r>
            <a:r>
              <a:rPr lang="en-US" sz="2000" b="1" i="1" dirty="0" smtClean="0"/>
              <a:t> </a:t>
            </a:r>
            <a:r>
              <a:rPr lang="en-US" sz="2000" b="1" i="1" dirty="0" err="1" smtClean="0"/>
              <a:t>malibing</a:t>
            </a:r>
            <a:r>
              <a:rPr lang="en-US" sz="2000" b="1" i="1" dirty="0" smtClean="0"/>
              <a:t> </a:t>
            </a:r>
            <a:r>
              <a:rPr lang="en-US" sz="2000" b="1" i="1" dirty="0" err="1" smtClean="0"/>
              <a:t>ang</a:t>
            </a:r>
            <a:r>
              <a:rPr lang="en-US" sz="2000" b="1" i="1" dirty="0" smtClean="0"/>
              <a:t> </a:t>
            </a:r>
            <a:r>
              <a:rPr lang="en-US" sz="2000" b="1" i="1" dirty="0" err="1" smtClean="0"/>
              <a:t>mga</a:t>
            </a:r>
            <a:r>
              <a:rPr lang="en-US" sz="2000" b="1" i="1" dirty="0" smtClean="0"/>
              <a:t> </a:t>
            </a:r>
            <a:r>
              <a:rPr lang="en-US" sz="2000" b="1" i="1" dirty="0" err="1" smtClean="0"/>
              <a:t>buto</a:t>
            </a:r>
            <a:r>
              <a:rPr lang="en-US" sz="2000" b="1" i="1" dirty="0" smtClean="0"/>
              <a:t> </a:t>
            </a:r>
            <a:r>
              <a:rPr lang="en-US" sz="2000" b="1" i="1" dirty="0" err="1" smtClean="0"/>
              <a:t>ko</a:t>
            </a:r>
            <a:r>
              <a:rPr lang="en-US" sz="2000" b="1" i="1" dirty="0" smtClean="0"/>
              <a:t>.</a:t>
            </a:r>
            <a:endParaRPr lang="en-US" sz="2000" b="1" dirty="0" smtClean="0"/>
          </a:p>
          <a:p>
            <a:r>
              <a:rPr lang="en-US" sz="2400" b="1" dirty="0" err="1" smtClean="0"/>
              <a:t>Personipikasyon</a:t>
            </a:r>
            <a:r>
              <a:rPr lang="en-US" sz="2400" b="1" dirty="0" smtClean="0"/>
              <a:t> -</a:t>
            </a:r>
            <a:r>
              <a:rPr lang="en-US" sz="2400" dirty="0" err="1" smtClean="0"/>
              <a:t>nagsasalin</a:t>
            </a:r>
            <a:r>
              <a:rPr lang="en-US" sz="2400" dirty="0" smtClean="0"/>
              <a:t> </a:t>
            </a:r>
            <a:r>
              <a:rPr lang="en-US" sz="2400" dirty="0" err="1" smtClean="0"/>
              <a:t>ng</a:t>
            </a:r>
            <a:r>
              <a:rPr lang="en-US" sz="2400" dirty="0" smtClean="0"/>
              <a:t> </a:t>
            </a:r>
            <a:r>
              <a:rPr lang="en-US" sz="2400" dirty="0" err="1" smtClean="0"/>
              <a:t>katangian</a:t>
            </a:r>
            <a:r>
              <a:rPr lang="en-US" sz="2400" dirty="0" smtClean="0"/>
              <a:t> </a:t>
            </a:r>
            <a:r>
              <a:rPr lang="en-US" sz="2400" dirty="0" err="1" smtClean="0"/>
              <a:t>ng</a:t>
            </a:r>
            <a:r>
              <a:rPr lang="en-US" sz="2400" dirty="0" smtClean="0"/>
              <a:t> </a:t>
            </a:r>
            <a:r>
              <a:rPr lang="en-US" sz="2400" dirty="0" err="1" smtClean="0"/>
              <a:t>tao</a:t>
            </a:r>
            <a:r>
              <a:rPr lang="en-US" sz="2400" dirty="0" smtClean="0"/>
              <a:t> </a:t>
            </a:r>
            <a:r>
              <a:rPr lang="en-US" sz="2400" dirty="0" err="1" smtClean="0"/>
              <a:t>sa</a:t>
            </a:r>
            <a:r>
              <a:rPr lang="en-US" sz="2400" dirty="0" smtClean="0"/>
              <a:t> </a:t>
            </a:r>
            <a:r>
              <a:rPr lang="en-US" sz="2400" dirty="0" err="1" smtClean="0"/>
              <a:t>mga</a:t>
            </a:r>
            <a:r>
              <a:rPr lang="en-US" sz="2400" dirty="0" smtClean="0"/>
              <a:t> </a:t>
            </a:r>
            <a:r>
              <a:rPr lang="en-US" sz="2400" dirty="0" err="1" smtClean="0"/>
              <a:t>bagay</a:t>
            </a:r>
            <a:r>
              <a:rPr lang="en-US" sz="2400" dirty="0" smtClean="0"/>
              <a:t> </a:t>
            </a:r>
            <a:r>
              <a:rPr lang="en-US" sz="2400" dirty="0" err="1" smtClean="0"/>
              <a:t>na</a:t>
            </a:r>
            <a:r>
              <a:rPr lang="en-US" sz="2400" dirty="0" smtClean="0"/>
              <a:t> </a:t>
            </a:r>
            <a:r>
              <a:rPr lang="en-US" sz="2400" dirty="0" err="1" smtClean="0"/>
              <a:t>abstrakto</a:t>
            </a:r>
            <a:r>
              <a:rPr lang="en-US" sz="2400" dirty="0" smtClean="0"/>
              <a:t> o </a:t>
            </a:r>
            <a:r>
              <a:rPr lang="en-US" sz="2400" dirty="0" err="1" smtClean="0"/>
              <a:t>mga</a:t>
            </a:r>
            <a:r>
              <a:rPr lang="en-US" sz="2400" dirty="0" smtClean="0"/>
              <a:t> </a:t>
            </a:r>
            <a:r>
              <a:rPr lang="en-US" sz="2400" dirty="0" err="1" smtClean="0"/>
              <a:t>walang</a:t>
            </a:r>
            <a:r>
              <a:rPr lang="en-US" sz="2400" dirty="0" smtClean="0"/>
              <a:t> </a:t>
            </a:r>
            <a:r>
              <a:rPr lang="en-US" sz="2400" dirty="0" err="1" smtClean="0"/>
              <a:t>buhay</a:t>
            </a:r>
            <a:r>
              <a:rPr lang="en-US" sz="2400" dirty="0" smtClean="0"/>
              <a:t>. </a:t>
            </a:r>
            <a:r>
              <a:rPr lang="en-US" sz="2000" b="1" i="1" dirty="0" err="1" smtClean="0"/>
              <a:t>Nagalit</a:t>
            </a:r>
            <a:r>
              <a:rPr lang="en-US" sz="2000" b="1" i="1" dirty="0" smtClean="0"/>
              <a:t> </a:t>
            </a:r>
            <a:r>
              <a:rPr lang="en-US" sz="2000" b="1" i="1" dirty="0" err="1" smtClean="0"/>
              <a:t>ang</a:t>
            </a:r>
            <a:r>
              <a:rPr lang="en-US" sz="2000" b="1" i="1" dirty="0" smtClean="0"/>
              <a:t> </a:t>
            </a:r>
            <a:r>
              <a:rPr lang="en-US" sz="2000" b="1" i="1" dirty="0" err="1" smtClean="0"/>
              <a:t>buwan</a:t>
            </a:r>
            <a:r>
              <a:rPr lang="en-US" sz="2000" b="1" i="1" dirty="0" smtClean="0"/>
              <a:t> </a:t>
            </a:r>
            <a:r>
              <a:rPr lang="en-US" sz="2000" b="1" i="1" dirty="0" err="1" smtClean="0"/>
              <a:t>sa</a:t>
            </a:r>
            <a:r>
              <a:rPr lang="en-US" sz="2000" b="1" i="1" dirty="0" smtClean="0"/>
              <a:t> </a:t>
            </a:r>
            <a:r>
              <a:rPr lang="en-US" sz="2000" b="1" i="1" dirty="0" err="1" smtClean="0"/>
              <a:t>haba</a:t>
            </a:r>
            <a:r>
              <a:rPr lang="en-US" sz="2000" b="1" i="1" dirty="0" smtClean="0"/>
              <a:t> </a:t>
            </a:r>
            <a:r>
              <a:rPr lang="en-US" sz="2000" b="1" i="1" dirty="0" err="1" smtClean="0"/>
              <a:t>ng</a:t>
            </a:r>
            <a:r>
              <a:rPr lang="en-US" sz="2000" b="1" i="1" dirty="0" smtClean="0"/>
              <a:t> </a:t>
            </a:r>
            <a:r>
              <a:rPr lang="en-US" sz="2000" b="1" i="1" dirty="0" err="1" smtClean="0"/>
              <a:t>gabi</a:t>
            </a:r>
            <a:r>
              <a:rPr lang="en-US" sz="2000" b="1" i="1" dirty="0" smtClean="0"/>
              <a:t>.</a:t>
            </a:r>
          </a:p>
          <a:p>
            <a:r>
              <a:rPr lang="en-US" sz="2400" b="1" dirty="0" smtClean="0"/>
              <a:t> Ironiya- </a:t>
            </a:r>
            <a:r>
              <a:rPr lang="en-US" sz="2400" dirty="0" err="1" smtClean="0"/>
              <a:t>mga</a:t>
            </a:r>
            <a:r>
              <a:rPr lang="en-US" sz="2400" dirty="0" smtClean="0"/>
              <a:t> </a:t>
            </a:r>
            <a:r>
              <a:rPr lang="en-US" sz="2400" dirty="0" err="1" smtClean="0"/>
              <a:t>layuning</a:t>
            </a:r>
            <a:r>
              <a:rPr lang="en-US" sz="2400" dirty="0" smtClean="0"/>
              <a:t> </a:t>
            </a:r>
            <a:r>
              <a:rPr lang="en-US" sz="2400" dirty="0" err="1" smtClean="0"/>
              <a:t>mangutya</a:t>
            </a:r>
            <a:r>
              <a:rPr lang="en-US" sz="2400" dirty="0" smtClean="0"/>
              <a:t> </a:t>
            </a:r>
            <a:r>
              <a:rPr lang="en-US" sz="2400" dirty="0" err="1" smtClean="0"/>
              <a:t>ngunit</a:t>
            </a:r>
            <a:r>
              <a:rPr lang="en-US" sz="2400" dirty="0" smtClean="0"/>
              <a:t> </a:t>
            </a:r>
            <a:r>
              <a:rPr lang="en-US" sz="2400" dirty="0" err="1" smtClean="0"/>
              <a:t>itinatago</a:t>
            </a:r>
            <a:r>
              <a:rPr lang="en-US" sz="2400" dirty="0" smtClean="0"/>
              <a:t> </a:t>
            </a:r>
            <a:r>
              <a:rPr lang="en-US" sz="2400" dirty="0" err="1" smtClean="0"/>
              <a:t>sa</a:t>
            </a:r>
            <a:r>
              <a:rPr lang="en-US" sz="2400" dirty="0" smtClean="0"/>
              <a:t> </a:t>
            </a:r>
            <a:r>
              <a:rPr lang="en-US" sz="2400" dirty="0" err="1" smtClean="0"/>
              <a:t>paraang</a:t>
            </a:r>
            <a:r>
              <a:rPr lang="en-US" sz="2400" dirty="0" smtClean="0"/>
              <a:t> </a:t>
            </a:r>
            <a:r>
              <a:rPr lang="en-US" sz="2400" dirty="0" err="1" smtClean="0"/>
              <a:t>waring</a:t>
            </a:r>
            <a:r>
              <a:rPr lang="en-US" sz="2400" dirty="0" smtClean="0"/>
              <a:t> </a:t>
            </a:r>
            <a:r>
              <a:rPr lang="en-US" sz="2400" dirty="0" err="1" smtClean="0"/>
              <a:t>nagbibigay</a:t>
            </a:r>
            <a:r>
              <a:rPr lang="en-US" sz="2400" dirty="0" smtClean="0"/>
              <a:t>- </a:t>
            </a:r>
            <a:r>
              <a:rPr lang="en-US" sz="2400" dirty="0" err="1" smtClean="0"/>
              <a:t>puri</a:t>
            </a:r>
            <a:r>
              <a:rPr lang="en-US" sz="2400" dirty="0" smtClean="0"/>
              <a:t>. </a:t>
            </a:r>
            <a:r>
              <a:rPr lang="en-US" sz="2000" b="1" i="1" dirty="0" err="1" smtClean="0"/>
              <a:t>Kahanga</a:t>
            </a:r>
            <a:r>
              <a:rPr lang="en-US" sz="2000" b="1" i="1" dirty="0" smtClean="0"/>
              <a:t>- </a:t>
            </a:r>
            <a:r>
              <a:rPr lang="en-US" sz="2000" b="1" i="1" dirty="0" err="1" smtClean="0"/>
              <a:t>hanga</a:t>
            </a:r>
            <a:r>
              <a:rPr lang="en-US" sz="2000" b="1" i="1" dirty="0" smtClean="0"/>
              <a:t>  </a:t>
            </a:r>
            <a:r>
              <a:rPr lang="en-US" sz="2000" b="1" i="1" dirty="0" err="1" smtClean="0"/>
              <a:t>naman</a:t>
            </a:r>
            <a:r>
              <a:rPr lang="en-US" sz="2000" b="1" i="1" dirty="0" smtClean="0"/>
              <a:t> </a:t>
            </a:r>
            <a:r>
              <a:rPr lang="en-US" sz="2000" b="1" i="1" dirty="0" err="1" smtClean="0"/>
              <a:t>ang</a:t>
            </a:r>
            <a:r>
              <a:rPr lang="en-US" sz="2000" b="1" i="1" dirty="0" smtClean="0"/>
              <a:t> </a:t>
            </a:r>
            <a:r>
              <a:rPr lang="en-US" sz="2000" b="1" i="1" dirty="0" err="1" smtClean="0"/>
              <a:t>taong</a:t>
            </a:r>
            <a:r>
              <a:rPr lang="en-US" sz="2000" b="1" i="1" dirty="0" smtClean="0"/>
              <a:t> </a:t>
            </a:r>
            <a:r>
              <a:rPr lang="en-US" sz="2000" b="1" i="1" dirty="0" err="1" smtClean="0"/>
              <a:t>iyan</a:t>
            </a:r>
            <a:r>
              <a:rPr lang="en-US" sz="2000" b="1" i="1" dirty="0" smtClean="0"/>
              <a:t>, </a:t>
            </a:r>
            <a:r>
              <a:rPr lang="en-US" sz="2000" b="1" i="1" dirty="0" err="1" smtClean="0"/>
              <a:t>matapos</a:t>
            </a:r>
            <a:r>
              <a:rPr lang="en-US" sz="2000" b="1" i="1" dirty="0" smtClean="0"/>
              <a:t> </a:t>
            </a:r>
            <a:r>
              <a:rPr lang="en-US" sz="2000" b="1" i="1" dirty="0" err="1" smtClean="0"/>
              <a:t>mong</a:t>
            </a:r>
            <a:r>
              <a:rPr lang="en-US" sz="2000" b="1" i="1" dirty="0" smtClean="0"/>
              <a:t> </a:t>
            </a:r>
            <a:r>
              <a:rPr lang="en-US" sz="2000" b="1" i="1" dirty="0" err="1" smtClean="0"/>
              <a:t>arugain</a:t>
            </a:r>
            <a:r>
              <a:rPr lang="en-US" sz="2000" b="1" i="1" dirty="0" smtClean="0"/>
              <a:t>, </a:t>
            </a:r>
            <a:r>
              <a:rPr lang="en-US" sz="2000" b="1" i="1" dirty="0" err="1" smtClean="0"/>
              <a:t>pakainan</a:t>
            </a:r>
            <a:r>
              <a:rPr lang="en-US" sz="2000" b="1" i="1" dirty="0" smtClean="0"/>
              <a:t> at </a:t>
            </a:r>
            <a:r>
              <a:rPr lang="en-US" sz="2000" b="1" i="1" dirty="0" err="1" smtClean="0"/>
              <a:t>damitan</a:t>
            </a:r>
            <a:r>
              <a:rPr lang="en-US" sz="2000" b="1" i="1" dirty="0" smtClean="0"/>
              <a:t> ay </a:t>
            </a:r>
            <a:r>
              <a:rPr lang="en-US" sz="2000" b="1" i="1" dirty="0" err="1" smtClean="0"/>
              <a:t>siya</a:t>
            </a:r>
            <a:r>
              <a:rPr lang="en-US" sz="2000" b="1" i="1" dirty="0" smtClean="0"/>
              <a:t> pa </a:t>
            </a:r>
            <a:r>
              <a:rPr lang="en-US" sz="2000" b="1" i="1" dirty="0" err="1" smtClean="0"/>
              <a:t>ang</a:t>
            </a:r>
            <a:r>
              <a:rPr lang="en-US" sz="2000" b="1" i="1" dirty="0" smtClean="0"/>
              <a:t> </a:t>
            </a:r>
            <a:r>
              <a:rPr lang="en-US" sz="2000" b="1" i="1" dirty="0" err="1" smtClean="0"/>
              <a:t>unang</a:t>
            </a:r>
            <a:r>
              <a:rPr lang="en-US" sz="2000" b="1" i="1" dirty="0" smtClean="0"/>
              <a:t> </a:t>
            </a:r>
            <a:r>
              <a:rPr lang="en-US" sz="2000" b="1" i="1" dirty="0" err="1" smtClean="0"/>
              <a:t>mag-iisip</a:t>
            </a:r>
            <a:r>
              <a:rPr lang="en-US" sz="2000" b="1" i="1" dirty="0" smtClean="0"/>
              <a:t> </a:t>
            </a:r>
            <a:r>
              <a:rPr lang="en-US" sz="2000" b="1" i="1" dirty="0" err="1" smtClean="0"/>
              <a:t>ng</a:t>
            </a:r>
            <a:r>
              <a:rPr lang="en-US" sz="2000" b="1" i="1" dirty="0" smtClean="0"/>
              <a:t> </a:t>
            </a:r>
            <a:r>
              <a:rPr lang="en-US" sz="2000" b="1" i="1" dirty="0" err="1" smtClean="0"/>
              <a:t>masama</a:t>
            </a:r>
            <a:r>
              <a:rPr lang="en-US" sz="2000" b="1" i="1" dirty="0" smtClean="0"/>
              <a:t> </a:t>
            </a:r>
            <a:r>
              <a:rPr lang="en-US" sz="2000" b="1" i="1" dirty="0" err="1" smtClean="0"/>
              <a:t>sa</a:t>
            </a:r>
            <a:r>
              <a:rPr lang="en-US" sz="2000" b="1" i="1" dirty="0" smtClean="0"/>
              <a:t> </a:t>
            </a:r>
            <a:r>
              <a:rPr lang="en-US" sz="2000" b="1" i="1" dirty="0" err="1" smtClean="0"/>
              <a:t>iyo</a:t>
            </a:r>
            <a:r>
              <a:rPr lang="en-US" sz="2000" b="1" i="1" dirty="0" smtClean="0"/>
              <a:t>.</a:t>
            </a:r>
            <a:endParaRPr lang="en-US" sz="2000" b="1" dirty="0" smtClean="0"/>
          </a:p>
          <a:p>
            <a:r>
              <a:rPr lang="en-US" sz="2400" b="1" dirty="0" smtClean="0"/>
              <a:t> </a:t>
            </a:r>
            <a:r>
              <a:rPr lang="en-US" sz="2400" b="1" dirty="0" err="1" smtClean="0"/>
              <a:t>Apostrope</a:t>
            </a:r>
            <a:r>
              <a:rPr lang="en-US" sz="2400" b="1" dirty="0" smtClean="0"/>
              <a:t>- </a:t>
            </a:r>
            <a:r>
              <a:rPr lang="en-US" sz="2400" dirty="0" smtClean="0"/>
              <a:t> </a:t>
            </a:r>
            <a:r>
              <a:rPr lang="en-US" sz="2400" dirty="0" err="1" smtClean="0"/>
              <a:t>isang</a:t>
            </a:r>
            <a:r>
              <a:rPr lang="en-US" sz="2400" dirty="0" smtClean="0"/>
              <a:t> </a:t>
            </a:r>
            <a:r>
              <a:rPr lang="en-US" sz="2400" dirty="0" err="1" smtClean="0"/>
              <a:t>madamdaming</a:t>
            </a:r>
            <a:r>
              <a:rPr lang="en-US" sz="2400" dirty="0" smtClean="0"/>
              <a:t> </a:t>
            </a:r>
            <a:r>
              <a:rPr lang="en-US" sz="2400" dirty="0" err="1" smtClean="0"/>
              <a:t>pakikipag-usap</a:t>
            </a:r>
            <a:r>
              <a:rPr lang="en-US" sz="2400" dirty="0" smtClean="0"/>
              <a:t> </a:t>
            </a:r>
            <a:r>
              <a:rPr lang="en-US" sz="2400" dirty="0" err="1" smtClean="0"/>
              <a:t>sa</a:t>
            </a:r>
            <a:r>
              <a:rPr lang="en-US" sz="2400" dirty="0" smtClean="0"/>
              <a:t> </a:t>
            </a:r>
            <a:r>
              <a:rPr lang="en-US" sz="2400" dirty="0" err="1" smtClean="0"/>
              <a:t>isang</a:t>
            </a:r>
            <a:r>
              <a:rPr lang="en-US" sz="2400" dirty="0" smtClean="0"/>
              <a:t> </a:t>
            </a:r>
            <a:r>
              <a:rPr lang="en-US" sz="2400" dirty="0" err="1" smtClean="0"/>
              <a:t>tauhan</a:t>
            </a:r>
            <a:r>
              <a:rPr lang="en-US" sz="2400" dirty="0" smtClean="0"/>
              <a:t> </a:t>
            </a:r>
            <a:r>
              <a:rPr lang="en-US" sz="2400" dirty="0" err="1" smtClean="0"/>
              <a:t>na</a:t>
            </a:r>
            <a:r>
              <a:rPr lang="en-US" sz="2400" dirty="0" smtClean="0"/>
              <a:t> </a:t>
            </a:r>
            <a:r>
              <a:rPr lang="en-US" sz="2400" dirty="0" err="1" smtClean="0"/>
              <a:t>malayo</a:t>
            </a:r>
            <a:r>
              <a:rPr lang="en-US" sz="2400" dirty="0" smtClean="0"/>
              <a:t>, </a:t>
            </a:r>
            <a:r>
              <a:rPr lang="en-US" sz="2400" dirty="0" err="1" smtClean="0"/>
              <a:t>patay</a:t>
            </a:r>
            <a:r>
              <a:rPr lang="en-US" sz="2400" dirty="0" smtClean="0"/>
              <a:t> </a:t>
            </a:r>
            <a:r>
              <a:rPr lang="en-US" sz="2400" dirty="0" err="1" smtClean="0"/>
              <a:t>na</a:t>
            </a:r>
            <a:r>
              <a:rPr lang="en-US" sz="2400" dirty="0" smtClean="0"/>
              <a:t> o  </a:t>
            </a:r>
            <a:r>
              <a:rPr lang="en-US" sz="2400" dirty="0" err="1" smtClean="0"/>
              <a:t>hindi</a:t>
            </a:r>
            <a:r>
              <a:rPr lang="en-US" sz="2400" dirty="0" smtClean="0"/>
              <a:t> </a:t>
            </a:r>
            <a:r>
              <a:rPr lang="en-US" sz="2400" dirty="0" err="1" smtClean="0"/>
              <a:t>kaharap</a:t>
            </a:r>
            <a:r>
              <a:rPr lang="en-US" sz="2400" dirty="0" smtClean="0"/>
              <a:t> </a:t>
            </a:r>
            <a:r>
              <a:rPr lang="en-US" sz="2400" dirty="0" err="1" smtClean="0"/>
              <a:t>na</a:t>
            </a:r>
            <a:r>
              <a:rPr lang="en-US" sz="2400" dirty="0" smtClean="0"/>
              <a:t> </a:t>
            </a:r>
            <a:r>
              <a:rPr lang="en-US" sz="2400" dirty="0" err="1" smtClean="0"/>
              <a:t>para</a:t>
            </a:r>
            <a:r>
              <a:rPr lang="en-US" sz="2400" dirty="0" smtClean="0"/>
              <a:t> bang </a:t>
            </a:r>
            <a:r>
              <a:rPr lang="en-US" sz="2400" dirty="0" err="1" smtClean="0"/>
              <a:t>nasa</a:t>
            </a:r>
            <a:r>
              <a:rPr lang="en-US" sz="2400" dirty="0" smtClean="0"/>
              <a:t> </a:t>
            </a:r>
            <a:r>
              <a:rPr lang="en-US" sz="2400" dirty="0" err="1" smtClean="0"/>
              <a:t>harap</a:t>
            </a:r>
            <a:r>
              <a:rPr lang="en-US" sz="2400" dirty="0" smtClean="0"/>
              <a:t>. </a:t>
            </a:r>
            <a:r>
              <a:rPr lang="en-US" sz="2000" b="1" i="1" dirty="0" smtClean="0"/>
              <a:t>“</a:t>
            </a:r>
            <a:r>
              <a:rPr lang="en-US" sz="2000" b="1" i="1" dirty="0" err="1" smtClean="0"/>
              <a:t>Celiang</a:t>
            </a:r>
            <a:r>
              <a:rPr lang="en-US" sz="2000" b="1" i="1" dirty="0" smtClean="0"/>
              <a:t> </a:t>
            </a:r>
            <a:r>
              <a:rPr lang="en-US" sz="2000" b="1" i="1" dirty="0" err="1" smtClean="0"/>
              <a:t>talastas</a:t>
            </a:r>
            <a:r>
              <a:rPr lang="en-US" sz="2000" b="1" i="1" dirty="0" smtClean="0"/>
              <a:t> </a:t>
            </a:r>
            <a:r>
              <a:rPr lang="en-US" sz="2000" b="1" i="1" dirty="0" err="1" smtClean="0"/>
              <a:t>ko’t</a:t>
            </a:r>
            <a:r>
              <a:rPr lang="en-US" sz="2000" b="1" i="1" dirty="0" smtClean="0"/>
              <a:t> </a:t>
            </a:r>
            <a:r>
              <a:rPr lang="en-US" sz="2000" b="1" i="1" dirty="0" err="1" smtClean="0"/>
              <a:t>malabis</a:t>
            </a:r>
            <a:r>
              <a:rPr lang="en-US" sz="2000" b="1" i="1" dirty="0" smtClean="0"/>
              <a:t> </a:t>
            </a:r>
            <a:r>
              <a:rPr lang="en-US" sz="2000" b="1" i="1" dirty="0" err="1" smtClean="0"/>
              <a:t>na</a:t>
            </a:r>
            <a:r>
              <a:rPr lang="en-US" sz="2000" b="1" i="1" dirty="0" smtClean="0"/>
              <a:t> </a:t>
            </a:r>
            <a:r>
              <a:rPr lang="en-US" sz="2000" b="1" i="1" dirty="0" err="1" smtClean="0"/>
              <a:t>umid</a:t>
            </a:r>
            <a:r>
              <a:rPr lang="en-US" sz="2000" b="1" i="1" dirty="0" smtClean="0"/>
              <a:t>… </a:t>
            </a:r>
            <a:r>
              <a:rPr lang="en-US" sz="2000" b="1" i="1" dirty="0" err="1" smtClean="0"/>
              <a:t>dinggin</a:t>
            </a:r>
            <a:r>
              <a:rPr lang="en-US" sz="2000" b="1" i="1" dirty="0" smtClean="0"/>
              <a:t> mo </a:t>
            </a:r>
            <a:r>
              <a:rPr lang="en-US" sz="2000" b="1" i="1" dirty="0" err="1" smtClean="0"/>
              <a:t>ang</a:t>
            </a:r>
            <a:r>
              <a:rPr lang="en-US" sz="2000" b="1" i="1" dirty="0" smtClean="0"/>
              <a:t> </a:t>
            </a:r>
            <a:r>
              <a:rPr lang="en-US" sz="2000" b="1" i="1" dirty="0" err="1" smtClean="0"/>
              <a:t>tainga’t</a:t>
            </a:r>
            <a:r>
              <a:rPr lang="en-US" sz="2000" b="1" i="1" dirty="0" smtClean="0"/>
              <a:t> </a:t>
            </a:r>
            <a:r>
              <a:rPr lang="en-US" sz="2000" b="1" i="1" dirty="0" err="1" smtClean="0"/>
              <a:t>isip</a:t>
            </a:r>
            <a:r>
              <a:rPr lang="en-US" sz="2000" b="1" i="1" dirty="0" smtClean="0"/>
              <a:t>”.</a:t>
            </a:r>
          </a:p>
          <a:p>
            <a:pPr marL="623888" indent="-57150">
              <a:buFont typeface="+mj-lt"/>
              <a:buAutoNum type="alphaUcPeriod"/>
            </a:pPr>
            <a:endParaRPr lang="en-US" sz="2400" b="1" dirty="0" smtClean="0"/>
          </a:p>
          <a:p>
            <a:pPr>
              <a:buNone/>
            </a:pPr>
            <a:endParaRPr lang="en-US" sz="2400" dirty="0"/>
          </a:p>
        </p:txBody>
      </p:sp>
    </p:spTree>
  </p:cSld>
  <p:clrMapOvr>
    <a:masterClrMapping/>
  </p:clrMapOvr>
  <p:transition>
    <p:push/>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739775" indent="-630238">
              <a:buNone/>
            </a:pPr>
            <a:r>
              <a:rPr lang="en-US" sz="3200" dirty="0" smtClean="0"/>
              <a:t>10. “</a:t>
            </a:r>
            <a:r>
              <a:rPr lang="en-US" sz="3200" dirty="0" err="1" smtClean="0"/>
              <a:t>Malalim</a:t>
            </a:r>
            <a:r>
              <a:rPr lang="en-US" sz="3200" dirty="0" smtClean="0"/>
              <a:t> </a:t>
            </a:r>
            <a:r>
              <a:rPr lang="en-US" sz="3200" dirty="0" err="1" smtClean="0"/>
              <a:t>ang</a:t>
            </a:r>
            <a:r>
              <a:rPr lang="en-US" sz="3200" dirty="0" smtClean="0"/>
              <a:t> </a:t>
            </a:r>
            <a:r>
              <a:rPr lang="en-US" sz="3200" dirty="0" err="1" smtClean="0"/>
              <a:t>bulsa</a:t>
            </a:r>
            <a:r>
              <a:rPr lang="en-US" sz="3200" dirty="0" smtClean="0"/>
              <a:t> </a:t>
            </a:r>
            <a:r>
              <a:rPr lang="en-US" sz="3200" dirty="0" err="1" smtClean="0"/>
              <a:t>ng</a:t>
            </a:r>
            <a:r>
              <a:rPr lang="en-US" sz="3200" dirty="0" smtClean="0"/>
              <a:t> </a:t>
            </a:r>
            <a:r>
              <a:rPr lang="en-US" sz="3200" dirty="0" err="1" smtClean="0"/>
              <a:t>kanyang</a:t>
            </a:r>
            <a:r>
              <a:rPr lang="en-US" sz="3200" dirty="0" smtClean="0"/>
              <a:t> </a:t>
            </a:r>
            <a:r>
              <a:rPr lang="en-US" sz="3200" dirty="0" err="1" smtClean="0"/>
              <a:t>Nanay</a:t>
            </a:r>
            <a:r>
              <a:rPr lang="en-US" sz="3200" dirty="0" smtClean="0"/>
              <a:t>.” </a:t>
            </a:r>
            <a:r>
              <a:rPr lang="en-US" sz="3200" dirty="0" err="1" smtClean="0"/>
              <a:t>Ang</a:t>
            </a:r>
            <a:r>
              <a:rPr lang="en-US" sz="3200" dirty="0" smtClean="0"/>
              <a:t> </a:t>
            </a:r>
            <a:r>
              <a:rPr lang="en-US" sz="3200" dirty="0" err="1" smtClean="0"/>
              <a:t>ibig</a:t>
            </a:r>
            <a:r>
              <a:rPr lang="en-US" sz="3200" dirty="0" smtClean="0"/>
              <a:t> </a:t>
            </a:r>
            <a:r>
              <a:rPr lang="en-US" sz="3200" dirty="0" err="1" smtClean="0"/>
              <a:t>sabihin</a:t>
            </a:r>
            <a:r>
              <a:rPr lang="en-US" sz="3200" dirty="0" smtClean="0"/>
              <a:t> </a:t>
            </a:r>
            <a:r>
              <a:rPr lang="en-US" sz="3200" dirty="0" err="1" smtClean="0"/>
              <a:t>nito</a:t>
            </a:r>
            <a:r>
              <a:rPr lang="en-US" sz="3200" dirty="0" smtClean="0"/>
              <a:t> ay _____________.</a:t>
            </a:r>
          </a:p>
          <a:p>
            <a:pPr marL="739775" indent="0">
              <a:buFont typeface="+mj-lt"/>
              <a:buAutoNum type="alphaUcPeriod"/>
            </a:pPr>
            <a:r>
              <a:rPr lang="en-US" sz="3200" dirty="0" smtClean="0"/>
              <a:t> </a:t>
            </a:r>
            <a:r>
              <a:rPr lang="en-US" sz="3200" dirty="0" err="1" smtClean="0"/>
              <a:t>mapera</a:t>
            </a:r>
            <a:endParaRPr lang="en-US" sz="3200" dirty="0" smtClean="0"/>
          </a:p>
          <a:p>
            <a:pPr marL="739775" indent="0">
              <a:buFont typeface="+mj-lt"/>
              <a:buAutoNum type="alphaUcPeriod"/>
            </a:pPr>
            <a:r>
              <a:rPr lang="en-US" sz="3200" dirty="0" smtClean="0"/>
              <a:t> </a:t>
            </a:r>
            <a:r>
              <a:rPr lang="en-US" sz="3200" dirty="0" err="1" smtClean="0"/>
              <a:t>walang</a:t>
            </a:r>
            <a:r>
              <a:rPr lang="en-US" sz="3200" dirty="0" smtClean="0"/>
              <a:t> </a:t>
            </a:r>
            <a:r>
              <a:rPr lang="en-US" sz="3200" dirty="0" err="1" smtClean="0"/>
              <a:t>pera</a:t>
            </a:r>
            <a:endParaRPr lang="en-US" sz="3200" dirty="0" smtClean="0"/>
          </a:p>
          <a:p>
            <a:pPr marL="739775" indent="0">
              <a:buFont typeface="+mj-lt"/>
              <a:buAutoNum type="alphaUcPeriod"/>
            </a:pPr>
            <a:r>
              <a:rPr lang="en-US" sz="3200" dirty="0" smtClean="0"/>
              <a:t> </a:t>
            </a:r>
            <a:r>
              <a:rPr lang="en-US" sz="3200" dirty="0" err="1" smtClean="0"/>
              <a:t>mapagbigay</a:t>
            </a:r>
            <a:endParaRPr lang="en-US" sz="3200" dirty="0" smtClean="0"/>
          </a:p>
          <a:p>
            <a:pPr marL="739775" indent="0">
              <a:buFont typeface="+mj-lt"/>
              <a:buAutoNum type="alphaUcPeriod"/>
            </a:pPr>
            <a:r>
              <a:rPr lang="en-US" sz="3200" dirty="0" smtClean="0"/>
              <a:t> </a:t>
            </a:r>
            <a:r>
              <a:rPr lang="en-US" sz="3200" dirty="0" err="1" smtClean="0"/>
              <a:t>kuripot</a:t>
            </a:r>
            <a:endParaRPr lang="en-US" sz="3200" dirty="0" smtClean="0"/>
          </a:p>
          <a:p>
            <a:pPr marL="739775" indent="-630238">
              <a:buNone/>
            </a:pPr>
            <a:endParaRPr lang="en-US" sz="3200" dirty="0" smtClean="0"/>
          </a:p>
          <a:p>
            <a:pPr>
              <a:buNone/>
            </a:pPr>
            <a:endParaRPr lang="en-US" sz="32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542986" y="48189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sz="4000" i="1" dirty="0" err="1" smtClean="0"/>
              <a:t>Makapal</a:t>
            </a:r>
            <a:r>
              <a:rPr lang="en-US" sz="4000" i="1" dirty="0" smtClean="0"/>
              <a:t> </a:t>
            </a:r>
            <a:r>
              <a:rPr lang="en-US" sz="4000" i="1" dirty="0" err="1" smtClean="0"/>
              <a:t>ang</a:t>
            </a:r>
            <a:r>
              <a:rPr lang="en-US" sz="4000" i="1" dirty="0" smtClean="0"/>
              <a:t> </a:t>
            </a:r>
            <a:r>
              <a:rPr lang="en-US" sz="4000" i="1" dirty="0" err="1" smtClean="0"/>
              <a:t>bulsa</a:t>
            </a:r>
            <a:r>
              <a:rPr lang="en-US" sz="4000" dirty="0" smtClean="0"/>
              <a:t> – </a:t>
            </a:r>
            <a:r>
              <a:rPr lang="en-US" sz="4000" dirty="0" err="1" smtClean="0"/>
              <a:t>mapera</a:t>
            </a:r>
            <a:endParaRPr lang="en-US" sz="4000" dirty="0" smtClean="0"/>
          </a:p>
          <a:p>
            <a:r>
              <a:rPr lang="en-US" sz="4000" i="1" dirty="0" err="1" smtClean="0"/>
              <a:t>Butas</a:t>
            </a:r>
            <a:r>
              <a:rPr lang="en-US" sz="4000" i="1" dirty="0" smtClean="0"/>
              <a:t> </a:t>
            </a:r>
            <a:r>
              <a:rPr lang="en-US" sz="4000" i="1" dirty="0" err="1" smtClean="0"/>
              <a:t>ang</a:t>
            </a:r>
            <a:r>
              <a:rPr lang="en-US" sz="4000" i="1" dirty="0" smtClean="0"/>
              <a:t> </a:t>
            </a:r>
            <a:r>
              <a:rPr lang="en-US" sz="4000" i="1" dirty="0" err="1" smtClean="0"/>
              <a:t>bulsa</a:t>
            </a:r>
            <a:r>
              <a:rPr lang="en-US" sz="4000" dirty="0" smtClean="0"/>
              <a:t>- </a:t>
            </a:r>
            <a:r>
              <a:rPr lang="en-US" sz="4000" dirty="0" err="1" smtClean="0"/>
              <a:t>walang</a:t>
            </a:r>
            <a:r>
              <a:rPr lang="en-US" sz="4000" dirty="0" smtClean="0"/>
              <a:t> </a:t>
            </a:r>
            <a:r>
              <a:rPr lang="en-US" sz="4000" dirty="0" err="1" smtClean="0"/>
              <a:t>pera</a:t>
            </a:r>
            <a:endParaRPr lang="en-US" sz="4000" dirty="0" smtClean="0"/>
          </a:p>
          <a:p>
            <a:r>
              <a:rPr lang="en-US" sz="4000" i="1" dirty="0" err="1" smtClean="0"/>
              <a:t>Bukas-palad</a:t>
            </a:r>
            <a:r>
              <a:rPr lang="en-US" sz="4000" dirty="0" smtClean="0"/>
              <a:t> – </a:t>
            </a:r>
            <a:r>
              <a:rPr lang="en-US" sz="4000" dirty="0" err="1" smtClean="0"/>
              <a:t>mapagbigay</a:t>
            </a:r>
            <a:endParaRPr lang="en-US" sz="4000" dirty="0" smtClean="0"/>
          </a:p>
          <a:p>
            <a:r>
              <a:rPr lang="en-US" sz="4000" i="1" dirty="0" err="1" smtClean="0"/>
              <a:t>Malalim</a:t>
            </a:r>
            <a:r>
              <a:rPr lang="en-US" sz="4000" i="1" dirty="0" smtClean="0"/>
              <a:t> </a:t>
            </a:r>
            <a:r>
              <a:rPr lang="en-US" sz="4000" i="1" dirty="0" err="1" smtClean="0"/>
              <a:t>ang</a:t>
            </a:r>
            <a:r>
              <a:rPr lang="en-US" sz="4000" i="1" dirty="0" smtClean="0"/>
              <a:t> </a:t>
            </a:r>
            <a:r>
              <a:rPr lang="en-US" sz="4000" i="1" dirty="0" err="1" smtClean="0"/>
              <a:t>bulsa</a:t>
            </a:r>
            <a:r>
              <a:rPr lang="en-US" sz="4000" i="1" dirty="0" smtClean="0"/>
              <a:t> </a:t>
            </a:r>
            <a:r>
              <a:rPr lang="en-US" sz="4000" dirty="0" smtClean="0"/>
              <a:t>- </a:t>
            </a:r>
            <a:r>
              <a:rPr lang="en-US" sz="4000" dirty="0" err="1" smtClean="0"/>
              <a:t>kuripot</a:t>
            </a:r>
            <a:r>
              <a:rPr lang="en-US" sz="4000" dirty="0" smtClean="0"/>
              <a:t> </a:t>
            </a:r>
          </a:p>
        </p:txBody>
      </p:sp>
    </p:spTree>
  </p:cSld>
  <p:clrMapOvr>
    <a:masterClrMapping/>
  </p:clrMapOvr>
  <p:transition>
    <p:push/>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066800"/>
            <a:ext cx="8229600" cy="4525963"/>
          </a:xfrm>
        </p:spPr>
        <p:txBody>
          <a:bodyPr>
            <a:normAutofit/>
          </a:bodyPr>
          <a:lstStyle/>
          <a:p>
            <a:pPr marL="739775" indent="-630238">
              <a:buNone/>
            </a:pPr>
            <a:r>
              <a:rPr lang="en-US" sz="3200" dirty="0" smtClean="0"/>
              <a:t>11. </a:t>
            </a:r>
            <a:r>
              <a:rPr lang="en-US" sz="3200" dirty="0" err="1" smtClean="0"/>
              <a:t>Saan</a:t>
            </a:r>
            <a:r>
              <a:rPr lang="en-US" sz="3200" dirty="0" smtClean="0"/>
              <a:t> </a:t>
            </a:r>
            <a:r>
              <a:rPr lang="en-US" sz="3200" dirty="0" err="1" smtClean="0"/>
              <a:t>tumatalakay</a:t>
            </a:r>
            <a:r>
              <a:rPr lang="en-US" sz="3200" dirty="0" smtClean="0"/>
              <a:t> </a:t>
            </a:r>
            <a:r>
              <a:rPr lang="en-US" sz="3200" dirty="0" err="1" smtClean="0"/>
              <a:t>ang</a:t>
            </a:r>
            <a:r>
              <a:rPr lang="en-US" sz="3200" dirty="0" smtClean="0"/>
              <a:t> </a:t>
            </a:r>
            <a:r>
              <a:rPr lang="en-US" sz="3200" dirty="0" err="1" smtClean="0"/>
              <a:t>akdang</a:t>
            </a:r>
            <a:r>
              <a:rPr lang="en-US" sz="3200" dirty="0" smtClean="0"/>
              <a:t> “</a:t>
            </a:r>
            <a:r>
              <a:rPr lang="en-US" sz="3200" dirty="0" err="1" smtClean="0"/>
              <a:t>Ang</a:t>
            </a:r>
            <a:r>
              <a:rPr lang="en-US" sz="3200" dirty="0" smtClean="0"/>
              <a:t> </a:t>
            </a:r>
            <a:r>
              <a:rPr lang="en-US" sz="3200" dirty="0" err="1" smtClean="0"/>
              <a:t>Sampaguitang</a:t>
            </a:r>
            <a:r>
              <a:rPr lang="en-US" sz="3200" dirty="0" smtClean="0"/>
              <a:t> </a:t>
            </a:r>
            <a:r>
              <a:rPr lang="en-US" sz="3200" dirty="0" err="1" smtClean="0"/>
              <a:t>Walang</a:t>
            </a:r>
            <a:r>
              <a:rPr lang="en-US" sz="3200" dirty="0" smtClean="0"/>
              <a:t> </a:t>
            </a:r>
            <a:r>
              <a:rPr lang="en-US" sz="3200" dirty="0" err="1" smtClean="0"/>
              <a:t>Bango</a:t>
            </a:r>
            <a:r>
              <a:rPr lang="en-US" sz="3200" dirty="0" smtClean="0"/>
              <a:t>”?</a:t>
            </a:r>
          </a:p>
          <a:p>
            <a:pPr marL="739775" indent="-630238">
              <a:buNone/>
            </a:pPr>
            <a:endParaRPr lang="en-US" sz="3200" dirty="0" smtClean="0"/>
          </a:p>
          <a:p>
            <a:pPr marL="739775" indent="0">
              <a:buFont typeface="+mj-lt"/>
              <a:buAutoNum type="alphaUcPeriod"/>
            </a:pPr>
            <a:r>
              <a:rPr lang="en-US" sz="3200" dirty="0" smtClean="0"/>
              <a:t> </a:t>
            </a:r>
            <a:r>
              <a:rPr lang="en-US" sz="3200" dirty="0" err="1" smtClean="0"/>
              <a:t>Pagtataksil</a:t>
            </a:r>
            <a:r>
              <a:rPr lang="en-US" sz="3200" dirty="0" smtClean="0"/>
              <a:t> </a:t>
            </a:r>
            <a:r>
              <a:rPr lang="en-US" sz="3200" dirty="0" err="1" smtClean="0"/>
              <a:t>sa</a:t>
            </a:r>
            <a:r>
              <a:rPr lang="en-US" sz="3200" dirty="0" smtClean="0"/>
              <a:t> </a:t>
            </a:r>
            <a:r>
              <a:rPr lang="en-US" sz="3200" dirty="0" err="1" smtClean="0"/>
              <a:t>asawa</a:t>
            </a:r>
            <a:endParaRPr lang="en-US" sz="3200" dirty="0" smtClean="0"/>
          </a:p>
          <a:p>
            <a:pPr marL="739775" indent="0">
              <a:buFont typeface="+mj-lt"/>
              <a:buAutoNum type="alphaUcPeriod"/>
            </a:pPr>
            <a:r>
              <a:rPr lang="en-US" sz="3200" dirty="0" smtClean="0"/>
              <a:t> </a:t>
            </a:r>
            <a:r>
              <a:rPr lang="en-US" sz="3200" dirty="0" err="1" smtClean="0"/>
              <a:t>Nalantang</a:t>
            </a:r>
            <a:r>
              <a:rPr lang="en-US" sz="3200" dirty="0" smtClean="0"/>
              <a:t> </a:t>
            </a:r>
            <a:r>
              <a:rPr lang="en-US" sz="3200" dirty="0" err="1" smtClean="0"/>
              <a:t>bulaklak</a:t>
            </a:r>
            <a:r>
              <a:rPr lang="en-US" sz="3200" dirty="0" smtClean="0"/>
              <a:t>	</a:t>
            </a:r>
          </a:p>
          <a:p>
            <a:pPr marL="739775" indent="0">
              <a:buFont typeface="+mj-lt"/>
              <a:buAutoNum type="alphaUcPeriod"/>
            </a:pPr>
            <a:r>
              <a:rPr lang="en-US" sz="3200" dirty="0" smtClean="0"/>
              <a:t> </a:t>
            </a:r>
            <a:r>
              <a:rPr lang="en-US" sz="3200" dirty="0" err="1" smtClean="0"/>
              <a:t>Mapanlinlang</a:t>
            </a:r>
            <a:r>
              <a:rPr lang="en-US" sz="3200" dirty="0" smtClean="0"/>
              <a:t> </a:t>
            </a:r>
            <a:r>
              <a:rPr lang="en-US" sz="3200" dirty="0" err="1" smtClean="0"/>
              <a:t>sa</a:t>
            </a:r>
            <a:r>
              <a:rPr lang="en-US" sz="3200" dirty="0" smtClean="0"/>
              <a:t> </a:t>
            </a:r>
            <a:r>
              <a:rPr lang="en-US" sz="3200" dirty="0" err="1" smtClean="0"/>
              <a:t>kapwa</a:t>
            </a:r>
            <a:endParaRPr lang="en-US" sz="3200" dirty="0" smtClean="0"/>
          </a:p>
          <a:p>
            <a:pPr marL="739775" indent="0">
              <a:buFont typeface="+mj-lt"/>
              <a:buAutoNum type="alphaUcPeriod"/>
            </a:pPr>
            <a:r>
              <a:rPr lang="en-US" sz="3200" dirty="0" smtClean="0"/>
              <a:t> </a:t>
            </a:r>
            <a:r>
              <a:rPr lang="en-US" sz="3200" dirty="0" err="1" smtClean="0"/>
              <a:t>Kawalang</a:t>
            </a:r>
            <a:r>
              <a:rPr lang="en-US" sz="3200" dirty="0" smtClean="0"/>
              <a:t> </a:t>
            </a:r>
            <a:r>
              <a:rPr lang="en-US" sz="3200" dirty="0" err="1" smtClean="0"/>
              <a:t>malay</a:t>
            </a:r>
            <a:r>
              <a:rPr lang="en-US" sz="3200" dirty="0" smtClean="0"/>
              <a:t> </a:t>
            </a:r>
            <a:r>
              <a:rPr lang="en-US" sz="3200" dirty="0" err="1" smtClean="0"/>
              <a:t>ng</a:t>
            </a:r>
            <a:r>
              <a:rPr lang="en-US" sz="3200" dirty="0" smtClean="0"/>
              <a:t> </a:t>
            </a:r>
            <a:r>
              <a:rPr lang="en-US" sz="3200" dirty="0" err="1" smtClean="0"/>
              <a:t>mga</a:t>
            </a:r>
            <a:r>
              <a:rPr lang="en-US" sz="3200" dirty="0" smtClean="0"/>
              <a:t> </a:t>
            </a:r>
            <a:r>
              <a:rPr lang="en-US" sz="3200" dirty="0" err="1" smtClean="0"/>
              <a:t>babae</a:t>
            </a:r>
            <a:endParaRPr lang="en-US" sz="32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542985" y="28377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066800"/>
            <a:ext cx="8229600" cy="4525963"/>
          </a:xfrm>
        </p:spPr>
        <p:txBody>
          <a:bodyPr>
            <a:normAutofit/>
          </a:bodyPr>
          <a:lstStyle/>
          <a:p>
            <a:pPr marL="739775" indent="-630238">
              <a:buNone/>
            </a:pPr>
            <a:r>
              <a:rPr lang="en-US" sz="3200" dirty="0" smtClean="0"/>
              <a:t>12. </a:t>
            </a:r>
            <a:r>
              <a:rPr lang="en-US" sz="3200" dirty="0" err="1" smtClean="0"/>
              <a:t>Ano</a:t>
            </a:r>
            <a:r>
              <a:rPr lang="en-US" sz="3200" dirty="0" smtClean="0"/>
              <a:t> </a:t>
            </a:r>
            <a:r>
              <a:rPr lang="en-US" sz="3200" dirty="0" err="1" smtClean="0"/>
              <a:t>ang</a:t>
            </a:r>
            <a:r>
              <a:rPr lang="en-US" sz="3200" dirty="0" smtClean="0"/>
              <a:t> </a:t>
            </a:r>
            <a:r>
              <a:rPr lang="en-US" sz="3200" dirty="0" err="1" smtClean="0"/>
              <a:t>mga</a:t>
            </a:r>
            <a:r>
              <a:rPr lang="en-US" sz="3200" dirty="0" smtClean="0"/>
              <a:t> </a:t>
            </a:r>
            <a:r>
              <a:rPr lang="en-US" sz="3200" dirty="0" err="1" smtClean="0"/>
              <a:t>salitang</a:t>
            </a:r>
            <a:r>
              <a:rPr lang="en-US" sz="3200" dirty="0" smtClean="0"/>
              <a:t> </a:t>
            </a:r>
            <a:r>
              <a:rPr lang="en-US" sz="3200" dirty="0" err="1" smtClean="0"/>
              <a:t>pinaikli</a:t>
            </a:r>
            <a:r>
              <a:rPr lang="en-US" sz="3200" dirty="0" smtClean="0"/>
              <a:t> at </a:t>
            </a:r>
            <a:r>
              <a:rPr lang="en-US" sz="3200" dirty="0" err="1" smtClean="0"/>
              <a:t>ginagamit</a:t>
            </a:r>
            <a:r>
              <a:rPr lang="en-US" sz="3200" dirty="0" smtClean="0"/>
              <a:t> </a:t>
            </a:r>
            <a:r>
              <a:rPr lang="en-US" sz="3200" dirty="0" err="1" smtClean="0"/>
              <a:t>sa</a:t>
            </a:r>
            <a:r>
              <a:rPr lang="en-US" sz="3200" dirty="0" smtClean="0"/>
              <a:t> </a:t>
            </a:r>
            <a:r>
              <a:rPr lang="en-US" sz="3200" dirty="0" err="1" smtClean="0"/>
              <a:t>pagkakataong</a:t>
            </a:r>
            <a:r>
              <a:rPr lang="en-US" sz="3200" dirty="0" smtClean="0"/>
              <a:t> informal?</a:t>
            </a:r>
          </a:p>
          <a:p>
            <a:pPr marL="739775" indent="-630238">
              <a:buNone/>
            </a:pPr>
            <a:endParaRPr lang="en-US" sz="3200" dirty="0" smtClean="0"/>
          </a:p>
          <a:p>
            <a:pPr marL="739775" indent="0">
              <a:buFont typeface="+mj-lt"/>
              <a:buAutoNum type="alphaUcPeriod"/>
            </a:pPr>
            <a:r>
              <a:rPr lang="en-US" sz="3200" dirty="0" smtClean="0"/>
              <a:t> </a:t>
            </a:r>
            <a:r>
              <a:rPr lang="en-US" sz="3200" dirty="0" err="1" smtClean="0"/>
              <a:t>Balbal</a:t>
            </a:r>
            <a:endParaRPr lang="en-US" sz="3200" dirty="0" smtClean="0"/>
          </a:p>
          <a:p>
            <a:pPr marL="739775" indent="0">
              <a:buFont typeface="+mj-lt"/>
              <a:buAutoNum type="alphaUcPeriod"/>
            </a:pPr>
            <a:r>
              <a:rPr lang="en-US" sz="3200" dirty="0" smtClean="0"/>
              <a:t> </a:t>
            </a:r>
            <a:r>
              <a:rPr lang="en-US" sz="3200" dirty="0" err="1" smtClean="0"/>
              <a:t>Lalawiganin</a:t>
            </a:r>
            <a:endParaRPr lang="en-US" sz="3200" dirty="0" smtClean="0"/>
          </a:p>
          <a:p>
            <a:pPr marL="739775" indent="0">
              <a:buFont typeface="+mj-lt"/>
              <a:buAutoNum type="alphaUcPeriod"/>
            </a:pPr>
            <a:r>
              <a:rPr lang="en-US" sz="3200" dirty="0" smtClean="0"/>
              <a:t> </a:t>
            </a:r>
            <a:r>
              <a:rPr lang="en-US" sz="3200" dirty="0" err="1" smtClean="0"/>
              <a:t>Panlipunan</a:t>
            </a:r>
            <a:endParaRPr lang="en-US" sz="3200" dirty="0" smtClean="0"/>
          </a:p>
          <a:p>
            <a:pPr marL="739775" indent="0">
              <a:buFont typeface="+mj-lt"/>
              <a:buAutoNum type="alphaUcPeriod"/>
            </a:pPr>
            <a:r>
              <a:rPr lang="en-US" sz="3200" dirty="0" smtClean="0"/>
              <a:t> </a:t>
            </a:r>
            <a:r>
              <a:rPr lang="en-US" sz="3200" dirty="0" err="1" smtClean="0"/>
              <a:t>Kolokyal</a:t>
            </a:r>
            <a:r>
              <a:rPr lang="en-US" sz="3200" dirty="0" smtClean="0"/>
              <a:t>	</a:t>
            </a:r>
            <a:endParaRPr lang="en-US" sz="3200" dirty="0"/>
          </a:p>
        </p:txBody>
      </p:sp>
      <p:pic>
        <p:nvPicPr>
          <p:cNvPr id="4" name="Picture 4" descr="C:\Documents and Settings\Administrator\Desktop\hand_right.gif"/>
          <p:cNvPicPr>
            <a:picLocks noChangeAspect="1" noChangeArrowheads="1" noCrop="1"/>
          </p:cNvPicPr>
          <p:nvPr/>
        </p:nvPicPr>
        <p:blipFill>
          <a:blip r:embed="rId3">
            <a:extLst>
              <a:ext uri="{28A0092B-C50C-407E-A947-70E740481C1C}">
                <a14:useLocalDpi xmlns="" xmlns:a14="http://schemas.microsoft.com/office/drawing/2010/main" val="0"/>
              </a:ext>
            </a:extLst>
          </a:blip>
          <a:srcRect/>
          <a:stretch>
            <a:fillRect/>
          </a:stretch>
        </p:blipFill>
        <p:spPr bwMode="auto">
          <a:xfrm rot="21434720">
            <a:off x="542985" y="4895174"/>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685800"/>
            <a:ext cx="8229600" cy="5562600"/>
          </a:xfrm>
        </p:spPr>
        <p:txBody>
          <a:bodyPr>
            <a:normAutofit fontScale="85000" lnSpcReduction="10000"/>
          </a:bodyPr>
          <a:lstStyle/>
          <a:p>
            <a:r>
              <a:rPr lang="en-US" u="sng" dirty="0" err="1" smtClean="0"/>
              <a:t>Balbal</a:t>
            </a:r>
            <a:r>
              <a:rPr lang="en-US" dirty="0" smtClean="0"/>
              <a:t> -</a:t>
            </a:r>
            <a:r>
              <a:rPr lang="en-US" dirty="0" err="1" smtClean="0"/>
              <a:t>pinakamababang</a:t>
            </a:r>
            <a:r>
              <a:rPr lang="en-US" dirty="0" smtClean="0"/>
              <a:t> </a:t>
            </a:r>
            <a:r>
              <a:rPr lang="en-US" dirty="0" err="1" smtClean="0"/>
              <a:t>uri</a:t>
            </a:r>
            <a:r>
              <a:rPr lang="en-US" dirty="0" smtClean="0"/>
              <a:t> </a:t>
            </a:r>
            <a:r>
              <a:rPr lang="en-US" dirty="0" err="1" smtClean="0"/>
              <a:t>ng</a:t>
            </a:r>
            <a:r>
              <a:rPr lang="en-US" dirty="0" smtClean="0"/>
              <a:t> </a:t>
            </a:r>
            <a:r>
              <a:rPr lang="en-US" dirty="0" err="1" smtClean="0"/>
              <a:t>wikang</a:t>
            </a:r>
            <a:r>
              <a:rPr lang="en-US" dirty="0" smtClean="0"/>
              <a:t> </a:t>
            </a:r>
            <a:r>
              <a:rPr lang="en-US" dirty="0" err="1" smtClean="0"/>
              <a:t>ginagamit</a:t>
            </a:r>
            <a:r>
              <a:rPr lang="en-US" dirty="0" smtClean="0"/>
              <a:t> </a:t>
            </a:r>
            <a:r>
              <a:rPr lang="en-US" dirty="0" err="1" smtClean="0"/>
              <a:t>ng</a:t>
            </a:r>
            <a:r>
              <a:rPr lang="en-US" dirty="0" smtClean="0"/>
              <a:t> </a:t>
            </a:r>
            <a:r>
              <a:rPr lang="en-US" dirty="0" err="1" smtClean="0"/>
              <a:t>tao</a:t>
            </a:r>
            <a:r>
              <a:rPr lang="en-US" dirty="0" smtClean="0"/>
              <a:t>; </a:t>
            </a:r>
            <a:r>
              <a:rPr lang="en-US" dirty="0" err="1" smtClean="0"/>
              <a:t>salitang</a:t>
            </a:r>
            <a:r>
              <a:rPr lang="en-US" dirty="0" smtClean="0"/>
              <a:t> </a:t>
            </a:r>
            <a:r>
              <a:rPr lang="en-US" dirty="0" err="1" smtClean="0"/>
              <a:t>kalye</a:t>
            </a:r>
            <a:r>
              <a:rPr lang="en-US" b="1" i="1" dirty="0" smtClean="0"/>
              <a:t>. </a:t>
            </a:r>
            <a:r>
              <a:rPr lang="en-US" b="1" i="1" dirty="0" err="1" smtClean="0"/>
              <a:t>Parak</a:t>
            </a:r>
            <a:r>
              <a:rPr lang="en-US" b="1" i="1" dirty="0" smtClean="0"/>
              <a:t>, </a:t>
            </a:r>
            <a:r>
              <a:rPr lang="en-US" b="1" i="1" dirty="0" err="1" smtClean="0"/>
              <a:t>tiboli</a:t>
            </a:r>
            <a:r>
              <a:rPr lang="en-US" b="1" i="1" dirty="0" smtClean="0"/>
              <a:t>. Brokeback</a:t>
            </a:r>
          </a:p>
          <a:p>
            <a:r>
              <a:rPr lang="en-US" u="sng" dirty="0" err="1" smtClean="0"/>
              <a:t>Lalawiganin</a:t>
            </a:r>
            <a:r>
              <a:rPr lang="en-US" dirty="0" smtClean="0"/>
              <a:t>-</a:t>
            </a:r>
            <a:r>
              <a:rPr lang="en-US" b="1" i="1" dirty="0" smtClean="0"/>
              <a:t> </a:t>
            </a:r>
            <a:r>
              <a:rPr lang="pt-BR" dirty="0" smtClean="0"/>
              <a:t>wikang ginagamit ng isang partikular na lugar o pook</a:t>
            </a:r>
            <a:r>
              <a:rPr lang="pt-BR" b="1" i="1" dirty="0" smtClean="0"/>
              <a:t>. Inapoy, gamgam, Tiyang</a:t>
            </a:r>
          </a:p>
          <a:p>
            <a:r>
              <a:rPr lang="pt-BR" u="sng" dirty="0" smtClean="0"/>
              <a:t>Kolokyal</a:t>
            </a:r>
            <a:r>
              <a:rPr lang="pt-BR" dirty="0" smtClean="0"/>
              <a:t> -</a:t>
            </a:r>
            <a:r>
              <a:rPr lang="pt-BR" b="1" i="1" dirty="0" smtClean="0"/>
              <a:t> </a:t>
            </a:r>
            <a:r>
              <a:rPr lang="sv-SE" dirty="0" smtClean="0"/>
              <a:t>Pang araw-araw na salita, maaring may kagaspangan nang kaunti, maari rin itor refinado ayon sa kung sino ang nagsasalita. </a:t>
            </a:r>
            <a:r>
              <a:rPr lang="sv-SE" b="1" i="1" dirty="0" smtClean="0"/>
              <a:t>Meron, nasan, kelan</a:t>
            </a:r>
            <a:r>
              <a:rPr lang="sv-SE" dirty="0" smtClean="0"/>
              <a:t> </a:t>
            </a:r>
            <a:endParaRPr lang="pt-BR" b="1" i="1" dirty="0" smtClean="0"/>
          </a:p>
          <a:p>
            <a:r>
              <a:rPr lang="en-US" u="sng" dirty="0" err="1" smtClean="0"/>
              <a:t>Pambansa</a:t>
            </a:r>
            <a:r>
              <a:rPr lang="en-US" dirty="0" smtClean="0"/>
              <a:t>- Ito ay </a:t>
            </a:r>
            <a:r>
              <a:rPr lang="en-US" dirty="0" err="1" smtClean="0"/>
              <a:t>ginagamit</a:t>
            </a:r>
            <a:r>
              <a:rPr lang="en-US" dirty="0" smtClean="0"/>
              <a:t> </a:t>
            </a:r>
            <a:r>
              <a:rPr lang="en-US" dirty="0" err="1" smtClean="0"/>
              <a:t>ng</a:t>
            </a:r>
            <a:r>
              <a:rPr lang="en-US" dirty="0" smtClean="0"/>
              <a:t> </a:t>
            </a:r>
            <a:r>
              <a:rPr lang="en-US" dirty="0" err="1" smtClean="0"/>
              <a:t>karaniwang</a:t>
            </a:r>
            <a:r>
              <a:rPr lang="en-US" dirty="0" smtClean="0"/>
              <a:t> </a:t>
            </a:r>
            <a:r>
              <a:rPr lang="en-US" dirty="0" err="1" smtClean="0"/>
              <a:t>manunulat</a:t>
            </a:r>
            <a:r>
              <a:rPr lang="en-US" dirty="0" smtClean="0"/>
              <a:t> </a:t>
            </a:r>
            <a:r>
              <a:rPr lang="en-US" dirty="0" err="1" smtClean="0"/>
              <a:t>sa</a:t>
            </a:r>
            <a:r>
              <a:rPr lang="en-US" dirty="0" smtClean="0"/>
              <a:t> </a:t>
            </a:r>
            <a:r>
              <a:rPr lang="en-US" dirty="0" err="1" smtClean="0"/>
              <a:t>aklat</a:t>
            </a:r>
            <a:r>
              <a:rPr lang="en-US" dirty="0" smtClean="0"/>
              <a:t> at </a:t>
            </a:r>
            <a:r>
              <a:rPr lang="en-US" dirty="0" err="1" smtClean="0"/>
              <a:t>pambalarila</a:t>
            </a:r>
            <a:r>
              <a:rPr lang="en-US" dirty="0" smtClean="0"/>
              <a:t> </a:t>
            </a:r>
            <a:r>
              <a:rPr lang="en-US" dirty="0" err="1" smtClean="0"/>
              <a:t>para</a:t>
            </a:r>
            <a:r>
              <a:rPr lang="en-US" dirty="0" smtClean="0"/>
              <a:t> </a:t>
            </a:r>
            <a:r>
              <a:rPr lang="en-US" dirty="0" err="1" smtClean="0"/>
              <a:t>sa</a:t>
            </a:r>
            <a:r>
              <a:rPr lang="en-US" dirty="0" smtClean="0"/>
              <a:t> </a:t>
            </a:r>
            <a:r>
              <a:rPr lang="en-US" dirty="0" err="1" smtClean="0"/>
              <a:t>paaralan</a:t>
            </a:r>
            <a:r>
              <a:rPr lang="en-US" dirty="0" smtClean="0"/>
              <a:t> at </a:t>
            </a:r>
            <a:r>
              <a:rPr lang="en-US" dirty="0" err="1" smtClean="0"/>
              <a:t>pamahalaan</a:t>
            </a:r>
            <a:r>
              <a:rPr lang="en-US" dirty="0" smtClean="0"/>
              <a:t>.  </a:t>
            </a:r>
            <a:r>
              <a:rPr lang="en-US" b="1" i="1" dirty="0" err="1" smtClean="0"/>
              <a:t>Asawa</a:t>
            </a:r>
            <a:r>
              <a:rPr lang="en-US" b="1" i="1" dirty="0" smtClean="0"/>
              <a:t>, </a:t>
            </a:r>
            <a:r>
              <a:rPr lang="en-US" b="1" i="1" dirty="0" err="1" smtClean="0"/>
              <a:t>Anak</a:t>
            </a:r>
            <a:r>
              <a:rPr lang="en-US" b="1" i="1" dirty="0" smtClean="0"/>
              <a:t>, </a:t>
            </a:r>
            <a:r>
              <a:rPr lang="en-US" b="1" i="1" dirty="0" err="1" smtClean="0"/>
              <a:t>Tahanan</a:t>
            </a:r>
            <a:endParaRPr lang="en-US" b="1" i="1" dirty="0" smtClean="0"/>
          </a:p>
          <a:p>
            <a:r>
              <a:rPr lang="pt-BR" u="sng" dirty="0" smtClean="0"/>
              <a:t>Panretorika o pampanitikan</a:t>
            </a:r>
            <a:r>
              <a:rPr lang="pt-BR" dirty="0" smtClean="0"/>
              <a:t>- </a:t>
            </a:r>
            <a:r>
              <a:rPr lang="en-US" dirty="0" smtClean="0"/>
              <a:t> </a:t>
            </a:r>
            <a:r>
              <a:rPr lang="en-US" dirty="0" err="1" smtClean="0"/>
              <a:t>ginagamit</a:t>
            </a:r>
            <a:r>
              <a:rPr lang="en-US" dirty="0" smtClean="0"/>
              <a:t> </a:t>
            </a:r>
            <a:r>
              <a:rPr lang="en-US" dirty="0" err="1" smtClean="0"/>
              <a:t>ng</a:t>
            </a:r>
            <a:r>
              <a:rPr lang="en-US" dirty="0" smtClean="0"/>
              <a:t> </a:t>
            </a:r>
            <a:r>
              <a:rPr lang="en-US" dirty="0" err="1" smtClean="0"/>
              <a:t>mga</a:t>
            </a:r>
            <a:r>
              <a:rPr lang="en-US" dirty="0" smtClean="0"/>
              <a:t> </a:t>
            </a:r>
            <a:r>
              <a:rPr lang="en-US" dirty="0" err="1" smtClean="0"/>
              <a:t>malikhain</a:t>
            </a:r>
            <a:r>
              <a:rPr lang="en-US" dirty="0" smtClean="0"/>
              <a:t> </a:t>
            </a:r>
            <a:r>
              <a:rPr lang="en-US" dirty="0" err="1" smtClean="0"/>
              <a:t>manunulat</a:t>
            </a:r>
            <a:r>
              <a:rPr lang="en-US" dirty="0" smtClean="0"/>
              <a:t>. </a:t>
            </a:r>
            <a:r>
              <a:rPr lang="en-US" dirty="0" err="1" smtClean="0"/>
              <a:t>Ang</a:t>
            </a:r>
            <a:r>
              <a:rPr lang="en-US" dirty="0" smtClean="0"/>
              <a:t> </a:t>
            </a:r>
            <a:r>
              <a:rPr lang="en-US" dirty="0" err="1" smtClean="0"/>
              <a:t>mga</a:t>
            </a:r>
            <a:r>
              <a:rPr lang="en-US" dirty="0" smtClean="0"/>
              <a:t> </a:t>
            </a:r>
            <a:r>
              <a:rPr lang="en-US" dirty="0" err="1" smtClean="0"/>
              <a:t>salita</a:t>
            </a:r>
            <a:r>
              <a:rPr lang="en-US" dirty="0" smtClean="0"/>
              <a:t> ay </a:t>
            </a:r>
            <a:r>
              <a:rPr lang="en-US" dirty="0" err="1" smtClean="0"/>
              <a:t>karaniwang</a:t>
            </a:r>
            <a:r>
              <a:rPr lang="en-US" dirty="0" smtClean="0"/>
              <a:t> </a:t>
            </a:r>
            <a:r>
              <a:rPr lang="en-US" dirty="0" err="1" smtClean="0"/>
              <a:t>malalim</a:t>
            </a:r>
            <a:r>
              <a:rPr lang="en-US" dirty="0" smtClean="0"/>
              <a:t>, </a:t>
            </a:r>
            <a:r>
              <a:rPr lang="en-US" dirty="0" err="1" smtClean="0"/>
              <a:t>makulay</a:t>
            </a:r>
            <a:r>
              <a:rPr lang="en-US" dirty="0" smtClean="0"/>
              <a:t> at </a:t>
            </a:r>
            <a:r>
              <a:rPr lang="en-US" dirty="0" err="1" smtClean="0"/>
              <a:t>masining</a:t>
            </a:r>
            <a:r>
              <a:rPr lang="en-US" dirty="0" smtClean="0"/>
              <a:t>. </a:t>
            </a:r>
            <a:r>
              <a:rPr lang="en-US" b="1" i="1" dirty="0" smtClean="0"/>
              <a:t> </a:t>
            </a:r>
            <a:r>
              <a:rPr lang="en-US" b="1" i="1" dirty="0" err="1" smtClean="0"/>
              <a:t>Kahati</a:t>
            </a:r>
            <a:r>
              <a:rPr lang="en-US" b="1" i="1" dirty="0" smtClean="0"/>
              <a:t> </a:t>
            </a:r>
            <a:r>
              <a:rPr lang="en-US" b="1" i="1" dirty="0" err="1" smtClean="0"/>
              <a:t>sa</a:t>
            </a:r>
            <a:r>
              <a:rPr lang="en-US" b="1" i="1" dirty="0" smtClean="0"/>
              <a:t> </a:t>
            </a:r>
            <a:r>
              <a:rPr lang="en-US" b="1" i="1" dirty="0" err="1" smtClean="0"/>
              <a:t>buhay</a:t>
            </a:r>
            <a:r>
              <a:rPr lang="en-US" b="1" i="1" dirty="0" smtClean="0"/>
              <a:t> ,</a:t>
            </a:r>
            <a:r>
              <a:rPr lang="en-US" b="1" i="1" dirty="0" err="1" smtClean="0"/>
              <a:t>Bunga</a:t>
            </a:r>
            <a:r>
              <a:rPr lang="en-US" b="1" i="1" dirty="0" smtClean="0"/>
              <a:t> </a:t>
            </a:r>
            <a:r>
              <a:rPr lang="en-US" b="1" i="1" dirty="0" err="1" smtClean="0"/>
              <a:t>ng</a:t>
            </a:r>
            <a:r>
              <a:rPr lang="en-US" b="1" i="1" dirty="0" smtClean="0"/>
              <a:t> </a:t>
            </a:r>
            <a:r>
              <a:rPr lang="en-US" b="1" i="1" dirty="0" err="1" smtClean="0"/>
              <a:t>pag-ibig</a:t>
            </a:r>
            <a:r>
              <a:rPr lang="en-US" b="1" i="1" dirty="0" smtClean="0"/>
              <a:t> </a:t>
            </a:r>
            <a:r>
              <a:rPr lang="pt-BR" dirty="0" smtClean="0"/>
              <a:t/>
            </a:r>
            <a:br>
              <a:rPr lang="pt-BR" dirty="0" smtClean="0"/>
            </a:br>
            <a:endParaRPr lang="en-US" b="1" i="1" dirty="0"/>
          </a:p>
        </p:txBody>
      </p:sp>
    </p:spTree>
  </p:cSld>
  <p:clrMapOvr>
    <a:masterClrMapping/>
  </p:clrMapOvr>
  <p:transition>
    <p:push/>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739775" indent="-630238">
              <a:buNone/>
            </a:pPr>
            <a:r>
              <a:rPr lang="en-US" sz="3200" dirty="0" smtClean="0"/>
              <a:t>13. </a:t>
            </a:r>
            <a:r>
              <a:rPr lang="en-US" sz="3200" dirty="0" err="1" smtClean="0"/>
              <a:t>Ano</a:t>
            </a:r>
            <a:r>
              <a:rPr lang="en-US" sz="3200" dirty="0" smtClean="0"/>
              <a:t> </a:t>
            </a:r>
            <a:r>
              <a:rPr lang="en-US" sz="3200" dirty="0" err="1" smtClean="0"/>
              <a:t>ang</a:t>
            </a:r>
            <a:r>
              <a:rPr lang="en-US" sz="3200" dirty="0" smtClean="0"/>
              <a:t> </a:t>
            </a:r>
            <a:r>
              <a:rPr lang="en-US" sz="3200" dirty="0" err="1" smtClean="0"/>
              <a:t>ibig</a:t>
            </a:r>
            <a:r>
              <a:rPr lang="en-US" sz="3200" dirty="0" smtClean="0"/>
              <a:t> </a:t>
            </a:r>
            <a:r>
              <a:rPr lang="en-US" sz="3200" dirty="0" err="1" smtClean="0"/>
              <a:t>sabihin</a:t>
            </a:r>
            <a:r>
              <a:rPr lang="en-US" sz="3200" dirty="0" smtClean="0"/>
              <a:t> </a:t>
            </a:r>
            <a:r>
              <a:rPr lang="en-US" sz="3200" dirty="0" err="1" smtClean="0"/>
              <a:t>ng</a:t>
            </a:r>
            <a:r>
              <a:rPr lang="en-US" sz="3200" dirty="0" smtClean="0"/>
              <a:t> TINGIN NIYANG NAG-AAPOY.</a:t>
            </a:r>
          </a:p>
          <a:p>
            <a:pPr marL="739775" indent="-630238">
              <a:buNone/>
            </a:pPr>
            <a:endParaRPr lang="en-US" sz="3200" dirty="0" smtClean="0"/>
          </a:p>
          <a:p>
            <a:pPr marL="739775" indent="0">
              <a:buFont typeface="+mj-lt"/>
              <a:buAutoNum type="alphaUcPeriod"/>
            </a:pPr>
            <a:r>
              <a:rPr lang="en-US" sz="3200" dirty="0" smtClean="0"/>
              <a:t> init </a:t>
            </a:r>
            <a:r>
              <a:rPr lang="en-US" sz="3200" dirty="0" err="1" smtClean="0"/>
              <a:t>na</a:t>
            </a:r>
            <a:r>
              <a:rPr lang="en-US" sz="3200" dirty="0" smtClean="0"/>
              <a:t> </a:t>
            </a:r>
            <a:r>
              <a:rPr lang="en-US" sz="3200" dirty="0" err="1" smtClean="0"/>
              <a:t>nadarama</a:t>
            </a:r>
            <a:endParaRPr lang="en-US" sz="3200" dirty="0" smtClean="0"/>
          </a:p>
          <a:p>
            <a:pPr marL="739775" indent="0">
              <a:buFont typeface="+mj-lt"/>
              <a:buAutoNum type="alphaUcPeriod"/>
            </a:pPr>
            <a:r>
              <a:rPr lang="en-US" sz="3200" dirty="0" smtClean="0"/>
              <a:t> </a:t>
            </a:r>
            <a:r>
              <a:rPr lang="en-US" sz="3200" dirty="0" err="1" smtClean="0"/>
              <a:t>sunog</a:t>
            </a:r>
            <a:r>
              <a:rPr lang="en-US" sz="3200" dirty="0" smtClean="0"/>
              <a:t> </a:t>
            </a:r>
            <a:r>
              <a:rPr lang="en-US" sz="3200" dirty="0" err="1" smtClean="0"/>
              <a:t>na</a:t>
            </a:r>
            <a:r>
              <a:rPr lang="en-US" sz="3200" dirty="0" smtClean="0"/>
              <a:t> </a:t>
            </a:r>
            <a:r>
              <a:rPr lang="en-US" sz="3200" dirty="0" err="1" smtClean="0"/>
              <a:t>dulot</a:t>
            </a:r>
            <a:r>
              <a:rPr lang="en-US" sz="3200" dirty="0" smtClean="0"/>
              <a:t> </a:t>
            </a:r>
            <a:r>
              <a:rPr lang="en-US" sz="3200" dirty="0" err="1" smtClean="0"/>
              <a:t>ng</a:t>
            </a:r>
            <a:r>
              <a:rPr lang="en-US" sz="3200" dirty="0" smtClean="0"/>
              <a:t> </a:t>
            </a:r>
            <a:r>
              <a:rPr lang="en-US" sz="3200" dirty="0" err="1" smtClean="0"/>
              <a:t>apoy</a:t>
            </a:r>
            <a:endParaRPr lang="en-US" sz="3200" dirty="0" smtClean="0"/>
          </a:p>
          <a:p>
            <a:pPr marL="739775" indent="0">
              <a:buFont typeface="+mj-lt"/>
              <a:buAutoNum type="alphaUcPeriod"/>
            </a:pPr>
            <a:r>
              <a:rPr lang="en-US" sz="3200" dirty="0" smtClean="0"/>
              <a:t> </a:t>
            </a:r>
            <a:r>
              <a:rPr lang="en-US" sz="3200" dirty="0" err="1" smtClean="0"/>
              <a:t>galit</a:t>
            </a:r>
            <a:r>
              <a:rPr lang="en-US" sz="3200" dirty="0" smtClean="0"/>
              <a:t> </a:t>
            </a:r>
            <a:r>
              <a:rPr lang="en-US" sz="3200" dirty="0" err="1" smtClean="0"/>
              <a:t>na</a:t>
            </a:r>
            <a:r>
              <a:rPr lang="en-US" sz="3200" dirty="0" smtClean="0"/>
              <a:t> </a:t>
            </a:r>
            <a:r>
              <a:rPr lang="en-US" sz="3200" dirty="0" err="1" smtClean="0"/>
              <a:t>kinukuyom</a:t>
            </a:r>
            <a:r>
              <a:rPr lang="en-US" sz="3200" dirty="0" smtClean="0"/>
              <a:t> </a:t>
            </a:r>
            <a:r>
              <a:rPr lang="en-US" sz="3200" dirty="0" err="1" smtClean="0"/>
              <a:t>sa</a:t>
            </a:r>
            <a:r>
              <a:rPr lang="en-US" sz="3200" dirty="0" smtClean="0"/>
              <a:t> </a:t>
            </a:r>
            <a:r>
              <a:rPr lang="en-US" sz="3200" dirty="0" err="1" smtClean="0"/>
              <a:t>dibdib</a:t>
            </a:r>
            <a:endParaRPr lang="en-US" sz="3200" dirty="0" smtClean="0"/>
          </a:p>
          <a:p>
            <a:pPr marL="739775" indent="0">
              <a:buFont typeface="+mj-lt"/>
              <a:buAutoNum type="alphaUcPeriod"/>
            </a:pPr>
            <a:r>
              <a:rPr lang="en-US" sz="3200" dirty="0" smtClean="0"/>
              <a:t> </a:t>
            </a:r>
            <a:r>
              <a:rPr lang="en-US" sz="3200" dirty="0" err="1" smtClean="0"/>
              <a:t>tinging</a:t>
            </a:r>
            <a:r>
              <a:rPr lang="en-US" sz="3200" dirty="0" smtClean="0"/>
              <a:t> </a:t>
            </a:r>
            <a:r>
              <a:rPr lang="en-US" sz="3200" dirty="0" err="1" smtClean="0"/>
              <a:t>nakakapaso</a:t>
            </a:r>
            <a:endParaRPr lang="en-US" sz="32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542985" y="4361774"/>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990600"/>
            <a:ext cx="8229600" cy="4525963"/>
          </a:xfrm>
        </p:spPr>
        <p:txBody>
          <a:bodyPr>
            <a:normAutofit/>
          </a:bodyPr>
          <a:lstStyle/>
          <a:p>
            <a:pPr marL="739775" indent="-630238">
              <a:buNone/>
            </a:pPr>
            <a:r>
              <a:rPr lang="en-US" sz="3200" dirty="0" smtClean="0"/>
              <a:t>14. </a:t>
            </a:r>
            <a:r>
              <a:rPr lang="en-US" sz="3200" dirty="0" err="1" smtClean="0"/>
              <a:t>Ano</a:t>
            </a:r>
            <a:r>
              <a:rPr lang="en-US" sz="3200" dirty="0" smtClean="0"/>
              <a:t> </a:t>
            </a:r>
            <a:r>
              <a:rPr lang="en-US" sz="3200" dirty="0" err="1" smtClean="0"/>
              <a:t>ang</a:t>
            </a:r>
            <a:r>
              <a:rPr lang="en-US" sz="3200" dirty="0" smtClean="0"/>
              <a:t> </a:t>
            </a:r>
            <a:r>
              <a:rPr lang="en-US" sz="3200" dirty="0" err="1" smtClean="0"/>
              <a:t>uri</a:t>
            </a:r>
            <a:r>
              <a:rPr lang="en-US" sz="3200" dirty="0" smtClean="0"/>
              <a:t> </a:t>
            </a:r>
            <a:r>
              <a:rPr lang="en-US" sz="3200" dirty="0" err="1" smtClean="0"/>
              <a:t>ng</a:t>
            </a:r>
            <a:r>
              <a:rPr lang="en-US" sz="3200" dirty="0" smtClean="0"/>
              <a:t> </a:t>
            </a:r>
            <a:r>
              <a:rPr lang="en-US" sz="3200" dirty="0" err="1" smtClean="0"/>
              <a:t>pangungusap</a:t>
            </a:r>
            <a:r>
              <a:rPr lang="en-US" sz="3200" dirty="0" smtClean="0"/>
              <a:t> </a:t>
            </a:r>
            <a:r>
              <a:rPr lang="en-US" sz="3200" dirty="0" err="1" smtClean="0"/>
              <a:t>na</a:t>
            </a:r>
            <a:r>
              <a:rPr lang="en-US" sz="3200" dirty="0" smtClean="0"/>
              <a:t> UMAARAW NA.</a:t>
            </a:r>
          </a:p>
          <a:p>
            <a:pPr marL="739775" indent="-630238">
              <a:buNone/>
            </a:pPr>
            <a:endParaRPr lang="en-US" sz="3200" dirty="0" smtClean="0"/>
          </a:p>
          <a:p>
            <a:pPr marL="739775" indent="0">
              <a:buFont typeface="+mj-lt"/>
              <a:buAutoNum type="alphaUcPeriod"/>
            </a:pPr>
            <a:r>
              <a:rPr lang="en-US" sz="3200" dirty="0" smtClean="0"/>
              <a:t> </a:t>
            </a:r>
            <a:r>
              <a:rPr lang="en-US" sz="3200" dirty="0" err="1" smtClean="0"/>
              <a:t>Panawag</a:t>
            </a:r>
            <a:endParaRPr lang="en-US" sz="3200" dirty="0" smtClean="0"/>
          </a:p>
          <a:p>
            <a:pPr marL="739775" indent="0">
              <a:buFont typeface="+mj-lt"/>
              <a:buAutoNum type="alphaUcPeriod"/>
            </a:pPr>
            <a:r>
              <a:rPr lang="en-US" sz="3200" dirty="0" smtClean="0"/>
              <a:t> Phenomenal</a:t>
            </a:r>
          </a:p>
          <a:p>
            <a:pPr marL="739775" indent="0">
              <a:buFont typeface="+mj-lt"/>
              <a:buAutoNum type="alphaUcPeriod"/>
            </a:pPr>
            <a:r>
              <a:rPr lang="en-US" sz="3200" dirty="0" smtClean="0"/>
              <a:t> </a:t>
            </a:r>
            <a:r>
              <a:rPr lang="en-US" sz="3200" dirty="0" err="1" smtClean="0"/>
              <a:t>Sambitla</a:t>
            </a:r>
            <a:endParaRPr lang="en-US" sz="3200" dirty="0" smtClean="0"/>
          </a:p>
          <a:p>
            <a:pPr marL="739775" indent="0">
              <a:buFont typeface="+mj-lt"/>
              <a:buAutoNum type="alphaUcPeriod"/>
            </a:pPr>
            <a:r>
              <a:rPr lang="en-US" sz="3200" dirty="0" smtClean="0"/>
              <a:t> </a:t>
            </a:r>
            <a:r>
              <a:rPr lang="en-US" sz="3200" dirty="0" err="1" smtClean="0"/>
              <a:t>Pormulasyong</a:t>
            </a:r>
            <a:r>
              <a:rPr lang="en-US" sz="3200" dirty="0" smtClean="0"/>
              <a:t> </a:t>
            </a:r>
            <a:r>
              <a:rPr lang="en-US" sz="3200" dirty="0" err="1" smtClean="0"/>
              <a:t>panlipunan</a:t>
            </a:r>
            <a:r>
              <a:rPr lang="en-US" sz="3200" dirty="0" smtClean="0"/>
              <a:t> </a:t>
            </a:r>
            <a:endParaRPr lang="en-US" sz="3200" dirty="0"/>
          </a:p>
        </p:txBody>
      </p:sp>
      <p:pic>
        <p:nvPicPr>
          <p:cNvPr id="4" name="Picture 4" descr="C:\Documents and Settings\Administrator\Desktop\hand_right.gif"/>
          <p:cNvPicPr>
            <a:picLocks noChangeAspect="1" noChangeArrowheads="1" noCrop="1"/>
          </p:cNvPicPr>
          <p:nvPr/>
        </p:nvPicPr>
        <p:blipFill>
          <a:blip r:embed="rId3">
            <a:extLst>
              <a:ext uri="{28A0092B-C50C-407E-A947-70E740481C1C}">
                <a14:useLocalDpi xmlns="" xmlns:a14="http://schemas.microsoft.com/office/drawing/2010/main" val="0"/>
              </a:ext>
            </a:extLst>
          </a:blip>
          <a:srcRect/>
          <a:stretch>
            <a:fillRect/>
          </a:stretch>
        </p:blipFill>
        <p:spPr bwMode="auto">
          <a:xfrm rot="21434720">
            <a:off x="542985" y="32949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457200"/>
            <a:ext cx="8229600" cy="5943600"/>
          </a:xfrm>
        </p:spPr>
        <p:txBody>
          <a:bodyPr>
            <a:normAutofit fontScale="92500" lnSpcReduction="20000"/>
          </a:bodyPr>
          <a:lstStyle/>
          <a:p>
            <a:r>
              <a:rPr lang="en-US" dirty="0" err="1" smtClean="0"/>
              <a:t>Panawag</a:t>
            </a:r>
            <a:r>
              <a:rPr lang="en-US" dirty="0" smtClean="0"/>
              <a:t>- </a:t>
            </a:r>
            <a:r>
              <a:rPr lang="en-US" dirty="0" err="1" smtClean="0"/>
              <a:t>pangngalang</a:t>
            </a:r>
            <a:r>
              <a:rPr lang="en-US" dirty="0" smtClean="0"/>
              <a:t> </a:t>
            </a:r>
            <a:r>
              <a:rPr lang="en-US" dirty="0" err="1" smtClean="0"/>
              <a:t>tumutukoy</a:t>
            </a:r>
            <a:r>
              <a:rPr lang="en-US" dirty="0" smtClean="0"/>
              <a:t> </a:t>
            </a:r>
            <a:r>
              <a:rPr lang="en-US" dirty="0" err="1" smtClean="0"/>
              <a:t>sa</a:t>
            </a:r>
            <a:r>
              <a:rPr lang="en-US" dirty="0" smtClean="0"/>
              <a:t> </a:t>
            </a:r>
            <a:r>
              <a:rPr lang="en-US" dirty="0" err="1" smtClean="0"/>
              <a:t>tao</a:t>
            </a:r>
            <a:r>
              <a:rPr lang="en-US" dirty="0" smtClean="0"/>
              <a:t>/</a:t>
            </a:r>
            <a:r>
              <a:rPr lang="en-US" dirty="0" err="1" smtClean="0"/>
              <a:t>mga</a:t>
            </a:r>
            <a:r>
              <a:rPr lang="en-US" dirty="0" smtClean="0"/>
              <a:t> </a:t>
            </a:r>
            <a:r>
              <a:rPr lang="en-US" dirty="0" err="1" smtClean="0"/>
              <a:t>taong</a:t>
            </a:r>
            <a:r>
              <a:rPr lang="en-US" dirty="0" smtClean="0"/>
              <a:t> </a:t>
            </a:r>
            <a:r>
              <a:rPr lang="en-US" dirty="0" err="1" smtClean="0"/>
              <a:t>kinakausap</a:t>
            </a:r>
            <a:r>
              <a:rPr lang="en-US" dirty="0" smtClean="0"/>
              <a:t>. </a:t>
            </a:r>
            <a:r>
              <a:rPr lang="en-US" b="1" i="1" dirty="0" smtClean="0"/>
              <a:t>Ale, Ate, </a:t>
            </a:r>
            <a:r>
              <a:rPr lang="en-US" b="1" i="1" dirty="0" err="1" smtClean="0"/>
              <a:t>Kuya</a:t>
            </a:r>
            <a:r>
              <a:rPr lang="en-US" b="1" i="1" dirty="0" smtClean="0"/>
              <a:t>, </a:t>
            </a:r>
          </a:p>
          <a:p>
            <a:r>
              <a:rPr lang="en-US" dirty="0" smtClean="0"/>
              <a:t>Phenomenal- </a:t>
            </a:r>
            <a:r>
              <a:rPr lang="en-US" dirty="0" err="1" smtClean="0"/>
              <a:t>pangungusap</a:t>
            </a:r>
            <a:r>
              <a:rPr lang="en-US" dirty="0" smtClean="0"/>
              <a:t> </a:t>
            </a:r>
            <a:r>
              <a:rPr lang="en-US" dirty="0" err="1" smtClean="0"/>
              <a:t>na</a:t>
            </a:r>
            <a:r>
              <a:rPr lang="en-US" dirty="0" smtClean="0"/>
              <a:t> may </a:t>
            </a:r>
            <a:r>
              <a:rPr lang="en-US" dirty="0" err="1" smtClean="0"/>
              <a:t>kinalaman</a:t>
            </a:r>
            <a:r>
              <a:rPr lang="en-US" dirty="0" smtClean="0"/>
              <a:t> </a:t>
            </a:r>
            <a:r>
              <a:rPr lang="en-US" dirty="0" err="1" smtClean="0"/>
              <a:t>sa</a:t>
            </a:r>
            <a:r>
              <a:rPr lang="en-US" dirty="0" smtClean="0"/>
              <a:t> </a:t>
            </a:r>
            <a:r>
              <a:rPr lang="en-US" dirty="0" err="1" smtClean="0"/>
              <a:t>kalikasan</a:t>
            </a:r>
            <a:r>
              <a:rPr lang="en-US" dirty="0" smtClean="0"/>
              <a:t>. </a:t>
            </a:r>
            <a:r>
              <a:rPr lang="en-US" b="1" i="1" dirty="0" err="1" smtClean="0"/>
              <a:t>Lumilindol</a:t>
            </a:r>
            <a:r>
              <a:rPr lang="en-US" b="1" i="1" dirty="0" smtClean="0"/>
              <a:t>, </a:t>
            </a:r>
            <a:r>
              <a:rPr lang="en-US" b="1" i="1" dirty="0" err="1" smtClean="0"/>
              <a:t>umuulan</a:t>
            </a:r>
            <a:endParaRPr lang="en-US" b="1" i="1" dirty="0" smtClean="0"/>
          </a:p>
          <a:p>
            <a:r>
              <a:rPr lang="en-US" dirty="0" err="1" smtClean="0"/>
              <a:t>Sambitla</a:t>
            </a:r>
            <a:r>
              <a:rPr lang="en-US" dirty="0" smtClean="0"/>
              <a:t>-  </a:t>
            </a:r>
            <a:r>
              <a:rPr lang="en-US" dirty="0" err="1" smtClean="0"/>
              <a:t>tumutukoy</a:t>
            </a:r>
            <a:r>
              <a:rPr lang="en-US" dirty="0" smtClean="0"/>
              <a:t> </a:t>
            </a:r>
            <a:r>
              <a:rPr lang="en-US" dirty="0" err="1" smtClean="0"/>
              <a:t>sa</a:t>
            </a:r>
            <a:r>
              <a:rPr lang="en-US" dirty="0" smtClean="0"/>
              <a:t> </a:t>
            </a:r>
            <a:r>
              <a:rPr lang="en-US" dirty="0" err="1" smtClean="0"/>
              <a:t>iisahin</a:t>
            </a:r>
            <a:r>
              <a:rPr lang="en-US" dirty="0" smtClean="0"/>
              <a:t> o </a:t>
            </a:r>
            <a:r>
              <a:rPr lang="en-US" dirty="0" err="1" smtClean="0"/>
              <a:t>dadalawahing</a:t>
            </a:r>
            <a:r>
              <a:rPr lang="en-US" dirty="0" smtClean="0"/>
              <a:t> </a:t>
            </a:r>
            <a:r>
              <a:rPr lang="en-US" dirty="0" err="1" smtClean="0"/>
              <a:t>salita</a:t>
            </a:r>
            <a:r>
              <a:rPr lang="en-US" dirty="0" smtClean="0"/>
              <a:t> </a:t>
            </a:r>
            <a:r>
              <a:rPr lang="en-US" dirty="0" err="1" smtClean="0"/>
              <a:t>na</a:t>
            </a:r>
            <a:r>
              <a:rPr lang="en-US" dirty="0" smtClean="0"/>
              <a:t> </a:t>
            </a:r>
            <a:r>
              <a:rPr lang="en-US" dirty="0" err="1" smtClean="0"/>
              <a:t>nagsasaad</a:t>
            </a:r>
            <a:r>
              <a:rPr lang="en-US" dirty="0" smtClean="0"/>
              <a:t> </a:t>
            </a:r>
            <a:r>
              <a:rPr lang="en-US" dirty="0" err="1" smtClean="0"/>
              <a:t>ng</a:t>
            </a:r>
            <a:r>
              <a:rPr lang="en-US" dirty="0" smtClean="0"/>
              <a:t> </a:t>
            </a:r>
            <a:r>
              <a:rPr lang="en-US" dirty="0" err="1" smtClean="0"/>
              <a:t>matinding</a:t>
            </a:r>
            <a:r>
              <a:rPr lang="en-US" dirty="0" smtClean="0"/>
              <a:t> </a:t>
            </a:r>
            <a:r>
              <a:rPr lang="en-US" dirty="0" err="1" smtClean="0"/>
              <a:t>damdamin</a:t>
            </a:r>
            <a:r>
              <a:rPr lang="en-US" dirty="0" smtClean="0"/>
              <a:t>. </a:t>
            </a:r>
            <a:r>
              <a:rPr lang="en-US" b="1" i="1" dirty="0" smtClean="0"/>
              <a:t>Ay! , </a:t>
            </a:r>
            <a:r>
              <a:rPr lang="en-US" b="1" i="1" dirty="0" err="1" smtClean="0"/>
              <a:t>Grabe</a:t>
            </a:r>
            <a:r>
              <a:rPr lang="en-US" b="1" i="1" dirty="0" smtClean="0"/>
              <a:t>! </a:t>
            </a:r>
            <a:r>
              <a:rPr lang="en-US" b="1" i="1" dirty="0" err="1" smtClean="0"/>
              <a:t>Naku</a:t>
            </a:r>
            <a:r>
              <a:rPr lang="en-US" b="1" i="1" dirty="0" smtClean="0"/>
              <a:t> !</a:t>
            </a:r>
          </a:p>
          <a:p>
            <a:r>
              <a:rPr lang="en-US" dirty="0" err="1" smtClean="0"/>
              <a:t>Pormulasyong</a:t>
            </a:r>
            <a:r>
              <a:rPr lang="en-US" dirty="0" smtClean="0"/>
              <a:t> </a:t>
            </a:r>
            <a:r>
              <a:rPr lang="en-US" dirty="0" err="1" smtClean="0"/>
              <a:t>panlipunan</a:t>
            </a:r>
            <a:r>
              <a:rPr lang="en-US" dirty="0" smtClean="0"/>
              <a:t>- </a:t>
            </a:r>
            <a:r>
              <a:rPr lang="en-US" dirty="0" err="1" smtClean="0"/>
              <a:t>mga</a:t>
            </a:r>
            <a:r>
              <a:rPr lang="en-US" dirty="0" smtClean="0"/>
              <a:t> </a:t>
            </a:r>
            <a:r>
              <a:rPr lang="en-US" dirty="0" err="1" smtClean="0"/>
              <a:t>pagbati</a:t>
            </a:r>
            <a:r>
              <a:rPr lang="en-US" dirty="0" smtClean="0"/>
              <a:t>. </a:t>
            </a:r>
            <a:r>
              <a:rPr lang="en-US" b="1" i="1" dirty="0" err="1" smtClean="0"/>
              <a:t>Magandang</a:t>
            </a:r>
            <a:r>
              <a:rPr lang="en-US" b="1" i="1" dirty="0" smtClean="0"/>
              <a:t> </a:t>
            </a:r>
            <a:r>
              <a:rPr lang="en-US" b="1" i="1" dirty="0" err="1" smtClean="0"/>
              <a:t>umaga</a:t>
            </a:r>
            <a:r>
              <a:rPr lang="en-US" b="1" i="1" dirty="0" smtClean="0"/>
              <a:t>. </a:t>
            </a:r>
            <a:r>
              <a:rPr lang="en-US" b="1" i="1" dirty="0" err="1" smtClean="0"/>
              <a:t>Maligayang</a:t>
            </a:r>
            <a:r>
              <a:rPr lang="en-US" b="1" i="1" dirty="0" smtClean="0"/>
              <a:t> </a:t>
            </a:r>
            <a:r>
              <a:rPr lang="en-US" b="1" i="1" dirty="0" err="1" smtClean="0"/>
              <a:t>Pasko</a:t>
            </a:r>
            <a:endParaRPr lang="en-US" b="1" i="1" dirty="0" smtClean="0"/>
          </a:p>
          <a:p>
            <a:r>
              <a:rPr lang="en-US" dirty="0" smtClean="0"/>
              <a:t>Temporal- </a:t>
            </a:r>
            <a:r>
              <a:rPr lang="en-US" dirty="0" err="1" smtClean="0"/>
              <a:t>nagsasaad</a:t>
            </a:r>
            <a:r>
              <a:rPr lang="en-US" dirty="0" smtClean="0"/>
              <a:t> </a:t>
            </a:r>
            <a:r>
              <a:rPr lang="en-US" dirty="0" err="1" smtClean="0"/>
              <a:t>ng</a:t>
            </a:r>
            <a:r>
              <a:rPr lang="en-US" dirty="0" smtClean="0"/>
              <a:t> </a:t>
            </a:r>
            <a:r>
              <a:rPr lang="en-US" dirty="0" err="1" smtClean="0"/>
              <a:t>panahong</a:t>
            </a:r>
            <a:r>
              <a:rPr lang="en-US" dirty="0" smtClean="0"/>
              <a:t> </a:t>
            </a:r>
            <a:r>
              <a:rPr lang="en-US" dirty="0" err="1" smtClean="0"/>
              <a:t>panandalian</a:t>
            </a:r>
            <a:r>
              <a:rPr lang="en-US" dirty="0" smtClean="0"/>
              <a:t>. </a:t>
            </a:r>
            <a:r>
              <a:rPr lang="en-US" b="1" i="1" dirty="0" smtClean="0"/>
              <a:t>Ika-31 </a:t>
            </a:r>
            <a:r>
              <a:rPr lang="en-US" b="1" i="1" dirty="0" err="1" smtClean="0"/>
              <a:t>ng</a:t>
            </a:r>
            <a:r>
              <a:rPr lang="en-US" b="1" i="1" dirty="0" smtClean="0"/>
              <a:t> </a:t>
            </a:r>
            <a:r>
              <a:rPr lang="en-US" b="1" i="1" dirty="0" err="1" smtClean="0"/>
              <a:t>Agosto</a:t>
            </a:r>
            <a:r>
              <a:rPr lang="en-US" b="1" i="1" dirty="0" smtClean="0"/>
              <a:t> </a:t>
            </a:r>
            <a:r>
              <a:rPr lang="en-US" b="1" i="1" dirty="0" err="1" smtClean="0"/>
              <a:t>ngayon</a:t>
            </a:r>
            <a:r>
              <a:rPr lang="en-US" b="1" i="1" dirty="0" smtClean="0"/>
              <a:t>.</a:t>
            </a:r>
          </a:p>
          <a:p>
            <a:r>
              <a:rPr lang="en-US" dirty="0" err="1" smtClean="0"/>
              <a:t>Eksistensyal</a:t>
            </a:r>
            <a:r>
              <a:rPr lang="en-US" dirty="0" smtClean="0"/>
              <a:t>- </a:t>
            </a:r>
            <a:r>
              <a:rPr lang="en-US" dirty="0" err="1" smtClean="0"/>
              <a:t>pagkamayroon</a:t>
            </a:r>
            <a:r>
              <a:rPr lang="en-US" dirty="0" smtClean="0"/>
              <a:t> at </a:t>
            </a:r>
            <a:r>
              <a:rPr lang="en-US" dirty="0" err="1" smtClean="0"/>
              <a:t>pagkawala</a:t>
            </a:r>
            <a:r>
              <a:rPr lang="en-US" dirty="0" smtClean="0"/>
              <a:t>. </a:t>
            </a:r>
            <a:r>
              <a:rPr lang="en-US" b="1" i="1" dirty="0" smtClean="0"/>
              <a:t>May </a:t>
            </a:r>
            <a:r>
              <a:rPr lang="en-US" b="1" i="1" dirty="0" err="1" smtClean="0"/>
              <a:t>iba</a:t>
            </a:r>
            <a:r>
              <a:rPr lang="en-US" b="1" i="1" dirty="0" smtClean="0"/>
              <a:t> ka </a:t>
            </a:r>
            <a:r>
              <a:rPr lang="en-US" b="1" i="1" dirty="0" err="1" smtClean="0"/>
              <a:t>ng</a:t>
            </a:r>
            <a:r>
              <a:rPr lang="en-US" b="1" i="1" dirty="0" smtClean="0"/>
              <a:t> gusto!</a:t>
            </a:r>
          </a:p>
          <a:p>
            <a:r>
              <a:rPr lang="en-US" dirty="0" smtClean="0"/>
              <a:t>Modal-  gusto, </a:t>
            </a:r>
            <a:r>
              <a:rPr lang="en-US" dirty="0" err="1" smtClean="0"/>
              <a:t>ibig</a:t>
            </a:r>
            <a:r>
              <a:rPr lang="en-US" dirty="0" smtClean="0"/>
              <a:t>, </a:t>
            </a:r>
            <a:r>
              <a:rPr lang="en-US" dirty="0" err="1" smtClean="0"/>
              <a:t>nais</a:t>
            </a:r>
            <a:r>
              <a:rPr lang="en-US" dirty="0" smtClean="0"/>
              <a:t>.</a:t>
            </a:r>
            <a:r>
              <a:rPr lang="en-US" b="1" i="1" dirty="0" smtClean="0"/>
              <a:t> </a:t>
            </a:r>
            <a:r>
              <a:rPr lang="en-US" b="1" i="1" dirty="0" err="1" smtClean="0"/>
              <a:t>Pwede</a:t>
            </a:r>
            <a:r>
              <a:rPr lang="en-US" b="1" i="1" dirty="0" smtClean="0"/>
              <a:t> ka bang </a:t>
            </a:r>
            <a:r>
              <a:rPr lang="en-US" b="1" i="1" dirty="0" err="1" smtClean="0"/>
              <a:t>makasama</a:t>
            </a:r>
            <a:r>
              <a:rPr lang="en-US" b="1" i="1" dirty="0" smtClean="0"/>
              <a:t> </a:t>
            </a:r>
            <a:r>
              <a:rPr lang="en-US" b="1" i="1" dirty="0" err="1" smtClean="0"/>
              <a:t>kahit</a:t>
            </a:r>
            <a:r>
              <a:rPr lang="en-US" b="1" i="1" dirty="0" smtClean="0"/>
              <a:t> </a:t>
            </a:r>
            <a:r>
              <a:rPr lang="en-US" b="1" i="1" dirty="0" err="1" smtClean="0"/>
              <a:t>saglit</a:t>
            </a:r>
            <a:r>
              <a:rPr lang="en-US" b="1" i="1" dirty="0" smtClean="0"/>
              <a:t> </a:t>
            </a:r>
            <a:r>
              <a:rPr lang="en-US" b="1" i="1" dirty="0" err="1" smtClean="0"/>
              <a:t>lang</a:t>
            </a:r>
            <a:r>
              <a:rPr lang="en-US" b="1" i="1" dirty="0" smtClean="0"/>
              <a:t> ?</a:t>
            </a:r>
          </a:p>
          <a:p>
            <a:r>
              <a:rPr lang="en-US" dirty="0" smtClean="0"/>
              <a:t>Ka-</a:t>
            </a:r>
            <a:r>
              <a:rPr lang="en-US" dirty="0" err="1" smtClean="0"/>
              <a:t>Pandiwa</a:t>
            </a:r>
            <a:r>
              <a:rPr lang="en-US" dirty="0" smtClean="0"/>
              <a:t>-  </a:t>
            </a:r>
            <a:r>
              <a:rPr lang="en-US" dirty="0" err="1" smtClean="0"/>
              <a:t>katatapos</a:t>
            </a:r>
            <a:r>
              <a:rPr lang="en-US" dirty="0" smtClean="0"/>
              <a:t> </a:t>
            </a:r>
            <a:r>
              <a:rPr lang="en-US" dirty="0" err="1" smtClean="0"/>
              <a:t>na</a:t>
            </a:r>
            <a:r>
              <a:rPr lang="en-US" dirty="0" smtClean="0"/>
              <a:t> kilos o </a:t>
            </a:r>
            <a:r>
              <a:rPr lang="en-US" dirty="0" err="1" smtClean="0"/>
              <a:t>pangyayari</a:t>
            </a:r>
            <a:r>
              <a:rPr lang="en-US" dirty="0" smtClean="0"/>
              <a:t>.  </a:t>
            </a:r>
            <a:r>
              <a:rPr lang="en-US" b="1" i="1" dirty="0" err="1" smtClean="0"/>
              <a:t>Kakakain</a:t>
            </a:r>
            <a:r>
              <a:rPr lang="en-US" b="1" i="1" dirty="0" smtClean="0"/>
              <a:t> </a:t>
            </a:r>
            <a:r>
              <a:rPr lang="en-US" b="1" i="1" dirty="0" err="1" smtClean="0"/>
              <a:t>lang</a:t>
            </a:r>
            <a:r>
              <a:rPr lang="en-US" b="1" i="1" dirty="0" smtClean="0"/>
              <a:t> </a:t>
            </a:r>
            <a:r>
              <a:rPr lang="en-US" b="1" i="1" dirty="0" err="1" smtClean="0"/>
              <a:t>namin</a:t>
            </a:r>
            <a:r>
              <a:rPr lang="en-US" b="1" i="1" dirty="0" smtClean="0"/>
              <a:t>.</a:t>
            </a:r>
            <a:endParaRPr lang="en-US" b="1" i="1" dirty="0"/>
          </a:p>
        </p:txBody>
      </p:sp>
    </p:spTree>
  </p:cSld>
  <p:clrMapOvr>
    <a:masterClrMapping/>
  </p:clrMapOvr>
  <p:transition>
    <p:push/>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838200"/>
            <a:ext cx="8229600" cy="4525963"/>
          </a:xfrm>
        </p:spPr>
        <p:txBody>
          <a:bodyPr>
            <a:noAutofit/>
          </a:bodyPr>
          <a:lstStyle/>
          <a:p>
            <a:pPr marL="739775" indent="-630238">
              <a:buNone/>
            </a:pPr>
            <a:r>
              <a:rPr lang="en-US" sz="3200" dirty="0" smtClean="0"/>
              <a:t>15. </a:t>
            </a:r>
            <a:r>
              <a:rPr lang="en-US" sz="3200" dirty="0" err="1" smtClean="0"/>
              <a:t>Alin</a:t>
            </a:r>
            <a:r>
              <a:rPr lang="en-US" sz="3200" dirty="0" smtClean="0"/>
              <a:t> </a:t>
            </a:r>
            <a:r>
              <a:rPr lang="en-US" sz="3200" dirty="0" err="1" smtClean="0"/>
              <a:t>dito</a:t>
            </a:r>
            <a:r>
              <a:rPr lang="en-US" sz="3200" dirty="0" smtClean="0"/>
              <a:t> </a:t>
            </a:r>
            <a:r>
              <a:rPr lang="en-US" sz="3200" dirty="0" err="1" smtClean="0"/>
              <a:t>ang</a:t>
            </a:r>
            <a:r>
              <a:rPr lang="en-US" sz="3200" dirty="0" smtClean="0"/>
              <a:t> </a:t>
            </a:r>
            <a:r>
              <a:rPr lang="en-US" sz="3200" dirty="0" err="1" smtClean="0"/>
              <a:t>mga</a:t>
            </a:r>
            <a:r>
              <a:rPr lang="en-US" sz="3200" dirty="0" smtClean="0"/>
              <a:t> </a:t>
            </a:r>
            <a:r>
              <a:rPr lang="en-US" sz="3200" dirty="0" err="1" smtClean="0"/>
              <a:t>salita</a:t>
            </a:r>
            <a:r>
              <a:rPr lang="en-US" sz="3200" dirty="0" smtClean="0"/>
              <a:t> o </a:t>
            </a:r>
            <a:r>
              <a:rPr lang="en-US" sz="3200" dirty="0" err="1" smtClean="0"/>
              <a:t>lipon</a:t>
            </a:r>
            <a:r>
              <a:rPr lang="en-US" sz="3200" dirty="0" smtClean="0"/>
              <a:t> </a:t>
            </a:r>
            <a:r>
              <a:rPr lang="en-US" sz="3200" dirty="0" err="1" smtClean="0"/>
              <a:t>ng</a:t>
            </a:r>
            <a:r>
              <a:rPr lang="en-US" sz="3200" dirty="0" smtClean="0"/>
              <a:t> </a:t>
            </a:r>
            <a:r>
              <a:rPr lang="en-US" sz="3200" dirty="0" err="1" smtClean="0"/>
              <a:t>mga</a:t>
            </a:r>
            <a:r>
              <a:rPr lang="en-US" sz="3200" dirty="0" smtClean="0"/>
              <a:t> </a:t>
            </a:r>
            <a:r>
              <a:rPr lang="en-US" sz="3200" dirty="0" err="1" smtClean="0"/>
              <a:t>salita</a:t>
            </a:r>
            <a:r>
              <a:rPr lang="en-US" sz="3200" dirty="0" smtClean="0"/>
              <a:t> </a:t>
            </a:r>
            <a:r>
              <a:rPr lang="en-US" sz="3200" dirty="0" err="1" smtClean="0"/>
              <a:t>na</a:t>
            </a:r>
            <a:r>
              <a:rPr lang="en-US" sz="3200" dirty="0" smtClean="0"/>
              <a:t> </a:t>
            </a:r>
            <a:r>
              <a:rPr lang="en-US" sz="3200" dirty="0" err="1" smtClean="0"/>
              <a:t>ang</a:t>
            </a:r>
            <a:r>
              <a:rPr lang="en-US" sz="3200" dirty="0" smtClean="0"/>
              <a:t> </a:t>
            </a:r>
            <a:r>
              <a:rPr lang="en-US" sz="3200" dirty="0" err="1" smtClean="0"/>
              <a:t>kahulugan</a:t>
            </a:r>
            <a:r>
              <a:rPr lang="en-US" sz="3200" dirty="0" smtClean="0"/>
              <a:t> ay </a:t>
            </a:r>
            <a:r>
              <a:rPr lang="en-US" sz="3200" dirty="0" err="1" smtClean="0"/>
              <a:t>iba</a:t>
            </a:r>
            <a:r>
              <a:rPr lang="en-US" sz="3200" dirty="0" smtClean="0"/>
              <a:t> </a:t>
            </a:r>
            <a:r>
              <a:rPr lang="en-US" sz="3200" dirty="0" err="1" smtClean="0"/>
              <a:t>sa</a:t>
            </a:r>
            <a:r>
              <a:rPr lang="en-US" sz="3200" dirty="0" smtClean="0"/>
              <a:t> </a:t>
            </a:r>
            <a:r>
              <a:rPr lang="en-US" sz="3200" dirty="0" err="1" smtClean="0"/>
              <a:t>kahulugan</a:t>
            </a:r>
            <a:r>
              <a:rPr lang="en-US" sz="3200" dirty="0" smtClean="0"/>
              <a:t> </a:t>
            </a:r>
            <a:r>
              <a:rPr lang="en-US" sz="3200" dirty="0" err="1" smtClean="0"/>
              <a:t>ng</a:t>
            </a:r>
            <a:r>
              <a:rPr lang="en-US" sz="3200" dirty="0" smtClean="0"/>
              <a:t> </a:t>
            </a:r>
            <a:r>
              <a:rPr lang="en-US" sz="3200" dirty="0" err="1" smtClean="0"/>
              <a:t>mga</a:t>
            </a:r>
            <a:r>
              <a:rPr lang="en-US" sz="3200" dirty="0" smtClean="0"/>
              <a:t> </a:t>
            </a:r>
            <a:r>
              <a:rPr lang="en-US" sz="3200" dirty="0" err="1" smtClean="0"/>
              <a:t>salitang</a:t>
            </a:r>
            <a:r>
              <a:rPr lang="en-US" sz="3200" dirty="0" smtClean="0"/>
              <a:t> </a:t>
            </a:r>
            <a:r>
              <a:rPr lang="en-US" sz="3200" dirty="0" err="1" smtClean="0"/>
              <a:t>binubuo</a:t>
            </a:r>
            <a:r>
              <a:rPr lang="en-US" sz="3200" dirty="0" smtClean="0"/>
              <a:t>?</a:t>
            </a:r>
          </a:p>
          <a:p>
            <a:pPr marL="739775" indent="-630238">
              <a:buNone/>
            </a:pPr>
            <a:endParaRPr lang="en-US" sz="3200" dirty="0" smtClean="0"/>
          </a:p>
          <a:p>
            <a:pPr marL="973138" indent="-233363">
              <a:buFont typeface="+mj-lt"/>
              <a:buAutoNum type="alphaUcPeriod"/>
            </a:pPr>
            <a:r>
              <a:rPr lang="en-US" sz="3200" dirty="0" smtClean="0"/>
              <a:t> </a:t>
            </a:r>
            <a:r>
              <a:rPr lang="en-US" sz="3200" dirty="0" err="1" smtClean="0"/>
              <a:t>Tayutay</a:t>
            </a:r>
            <a:endParaRPr lang="en-US" sz="3200" dirty="0" smtClean="0"/>
          </a:p>
          <a:p>
            <a:pPr marL="973138" indent="-233363">
              <a:buFont typeface="+mj-lt"/>
              <a:buAutoNum type="alphaUcPeriod"/>
            </a:pPr>
            <a:r>
              <a:rPr lang="en-US" sz="3200" dirty="0" smtClean="0"/>
              <a:t> </a:t>
            </a:r>
            <a:r>
              <a:rPr lang="en-US" sz="3200" dirty="0" err="1" smtClean="0"/>
              <a:t>Pahayag</a:t>
            </a:r>
            <a:endParaRPr lang="en-US" sz="3200" dirty="0" smtClean="0"/>
          </a:p>
          <a:p>
            <a:pPr marL="973138" indent="-233363">
              <a:buFont typeface="+mj-lt"/>
              <a:buAutoNum type="alphaUcPeriod"/>
            </a:pPr>
            <a:r>
              <a:rPr lang="en-US" sz="3200" dirty="0" smtClean="0"/>
              <a:t> </a:t>
            </a:r>
            <a:r>
              <a:rPr lang="en-US" sz="3200" dirty="0" err="1" smtClean="0"/>
              <a:t>Salitang</a:t>
            </a:r>
            <a:r>
              <a:rPr lang="en-US" sz="3200" dirty="0" smtClean="0"/>
              <a:t> </a:t>
            </a:r>
            <a:r>
              <a:rPr lang="en-US" sz="3200" dirty="0" err="1" smtClean="0"/>
              <a:t>Eupemistiko</a:t>
            </a:r>
            <a:endParaRPr lang="en-US" sz="3200" dirty="0" smtClean="0"/>
          </a:p>
          <a:p>
            <a:pPr marL="973138" indent="-233363">
              <a:buFont typeface="+mj-lt"/>
              <a:buAutoNum type="alphaUcPeriod"/>
            </a:pPr>
            <a:r>
              <a:rPr lang="en-US" sz="3200" dirty="0" smtClean="0"/>
              <a:t> </a:t>
            </a:r>
            <a:r>
              <a:rPr lang="en-US" sz="3200" dirty="0" err="1" smtClean="0"/>
              <a:t>Ekspresyong</a:t>
            </a:r>
            <a:r>
              <a:rPr lang="en-US" sz="3200" dirty="0" smtClean="0"/>
              <a:t> </a:t>
            </a:r>
            <a:r>
              <a:rPr lang="en-US" sz="3200" dirty="0" err="1" smtClean="0"/>
              <a:t>idyomatiko</a:t>
            </a:r>
            <a:r>
              <a:rPr lang="en-US" sz="3200" dirty="0" smtClean="0"/>
              <a:t>	</a:t>
            </a:r>
          </a:p>
          <a:p>
            <a:pPr>
              <a:buNone/>
            </a:pPr>
            <a:r>
              <a:rPr lang="en-US" sz="3200" dirty="0" smtClean="0"/>
              <a:t>		</a:t>
            </a:r>
            <a:endParaRPr lang="en-US" sz="3200" dirty="0"/>
          </a:p>
        </p:txBody>
      </p:sp>
      <p:pic>
        <p:nvPicPr>
          <p:cNvPr id="4" name="Picture 4" descr="C:\Documents and Settings\Administrator\Desktop\hand_right.gif"/>
          <p:cNvPicPr>
            <a:picLocks noChangeAspect="1" noChangeArrowheads="1" noCrop="1"/>
          </p:cNvPicPr>
          <p:nvPr/>
        </p:nvPicPr>
        <p:blipFill>
          <a:blip r:embed="rId3">
            <a:extLst>
              <a:ext uri="{28A0092B-C50C-407E-A947-70E740481C1C}">
                <a14:useLocalDpi xmlns="" xmlns:a14="http://schemas.microsoft.com/office/drawing/2010/main" val="0"/>
              </a:ext>
            </a:extLst>
          </a:blip>
          <a:srcRect/>
          <a:stretch>
            <a:fillRect/>
          </a:stretch>
        </p:blipFill>
        <p:spPr bwMode="auto">
          <a:xfrm rot="21434720">
            <a:off x="619186" y="51999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990600"/>
            <a:ext cx="8229600" cy="4525963"/>
          </a:xfrm>
        </p:spPr>
        <p:txBody>
          <a:bodyPr/>
          <a:lstStyle/>
          <a:p>
            <a:r>
              <a:rPr lang="en-US" dirty="0" err="1" smtClean="0"/>
              <a:t>Ang</a:t>
            </a:r>
            <a:r>
              <a:rPr lang="en-US" dirty="0" smtClean="0"/>
              <a:t> </a:t>
            </a:r>
            <a:r>
              <a:rPr lang="en-US" dirty="0" err="1" smtClean="0"/>
              <a:t>tayutay</a:t>
            </a:r>
            <a:r>
              <a:rPr lang="en-US" dirty="0" smtClean="0"/>
              <a:t> ay </a:t>
            </a:r>
            <a:r>
              <a:rPr lang="en-US" dirty="0" err="1" smtClean="0"/>
              <a:t>salita</a:t>
            </a:r>
            <a:r>
              <a:rPr lang="en-US" dirty="0" smtClean="0"/>
              <a:t> o </a:t>
            </a:r>
            <a:r>
              <a:rPr lang="en-US" dirty="0" err="1" smtClean="0"/>
              <a:t>isang</a:t>
            </a:r>
            <a:r>
              <a:rPr lang="en-US" dirty="0" smtClean="0"/>
              <a:t> </a:t>
            </a:r>
            <a:r>
              <a:rPr lang="en-US" dirty="0" err="1" smtClean="0"/>
              <a:t>pahayag</a:t>
            </a:r>
            <a:r>
              <a:rPr lang="en-US" dirty="0" smtClean="0"/>
              <a:t> </a:t>
            </a:r>
            <a:r>
              <a:rPr lang="en-US" dirty="0" err="1" smtClean="0"/>
              <a:t>na</a:t>
            </a:r>
            <a:r>
              <a:rPr lang="en-US" dirty="0" smtClean="0"/>
              <a:t> </a:t>
            </a:r>
            <a:r>
              <a:rPr lang="en-US" dirty="0" err="1" smtClean="0"/>
              <a:t>ginamiy</a:t>
            </a:r>
            <a:r>
              <a:rPr lang="en-US" dirty="0" smtClean="0"/>
              <a:t> </a:t>
            </a:r>
            <a:r>
              <a:rPr lang="en-US" dirty="0" err="1" smtClean="0"/>
              <a:t>upang</a:t>
            </a:r>
            <a:r>
              <a:rPr lang="en-US" dirty="0" smtClean="0"/>
              <a:t> </a:t>
            </a:r>
            <a:r>
              <a:rPr lang="en-US" dirty="0" err="1" smtClean="0"/>
              <a:t>bigyang-diin</a:t>
            </a:r>
            <a:r>
              <a:rPr lang="en-US" dirty="0" smtClean="0"/>
              <a:t> </a:t>
            </a:r>
            <a:r>
              <a:rPr lang="en-US" dirty="0" err="1" smtClean="0"/>
              <a:t>ang</a:t>
            </a:r>
            <a:r>
              <a:rPr lang="en-US" dirty="0" smtClean="0"/>
              <a:t> </a:t>
            </a:r>
            <a:r>
              <a:rPr lang="en-US" dirty="0" err="1" smtClean="0"/>
              <a:t>isang</a:t>
            </a:r>
            <a:r>
              <a:rPr lang="en-US" dirty="0" smtClean="0"/>
              <a:t> </a:t>
            </a:r>
            <a:r>
              <a:rPr lang="en-US" dirty="0" err="1" smtClean="0"/>
              <a:t>kaisipan</a:t>
            </a:r>
            <a:r>
              <a:rPr lang="en-US" dirty="0" smtClean="0"/>
              <a:t> o </a:t>
            </a:r>
            <a:r>
              <a:rPr lang="en-US" dirty="0" err="1" smtClean="0"/>
              <a:t>damdamin</a:t>
            </a:r>
            <a:r>
              <a:rPr lang="en-US" dirty="0" smtClean="0"/>
              <a:t>. </a:t>
            </a:r>
          </a:p>
          <a:p>
            <a:r>
              <a:rPr lang="en-US" dirty="0" err="1" smtClean="0"/>
              <a:t>Pahayag</a:t>
            </a:r>
            <a:r>
              <a:rPr lang="en-US" dirty="0" smtClean="0"/>
              <a:t>- </a:t>
            </a:r>
            <a:r>
              <a:rPr lang="en-US" dirty="0" err="1" smtClean="0"/>
              <a:t>tiyak</a:t>
            </a:r>
            <a:r>
              <a:rPr lang="en-US" dirty="0" smtClean="0"/>
              <a:t> </a:t>
            </a:r>
            <a:r>
              <a:rPr lang="en-US" dirty="0" err="1" smtClean="0"/>
              <a:t>na</a:t>
            </a:r>
            <a:r>
              <a:rPr lang="en-US" dirty="0" smtClean="0"/>
              <a:t> </a:t>
            </a:r>
            <a:r>
              <a:rPr lang="en-US" dirty="0" err="1" smtClean="0"/>
              <a:t>sinabi</a:t>
            </a:r>
            <a:r>
              <a:rPr lang="en-US" dirty="0" smtClean="0"/>
              <a:t> </a:t>
            </a:r>
            <a:r>
              <a:rPr lang="en-US" dirty="0" err="1" smtClean="0"/>
              <a:t>ng</a:t>
            </a:r>
            <a:r>
              <a:rPr lang="en-US" dirty="0" smtClean="0"/>
              <a:t> </a:t>
            </a:r>
            <a:r>
              <a:rPr lang="en-US" dirty="0" err="1" smtClean="0"/>
              <a:t>isang</a:t>
            </a:r>
            <a:r>
              <a:rPr lang="en-US" dirty="0" smtClean="0"/>
              <a:t> </a:t>
            </a:r>
            <a:r>
              <a:rPr lang="en-US" dirty="0" err="1" smtClean="0"/>
              <a:t>tao</a:t>
            </a:r>
            <a:r>
              <a:rPr lang="en-US" dirty="0" smtClean="0"/>
              <a:t>. </a:t>
            </a:r>
          </a:p>
          <a:p>
            <a:r>
              <a:rPr lang="en-US" dirty="0" err="1" smtClean="0"/>
              <a:t>Salitang</a:t>
            </a:r>
            <a:r>
              <a:rPr lang="en-US" dirty="0" smtClean="0"/>
              <a:t> </a:t>
            </a:r>
            <a:r>
              <a:rPr lang="en-US" dirty="0" err="1" smtClean="0"/>
              <a:t>Eupemistiko</a:t>
            </a:r>
            <a:r>
              <a:rPr lang="en-US" dirty="0" smtClean="0"/>
              <a:t>- </a:t>
            </a:r>
            <a:r>
              <a:rPr lang="en-US" dirty="0" err="1" smtClean="0"/>
              <a:t>mga</a:t>
            </a:r>
            <a:r>
              <a:rPr lang="en-US" dirty="0" smtClean="0"/>
              <a:t> </a:t>
            </a:r>
            <a:r>
              <a:rPr lang="en-US" dirty="0" err="1" smtClean="0"/>
              <a:t>salitang</a:t>
            </a:r>
            <a:r>
              <a:rPr lang="en-US" dirty="0" smtClean="0"/>
              <a:t> </a:t>
            </a:r>
            <a:r>
              <a:rPr lang="en-US" dirty="0" err="1" smtClean="0"/>
              <a:t>badyang</a:t>
            </a:r>
            <a:r>
              <a:rPr lang="en-US" dirty="0" smtClean="0"/>
              <a:t> </a:t>
            </a:r>
            <a:r>
              <a:rPr lang="en-US" dirty="0" err="1" smtClean="0"/>
              <a:t>pampalubag</a:t>
            </a:r>
            <a:r>
              <a:rPr lang="en-US" dirty="0" smtClean="0"/>
              <a:t> </a:t>
            </a:r>
            <a:r>
              <a:rPr lang="en-US" dirty="0" err="1" smtClean="0"/>
              <a:t>loob</a:t>
            </a:r>
            <a:r>
              <a:rPr lang="en-US" dirty="0" smtClean="0"/>
              <a:t>. </a:t>
            </a:r>
            <a:r>
              <a:rPr lang="en-US" b="1" i="1" dirty="0" err="1" smtClean="0"/>
              <a:t>Sumakabilang</a:t>
            </a:r>
            <a:r>
              <a:rPr lang="en-US" b="1" i="1" dirty="0" smtClean="0"/>
              <a:t> </a:t>
            </a:r>
            <a:r>
              <a:rPr lang="en-US" b="1" i="1" dirty="0" err="1" smtClean="0"/>
              <a:t>buhay</a:t>
            </a:r>
            <a:r>
              <a:rPr lang="en-US" b="1" i="1" dirty="0" smtClean="0"/>
              <a:t>.</a:t>
            </a:r>
          </a:p>
          <a:p>
            <a:r>
              <a:rPr lang="en-US" dirty="0" err="1" smtClean="0"/>
              <a:t>Ekspresyong</a:t>
            </a:r>
            <a:r>
              <a:rPr lang="en-US" dirty="0" smtClean="0"/>
              <a:t> </a:t>
            </a:r>
            <a:r>
              <a:rPr lang="en-US" dirty="0" err="1" smtClean="0"/>
              <a:t>idiyomatiko</a:t>
            </a:r>
            <a:r>
              <a:rPr lang="en-US" dirty="0" smtClean="0"/>
              <a:t>-  </a:t>
            </a:r>
            <a:r>
              <a:rPr lang="en-US" dirty="0" err="1" smtClean="0"/>
              <a:t>isang</a:t>
            </a:r>
            <a:r>
              <a:rPr lang="en-US" dirty="0" smtClean="0"/>
              <a:t> </a:t>
            </a:r>
            <a:r>
              <a:rPr lang="en-US" dirty="0" err="1" smtClean="0"/>
              <a:t>pagpapahayag</a:t>
            </a:r>
            <a:r>
              <a:rPr lang="en-US" dirty="0" smtClean="0"/>
              <a:t> </a:t>
            </a:r>
            <a:r>
              <a:rPr lang="en-US" dirty="0" err="1" smtClean="0"/>
              <a:t>na</a:t>
            </a:r>
            <a:r>
              <a:rPr lang="en-US" dirty="0" smtClean="0"/>
              <a:t> </a:t>
            </a:r>
            <a:r>
              <a:rPr lang="en-US" dirty="0" err="1" smtClean="0"/>
              <a:t>ang</a:t>
            </a:r>
            <a:r>
              <a:rPr lang="en-US" dirty="0" smtClean="0"/>
              <a:t> </a:t>
            </a:r>
            <a:r>
              <a:rPr lang="en-US" dirty="0" err="1" smtClean="0"/>
              <a:t>kahulugan</a:t>
            </a:r>
            <a:r>
              <a:rPr lang="en-US" dirty="0" smtClean="0"/>
              <a:t> ay </a:t>
            </a:r>
            <a:r>
              <a:rPr lang="en-US" dirty="0" err="1" smtClean="0"/>
              <a:t>hindi</a:t>
            </a:r>
            <a:r>
              <a:rPr lang="en-US" dirty="0" smtClean="0"/>
              <a:t> </a:t>
            </a:r>
            <a:r>
              <a:rPr lang="en-US" dirty="0" err="1" smtClean="0"/>
              <a:t>kompsisyunal</a:t>
            </a:r>
            <a:r>
              <a:rPr lang="en-US" dirty="0" smtClean="0"/>
              <a:t>. </a:t>
            </a:r>
            <a:r>
              <a:rPr lang="en-US" b="1" i="1" dirty="0" err="1" smtClean="0"/>
              <a:t>Balik-harap</a:t>
            </a:r>
            <a:r>
              <a:rPr lang="en-US" b="1" i="1" dirty="0" smtClean="0"/>
              <a:t>, </a:t>
            </a:r>
            <a:r>
              <a:rPr lang="en-US" b="1" i="1" dirty="0" err="1" smtClean="0"/>
              <a:t>buwayang</a:t>
            </a:r>
            <a:r>
              <a:rPr lang="en-US" b="1" i="1" dirty="0" smtClean="0"/>
              <a:t> </a:t>
            </a:r>
            <a:r>
              <a:rPr lang="en-US" b="1" i="1" dirty="0" err="1" smtClean="0"/>
              <a:t>lubog</a:t>
            </a:r>
            <a:endParaRPr lang="en-US" b="1" i="1" dirty="0"/>
          </a:p>
        </p:txBody>
      </p:sp>
    </p:spTree>
  </p:cSld>
  <p:clrMapOvr>
    <a:masterClrMapping/>
  </p:clrMapOvr>
  <p:transition>
    <p:push/>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457200"/>
            <a:ext cx="8382000" cy="5791200"/>
          </a:xfrm>
        </p:spPr>
        <p:txBody>
          <a:bodyPr>
            <a:normAutofit/>
          </a:bodyPr>
          <a:lstStyle/>
          <a:p>
            <a:pPr marL="739775" indent="-630238">
              <a:buNone/>
            </a:pPr>
            <a:r>
              <a:rPr lang="en-US" dirty="0" smtClean="0"/>
              <a:t>16. </a:t>
            </a:r>
            <a:r>
              <a:rPr lang="en-US" sz="3200" dirty="0" err="1" smtClean="0"/>
              <a:t>Ano</a:t>
            </a:r>
            <a:r>
              <a:rPr lang="en-US" sz="3200" dirty="0" smtClean="0"/>
              <a:t> </a:t>
            </a:r>
            <a:r>
              <a:rPr lang="en-US" sz="3200" dirty="0" err="1" smtClean="0"/>
              <a:t>ang</a:t>
            </a:r>
            <a:r>
              <a:rPr lang="en-US" sz="3200" dirty="0" smtClean="0"/>
              <a:t> </a:t>
            </a:r>
            <a:r>
              <a:rPr lang="en-US" sz="3200" dirty="0" err="1" smtClean="0"/>
              <a:t>kahulugan</a:t>
            </a:r>
            <a:r>
              <a:rPr lang="en-US" sz="3200" dirty="0" smtClean="0"/>
              <a:t> </a:t>
            </a:r>
            <a:r>
              <a:rPr lang="en-US" sz="3200" dirty="0" err="1" smtClean="0"/>
              <a:t>ng</a:t>
            </a:r>
            <a:r>
              <a:rPr lang="en-US" sz="3200" dirty="0" smtClean="0"/>
              <a:t> </a:t>
            </a:r>
            <a:r>
              <a:rPr lang="en-US" sz="3200" dirty="0" err="1" smtClean="0"/>
              <a:t>taludtod</a:t>
            </a:r>
            <a:r>
              <a:rPr lang="en-US" sz="3200" dirty="0" smtClean="0"/>
              <a:t> </a:t>
            </a:r>
            <a:r>
              <a:rPr lang="en-US" sz="3200" dirty="0" err="1" smtClean="0"/>
              <a:t>na</a:t>
            </a:r>
            <a:r>
              <a:rPr lang="en-US" sz="3200" dirty="0" smtClean="0"/>
              <a:t> </a:t>
            </a:r>
            <a:r>
              <a:rPr lang="en-US" sz="3200" dirty="0" err="1" smtClean="0"/>
              <a:t>ito</a:t>
            </a:r>
            <a:r>
              <a:rPr lang="en-US" sz="3200" dirty="0" smtClean="0"/>
              <a:t>? </a:t>
            </a:r>
            <a:endParaRPr lang="en-US" dirty="0" smtClean="0"/>
          </a:p>
          <a:p>
            <a:pPr>
              <a:buNone/>
            </a:pPr>
            <a:r>
              <a:rPr lang="en-US" i="1" dirty="0" smtClean="0"/>
              <a:t>			"</a:t>
            </a:r>
            <a:r>
              <a:rPr lang="en-US" i="1" dirty="0" err="1" smtClean="0"/>
              <a:t>Ang</a:t>
            </a:r>
            <a:r>
              <a:rPr lang="en-US" i="1" dirty="0" smtClean="0"/>
              <a:t> </a:t>
            </a:r>
            <a:r>
              <a:rPr lang="en-US" i="1" dirty="0" err="1" smtClean="0"/>
              <a:t>anak</a:t>
            </a:r>
            <a:r>
              <a:rPr lang="en-US" i="1" dirty="0" smtClean="0"/>
              <a:t> man ay </a:t>
            </a:r>
            <a:r>
              <a:rPr lang="en-US" i="1" dirty="0" err="1" smtClean="0"/>
              <a:t>alagaan</a:t>
            </a:r>
            <a:r>
              <a:rPr lang="en-US" i="1" dirty="0" smtClean="0"/>
              <a:t> </a:t>
            </a:r>
            <a:r>
              <a:rPr lang="en-US" i="1" dirty="0" err="1" smtClean="0"/>
              <a:t>sa</a:t>
            </a:r>
            <a:r>
              <a:rPr lang="en-US" i="1" dirty="0" smtClean="0"/>
              <a:t> </a:t>
            </a:r>
            <a:r>
              <a:rPr lang="en-US" i="1" dirty="0" err="1" smtClean="0"/>
              <a:t>marubdob</a:t>
            </a:r>
            <a:r>
              <a:rPr lang="en-US" i="1" dirty="0" smtClean="0"/>
              <a:t> </a:t>
            </a:r>
            <a:r>
              <a:rPr lang="en-US" i="1" dirty="0" err="1" smtClean="0"/>
              <a:t>na</a:t>
            </a:r>
            <a:r>
              <a:rPr lang="en-US" i="1" dirty="0" smtClean="0"/>
              <a:t> </a:t>
            </a:r>
            <a:r>
              <a:rPr lang="en-US" i="1" dirty="0" err="1" smtClean="0"/>
              <a:t>pagsuyo</a:t>
            </a:r>
            <a:r>
              <a:rPr lang="en-US" i="1" dirty="0" smtClean="0"/>
              <a:t> </a:t>
            </a:r>
            <a:r>
              <a:rPr lang="en-US" i="1" dirty="0" err="1" smtClean="0"/>
              <a:t>sikapin</a:t>
            </a:r>
            <a:r>
              <a:rPr lang="en-US" i="1" dirty="0" smtClean="0"/>
              <a:t> man </a:t>
            </a:r>
            <a:r>
              <a:rPr lang="en-US" i="1" dirty="0" err="1" smtClean="0"/>
              <a:t>sa</a:t>
            </a:r>
            <a:r>
              <a:rPr lang="en-US" i="1" dirty="0" smtClean="0"/>
              <a:t> </a:t>
            </a:r>
            <a:r>
              <a:rPr lang="en-US" i="1" dirty="0" err="1" smtClean="0"/>
              <a:t>sarili'y</a:t>
            </a:r>
            <a:r>
              <a:rPr lang="en-US" i="1" dirty="0" smtClean="0"/>
              <a:t> </a:t>
            </a:r>
            <a:r>
              <a:rPr lang="en-US" i="1" dirty="0" err="1" smtClean="0"/>
              <a:t>huwag</a:t>
            </a:r>
            <a:r>
              <a:rPr lang="en-US" i="1" dirty="0" smtClean="0"/>
              <a:t> </a:t>
            </a:r>
            <a:r>
              <a:rPr lang="en-US" i="1" dirty="0" err="1" smtClean="0"/>
              <a:t>siyang</a:t>
            </a:r>
            <a:r>
              <a:rPr lang="en-US" i="1" dirty="0" smtClean="0"/>
              <a:t> </a:t>
            </a:r>
            <a:r>
              <a:rPr lang="en-US" i="1" dirty="0" err="1" smtClean="0"/>
              <a:t>maging</a:t>
            </a:r>
            <a:r>
              <a:rPr lang="en-US" i="1" dirty="0" smtClean="0"/>
              <a:t> </a:t>
            </a:r>
            <a:r>
              <a:rPr lang="en-US" i="1" dirty="0" err="1" smtClean="0"/>
              <a:t>liko</a:t>
            </a:r>
            <a:r>
              <a:rPr lang="en-US" i="1" dirty="0" smtClean="0"/>
              <a:t> </a:t>
            </a:r>
            <a:r>
              <a:rPr lang="en-US" i="1" dirty="0" err="1" smtClean="0"/>
              <a:t>talipandas</a:t>
            </a:r>
            <a:r>
              <a:rPr lang="en-US" i="1" dirty="0" smtClean="0"/>
              <a:t> </a:t>
            </a:r>
            <a:r>
              <a:rPr lang="en-US" i="1" dirty="0" err="1" smtClean="0"/>
              <a:t>sa</a:t>
            </a:r>
            <a:r>
              <a:rPr lang="en-US" i="1" dirty="0" smtClean="0"/>
              <a:t> </a:t>
            </a:r>
            <a:r>
              <a:rPr lang="en-US" i="1" dirty="0" err="1" smtClean="0"/>
              <a:t>paglaki</a:t>
            </a:r>
            <a:r>
              <a:rPr lang="en-US" i="1" dirty="0" smtClean="0"/>
              <a:t> </a:t>
            </a:r>
            <a:r>
              <a:rPr lang="en-US" i="1" dirty="0" err="1" smtClean="0"/>
              <a:t>na</a:t>
            </a:r>
            <a:r>
              <a:rPr lang="en-US" i="1" dirty="0" smtClean="0"/>
              <a:t> </a:t>
            </a:r>
            <a:r>
              <a:rPr lang="en-US" i="1" dirty="0" err="1" smtClean="0"/>
              <a:t>sa</a:t>
            </a:r>
            <a:r>
              <a:rPr lang="en-US" i="1" dirty="0" smtClean="0"/>
              <a:t> </a:t>
            </a:r>
            <a:r>
              <a:rPr lang="en-US" i="1" dirty="0" err="1" smtClean="0"/>
              <a:t>sama</a:t>
            </a:r>
            <a:r>
              <a:rPr lang="en-US" i="1" dirty="0" smtClean="0"/>
              <a:t> </a:t>
            </a:r>
            <a:r>
              <a:rPr lang="en-US" i="1" dirty="0" err="1" smtClean="0"/>
              <a:t>marahuyo</a:t>
            </a:r>
            <a:r>
              <a:rPr lang="en-US" i="1" dirty="0" smtClean="0"/>
              <a:t> </a:t>
            </a:r>
            <a:r>
              <a:rPr lang="en-US" i="1" dirty="0" err="1" smtClean="0"/>
              <a:t>sa</a:t>
            </a:r>
            <a:r>
              <a:rPr lang="en-US" i="1" dirty="0" smtClean="0"/>
              <a:t> </a:t>
            </a:r>
            <a:r>
              <a:rPr lang="en-US" i="1" dirty="0" err="1" smtClean="0"/>
              <a:t>lahi</a:t>
            </a:r>
            <a:r>
              <a:rPr lang="en-US" i="1" dirty="0" smtClean="0"/>
              <a:t> </a:t>
            </a:r>
            <a:r>
              <a:rPr lang="en-US" i="1" dirty="0" err="1" smtClean="0"/>
              <a:t>mo't</a:t>
            </a:r>
            <a:r>
              <a:rPr lang="en-US" i="1" dirty="0" smtClean="0"/>
              <a:t> </a:t>
            </a:r>
            <a:r>
              <a:rPr lang="en-US" i="1" dirty="0" err="1" smtClean="0"/>
              <a:t>sa</a:t>
            </a:r>
            <a:r>
              <a:rPr lang="en-US" i="1" dirty="0" smtClean="0"/>
              <a:t> </a:t>
            </a:r>
            <a:r>
              <a:rPr lang="en-US" i="1" dirty="0" err="1" smtClean="0"/>
              <a:t>Bayan</a:t>
            </a:r>
            <a:r>
              <a:rPr lang="en-US" i="1" dirty="0" smtClean="0"/>
              <a:t> may </a:t>
            </a:r>
            <a:r>
              <a:rPr lang="en-US" i="1" dirty="0" err="1" smtClean="0"/>
              <a:t>isang</a:t>
            </a:r>
            <a:r>
              <a:rPr lang="en-US" i="1" dirty="0" smtClean="0"/>
              <a:t> </a:t>
            </a:r>
            <a:r>
              <a:rPr lang="en-US" i="1" dirty="0" err="1" smtClean="0"/>
              <a:t>tinik</a:t>
            </a:r>
            <a:r>
              <a:rPr lang="en-US" i="1" dirty="0" smtClean="0"/>
              <a:t> </a:t>
            </a:r>
            <a:r>
              <a:rPr lang="en-US" i="1" dirty="0" err="1" smtClean="0"/>
              <a:t>sa</a:t>
            </a:r>
            <a:r>
              <a:rPr lang="en-US" i="1" dirty="0" smtClean="0"/>
              <a:t> </a:t>
            </a:r>
            <a:r>
              <a:rPr lang="en-US" i="1" dirty="0" err="1" smtClean="0"/>
              <a:t>balaho</a:t>
            </a:r>
            <a:r>
              <a:rPr lang="en-US" i="1" dirty="0" smtClean="0"/>
              <a:t>.“</a:t>
            </a:r>
          </a:p>
          <a:p>
            <a:pPr marL="623888" lvl="0" indent="115888">
              <a:buFont typeface="+mj-lt"/>
              <a:buAutoNum type="alphaUcPeriod"/>
            </a:pPr>
            <a:endParaRPr lang="en-US" dirty="0" smtClean="0"/>
          </a:p>
          <a:p>
            <a:pPr marL="623888" lvl="0" indent="115888">
              <a:buFont typeface="+mj-lt"/>
              <a:buAutoNum type="alphaUcPeriod"/>
            </a:pPr>
            <a:r>
              <a:rPr lang="en-US" dirty="0" smtClean="0"/>
              <a:t> </a:t>
            </a:r>
            <a:r>
              <a:rPr lang="en-US" dirty="0" err="1" smtClean="0"/>
              <a:t>Mahalin</a:t>
            </a:r>
            <a:r>
              <a:rPr lang="en-US" dirty="0" smtClean="0"/>
              <a:t> </a:t>
            </a:r>
            <a:r>
              <a:rPr lang="en-US" dirty="0" err="1" smtClean="0"/>
              <a:t>ang</a:t>
            </a:r>
            <a:r>
              <a:rPr lang="en-US" dirty="0" smtClean="0"/>
              <a:t> </a:t>
            </a:r>
            <a:r>
              <a:rPr lang="en-US" dirty="0" err="1" smtClean="0"/>
              <a:t>anak</a:t>
            </a:r>
            <a:r>
              <a:rPr lang="en-US" dirty="0" smtClean="0"/>
              <a:t> </a:t>
            </a:r>
            <a:r>
              <a:rPr lang="en-US" dirty="0" err="1" smtClean="0"/>
              <a:t>ng</a:t>
            </a:r>
            <a:r>
              <a:rPr lang="en-US" dirty="0" smtClean="0"/>
              <a:t> </a:t>
            </a:r>
            <a:r>
              <a:rPr lang="en-US" dirty="0" err="1" smtClean="0"/>
              <a:t>walang</a:t>
            </a:r>
            <a:r>
              <a:rPr lang="en-US" dirty="0" smtClean="0"/>
              <a:t> </a:t>
            </a:r>
            <a:r>
              <a:rPr lang="en-US" dirty="0" err="1" smtClean="0"/>
              <a:t>hangganan</a:t>
            </a:r>
            <a:r>
              <a:rPr lang="en-US" dirty="0" smtClean="0"/>
              <a:t>. </a:t>
            </a:r>
          </a:p>
          <a:p>
            <a:pPr marL="623888" lvl="0" indent="115888">
              <a:buFont typeface="+mj-lt"/>
              <a:buAutoNum type="alphaUcPeriod"/>
            </a:pPr>
            <a:r>
              <a:rPr lang="en-US" dirty="0" smtClean="0"/>
              <a:t> </a:t>
            </a:r>
            <a:r>
              <a:rPr lang="en-US" dirty="0" err="1" smtClean="0"/>
              <a:t>Tamang</a:t>
            </a:r>
            <a:r>
              <a:rPr lang="en-US" dirty="0" smtClean="0"/>
              <a:t> </a:t>
            </a:r>
            <a:r>
              <a:rPr lang="en-US" dirty="0" err="1" smtClean="0"/>
              <a:t>pagpapalaki</a:t>
            </a:r>
            <a:r>
              <a:rPr lang="en-US" dirty="0" smtClean="0"/>
              <a:t> </a:t>
            </a:r>
            <a:r>
              <a:rPr lang="en-US" dirty="0" err="1" smtClean="0"/>
              <a:t>sa</a:t>
            </a:r>
            <a:r>
              <a:rPr lang="en-US" dirty="0" smtClean="0"/>
              <a:t> </a:t>
            </a:r>
            <a:r>
              <a:rPr lang="en-US" dirty="0" err="1" smtClean="0"/>
              <a:t>anak</a:t>
            </a:r>
            <a:r>
              <a:rPr lang="en-US" dirty="0" smtClean="0"/>
              <a:t> </a:t>
            </a:r>
            <a:r>
              <a:rPr lang="en-US" dirty="0" err="1" smtClean="0"/>
              <a:t>ang</a:t>
            </a:r>
            <a:r>
              <a:rPr lang="en-US" dirty="0" smtClean="0"/>
              <a:t> </a:t>
            </a:r>
            <a:r>
              <a:rPr lang="en-US" dirty="0" err="1" smtClean="0"/>
              <a:t>dapat</a:t>
            </a:r>
            <a:r>
              <a:rPr lang="en-US" dirty="0" smtClean="0"/>
              <a:t>. </a:t>
            </a:r>
          </a:p>
          <a:p>
            <a:pPr marL="623888" lvl="0" indent="115888">
              <a:buFont typeface="+mj-lt"/>
              <a:buAutoNum type="alphaUcPeriod"/>
            </a:pPr>
            <a:r>
              <a:rPr lang="en-US" dirty="0" smtClean="0"/>
              <a:t> </a:t>
            </a:r>
            <a:r>
              <a:rPr lang="en-US" dirty="0" err="1" smtClean="0"/>
              <a:t>Suyuin</a:t>
            </a:r>
            <a:r>
              <a:rPr lang="en-US" dirty="0" smtClean="0"/>
              <a:t> </a:t>
            </a:r>
            <a:r>
              <a:rPr lang="en-US" dirty="0" err="1" smtClean="0"/>
              <a:t>ang</a:t>
            </a:r>
            <a:r>
              <a:rPr lang="en-US" dirty="0" smtClean="0"/>
              <a:t> </a:t>
            </a:r>
            <a:r>
              <a:rPr lang="en-US" dirty="0" err="1" smtClean="0"/>
              <a:t>anak</a:t>
            </a:r>
            <a:r>
              <a:rPr lang="en-US" dirty="0" smtClean="0"/>
              <a:t> at </a:t>
            </a:r>
            <a:r>
              <a:rPr lang="en-US" dirty="0" err="1" smtClean="0"/>
              <a:t>ibigay</a:t>
            </a:r>
            <a:r>
              <a:rPr lang="en-US" dirty="0" smtClean="0"/>
              <a:t> </a:t>
            </a:r>
            <a:r>
              <a:rPr lang="en-US" dirty="0" err="1" smtClean="0"/>
              <a:t>lahat</a:t>
            </a:r>
            <a:r>
              <a:rPr lang="en-US" dirty="0" smtClean="0"/>
              <a:t> </a:t>
            </a:r>
            <a:r>
              <a:rPr lang="en-US" dirty="0" err="1" smtClean="0"/>
              <a:t>ng</a:t>
            </a:r>
            <a:r>
              <a:rPr lang="en-US" dirty="0" smtClean="0"/>
              <a:t> </a:t>
            </a:r>
            <a:r>
              <a:rPr lang="en-US" dirty="0" err="1" smtClean="0"/>
              <a:t>hilig</a:t>
            </a:r>
            <a:r>
              <a:rPr lang="en-US" dirty="0" smtClean="0"/>
              <a:t>.</a:t>
            </a:r>
          </a:p>
          <a:p>
            <a:pPr marL="623888" lvl="0" indent="115888">
              <a:buFont typeface="+mj-lt"/>
              <a:buAutoNum type="alphaUcPeriod"/>
            </a:pPr>
            <a:r>
              <a:rPr lang="en-US" dirty="0" smtClean="0"/>
              <a:t> </a:t>
            </a:r>
            <a:r>
              <a:rPr lang="en-US" dirty="0" err="1" smtClean="0"/>
              <a:t>Paligayahin</a:t>
            </a:r>
            <a:r>
              <a:rPr lang="en-US" dirty="0" smtClean="0"/>
              <a:t> </a:t>
            </a:r>
            <a:r>
              <a:rPr lang="en-US" dirty="0" err="1" smtClean="0"/>
              <a:t>ang</a:t>
            </a:r>
            <a:r>
              <a:rPr lang="en-US" dirty="0" smtClean="0"/>
              <a:t> </a:t>
            </a:r>
            <a:r>
              <a:rPr lang="en-US" dirty="0" err="1" smtClean="0"/>
              <a:t>tahanan</a:t>
            </a:r>
            <a:r>
              <a:rPr lang="en-US" dirty="0" smtClean="0"/>
              <a:t>.</a:t>
            </a:r>
          </a:p>
          <a:p>
            <a:pPr>
              <a:buNone/>
            </a:pPr>
            <a:endParaRPr lang="en-US" dirty="0" smtClean="0"/>
          </a:p>
          <a:p>
            <a:pPr>
              <a:buNone/>
            </a:pPr>
            <a:endParaRPr lang="en-US" dirty="0"/>
          </a:p>
        </p:txBody>
      </p:sp>
      <p:pic>
        <p:nvPicPr>
          <p:cNvPr id="3"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9585" y="46665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600" y="685800"/>
            <a:ext cx="8229600" cy="4525963"/>
          </a:xfrm>
        </p:spPr>
        <p:txBody>
          <a:bodyPr>
            <a:noAutofit/>
          </a:bodyPr>
          <a:lstStyle/>
          <a:p>
            <a:pPr marL="682625" indent="-573088">
              <a:buNone/>
            </a:pPr>
            <a:r>
              <a:rPr lang="en-US" sz="3200" dirty="0" smtClean="0"/>
              <a:t>17. </a:t>
            </a:r>
            <a:r>
              <a:rPr lang="en-US" sz="3200" dirty="0" err="1" smtClean="0"/>
              <a:t>Kaninong</a:t>
            </a:r>
            <a:r>
              <a:rPr lang="en-US" sz="3200" dirty="0" smtClean="0"/>
              <a:t> </a:t>
            </a:r>
            <a:r>
              <a:rPr lang="en-US" sz="3200" dirty="0" err="1" smtClean="0"/>
              <a:t>tula</a:t>
            </a:r>
            <a:r>
              <a:rPr lang="en-US" sz="3200" dirty="0" smtClean="0"/>
              <a:t> </a:t>
            </a:r>
            <a:r>
              <a:rPr lang="en-US" sz="3200" dirty="0" err="1" smtClean="0"/>
              <a:t>hango</a:t>
            </a:r>
            <a:r>
              <a:rPr lang="en-US" sz="3200" dirty="0" smtClean="0"/>
              <a:t> </a:t>
            </a:r>
            <a:r>
              <a:rPr lang="en-US" sz="3200" dirty="0" err="1" smtClean="0"/>
              <a:t>ang</a:t>
            </a:r>
            <a:r>
              <a:rPr lang="en-US" sz="3200" dirty="0" smtClean="0"/>
              <a:t> </a:t>
            </a:r>
            <a:r>
              <a:rPr lang="en-US" sz="3200" dirty="0" err="1" smtClean="0"/>
              <a:t>sumusunod</a:t>
            </a:r>
            <a:r>
              <a:rPr lang="en-US" sz="3200" dirty="0" smtClean="0"/>
              <a:t>? </a:t>
            </a:r>
          </a:p>
          <a:p>
            <a:pPr>
              <a:buNone/>
            </a:pPr>
            <a:r>
              <a:rPr lang="en-US" sz="3200" i="1" dirty="0" smtClean="0"/>
              <a:t>			"</a:t>
            </a:r>
            <a:r>
              <a:rPr lang="en-US" sz="3200" i="1" dirty="0" err="1" smtClean="0"/>
              <a:t>Ang</a:t>
            </a:r>
            <a:r>
              <a:rPr lang="en-US" sz="3200" i="1" dirty="0" smtClean="0"/>
              <a:t> </a:t>
            </a:r>
            <a:r>
              <a:rPr lang="en-US" sz="3200" i="1" dirty="0" err="1" smtClean="0"/>
              <a:t>hindi</a:t>
            </a:r>
            <a:r>
              <a:rPr lang="en-US" sz="3200" i="1" dirty="0" smtClean="0"/>
              <a:t> </a:t>
            </a:r>
            <a:r>
              <a:rPr lang="en-US" sz="3200" i="1" dirty="0" err="1" smtClean="0"/>
              <a:t>magmahal</a:t>
            </a:r>
            <a:r>
              <a:rPr lang="en-US" sz="3200" i="1" dirty="0" smtClean="0"/>
              <a:t> </a:t>
            </a:r>
            <a:r>
              <a:rPr lang="en-US" sz="3200" i="1" dirty="0" err="1" smtClean="0"/>
              <a:t>sa</a:t>
            </a:r>
            <a:r>
              <a:rPr lang="en-US" sz="3200" i="1" dirty="0" smtClean="0"/>
              <a:t> </a:t>
            </a:r>
            <a:r>
              <a:rPr lang="en-US" sz="3200" i="1" dirty="0" err="1" smtClean="0"/>
              <a:t>sariling</a:t>
            </a:r>
            <a:r>
              <a:rPr lang="en-US" sz="3200" i="1" dirty="0" smtClean="0"/>
              <a:t> </a:t>
            </a:r>
            <a:r>
              <a:rPr lang="en-US" sz="3200" i="1" dirty="0" err="1" smtClean="0"/>
              <a:t>wika</a:t>
            </a:r>
            <a:r>
              <a:rPr lang="en-US" sz="3200" i="1" dirty="0" smtClean="0"/>
              <a:t> </a:t>
            </a:r>
            <a:r>
              <a:rPr lang="en-US" sz="3200" i="1" dirty="0" err="1" smtClean="0"/>
              <a:t>mahigit</a:t>
            </a:r>
            <a:r>
              <a:rPr lang="en-US" sz="3200" i="1" dirty="0" smtClean="0"/>
              <a:t> </a:t>
            </a:r>
            <a:r>
              <a:rPr lang="en-US" sz="3200" i="1" dirty="0" err="1" smtClean="0"/>
              <a:t>sa</a:t>
            </a:r>
            <a:r>
              <a:rPr lang="en-US" sz="3200" i="1" dirty="0" smtClean="0"/>
              <a:t> </a:t>
            </a:r>
            <a:r>
              <a:rPr lang="en-US" sz="3200" i="1" dirty="0" err="1" smtClean="0"/>
              <a:t>hayop</a:t>
            </a:r>
            <a:r>
              <a:rPr lang="en-US" sz="3200" i="1" dirty="0" smtClean="0"/>
              <a:t> at </a:t>
            </a:r>
            <a:r>
              <a:rPr lang="en-US" sz="3200" i="1" dirty="0" err="1" smtClean="0"/>
              <a:t>malansang</a:t>
            </a:r>
            <a:r>
              <a:rPr lang="en-US" sz="3200" i="1" dirty="0" smtClean="0"/>
              <a:t> </a:t>
            </a:r>
            <a:r>
              <a:rPr lang="en-US" sz="3200" i="1" dirty="0" err="1" smtClean="0"/>
              <a:t>isda</a:t>
            </a:r>
            <a:r>
              <a:rPr lang="en-US" sz="3200" i="1" dirty="0" smtClean="0"/>
              <a:t>." </a:t>
            </a:r>
          </a:p>
          <a:p>
            <a:pPr>
              <a:buNone/>
            </a:pPr>
            <a:endParaRPr lang="en-US" sz="3200" i="1" dirty="0" smtClean="0"/>
          </a:p>
          <a:p>
            <a:pPr marL="1030288" indent="-290513">
              <a:buFont typeface="+mj-lt"/>
              <a:buAutoNum type="alphaUcPeriod"/>
            </a:pPr>
            <a:r>
              <a:rPr lang="en-US" sz="3200" dirty="0" smtClean="0"/>
              <a:t>Jose Rizal </a:t>
            </a:r>
          </a:p>
          <a:p>
            <a:pPr marL="1030288" indent="-290513">
              <a:buFont typeface="+mj-lt"/>
              <a:buAutoNum type="alphaUcPeriod"/>
            </a:pPr>
            <a:r>
              <a:rPr lang="en-US" sz="3200" dirty="0" smtClean="0"/>
              <a:t>Emilio Jacinta </a:t>
            </a:r>
          </a:p>
          <a:p>
            <a:pPr marL="1030288" indent="-290513">
              <a:buFont typeface="+mj-lt"/>
              <a:buAutoNum type="alphaUcPeriod"/>
            </a:pPr>
            <a:r>
              <a:rPr lang="en-US" sz="3200" dirty="0" err="1" smtClean="0"/>
              <a:t>Apolinario</a:t>
            </a:r>
            <a:r>
              <a:rPr lang="en-US" sz="3200" dirty="0" smtClean="0"/>
              <a:t> </a:t>
            </a:r>
            <a:r>
              <a:rPr lang="en-US" sz="3200" dirty="0" err="1" smtClean="0"/>
              <a:t>Mabini</a:t>
            </a:r>
            <a:endParaRPr lang="en-US" sz="3200" dirty="0" smtClean="0"/>
          </a:p>
          <a:p>
            <a:pPr marL="1030288" indent="-290513">
              <a:buFont typeface="+mj-lt"/>
              <a:buAutoNum type="alphaUcPeriod"/>
            </a:pPr>
            <a:r>
              <a:rPr lang="en-US" sz="3200" dirty="0" err="1" smtClean="0"/>
              <a:t>Graciano</a:t>
            </a:r>
            <a:r>
              <a:rPr lang="en-US" sz="3200" dirty="0" smtClean="0"/>
              <a:t> Lopez </a:t>
            </a:r>
            <a:r>
              <a:rPr lang="en-US" sz="3200" dirty="0" err="1" smtClean="0"/>
              <a:t>Jaena</a:t>
            </a:r>
            <a:endParaRPr lang="en-US" sz="3200" dirty="0" smtClean="0"/>
          </a:p>
          <a:p>
            <a:pPr>
              <a:buNone/>
            </a:pPr>
            <a:endParaRPr lang="en-US" sz="3200" dirty="0" smtClean="0"/>
          </a:p>
          <a:p>
            <a:pPr>
              <a:buNone/>
            </a:pPr>
            <a:endParaRPr lang="en-US" sz="32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695386" y="3980774"/>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533400"/>
            <a:ext cx="8229600" cy="5473891"/>
          </a:xfrm>
        </p:spPr>
        <p:txBody>
          <a:bodyPr>
            <a:normAutofit lnSpcReduction="10000"/>
          </a:bodyPr>
          <a:lstStyle/>
          <a:p>
            <a:pPr marL="739775" indent="-630238">
              <a:buNone/>
            </a:pPr>
            <a:r>
              <a:rPr lang="en-US" dirty="0" smtClean="0"/>
              <a:t>18. </a:t>
            </a:r>
            <a:r>
              <a:rPr lang="en-US" sz="3200" dirty="0" err="1" smtClean="0"/>
              <a:t>Alin</a:t>
            </a:r>
            <a:r>
              <a:rPr lang="en-US" sz="3200" dirty="0" smtClean="0"/>
              <a:t> </a:t>
            </a:r>
            <a:r>
              <a:rPr lang="en-US" sz="3200" dirty="0" err="1" smtClean="0"/>
              <a:t>sa</a:t>
            </a:r>
            <a:r>
              <a:rPr lang="en-US" sz="3200" dirty="0" smtClean="0"/>
              <a:t> </a:t>
            </a:r>
            <a:r>
              <a:rPr lang="en-US" sz="3200" dirty="0" err="1" smtClean="0"/>
              <a:t>mga</a:t>
            </a:r>
            <a:r>
              <a:rPr lang="en-US" sz="3200" dirty="0" smtClean="0"/>
              <a:t> </a:t>
            </a:r>
            <a:r>
              <a:rPr lang="en-US" sz="3200" dirty="0" err="1" smtClean="0"/>
              <a:t>sumusunod</a:t>
            </a:r>
            <a:r>
              <a:rPr lang="en-US" sz="3200" dirty="0" smtClean="0"/>
              <a:t> </a:t>
            </a:r>
            <a:r>
              <a:rPr lang="en-US" sz="3200" dirty="0" err="1" smtClean="0"/>
              <a:t>ang</a:t>
            </a:r>
            <a:r>
              <a:rPr lang="en-US" sz="3200" dirty="0" smtClean="0"/>
              <a:t> </a:t>
            </a:r>
            <a:r>
              <a:rPr lang="en-US" sz="3200" dirty="0" err="1" smtClean="0"/>
              <a:t>mensahe</a:t>
            </a:r>
            <a:r>
              <a:rPr lang="en-US" sz="3200" dirty="0" smtClean="0"/>
              <a:t> </a:t>
            </a:r>
            <a:r>
              <a:rPr lang="en-US" sz="3200" dirty="0" err="1" smtClean="0"/>
              <a:t>ng</a:t>
            </a:r>
            <a:r>
              <a:rPr lang="en-US" sz="3200" dirty="0" smtClean="0"/>
              <a:t> </a:t>
            </a:r>
            <a:r>
              <a:rPr lang="en-US" sz="3200" dirty="0" err="1" smtClean="0"/>
              <a:t>epiko</a:t>
            </a:r>
            <a:r>
              <a:rPr lang="en-US" sz="3200" dirty="0" smtClean="0"/>
              <a:t> </a:t>
            </a:r>
            <a:r>
              <a:rPr lang="en-US" sz="3200" dirty="0" err="1" smtClean="0"/>
              <a:t>ng</a:t>
            </a:r>
            <a:r>
              <a:rPr lang="en-US" sz="3200" dirty="0" smtClean="0"/>
              <a:t> </a:t>
            </a:r>
            <a:r>
              <a:rPr lang="en-US" sz="3200" dirty="0" err="1" smtClean="0"/>
              <a:t>IIokano</a:t>
            </a:r>
            <a:r>
              <a:rPr lang="en-US" sz="3200" dirty="0" smtClean="0"/>
              <a:t> </a:t>
            </a:r>
            <a:r>
              <a:rPr lang="en-US" sz="3200" dirty="0" err="1" smtClean="0"/>
              <a:t>na</a:t>
            </a:r>
            <a:r>
              <a:rPr lang="en-US" sz="3200" dirty="0" smtClean="0"/>
              <a:t> BIAG NI LAM-ANG? </a:t>
            </a:r>
            <a:endParaRPr lang="en-US" dirty="0" smtClean="0"/>
          </a:p>
          <a:p>
            <a:pPr marL="1030288" lvl="0" indent="-347663">
              <a:buFont typeface="+mj-lt"/>
              <a:buAutoNum type="alphaUcPeriod"/>
            </a:pPr>
            <a:r>
              <a:rPr lang="en-US" dirty="0" err="1" smtClean="0"/>
              <a:t>Pinatutunayan</a:t>
            </a:r>
            <a:r>
              <a:rPr lang="en-US" dirty="0" smtClean="0"/>
              <a:t> </a:t>
            </a:r>
            <a:r>
              <a:rPr lang="en-US" dirty="0" err="1" smtClean="0"/>
              <a:t>ng</a:t>
            </a:r>
            <a:r>
              <a:rPr lang="en-US" dirty="0" smtClean="0"/>
              <a:t> </a:t>
            </a:r>
            <a:r>
              <a:rPr lang="en-US" dirty="0" err="1" smtClean="0"/>
              <a:t>epiko</a:t>
            </a:r>
            <a:r>
              <a:rPr lang="en-US" dirty="0" smtClean="0"/>
              <a:t> </a:t>
            </a:r>
            <a:r>
              <a:rPr lang="en-US" dirty="0" err="1" smtClean="0"/>
              <a:t>ang</a:t>
            </a:r>
            <a:r>
              <a:rPr lang="en-US" dirty="0" smtClean="0"/>
              <a:t> </a:t>
            </a:r>
            <a:r>
              <a:rPr lang="en-US" dirty="0" err="1" smtClean="0"/>
              <a:t>yaman</a:t>
            </a:r>
            <a:r>
              <a:rPr lang="en-US" dirty="0" smtClean="0"/>
              <a:t> </a:t>
            </a:r>
            <a:r>
              <a:rPr lang="en-US" dirty="0" err="1" smtClean="0"/>
              <a:t>ng</a:t>
            </a:r>
            <a:r>
              <a:rPr lang="en-US" dirty="0" smtClean="0"/>
              <a:t> </a:t>
            </a:r>
            <a:r>
              <a:rPr lang="en-US" dirty="0" err="1" smtClean="0"/>
              <a:t>Ilokano</a:t>
            </a:r>
            <a:r>
              <a:rPr lang="en-US" dirty="0" smtClean="0"/>
              <a:t> </a:t>
            </a:r>
            <a:r>
              <a:rPr lang="en-US" dirty="0" err="1" smtClean="0"/>
              <a:t>sa</a:t>
            </a:r>
            <a:r>
              <a:rPr lang="en-US" dirty="0" smtClean="0"/>
              <a:t> </a:t>
            </a:r>
            <a:r>
              <a:rPr lang="en-US" dirty="0" err="1" smtClean="0"/>
              <a:t>lahat</a:t>
            </a:r>
            <a:r>
              <a:rPr lang="en-US" dirty="0" smtClean="0"/>
              <a:t> </a:t>
            </a:r>
            <a:r>
              <a:rPr lang="en-US" dirty="0" err="1" smtClean="0"/>
              <a:t>ng</a:t>
            </a:r>
            <a:r>
              <a:rPr lang="en-US" dirty="0" smtClean="0"/>
              <a:t> </a:t>
            </a:r>
            <a:r>
              <a:rPr lang="en-US" dirty="0" err="1" smtClean="0"/>
              <a:t>bagay</a:t>
            </a:r>
            <a:r>
              <a:rPr lang="en-US" dirty="0" smtClean="0"/>
              <a:t>. </a:t>
            </a:r>
          </a:p>
          <a:p>
            <a:pPr marL="1030288" lvl="0" indent="-347663">
              <a:buFont typeface="+mj-lt"/>
              <a:buAutoNum type="alphaUcPeriod"/>
            </a:pPr>
            <a:r>
              <a:rPr lang="en-US" dirty="0" err="1" smtClean="0"/>
              <a:t>Kailangan</a:t>
            </a:r>
            <a:r>
              <a:rPr lang="en-US" dirty="0" smtClean="0"/>
              <a:t> </a:t>
            </a:r>
            <a:r>
              <a:rPr lang="en-US" dirty="0" err="1" smtClean="0"/>
              <a:t>paniniwalaan</a:t>
            </a:r>
            <a:r>
              <a:rPr lang="en-US" dirty="0" smtClean="0"/>
              <a:t> </a:t>
            </a:r>
            <a:r>
              <a:rPr lang="en-US" dirty="0" err="1" smtClean="0"/>
              <a:t>ang</a:t>
            </a:r>
            <a:r>
              <a:rPr lang="en-US" dirty="0" smtClean="0"/>
              <a:t> </a:t>
            </a:r>
            <a:r>
              <a:rPr lang="en-US" dirty="0" err="1" smtClean="0"/>
              <a:t>ukol</a:t>
            </a:r>
            <a:r>
              <a:rPr lang="en-US" dirty="0" smtClean="0"/>
              <a:t> </a:t>
            </a:r>
            <a:r>
              <a:rPr lang="en-US" dirty="0" err="1" smtClean="0"/>
              <a:t>sa</a:t>
            </a:r>
            <a:r>
              <a:rPr lang="en-US" dirty="0" smtClean="0"/>
              <a:t> </a:t>
            </a:r>
            <a:r>
              <a:rPr lang="en-US" dirty="0" err="1" smtClean="0"/>
              <a:t>bisa</a:t>
            </a:r>
            <a:r>
              <a:rPr lang="en-US" dirty="0" smtClean="0"/>
              <a:t> </a:t>
            </a:r>
            <a:r>
              <a:rPr lang="en-US" dirty="0" err="1" smtClean="0"/>
              <a:t>ng</a:t>
            </a:r>
            <a:r>
              <a:rPr lang="en-US" dirty="0" smtClean="0"/>
              <a:t> </a:t>
            </a:r>
            <a:r>
              <a:rPr lang="en-US" dirty="0" err="1" smtClean="0"/>
              <a:t>mga</a:t>
            </a:r>
            <a:r>
              <a:rPr lang="en-US" dirty="0" smtClean="0"/>
              <a:t> </a:t>
            </a:r>
            <a:r>
              <a:rPr lang="en-US" dirty="0" err="1" smtClean="0"/>
              <a:t>anting-anting</a:t>
            </a:r>
            <a:r>
              <a:rPr lang="en-US" dirty="0" smtClean="0"/>
              <a:t> </a:t>
            </a:r>
            <a:r>
              <a:rPr lang="en-US" dirty="0" err="1" smtClean="0"/>
              <a:t>dahil</a:t>
            </a:r>
            <a:r>
              <a:rPr lang="en-US" dirty="0" smtClean="0"/>
              <a:t> </a:t>
            </a:r>
            <a:r>
              <a:rPr lang="en-US" dirty="0" err="1" smtClean="0"/>
              <a:t>sa</a:t>
            </a:r>
            <a:r>
              <a:rPr lang="en-US" dirty="0" smtClean="0"/>
              <a:t> </a:t>
            </a:r>
            <a:r>
              <a:rPr lang="en-US" dirty="0" err="1" smtClean="0"/>
              <a:t>mga</a:t>
            </a:r>
            <a:r>
              <a:rPr lang="en-US" dirty="0" smtClean="0"/>
              <a:t>   </a:t>
            </a:r>
            <a:r>
              <a:rPr lang="en-US" dirty="0" err="1" smtClean="0"/>
              <a:t>pangyayaring</a:t>
            </a:r>
            <a:r>
              <a:rPr lang="en-US" dirty="0" smtClean="0"/>
              <a:t> </a:t>
            </a:r>
            <a:r>
              <a:rPr lang="en-US" dirty="0" err="1" smtClean="0"/>
              <a:t>nagpapatunay</a:t>
            </a:r>
            <a:r>
              <a:rPr lang="en-US" dirty="0" smtClean="0"/>
              <a:t> </a:t>
            </a:r>
            <a:r>
              <a:rPr lang="en-US" dirty="0" err="1" smtClean="0"/>
              <a:t>dito</a:t>
            </a:r>
            <a:r>
              <a:rPr lang="en-US" dirty="0" smtClean="0"/>
              <a:t>.</a:t>
            </a:r>
          </a:p>
          <a:p>
            <a:pPr marL="1030288" lvl="0" indent="-347663">
              <a:buFont typeface="+mj-lt"/>
              <a:buAutoNum type="alphaUcPeriod"/>
            </a:pPr>
            <a:r>
              <a:rPr lang="en-US" dirty="0" err="1" smtClean="0"/>
              <a:t>Dito</a:t>
            </a:r>
            <a:r>
              <a:rPr lang="en-US" dirty="0" smtClean="0"/>
              <a:t> </a:t>
            </a:r>
            <a:r>
              <a:rPr lang="en-US" dirty="0" err="1" smtClean="0"/>
              <a:t>nagpapatunay</a:t>
            </a:r>
            <a:r>
              <a:rPr lang="en-US" dirty="0" smtClean="0"/>
              <a:t> </a:t>
            </a:r>
            <a:r>
              <a:rPr lang="en-US" dirty="0" err="1" smtClean="0"/>
              <a:t>na</a:t>
            </a:r>
            <a:r>
              <a:rPr lang="en-US" dirty="0" smtClean="0"/>
              <a:t> </a:t>
            </a:r>
            <a:r>
              <a:rPr lang="en-US" dirty="0" err="1" smtClean="0"/>
              <a:t>walang</a:t>
            </a:r>
            <a:r>
              <a:rPr lang="en-US" dirty="0" smtClean="0"/>
              <a:t> </a:t>
            </a:r>
            <a:r>
              <a:rPr lang="en-US" dirty="0" err="1" smtClean="0"/>
              <a:t>kamatayan</a:t>
            </a:r>
            <a:r>
              <a:rPr lang="en-US" dirty="0" smtClean="0"/>
              <a:t>. </a:t>
            </a:r>
          </a:p>
          <a:p>
            <a:pPr marL="1030288" lvl="0" indent="-347663">
              <a:buFont typeface="+mj-lt"/>
              <a:buAutoNum type="alphaUcPeriod"/>
            </a:pPr>
            <a:r>
              <a:rPr lang="en-US" dirty="0" err="1" smtClean="0"/>
              <a:t>Masasalat</a:t>
            </a:r>
            <a:r>
              <a:rPr lang="en-US" dirty="0" smtClean="0"/>
              <a:t> </a:t>
            </a:r>
            <a:r>
              <a:rPr lang="en-US" dirty="0" err="1" smtClean="0"/>
              <a:t>ang</a:t>
            </a:r>
            <a:r>
              <a:rPr lang="en-US" dirty="0" smtClean="0"/>
              <a:t> </a:t>
            </a:r>
            <a:r>
              <a:rPr lang="en-US" dirty="0" err="1" smtClean="0"/>
              <a:t>mga</a:t>
            </a:r>
            <a:r>
              <a:rPr lang="en-US" dirty="0" smtClean="0"/>
              <a:t> </a:t>
            </a:r>
            <a:r>
              <a:rPr lang="en-US" dirty="0" err="1" smtClean="0"/>
              <a:t>katutubong</a:t>
            </a:r>
            <a:r>
              <a:rPr lang="en-US" dirty="0" smtClean="0"/>
              <a:t> </a:t>
            </a:r>
            <a:r>
              <a:rPr lang="en-US" dirty="0" err="1" smtClean="0"/>
              <a:t>ugali</a:t>
            </a:r>
            <a:r>
              <a:rPr lang="en-US" dirty="0" smtClean="0"/>
              <a:t> at </a:t>
            </a:r>
            <a:r>
              <a:rPr lang="en-US" dirty="0" err="1" smtClean="0"/>
              <a:t>mga</a:t>
            </a:r>
            <a:r>
              <a:rPr lang="en-US" dirty="0" smtClean="0"/>
              <a:t> </a:t>
            </a:r>
            <a:r>
              <a:rPr lang="en-US" dirty="0" err="1" smtClean="0"/>
              <a:t>tradisyong</a:t>
            </a:r>
            <a:r>
              <a:rPr lang="en-US" dirty="0" smtClean="0"/>
              <a:t> </a:t>
            </a:r>
            <a:r>
              <a:rPr lang="en-US" dirty="0" err="1" smtClean="0"/>
              <a:t>dapat</a:t>
            </a:r>
            <a:r>
              <a:rPr lang="en-US" dirty="0" smtClean="0"/>
              <a:t> </a:t>
            </a:r>
            <a:r>
              <a:rPr lang="en-US" dirty="0" err="1" smtClean="0"/>
              <a:t>pagyamanin</a:t>
            </a:r>
            <a:r>
              <a:rPr lang="en-US" dirty="0" smtClean="0"/>
              <a:t> at </a:t>
            </a:r>
            <a:r>
              <a:rPr lang="en-US" dirty="0" err="1" smtClean="0"/>
              <a:t>panatilihin</a:t>
            </a:r>
            <a:r>
              <a:rPr lang="en-US" dirty="0" smtClean="0"/>
              <a:t> </a:t>
            </a:r>
            <a:r>
              <a:rPr lang="en-US" dirty="0" err="1" smtClean="0"/>
              <a:t>upang</a:t>
            </a:r>
            <a:r>
              <a:rPr lang="en-US" dirty="0" smtClean="0"/>
              <a:t> </a:t>
            </a:r>
            <a:r>
              <a:rPr lang="en-US" dirty="0" err="1" smtClean="0"/>
              <a:t>pakinabangan</a:t>
            </a:r>
            <a:r>
              <a:rPr lang="en-US" dirty="0" smtClean="0"/>
              <a:t> </a:t>
            </a:r>
            <a:r>
              <a:rPr lang="en-US" dirty="0" err="1" smtClean="0"/>
              <a:t>ng</a:t>
            </a:r>
            <a:r>
              <a:rPr lang="en-US" dirty="0" smtClean="0"/>
              <a:t> </a:t>
            </a:r>
            <a:r>
              <a:rPr lang="en-US" dirty="0" err="1" smtClean="0"/>
              <a:t>kabataan</a:t>
            </a:r>
            <a:r>
              <a:rPr lang="en-US" dirty="0" smtClean="0"/>
              <a:t>.</a:t>
            </a:r>
          </a:p>
          <a:p>
            <a:pPr marL="739775" indent="-630238">
              <a:buNone/>
            </a:pPr>
            <a:endParaRPr lang="en-US" dirty="0"/>
          </a:p>
        </p:txBody>
      </p:sp>
      <p:pic>
        <p:nvPicPr>
          <p:cNvPr id="3"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466784" y="44379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990600"/>
            <a:ext cx="8534400" cy="4525963"/>
          </a:xfrm>
        </p:spPr>
        <p:txBody>
          <a:bodyPr>
            <a:normAutofit/>
          </a:bodyPr>
          <a:lstStyle/>
          <a:p>
            <a:pPr marL="739775" indent="-630238">
              <a:buNone/>
            </a:pPr>
            <a:r>
              <a:rPr lang="en-US" sz="3200" dirty="0" smtClean="0"/>
              <a:t>19. Si Mariano Ponce ay </a:t>
            </a:r>
            <a:r>
              <a:rPr lang="en-US" sz="3200" dirty="0" err="1" smtClean="0"/>
              <a:t>propagandistang</a:t>
            </a:r>
            <a:r>
              <a:rPr lang="en-US" sz="3200" dirty="0" smtClean="0"/>
              <a:t> may </a:t>
            </a:r>
            <a:r>
              <a:rPr lang="en-US" sz="3200" dirty="0" err="1" smtClean="0"/>
              <a:t>sagisag</a:t>
            </a:r>
            <a:r>
              <a:rPr lang="en-US" sz="3200" dirty="0" smtClean="0"/>
              <a:t> </a:t>
            </a:r>
            <a:r>
              <a:rPr lang="en-US" sz="3200" dirty="0" err="1" smtClean="0"/>
              <a:t>sa</a:t>
            </a:r>
            <a:r>
              <a:rPr lang="en-US" sz="3200" dirty="0" smtClean="0"/>
              <a:t> </a:t>
            </a:r>
            <a:r>
              <a:rPr lang="en-US" sz="3200" dirty="0" err="1" smtClean="0"/>
              <a:t>panulat</a:t>
            </a:r>
            <a:r>
              <a:rPr lang="en-US" sz="3200" dirty="0" smtClean="0"/>
              <a:t> </a:t>
            </a:r>
            <a:r>
              <a:rPr lang="en-US" sz="3200" dirty="0" err="1" smtClean="0"/>
              <a:t>na</a:t>
            </a:r>
            <a:endParaRPr lang="en-US" sz="3200" dirty="0" smtClean="0"/>
          </a:p>
          <a:p>
            <a:pPr marL="739775" indent="-630238">
              <a:buNone/>
            </a:pPr>
            <a:endParaRPr lang="en-US" sz="3200" dirty="0" smtClean="0"/>
          </a:p>
          <a:p>
            <a:pPr marL="739775" indent="0">
              <a:buFont typeface="+mj-lt"/>
              <a:buAutoNum type="alphaUcPeriod"/>
            </a:pPr>
            <a:r>
              <a:rPr lang="en-US" sz="3200" dirty="0" smtClean="0"/>
              <a:t> </a:t>
            </a:r>
            <a:r>
              <a:rPr lang="en-US" sz="3200" dirty="0" err="1" smtClean="0"/>
              <a:t>Tamaraw</a:t>
            </a:r>
            <a:endParaRPr lang="en-US" sz="3200" dirty="0" smtClean="0"/>
          </a:p>
          <a:p>
            <a:pPr marL="739775" indent="0">
              <a:buFont typeface="+mj-lt"/>
              <a:buAutoNum type="alphaUcPeriod"/>
            </a:pPr>
            <a:r>
              <a:rPr lang="en-US" sz="3200" dirty="0" smtClean="0"/>
              <a:t> </a:t>
            </a:r>
            <a:r>
              <a:rPr lang="en-US" sz="3200" dirty="0" err="1" smtClean="0"/>
              <a:t>Kapre</a:t>
            </a:r>
            <a:endParaRPr lang="en-US" sz="3200" dirty="0" smtClean="0"/>
          </a:p>
          <a:p>
            <a:pPr marL="739775" indent="0">
              <a:buFont typeface="+mj-lt"/>
              <a:buAutoNum type="alphaUcPeriod"/>
            </a:pPr>
            <a:r>
              <a:rPr lang="en-US" sz="3200" dirty="0" smtClean="0"/>
              <a:t> </a:t>
            </a:r>
            <a:r>
              <a:rPr lang="en-US" sz="3200" dirty="0" err="1" smtClean="0"/>
              <a:t>Tikbalang</a:t>
            </a:r>
            <a:endParaRPr lang="en-US" sz="3200" dirty="0" smtClean="0"/>
          </a:p>
          <a:p>
            <a:pPr marL="739775" indent="0">
              <a:buFont typeface="+mj-lt"/>
              <a:buAutoNum type="alphaUcPeriod"/>
            </a:pPr>
            <a:r>
              <a:rPr lang="en-US" sz="3200" dirty="0" smtClean="0"/>
              <a:t> </a:t>
            </a:r>
            <a:r>
              <a:rPr lang="en-US" sz="3200" dirty="0" err="1" smtClean="0"/>
              <a:t>Kalapate</a:t>
            </a:r>
            <a:r>
              <a:rPr lang="en-US" sz="3200" dirty="0" smtClean="0"/>
              <a:t> </a:t>
            </a:r>
            <a:endParaRPr lang="en-US" sz="3200" dirty="0"/>
          </a:p>
        </p:txBody>
      </p:sp>
      <p:pic>
        <p:nvPicPr>
          <p:cNvPr id="4" name="Picture 4" descr="C:\Documents and Settings\Administrator\Desktop\hand_right.gif"/>
          <p:cNvPicPr>
            <a:picLocks noChangeAspect="1" noChangeArrowheads="1" noCrop="1"/>
          </p:cNvPicPr>
          <p:nvPr/>
        </p:nvPicPr>
        <p:blipFill>
          <a:blip r:embed="rId3">
            <a:extLst>
              <a:ext uri="{28A0092B-C50C-407E-A947-70E740481C1C}">
                <a14:useLocalDpi xmlns="" xmlns:a14="http://schemas.microsoft.com/office/drawing/2010/main" val="0"/>
              </a:ext>
            </a:extLst>
          </a:blip>
          <a:srcRect/>
          <a:stretch>
            <a:fillRect/>
          </a:stretch>
        </p:blipFill>
        <p:spPr bwMode="auto">
          <a:xfrm rot="21434720">
            <a:off x="542984" y="38283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600" y="1295400"/>
            <a:ext cx="8229600" cy="4525963"/>
          </a:xfrm>
        </p:spPr>
        <p:txBody>
          <a:bodyPr/>
          <a:lstStyle/>
          <a:p>
            <a:pPr>
              <a:buNone/>
            </a:pPr>
            <a:r>
              <a:rPr lang="en-US" dirty="0" smtClean="0"/>
              <a:t>	</a:t>
            </a:r>
            <a:r>
              <a:rPr lang="en-US" b="1" dirty="0" smtClean="0"/>
              <a:t>Dr. Jose Rizal </a:t>
            </a:r>
            <a:r>
              <a:rPr lang="en-US" dirty="0" smtClean="0"/>
              <a:t>- </a:t>
            </a:r>
            <a:r>
              <a:rPr lang="en-US" dirty="0" err="1" smtClean="0"/>
              <a:t>Dimasalang</a:t>
            </a:r>
            <a:r>
              <a:rPr lang="en-US" dirty="0" smtClean="0"/>
              <a:t> at </a:t>
            </a:r>
            <a:r>
              <a:rPr lang="en-US" dirty="0" err="1" smtClean="0"/>
              <a:t>Laong</a:t>
            </a:r>
            <a:r>
              <a:rPr lang="en-US" dirty="0" smtClean="0"/>
              <a:t> </a:t>
            </a:r>
            <a:r>
              <a:rPr lang="en-US" dirty="0" err="1" smtClean="0"/>
              <a:t>Laan</a:t>
            </a:r>
            <a:r>
              <a:rPr lang="en-US" dirty="0" smtClean="0"/>
              <a:t> </a:t>
            </a:r>
            <a:br>
              <a:rPr lang="en-US" dirty="0" smtClean="0"/>
            </a:br>
            <a:r>
              <a:rPr lang="en-US" b="1" dirty="0" smtClean="0"/>
              <a:t>Marcelo del </a:t>
            </a:r>
            <a:r>
              <a:rPr lang="en-US" b="1" dirty="0" err="1" smtClean="0"/>
              <a:t>Pilar</a:t>
            </a:r>
            <a:r>
              <a:rPr lang="en-US" dirty="0" smtClean="0"/>
              <a:t>- </a:t>
            </a:r>
            <a:r>
              <a:rPr lang="en-US" dirty="0" err="1" smtClean="0"/>
              <a:t>Plaridel</a:t>
            </a:r>
            <a:r>
              <a:rPr lang="en-US" dirty="0" smtClean="0"/>
              <a:t> at </a:t>
            </a:r>
            <a:r>
              <a:rPr lang="en-US" dirty="0" err="1" smtClean="0"/>
              <a:t>Dolares</a:t>
            </a:r>
            <a:r>
              <a:rPr lang="en-US" dirty="0" smtClean="0"/>
              <a:t> </a:t>
            </a:r>
            <a:r>
              <a:rPr lang="en-US" dirty="0" err="1" smtClean="0"/>
              <a:t>Manapat</a:t>
            </a:r>
            <a:r>
              <a:rPr lang="en-US" dirty="0" smtClean="0"/>
              <a:t/>
            </a:r>
            <a:br>
              <a:rPr lang="en-US" dirty="0" smtClean="0"/>
            </a:br>
            <a:r>
              <a:rPr lang="en-US" b="1" dirty="0" err="1" smtClean="0"/>
              <a:t>Graciano</a:t>
            </a:r>
            <a:r>
              <a:rPr lang="en-US" b="1" dirty="0" smtClean="0"/>
              <a:t> Lopez-</a:t>
            </a:r>
            <a:r>
              <a:rPr lang="en-US" b="1" dirty="0" err="1" smtClean="0"/>
              <a:t>Jaena</a:t>
            </a:r>
            <a:r>
              <a:rPr lang="en-US" dirty="0" smtClean="0"/>
              <a:t>- Diego Laura</a:t>
            </a:r>
            <a:br>
              <a:rPr lang="en-US" dirty="0" smtClean="0"/>
            </a:br>
            <a:r>
              <a:rPr lang="en-US" b="1" dirty="0" smtClean="0"/>
              <a:t>Mariano Ponce</a:t>
            </a:r>
            <a:r>
              <a:rPr lang="en-US" dirty="0" smtClean="0"/>
              <a:t>-</a:t>
            </a:r>
            <a:r>
              <a:rPr lang="en-US" dirty="0" err="1" smtClean="0"/>
              <a:t>Tikbalang</a:t>
            </a:r>
            <a:r>
              <a:rPr lang="en-US" dirty="0" smtClean="0"/>
              <a:t>, </a:t>
            </a:r>
            <a:r>
              <a:rPr lang="en-US" dirty="0" err="1" smtClean="0"/>
              <a:t>Naning</a:t>
            </a:r>
            <a:r>
              <a:rPr lang="en-US" dirty="0" smtClean="0"/>
              <a:t> at </a:t>
            </a:r>
            <a:r>
              <a:rPr lang="en-US" dirty="0" err="1" smtClean="0"/>
              <a:t>Kalipulako</a:t>
            </a:r>
            <a:r>
              <a:rPr lang="en-US" dirty="0" smtClean="0"/>
              <a:t/>
            </a:r>
            <a:br>
              <a:rPr lang="en-US" dirty="0" smtClean="0"/>
            </a:br>
            <a:r>
              <a:rPr lang="en-US" b="1" dirty="0" smtClean="0"/>
              <a:t>Antonio Luna</a:t>
            </a:r>
            <a:r>
              <a:rPr lang="en-US" dirty="0" smtClean="0"/>
              <a:t>-</a:t>
            </a:r>
            <a:r>
              <a:rPr lang="en-US" dirty="0" err="1" smtClean="0"/>
              <a:t>Taga</a:t>
            </a:r>
            <a:r>
              <a:rPr lang="en-US" dirty="0" smtClean="0"/>
              <a:t>-</a:t>
            </a:r>
            <a:r>
              <a:rPr lang="en-US" dirty="0" err="1" smtClean="0"/>
              <a:t>ilog</a:t>
            </a:r>
            <a:r>
              <a:rPr lang="en-US" dirty="0" smtClean="0"/>
              <a:t/>
            </a:r>
            <a:br>
              <a:rPr lang="en-US" dirty="0" smtClean="0"/>
            </a:br>
            <a:r>
              <a:rPr lang="en-US" b="1" dirty="0" smtClean="0"/>
              <a:t>Jose Maria </a:t>
            </a:r>
            <a:r>
              <a:rPr lang="en-US" b="1" dirty="0" err="1" smtClean="0"/>
              <a:t>Panganiban</a:t>
            </a:r>
            <a:r>
              <a:rPr lang="en-US" dirty="0" smtClean="0"/>
              <a:t>- </a:t>
            </a:r>
            <a:r>
              <a:rPr lang="en-US" dirty="0" err="1" smtClean="0"/>
              <a:t>Jomapa</a:t>
            </a:r>
            <a:endParaRPr lang="en-US" dirty="0"/>
          </a:p>
        </p:txBody>
      </p:sp>
    </p:spTree>
  </p:cSld>
  <p:clrMapOvr>
    <a:masterClrMapping/>
  </p:clrMapOvr>
  <p:transition>
    <p:push/>
  </p:transition>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762000"/>
            <a:ext cx="8458200" cy="5181600"/>
          </a:xfrm>
        </p:spPr>
        <p:txBody>
          <a:bodyPr>
            <a:normAutofit/>
          </a:bodyPr>
          <a:lstStyle/>
          <a:p>
            <a:pPr marL="739775" indent="-630238">
              <a:buNone/>
            </a:pPr>
            <a:r>
              <a:rPr lang="en-US" dirty="0" smtClean="0"/>
              <a:t>20. </a:t>
            </a:r>
            <a:r>
              <a:rPr lang="en-US" sz="3200" dirty="0" err="1" smtClean="0"/>
              <a:t>Anong</a:t>
            </a:r>
            <a:r>
              <a:rPr lang="en-US" sz="3200" dirty="0" smtClean="0"/>
              <a:t> </a:t>
            </a:r>
            <a:r>
              <a:rPr lang="en-US" sz="3200" dirty="0" err="1" smtClean="0"/>
              <a:t>aral</a:t>
            </a:r>
            <a:r>
              <a:rPr lang="en-US" sz="3200" dirty="0" smtClean="0"/>
              <a:t> </a:t>
            </a:r>
            <a:r>
              <a:rPr lang="en-US" sz="3200" dirty="0" err="1" smtClean="0"/>
              <a:t>ang</a:t>
            </a:r>
            <a:r>
              <a:rPr lang="en-US" sz="3200" dirty="0" smtClean="0"/>
              <a:t> </a:t>
            </a:r>
            <a:r>
              <a:rPr lang="en-US" sz="3200" dirty="0" err="1" smtClean="0"/>
              <a:t>ibinibigay</a:t>
            </a:r>
            <a:r>
              <a:rPr lang="en-US" sz="3200" dirty="0" smtClean="0"/>
              <a:t> </a:t>
            </a:r>
            <a:r>
              <a:rPr lang="en-US" sz="3200" dirty="0" err="1" smtClean="0"/>
              <a:t>ng</a:t>
            </a:r>
            <a:r>
              <a:rPr lang="en-US" sz="3200" dirty="0" smtClean="0"/>
              <a:t> </a:t>
            </a:r>
            <a:r>
              <a:rPr lang="en-US" sz="3200" dirty="0" err="1" smtClean="0"/>
              <a:t>sumusunod</a:t>
            </a:r>
            <a:r>
              <a:rPr lang="en-US" sz="3200" dirty="0" smtClean="0"/>
              <a:t> </a:t>
            </a:r>
            <a:r>
              <a:rPr lang="en-US" sz="3200" dirty="0" err="1" smtClean="0"/>
              <a:t>na</a:t>
            </a:r>
            <a:r>
              <a:rPr lang="en-US" sz="3200" dirty="0" smtClean="0"/>
              <a:t> </a:t>
            </a:r>
            <a:r>
              <a:rPr lang="en-US" sz="3200" dirty="0" err="1" smtClean="0"/>
              <a:t>salawikain</a:t>
            </a:r>
            <a:r>
              <a:rPr lang="en-US" sz="3200" dirty="0" smtClean="0"/>
              <a:t>? </a:t>
            </a:r>
            <a:endParaRPr lang="en-US" dirty="0" smtClean="0"/>
          </a:p>
          <a:p>
            <a:pPr>
              <a:buNone/>
            </a:pPr>
            <a:r>
              <a:rPr lang="en-US" i="1" dirty="0" smtClean="0"/>
              <a:t>			"</a:t>
            </a:r>
            <a:r>
              <a:rPr lang="en-US" i="1" dirty="0" err="1" smtClean="0"/>
              <a:t>Ang</a:t>
            </a:r>
            <a:r>
              <a:rPr lang="en-US" i="1" dirty="0" smtClean="0"/>
              <a:t> </a:t>
            </a:r>
            <a:r>
              <a:rPr lang="en-US" i="1" dirty="0" err="1" smtClean="0"/>
              <a:t>taong</a:t>
            </a:r>
            <a:r>
              <a:rPr lang="en-US" i="1" dirty="0" smtClean="0"/>
              <a:t> </a:t>
            </a:r>
            <a:r>
              <a:rPr lang="en-US" i="1" dirty="0" err="1" smtClean="0"/>
              <a:t>napapailalim</a:t>
            </a:r>
            <a:r>
              <a:rPr lang="en-US" i="1" dirty="0" smtClean="0"/>
              <a:t>, ay </a:t>
            </a:r>
            <a:r>
              <a:rPr lang="en-US" i="1" dirty="0" err="1" smtClean="0"/>
              <a:t>naipapaibabaw</a:t>
            </a:r>
            <a:r>
              <a:rPr lang="en-US" i="1" dirty="0" smtClean="0"/>
              <a:t> </a:t>
            </a:r>
            <a:r>
              <a:rPr lang="en-US" i="1" dirty="0" err="1" smtClean="0"/>
              <a:t>rin</a:t>
            </a:r>
            <a:r>
              <a:rPr lang="en-US" i="1" dirty="0" smtClean="0"/>
              <a:t>." </a:t>
            </a:r>
          </a:p>
          <a:p>
            <a:pPr>
              <a:buNone/>
            </a:pPr>
            <a:endParaRPr lang="en-US" i="1" dirty="0" smtClean="0"/>
          </a:p>
          <a:p>
            <a:pPr marL="1089025" lvl="0" indent="-349250">
              <a:buFont typeface="+mj-lt"/>
              <a:buAutoNum type="alphaUcPeriod"/>
            </a:pPr>
            <a:r>
              <a:rPr lang="en-US" dirty="0" err="1" smtClean="0"/>
              <a:t>Maaring</a:t>
            </a:r>
            <a:r>
              <a:rPr lang="en-US" dirty="0" smtClean="0"/>
              <a:t> </a:t>
            </a:r>
            <a:r>
              <a:rPr lang="en-US" dirty="0" err="1" smtClean="0"/>
              <a:t>ngayon</a:t>
            </a:r>
            <a:r>
              <a:rPr lang="en-US" dirty="0" smtClean="0"/>
              <a:t> ay </a:t>
            </a:r>
            <a:r>
              <a:rPr lang="en-US" dirty="0" err="1" smtClean="0"/>
              <a:t>hirap</a:t>
            </a:r>
            <a:r>
              <a:rPr lang="en-US" dirty="0" smtClean="0"/>
              <a:t> </a:t>
            </a:r>
            <a:r>
              <a:rPr lang="en-US" dirty="0" err="1" smtClean="0"/>
              <a:t>pagdating</a:t>
            </a:r>
            <a:r>
              <a:rPr lang="en-US" dirty="0" smtClean="0"/>
              <a:t> </a:t>
            </a:r>
            <a:r>
              <a:rPr lang="en-US" dirty="0" err="1" smtClean="0"/>
              <a:t>ng</a:t>
            </a:r>
            <a:r>
              <a:rPr lang="en-US" dirty="0" smtClean="0"/>
              <a:t> </a:t>
            </a:r>
            <a:r>
              <a:rPr lang="en-US" dirty="0" err="1" smtClean="0"/>
              <a:t>bukas</a:t>
            </a:r>
            <a:r>
              <a:rPr lang="en-US" dirty="0" smtClean="0"/>
              <a:t> ay may </a:t>
            </a:r>
            <a:r>
              <a:rPr lang="en-US" dirty="0" err="1" smtClean="0"/>
              <a:t>ginhawa</a:t>
            </a:r>
            <a:r>
              <a:rPr lang="en-US" dirty="0" smtClean="0"/>
              <a:t> </a:t>
            </a:r>
            <a:r>
              <a:rPr lang="en-US" dirty="0" err="1" smtClean="0"/>
              <a:t>rin</a:t>
            </a:r>
            <a:r>
              <a:rPr lang="en-US" dirty="0" smtClean="0"/>
              <a:t>.</a:t>
            </a:r>
          </a:p>
          <a:p>
            <a:pPr marL="1089025" lvl="0" indent="-349250">
              <a:buFont typeface="+mj-lt"/>
              <a:buAutoNum type="alphaUcPeriod"/>
            </a:pPr>
            <a:r>
              <a:rPr lang="en-US" dirty="0" err="1" smtClean="0"/>
              <a:t>Tiyak</a:t>
            </a:r>
            <a:r>
              <a:rPr lang="en-US" dirty="0" smtClean="0"/>
              <a:t> </a:t>
            </a:r>
            <a:r>
              <a:rPr lang="en-US" dirty="0" err="1" smtClean="0"/>
              <a:t>ang</a:t>
            </a:r>
            <a:r>
              <a:rPr lang="en-US" dirty="0" smtClean="0"/>
              <a:t> </a:t>
            </a:r>
            <a:r>
              <a:rPr lang="en-US" dirty="0" err="1" smtClean="0"/>
              <a:t>pag-unlad</a:t>
            </a:r>
            <a:r>
              <a:rPr lang="en-US" dirty="0" smtClean="0"/>
              <a:t> </a:t>
            </a:r>
            <a:r>
              <a:rPr lang="en-US" dirty="0" err="1" smtClean="0"/>
              <a:t>kapag</a:t>
            </a:r>
            <a:r>
              <a:rPr lang="en-US" dirty="0" smtClean="0"/>
              <a:t> </a:t>
            </a:r>
            <a:r>
              <a:rPr lang="en-US" dirty="0" err="1" smtClean="0"/>
              <a:t>nauna</a:t>
            </a:r>
            <a:r>
              <a:rPr lang="en-US" dirty="0" smtClean="0"/>
              <a:t> </a:t>
            </a:r>
            <a:r>
              <a:rPr lang="en-US" dirty="0" err="1" smtClean="0"/>
              <a:t>ang</a:t>
            </a:r>
            <a:r>
              <a:rPr lang="en-US" dirty="0" smtClean="0"/>
              <a:t> </a:t>
            </a:r>
            <a:r>
              <a:rPr lang="en-US" dirty="0" err="1" smtClean="0"/>
              <a:t>hirap</a:t>
            </a:r>
            <a:r>
              <a:rPr lang="en-US" dirty="0" smtClean="0"/>
              <a:t> </a:t>
            </a:r>
          </a:p>
          <a:p>
            <a:pPr marL="1089025" lvl="0" indent="-349250">
              <a:buFont typeface="+mj-lt"/>
              <a:buAutoNum type="alphaUcPeriod"/>
            </a:pPr>
            <a:r>
              <a:rPr lang="en-US" dirty="0" smtClean="0"/>
              <a:t>Kung </a:t>
            </a:r>
            <a:r>
              <a:rPr lang="en-US" dirty="0" err="1" smtClean="0"/>
              <a:t>ano</a:t>
            </a:r>
            <a:r>
              <a:rPr lang="en-US" dirty="0" smtClean="0"/>
              <a:t> </a:t>
            </a:r>
            <a:r>
              <a:rPr lang="en-US" dirty="0" err="1" smtClean="0"/>
              <a:t>ang</a:t>
            </a:r>
            <a:r>
              <a:rPr lang="en-US" dirty="0" smtClean="0"/>
              <a:t> </a:t>
            </a:r>
            <a:r>
              <a:rPr lang="en-US" dirty="0" err="1" smtClean="0"/>
              <a:t>ibig</a:t>
            </a:r>
            <a:r>
              <a:rPr lang="en-US" dirty="0" smtClean="0"/>
              <a:t> </a:t>
            </a:r>
            <a:r>
              <a:rPr lang="en-US" dirty="0" err="1" smtClean="0"/>
              <a:t>natin</a:t>
            </a:r>
            <a:r>
              <a:rPr lang="en-US" dirty="0" smtClean="0"/>
              <a:t> ay </a:t>
            </a:r>
            <a:r>
              <a:rPr lang="en-US" dirty="0" err="1" smtClean="0"/>
              <a:t>mangyayari</a:t>
            </a:r>
            <a:endParaRPr lang="en-US" dirty="0" smtClean="0"/>
          </a:p>
          <a:p>
            <a:pPr marL="1089025" lvl="0" indent="-349250">
              <a:buFont typeface="+mj-lt"/>
              <a:buAutoNum type="alphaUcPeriod"/>
            </a:pPr>
            <a:r>
              <a:rPr lang="en-US" dirty="0" err="1" smtClean="0"/>
              <a:t>Magtiis</a:t>
            </a:r>
            <a:r>
              <a:rPr lang="en-US" dirty="0" smtClean="0"/>
              <a:t> kung </a:t>
            </a:r>
            <a:r>
              <a:rPr lang="en-US" dirty="0" err="1" smtClean="0"/>
              <a:t>dumarating</a:t>
            </a:r>
            <a:r>
              <a:rPr lang="en-US" dirty="0" smtClean="0"/>
              <a:t> </a:t>
            </a:r>
            <a:r>
              <a:rPr lang="en-US" dirty="0" err="1" smtClean="0"/>
              <a:t>ang</a:t>
            </a:r>
            <a:r>
              <a:rPr lang="en-US" dirty="0" smtClean="0"/>
              <a:t> </a:t>
            </a:r>
            <a:r>
              <a:rPr lang="en-US" dirty="0" err="1" smtClean="0"/>
              <a:t>hirap</a:t>
            </a:r>
            <a:endParaRPr lang="en-US" dirty="0" smtClean="0"/>
          </a:p>
          <a:p>
            <a:pPr>
              <a:buNone/>
            </a:pPr>
            <a:endParaRPr lang="en-US" dirty="0" smtClean="0"/>
          </a:p>
          <a:p>
            <a:pPr>
              <a:buNone/>
            </a:pPr>
            <a:endParaRPr lang="en-US"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466785" y="33711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33400" y="685800"/>
            <a:ext cx="8229600" cy="4525963"/>
          </a:xfrm>
        </p:spPr>
        <p:txBody>
          <a:bodyPr>
            <a:noAutofit/>
          </a:bodyPr>
          <a:lstStyle/>
          <a:p>
            <a:pPr marL="739775" indent="-630238">
              <a:buNone/>
            </a:pPr>
            <a:r>
              <a:rPr lang="en-US" sz="3200" dirty="0" smtClean="0"/>
              <a:t>21. </a:t>
            </a:r>
            <a:r>
              <a:rPr lang="en-US" sz="3200" dirty="0" err="1" smtClean="0"/>
              <a:t>Ano</a:t>
            </a:r>
            <a:r>
              <a:rPr lang="en-US" sz="3200" dirty="0" smtClean="0"/>
              <a:t> </a:t>
            </a:r>
            <a:r>
              <a:rPr lang="en-US" sz="3200" dirty="0" err="1" smtClean="0"/>
              <a:t>ang</a:t>
            </a:r>
            <a:r>
              <a:rPr lang="en-US" sz="3200" dirty="0" smtClean="0"/>
              <a:t> </a:t>
            </a:r>
            <a:r>
              <a:rPr lang="en-US" sz="3200" dirty="0" err="1" smtClean="0"/>
              <a:t>ipinahihiwatig</a:t>
            </a:r>
            <a:r>
              <a:rPr lang="en-US" sz="3200" dirty="0" smtClean="0"/>
              <a:t> </a:t>
            </a:r>
            <a:r>
              <a:rPr lang="en-US" sz="3200" dirty="0" err="1" smtClean="0"/>
              <a:t>ng</a:t>
            </a:r>
            <a:r>
              <a:rPr lang="en-US" sz="3200" dirty="0" smtClean="0"/>
              <a:t> </a:t>
            </a:r>
            <a:r>
              <a:rPr lang="en-US" sz="3200" dirty="0" err="1" smtClean="0"/>
              <a:t>salitang</a:t>
            </a:r>
            <a:r>
              <a:rPr lang="en-US" sz="3200" dirty="0" smtClean="0"/>
              <a:t> may </a:t>
            </a:r>
            <a:r>
              <a:rPr lang="en-US" sz="3200" dirty="0" err="1" smtClean="0"/>
              <a:t>salungguhit</a:t>
            </a:r>
            <a:r>
              <a:rPr lang="en-US" sz="3200" dirty="0" smtClean="0"/>
              <a:t>? </a:t>
            </a:r>
          </a:p>
          <a:p>
            <a:pPr>
              <a:buNone/>
            </a:pPr>
            <a:r>
              <a:rPr lang="en-US" sz="3200" i="1" dirty="0" smtClean="0"/>
              <a:t>			</a:t>
            </a:r>
            <a:r>
              <a:rPr lang="en-US" sz="3200" i="1" u="sng" dirty="0" err="1" smtClean="0"/>
              <a:t>Matayog</a:t>
            </a:r>
            <a:r>
              <a:rPr lang="en-US" sz="3200" i="1" u="sng" dirty="0" smtClean="0"/>
              <a:t> </a:t>
            </a:r>
            <a:r>
              <a:rPr lang="en-US" sz="3200" i="1" u="sng" dirty="0" err="1" smtClean="0"/>
              <a:t>anq</a:t>
            </a:r>
            <a:r>
              <a:rPr lang="en-US" sz="3200" i="1" u="sng" dirty="0" smtClean="0"/>
              <a:t> </a:t>
            </a:r>
            <a:r>
              <a:rPr lang="en-US" sz="3200" i="1" u="sng" dirty="0" err="1" smtClean="0"/>
              <a:t>lipad</a:t>
            </a:r>
            <a:r>
              <a:rPr lang="en-US" sz="3200" i="1" dirty="0" smtClean="0"/>
              <a:t> </a:t>
            </a:r>
            <a:r>
              <a:rPr lang="en-US" sz="3200" i="1" dirty="0" err="1" smtClean="0"/>
              <a:t>ni</a:t>
            </a:r>
            <a:r>
              <a:rPr lang="en-US" sz="3200" i="1" dirty="0" smtClean="0"/>
              <a:t> </a:t>
            </a:r>
            <a:r>
              <a:rPr lang="en-US" sz="3200" i="1" dirty="0" err="1" smtClean="0"/>
              <a:t>Pepe</a:t>
            </a:r>
            <a:r>
              <a:rPr lang="en-US" sz="3200" i="1" dirty="0" smtClean="0"/>
              <a:t> </a:t>
            </a:r>
            <a:r>
              <a:rPr lang="en-US" sz="3200" i="1" dirty="0" err="1" smtClean="0"/>
              <a:t>kaya't</a:t>
            </a:r>
            <a:r>
              <a:rPr lang="en-US" sz="3200" i="1" dirty="0" smtClean="0"/>
              <a:t> </a:t>
            </a:r>
            <a:r>
              <a:rPr lang="en-US" sz="3200" i="1" dirty="0" err="1" smtClean="0"/>
              <a:t>bata</a:t>
            </a:r>
            <a:r>
              <a:rPr lang="en-US" sz="3200" i="1" dirty="0" smtClean="0"/>
              <a:t> pa </a:t>
            </a:r>
            <a:r>
              <a:rPr lang="en-US" sz="3200" i="1" dirty="0" err="1" smtClean="0"/>
              <a:t>siya'y</a:t>
            </a:r>
            <a:r>
              <a:rPr lang="en-US" sz="3200" i="1" dirty="0" smtClean="0"/>
              <a:t> </a:t>
            </a:r>
            <a:r>
              <a:rPr lang="en-US" sz="3200" i="1" dirty="0" err="1" smtClean="0"/>
              <a:t>nagsisikap</a:t>
            </a:r>
            <a:r>
              <a:rPr lang="en-US" sz="3200" i="1" dirty="0" smtClean="0"/>
              <a:t> </a:t>
            </a:r>
            <a:r>
              <a:rPr lang="en-US" sz="3200" i="1" dirty="0" err="1" smtClean="0"/>
              <a:t>na</a:t>
            </a:r>
            <a:r>
              <a:rPr lang="en-US" sz="3200" i="1" dirty="0" smtClean="0"/>
              <a:t> </a:t>
            </a:r>
            <a:r>
              <a:rPr lang="en-US" sz="3200" i="1" dirty="0" err="1" smtClean="0"/>
              <a:t>siya</a:t>
            </a:r>
            <a:r>
              <a:rPr lang="en-US" sz="3200" i="1" dirty="0" smtClean="0"/>
              <a:t>. </a:t>
            </a:r>
          </a:p>
          <a:p>
            <a:pPr>
              <a:buNone/>
            </a:pPr>
            <a:endParaRPr lang="en-US" sz="3200" i="1" dirty="0" smtClean="0"/>
          </a:p>
          <a:p>
            <a:pPr marL="623888" indent="115888">
              <a:buFont typeface="+mj-lt"/>
              <a:buAutoNum type="alphaUcPeriod"/>
            </a:pPr>
            <a:r>
              <a:rPr lang="en-US" sz="3200" dirty="0" smtClean="0"/>
              <a:t> May </a:t>
            </a:r>
            <a:r>
              <a:rPr lang="en-US" sz="3200" dirty="0" err="1" smtClean="0"/>
              <a:t>kayabangan</a:t>
            </a:r>
            <a:r>
              <a:rPr lang="en-US" sz="3200" dirty="0" smtClean="0"/>
              <a:t> </a:t>
            </a:r>
            <a:r>
              <a:rPr lang="en-US" sz="3200" dirty="0" err="1" smtClean="0"/>
              <a:t>si</a:t>
            </a:r>
            <a:r>
              <a:rPr lang="en-US" sz="3200" dirty="0" smtClean="0"/>
              <a:t> </a:t>
            </a:r>
            <a:r>
              <a:rPr lang="en-US" sz="3200" dirty="0" err="1" smtClean="0"/>
              <a:t>Pepe</a:t>
            </a:r>
            <a:r>
              <a:rPr lang="en-US" sz="3200" dirty="0" smtClean="0"/>
              <a:t>.</a:t>
            </a:r>
          </a:p>
          <a:p>
            <a:pPr marL="623888" indent="115888">
              <a:buFont typeface="+mj-lt"/>
              <a:buAutoNum type="alphaUcPeriod"/>
            </a:pPr>
            <a:r>
              <a:rPr lang="en-US" sz="3200" dirty="0" smtClean="0"/>
              <a:t> </a:t>
            </a:r>
            <a:r>
              <a:rPr lang="en-US" sz="3200" dirty="0" err="1" smtClean="0"/>
              <a:t>Mataas</a:t>
            </a:r>
            <a:r>
              <a:rPr lang="en-US" sz="3200" dirty="0" smtClean="0"/>
              <a:t> </a:t>
            </a:r>
            <a:r>
              <a:rPr lang="en-US" sz="3200" dirty="0" err="1" smtClean="0"/>
              <a:t>ang</a:t>
            </a:r>
            <a:r>
              <a:rPr lang="en-US" sz="3200" dirty="0" smtClean="0"/>
              <a:t> </a:t>
            </a:r>
            <a:r>
              <a:rPr lang="en-US" sz="3200" dirty="0" err="1" smtClean="0"/>
              <a:t>pangarap</a:t>
            </a:r>
            <a:r>
              <a:rPr lang="en-US" sz="3200" dirty="0" smtClean="0"/>
              <a:t> </a:t>
            </a:r>
            <a:r>
              <a:rPr lang="en-US" sz="3200" dirty="0" err="1" smtClean="0"/>
              <a:t>ni</a:t>
            </a:r>
            <a:r>
              <a:rPr lang="en-US" sz="3200" dirty="0" smtClean="0"/>
              <a:t> </a:t>
            </a:r>
            <a:r>
              <a:rPr lang="en-US" sz="3200" dirty="0" err="1" smtClean="0"/>
              <a:t>Pepe</a:t>
            </a:r>
            <a:r>
              <a:rPr lang="en-US" sz="3200" dirty="0" smtClean="0"/>
              <a:t>.</a:t>
            </a:r>
          </a:p>
          <a:p>
            <a:pPr marL="623888" indent="115888">
              <a:buFont typeface="+mj-lt"/>
              <a:buAutoNum type="alphaUcPeriod"/>
            </a:pPr>
            <a:r>
              <a:rPr lang="en-US" sz="3200" dirty="0" smtClean="0"/>
              <a:t> </a:t>
            </a:r>
            <a:r>
              <a:rPr lang="en-US" sz="3200" dirty="0" err="1" smtClean="0"/>
              <a:t>Marunong</a:t>
            </a:r>
            <a:r>
              <a:rPr lang="en-US" sz="3200" dirty="0" smtClean="0"/>
              <a:t> </a:t>
            </a:r>
            <a:r>
              <a:rPr lang="en-US" sz="3200" dirty="0" err="1" smtClean="0"/>
              <a:t>si</a:t>
            </a:r>
            <a:r>
              <a:rPr lang="en-US" sz="3200" dirty="0" smtClean="0"/>
              <a:t> </a:t>
            </a:r>
            <a:r>
              <a:rPr lang="en-US" sz="3200" dirty="0" err="1" smtClean="0"/>
              <a:t>Pepe</a:t>
            </a:r>
            <a:r>
              <a:rPr lang="en-US" sz="3200" dirty="0" smtClean="0"/>
              <a:t>. </a:t>
            </a:r>
          </a:p>
          <a:p>
            <a:pPr marL="623888" lvl="0" indent="115888">
              <a:buFont typeface="+mj-lt"/>
              <a:buAutoNum type="alphaUcPeriod"/>
            </a:pPr>
            <a:r>
              <a:rPr lang="en-US" sz="3200" dirty="0" smtClean="0"/>
              <a:t> </a:t>
            </a:r>
            <a:r>
              <a:rPr lang="en-US" sz="3200" dirty="0" err="1" smtClean="0"/>
              <a:t>Ibig</a:t>
            </a:r>
            <a:r>
              <a:rPr lang="en-US" sz="3200" dirty="0" smtClean="0"/>
              <a:t> </a:t>
            </a:r>
            <a:r>
              <a:rPr lang="en-US" sz="3200" dirty="0" err="1" smtClean="0"/>
              <a:t>ni</a:t>
            </a:r>
            <a:r>
              <a:rPr lang="en-US" sz="3200" dirty="0" smtClean="0"/>
              <a:t> </a:t>
            </a:r>
            <a:r>
              <a:rPr lang="en-US" sz="3200" dirty="0" err="1" smtClean="0"/>
              <a:t>Pepeng</a:t>
            </a:r>
            <a:r>
              <a:rPr lang="en-US" sz="3200" dirty="0" smtClean="0"/>
              <a:t> </a:t>
            </a:r>
            <a:r>
              <a:rPr lang="en-US" sz="3200" dirty="0" err="1" smtClean="0"/>
              <a:t>maabot</a:t>
            </a:r>
            <a:r>
              <a:rPr lang="en-US" sz="3200" dirty="0" smtClean="0"/>
              <a:t> </a:t>
            </a:r>
            <a:r>
              <a:rPr lang="en-US" sz="3200" dirty="0" err="1" smtClean="0"/>
              <a:t>ang</a:t>
            </a:r>
            <a:r>
              <a:rPr lang="en-US" sz="3200" dirty="0" smtClean="0"/>
              <a:t> </a:t>
            </a:r>
            <a:r>
              <a:rPr lang="en-US" sz="3200" dirty="0" err="1" smtClean="0"/>
              <a:t>langit</a:t>
            </a:r>
            <a:endParaRPr lang="en-US" sz="3200" dirty="0" smtClean="0"/>
          </a:p>
          <a:p>
            <a:pPr marL="624078" indent="-514350">
              <a:buNone/>
            </a:pPr>
            <a:endParaRPr lang="en-US" sz="3200" dirty="0" smtClean="0"/>
          </a:p>
          <a:p>
            <a:pPr>
              <a:buNone/>
            </a:pPr>
            <a:endParaRPr lang="en-US" sz="32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542985" y="4514174"/>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33400" y="990600"/>
            <a:ext cx="8229600" cy="4525963"/>
          </a:xfrm>
        </p:spPr>
        <p:txBody>
          <a:bodyPr>
            <a:normAutofit/>
          </a:bodyPr>
          <a:lstStyle/>
          <a:p>
            <a:pPr marL="739775" indent="-630238">
              <a:buNone/>
            </a:pPr>
            <a:r>
              <a:rPr lang="en-US" sz="3200" dirty="0" smtClean="0"/>
              <a:t>22. </a:t>
            </a:r>
            <a:r>
              <a:rPr lang="en-US" sz="3200" dirty="0" err="1" smtClean="0"/>
              <a:t>Alin</a:t>
            </a:r>
            <a:r>
              <a:rPr lang="en-US" sz="3200" dirty="0" smtClean="0"/>
              <a:t> </a:t>
            </a:r>
            <a:r>
              <a:rPr lang="en-US" sz="3200" dirty="0" err="1" smtClean="0"/>
              <a:t>ang</a:t>
            </a:r>
            <a:r>
              <a:rPr lang="en-US" sz="3200" dirty="0" smtClean="0"/>
              <a:t> </a:t>
            </a:r>
            <a:r>
              <a:rPr lang="en-US" sz="3200" dirty="0" err="1" smtClean="0"/>
              <a:t>nagbibigay</a:t>
            </a:r>
            <a:r>
              <a:rPr lang="en-US" sz="3200" dirty="0" smtClean="0"/>
              <a:t> </a:t>
            </a:r>
            <a:r>
              <a:rPr lang="en-US" sz="3200" dirty="0" err="1" smtClean="0"/>
              <a:t>ng</a:t>
            </a:r>
            <a:r>
              <a:rPr lang="en-US" sz="3200" dirty="0" smtClean="0"/>
              <a:t> opinion </a:t>
            </a:r>
            <a:r>
              <a:rPr lang="en-US" sz="3200" dirty="0" err="1" smtClean="0"/>
              <a:t>tungkol</a:t>
            </a:r>
            <a:r>
              <a:rPr lang="en-US" sz="3200" dirty="0" smtClean="0"/>
              <a:t> </a:t>
            </a:r>
            <a:r>
              <a:rPr lang="en-US" sz="3200" dirty="0" err="1" smtClean="0"/>
              <a:t>sa</a:t>
            </a:r>
            <a:r>
              <a:rPr lang="en-US" sz="3200" dirty="0" smtClean="0"/>
              <a:t> </a:t>
            </a:r>
            <a:r>
              <a:rPr lang="en-US" sz="3200" dirty="0" err="1" smtClean="0"/>
              <a:t>isang</a:t>
            </a:r>
            <a:r>
              <a:rPr lang="en-US" sz="3200" dirty="0" smtClean="0"/>
              <a:t> </a:t>
            </a:r>
            <a:r>
              <a:rPr lang="en-US" sz="3200" dirty="0" err="1" smtClean="0"/>
              <a:t>napapanahong</a:t>
            </a:r>
            <a:r>
              <a:rPr lang="en-US" sz="3200" dirty="0" smtClean="0"/>
              <a:t> </a:t>
            </a:r>
            <a:r>
              <a:rPr lang="en-US" sz="3200" dirty="0" err="1" smtClean="0"/>
              <a:t>isyu</a:t>
            </a:r>
            <a:r>
              <a:rPr lang="en-US" sz="3200" dirty="0" smtClean="0"/>
              <a:t> </a:t>
            </a:r>
            <a:r>
              <a:rPr lang="en-US" sz="3200" dirty="0" err="1" smtClean="0"/>
              <a:t>sa</a:t>
            </a:r>
            <a:r>
              <a:rPr lang="en-US" sz="3200" dirty="0" smtClean="0"/>
              <a:t> </a:t>
            </a:r>
            <a:r>
              <a:rPr lang="en-US" sz="3200" dirty="0" err="1" smtClean="0"/>
              <a:t>pamamagitan</a:t>
            </a:r>
            <a:r>
              <a:rPr lang="en-US" sz="3200" dirty="0" smtClean="0"/>
              <a:t> </a:t>
            </a:r>
            <a:r>
              <a:rPr lang="en-US" sz="3200" dirty="0" err="1" smtClean="0"/>
              <a:t>ng</a:t>
            </a:r>
            <a:r>
              <a:rPr lang="en-US" sz="3200" dirty="0" smtClean="0"/>
              <a:t> </a:t>
            </a:r>
            <a:r>
              <a:rPr lang="en-US" sz="3200" dirty="0" err="1" smtClean="0"/>
              <a:t>larawan</a:t>
            </a:r>
            <a:r>
              <a:rPr lang="en-US" sz="3200" dirty="0" smtClean="0"/>
              <a:t>?</a:t>
            </a:r>
          </a:p>
          <a:p>
            <a:pPr marL="739775" indent="-630238">
              <a:buNone/>
            </a:pPr>
            <a:endParaRPr lang="en-US" sz="3200" dirty="0" smtClean="0"/>
          </a:p>
          <a:p>
            <a:pPr marL="1030288" indent="-290513">
              <a:buFont typeface="+mj-lt"/>
              <a:buAutoNum type="alphaUcPeriod"/>
            </a:pPr>
            <a:r>
              <a:rPr lang="en-US" sz="3200" dirty="0" err="1" smtClean="0"/>
              <a:t>Kartong</a:t>
            </a:r>
            <a:r>
              <a:rPr lang="en-US" sz="3200" dirty="0" smtClean="0"/>
              <a:t> pang-</a:t>
            </a:r>
            <a:r>
              <a:rPr lang="en-US" sz="3200" dirty="0" err="1" smtClean="0"/>
              <a:t>editoryal</a:t>
            </a:r>
            <a:endParaRPr lang="en-US" sz="3200" dirty="0" smtClean="0"/>
          </a:p>
          <a:p>
            <a:pPr marL="1030288" indent="-290513">
              <a:buFont typeface="+mj-lt"/>
              <a:buAutoNum type="alphaUcPeriod"/>
            </a:pPr>
            <a:r>
              <a:rPr lang="en-US" sz="3200" dirty="0" err="1" smtClean="0"/>
              <a:t>Ilustrasyong</a:t>
            </a:r>
            <a:r>
              <a:rPr lang="en-US" sz="3200" dirty="0" smtClean="0"/>
              <a:t> </a:t>
            </a:r>
            <a:r>
              <a:rPr lang="en-US" sz="3200" dirty="0" err="1" smtClean="0"/>
              <a:t>karikatyur</a:t>
            </a:r>
            <a:r>
              <a:rPr lang="en-US" sz="3200" dirty="0" smtClean="0"/>
              <a:t> </a:t>
            </a:r>
          </a:p>
          <a:p>
            <a:pPr marL="1030288" indent="-290513">
              <a:buFont typeface="+mj-lt"/>
              <a:buAutoNum type="alphaUcPeriod"/>
            </a:pPr>
            <a:r>
              <a:rPr lang="en-US" sz="3200" dirty="0" err="1" smtClean="0"/>
              <a:t>Larawan</a:t>
            </a:r>
            <a:r>
              <a:rPr lang="en-US" sz="3200" dirty="0" smtClean="0"/>
              <a:t> </a:t>
            </a:r>
            <a:r>
              <a:rPr lang="en-US" sz="3200" dirty="0" err="1" smtClean="0"/>
              <a:t>sa</a:t>
            </a:r>
            <a:r>
              <a:rPr lang="en-US" sz="3200" dirty="0" smtClean="0"/>
              <a:t> </a:t>
            </a:r>
            <a:r>
              <a:rPr lang="en-US" sz="3200" dirty="0" err="1" smtClean="0"/>
              <a:t>unang</a:t>
            </a:r>
            <a:r>
              <a:rPr lang="en-US" sz="3200" dirty="0" smtClean="0"/>
              <a:t> </a:t>
            </a:r>
            <a:r>
              <a:rPr lang="en-US" sz="3200" dirty="0" err="1" smtClean="0"/>
              <a:t>pahina</a:t>
            </a:r>
            <a:r>
              <a:rPr lang="en-US" sz="3200" dirty="0" smtClean="0"/>
              <a:t> </a:t>
            </a:r>
          </a:p>
          <a:p>
            <a:pPr marL="1030288" indent="-290513">
              <a:buFont typeface="+mj-lt"/>
              <a:buAutoNum type="alphaUcPeriod"/>
            </a:pPr>
            <a:r>
              <a:rPr lang="en-US" sz="3200" dirty="0" err="1" smtClean="0"/>
              <a:t>Larawan</a:t>
            </a:r>
            <a:r>
              <a:rPr lang="en-US" sz="3200" dirty="0" smtClean="0"/>
              <a:t> </a:t>
            </a:r>
            <a:r>
              <a:rPr lang="en-US" sz="3200" dirty="0" err="1" smtClean="0"/>
              <a:t>sa</a:t>
            </a:r>
            <a:r>
              <a:rPr lang="en-US" sz="3200" dirty="0" smtClean="0"/>
              <a:t> </a:t>
            </a:r>
            <a:r>
              <a:rPr lang="en-US" sz="3200" dirty="0" err="1" smtClean="0"/>
              <a:t>huling</a:t>
            </a:r>
            <a:r>
              <a:rPr lang="en-US" sz="3200" dirty="0" smtClean="0"/>
              <a:t> </a:t>
            </a:r>
            <a:r>
              <a:rPr lang="en-US" sz="3200" dirty="0" err="1" smtClean="0"/>
              <a:t>pahina</a:t>
            </a:r>
            <a:endParaRPr lang="en-US" sz="3200" dirty="0"/>
          </a:p>
        </p:txBody>
      </p:sp>
      <p:pic>
        <p:nvPicPr>
          <p:cNvPr id="4" name="Picture 4" descr="C:\Documents and Settings\Administrator\Desktop\hand_right.gif"/>
          <p:cNvPicPr>
            <a:picLocks noChangeAspect="1" noChangeArrowheads="1" noCrop="1"/>
          </p:cNvPicPr>
          <p:nvPr/>
        </p:nvPicPr>
        <p:blipFill>
          <a:blip r:embed="rId3">
            <a:extLst>
              <a:ext uri="{28A0092B-C50C-407E-A947-70E740481C1C}">
                <a14:useLocalDpi xmlns="" xmlns:a14="http://schemas.microsoft.com/office/drawing/2010/main" val="0"/>
              </a:ext>
            </a:extLst>
          </a:blip>
          <a:srcRect/>
          <a:stretch>
            <a:fillRect/>
          </a:stretch>
        </p:blipFill>
        <p:spPr bwMode="auto">
          <a:xfrm rot="21434720">
            <a:off x="619184" y="32187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914400"/>
            <a:ext cx="8229600" cy="4525963"/>
          </a:xfrm>
        </p:spPr>
        <p:txBody>
          <a:bodyPr>
            <a:normAutofit/>
          </a:bodyPr>
          <a:lstStyle/>
          <a:p>
            <a:pPr marL="739775" indent="-630238">
              <a:buNone/>
            </a:pPr>
            <a:r>
              <a:rPr lang="en-US" sz="3200" dirty="0" smtClean="0"/>
              <a:t>23. </a:t>
            </a:r>
            <a:r>
              <a:rPr lang="en-US" sz="3200" dirty="0" err="1" smtClean="0"/>
              <a:t>Tungkulin</a:t>
            </a:r>
            <a:r>
              <a:rPr lang="en-US" sz="3200" dirty="0" smtClean="0"/>
              <a:t> </a:t>
            </a:r>
            <a:r>
              <a:rPr lang="en-US" sz="3200" dirty="0" err="1" smtClean="0"/>
              <a:t>ng</a:t>
            </a:r>
            <a:r>
              <a:rPr lang="en-US" sz="3200" dirty="0" smtClean="0"/>
              <a:t> </a:t>
            </a:r>
            <a:r>
              <a:rPr lang="en-US" sz="3200" dirty="0" err="1" smtClean="0"/>
              <a:t>wika</a:t>
            </a:r>
            <a:r>
              <a:rPr lang="en-US" sz="3200" dirty="0" smtClean="0"/>
              <a:t> </a:t>
            </a:r>
            <a:r>
              <a:rPr lang="en-US" sz="3200" dirty="0" err="1" smtClean="0"/>
              <a:t>na</a:t>
            </a:r>
            <a:r>
              <a:rPr lang="en-US" sz="3200" dirty="0" smtClean="0"/>
              <a:t> </a:t>
            </a:r>
            <a:r>
              <a:rPr lang="en-US" sz="3200" dirty="0" err="1" smtClean="0"/>
              <a:t>tumutugon</a:t>
            </a:r>
            <a:r>
              <a:rPr lang="en-US" sz="3200" dirty="0" smtClean="0"/>
              <a:t> </a:t>
            </a:r>
            <a:r>
              <a:rPr lang="en-US" sz="3200" dirty="0" err="1" smtClean="0"/>
              <a:t>sa</a:t>
            </a:r>
            <a:r>
              <a:rPr lang="en-US" sz="3200" dirty="0" smtClean="0"/>
              <a:t> </a:t>
            </a:r>
            <a:r>
              <a:rPr lang="en-US" sz="3200" dirty="0" err="1" smtClean="0"/>
              <a:t>mga</a:t>
            </a:r>
            <a:r>
              <a:rPr lang="en-US" sz="3200" dirty="0" smtClean="0"/>
              <a:t>  </a:t>
            </a:r>
            <a:r>
              <a:rPr lang="en-US" sz="3200" dirty="0" err="1" smtClean="0"/>
              <a:t>pangangailangan</a:t>
            </a:r>
            <a:r>
              <a:rPr lang="en-US" sz="3200" dirty="0" smtClean="0"/>
              <a:t> </a:t>
            </a:r>
            <a:r>
              <a:rPr lang="en-US" sz="3200" dirty="0" err="1" smtClean="0"/>
              <a:t>ng</a:t>
            </a:r>
            <a:r>
              <a:rPr lang="en-US" sz="3200" dirty="0" smtClean="0"/>
              <a:t> </a:t>
            </a:r>
            <a:r>
              <a:rPr lang="en-US" sz="3200" dirty="0" err="1" smtClean="0"/>
              <a:t>isang</a:t>
            </a:r>
            <a:r>
              <a:rPr lang="en-US" sz="3200" dirty="0" smtClean="0"/>
              <a:t> </a:t>
            </a:r>
            <a:r>
              <a:rPr lang="en-US" sz="3200" dirty="0" err="1" smtClean="0"/>
              <a:t>tao</a:t>
            </a:r>
            <a:r>
              <a:rPr lang="en-US" sz="3200" dirty="0" smtClean="0"/>
              <a:t>.</a:t>
            </a:r>
          </a:p>
          <a:p>
            <a:pPr marL="739775" indent="-630238">
              <a:buNone/>
            </a:pPr>
            <a:endParaRPr lang="en-US" sz="3200" dirty="0" smtClean="0"/>
          </a:p>
          <a:p>
            <a:pPr marL="1030288" indent="-290513">
              <a:buFont typeface="+mj-lt"/>
              <a:buAutoNum type="alphaUcPeriod"/>
            </a:pPr>
            <a:r>
              <a:rPr lang="en-US" sz="3200" dirty="0" err="1" smtClean="0"/>
              <a:t>Interaksyonal</a:t>
            </a:r>
            <a:endParaRPr lang="en-US" sz="3200" dirty="0" smtClean="0"/>
          </a:p>
          <a:p>
            <a:pPr marL="1030288" indent="-290513">
              <a:buFont typeface="+mj-lt"/>
              <a:buAutoNum type="alphaUcPeriod"/>
            </a:pPr>
            <a:r>
              <a:rPr lang="en-US" sz="3200" dirty="0" smtClean="0"/>
              <a:t>Instrumental </a:t>
            </a:r>
          </a:p>
          <a:p>
            <a:pPr marL="1030288" indent="-290513">
              <a:buFont typeface="+mj-lt"/>
              <a:buAutoNum type="alphaUcPeriod"/>
            </a:pPr>
            <a:r>
              <a:rPr lang="en-US" sz="3200" dirty="0" smtClean="0"/>
              <a:t>Personal</a:t>
            </a:r>
          </a:p>
          <a:p>
            <a:pPr marL="1030288" indent="-290513">
              <a:buFont typeface="+mj-lt"/>
              <a:buAutoNum type="alphaUcPeriod"/>
            </a:pPr>
            <a:r>
              <a:rPr lang="en-US" sz="3200" dirty="0" smtClean="0"/>
              <a:t>Heuristic</a:t>
            </a:r>
            <a:endParaRPr lang="en-US" sz="3200" dirty="0"/>
          </a:p>
        </p:txBody>
      </p:sp>
      <p:pic>
        <p:nvPicPr>
          <p:cNvPr id="4" name="Picture 4" descr="C:\Documents and Settings\Administrator\Desktop\hand_right.gif"/>
          <p:cNvPicPr>
            <a:picLocks noChangeAspect="1" noChangeArrowheads="1" noCrop="1"/>
          </p:cNvPicPr>
          <p:nvPr/>
        </p:nvPicPr>
        <p:blipFill>
          <a:blip r:embed="rId3">
            <a:extLst>
              <a:ext uri="{28A0092B-C50C-407E-A947-70E740481C1C}">
                <a14:useLocalDpi xmlns="" xmlns:a14="http://schemas.microsoft.com/office/drawing/2010/main" val="0"/>
              </a:ext>
            </a:extLst>
          </a:blip>
          <a:srcRect/>
          <a:stretch>
            <a:fillRect/>
          </a:stretch>
        </p:blipFill>
        <p:spPr bwMode="auto">
          <a:xfrm rot="21434720">
            <a:off x="542985" y="32187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838200"/>
            <a:ext cx="8229600" cy="5029200"/>
          </a:xfrm>
        </p:spPr>
        <p:txBody>
          <a:bodyPr>
            <a:normAutofit fontScale="92500" lnSpcReduction="10000"/>
          </a:bodyPr>
          <a:lstStyle/>
          <a:p>
            <a:r>
              <a:rPr lang="en-US" b="1" dirty="0" err="1" smtClean="0"/>
              <a:t>Interaksyonal</a:t>
            </a:r>
            <a:r>
              <a:rPr lang="en-US" dirty="0" smtClean="0"/>
              <a:t> - </a:t>
            </a:r>
            <a:r>
              <a:rPr lang="en-US" dirty="0" err="1" smtClean="0"/>
              <a:t>nakapagpapanatili</a:t>
            </a:r>
            <a:r>
              <a:rPr lang="en-US" dirty="0" smtClean="0"/>
              <a:t>, </a:t>
            </a:r>
            <a:r>
              <a:rPr lang="en-US" dirty="0" err="1" smtClean="0"/>
              <a:t>nakapagpapatatag</a:t>
            </a:r>
            <a:r>
              <a:rPr lang="en-US" dirty="0" smtClean="0"/>
              <a:t> </a:t>
            </a:r>
            <a:r>
              <a:rPr lang="en-US" dirty="0" err="1" smtClean="0"/>
              <a:t>ng</a:t>
            </a:r>
            <a:r>
              <a:rPr lang="en-US" dirty="0" smtClean="0"/>
              <a:t> </a:t>
            </a:r>
            <a:r>
              <a:rPr lang="en-US" dirty="0" err="1" smtClean="0"/>
              <a:t>relasyong</a:t>
            </a:r>
            <a:r>
              <a:rPr lang="en-US" dirty="0" smtClean="0"/>
              <a:t> </a:t>
            </a:r>
            <a:r>
              <a:rPr lang="en-US" dirty="0" err="1" smtClean="0"/>
              <a:t>sosyal</a:t>
            </a:r>
            <a:r>
              <a:rPr lang="en-US" dirty="0" smtClean="0"/>
              <a:t>.</a:t>
            </a:r>
            <a:br>
              <a:rPr lang="en-US" dirty="0" smtClean="0"/>
            </a:br>
            <a:r>
              <a:rPr lang="en-US" b="1" dirty="0" smtClean="0"/>
              <a:t>Instrumental</a:t>
            </a:r>
            <a:r>
              <a:rPr lang="en-US" dirty="0" smtClean="0"/>
              <a:t> - </a:t>
            </a:r>
            <a:r>
              <a:rPr lang="en-US" dirty="0" err="1" smtClean="0"/>
              <a:t>tumutugon</a:t>
            </a:r>
            <a:r>
              <a:rPr lang="en-US" dirty="0" smtClean="0"/>
              <a:t> </a:t>
            </a:r>
            <a:r>
              <a:rPr lang="en-US" dirty="0" err="1" smtClean="0"/>
              <a:t>sa</a:t>
            </a:r>
            <a:r>
              <a:rPr lang="en-US" dirty="0" smtClean="0"/>
              <a:t> </a:t>
            </a:r>
            <a:r>
              <a:rPr lang="en-US" dirty="0" err="1" smtClean="0"/>
              <a:t>mga</a:t>
            </a:r>
            <a:r>
              <a:rPr lang="en-US" dirty="0" smtClean="0"/>
              <a:t> </a:t>
            </a:r>
            <a:r>
              <a:rPr lang="en-US" dirty="0" err="1" smtClean="0"/>
              <a:t>pangangailangan</a:t>
            </a:r>
            <a:r>
              <a:rPr lang="en-US" dirty="0" smtClean="0"/>
              <a:t>.</a:t>
            </a:r>
            <a:br>
              <a:rPr lang="en-US" dirty="0" smtClean="0"/>
            </a:br>
            <a:r>
              <a:rPr lang="en-US" b="1" dirty="0" err="1" smtClean="0"/>
              <a:t>Regulatori</a:t>
            </a:r>
            <a:r>
              <a:rPr lang="en-US" dirty="0" smtClean="0"/>
              <a:t> - </a:t>
            </a:r>
            <a:r>
              <a:rPr lang="en-US" dirty="0" err="1" smtClean="0"/>
              <a:t>kumokontrol</a:t>
            </a:r>
            <a:r>
              <a:rPr lang="en-US" dirty="0" smtClean="0"/>
              <a:t>, </a:t>
            </a:r>
            <a:r>
              <a:rPr lang="en-US" dirty="0" err="1" smtClean="0"/>
              <a:t>gumagabay</a:t>
            </a:r>
            <a:r>
              <a:rPr lang="en-US" dirty="0" smtClean="0"/>
              <a:t> </a:t>
            </a:r>
            <a:r>
              <a:rPr lang="en-US" dirty="0" err="1" smtClean="0"/>
              <a:t>sa</a:t>
            </a:r>
            <a:r>
              <a:rPr lang="en-US" dirty="0" smtClean="0"/>
              <a:t> kilos/</a:t>
            </a:r>
            <a:r>
              <a:rPr lang="en-US" dirty="0" err="1" smtClean="0"/>
              <a:t>asal</a:t>
            </a:r>
            <a:r>
              <a:rPr lang="en-US" dirty="0" smtClean="0"/>
              <a:t> </a:t>
            </a:r>
            <a:r>
              <a:rPr lang="en-US" dirty="0" err="1" smtClean="0"/>
              <a:t>ng</a:t>
            </a:r>
            <a:r>
              <a:rPr lang="en-US" dirty="0" smtClean="0"/>
              <a:t> </a:t>
            </a:r>
            <a:r>
              <a:rPr lang="en-US" dirty="0" err="1" smtClean="0"/>
              <a:t>iba</a:t>
            </a:r>
            <a:r>
              <a:rPr lang="en-US" dirty="0" smtClean="0"/>
              <a:t>.</a:t>
            </a:r>
            <a:br>
              <a:rPr lang="en-US" dirty="0" smtClean="0"/>
            </a:br>
            <a:r>
              <a:rPr lang="en-US" b="1" dirty="0" smtClean="0"/>
              <a:t>Personal</a:t>
            </a:r>
            <a:r>
              <a:rPr lang="en-US" dirty="0" smtClean="0"/>
              <a:t> - </a:t>
            </a:r>
            <a:r>
              <a:rPr lang="en-US" dirty="0" err="1" smtClean="0"/>
              <a:t>nakapagpapahayag</a:t>
            </a:r>
            <a:r>
              <a:rPr lang="en-US" dirty="0" smtClean="0"/>
              <a:t> </a:t>
            </a:r>
            <a:r>
              <a:rPr lang="en-US" dirty="0" err="1" smtClean="0"/>
              <a:t>ng</a:t>
            </a:r>
            <a:r>
              <a:rPr lang="en-US" dirty="0" smtClean="0"/>
              <a:t> </a:t>
            </a:r>
            <a:r>
              <a:rPr lang="en-US" dirty="0" err="1" smtClean="0"/>
              <a:t>sariling</a:t>
            </a:r>
            <a:r>
              <a:rPr lang="en-US" dirty="0" smtClean="0"/>
              <a:t> </a:t>
            </a:r>
            <a:r>
              <a:rPr lang="en-US" dirty="0" err="1" smtClean="0"/>
              <a:t>damdamin</a:t>
            </a:r>
            <a:r>
              <a:rPr lang="en-US" dirty="0" smtClean="0"/>
              <a:t> o </a:t>
            </a:r>
            <a:r>
              <a:rPr lang="en-US" dirty="0" err="1" smtClean="0"/>
              <a:t>opinyon</a:t>
            </a:r>
            <a:r>
              <a:rPr lang="en-US" dirty="0" smtClean="0"/>
              <a:t>.</a:t>
            </a:r>
            <a:br>
              <a:rPr lang="en-US" dirty="0" smtClean="0"/>
            </a:br>
            <a:r>
              <a:rPr lang="en-US" b="1" dirty="0" err="1" smtClean="0"/>
              <a:t>Imajinativ</a:t>
            </a:r>
            <a:r>
              <a:rPr lang="en-US" dirty="0" smtClean="0"/>
              <a:t> - </a:t>
            </a:r>
            <a:r>
              <a:rPr lang="en-US" dirty="0" err="1" smtClean="0"/>
              <a:t>nakapagpapahayag</a:t>
            </a:r>
            <a:r>
              <a:rPr lang="en-US" dirty="0" smtClean="0"/>
              <a:t> </a:t>
            </a:r>
            <a:r>
              <a:rPr lang="en-US" dirty="0" err="1" smtClean="0"/>
              <a:t>ng</a:t>
            </a:r>
            <a:r>
              <a:rPr lang="en-US" dirty="0" smtClean="0"/>
              <a:t> </a:t>
            </a:r>
            <a:r>
              <a:rPr lang="en-US" dirty="0" err="1" smtClean="0"/>
              <a:t>imahinasyon</a:t>
            </a:r>
            <a:r>
              <a:rPr lang="en-US" dirty="0" smtClean="0"/>
              <a:t> </a:t>
            </a:r>
            <a:r>
              <a:rPr lang="en-US" dirty="0" err="1" smtClean="0"/>
              <a:t>sa</a:t>
            </a:r>
            <a:r>
              <a:rPr lang="en-US" dirty="0" smtClean="0"/>
              <a:t> </a:t>
            </a:r>
            <a:r>
              <a:rPr lang="en-US" dirty="0" err="1" smtClean="0"/>
              <a:t>malikhaing</a:t>
            </a:r>
            <a:r>
              <a:rPr lang="en-US" dirty="0" smtClean="0"/>
              <a:t> </a:t>
            </a:r>
            <a:r>
              <a:rPr lang="en-US" dirty="0" err="1" smtClean="0"/>
              <a:t>paraan</a:t>
            </a:r>
            <a:r>
              <a:rPr lang="en-US" dirty="0" smtClean="0"/>
              <a:t>.</a:t>
            </a:r>
            <a:br>
              <a:rPr lang="en-US" dirty="0" smtClean="0"/>
            </a:br>
            <a:r>
              <a:rPr lang="en-US" b="1" dirty="0" err="1" smtClean="0"/>
              <a:t>Heuristik</a:t>
            </a:r>
            <a:r>
              <a:rPr lang="en-US" dirty="0" smtClean="0"/>
              <a:t> - </a:t>
            </a:r>
            <a:r>
              <a:rPr lang="en-US" dirty="0" err="1" smtClean="0"/>
              <a:t>naghahanap</a:t>
            </a:r>
            <a:r>
              <a:rPr lang="en-US" dirty="0" smtClean="0"/>
              <a:t> </a:t>
            </a:r>
            <a:r>
              <a:rPr lang="en-US" dirty="0" err="1" smtClean="0"/>
              <a:t>ng</a:t>
            </a:r>
            <a:r>
              <a:rPr lang="en-US" dirty="0" smtClean="0"/>
              <a:t> </a:t>
            </a:r>
            <a:r>
              <a:rPr lang="en-US" dirty="0" err="1" smtClean="0"/>
              <a:t>mga</a:t>
            </a:r>
            <a:r>
              <a:rPr lang="en-US" dirty="0" smtClean="0"/>
              <a:t> </a:t>
            </a:r>
            <a:r>
              <a:rPr lang="en-US" dirty="0" err="1" smtClean="0"/>
              <a:t>informasyon</a:t>
            </a:r>
            <a:r>
              <a:rPr lang="en-US" dirty="0" smtClean="0"/>
              <a:t>/</a:t>
            </a:r>
            <a:r>
              <a:rPr lang="en-US" dirty="0" err="1" smtClean="0"/>
              <a:t>datos</a:t>
            </a:r>
            <a:r>
              <a:rPr lang="en-US" dirty="0" smtClean="0"/>
              <a:t>.</a:t>
            </a:r>
            <a:br>
              <a:rPr lang="en-US" dirty="0" smtClean="0"/>
            </a:br>
            <a:r>
              <a:rPr lang="en-US" dirty="0" err="1" smtClean="0"/>
              <a:t>I</a:t>
            </a:r>
            <a:r>
              <a:rPr lang="en-US" b="1" dirty="0" err="1" smtClean="0"/>
              <a:t>nformativ</a:t>
            </a:r>
            <a:r>
              <a:rPr lang="en-US" dirty="0" smtClean="0"/>
              <a:t> - </a:t>
            </a:r>
            <a:r>
              <a:rPr lang="en-US" dirty="0" err="1" smtClean="0"/>
              <a:t>nagbibigay</a:t>
            </a:r>
            <a:r>
              <a:rPr lang="en-US" dirty="0" smtClean="0"/>
              <a:t> </a:t>
            </a:r>
            <a:r>
              <a:rPr lang="en-US" dirty="0" err="1" smtClean="0"/>
              <a:t>ng</a:t>
            </a:r>
            <a:r>
              <a:rPr lang="en-US" dirty="0" smtClean="0"/>
              <a:t> </a:t>
            </a:r>
            <a:r>
              <a:rPr lang="en-US" dirty="0" err="1" smtClean="0"/>
              <a:t>informasyon</a:t>
            </a:r>
            <a:r>
              <a:rPr lang="en-US" dirty="0" smtClean="0"/>
              <a:t>/</a:t>
            </a:r>
            <a:r>
              <a:rPr lang="en-US" dirty="0" err="1" smtClean="0"/>
              <a:t>datos</a:t>
            </a:r>
            <a:r>
              <a:rPr lang="en-US" dirty="0" smtClean="0"/>
              <a:t>.</a:t>
            </a:r>
            <a:endParaRPr lang="en-US" dirty="0"/>
          </a:p>
        </p:txBody>
      </p:sp>
    </p:spTree>
  </p:cSld>
  <p:clrMapOvr>
    <a:masterClrMapping/>
  </p:clrMapOvr>
  <p:transition>
    <p:push/>
  </p:transition>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739775" indent="-630238">
              <a:buNone/>
            </a:pPr>
            <a:r>
              <a:rPr lang="en-US" sz="3200" dirty="0" smtClean="0"/>
              <a:t>24. Ito </a:t>
            </a:r>
            <a:r>
              <a:rPr lang="en-US" sz="3200" dirty="0" err="1" smtClean="0"/>
              <a:t>ang</a:t>
            </a:r>
            <a:r>
              <a:rPr lang="en-US" sz="3200" dirty="0" smtClean="0"/>
              <a:t> </a:t>
            </a:r>
            <a:r>
              <a:rPr lang="en-US" sz="3200" dirty="0" err="1" smtClean="0"/>
              <a:t>katawagan</a:t>
            </a:r>
            <a:r>
              <a:rPr lang="en-US" sz="3200" dirty="0" smtClean="0"/>
              <a:t> </a:t>
            </a:r>
            <a:r>
              <a:rPr lang="en-US" sz="3200" dirty="0" err="1" smtClean="0"/>
              <a:t>sa</a:t>
            </a:r>
            <a:r>
              <a:rPr lang="en-US" sz="3200" dirty="0" smtClean="0"/>
              <a:t> </a:t>
            </a:r>
            <a:r>
              <a:rPr lang="en-US" sz="3200" dirty="0" err="1" smtClean="0"/>
              <a:t>makabuluhang</a:t>
            </a:r>
            <a:r>
              <a:rPr lang="en-US" sz="3200" dirty="0" smtClean="0"/>
              <a:t> </a:t>
            </a:r>
            <a:r>
              <a:rPr lang="en-US" sz="3200" dirty="0" err="1" smtClean="0"/>
              <a:t>tunog</a:t>
            </a:r>
            <a:r>
              <a:rPr lang="en-US" sz="3200" dirty="0" smtClean="0"/>
              <a:t> </a:t>
            </a:r>
            <a:r>
              <a:rPr lang="en-US" sz="3200" dirty="0" err="1" smtClean="0"/>
              <a:t>ng</a:t>
            </a:r>
            <a:r>
              <a:rPr lang="en-US" sz="3200" dirty="0" smtClean="0"/>
              <a:t> </a:t>
            </a:r>
            <a:r>
              <a:rPr lang="en-US" sz="3200" dirty="0" err="1" smtClean="0"/>
              <a:t>wika</a:t>
            </a:r>
            <a:r>
              <a:rPr lang="en-US" sz="3200" dirty="0" smtClean="0"/>
              <a:t>. </a:t>
            </a:r>
          </a:p>
          <a:p>
            <a:pPr marL="739775" indent="-630238">
              <a:buNone/>
            </a:pPr>
            <a:endParaRPr lang="en-US" sz="3200" dirty="0" smtClean="0"/>
          </a:p>
          <a:p>
            <a:pPr marL="1030288" indent="-290513">
              <a:buFont typeface="+mj-lt"/>
              <a:buAutoNum type="alphaUcPeriod"/>
            </a:pPr>
            <a:r>
              <a:rPr lang="en-US" sz="3200" dirty="0" err="1" smtClean="0"/>
              <a:t>Diskurso</a:t>
            </a:r>
            <a:endParaRPr lang="en-US" sz="3200" dirty="0" smtClean="0"/>
          </a:p>
          <a:p>
            <a:pPr marL="1030288" indent="-290513">
              <a:buFont typeface="+mj-lt"/>
              <a:buAutoNum type="alphaUcPeriod"/>
            </a:pPr>
            <a:r>
              <a:rPr lang="en-US" sz="3200" dirty="0" err="1" smtClean="0"/>
              <a:t>Ponema</a:t>
            </a:r>
            <a:endParaRPr lang="en-US" sz="3200" dirty="0" smtClean="0"/>
          </a:p>
          <a:p>
            <a:pPr marL="1030288" indent="-290513">
              <a:buFont typeface="+mj-lt"/>
              <a:buAutoNum type="alphaUcPeriod"/>
            </a:pPr>
            <a:r>
              <a:rPr lang="en-US" sz="3200" dirty="0" err="1" smtClean="0"/>
              <a:t>Morpema</a:t>
            </a:r>
            <a:endParaRPr lang="en-US" sz="3200" dirty="0" smtClean="0"/>
          </a:p>
          <a:p>
            <a:pPr marL="1030288" indent="-290513">
              <a:buFont typeface="+mj-lt"/>
              <a:buAutoNum type="alphaUcPeriod"/>
            </a:pPr>
            <a:r>
              <a:rPr lang="en-US" sz="3200" dirty="0" err="1" smtClean="0"/>
              <a:t>Sintaksis</a:t>
            </a:r>
            <a:endParaRPr lang="en-US" sz="3200" dirty="0" smtClean="0"/>
          </a:p>
          <a:p>
            <a:pPr marL="739775" indent="-630238">
              <a:buNone/>
            </a:pPr>
            <a:endParaRPr lang="en-US" sz="3200" dirty="0" smtClean="0"/>
          </a:p>
        </p:txBody>
      </p:sp>
      <p:pic>
        <p:nvPicPr>
          <p:cNvPr id="4" name="Picture 4" descr="C:\Documents and Settings\Administrator\Desktop\hand_right.gif"/>
          <p:cNvPicPr>
            <a:picLocks noChangeAspect="1" noChangeArrowheads="1" noCrop="1"/>
          </p:cNvPicPr>
          <p:nvPr/>
        </p:nvPicPr>
        <p:blipFill>
          <a:blip r:embed="rId3">
            <a:extLst>
              <a:ext uri="{28A0092B-C50C-407E-A947-70E740481C1C}">
                <a14:useLocalDpi xmlns="" xmlns:a14="http://schemas.microsoft.com/office/drawing/2010/main" val="0"/>
              </a:ext>
            </a:extLst>
          </a:blip>
          <a:srcRect/>
          <a:stretch>
            <a:fillRect/>
          </a:stretch>
        </p:blipFill>
        <p:spPr bwMode="auto">
          <a:xfrm rot="21434720">
            <a:off x="619185" y="38283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762000"/>
            <a:ext cx="8229600" cy="5181600"/>
          </a:xfrm>
        </p:spPr>
        <p:txBody>
          <a:bodyPr>
            <a:normAutofit/>
          </a:bodyPr>
          <a:lstStyle/>
          <a:p>
            <a:r>
              <a:rPr lang="en-US" dirty="0" err="1" smtClean="0"/>
              <a:t>Diskurso</a:t>
            </a:r>
            <a:r>
              <a:rPr lang="en-US" dirty="0" smtClean="0"/>
              <a:t>- </a:t>
            </a:r>
            <a:r>
              <a:rPr lang="en-US" dirty="0" err="1" smtClean="0"/>
              <a:t>isang</a:t>
            </a:r>
            <a:r>
              <a:rPr lang="en-US" dirty="0" smtClean="0"/>
              <a:t> </a:t>
            </a:r>
            <a:r>
              <a:rPr lang="en-US" dirty="0" err="1" smtClean="0"/>
              <a:t>pormal</a:t>
            </a:r>
            <a:r>
              <a:rPr lang="en-US" dirty="0" smtClean="0"/>
              <a:t> o </a:t>
            </a:r>
            <a:r>
              <a:rPr lang="en-US" dirty="0" err="1" smtClean="0"/>
              <a:t>sistematikong</a:t>
            </a:r>
            <a:r>
              <a:rPr lang="en-US" dirty="0" smtClean="0"/>
              <a:t> </a:t>
            </a:r>
            <a:r>
              <a:rPr lang="en-US" dirty="0" err="1" smtClean="0"/>
              <a:t>eksaminsayon</a:t>
            </a:r>
            <a:r>
              <a:rPr lang="en-US" dirty="0" smtClean="0"/>
              <a:t> </a:t>
            </a:r>
            <a:r>
              <a:rPr lang="en-US" dirty="0" err="1" smtClean="0"/>
              <a:t>ng</a:t>
            </a:r>
            <a:r>
              <a:rPr lang="en-US" dirty="0" smtClean="0"/>
              <a:t> </a:t>
            </a:r>
            <a:r>
              <a:rPr lang="en-US" dirty="0" err="1" smtClean="0"/>
              <a:t>isang</a:t>
            </a:r>
            <a:r>
              <a:rPr lang="en-US" dirty="0" smtClean="0"/>
              <a:t> </a:t>
            </a:r>
            <a:r>
              <a:rPr lang="en-US" dirty="0" err="1" smtClean="0"/>
              <a:t>paksa</a:t>
            </a:r>
            <a:r>
              <a:rPr lang="en-US" dirty="0" smtClean="0"/>
              <a:t> </a:t>
            </a:r>
            <a:r>
              <a:rPr lang="en-US" dirty="0" err="1" smtClean="0"/>
              <a:t>pasalita</a:t>
            </a:r>
            <a:r>
              <a:rPr lang="en-US" dirty="0" smtClean="0"/>
              <a:t> man o </a:t>
            </a:r>
            <a:r>
              <a:rPr lang="en-US" dirty="0" err="1" smtClean="0"/>
              <a:t>pasulat</a:t>
            </a:r>
            <a:r>
              <a:rPr lang="en-US" dirty="0" smtClean="0"/>
              <a:t>.</a:t>
            </a:r>
          </a:p>
          <a:p>
            <a:r>
              <a:rPr lang="en-US" dirty="0" err="1" smtClean="0"/>
              <a:t>Ponema</a:t>
            </a:r>
            <a:r>
              <a:rPr lang="en-US" dirty="0" smtClean="0"/>
              <a:t> ay </a:t>
            </a:r>
            <a:r>
              <a:rPr lang="en-US" dirty="0" err="1" smtClean="0"/>
              <a:t>tawag</a:t>
            </a:r>
            <a:r>
              <a:rPr lang="en-US" dirty="0" smtClean="0"/>
              <a:t> </a:t>
            </a:r>
            <a:r>
              <a:rPr lang="en-US" dirty="0" err="1" smtClean="0"/>
              <a:t>sa</a:t>
            </a:r>
            <a:r>
              <a:rPr lang="en-US" dirty="0" smtClean="0"/>
              <a:t> </a:t>
            </a:r>
            <a:r>
              <a:rPr lang="en-US" dirty="0" err="1" smtClean="0"/>
              <a:t>makabuluhang</a:t>
            </a:r>
            <a:r>
              <a:rPr lang="en-US" dirty="0" smtClean="0"/>
              <a:t> </a:t>
            </a:r>
            <a:r>
              <a:rPr lang="en-US" dirty="0" err="1" smtClean="0"/>
              <a:t>yunit</a:t>
            </a:r>
            <a:r>
              <a:rPr lang="en-US" dirty="0" smtClean="0"/>
              <a:t> </a:t>
            </a:r>
            <a:r>
              <a:rPr lang="en-US" dirty="0" err="1" smtClean="0"/>
              <a:t>ng</a:t>
            </a:r>
            <a:r>
              <a:rPr lang="en-US" dirty="0" smtClean="0"/>
              <a:t> </a:t>
            </a:r>
            <a:r>
              <a:rPr lang="en-US" dirty="0" err="1" smtClean="0"/>
              <a:t>binibigkas</a:t>
            </a:r>
            <a:r>
              <a:rPr lang="en-US" dirty="0" smtClean="0"/>
              <a:t> </a:t>
            </a:r>
            <a:r>
              <a:rPr lang="en-US" dirty="0" err="1" smtClean="0"/>
              <a:t>na</a:t>
            </a:r>
            <a:r>
              <a:rPr lang="en-US" dirty="0" smtClean="0"/>
              <a:t> </a:t>
            </a:r>
            <a:r>
              <a:rPr lang="en-US" dirty="0" err="1" smtClean="0"/>
              <a:t>tunog</a:t>
            </a:r>
            <a:r>
              <a:rPr lang="en-US" dirty="0" smtClean="0"/>
              <a:t> </a:t>
            </a:r>
            <a:r>
              <a:rPr lang="en-US" dirty="0" err="1" smtClean="0"/>
              <a:t>sa</a:t>
            </a:r>
            <a:r>
              <a:rPr lang="en-US" dirty="0" smtClean="0"/>
              <a:t> </a:t>
            </a:r>
            <a:r>
              <a:rPr lang="en-US" dirty="0" err="1" smtClean="0"/>
              <a:t>isang</a:t>
            </a:r>
            <a:r>
              <a:rPr lang="en-US" dirty="0" smtClean="0"/>
              <a:t> </a:t>
            </a:r>
            <a:r>
              <a:rPr lang="en-US" dirty="0" err="1" smtClean="0"/>
              <a:t>wika</a:t>
            </a:r>
            <a:r>
              <a:rPr lang="en-US" dirty="0" smtClean="0"/>
              <a:t>.</a:t>
            </a:r>
          </a:p>
          <a:p>
            <a:r>
              <a:rPr lang="sv-SE" dirty="0" smtClean="0"/>
              <a:t>Morpema ay tawag sa pinamakamaliit na makabuluhang yunit ng salita sa isang wika.</a:t>
            </a:r>
            <a:endParaRPr lang="en-US" dirty="0" smtClean="0"/>
          </a:p>
          <a:p>
            <a:r>
              <a:rPr lang="en-US" dirty="0" err="1" smtClean="0"/>
              <a:t>Sintaksis</a:t>
            </a:r>
            <a:r>
              <a:rPr lang="en-US" dirty="0" smtClean="0"/>
              <a:t> - </a:t>
            </a:r>
            <a:r>
              <a:rPr lang="en-US" dirty="0" err="1" smtClean="0"/>
              <a:t>pag-aaral</a:t>
            </a:r>
            <a:r>
              <a:rPr lang="en-US" dirty="0" smtClean="0"/>
              <a:t> </a:t>
            </a:r>
            <a:r>
              <a:rPr lang="en-US" dirty="0" err="1" smtClean="0"/>
              <a:t>ng</a:t>
            </a:r>
            <a:r>
              <a:rPr lang="en-US" dirty="0" smtClean="0"/>
              <a:t> </a:t>
            </a:r>
            <a:r>
              <a:rPr lang="en-US" dirty="0" err="1" smtClean="0"/>
              <a:t>sintaks</a:t>
            </a:r>
            <a:r>
              <a:rPr lang="en-US" dirty="0" smtClean="0"/>
              <a:t>; </a:t>
            </a:r>
            <a:r>
              <a:rPr lang="en-US" dirty="0" err="1" smtClean="0"/>
              <a:t>sintaks</a:t>
            </a:r>
            <a:r>
              <a:rPr lang="en-US" dirty="0" smtClean="0"/>
              <a:t> ay </a:t>
            </a:r>
            <a:r>
              <a:rPr lang="en-US" dirty="0" err="1" smtClean="0"/>
              <a:t>ang</a:t>
            </a:r>
            <a:r>
              <a:rPr lang="en-US" dirty="0" smtClean="0"/>
              <a:t> </a:t>
            </a:r>
            <a:r>
              <a:rPr lang="en-US" dirty="0" err="1" smtClean="0"/>
              <a:t>tawag</a:t>
            </a:r>
            <a:r>
              <a:rPr lang="en-US" dirty="0" smtClean="0"/>
              <a:t> </a:t>
            </a:r>
            <a:r>
              <a:rPr lang="en-US" dirty="0" err="1" smtClean="0"/>
              <a:t>sa</a:t>
            </a:r>
            <a:r>
              <a:rPr lang="en-US" dirty="0" smtClean="0"/>
              <a:t> </a:t>
            </a:r>
            <a:r>
              <a:rPr lang="en-US" dirty="0" err="1" smtClean="0"/>
              <a:t>formasyon</a:t>
            </a:r>
            <a:r>
              <a:rPr lang="en-US" dirty="0" smtClean="0"/>
              <a:t> </a:t>
            </a:r>
            <a:r>
              <a:rPr lang="en-US" dirty="0" err="1" smtClean="0"/>
              <a:t>ng</a:t>
            </a:r>
            <a:r>
              <a:rPr lang="en-US" dirty="0" smtClean="0"/>
              <a:t> </a:t>
            </a:r>
            <a:r>
              <a:rPr lang="en-US" dirty="0" err="1" smtClean="0"/>
              <a:t>mga</a:t>
            </a:r>
            <a:r>
              <a:rPr lang="en-US" dirty="0" smtClean="0"/>
              <a:t> </a:t>
            </a:r>
            <a:r>
              <a:rPr lang="en-US" dirty="0" err="1" smtClean="0"/>
              <a:t>pangungusap</a:t>
            </a:r>
            <a:r>
              <a:rPr lang="en-US" dirty="0" smtClean="0"/>
              <a:t> </a:t>
            </a:r>
            <a:r>
              <a:rPr lang="en-US" dirty="0" err="1" smtClean="0"/>
              <a:t>sa</a:t>
            </a:r>
            <a:r>
              <a:rPr lang="en-US" dirty="0" smtClean="0"/>
              <a:t> </a:t>
            </a:r>
            <a:r>
              <a:rPr lang="en-US" dirty="0" err="1" smtClean="0"/>
              <a:t>isang</a:t>
            </a:r>
            <a:r>
              <a:rPr lang="en-US" dirty="0" smtClean="0"/>
              <a:t> </a:t>
            </a:r>
            <a:r>
              <a:rPr lang="en-US" dirty="0" err="1" smtClean="0"/>
              <a:t>wika</a:t>
            </a:r>
            <a:r>
              <a:rPr lang="en-US" dirty="0" smtClean="0"/>
              <a:t>. Sa Filipino, </a:t>
            </a:r>
            <a:r>
              <a:rPr lang="en-US" dirty="0" err="1" smtClean="0"/>
              <a:t>maaaring</a:t>
            </a:r>
            <a:r>
              <a:rPr lang="en-US" dirty="0" smtClean="0"/>
              <a:t> </a:t>
            </a:r>
            <a:r>
              <a:rPr lang="en-US" dirty="0" err="1" smtClean="0"/>
              <a:t>mauna</a:t>
            </a:r>
            <a:r>
              <a:rPr lang="en-US" dirty="0" smtClean="0"/>
              <a:t> </a:t>
            </a:r>
            <a:r>
              <a:rPr lang="en-US" dirty="0" err="1" smtClean="0"/>
              <a:t>ang</a:t>
            </a:r>
            <a:r>
              <a:rPr lang="en-US" dirty="0" smtClean="0"/>
              <a:t> </a:t>
            </a:r>
            <a:r>
              <a:rPr lang="en-US" dirty="0" err="1" smtClean="0"/>
              <a:t>paksa</a:t>
            </a:r>
            <a:r>
              <a:rPr lang="en-US" dirty="0" smtClean="0"/>
              <a:t> </a:t>
            </a:r>
            <a:r>
              <a:rPr lang="en-US" dirty="0" err="1" smtClean="0"/>
              <a:t>sa</a:t>
            </a:r>
            <a:r>
              <a:rPr lang="en-US" dirty="0" smtClean="0"/>
              <a:t> </a:t>
            </a:r>
            <a:r>
              <a:rPr lang="en-US" dirty="0" err="1" smtClean="0"/>
              <a:t>panaguri</a:t>
            </a:r>
            <a:r>
              <a:rPr lang="en-US" dirty="0" smtClean="0"/>
              <a:t> at </a:t>
            </a:r>
            <a:r>
              <a:rPr lang="en-US" dirty="0" err="1" smtClean="0"/>
              <a:t>posible</a:t>
            </a:r>
            <a:r>
              <a:rPr lang="en-US" dirty="0" smtClean="0"/>
              <a:t> </a:t>
            </a:r>
            <a:r>
              <a:rPr lang="en-US" dirty="0" err="1" smtClean="0"/>
              <a:t>namang</a:t>
            </a:r>
            <a:r>
              <a:rPr lang="en-US" dirty="0" smtClean="0"/>
              <a:t> </a:t>
            </a:r>
            <a:r>
              <a:rPr lang="en-US" dirty="0" err="1" smtClean="0"/>
              <a:t>pagbaligtaran</a:t>
            </a:r>
            <a:r>
              <a:rPr lang="en-US" dirty="0" smtClean="0"/>
              <a:t> </a:t>
            </a:r>
            <a:r>
              <a:rPr lang="en-US" dirty="0" err="1" smtClean="0"/>
              <a:t>ito</a:t>
            </a:r>
            <a:r>
              <a:rPr lang="en-US" dirty="0" smtClean="0"/>
              <a:t>.</a:t>
            </a:r>
          </a:p>
          <a:p>
            <a:pPr>
              <a:buNone/>
            </a:pPr>
            <a:endParaRPr lang="en-US" dirty="0"/>
          </a:p>
        </p:txBody>
      </p:sp>
    </p:spTree>
  </p:cSld>
  <p:clrMapOvr>
    <a:masterClrMapping/>
  </p:clrMapOvr>
  <p:transition>
    <p:push/>
  </p:transition>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739775" indent="-630238">
              <a:buNone/>
            </a:pPr>
            <a:r>
              <a:rPr lang="en-US" sz="3200" dirty="0" smtClean="0"/>
              <a:t>25. </a:t>
            </a:r>
            <a:r>
              <a:rPr lang="en-US" sz="3200" dirty="0" err="1" smtClean="0"/>
              <a:t>Ang</a:t>
            </a:r>
            <a:r>
              <a:rPr lang="en-US" sz="3200" dirty="0" smtClean="0"/>
              <a:t> </a:t>
            </a:r>
            <a:r>
              <a:rPr lang="en-US" sz="3200" dirty="0" err="1" smtClean="0"/>
              <a:t>Wika</a:t>
            </a:r>
            <a:r>
              <a:rPr lang="en-US" sz="3200" dirty="0" smtClean="0"/>
              <a:t> ay </a:t>
            </a:r>
            <a:r>
              <a:rPr lang="en-US" sz="3200" dirty="0" err="1" smtClean="0"/>
              <a:t>dinamiko</a:t>
            </a:r>
            <a:r>
              <a:rPr lang="en-US" sz="3200" dirty="0" smtClean="0"/>
              <a:t> </a:t>
            </a:r>
            <a:r>
              <a:rPr lang="en-US" sz="3200" dirty="0" err="1" smtClean="0"/>
              <a:t>dahil</a:t>
            </a:r>
            <a:r>
              <a:rPr lang="en-US" sz="3200" dirty="0" smtClean="0"/>
              <a:t> </a:t>
            </a:r>
            <a:r>
              <a:rPr lang="en-US" sz="3200" dirty="0" err="1" smtClean="0"/>
              <a:t>ito</a:t>
            </a:r>
            <a:r>
              <a:rPr lang="en-US" sz="3200" dirty="0" smtClean="0"/>
              <a:t> ay </a:t>
            </a:r>
            <a:r>
              <a:rPr lang="en-US" sz="3200" dirty="0" err="1" smtClean="0"/>
              <a:t>patuloy</a:t>
            </a:r>
            <a:r>
              <a:rPr lang="en-US" sz="3200" dirty="0" smtClean="0"/>
              <a:t> </a:t>
            </a:r>
            <a:r>
              <a:rPr lang="en-US" sz="3200" dirty="0" err="1" smtClean="0"/>
              <a:t>na</a:t>
            </a:r>
            <a:r>
              <a:rPr lang="en-US" sz="3200" dirty="0" smtClean="0"/>
              <a:t> ________</a:t>
            </a:r>
          </a:p>
          <a:p>
            <a:pPr marL="739775" indent="-630238">
              <a:buNone/>
            </a:pPr>
            <a:endParaRPr lang="en-US" sz="3200" dirty="0" smtClean="0"/>
          </a:p>
          <a:p>
            <a:pPr marL="1030288" indent="-290513">
              <a:buFont typeface="+mj-lt"/>
              <a:buAutoNum type="alphaUcPeriod"/>
            </a:pPr>
            <a:r>
              <a:rPr lang="en-US" sz="3200" dirty="0" err="1" smtClean="0"/>
              <a:t>Binabasa</a:t>
            </a:r>
            <a:endParaRPr lang="en-US" sz="3200" dirty="0" smtClean="0"/>
          </a:p>
          <a:p>
            <a:pPr marL="1030288" indent="-290513">
              <a:buFont typeface="+mj-lt"/>
              <a:buAutoNum type="alphaUcPeriod"/>
            </a:pPr>
            <a:r>
              <a:rPr lang="en-US" sz="3200" dirty="0" err="1" smtClean="0"/>
              <a:t>Ginagamit</a:t>
            </a:r>
            <a:r>
              <a:rPr lang="en-US" sz="3200" dirty="0" smtClean="0"/>
              <a:t> </a:t>
            </a:r>
          </a:p>
          <a:p>
            <a:pPr marL="1030288" indent="-290513">
              <a:buFont typeface="+mj-lt"/>
              <a:buAutoNum type="alphaUcPeriod"/>
            </a:pPr>
            <a:r>
              <a:rPr lang="en-US" sz="3200" dirty="0" err="1" smtClean="0"/>
              <a:t>Nagbabago</a:t>
            </a:r>
            <a:endParaRPr lang="en-US" sz="3200" dirty="0" smtClean="0"/>
          </a:p>
          <a:p>
            <a:pPr marL="1030288" indent="-290513">
              <a:buFont typeface="+mj-lt"/>
              <a:buAutoNum type="alphaUcPeriod"/>
            </a:pPr>
            <a:r>
              <a:rPr lang="en-US" sz="3200" dirty="0" err="1" smtClean="0"/>
              <a:t>Sinusulat</a:t>
            </a:r>
            <a:endParaRPr lang="en-US" sz="3200" dirty="0" smtClean="0"/>
          </a:p>
          <a:p>
            <a:pPr>
              <a:buNone/>
            </a:pPr>
            <a:endParaRPr lang="en-US" sz="32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619186" y="4285574"/>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990600"/>
            <a:ext cx="8229600" cy="4525963"/>
          </a:xfrm>
        </p:spPr>
        <p:txBody>
          <a:bodyPr>
            <a:normAutofit/>
          </a:bodyPr>
          <a:lstStyle/>
          <a:p>
            <a:pPr marL="739775" indent="-630238">
              <a:buNone/>
            </a:pPr>
            <a:r>
              <a:rPr lang="en-US" sz="3200" dirty="0" smtClean="0"/>
              <a:t>26. </a:t>
            </a:r>
            <a:r>
              <a:rPr lang="en-US" sz="3200" dirty="0" err="1" smtClean="0"/>
              <a:t>Tawag</a:t>
            </a:r>
            <a:r>
              <a:rPr lang="en-US" sz="3200" dirty="0" smtClean="0"/>
              <a:t> </a:t>
            </a:r>
            <a:r>
              <a:rPr lang="en-US" sz="3200" dirty="0" err="1" smtClean="0"/>
              <a:t>sa</a:t>
            </a:r>
            <a:r>
              <a:rPr lang="en-US" sz="3200" dirty="0" smtClean="0"/>
              <a:t> </a:t>
            </a:r>
            <a:r>
              <a:rPr lang="en-US" sz="3200" dirty="0" err="1" smtClean="0"/>
              <a:t>makabuluhang</a:t>
            </a:r>
            <a:r>
              <a:rPr lang="en-US" sz="3200" dirty="0" smtClean="0"/>
              <a:t> </a:t>
            </a:r>
            <a:r>
              <a:rPr lang="en-US" sz="3200" dirty="0" err="1" smtClean="0"/>
              <a:t>palitan</a:t>
            </a:r>
            <a:r>
              <a:rPr lang="en-US" sz="3200" dirty="0" smtClean="0"/>
              <a:t> </a:t>
            </a:r>
            <a:r>
              <a:rPr lang="en-US" sz="3200" dirty="0" err="1" smtClean="0"/>
              <a:t>ng</a:t>
            </a:r>
            <a:r>
              <a:rPr lang="en-US" sz="3200" dirty="0" smtClean="0"/>
              <a:t> </a:t>
            </a:r>
            <a:r>
              <a:rPr lang="en-US" sz="3200" dirty="0" err="1" smtClean="0"/>
              <a:t>mga</a:t>
            </a:r>
            <a:r>
              <a:rPr lang="en-US" sz="3200" dirty="0" smtClean="0"/>
              <a:t> </a:t>
            </a:r>
            <a:r>
              <a:rPr lang="en-US" sz="3200" dirty="0" err="1" smtClean="0"/>
              <a:t>pag-uusap</a:t>
            </a:r>
            <a:r>
              <a:rPr lang="en-US" sz="3200" dirty="0" smtClean="0"/>
              <a:t> at kung </a:t>
            </a:r>
            <a:r>
              <a:rPr lang="en-US" sz="3200" dirty="0" err="1" smtClean="0"/>
              <a:t>paano</a:t>
            </a:r>
            <a:r>
              <a:rPr lang="en-US" sz="3200" dirty="0" smtClean="0"/>
              <a:t> </a:t>
            </a:r>
            <a:r>
              <a:rPr lang="en-US" sz="3200" dirty="0" err="1" smtClean="0"/>
              <a:t>ginagamit</a:t>
            </a:r>
            <a:r>
              <a:rPr lang="en-US" sz="3200" dirty="0" smtClean="0"/>
              <a:t> </a:t>
            </a:r>
            <a:r>
              <a:rPr lang="en-US" sz="3200" dirty="0" err="1" smtClean="0"/>
              <a:t>ang</a:t>
            </a:r>
            <a:r>
              <a:rPr lang="en-US" sz="3200" dirty="0" smtClean="0"/>
              <a:t>  </a:t>
            </a:r>
            <a:r>
              <a:rPr lang="en-US" sz="3200" dirty="0" err="1" smtClean="0"/>
              <a:t>mga</a:t>
            </a:r>
            <a:r>
              <a:rPr lang="en-US" sz="3200" dirty="0" smtClean="0"/>
              <a:t> </a:t>
            </a:r>
            <a:r>
              <a:rPr lang="en-US" sz="3200" dirty="0" err="1" smtClean="0"/>
              <a:t>pangungusap</a:t>
            </a:r>
            <a:r>
              <a:rPr lang="en-US" sz="3200" dirty="0" smtClean="0"/>
              <a:t>. </a:t>
            </a:r>
          </a:p>
          <a:p>
            <a:pPr marL="739775" indent="-630238">
              <a:buNone/>
            </a:pPr>
            <a:endParaRPr lang="en-US" sz="3200" dirty="0" smtClean="0"/>
          </a:p>
          <a:p>
            <a:pPr marL="1030288" indent="-290513">
              <a:buFont typeface="+mj-lt"/>
              <a:buAutoNum type="alphaUcPeriod"/>
            </a:pPr>
            <a:r>
              <a:rPr lang="en-US" sz="3200" dirty="0" err="1" smtClean="0"/>
              <a:t>Retorika</a:t>
            </a:r>
            <a:endParaRPr lang="en-US" sz="3200" dirty="0" smtClean="0"/>
          </a:p>
          <a:p>
            <a:pPr marL="1030288" indent="-290513">
              <a:buFont typeface="+mj-lt"/>
              <a:buAutoNum type="alphaUcPeriod"/>
            </a:pPr>
            <a:r>
              <a:rPr lang="en-US" sz="3200" dirty="0" err="1" smtClean="0"/>
              <a:t>Diskurso</a:t>
            </a:r>
            <a:endParaRPr lang="en-US" sz="3200" dirty="0" smtClean="0"/>
          </a:p>
          <a:p>
            <a:pPr marL="1030288" indent="-290513">
              <a:buFont typeface="+mj-lt"/>
              <a:buAutoNum type="alphaUcPeriod"/>
            </a:pPr>
            <a:r>
              <a:rPr lang="en-US" sz="3200" dirty="0" err="1" smtClean="0"/>
              <a:t>Balarila</a:t>
            </a:r>
            <a:endParaRPr lang="en-US" sz="3200" dirty="0" smtClean="0"/>
          </a:p>
          <a:p>
            <a:pPr marL="1030288" indent="-290513">
              <a:buFont typeface="+mj-lt"/>
              <a:buAutoNum type="alphaUcPeriod"/>
            </a:pPr>
            <a:r>
              <a:rPr lang="en-US" sz="3200" dirty="0" err="1" smtClean="0"/>
              <a:t>Sintaksis</a:t>
            </a:r>
            <a:endParaRPr lang="en-US" sz="3200" dirty="0"/>
          </a:p>
        </p:txBody>
      </p:sp>
      <p:pic>
        <p:nvPicPr>
          <p:cNvPr id="4" name="Picture 4" descr="C:\Documents and Settings\Administrator\Desktop\hand_right.gif"/>
          <p:cNvPicPr>
            <a:picLocks noChangeAspect="1" noChangeArrowheads="1" noCrop="1"/>
          </p:cNvPicPr>
          <p:nvPr/>
        </p:nvPicPr>
        <p:blipFill>
          <a:blip r:embed="rId3">
            <a:extLst>
              <a:ext uri="{28A0092B-C50C-407E-A947-70E740481C1C}">
                <a14:useLocalDpi xmlns="" xmlns:a14="http://schemas.microsoft.com/office/drawing/2010/main" val="0"/>
              </a:ext>
            </a:extLst>
          </a:blip>
          <a:srcRect/>
          <a:stretch>
            <a:fillRect/>
          </a:stretch>
        </p:blipFill>
        <p:spPr bwMode="auto">
          <a:xfrm rot="21434720">
            <a:off x="619184" y="37521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sv-SE" sz="2800" b="1" dirty="0" smtClean="0"/>
              <a:t>Retorika</a:t>
            </a:r>
            <a:r>
              <a:rPr lang="sv-SE" sz="2800" dirty="0" smtClean="0"/>
              <a:t> ay isang mahalagang kaalaman sa pagpapahayag na tumutukoy sa kaakit-akit and magandang pagsasalita at pagsulat.</a:t>
            </a:r>
          </a:p>
          <a:p>
            <a:endParaRPr lang="sv-SE" sz="2800" dirty="0" smtClean="0"/>
          </a:p>
          <a:p>
            <a:r>
              <a:rPr lang="en-US" sz="2800" b="1" dirty="0" err="1" smtClean="0"/>
              <a:t>Balarila</a:t>
            </a:r>
            <a:r>
              <a:rPr lang="en-US" sz="2800" dirty="0" smtClean="0"/>
              <a:t>- </a:t>
            </a:r>
            <a:r>
              <a:rPr lang="en-US" sz="2800" dirty="0" err="1" smtClean="0"/>
              <a:t>gramatika</a:t>
            </a:r>
            <a:endParaRPr lang="en-US" sz="2800" dirty="0"/>
          </a:p>
        </p:txBody>
      </p:sp>
    </p:spTree>
  </p:cSld>
  <p:clrMapOvr>
    <a:masterClrMapping/>
  </p:clrMapOvr>
  <p:transition>
    <p:push/>
  </p:transition>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838200"/>
            <a:ext cx="8229600" cy="4525963"/>
          </a:xfrm>
        </p:spPr>
        <p:txBody>
          <a:bodyPr>
            <a:normAutofit/>
          </a:bodyPr>
          <a:lstStyle/>
          <a:p>
            <a:pPr marL="739775" indent="-630238">
              <a:buNone/>
            </a:pPr>
            <a:r>
              <a:rPr lang="en-US" sz="3200" dirty="0" smtClean="0"/>
              <a:t>27. </a:t>
            </a:r>
            <a:r>
              <a:rPr lang="en-US" sz="3200" dirty="0" err="1" smtClean="0"/>
              <a:t>Ang</a:t>
            </a:r>
            <a:r>
              <a:rPr lang="en-US" sz="3200" dirty="0" smtClean="0"/>
              <a:t> </a:t>
            </a:r>
            <a:r>
              <a:rPr lang="en-US" sz="3200" dirty="0" err="1" smtClean="0"/>
              <a:t>ponemang</a:t>
            </a:r>
            <a:r>
              <a:rPr lang="en-US" sz="3200" dirty="0" smtClean="0"/>
              <a:t> /p/, /b/ at /m/ ay </a:t>
            </a:r>
            <a:r>
              <a:rPr lang="en-US" sz="3200" dirty="0" err="1" smtClean="0"/>
              <a:t>binibigkas</a:t>
            </a:r>
            <a:r>
              <a:rPr lang="en-US" sz="3200" dirty="0" smtClean="0"/>
              <a:t> </a:t>
            </a:r>
            <a:r>
              <a:rPr lang="en-US" sz="3200" dirty="0" err="1" smtClean="0"/>
              <a:t>ng</a:t>
            </a:r>
            <a:r>
              <a:rPr lang="en-US" sz="3200" dirty="0" smtClean="0"/>
              <a:t> ________ </a:t>
            </a:r>
          </a:p>
          <a:p>
            <a:pPr marL="739775" indent="-630238">
              <a:buNone/>
            </a:pPr>
            <a:endParaRPr lang="en-US" sz="3200" dirty="0" smtClean="0"/>
          </a:p>
          <a:p>
            <a:pPr marL="1146175" indent="-347663">
              <a:buFont typeface="+mj-lt"/>
              <a:buAutoNum type="alphaUcPeriod"/>
            </a:pPr>
            <a:r>
              <a:rPr lang="en-US" sz="3200" dirty="0" err="1" smtClean="0"/>
              <a:t>pangngipin</a:t>
            </a:r>
            <a:r>
              <a:rPr lang="en-US" sz="3200" dirty="0" smtClean="0"/>
              <a:t> </a:t>
            </a:r>
          </a:p>
          <a:p>
            <a:pPr marL="1146175" indent="-347663">
              <a:buFont typeface="+mj-lt"/>
              <a:buAutoNum type="alphaUcPeriod"/>
            </a:pPr>
            <a:r>
              <a:rPr lang="en-US" sz="3200" dirty="0" err="1" smtClean="0"/>
              <a:t>panggilagid</a:t>
            </a:r>
            <a:endParaRPr lang="en-US" sz="3200" dirty="0" smtClean="0"/>
          </a:p>
          <a:p>
            <a:pPr marL="1146175" indent="-347663">
              <a:buFont typeface="+mj-lt"/>
              <a:buAutoNum type="alphaUcPeriod"/>
            </a:pPr>
            <a:r>
              <a:rPr lang="en-US" sz="3200" dirty="0" err="1" smtClean="0"/>
              <a:t>panlabi</a:t>
            </a:r>
            <a:r>
              <a:rPr lang="en-US" sz="3200" dirty="0" smtClean="0"/>
              <a:t> </a:t>
            </a:r>
          </a:p>
          <a:p>
            <a:pPr marL="1146175" indent="-347663">
              <a:buFont typeface="+mj-lt"/>
              <a:buAutoNum type="alphaUcPeriod"/>
            </a:pPr>
            <a:r>
              <a:rPr lang="en-US" sz="3200" dirty="0" smtClean="0"/>
              <a:t>velar</a:t>
            </a:r>
            <a:endParaRPr lang="en-US" sz="3200" dirty="0"/>
          </a:p>
        </p:txBody>
      </p:sp>
      <p:pic>
        <p:nvPicPr>
          <p:cNvPr id="4" name="Picture 4" descr="C:\Documents and Settings\Administrator\Desktop\hand_right.gif"/>
          <p:cNvPicPr>
            <a:picLocks noChangeAspect="1" noChangeArrowheads="1" noCrop="1"/>
          </p:cNvPicPr>
          <p:nvPr/>
        </p:nvPicPr>
        <p:blipFill>
          <a:blip r:embed="rId3">
            <a:extLst>
              <a:ext uri="{28A0092B-C50C-407E-A947-70E740481C1C}">
                <a14:useLocalDpi xmlns="" xmlns:a14="http://schemas.microsoft.com/office/drawing/2010/main" val="0"/>
              </a:ext>
            </a:extLst>
          </a:blip>
          <a:srcRect/>
          <a:stretch>
            <a:fillRect/>
          </a:stretch>
        </p:blipFill>
        <p:spPr bwMode="auto">
          <a:xfrm rot="21434720">
            <a:off x="619186" y="3675974"/>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609600"/>
            <a:ext cx="8382000" cy="5638800"/>
          </a:xfrm>
        </p:spPr>
        <p:txBody>
          <a:bodyPr>
            <a:normAutofit fontScale="85000" lnSpcReduction="20000"/>
          </a:bodyPr>
          <a:lstStyle/>
          <a:p>
            <a:pPr>
              <a:buNone/>
            </a:pPr>
            <a:r>
              <a:rPr lang="en-US" dirty="0" smtClean="0"/>
              <a:t>	1. </a:t>
            </a:r>
            <a:r>
              <a:rPr lang="en-US" b="1" dirty="0" err="1" smtClean="0"/>
              <a:t>Panlabi</a:t>
            </a:r>
            <a:r>
              <a:rPr lang="en-US" dirty="0" smtClean="0"/>
              <a:t> – </a:t>
            </a:r>
            <a:r>
              <a:rPr lang="en-US" dirty="0" err="1" smtClean="0"/>
              <a:t>dumidiit</a:t>
            </a:r>
            <a:r>
              <a:rPr lang="en-US" dirty="0" smtClean="0"/>
              <a:t> </a:t>
            </a:r>
            <a:r>
              <a:rPr lang="en-US" dirty="0" err="1" smtClean="0"/>
              <a:t>ang</a:t>
            </a:r>
            <a:r>
              <a:rPr lang="en-US" dirty="0" smtClean="0"/>
              <a:t> </a:t>
            </a:r>
            <a:r>
              <a:rPr lang="en-US" dirty="0" err="1" smtClean="0"/>
              <a:t>ibabang</a:t>
            </a:r>
            <a:r>
              <a:rPr lang="en-US" dirty="0" smtClean="0"/>
              <a:t> </a:t>
            </a:r>
            <a:r>
              <a:rPr lang="en-US" dirty="0" err="1" smtClean="0"/>
              <a:t>labi</a:t>
            </a:r>
            <a:r>
              <a:rPr lang="en-US" dirty="0" smtClean="0"/>
              <a:t> </a:t>
            </a:r>
            <a:r>
              <a:rPr lang="en-US" dirty="0" err="1" smtClean="0"/>
              <a:t>sa</a:t>
            </a:r>
            <a:r>
              <a:rPr lang="en-US" dirty="0" smtClean="0"/>
              <a:t> </a:t>
            </a:r>
            <a:r>
              <a:rPr lang="en-US" dirty="0" err="1" smtClean="0"/>
              <a:t>labing</a:t>
            </a:r>
            <a:r>
              <a:rPr lang="en-US" dirty="0" smtClean="0"/>
              <a:t> </a:t>
            </a:r>
            <a:r>
              <a:rPr lang="en-US" dirty="0" err="1" smtClean="0"/>
              <a:t>itaas</a:t>
            </a:r>
            <a:r>
              <a:rPr lang="en-US" dirty="0" smtClean="0"/>
              <a:t> /</a:t>
            </a:r>
            <a:r>
              <a:rPr lang="en-US" dirty="0" err="1" smtClean="0"/>
              <a:t>p,b,m</a:t>
            </a:r>
            <a:r>
              <a:rPr lang="en-US" dirty="0" smtClean="0"/>
              <a:t>/.</a:t>
            </a:r>
            <a:br>
              <a:rPr lang="en-US" dirty="0" smtClean="0"/>
            </a:br>
            <a:r>
              <a:rPr lang="en-US" dirty="0" smtClean="0"/>
              <a:t>2. </a:t>
            </a:r>
            <a:r>
              <a:rPr lang="en-US" b="1" dirty="0" err="1" smtClean="0"/>
              <a:t>Pangngipin</a:t>
            </a:r>
            <a:r>
              <a:rPr lang="en-US" dirty="0" smtClean="0"/>
              <a:t> – </a:t>
            </a:r>
            <a:r>
              <a:rPr lang="en-US" dirty="0" err="1" smtClean="0"/>
              <a:t>dumidiit</a:t>
            </a:r>
            <a:r>
              <a:rPr lang="en-US" dirty="0" smtClean="0"/>
              <a:t> </a:t>
            </a:r>
            <a:r>
              <a:rPr lang="en-US" dirty="0" err="1" smtClean="0"/>
              <a:t>sa</a:t>
            </a:r>
            <a:r>
              <a:rPr lang="en-US" dirty="0" smtClean="0"/>
              <a:t> </a:t>
            </a:r>
            <a:r>
              <a:rPr lang="en-US" dirty="0" err="1" smtClean="0"/>
              <a:t>loob</a:t>
            </a:r>
            <a:r>
              <a:rPr lang="en-US" dirty="0" smtClean="0"/>
              <a:t> </a:t>
            </a:r>
            <a:r>
              <a:rPr lang="en-US" dirty="0" err="1" smtClean="0"/>
              <a:t>ng</a:t>
            </a:r>
            <a:r>
              <a:rPr lang="en-US" dirty="0" smtClean="0"/>
              <a:t> </a:t>
            </a:r>
            <a:r>
              <a:rPr lang="en-US" dirty="0" err="1" smtClean="0"/>
              <a:t>mga</a:t>
            </a:r>
            <a:r>
              <a:rPr lang="en-US" dirty="0" smtClean="0"/>
              <a:t> </a:t>
            </a:r>
            <a:r>
              <a:rPr lang="en-US" dirty="0" err="1" smtClean="0"/>
              <a:t>ngiping</a:t>
            </a:r>
            <a:r>
              <a:rPr lang="en-US" dirty="0" smtClean="0"/>
              <a:t> </a:t>
            </a:r>
            <a:r>
              <a:rPr lang="en-US" dirty="0" err="1" smtClean="0"/>
              <a:t>itaas</a:t>
            </a:r>
            <a:r>
              <a:rPr lang="en-US" dirty="0" smtClean="0"/>
              <a:t> </a:t>
            </a:r>
            <a:r>
              <a:rPr lang="en-US" dirty="0" err="1" smtClean="0"/>
              <a:t>ang</a:t>
            </a:r>
            <a:r>
              <a:rPr lang="en-US" dirty="0" smtClean="0"/>
              <a:t> </a:t>
            </a:r>
            <a:r>
              <a:rPr lang="en-US" dirty="0" err="1" smtClean="0"/>
              <a:t>dulo</a:t>
            </a:r>
            <a:r>
              <a:rPr lang="en-US" dirty="0" smtClean="0"/>
              <a:t> </a:t>
            </a:r>
            <a:r>
              <a:rPr lang="en-US" dirty="0" err="1" smtClean="0"/>
              <a:t>ng</a:t>
            </a:r>
            <a:r>
              <a:rPr lang="en-US" dirty="0" smtClean="0"/>
              <a:t> </a:t>
            </a:r>
            <a:r>
              <a:rPr lang="en-US" dirty="0" err="1" smtClean="0"/>
              <a:t>dila</a:t>
            </a:r>
            <a:r>
              <a:rPr lang="en-US" dirty="0" smtClean="0"/>
              <a:t> /</a:t>
            </a:r>
            <a:r>
              <a:rPr lang="en-US" dirty="0" err="1" smtClean="0"/>
              <a:t>t,d,n</a:t>
            </a:r>
            <a:r>
              <a:rPr lang="en-US" dirty="0" smtClean="0"/>
              <a:t>/.</a:t>
            </a:r>
            <a:br>
              <a:rPr lang="en-US" dirty="0" smtClean="0"/>
            </a:br>
            <a:r>
              <a:rPr lang="en-US" dirty="0" smtClean="0"/>
              <a:t>3. </a:t>
            </a:r>
            <a:r>
              <a:rPr lang="en-US" b="1" dirty="0" err="1" smtClean="0"/>
              <a:t>Panlabi-Pangngipin</a:t>
            </a:r>
            <a:r>
              <a:rPr lang="en-US" b="1" dirty="0" smtClean="0"/>
              <a:t> </a:t>
            </a:r>
            <a:r>
              <a:rPr lang="en-US" dirty="0" smtClean="0"/>
              <a:t>– </a:t>
            </a:r>
            <a:r>
              <a:rPr lang="en-US" dirty="0" err="1" smtClean="0"/>
              <a:t>dumidiit</a:t>
            </a:r>
            <a:r>
              <a:rPr lang="en-US" dirty="0" smtClean="0"/>
              <a:t> </a:t>
            </a:r>
            <a:r>
              <a:rPr lang="en-US" dirty="0" err="1" smtClean="0"/>
              <a:t>ang</a:t>
            </a:r>
            <a:r>
              <a:rPr lang="en-US" dirty="0" smtClean="0"/>
              <a:t> </a:t>
            </a:r>
            <a:r>
              <a:rPr lang="en-US" dirty="0" err="1" smtClean="0"/>
              <a:t>ibabang</a:t>
            </a:r>
            <a:r>
              <a:rPr lang="en-US" dirty="0" smtClean="0"/>
              <a:t> </a:t>
            </a:r>
            <a:r>
              <a:rPr lang="en-US" dirty="0" err="1" smtClean="0"/>
              <a:t>labi</a:t>
            </a:r>
            <a:r>
              <a:rPr lang="en-US" dirty="0" smtClean="0"/>
              <a:t> </a:t>
            </a:r>
            <a:r>
              <a:rPr lang="en-US" dirty="0" err="1" smtClean="0"/>
              <a:t>sa</a:t>
            </a:r>
            <a:r>
              <a:rPr lang="en-US" dirty="0" smtClean="0"/>
              <a:t> </a:t>
            </a:r>
            <a:r>
              <a:rPr lang="en-US" dirty="0" err="1" smtClean="0"/>
              <a:t>mga</a:t>
            </a:r>
            <a:r>
              <a:rPr lang="en-US" dirty="0" smtClean="0"/>
              <a:t> </a:t>
            </a:r>
            <a:r>
              <a:rPr lang="en-US" dirty="0" err="1" smtClean="0"/>
              <a:t>itaas</a:t>
            </a:r>
            <a:r>
              <a:rPr lang="en-US" dirty="0" smtClean="0"/>
              <a:t> </a:t>
            </a:r>
            <a:r>
              <a:rPr lang="en-US" dirty="0" err="1" smtClean="0"/>
              <a:t>na</a:t>
            </a:r>
            <a:r>
              <a:rPr lang="en-US" dirty="0" smtClean="0"/>
              <a:t> </a:t>
            </a:r>
            <a:r>
              <a:rPr lang="en-US" dirty="0" err="1" smtClean="0"/>
              <a:t>ngipin</a:t>
            </a:r>
            <a:r>
              <a:rPr lang="en-US" dirty="0" smtClean="0"/>
              <a:t> /</a:t>
            </a:r>
            <a:r>
              <a:rPr lang="en-US" dirty="0" err="1" smtClean="0"/>
              <a:t>f,v</a:t>
            </a:r>
            <a:r>
              <a:rPr lang="en-US" dirty="0" smtClean="0"/>
              <a:t>/.</a:t>
            </a:r>
            <a:br>
              <a:rPr lang="en-US" dirty="0" smtClean="0"/>
            </a:br>
            <a:r>
              <a:rPr lang="en-US" dirty="0" smtClean="0"/>
              <a:t>4. </a:t>
            </a:r>
            <a:r>
              <a:rPr lang="en-US" b="1" dirty="0" err="1" smtClean="0"/>
              <a:t>Panggilagid</a:t>
            </a:r>
            <a:r>
              <a:rPr lang="en-US" b="1" dirty="0" smtClean="0"/>
              <a:t> </a:t>
            </a:r>
            <a:r>
              <a:rPr lang="en-US" dirty="0" smtClean="0"/>
              <a:t>– </a:t>
            </a:r>
            <a:r>
              <a:rPr lang="en-US" dirty="0" err="1" smtClean="0"/>
              <a:t>ang</a:t>
            </a:r>
            <a:r>
              <a:rPr lang="en-US" dirty="0" smtClean="0"/>
              <a:t> </a:t>
            </a:r>
            <a:r>
              <a:rPr lang="en-US" dirty="0" err="1" smtClean="0"/>
              <a:t>ibabaw</a:t>
            </a:r>
            <a:r>
              <a:rPr lang="en-US" dirty="0" smtClean="0"/>
              <a:t> </a:t>
            </a:r>
            <a:r>
              <a:rPr lang="en-US" dirty="0" err="1" smtClean="0"/>
              <a:t>ng</a:t>
            </a:r>
            <a:r>
              <a:rPr lang="en-US" dirty="0" smtClean="0"/>
              <a:t> </a:t>
            </a:r>
            <a:r>
              <a:rPr lang="en-US" dirty="0" err="1" smtClean="0"/>
              <a:t>dulong</a:t>
            </a:r>
            <a:r>
              <a:rPr lang="en-US" dirty="0" smtClean="0"/>
              <a:t> </a:t>
            </a:r>
            <a:r>
              <a:rPr lang="en-US" dirty="0" err="1" smtClean="0"/>
              <a:t>dila</a:t>
            </a:r>
            <a:r>
              <a:rPr lang="en-US" dirty="0" smtClean="0"/>
              <a:t> ay </a:t>
            </a:r>
            <a:r>
              <a:rPr lang="en-US" dirty="0" err="1" smtClean="0"/>
              <a:t>lumalapit</a:t>
            </a:r>
            <a:r>
              <a:rPr lang="en-US" dirty="0" smtClean="0"/>
              <a:t> o </a:t>
            </a:r>
            <a:r>
              <a:rPr lang="en-US" dirty="0" err="1" smtClean="0"/>
              <a:t>dumidiit</a:t>
            </a:r>
            <a:r>
              <a:rPr lang="en-US" dirty="0" smtClean="0"/>
              <a:t> </a:t>
            </a:r>
            <a:r>
              <a:rPr lang="en-US" dirty="0" err="1" smtClean="0"/>
              <a:t>sa</a:t>
            </a:r>
            <a:r>
              <a:rPr lang="en-US" dirty="0" smtClean="0"/>
              <a:t> </a:t>
            </a:r>
            <a:r>
              <a:rPr lang="en-US" dirty="0" err="1" smtClean="0"/>
              <a:t>punong</a:t>
            </a:r>
            <a:r>
              <a:rPr lang="en-US" dirty="0" smtClean="0"/>
              <a:t> </a:t>
            </a:r>
            <a:r>
              <a:rPr lang="en-US" dirty="0" err="1" smtClean="0"/>
              <a:t>gilagid</a:t>
            </a:r>
            <a:r>
              <a:rPr lang="en-US" dirty="0" smtClean="0"/>
              <a:t> /</a:t>
            </a:r>
            <a:r>
              <a:rPr lang="en-US" dirty="0" err="1" smtClean="0"/>
              <a:t>s,z,l,r</a:t>
            </a:r>
            <a:r>
              <a:rPr lang="en-US" dirty="0" smtClean="0"/>
              <a:t>/.</a:t>
            </a:r>
            <a:br>
              <a:rPr lang="en-US" dirty="0" smtClean="0"/>
            </a:br>
            <a:r>
              <a:rPr lang="en-US" dirty="0" smtClean="0"/>
              <a:t>5</a:t>
            </a:r>
            <a:r>
              <a:rPr lang="en-US" b="1" dirty="0" smtClean="0"/>
              <a:t>. Palatal </a:t>
            </a:r>
            <a:r>
              <a:rPr lang="en-US" dirty="0" smtClean="0"/>
              <a:t>– </a:t>
            </a:r>
            <a:r>
              <a:rPr lang="en-US" dirty="0" err="1" smtClean="0"/>
              <a:t>lumalapit</a:t>
            </a:r>
            <a:r>
              <a:rPr lang="en-US" dirty="0" smtClean="0"/>
              <a:t> o </a:t>
            </a:r>
            <a:r>
              <a:rPr lang="en-US" dirty="0" err="1" smtClean="0"/>
              <a:t>dumidiit</a:t>
            </a:r>
            <a:r>
              <a:rPr lang="en-US" dirty="0" smtClean="0"/>
              <a:t> </a:t>
            </a:r>
            <a:r>
              <a:rPr lang="en-US" dirty="0" err="1" smtClean="0"/>
              <a:t>sa</a:t>
            </a:r>
            <a:r>
              <a:rPr lang="en-US" dirty="0" smtClean="0"/>
              <a:t> </a:t>
            </a:r>
            <a:r>
              <a:rPr lang="en-US" dirty="0" err="1" smtClean="0"/>
              <a:t>matigas</a:t>
            </a:r>
            <a:r>
              <a:rPr lang="en-US" dirty="0" smtClean="0"/>
              <a:t> </a:t>
            </a:r>
            <a:r>
              <a:rPr lang="en-US" dirty="0" err="1" smtClean="0"/>
              <a:t>na</a:t>
            </a:r>
            <a:r>
              <a:rPr lang="en-US" dirty="0" smtClean="0"/>
              <a:t> </a:t>
            </a:r>
            <a:r>
              <a:rPr lang="en-US" dirty="0" err="1" smtClean="0"/>
              <a:t>bahagi</a:t>
            </a:r>
            <a:r>
              <a:rPr lang="en-US" dirty="0" smtClean="0"/>
              <a:t> </a:t>
            </a:r>
            <a:r>
              <a:rPr lang="en-US" dirty="0" err="1" smtClean="0"/>
              <a:t>ng</a:t>
            </a:r>
            <a:r>
              <a:rPr lang="en-US" dirty="0" smtClean="0"/>
              <a:t> </a:t>
            </a:r>
            <a:r>
              <a:rPr lang="en-US" dirty="0" err="1" smtClean="0"/>
              <a:t>ngalangala</a:t>
            </a:r>
            <a:r>
              <a:rPr lang="en-US" dirty="0" smtClean="0"/>
              <a:t> </a:t>
            </a:r>
            <a:r>
              <a:rPr lang="en-US" dirty="0" err="1" smtClean="0"/>
              <a:t>ang</a:t>
            </a:r>
            <a:r>
              <a:rPr lang="en-US" dirty="0" smtClean="0"/>
              <a:t> </a:t>
            </a:r>
            <a:r>
              <a:rPr lang="en-US" dirty="0" err="1" smtClean="0"/>
              <a:t>ibabaw</a:t>
            </a:r>
            <a:r>
              <a:rPr lang="en-US" dirty="0" smtClean="0"/>
              <a:t> </a:t>
            </a:r>
            <a:r>
              <a:rPr lang="en-US" dirty="0" err="1" smtClean="0"/>
              <a:t>ng</a:t>
            </a:r>
            <a:r>
              <a:rPr lang="en-US" dirty="0" smtClean="0"/>
              <a:t> </a:t>
            </a:r>
            <a:r>
              <a:rPr lang="en-US" dirty="0" err="1" smtClean="0"/>
              <a:t>punong</a:t>
            </a:r>
            <a:r>
              <a:rPr lang="en-US" dirty="0" smtClean="0"/>
              <a:t> </a:t>
            </a:r>
            <a:r>
              <a:rPr lang="en-US" dirty="0" err="1" smtClean="0"/>
              <a:t>dila</a:t>
            </a:r>
            <a:r>
              <a:rPr lang="en-US" dirty="0" smtClean="0"/>
              <a:t> /y/.</a:t>
            </a:r>
            <a:br>
              <a:rPr lang="en-US" dirty="0" smtClean="0"/>
            </a:br>
            <a:r>
              <a:rPr lang="en-US" dirty="0" smtClean="0"/>
              <a:t>6. </a:t>
            </a:r>
            <a:r>
              <a:rPr lang="en-US" b="1" dirty="0" smtClean="0"/>
              <a:t>Vela</a:t>
            </a:r>
            <a:r>
              <a:rPr lang="en-US" dirty="0" smtClean="0"/>
              <a:t>r – </a:t>
            </a:r>
            <a:r>
              <a:rPr lang="en-US" dirty="0" err="1" smtClean="0"/>
              <a:t>dumidiit</a:t>
            </a:r>
            <a:r>
              <a:rPr lang="en-US" dirty="0" smtClean="0"/>
              <a:t> </a:t>
            </a:r>
            <a:r>
              <a:rPr lang="en-US" dirty="0" err="1" smtClean="0"/>
              <a:t>sa</a:t>
            </a:r>
            <a:r>
              <a:rPr lang="en-US" dirty="0" smtClean="0"/>
              <a:t> velum o </a:t>
            </a:r>
            <a:r>
              <a:rPr lang="en-US" dirty="0" err="1" smtClean="0"/>
              <a:t>malambot</a:t>
            </a:r>
            <a:r>
              <a:rPr lang="en-US" dirty="0" smtClean="0"/>
              <a:t> </a:t>
            </a:r>
            <a:r>
              <a:rPr lang="en-US" dirty="0" err="1" smtClean="0"/>
              <a:t>na</a:t>
            </a:r>
            <a:r>
              <a:rPr lang="en-US" dirty="0" smtClean="0"/>
              <a:t> </a:t>
            </a:r>
            <a:r>
              <a:rPr lang="en-US" dirty="0" err="1" smtClean="0"/>
              <a:t>bahagi</a:t>
            </a:r>
            <a:r>
              <a:rPr lang="en-US" dirty="0" smtClean="0"/>
              <a:t> </a:t>
            </a:r>
            <a:r>
              <a:rPr lang="en-US" dirty="0" err="1" smtClean="0"/>
              <a:t>ng</a:t>
            </a:r>
            <a:r>
              <a:rPr lang="en-US" dirty="0" smtClean="0"/>
              <a:t> </a:t>
            </a:r>
            <a:r>
              <a:rPr lang="en-US" dirty="0" err="1" smtClean="0"/>
              <a:t>ngalangala</a:t>
            </a:r>
            <a:r>
              <a:rPr lang="en-US" dirty="0" smtClean="0"/>
              <a:t> </a:t>
            </a:r>
            <a:r>
              <a:rPr lang="en-US" dirty="0" err="1" smtClean="0"/>
              <a:t>ang</a:t>
            </a:r>
            <a:r>
              <a:rPr lang="en-US" dirty="0" smtClean="0"/>
              <a:t> </a:t>
            </a:r>
            <a:r>
              <a:rPr lang="en-US" dirty="0" err="1" smtClean="0"/>
              <a:t>ibabaw</a:t>
            </a:r>
            <a:r>
              <a:rPr lang="en-US" dirty="0" smtClean="0"/>
              <a:t> </a:t>
            </a:r>
            <a:r>
              <a:rPr lang="en-US" dirty="0" err="1" smtClean="0"/>
              <a:t>ng</a:t>
            </a:r>
            <a:r>
              <a:rPr lang="en-US" dirty="0" smtClean="0"/>
              <a:t> </a:t>
            </a:r>
            <a:r>
              <a:rPr lang="en-US" dirty="0" err="1" smtClean="0"/>
              <a:t>punong</a:t>
            </a:r>
            <a:r>
              <a:rPr lang="en-US" dirty="0" smtClean="0"/>
              <a:t> </a:t>
            </a:r>
            <a:r>
              <a:rPr lang="en-US" dirty="0" err="1" smtClean="0"/>
              <a:t>dila</a:t>
            </a:r>
            <a:r>
              <a:rPr lang="en-US" dirty="0" smtClean="0"/>
              <a:t> /</a:t>
            </a:r>
            <a:r>
              <a:rPr lang="en-US" dirty="0" err="1" smtClean="0"/>
              <a:t>k,g,ŋ,w</a:t>
            </a:r>
            <a:r>
              <a:rPr lang="en-US" dirty="0" smtClean="0"/>
              <a:t>/.</a:t>
            </a:r>
            <a:br>
              <a:rPr lang="en-US" dirty="0" smtClean="0"/>
            </a:br>
            <a:r>
              <a:rPr lang="en-US" dirty="0" smtClean="0"/>
              <a:t>7. </a:t>
            </a:r>
            <a:r>
              <a:rPr lang="en-US" b="1" dirty="0" err="1" smtClean="0"/>
              <a:t>Panlalamunan</a:t>
            </a:r>
            <a:r>
              <a:rPr lang="en-US" dirty="0" smtClean="0"/>
              <a:t> – </a:t>
            </a:r>
            <a:r>
              <a:rPr lang="en-US" dirty="0" err="1" smtClean="0"/>
              <a:t>ang</a:t>
            </a:r>
            <a:r>
              <a:rPr lang="en-US" dirty="0" smtClean="0"/>
              <a:t> </a:t>
            </a:r>
            <a:r>
              <a:rPr lang="en-US" dirty="0" err="1" smtClean="0"/>
              <a:t>likurang</a:t>
            </a:r>
            <a:r>
              <a:rPr lang="en-US" dirty="0" smtClean="0"/>
              <a:t> </a:t>
            </a:r>
            <a:r>
              <a:rPr lang="en-US" dirty="0" err="1" smtClean="0"/>
              <a:t>bahagi</a:t>
            </a:r>
            <a:r>
              <a:rPr lang="en-US" dirty="0" smtClean="0"/>
              <a:t> </a:t>
            </a:r>
            <a:r>
              <a:rPr lang="en-US" dirty="0" err="1" smtClean="0"/>
              <a:t>ng</a:t>
            </a:r>
            <a:r>
              <a:rPr lang="en-US" dirty="0" smtClean="0"/>
              <a:t> </a:t>
            </a:r>
            <a:r>
              <a:rPr lang="en-US" dirty="0" err="1" smtClean="0"/>
              <a:t>dila</a:t>
            </a:r>
            <a:r>
              <a:rPr lang="en-US" dirty="0" smtClean="0"/>
              <a:t> ay </a:t>
            </a:r>
            <a:r>
              <a:rPr lang="en-US" dirty="0" err="1" smtClean="0"/>
              <a:t>dumidiit</a:t>
            </a:r>
            <a:r>
              <a:rPr lang="en-US" dirty="0" smtClean="0"/>
              <a:t> </a:t>
            </a:r>
            <a:r>
              <a:rPr lang="en-US" dirty="0" err="1" smtClean="0"/>
              <a:t>sa</a:t>
            </a:r>
            <a:r>
              <a:rPr lang="en-US" dirty="0" smtClean="0"/>
              <a:t> </a:t>
            </a:r>
            <a:r>
              <a:rPr lang="en-US" dirty="0" err="1" smtClean="0"/>
              <a:t>lalamunan</a:t>
            </a:r>
            <a:r>
              <a:rPr lang="en-US" dirty="0" smtClean="0"/>
              <a:t> /j/.</a:t>
            </a:r>
            <a:br>
              <a:rPr lang="en-US" dirty="0" smtClean="0"/>
            </a:br>
            <a:r>
              <a:rPr lang="en-US" dirty="0" smtClean="0"/>
              <a:t>8. </a:t>
            </a:r>
            <a:r>
              <a:rPr lang="en-US" b="1" dirty="0" smtClean="0"/>
              <a:t>Glottal</a:t>
            </a:r>
            <a:r>
              <a:rPr lang="en-US" dirty="0" smtClean="0"/>
              <a:t> – </a:t>
            </a:r>
            <a:r>
              <a:rPr lang="en-US" dirty="0" err="1" smtClean="0"/>
              <a:t>lumalapit</a:t>
            </a:r>
            <a:r>
              <a:rPr lang="en-US" dirty="0" smtClean="0"/>
              <a:t> o </a:t>
            </a:r>
            <a:r>
              <a:rPr lang="en-US" dirty="0" err="1" smtClean="0"/>
              <a:t>dumidiit</a:t>
            </a:r>
            <a:r>
              <a:rPr lang="en-US" dirty="0" smtClean="0"/>
              <a:t> </a:t>
            </a:r>
            <a:r>
              <a:rPr lang="en-US" dirty="0" err="1" smtClean="0"/>
              <a:t>ang</a:t>
            </a:r>
            <a:r>
              <a:rPr lang="en-US" dirty="0" smtClean="0"/>
              <a:t> </a:t>
            </a:r>
            <a:r>
              <a:rPr lang="en-US" dirty="0" err="1" smtClean="0"/>
              <a:t>mga</a:t>
            </a:r>
            <a:r>
              <a:rPr lang="en-US" dirty="0" smtClean="0"/>
              <a:t> </a:t>
            </a:r>
            <a:r>
              <a:rPr lang="en-US" dirty="0" err="1" smtClean="0"/>
              <a:t>babagtingang</a:t>
            </a:r>
            <a:r>
              <a:rPr lang="en-US" dirty="0" smtClean="0"/>
              <a:t> </a:t>
            </a:r>
            <a:r>
              <a:rPr lang="en-US" dirty="0" err="1" smtClean="0"/>
              <a:t>pantinig</a:t>
            </a:r>
            <a:r>
              <a:rPr lang="en-US" dirty="0" smtClean="0"/>
              <a:t> at </a:t>
            </a:r>
            <a:r>
              <a:rPr lang="en-US" dirty="0" err="1" smtClean="0"/>
              <a:t>hinaharang</a:t>
            </a:r>
            <a:r>
              <a:rPr lang="en-US" dirty="0" smtClean="0"/>
              <a:t> </a:t>
            </a:r>
            <a:r>
              <a:rPr lang="en-US" dirty="0" err="1" smtClean="0"/>
              <a:t>ang</a:t>
            </a:r>
            <a:r>
              <a:rPr lang="en-US" dirty="0" smtClean="0"/>
              <a:t> </a:t>
            </a:r>
            <a:r>
              <a:rPr lang="en-US" dirty="0" err="1" smtClean="0"/>
              <a:t>presyon</a:t>
            </a:r>
            <a:r>
              <a:rPr lang="en-US" dirty="0" smtClean="0"/>
              <a:t> </a:t>
            </a:r>
            <a:r>
              <a:rPr lang="en-US" dirty="0" err="1" smtClean="0"/>
              <a:t>ng</a:t>
            </a:r>
            <a:r>
              <a:rPr lang="en-US" dirty="0" smtClean="0"/>
              <a:t> </a:t>
            </a:r>
            <a:r>
              <a:rPr lang="en-US" dirty="0" err="1" smtClean="0"/>
              <a:t>papalabas</a:t>
            </a:r>
            <a:r>
              <a:rPr lang="en-US" dirty="0" smtClean="0"/>
              <a:t> </a:t>
            </a:r>
            <a:r>
              <a:rPr lang="en-US" dirty="0" err="1" smtClean="0"/>
              <a:t>na</a:t>
            </a:r>
            <a:r>
              <a:rPr lang="en-US" dirty="0" smtClean="0"/>
              <a:t> </a:t>
            </a:r>
            <a:r>
              <a:rPr lang="en-US" dirty="0" err="1" smtClean="0"/>
              <a:t>hiningang</a:t>
            </a:r>
            <a:r>
              <a:rPr lang="en-US" dirty="0" smtClean="0"/>
              <a:t> </a:t>
            </a:r>
            <a:r>
              <a:rPr lang="en-US" dirty="0" err="1" smtClean="0"/>
              <a:t>galing</a:t>
            </a:r>
            <a:r>
              <a:rPr lang="en-US" dirty="0" smtClean="0"/>
              <a:t> </a:t>
            </a:r>
            <a:r>
              <a:rPr lang="en-US" dirty="0" err="1" smtClean="0"/>
              <a:t>sa</a:t>
            </a:r>
            <a:r>
              <a:rPr lang="en-US" dirty="0" smtClean="0"/>
              <a:t> </a:t>
            </a:r>
            <a:r>
              <a:rPr lang="en-US" dirty="0" err="1" smtClean="0"/>
              <a:t>baga</a:t>
            </a:r>
            <a:r>
              <a:rPr lang="en-US" dirty="0" smtClean="0"/>
              <a:t> at </a:t>
            </a:r>
            <a:r>
              <a:rPr lang="en-US" dirty="0" err="1" smtClean="0"/>
              <a:t>pagkatapos</a:t>
            </a:r>
            <a:r>
              <a:rPr lang="en-US" dirty="0" smtClean="0"/>
              <a:t> ay </a:t>
            </a:r>
            <a:r>
              <a:rPr lang="en-US" dirty="0" err="1" smtClean="0"/>
              <a:t>pakakawalan</a:t>
            </a:r>
            <a:r>
              <a:rPr lang="en-US" dirty="0" smtClean="0"/>
              <a:t> </a:t>
            </a:r>
            <a:r>
              <a:rPr lang="en-US" dirty="0" err="1" smtClean="0"/>
              <a:t>upang</a:t>
            </a:r>
            <a:r>
              <a:rPr lang="en-US" dirty="0" smtClean="0"/>
              <a:t> </a:t>
            </a:r>
            <a:r>
              <a:rPr lang="en-US" dirty="0" err="1" smtClean="0"/>
              <a:t>bumuo</a:t>
            </a:r>
            <a:r>
              <a:rPr lang="en-US" dirty="0" smtClean="0"/>
              <a:t> </a:t>
            </a:r>
            <a:r>
              <a:rPr lang="en-US" dirty="0" err="1" smtClean="0"/>
              <a:t>ng</a:t>
            </a:r>
            <a:r>
              <a:rPr lang="en-US" dirty="0" smtClean="0"/>
              <a:t> </a:t>
            </a:r>
            <a:r>
              <a:rPr lang="en-US" dirty="0" err="1" smtClean="0"/>
              <a:t>paimpit</a:t>
            </a:r>
            <a:r>
              <a:rPr lang="en-US" dirty="0" smtClean="0"/>
              <a:t> o </a:t>
            </a:r>
            <a:r>
              <a:rPr lang="en-US" dirty="0" err="1" smtClean="0"/>
              <a:t>pasutsot</a:t>
            </a:r>
            <a:r>
              <a:rPr lang="en-US" dirty="0" smtClean="0"/>
              <a:t> </a:t>
            </a:r>
            <a:r>
              <a:rPr lang="en-US" dirty="0" err="1" smtClean="0"/>
              <a:t>na</a:t>
            </a:r>
            <a:r>
              <a:rPr lang="en-US" dirty="0" smtClean="0"/>
              <a:t> </a:t>
            </a:r>
            <a:r>
              <a:rPr lang="en-US" dirty="0" err="1" smtClean="0"/>
              <a:t>tunog</a:t>
            </a:r>
            <a:r>
              <a:rPr lang="en-US" dirty="0" smtClean="0"/>
              <a:t> /?,h/.</a:t>
            </a:r>
            <a:endParaRPr lang="en-US" dirty="0"/>
          </a:p>
        </p:txBody>
      </p:sp>
    </p:spTree>
  </p:cSld>
  <p:clrMapOvr>
    <a:masterClrMapping/>
  </p:clrMapOvr>
  <p:transition>
    <p:push/>
  </p:transition>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33400" y="990600"/>
            <a:ext cx="8229600" cy="4525963"/>
          </a:xfrm>
        </p:spPr>
        <p:txBody>
          <a:bodyPr>
            <a:normAutofit/>
          </a:bodyPr>
          <a:lstStyle/>
          <a:p>
            <a:pPr marL="739775" indent="-630238">
              <a:buNone/>
            </a:pPr>
            <a:r>
              <a:rPr lang="en-US" sz="3200" dirty="0" smtClean="0"/>
              <a:t>28. </a:t>
            </a:r>
            <a:r>
              <a:rPr lang="en-US" sz="3200" dirty="0" err="1" smtClean="0"/>
              <a:t>Ang</a:t>
            </a:r>
            <a:r>
              <a:rPr lang="en-US" sz="3200" dirty="0" smtClean="0"/>
              <a:t> </a:t>
            </a:r>
            <a:r>
              <a:rPr lang="en-US" sz="3200" dirty="0" err="1" smtClean="0"/>
              <a:t>pag-aaral</a:t>
            </a:r>
            <a:r>
              <a:rPr lang="en-US" sz="3200" dirty="0" smtClean="0"/>
              <a:t> </a:t>
            </a:r>
            <a:r>
              <a:rPr lang="en-US" sz="3200" dirty="0" err="1" smtClean="0"/>
              <a:t>ng</a:t>
            </a:r>
            <a:r>
              <a:rPr lang="en-US" sz="3200" dirty="0" smtClean="0"/>
              <a:t> </a:t>
            </a:r>
            <a:r>
              <a:rPr lang="en-US" sz="3200" dirty="0" err="1" smtClean="0"/>
              <a:t>isang</a:t>
            </a:r>
            <a:r>
              <a:rPr lang="en-US" sz="3200" dirty="0" smtClean="0"/>
              <a:t> </a:t>
            </a:r>
            <a:r>
              <a:rPr lang="en-US" sz="3200" dirty="0" err="1" smtClean="0"/>
              <a:t>makabuluhang</a:t>
            </a:r>
            <a:r>
              <a:rPr lang="en-US" sz="3200" dirty="0" smtClean="0"/>
              <a:t> </a:t>
            </a:r>
            <a:r>
              <a:rPr lang="en-US" sz="3200" dirty="0" err="1" smtClean="0"/>
              <a:t>yunit</a:t>
            </a:r>
            <a:r>
              <a:rPr lang="en-US" sz="3200" dirty="0" smtClean="0"/>
              <a:t> </a:t>
            </a:r>
            <a:r>
              <a:rPr lang="en-US" sz="3200" dirty="0" err="1" smtClean="0"/>
              <a:t>ng</a:t>
            </a:r>
            <a:r>
              <a:rPr lang="en-US" sz="3200" dirty="0" smtClean="0"/>
              <a:t> </a:t>
            </a:r>
            <a:r>
              <a:rPr lang="en-US" sz="3200" dirty="0" err="1" smtClean="0"/>
              <a:t>isang</a:t>
            </a:r>
            <a:r>
              <a:rPr lang="en-US" sz="3200" dirty="0" smtClean="0"/>
              <a:t> </a:t>
            </a:r>
            <a:r>
              <a:rPr lang="en-US" sz="3200" dirty="0" err="1" smtClean="0"/>
              <a:t>salita</a:t>
            </a:r>
            <a:r>
              <a:rPr lang="en-US" sz="3200" dirty="0" smtClean="0"/>
              <a:t> ay _______</a:t>
            </a:r>
          </a:p>
          <a:p>
            <a:pPr marL="739775" indent="-630238">
              <a:buNone/>
            </a:pPr>
            <a:endParaRPr lang="en-US" sz="3200" dirty="0" smtClean="0"/>
          </a:p>
          <a:p>
            <a:pPr marL="1016000" indent="-276225">
              <a:buFont typeface="+mj-lt"/>
              <a:buAutoNum type="alphaUcPeriod"/>
            </a:pPr>
            <a:r>
              <a:rPr lang="en-US" sz="3200" dirty="0" err="1" smtClean="0"/>
              <a:t>Morpolohiya</a:t>
            </a:r>
            <a:endParaRPr lang="en-US" sz="3200" dirty="0" smtClean="0"/>
          </a:p>
          <a:p>
            <a:pPr marL="1016000" indent="-276225">
              <a:buFont typeface="+mj-lt"/>
              <a:buAutoNum type="alphaUcPeriod"/>
            </a:pPr>
            <a:r>
              <a:rPr lang="en-US" sz="3200" dirty="0" err="1" smtClean="0"/>
              <a:t>Ponolohiya</a:t>
            </a:r>
            <a:endParaRPr lang="en-US" sz="3200" dirty="0" smtClean="0"/>
          </a:p>
          <a:p>
            <a:pPr marL="1016000" indent="-276225">
              <a:buFont typeface="+mj-lt"/>
              <a:buAutoNum type="alphaUcPeriod"/>
            </a:pPr>
            <a:r>
              <a:rPr lang="en-US" sz="3200" dirty="0" err="1" smtClean="0"/>
              <a:t>balarila</a:t>
            </a:r>
            <a:endParaRPr lang="en-US" sz="3200" dirty="0" smtClean="0"/>
          </a:p>
          <a:p>
            <a:pPr marL="1016000" indent="-276225">
              <a:buFont typeface="+mj-lt"/>
              <a:buAutoNum type="alphaUcPeriod"/>
            </a:pPr>
            <a:r>
              <a:rPr lang="en-US" sz="3200" dirty="0" err="1" smtClean="0"/>
              <a:t>Sintaksis</a:t>
            </a:r>
            <a:endParaRPr lang="en-US" sz="3200" dirty="0" smtClean="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619184" y="32949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600" y="914400"/>
            <a:ext cx="8229600" cy="4525963"/>
          </a:xfrm>
        </p:spPr>
        <p:txBody>
          <a:bodyPr>
            <a:normAutofit/>
          </a:bodyPr>
          <a:lstStyle/>
          <a:p>
            <a:pPr marL="739775" indent="-630238">
              <a:buNone/>
            </a:pPr>
            <a:r>
              <a:rPr lang="en-US" sz="3200" dirty="0" smtClean="0"/>
              <a:t>29. </a:t>
            </a:r>
            <a:r>
              <a:rPr lang="en-US" sz="3200" dirty="0" err="1" smtClean="0"/>
              <a:t>Ipinapakita</a:t>
            </a:r>
            <a:r>
              <a:rPr lang="en-US" sz="3200" dirty="0" smtClean="0"/>
              <a:t> </a:t>
            </a:r>
            <a:r>
              <a:rPr lang="en-US" sz="3200" dirty="0" err="1" smtClean="0"/>
              <a:t>nito</a:t>
            </a:r>
            <a:r>
              <a:rPr lang="en-US" sz="3200" dirty="0" smtClean="0"/>
              <a:t> </a:t>
            </a:r>
            <a:r>
              <a:rPr lang="en-US" sz="3200" dirty="0" err="1" smtClean="0"/>
              <a:t>ang</a:t>
            </a:r>
            <a:r>
              <a:rPr lang="en-US" sz="3200" dirty="0" smtClean="0"/>
              <a:t> </a:t>
            </a:r>
            <a:r>
              <a:rPr lang="en-US" sz="3200" dirty="0" err="1" smtClean="0"/>
              <a:t>ugnayan</a:t>
            </a:r>
            <a:r>
              <a:rPr lang="en-US" sz="3200" dirty="0" smtClean="0"/>
              <a:t> </a:t>
            </a:r>
            <a:r>
              <a:rPr lang="en-US" sz="3200" dirty="0" err="1" smtClean="0"/>
              <a:t>ng</a:t>
            </a:r>
            <a:r>
              <a:rPr lang="en-US" sz="3200" dirty="0" smtClean="0"/>
              <a:t> </a:t>
            </a:r>
            <a:r>
              <a:rPr lang="en-US" sz="3200" dirty="0" err="1" smtClean="0"/>
              <a:t>pandiwa</a:t>
            </a:r>
            <a:r>
              <a:rPr lang="en-US" sz="3200" dirty="0" smtClean="0"/>
              <a:t> </a:t>
            </a:r>
            <a:r>
              <a:rPr lang="en-US" sz="3200" dirty="0" err="1" smtClean="0"/>
              <a:t>sa</a:t>
            </a:r>
            <a:r>
              <a:rPr lang="en-US" sz="3200" dirty="0" smtClean="0"/>
              <a:t> </a:t>
            </a:r>
            <a:r>
              <a:rPr lang="en-US" sz="3200" dirty="0" err="1" smtClean="0"/>
              <a:t>simuno</a:t>
            </a:r>
            <a:r>
              <a:rPr lang="en-US" sz="3200" dirty="0" smtClean="0"/>
              <a:t> o </a:t>
            </a:r>
            <a:r>
              <a:rPr lang="en-US" sz="3200" dirty="0" err="1" smtClean="0"/>
              <a:t>paksa</a:t>
            </a:r>
            <a:r>
              <a:rPr lang="en-US" sz="3200" dirty="0" smtClean="0"/>
              <a:t> </a:t>
            </a:r>
            <a:r>
              <a:rPr lang="en-US" sz="3200" dirty="0" err="1" smtClean="0"/>
              <a:t>ng</a:t>
            </a:r>
            <a:r>
              <a:rPr lang="en-US" sz="3200" dirty="0" smtClean="0"/>
              <a:t> </a:t>
            </a:r>
            <a:r>
              <a:rPr lang="en-US" sz="3200" dirty="0" err="1" smtClean="0"/>
              <a:t>pangungusap</a:t>
            </a:r>
            <a:r>
              <a:rPr lang="en-US" sz="3200" dirty="0" smtClean="0"/>
              <a:t>.</a:t>
            </a:r>
          </a:p>
          <a:p>
            <a:pPr marL="739775" indent="-630238">
              <a:buNone/>
            </a:pPr>
            <a:endParaRPr lang="en-US" sz="3200" dirty="0" smtClean="0"/>
          </a:p>
          <a:p>
            <a:pPr marL="1030288" indent="-290513">
              <a:buFont typeface="+mj-lt"/>
              <a:buAutoNum type="alphaUcPeriod"/>
            </a:pPr>
            <a:r>
              <a:rPr lang="en-US" sz="3200" dirty="0" err="1" smtClean="0"/>
              <a:t>Kaganapan</a:t>
            </a:r>
            <a:r>
              <a:rPr lang="en-US" sz="3200" dirty="0" smtClean="0"/>
              <a:t> </a:t>
            </a:r>
          </a:p>
          <a:p>
            <a:pPr marL="1030288" indent="-290513">
              <a:buFont typeface="+mj-lt"/>
              <a:buAutoNum type="alphaUcPeriod"/>
            </a:pPr>
            <a:r>
              <a:rPr lang="en-US" sz="3200" dirty="0" err="1" smtClean="0"/>
              <a:t>Pokus</a:t>
            </a:r>
            <a:endParaRPr lang="en-US" sz="3200" dirty="0" smtClean="0"/>
          </a:p>
          <a:p>
            <a:pPr marL="1030288" indent="-290513">
              <a:buFont typeface="+mj-lt"/>
              <a:buAutoNum type="alphaUcPeriod"/>
            </a:pPr>
            <a:r>
              <a:rPr lang="en-US" sz="3200" dirty="0" err="1" smtClean="0"/>
              <a:t>Inklitik</a:t>
            </a:r>
            <a:endParaRPr lang="en-US" sz="3200" dirty="0" smtClean="0"/>
          </a:p>
          <a:p>
            <a:pPr marL="1030288" indent="-290513">
              <a:buFont typeface="+mj-lt"/>
              <a:buAutoNum type="alphaUcPeriod"/>
            </a:pPr>
            <a:r>
              <a:rPr lang="en-US" sz="3200" dirty="0" err="1" smtClean="0"/>
              <a:t>Panghalip</a:t>
            </a:r>
            <a:endParaRPr lang="en-US" sz="3200" dirty="0" smtClean="0"/>
          </a:p>
          <a:p>
            <a:pPr marL="739775" indent="-630238">
              <a:buFont typeface="+mj-lt"/>
              <a:buAutoNum type="alphaUcPeriod"/>
            </a:pPr>
            <a:endParaRPr lang="en-US" sz="3200" dirty="0"/>
          </a:p>
        </p:txBody>
      </p:sp>
      <p:pic>
        <p:nvPicPr>
          <p:cNvPr id="4" name="Picture 4" descr="C:\Documents and Settings\Administrator\Desktop\hand_right.gif"/>
          <p:cNvPicPr>
            <a:picLocks noChangeAspect="1" noChangeArrowheads="1" noCrop="1"/>
          </p:cNvPicPr>
          <p:nvPr/>
        </p:nvPicPr>
        <p:blipFill>
          <a:blip r:embed="rId3">
            <a:extLst>
              <a:ext uri="{28A0092B-C50C-407E-A947-70E740481C1C}">
                <a14:useLocalDpi xmlns="" xmlns:a14="http://schemas.microsoft.com/office/drawing/2010/main" val="0"/>
              </a:ext>
            </a:extLst>
          </a:blip>
          <a:srcRect/>
          <a:stretch>
            <a:fillRect/>
          </a:stretch>
        </p:blipFill>
        <p:spPr bwMode="auto">
          <a:xfrm rot="21434720">
            <a:off x="771584" y="3675974"/>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33400" y="990600"/>
            <a:ext cx="8229600" cy="4525963"/>
          </a:xfrm>
        </p:spPr>
        <p:txBody>
          <a:bodyPr>
            <a:noAutofit/>
          </a:bodyPr>
          <a:lstStyle/>
          <a:p>
            <a:pPr marL="739775" indent="-630238">
              <a:buNone/>
            </a:pPr>
            <a:r>
              <a:rPr lang="en-US" sz="3200" dirty="0" smtClean="0"/>
              <a:t>30. </a:t>
            </a:r>
            <a:r>
              <a:rPr lang="en-US" sz="3200" dirty="0" err="1" smtClean="0"/>
              <a:t>Teorya</a:t>
            </a:r>
            <a:r>
              <a:rPr lang="en-US" sz="3200" dirty="0" smtClean="0"/>
              <a:t> </a:t>
            </a:r>
            <a:r>
              <a:rPr lang="en-US" sz="3200" dirty="0" err="1" smtClean="0"/>
              <a:t>ng</a:t>
            </a:r>
            <a:r>
              <a:rPr lang="en-US" sz="3200" dirty="0" smtClean="0"/>
              <a:t> </a:t>
            </a:r>
            <a:r>
              <a:rPr lang="en-US" sz="3200" dirty="0" err="1" smtClean="0"/>
              <a:t>wika</a:t>
            </a:r>
            <a:r>
              <a:rPr lang="en-US" sz="3200" dirty="0" smtClean="0"/>
              <a:t> </a:t>
            </a:r>
            <a:r>
              <a:rPr lang="en-US" sz="3200" dirty="0" err="1" smtClean="0"/>
              <a:t>na</a:t>
            </a:r>
            <a:r>
              <a:rPr lang="en-US" sz="3200" dirty="0" smtClean="0"/>
              <a:t> </a:t>
            </a:r>
            <a:r>
              <a:rPr lang="en-US" sz="3200" dirty="0" err="1" smtClean="0"/>
              <a:t>nagsasaad</a:t>
            </a:r>
            <a:r>
              <a:rPr lang="en-US" sz="3200" dirty="0" smtClean="0"/>
              <a:t> </a:t>
            </a:r>
            <a:r>
              <a:rPr lang="en-US" sz="3200" dirty="0" err="1" smtClean="0"/>
              <a:t>ng</a:t>
            </a:r>
            <a:r>
              <a:rPr lang="en-US" sz="3200" dirty="0" smtClean="0"/>
              <a:t> </a:t>
            </a:r>
            <a:r>
              <a:rPr lang="en-US" sz="3200" dirty="0" err="1" smtClean="0"/>
              <a:t>matinding</a:t>
            </a:r>
            <a:r>
              <a:rPr lang="en-US" sz="3200" dirty="0" smtClean="0"/>
              <a:t> </a:t>
            </a:r>
            <a:r>
              <a:rPr lang="en-US" sz="3200" dirty="0" err="1" smtClean="0"/>
              <a:t>damdamin</a:t>
            </a:r>
            <a:r>
              <a:rPr lang="en-US" sz="3200" dirty="0" smtClean="0"/>
              <a:t>.</a:t>
            </a:r>
          </a:p>
          <a:p>
            <a:pPr marL="739775" indent="-630238">
              <a:buNone/>
            </a:pPr>
            <a:endParaRPr lang="en-US" sz="3200" dirty="0" smtClean="0"/>
          </a:p>
          <a:p>
            <a:pPr marL="1030288" indent="-290513">
              <a:buFont typeface="+mj-lt"/>
              <a:buAutoNum type="alphaUcPeriod"/>
            </a:pPr>
            <a:r>
              <a:rPr lang="en-US" sz="3200" dirty="0" err="1" smtClean="0"/>
              <a:t>Yoheho</a:t>
            </a:r>
            <a:endParaRPr lang="en-US" sz="3200" dirty="0" smtClean="0"/>
          </a:p>
          <a:p>
            <a:pPr marL="1030288" indent="-290513">
              <a:buFont typeface="+mj-lt"/>
              <a:buAutoNum type="alphaUcPeriod"/>
            </a:pPr>
            <a:r>
              <a:rPr lang="en-US" sz="3200" dirty="0" smtClean="0"/>
              <a:t>Bow-wow</a:t>
            </a:r>
          </a:p>
          <a:p>
            <a:pPr marL="1030288" indent="-290513">
              <a:buFont typeface="+mj-lt"/>
              <a:buAutoNum type="alphaUcPeriod"/>
            </a:pPr>
            <a:r>
              <a:rPr lang="en-US" sz="3200" dirty="0" smtClean="0"/>
              <a:t>Ding-dong</a:t>
            </a:r>
          </a:p>
          <a:p>
            <a:pPr marL="1030288" indent="-290513">
              <a:buFont typeface="+mj-lt"/>
              <a:buAutoNum type="alphaUcPeriod"/>
            </a:pPr>
            <a:r>
              <a:rPr lang="en-US" sz="3200" dirty="0" smtClean="0"/>
              <a:t>Pooh-pooh</a:t>
            </a:r>
          </a:p>
          <a:p>
            <a:pPr>
              <a:buNone/>
            </a:pPr>
            <a:endParaRPr lang="en-US" sz="3200" dirty="0" smtClean="0"/>
          </a:p>
          <a:p>
            <a:pPr>
              <a:buNone/>
            </a:pPr>
            <a:endParaRPr lang="en-US" sz="3200" dirty="0" smtClean="0"/>
          </a:p>
          <a:p>
            <a:pPr>
              <a:buNone/>
            </a:pPr>
            <a:endParaRPr lang="en-US" sz="3200" dirty="0" smtClean="0"/>
          </a:p>
          <a:p>
            <a:pPr algn="r">
              <a:buNone/>
            </a:pPr>
            <a:r>
              <a:rPr lang="en-US" sz="3200" dirty="0" smtClean="0"/>
              <a:t>END</a:t>
            </a:r>
            <a:endParaRPr lang="en-US" sz="3200" dirty="0"/>
          </a:p>
        </p:txBody>
      </p:sp>
      <p:pic>
        <p:nvPicPr>
          <p:cNvPr id="4" name="Picture 4" descr="C:\Documents and Settings\Administrator\Desktop\hand_right.gif"/>
          <p:cNvPicPr>
            <a:picLocks noChangeAspect="1" noChangeArrowheads="1" noCrop="1"/>
          </p:cNvPicPr>
          <p:nvPr/>
        </p:nvPicPr>
        <p:blipFill>
          <a:blip r:embed="rId3">
            <a:extLst>
              <a:ext uri="{28A0092B-C50C-407E-A947-70E740481C1C}">
                <a14:useLocalDpi xmlns="" xmlns:a14="http://schemas.microsoft.com/office/drawing/2010/main" val="0"/>
              </a:ext>
            </a:extLst>
          </a:blip>
          <a:srcRect/>
          <a:stretch>
            <a:fillRect/>
          </a:stretch>
        </p:blipFill>
        <p:spPr bwMode="auto">
          <a:xfrm rot="21434720">
            <a:off x="771585" y="4437974"/>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6400800"/>
          </a:xfrm>
        </p:spPr>
        <p:txBody>
          <a:bodyPr>
            <a:normAutofit/>
          </a:bodyPr>
          <a:lstStyle/>
          <a:p>
            <a:pPr>
              <a:buNone/>
            </a:pPr>
            <a:r>
              <a:rPr lang="en-US" sz="3200" b="1" dirty="0" err="1" smtClean="0">
                <a:solidFill>
                  <a:srgbClr val="FF0000"/>
                </a:solidFill>
                <a:effectLst>
                  <a:outerShdw blurRad="38100" dist="38100" dir="2700000" algn="tl">
                    <a:srgbClr val="000000">
                      <a:alpha val="43137"/>
                    </a:srgbClr>
                  </a:outerShdw>
                </a:effectLst>
              </a:rPr>
              <a:t>Teorya</a:t>
            </a:r>
            <a:r>
              <a:rPr lang="en-US" sz="3200" b="1" dirty="0" smtClean="0">
                <a:solidFill>
                  <a:srgbClr val="FF0000"/>
                </a:solidFill>
                <a:effectLst>
                  <a:outerShdw blurRad="38100" dist="38100" dir="2700000" algn="tl">
                    <a:srgbClr val="000000">
                      <a:alpha val="43137"/>
                    </a:srgbClr>
                  </a:outerShdw>
                </a:effectLst>
              </a:rPr>
              <a:t> </a:t>
            </a:r>
            <a:r>
              <a:rPr lang="en-US" sz="3200" b="1" dirty="0" err="1" smtClean="0">
                <a:solidFill>
                  <a:srgbClr val="FF0000"/>
                </a:solidFill>
                <a:effectLst>
                  <a:outerShdw blurRad="38100" dist="38100" dir="2700000" algn="tl">
                    <a:srgbClr val="000000">
                      <a:alpha val="43137"/>
                    </a:srgbClr>
                  </a:outerShdw>
                </a:effectLst>
              </a:rPr>
              <a:t>ng</a:t>
            </a:r>
            <a:r>
              <a:rPr lang="en-US" sz="3200" b="1" dirty="0" smtClean="0">
                <a:solidFill>
                  <a:srgbClr val="FF0000"/>
                </a:solidFill>
                <a:effectLst>
                  <a:outerShdw blurRad="38100" dist="38100" dir="2700000" algn="tl">
                    <a:srgbClr val="000000">
                      <a:alpha val="43137"/>
                    </a:srgbClr>
                  </a:outerShdw>
                </a:effectLst>
              </a:rPr>
              <a:t> </a:t>
            </a:r>
            <a:r>
              <a:rPr lang="en-US" sz="3200" b="1" dirty="0" err="1" smtClean="0">
                <a:solidFill>
                  <a:srgbClr val="FF0000"/>
                </a:solidFill>
                <a:effectLst>
                  <a:outerShdw blurRad="38100" dist="38100" dir="2700000" algn="tl">
                    <a:srgbClr val="000000">
                      <a:alpha val="43137"/>
                    </a:srgbClr>
                  </a:outerShdw>
                </a:effectLst>
              </a:rPr>
              <a:t>Pinagmulan</a:t>
            </a:r>
            <a:r>
              <a:rPr lang="en-US" sz="3200" b="1" dirty="0" smtClean="0">
                <a:solidFill>
                  <a:srgbClr val="FF0000"/>
                </a:solidFill>
                <a:effectLst>
                  <a:outerShdw blurRad="38100" dist="38100" dir="2700000" algn="tl">
                    <a:srgbClr val="000000">
                      <a:alpha val="43137"/>
                    </a:srgbClr>
                  </a:outerShdw>
                </a:effectLst>
              </a:rPr>
              <a:t> </a:t>
            </a:r>
            <a:r>
              <a:rPr lang="en-US" sz="3200" b="1" dirty="0" err="1" smtClean="0">
                <a:solidFill>
                  <a:srgbClr val="FF0000"/>
                </a:solidFill>
                <a:effectLst>
                  <a:outerShdw blurRad="38100" dist="38100" dir="2700000" algn="tl">
                    <a:srgbClr val="000000">
                      <a:alpha val="43137"/>
                    </a:srgbClr>
                  </a:outerShdw>
                </a:effectLst>
              </a:rPr>
              <a:t>ng</a:t>
            </a:r>
            <a:r>
              <a:rPr lang="en-US" sz="3200" b="1" dirty="0" smtClean="0">
                <a:solidFill>
                  <a:srgbClr val="FF0000"/>
                </a:solidFill>
                <a:effectLst>
                  <a:outerShdw blurRad="38100" dist="38100" dir="2700000" algn="tl">
                    <a:srgbClr val="000000">
                      <a:alpha val="43137"/>
                    </a:srgbClr>
                  </a:outerShdw>
                </a:effectLst>
              </a:rPr>
              <a:t> </a:t>
            </a:r>
            <a:r>
              <a:rPr lang="en-US" sz="3200" b="1" dirty="0" err="1" smtClean="0">
                <a:solidFill>
                  <a:srgbClr val="FF0000"/>
                </a:solidFill>
                <a:effectLst>
                  <a:outerShdw blurRad="38100" dist="38100" dir="2700000" algn="tl">
                    <a:srgbClr val="000000">
                      <a:alpha val="43137"/>
                    </a:srgbClr>
                  </a:outerShdw>
                </a:effectLst>
              </a:rPr>
              <a:t>Wika</a:t>
            </a:r>
            <a:endParaRPr lang="en-US" sz="3200" b="1" dirty="0" smtClean="0">
              <a:solidFill>
                <a:srgbClr val="FF0000"/>
              </a:solidFill>
              <a:effectLst>
                <a:outerShdw blurRad="38100" dist="38100" dir="2700000" algn="tl">
                  <a:srgbClr val="000000">
                    <a:alpha val="43137"/>
                  </a:srgbClr>
                </a:outerShdw>
              </a:effectLst>
            </a:endParaRPr>
          </a:p>
          <a:p>
            <a:pPr marL="68580" indent="0">
              <a:buNone/>
            </a:pPr>
            <a:endParaRPr lang="en-US" sz="1600" b="1" dirty="0" smtClean="0"/>
          </a:p>
          <a:p>
            <a:pPr marL="68580" indent="0">
              <a:buNone/>
            </a:pPr>
            <a:r>
              <a:rPr lang="en-US" sz="2800" b="1" dirty="0" err="1" smtClean="0"/>
              <a:t>Teorya</a:t>
            </a:r>
            <a:r>
              <a:rPr lang="en-US" sz="2800" b="1" dirty="0" smtClean="0"/>
              <a:t> </a:t>
            </a:r>
            <a:r>
              <a:rPr lang="en-US" sz="2800" b="1" dirty="0" err="1" smtClean="0"/>
              <a:t>ng</a:t>
            </a:r>
            <a:r>
              <a:rPr lang="en-US" sz="2800" b="1" dirty="0" smtClean="0"/>
              <a:t> Tore </a:t>
            </a:r>
            <a:r>
              <a:rPr lang="en-US" sz="2800" b="1" dirty="0" err="1" smtClean="0"/>
              <a:t>ng</a:t>
            </a:r>
            <a:r>
              <a:rPr lang="en-US" sz="2800" b="1" dirty="0" smtClean="0"/>
              <a:t> Babel. </a:t>
            </a:r>
            <a:r>
              <a:rPr lang="en-US" sz="2800" b="1" dirty="0" err="1" smtClean="0"/>
              <a:t>A</a:t>
            </a:r>
            <a:r>
              <a:rPr lang="en-US" sz="2800" dirty="0" err="1" smtClean="0"/>
              <a:t>yon</a:t>
            </a:r>
            <a:r>
              <a:rPr lang="en-US" sz="2800" dirty="0" smtClean="0"/>
              <a:t> </a:t>
            </a:r>
            <a:r>
              <a:rPr lang="en-US" sz="2800" dirty="0" err="1"/>
              <a:t>sa</a:t>
            </a:r>
            <a:r>
              <a:rPr lang="en-US" sz="2800" dirty="0"/>
              <a:t> </a:t>
            </a:r>
            <a:r>
              <a:rPr lang="en-US" sz="2800" dirty="0" err="1"/>
              <a:t>pagsasalaysay</a:t>
            </a:r>
            <a:r>
              <a:rPr lang="en-US" sz="2800" dirty="0"/>
              <a:t>, </a:t>
            </a:r>
            <a:r>
              <a:rPr lang="en-US" sz="2800" dirty="0" err="1"/>
              <a:t>noong</a:t>
            </a:r>
            <a:r>
              <a:rPr lang="en-US" sz="2800" dirty="0"/>
              <a:t> </a:t>
            </a:r>
            <a:r>
              <a:rPr lang="en-US" sz="2800" dirty="0" err="1"/>
              <a:t>umpisa’y</a:t>
            </a:r>
            <a:r>
              <a:rPr lang="en-US" sz="2800" dirty="0"/>
              <a:t> </a:t>
            </a:r>
            <a:r>
              <a:rPr lang="en-US" sz="2800" dirty="0" err="1"/>
              <a:t>iisa</a:t>
            </a:r>
            <a:r>
              <a:rPr lang="en-US" sz="2800" dirty="0"/>
              <a:t> </a:t>
            </a:r>
            <a:r>
              <a:rPr lang="en-US" sz="2800" dirty="0" err="1"/>
              <a:t>ang</a:t>
            </a:r>
            <a:r>
              <a:rPr lang="en-US" sz="2800" dirty="0"/>
              <a:t> </a:t>
            </a:r>
            <a:r>
              <a:rPr lang="en-US" sz="2800" dirty="0" err="1"/>
              <a:t>wika</a:t>
            </a:r>
            <a:r>
              <a:rPr lang="en-US" sz="2800" dirty="0"/>
              <a:t> </a:t>
            </a:r>
            <a:r>
              <a:rPr lang="en-US" sz="2800" dirty="0" err="1"/>
              <a:t>ng</a:t>
            </a:r>
            <a:r>
              <a:rPr lang="en-US" sz="2800" dirty="0"/>
              <a:t> </a:t>
            </a:r>
            <a:r>
              <a:rPr lang="en-US" sz="2800" dirty="0" err="1"/>
              <a:t>tao</a:t>
            </a:r>
            <a:r>
              <a:rPr lang="en-US" sz="2800" dirty="0"/>
              <a:t> </a:t>
            </a:r>
            <a:r>
              <a:rPr lang="en-US" sz="2800" dirty="0" err="1"/>
              <a:t>na</a:t>
            </a:r>
            <a:r>
              <a:rPr lang="en-US" sz="2800" dirty="0"/>
              <a:t> </a:t>
            </a:r>
            <a:r>
              <a:rPr lang="en-US" sz="2800" dirty="0" err="1"/>
              <a:t>biyaya</a:t>
            </a:r>
            <a:r>
              <a:rPr lang="en-US" sz="2800" dirty="0"/>
              <a:t> </a:t>
            </a:r>
            <a:r>
              <a:rPr lang="en-US" sz="2800" dirty="0" err="1"/>
              <a:t>ng</a:t>
            </a:r>
            <a:r>
              <a:rPr lang="en-US" sz="2800" dirty="0"/>
              <a:t> </a:t>
            </a:r>
            <a:r>
              <a:rPr lang="en-US" sz="2800" dirty="0" err="1"/>
              <a:t>Diyos</a:t>
            </a:r>
            <a:r>
              <a:rPr lang="en-US" sz="2800" dirty="0"/>
              <a:t>. </a:t>
            </a:r>
            <a:r>
              <a:rPr lang="en-US" sz="2800" dirty="0" err="1"/>
              <a:t>Dahil</a:t>
            </a:r>
            <a:r>
              <a:rPr lang="en-US" sz="2800" dirty="0"/>
              <a:t> </a:t>
            </a:r>
            <a:r>
              <a:rPr lang="en-US" sz="2800" dirty="0" err="1"/>
              <a:t>sa</a:t>
            </a:r>
            <a:r>
              <a:rPr lang="en-US" sz="2800" dirty="0"/>
              <a:t> </a:t>
            </a:r>
            <a:r>
              <a:rPr lang="en-US" sz="2800" dirty="0" err="1"/>
              <a:t>nagkakaunawaan</a:t>
            </a:r>
            <a:r>
              <a:rPr lang="en-US" sz="2800" dirty="0"/>
              <a:t> </a:t>
            </a:r>
            <a:r>
              <a:rPr lang="en-US" sz="2800" dirty="0" err="1"/>
              <a:t>ang</a:t>
            </a:r>
            <a:r>
              <a:rPr lang="en-US" sz="2800" dirty="0"/>
              <a:t> </a:t>
            </a:r>
            <a:r>
              <a:rPr lang="en-US" sz="2800" dirty="0" err="1"/>
              <a:t>lahat</a:t>
            </a:r>
            <a:r>
              <a:rPr lang="en-US" sz="2800" dirty="0"/>
              <a:t>, </a:t>
            </a:r>
            <a:r>
              <a:rPr lang="en-US" sz="2800" dirty="0" err="1"/>
              <a:t>napag-isipang</a:t>
            </a:r>
            <a:r>
              <a:rPr lang="en-US" sz="2800" dirty="0"/>
              <a:t> </a:t>
            </a:r>
            <a:r>
              <a:rPr lang="en-US" sz="2800" dirty="0" err="1"/>
              <a:t>magtayo</a:t>
            </a:r>
            <a:r>
              <a:rPr lang="en-US" sz="2800" dirty="0"/>
              <a:t> </a:t>
            </a:r>
            <a:r>
              <a:rPr lang="en-US" sz="2800" dirty="0" err="1"/>
              <a:t>ng</a:t>
            </a:r>
            <a:r>
              <a:rPr lang="en-US" sz="2800" dirty="0"/>
              <a:t> </a:t>
            </a:r>
            <a:r>
              <a:rPr lang="en-US" sz="2800" dirty="0" err="1"/>
              <a:t>isang</a:t>
            </a:r>
            <a:r>
              <a:rPr lang="en-US" sz="2800" dirty="0"/>
              <a:t> tore </a:t>
            </a:r>
            <a:r>
              <a:rPr lang="en-US" sz="2800" dirty="0" err="1"/>
              <a:t>upang</a:t>
            </a:r>
            <a:r>
              <a:rPr lang="en-US" sz="2800" dirty="0"/>
              <a:t> </a:t>
            </a:r>
            <a:r>
              <a:rPr lang="en-US" sz="2800" dirty="0" err="1"/>
              <a:t>hindi</a:t>
            </a:r>
            <a:r>
              <a:rPr lang="en-US" sz="2800" dirty="0"/>
              <a:t> </a:t>
            </a:r>
            <a:r>
              <a:rPr lang="en-US" sz="2800" dirty="0" err="1"/>
              <a:t>na</a:t>
            </a:r>
            <a:r>
              <a:rPr lang="en-US" sz="2800" dirty="0"/>
              <a:t> </a:t>
            </a:r>
            <a:r>
              <a:rPr lang="en-US" sz="2800" dirty="0" err="1"/>
              <a:t>magkawatak-watak</a:t>
            </a:r>
            <a:r>
              <a:rPr lang="en-US" sz="2800" dirty="0"/>
              <a:t> at </a:t>
            </a:r>
            <a:r>
              <a:rPr lang="en-US" sz="2800" dirty="0" err="1"/>
              <a:t>nang</a:t>
            </a:r>
            <a:r>
              <a:rPr lang="en-US" sz="2800" dirty="0"/>
              <a:t> </a:t>
            </a:r>
            <a:r>
              <a:rPr lang="en-US" sz="2800" dirty="0" err="1"/>
              <a:t>mahigitan</a:t>
            </a:r>
            <a:r>
              <a:rPr lang="en-US" sz="2800" dirty="0"/>
              <a:t> </a:t>
            </a:r>
            <a:r>
              <a:rPr lang="en-US" sz="2800" dirty="0" err="1"/>
              <a:t>ang</a:t>
            </a:r>
            <a:r>
              <a:rPr lang="en-US" sz="2800" dirty="0"/>
              <a:t> </a:t>
            </a:r>
            <a:r>
              <a:rPr lang="en-US" sz="2800" dirty="0" err="1"/>
              <a:t>Panginoon</a:t>
            </a:r>
            <a:r>
              <a:rPr lang="en-US" sz="2800" dirty="0" smtClean="0"/>
              <a:t>.</a:t>
            </a:r>
          </a:p>
          <a:p>
            <a:pPr marL="68580" indent="0">
              <a:buNone/>
            </a:pPr>
            <a:endParaRPr lang="en-US" sz="1800" b="1" dirty="0" smtClean="0"/>
          </a:p>
          <a:p>
            <a:pPr marL="68580" indent="0">
              <a:buNone/>
            </a:pPr>
            <a:r>
              <a:rPr lang="en-US" sz="2800" b="1" dirty="0" smtClean="0"/>
              <a:t>Bow-wow. </a:t>
            </a:r>
            <a:r>
              <a:rPr lang="en-US" sz="2800" b="1" dirty="0" err="1" smtClean="0"/>
              <a:t>N</a:t>
            </a:r>
            <a:r>
              <a:rPr lang="en-US" sz="2800" dirty="0" err="1" smtClean="0"/>
              <a:t>agkaroon</a:t>
            </a:r>
            <a:r>
              <a:rPr lang="en-US" sz="2800" dirty="0" smtClean="0"/>
              <a:t> </a:t>
            </a:r>
            <a:r>
              <a:rPr lang="en-US" sz="2800" dirty="0" err="1"/>
              <a:t>ng</a:t>
            </a:r>
            <a:r>
              <a:rPr lang="en-US" sz="2800" dirty="0"/>
              <a:t> </a:t>
            </a:r>
            <a:r>
              <a:rPr lang="en-US" sz="2800" dirty="0" err="1"/>
              <a:t>wika</a:t>
            </a:r>
            <a:r>
              <a:rPr lang="en-US" sz="2800" dirty="0"/>
              <a:t> </a:t>
            </a:r>
            <a:r>
              <a:rPr lang="en-US" sz="2800" dirty="0" err="1"/>
              <a:t>ang</a:t>
            </a:r>
            <a:r>
              <a:rPr lang="en-US" sz="2800" dirty="0"/>
              <a:t> </a:t>
            </a:r>
            <a:r>
              <a:rPr lang="en-US" sz="2800" dirty="0" err="1"/>
              <a:t>tao</a:t>
            </a:r>
            <a:r>
              <a:rPr lang="en-US" sz="2800" dirty="0"/>
              <a:t> </a:t>
            </a:r>
            <a:r>
              <a:rPr lang="en-US" sz="2800" dirty="0" err="1"/>
              <a:t>dahil</a:t>
            </a:r>
            <a:r>
              <a:rPr lang="en-US" sz="2800" dirty="0"/>
              <a:t> </a:t>
            </a:r>
            <a:r>
              <a:rPr lang="en-US" sz="2800" dirty="0" err="1"/>
              <a:t>noong</a:t>
            </a:r>
            <a:r>
              <a:rPr lang="en-US" sz="2800" dirty="0"/>
              <a:t> </a:t>
            </a:r>
            <a:r>
              <a:rPr lang="en-US" sz="2800" dirty="0" err="1"/>
              <a:t>umpisa’y</a:t>
            </a:r>
            <a:r>
              <a:rPr lang="en-US" sz="2800" dirty="0"/>
              <a:t> </a:t>
            </a:r>
            <a:r>
              <a:rPr lang="en-US" sz="2800" dirty="0" err="1"/>
              <a:t>ginagaya</a:t>
            </a:r>
            <a:r>
              <a:rPr lang="en-US" sz="2800" dirty="0"/>
              <a:t> </a:t>
            </a:r>
            <a:r>
              <a:rPr lang="en-US" sz="2800" dirty="0" err="1"/>
              <a:t>nila</a:t>
            </a:r>
            <a:r>
              <a:rPr lang="en-US" sz="2800" dirty="0"/>
              <a:t> </a:t>
            </a:r>
            <a:r>
              <a:rPr lang="en-US" sz="2800" dirty="0" err="1"/>
              <a:t>ang</a:t>
            </a:r>
            <a:r>
              <a:rPr lang="en-US" sz="2800" dirty="0"/>
              <a:t> </a:t>
            </a:r>
            <a:r>
              <a:rPr lang="en-US" sz="2800" dirty="0" err="1"/>
              <a:t>tunog</a:t>
            </a:r>
            <a:r>
              <a:rPr lang="en-US" sz="2800" dirty="0"/>
              <a:t> </a:t>
            </a:r>
            <a:r>
              <a:rPr lang="en-US" sz="2800" dirty="0" err="1"/>
              <a:t>na</a:t>
            </a:r>
            <a:r>
              <a:rPr lang="en-US" sz="2800" dirty="0"/>
              <a:t> </a:t>
            </a:r>
            <a:r>
              <a:rPr lang="en-US" sz="2800" dirty="0" err="1"/>
              <a:t>nililikha</a:t>
            </a:r>
            <a:r>
              <a:rPr lang="en-US" sz="2800" dirty="0"/>
              <a:t> </a:t>
            </a:r>
            <a:r>
              <a:rPr lang="en-US" sz="2800" dirty="0" err="1"/>
              <a:t>ng</a:t>
            </a:r>
            <a:r>
              <a:rPr lang="en-US" sz="2800" dirty="0"/>
              <a:t> </a:t>
            </a:r>
            <a:r>
              <a:rPr lang="en-US" sz="2800" dirty="0" err="1"/>
              <a:t>mga</a:t>
            </a:r>
            <a:r>
              <a:rPr lang="en-US" sz="2800" dirty="0"/>
              <a:t> </a:t>
            </a:r>
            <a:r>
              <a:rPr lang="en-US" sz="2800" dirty="0" err="1"/>
              <a:t>hayop</a:t>
            </a:r>
            <a:r>
              <a:rPr lang="en-US" sz="2800" dirty="0"/>
              <a:t> </a:t>
            </a:r>
            <a:r>
              <a:rPr lang="en-US" sz="2800" dirty="0" err="1"/>
              <a:t>gaya</a:t>
            </a:r>
            <a:r>
              <a:rPr lang="en-US" sz="2800" dirty="0"/>
              <a:t> </a:t>
            </a:r>
            <a:r>
              <a:rPr lang="en-US" sz="2800" dirty="0" err="1"/>
              <a:t>ng</a:t>
            </a:r>
            <a:r>
              <a:rPr lang="en-US" sz="2800" dirty="0"/>
              <a:t> </a:t>
            </a:r>
            <a:r>
              <a:rPr lang="en-US" sz="2800" dirty="0" err="1"/>
              <a:t>tahol</a:t>
            </a:r>
            <a:r>
              <a:rPr lang="en-US" sz="2800" dirty="0"/>
              <a:t> </a:t>
            </a:r>
            <a:r>
              <a:rPr lang="en-US" sz="2800" dirty="0" err="1"/>
              <a:t>ng</a:t>
            </a:r>
            <a:r>
              <a:rPr lang="en-US" sz="2800" dirty="0"/>
              <a:t> </a:t>
            </a:r>
            <a:r>
              <a:rPr lang="en-US" sz="2800" dirty="0" err="1"/>
              <a:t>aso</a:t>
            </a:r>
            <a:r>
              <a:rPr lang="en-US" sz="2800" dirty="0"/>
              <a:t>, </a:t>
            </a:r>
            <a:r>
              <a:rPr lang="en-US" sz="2800" dirty="0" err="1"/>
              <a:t>tilaok</a:t>
            </a:r>
            <a:r>
              <a:rPr lang="en-US" sz="2800" dirty="0"/>
              <a:t> </a:t>
            </a:r>
            <a:r>
              <a:rPr lang="en-US" sz="2800" dirty="0" err="1"/>
              <a:t>ng</a:t>
            </a:r>
            <a:r>
              <a:rPr lang="en-US" sz="2800" dirty="0"/>
              <a:t> </a:t>
            </a:r>
            <a:r>
              <a:rPr lang="en-US" sz="2800" dirty="0" err="1"/>
              <a:t>manok</a:t>
            </a:r>
            <a:r>
              <a:rPr lang="en-US" sz="2800" dirty="0"/>
              <a:t> at </a:t>
            </a:r>
            <a:r>
              <a:rPr lang="en-US" sz="2800" dirty="0" err="1"/>
              <a:t>huni</a:t>
            </a:r>
            <a:r>
              <a:rPr lang="en-US" sz="2800" dirty="0"/>
              <a:t> </a:t>
            </a:r>
            <a:r>
              <a:rPr lang="en-US" sz="2800" dirty="0" err="1"/>
              <a:t>ng</a:t>
            </a:r>
            <a:r>
              <a:rPr lang="en-US" sz="2800" dirty="0"/>
              <a:t> </a:t>
            </a:r>
            <a:r>
              <a:rPr lang="en-US" sz="2800" dirty="0" err="1"/>
              <a:t>ibon</a:t>
            </a:r>
            <a:endParaRPr lang="en-US" sz="2800" dirty="0"/>
          </a:p>
        </p:txBody>
      </p:sp>
    </p:spTree>
    <p:extLst>
      <p:ext uri="{BB962C8B-B14F-4D97-AF65-F5344CB8AC3E}">
        <p14:creationId xmlns="" xmlns:p14="http://schemas.microsoft.com/office/powerpoint/2010/main" val="692622860"/>
      </p:ext>
    </p:extLst>
  </p:cSld>
  <p:clrMapOvr>
    <a:masterClrMapping/>
  </p:clrMapOvr>
  <p:transition>
    <p:push/>
  </p:transition>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6400800"/>
          </a:xfrm>
        </p:spPr>
        <p:txBody>
          <a:bodyPr>
            <a:normAutofit/>
          </a:bodyPr>
          <a:lstStyle/>
          <a:p>
            <a:pPr>
              <a:buNone/>
            </a:pPr>
            <a:r>
              <a:rPr lang="en-US" sz="3200" b="1" dirty="0" err="1" smtClean="0">
                <a:solidFill>
                  <a:srgbClr val="FF0000"/>
                </a:solidFill>
                <a:effectLst>
                  <a:outerShdw blurRad="38100" dist="38100" dir="2700000" algn="tl">
                    <a:srgbClr val="000000">
                      <a:alpha val="43137"/>
                    </a:srgbClr>
                  </a:outerShdw>
                </a:effectLst>
              </a:rPr>
              <a:t>Teorya</a:t>
            </a:r>
            <a:r>
              <a:rPr lang="en-US" sz="3200" b="1" dirty="0" smtClean="0">
                <a:solidFill>
                  <a:srgbClr val="FF0000"/>
                </a:solidFill>
                <a:effectLst>
                  <a:outerShdw blurRad="38100" dist="38100" dir="2700000" algn="tl">
                    <a:srgbClr val="000000">
                      <a:alpha val="43137"/>
                    </a:srgbClr>
                  </a:outerShdw>
                </a:effectLst>
              </a:rPr>
              <a:t> </a:t>
            </a:r>
            <a:r>
              <a:rPr lang="en-US" sz="3200" b="1" dirty="0" err="1" smtClean="0">
                <a:solidFill>
                  <a:srgbClr val="FF0000"/>
                </a:solidFill>
                <a:effectLst>
                  <a:outerShdw blurRad="38100" dist="38100" dir="2700000" algn="tl">
                    <a:srgbClr val="000000">
                      <a:alpha val="43137"/>
                    </a:srgbClr>
                  </a:outerShdw>
                </a:effectLst>
              </a:rPr>
              <a:t>ng</a:t>
            </a:r>
            <a:r>
              <a:rPr lang="en-US" sz="3200" b="1" dirty="0" smtClean="0">
                <a:solidFill>
                  <a:srgbClr val="FF0000"/>
                </a:solidFill>
                <a:effectLst>
                  <a:outerShdw blurRad="38100" dist="38100" dir="2700000" algn="tl">
                    <a:srgbClr val="000000">
                      <a:alpha val="43137"/>
                    </a:srgbClr>
                  </a:outerShdw>
                </a:effectLst>
              </a:rPr>
              <a:t> </a:t>
            </a:r>
            <a:r>
              <a:rPr lang="en-US" sz="3200" b="1" dirty="0" err="1" smtClean="0">
                <a:solidFill>
                  <a:srgbClr val="FF0000"/>
                </a:solidFill>
                <a:effectLst>
                  <a:outerShdw blurRad="38100" dist="38100" dir="2700000" algn="tl">
                    <a:srgbClr val="000000">
                      <a:alpha val="43137"/>
                    </a:srgbClr>
                  </a:outerShdw>
                </a:effectLst>
              </a:rPr>
              <a:t>Pinagmulan</a:t>
            </a:r>
            <a:r>
              <a:rPr lang="en-US" sz="3200" b="1" dirty="0" smtClean="0">
                <a:solidFill>
                  <a:srgbClr val="FF0000"/>
                </a:solidFill>
                <a:effectLst>
                  <a:outerShdw blurRad="38100" dist="38100" dir="2700000" algn="tl">
                    <a:srgbClr val="000000">
                      <a:alpha val="43137"/>
                    </a:srgbClr>
                  </a:outerShdw>
                </a:effectLst>
              </a:rPr>
              <a:t> </a:t>
            </a:r>
            <a:r>
              <a:rPr lang="en-US" sz="3200" b="1" dirty="0" err="1" smtClean="0">
                <a:solidFill>
                  <a:srgbClr val="FF0000"/>
                </a:solidFill>
                <a:effectLst>
                  <a:outerShdw blurRad="38100" dist="38100" dir="2700000" algn="tl">
                    <a:srgbClr val="000000">
                      <a:alpha val="43137"/>
                    </a:srgbClr>
                  </a:outerShdw>
                </a:effectLst>
              </a:rPr>
              <a:t>ng</a:t>
            </a:r>
            <a:r>
              <a:rPr lang="en-US" sz="3200" b="1" dirty="0" smtClean="0">
                <a:solidFill>
                  <a:srgbClr val="FF0000"/>
                </a:solidFill>
                <a:effectLst>
                  <a:outerShdw blurRad="38100" dist="38100" dir="2700000" algn="tl">
                    <a:srgbClr val="000000">
                      <a:alpha val="43137"/>
                    </a:srgbClr>
                  </a:outerShdw>
                </a:effectLst>
              </a:rPr>
              <a:t> </a:t>
            </a:r>
            <a:r>
              <a:rPr lang="en-US" sz="3200" b="1" dirty="0" err="1" smtClean="0">
                <a:solidFill>
                  <a:srgbClr val="FF0000"/>
                </a:solidFill>
                <a:effectLst>
                  <a:outerShdw blurRad="38100" dist="38100" dir="2700000" algn="tl">
                    <a:srgbClr val="000000">
                      <a:alpha val="43137"/>
                    </a:srgbClr>
                  </a:outerShdw>
                </a:effectLst>
              </a:rPr>
              <a:t>Wika</a:t>
            </a:r>
            <a:endParaRPr lang="en-US" sz="3200" b="1" dirty="0" smtClean="0">
              <a:solidFill>
                <a:srgbClr val="FF0000"/>
              </a:solidFill>
              <a:effectLst>
                <a:outerShdw blurRad="38100" dist="38100" dir="2700000" algn="tl">
                  <a:srgbClr val="000000">
                    <a:alpha val="43137"/>
                  </a:srgbClr>
                </a:outerShdw>
              </a:effectLst>
            </a:endParaRPr>
          </a:p>
          <a:p>
            <a:pPr marL="68580" indent="0">
              <a:buNone/>
            </a:pPr>
            <a:endParaRPr lang="en-US" sz="1600" b="1" dirty="0" smtClean="0"/>
          </a:p>
          <a:p>
            <a:pPr marL="68580" indent="0">
              <a:buNone/>
            </a:pPr>
            <a:r>
              <a:rPr lang="en-US" sz="2800" b="1" dirty="0" smtClean="0"/>
              <a:t>Ding-dong. </a:t>
            </a:r>
            <a:r>
              <a:rPr lang="en-US" sz="2800" dirty="0" err="1"/>
              <a:t>Maliban</a:t>
            </a:r>
            <a:r>
              <a:rPr lang="en-US" sz="2800" dirty="0"/>
              <a:t> </a:t>
            </a:r>
            <a:r>
              <a:rPr lang="en-US" sz="2800" dirty="0" err="1"/>
              <a:t>sa</a:t>
            </a:r>
            <a:r>
              <a:rPr lang="en-US" sz="2800" dirty="0"/>
              <a:t> </a:t>
            </a:r>
            <a:r>
              <a:rPr lang="en-US" sz="2800" dirty="0" err="1"/>
              <a:t>tunog</a:t>
            </a:r>
            <a:r>
              <a:rPr lang="en-US" sz="2800" dirty="0"/>
              <a:t> </a:t>
            </a:r>
            <a:r>
              <a:rPr lang="en-US" sz="2800" dirty="0" err="1"/>
              <a:t>ng</a:t>
            </a:r>
            <a:r>
              <a:rPr lang="en-US" sz="2800" dirty="0"/>
              <a:t> </a:t>
            </a:r>
            <a:r>
              <a:rPr lang="en-US" sz="2800" dirty="0" err="1"/>
              <a:t>hayop</a:t>
            </a:r>
            <a:r>
              <a:rPr lang="en-US" sz="2800" dirty="0"/>
              <a:t>, </a:t>
            </a:r>
            <a:r>
              <a:rPr lang="en-US" sz="2800" dirty="0" err="1"/>
              <a:t>ipinalagay</a:t>
            </a:r>
            <a:r>
              <a:rPr lang="en-US" sz="2800" dirty="0"/>
              <a:t> </a:t>
            </a:r>
            <a:r>
              <a:rPr lang="en-US" sz="2800" dirty="0" err="1"/>
              <a:t>sa</a:t>
            </a:r>
            <a:r>
              <a:rPr lang="en-US" sz="2800" dirty="0"/>
              <a:t> </a:t>
            </a:r>
            <a:r>
              <a:rPr lang="en-US" sz="2800" dirty="0" err="1"/>
              <a:t>teoryang</a:t>
            </a:r>
            <a:r>
              <a:rPr lang="en-US" sz="2800" dirty="0"/>
              <a:t> </a:t>
            </a:r>
            <a:r>
              <a:rPr lang="en-US" sz="2800" dirty="0" err="1"/>
              <a:t>ito</a:t>
            </a:r>
            <a:r>
              <a:rPr lang="en-US" sz="2800" dirty="0"/>
              <a:t> </a:t>
            </a:r>
            <a:r>
              <a:rPr lang="en-US" sz="2800" dirty="0" err="1"/>
              <a:t>na</a:t>
            </a:r>
            <a:r>
              <a:rPr lang="en-US" sz="2800" dirty="0"/>
              <a:t> </a:t>
            </a:r>
            <a:r>
              <a:rPr lang="en-US" sz="2800" dirty="0" err="1"/>
              <a:t>ang</a:t>
            </a:r>
            <a:r>
              <a:rPr lang="en-US" sz="2800" dirty="0"/>
              <a:t> </a:t>
            </a:r>
            <a:r>
              <a:rPr lang="en-US" sz="2800" dirty="0" err="1"/>
              <a:t>lahat</a:t>
            </a:r>
            <a:r>
              <a:rPr lang="en-US" sz="2800" dirty="0"/>
              <a:t> </a:t>
            </a:r>
            <a:r>
              <a:rPr lang="en-US" sz="2800" dirty="0" err="1"/>
              <a:t>ng</a:t>
            </a:r>
            <a:r>
              <a:rPr lang="en-US" sz="2800" dirty="0"/>
              <a:t> </a:t>
            </a:r>
            <a:r>
              <a:rPr lang="en-US" sz="2800" dirty="0" err="1"/>
              <a:t>bagay</a:t>
            </a:r>
            <a:r>
              <a:rPr lang="en-US" sz="2800" dirty="0"/>
              <a:t> </a:t>
            </a:r>
            <a:r>
              <a:rPr lang="en-US" sz="2800" dirty="0" err="1"/>
              <a:t>sa</a:t>
            </a:r>
            <a:r>
              <a:rPr lang="en-US" sz="2800" dirty="0"/>
              <a:t> </a:t>
            </a:r>
            <a:r>
              <a:rPr lang="en-US" sz="2800" dirty="0" err="1"/>
              <a:t>kapaligiran</a:t>
            </a:r>
            <a:r>
              <a:rPr lang="en-US" sz="2800" dirty="0"/>
              <a:t> ay may </a:t>
            </a:r>
            <a:r>
              <a:rPr lang="en-US" sz="2800" dirty="0" err="1"/>
              <a:t>sariling</a:t>
            </a:r>
            <a:r>
              <a:rPr lang="en-US" sz="2800" dirty="0"/>
              <a:t> </a:t>
            </a:r>
            <a:r>
              <a:rPr lang="en-US" sz="2800" dirty="0" err="1"/>
              <a:t>tunog</a:t>
            </a:r>
            <a:r>
              <a:rPr lang="en-US" sz="2800" dirty="0"/>
              <a:t> </a:t>
            </a:r>
            <a:r>
              <a:rPr lang="en-US" sz="2800" dirty="0" err="1"/>
              <a:t>na</a:t>
            </a:r>
            <a:r>
              <a:rPr lang="en-US" sz="2800" dirty="0"/>
              <a:t> </a:t>
            </a:r>
            <a:r>
              <a:rPr lang="en-US" sz="2800" dirty="0" err="1"/>
              <a:t>siyang</a:t>
            </a:r>
            <a:r>
              <a:rPr lang="en-US" sz="2800" dirty="0"/>
              <a:t> </a:t>
            </a:r>
            <a:r>
              <a:rPr lang="en-US" sz="2800" dirty="0" err="1"/>
              <a:t>kumakatawan</a:t>
            </a:r>
            <a:r>
              <a:rPr lang="en-US" sz="2800" dirty="0"/>
              <a:t> </a:t>
            </a:r>
            <a:r>
              <a:rPr lang="en-US" sz="2800" dirty="0" err="1"/>
              <a:t>sa</a:t>
            </a:r>
            <a:r>
              <a:rPr lang="en-US" sz="2800" dirty="0"/>
              <a:t> </a:t>
            </a:r>
            <a:r>
              <a:rPr lang="en-US" sz="2800" dirty="0" err="1"/>
              <a:t>nasabing</a:t>
            </a:r>
            <a:r>
              <a:rPr lang="en-US" sz="2800" dirty="0"/>
              <a:t> </a:t>
            </a:r>
            <a:r>
              <a:rPr lang="en-US" sz="2800" dirty="0" err="1"/>
              <a:t>bagay</a:t>
            </a:r>
            <a:r>
              <a:rPr lang="en-US" sz="2800" dirty="0" smtClean="0"/>
              <a:t>. </a:t>
            </a:r>
            <a:r>
              <a:rPr lang="en-US" sz="2800" b="1" i="1" dirty="0" err="1" smtClean="0"/>
              <a:t>Kampana</a:t>
            </a:r>
            <a:r>
              <a:rPr lang="en-US" sz="2800" b="1" i="1" dirty="0" smtClean="0"/>
              <a:t>, </a:t>
            </a:r>
            <a:r>
              <a:rPr lang="en-US" sz="2800" b="1" i="1" dirty="0" err="1" smtClean="0"/>
              <a:t>relo</a:t>
            </a:r>
            <a:r>
              <a:rPr lang="en-US" sz="2800" b="1" i="1" dirty="0" smtClean="0"/>
              <a:t>, </a:t>
            </a:r>
            <a:r>
              <a:rPr lang="en-US" sz="2800" b="1" i="1" dirty="0" err="1" smtClean="0"/>
              <a:t>tren</a:t>
            </a:r>
            <a:r>
              <a:rPr lang="en-US" sz="2800" b="1" i="1" dirty="0" smtClean="0"/>
              <a:t>, </a:t>
            </a:r>
            <a:r>
              <a:rPr lang="en-US" sz="2800" b="1" i="1" dirty="0" err="1" smtClean="0"/>
              <a:t>patak</a:t>
            </a:r>
            <a:r>
              <a:rPr lang="en-US" sz="2800" b="1" i="1" dirty="0" smtClean="0"/>
              <a:t> </a:t>
            </a:r>
            <a:r>
              <a:rPr lang="en-US" sz="2800" b="1" i="1" dirty="0" err="1" smtClean="0"/>
              <a:t>ng</a:t>
            </a:r>
            <a:r>
              <a:rPr lang="en-US" sz="2800" b="1" i="1" dirty="0" smtClean="0"/>
              <a:t> </a:t>
            </a:r>
            <a:r>
              <a:rPr lang="en-US" sz="2800" b="1" i="1" dirty="0" err="1" smtClean="0"/>
              <a:t>ulan</a:t>
            </a:r>
            <a:endParaRPr lang="en-US" sz="2800" dirty="0" smtClean="0"/>
          </a:p>
          <a:p>
            <a:pPr marL="68580" indent="0">
              <a:buNone/>
            </a:pPr>
            <a:endParaRPr lang="en-US" sz="1800" b="1" dirty="0" smtClean="0"/>
          </a:p>
          <a:p>
            <a:pPr marL="68580" indent="0">
              <a:buNone/>
            </a:pPr>
            <a:r>
              <a:rPr lang="en-US" sz="2800" b="1" dirty="0" smtClean="0"/>
              <a:t>Pooh </a:t>
            </a:r>
            <a:r>
              <a:rPr lang="en-US" sz="2800" b="1" dirty="0" err="1" smtClean="0"/>
              <a:t>Pooh</a:t>
            </a:r>
            <a:r>
              <a:rPr lang="en-US" sz="2800" b="1" dirty="0" smtClean="0"/>
              <a:t>. </a:t>
            </a:r>
            <a:r>
              <a:rPr lang="en-US" sz="2800" dirty="0" err="1"/>
              <a:t>Ang</a:t>
            </a:r>
            <a:r>
              <a:rPr lang="en-US" sz="2800" dirty="0"/>
              <a:t> </a:t>
            </a:r>
            <a:r>
              <a:rPr lang="en-US" sz="2800" dirty="0" err="1"/>
              <a:t>tao</a:t>
            </a:r>
            <a:r>
              <a:rPr lang="en-US" sz="2800" dirty="0"/>
              <a:t> ay </a:t>
            </a:r>
            <a:r>
              <a:rPr lang="en-US" sz="2800" dirty="0" err="1"/>
              <a:t>nakalilikha</a:t>
            </a:r>
            <a:r>
              <a:rPr lang="en-US" sz="2800" dirty="0"/>
              <a:t> </a:t>
            </a:r>
            <a:r>
              <a:rPr lang="en-US" sz="2800" dirty="0" err="1"/>
              <a:t>ng</a:t>
            </a:r>
            <a:r>
              <a:rPr lang="en-US" sz="2800" dirty="0"/>
              <a:t> </a:t>
            </a:r>
            <a:r>
              <a:rPr lang="en-US" sz="2800" dirty="0" err="1"/>
              <a:t>tunog</a:t>
            </a:r>
            <a:r>
              <a:rPr lang="en-US" sz="2800" dirty="0"/>
              <a:t> </a:t>
            </a:r>
            <a:r>
              <a:rPr lang="en-US" sz="2800" dirty="0" err="1"/>
              <a:t>sanhi</a:t>
            </a:r>
            <a:r>
              <a:rPr lang="en-US" sz="2800" dirty="0"/>
              <a:t> </a:t>
            </a:r>
            <a:r>
              <a:rPr lang="en-US" sz="2800" dirty="0" err="1"/>
              <a:t>ng</a:t>
            </a:r>
            <a:r>
              <a:rPr lang="en-US" sz="2800" dirty="0"/>
              <a:t> </a:t>
            </a:r>
            <a:r>
              <a:rPr lang="en-US" sz="2800" dirty="0" err="1"/>
              <a:t>bugso</a:t>
            </a:r>
            <a:r>
              <a:rPr lang="en-US" sz="2800" dirty="0"/>
              <a:t> </a:t>
            </a:r>
            <a:r>
              <a:rPr lang="en-US" sz="2800" dirty="0" err="1"/>
              <a:t>ng</a:t>
            </a:r>
            <a:r>
              <a:rPr lang="en-US" sz="2800" dirty="0"/>
              <a:t> </a:t>
            </a:r>
            <a:r>
              <a:rPr lang="en-US" sz="2800" dirty="0" err="1"/>
              <a:t>damdamin</a:t>
            </a:r>
            <a:r>
              <a:rPr lang="en-US" sz="2800" dirty="0"/>
              <a:t>. </a:t>
            </a:r>
            <a:r>
              <a:rPr lang="en-US" sz="2800" dirty="0" err="1"/>
              <a:t>Gamit</a:t>
            </a:r>
            <a:r>
              <a:rPr lang="en-US" sz="2800" dirty="0"/>
              <a:t> </a:t>
            </a:r>
            <a:r>
              <a:rPr lang="en-US" sz="2800" dirty="0" err="1"/>
              <a:t>ang</a:t>
            </a:r>
            <a:r>
              <a:rPr lang="en-US" sz="2800" dirty="0"/>
              <a:t> </a:t>
            </a:r>
            <a:r>
              <a:rPr lang="en-US" sz="2800" dirty="0" err="1"/>
              <a:t>bibig</a:t>
            </a:r>
            <a:r>
              <a:rPr lang="en-US" sz="2800" dirty="0"/>
              <a:t>, </a:t>
            </a:r>
            <a:r>
              <a:rPr lang="en-US" sz="2800" dirty="0" err="1"/>
              <a:t>napabubulalas</a:t>
            </a:r>
            <a:r>
              <a:rPr lang="en-US" sz="2800" dirty="0"/>
              <a:t> </a:t>
            </a:r>
            <a:r>
              <a:rPr lang="en-US" sz="2800" dirty="0" err="1"/>
              <a:t>ang</a:t>
            </a:r>
            <a:r>
              <a:rPr lang="en-US" sz="2800" dirty="0"/>
              <a:t> </a:t>
            </a:r>
            <a:r>
              <a:rPr lang="en-US" sz="2800" dirty="0" err="1"/>
              <a:t>mga</a:t>
            </a:r>
            <a:r>
              <a:rPr lang="en-US" sz="2800" dirty="0"/>
              <a:t> </a:t>
            </a:r>
            <a:r>
              <a:rPr lang="en-US" sz="2800" dirty="0" err="1"/>
              <a:t>tunog</a:t>
            </a:r>
            <a:r>
              <a:rPr lang="en-US" sz="2800" dirty="0"/>
              <a:t> </a:t>
            </a:r>
            <a:r>
              <a:rPr lang="en-US" sz="2800" dirty="0" err="1"/>
              <a:t>ng</a:t>
            </a:r>
            <a:r>
              <a:rPr lang="en-US" sz="2800" dirty="0"/>
              <a:t> </a:t>
            </a:r>
            <a:r>
              <a:rPr lang="en-US" sz="2800" dirty="0" err="1"/>
              <a:t>pagdaing</a:t>
            </a:r>
            <a:r>
              <a:rPr lang="en-US" sz="2800" dirty="0"/>
              <a:t> </a:t>
            </a:r>
            <a:r>
              <a:rPr lang="en-US" sz="2800" dirty="0" err="1"/>
              <a:t>na</a:t>
            </a:r>
            <a:r>
              <a:rPr lang="en-US" sz="2800" dirty="0"/>
              <a:t> </a:t>
            </a:r>
            <a:r>
              <a:rPr lang="en-US" sz="2800" dirty="0" err="1"/>
              <a:t>dala</a:t>
            </a:r>
            <a:r>
              <a:rPr lang="en-US" sz="2800" dirty="0"/>
              <a:t> </a:t>
            </a:r>
            <a:r>
              <a:rPr lang="en-US" sz="2800" dirty="0" err="1"/>
              <a:t>ng</a:t>
            </a:r>
            <a:r>
              <a:rPr lang="en-US" sz="2800" dirty="0"/>
              <a:t> </a:t>
            </a:r>
            <a:r>
              <a:rPr lang="en-US" sz="2800" dirty="0" err="1"/>
              <a:t>takot</a:t>
            </a:r>
            <a:r>
              <a:rPr lang="en-US" sz="2800" dirty="0"/>
              <a:t>, </a:t>
            </a:r>
            <a:r>
              <a:rPr lang="en-US" sz="2800" dirty="0" err="1"/>
              <a:t>lungkot</a:t>
            </a:r>
            <a:r>
              <a:rPr lang="en-US" sz="2800" dirty="0"/>
              <a:t>, </a:t>
            </a:r>
            <a:r>
              <a:rPr lang="en-US" sz="2800" dirty="0" err="1"/>
              <a:t>galit</a:t>
            </a:r>
            <a:r>
              <a:rPr lang="en-US" sz="2800" dirty="0"/>
              <a:t>, </a:t>
            </a:r>
            <a:r>
              <a:rPr lang="en-US" sz="2800" dirty="0" err="1"/>
              <a:t>saya</a:t>
            </a:r>
            <a:r>
              <a:rPr lang="en-US" sz="2800" dirty="0"/>
              <a:t> at </a:t>
            </a:r>
            <a:r>
              <a:rPr lang="en-US" sz="2800" dirty="0" err="1"/>
              <a:t>paglalaan</a:t>
            </a:r>
            <a:r>
              <a:rPr lang="en-US" sz="2800" dirty="0"/>
              <a:t> </a:t>
            </a:r>
            <a:r>
              <a:rPr lang="en-US" sz="2800" dirty="0" err="1"/>
              <a:t>ng</a:t>
            </a:r>
            <a:r>
              <a:rPr lang="en-US" sz="2800" dirty="0"/>
              <a:t> </a:t>
            </a:r>
            <a:r>
              <a:rPr lang="en-US" sz="2800" dirty="0" err="1"/>
              <a:t>lakas</a:t>
            </a:r>
            <a:r>
              <a:rPr lang="en-US" sz="2800" dirty="0"/>
              <a:t>.</a:t>
            </a:r>
          </a:p>
        </p:txBody>
      </p:sp>
    </p:spTree>
    <p:extLst>
      <p:ext uri="{BB962C8B-B14F-4D97-AF65-F5344CB8AC3E}">
        <p14:creationId xmlns="" xmlns:p14="http://schemas.microsoft.com/office/powerpoint/2010/main" val="1388695359"/>
      </p:ext>
    </p:extLst>
  </p:cSld>
  <p:clrMapOvr>
    <a:masterClrMapping/>
  </p:clrMapOvr>
  <p:transition>
    <p:push/>
  </p:transition>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6400800"/>
          </a:xfrm>
        </p:spPr>
        <p:txBody>
          <a:bodyPr>
            <a:normAutofit fontScale="92500" lnSpcReduction="10000"/>
          </a:bodyPr>
          <a:lstStyle/>
          <a:p>
            <a:pPr>
              <a:buNone/>
            </a:pPr>
            <a:r>
              <a:rPr lang="en-US" sz="3200" b="1" dirty="0" err="1" smtClean="0">
                <a:solidFill>
                  <a:srgbClr val="FF0000"/>
                </a:solidFill>
                <a:effectLst>
                  <a:outerShdw blurRad="38100" dist="38100" dir="2700000" algn="tl">
                    <a:srgbClr val="000000">
                      <a:alpha val="43137"/>
                    </a:srgbClr>
                  </a:outerShdw>
                </a:effectLst>
              </a:rPr>
              <a:t>Teorya</a:t>
            </a:r>
            <a:r>
              <a:rPr lang="en-US" sz="3200" b="1" dirty="0" smtClean="0">
                <a:solidFill>
                  <a:srgbClr val="FF0000"/>
                </a:solidFill>
                <a:effectLst>
                  <a:outerShdw blurRad="38100" dist="38100" dir="2700000" algn="tl">
                    <a:srgbClr val="000000">
                      <a:alpha val="43137"/>
                    </a:srgbClr>
                  </a:outerShdw>
                </a:effectLst>
              </a:rPr>
              <a:t> </a:t>
            </a:r>
            <a:r>
              <a:rPr lang="en-US" sz="3200" b="1" dirty="0" err="1" smtClean="0">
                <a:solidFill>
                  <a:srgbClr val="FF0000"/>
                </a:solidFill>
                <a:effectLst>
                  <a:outerShdw blurRad="38100" dist="38100" dir="2700000" algn="tl">
                    <a:srgbClr val="000000">
                      <a:alpha val="43137"/>
                    </a:srgbClr>
                  </a:outerShdw>
                </a:effectLst>
              </a:rPr>
              <a:t>ng</a:t>
            </a:r>
            <a:r>
              <a:rPr lang="en-US" sz="3200" b="1" dirty="0" smtClean="0">
                <a:solidFill>
                  <a:srgbClr val="FF0000"/>
                </a:solidFill>
                <a:effectLst>
                  <a:outerShdw blurRad="38100" dist="38100" dir="2700000" algn="tl">
                    <a:srgbClr val="000000">
                      <a:alpha val="43137"/>
                    </a:srgbClr>
                  </a:outerShdw>
                </a:effectLst>
              </a:rPr>
              <a:t> </a:t>
            </a:r>
            <a:r>
              <a:rPr lang="en-US" sz="3200" b="1" dirty="0" err="1" smtClean="0">
                <a:solidFill>
                  <a:srgbClr val="FF0000"/>
                </a:solidFill>
                <a:effectLst>
                  <a:outerShdw blurRad="38100" dist="38100" dir="2700000" algn="tl">
                    <a:srgbClr val="000000">
                      <a:alpha val="43137"/>
                    </a:srgbClr>
                  </a:outerShdw>
                </a:effectLst>
              </a:rPr>
              <a:t>Pinagmulan</a:t>
            </a:r>
            <a:r>
              <a:rPr lang="en-US" sz="3200" b="1" dirty="0" smtClean="0">
                <a:solidFill>
                  <a:srgbClr val="FF0000"/>
                </a:solidFill>
                <a:effectLst>
                  <a:outerShdw blurRad="38100" dist="38100" dir="2700000" algn="tl">
                    <a:srgbClr val="000000">
                      <a:alpha val="43137"/>
                    </a:srgbClr>
                  </a:outerShdw>
                </a:effectLst>
              </a:rPr>
              <a:t> </a:t>
            </a:r>
            <a:r>
              <a:rPr lang="en-US" sz="3200" b="1" dirty="0" err="1" smtClean="0">
                <a:solidFill>
                  <a:srgbClr val="FF0000"/>
                </a:solidFill>
                <a:effectLst>
                  <a:outerShdw blurRad="38100" dist="38100" dir="2700000" algn="tl">
                    <a:srgbClr val="000000">
                      <a:alpha val="43137"/>
                    </a:srgbClr>
                  </a:outerShdw>
                </a:effectLst>
              </a:rPr>
              <a:t>ng</a:t>
            </a:r>
            <a:r>
              <a:rPr lang="en-US" sz="3200" b="1" dirty="0" smtClean="0">
                <a:solidFill>
                  <a:srgbClr val="FF0000"/>
                </a:solidFill>
                <a:effectLst>
                  <a:outerShdw blurRad="38100" dist="38100" dir="2700000" algn="tl">
                    <a:srgbClr val="000000">
                      <a:alpha val="43137"/>
                    </a:srgbClr>
                  </a:outerShdw>
                </a:effectLst>
              </a:rPr>
              <a:t> </a:t>
            </a:r>
            <a:r>
              <a:rPr lang="en-US" sz="3200" b="1" dirty="0" err="1" smtClean="0">
                <a:solidFill>
                  <a:srgbClr val="FF0000"/>
                </a:solidFill>
                <a:effectLst>
                  <a:outerShdw blurRad="38100" dist="38100" dir="2700000" algn="tl">
                    <a:srgbClr val="000000">
                      <a:alpha val="43137"/>
                    </a:srgbClr>
                  </a:outerShdw>
                </a:effectLst>
              </a:rPr>
              <a:t>Wika</a:t>
            </a:r>
            <a:endParaRPr lang="en-US" sz="3200" b="1" dirty="0" smtClean="0">
              <a:solidFill>
                <a:srgbClr val="FF0000"/>
              </a:solidFill>
              <a:effectLst>
                <a:outerShdw blurRad="38100" dist="38100" dir="2700000" algn="tl">
                  <a:srgbClr val="000000">
                    <a:alpha val="43137"/>
                  </a:srgbClr>
                </a:outerShdw>
              </a:effectLst>
            </a:endParaRPr>
          </a:p>
          <a:p>
            <a:pPr marL="68580" indent="0">
              <a:buNone/>
            </a:pPr>
            <a:endParaRPr lang="en-US" sz="1600" b="1" dirty="0" smtClean="0"/>
          </a:p>
          <a:p>
            <a:pPr marL="68580" indent="0">
              <a:buNone/>
            </a:pPr>
            <a:r>
              <a:rPr lang="en-US" sz="2800" b="1" dirty="0" err="1" smtClean="0"/>
              <a:t>Yoheho</a:t>
            </a:r>
            <a:r>
              <a:rPr lang="en-US" sz="2800" b="1" dirty="0" smtClean="0"/>
              <a:t>. </a:t>
            </a:r>
            <a:r>
              <a:rPr lang="en-US" sz="2800" dirty="0" err="1"/>
              <a:t>Isinasaad</a:t>
            </a:r>
            <a:r>
              <a:rPr lang="en-US" sz="2800" dirty="0"/>
              <a:t> </a:t>
            </a:r>
            <a:r>
              <a:rPr lang="en-US" sz="2800" dirty="0" err="1"/>
              <a:t>dito</a:t>
            </a:r>
            <a:r>
              <a:rPr lang="en-US" sz="2800" dirty="0"/>
              <a:t> </a:t>
            </a:r>
            <a:r>
              <a:rPr lang="en-US" sz="2800" dirty="0" err="1"/>
              <a:t>na</a:t>
            </a:r>
            <a:r>
              <a:rPr lang="en-US" sz="2800" dirty="0"/>
              <a:t> </a:t>
            </a:r>
            <a:r>
              <a:rPr lang="en-US" sz="2800" dirty="0" err="1"/>
              <a:t>nagsimula</a:t>
            </a:r>
            <a:r>
              <a:rPr lang="en-US" sz="2800" dirty="0"/>
              <a:t> </a:t>
            </a:r>
            <a:r>
              <a:rPr lang="en-US" sz="2800" dirty="0" err="1"/>
              <a:t>ang</a:t>
            </a:r>
            <a:r>
              <a:rPr lang="en-US" sz="2800" dirty="0"/>
              <a:t> </a:t>
            </a:r>
            <a:r>
              <a:rPr lang="en-US" sz="2800" dirty="0" err="1"/>
              <a:t>wika</a:t>
            </a:r>
            <a:r>
              <a:rPr lang="en-US" sz="2800" dirty="0"/>
              <a:t> </a:t>
            </a:r>
            <a:r>
              <a:rPr lang="en-US" sz="2800" dirty="0" err="1"/>
              <a:t>sa</a:t>
            </a:r>
            <a:r>
              <a:rPr lang="en-US" sz="2800" dirty="0"/>
              <a:t> </a:t>
            </a:r>
            <a:r>
              <a:rPr lang="en-US" sz="2800" dirty="0" err="1"/>
              <a:t>indayog</a:t>
            </a:r>
            <a:r>
              <a:rPr lang="en-US" sz="2800" dirty="0"/>
              <a:t> </a:t>
            </a:r>
            <a:r>
              <a:rPr lang="en-US" sz="2800" dirty="0" err="1"/>
              <a:t>ng</a:t>
            </a:r>
            <a:r>
              <a:rPr lang="en-US" sz="2800" dirty="0"/>
              <a:t> </a:t>
            </a:r>
            <a:r>
              <a:rPr lang="en-US" sz="2800" dirty="0" err="1"/>
              <a:t>himig-awitin</a:t>
            </a:r>
            <a:r>
              <a:rPr lang="en-US" sz="2800" dirty="0"/>
              <a:t> </a:t>
            </a:r>
            <a:r>
              <a:rPr lang="en-US" sz="2800" dirty="0" err="1"/>
              <a:t>ng</a:t>
            </a:r>
            <a:r>
              <a:rPr lang="en-US" sz="2800" dirty="0"/>
              <a:t> </a:t>
            </a:r>
            <a:r>
              <a:rPr lang="en-US" sz="2800" dirty="0" err="1"/>
              <a:t>mga</a:t>
            </a:r>
            <a:r>
              <a:rPr lang="en-US" sz="2800" dirty="0"/>
              <a:t> </a:t>
            </a:r>
            <a:r>
              <a:rPr lang="en-US" sz="2800" dirty="0" err="1"/>
              <a:t>taong</a:t>
            </a:r>
            <a:r>
              <a:rPr lang="en-US" sz="2800" dirty="0"/>
              <a:t> </a:t>
            </a:r>
            <a:r>
              <a:rPr lang="en-US" sz="2800" dirty="0" err="1"/>
              <a:t>sama-samang</a:t>
            </a:r>
            <a:r>
              <a:rPr lang="en-US" sz="2800" dirty="0"/>
              <a:t> </a:t>
            </a:r>
            <a:r>
              <a:rPr lang="en-US" sz="2800" dirty="0" err="1"/>
              <a:t>nagtatrabaho</a:t>
            </a:r>
            <a:r>
              <a:rPr lang="en-US" sz="2800" dirty="0" smtClean="0"/>
              <a:t>.</a:t>
            </a:r>
          </a:p>
          <a:p>
            <a:pPr marL="68580" indent="0">
              <a:buNone/>
            </a:pPr>
            <a:endParaRPr lang="en-US" sz="1800" b="1" dirty="0" smtClean="0"/>
          </a:p>
          <a:p>
            <a:pPr marL="68580" indent="0">
              <a:buNone/>
            </a:pPr>
            <a:r>
              <a:rPr lang="en-US" sz="2800" b="1" dirty="0" smtClean="0"/>
              <a:t>Yum </a:t>
            </a:r>
            <a:r>
              <a:rPr lang="en-US" sz="2800" b="1" dirty="0" err="1" smtClean="0"/>
              <a:t>Yum</a:t>
            </a:r>
            <a:r>
              <a:rPr lang="en-US" sz="2800" b="1" dirty="0" smtClean="0"/>
              <a:t>. </a:t>
            </a:r>
            <a:r>
              <a:rPr lang="en-US" sz="2800" dirty="0" err="1"/>
              <a:t>ang</a:t>
            </a:r>
            <a:r>
              <a:rPr lang="en-US" sz="2800" dirty="0"/>
              <a:t> </a:t>
            </a:r>
            <a:r>
              <a:rPr lang="en-US" sz="2800" dirty="0" err="1"/>
              <a:t>wika</a:t>
            </a:r>
            <a:r>
              <a:rPr lang="en-US" sz="2800" dirty="0"/>
              <a:t> ay </a:t>
            </a:r>
            <a:r>
              <a:rPr lang="en-US" sz="2800" dirty="0" err="1"/>
              <a:t>nagmula</a:t>
            </a:r>
            <a:r>
              <a:rPr lang="en-US" sz="2800" dirty="0"/>
              <a:t> </a:t>
            </a:r>
            <a:r>
              <a:rPr lang="en-US" sz="2800" dirty="0" err="1"/>
              <a:t>sa</a:t>
            </a:r>
            <a:r>
              <a:rPr lang="en-US" sz="2800" dirty="0"/>
              <a:t> </a:t>
            </a:r>
            <a:r>
              <a:rPr lang="en-US" sz="2800" dirty="0" err="1"/>
              <a:t>pagkumpas</a:t>
            </a:r>
            <a:r>
              <a:rPr lang="en-US" sz="2800" dirty="0"/>
              <a:t> </a:t>
            </a:r>
            <a:r>
              <a:rPr lang="en-US" sz="2800" dirty="0" err="1"/>
              <a:t>ng</a:t>
            </a:r>
            <a:r>
              <a:rPr lang="en-US" sz="2800" dirty="0"/>
              <a:t> maestro </a:t>
            </a:r>
            <a:r>
              <a:rPr lang="en-US" sz="2800" dirty="0" err="1"/>
              <a:t>ng</a:t>
            </a:r>
            <a:r>
              <a:rPr lang="en-US" sz="2800" dirty="0"/>
              <a:t> </a:t>
            </a:r>
            <a:r>
              <a:rPr lang="en-US" sz="2800" dirty="0" err="1"/>
              <a:t>musika</a:t>
            </a:r>
            <a:r>
              <a:rPr lang="en-US" sz="2800" dirty="0"/>
              <a:t> at </a:t>
            </a:r>
            <a:r>
              <a:rPr lang="en-US" sz="2800" dirty="0" err="1"/>
              <a:t>sa</a:t>
            </a:r>
            <a:r>
              <a:rPr lang="en-US" sz="2800" dirty="0"/>
              <a:t> </a:t>
            </a:r>
            <a:r>
              <a:rPr lang="en-US" sz="2800" dirty="0" err="1"/>
              <a:t>bawat</a:t>
            </a:r>
            <a:r>
              <a:rPr lang="en-US" sz="2800" dirty="0"/>
              <a:t> </a:t>
            </a:r>
            <a:r>
              <a:rPr lang="en-US" sz="2800" dirty="0" err="1"/>
              <a:t>kumpas</a:t>
            </a:r>
            <a:r>
              <a:rPr lang="en-US" sz="2800" dirty="0"/>
              <a:t> ay </a:t>
            </a:r>
            <a:r>
              <a:rPr lang="en-US" sz="2800" dirty="0" err="1"/>
              <a:t>nagagawa</a:t>
            </a:r>
            <a:r>
              <a:rPr lang="en-US" sz="2800" dirty="0"/>
              <a:t> </a:t>
            </a:r>
            <a:r>
              <a:rPr lang="en-US" sz="2800" dirty="0" err="1"/>
              <a:t>niyang</a:t>
            </a:r>
            <a:r>
              <a:rPr lang="en-US" sz="2800" dirty="0"/>
              <a:t> </a:t>
            </a:r>
            <a:r>
              <a:rPr lang="en-US" sz="2800" dirty="0" err="1"/>
              <a:t>lumikha</a:t>
            </a:r>
            <a:r>
              <a:rPr lang="en-US" sz="2800" dirty="0"/>
              <a:t> </a:t>
            </a:r>
            <a:r>
              <a:rPr lang="en-US" sz="2800" dirty="0" err="1"/>
              <a:t>ng</a:t>
            </a:r>
            <a:r>
              <a:rPr lang="en-US" sz="2800" dirty="0"/>
              <a:t> </a:t>
            </a:r>
            <a:r>
              <a:rPr lang="en-US" sz="2800" dirty="0" err="1"/>
              <a:t>tunog</a:t>
            </a:r>
            <a:r>
              <a:rPr lang="en-US" sz="2800" dirty="0"/>
              <a:t> </a:t>
            </a:r>
            <a:r>
              <a:rPr lang="en-US" sz="2800" dirty="0" err="1"/>
              <a:t>mula</a:t>
            </a:r>
            <a:r>
              <a:rPr lang="en-US" sz="2800" dirty="0"/>
              <a:t> </a:t>
            </a:r>
            <a:r>
              <a:rPr lang="en-US" sz="2800" dirty="0" err="1"/>
              <a:t>sa</a:t>
            </a:r>
            <a:r>
              <a:rPr lang="en-US" sz="2800" dirty="0"/>
              <a:t> </a:t>
            </a:r>
            <a:r>
              <a:rPr lang="en-US" sz="2800" dirty="0" err="1"/>
              <a:t>kanyang</a:t>
            </a:r>
            <a:r>
              <a:rPr lang="en-US" sz="2800" dirty="0"/>
              <a:t> </a:t>
            </a:r>
            <a:r>
              <a:rPr lang="en-US" sz="2800" dirty="0" err="1"/>
              <a:t>labi</a:t>
            </a:r>
            <a:r>
              <a:rPr lang="en-US" sz="2800" dirty="0" smtClean="0"/>
              <a:t>.</a:t>
            </a:r>
          </a:p>
          <a:p>
            <a:pPr marL="68580" indent="0">
              <a:buNone/>
            </a:pPr>
            <a:endParaRPr lang="en-US" sz="2000" b="1" dirty="0" smtClean="0"/>
          </a:p>
          <a:p>
            <a:pPr marL="68580" indent="0">
              <a:buNone/>
            </a:pPr>
            <a:r>
              <a:rPr lang="en-US" sz="2800" b="1" dirty="0" smtClean="0"/>
              <a:t>Ta-Ta. </a:t>
            </a:r>
            <a:r>
              <a:rPr lang="en-US" sz="2800" dirty="0" err="1"/>
              <a:t>Mula</a:t>
            </a:r>
            <a:r>
              <a:rPr lang="en-US" sz="2800" dirty="0"/>
              <a:t> </a:t>
            </a:r>
            <a:r>
              <a:rPr lang="en-US" sz="2800" dirty="0" err="1"/>
              <a:t>sa</a:t>
            </a:r>
            <a:r>
              <a:rPr lang="en-US" sz="2800" dirty="0"/>
              <a:t> </a:t>
            </a:r>
            <a:r>
              <a:rPr lang="en-US" sz="2800" dirty="0" err="1"/>
              <a:t>wikang</a:t>
            </a:r>
            <a:r>
              <a:rPr lang="en-US" sz="2800" dirty="0"/>
              <a:t> </a:t>
            </a:r>
            <a:r>
              <a:rPr lang="en-US" sz="2800" dirty="0" err="1"/>
              <a:t>Pranses</a:t>
            </a:r>
            <a:r>
              <a:rPr lang="en-US" sz="2800" dirty="0"/>
              <a:t> </a:t>
            </a:r>
            <a:r>
              <a:rPr lang="en-US" sz="2800" dirty="0" err="1"/>
              <a:t>na</a:t>
            </a:r>
            <a:r>
              <a:rPr lang="en-US" sz="2800" dirty="0"/>
              <a:t> </a:t>
            </a:r>
            <a:r>
              <a:rPr lang="en-US" sz="2800" dirty="0" err="1"/>
              <a:t>nangangahulugang</a:t>
            </a:r>
            <a:r>
              <a:rPr lang="en-US" sz="2800" dirty="0"/>
              <a:t> </a:t>
            </a:r>
            <a:r>
              <a:rPr lang="en-US" sz="2800" dirty="0" err="1"/>
              <a:t>paalam</a:t>
            </a:r>
            <a:r>
              <a:rPr lang="en-US" sz="2800" dirty="0"/>
              <a:t>. </a:t>
            </a:r>
            <a:r>
              <a:rPr lang="en-US" sz="2800" dirty="0" err="1"/>
              <a:t>Ginagaya</a:t>
            </a:r>
            <a:r>
              <a:rPr lang="en-US" sz="2800" dirty="0"/>
              <a:t> </a:t>
            </a:r>
            <a:r>
              <a:rPr lang="en-US" sz="2800" dirty="0" err="1"/>
              <a:t>ng</a:t>
            </a:r>
            <a:r>
              <a:rPr lang="en-US" sz="2800" dirty="0"/>
              <a:t> </a:t>
            </a:r>
            <a:r>
              <a:rPr lang="en-US" sz="2800" dirty="0" err="1"/>
              <a:t>dila</a:t>
            </a:r>
            <a:r>
              <a:rPr lang="en-US" sz="2800" dirty="0"/>
              <a:t> </a:t>
            </a:r>
            <a:r>
              <a:rPr lang="en-US" sz="2800" dirty="0" err="1"/>
              <a:t>ang</a:t>
            </a:r>
            <a:r>
              <a:rPr lang="en-US" sz="2800" dirty="0"/>
              <a:t> </a:t>
            </a:r>
            <a:r>
              <a:rPr lang="en-US" sz="2800" dirty="0" err="1"/>
              <a:t>kumpas</a:t>
            </a:r>
            <a:r>
              <a:rPr lang="en-US" sz="2800" dirty="0"/>
              <a:t> o </a:t>
            </a:r>
            <a:r>
              <a:rPr lang="en-US" sz="2800" dirty="0" err="1"/>
              <a:t>galaw</a:t>
            </a:r>
            <a:r>
              <a:rPr lang="en-US" sz="2800" dirty="0"/>
              <a:t> </a:t>
            </a:r>
            <a:r>
              <a:rPr lang="en-US" sz="2800" dirty="0" err="1"/>
              <a:t>ng</a:t>
            </a:r>
            <a:r>
              <a:rPr lang="en-US" sz="2800" dirty="0"/>
              <a:t> </a:t>
            </a:r>
            <a:r>
              <a:rPr lang="en-US" sz="2800" dirty="0" err="1"/>
              <a:t>kamay</a:t>
            </a:r>
            <a:r>
              <a:rPr lang="en-US" sz="2800" dirty="0"/>
              <a:t> </a:t>
            </a:r>
            <a:r>
              <a:rPr lang="en-US" sz="2800" dirty="0" err="1"/>
              <a:t>ng</a:t>
            </a:r>
            <a:r>
              <a:rPr lang="en-US" sz="2800" dirty="0"/>
              <a:t> </a:t>
            </a:r>
            <a:r>
              <a:rPr lang="en-US" sz="2800" dirty="0" err="1"/>
              <a:t>tao</a:t>
            </a:r>
            <a:r>
              <a:rPr lang="en-US" sz="2800" dirty="0"/>
              <a:t> </a:t>
            </a:r>
            <a:r>
              <a:rPr lang="en-US" sz="2800" dirty="0" err="1"/>
              <a:t>na</a:t>
            </a:r>
            <a:r>
              <a:rPr lang="en-US" sz="2800" dirty="0"/>
              <a:t> </a:t>
            </a:r>
            <a:r>
              <a:rPr lang="en-US" sz="2800" dirty="0" err="1"/>
              <a:t>kanyang</a:t>
            </a:r>
            <a:r>
              <a:rPr lang="en-US" sz="2800" dirty="0"/>
              <a:t> </a:t>
            </a:r>
            <a:r>
              <a:rPr lang="en-US" sz="2800" dirty="0" err="1"/>
              <a:t>ginagawa</a:t>
            </a:r>
            <a:r>
              <a:rPr lang="en-US" sz="2800" dirty="0"/>
              <a:t> </a:t>
            </a:r>
            <a:r>
              <a:rPr lang="en-US" sz="2800" dirty="0" err="1"/>
              <a:t>sa</a:t>
            </a:r>
            <a:r>
              <a:rPr lang="en-US" sz="2800" dirty="0"/>
              <a:t> </a:t>
            </a:r>
            <a:r>
              <a:rPr lang="en-US" sz="2800" dirty="0" err="1"/>
              <a:t>bawat</a:t>
            </a:r>
            <a:r>
              <a:rPr lang="en-US" sz="2800" dirty="0"/>
              <a:t> particular </a:t>
            </a:r>
            <a:r>
              <a:rPr lang="en-US" sz="2800" dirty="0" err="1"/>
              <a:t>na</a:t>
            </a:r>
            <a:r>
              <a:rPr lang="en-US" sz="2800" dirty="0"/>
              <a:t> </a:t>
            </a:r>
            <a:r>
              <a:rPr lang="en-US" sz="2800" dirty="0" err="1"/>
              <a:t>okasyon</a:t>
            </a:r>
            <a:r>
              <a:rPr lang="en-US" sz="2800" dirty="0"/>
              <a:t> </a:t>
            </a:r>
            <a:r>
              <a:rPr lang="en-US" sz="2800" dirty="0" err="1"/>
              <a:t>tulad</a:t>
            </a:r>
            <a:r>
              <a:rPr lang="en-US" sz="2800" dirty="0"/>
              <a:t> </a:t>
            </a:r>
            <a:r>
              <a:rPr lang="en-US" sz="2800" dirty="0" err="1"/>
              <a:t>ng</a:t>
            </a:r>
            <a:r>
              <a:rPr lang="en-US" sz="2800" dirty="0"/>
              <a:t> </a:t>
            </a:r>
            <a:r>
              <a:rPr lang="en-US" sz="2800" dirty="0" err="1"/>
              <a:t>pagkumpas</a:t>
            </a:r>
            <a:r>
              <a:rPr lang="en-US" sz="2800" dirty="0"/>
              <a:t> </a:t>
            </a:r>
            <a:r>
              <a:rPr lang="en-US" sz="2800" dirty="0" err="1"/>
              <a:t>ng</a:t>
            </a:r>
            <a:r>
              <a:rPr lang="en-US" sz="2800" dirty="0"/>
              <a:t> </a:t>
            </a:r>
            <a:r>
              <a:rPr lang="en-US" sz="2800" dirty="0" err="1"/>
              <a:t>kamay</a:t>
            </a:r>
            <a:r>
              <a:rPr lang="en-US" sz="2800" dirty="0"/>
              <a:t> </a:t>
            </a:r>
            <a:r>
              <a:rPr lang="en-US" sz="2800" dirty="0" err="1"/>
              <a:t>ng</a:t>
            </a:r>
            <a:r>
              <a:rPr lang="en-US" sz="2800" dirty="0"/>
              <a:t> </a:t>
            </a:r>
            <a:r>
              <a:rPr lang="en-US" sz="2800" dirty="0" err="1"/>
              <a:t>pababa</a:t>
            </a:r>
            <a:r>
              <a:rPr lang="en-US" sz="2800" dirty="0"/>
              <a:t> at </a:t>
            </a:r>
            <a:r>
              <a:rPr lang="en-US" sz="2800" dirty="0" err="1"/>
              <a:t>pataas</a:t>
            </a:r>
            <a:r>
              <a:rPr lang="en-US" sz="2800" dirty="0"/>
              <a:t> </a:t>
            </a:r>
            <a:r>
              <a:rPr lang="en-US" sz="2800" dirty="0" err="1"/>
              <a:t>tuwing</a:t>
            </a:r>
            <a:r>
              <a:rPr lang="en-US" sz="2800" dirty="0"/>
              <a:t> </a:t>
            </a:r>
            <a:r>
              <a:rPr lang="en-US" sz="2800" dirty="0" err="1"/>
              <a:t>paalam</a:t>
            </a:r>
            <a:r>
              <a:rPr lang="en-US" sz="2800" dirty="0"/>
              <a:t>.</a:t>
            </a:r>
            <a:endParaRPr lang="en-US" sz="2800" b="1" dirty="0"/>
          </a:p>
        </p:txBody>
      </p:sp>
    </p:spTree>
    <p:extLst>
      <p:ext uri="{BB962C8B-B14F-4D97-AF65-F5344CB8AC3E}">
        <p14:creationId xmlns="" xmlns:p14="http://schemas.microsoft.com/office/powerpoint/2010/main" val="376620442"/>
      </p:ext>
    </p:extLst>
  </p:cSld>
  <p:clrMapOvr>
    <a:masterClrMapping/>
  </p:clrMapOvr>
  <p:transition>
    <p:push/>
  </p:transition>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6400800"/>
          </a:xfrm>
        </p:spPr>
        <p:txBody>
          <a:bodyPr>
            <a:normAutofit/>
          </a:bodyPr>
          <a:lstStyle/>
          <a:p>
            <a:pPr>
              <a:buNone/>
            </a:pPr>
            <a:r>
              <a:rPr lang="en-US" sz="3200" b="1" dirty="0" err="1" smtClean="0">
                <a:solidFill>
                  <a:srgbClr val="FF0000"/>
                </a:solidFill>
                <a:effectLst>
                  <a:outerShdw blurRad="38100" dist="38100" dir="2700000" algn="tl">
                    <a:srgbClr val="000000">
                      <a:alpha val="43137"/>
                    </a:srgbClr>
                  </a:outerShdw>
                </a:effectLst>
              </a:rPr>
              <a:t>Teorya</a:t>
            </a:r>
            <a:r>
              <a:rPr lang="en-US" sz="3200" b="1" dirty="0" smtClean="0">
                <a:solidFill>
                  <a:srgbClr val="FF0000"/>
                </a:solidFill>
                <a:effectLst>
                  <a:outerShdw blurRad="38100" dist="38100" dir="2700000" algn="tl">
                    <a:srgbClr val="000000">
                      <a:alpha val="43137"/>
                    </a:srgbClr>
                  </a:outerShdw>
                </a:effectLst>
              </a:rPr>
              <a:t> </a:t>
            </a:r>
            <a:r>
              <a:rPr lang="en-US" sz="3200" b="1" dirty="0" err="1" smtClean="0">
                <a:solidFill>
                  <a:srgbClr val="FF0000"/>
                </a:solidFill>
                <a:effectLst>
                  <a:outerShdw blurRad="38100" dist="38100" dir="2700000" algn="tl">
                    <a:srgbClr val="000000">
                      <a:alpha val="43137"/>
                    </a:srgbClr>
                  </a:outerShdw>
                </a:effectLst>
              </a:rPr>
              <a:t>ng</a:t>
            </a:r>
            <a:r>
              <a:rPr lang="en-US" sz="3200" b="1" dirty="0" smtClean="0">
                <a:solidFill>
                  <a:srgbClr val="FF0000"/>
                </a:solidFill>
                <a:effectLst>
                  <a:outerShdw blurRad="38100" dist="38100" dir="2700000" algn="tl">
                    <a:srgbClr val="000000">
                      <a:alpha val="43137"/>
                    </a:srgbClr>
                  </a:outerShdw>
                </a:effectLst>
              </a:rPr>
              <a:t> </a:t>
            </a:r>
            <a:r>
              <a:rPr lang="en-US" sz="3200" b="1" dirty="0" err="1" smtClean="0">
                <a:solidFill>
                  <a:srgbClr val="FF0000"/>
                </a:solidFill>
                <a:effectLst>
                  <a:outerShdw blurRad="38100" dist="38100" dir="2700000" algn="tl">
                    <a:srgbClr val="000000">
                      <a:alpha val="43137"/>
                    </a:srgbClr>
                  </a:outerShdw>
                </a:effectLst>
              </a:rPr>
              <a:t>Pinagmulan</a:t>
            </a:r>
            <a:r>
              <a:rPr lang="en-US" sz="3200" b="1" dirty="0" smtClean="0">
                <a:solidFill>
                  <a:srgbClr val="FF0000"/>
                </a:solidFill>
                <a:effectLst>
                  <a:outerShdw blurRad="38100" dist="38100" dir="2700000" algn="tl">
                    <a:srgbClr val="000000">
                      <a:alpha val="43137"/>
                    </a:srgbClr>
                  </a:outerShdw>
                </a:effectLst>
              </a:rPr>
              <a:t> </a:t>
            </a:r>
            <a:r>
              <a:rPr lang="en-US" sz="3200" b="1" dirty="0" err="1" smtClean="0">
                <a:solidFill>
                  <a:srgbClr val="FF0000"/>
                </a:solidFill>
                <a:effectLst>
                  <a:outerShdw blurRad="38100" dist="38100" dir="2700000" algn="tl">
                    <a:srgbClr val="000000">
                      <a:alpha val="43137"/>
                    </a:srgbClr>
                  </a:outerShdw>
                </a:effectLst>
              </a:rPr>
              <a:t>ng</a:t>
            </a:r>
            <a:r>
              <a:rPr lang="en-US" sz="3200" b="1" dirty="0" smtClean="0">
                <a:solidFill>
                  <a:srgbClr val="FF0000"/>
                </a:solidFill>
                <a:effectLst>
                  <a:outerShdw blurRad="38100" dist="38100" dir="2700000" algn="tl">
                    <a:srgbClr val="000000">
                      <a:alpha val="43137"/>
                    </a:srgbClr>
                  </a:outerShdw>
                </a:effectLst>
              </a:rPr>
              <a:t> </a:t>
            </a:r>
            <a:r>
              <a:rPr lang="en-US" sz="3200" b="1" dirty="0" err="1" smtClean="0">
                <a:solidFill>
                  <a:srgbClr val="FF0000"/>
                </a:solidFill>
                <a:effectLst>
                  <a:outerShdw blurRad="38100" dist="38100" dir="2700000" algn="tl">
                    <a:srgbClr val="000000">
                      <a:alpha val="43137"/>
                    </a:srgbClr>
                  </a:outerShdw>
                </a:effectLst>
              </a:rPr>
              <a:t>Wika</a:t>
            </a:r>
            <a:endParaRPr lang="en-US" sz="3200" b="1" dirty="0" smtClean="0">
              <a:solidFill>
                <a:srgbClr val="FF0000"/>
              </a:solidFill>
              <a:effectLst>
                <a:outerShdw blurRad="38100" dist="38100" dir="2700000" algn="tl">
                  <a:srgbClr val="000000">
                    <a:alpha val="43137"/>
                  </a:srgbClr>
                </a:outerShdw>
              </a:effectLst>
            </a:endParaRPr>
          </a:p>
          <a:p>
            <a:pPr marL="68580" indent="0">
              <a:buNone/>
            </a:pPr>
            <a:endParaRPr lang="en-US" sz="1600" b="1" dirty="0" smtClean="0"/>
          </a:p>
          <a:p>
            <a:pPr marL="68580" indent="0">
              <a:buNone/>
            </a:pPr>
            <a:r>
              <a:rPr lang="en-US" sz="2800" b="1" dirty="0" smtClean="0"/>
              <a:t>Sing Song. </a:t>
            </a:r>
            <a:r>
              <a:rPr lang="en-US" sz="2800" dirty="0"/>
              <a:t>Ito ay </a:t>
            </a:r>
            <a:r>
              <a:rPr lang="en-US" sz="2800" dirty="0" err="1"/>
              <a:t>nagmula</a:t>
            </a:r>
            <a:r>
              <a:rPr lang="en-US" sz="2800" dirty="0"/>
              <a:t> </a:t>
            </a:r>
            <a:r>
              <a:rPr lang="en-US" sz="2800" dirty="0" err="1"/>
              <a:t>sa</a:t>
            </a:r>
            <a:r>
              <a:rPr lang="en-US" sz="2800" dirty="0"/>
              <a:t> di </a:t>
            </a:r>
            <a:r>
              <a:rPr lang="en-US" sz="2800" dirty="0" err="1"/>
              <a:t>mawatasang</a:t>
            </a:r>
            <a:r>
              <a:rPr lang="en-US" sz="2800" dirty="0"/>
              <a:t> </a:t>
            </a:r>
            <a:r>
              <a:rPr lang="en-US" sz="2800" dirty="0" err="1"/>
              <a:t>pag-awit</a:t>
            </a:r>
            <a:r>
              <a:rPr lang="en-US" sz="2800" dirty="0"/>
              <a:t> </a:t>
            </a:r>
            <a:r>
              <a:rPr lang="en-US" sz="2800" dirty="0" err="1"/>
              <a:t>ng</a:t>
            </a:r>
            <a:r>
              <a:rPr lang="en-US" sz="2800" dirty="0"/>
              <a:t> </a:t>
            </a:r>
            <a:r>
              <a:rPr lang="en-US" sz="2800" dirty="0" err="1"/>
              <a:t>mga</a:t>
            </a:r>
            <a:r>
              <a:rPr lang="en-US" sz="2800" dirty="0"/>
              <a:t> </a:t>
            </a:r>
            <a:r>
              <a:rPr lang="en-US" sz="2800" dirty="0" err="1"/>
              <a:t>kauna-unahang</a:t>
            </a:r>
            <a:r>
              <a:rPr lang="en-US" sz="2800" dirty="0"/>
              <a:t> </a:t>
            </a:r>
            <a:r>
              <a:rPr lang="en-US" sz="2800" dirty="0" err="1"/>
              <a:t>tao</a:t>
            </a:r>
            <a:r>
              <a:rPr lang="en-US" sz="2800" dirty="0"/>
              <a:t>; may </a:t>
            </a:r>
            <a:r>
              <a:rPr lang="en-US" sz="2800" dirty="0" err="1"/>
              <a:t>melodiya</a:t>
            </a:r>
            <a:r>
              <a:rPr lang="en-US" sz="2800" dirty="0"/>
              <a:t> at </a:t>
            </a:r>
            <a:r>
              <a:rPr lang="en-US" sz="2800" dirty="0" err="1"/>
              <a:t>tono</a:t>
            </a:r>
            <a:r>
              <a:rPr lang="en-US" sz="2800" dirty="0"/>
              <a:t> </a:t>
            </a:r>
            <a:r>
              <a:rPr lang="en-US" sz="2800" dirty="0" err="1"/>
              <a:t>ang</a:t>
            </a:r>
            <a:r>
              <a:rPr lang="en-US" sz="2800" dirty="0"/>
              <a:t> </a:t>
            </a:r>
            <a:r>
              <a:rPr lang="en-US" sz="2800" dirty="0" err="1"/>
              <a:t>pag-usal</a:t>
            </a:r>
            <a:r>
              <a:rPr lang="en-US" sz="2800" dirty="0"/>
              <a:t> </a:t>
            </a:r>
            <a:r>
              <a:rPr lang="en-US" sz="2800" dirty="0" err="1"/>
              <a:t>ng</a:t>
            </a:r>
            <a:r>
              <a:rPr lang="en-US" sz="2800" dirty="0"/>
              <a:t> </a:t>
            </a:r>
            <a:r>
              <a:rPr lang="en-US" sz="2800" dirty="0" err="1"/>
              <a:t>mga</a:t>
            </a:r>
            <a:r>
              <a:rPr lang="en-US" sz="2800" dirty="0"/>
              <a:t> </a:t>
            </a:r>
            <a:r>
              <a:rPr lang="en-US" sz="2800" dirty="0" err="1"/>
              <a:t>unang</a:t>
            </a:r>
            <a:r>
              <a:rPr lang="en-US" sz="2800" dirty="0"/>
              <a:t> </a:t>
            </a:r>
            <a:r>
              <a:rPr lang="en-US" sz="2800" dirty="0" err="1" smtClean="0"/>
              <a:t>tao</a:t>
            </a:r>
            <a:endParaRPr lang="en-US" sz="2800" dirty="0" smtClean="0"/>
          </a:p>
          <a:p>
            <a:pPr marL="68580" indent="0">
              <a:buNone/>
            </a:pPr>
            <a:endParaRPr lang="en-US" sz="2000" b="1" dirty="0"/>
          </a:p>
          <a:p>
            <a:pPr marL="68580" indent="0">
              <a:buNone/>
            </a:pPr>
            <a:r>
              <a:rPr lang="en-US" sz="2800" b="1" dirty="0" smtClean="0"/>
              <a:t>La-La. </a:t>
            </a:r>
            <a:r>
              <a:rPr lang="en-US" sz="2800" dirty="0" err="1"/>
              <a:t>Mga</a:t>
            </a:r>
            <a:r>
              <a:rPr lang="en-US" sz="2800" dirty="0"/>
              <a:t> </a:t>
            </a:r>
            <a:r>
              <a:rPr lang="en-US" sz="2800" dirty="0" err="1"/>
              <a:t>pwersang</a:t>
            </a:r>
            <a:r>
              <a:rPr lang="en-US" sz="2800" dirty="0"/>
              <a:t> may </a:t>
            </a:r>
            <a:r>
              <a:rPr lang="en-US" sz="2800" dirty="0" err="1"/>
              <a:t>kinalaman</a:t>
            </a:r>
            <a:r>
              <a:rPr lang="en-US" sz="2800" dirty="0"/>
              <a:t> </a:t>
            </a:r>
            <a:r>
              <a:rPr lang="en-US" sz="2800" dirty="0" err="1"/>
              <a:t>sa</a:t>
            </a:r>
            <a:r>
              <a:rPr lang="en-US" sz="2800" dirty="0"/>
              <a:t> </a:t>
            </a:r>
            <a:r>
              <a:rPr lang="en-US" sz="2800" dirty="0" err="1"/>
              <a:t>romansa</a:t>
            </a:r>
            <a:r>
              <a:rPr lang="en-US" sz="2800" dirty="0"/>
              <a:t>. </a:t>
            </a:r>
            <a:r>
              <a:rPr lang="en-US" sz="2800" dirty="0" err="1"/>
              <a:t>Ang</a:t>
            </a:r>
            <a:r>
              <a:rPr lang="en-US" sz="2800" dirty="0"/>
              <a:t> </a:t>
            </a:r>
            <a:r>
              <a:rPr lang="en-US" sz="2800" dirty="0" err="1"/>
              <a:t>salik</a:t>
            </a:r>
            <a:r>
              <a:rPr lang="en-US" sz="2800" dirty="0"/>
              <a:t> </a:t>
            </a:r>
            <a:r>
              <a:rPr lang="en-US" sz="2800" dirty="0" err="1"/>
              <a:t>na</a:t>
            </a:r>
            <a:r>
              <a:rPr lang="en-US" sz="2800" dirty="0"/>
              <a:t> </a:t>
            </a:r>
            <a:r>
              <a:rPr lang="en-US" sz="2800" dirty="0" err="1"/>
              <a:t>nagtutulak</a:t>
            </a:r>
            <a:r>
              <a:rPr lang="en-US" sz="2800" dirty="0"/>
              <a:t> </a:t>
            </a:r>
            <a:r>
              <a:rPr lang="en-US" sz="2800" dirty="0" err="1"/>
              <a:t>sa</a:t>
            </a:r>
            <a:r>
              <a:rPr lang="en-US" sz="2800" dirty="0"/>
              <a:t> </a:t>
            </a:r>
            <a:r>
              <a:rPr lang="en-US" sz="2800" dirty="0" err="1"/>
              <a:t>tao</a:t>
            </a:r>
            <a:r>
              <a:rPr lang="en-US" sz="2800" dirty="0"/>
              <a:t> </a:t>
            </a:r>
            <a:r>
              <a:rPr lang="en-US" sz="2800" dirty="0" err="1"/>
              <a:t>upang</a:t>
            </a:r>
            <a:r>
              <a:rPr lang="en-US" sz="2800" dirty="0"/>
              <a:t> </a:t>
            </a:r>
            <a:r>
              <a:rPr lang="en-US" sz="2800" dirty="0" err="1"/>
              <a:t>magsalita</a:t>
            </a:r>
            <a:r>
              <a:rPr lang="en-US" sz="2800" dirty="0" smtClean="0"/>
              <a:t>.</a:t>
            </a:r>
          </a:p>
          <a:p>
            <a:pPr marL="68580" indent="0">
              <a:buNone/>
            </a:pPr>
            <a:endParaRPr lang="en-US" sz="2000" b="1" dirty="0"/>
          </a:p>
          <a:p>
            <a:pPr marL="68580" indent="0">
              <a:buNone/>
            </a:pPr>
            <a:r>
              <a:rPr lang="en-US" sz="2800" b="1" dirty="0" smtClean="0"/>
              <a:t>Tara-Boom-De-Ay.</a:t>
            </a:r>
            <a:r>
              <a:rPr lang="en-US" sz="2800" dirty="0" smtClean="0"/>
              <a:t> </a:t>
            </a:r>
            <a:r>
              <a:rPr lang="en-US" sz="2800" dirty="0" err="1"/>
              <a:t>Ang</a:t>
            </a:r>
            <a:r>
              <a:rPr lang="en-US" sz="2800" dirty="0"/>
              <a:t> </a:t>
            </a:r>
            <a:r>
              <a:rPr lang="en-US" sz="2800" dirty="0" err="1"/>
              <a:t>mga</a:t>
            </a:r>
            <a:r>
              <a:rPr lang="en-US" sz="2800" dirty="0"/>
              <a:t> </a:t>
            </a:r>
            <a:r>
              <a:rPr lang="en-US" sz="2800" dirty="0" err="1"/>
              <a:t>tao</a:t>
            </a:r>
            <a:r>
              <a:rPr lang="en-US" sz="2800" dirty="0"/>
              <a:t> ay </a:t>
            </a:r>
            <a:r>
              <a:rPr lang="en-US" sz="2800" dirty="0" err="1"/>
              <a:t>natutong</a:t>
            </a:r>
            <a:r>
              <a:rPr lang="en-US" sz="2800" dirty="0"/>
              <a:t> </a:t>
            </a:r>
            <a:r>
              <a:rPr lang="en-US" sz="2800" dirty="0" err="1"/>
              <a:t>humabi</a:t>
            </a:r>
            <a:r>
              <a:rPr lang="en-US" sz="2800" dirty="0"/>
              <a:t> </a:t>
            </a:r>
            <a:r>
              <a:rPr lang="en-US" sz="2800" dirty="0" err="1"/>
              <a:t>ng</a:t>
            </a:r>
            <a:r>
              <a:rPr lang="en-US" sz="2800" dirty="0"/>
              <a:t> </a:t>
            </a:r>
            <a:r>
              <a:rPr lang="en-US" sz="2800" dirty="0" err="1"/>
              <a:t>mga</a:t>
            </a:r>
            <a:r>
              <a:rPr lang="en-US" sz="2800" dirty="0"/>
              <a:t> </a:t>
            </a:r>
            <a:r>
              <a:rPr lang="en-US" sz="2800" dirty="0" err="1"/>
              <a:t>salita</a:t>
            </a:r>
            <a:r>
              <a:rPr lang="en-US" sz="2800" dirty="0"/>
              <a:t> </a:t>
            </a:r>
            <a:r>
              <a:rPr lang="en-US" sz="2800" dirty="0" err="1"/>
              <a:t>mula</a:t>
            </a:r>
            <a:r>
              <a:rPr lang="en-US" sz="2800" dirty="0"/>
              <a:t> </a:t>
            </a:r>
            <a:r>
              <a:rPr lang="en-US" sz="2800" dirty="0" err="1"/>
              <a:t>sa</a:t>
            </a:r>
            <a:r>
              <a:rPr lang="en-US" sz="2800" dirty="0"/>
              <a:t> </a:t>
            </a:r>
            <a:r>
              <a:rPr lang="en-US" sz="2800" dirty="0" err="1"/>
              <a:t>mga</a:t>
            </a:r>
            <a:r>
              <a:rPr lang="en-US" sz="2800" dirty="0"/>
              <a:t> </a:t>
            </a:r>
            <a:r>
              <a:rPr lang="en-US" sz="2800" dirty="0" err="1"/>
              <a:t>seremonya</a:t>
            </a:r>
            <a:r>
              <a:rPr lang="en-US" sz="2800" dirty="0"/>
              <a:t> at </a:t>
            </a:r>
            <a:r>
              <a:rPr lang="en-US" sz="2800" dirty="0" err="1"/>
              <a:t>ritwal</a:t>
            </a:r>
            <a:r>
              <a:rPr lang="en-US" sz="2800" dirty="0"/>
              <a:t> </a:t>
            </a:r>
            <a:r>
              <a:rPr lang="en-US" sz="2800" dirty="0" err="1"/>
              <a:t>na</a:t>
            </a:r>
            <a:r>
              <a:rPr lang="en-US" sz="2800" dirty="0"/>
              <a:t> </a:t>
            </a:r>
            <a:r>
              <a:rPr lang="en-US" sz="2800" dirty="0" err="1"/>
              <a:t>kanilang</a:t>
            </a:r>
            <a:r>
              <a:rPr lang="en-US" sz="2800" dirty="0"/>
              <a:t> </a:t>
            </a:r>
            <a:r>
              <a:rPr lang="en-US" sz="2800" dirty="0" err="1"/>
              <a:t>ginagawa</a:t>
            </a:r>
            <a:r>
              <a:rPr lang="en-US" sz="2800" dirty="0"/>
              <a:t>. </a:t>
            </a:r>
            <a:endParaRPr lang="en-US" sz="2800" b="1" dirty="0"/>
          </a:p>
        </p:txBody>
      </p:sp>
    </p:spTree>
    <p:extLst>
      <p:ext uri="{BB962C8B-B14F-4D97-AF65-F5344CB8AC3E}">
        <p14:creationId xmlns="" xmlns:p14="http://schemas.microsoft.com/office/powerpoint/2010/main" val="4277043435"/>
      </p:ext>
    </p:extLst>
  </p:cSld>
  <p:clrMapOvr>
    <a:masterClrMapping/>
  </p:clrMapOvr>
  <p:transition>
    <p:push/>
  </p:transition>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4648200"/>
          </a:xfrm>
        </p:spPr>
        <p:txBody>
          <a:bodyPr>
            <a:normAutofit/>
          </a:bodyPr>
          <a:lstStyle/>
          <a:p>
            <a:pPr>
              <a:buNone/>
            </a:pPr>
            <a:r>
              <a:rPr lang="en-US" sz="3200" b="1" dirty="0" err="1" smtClean="0">
                <a:solidFill>
                  <a:srgbClr val="FF0000"/>
                </a:solidFill>
                <a:effectLst>
                  <a:outerShdw blurRad="38100" dist="38100" dir="2700000" algn="tl">
                    <a:srgbClr val="000000">
                      <a:alpha val="43137"/>
                    </a:srgbClr>
                  </a:outerShdw>
                </a:effectLst>
              </a:rPr>
              <a:t>Teorya</a:t>
            </a:r>
            <a:r>
              <a:rPr lang="en-US" sz="3200" b="1" dirty="0" smtClean="0">
                <a:solidFill>
                  <a:srgbClr val="FF0000"/>
                </a:solidFill>
                <a:effectLst>
                  <a:outerShdw blurRad="38100" dist="38100" dir="2700000" algn="tl">
                    <a:srgbClr val="000000">
                      <a:alpha val="43137"/>
                    </a:srgbClr>
                  </a:outerShdw>
                </a:effectLst>
              </a:rPr>
              <a:t> </a:t>
            </a:r>
            <a:r>
              <a:rPr lang="en-US" sz="3200" b="1" dirty="0" err="1" smtClean="0">
                <a:solidFill>
                  <a:srgbClr val="FF0000"/>
                </a:solidFill>
                <a:effectLst>
                  <a:outerShdw blurRad="38100" dist="38100" dir="2700000" algn="tl">
                    <a:srgbClr val="000000">
                      <a:alpha val="43137"/>
                    </a:srgbClr>
                  </a:outerShdw>
                </a:effectLst>
              </a:rPr>
              <a:t>ng</a:t>
            </a:r>
            <a:r>
              <a:rPr lang="en-US" sz="3200" b="1" dirty="0" smtClean="0">
                <a:solidFill>
                  <a:srgbClr val="FF0000"/>
                </a:solidFill>
                <a:effectLst>
                  <a:outerShdw blurRad="38100" dist="38100" dir="2700000" algn="tl">
                    <a:srgbClr val="000000">
                      <a:alpha val="43137"/>
                    </a:srgbClr>
                  </a:outerShdw>
                </a:effectLst>
              </a:rPr>
              <a:t> </a:t>
            </a:r>
            <a:r>
              <a:rPr lang="en-US" sz="3200" b="1" dirty="0" err="1" smtClean="0">
                <a:solidFill>
                  <a:srgbClr val="FF0000"/>
                </a:solidFill>
                <a:effectLst>
                  <a:outerShdw blurRad="38100" dist="38100" dir="2700000" algn="tl">
                    <a:srgbClr val="000000">
                      <a:alpha val="43137"/>
                    </a:srgbClr>
                  </a:outerShdw>
                </a:effectLst>
              </a:rPr>
              <a:t>Pinagmulan</a:t>
            </a:r>
            <a:r>
              <a:rPr lang="en-US" sz="3200" b="1" dirty="0" smtClean="0">
                <a:solidFill>
                  <a:srgbClr val="FF0000"/>
                </a:solidFill>
                <a:effectLst>
                  <a:outerShdw blurRad="38100" dist="38100" dir="2700000" algn="tl">
                    <a:srgbClr val="000000">
                      <a:alpha val="43137"/>
                    </a:srgbClr>
                  </a:outerShdw>
                </a:effectLst>
              </a:rPr>
              <a:t> </a:t>
            </a:r>
            <a:r>
              <a:rPr lang="en-US" sz="3200" b="1" dirty="0" err="1" smtClean="0">
                <a:solidFill>
                  <a:srgbClr val="FF0000"/>
                </a:solidFill>
                <a:effectLst>
                  <a:outerShdw blurRad="38100" dist="38100" dir="2700000" algn="tl">
                    <a:srgbClr val="000000">
                      <a:alpha val="43137"/>
                    </a:srgbClr>
                  </a:outerShdw>
                </a:effectLst>
              </a:rPr>
              <a:t>ng</a:t>
            </a:r>
            <a:r>
              <a:rPr lang="en-US" sz="3200" b="1" dirty="0" smtClean="0">
                <a:solidFill>
                  <a:srgbClr val="FF0000"/>
                </a:solidFill>
                <a:effectLst>
                  <a:outerShdw blurRad="38100" dist="38100" dir="2700000" algn="tl">
                    <a:srgbClr val="000000">
                      <a:alpha val="43137"/>
                    </a:srgbClr>
                  </a:outerShdw>
                </a:effectLst>
              </a:rPr>
              <a:t> </a:t>
            </a:r>
            <a:r>
              <a:rPr lang="en-US" sz="3200" b="1" dirty="0" err="1" smtClean="0">
                <a:solidFill>
                  <a:srgbClr val="FF0000"/>
                </a:solidFill>
                <a:effectLst>
                  <a:outerShdw blurRad="38100" dist="38100" dir="2700000" algn="tl">
                    <a:srgbClr val="000000">
                      <a:alpha val="43137"/>
                    </a:srgbClr>
                  </a:outerShdw>
                </a:effectLst>
              </a:rPr>
              <a:t>Wika</a:t>
            </a:r>
            <a:endParaRPr lang="en-US" sz="3200" b="1" dirty="0" smtClean="0">
              <a:solidFill>
                <a:srgbClr val="FF0000"/>
              </a:solidFill>
              <a:effectLst>
                <a:outerShdw blurRad="38100" dist="38100" dir="2700000" algn="tl">
                  <a:srgbClr val="000000">
                    <a:alpha val="43137"/>
                  </a:srgbClr>
                </a:outerShdw>
              </a:effectLst>
            </a:endParaRPr>
          </a:p>
          <a:p>
            <a:pPr marL="68580" indent="0">
              <a:buNone/>
            </a:pPr>
            <a:endParaRPr lang="en-US" sz="1600" b="1" dirty="0" smtClean="0"/>
          </a:p>
          <a:p>
            <a:pPr marL="68580" indent="0">
              <a:buNone/>
            </a:pPr>
            <a:r>
              <a:rPr lang="en-US" sz="2800" b="1" dirty="0" smtClean="0"/>
              <a:t>To-he-ho.</a:t>
            </a:r>
            <a:r>
              <a:rPr lang="en-US" sz="2800" dirty="0" smtClean="0"/>
              <a:t> </a:t>
            </a:r>
            <a:r>
              <a:rPr lang="en-US" sz="2800" dirty="0" err="1"/>
              <a:t>Nalikha</a:t>
            </a:r>
            <a:r>
              <a:rPr lang="en-US" sz="2800" dirty="0"/>
              <a:t> </a:t>
            </a:r>
            <a:r>
              <a:rPr lang="en-US" sz="2800" dirty="0" err="1"/>
              <a:t>dahil</a:t>
            </a:r>
            <a:r>
              <a:rPr lang="en-US" sz="2800" dirty="0"/>
              <a:t> </a:t>
            </a:r>
            <a:r>
              <a:rPr lang="en-US" sz="2800" dirty="0" err="1"/>
              <a:t>sa</a:t>
            </a:r>
            <a:r>
              <a:rPr lang="en-US" sz="2800" dirty="0"/>
              <a:t> </a:t>
            </a:r>
            <a:r>
              <a:rPr lang="en-US" sz="2800" dirty="0" err="1"/>
              <a:t>puwersang</a:t>
            </a:r>
            <a:r>
              <a:rPr lang="en-US" sz="2800" dirty="0"/>
              <a:t> </a:t>
            </a:r>
            <a:r>
              <a:rPr lang="en-US" sz="2800" dirty="0" err="1"/>
              <a:t>ginagamit</a:t>
            </a:r>
            <a:r>
              <a:rPr lang="en-US" sz="2800" dirty="0"/>
              <a:t>. </a:t>
            </a:r>
            <a:r>
              <a:rPr lang="en-US" sz="2800" dirty="0" err="1"/>
              <a:t>Nakakalikha</a:t>
            </a:r>
            <a:r>
              <a:rPr lang="en-US" sz="2800" dirty="0"/>
              <a:t> </a:t>
            </a:r>
            <a:r>
              <a:rPr lang="en-US" sz="2800" dirty="0" err="1"/>
              <a:t>daw</a:t>
            </a:r>
            <a:r>
              <a:rPr lang="en-US" sz="2800" dirty="0"/>
              <a:t> </a:t>
            </a:r>
            <a:r>
              <a:rPr lang="en-US" sz="2800" dirty="0" err="1"/>
              <a:t>ang</a:t>
            </a:r>
            <a:r>
              <a:rPr lang="en-US" sz="2800" dirty="0"/>
              <a:t> </a:t>
            </a:r>
            <a:r>
              <a:rPr lang="en-US" sz="2800" dirty="0" err="1"/>
              <a:t>tao</a:t>
            </a:r>
            <a:r>
              <a:rPr lang="en-US" sz="2800" dirty="0"/>
              <a:t> </a:t>
            </a:r>
            <a:r>
              <a:rPr lang="en-US" sz="2800" dirty="0" err="1"/>
              <a:t>ng</a:t>
            </a:r>
            <a:r>
              <a:rPr lang="en-US" sz="2800" dirty="0"/>
              <a:t> </a:t>
            </a:r>
            <a:r>
              <a:rPr lang="en-US" sz="2800" dirty="0" err="1"/>
              <a:t>mga</a:t>
            </a:r>
            <a:r>
              <a:rPr lang="en-US" sz="2800" dirty="0"/>
              <a:t> </a:t>
            </a:r>
            <a:r>
              <a:rPr lang="en-US" sz="2800" dirty="0" err="1"/>
              <a:t>salita</a:t>
            </a:r>
            <a:r>
              <a:rPr lang="en-US" sz="2800" dirty="0"/>
              <a:t> </a:t>
            </a:r>
            <a:r>
              <a:rPr lang="en-US" sz="2800" dirty="0" err="1"/>
              <a:t>kapag</a:t>
            </a:r>
            <a:r>
              <a:rPr lang="en-US" sz="2800" dirty="0"/>
              <a:t> may </a:t>
            </a:r>
            <a:r>
              <a:rPr lang="en-US" sz="2800" dirty="0" err="1"/>
              <a:t>ginagawang</a:t>
            </a:r>
            <a:r>
              <a:rPr lang="en-US" sz="2800" dirty="0"/>
              <a:t> </a:t>
            </a:r>
            <a:r>
              <a:rPr lang="en-US" sz="2800" dirty="0" err="1"/>
              <a:t>kahit</a:t>
            </a:r>
            <a:r>
              <a:rPr lang="en-US" sz="2800" dirty="0"/>
              <a:t> </a:t>
            </a:r>
            <a:r>
              <a:rPr lang="en-US" sz="2800" dirty="0" err="1"/>
              <a:t>anong</a:t>
            </a:r>
            <a:r>
              <a:rPr lang="en-US" sz="2800" dirty="0"/>
              <a:t> </a:t>
            </a:r>
            <a:r>
              <a:rPr lang="en-US" sz="2800" dirty="0" err="1"/>
              <a:t>bagay</a:t>
            </a:r>
            <a:r>
              <a:rPr lang="en-US" sz="2800" dirty="0" smtClean="0"/>
              <a:t>.</a:t>
            </a:r>
          </a:p>
          <a:p>
            <a:pPr marL="68580" indent="0">
              <a:buNone/>
            </a:pPr>
            <a:endParaRPr lang="en-US" sz="1800" b="1" dirty="0"/>
          </a:p>
          <a:p>
            <a:pPr marL="68580" indent="0">
              <a:buNone/>
            </a:pPr>
            <a:r>
              <a:rPr lang="en-US" sz="2800" b="1" dirty="0" err="1" smtClean="0"/>
              <a:t>Aramean</a:t>
            </a:r>
            <a:r>
              <a:rPr lang="en-US" sz="2800" b="1" dirty="0" smtClean="0"/>
              <a:t>. </a:t>
            </a:r>
            <a:r>
              <a:rPr lang="en-US" sz="2800" dirty="0"/>
              <a:t>May </a:t>
            </a:r>
            <a:r>
              <a:rPr lang="en-US" sz="2800" dirty="0" err="1"/>
              <a:t>paniniwalang</a:t>
            </a:r>
            <a:r>
              <a:rPr lang="en-US" sz="2800" dirty="0"/>
              <a:t> </a:t>
            </a:r>
            <a:r>
              <a:rPr lang="en-US" sz="2800" dirty="0" err="1"/>
              <a:t>ang</a:t>
            </a:r>
            <a:r>
              <a:rPr lang="en-US" sz="2800" dirty="0"/>
              <a:t> </a:t>
            </a:r>
            <a:r>
              <a:rPr lang="en-US" sz="2800" dirty="0" err="1"/>
              <a:t>kauna-unahang</a:t>
            </a:r>
            <a:r>
              <a:rPr lang="en-US" sz="2800" dirty="0"/>
              <a:t> </a:t>
            </a:r>
            <a:r>
              <a:rPr lang="en-US" sz="2800" dirty="0" err="1"/>
              <a:t>wikang</a:t>
            </a:r>
            <a:r>
              <a:rPr lang="en-US" sz="2800" dirty="0"/>
              <a:t> </a:t>
            </a:r>
            <a:r>
              <a:rPr lang="en-US" sz="2800" dirty="0" err="1"/>
              <a:t>ginagamit</a:t>
            </a:r>
            <a:r>
              <a:rPr lang="en-US" sz="2800" dirty="0"/>
              <a:t> </a:t>
            </a:r>
            <a:r>
              <a:rPr lang="en-US" sz="2800" dirty="0" err="1"/>
              <a:t>sa</a:t>
            </a:r>
            <a:r>
              <a:rPr lang="en-US" sz="2800" dirty="0"/>
              <a:t> </a:t>
            </a:r>
            <a:r>
              <a:rPr lang="en-US" sz="2800" dirty="0" err="1"/>
              <a:t>daigdig</a:t>
            </a:r>
            <a:r>
              <a:rPr lang="en-US" sz="2800" dirty="0"/>
              <a:t> ay </a:t>
            </a:r>
            <a:r>
              <a:rPr lang="en-US" sz="2800" dirty="0" err="1"/>
              <a:t>ang</a:t>
            </a:r>
            <a:r>
              <a:rPr lang="en-US" sz="2800" dirty="0"/>
              <a:t> </a:t>
            </a:r>
            <a:r>
              <a:rPr lang="en-US" sz="2800" dirty="0" err="1"/>
              <a:t>lenggwahe</a:t>
            </a:r>
            <a:r>
              <a:rPr lang="en-US" sz="2800" dirty="0"/>
              <a:t> </a:t>
            </a:r>
            <a:r>
              <a:rPr lang="en-US" sz="2800" dirty="0" err="1"/>
              <a:t>ng</a:t>
            </a:r>
            <a:r>
              <a:rPr lang="en-US" sz="2800" dirty="0"/>
              <a:t> </a:t>
            </a:r>
            <a:r>
              <a:rPr lang="en-US" sz="2800" dirty="0" err="1"/>
              <a:t>mga</a:t>
            </a:r>
            <a:r>
              <a:rPr lang="en-US" sz="2800" dirty="0"/>
              <a:t> </a:t>
            </a:r>
            <a:r>
              <a:rPr lang="en-US" sz="2800" dirty="0" err="1"/>
              <a:t>Aramean</a:t>
            </a:r>
            <a:r>
              <a:rPr lang="en-US" sz="2800" dirty="0" smtClean="0"/>
              <a:t>.</a:t>
            </a:r>
          </a:p>
          <a:p>
            <a:pPr marL="68580" indent="0">
              <a:buNone/>
            </a:pPr>
            <a:endParaRPr lang="en-US" sz="1800" b="1" dirty="0"/>
          </a:p>
        </p:txBody>
      </p:sp>
    </p:spTree>
    <p:extLst>
      <p:ext uri="{BB962C8B-B14F-4D97-AF65-F5344CB8AC3E}">
        <p14:creationId xmlns="" xmlns:p14="http://schemas.microsoft.com/office/powerpoint/2010/main" val="2902020900"/>
      </p:ext>
    </p:extLst>
  </p:cSld>
  <p:clrMapOvr>
    <a:masterClrMapping/>
  </p:clrMapOvr>
  <p:transition>
    <p:push/>
  </p:transition>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6400800"/>
          </a:xfrm>
        </p:spPr>
        <p:txBody>
          <a:bodyPr>
            <a:normAutofit/>
          </a:bodyPr>
          <a:lstStyle/>
          <a:p>
            <a:pPr>
              <a:buNone/>
            </a:pPr>
            <a:r>
              <a:rPr lang="en-US" sz="3200" b="1" dirty="0" err="1" smtClean="0">
                <a:solidFill>
                  <a:srgbClr val="FF0000"/>
                </a:solidFill>
                <a:effectLst>
                  <a:outerShdw blurRad="38100" dist="38100" dir="2700000" algn="tl">
                    <a:srgbClr val="000000">
                      <a:alpha val="43137"/>
                    </a:srgbClr>
                  </a:outerShdw>
                </a:effectLst>
              </a:rPr>
              <a:t>Teorya</a:t>
            </a:r>
            <a:r>
              <a:rPr lang="en-US" sz="3200" b="1" dirty="0" smtClean="0">
                <a:solidFill>
                  <a:srgbClr val="FF0000"/>
                </a:solidFill>
                <a:effectLst>
                  <a:outerShdw blurRad="38100" dist="38100" dir="2700000" algn="tl">
                    <a:srgbClr val="000000">
                      <a:alpha val="43137"/>
                    </a:srgbClr>
                  </a:outerShdw>
                </a:effectLst>
              </a:rPr>
              <a:t> </a:t>
            </a:r>
            <a:r>
              <a:rPr lang="en-US" sz="3200" b="1" dirty="0" err="1" smtClean="0">
                <a:solidFill>
                  <a:srgbClr val="FF0000"/>
                </a:solidFill>
                <a:effectLst>
                  <a:outerShdw blurRad="38100" dist="38100" dir="2700000" algn="tl">
                    <a:srgbClr val="000000">
                      <a:alpha val="43137"/>
                    </a:srgbClr>
                  </a:outerShdw>
                </a:effectLst>
              </a:rPr>
              <a:t>ng</a:t>
            </a:r>
            <a:r>
              <a:rPr lang="en-US" sz="3200" b="1" dirty="0" smtClean="0">
                <a:solidFill>
                  <a:srgbClr val="FF0000"/>
                </a:solidFill>
                <a:effectLst>
                  <a:outerShdw blurRad="38100" dist="38100" dir="2700000" algn="tl">
                    <a:srgbClr val="000000">
                      <a:alpha val="43137"/>
                    </a:srgbClr>
                  </a:outerShdw>
                </a:effectLst>
              </a:rPr>
              <a:t> </a:t>
            </a:r>
            <a:r>
              <a:rPr lang="en-US" sz="3200" b="1" dirty="0" err="1" smtClean="0">
                <a:solidFill>
                  <a:srgbClr val="FF0000"/>
                </a:solidFill>
                <a:effectLst>
                  <a:outerShdw blurRad="38100" dist="38100" dir="2700000" algn="tl">
                    <a:srgbClr val="000000">
                      <a:alpha val="43137"/>
                    </a:srgbClr>
                  </a:outerShdw>
                </a:effectLst>
              </a:rPr>
              <a:t>Pinagmulan</a:t>
            </a:r>
            <a:r>
              <a:rPr lang="en-US" sz="3200" b="1" dirty="0" smtClean="0">
                <a:solidFill>
                  <a:srgbClr val="FF0000"/>
                </a:solidFill>
                <a:effectLst>
                  <a:outerShdw blurRad="38100" dist="38100" dir="2700000" algn="tl">
                    <a:srgbClr val="000000">
                      <a:alpha val="43137"/>
                    </a:srgbClr>
                  </a:outerShdw>
                </a:effectLst>
              </a:rPr>
              <a:t> </a:t>
            </a:r>
            <a:r>
              <a:rPr lang="en-US" sz="3200" b="1" dirty="0" err="1" smtClean="0">
                <a:solidFill>
                  <a:srgbClr val="FF0000"/>
                </a:solidFill>
                <a:effectLst>
                  <a:outerShdw blurRad="38100" dist="38100" dir="2700000" algn="tl">
                    <a:srgbClr val="000000">
                      <a:alpha val="43137"/>
                    </a:srgbClr>
                  </a:outerShdw>
                </a:effectLst>
              </a:rPr>
              <a:t>ng</a:t>
            </a:r>
            <a:r>
              <a:rPr lang="en-US" sz="3200" b="1" dirty="0" smtClean="0">
                <a:solidFill>
                  <a:srgbClr val="FF0000"/>
                </a:solidFill>
                <a:effectLst>
                  <a:outerShdw blurRad="38100" dist="38100" dir="2700000" algn="tl">
                    <a:srgbClr val="000000">
                      <a:alpha val="43137"/>
                    </a:srgbClr>
                  </a:outerShdw>
                </a:effectLst>
              </a:rPr>
              <a:t> </a:t>
            </a:r>
            <a:r>
              <a:rPr lang="en-US" sz="3200" b="1" dirty="0" err="1" smtClean="0">
                <a:solidFill>
                  <a:srgbClr val="FF0000"/>
                </a:solidFill>
                <a:effectLst>
                  <a:outerShdw blurRad="38100" dist="38100" dir="2700000" algn="tl">
                    <a:srgbClr val="000000">
                      <a:alpha val="43137"/>
                    </a:srgbClr>
                  </a:outerShdw>
                </a:effectLst>
              </a:rPr>
              <a:t>Wika</a:t>
            </a:r>
            <a:endParaRPr lang="en-US" sz="3200" b="1" dirty="0" smtClean="0">
              <a:solidFill>
                <a:srgbClr val="FF0000"/>
              </a:solidFill>
              <a:effectLst>
                <a:outerShdw blurRad="38100" dist="38100" dir="2700000" algn="tl">
                  <a:srgbClr val="000000">
                    <a:alpha val="43137"/>
                  </a:srgbClr>
                </a:outerShdw>
              </a:effectLst>
            </a:endParaRPr>
          </a:p>
          <a:p>
            <a:pPr marL="68580" indent="0">
              <a:buNone/>
            </a:pPr>
            <a:endParaRPr lang="en-US" sz="1600" dirty="0" smtClean="0"/>
          </a:p>
          <a:p>
            <a:pPr marL="68580" indent="0">
              <a:buNone/>
            </a:pPr>
            <a:r>
              <a:rPr lang="en-US" sz="2800" b="1" dirty="0" err="1" smtClean="0"/>
              <a:t>Ehipto</a:t>
            </a:r>
            <a:r>
              <a:rPr lang="en-US" sz="2800" b="1" dirty="0" smtClean="0"/>
              <a:t>. </a:t>
            </a:r>
            <a:r>
              <a:rPr lang="en-US" sz="2800" dirty="0" err="1" smtClean="0"/>
              <a:t>Ayon</a:t>
            </a:r>
            <a:r>
              <a:rPr lang="en-US" sz="2800" dirty="0" smtClean="0"/>
              <a:t> </a:t>
            </a:r>
            <a:r>
              <a:rPr lang="en-US" sz="2800" dirty="0" err="1"/>
              <a:t>sa</a:t>
            </a:r>
            <a:r>
              <a:rPr lang="en-US" sz="2800" dirty="0"/>
              <a:t> haring </a:t>
            </a:r>
            <a:r>
              <a:rPr lang="en-US" sz="2800" dirty="0" err="1"/>
              <a:t>si</a:t>
            </a:r>
            <a:r>
              <a:rPr lang="en-US" sz="2800" dirty="0"/>
              <a:t> </a:t>
            </a:r>
            <a:r>
              <a:rPr lang="en-US" sz="2800" dirty="0" err="1"/>
              <a:t>Psammatichos</a:t>
            </a:r>
            <a:r>
              <a:rPr lang="en-US" sz="2800" dirty="0"/>
              <a:t>, </a:t>
            </a:r>
            <a:r>
              <a:rPr lang="en-US" sz="2800" dirty="0" err="1"/>
              <a:t>ang</a:t>
            </a:r>
            <a:r>
              <a:rPr lang="en-US" sz="2800" dirty="0"/>
              <a:t> </a:t>
            </a:r>
            <a:r>
              <a:rPr lang="en-US" sz="2800" dirty="0" err="1"/>
              <a:t>wika</a:t>
            </a:r>
            <a:r>
              <a:rPr lang="en-US" sz="2800" dirty="0"/>
              <a:t> ay </a:t>
            </a:r>
            <a:r>
              <a:rPr lang="en-US" sz="2800" dirty="0" err="1"/>
              <a:t>sadyang</a:t>
            </a:r>
            <a:r>
              <a:rPr lang="en-US" sz="2800" dirty="0"/>
              <a:t> </a:t>
            </a:r>
            <a:r>
              <a:rPr lang="en-US" sz="2800" dirty="0" err="1"/>
              <a:t>natutuhan</a:t>
            </a:r>
            <a:r>
              <a:rPr lang="en-US" sz="2800" dirty="0"/>
              <a:t> </a:t>
            </a:r>
            <a:r>
              <a:rPr lang="en-US" sz="2800" dirty="0" err="1"/>
              <a:t>kahit</a:t>
            </a:r>
            <a:r>
              <a:rPr lang="en-US" sz="2800" dirty="0"/>
              <a:t> </a:t>
            </a:r>
            <a:r>
              <a:rPr lang="en-US" sz="2800" dirty="0" err="1"/>
              <a:t>walang</a:t>
            </a:r>
            <a:r>
              <a:rPr lang="en-US" sz="2800" dirty="0"/>
              <a:t> </a:t>
            </a:r>
            <a:r>
              <a:rPr lang="en-US" sz="2800" dirty="0" err="1"/>
              <a:t>nagtuturo</a:t>
            </a:r>
            <a:r>
              <a:rPr lang="en-US" sz="2800" dirty="0"/>
              <a:t> o </a:t>
            </a:r>
            <a:r>
              <a:rPr lang="en-US" sz="2800" dirty="0" err="1"/>
              <a:t>naririnig</a:t>
            </a:r>
            <a:r>
              <a:rPr lang="en-US" sz="2800" dirty="0"/>
              <a:t>. </a:t>
            </a:r>
            <a:r>
              <a:rPr lang="en-US" sz="2800" dirty="0" err="1"/>
              <a:t>Natutunan</a:t>
            </a:r>
            <a:r>
              <a:rPr lang="en-US" sz="2800" dirty="0"/>
              <a:t> </a:t>
            </a:r>
            <a:r>
              <a:rPr lang="en-US" sz="2800" dirty="0" err="1"/>
              <a:t>kahit</a:t>
            </a:r>
            <a:r>
              <a:rPr lang="en-US" sz="2800" dirty="0"/>
              <a:t> </a:t>
            </a:r>
            <a:r>
              <a:rPr lang="en-US" sz="2800" dirty="0" err="1"/>
              <a:t>walang</a:t>
            </a:r>
            <a:r>
              <a:rPr lang="en-US" sz="2800" dirty="0"/>
              <a:t> </a:t>
            </a:r>
            <a:r>
              <a:rPr lang="en-US" sz="2800" dirty="0" err="1"/>
              <a:t>nagtuturo</a:t>
            </a:r>
            <a:r>
              <a:rPr lang="en-US" sz="2800" dirty="0"/>
              <a:t>. Unconsciously learning the language.</a:t>
            </a:r>
            <a:endParaRPr lang="en-US" sz="2800" b="1" dirty="0" smtClean="0"/>
          </a:p>
          <a:p>
            <a:pPr marL="68580" indent="0">
              <a:buNone/>
            </a:pPr>
            <a:endParaRPr lang="en-US" sz="1800" b="1" dirty="0"/>
          </a:p>
          <a:p>
            <a:pPr marL="68580" indent="0">
              <a:buNone/>
            </a:pPr>
            <a:r>
              <a:rPr lang="en-US" sz="2800" b="1" dirty="0" smtClean="0"/>
              <a:t>Charles Darwin </a:t>
            </a:r>
            <a:r>
              <a:rPr lang="en-US" sz="2800" dirty="0" err="1" smtClean="0"/>
              <a:t>isinasaad</a:t>
            </a:r>
            <a:r>
              <a:rPr lang="en-US" sz="2800" dirty="0" smtClean="0"/>
              <a:t> </a:t>
            </a:r>
            <a:r>
              <a:rPr lang="en-US" sz="2800" dirty="0" err="1"/>
              <a:t>niya</a:t>
            </a:r>
            <a:r>
              <a:rPr lang="en-US" sz="2800" dirty="0"/>
              <a:t> </a:t>
            </a:r>
            <a:r>
              <a:rPr lang="en-US" sz="2800" dirty="0" err="1"/>
              <a:t>ang</a:t>
            </a:r>
            <a:r>
              <a:rPr lang="en-US" sz="2800" dirty="0"/>
              <a:t> </a:t>
            </a:r>
            <a:r>
              <a:rPr lang="en-US" sz="2800" dirty="0" err="1"/>
              <a:t>pakikipagsapalaran</a:t>
            </a:r>
            <a:r>
              <a:rPr lang="en-US" sz="2800" dirty="0"/>
              <a:t> </a:t>
            </a:r>
            <a:r>
              <a:rPr lang="en-US" sz="2800" dirty="0" err="1"/>
              <a:t>ng</a:t>
            </a:r>
            <a:r>
              <a:rPr lang="en-US" sz="2800" dirty="0"/>
              <a:t> </a:t>
            </a:r>
            <a:r>
              <a:rPr lang="en-US" sz="2800" dirty="0" err="1"/>
              <a:t>tao</a:t>
            </a:r>
            <a:r>
              <a:rPr lang="en-US" sz="2800" dirty="0"/>
              <a:t> para </a:t>
            </a:r>
            <a:r>
              <a:rPr lang="en-US" sz="2800" dirty="0" err="1"/>
              <a:t>mabuhay</a:t>
            </a:r>
            <a:r>
              <a:rPr lang="en-US" sz="2800" dirty="0"/>
              <a:t> </a:t>
            </a:r>
            <a:r>
              <a:rPr lang="en-US" sz="2800" dirty="0" err="1"/>
              <a:t>ang</a:t>
            </a:r>
            <a:r>
              <a:rPr lang="en-US" sz="2800" dirty="0"/>
              <a:t> </a:t>
            </a:r>
            <a:r>
              <a:rPr lang="en-US" sz="2800" dirty="0" err="1"/>
              <a:t>nagtuturo</a:t>
            </a:r>
            <a:r>
              <a:rPr lang="en-US" sz="2800" dirty="0"/>
              <a:t> </a:t>
            </a:r>
            <a:r>
              <a:rPr lang="en-US" sz="2800" dirty="0" err="1"/>
              <a:t>sa</a:t>
            </a:r>
            <a:r>
              <a:rPr lang="en-US" sz="2800" dirty="0"/>
              <a:t> </a:t>
            </a:r>
            <a:r>
              <a:rPr lang="en-US" sz="2800" dirty="0" err="1"/>
              <a:t>kanya</a:t>
            </a:r>
            <a:r>
              <a:rPr lang="en-US" sz="2800" dirty="0"/>
              <a:t> </a:t>
            </a:r>
            <a:r>
              <a:rPr lang="en-US" sz="2800" dirty="0" err="1"/>
              <a:t>upang</a:t>
            </a:r>
            <a:r>
              <a:rPr lang="en-US" sz="2800" dirty="0"/>
              <a:t> </a:t>
            </a:r>
            <a:r>
              <a:rPr lang="en-US" sz="2800" dirty="0" err="1"/>
              <a:t>malikha</a:t>
            </a:r>
            <a:r>
              <a:rPr lang="en-US" sz="2800" dirty="0"/>
              <a:t> </a:t>
            </a:r>
            <a:r>
              <a:rPr lang="en-US" sz="2800" dirty="0" err="1"/>
              <a:t>ng</a:t>
            </a:r>
            <a:r>
              <a:rPr lang="en-US" sz="2800" dirty="0"/>
              <a:t> </a:t>
            </a:r>
            <a:r>
              <a:rPr lang="en-US" sz="2800" dirty="0" err="1"/>
              <a:t>iba’t</a:t>
            </a:r>
            <a:r>
              <a:rPr lang="en-US" sz="2800" dirty="0"/>
              <a:t> </a:t>
            </a:r>
            <a:r>
              <a:rPr lang="en-US" sz="2800" dirty="0" err="1"/>
              <a:t>ibang</a:t>
            </a:r>
            <a:r>
              <a:rPr lang="en-US" sz="2800" dirty="0"/>
              <a:t> </a:t>
            </a:r>
            <a:r>
              <a:rPr lang="en-US" sz="2800" dirty="0" err="1"/>
              <a:t>wika</a:t>
            </a:r>
            <a:r>
              <a:rPr lang="en-US" sz="2800" dirty="0"/>
              <a:t>. </a:t>
            </a:r>
            <a:r>
              <a:rPr lang="en-US" sz="2800" dirty="0" err="1"/>
              <a:t>Wika</a:t>
            </a:r>
            <a:r>
              <a:rPr lang="en-US" sz="2800" dirty="0"/>
              <a:t> </a:t>
            </a:r>
            <a:r>
              <a:rPr lang="en-US" sz="2800" dirty="0" err="1"/>
              <a:t>natutunan</a:t>
            </a:r>
            <a:r>
              <a:rPr lang="en-US" sz="2800" dirty="0"/>
              <a:t> </a:t>
            </a:r>
            <a:r>
              <a:rPr lang="en-US" sz="2800" dirty="0" err="1"/>
              <a:t>tungkol</a:t>
            </a:r>
            <a:r>
              <a:rPr lang="en-US" sz="2800" dirty="0"/>
              <a:t> </a:t>
            </a:r>
            <a:r>
              <a:rPr lang="en-US" sz="2800" dirty="0" err="1"/>
              <a:t>sa</a:t>
            </a:r>
            <a:r>
              <a:rPr lang="en-US" sz="2800" dirty="0"/>
              <a:t> </a:t>
            </a:r>
            <a:r>
              <a:rPr lang="en-US" sz="2800" dirty="0" err="1"/>
              <a:t>mga</a:t>
            </a:r>
            <a:r>
              <a:rPr lang="en-US" sz="2800" dirty="0"/>
              <a:t> </a:t>
            </a:r>
            <a:r>
              <a:rPr lang="en-US" sz="2800" dirty="0" err="1"/>
              <a:t>pakikipagsapalaran</a:t>
            </a:r>
            <a:r>
              <a:rPr lang="en-US" sz="2800" dirty="0"/>
              <a:t>.</a:t>
            </a:r>
            <a:endParaRPr lang="en-US" sz="2800" b="1" dirty="0"/>
          </a:p>
        </p:txBody>
      </p:sp>
    </p:spTree>
    <p:extLst>
      <p:ext uri="{BB962C8B-B14F-4D97-AF65-F5344CB8AC3E}">
        <p14:creationId xmlns="" xmlns:p14="http://schemas.microsoft.com/office/powerpoint/2010/main" val="3649091105"/>
      </p:ext>
    </p:extLst>
  </p:cSld>
  <p:clrMapOvr>
    <a:masterClrMapping/>
  </p:clrMapOvr>
  <p:transition>
    <p:push/>
  </p:transition>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back1.jpg"/>
          <p:cNvPicPr>
            <a:picLocks noChangeAspect="1"/>
          </p:cNvPicPr>
          <p:nvPr/>
        </p:nvPicPr>
        <p:blipFill>
          <a:blip r:embed="rId2"/>
          <a:stretch>
            <a:fillRect/>
          </a:stretch>
        </p:blipFill>
        <p:spPr>
          <a:xfrm>
            <a:off x="-1" y="0"/>
            <a:ext cx="9169831" cy="6858000"/>
          </a:xfrm>
          <a:prstGeom prst="rect">
            <a:avLst/>
          </a:prstGeom>
        </p:spPr>
      </p:pic>
      <p:sp>
        <p:nvSpPr>
          <p:cNvPr id="2" name="Content Placeholder 1"/>
          <p:cNvSpPr>
            <a:spLocks noGrp="1"/>
          </p:cNvSpPr>
          <p:nvPr>
            <p:ph idx="1"/>
          </p:nvPr>
        </p:nvSpPr>
        <p:spPr>
          <a:xfrm>
            <a:off x="457200" y="1143000"/>
            <a:ext cx="8229600" cy="4525963"/>
          </a:xfrm>
        </p:spPr>
        <p:txBody>
          <a:bodyPr/>
          <a:lstStyle/>
          <a:p>
            <a:pPr algn="ctr">
              <a:buNone/>
            </a:pPr>
            <a:endParaRPr lang="en-US" sz="7200" dirty="0" smtClean="0">
              <a:latin typeface="Arial Black" pitchFamily="34" charset="0"/>
            </a:endParaRPr>
          </a:p>
          <a:p>
            <a:pPr algn="ctr">
              <a:buNone/>
            </a:pPr>
            <a:r>
              <a:rPr lang="en-US" sz="7200" dirty="0" smtClean="0">
                <a:latin typeface="Arial Black" pitchFamily="34" charset="0"/>
              </a:rPr>
              <a:t>SOCIAL SCIENCES</a:t>
            </a:r>
          </a:p>
          <a:p>
            <a:pPr algn="ctr">
              <a:buNone/>
            </a:pPr>
            <a:r>
              <a:rPr lang="en-US" sz="4800" dirty="0" smtClean="0"/>
              <a:t>Items 1-40</a:t>
            </a:r>
            <a:endParaRPr lang="en-US" sz="3600" dirty="0" smtClean="0"/>
          </a:p>
          <a:p>
            <a:pPr>
              <a:buNone/>
            </a:pPr>
            <a:endParaRPr lang="en-US" dirty="0"/>
          </a:p>
        </p:txBody>
      </p:sp>
      <p:sp>
        <p:nvSpPr>
          <p:cNvPr id="3" name="Title 2"/>
          <p:cNvSpPr>
            <a:spLocks noGrp="1"/>
          </p:cNvSpPr>
          <p:nvPr>
            <p:ph type="title"/>
          </p:nvPr>
        </p:nvSpPr>
        <p:spPr/>
        <p:txBody>
          <a:bodyPr/>
          <a:lstStyle/>
          <a:p>
            <a:endParaRPr lang="en-US" dirty="0"/>
          </a:p>
        </p:txBody>
      </p:sp>
    </p:spTree>
  </p:cSld>
  <p:clrMapOvr>
    <a:masterClrMapping/>
  </p:clrMapOvr>
  <p:transition>
    <p:push/>
  </p:transition>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33400" y="762000"/>
            <a:ext cx="8229600" cy="4525963"/>
          </a:xfrm>
        </p:spPr>
        <p:txBody>
          <a:bodyPr>
            <a:normAutofit/>
          </a:bodyPr>
          <a:lstStyle/>
          <a:p>
            <a:pPr marL="623888" lvl="0" indent="-514350">
              <a:buAutoNum type="arabicPeriod"/>
            </a:pPr>
            <a:r>
              <a:rPr lang="en-US" sz="3200" dirty="0" smtClean="0"/>
              <a:t>Which was well accepted by the Filipinos under Spanish rule?</a:t>
            </a:r>
          </a:p>
          <a:p>
            <a:pPr marL="623888" lvl="0" indent="-514350">
              <a:buAutoNum type="arabicPeriod"/>
            </a:pPr>
            <a:endParaRPr lang="en-US" sz="3200" dirty="0" smtClean="0"/>
          </a:p>
          <a:p>
            <a:pPr marL="798513" lvl="0" indent="-290513">
              <a:buFont typeface="+mj-lt"/>
              <a:buAutoNum type="alphaUcPeriod"/>
            </a:pPr>
            <a:r>
              <a:rPr lang="en-US" sz="3200" dirty="0" smtClean="0"/>
              <a:t>The practice of polo 			</a:t>
            </a:r>
          </a:p>
          <a:p>
            <a:pPr marL="798513" lvl="0" indent="-290513">
              <a:buFont typeface="+mj-lt"/>
              <a:buAutoNum type="alphaUcPeriod"/>
            </a:pPr>
            <a:r>
              <a:rPr lang="en-US" sz="3200" dirty="0" smtClean="0"/>
              <a:t>Representation in the Cortes</a:t>
            </a:r>
          </a:p>
          <a:p>
            <a:pPr marL="798513" lvl="0" indent="-290513">
              <a:buFont typeface="+mj-lt"/>
              <a:buAutoNum type="alphaUcPeriod"/>
            </a:pPr>
            <a:r>
              <a:rPr lang="en-US" sz="3200" dirty="0" smtClean="0"/>
              <a:t>Payment of </a:t>
            </a:r>
            <a:r>
              <a:rPr lang="en-US" sz="3200" dirty="0" err="1" smtClean="0"/>
              <a:t>buwis</a:t>
            </a:r>
            <a:endParaRPr lang="en-US" sz="3200" dirty="0" smtClean="0"/>
          </a:p>
          <a:p>
            <a:pPr marL="798513" lvl="0" indent="-290513">
              <a:buFont typeface="+mj-lt"/>
              <a:buAutoNum type="alphaUcPeriod"/>
            </a:pPr>
            <a:r>
              <a:rPr lang="en-US" sz="3200" dirty="0" smtClean="0"/>
              <a:t>Employment of </a:t>
            </a:r>
            <a:r>
              <a:rPr lang="en-US" sz="3200" dirty="0" err="1" smtClean="0"/>
              <a:t>reduccion</a:t>
            </a:r>
            <a:endParaRPr lang="en-US" sz="3200" dirty="0" smtClean="0"/>
          </a:p>
          <a:p>
            <a:pPr>
              <a:buNone/>
            </a:pPr>
            <a:endParaRPr lang="en-US" sz="32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542986" y="3043356"/>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685800"/>
            <a:ext cx="8229600" cy="5321491"/>
          </a:xfrm>
        </p:spPr>
        <p:txBody>
          <a:bodyPr>
            <a:normAutofit/>
          </a:bodyPr>
          <a:lstStyle/>
          <a:p>
            <a:r>
              <a:rPr lang="en-US" b="1" i="1" dirty="0" smtClean="0"/>
              <a:t>Polo y </a:t>
            </a:r>
            <a:r>
              <a:rPr lang="en-US" b="1" i="1" dirty="0" err="1" smtClean="0"/>
              <a:t>servicios</a:t>
            </a:r>
            <a:r>
              <a:rPr lang="en-US" b="1" i="1" dirty="0" smtClean="0"/>
              <a:t> </a:t>
            </a:r>
            <a:r>
              <a:rPr lang="en-US" dirty="0" smtClean="0"/>
              <a:t>– forced labor, one of the reasons of the uprisings against Spaniards</a:t>
            </a:r>
          </a:p>
          <a:p>
            <a:r>
              <a:rPr lang="en-US" b="1" dirty="0"/>
              <a:t>1812, Sep 24.</a:t>
            </a:r>
            <a:r>
              <a:rPr lang="en-US" dirty="0"/>
              <a:t> The first </a:t>
            </a:r>
            <a:r>
              <a:rPr lang="en-US" b="1" dirty="0"/>
              <a:t>Philippine delegates</a:t>
            </a:r>
            <a:r>
              <a:rPr lang="en-US" dirty="0"/>
              <a:t> to the Spanish Cortes, Pedro Perez de </a:t>
            </a:r>
            <a:r>
              <a:rPr lang="en-US" dirty="0" err="1"/>
              <a:t>Tagle</a:t>
            </a:r>
            <a:r>
              <a:rPr lang="en-US" dirty="0"/>
              <a:t> and Jose Manuel </a:t>
            </a:r>
            <a:r>
              <a:rPr lang="en-US" dirty="0" err="1"/>
              <a:t>Coretto</a:t>
            </a:r>
            <a:r>
              <a:rPr lang="en-US" dirty="0"/>
              <a:t> take their oath of office in Madrid, Spain</a:t>
            </a:r>
            <a:r>
              <a:rPr lang="en-US" dirty="0" smtClean="0"/>
              <a:t>.</a:t>
            </a:r>
          </a:p>
          <a:p>
            <a:r>
              <a:rPr lang="en-US" dirty="0" smtClean="0"/>
              <a:t>Different kinds of </a:t>
            </a:r>
            <a:r>
              <a:rPr lang="en-US" b="1" i="1" dirty="0" smtClean="0"/>
              <a:t>taxes (tributes) </a:t>
            </a:r>
            <a:r>
              <a:rPr lang="en-US" dirty="0" smtClean="0"/>
              <a:t>result to insurrections of Filipinos, e.g. </a:t>
            </a:r>
            <a:r>
              <a:rPr lang="en-US" dirty="0" err="1" smtClean="0"/>
              <a:t>bandala</a:t>
            </a:r>
            <a:r>
              <a:rPr lang="en-US" dirty="0" smtClean="0"/>
              <a:t>, </a:t>
            </a:r>
            <a:r>
              <a:rPr lang="en-US" dirty="0" err="1" smtClean="0"/>
              <a:t>ikapu</a:t>
            </a:r>
            <a:endParaRPr lang="en-US" dirty="0" smtClean="0"/>
          </a:p>
          <a:p>
            <a:r>
              <a:rPr lang="en-US" b="1" i="1" dirty="0" err="1" smtClean="0"/>
              <a:t>Reduccion</a:t>
            </a:r>
            <a:r>
              <a:rPr lang="en-US" dirty="0" smtClean="0"/>
              <a:t> – resettlement policy of Spaniards, most Filipinos were firm and disobeyed the imposition.</a:t>
            </a:r>
            <a:endParaRPr lang="en-US" dirty="0"/>
          </a:p>
        </p:txBody>
      </p:sp>
    </p:spTree>
    <p:extLst>
      <p:ext uri="{BB962C8B-B14F-4D97-AF65-F5344CB8AC3E}">
        <p14:creationId xmlns="" xmlns:p14="http://schemas.microsoft.com/office/powerpoint/2010/main" val="1624229648"/>
      </p:ext>
    </p:extLst>
  </p:cSld>
  <p:clrMapOvr>
    <a:masterClrMapping/>
  </p:clrMapOvr>
  <p:transition>
    <p:push/>
  </p:transition>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85800" y="762000"/>
            <a:ext cx="8229600" cy="4525963"/>
          </a:xfrm>
        </p:spPr>
        <p:txBody>
          <a:bodyPr>
            <a:normAutofit/>
          </a:bodyPr>
          <a:lstStyle/>
          <a:p>
            <a:pPr marL="508000" indent="-398463">
              <a:buNone/>
            </a:pPr>
            <a:r>
              <a:rPr lang="en-US" sz="3200" dirty="0" smtClean="0"/>
              <a:t>2. What did Rizal predict in his El </a:t>
            </a:r>
            <a:r>
              <a:rPr lang="en-US" sz="3200" dirty="0" err="1" smtClean="0"/>
              <a:t>Filibusterismo</a:t>
            </a:r>
            <a:r>
              <a:rPr lang="en-US" sz="3200" dirty="0" smtClean="0"/>
              <a:t>?</a:t>
            </a:r>
          </a:p>
          <a:p>
            <a:pPr marL="508000" indent="-398463">
              <a:buNone/>
            </a:pPr>
            <a:endParaRPr lang="en-US" sz="3200" dirty="0" smtClean="0"/>
          </a:p>
          <a:p>
            <a:pPr marL="798513" lvl="0" indent="-290513">
              <a:buFont typeface="+mj-lt"/>
              <a:buAutoNum type="alphaUcPeriod"/>
            </a:pPr>
            <a:r>
              <a:rPr lang="en-US" sz="3200" dirty="0" smtClean="0"/>
              <a:t>His parents’ execution </a:t>
            </a:r>
          </a:p>
          <a:p>
            <a:pPr marL="798513" lvl="0" indent="-290513">
              <a:buFont typeface="+mj-lt"/>
              <a:buAutoNum type="alphaUcPeriod"/>
            </a:pPr>
            <a:r>
              <a:rPr lang="en-US" sz="3200" dirty="0" smtClean="0"/>
              <a:t>The Filipino’s defeat in the revolution </a:t>
            </a:r>
          </a:p>
          <a:p>
            <a:pPr marL="798513" lvl="0" indent="-290513">
              <a:buFont typeface="+mj-lt"/>
              <a:buAutoNum type="alphaUcPeriod"/>
            </a:pPr>
            <a:r>
              <a:rPr lang="en-US" sz="3200" dirty="0" smtClean="0"/>
              <a:t>The coming of the Revolution</a:t>
            </a:r>
          </a:p>
          <a:p>
            <a:pPr marL="798513" indent="-290513">
              <a:buFont typeface="+mj-lt"/>
              <a:buAutoNum type="alphaUcPeriod"/>
            </a:pPr>
            <a:r>
              <a:rPr lang="en-US" sz="3200" dirty="0" smtClean="0"/>
              <a:t>His execution at </a:t>
            </a:r>
            <a:r>
              <a:rPr lang="en-US" sz="3200" dirty="0" err="1" smtClean="0"/>
              <a:t>Bagong</a:t>
            </a:r>
            <a:r>
              <a:rPr lang="en-US" sz="3200" dirty="0" smtClean="0"/>
              <a:t> </a:t>
            </a:r>
            <a:r>
              <a:rPr lang="en-US" sz="3200" dirty="0" err="1" smtClean="0"/>
              <a:t>Bayan</a:t>
            </a:r>
            <a:endParaRPr lang="en-US" sz="3200" dirty="0" smtClean="0"/>
          </a:p>
          <a:p>
            <a:pPr marL="624078" lvl="0" indent="-514350">
              <a:buNone/>
            </a:pPr>
            <a:endParaRPr lang="en-US" sz="32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619185" y="39807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33400" y="774509"/>
            <a:ext cx="8229600" cy="5550091"/>
          </a:xfrm>
        </p:spPr>
        <p:txBody>
          <a:bodyPr>
            <a:normAutofit/>
          </a:bodyPr>
          <a:lstStyle/>
          <a:p>
            <a:pPr marL="109728" indent="0">
              <a:buNone/>
            </a:pPr>
            <a:r>
              <a:rPr lang="en-US" i="1" dirty="0" smtClean="0"/>
              <a:t>“</a:t>
            </a:r>
            <a:r>
              <a:rPr lang="en-US" i="1" dirty="0"/>
              <a:t>If they refuse to teach you their language, then cultivate your own, make it more widely known, keep alive our native culture for our people and , </a:t>
            </a:r>
            <a:r>
              <a:rPr lang="en-US" i="1" dirty="0" smtClean="0"/>
              <a:t>instead </a:t>
            </a:r>
            <a:r>
              <a:rPr lang="en-US" i="1" dirty="0"/>
              <a:t>of aspiring to be a mere province, aspire to be a nation , </a:t>
            </a:r>
            <a:r>
              <a:rPr lang="en-US" b="1" i="1" dirty="0"/>
              <a:t>develop an independent, not a colonial </a:t>
            </a:r>
            <a:r>
              <a:rPr lang="en-US" b="1" i="1" dirty="0" smtClean="0"/>
              <a:t>mentality </a:t>
            </a:r>
            <a:r>
              <a:rPr lang="en-US" b="1" i="1" dirty="0"/>
              <a:t>so that in neither rights nor customs nor language the Spaniard may ever feel at home here, or ever be looked upon by your people as a fellow citizen, but rather always, as an invader, a foreigner, and sooner or later you shall be free</a:t>
            </a:r>
            <a:r>
              <a:rPr lang="en-US" b="1" i="1" dirty="0" smtClean="0"/>
              <a:t>”. – </a:t>
            </a:r>
            <a:r>
              <a:rPr lang="en-US" dirty="0" smtClean="0"/>
              <a:t>Rizal in El </a:t>
            </a:r>
            <a:r>
              <a:rPr lang="en-US" dirty="0" err="1" smtClean="0"/>
              <a:t>Filibusterismo</a:t>
            </a:r>
            <a:endParaRPr lang="en-US" dirty="0"/>
          </a:p>
        </p:txBody>
      </p:sp>
    </p:spTree>
    <p:extLst>
      <p:ext uri="{BB962C8B-B14F-4D97-AF65-F5344CB8AC3E}">
        <p14:creationId xmlns="" xmlns:p14="http://schemas.microsoft.com/office/powerpoint/2010/main" val="683551893"/>
      </p:ext>
    </p:extLst>
  </p:cSld>
  <p:clrMapOvr>
    <a:masterClrMapping/>
  </p:clrMapOvr>
  <p:transition>
    <p:push/>
  </p:transition>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33400" y="381000"/>
            <a:ext cx="8382000" cy="4525963"/>
          </a:xfrm>
        </p:spPr>
        <p:txBody>
          <a:bodyPr>
            <a:noAutofit/>
          </a:bodyPr>
          <a:lstStyle/>
          <a:p>
            <a:pPr marL="566738" lvl="0" indent="-457200">
              <a:buNone/>
            </a:pPr>
            <a:r>
              <a:rPr lang="en-US" sz="3200" dirty="0" smtClean="0"/>
              <a:t>3. What did Rizal claim about his </a:t>
            </a:r>
            <a:r>
              <a:rPr lang="en-US" sz="3200" dirty="0" err="1" smtClean="0"/>
              <a:t>Noli</a:t>
            </a:r>
            <a:r>
              <a:rPr lang="en-US" sz="3200" dirty="0" smtClean="0"/>
              <a:t> Me </a:t>
            </a:r>
            <a:r>
              <a:rPr lang="en-US" sz="3200" dirty="0" err="1" smtClean="0"/>
              <a:t>Tangere</a:t>
            </a:r>
            <a:r>
              <a:rPr lang="en-US" sz="3200" dirty="0" smtClean="0"/>
              <a:t>?</a:t>
            </a:r>
          </a:p>
          <a:p>
            <a:pPr marL="566738" lvl="0" indent="-457200">
              <a:buNone/>
            </a:pPr>
            <a:endParaRPr lang="en-US" sz="3200" dirty="0" smtClean="0"/>
          </a:p>
          <a:p>
            <a:pPr marL="798513" lvl="0" indent="-290513">
              <a:buFont typeface="+mj-lt"/>
              <a:buAutoNum type="alphaUcPeriod"/>
            </a:pPr>
            <a:r>
              <a:rPr lang="en-US" sz="3200" dirty="0" smtClean="0"/>
              <a:t>It was a direct attack on the Spanish authorities</a:t>
            </a:r>
          </a:p>
          <a:p>
            <a:pPr marL="798513" lvl="0" indent="-290513">
              <a:buFont typeface="+mj-lt"/>
              <a:buAutoNum type="alphaUcPeriod"/>
            </a:pPr>
            <a:r>
              <a:rPr lang="en-US" sz="3200" dirty="0" smtClean="0"/>
              <a:t>The facts he narrated are true and actually happened</a:t>
            </a:r>
          </a:p>
          <a:p>
            <a:pPr marL="798513" lvl="0" indent="-290513">
              <a:buFont typeface="+mj-lt"/>
              <a:buAutoNum type="alphaUcPeriod"/>
            </a:pPr>
            <a:r>
              <a:rPr lang="en-US" sz="3200" dirty="0" smtClean="0"/>
              <a:t>It was his way of inciting rebellion</a:t>
            </a:r>
          </a:p>
          <a:p>
            <a:pPr marL="798513" lvl="0" indent="-290513">
              <a:buFont typeface="+mj-lt"/>
              <a:buAutoNum type="alphaUcPeriod"/>
            </a:pPr>
            <a:r>
              <a:rPr lang="en-US" sz="3200" dirty="0" smtClean="0"/>
              <a:t>It was a fictitious description of the oppressed condition of his countrymen</a:t>
            </a:r>
          </a:p>
          <a:p>
            <a:pPr marL="566738" lvl="0" indent="-457200">
              <a:buNone/>
            </a:pPr>
            <a:endParaRPr lang="en-US" sz="3200" dirty="0" smtClean="0"/>
          </a:p>
          <a:p>
            <a:pPr>
              <a:buNone/>
            </a:pPr>
            <a:endParaRPr lang="en-US" sz="32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314385" y="31425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1000" y="304800"/>
            <a:ext cx="8229600" cy="6324600"/>
          </a:xfrm>
        </p:spPr>
        <p:txBody>
          <a:bodyPr>
            <a:normAutofit fontScale="70000" lnSpcReduction="20000"/>
          </a:bodyPr>
          <a:lstStyle/>
          <a:p>
            <a:pPr marL="109728" indent="0">
              <a:buNone/>
            </a:pPr>
            <a:r>
              <a:rPr lang="en-US" dirty="0"/>
              <a:t>To My Fatherland:</a:t>
            </a:r>
          </a:p>
          <a:p>
            <a:pPr marL="109728" indent="0">
              <a:buNone/>
            </a:pPr>
            <a:r>
              <a:rPr lang="en-US" dirty="0" smtClean="0"/>
              <a:t>	Recorded </a:t>
            </a:r>
            <a:r>
              <a:rPr lang="en-US" dirty="0"/>
              <a:t>in the history of human sufferings is a cancer of so malignant a character that the least touch irritates it and awakens in it the sharpest pains. Thus, how many times, when in the midst of modern civilizations I have wished to call thee before me, now to accompany me in memories, now to compare thee with other countries, hath thy dear image presented itself showing a social cancer like to that other!</a:t>
            </a:r>
          </a:p>
          <a:p>
            <a:pPr marL="109728" indent="0">
              <a:buNone/>
            </a:pPr>
            <a:r>
              <a:rPr lang="en-US" dirty="0" smtClean="0"/>
              <a:t>	Desiring </a:t>
            </a:r>
            <a:r>
              <a:rPr lang="en-US" dirty="0"/>
              <a:t>thy welfare, which is our own, and seeking the best treatment, I will do with thee what the ancients did with their sick, exposing them on the steps of the temple so that every one who came to invoke the Divinity might offer them a remedy.</a:t>
            </a:r>
          </a:p>
          <a:p>
            <a:pPr marL="109728" indent="0">
              <a:buNone/>
            </a:pPr>
            <a:r>
              <a:rPr lang="en-US" sz="3100" b="1" dirty="0" smtClean="0"/>
              <a:t>	And </a:t>
            </a:r>
            <a:r>
              <a:rPr lang="en-US" sz="3100" b="1" dirty="0"/>
              <a:t>to this end, I will strive to reproduce thy condition faithfully, without discriminations; I will raise a part of the veil that covers the evil, sacrificing to truth everything, even vanity itself, since, as thy son, I am conscious that I also suffer from thy defects and weaknesses.</a:t>
            </a:r>
          </a:p>
          <a:p>
            <a:pPr marL="109728" indent="0">
              <a:buNone/>
            </a:pPr>
            <a:endParaRPr lang="en-US" dirty="0" smtClean="0"/>
          </a:p>
          <a:p>
            <a:pPr marL="109728" indent="0">
              <a:buNone/>
            </a:pPr>
            <a:r>
              <a:rPr lang="en-US" dirty="0" smtClean="0"/>
              <a:t>Jose Rizal</a:t>
            </a:r>
          </a:p>
          <a:p>
            <a:pPr marL="109728" indent="0">
              <a:buNone/>
            </a:pPr>
            <a:r>
              <a:rPr lang="en-US" dirty="0" smtClean="0"/>
              <a:t>Europe, 1886</a:t>
            </a:r>
            <a:endParaRPr lang="en-US" dirty="0"/>
          </a:p>
          <a:p>
            <a:pPr marL="109728" indent="0">
              <a:buNone/>
            </a:pPr>
            <a:endParaRPr lang="en-US" dirty="0"/>
          </a:p>
        </p:txBody>
      </p:sp>
    </p:spTree>
    <p:extLst>
      <p:ext uri="{BB962C8B-B14F-4D97-AF65-F5344CB8AC3E}">
        <p14:creationId xmlns="" xmlns:p14="http://schemas.microsoft.com/office/powerpoint/2010/main" val="3007721641"/>
      </p:ext>
    </p:extLst>
  </p:cSld>
  <p:clrMapOvr>
    <a:masterClrMapping/>
  </p:clrMapOvr>
  <p:transition>
    <p:push/>
  </p:transition>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533400"/>
            <a:ext cx="8305800" cy="4940491"/>
          </a:xfrm>
        </p:spPr>
        <p:txBody>
          <a:bodyPr>
            <a:noAutofit/>
          </a:bodyPr>
          <a:lstStyle/>
          <a:p>
            <a:pPr marL="508000" lvl="0" indent="-398463">
              <a:buNone/>
            </a:pPr>
            <a:r>
              <a:rPr lang="en-US" sz="2800" dirty="0" smtClean="0"/>
              <a:t>4. Which is the message of Rizal’s La </a:t>
            </a:r>
            <a:r>
              <a:rPr lang="en-US" sz="2800" dirty="0" err="1" smtClean="0"/>
              <a:t>Indolencia</a:t>
            </a:r>
            <a:r>
              <a:rPr lang="en-US" sz="2800" dirty="0" smtClean="0"/>
              <a:t> del Filipino?</a:t>
            </a:r>
          </a:p>
          <a:p>
            <a:pPr marL="508000" lvl="0" indent="-398463">
              <a:buNone/>
            </a:pPr>
            <a:endParaRPr lang="en-US" sz="2800" dirty="0" smtClean="0"/>
          </a:p>
          <a:p>
            <a:pPr marL="855663" lvl="0" indent="-288925">
              <a:buFont typeface="+mj-lt"/>
              <a:buAutoNum type="alphaUcPeriod"/>
            </a:pPr>
            <a:r>
              <a:rPr lang="en-US" sz="2800" dirty="0" smtClean="0"/>
              <a:t>Study well. That is the only way to go up.</a:t>
            </a:r>
          </a:p>
          <a:p>
            <a:pPr marL="855663" lvl="0" indent="-288925">
              <a:buFont typeface="+mj-lt"/>
              <a:buAutoNum type="alphaUcPeriod"/>
            </a:pPr>
            <a:r>
              <a:rPr lang="en-US" sz="2800" dirty="0" smtClean="0"/>
              <a:t>The Filipino’s lack of unity will penalize them.</a:t>
            </a:r>
          </a:p>
          <a:p>
            <a:pPr marL="855663" lvl="0" indent="-288925">
              <a:buFont typeface="+mj-lt"/>
              <a:buAutoNum type="alphaUcPeriod"/>
            </a:pPr>
            <a:r>
              <a:rPr lang="en-US" sz="2800" dirty="0" smtClean="0"/>
              <a:t>Rise in arms against Spain. Don’t be lazy.</a:t>
            </a:r>
          </a:p>
          <a:p>
            <a:pPr marL="855663" lvl="0" indent="-288925">
              <a:buFont typeface="+mj-lt"/>
              <a:buAutoNum type="alphaUcPeriod"/>
            </a:pPr>
            <a:r>
              <a:rPr lang="en-US" sz="2800" dirty="0" smtClean="0"/>
              <a:t>The rich natural resources and favorable climate encourage the Filipino get-by mentality</a:t>
            </a:r>
          </a:p>
          <a:p>
            <a:pPr marL="508000" lvl="0" indent="-398463">
              <a:buNone/>
            </a:pPr>
            <a:endParaRPr lang="en-US" sz="2800" dirty="0" smtClean="0"/>
          </a:p>
          <a:p>
            <a:pPr>
              <a:buNone/>
            </a:pPr>
            <a:r>
              <a:rPr lang="en-US" sz="2800" dirty="0" smtClean="0"/>
              <a:t>	</a:t>
            </a:r>
            <a:endParaRPr lang="en-US" sz="2800" dirty="0"/>
          </a:p>
        </p:txBody>
      </p:sp>
      <p:pic>
        <p:nvPicPr>
          <p:cNvPr id="3"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314385" y="39807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i="1" dirty="0"/>
              <a:t>The Indolence of the Filipinos</a:t>
            </a:r>
            <a:r>
              <a:rPr lang="en-US" dirty="0"/>
              <a:t> is a study of the causes why the people did not, as was said, work hard during the Spanish regime.  Rizal pointed out that long before the coming of the Spaniards, the Filipinos were industrious and hardworking.  The Spanish reign brought about a decline in economic activities because of certain </a:t>
            </a:r>
            <a:r>
              <a:rPr lang="en-US" dirty="0" smtClean="0"/>
              <a:t>causes.</a:t>
            </a:r>
            <a:endParaRPr lang="en-US" dirty="0"/>
          </a:p>
        </p:txBody>
      </p:sp>
    </p:spTree>
    <p:extLst>
      <p:ext uri="{BB962C8B-B14F-4D97-AF65-F5344CB8AC3E}">
        <p14:creationId xmlns="" xmlns:p14="http://schemas.microsoft.com/office/powerpoint/2010/main" val="2072229413"/>
      </p:ext>
    </p:extLst>
  </p:cSld>
  <p:clrMapOvr>
    <a:masterClrMapping/>
  </p:clrMapOvr>
  <p:transition>
    <p:push/>
  </p:transition>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609600"/>
            <a:ext cx="8229600" cy="4525963"/>
          </a:xfrm>
        </p:spPr>
        <p:txBody>
          <a:bodyPr>
            <a:noAutofit/>
          </a:bodyPr>
          <a:lstStyle/>
          <a:p>
            <a:pPr marL="508000" lvl="0" indent="-398463">
              <a:buNone/>
            </a:pPr>
            <a:r>
              <a:rPr lang="en-US" sz="3200" dirty="0" smtClean="0"/>
              <a:t>5. With whom did Rizal differ in personality and opinions? Their difference led to the end of the propaganda movement in Spain.</a:t>
            </a:r>
          </a:p>
          <a:p>
            <a:pPr marL="508000" lvl="0" indent="-398463">
              <a:buNone/>
            </a:pPr>
            <a:endParaRPr lang="en-US" sz="3200" dirty="0" smtClean="0"/>
          </a:p>
          <a:p>
            <a:pPr marL="914400" indent="-347663">
              <a:buFont typeface="+mj-lt"/>
              <a:buAutoNum type="alphaUcPeriod"/>
            </a:pPr>
            <a:r>
              <a:rPr lang="en-US" sz="3200" dirty="0" smtClean="0"/>
              <a:t>Gregorio del </a:t>
            </a:r>
            <a:r>
              <a:rPr lang="en-US" sz="3200" dirty="0" err="1" smtClean="0"/>
              <a:t>Pilar</a:t>
            </a:r>
            <a:endParaRPr lang="en-US" sz="3200" dirty="0" smtClean="0"/>
          </a:p>
          <a:p>
            <a:pPr marL="914400" indent="-347663">
              <a:buFont typeface="+mj-lt"/>
              <a:buAutoNum type="alphaUcPeriod"/>
            </a:pPr>
            <a:r>
              <a:rPr lang="en-US" sz="3200" dirty="0" err="1" smtClean="0"/>
              <a:t>Graciano</a:t>
            </a:r>
            <a:r>
              <a:rPr lang="en-US" sz="3200" dirty="0" smtClean="0"/>
              <a:t> Lopez-</a:t>
            </a:r>
            <a:r>
              <a:rPr lang="en-US" sz="3200" dirty="0" err="1" smtClean="0"/>
              <a:t>Jaena</a:t>
            </a:r>
            <a:endParaRPr lang="en-US" sz="3200" dirty="0" smtClean="0"/>
          </a:p>
          <a:p>
            <a:pPr marL="914400" lvl="0" indent="-347663">
              <a:buFont typeface="+mj-lt"/>
              <a:buAutoNum type="alphaUcPeriod"/>
            </a:pPr>
            <a:r>
              <a:rPr lang="en-US" sz="3200" dirty="0" smtClean="0"/>
              <a:t>Andres </a:t>
            </a:r>
            <a:r>
              <a:rPr lang="en-US" sz="3200" dirty="0" err="1" smtClean="0"/>
              <a:t>Bonifacio</a:t>
            </a:r>
            <a:endParaRPr lang="en-US" sz="3200" dirty="0" smtClean="0"/>
          </a:p>
          <a:p>
            <a:pPr marL="914400" lvl="0" indent="-347663">
              <a:buFont typeface="+mj-lt"/>
              <a:buAutoNum type="alphaUcPeriod"/>
            </a:pPr>
            <a:r>
              <a:rPr lang="en-US" sz="3200" dirty="0" smtClean="0"/>
              <a:t>Marcelo H. del </a:t>
            </a:r>
            <a:r>
              <a:rPr lang="en-US" sz="3200" dirty="0" err="1" smtClean="0"/>
              <a:t>Pilar</a:t>
            </a:r>
            <a:endParaRPr lang="en-US" sz="3200" dirty="0" smtClean="0"/>
          </a:p>
          <a:p>
            <a:pPr marL="623887" indent="-514350">
              <a:buNone/>
            </a:pPr>
            <a:endParaRPr lang="en-US" sz="3200" dirty="0" smtClean="0"/>
          </a:p>
          <a:p>
            <a:pPr marL="508000" lvl="0" indent="-398463">
              <a:buNone/>
            </a:pPr>
            <a:endParaRPr lang="en-US" sz="3200" dirty="0" smtClean="0"/>
          </a:p>
          <a:p>
            <a:pPr>
              <a:buNone/>
            </a:pPr>
            <a:endParaRPr lang="en-US" sz="3200" dirty="0"/>
          </a:p>
        </p:txBody>
      </p:sp>
      <p:pic>
        <p:nvPicPr>
          <p:cNvPr id="4" name="Picture 4" descr="C:\Documents and Settings\Administrator\Desktop\hand_right.gif"/>
          <p:cNvPicPr>
            <a:picLocks noChangeAspect="1" noChangeArrowheads="1" noCrop="1"/>
          </p:cNvPicPr>
          <p:nvPr/>
        </p:nvPicPr>
        <p:blipFill>
          <a:blip r:embed="rId3">
            <a:extLst>
              <a:ext uri="{28A0092B-C50C-407E-A947-70E740481C1C}">
                <a14:useLocalDpi xmlns="" xmlns:a14="http://schemas.microsoft.com/office/drawing/2010/main" val="0"/>
              </a:ext>
            </a:extLst>
          </a:blip>
          <a:srcRect/>
          <a:stretch>
            <a:fillRect/>
          </a:stretch>
        </p:blipFill>
        <p:spPr bwMode="auto">
          <a:xfrm rot="21434720">
            <a:off x="390584" y="4971374"/>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381000"/>
            <a:ext cx="8229600" cy="4525963"/>
          </a:xfrm>
        </p:spPr>
        <p:txBody>
          <a:bodyPr>
            <a:noAutofit/>
          </a:bodyPr>
          <a:lstStyle/>
          <a:p>
            <a:pPr marL="508000" lvl="0" indent="-398463">
              <a:buNone/>
            </a:pPr>
            <a:r>
              <a:rPr lang="en-US" sz="3200" dirty="0" smtClean="0"/>
              <a:t>6. Which statement holds TRUE of </a:t>
            </a:r>
            <a:r>
              <a:rPr lang="en-US" sz="3200" dirty="0" err="1" smtClean="0"/>
              <a:t>Macario</a:t>
            </a:r>
            <a:r>
              <a:rPr lang="en-US" sz="3200" dirty="0" smtClean="0"/>
              <a:t> </a:t>
            </a:r>
            <a:r>
              <a:rPr lang="en-US" sz="3200" dirty="0" err="1" smtClean="0"/>
              <a:t>Sakay</a:t>
            </a:r>
            <a:r>
              <a:rPr lang="en-US" sz="3200" dirty="0" smtClean="0"/>
              <a:t>?</a:t>
            </a:r>
          </a:p>
          <a:p>
            <a:pPr marL="508000" lvl="0" indent="-398463">
              <a:buNone/>
            </a:pPr>
            <a:endParaRPr lang="en-US" sz="3200" dirty="0" smtClean="0"/>
          </a:p>
          <a:p>
            <a:pPr marL="798513" lvl="0" indent="-290513">
              <a:buFont typeface="+mj-lt"/>
              <a:buAutoNum type="alphaUcPeriod"/>
            </a:pPr>
            <a:r>
              <a:rPr lang="en-US" sz="3200" dirty="0" smtClean="0"/>
              <a:t>He called on Filipinos to collaborate with the Americans.</a:t>
            </a:r>
          </a:p>
          <a:p>
            <a:pPr marL="798513" lvl="0" indent="-290513">
              <a:buFont typeface="+mj-lt"/>
              <a:buAutoNum type="alphaUcPeriod"/>
            </a:pPr>
            <a:r>
              <a:rPr lang="en-US" sz="3200" dirty="0" smtClean="0"/>
              <a:t>On account of banditry, the Americans sentenced him to death by hanging.</a:t>
            </a:r>
          </a:p>
          <a:p>
            <a:pPr marL="798513" lvl="0" indent="-290513">
              <a:buFont typeface="+mj-lt"/>
              <a:buAutoNum type="alphaUcPeriod"/>
            </a:pPr>
            <a:r>
              <a:rPr lang="en-US" sz="3200" dirty="0" smtClean="0"/>
              <a:t>He never surrendered to the Americans</a:t>
            </a:r>
          </a:p>
          <a:p>
            <a:pPr marL="798513" lvl="0" indent="-290513">
              <a:buFont typeface="+mj-lt"/>
              <a:buAutoNum type="alphaUcPeriod"/>
            </a:pPr>
            <a:r>
              <a:rPr lang="en-US" sz="3200" dirty="0" smtClean="0"/>
              <a:t>He led revolts against the Spaniards</a:t>
            </a:r>
          </a:p>
          <a:p>
            <a:pPr marL="508000" lvl="0" indent="-398463">
              <a:buNone/>
            </a:pPr>
            <a:endParaRPr lang="en-US" sz="3200" dirty="0" smtClean="0"/>
          </a:p>
          <a:p>
            <a:pPr>
              <a:buNone/>
            </a:pPr>
            <a:endParaRPr lang="en-US" sz="32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238185" y="31425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962400" y="1481328"/>
            <a:ext cx="4724400" cy="4525963"/>
          </a:xfrm>
        </p:spPr>
        <p:txBody>
          <a:bodyPr/>
          <a:lstStyle/>
          <a:p>
            <a:r>
              <a:rPr lang="en-US" dirty="0"/>
              <a:t> On July 1906 </a:t>
            </a:r>
            <a:r>
              <a:rPr lang="en-US" dirty="0" err="1" smtClean="0"/>
              <a:t>Sakay</a:t>
            </a:r>
            <a:r>
              <a:rPr lang="en-US" dirty="0" smtClean="0"/>
              <a:t> and his men </a:t>
            </a:r>
            <a:r>
              <a:rPr lang="en-US" dirty="0"/>
              <a:t>were invited to attend a dance where they were later captured, arrested and tried as “bandits.” On September 13, 1907 </a:t>
            </a:r>
            <a:r>
              <a:rPr lang="en-US" dirty="0" err="1"/>
              <a:t>Sakay</a:t>
            </a:r>
            <a:r>
              <a:rPr lang="en-US" dirty="0"/>
              <a:t> was hanged.</a:t>
            </a:r>
          </a:p>
        </p:txBody>
      </p:sp>
      <p:sp>
        <p:nvSpPr>
          <p:cNvPr id="3" name="Title 2"/>
          <p:cNvSpPr>
            <a:spLocks noGrp="1"/>
          </p:cNvSpPr>
          <p:nvPr>
            <p:ph type="title"/>
          </p:nvPr>
        </p:nvSpPr>
        <p:spPr/>
        <p:txBody>
          <a:bodyPr/>
          <a:lstStyle/>
          <a:p>
            <a:endParaRPr lang="en-US" dirty="0"/>
          </a:p>
        </p:txBody>
      </p:sp>
      <p:pic>
        <p:nvPicPr>
          <p:cNvPr id="1026" name="Picture 2" descr="http://media.tumblr.com/tumblr_ktyzx9AIFq1qanimb.jpg"/>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451512" y="1417638"/>
            <a:ext cx="3469705" cy="3382962"/>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4078431803"/>
      </p:ext>
    </p:extLst>
  </p:cSld>
  <p:clrMapOvr>
    <a:masterClrMapping/>
  </p:clrMapOvr>
  <p:transition>
    <p:push/>
  </p:transition>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685800"/>
            <a:ext cx="8229600" cy="4525963"/>
          </a:xfrm>
        </p:spPr>
        <p:txBody>
          <a:bodyPr>
            <a:noAutofit/>
          </a:bodyPr>
          <a:lstStyle/>
          <a:p>
            <a:pPr marL="508000" lvl="0" indent="-398463">
              <a:buNone/>
            </a:pPr>
            <a:r>
              <a:rPr lang="en-US" sz="3200" dirty="0" smtClean="0"/>
              <a:t>7. With the sense of nationalism as basis, which is NOT part of the group?</a:t>
            </a:r>
          </a:p>
          <a:p>
            <a:pPr marL="508000" lvl="0" indent="-398463">
              <a:buNone/>
            </a:pPr>
            <a:endParaRPr lang="en-US" sz="3200" dirty="0" smtClean="0"/>
          </a:p>
          <a:p>
            <a:pPr marL="855663" lvl="0" indent="-347663">
              <a:buFont typeface="+mj-lt"/>
              <a:buAutoNum type="alphaUcPeriod"/>
            </a:pPr>
            <a:r>
              <a:rPr lang="en-US" sz="3200" dirty="0" smtClean="0"/>
              <a:t>Independent foreign policy</a:t>
            </a:r>
          </a:p>
          <a:p>
            <a:pPr marL="855663" lvl="0" indent="-347663">
              <a:buFont typeface="+mj-lt"/>
              <a:buAutoNum type="alphaUcPeriod"/>
            </a:pPr>
            <a:r>
              <a:rPr lang="en-US" sz="3200" dirty="0" smtClean="0"/>
              <a:t>Abolition of the parity right of the Americans in the Philippines</a:t>
            </a:r>
          </a:p>
          <a:p>
            <a:pPr marL="855663" lvl="0" indent="-347663">
              <a:buFont typeface="+mj-lt"/>
              <a:buAutoNum type="alphaUcPeriod"/>
            </a:pPr>
            <a:r>
              <a:rPr lang="en-US" sz="3200" dirty="0" smtClean="0"/>
              <a:t>Termination of the Laurel-Langley Agreement</a:t>
            </a:r>
          </a:p>
          <a:p>
            <a:pPr marL="855663" lvl="0" indent="-347663">
              <a:buFont typeface="+mj-lt"/>
              <a:buAutoNum type="alphaUcPeriod"/>
            </a:pPr>
            <a:r>
              <a:rPr lang="en-US" sz="3200" dirty="0" smtClean="0"/>
              <a:t>Special relations with the US</a:t>
            </a:r>
          </a:p>
          <a:p>
            <a:pPr marL="508000" lvl="0" indent="-398463">
              <a:buNone/>
            </a:pPr>
            <a:endParaRPr lang="en-US" sz="3200" dirty="0" smtClean="0"/>
          </a:p>
          <a:p>
            <a:pPr>
              <a:buNone/>
            </a:pPr>
            <a:endParaRPr lang="en-US" sz="32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390586" y="55047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1000" y="685800"/>
            <a:ext cx="8229600" cy="4525963"/>
          </a:xfrm>
        </p:spPr>
        <p:txBody>
          <a:bodyPr>
            <a:normAutofit/>
          </a:bodyPr>
          <a:lstStyle/>
          <a:p>
            <a:pPr marL="508000" lvl="0" indent="-398463">
              <a:buNone/>
            </a:pPr>
            <a:r>
              <a:rPr lang="en-US" sz="3200" dirty="0" smtClean="0"/>
              <a:t>8. What organ did the reformists in Spain found to promote the interests of the Philippines and the Filipinos?</a:t>
            </a:r>
          </a:p>
          <a:p>
            <a:pPr marL="508000" lvl="0" indent="-398463">
              <a:buNone/>
            </a:pPr>
            <a:endParaRPr lang="en-US" sz="3200" dirty="0" smtClean="0"/>
          </a:p>
          <a:p>
            <a:pPr marL="855663" lvl="0" indent="-347663">
              <a:buFont typeface="+mj-lt"/>
              <a:buAutoNum type="alphaUcPeriod"/>
            </a:pPr>
            <a:r>
              <a:rPr lang="en-US" sz="3200" dirty="0" err="1" smtClean="0"/>
              <a:t>Kalayaan</a:t>
            </a:r>
            <a:r>
              <a:rPr lang="en-US" sz="3200" dirty="0" smtClean="0"/>
              <a:t> </a:t>
            </a:r>
          </a:p>
          <a:p>
            <a:pPr marL="855663" lvl="0" indent="-347663">
              <a:buFont typeface="+mj-lt"/>
              <a:buAutoNum type="alphaUcPeriod"/>
            </a:pPr>
            <a:r>
              <a:rPr lang="en-US" sz="3200" dirty="0" smtClean="0"/>
              <a:t>La </a:t>
            </a:r>
            <a:r>
              <a:rPr lang="en-US" sz="3200" dirty="0" err="1" smtClean="0"/>
              <a:t>Solidaridad</a:t>
            </a:r>
            <a:r>
              <a:rPr lang="en-US" sz="3200" dirty="0" smtClean="0"/>
              <a:t> </a:t>
            </a:r>
          </a:p>
          <a:p>
            <a:pPr marL="855663" lvl="0" indent="-347663">
              <a:buFont typeface="+mj-lt"/>
              <a:buAutoNum type="alphaUcPeriod"/>
            </a:pPr>
            <a:r>
              <a:rPr lang="en-US" sz="3200" dirty="0" smtClean="0"/>
              <a:t>La </a:t>
            </a:r>
            <a:r>
              <a:rPr lang="en-US" sz="3200" dirty="0" err="1" smtClean="0"/>
              <a:t>Liga</a:t>
            </a:r>
            <a:r>
              <a:rPr lang="en-US" sz="3200" dirty="0" smtClean="0"/>
              <a:t> Filipina</a:t>
            </a:r>
          </a:p>
          <a:p>
            <a:pPr marL="855663" lvl="0" indent="-347663">
              <a:buFont typeface="+mj-lt"/>
              <a:buAutoNum type="alphaUcPeriod"/>
            </a:pPr>
            <a:r>
              <a:rPr lang="en-US" sz="3200" dirty="0" err="1" smtClean="0"/>
              <a:t>Diariong</a:t>
            </a:r>
            <a:r>
              <a:rPr lang="en-US" sz="3200" dirty="0" smtClean="0"/>
              <a:t> </a:t>
            </a:r>
            <a:r>
              <a:rPr lang="en-US" sz="3200" dirty="0" err="1" smtClean="0"/>
              <a:t>Tagalog</a:t>
            </a:r>
            <a:endParaRPr lang="en-US" sz="3200" dirty="0" smtClean="0"/>
          </a:p>
          <a:p>
            <a:pPr>
              <a:buNone/>
            </a:pPr>
            <a:endParaRPr lang="en-US" sz="3200" dirty="0"/>
          </a:p>
        </p:txBody>
      </p:sp>
      <p:pic>
        <p:nvPicPr>
          <p:cNvPr id="4" name="Picture 4" descr="C:\Documents and Settings\Administrator\Desktop\hand_right.gif"/>
          <p:cNvPicPr>
            <a:picLocks noChangeAspect="1" noChangeArrowheads="1" noCrop="1"/>
          </p:cNvPicPr>
          <p:nvPr/>
        </p:nvPicPr>
        <p:blipFill>
          <a:blip r:embed="rId3">
            <a:extLst>
              <a:ext uri="{28A0092B-C50C-407E-A947-70E740481C1C}">
                <a14:useLocalDpi xmlns="" xmlns:a14="http://schemas.microsoft.com/office/drawing/2010/main" val="0"/>
              </a:ext>
            </a:extLst>
          </a:blip>
          <a:srcRect/>
          <a:stretch>
            <a:fillRect/>
          </a:stretch>
        </p:blipFill>
        <p:spPr bwMode="auto">
          <a:xfrm rot="21434720">
            <a:off x="314385" y="34473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b="1" i="1" dirty="0" err="1" smtClean="0"/>
              <a:t>Kalayaan</a:t>
            </a:r>
            <a:r>
              <a:rPr lang="en-US" b="1" i="1" dirty="0" smtClean="0"/>
              <a:t> </a:t>
            </a:r>
            <a:r>
              <a:rPr lang="en-US" dirty="0" smtClean="0"/>
              <a:t>is the </a:t>
            </a:r>
            <a:r>
              <a:rPr lang="en-US" dirty="0" err="1" smtClean="0"/>
              <a:t>Katipunan’s</a:t>
            </a:r>
            <a:r>
              <a:rPr lang="en-US" dirty="0" smtClean="0"/>
              <a:t> official publication.</a:t>
            </a:r>
          </a:p>
          <a:p>
            <a:r>
              <a:rPr lang="en-US" b="1" i="1" dirty="0" smtClean="0"/>
              <a:t>La </a:t>
            </a:r>
            <a:r>
              <a:rPr lang="en-US" b="1" i="1" dirty="0" err="1" smtClean="0"/>
              <a:t>Solidaridad</a:t>
            </a:r>
            <a:r>
              <a:rPr lang="en-US" b="1" i="1" dirty="0" smtClean="0"/>
              <a:t> </a:t>
            </a:r>
            <a:r>
              <a:rPr lang="en-US" dirty="0" smtClean="0"/>
              <a:t>is the principal organ of the propaganda movement in Barcelona, Spain</a:t>
            </a:r>
          </a:p>
          <a:p>
            <a:r>
              <a:rPr lang="en-US" b="1" i="1" dirty="0" smtClean="0"/>
              <a:t>La </a:t>
            </a:r>
            <a:r>
              <a:rPr lang="en-US" b="1" i="1" dirty="0" err="1" smtClean="0"/>
              <a:t>Liga</a:t>
            </a:r>
            <a:r>
              <a:rPr lang="en-US" b="1" i="1" dirty="0" smtClean="0"/>
              <a:t> Filipina</a:t>
            </a:r>
            <a:r>
              <a:rPr lang="en-US" dirty="0" smtClean="0"/>
              <a:t> is an organization founded by Jose Rizal in </a:t>
            </a:r>
            <a:r>
              <a:rPr lang="en-US" dirty="0" err="1" smtClean="0"/>
              <a:t>Tondo</a:t>
            </a:r>
            <a:r>
              <a:rPr lang="en-US" dirty="0" smtClean="0"/>
              <a:t>, Manila to give the people direct involvement in the reform movement.</a:t>
            </a:r>
          </a:p>
          <a:p>
            <a:r>
              <a:rPr lang="en-US" b="1" i="1" dirty="0" err="1" smtClean="0"/>
              <a:t>Diariong</a:t>
            </a:r>
            <a:r>
              <a:rPr lang="en-US" b="1" i="1" dirty="0" smtClean="0"/>
              <a:t> Tagalog</a:t>
            </a:r>
            <a:r>
              <a:rPr lang="en-US" dirty="0" smtClean="0"/>
              <a:t> – the first native daily newspaper founded by M.H. del </a:t>
            </a:r>
            <a:r>
              <a:rPr lang="en-US" dirty="0" err="1" smtClean="0"/>
              <a:t>Pilar</a:t>
            </a:r>
            <a:r>
              <a:rPr lang="en-US" dirty="0" smtClean="0"/>
              <a:t> in 1882.</a:t>
            </a:r>
            <a:endParaRPr lang="en-US" b="1" i="1" dirty="0"/>
          </a:p>
        </p:txBody>
      </p:sp>
    </p:spTree>
    <p:extLst>
      <p:ext uri="{BB962C8B-B14F-4D97-AF65-F5344CB8AC3E}">
        <p14:creationId xmlns="" xmlns:p14="http://schemas.microsoft.com/office/powerpoint/2010/main" val="3525950908"/>
      </p:ext>
    </p:extLst>
  </p:cSld>
  <p:clrMapOvr>
    <a:masterClrMapping/>
  </p:clrMapOvr>
  <p:transition>
    <p:push/>
  </p:transition>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685800"/>
            <a:ext cx="8229600" cy="4525963"/>
          </a:xfrm>
        </p:spPr>
        <p:txBody>
          <a:bodyPr>
            <a:normAutofit/>
          </a:bodyPr>
          <a:lstStyle/>
          <a:p>
            <a:pPr marL="566738" indent="-457200">
              <a:buNone/>
            </a:pPr>
            <a:r>
              <a:rPr lang="en-US" sz="3200" dirty="0" smtClean="0"/>
              <a:t>9. If Marcelo H. del </a:t>
            </a:r>
            <a:r>
              <a:rPr lang="en-US" sz="3200" dirty="0" err="1" smtClean="0"/>
              <a:t>Pilar</a:t>
            </a:r>
            <a:r>
              <a:rPr lang="en-US" sz="3200" dirty="0" smtClean="0"/>
              <a:t> is considered the greatest journalist, who is acclaimed as the finest general?</a:t>
            </a:r>
          </a:p>
          <a:p>
            <a:pPr marL="566738" indent="-457200">
              <a:buNone/>
            </a:pPr>
            <a:endParaRPr lang="en-US" sz="3200" dirty="0" smtClean="0"/>
          </a:p>
          <a:p>
            <a:pPr marL="914400" indent="-347663">
              <a:buFont typeface="+mj-lt"/>
              <a:buAutoNum type="alphaUcPeriod"/>
            </a:pPr>
            <a:r>
              <a:rPr lang="en-US" sz="3200" dirty="0" smtClean="0"/>
              <a:t>Emilio Jacinto </a:t>
            </a:r>
          </a:p>
          <a:p>
            <a:pPr marL="914400" indent="-347663">
              <a:buFont typeface="+mj-lt"/>
              <a:buAutoNum type="alphaUcPeriod"/>
            </a:pPr>
            <a:r>
              <a:rPr lang="en-US" sz="3200" dirty="0" smtClean="0"/>
              <a:t>Antonio Luna </a:t>
            </a:r>
          </a:p>
          <a:p>
            <a:pPr marL="914400" lvl="1" indent="-347663">
              <a:spcBef>
                <a:spcPts val="400"/>
              </a:spcBef>
              <a:buSzPct val="68000"/>
              <a:buFont typeface="+mj-lt"/>
              <a:buAutoNum type="alphaUcPeriod"/>
            </a:pPr>
            <a:r>
              <a:rPr lang="en-US" sz="3200" dirty="0" smtClean="0"/>
              <a:t>Juan Luna</a:t>
            </a:r>
          </a:p>
          <a:p>
            <a:pPr marL="914400" indent="-347663">
              <a:buFont typeface="+mj-lt"/>
              <a:buAutoNum type="alphaUcPeriod"/>
            </a:pPr>
            <a:r>
              <a:rPr lang="en-US" sz="3200" dirty="0" smtClean="0"/>
              <a:t>Andres </a:t>
            </a:r>
            <a:r>
              <a:rPr lang="en-US" sz="3200" dirty="0" err="1" smtClean="0"/>
              <a:t>Bonifacio</a:t>
            </a:r>
            <a:endParaRPr lang="en-US" sz="32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466784" y="34473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2362200"/>
            <a:ext cx="8229600" cy="2862072"/>
          </a:xfrm>
        </p:spPr>
        <p:txBody>
          <a:bodyPr/>
          <a:lstStyle/>
          <a:p>
            <a:r>
              <a:rPr lang="en-US" dirty="0" smtClean="0"/>
              <a:t>Emilio Jacinto – the “Brain of </a:t>
            </a:r>
            <a:r>
              <a:rPr lang="en-US" dirty="0" err="1" smtClean="0"/>
              <a:t>Katipunan</a:t>
            </a:r>
            <a:r>
              <a:rPr lang="en-US" dirty="0" smtClean="0"/>
              <a:t>”</a:t>
            </a:r>
          </a:p>
          <a:p>
            <a:r>
              <a:rPr lang="en-US" dirty="0" smtClean="0"/>
              <a:t>Antonio Luna – the “Finest General”</a:t>
            </a:r>
          </a:p>
          <a:p>
            <a:r>
              <a:rPr lang="en-US" dirty="0" smtClean="0"/>
              <a:t>Juan Luna – the “Finest Painter”</a:t>
            </a:r>
          </a:p>
          <a:p>
            <a:r>
              <a:rPr lang="en-US" dirty="0" smtClean="0"/>
              <a:t>Andres </a:t>
            </a:r>
            <a:r>
              <a:rPr lang="en-US" dirty="0" err="1" smtClean="0"/>
              <a:t>Bonifacio</a:t>
            </a:r>
            <a:r>
              <a:rPr lang="en-US" dirty="0" smtClean="0"/>
              <a:t> – “</a:t>
            </a:r>
            <a:r>
              <a:rPr lang="en-US" dirty="0" err="1" smtClean="0"/>
              <a:t>Supremo</a:t>
            </a:r>
            <a:r>
              <a:rPr lang="en-US" dirty="0" smtClean="0"/>
              <a:t> of </a:t>
            </a:r>
            <a:r>
              <a:rPr lang="en-US" dirty="0" err="1" smtClean="0"/>
              <a:t>Katipunan</a:t>
            </a:r>
            <a:r>
              <a:rPr lang="en-US" dirty="0" smtClean="0"/>
              <a:t>”</a:t>
            </a:r>
            <a:endParaRPr lang="en-US" dirty="0"/>
          </a:p>
        </p:txBody>
      </p:sp>
    </p:spTree>
    <p:extLst>
      <p:ext uri="{BB962C8B-B14F-4D97-AF65-F5344CB8AC3E}">
        <p14:creationId xmlns="" xmlns:p14="http://schemas.microsoft.com/office/powerpoint/2010/main" val="1126830755"/>
      </p:ext>
    </p:extLst>
  </p:cSld>
  <p:clrMapOvr>
    <a:masterClrMapping/>
  </p:clrMapOvr>
  <p:transition>
    <p:push/>
  </p:transition>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457200"/>
            <a:ext cx="8229600" cy="4864291"/>
          </a:xfrm>
        </p:spPr>
        <p:txBody>
          <a:bodyPr>
            <a:noAutofit/>
          </a:bodyPr>
          <a:lstStyle/>
          <a:p>
            <a:pPr marL="739775" lvl="0" indent="-630238">
              <a:buNone/>
            </a:pPr>
            <a:r>
              <a:rPr lang="en-US" sz="3200" dirty="0" smtClean="0"/>
              <a:t>10. Who was the Filipino native who wanted to be a priest but was refused because he was a native and so formed a religious brotherhood for which he sought recognition but was rejected?</a:t>
            </a:r>
          </a:p>
          <a:p>
            <a:pPr marL="739775" lvl="0" indent="-630238">
              <a:buNone/>
            </a:pPr>
            <a:endParaRPr lang="en-US" sz="3200" dirty="0" smtClean="0"/>
          </a:p>
          <a:p>
            <a:pPr marL="1030288" lvl="0" indent="-290513">
              <a:buFont typeface="+mj-lt"/>
              <a:buAutoNum type="alphaUcPeriod"/>
            </a:pPr>
            <a:r>
              <a:rPr lang="en-US" sz="3200" dirty="0" smtClean="0"/>
              <a:t>Andres </a:t>
            </a:r>
            <a:r>
              <a:rPr lang="en-US" sz="3200" dirty="0" err="1" smtClean="0"/>
              <a:t>Malong</a:t>
            </a:r>
            <a:r>
              <a:rPr lang="en-US" sz="3200" dirty="0" smtClean="0"/>
              <a:t> </a:t>
            </a:r>
          </a:p>
          <a:p>
            <a:pPr marL="1030288" lvl="0" indent="-290513">
              <a:buFont typeface="+mj-lt"/>
              <a:buAutoNum type="alphaUcPeriod"/>
            </a:pPr>
            <a:r>
              <a:rPr lang="en-US" sz="3200" dirty="0" smtClean="0"/>
              <a:t>Pedro </a:t>
            </a:r>
            <a:r>
              <a:rPr lang="en-US" sz="3200" dirty="0" err="1" smtClean="0"/>
              <a:t>Almazan</a:t>
            </a:r>
            <a:r>
              <a:rPr lang="en-US" sz="3200" dirty="0" smtClean="0"/>
              <a:t> </a:t>
            </a:r>
          </a:p>
          <a:p>
            <a:pPr marL="1030288" lvl="0" indent="-290513">
              <a:buFont typeface="+mj-lt"/>
              <a:buAutoNum type="alphaUcPeriod"/>
            </a:pPr>
            <a:r>
              <a:rPr lang="en-US" sz="3200" dirty="0" smtClean="0"/>
              <a:t>Juan </a:t>
            </a:r>
            <a:r>
              <a:rPr lang="en-US" sz="3200" dirty="0" err="1" smtClean="0"/>
              <a:t>Sumuroy</a:t>
            </a:r>
            <a:endParaRPr lang="en-US" sz="3200" dirty="0" smtClean="0"/>
          </a:p>
          <a:p>
            <a:pPr marL="1030288" lvl="0" indent="-290513">
              <a:buFont typeface="+mj-lt"/>
              <a:buAutoNum type="alphaUcPeriod"/>
            </a:pPr>
            <a:r>
              <a:rPr lang="en-US" sz="3200" dirty="0" err="1" smtClean="0"/>
              <a:t>Apolinario</a:t>
            </a:r>
            <a:r>
              <a:rPr lang="en-US" sz="3200" dirty="0" smtClean="0"/>
              <a:t> </a:t>
            </a:r>
            <a:r>
              <a:rPr lang="en-US" sz="3200" dirty="0" err="1" smtClean="0"/>
              <a:t>dela</a:t>
            </a:r>
            <a:r>
              <a:rPr lang="en-US" sz="3200" dirty="0" smtClean="0"/>
              <a:t> Cruz</a:t>
            </a:r>
          </a:p>
          <a:p>
            <a:pPr>
              <a:buNone/>
            </a:pPr>
            <a:endParaRPr lang="en-US" sz="3200" dirty="0"/>
          </a:p>
        </p:txBody>
      </p:sp>
      <p:pic>
        <p:nvPicPr>
          <p:cNvPr id="3"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619186" y="5809574"/>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b="1" dirty="0" err="1" smtClean="0"/>
              <a:t>Malong</a:t>
            </a:r>
            <a:r>
              <a:rPr lang="en-US" dirty="0" smtClean="0"/>
              <a:t> – led an uprising in </a:t>
            </a:r>
            <a:r>
              <a:rPr lang="en-US" dirty="0" err="1" smtClean="0"/>
              <a:t>Pangasinan</a:t>
            </a:r>
            <a:r>
              <a:rPr lang="en-US" dirty="0" smtClean="0"/>
              <a:t> due to reclamation of power</a:t>
            </a:r>
          </a:p>
          <a:p>
            <a:r>
              <a:rPr lang="en-US" b="1" dirty="0" err="1" smtClean="0"/>
              <a:t>Almazan</a:t>
            </a:r>
            <a:r>
              <a:rPr lang="en-US" b="1" dirty="0" smtClean="0"/>
              <a:t> </a:t>
            </a:r>
            <a:r>
              <a:rPr lang="en-US" dirty="0" smtClean="0"/>
              <a:t>– led the first Ilocano revolt against Spaniards due to reclamation of power</a:t>
            </a:r>
          </a:p>
          <a:p>
            <a:r>
              <a:rPr lang="en-US" b="1" dirty="0" err="1" smtClean="0"/>
              <a:t>Sumuroy</a:t>
            </a:r>
            <a:r>
              <a:rPr lang="en-US" b="1" dirty="0" smtClean="0"/>
              <a:t> </a:t>
            </a:r>
            <a:r>
              <a:rPr lang="en-US" dirty="0" smtClean="0"/>
              <a:t>– a </a:t>
            </a:r>
            <a:r>
              <a:rPr lang="en-US" dirty="0" err="1" smtClean="0"/>
              <a:t>Waray</a:t>
            </a:r>
            <a:r>
              <a:rPr lang="en-US" dirty="0" smtClean="0"/>
              <a:t> hero and leader of revolt in Eastern </a:t>
            </a:r>
            <a:r>
              <a:rPr lang="en-US" dirty="0" err="1" smtClean="0"/>
              <a:t>Visayas</a:t>
            </a:r>
            <a:r>
              <a:rPr lang="en-US" dirty="0" smtClean="0"/>
              <a:t> due to forced labor</a:t>
            </a:r>
          </a:p>
          <a:p>
            <a:r>
              <a:rPr lang="en-US" b="1" dirty="0" err="1" smtClean="0"/>
              <a:t>Apolinario</a:t>
            </a:r>
            <a:r>
              <a:rPr lang="en-US" b="1" dirty="0" smtClean="0"/>
              <a:t> </a:t>
            </a:r>
            <a:r>
              <a:rPr lang="en-US" b="1" dirty="0" err="1" smtClean="0"/>
              <a:t>dela</a:t>
            </a:r>
            <a:r>
              <a:rPr lang="en-US" b="1" dirty="0" smtClean="0"/>
              <a:t> Cruz </a:t>
            </a:r>
            <a:r>
              <a:rPr lang="en-US" dirty="0" smtClean="0"/>
              <a:t> - from </a:t>
            </a:r>
            <a:r>
              <a:rPr lang="en-US" dirty="0" err="1" smtClean="0"/>
              <a:t>Tayabas</a:t>
            </a:r>
            <a:r>
              <a:rPr lang="en-US" dirty="0" smtClean="0"/>
              <a:t> and also known as </a:t>
            </a:r>
            <a:r>
              <a:rPr lang="en-US" dirty="0" err="1" smtClean="0"/>
              <a:t>Hermano</a:t>
            </a:r>
            <a:r>
              <a:rPr lang="en-US" dirty="0" smtClean="0"/>
              <a:t> Pule.</a:t>
            </a:r>
            <a:endParaRPr lang="en-US" dirty="0"/>
          </a:p>
        </p:txBody>
      </p:sp>
    </p:spTree>
    <p:extLst>
      <p:ext uri="{BB962C8B-B14F-4D97-AF65-F5344CB8AC3E}">
        <p14:creationId xmlns="" xmlns:p14="http://schemas.microsoft.com/office/powerpoint/2010/main" val="1643718648"/>
      </p:ext>
    </p:extLst>
  </p:cSld>
  <p:clrMapOvr>
    <a:masterClrMapping/>
  </p:clrMapOvr>
  <p:transition>
    <p:push/>
  </p:transition>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762000"/>
            <a:ext cx="8229600" cy="4525963"/>
          </a:xfrm>
        </p:spPr>
        <p:txBody>
          <a:bodyPr>
            <a:normAutofit/>
          </a:bodyPr>
          <a:lstStyle/>
          <a:p>
            <a:pPr marL="739775" lvl="0" indent="-630238">
              <a:buNone/>
            </a:pPr>
            <a:r>
              <a:rPr lang="en-US" sz="3200" dirty="0" smtClean="0"/>
              <a:t>11. Who led the longest revolt against the Spaniards?</a:t>
            </a:r>
          </a:p>
          <a:p>
            <a:pPr marL="739775" lvl="0" indent="-630238">
              <a:buNone/>
            </a:pPr>
            <a:endParaRPr lang="en-US" sz="3200" dirty="0" smtClean="0"/>
          </a:p>
          <a:p>
            <a:pPr marL="1030288" lvl="0" indent="-290513">
              <a:buFont typeface="+mj-lt"/>
              <a:buAutoNum type="alphaUcPeriod"/>
            </a:pPr>
            <a:r>
              <a:rPr lang="en-US" sz="3200" dirty="0" smtClean="0"/>
              <a:t>Diego </a:t>
            </a:r>
            <a:r>
              <a:rPr lang="en-US" sz="3200" dirty="0" err="1" smtClean="0"/>
              <a:t>Silang</a:t>
            </a:r>
            <a:r>
              <a:rPr lang="en-US" sz="3200" dirty="0" smtClean="0"/>
              <a:t>	</a:t>
            </a:r>
          </a:p>
          <a:p>
            <a:pPr marL="1030288" lvl="0" indent="-290513">
              <a:buFont typeface="+mj-lt"/>
              <a:buAutoNum type="alphaUcPeriod"/>
            </a:pPr>
            <a:r>
              <a:rPr lang="en-US" sz="3200" dirty="0" smtClean="0"/>
              <a:t>Francisco Dagohoy </a:t>
            </a:r>
          </a:p>
          <a:p>
            <a:pPr marL="1030288" lvl="0" indent="-290513">
              <a:buFont typeface="+mj-lt"/>
              <a:buAutoNum type="alphaUcPeriod"/>
            </a:pPr>
            <a:r>
              <a:rPr lang="en-US" sz="3200" dirty="0" smtClean="0"/>
              <a:t>Andres </a:t>
            </a:r>
            <a:r>
              <a:rPr lang="en-US" sz="3200" dirty="0" err="1" smtClean="0"/>
              <a:t>Malong</a:t>
            </a:r>
            <a:endParaRPr lang="en-US" sz="3200" dirty="0" smtClean="0"/>
          </a:p>
          <a:p>
            <a:pPr marL="1030288" lvl="0" indent="-290513">
              <a:buFont typeface="+mj-lt"/>
              <a:buAutoNum type="alphaUcPeriod"/>
            </a:pPr>
            <a:r>
              <a:rPr lang="en-US" sz="3200" dirty="0" smtClean="0"/>
              <a:t>Juan </a:t>
            </a:r>
            <a:r>
              <a:rPr lang="en-US" sz="3200" dirty="0" err="1" smtClean="0"/>
              <a:t>dela</a:t>
            </a:r>
            <a:r>
              <a:rPr lang="en-US" sz="3200" dirty="0" smtClean="0"/>
              <a:t> Cruz </a:t>
            </a:r>
            <a:r>
              <a:rPr lang="en-US" sz="3200" dirty="0" err="1" smtClean="0"/>
              <a:t>Palaris</a:t>
            </a:r>
            <a:r>
              <a:rPr lang="en-US" sz="3200" dirty="0" smtClean="0"/>
              <a:t> </a:t>
            </a:r>
          </a:p>
          <a:p>
            <a:pPr>
              <a:buNone/>
            </a:pPr>
            <a:endParaRPr lang="en-US" sz="3200" dirty="0"/>
          </a:p>
        </p:txBody>
      </p:sp>
      <p:pic>
        <p:nvPicPr>
          <p:cNvPr id="4" name="Picture 4" descr="C:\Documents and Settings\Administrator\Desktop\hand_right.gif"/>
          <p:cNvPicPr>
            <a:picLocks noChangeAspect="1" noChangeArrowheads="1" noCrop="1"/>
          </p:cNvPicPr>
          <p:nvPr/>
        </p:nvPicPr>
        <p:blipFill>
          <a:blip r:embed="rId3">
            <a:extLst>
              <a:ext uri="{28A0092B-C50C-407E-A947-70E740481C1C}">
                <a14:useLocalDpi xmlns="" xmlns:a14="http://schemas.microsoft.com/office/drawing/2010/main" val="0"/>
              </a:ext>
            </a:extLst>
          </a:blip>
          <a:srcRect/>
          <a:stretch>
            <a:fillRect/>
          </a:stretch>
        </p:blipFill>
        <p:spPr bwMode="auto">
          <a:xfrm rot="21434720">
            <a:off x="619185" y="2990174"/>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038600" y="1481328"/>
            <a:ext cx="4648200" cy="4525963"/>
          </a:xfrm>
        </p:spPr>
        <p:txBody>
          <a:bodyPr>
            <a:normAutofit lnSpcReduction="10000"/>
          </a:bodyPr>
          <a:lstStyle/>
          <a:p>
            <a:r>
              <a:rPr lang="en-US" dirty="0"/>
              <a:t>H</a:t>
            </a:r>
            <a:r>
              <a:rPr lang="en-US" dirty="0" smtClean="0"/>
              <a:t>olds </a:t>
            </a:r>
            <a:r>
              <a:rPr lang="en-US" dirty="0"/>
              <a:t>the distinction of having led the longest revolt in Philippine history, the Dagohoy Rebellion. This rebellion against the Spanish colonial government took place in the island of </a:t>
            </a:r>
            <a:r>
              <a:rPr lang="en-US" dirty="0" smtClean="0"/>
              <a:t>Bohol from </a:t>
            </a:r>
            <a:r>
              <a:rPr lang="en-US" dirty="0"/>
              <a:t>1744 to </a:t>
            </a:r>
            <a:r>
              <a:rPr lang="en-US" dirty="0" smtClean="0"/>
              <a:t>1829,roughly </a:t>
            </a:r>
            <a:r>
              <a:rPr lang="en-US" dirty="0"/>
              <a:t>85 years.</a:t>
            </a:r>
          </a:p>
        </p:txBody>
      </p:sp>
      <p:pic>
        <p:nvPicPr>
          <p:cNvPr id="2050" name="Picture 2" descr="http://www.filamako.com/wp-content/uploads/2010/09/dagohoy.jpg"/>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304800" y="838200"/>
            <a:ext cx="3876827" cy="5028217"/>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2915238234"/>
      </p:ext>
    </p:extLst>
  </p:cSld>
  <p:clrMapOvr>
    <a:masterClrMapping/>
  </p:clrMapOvr>
  <p:transition>
    <p:push/>
  </p:transition>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33400" y="609600"/>
            <a:ext cx="8229600" cy="4525963"/>
          </a:xfrm>
        </p:spPr>
        <p:txBody>
          <a:bodyPr>
            <a:normAutofit/>
          </a:bodyPr>
          <a:lstStyle/>
          <a:p>
            <a:pPr marL="739775" indent="-630238">
              <a:buNone/>
            </a:pPr>
            <a:r>
              <a:rPr lang="en-US" sz="3200" dirty="0" smtClean="0"/>
              <a:t>12. Who is considered the founder of Philippine socialism?</a:t>
            </a:r>
          </a:p>
          <a:p>
            <a:pPr marL="739775" indent="-630238">
              <a:buNone/>
            </a:pPr>
            <a:endParaRPr lang="en-US" sz="3200" dirty="0" smtClean="0"/>
          </a:p>
          <a:p>
            <a:pPr marL="1030288" indent="-290513">
              <a:buFont typeface="+mj-lt"/>
              <a:buAutoNum type="alphaUcPeriod"/>
            </a:pPr>
            <a:r>
              <a:rPr lang="en-US" sz="3200" dirty="0" smtClean="0"/>
              <a:t>Emilio Jacinto </a:t>
            </a:r>
          </a:p>
          <a:p>
            <a:pPr marL="1030288" indent="-290513">
              <a:buFont typeface="+mj-lt"/>
              <a:buAutoNum type="alphaUcPeriod"/>
            </a:pPr>
            <a:r>
              <a:rPr lang="en-US" sz="3200" dirty="0" smtClean="0"/>
              <a:t>Rafael Palma </a:t>
            </a:r>
          </a:p>
          <a:p>
            <a:pPr marL="1030288" indent="-290513">
              <a:buFont typeface="+mj-lt"/>
              <a:buAutoNum type="alphaUcPeriod"/>
            </a:pPr>
            <a:r>
              <a:rPr lang="en-US" sz="3200" dirty="0" err="1" smtClean="0"/>
              <a:t>Isabelo</a:t>
            </a:r>
            <a:r>
              <a:rPr lang="en-US" sz="3200" dirty="0" smtClean="0"/>
              <a:t> </a:t>
            </a:r>
            <a:r>
              <a:rPr lang="en-US" sz="3200" dirty="0" err="1" smtClean="0"/>
              <a:t>delos</a:t>
            </a:r>
            <a:r>
              <a:rPr lang="en-US" sz="3200" dirty="0" smtClean="0"/>
              <a:t> Reyes</a:t>
            </a:r>
          </a:p>
          <a:p>
            <a:pPr marL="1030288" indent="-290513">
              <a:buFont typeface="+mj-lt"/>
              <a:buAutoNum type="alphaUcPeriod"/>
            </a:pPr>
            <a:r>
              <a:rPr lang="en-US" sz="3200" dirty="0" err="1" smtClean="0"/>
              <a:t>Apolinario</a:t>
            </a:r>
            <a:r>
              <a:rPr lang="en-US" sz="3200" dirty="0" smtClean="0"/>
              <a:t> </a:t>
            </a:r>
            <a:r>
              <a:rPr lang="en-US" sz="3200" dirty="0" err="1" smtClean="0"/>
              <a:t>Mabini</a:t>
            </a:r>
            <a:endParaRPr lang="en-US" sz="3200" dirty="0"/>
          </a:p>
        </p:txBody>
      </p:sp>
      <p:pic>
        <p:nvPicPr>
          <p:cNvPr id="4" name="Picture 4" descr="C:\Documents and Settings\Administrator\Desktop\hand_right.gif"/>
          <p:cNvPicPr>
            <a:picLocks noChangeAspect="1" noChangeArrowheads="1" noCrop="1"/>
          </p:cNvPicPr>
          <p:nvPr/>
        </p:nvPicPr>
        <p:blipFill>
          <a:blip r:embed="rId3">
            <a:extLst>
              <a:ext uri="{28A0092B-C50C-407E-A947-70E740481C1C}">
                <a14:useLocalDpi xmlns="" xmlns:a14="http://schemas.microsoft.com/office/drawing/2010/main" val="0"/>
              </a:ext>
            </a:extLst>
          </a:blip>
          <a:srcRect/>
          <a:stretch>
            <a:fillRect/>
          </a:stretch>
        </p:blipFill>
        <p:spPr bwMode="auto">
          <a:xfrm rot="21434720">
            <a:off x="695385" y="3447374"/>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76200" y="533400"/>
            <a:ext cx="5029200" cy="5486400"/>
          </a:xfrm>
        </p:spPr>
        <p:txBody>
          <a:bodyPr>
            <a:normAutofit fontScale="92500"/>
          </a:bodyPr>
          <a:lstStyle/>
          <a:p>
            <a:r>
              <a:rPr lang="en-US" dirty="0"/>
              <a:t>He was the original founder of the </a:t>
            </a:r>
            <a:r>
              <a:rPr lang="en-US" dirty="0" err="1"/>
              <a:t>Aglipayan</a:t>
            </a:r>
            <a:r>
              <a:rPr lang="en-US" dirty="0"/>
              <a:t> Church, an independent Christian Protestant church in the catholic tradition. Due to his widespread Anti-Catholic writings and activism with labor unions, he is sometimes dubbed as the "Father of Filipino Socialism". Pope Leo XIII formally excommunicated Reyes in 1903 as a schismatic apostate.</a:t>
            </a:r>
          </a:p>
        </p:txBody>
      </p:sp>
      <p:pic>
        <p:nvPicPr>
          <p:cNvPr id="3074" name="Picture 2" descr="Isabelo de los Reyes, Sr..jpg"/>
          <p:cNvPicPr>
            <a:picLocks noChangeAspect="1" noChangeArrowheads="1"/>
          </p:cNvPicPr>
          <p:nvPr/>
        </p:nvPicPr>
        <p:blipFill>
          <a:blip r:embed="rId3">
            <a:extLst>
              <a:ext uri="{28A0092B-C50C-407E-A947-70E740481C1C}">
                <a14:useLocalDpi xmlns="" xmlns:a14="http://schemas.microsoft.com/office/drawing/2010/main" val="0"/>
              </a:ext>
            </a:extLst>
          </a:blip>
          <a:srcRect/>
          <a:stretch>
            <a:fillRect/>
          </a:stretch>
        </p:blipFill>
        <p:spPr bwMode="auto">
          <a:xfrm>
            <a:off x="5334000" y="1219200"/>
            <a:ext cx="3416639" cy="4379511"/>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2318601800"/>
      </p:ext>
    </p:extLst>
  </p:cSld>
  <p:clrMapOvr>
    <a:masterClrMapping/>
  </p:clrMapOvr>
  <p:transition>
    <p:push/>
  </p:transition>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600" y="609600"/>
            <a:ext cx="8229600" cy="4525963"/>
          </a:xfrm>
        </p:spPr>
        <p:txBody>
          <a:bodyPr>
            <a:normAutofit/>
          </a:bodyPr>
          <a:lstStyle/>
          <a:p>
            <a:pPr marL="739775" lvl="0" indent="-630238">
              <a:buNone/>
            </a:pPr>
            <a:r>
              <a:rPr lang="en-US" sz="3200" dirty="0" smtClean="0"/>
              <a:t>13. What is the charge imposed under the police power of the state to promote the general welfare?</a:t>
            </a:r>
          </a:p>
          <a:p>
            <a:pPr marL="739775" lvl="0" indent="-630238">
              <a:buNone/>
            </a:pPr>
            <a:endParaRPr lang="en-US" sz="3200" dirty="0" smtClean="0"/>
          </a:p>
          <a:p>
            <a:pPr marL="1030288" lvl="0" indent="-290513">
              <a:buFont typeface="+mj-lt"/>
              <a:buAutoNum type="alphaUcPeriod"/>
            </a:pPr>
            <a:r>
              <a:rPr lang="en-US" sz="3200" dirty="0" smtClean="0"/>
              <a:t>Toll fee </a:t>
            </a:r>
          </a:p>
          <a:p>
            <a:pPr marL="1030288" lvl="0" indent="-290513">
              <a:buFont typeface="+mj-lt"/>
              <a:buAutoNum type="alphaUcPeriod"/>
            </a:pPr>
            <a:r>
              <a:rPr lang="en-US" sz="3200" dirty="0" smtClean="0"/>
              <a:t>License fee </a:t>
            </a:r>
          </a:p>
          <a:p>
            <a:pPr marL="1030288" indent="-290513">
              <a:buFont typeface="+mj-lt"/>
              <a:buAutoNum type="alphaUcPeriod"/>
            </a:pPr>
            <a:r>
              <a:rPr lang="en-US" sz="3200" dirty="0" smtClean="0"/>
              <a:t>Tax</a:t>
            </a:r>
          </a:p>
          <a:p>
            <a:pPr marL="1030288" lvl="0" indent="-290513">
              <a:buFont typeface="+mj-lt"/>
              <a:buAutoNum type="alphaUcPeriod"/>
            </a:pPr>
            <a:r>
              <a:rPr lang="en-US" sz="3200" dirty="0" smtClean="0"/>
              <a:t>Internal revenue</a:t>
            </a:r>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695384" y="39045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533400"/>
            <a:ext cx="8229600" cy="5181600"/>
          </a:xfrm>
        </p:spPr>
        <p:txBody>
          <a:bodyPr>
            <a:normAutofit fontScale="85000" lnSpcReduction="10000"/>
          </a:bodyPr>
          <a:lstStyle/>
          <a:p>
            <a:pPr marL="739775" lvl="0" indent="-630238">
              <a:buNone/>
            </a:pPr>
            <a:r>
              <a:rPr lang="en-US" dirty="0" smtClean="0"/>
              <a:t>14. </a:t>
            </a:r>
            <a:r>
              <a:rPr lang="en-US" sz="3800" dirty="0" smtClean="0"/>
              <a:t>The landed class enjoyed huge incomes from share tenancy and rents from inherited estates, while the tenants remained poor. Because of this, the wealthy landowners ____.</a:t>
            </a:r>
            <a:endParaRPr lang="en-US" dirty="0" smtClean="0"/>
          </a:p>
          <a:p>
            <a:pPr marL="1030288" lvl="0" indent="-290513">
              <a:buFont typeface="+mj-lt"/>
              <a:buAutoNum type="alphaUcPeriod"/>
            </a:pPr>
            <a:r>
              <a:rPr lang="en-US" sz="2800" dirty="0" smtClean="0"/>
              <a:t>Disposed of their landholdings, voluntarily in response to social obligations</a:t>
            </a:r>
          </a:p>
          <a:p>
            <a:pPr marL="1030288" lvl="0" indent="-290513">
              <a:buFont typeface="+mj-lt"/>
              <a:buAutoNum type="alphaUcPeriod"/>
            </a:pPr>
            <a:r>
              <a:rPr lang="en-US" sz="2800" dirty="0" smtClean="0"/>
              <a:t>Acquired tremendous economic, social and political advantage</a:t>
            </a:r>
          </a:p>
          <a:p>
            <a:pPr marL="1030288" lvl="0" indent="-290513">
              <a:buFont typeface="+mj-lt"/>
              <a:buAutoNum type="alphaUcPeriod"/>
            </a:pPr>
            <a:r>
              <a:rPr lang="en-US" sz="2800" dirty="0" smtClean="0"/>
              <a:t>Expelled tenants and actually worked on the farmlands themselves</a:t>
            </a:r>
          </a:p>
          <a:p>
            <a:pPr marL="1030288" lvl="0" indent="-290513">
              <a:buFont typeface="+mj-lt"/>
              <a:buAutoNum type="alphaUcPeriod"/>
            </a:pPr>
            <a:r>
              <a:rPr lang="en-US" sz="2800" dirty="0" smtClean="0"/>
              <a:t>Abolished share tenancy and reverted the land back to the peasants</a:t>
            </a:r>
          </a:p>
          <a:p>
            <a:pPr marL="739775" lvl="0" indent="-630238">
              <a:buNone/>
            </a:pPr>
            <a:endParaRPr lang="en-US" dirty="0" smtClean="0"/>
          </a:p>
          <a:p>
            <a:pPr>
              <a:buNone/>
            </a:pPr>
            <a:endParaRPr lang="en-US" dirty="0"/>
          </a:p>
        </p:txBody>
      </p:sp>
      <p:pic>
        <p:nvPicPr>
          <p:cNvPr id="3"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619185" y="3602712"/>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1000" y="457200"/>
            <a:ext cx="8229600" cy="5638800"/>
          </a:xfrm>
        </p:spPr>
        <p:txBody>
          <a:bodyPr>
            <a:normAutofit fontScale="77500" lnSpcReduction="20000"/>
          </a:bodyPr>
          <a:lstStyle/>
          <a:p>
            <a:pPr marL="798513" lvl="0" indent="-688975">
              <a:buNone/>
            </a:pPr>
            <a:r>
              <a:rPr lang="en-US" dirty="0" smtClean="0"/>
              <a:t>15. </a:t>
            </a:r>
            <a:r>
              <a:rPr lang="en-US" sz="3800" dirty="0" smtClean="0"/>
              <a:t>In his article, Robert </a:t>
            </a:r>
            <a:r>
              <a:rPr lang="en-US" sz="3800" dirty="0" err="1" smtClean="0"/>
              <a:t>Victoriano</a:t>
            </a:r>
            <a:r>
              <a:rPr lang="en-US" sz="3800" dirty="0" smtClean="0"/>
              <a:t> once said: “If the end product of land reform is productivity, then land reform cannot stand in isolation.” What does this statement imply? For productivity, ______.</a:t>
            </a:r>
            <a:endParaRPr lang="en-US" dirty="0" smtClean="0"/>
          </a:p>
          <a:p>
            <a:pPr marL="1089025" lvl="0" indent="-406400">
              <a:buFont typeface="+mj-lt"/>
              <a:buAutoNum type="alphaUcPeriod"/>
            </a:pPr>
            <a:r>
              <a:rPr lang="en-US" sz="3100" dirty="0" smtClean="0"/>
              <a:t>The entire family of the farmer must be oriented and educated on land reform</a:t>
            </a:r>
          </a:p>
          <a:p>
            <a:pPr marL="1089025" lvl="0" indent="-406400">
              <a:buFont typeface="+mj-lt"/>
              <a:buAutoNum type="alphaUcPeriod"/>
            </a:pPr>
            <a:r>
              <a:rPr lang="en-US" sz="3100" dirty="0" smtClean="0"/>
              <a:t>All people from the government and non-government sectors must help in the implementation of land reform</a:t>
            </a:r>
          </a:p>
          <a:p>
            <a:pPr marL="1089025" lvl="0" indent="-406400">
              <a:buFont typeface="+mj-lt"/>
              <a:buAutoNum type="alphaUcPeriod"/>
            </a:pPr>
            <a:r>
              <a:rPr lang="en-US" sz="3100" dirty="0" smtClean="0"/>
              <a:t>Land distribution must be accompanied by technical and financial assistance, skills training, and all others that will truly empower the farmers</a:t>
            </a:r>
          </a:p>
          <a:p>
            <a:pPr marL="1089025" lvl="0" indent="-406400">
              <a:buFont typeface="+mj-lt"/>
              <a:buAutoNum type="alphaUcPeriod"/>
            </a:pPr>
            <a:r>
              <a:rPr lang="en-US" sz="3100" dirty="0" smtClean="0"/>
              <a:t>The farmer beneficiary must see land reform in relation to other programs of government</a:t>
            </a:r>
          </a:p>
          <a:p>
            <a:pPr>
              <a:buNone/>
            </a:pPr>
            <a:endParaRPr lang="en-US" dirty="0"/>
          </a:p>
        </p:txBody>
      </p:sp>
      <p:pic>
        <p:nvPicPr>
          <p:cNvPr id="3"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466785" y="42855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685800"/>
            <a:ext cx="8229600" cy="4525963"/>
          </a:xfrm>
        </p:spPr>
        <p:txBody>
          <a:bodyPr>
            <a:noAutofit/>
          </a:bodyPr>
          <a:lstStyle/>
          <a:p>
            <a:pPr marL="739775" lvl="0" indent="-630238">
              <a:buNone/>
            </a:pPr>
            <a:r>
              <a:rPr lang="en-US" sz="3200" dirty="0" smtClean="0"/>
              <a:t>16. The ultimate objective of the CARP is ________.</a:t>
            </a:r>
          </a:p>
          <a:p>
            <a:pPr marL="739775" lvl="0" indent="-630238">
              <a:buNone/>
            </a:pPr>
            <a:endParaRPr lang="en-US" sz="3200" dirty="0" smtClean="0"/>
          </a:p>
          <a:p>
            <a:pPr marL="1030288" lvl="0" indent="-290513">
              <a:buFont typeface="+mj-lt"/>
              <a:buAutoNum type="alphaUcPeriod"/>
            </a:pPr>
            <a:r>
              <a:rPr lang="en-US" sz="3200" dirty="0" smtClean="0"/>
              <a:t>The distribution of arable lands in the country</a:t>
            </a:r>
          </a:p>
          <a:p>
            <a:pPr marL="1030288" lvl="0" indent="-290513">
              <a:buFont typeface="+mj-lt"/>
              <a:buAutoNum type="alphaUcPeriod"/>
            </a:pPr>
            <a:r>
              <a:rPr lang="en-US" sz="3200" dirty="0" smtClean="0"/>
              <a:t>The abolition of share tenancy in favor of lease tenancy</a:t>
            </a:r>
          </a:p>
          <a:p>
            <a:pPr marL="1030288" lvl="0" indent="-290513">
              <a:buFont typeface="+mj-lt"/>
              <a:buAutoNum type="alphaUcPeriod"/>
            </a:pPr>
            <a:r>
              <a:rPr lang="en-US" sz="3200" dirty="0" smtClean="0"/>
              <a:t>The cultivation of idle lands</a:t>
            </a:r>
          </a:p>
          <a:p>
            <a:pPr marL="1030288" lvl="0" indent="-290513">
              <a:buFont typeface="+mj-lt"/>
              <a:buAutoNum type="alphaUcPeriod"/>
            </a:pPr>
            <a:r>
              <a:rPr lang="en-US" sz="3200" dirty="0" smtClean="0"/>
              <a:t>The establishment of owner-cultivated farm</a:t>
            </a:r>
          </a:p>
          <a:p>
            <a:pPr marL="739775" lvl="0" indent="-630238">
              <a:buNone/>
            </a:pPr>
            <a:endParaRPr lang="en-US" sz="3200" dirty="0" smtClean="0"/>
          </a:p>
          <a:p>
            <a:pPr>
              <a:buNone/>
            </a:pPr>
            <a:endParaRPr lang="en-US" sz="3200" dirty="0"/>
          </a:p>
        </p:txBody>
      </p:sp>
      <p:pic>
        <p:nvPicPr>
          <p:cNvPr id="4" name="Picture 4" descr="C:\Documents and Settings\Administrator\Desktop\hand_right.gif"/>
          <p:cNvPicPr>
            <a:picLocks noChangeAspect="1" noChangeArrowheads="1" noCrop="1"/>
          </p:cNvPicPr>
          <p:nvPr/>
        </p:nvPicPr>
        <p:blipFill>
          <a:blip r:embed="rId3">
            <a:extLst>
              <a:ext uri="{28A0092B-C50C-407E-A947-70E740481C1C}">
                <a14:useLocalDpi xmlns="" xmlns:a14="http://schemas.microsoft.com/office/drawing/2010/main" val="0"/>
              </a:ext>
            </a:extLst>
          </a:blip>
          <a:srcRect/>
          <a:stretch>
            <a:fillRect/>
          </a:stretch>
        </p:blipFill>
        <p:spPr bwMode="auto">
          <a:xfrm rot="21434720">
            <a:off x="542984" y="50475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It is the policy of the State to pursue a Comprehensive Agrarian Reform Program (CARP). The welfare of the landless farmers and farmworkers will receive the highest consideration to promote social justice and to move the nation toward sound rural development and industrialization, and the establishment of owner </a:t>
            </a:r>
            <a:r>
              <a:rPr lang="en-US" dirty="0" err="1"/>
              <a:t>cultivatorship</a:t>
            </a:r>
            <a:r>
              <a:rPr lang="en-US" dirty="0"/>
              <a:t> of economic-size farms as the basis of Philippine agriculture</a:t>
            </a:r>
            <a:r>
              <a:rPr lang="en-US" dirty="0" smtClean="0"/>
              <a:t>. (R.A. 6657)</a:t>
            </a:r>
            <a:endParaRPr lang="en-US" dirty="0"/>
          </a:p>
        </p:txBody>
      </p:sp>
    </p:spTree>
    <p:extLst>
      <p:ext uri="{BB962C8B-B14F-4D97-AF65-F5344CB8AC3E}">
        <p14:creationId xmlns="" xmlns:p14="http://schemas.microsoft.com/office/powerpoint/2010/main" val="3865142651"/>
      </p:ext>
    </p:extLst>
  </p:cSld>
  <p:clrMapOvr>
    <a:masterClrMapping/>
  </p:clrMapOvr>
  <p:transition>
    <p:push/>
  </p:transition>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600" y="304800"/>
            <a:ext cx="8229600" cy="4800600"/>
          </a:xfrm>
        </p:spPr>
        <p:txBody>
          <a:bodyPr>
            <a:noAutofit/>
          </a:bodyPr>
          <a:lstStyle/>
          <a:p>
            <a:pPr marL="739775" lvl="0" indent="-630238">
              <a:buNone/>
            </a:pPr>
            <a:r>
              <a:rPr lang="en-US" sz="3200" dirty="0" smtClean="0"/>
              <a:t>17. Is the CARP the same as Land Reform?</a:t>
            </a:r>
          </a:p>
          <a:p>
            <a:pPr marL="739775" lvl="0" indent="-630238">
              <a:buNone/>
            </a:pPr>
            <a:endParaRPr lang="en-US" sz="3200" dirty="0" smtClean="0"/>
          </a:p>
          <a:p>
            <a:pPr marL="1030288" lvl="0" indent="-290513">
              <a:buFont typeface="+mj-lt"/>
              <a:buAutoNum type="alphaUcPeriod"/>
            </a:pPr>
            <a:r>
              <a:rPr lang="en-US" sz="3200" dirty="0" smtClean="0"/>
              <a:t>Yes. Land Reform is just another name for CARP</a:t>
            </a:r>
          </a:p>
          <a:p>
            <a:pPr marL="1030288" lvl="0" indent="-290513">
              <a:buFont typeface="+mj-lt"/>
              <a:buAutoNum type="alphaUcPeriod"/>
            </a:pPr>
            <a:r>
              <a:rPr lang="en-US" sz="3200" dirty="0" smtClean="0"/>
              <a:t>No. Land Reform was renamed CARP.</a:t>
            </a:r>
          </a:p>
          <a:p>
            <a:pPr marL="1030288" lvl="0" indent="-290513">
              <a:buFont typeface="+mj-lt"/>
              <a:buAutoNum type="alphaUcPeriod"/>
            </a:pPr>
            <a:r>
              <a:rPr lang="en-US" sz="3200" dirty="0" smtClean="0"/>
              <a:t>No. Land Reform involves only the acquisition and distribution of land to the tillers</a:t>
            </a:r>
          </a:p>
          <a:p>
            <a:pPr marL="1030288" lvl="0" indent="-290513">
              <a:buFont typeface="+mj-lt"/>
              <a:buAutoNum type="alphaUcPeriod"/>
            </a:pPr>
            <a:r>
              <a:rPr lang="en-US" sz="3200" dirty="0" smtClean="0"/>
              <a:t>No. CARP is just one aspect of Land Reform</a:t>
            </a:r>
          </a:p>
          <a:p>
            <a:pPr>
              <a:buNone/>
            </a:pPr>
            <a:endParaRPr lang="en-US" sz="32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619185" y="5580974"/>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r>
              <a:rPr lang="en-US" dirty="0"/>
              <a:t>Agrarian reform (AR) involves the diffusion of land ownership through the imposition of retention limits for owners of large tracts of land</a:t>
            </a:r>
            <a:r>
              <a:rPr lang="en-US" dirty="0" smtClean="0"/>
              <a:t>.</a:t>
            </a:r>
          </a:p>
          <a:p>
            <a:r>
              <a:rPr lang="en-US" dirty="0" smtClean="0"/>
              <a:t>Land Reform is a </a:t>
            </a:r>
            <a:r>
              <a:rPr lang="en-US" dirty="0"/>
              <a:t>purposive change in the way in which agricultural land is held or owned, the methods of cultivation that are employed, or the relation of agriculture to the rest of </a:t>
            </a:r>
            <a:r>
              <a:rPr lang="en-US" dirty="0" smtClean="0"/>
              <a:t>the economy. </a:t>
            </a:r>
            <a:r>
              <a:rPr lang="en-US" dirty="0"/>
              <a:t>Reforms such as these may be proclaimed by a government, by interested groups, or by revolution.</a:t>
            </a:r>
          </a:p>
        </p:txBody>
      </p:sp>
      <p:sp>
        <p:nvSpPr>
          <p:cNvPr id="3" name="Title 2"/>
          <p:cNvSpPr>
            <a:spLocks noGrp="1"/>
          </p:cNvSpPr>
          <p:nvPr>
            <p:ph type="title"/>
          </p:nvPr>
        </p:nvSpPr>
        <p:spPr/>
        <p:txBody>
          <a:bodyPr/>
          <a:lstStyle/>
          <a:p>
            <a:endParaRPr lang="en-US" dirty="0"/>
          </a:p>
        </p:txBody>
      </p:sp>
    </p:spTree>
    <p:extLst>
      <p:ext uri="{BB962C8B-B14F-4D97-AF65-F5344CB8AC3E}">
        <p14:creationId xmlns="" xmlns:p14="http://schemas.microsoft.com/office/powerpoint/2010/main" val="1149375649"/>
      </p:ext>
    </p:extLst>
  </p:cSld>
  <p:clrMapOvr>
    <a:masterClrMapping/>
  </p:clrMapOvr>
  <p:transition>
    <p:push/>
  </p:transition>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914400"/>
            <a:ext cx="8229600" cy="4525963"/>
          </a:xfrm>
        </p:spPr>
        <p:txBody>
          <a:bodyPr>
            <a:normAutofit/>
          </a:bodyPr>
          <a:lstStyle/>
          <a:p>
            <a:pPr marL="739775" lvl="0" indent="-630238">
              <a:buNone/>
            </a:pPr>
            <a:r>
              <a:rPr lang="en-US" sz="3200" dirty="0" smtClean="0"/>
              <a:t>18. When recession gets prolonged resulting to a slump in business activity, we are in a period of _____.</a:t>
            </a:r>
          </a:p>
          <a:p>
            <a:pPr marL="739775" lvl="0" indent="-630238">
              <a:buNone/>
            </a:pPr>
            <a:endParaRPr lang="en-US" sz="3200" dirty="0" smtClean="0"/>
          </a:p>
          <a:p>
            <a:pPr marL="1030288" indent="-290513">
              <a:buFont typeface="+mj-lt"/>
              <a:buAutoNum type="alphaUcPeriod"/>
            </a:pPr>
            <a:r>
              <a:rPr lang="en-US" sz="3200" dirty="0" smtClean="0"/>
              <a:t>economic boom</a:t>
            </a:r>
          </a:p>
          <a:p>
            <a:pPr marL="1030288" lvl="0" indent="-290513">
              <a:buFont typeface="+mj-lt"/>
              <a:buAutoNum type="alphaUcPeriod"/>
            </a:pPr>
            <a:r>
              <a:rPr lang="en-US" sz="3200" dirty="0" smtClean="0"/>
              <a:t>deflation</a:t>
            </a:r>
          </a:p>
          <a:p>
            <a:pPr marL="1030288" lvl="0" indent="-290513">
              <a:buFont typeface="+mj-lt"/>
              <a:buAutoNum type="alphaUcPeriod"/>
            </a:pPr>
            <a:r>
              <a:rPr lang="en-US" sz="3200" dirty="0" smtClean="0"/>
              <a:t>depression</a:t>
            </a:r>
          </a:p>
          <a:p>
            <a:pPr marL="1030288" lvl="0" indent="-290513">
              <a:buFont typeface="+mj-lt"/>
              <a:buAutoNum type="alphaUcPeriod"/>
            </a:pPr>
            <a:r>
              <a:rPr lang="en-US" sz="3200" dirty="0" smtClean="0"/>
              <a:t>inflation</a:t>
            </a:r>
          </a:p>
          <a:p>
            <a:pPr marL="739775" indent="-630238">
              <a:buFont typeface="+mj-lt"/>
              <a:buAutoNum type="alphaUcPeriod"/>
            </a:pPr>
            <a:endParaRPr lang="en-US" sz="3200" dirty="0" smtClean="0"/>
          </a:p>
          <a:p>
            <a:pPr marL="739775" lvl="0" indent="-630238">
              <a:buNone/>
            </a:pPr>
            <a:endParaRPr lang="en-US" sz="3200" dirty="0" smtClean="0"/>
          </a:p>
          <a:p>
            <a:pPr>
              <a:buNone/>
            </a:pPr>
            <a:endParaRPr lang="en-US" sz="3200" dirty="0"/>
          </a:p>
        </p:txBody>
      </p:sp>
      <p:pic>
        <p:nvPicPr>
          <p:cNvPr id="4" name="Picture 4" descr="C:\Documents and Settings\Administrator\Desktop\hand_right.gif"/>
          <p:cNvPicPr>
            <a:picLocks noChangeAspect="1" noChangeArrowheads="1" noCrop="1"/>
          </p:cNvPicPr>
          <p:nvPr/>
        </p:nvPicPr>
        <p:blipFill>
          <a:blip r:embed="rId3">
            <a:extLst>
              <a:ext uri="{28A0092B-C50C-407E-A947-70E740481C1C}">
                <a14:useLocalDpi xmlns="" xmlns:a14="http://schemas.microsoft.com/office/drawing/2010/main" val="0"/>
              </a:ext>
            </a:extLst>
          </a:blip>
          <a:srcRect/>
          <a:stretch>
            <a:fillRect/>
          </a:stretch>
        </p:blipFill>
        <p:spPr bwMode="auto">
          <a:xfrm rot="21434720">
            <a:off x="619184" y="42093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685800"/>
            <a:ext cx="8229600" cy="6477000"/>
          </a:xfrm>
        </p:spPr>
        <p:txBody>
          <a:bodyPr>
            <a:normAutofit fontScale="92500" lnSpcReduction="20000"/>
          </a:bodyPr>
          <a:lstStyle/>
          <a:p>
            <a:r>
              <a:rPr lang="en-US" dirty="0" smtClean="0"/>
              <a:t>Economic Boom -A</a:t>
            </a:r>
            <a:r>
              <a:rPr lang="en-US" dirty="0"/>
              <a:t> period of significant output within a population. The period is marked by productivity increases, sales increases, wage increases and rising demand</a:t>
            </a:r>
            <a:r>
              <a:rPr lang="en-US" dirty="0" smtClean="0"/>
              <a:t>.</a:t>
            </a:r>
          </a:p>
          <a:p>
            <a:r>
              <a:rPr lang="en-US" dirty="0" smtClean="0"/>
              <a:t>Deflation </a:t>
            </a:r>
            <a:r>
              <a:rPr lang="en-US" dirty="0"/>
              <a:t>- Downturn in an economic cycle caused by circumstances, or brought about by government policies.</a:t>
            </a:r>
          </a:p>
          <a:p>
            <a:r>
              <a:rPr lang="en-US" dirty="0" smtClean="0"/>
              <a:t>Depression - </a:t>
            </a:r>
            <a:r>
              <a:rPr lang="en-US" dirty="0"/>
              <a:t>A state of the economy resulting from an extended period of negative economic activity as measured by GDP. </a:t>
            </a:r>
            <a:endParaRPr lang="en-US" dirty="0" smtClean="0"/>
          </a:p>
          <a:p>
            <a:r>
              <a:rPr lang="en-US" dirty="0" smtClean="0"/>
              <a:t>Inflation - </a:t>
            </a:r>
            <a:r>
              <a:rPr lang="en-US" dirty="0"/>
              <a:t>A sustained, rapid increase in prices, as measured by some broad index (such as Consumer Price Index) over months or years, and mirrored in the correspondingly decreasing purchasing power of the currency. </a:t>
            </a:r>
            <a:br>
              <a:rPr lang="en-US" dirty="0"/>
            </a:br>
            <a:r>
              <a:rPr lang="en-US" dirty="0"/>
              <a:t/>
            </a:r>
            <a:br>
              <a:rPr lang="en-US" dirty="0"/>
            </a:br>
            <a:r>
              <a:rPr lang="en-US" dirty="0"/>
              <a:t/>
            </a:r>
            <a:br>
              <a:rPr lang="en-US" dirty="0"/>
            </a:br>
            <a:r>
              <a:rPr lang="en-US" dirty="0"/>
              <a:t/>
            </a:r>
            <a:br>
              <a:rPr lang="en-US" dirty="0"/>
            </a:br>
            <a:endParaRPr lang="en-US" dirty="0"/>
          </a:p>
        </p:txBody>
      </p:sp>
    </p:spTree>
    <p:extLst>
      <p:ext uri="{BB962C8B-B14F-4D97-AF65-F5344CB8AC3E}">
        <p14:creationId xmlns="" xmlns:p14="http://schemas.microsoft.com/office/powerpoint/2010/main" val="3390311831"/>
      </p:ext>
    </p:extLst>
  </p:cSld>
  <p:clrMapOvr>
    <a:masterClrMapping/>
  </p:clrMapOvr>
  <p:transition>
    <p:push/>
  </p:transition>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838200"/>
            <a:ext cx="8229600" cy="4525963"/>
          </a:xfrm>
        </p:spPr>
        <p:txBody>
          <a:bodyPr>
            <a:normAutofit/>
          </a:bodyPr>
          <a:lstStyle/>
          <a:p>
            <a:pPr marL="739775" lvl="0" indent="-630238">
              <a:buNone/>
            </a:pPr>
            <a:r>
              <a:rPr lang="en-US" sz="3200" dirty="0" smtClean="0"/>
              <a:t>19. Which economic system is based on free enterprise?</a:t>
            </a:r>
          </a:p>
          <a:p>
            <a:pPr marL="739775" lvl="0" indent="-630238">
              <a:buNone/>
            </a:pPr>
            <a:endParaRPr lang="en-US" sz="3200" dirty="0" smtClean="0"/>
          </a:p>
          <a:p>
            <a:pPr marL="1030288" lvl="0" indent="-290513">
              <a:buFont typeface="+mj-lt"/>
              <a:buAutoNum type="alphaUcPeriod"/>
            </a:pPr>
            <a:r>
              <a:rPr lang="en-US" sz="3200" dirty="0" smtClean="0"/>
              <a:t>Globalism</a:t>
            </a:r>
          </a:p>
          <a:p>
            <a:pPr marL="1030288" lvl="0" indent="-290513">
              <a:buFont typeface="+mj-lt"/>
              <a:buAutoNum type="alphaUcPeriod"/>
            </a:pPr>
            <a:r>
              <a:rPr lang="en-US" sz="3200" dirty="0" smtClean="0"/>
              <a:t>Mixed economies </a:t>
            </a:r>
          </a:p>
          <a:p>
            <a:pPr marL="1030288" lvl="0" indent="-290513">
              <a:buFont typeface="+mj-lt"/>
              <a:buAutoNum type="alphaUcPeriod"/>
            </a:pPr>
            <a:r>
              <a:rPr lang="en-US" sz="3200" dirty="0" smtClean="0"/>
              <a:t>Capitalism</a:t>
            </a:r>
          </a:p>
          <a:p>
            <a:pPr marL="1030288" indent="-290513">
              <a:buFont typeface="+mj-lt"/>
              <a:buAutoNum type="alphaUcPeriod"/>
            </a:pPr>
            <a:r>
              <a:rPr lang="en-US" sz="3200" dirty="0" smtClean="0"/>
              <a:t>Communism</a:t>
            </a:r>
          </a:p>
          <a:p>
            <a:pPr marL="739775" lvl="0" indent="-630238">
              <a:buNone/>
            </a:pPr>
            <a:endParaRPr lang="en-US" sz="3200" dirty="0" smtClean="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619184" y="3675974"/>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381000"/>
            <a:ext cx="8229600" cy="4525963"/>
          </a:xfrm>
        </p:spPr>
        <p:txBody>
          <a:bodyPr>
            <a:noAutofit/>
          </a:bodyPr>
          <a:lstStyle/>
          <a:p>
            <a:pPr marL="739775" lvl="0" indent="-630238">
              <a:buNone/>
            </a:pPr>
            <a:r>
              <a:rPr lang="en-US" sz="3200" dirty="0" smtClean="0"/>
              <a:t>20. Which type of society asserts that all classes should be equal and that eventually all classes would disappear?</a:t>
            </a:r>
          </a:p>
          <a:p>
            <a:pPr marL="739775" lvl="0" indent="-630238">
              <a:buNone/>
            </a:pPr>
            <a:endParaRPr lang="en-US" sz="3200" dirty="0" smtClean="0"/>
          </a:p>
          <a:p>
            <a:pPr marL="1030288" lvl="0" indent="-290513">
              <a:buFont typeface="+mj-lt"/>
              <a:buAutoNum type="alphaUcPeriod"/>
            </a:pPr>
            <a:r>
              <a:rPr lang="en-US" sz="3200" dirty="0" smtClean="0"/>
              <a:t>Fascist</a:t>
            </a:r>
          </a:p>
          <a:p>
            <a:pPr marL="1030288" lvl="0" indent="-290513">
              <a:buFont typeface="+mj-lt"/>
              <a:buAutoNum type="alphaUcPeriod"/>
            </a:pPr>
            <a:r>
              <a:rPr lang="en-US" sz="3200" dirty="0" smtClean="0"/>
              <a:t>Capitalistic</a:t>
            </a:r>
          </a:p>
          <a:p>
            <a:pPr marL="1030288" lvl="0" indent="-290513">
              <a:buFont typeface="+mj-lt"/>
              <a:buAutoNum type="alphaUcPeriod"/>
            </a:pPr>
            <a:r>
              <a:rPr lang="en-US" sz="3200" dirty="0" smtClean="0"/>
              <a:t>Feudalistic</a:t>
            </a:r>
          </a:p>
          <a:p>
            <a:pPr marL="1030288" lvl="0" indent="-290513">
              <a:buFont typeface="+mj-lt"/>
              <a:buAutoNum type="alphaUcPeriod"/>
            </a:pPr>
            <a:r>
              <a:rPr lang="en-US" sz="3200" dirty="0" smtClean="0"/>
              <a:t>Communistic</a:t>
            </a:r>
          </a:p>
          <a:p>
            <a:pPr>
              <a:buNone/>
            </a:pPr>
            <a:endParaRPr lang="en-US" sz="32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619186" y="47427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33400" y="685800"/>
            <a:ext cx="8229600" cy="5715000"/>
          </a:xfrm>
        </p:spPr>
        <p:txBody>
          <a:bodyPr/>
          <a:lstStyle/>
          <a:p>
            <a:r>
              <a:rPr lang="en-US" dirty="0"/>
              <a:t>Fascists seek to unify their nation through a totalitarian state that promotes the mass mobilization of the national </a:t>
            </a:r>
            <a:r>
              <a:rPr lang="en-US" dirty="0" smtClean="0"/>
              <a:t>community.</a:t>
            </a:r>
          </a:p>
          <a:p>
            <a:r>
              <a:rPr lang="en-US" dirty="0" smtClean="0"/>
              <a:t>Capitalism </a:t>
            </a:r>
            <a:r>
              <a:rPr lang="en-US" dirty="0"/>
              <a:t>is an economic system in which capital assets are privately owned and goods and services are produced for profit in a market economy</a:t>
            </a:r>
            <a:r>
              <a:rPr lang="en-US" dirty="0" smtClean="0"/>
              <a:t>.</a:t>
            </a:r>
          </a:p>
          <a:p>
            <a:r>
              <a:rPr lang="en-US" dirty="0" smtClean="0"/>
              <a:t>Feudalistic – political system based on landlord-vassal relations</a:t>
            </a:r>
          </a:p>
          <a:p>
            <a:r>
              <a:rPr lang="en-US" dirty="0" smtClean="0"/>
              <a:t>Communism – classless society</a:t>
            </a:r>
            <a:endParaRPr lang="en-US" dirty="0"/>
          </a:p>
        </p:txBody>
      </p:sp>
    </p:spTree>
    <p:extLst>
      <p:ext uri="{BB962C8B-B14F-4D97-AF65-F5344CB8AC3E}">
        <p14:creationId xmlns="" xmlns:p14="http://schemas.microsoft.com/office/powerpoint/2010/main" val="444519099"/>
      </p:ext>
    </p:extLst>
  </p:cSld>
  <p:clrMapOvr>
    <a:masterClrMapping/>
  </p:clrMapOvr>
  <p:transition>
    <p:push/>
  </p:transition>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533400"/>
            <a:ext cx="8229600" cy="4525963"/>
          </a:xfrm>
        </p:spPr>
        <p:txBody>
          <a:bodyPr>
            <a:noAutofit/>
          </a:bodyPr>
          <a:lstStyle/>
          <a:p>
            <a:pPr marL="739775" lvl="0" indent="-630238">
              <a:buNone/>
            </a:pPr>
            <a:r>
              <a:rPr lang="en-US" sz="3200" dirty="0" smtClean="0"/>
              <a:t>21. The </a:t>
            </a:r>
            <a:r>
              <a:rPr lang="en-US" sz="3200" dirty="0" err="1" smtClean="0"/>
              <a:t>Tasadays</a:t>
            </a:r>
            <a:r>
              <a:rPr lang="en-US" sz="3200" dirty="0" smtClean="0"/>
              <a:t> used caves for shelter while the </a:t>
            </a:r>
            <a:r>
              <a:rPr lang="en-US" sz="3200" dirty="0" err="1" smtClean="0"/>
              <a:t>Negritos</a:t>
            </a:r>
            <a:r>
              <a:rPr lang="en-US" sz="3200" dirty="0" smtClean="0"/>
              <a:t> construct dwellings made of stick driven into the ground and thatched with leaves. To which can you attribute the difference in shelter?</a:t>
            </a:r>
          </a:p>
          <a:p>
            <a:pPr marL="739775" lvl="0" indent="-630238">
              <a:buNone/>
            </a:pPr>
            <a:endParaRPr lang="en-US" sz="3200" dirty="0" smtClean="0"/>
          </a:p>
          <a:p>
            <a:pPr marL="1030288" lvl="0" indent="-290513">
              <a:buFont typeface="+mj-lt"/>
              <a:buAutoNum type="alphaUcPeriod"/>
            </a:pPr>
            <a:r>
              <a:rPr lang="en-US" sz="3200" dirty="0" smtClean="0"/>
              <a:t>Exposure to society </a:t>
            </a:r>
          </a:p>
          <a:p>
            <a:pPr marL="1030288" lvl="0" indent="-290513">
              <a:buFont typeface="+mj-lt"/>
              <a:buAutoNum type="alphaUcPeriod"/>
            </a:pPr>
            <a:r>
              <a:rPr lang="en-US" sz="3200" dirty="0" smtClean="0"/>
              <a:t>Gender difference </a:t>
            </a:r>
          </a:p>
          <a:p>
            <a:pPr marL="1030288" lvl="0" indent="-290513">
              <a:buFont typeface="+mj-lt"/>
              <a:buAutoNum type="alphaUcPeriod"/>
            </a:pPr>
            <a:r>
              <a:rPr lang="en-US" sz="3200" dirty="0" smtClean="0"/>
              <a:t>Availability of materials</a:t>
            </a:r>
          </a:p>
          <a:p>
            <a:pPr marL="1030288" lvl="0" indent="-290513">
              <a:buFont typeface="+mj-lt"/>
              <a:buAutoNum type="alphaUcPeriod"/>
            </a:pPr>
            <a:r>
              <a:rPr lang="en-US" sz="3200" dirty="0" smtClean="0"/>
              <a:t>Human intelligence</a:t>
            </a:r>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542985" y="5352374"/>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371600"/>
            <a:ext cx="8229600" cy="4525963"/>
          </a:xfrm>
        </p:spPr>
        <p:txBody>
          <a:bodyPr/>
          <a:lstStyle/>
          <a:p>
            <a:pPr marL="739775" lvl="0" indent="-630238">
              <a:buNone/>
            </a:pPr>
            <a:r>
              <a:rPr lang="en-US" dirty="0" smtClean="0"/>
              <a:t>22. </a:t>
            </a:r>
            <a:r>
              <a:rPr lang="en-US" sz="3200" dirty="0" smtClean="0"/>
              <a:t>To which Filipino trait does the German </a:t>
            </a:r>
            <a:r>
              <a:rPr lang="en-US" sz="3200" dirty="0" err="1" smtClean="0"/>
              <a:t>gemeinschaft</a:t>
            </a:r>
            <a:r>
              <a:rPr lang="en-US" sz="3200" dirty="0" smtClean="0"/>
              <a:t> correspond?</a:t>
            </a:r>
          </a:p>
          <a:p>
            <a:pPr marL="739775" lvl="0" indent="-630238">
              <a:buNone/>
            </a:pPr>
            <a:endParaRPr lang="en-US" dirty="0" smtClean="0"/>
          </a:p>
          <a:p>
            <a:pPr marL="1030288" indent="-290513">
              <a:buFont typeface="+mj-lt"/>
              <a:buAutoNum type="alphaUcPeriod"/>
            </a:pPr>
            <a:r>
              <a:rPr lang="en-US" dirty="0" smtClean="0"/>
              <a:t>Hospitality</a:t>
            </a:r>
          </a:p>
          <a:p>
            <a:pPr marL="1030288" lvl="0" indent="-290513">
              <a:buFont typeface="+mj-lt"/>
              <a:buAutoNum type="alphaUcPeriod"/>
            </a:pPr>
            <a:r>
              <a:rPr lang="en-US" dirty="0" err="1" smtClean="0"/>
              <a:t>Utang</a:t>
            </a:r>
            <a:r>
              <a:rPr lang="en-US" dirty="0" smtClean="0"/>
              <a:t> </a:t>
            </a:r>
            <a:r>
              <a:rPr lang="en-US" dirty="0" err="1" smtClean="0"/>
              <a:t>na</a:t>
            </a:r>
            <a:r>
              <a:rPr lang="en-US" dirty="0" smtClean="0"/>
              <a:t> </a:t>
            </a:r>
            <a:r>
              <a:rPr lang="en-US" dirty="0" err="1" smtClean="0"/>
              <a:t>loob</a:t>
            </a:r>
            <a:endParaRPr lang="en-US" dirty="0" smtClean="0"/>
          </a:p>
          <a:p>
            <a:pPr marL="1030288" indent="-290513">
              <a:buFont typeface="+mj-lt"/>
              <a:buAutoNum type="alphaUcPeriod"/>
            </a:pPr>
            <a:r>
              <a:rPr lang="en-US" dirty="0" err="1" smtClean="0"/>
              <a:t>Pakikisama</a:t>
            </a:r>
            <a:endParaRPr lang="en-US" dirty="0" smtClean="0"/>
          </a:p>
          <a:p>
            <a:pPr marL="1030288" indent="-290513">
              <a:buFont typeface="+mj-lt"/>
              <a:buAutoNum type="alphaUcPeriod"/>
            </a:pPr>
            <a:r>
              <a:rPr lang="en-US" dirty="0" err="1" smtClean="0"/>
              <a:t>Bayanihan</a:t>
            </a:r>
            <a:r>
              <a:rPr lang="en-US" dirty="0" smtClean="0"/>
              <a:t> spirit</a:t>
            </a:r>
          </a:p>
          <a:p>
            <a:pPr marL="739775" lvl="0" indent="-630238">
              <a:buNone/>
            </a:pPr>
            <a:endParaRPr lang="en-US" dirty="0" smtClean="0"/>
          </a:p>
          <a:p>
            <a:pPr>
              <a:buNone/>
            </a:pPr>
            <a:endParaRPr lang="en-US" dirty="0"/>
          </a:p>
        </p:txBody>
      </p:sp>
      <p:pic>
        <p:nvPicPr>
          <p:cNvPr id="4" name="Picture 4" descr="C:\Documents and Settings\Administrator\Desktop\hand_right.gif"/>
          <p:cNvPicPr>
            <a:picLocks noChangeAspect="1" noChangeArrowheads="1" noCrop="1"/>
          </p:cNvPicPr>
          <p:nvPr/>
        </p:nvPicPr>
        <p:blipFill>
          <a:blip r:embed="rId3">
            <a:extLst>
              <a:ext uri="{28A0092B-C50C-407E-A947-70E740481C1C}">
                <a14:useLocalDpi xmlns="" xmlns:a14="http://schemas.microsoft.com/office/drawing/2010/main" val="0"/>
              </a:ext>
            </a:extLst>
          </a:blip>
          <a:srcRect/>
          <a:stretch>
            <a:fillRect/>
          </a:stretch>
        </p:blipFill>
        <p:spPr bwMode="auto">
          <a:xfrm rot="21434720">
            <a:off x="695385" y="4437974"/>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err="1" smtClean="0"/>
              <a:t>Gemeinschaft</a:t>
            </a:r>
            <a:r>
              <a:rPr lang="en-US" dirty="0"/>
              <a:t> </a:t>
            </a:r>
            <a:r>
              <a:rPr lang="en-US" dirty="0" smtClean="0"/>
              <a:t>(commonly </a:t>
            </a:r>
            <a:r>
              <a:rPr lang="en-US" dirty="0"/>
              <a:t>translated as "community</a:t>
            </a:r>
            <a:r>
              <a:rPr lang="en-US" dirty="0" smtClean="0"/>
              <a:t>") - </a:t>
            </a:r>
            <a:r>
              <a:rPr lang="en-US" dirty="0"/>
              <a:t>personal social interactions, roles, values, and beliefs based on such interactions </a:t>
            </a:r>
            <a:endParaRPr lang="en-US" dirty="0" smtClean="0"/>
          </a:p>
          <a:p>
            <a:endParaRPr lang="en-US" dirty="0" smtClean="0"/>
          </a:p>
          <a:p>
            <a:r>
              <a:rPr lang="en-US" dirty="0" err="1"/>
              <a:t>Gesellschaft</a:t>
            </a:r>
            <a:r>
              <a:rPr lang="en-US" dirty="0"/>
              <a:t> commonly translated as "society</a:t>
            </a:r>
            <a:r>
              <a:rPr lang="en-US" dirty="0" smtClean="0"/>
              <a:t>") -indirect </a:t>
            </a:r>
            <a:r>
              <a:rPr lang="en-US" dirty="0"/>
              <a:t>interactions, impersonal roles, formal values, and beliefs based on such </a:t>
            </a:r>
            <a:r>
              <a:rPr lang="en-US" dirty="0" smtClean="0"/>
              <a:t>interactions</a:t>
            </a:r>
            <a:endParaRPr lang="en-US" dirty="0"/>
          </a:p>
        </p:txBody>
      </p:sp>
      <p:sp>
        <p:nvSpPr>
          <p:cNvPr id="3" name="Title 2"/>
          <p:cNvSpPr>
            <a:spLocks noGrp="1"/>
          </p:cNvSpPr>
          <p:nvPr>
            <p:ph type="title"/>
          </p:nvPr>
        </p:nvSpPr>
        <p:spPr/>
        <p:txBody>
          <a:bodyPr/>
          <a:lstStyle/>
          <a:p>
            <a:endParaRPr lang="en-US" dirty="0"/>
          </a:p>
        </p:txBody>
      </p:sp>
    </p:spTree>
    <p:extLst>
      <p:ext uri="{BB962C8B-B14F-4D97-AF65-F5344CB8AC3E}">
        <p14:creationId xmlns="" xmlns:p14="http://schemas.microsoft.com/office/powerpoint/2010/main" val="1085872240"/>
      </p:ext>
    </p:extLst>
  </p:cSld>
  <p:clrMapOvr>
    <a:masterClrMapping/>
  </p:clrMapOvr>
  <p:transition>
    <p:push/>
  </p:transition>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990600"/>
            <a:ext cx="8229600" cy="4525963"/>
          </a:xfrm>
        </p:spPr>
        <p:txBody>
          <a:bodyPr>
            <a:normAutofit/>
          </a:bodyPr>
          <a:lstStyle/>
          <a:p>
            <a:pPr marL="798513" lvl="0" indent="-688975">
              <a:buNone/>
            </a:pPr>
            <a:r>
              <a:rPr lang="en-US" sz="3200" dirty="0" smtClean="0"/>
              <a:t>23. The Filipino’s </a:t>
            </a:r>
            <a:r>
              <a:rPr lang="en-US" sz="3200" dirty="0" err="1" smtClean="0"/>
              <a:t>ningas</a:t>
            </a:r>
            <a:r>
              <a:rPr lang="en-US" sz="3200" dirty="0" smtClean="0"/>
              <a:t> cogon attitude points to his _______.</a:t>
            </a:r>
          </a:p>
          <a:p>
            <a:pPr marL="798513" lvl="0" indent="-688975">
              <a:buNone/>
            </a:pPr>
            <a:endParaRPr lang="en-US" sz="3200" dirty="0" smtClean="0"/>
          </a:p>
          <a:p>
            <a:pPr marL="1030288" indent="-290513">
              <a:buFont typeface="+mj-lt"/>
              <a:buAutoNum type="alphaUcPeriod"/>
            </a:pPr>
            <a:r>
              <a:rPr lang="en-US" sz="3200" dirty="0" smtClean="0"/>
              <a:t>Lack of reflection</a:t>
            </a:r>
          </a:p>
          <a:p>
            <a:pPr marL="1030288" lvl="0" indent="-290513">
              <a:buFont typeface="+mj-lt"/>
              <a:buAutoNum type="alphaUcPeriod"/>
            </a:pPr>
            <a:r>
              <a:rPr lang="en-US" sz="3200" dirty="0" smtClean="0"/>
              <a:t>Lack of discipline</a:t>
            </a:r>
          </a:p>
          <a:p>
            <a:pPr marL="1030288" indent="-290513">
              <a:buFont typeface="+mj-lt"/>
              <a:buAutoNum type="alphaUcPeriod"/>
            </a:pPr>
            <a:r>
              <a:rPr lang="en-US" sz="3200" dirty="0" smtClean="0"/>
              <a:t>Passivity</a:t>
            </a:r>
          </a:p>
          <a:p>
            <a:pPr marL="1030288" indent="-290513">
              <a:buFont typeface="+mj-lt"/>
              <a:buAutoNum type="alphaUcPeriod"/>
            </a:pPr>
            <a:r>
              <a:rPr lang="en-US" sz="3200" dirty="0" smtClean="0"/>
              <a:t>Colonial mentality</a:t>
            </a:r>
          </a:p>
          <a:p>
            <a:pPr marL="798513" lvl="0" indent="-688975">
              <a:buNone/>
            </a:pPr>
            <a:endParaRPr lang="en-US" sz="3200" dirty="0" smtClean="0"/>
          </a:p>
          <a:p>
            <a:pPr>
              <a:buNone/>
            </a:pPr>
            <a:endParaRPr lang="en-US" sz="32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542984" y="3294974"/>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1000" y="609600"/>
            <a:ext cx="8229600" cy="4525963"/>
          </a:xfrm>
        </p:spPr>
        <p:txBody>
          <a:bodyPr>
            <a:noAutofit/>
          </a:bodyPr>
          <a:lstStyle/>
          <a:p>
            <a:pPr marL="739775" lvl="0" indent="-630238">
              <a:buNone/>
            </a:pPr>
            <a:r>
              <a:rPr lang="en-US" sz="3200" dirty="0" smtClean="0"/>
              <a:t>24. If it is the “whom you know and not what you know” policy that governs hiring of government personnel, this proves that the Filipino is _______ in his orientation.</a:t>
            </a:r>
          </a:p>
          <a:p>
            <a:pPr marL="739775" lvl="0" indent="-630238">
              <a:buNone/>
            </a:pPr>
            <a:endParaRPr lang="en-US" sz="3200" dirty="0" smtClean="0"/>
          </a:p>
          <a:p>
            <a:pPr marL="1030288" lvl="0" indent="-290513">
              <a:buFont typeface="+mj-lt"/>
              <a:buAutoNum type="alphaUcPeriod"/>
            </a:pPr>
            <a:r>
              <a:rPr lang="en-US" sz="3200" dirty="0" smtClean="0"/>
              <a:t>Universalistic</a:t>
            </a:r>
          </a:p>
          <a:p>
            <a:pPr marL="1030288" lvl="0" indent="-290513">
              <a:buFont typeface="+mj-lt"/>
              <a:buAutoNum type="alphaUcPeriod"/>
            </a:pPr>
            <a:r>
              <a:rPr lang="en-US" sz="3200" dirty="0" smtClean="0"/>
              <a:t>Rationalistic</a:t>
            </a:r>
          </a:p>
          <a:p>
            <a:pPr marL="1030288" lvl="0" indent="-290513">
              <a:buFont typeface="+mj-lt"/>
              <a:buAutoNum type="alphaUcPeriod"/>
            </a:pPr>
            <a:r>
              <a:rPr lang="en-US" sz="3200" dirty="0" smtClean="0"/>
              <a:t>Particularistic</a:t>
            </a:r>
          </a:p>
          <a:p>
            <a:pPr marL="1030288" lvl="0" indent="-290513">
              <a:buFont typeface="+mj-lt"/>
              <a:buAutoNum type="alphaUcPeriod"/>
            </a:pPr>
            <a:r>
              <a:rPr lang="en-US" sz="3200" dirty="0" smtClean="0"/>
              <a:t>Non-rationalistic</a:t>
            </a:r>
          </a:p>
          <a:p>
            <a:pPr>
              <a:buNone/>
            </a:pPr>
            <a:endParaRPr lang="en-US" sz="3200" dirty="0"/>
          </a:p>
        </p:txBody>
      </p:sp>
      <p:pic>
        <p:nvPicPr>
          <p:cNvPr id="4" name="Picture 4" descr="C:\Documents and Settings\Administrator\Desktop\hand_right.gif"/>
          <p:cNvPicPr>
            <a:picLocks noChangeAspect="1" noChangeArrowheads="1" noCrop="1"/>
          </p:cNvPicPr>
          <p:nvPr/>
        </p:nvPicPr>
        <p:blipFill>
          <a:blip r:embed="rId3">
            <a:extLst>
              <a:ext uri="{28A0092B-C50C-407E-A947-70E740481C1C}">
                <a14:useLocalDpi xmlns="" xmlns:a14="http://schemas.microsoft.com/office/drawing/2010/main" val="0"/>
              </a:ext>
            </a:extLst>
          </a:blip>
          <a:srcRect/>
          <a:stretch>
            <a:fillRect/>
          </a:stretch>
        </p:blipFill>
        <p:spPr bwMode="auto">
          <a:xfrm rot="21434720">
            <a:off x="542985" y="4971374"/>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1000" y="533400"/>
            <a:ext cx="8229600" cy="4525963"/>
          </a:xfrm>
        </p:spPr>
        <p:txBody>
          <a:bodyPr>
            <a:noAutofit/>
          </a:bodyPr>
          <a:lstStyle/>
          <a:p>
            <a:pPr marL="739775" lvl="0" indent="-630238">
              <a:buNone/>
            </a:pPr>
            <a:r>
              <a:rPr lang="en-US" sz="3200" dirty="0" smtClean="0"/>
              <a:t>25. Why is every government employee required to submit an annual SALN?</a:t>
            </a:r>
          </a:p>
          <a:p>
            <a:pPr marL="739775" lvl="0" indent="-630238">
              <a:buNone/>
            </a:pPr>
            <a:endParaRPr lang="en-US" sz="3200" dirty="0" smtClean="0"/>
          </a:p>
          <a:p>
            <a:pPr marL="1030288" lvl="0" indent="-290513">
              <a:buFont typeface="+mj-lt"/>
              <a:buAutoNum type="alphaUcPeriod"/>
            </a:pPr>
            <a:r>
              <a:rPr lang="en-US" sz="3200" dirty="0" smtClean="0"/>
              <a:t>To be objective in performance evaluation</a:t>
            </a:r>
          </a:p>
          <a:p>
            <a:pPr marL="1030288" lvl="0" indent="-290513">
              <a:buFont typeface="+mj-lt"/>
              <a:buAutoNum type="alphaUcPeriod"/>
            </a:pPr>
            <a:r>
              <a:rPr lang="en-US" sz="3200" dirty="0" smtClean="0"/>
              <a:t>To safeguard the people against corruption</a:t>
            </a:r>
          </a:p>
          <a:p>
            <a:pPr marL="1030288" lvl="0" indent="-290513">
              <a:buFont typeface="+mj-lt"/>
              <a:buAutoNum type="alphaUcPeriod"/>
            </a:pPr>
            <a:r>
              <a:rPr lang="en-US" sz="3200" dirty="0" smtClean="0"/>
              <a:t>To determine who deserves promotion</a:t>
            </a:r>
          </a:p>
          <a:p>
            <a:pPr marL="1030288" lvl="0" indent="-290513">
              <a:buFont typeface="+mj-lt"/>
              <a:buAutoNum type="alphaUcPeriod"/>
            </a:pPr>
            <a:r>
              <a:rPr lang="en-US" sz="3200" dirty="0" smtClean="0"/>
              <a:t>To determine who is fit for the job.</a:t>
            </a:r>
          </a:p>
          <a:p>
            <a:pPr>
              <a:buNone/>
            </a:pPr>
            <a:endParaRPr lang="en-US" sz="32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466785" y="3294974"/>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2624328"/>
            <a:ext cx="8229600" cy="1566672"/>
          </a:xfrm>
        </p:spPr>
        <p:txBody>
          <a:bodyPr>
            <a:normAutofit/>
          </a:bodyPr>
          <a:lstStyle/>
          <a:p>
            <a:r>
              <a:rPr lang="en-US" sz="3200" dirty="0" smtClean="0"/>
              <a:t>SALN – Statement of </a:t>
            </a:r>
            <a:r>
              <a:rPr lang="en-US" sz="3200" dirty="0" err="1" smtClean="0"/>
              <a:t>Assests</a:t>
            </a:r>
            <a:r>
              <a:rPr lang="en-US" sz="3200" dirty="0" smtClean="0"/>
              <a:t>, Liabilities and Net Worth</a:t>
            </a:r>
            <a:endParaRPr lang="en-US" sz="3200" dirty="0"/>
          </a:p>
        </p:txBody>
      </p:sp>
      <p:sp>
        <p:nvSpPr>
          <p:cNvPr id="3" name="Title 2"/>
          <p:cNvSpPr>
            <a:spLocks noGrp="1"/>
          </p:cNvSpPr>
          <p:nvPr>
            <p:ph type="title"/>
          </p:nvPr>
        </p:nvSpPr>
        <p:spPr/>
        <p:txBody>
          <a:bodyPr/>
          <a:lstStyle/>
          <a:p>
            <a:endParaRPr lang="en-US" dirty="0"/>
          </a:p>
        </p:txBody>
      </p:sp>
    </p:spTree>
    <p:extLst>
      <p:ext uri="{BB962C8B-B14F-4D97-AF65-F5344CB8AC3E}">
        <p14:creationId xmlns="" xmlns:p14="http://schemas.microsoft.com/office/powerpoint/2010/main" val="2445965965"/>
      </p:ext>
    </p:extLst>
  </p:cSld>
  <p:clrMapOvr>
    <a:masterClrMapping/>
  </p:clrMapOvr>
  <p:transition>
    <p:push/>
  </p:transition>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33400" y="914400"/>
            <a:ext cx="8229600" cy="4525963"/>
          </a:xfrm>
        </p:spPr>
        <p:txBody>
          <a:bodyPr>
            <a:normAutofit/>
          </a:bodyPr>
          <a:lstStyle/>
          <a:p>
            <a:pPr marL="739775" lvl="0" indent="-630238">
              <a:buNone/>
            </a:pPr>
            <a:r>
              <a:rPr lang="en-US" sz="3200" dirty="0" smtClean="0"/>
              <a:t>26. The mummies of </a:t>
            </a:r>
            <a:r>
              <a:rPr lang="en-US" sz="3200" dirty="0" err="1" smtClean="0"/>
              <a:t>Kabayan</a:t>
            </a:r>
            <a:r>
              <a:rPr lang="en-US" sz="3200" dirty="0" smtClean="0"/>
              <a:t>, </a:t>
            </a:r>
            <a:r>
              <a:rPr lang="en-US" sz="3200" dirty="0" err="1" smtClean="0"/>
              <a:t>Benguet</a:t>
            </a:r>
            <a:r>
              <a:rPr lang="en-US" sz="3200" dirty="0" smtClean="0"/>
              <a:t> must be an influence of the ancient _____.</a:t>
            </a:r>
          </a:p>
          <a:p>
            <a:pPr marL="739775" lvl="0" indent="-630238">
              <a:buNone/>
            </a:pPr>
            <a:endParaRPr lang="en-US" sz="3200" dirty="0" smtClean="0"/>
          </a:p>
          <a:p>
            <a:pPr marL="1030288" lvl="0" indent="-290513">
              <a:buFont typeface="+mj-lt"/>
              <a:buAutoNum type="alphaUcPeriod"/>
            </a:pPr>
            <a:r>
              <a:rPr lang="en-US" sz="3200" dirty="0" smtClean="0"/>
              <a:t>Chinese</a:t>
            </a:r>
          </a:p>
          <a:p>
            <a:pPr marL="1030288" lvl="0" indent="-290513">
              <a:buFont typeface="+mj-lt"/>
              <a:buAutoNum type="alphaUcPeriod"/>
            </a:pPr>
            <a:r>
              <a:rPr lang="en-US" sz="3200" dirty="0" smtClean="0"/>
              <a:t>Hindus</a:t>
            </a:r>
          </a:p>
          <a:p>
            <a:pPr marL="1030288" indent="-290513">
              <a:buFont typeface="+mj-lt"/>
              <a:buAutoNum type="alphaUcPeriod"/>
            </a:pPr>
            <a:r>
              <a:rPr lang="en-US" sz="3200" dirty="0" smtClean="0"/>
              <a:t>Sumerians</a:t>
            </a:r>
          </a:p>
          <a:p>
            <a:pPr marL="1030288" indent="-290513">
              <a:buFont typeface="+mj-lt"/>
              <a:buAutoNum type="alphaUcPeriod"/>
            </a:pPr>
            <a:r>
              <a:rPr lang="en-US" sz="3200" dirty="0" smtClean="0"/>
              <a:t>Egyptians</a:t>
            </a:r>
          </a:p>
          <a:p>
            <a:pPr marL="739775" lvl="0" indent="-630238">
              <a:buNone/>
            </a:pPr>
            <a:endParaRPr lang="en-US" sz="3200" dirty="0" smtClean="0"/>
          </a:p>
          <a:p>
            <a:pPr>
              <a:buNone/>
            </a:pPr>
            <a:endParaRPr lang="en-US" sz="3200" dirty="0"/>
          </a:p>
        </p:txBody>
      </p:sp>
      <p:pic>
        <p:nvPicPr>
          <p:cNvPr id="4" name="Picture 4" descr="C:\Documents and Settings\Administrator\Desktop\hand_right.gif"/>
          <p:cNvPicPr>
            <a:picLocks noChangeAspect="1" noChangeArrowheads="1" noCrop="1"/>
          </p:cNvPicPr>
          <p:nvPr/>
        </p:nvPicPr>
        <p:blipFill>
          <a:blip r:embed="rId3">
            <a:extLst>
              <a:ext uri="{28A0092B-C50C-407E-A947-70E740481C1C}">
                <a14:useLocalDpi xmlns="" xmlns:a14="http://schemas.microsoft.com/office/drawing/2010/main" val="0"/>
              </a:ext>
            </a:extLst>
          </a:blip>
          <a:srcRect/>
          <a:stretch>
            <a:fillRect/>
          </a:stretch>
        </p:blipFill>
        <p:spPr bwMode="auto">
          <a:xfrm rot="21434720">
            <a:off x="619185" y="47427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33400" y="762000"/>
            <a:ext cx="8229600" cy="4525963"/>
          </a:xfrm>
        </p:spPr>
        <p:txBody>
          <a:bodyPr>
            <a:normAutofit/>
          </a:bodyPr>
          <a:lstStyle/>
          <a:p>
            <a:pPr marL="739775" lvl="0" indent="-630238">
              <a:buNone/>
            </a:pPr>
            <a:r>
              <a:rPr lang="en-US" sz="3200" dirty="0" smtClean="0"/>
              <a:t>27. In which organization is the Philippines is a member to fight communist aggression?</a:t>
            </a:r>
          </a:p>
          <a:p>
            <a:pPr marL="739775" lvl="0" indent="-630238">
              <a:buNone/>
            </a:pPr>
            <a:endParaRPr lang="en-US" sz="3200" dirty="0" smtClean="0"/>
          </a:p>
          <a:p>
            <a:pPr marL="1030288" lvl="0" indent="-290513">
              <a:buFont typeface="+mj-lt"/>
              <a:buAutoNum type="alphaUcPeriod"/>
            </a:pPr>
            <a:r>
              <a:rPr lang="en-US" sz="3200" dirty="0" smtClean="0"/>
              <a:t>APEC</a:t>
            </a:r>
          </a:p>
          <a:p>
            <a:pPr marL="1030288" lvl="0" indent="-290513">
              <a:buFont typeface="+mj-lt"/>
              <a:buAutoNum type="alphaUcPeriod"/>
            </a:pPr>
            <a:r>
              <a:rPr lang="en-US" sz="3200" dirty="0" smtClean="0"/>
              <a:t>ASA</a:t>
            </a:r>
          </a:p>
          <a:p>
            <a:pPr marL="1030288" indent="-290513">
              <a:buFont typeface="+mj-lt"/>
              <a:buAutoNum type="alphaUcPeriod"/>
            </a:pPr>
            <a:r>
              <a:rPr lang="en-US" sz="3200" dirty="0" smtClean="0"/>
              <a:t>UN</a:t>
            </a:r>
          </a:p>
          <a:p>
            <a:pPr marL="1030288" indent="-290513">
              <a:buFont typeface="+mj-lt"/>
              <a:buAutoNum type="alphaUcPeriod"/>
            </a:pPr>
            <a:r>
              <a:rPr lang="en-US" sz="3200" dirty="0" smtClean="0"/>
              <a:t>SEATO</a:t>
            </a:r>
          </a:p>
          <a:p>
            <a:pPr marL="739775" lvl="0" indent="-630238">
              <a:buNone/>
            </a:pPr>
            <a:endParaRPr lang="en-US" sz="3200" dirty="0" smtClean="0"/>
          </a:p>
          <a:p>
            <a:pPr>
              <a:buNone/>
            </a:pPr>
            <a:endParaRPr lang="en-US" sz="32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619185" y="4590374"/>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2438400"/>
            <a:ext cx="8229600" cy="2252472"/>
          </a:xfrm>
        </p:spPr>
        <p:txBody>
          <a:bodyPr/>
          <a:lstStyle/>
          <a:p>
            <a:r>
              <a:rPr lang="en-US" dirty="0" smtClean="0"/>
              <a:t>APEC – Asia-Pacific Economic Cooperation</a:t>
            </a:r>
          </a:p>
          <a:p>
            <a:r>
              <a:rPr lang="en-US" dirty="0" smtClean="0"/>
              <a:t>ASA – Association of Southeast Asia</a:t>
            </a:r>
          </a:p>
          <a:p>
            <a:r>
              <a:rPr lang="en-US" dirty="0" smtClean="0"/>
              <a:t>UN – United Nations</a:t>
            </a:r>
          </a:p>
          <a:p>
            <a:r>
              <a:rPr lang="en-US" dirty="0" smtClean="0"/>
              <a:t>SEATO – Southeast Asia Treaty Organization</a:t>
            </a:r>
            <a:endParaRPr lang="en-US" dirty="0"/>
          </a:p>
        </p:txBody>
      </p:sp>
      <p:sp>
        <p:nvSpPr>
          <p:cNvPr id="3" name="Title 2"/>
          <p:cNvSpPr>
            <a:spLocks noGrp="1"/>
          </p:cNvSpPr>
          <p:nvPr>
            <p:ph type="title"/>
          </p:nvPr>
        </p:nvSpPr>
        <p:spPr/>
        <p:txBody>
          <a:bodyPr/>
          <a:lstStyle/>
          <a:p>
            <a:endParaRPr lang="en-US" dirty="0"/>
          </a:p>
        </p:txBody>
      </p:sp>
    </p:spTree>
    <p:extLst>
      <p:ext uri="{BB962C8B-B14F-4D97-AF65-F5344CB8AC3E}">
        <p14:creationId xmlns="" xmlns:p14="http://schemas.microsoft.com/office/powerpoint/2010/main" val="256098424"/>
      </p:ext>
    </p:extLst>
  </p:cSld>
  <p:clrMapOvr>
    <a:masterClrMapping/>
  </p:clrMapOvr>
  <p:transition>
    <p:push/>
  </p:transition>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381000"/>
            <a:ext cx="8229600" cy="4525963"/>
          </a:xfrm>
        </p:spPr>
        <p:txBody>
          <a:bodyPr>
            <a:noAutofit/>
          </a:bodyPr>
          <a:lstStyle/>
          <a:p>
            <a:pPr marL="739775" lvl="0" indent="-630238">
              <a:buNone/>
            </a:pPr>
            <a:r>
              <a:rPr lang="en-US" sz="2800" dirty="0" smtClean="0"/>
              <a:t>28. Why is the role of the Philippines in UN said to be practically mandatory? Because _____.</a:t>
            </a:r>
          </a:p>
          <a:p>
            <a:pPr marL="739775" lvl="0" indent="-630238">
              <a:buNone/>
            </a:pPr>
            <a:endParaRPr lang="en-US" sz="2800" dirty="0" smtClean="0"/>
          </a:p>
          <a:p>
            <a:pPr marL="1030288" lvl="0" indent="-290513">
              <a:buFont typeface="+mj-lt"/>
              <a:buAutoNum type="alphaUcPeriod"/>
            </a:pPr>
            <a:r>
              <a:rPr lang="en-US" sz="2800" dirty="0" smtClean="0"/>
              <a:t>She participated in the drafting of the UN Charter</a:t>
            </a:r>
          </a:p>
          <a:p>
            <a:pPr marL="1030288" lvl="0" indent="-290513">
              <a:buFont typeface="+mj-lt"/>
              <a:buAutoNum type="alphaUcPeriod"/>
            </a:pPr>
            <a:r>
              <a:rPr lang="en-US" sz="2800" dirty="0" smtClean="0"/>
              <a:t>Her Constitution declares that she “renounces war as an instrument of national policy”.</a:t>
            </a:r>
          </a:p>
          <a:p>
            <a:pPr marL="1030288" lvl="0" indent="-290513">
              <a:buFont typeface="+mj-lt"/>
              <a:buAutoNum type="alphaUcPeriod"/>
            </a:pPr>
            <a:r>
              <a:rPr lang="en-US" sz="2800" dirty="0" smtClean="0"/>
              <a:t>She participated in the drafting of the UDHR</a:t>
            </a:r>
          </a:p>
          <a:p>
            <a:pPr marL="1030288" lvl="0" indent="-290513">
              <a:buFont typeface="+mj-lt"/>
              <a:buAutoNum type="alphaUcPeriod"/>
            </a:pPr>
            <a:r>
              <a:rPr lang="en-US" sz="2800" dirty="0" smtClean="0"/>
              <a:t>She is a member of many specialized agencies of the UN.</a:t>
            </a:r>
          </a:p>
          <a:p>
            <a:pPr>
              <a:buNone/>
            </a:pPr>
            <a:endParaRPr lang="en-US" sz="28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542985" y="2435224"/>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914400"/>
            <a:ext cx="8229600" cy="4525963"/>
          </a:xfrm>
        </p:spPr>
        <p:txBody>
          <a:bodyPr>
            <a:normAutofit/>
          </a:bodyPr>
          <a:lstStyle/>
          <a:p>
            <a:pPr marL="739775" lvl="0" indent="-630238">
              <a:buNone/>
            </a:pPr>
            <a:r>
              <a:rPr lang="en-US" sz="3200" dirty="0" smtClean="0"/>
              <a:t>29. The following are component factors that make possible the flow of production EXCEPT _____.</a:t>
            </a:r>
          </a:p>
          <a:p>
            <a:pPr marL="739775" lvl="0" indent="-630238">
              <a:buNone/>
            </a:pPr>
            <a:endParaRPr lang="en-US" sz="3200" dirty="0" smtClean="0"/>
          </a:p>
          <a:p>
            <a:pPr marL="1030288" indent="-290513">
              <a:buFont typeface="+mj-lt"/>
              <a:buAutoNum type="alphaUcPeriod"/>
            </a:pPr>
            <a:r>
              <a:rPr lang="en-US" sz="3200" dirty="0" smtClean="0"/>
              <a:t>Capital</a:t>
            </a:r>
          </a:p>
          <a:p>
            <a:pPr marL="1030288" lvl="0" indent="-290513">
              <a:buFont typeface="+mj-lt"/>
              <a:buAutoNum type="alphaUcPeriod"/>
            </a:pPr>
            <a:r>
              <a:rPr lang="en-US" sz="3200" dirty="0" smtClean="0"/>
              <a:t>Investment</a:t>
            </a:r>
          </a:p>
          <a:p>
            <a:pPr marL="1030288" lvl="0" indent="-290513">
              <a:buFont typeface="+mj-lt"/>
              <a:buAutoNum type="alphaUcPeriod"/>
            </a:pPr>
            <a:r>
              <a:rPr lang="en-US" sz="3200" dirty="0" smtClean="0"/>
              <a:t>Labor </a:t>
            </a:r>
          </a:p>
          <a:p>
            <a:pPr marL="1030288" lvl="0" indent="-290513">
              <a:buFont typeface="+mj-lt"/>
              <a:buAutoNum type="alphaUcPeriod"/>
            </a:pPr>
            <a:r>
              <a:rPr lang="en-US" sz="3200" dirty="0" smtClean="0"/>
              <a:t>Land </a:t>
            </a:r>
          </a:p>
          <a:p>
            <a:pPr marL="739775" indent="-630238">
              <a:buNone/>
            </a:pPr>
            <a:endParaRPr lang="en-US" sz="3200" dirty="0" smtClean="0"/>
          </a:p>
          <a:p>
            <a:pPr marL="739775" lvl="0" indent="-630238">
              <a:buNone/>
            </a:pPr>
            <a:endParaRPr lang="en-US" sz="3200" dirty="0" smtClean="0"/>
          </a:p>
          <a:p>
            <a:pPr>
              <a:buNone/>
            </a:pPr>
            <a:endParaRPr lang="en-US" sz="3200" dirty="0"/>
          </a:p>
        </p:txBody>
      </p:sp>
      <p:pic>
        <p:nvPicPr>
          <p:cNvPr id="4" name="Picture 4" descr="C:\Documents and Settings\Administrator\Desktop\hand_right.gif"/>
          <p:cNvPicPr>
            <a:picLocks noChangeAspect="1" noChangeArrowheads="1" noCrop="1"/>
          </p:cNvPicPr>
          <p:nvPr/>
        </p:nvPicPr>
        <p:blipFill>
          <a:blip r:embed="rId3">
            <a:extLst>
              <a:ext uri="{28A0092B-C50C-407E-A947-70E740481C1C}">
                <a14:useLocalDpi xmlns="" xmlns:a14="http://schemas.microsoft.com/office/drawing/2010/main" val="0"/>
              </a:ext>
            </a:extLst>
          </a:blip>
          <a:srcRect/>
          <a:stretch>
            <a:fillRect/>
          </a:stretch>
        </p:blipFill>
        <p:spPr bwMode="auto">
          <a:xfrm rot="21434720">
            <a:off x="542985" y="3675974"/>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762000"/>
            <a:ext cx="8229600" cy="4525963"/>
          </a:xfrm>
        </p:spPr>
        <p:txBody>
          <a:bodyPr>
            <a:normAutofit/>
          </a:bodyPr>
          <a:lstStyle/>
          <a:p>
            <a:pPr marL="739775" lvl="0" indent="-630238">
              <a:buNone/>
            </a:pPr>
            <a:r>
              <a:rPr lang="en-US" sz="3200" dirty="0" smtClean="0"/>
              <a:t>30. Today the capitalistic countries of the UK, Canada and US are mainly ______ economy.</a:t>
            </a:r>
          </a:p>
          <a:p>
            <a:pPr marL="739775" lvl="0" indent="-630238">
              <a:buNone/>
            </a:pPr>
            <a:endParaRPr lang="en-US" sz="3200" dirty="0" smtClean="0"/>
          </a:p>
          <a:p>
            <a:pPr marL="1030288" lvl="0" indent="-290513">
              <a:buFont typeface="+mj-lt"/>
              <a:buAutoNum type="alphaUcPeriod"/>
            </a:pPr>
            <a:r>
              <a:rPr lang="en-US" sz="3200" dirty="0" smtClean="0"/>
              <a:t>Market</a:t>
            </a:r>
          </a:p>
          <a:p>
            <a:pPr marL="1030288" indent="-290513">
              <a:buFont typeface="+mj-lt"/>
              <a:buAutoNum type="alphaUcPeriod"/>
            </a:pPr>
            <a:r>
              <a:rPr lang="en-US" sz="3200" dirty="0" smtClean="0"/>
              <a:t>Mixed</a:t>
            </a:r>
          </a:p>
          <a:p>
            <a:pPr marL="1030288" lvl="0" indent="-290513">
              <a:buFont typeface="+mj-lt"/>
              <a:buAutoNum type="alphaUcPeriod"/>
            </a:pPr>
            <a:r>
              <a:rPr lang="en-US" sz="3200" dirty="0" smtClean="0"/>
              <a:t>Communist</a:t>
            </a:r>
          </a:p>
          <a:p>
            <a:pPr marL="1030288" indent="-290513">
              <a:buFont typeface="+mj-lt"/>
              <a:buAutoNum type="alphaUcPeriod"/>
            </a:pPr>
            <a:r>
              <a:rPr lang="en-US" sz="3200" dirty="0" smtClean="0"/>
              <a:t>Traditional</a:t>
            </a:r>
            <a:endParaRPr lang="en-US" sz="32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619186" y="3523574"/>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762000"/>
            <a:ext cx="8229600" cy="4525963"/>
          </a:xfrm>
        </p:spPr>
        <p:txBody>
          <a:bodyPr>
            <a:normAutofit/>
          </a:bodyPr>
          <a:lstStyle/>
          <a:p>
            <a:pPr marL="739775" lvl="0" indent="-630238">
              <a:buNone/>
            </a:pPr>
            <a:r>
              <a:rPr lang="en-US" sz="3200" dirty="0" smtClean="0"/>
              <a:t>31. The maximum price that can be legally charged for a good or service is called _____.</a:t>
            </a:r>
          </a:p>
          <a:p>
            <a:pPr marL="739775" lvl="0" indent="-630238">
              <a:buNone/>
            </a:pPr>
            <a:endParaRPr lang="en-US" sz="3200" dirty="0" smtClean="0"/>
          </a:p>
          <a:p>
            <a:pPr marL="1030288" lvl="0" indent="-290513">
              <a:buFont typeface="+mj-lt"/>
              <a:buAutoNum type="alphaUcPeriod"/>
            </a:pPr>
            <a:r>
              <a:rPr lang="en-US" sz="3200" dirty="0" smtClean="0"/>
              <a:t>Minimum wage</a:t>
            </a:r>
          </a:p>
          <a:p>
            <a:pPr marL="1030288" lvl="0" indent="-290513">
              <a:buFont typeface="+mj-lt"/>
              <a:buAutoNum type="alphaUcPeriod"/>
            </a:pPr>
            <a:r>
              <a:rPr lang="en-US" sz="3200" dirty="0" smtClean="0"/>
              <a:t>Price floor</a:t>
            </a:r>
          </a:p>
          <a:p>
            <a:pPr marL="1030288" indent="-290513">
              <a:buFont typeface="+mj-lt"/>
              <a:buAutoNum type="alphaUcPeriod"/>
            </a:pPr>
            <a:r>
              <a:rPr lang="en-US" sz="3200" dirty="0" smtClean="0"/>
              <a:t>Legal wage</a:t>
            </a:r>
          </a:p>
          <a:p>
            <a:pPr marL="1030288" indent="-290513">
              <a:buFont typeface="+mj-lt"/>
              <a:buAutoNum type="alphaUcPeriod"/>
            </a:pPr>
            <a:r>
              <a:rPr lang="en-US" sz="3200" dirty="0" smtClean="0"/>
              <a:t>Price ceiling</a:t>
            </a:r>
          </a:p>
          <a:p>
            <a:pPr marL="739775" lvl="0" indent="-630238">
              <a:buNone/>
            </a:pPr>
            <a:endParaRPr lang="en-US" sz="3200" dirty="0" smtClean="0"/>
          </a:p>
          <a:p>
            <a:pPr>
              <a:buNone/>
            </a:pPr>
            <a:endParaRPr lang="en-US" sz="3200" dirty="0"/>
          </a:p>
        </p:txBody>
      </p:sp>
      <p:pic>
        <p:nvPicPr>
          <p:cNvPr id="4" name="Picture 4" descr="C:\Documents and Settings\Administrator\Desktop\hand_right.gif"/>
          <p:cNvPicPr>
            <a:picLocks noChangeAspect="1" noChangeArrowheads="1" noCrop="1"/>
          </p:cNvPicPr>
          <p:nvPr/>
        </p:nvPicPr>
        <p:blipFill>
          <a:blip r:embed="rId3">
            <a:extLst>
              <a:ext uri="{28A0092B-C50C-407E-A947-70E740481C1C}">
                <a14:useLocalDpi xmlns="" xmlns:a14="http://schemas.microsoft.com/office/drawing/2010/main" val="0"/>
              </a:ext>
            </a:extLst>
          </a:blip>
          <a:srcRect/>
          <a:stretch>
            <a:fillRect/>
          </a:stretch>
        </p:blipFill>
        <p:spPr bwMode="auto">
          <a:xfrm rot="21434720">
            <a:off x="619185" y="4590374"/>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609600"/>
            <a:ext cx="8229600" cy="4525963"/>
          </a:xfrm>
        </p:spPr>
        <p:txBody>
          <a:bodyPr>
            <a:noAutofit/>
          </a:bodyPr>
          <a:lstStyle/>
          <a:p>
            <a:pPr marL="739775" lvl="0" indent="-630238">
              <a:buNone/>
            </a:pPr>
            <a:r>
              <a:rPr lang="en-US" sz="3200" dirty="0" smtClean="0"/>
              <a:t>32. The theory that population increases by geometrical ratio while the means of subsistence increases by arithmetical ratio is attributed to _____.</a:t>
            </a:r>
          </a:p>
          <a:p>
            <a:pPr marL="739775" lvl="0" indent="-630238">
              <a:buNone/>
            </a:pPr>
            <a:endParaRPr lang="en-US" sz="3200" dirty="0" smtClean="0"/>
          </a:p>
          <a:p>
            <a:pPr marL="1030288" lvl="0" indent="-290513">
              <a:buFont typeface="+mj-lt"/>
              <a:buAutoNum type="alphaUcPeriod"/>
            </a:pPr>
            <a:r>
              <a:rPr lang="en-US" sz="3200" dirty="0" smtClean="0"/>
              <a:t>Marx</a:t>
            </a:r>
          </a:p>
          <a:p>
            <a:pPr marL="1030288" lvl="0" indent="-290513">
              <a:buFont typeface="+mj-lt"/>
              <a:buAutoNum type="alphaUcPeriod"/>
            </a:pPr>
            <a:r>
              <a:rPr lang="en-US" sz="3200" dirty="0" smtClean="0"/>
              <a:t>Malthus</a:t>
            </a:r>
          </a:p>
          <a:p>
            <a:pPr marL="1030288" lvl="0" indent="-290513">
              <a:buFont typeface="+mj-lt"/>
              <a:buAutoNum type="alphaUcPeriod"/>
            </a:pPr>
            <a:r>
              <a:rPr lang="en-US" sz="3200" dirty="0" smtClean="0"/>
              <a:t>Durkheim</a:t>
            </a:r>
          </a:p>
          <a:p>
            <a:pPr marL="1030288" lvl="0" indent="-290513">
              <a:buFont typeface="+mj-lt"/>
              <a:buAutoNum type="alphaUcPeriod"/>
            </a:pPr>
            <a:r>
              <a:rPr lang="en-US" sz="3200" dirty="0" smtClean="0"/>
              <a:t>Aristotle</a:t>
            </a:r>
          </a:p>
          <a:p>
            <a:pPr>
              <a:buNone/>
            </a:pPr>
            <a:endParaRPr lang="en-US" sz="3200" dirty="0"/>
          </a:p>
        </p:txBody>
      </p:sp>
      <p:pic>
        <p:nvPicPr>
          <p:cNvPr id="4" name="Picture 4" descr="C:\Documents and Settings\Administrator\Desktop\hand_right.gif"/>
          <p:cNvPicPr>
            <a:picLocks noChangeAspect="1" noChangeArrowheads="1" noCrop="1"/>
          </p:cNvPicPr>
          <p:nvPr/>
        </p:nvPicPr>
        <p:blipFill>
          <a:blip r:embed="rId3">
            <a:extLst>
              <a:ext uri="{28A0092B-C50C-407E-A947-70E740481C1C}">
                <a14:useLocalDpi xmlns="" xmlns:a14="http://schemas.microsoft.com/office/drawing/2010/main" val="0"/>
              </a:ext>
            </a:extLst>
          </a:blip>
          <a:srcRect/>
          <a:stretch>
            <a:fillRect/>
          </a:stretch>
        </p:blipFill>
        <p:spPr bwMode="auto">
          <a:xfrm rot="21434720">
            <a:off x="542986" y="43617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dirty="0" smtClean="0"/>
              <a:t>Malthusian Theory </a:t>
            </a:r>
          </a:p>
          <a:p>
            <a:endParaRPr lang="en-US" dirty="0" smtClean="0"/>
          </a:p>
          <a:p>
            <a:pPr marL="109728" indent="0">
              <a:buNone/>
            </a:pPr>
            <a:r>
              <a:rPr lang="en-US" dirty="0"/>
              <a:t>In his famous treatise 'An Essay on the Principles of Population', Malthus stated that, the populations of the world would increase in geometric proportions while the food resources available for them would increase only in arithmetic proportions.</a:t>
            </a:r>
            <a:br>
              <a:rPr lang="en-US" dirty="0"/>
            </a:br>
            <a:endParaRPr lang="en-US" dirty="0"/>
          </a:p>
        </p:txBody>
      </p:sp>
      <p:sp>
        <p:nvSpPr>
          <p:cNvPr id="3" name="Title 2"/>
          <p:cNvSpPr>
            <a:spLocks noGrp="1"/>
          </p:cNvSpPr>
          <p:nvPr>
            <p:ph type="title"/>
          </p:nvPr>
        </p:nvSpPr>
        <p:spPr/>
        <p:txBody>
          <a:bodyPr/>
          <a:lstStyle/>
          <a:p>
            <a:endParaRPr lang="en-US" dirty="0"/>
          </a:p>
        </p:txBody>
      </p:sp>
    </p:spTree>
    <p:extLst>
      <p:ext uri="{BB962C8B-B14F-4D97-AF65-F5344CB8AC3E}">
        <p14:creationId xmlns="" xmlns:p14="http://schemas.microsoft.com/office/powerpoint/2010/main" val="644303335"/>
      </p:ext>
    </p:extLst>
  </p:cSld>
  <p:clrMapOvr>
    <a:masterClrMapping/>
  </p:clrMapOvr>
  <p:transition>
    <p:push/>
  </p:transition>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33400" y="533400"/>
            <a:ext cx="8229600" cy="4800600"/>
          </a:xfrm>
        </p:spPr>
        <p:txBody>
          <a:bodyPr>
            <a:noAutofit/>
          </a:bodyPr>
          <a:lstStyle/>
          <a:p>
            <a:pPr marL="739775" lvl="0" indent="-630238">
              <a:buNone/>
            </a:pPr>
            <a:r>
              <a:rPr lang="en-US" sz="3200" dirty="0" smtClean="0"/>
              <a:t>33. To which can we partly attribute the Filipino tendency to be indolent?</a:t>
            </a:r>
          </a:p>
          <a:p>
            <a:pPr marL="739775" lvl="0" indent="-630238">
              <a:buNone/>
            </a:pPr>
            <a:endParaRPr lang="en-US" sz="3200" dirty="0" smtClean="0"/>
          </a:p>
          <a:p>
            <a:pPr marL="1030288" lvl="0" indent="-290513">
              <a:buFont typeface="+mj-lt"/>
              <a:buAutoNum type="alphaUcPeriod"/>
            </a:pPr>
            <a:r>
              <a:rPr lang="en-US" sz="3200" dirty="0" smtClean="0"/>
              <a:t>The Filipino intelligence</a:t>
            </a:r>
          </a:p>
          <a:p>
            <a:pPr marL="1030288" lvl="0" indent="-290513">
              <a:buFont typeface="+mj-lt"/>
              <a:buAutoNum type="alphaUcPeriod"/>
            </a:pPr>
            <a:r>
              <a:rPr lang="en-US" sz="3200" dirty="0" smtClean="0"/>
              <a:t>The colonial history of the Filipino</a:t>
            </a:r>
          </a:p>
          <a:p>
            <a:pPr marL="1030288" lvl="0" indent="-290513">
              <a:buFont typeface="+mj-lt"/>
              <a:buAutoNum type="alphaUcPeriod"/>
            </a:pPr>
            <a:r>
              <a:rPr lang="en-US" sz="3200" dirty="0" smtClean="0"/>
              <a:t>The abundance with which nature has endowed the country</a:t>
            </a:r>
          </a:p>
          <a:p>
            <a:pPr marL="1030288" lvl="0" indent="-290513">
              <a:buFont typeface="+mj-lt"/>
              <a:buAutoNum type="alphaUcPeriod"/>
            </a:pPr>
            <a:r>
              <a:rPr lang="en-US" sz="3200" dirty="0" smtClean="0"/>
              <a:t>The poor economic condition of the country</a:t>
            </a:r>
          </a:p>
          <a:p>
            <a:pPr>
              <a:buNone/>
            </a:pPr>
            <a:endParaRPr lang="en-US" sz="32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619184" y="33711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609600"/>
            <a:ext cx="8305800" cy="5867400"/>
          </a:xfrm>
        </p:spPr>
        <p:txBody>
          <a:bodyPr>
            <a:normAutofit lnSpcReduction="10000"/>
          </a:bodyPr>
          <a:lstStyle/>
          <a:p>
            <a:pPr marL="682625" lvl="0" indent="-573088">
              <a:buNone/>
            </a:pPr>
            <a:r>
              <a:rPr lang="en-US" dirty="0" smtClean="0"/>
              <a:t>34. </a:t>
            </a:r>
            <a:r>
              <a:rPr lang="en-US" sz="3500" dirty="0" smtClean="0"/>
              <a:t>In what instance is the Filipino double-standard morality shown?</a:t>
            </a:r>
            <a:endParaRPr lang="en-US" dirty="0" smtClean="0"/>
          </a:p>
          <a:p>
            <a:pPr marL="1030288" lvl="0" indent="-347663">
              <a:buFont typeface="+mj-lt"/>
              <a:buAutoNum type="alphaUcPeriod"/>
            </a:pPr>
            <a:r>
              <a:rPr lang="en-US" dirty="0" smtClean="0"/>
              <a:t>Illiterate parents are eager to send their children to school even if they themselves did not go to school.</a:t>
            </a:r>
          </a:p>
          <a:p>
            <a:pPr marL="1030288" lvl="0" indent="-347663">
              <a:buFont typeface="+mj-lt"/>
              <a:buAutoNum type="alphaUcPeriod"/>
            </a:pPr>
            <a:r>
              <a:rPr lang="en-US" dirty="0" smtClean="0"/>
              <a:t> A couple brings their sick child to the doctor then later to the </a:t>
            </a:r>
            <a:r>
              <a:rPr lang="en-US" dirty="0" err="1" smtClean="0"/>
              <a:t>espiritista</a:t>
            </a:r>
            <a:r>
              <a:rPr lang="en-US" dirty="0" smtClean="0"/>
              <a:t>.</a:t>
            </a:r>
          </a:p>
          <a:p>
            <a:pPr marL="1030288" lvl="0" indent="-347663">
              <a:buFont typeface="+mj-lt"/>
              <a:buAutoNum type="alphaUcPeriod"/>
            </a:pPr>
            <a:r>
              <a:rPr lang="en-US" dirty="0" smtClean="0"/>
              <a:t>Young parents bring up their children in a manner different from how they were brought up.</a:t>
            </a:r>
          </a:p>
          <a:p>
            <a:pPr marL="1030288" lvl="0" indent="-347663">
              <a:buFont typeface="+mj-lt"/>
              <a:buAutoNum type="alphaUcPeriod"/>
            </a:pPr>
            <a:r>
              <a:rPr lang="en-US" dirty="0" smtClean="0"/>
              <a:t>A married man who flirts with someone else other than his wife seems acceptable but a married woman who flirts with another man is condemned.</a:t>
            </a:r>
          </a:p>
          <a:p>
            <a:pPr>
              <a:buNone/>
            </a:pPr>
            <a:endParaRPr lang="en-US" dirty="0"/>
          </a:p>
        </p:txBody>
      </p:sp>
      <p:pic>
        <p:nvPicPr>
          <p:cNvPr id="3"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542985" y="48951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2057400"/>
            <a:ext cx="8229600" cy="4525963"/>
          </a:xfrm>
        </p:spPr>
        <p:txBody>
          <a:bodyPr/>
          <a:lstStyle/>
          <a:p>
            <a:r>
              <a:rPr lang="en-US" dirty="0" smtClean="0"/>
              <a:t>Double Standard Morality</a:t>
            </a:r>
          </a:p>
          <a:p>
            <a:pPr marL="109728" indent="0">
              <a:buNone/>
            </a:pPr>
            <a:r>
              <a:rPr lang="en-US" dirty="0"/>
              <a:t>	</a:t>
            </a:r>
            <a:r>
              <a:rPr lang="en-US" dirty="0" smtClean="0"/>
              <a:t>Set </a:t>
            </a:r>
            <a:r>
              <a:rPr lang="en-US" dirty="0"/>
              <a:t>of principles permitting greater opportunity or liberty to one than to another, especially the granting of greater sexual freedom to men than to women.</a:t>
            </a:r>
          </a:p>
        </p:txBody>
      </p:sp>
      <p:sp>
        <p:nvSpPr>
          <p:cNvPr id="3" name="Title 2"/>
          <p:cNvSpPr>
            <a:spLocks noGrp="1"/>
          </p:cNvSpPr>
          <p:nvPr>
            <p:ph type="title"/>
          </p:nvPr>
        </p:nvSpPr>
        <p:spPr/>
        <p:txBody>
          <a:bodyPr/>
          <a:lstStyle/>
          <a:p>
            <a:endParaRPr lang="en-US" dirty="0"/>
          </a:p>
        </p:txBody>
      </p:sp>
    </p:spTree>
    <p:extLst>
      <p:ext uri="{BB962C8B-B14F-4D97-AF65-F5344CB8AC3E}">
        <p14:creationId xmlns="" xmlns:p14="http://schemas.microsoft.com/office/powerpoint/2010/main" val="487145972"/>
      </p:ext>
    </p:extLst>
  </p:cSld>
  <p:clrMapOvr>
    <a:masterClrMapping/>
  </p:clrMapOvr>
  <p:transition>
    <p:push/>
  </p:transition>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533400"/>
            <a:ext cx="8229600" cy="4525963"/>
          </a:xfrm>
        </p:spPr>
        <p:txBody>
          <a:bodyPr>
            <a:noAutofit/>
          </a:bodyPr>
          <a:lstStyle/>
          <a:p>
            <a:pPr marL="739775" lvl="0" indent="-630238">
              <a:buNone/>
            </a:pPr>
            <a:r>
              <a:rPr lang="en-US" sz="3200" dirty="0" smtClean="0"/>
              <a:t>35. When one appeals to the opinions or passions of the multitude to establish a conclusion, i.e., “Let us vote for him who belongs to us, our </a:t>
            </a:r>
            <a:r>
              <a:rPr lang="en-US" sz="3200" dirty="0" err="1" smtClean="0"/>
              <a:t>townmate</a:t>
            </a:r>
            <a:r>
              <a:rPr lang="en-US" sz="3200" dirty="0" smtClean="0"/>
              <a:t>, </a:t>
            </a:r>
            <a:r>
              <a:rPr lang="en-US" sz="3200" dirty="0" err="1" smtClean="0"/>
              <a:t>barkada</a:t>
            </a:r>
            <a:r>
              <a:rPr lang="en-US" sz="3200" dirty="0" smtClean="0"/>
              <a:t>” the fallacy is _____.</a:t>
            </a:r>
          </a:p>
          <a:p>
            <a:pPr marL="739775" lvl="0" indent="-630238">
              <a:buNone/>
            </a:pPr>
            <a:endParaRPr lang="en-US" sz="3200" dirty="0" smtClean="0"/>
          </a:p>
          <a:p>
            <a:pPr marL="1030288" lvl="0" indent="-290513">
              <a:buFont typeface="+mj-lt"/>
              <a:buAutoNum type="alphaUcPeriod"/>
            </a:pPr>
            <a:r>
              <a:rPr lang="en-US" sz="3200" dirty="0" smtClean="0"/>
              <a:t>Appeal to person</a:t>
            </a:r>
          </a:p>
          <a:p>
            <a:pPr marL="1030288" lvl="0" indent="-290513">
              <a:buFont typeface="+mj-lt"/>
              <a:buAutoNum type="alphaUcPeriod"/>
            </a:pPr>
            <a:r>
              <a:rPr lang="en-US" sz="3200" dirty="0" smtClean="0"/>
              <a:t>Appeal to pity</a:t>
            </a:r>
          </a:p>
          <a:p>
            <a:pPr marL="1030288" lvl="0" indent="-290513">
              <a:buFont typeface="+mj-lt"/>
              <a:buAutoNum type="alphaUcPeriod"/>
            </a:pPr>
            <a:r>
              <a:rPr lang="en-US" sz="3200" dirty="0" smtClean="0"/>
              <a:t>Appeal to people</a:t>
            </a:r>
          </a:p>
          <a:p>
            <a:pPr marL="1030288" lvl="0" indent="-290513">
              <a:buFont typeface="+mj-lt"/>
              <a:buAutoNum type="alphaUcPeriod"/>
            </a:pPr>
            <a:r>
              <a:rPr lang="en-US" sz="3200" dirty="0" smtClean="0"/>
              <a:t>Appeal to authority</a:t>
            </a:r>
          </a:p>
          <a:p>
            <a:pPr>
              <a:buNone/>
            </a:pPr>
            <a:r>
              <a:rPr lang="en-US" sz="3200" dirty="0" smtClean="0"/>
              <a:t/>
            </a:r>
            <a:br>
              <a:rPr lang="en-US" sz="3200" dirty="0" smtClean="0"/>
            </a:br>
            <a:r>
              <a:rPr lang="en-US" sz="3200" dirty="0" smtClean="0"/>
              <a:t> </a:t>
            </a:r>
          </a:p>
          <a:p>
            <a:pPr marL="739775" lvl="0" indent="-630238">
              <a:buNone/>
            </a:pPr>
            <a:endParaRPr lang="en-US" sz="3200" dirty="0" smtClean="0"/>
          </a:p>
          <a:p>
            <a:pPr>
              <a:buNone/>
            </a:pPr>
            <a:endParaRPr lang="en-US" sz="32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619185" y="5276174"/>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20000"/>
          </a:bodyPr>
          <a:lstStyle/>
          <a:p>
            <a:r>
              <a:rPr lang="en-US" b="1" i="1" dirty="0" smtClean="0"/>
              <a:t>Appeal to Person - </a:t>
            </a:r>
            <a:r>
              <a:rPr lang="en-US" dirty="0"/>
              <a:t> Argumentum ad Hominem </a:t>
            </a:r>
            <a:r>
              <a:rPr lang="en-US" dirty="0" smtClean="0"/>
              <a:t>this </a:t>
            </a:r>
            <a:r>
              <a:rPr lang="en-US" dirty="0"/>
              <a:t>is quite a common occurrence in debates and refers to a person who substitutes a rebuttal with a personal insult. </a:t>
            </a:r>
            <a:r>
              <a:rPr lang="en-US" b="1" i="1" dirty="0" smtClean="0"/>
              <a:t>Appeal to Pity</a:t>
            </a:r>
            <a:r>
              <a:rPr lang="en-US" dirty="0" smtClean="0"/>
              <a:t> </a:t>
            </a:r>
            <a:r>
              <a:rPr lang="en-US" dirty="0"/>
              <a:t>-  is a fallacy in which a person substitutes a claim intended to create pity for evidence in an </a:t>
            </a:r>
            <a:r>
              <a:rPr lang="en-US" dirty="0" smtClean="0"/>
              <a:t>argument</a:t>
            </a:r>
          </a:p>
          <a:p>
            <a:r>
              <a:rPr lang="en-US" b="1" i="1" dirty="0" smtClean="0"/>
              <a:t>Appeal to People - </a:t>
            </a:r>
            <a:r>
              <a:rPr lang="en-US" dirty="0"/>
              <a:t>based on widespread opinions, values, or prejudices and often delivered in an emotionally charged way</a:t>
            </a:r>
            <a:r>
              <a:rPr lang="en-US" dirty="0" smtClean="0"/>
              <a:t>.</a:t>
            </a:r>
          </a:p>
          <a:p>
            <a:r>
              <a:rPr lang="en-US" b="1" i="1" dirty="0" smtClean="0"/>
              <a:t>Appeal to authority - </a:t>
            </a:r>
            <a:r>
              <a:rPr lang="en-US" dirty="0"/>
              <a:t>A </a:t>
            </a:r>
            <a:r>
              <a:rPr lang="en-US" u="sng" dirty="0"/>
              <a:t>fallacy</a:t>
            </a:r>
            <a:r>
              <a:rPr lang="en-US" dirty="0"/>
              <a:t> in which a </a:t>
            </a:r>
            <a:r>
              <a:rPr lang="en-US" u="sng" dirty="0"/>
              <a:t>rhetor</a:t>
            </a:r>
            <a:r>
              <a:rPr lang="en-US" dirty="0"/>
              <a:t> seeks to </a:t>
            </a:r>
            <a:r>
              <a:rPr lang="en-US" u="sng" dirty="0"/>
              <a:t>persuade</a:t>
            </a:r>
            <a:r>
              <a:rPr lang="en-US" dirty="0"/>
              <a:t> an </a:t>
            </a:r>
            <a:r>
              <a:rPr lang="en-US" u="sng" dirty="0"/>
              <a:t>audience</a:t>
            </a:r>
            <a:r>
              <a:rPr lang="en-US" dirty="0"/>
              <a:t> not by giving </a:t>
            </a:r>
            <a:r>
              <a:rPr lang="en-US" u="sng" dirty="0"/>
              <a:t>evidence</a:t>
            </a:r>
            <a:r>
              <a:rPr lang="en-US" dirty="0"/>
              <a:t> but by </a:t>
            </a:r>
            <a:r>
              <a:rPr lang="en-US" u="sng" dirty="0"/>
              <a:t>appealing</a:t>
            </a:r>
            <a:r>
              <a:rPr lang="en-US" dirty="0"/>
              <a:t> to the respect people have for the famous</a:t>
            </a:r>
            <a:r>
              <a:rPr lang="en-US" dirty="0" smtClean="0"/>
              <a:t>.</a:t>
            </a:r>
            <a:endParaRPr lang="en-US" dirty="0"/>
          </a:p>
          <a:p>
            <a:endParaRPr lang="en-US" b="1" i="1" dirty="0"/>
          </a:p>
        </p:txBody>
      </p:sp>
      <p:sp>
        <p:nvSpPr>
          <p:cNvPr id="3" name="Title 2"/>
          <p:cNvSpPr>
            <a:spLocks noGrp="1"/>
          </p:cNvSpPr>
          <p:nvPr>
            <p:ph type="title"/>
          </p:nvPr>
        </p:nvSpPr>
        <p:spPr/>
        <p:txBody>
          <a:bodyPr/>
          <a:lstStyle/>
          <a:p>
            <a:endParaRPr lang="en-US" dirty="0"/>
          </a:p>
        </p:txBody>
      </p:sp>
    </p:spTree>
    <p:extLst>
      <p:ext uri="{BB962C8B-B14F-4D97-AF65-F5344CB8AC3E}">
        <p14:creationId xmlns="" xmlns:p14="http://schemas.microsoft.com/office/powerpoint/2010/main" val="2077035601"/>
      </p:ext>
    </p:extLst>
  </p:cSld>
  <p:clrMapOvr>
    <a:masterClrMapping/>
  </p:clrMapOvr>
  <p:transition>
    <p:push/>
  </p:transition>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1000" y="762000"/>
            <a:ext cx="8229600" cy="4525963"/>
          </a:xfrm>
        </p:spPr>
        <p:txBody>
          <a:bodyPr>
            <a:noAutofit/>
          </a:bodyPr>
          <a:lstStyle/>
          <a:p>
            <a:pPr marL="739775" lvl="0" indent="-630238">
              <a:buNone/>
            </a:pPr>
            <a:r>
              <a:rPr lang="en-US" sz="3200" dirty="0" smtClean="0"/>
              <a:t>36. What is meant by the statement: “The Filipino has many faces”?</a:t>
            </a:r>
          </a:p>
          <a:p>
            <a:pPr marL="739775" lvl="0" indent="-630238">
              <a:buNone/>
            </a:pPr>
            <a:endParaRPr lang="en-US" sz="3200" dirty="0" smtClean="0"/>
          </a:p>
          <a:p>
            <a:pPr marL="1030288" lvl="0" indent="-290513">
              <a:buFont typeface="+mj-lt"/>
              <a:buAutoNum type="alphaUcPeriod"/>
            </a:pPr>
            <a:r>
              <a:rPr lang="en-US" sz="3200" dirty="0" smtClean="0"/>
              <a:t>His one trait is being “</a:t>
            </a:r>
            <a:r>
              <a:rPr lang="en-US" sz="3200" dirty="0" err="1" smtClean="0"/>
              <a:t>doble</a:t>
            </a:r>
            <a:r>
              <a:rPr lang="en-US" sz="3200" dirty="0" smtClean="0"/>
              <a:t> </a:t>
            </a:r>
            <a:r>
              <a:rPr lang="en-US" sz="3200" dirty="0" err="1" smtClean="0"/>
              <a:t>cara</a:t>
            </a:r>
            <a:r>
              <a:rPr lang="en-US" sz="3200" dirty="0" smtClean="0"/>
              <a:t>”</a:t>
            </a:r>
          </a:p>
          <a:p>
            <a:pPr marL="1030288" lvl="0" indent="-290513">
              <a:buFont typeface="+mj-lt"/>
              <a:buAutoNum type="alphaUcPeriod"/>
            </a:pPr>
            <a:r>
              <a:rPr lang="en-US" sz="3200" dirty="0" smtClean="0"/>
              <a:t>He lost the original Filipino traits with the coming of colonizers</a:t>
            </a:r>
          </a:p>
          <a:p>
            <a:pPr marL="1030288" lvl="0" indent="-290513">
              <a:buFont typeface="+mj-lt"/>
              <a:buAutoNum type="alphaUcPeriod"/>
            </a:pPr>
            <a:r>
              <a:rPr lang="en-US" sz="3200" dirty="0" smtClean="0"/>
              <a:t>He is so flexible that he ends up changing his mind again and again</a:t>
            </a:r>
          </a:p>
          <a:p>
            <a:pPr marL="1030288" lvl="0" indent="-290513">
              <a:buFont typeface="+mj-lt"/>
              <a:buAutoNum type="alphaUcPeriod"/>
            </a:pPr>
            <a:r>
              <a:rPr lang="en-US" sz="3200" dirty="0" smtClean="0"/>
              <a:t>His values are ambivalent</a:t>
            </a:r>
          </a:p>
          <a:p>
            <a:pPr>
              <a:buNone/>
            </a:pPr>
            <a:endParaRPr lang="en-US" sz="32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466786" y="40569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762000"/>
            <a:ext cx="8229600" cy="4525963"/>
          </a:xfrm>
        </p:spPr>
        <p:txBody>
          <a:bodyPr>
            <a:normAutofit/>
          </a:bodyPr>
          <a:lstStyle/>
          <a:p>
            <a:pPr marL="739775" lvl="0" indent="-630238">
              <a:buNone/>
            </a:pPr>
            <a:r>
              <a:rPr lang="en-US" sz="3200" dirty="0" smtClean="0"/>
              <a:t>37. Which statement of the nature of the Filipino is CORRECT?</a:t>
            </a:r>
          </a:p>
          <a:p>
            <a:pPr marL="739775" lvl="0" indent="-630238">
              <a:buNone/>
            </a:pPr>
            <a:endParaRPr lang="en-US" sz="3200" dirty="0" smtClean="0"/>
          </a:p>
          <a:p>
            <a:pPr marL="1030288" lvl="0" indent="-290513">
              <a:buFont typeface="+mj-lt"/>
              <a:buAutoNum type="alphaUcPeriod"/>
            </a:pPr>
            <a:r>
              <a:rPr lang="en-US" sz="3200" dirty="0" smtClean="0"/>
              <a:t>He is basically a Spaniard</a:t>
            </a:r>
          </a:p>
          <a:p>
            <a:pPr marL="1030288" lvl="0" indent="-290513">
              <a:buFont typeface="+mj-lt"/>
              <a:buAutoNum type="alphaUcPeriod"/>
            </a:pPr>
            <a:r>
              <a:rPr lang="en-US" sz="3200" dirty="0" smtClean="0"/>
              <a:t>He is a blending of the East and the West</a:t>
            </a:r>
          </a:p>
          <a:p>
            <a:pPr marL="1030288" lvl="0" indent="-290513">
              <a:buFont typeface="+mj-lt"/>
              <a:buAutoNum type="alphaUcPeriod"/>
            </a:pPr>
            <a:r>
              <a:rPr lang="en-US" sz="3200" dirty="0" smtClean="0"/>
              <a:t>He is totally Westernized</a:t>
            </a:r>
          </a:p>
          <a:p>
            <a:pPr marL="1030288" lvl="0" indent="-290513">
              <a:buFont typeface="+mj-lt"/>
              <a:buAutoNum type="alphaUcPeriod"/>
            </a:pPr>
            <a:r>
              <a:rPr lang="en-US" sz="3200" dirty="0" smtClean="0"/>
              <a:t>He is pure Filipino</a:t>
            </a:r>
          </a:p>
          <a:p>
            <a:pPr>
              <a:buNone/>
            </a:pPr>
            <a:endParaRPr lang="en-US" sz="32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542986" y="30663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685800"/>
            <a:ext cx="8229600" cy="4525963"/>
          </a:xfrm>
        </p:spPr>
        <p:txBody>
          <a:bodyPr>
            <a:normAutofit/>
          </a:bodyPr>
          <a:lstStyle/>
          <a:p>
            <a:pPr marL="739775" lvl="0" indent="-630238">
              <a:buNone/>
            </a:pPr>
            <a:r>
              <a:rPr lang="en-US" sz="3200" dirty="0" smtClean="0"/>
              <a:t>38. Children learn culture from parents and teachers. What is the process called?</a:t>
            </a:r>
          </a:p>
          <a:p>
            <a:pPr marL="739775" lvl="0" indent="-630238">
              <a:buNone/>
            </a:pPr>
            <a:endParaRPr lang="en-US" sz="3200" dirty="0" smtClean="0"/>
          </a:p>
          <a:p>
            <a:pPr marL="1030288" lvl="0" indent="-290513">
              <a:buFont typeface="+mj-lt"/>
              <a:buAutoNum type="alphaUcPeriod"/>
            </a:pPr>
            <a:r>
              <a:rPr lang="en-US" sz="3200" dirty="0" smtClean="0"/>
              <a:t>Enculturation </a:t>
            </a:r>
          </a:p>
          <a:p>
            <a:pPr marL="1030288" lvl="0" indent="-290513">
              <a:buFont typeface="+mj-lt"/>
              <a:buAutoNum type="alphaUcPeriod"/>
            </a:pPr>
            <a:r>
              <a:rPr lang="en-US" sz="3200" dirty="0" smtClean="0"/>
              <a:t>Assimilation</a:t>
            </a:r>
          </a:p>
          <a:p>
            <a:pPr marL="1030288" lvl="0" indent="-290513">
              <a:buFont typeface="+mj-lt"/>
              <a:buAutoNum type="alphaUcPeriod"/>
            </a:pPr>
            <a:r>
              <a:rPr lang="en-US" sz="3200" dirty="0" smtClean="0"/>
              <a:t>Acculturation</a:t>
            </a:r>
          </a:p>
          <a:p>
            <a:pPr marL="1030288" lvl="0" indent="-290513">
              <a:buFont typeface="+mj-lt"/>
              <a:buAutoNum type="alphaUcPeriod"/>
            </a:pPr>
            <a:r>
              <a:rPr lang="en-US" sz="3200" dirty="0" smtClean="0"/>
              <a:t>Accommodation</a:t>
            </a:r>
          </a:p>
          <a:p>
            <a:pPr marL="739775" lvl="0" indent="-630238">
              <a:buFont typeface="+mj-lt"/>
              <a:buAutoNum type="alphaUcPeriod"/>
            </a:pPr>
            <a:endParaRPr lang="en-US" sz="3200" dirty="0" smtClean="0"/>
          </a:p>
          <a:p>
            <a:pPr>
              <a:buNone/>
            </a:pPr>
            <a:endParaRPr lang="en-US" sz="3200" dirty="0"/>
          </a:p>
        </p:txBody>
      </p:sp>
      <p:pic>
        <p:nvPicPr>
          <p:cNvPr id="4" name="Picture 4" descr="C:\Documents and Settings\Administrator\Desktop\hand_right.gif"/>
          <p:cNvPicPr>
            <a:picLocks noChangeAspect="1" noChangeArrowheads="1" noCrop="1"/>
          </p:cNvPicPr>
          <p:nvPr/>
        </p:nvPicPr>
        <p:blipFill>
          <a:blip r:embed="rId3">
            <a:extLst>
              <a:ext uri="{28A0092B-C50C-407E-A947-70E740481C1C}">
                <a14:useLocalDpi xmlns="" xmlns:a14="http://schemas.microsoft.com/office/drawing/2010/main" val="0"/>
              </a:ext>
            </a:extLst>
          </a:blip>
          <a:srcRect/>
          <a:stretch>
            <a:fillRect/>
          </a:stretch>
        </p:blipFill>
        <p:spPr bwMode="auto">
          <a:xfrm rot="21434720">
            <a:off x="542984" y="2913974"/>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914400"/>
            <a:ext cx="8229600" cy="4525963"/>
          </a:xfrm>
        </p:spPr>
        <p:txBody>
          <a:bodyPr>
            <a:noAutofit/>
          </a:bodyPr>
          <a:lstStyle/>
          <a:p>
            <a:pPr marL="739775" lvl="0" indent="-630238">
              <a:buNone/>
            </a:pPr>
            <a:r>
              <a:rPr lang="en-US" sz="3200" dirty="0" smtClean="0"/>
              <a:t>39. Traditional Chinese society was characterized by all of the following EXCEPT _________.   </a:t>
            </a:r>
          </a:p>
          <a:p>
            <a:pPr marL="739775" lvl="0" indent="-630238">
              <a:buNone/>
            </a:pPr>
            <a:endParaRPr lang="en-US" sz="3200" dirty="0" smtClean="0"/>
          </a:p>
          <a:p>
            <a:pPr marL="1030288" lvl="0" indent="-290513">
              <a:buFont typeface="+mj-lt"/>
              <a:buAutoNum type="alphaUcPeriod"/>
            </a:pPr>
            <a:r>
              <a:rPr lang="en-US" sz="3200" dirty="0" smtClean="0"/>
              <a:t>Confucian beliefs</a:t>
            </a:r>
          </a:p>
          <a:p>
            <a:pPr marL="1030288" lvl="0" indent="-290513">
              <a:buFont typeface="+mj-lt"/>
              <a:buAutoNum type="alphaUcPeriod"/>
            </a:pPr>
            <a:r>
              <a:rPr lang="en-US" sz="3200" dirty="0" smtClean="0"/>
              <a:t>Government exam for public service </a:t>
            </a:r>
          </a:p>
          <a:p>
            <a:pPr marL="1030288" lvl="0" indent="-290513">
              <a:buFont typeface="+mj-lt"/>
              <a:buAutoNum type="alphaUcPeriod"/>
            </a:pPr>
            <a:r>
              <a:rPr lang="en-US" sz="3200" dirty="0" err="1" smtClean="0"/>
              <a:t>Patrilineal</a:t>
            </a:r>
            <a:r>
              <a:rPr lang="en-US" sz="3200" dirty="0" smtClean="0"/>
              <a:t> families </a:t>
            </a:r>
          </a:p>
          <a:p>
            <a:pPr marL="1030288" lvl="0" indent="-290513">
              <a:buFont typeface="+mj-lt"/>
              <a:buAutoNum type="alphaUcPeriod"/>
            </a:pPr>
            <a:r>
              <a:rPr lang="en-US" sz="3200" dirty="0" smtClean="0"/>
              <a:t>Practice of Shinto</a:t>
            </a:r>
          </a:p>
          <a:p>
            <a:pPr>
              <a:buNone/>
            </a:pPr>
            <a:endParaRPr lang="en-US" sz="32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619186" y="5276174"/>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33400" y="685800"/>
            <a:ext cx="8229600" cy="4525963"/>
          </a:xfrm>
        </p:spPr>
        <p:txBody>
          <a:bodyPr>
            <a:noAutofit/>
          </a:bodyPr>
          <a:lstStyle/>
          <a:p>
            <a:pPr lvl="0">
              <a:buNone/>
            </a:pPr>
            <a:r>
              <a:rPr lang="en-US" sz="3200" dirty="0" smtClean="0"/>
              <a:t>40. To which country do mountain climbers flock to climb the highest mountain in the world?</a:t>
            </a:r>
          </a:p>
          <a:p>
            <a:pPr lvl="0">
              <a:buNone/>
            </a:pPr>
            <a:endParaRPr lang="en-US" sz="3200" dirty="0" smtClean="0"/>
          </a:p>
          <a:p>
            <a:pPr marL="1030288" lvl="0" indent="-290513">
              <a:buFont typeface="+mj-lt"/>
              <a:buAutoNum type="alphaUcPeriod"/>
            </a:pPr>
            <a:r>
              <a:rPr lang="en-US" sz="3200" dirty="0" smtClean="0"/>
              <a:t>Sri Lanka</a:t>
            </a:r>
          </a:p>
          <a:p>
            <a:pPr marL="1030288" lvl="0" indent="-290513">
              <a:buFont typeface="+mj-lt"/>
              <a:buAutoNum type="alphaUcPeriod"/>
            </a:pPr>
            <a:r>
              <a:rPr lang="en-US" sz="3200" dirty="0" smtClean="0"/>
              <a:t>Nepal</a:t>
            </a:r>
          </a:p>
          <a:p>
            <a:pPr marL="1030288" lvl="0" indent="-290513">
              <a:buFont typeface="+mj-lt"/>
              <a:buAutoNum type="alphaUcPeriod"/>
            </a:pPr>
            <a:r>
              <a:rPr lang="en-US" sz="3200" dirty="0" smtClean="0"/>
              <a:t>Pakistan</a:t>
            </a:r>
          </a:p>
          <a:p>
            <a:pPr marL="1030288" lvl="0" indent="-290513">
              <a:buFont typeface="+mj-lt"/>
              <a:buAutoNum type="alphaUcPeriod"/>
            </a:pPr>
            <a:r>
              <a:rPr lang="en-US" sz="3200" dirty="0" smtClean="0"/>
              <a:t>Bangladesh</a:t>
            </a:r>
          </a:p>
          <a:p>
            <a:pPr marL="1030288" lvl="0" indent="-290513">
              <a:buNone/>
            </a:pPr>
            <a:endParaRPr lang="en-US" sz="3200" dirty="0" smtClean="0"/>
          </a:p>
          <a:p>
            <a:pPr marL="1030288" lvl="0" indent="-290513">
              <a:buNone/>
            </a:pPr>
            <a:endParaRPr lang="en-US" sz="3200" dirty="0" smtClean="0"/>
          </a:p>
          <a:p>
            <a:pPr marL="1030288" lvl="0" indent="-290513" algn="r">
              <a:buNone/>
            </a:pPr>
            <a:r>
              <a:rPr lang="en-US" sz="3200" dirty="0" smtClean="0"/>
              <a:t>END</a:t>
            </a:r>
          </a:p>
          <a:p>
            <a:pPr>
              <a:buNone/>
            </a:pPr>
            <a:endParaRPr lang="en-US" sz="32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619186" y="3447374"/>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back1.jpg"/>
          <p:cNvPicPr>
            <a:picLocks noChangeAspect="1"/>
          </p:cNvPicPr>
          <p:nvPr/>
        </p:nvPicPr>
        <p:blipFill>
          <a:blip r:embed="rId2"/>
          <a:stretch>
            <a:fillRect/>
          </a:stretch>
        </p:blipFill>
        <p:spPr>
          <a:xfrm>
            <a:off x="0" y="0"/>
            <a:ext cx="9169830" cy="6858000"/>
          </a:xfrm>
          <a:prstGeom prst="rect">
            <a:avLst/>
          </a:prstGeom>
        </p:spPr>
      </p:pic>
      <p:sp>
        <p:nvSpPr>
          <p:cNvPr id="2" name="Content Placeholder 1"/>
          <p:cNvSpPr>
            <a:spLocks noGrp="1"/>
          </p:cNvSpPr>
          <p:nvPr>
            <p:ph idx="1"/>
          </p:nvPr>
        </p:nvSpPr>
        <p:spPr/>
        <p:txBody>
          <a:bodyPr/>
          <a:lstStyle/>
          <a:p>
            <a:pPr algn="ctr">
              <a:buNone/>
            </a:pPr>
            <a:endParaRPr lang="en-US" sz="2400" dirty="0" smtClean="0">
              <a:latin typeface="Arial Black" pitchFamily="34" charset="0"/>
            </a:endParaRPr>
          </a:p>
          <a:p>
            <a:pPr algn="ctr">
              <a:buNone/>
            </a:pPr>
            <a:endParaRPr lang="en-US" sz="2400" dirty="0" smtClean="0">
              <a:latin typeface="Arial Black" pitchFamily="34" charset="0"/>
            </a:endParaRPr>
          </a:p>
          <a:p>
            <a:pPr algn="ctr">
              <a:buNone/>
            </a:pPr>
            <a:r>
              <a:rPr lang="en-US" sz="7200" dirty="0" smtClean="0">
                <a:latin typeface="Arial Black" pitchFamily="34" charset="0"/>
              </a:rPr>
              <a:t>SCIENCE</a:t>
            </a:r>
            <a:endParaRPr lang="en-US" sz="4400" dirty="0" smtClean="0">
              <a:latin typeface="Arial Black" pitchFamily="34" charset="0"/>
            </a:endParaRPr>
          </a:p>
          <a:p>
            <a:pPr algn="ctr">
              <a:buNone/>
            </a:pPr>
            <a:r>
              <a:rPr lang="en-US" sz="4800" dirty="0" smtClean="0"/>
              <a:t>Items 1-40</a:t>
            </a:r>
          </a:p>
          <a:p>
            <a:pPr>
              <a:buNone/>
            </a:pPr>
            <a:endParaRPr lang="en-US" dirty="0" smtClean="0"/>
          </a:p>
          <a:p>
            <a:endParaRPr lang="en-US" dirty="0"/>
          </a:p>
        </p:txBody>
      </p:sp>
      <p:sp>
        <p:nvSpPr>
          <p:cNvPr id="3" name="Title 2"/>
          <p:cNvSpPr>
            <a:spLocks noGrp="1"/>
          </p:cNvSpPr>
          <p:nvPr>
            <p:ph type="title"/>
          </p:nvPr>
        </p:nvSpPr>
        <p:spPr/>
        <p:txBody>
          <a:bodyPr/>
          <a:lstStyle/>
          <a:p>
            <a:endParaRPr lang="en-US" dirty="0"/>
          </a:p>
        </p:txBody>
      </p:sp>
    </p:spTree>
  </p:cSld>
  <p:clrMapOvr>
    <a:masterClrMapping/>
  </p:clrMapOvr>
  <p:transition>
    <p:push/>
  </p:transition>
  <p:timing>
    <p:tnLst>
      <p:par>
        <p:cTn id="1" dur="indefinite" restart="never" nodeType="tmRoot"/>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228600"/>
            <a:ext cx="8229600" cy="4525963"/>
          </a:xfrm>
        </p:spPr>
        <p:txBody>
          <a:bodyPr>
            <a:noAutofit/>
          </a:bodyPr>
          <a:lstStyle/>
          <a:p>
            <a:pPr marL="623887" indent="-514350">
              <a:buAutoNum type="arabicPeriod"/>
            </a:pPr>
            <a:r>
              <a:rPr lang="en-PH" sz="3200" dirty="0" smtClean="0"/>
              <a:t>Which of the following human activities reduces the level of ozone in the atmosphere?</a:t>
            </a:r>
          </a:p>
          <a:p>
            <a:pPr marL="852487" indent="-742950">
              <a:buAutoNum type="arabicPeriod"/>
            </a:pPr>
            <a:endParaRPr lang="en-US" sz="3200" dirty="0" smtClean="0"/>
          </a:p>
          <a:p>
            <a:pPr marL="849313" lvl="1" indent="-341313">
              <a:buFont typeface="+mj-lt"/>
              <a:buAutoNum type="alphaUcPeriod"/>
            </a:pPr>
            <a:r>
              <a:rPr lang="en-PH" sz="3200" dirty="0" smtClean="0"/>
              <a:t>Using large banks of solar cells for energy production</a:t>
            </a:r>
            <a:endParaRPr lang="en-US" sz="3200" dirty="0" smtClean="0"/>
          </a:p>
          <a:p>
            <a:pPr marL="849313" lvl="1" indent="-341313">
              <a:buFont typeface="+mj-lt"/>
              <a:buAutoNum type="alphaUcPeriod"/>
            </a:pPr>
            <a:r>
              <a:rPr lang="en-PH" sz="3200" dirty="0" smtClean="0"/>
              <a:t>Using artificial lighting in scientific polar stations</a:t>
            </a:r>
            <a:endParaRPr lang="en-US" sz="3200" dirty="0" smtClean="0"/>
          </a:p>
          <a:p>
            <a:pPr marL="849313" lvl="1" indent="-341313">
              <a:buFont typeface="+mj-lt"/>
              <a:buAutoNum type="alphaUcPeriod"/>
            </a:pPr>
            <a:r>
              <a:rPr lang="en-PH" sz="3200" dirty="0" smtClean="0"/>
              <a:t>Releasing of fluorocarbons from aerosol cans</a:t>
            </a:r>
            <a:endParaRPr lang="en-US" sz="3200" dirty="0" smtClean="0"/>
          </a:p>
          <a:p>
            <a:pPr marL="849313" lvl="1" indent="-341313">
              <a:buFont typeface="+mj-lt"/>
              <a:buAutoNum type="alphaUcPeriod"/>
            </a:pPr>
            <a:r>
              <a:rPr lang="en-PH" sz="3200" dirty="0" smtClean="0"/>
              <a:t>Destroying large areas of the equatorial rain forests</a:t>
            </a:r>
            <a:endParaRPr lang="en-US" sz="3200" dirty="0" smtClean="0"/>
          </a:p>
          <a:p>
            <a:pPr marL="624078" indent="-514350">
              <a:buFont typeface="+mj-lt"/>
              <a:buAutoNum type="alphaUcPeriod"/>
            </a:pPr>
            <a:endParaRPr lang="en-US" sz="32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314386" y="43617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600" y="609600"/>
            <a:ext cx="8229600" cy="4525963"/>
          </a:xfrm>
        </p:spPr>
        <p:txBody>
          <a:bodyPr>
            <a:normAutofit/>
          </a:bodyPr>
          <a:lstStyle/>
          <a:p>
            <a:pPr marL="566738" indent="-457200">
              <a:buNone/>
            </a:pPr>
            <a:r>
              <a:rPr lang="en-US" sz="3200" dirty="0" smtClean="0"/>
              <a:t>2. If two variables X and Y are directly related, which of these is NOT true?</a:t>
            </a:r>
          </a:p>
          <a:p>
            <a:pPr marL="566738" indent="-457200">
              <a:buNone/>
            </a:pPr>
            <a:endParaRPr lang="en-US" sz="3200" dirty="0" smtClean="0"/>
          </a:p>
          <a:p>
            <a:pPr marL="914400" lvl="1" indent="-347663">
              <a:buFont typeface="+mj-lt"/>
              <a:buAutoNum type="alphaUcPeriod"/>
            </a:pPr>
            <a:r>
              <a:rPr lang="en-PH" sz="3200" dirty="0" smtClean="0"/>
              <a:t>When X is low, Y also is low.</a:t>
            </a:r>
            <a:endParaRPr lang="en-US" sz="3200" dirty="0" smtClean="0"/>
          </a:p>
          <a:p>
            <a:pPr marL="914400" lvl="1" indent="-347663">
              <a:buFont typeface="+mj-lt"/>
              <a:buAutoNum type="alphaUcPeriod"/>
            </a:pPr>
            <a:r>
              <a:rPr lang="en-PH" sz="3200" dirty="0" smtClean="0"/>
              <a:t>As X increases, Y also increases.</a:t>
            </a:r>
            <a:endParaRPr lang="en-US" sz="3200" dirty="0" smtClean="0"/>
          </a:p>
          <a:p>
            <a:pPr marL="914400" lvl="1" indent="-347663">
              <a:buFont typeface="+mj-lt"/>
              <a:buAutoNum type="alphaUcPeriod"/>
            </a:pPr>
            <a:r>
              <a:rPr lang="en-PH" sz="3200" dirty="0" smtClean="0"/>
              <a:t>When X increases, Y decreases.</a:t>
            </a:r>
            <a:endParaRPr lang="en-US" sz="3200" dirty="0" smtClean="0"/>
          </a:p>
          <a:p>
            <a:pPr marL="914400" lvl="1" indent="-347663">
              <a:buFont typeface="+mj-lt"/>
              <a:buAutoNum type="alphaUcPeriod"/>
            </a:pPr>
            <a:r>
              <a:rPr lang="en-PH" sz="3200" dirty="0" smtClean="0"/>
              <a:t>A high Y is associated with a high X.</a:t>
            </a:r>
            <a:endParaRPr lang="en-US" sz="3200" dirty="0" smtClean="0"/>
          </a:p>
          <a:p>
            <a:pPr>
              <a:buNone/>
            </a:pPr>
            <a:endParaRPr lang="en-US" sz="32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619184" y="33711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685800"/>
            <a:ext cx="8229600" cy="4525963"/>
          </a:xfrm>
        </p:spPr>
        <p:txBody>
          <a:bodyPr>
            <a:normAutofit/>
          </a:bodyPr>
          <a:lstStyle/>
          <a:p>
            <a:pPr marL="508000" indent="-398463">
              <a:buNone/>
            </a:pPr>
            <a:r>
              <a:rPr lang="en-US" sz="3200" dirty="0" smtClean="0"/>
              <a:t>3. What is the most significant cause of dwindling biodiversity?</a:t>
            </a:r>
          </a:p>
          <a:p>
            <a:pPr marL="508000" indent="-398463">
              <a:buNone/>
            </a:pPr>
            <a:endParaRPr lang="en-US" sz="3200" dirty="0" smtClean="0"/>
          </a:p>
          <a:p>
            <a:pPr marL="798513" indent="-290513">
              <a:buFont typeface="+mj-lt"/>
              <a:buAutoNum type="alphaUcPeriod"/>
            </a:pPr>
            <a:r>
              <a:rPr lang="en-US" sz="3200" dirty="0" smtClean="0"/>
              <a:t>Large plant consumption	</a:t>
            </a:r>
          </a:p>
          <a:p>
            <a:pPr marL="798513" indent="-290513">
              <a:buFont typeface="+mj-lt"/>
              <a:buAutoNum type="alphaUcPeriod"/>
            </a:pPr>
            <a:r>
              <a:rPr lang="en-US" sz="3200" dirty="0" smtClean="0"/>
              <a:t>Global warming</a:t>
            </a:r>
          </a:p>
          <a:p>
            <a:pPr marL="798513" indent="-290513">
              <a:buFont typeface="+mj-lt"/>
              <a:buAutoNum type="alphaUcPeriod"/>
            </a:pPr>
            <a:r>
              <a:rPr lang="en-PH" sz="3200" dirty="0" smtClean="0"/>
              <a:t>Destruction of habitat</a:t>
            </a:r>
            <a:endParaRPr lang="en-US" sz="3200" dirty="0" smtClean="0"/>
          </a:p>
          <a:p>
            <a:pPr marL="798513" indent="-290513">
              <a:buFont typeface="+mj-lt"/>
              <a:buAutoNum type="alphaUcPeriod"/>
            </a:pPr>
            <a:r>
              <a:rPr lang="en-US" sz="3200" dirty="0" smtClean="0"/>
              <a:t>Depletion of ozone layer</a:t>
            </a:r>
          </a:p>
          <a:p>
            <a:pPr>
              <a:buNone/>
            </a:pPr>
            <a:endParaRPr lang="en-US" sz="3200" dirty="0"/>
          </a:p>
        </p:txBody>
      </p:sp>
      <p:pic>
        <p:nvPicPr>
          <p:cNvPr id="4" name="Picture 4" descr="C:\Documents and Settings\Administrator\Desktop\hand_right.gif"/>
          <p:cNvPicPr>
            <a:picLocks noChangeAspect="1" noChangeArrowheads="1" noCrop="1"/>
          </p:cNvPicPr>
          <p:nvPr/>
        </p:nvPicPr>
        <p:blipFill>
          <a:blip r:embed="rId3">
            <a:extLst>
              <a:ext uri="{28A0092B-C50C-407E-A947-70E740481C1C}">
                <a14:useLocalDpi xmlns="" xmlns:a14="http://schemas.microsoft.com/office/drawing/2010/main" val="0"/>
              </a:ext>
            </a:extLst>
          </a:blip>
          <a:srcRect/>
          <a:stretch>
            <a:fillRect/>
          </a:stretch>
        </p:blipFill>
        <p:spPr bwMode="auto">
          <a:xfrm rot="21434720">
            <a:off x="390585" y="35235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600" y="457200"/>
            <a:ext cx="8229600" cy="4525963"/>
          </a:xfrm>
        </p:spPr>
        <p:txBody>
          <a:bodyPr>
            <a:noAutofit/>
          </a:bodyPr>
          <a:lstStyle/>
          <a:p>
            <a:pPr marL="508000" indent="-398463">
              <a:buNone/>
            </a:pPr>
            <a:r>
              <a:rPr lang="en-US" sz="3200" dirty="0" smtClean="0"/>
              <a:t>4. </a:t>
            </a:r>
            <a:r>
              <a:rPr lang="en-PH" sz="3200" dirty="0" smtClean="0"/>
              <a:t>Why is incineration not favoured as a method of waste disposal?</a:t>
            </a:r>
          </a:p>
          <a:p>
            <a:pPr marL="508000" indent="-398463">
              <a:buNone/>
            </a:pPr>
            <a:endParaRPr lang="en-US" sz="3200" dirty="0" smtClean="0"/>
          </a:p>
          <a:p>
            <a:pPr marL="1023938" lvl="1" indent="-457200">
              <a:buFont typeface="+mj-lt"/>
              <a:buAutoNum type="alphaUcPeriod"/>
            </a:pPr>
            <a:r>
              <a:rPr lang="en-PH" sz="3200" dirty="0" smtClean="0"/>
              <a:t>It is expensive for a country like ours.</a:t>
            </a:r>
            <a:endParaRPr lang="en-US" sz="3200" dirty="0" smtClean="0"/>
          </a:p>
          <a:p>
            <a:pPr marL="1023938" lvl="1" indent="-457200">
              <a:buFont typeface="+mj-lt"/>
              <a:buAutoNum type="alphaUcPeriod"/>
            </a:pPr>
            <a:r>
              <a:rPr lang="en-PH" sz="3200" dirty="0" smtClean="0"/>
              <a:t>The country lacks funds to install incinerators.</a:t>
            </a:r>
            <a:endParaRPr lang="en-US" sz="3200" dirty="0" smtClean="0"/>
          </a:p>
          <a:p>
            <a:pPr marL="1023938" lvl="1" indent="-457200">
              <a:buFont typeface="+mj-lt"/>
              <a:buAutoNum type="alphaUcPeriod"/>
            </a:pPr>
            <a:r>
              <a:rPr lang="en-PH" sz="3200" dirty="0" smtClean="0"/>
              <a:t>It requires large energy expenditures.</a:t>
            </a:r>
            <a:endParaRPr lang="en-US" sz="3200" dirty="0" smtClean="0"/>
          </a:p>
          <a:p>
            <a:pPr marL="1023938" lvl="1" indent="-457200">
              <a:buFont typeface="+mj-lt"/>
              <a:buAutoNum type="alphaUcPeriod"/>
            </a:pPr>
            <a:r>
              <a:rPr lang="en-PH" sz="3200" dirty="0" smtClean="0"/>
              <a:t>It releases noxious gases.</a:t>
            </a:r>
            <a:endParaRPr lang="en-US" sz="3200" dirty="0" smtClean="0"/>
          </a:p>
          <a:p>
            <a:pPr>
              <a:buNone/>
            </a:pPr>
            <a:endParaRPr lang="en-US" sz="32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542985" y="51999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33400" y="304800"/>
            <a:ext cx="8229600" cy="4525963"/>
          </a:xfrm>
        </p:spPr>
        <p:txBody>
          <a:bodyPr>
            <a:noAutofit/>
          </a:bodyPr>
          <a:lstStyle/>
          <a:p>
            <a:pPr marL="508000" indent="-398463">
              <a:buNone/>
            </a:pPr>
            <a:r>
              <a:rPr lang="en-US" sz="2600" dirty="0" smtClean="0"/>
              <a:t>5. Teacher M showed the class the potted plants placed on the window sills. She asked them to observe the direction of their growth. The pupils observed that the plants tended to grow outward. Then Teacher M asked the class this question: "Why do you think they grow outward?" What was Teacher M engaging the pupils to do?</a:t>
            </a:r>
          </a:p>
          <a:p>
            <a:pPr marL="508000" indent="-398463">
              <a:buNone/>
            </a:pPr>
            <a:endParaRPr lang="en-US" sz="2600" dirty="0" smtClean="0"/>
          </a:p>
          <a:p>
            <a:pPr marL="798513" indent="-290513">
              <a:buFont typeface="+mj-lt"/>
              <a:buAutoNum type="alphaUcPeriod"/>
            </a:pPr>
            <a:r>
              <a:rPr lang="en-US" sz="2600" dirty="0" smtClean="0"/>
              <a:t>Observe	</a:t>
            </a:r>
          </a:p>
          <a:p>
            <a:pPr marL="798513" indent="-290513">
              <a:buFont typeface="+mj-lt"/>
              <a:buAutoNum type="alphaUcPeriod"/>
            </a:pPr>
            <a:r>
              <a:rPr lang="en-US" sz="2600" dirty="0" smtClean="0"/>
              <a:t>Formulate hypothesis</a:t>
            </a:r>
          </a:p>
          <a:p>
            <a:pPr marL="798513" indent="-290513">
              <a:buFont typeface="+mj-lt"/>
              <a:buAutoNum type="alphaUcPeriod"/>
            </a:pPr>
            <a:r>
              <a:rPr lang="en-US" sz="2600" dirty="0" smtClean="0"/>
              <a:t>Draw conclusion</a:t>
            </a:r>
          </a:p>
          <a:p>
            <a:pPr marL="798513" indent="-290513">
              <a:buFont typeface="+mj-lt"/>
              <a:buAutoNum type="alphaUcPeriod"/>
            </a:pPr>
            <a:r>
              <a:rPr lang="en-US" sz="2600" dirty="0" smtClean="0"/>
              <a:t>Design an experiment</a:t>
            </a:r>
          </a:p>
          <a:p>
            <a:pPr>
              <a:buNone/>
            </a:pPr>
            <a:endParaRPr lang="en-US" sz="2600" dirty="0"/>
          </a:p>
        </p:txBody>
      </p:sp>
      <p:pic>
        <p:nvPicPr>
          <p:cNvPr id="4" name="Picture 4" descr="C:\Documents and Settings\Administrator\Desktop\hand_right.gif"/>
          <p:cNvPicPr>
            <a:picLocks noChangeAspect="1" noChangeArrowheads="1" noCrop="1"/>
          </p:cNvPicPr>
          <p:nvPr/>
        </p:nvPicPr>
        <p:blipFill>
          <a:blip r:embed="rId3">
            <a:extLst>
              <a:ext uri="{28A0092B-C50C-407E-A947-70E740481C1C}">
                <a14:useLocalDpi xmlns="" xmlns:a14="http://schemas.microsoft.com/office/drawing/2010/main" val="0"/>
              </a:ext>
            </a:extLst>
          </a:blip>
          <a:srcRect/>
          <a:stretch>
            <a:fillRect/>
          </a:stretch>
        </p:blipFill>
        <p:spPr bwMode="auto">
          <a:xfrm rot="21434720">
            <a:off x="466785" y="4590374"/>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685800"/>
            <a:ext cx="8229600" cy="4525963"/>
          </a:xfrm>
        </p:spPr>
        <p:txBody>
          <a:bodyPr>
            <a:noAutofit/>
          </a:bodyPr>
          <a:lstStyle/>
          <a:p>
            <a:pPr marL="508000" indent="-398463">
              <a:buNone/>
            </a:pPr>
            <a:r>
              <a:rPr lang="en-US" sz="3200" dirty="0" smtClean="0"/>
              <a:t>6. Which of the following activities help REDUCE water pollution?</a:t>
            </a:r>
          </a:p>
          <a:p>
            <a:pPr marL="508000" indent="-398463">
              <a:buNone/>
            </a:pPr>
            <a:endParaRPr lang="en-US" sz="3200" dirty="0" smtClean="0"/>
          </a:p>
          <a:p>
            <a:pPr marL="914400" lvl="1" indent="-406400">
              <a:buFont typeface="+mj-lt"/>
              <a:buAutoNum type="alphaUcPeriod"/>
            </a:pPr>
            <a:r>
              <a:rPr lang="en-PH" sz="3200" dirty="0" smtClean="0"/>
              <a:t>Throwing only liquid wastes</a:t>
            </a:r>
            <a:endParaRPr lang="en-US" sz="3200" dirty="0" smtClean="0"/>
          </a:p>
          <a:p>
            <a:pPr marL="914400" lvl="1" indent="-406400">
              <a:buFont typeface="+mj-lt"/>
              <a:buAutoNum type="alphaUcPeriod"/>
            </a:pPr>
            <a:r>
              <a:rPr lang="en-PH" sz="3200" dirty="0" smtClean="0"/>
              <a:t>Cleaning with soap instead of detergents</a:t>
            </a:r>
            <a:endParaRPr lang="en-US" sz="3200" dirty="0" smtClean="0"/>
          </a:p>
          <a:p>
            <a:pPr marL="914400" lvl="1" indent="-406400">
              <a:buFont typeface="+mj-lt"/>
              <a:buAutoNum type="alphaUcPeriod"/>
            </a:pPr>
            <a:r>
              <a:rPr lang="en-PH" sz="3200" dirty="0" smtClean="0"/>
              <a:t>Treating wastewater before it is discharged</a:t>
            </a:r>
            <a:endParaRPr lang="en-US" sz="3200" dirty="0" smtClean="0"/>
          </a:p>
          <a:p>
            <a:pPr marL="914400" lvl="1" indent="-406400">
              <a:buFont typeface="+mj-lt"/>
              <a:buAutoNum type="alphaUcPeriod"/>
            </a:pPr>
            <a:r>
              <a:rPr lang="en-PH" sz="3200" dirty="0" smtClean="0"/>
              <a:t>Using organic fertilizers in farms</a:t>
            </a:r>
            <a:endParaRPr lang="en-US" sz="3200" dirty="0" smtClean="0"/>
          </a:p>
          <a:p>
            <a:pPr>
              <a:buNone/>
            </a:pPr>
            <a:endParaRPr lang="en-US" sz="32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238186" y="39807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685800"/>
            <a:ext cx="8229600" cy="4525963"/>
          </a:xfrm>
        </p:spPr>
        <p:txBody>
          <a:bodyPr>
            <a:normAutofit/>
          </a:bodyPr>
          <a:lstStyle/>
          <a:p>
            <a:pPr>
              <a:buNone/>
            </a:pPr>
            <a:r>
              <a:rPr lang="en-US" sz="3200" dirty="0" smtClean="0"/>
              <a:t>7. Leaves are green in the sunlight because</a:t>
            </a:r>
          </a:p>
          <a:p>
            <a:pPr>
              <a:buNone/>
            </a:pPr>
            <a:endParaRPr lang="en-US" sz="3200" dirty="0" smtClean="0"/>
          </a:p>
          <a:p>
            <a:pPr marL="914400" lvl="1" indent="-347663">
              <a:buFont typeface="+mj-lt"/>
              <a:buAutoNum type="alphaUcPeriod"/>
            </a:pPr>
            <a:r>
              <a:rPr lang="en-PH" sz="3200" dirty="0" smtClean="0"/>
              <a:t>they absorb the green light</a:t>
            </a:r>
            <a:endParaRPr lang="en-US" sz="3200" dirty="0" smtClean="0"/>
          </a:p>
          <a:p>
            <a:pPr marL="914400" lvl="1" indent="-347663">
              <a:buFont typeface="+mj-lt"/>
              <a:buAutoNum type="alphaUcPeriod"/>
            </a:pPr>
            <a:r>
              <a:rPr lang="en-PH" sz="3200" dirty="0" smtClean="0"/>
              <a:t>their tints bounce off</a:t>
            </a:r>
            <a:endParaRPr lang="en-US" sz="3200" dirty="0" smtClean="0"/>
          </a:p>
          <a:p>
            <a:pPr marL="914400" lvl="1" indent="-347663">
              <a:buFont typeface="+mj-lt"/>
              <a:buAutoNum type="alphaUcPeriod"/>
            </a:pPr>
            <a:r>
              <a:rPr lang="en-PH" sz="3200" dirty="0" smtClean="0"/>
              <a:t>they absorb the blue and yellow object and yellow light</a:t>
            </a:r>
            <a:endParaRPr lang="en-US" sz="3200" dirty="0" smtClean="0"/>
          </a:p>
          <a:p>
            <a:pPr marL="914400" lvl="1" indent="-347663">
              <a:buFont typeface="+mj-lt"/>
              <a:buAutoNum type="alphaUcPeriod"/>
            </a:pPr>
            <a:r>
              <a:rPr lang="en-PH" sz="3200" dirty="0" smtClean="0"/>
              <a:t>they reflect green light</a:t>
            </a:r>
            <a:endParaRPr lang="en-US" sz="3200" dirty="0" smtClean="0"/>
          </a:p>
          <a:p>
            <a:pPr>
              <a:buNone/>
            </a:pPr>
            <a:endParaRPr lang="en-US" sz="32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511114" y="45141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533400"/>
            <a:ext cx="8229600" cy="4525963"/>
          </a:xfrm>
        </p:spPr>
        <p:txBody>
          <a:bodyPr>
            <a:noAutofit/>
          </a:bodyPr>
          <a:lstStyle/>
          <a:p>
            <a:pPr marL="566738" indent="-457200">
              <a:buNone/>
            </a:pPr>
            <a:r>
              <a:rPr lang="en-US" sz="3200" dirty="0" smtClean="0"/>
              <a:t>8. A stainless steel spoon feels colder than a plastic spoon because stainless steel</a:t>
            </a:r>
          </a:p>
          <a:p>
            <a:pPr marL="566738" indent="-457200">
              <a:buNone/>
            </a:pPr>
            <a:endParaRPr lang="en-US" sz="3200" dirty="0" smtClean="0"/>
          </a:p>
          <a:p>
            <a:pPr marL="914400" lvl="1" indent="-347663">
              <a:buFont typeface="+mj-lt"/>
              <a:buAutoNum type="alphaUcPeriod"/>
            </a:pPr>
            <a:r>
              <a:rPr lang="en-PH" sz="3200" dirty="0" smtClean="0"/>
              <a:t>absorbs less heat from the hand than plastic does</a:t>
            </a:r>
            <a:endParaRPr lang="en-US" sz="3200" dirty="0" smtClean="0"/>
          </a:p>
          <a:p>
            <a:pPr marL="914400" lvl="1" indent="-347663">
              <a:buFont typeface="+mj-lt"/>
              <a:buAutoNum type="alphaUcPeriod"/>
            </a:pPr>
            <a:r>
              <a:rPr lang="en-PH" sz="3200" dirty="0" smtClean="0"/>
              <a:t>is really colder than plastic</a:t>
            </a:r>
            <a:endParaRPr lang="en-US" sz="3200" dirty="0" smtClean="0"/>
          </a:p>
          <a:p>
            <a:pPr marL="914400" lvl="1" indent="-347663">
              <a:buFont typeface="+mj-lt"/>
              <a:buAutoNum type="alphaUcPeriod"/>
            </a:pPr>
            <a:r>
              <a:rPr lang="en-PH" sz="3200" dirty="0" smtClean="0"/>
              <a:t>has a lower temperature than plastic</a:t>
            </a:r>
            <a:endParaRPr lang="en-US" sz="3200" dirty="0" smtClean="0"/>
          </a:p>
          <a:p>
            <a:pPr marL="914400" lvl="1" indent="-347663">
              <a:buFont typeface="+mj-lt"/>
              <a:buAutoNum type="alphaUcPeriod"/>
            </a:pPr>
            <a:r>
              <a:rPr lang="en-PH" sz="3200" dirty="0" smtClean="0"/>
              <a:t>conducts heat away from the hand faster than plastic does</a:t>
            </a:r>
            <a:endParaRPr lang="en-US" sz="3200" dirty="0" smtClean="0"/>
          </a:p>
          <a:p>
            <a:pPr>
              <a:buNone/>
            </a:pPr>
            <a:endParaRPr lang="en-US" sz="32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390585" y="5276174"/>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33400" y="228600"/>
            <a:ext cx="8229600" cy="4525963"/>
          </a:xfrm>
        </p:spPr>
        <p:txBody>
          <a:bodyPr>
            <a:noAutofit/>
          </a:bodyPr>
          <a:lstStyle/>
          <a:p>
            <a:pPr marL="508000" indent="-398463">
              <a:buNone/>
            </a:pPr>
            <a:r>
              <a:rPr lang="en-US" sz="3200" dirty="0" smtClean="0"/>
              <a:t>9. Why does the level of water in a beaker rise after a stone is placed in it?</a:t>
            </a:r>
          </a:p>
          <a:p>
            <a:pPr marL="508000" indent="-398463">
              <a:buNone/>
            </a:pPr>
            <a:endParaRPr lang="en-US" sz="3200" dirty="0" smtClean="0"/>
          </a:p>
          <a:p>
            <a:pPr marL="914400" lvl="1" indent="-406400">
              <a:buFont typeface="+mj-lt"/>
              <a:buAutoNum type="alphaUcPeriod"/>
            </a:pPr>
            <a:r>
              <a:rPr lang="en-PH" sz="3200" dirty="0" smtClean="0"/>
              <a:t>The stone and water occupy the same space.</a:t>
            </a:r>
            <a:endParaRPr lang="en-US" sz="3200" dirty="0" smtClean="0"/>
          </a:p>
          <a:p>
            <a:pPr marL="914400" lvl="1" indent="-406400">
              <a:buFont typeface="+mj-lt"/>
              <a:buAutoNum type="alphaUcPeriod"/>
            </a:pPr>
            <a:r>
              <a:rPr lang="en-PH" sz="3200" dirty="0" smtClean="0"/>
              <a:t>The stone takes the place occupied by water.</a:t>
            </a:r>
            <a:endParaRPr lang="en-US" sz="3200" dirty="0" smtClean="0"/>
          </a:p>
          <a:p>
            <a:pPr marL="914400" lvl="1" indent="-406400">
              <a:buFont typeface="+mj-lt"/>
              <a:buAutoNum type="alphaUcPeriod"/>
            </a:pPr>
            <a:r>
              <a:rPr lang="en-PH" sz="3200" dirty="0" smtClean="0"/>
              <a:t>The stone has more mass than the water.</a:t>
            </a:r>
            <a:endParaRPr lang="en-US" sz="3200" dirty="0" smtClean="0"/>
          </a:p>
          <a:p>
            <a:pPr marL="914400" lvl="1" indent="-406400">
              <a:buFont typeface="+mj-lt"/>
              <a:buAutoNum type="alphaUcPeriod"/>
            </a:pPr>
            <a:r>
              <a:rPr lang="en-PH" sz="3200" dirty="0" smtClean="0"/>
              <a:t>The water weighs less than the stone.</a:t>
            </a:r>
            <a:endParaRPr lang="en-US" sz="3200" dirty="0" smtClean="0"/>
          </a:p>
          <a:p>
            <a:pPr>
              <a:buNone/>
            </a:pPr>
            <a:endParaRPr lang="en-US" sz="32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390585" y="34473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381000"/>
            <a:ext cx="8229600" cy="4525963"/>
          </a:xfrm>
        </p:spPr>
        <p:txBody>
          <a:bodyPr>
            <a:noAutofit/>
          </a:bodyPr>
          <a:lstStyle/>
          <a:p>
            <a:pPr>
              <a:buNone/>
            </a:pPr>
            <a:r>
              <a:rPr lang="en-US" sz="3200" dirty="0" smtClean="0"/>
              <a:t>10. </a:t>
            </a:r>
            <a:r>
              <a:rPr lang="en-US" sz="2800" dirty="0" smtClean="0"/>
              <a:t>Which statement is FALSE?</a:t>
            </a:r>
          </a:p>
          <a:p>
            <a:pPr>
              <a:buNone/>
            </a:pPr>
            <a:endParaRPr lang="en-US" sz="2800" dirty="0" smtClean="0"/>
          </a:p>
          <a:p>
            <a:pPr marL="1204913" lvl="1" indent="-465138">
              <a:buFont typeface="+mj-lt"/>
              <a:buAutoNum type="alphaUcPeriod"/>
            </a:pPr>
            <a:r>
              <a:rPr lang="en-PH" sz="2800" dirty="0" smtClean="0"/>
              <a:t>Solid particles have the strongest attractive forces in between.</a:t>
            </a:r>
            <a:endParaRPr lang="en-US" sz="2800" dirty="0" smtClean="0"/>
          </a:p>
          <a:p>
            <a:pPr marL="1204913" lvl="1" indent="-465138">
              <a:buFont typeface="+mj-lt"/>
              <a:buAutoNum type="alphaUcPeriod"/>
            </a:pPr>
            <a:r>
              <a:rPr lang="en-PH" sz="2800" dirty="0" smtClean="0"/>
              <a:t>Solids and liquids have more molecules per unit volume, hence their densities are higher.</a:t>
            </a:r>
          </a:p>
          <a:p>
            <a:pPr marL="1204913" indent="-1095375">
              <a:buNone/>
            </a:pPr>
            <a:r>
              <a:rPr lang="en-PH" sz="2800" dirty="0" smtClean="0">
                <a:solidFill>
                  <a:schemeClr val="bg2">
                    <a:lumMod val="50000"/>
                  </a:schemeClr>
                </a:solidFill>
              </a:rPr>
              <a:t>     C. </a:t>
            </a:r>
            <a:r>
              <a:rPr lang="en-PH" sz="2800" dirty="0" smtClean="0"/>
              <a:t>Molecules of solids and liquids are more  closely  packed than those </a:t>
            </a:r>
            <a:r>
              <a:rPr lang="en-US" sz="2800" dirty="0" smtClean="0"/>
              <a:t>of gases.</a:t>
            </a:r>
          </a:p>
          <a:p>
            <a:pPr marL="566928" indent="-457200">
              <a:buNone/>
            </a:pPr>
            <a:r>
              <a:rPr lang="en-US" sz="2800" dirty="0" smtClean="0">
                <a:solidFill>
                  <a:schemeClr val="bg2">
                    <a:lumMod val="50000"/>
                  </a:schemeClr>
                </a:solidFill>
              </a:rPr>
              <a:t>      D. </a:t>
            </a:r>
            <a:r>
              <a:rPr lang="en-US" sz="2800" dirty="0" smtClean="0"/>
              <a:t>The gas phase has the least kinetic energy.</a:t>
            </a:r>
          </a:p>
          <a:p>
            <a:pPr>
              <a:buNone/>
            </a:pPr>
            <a:endParaRPr lang="en-US" sz="32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542985" y="5047574"/>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33400" y="533400"/>
            <a:ext cx="8229600" cy="4525963"/>
          </a:xfrm>
        </p:spPr>
        <p:txBody>
          <a:bodyPr>
            <a:noAutofit/>
          </a:bodyPr>
          <a:lstStyle/>
          <a:p>
            <a:pPr marL="749300" indent="-639763">
              <a:buNone/>
            </a:pPr>
            <a:r>
              <a:rPr lang="en-US" sz="2800" dirty="0" smtClean="0"/>
              <a:t>11. Why is it NOT advisable to repeatedly open the door of a refrigerator?</a:t>
            </a:r>
          </a:p>
          <a:p>
            <a:pPr marL="749300" indent="-639763">
              <a:buNone/>
            </a:pPr>
            <a:endParaRPr lang="en-US" sz="2800" dirty="0" smtClean="0"/>
          </a:p>
          <a:p>
            <a:pPr marL="1206500" lvl="1" indent="-457200">
              <a:buFont typeface="+mj-lt"/>
              <a:buAutoNum type="alphaUcPeriod"/>
            </a:pPr>
            <a:r>
              <a:rPr lang="en-PH" sz="2800" dirty="0" smtClean="0"/>
              <a:t>It will loosen the hinges of the refrigerator's door                                                       </a:t>
            </a:r>
            <a:endParaRPr lang="en-US" sz="2800" dirty="0" smtClean="0"/>
          </a:p>
          <a:p>
            <a:pPr marL="1206500" lvl="1" indent="-457200">
              <a:buFont typeface="+mj-lt"/>
              <a:buAutoNum type="alphaUcPeriod"/>
            </a:pPr>
            <a:r>
              <a:rPr lang="en-PH" sz="2800" dirty="0" smtClean="0"/>
              <a:t>Leads to wastage in electrical energy.</a:t>
            </a:r>
            <a:endParaRPr lang="en-US" sz="2800" dirty="0" smtClean="0"/>
          </a:p>
          <a:p>
            <a:pPr marL="1206500" lvl="1" indent="-457200">
              <a:buFont typeface="+mj-lt"/>
              <a:buAutoNum type="alphaUcPeriod"/>
            </a:pPr>
            <a:r>
              <a:rPr lang="en-PH" sz="2800" dirty="0" smtClean="0"/>
              <a:t>Repeated opening introduces bacteria in to the refrigerator.</a:t>
            </a:r>
            <a:endParaRPr lang="en-US" sz="2800" dirty="0" smtClean="0"/>
          </a:p>
          <a:p>
            <a:pPr marL="1206500" lvl="1" indent="-457200">
              <a:buFont typeface="+mj-lt"/>
              <a:buAutoNum type="alphaUcPeriod"/>
            </a:pPr>
            <a:r>
              <a:rPr lang="en-PH" sz="2800" dirty="0" smtClean="0"/>
              <a:t>The warm air outside lowers the temperature inside thus</a:t>
            </a:r>
            <a:r>
              <a:rPr lang="en-US" sz="2800" dirty="0" smtClean="0"/>
              <a:t> </a:t>
            </a:r>
            <a:r>
              <a:rPr lang="en-PH" sz="2800" dirty="0" smtClean="0"/>
              <a:t>making the refrigeration less-efficient. </a:t>
            </a:r>
            <a:endParaRPr lang="en-US" sz="2800" dirty="0" smtClean="0"/>
          </a:p>
          <a:p>
            <a:pPr>
              <a:buNone/>
            </a:pPr>
            <a:endParaRPr lang="en-US" sz="28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619186" y="2913974"/>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914400"/>
            <a:ext cx="8229600" cy="4525963"/>
          </a:xfrm>
        </p:spPr>
        <p:txBody>
          <a:bodyPr>
            <a:noAutofit/>
          </a:bodyPr>
          <a:lstStyle/>
          <a:p>
            <a:pPr marL="739775" indent="-630238">
              <a:buNone/>
            </a:pPr>
            <a:r>
              <a:rPr lang="en-US" sz="3200" dirty="0" smtClean="0"/>
              <a:t>12. What may occur when there is a severe damage to some parts of the brain due to lack of blood supply?</a:t>
            </a:r>
          </a:p>
          <a:p>
            <a:pPr marL="739775" indent="-630238">
              <a:buNone/>
            </a:pPr>
            <a:endParaRPr lang="en-US" sz="3200" dirty="0" smtClean="0"/>
          </a:p>
          <a:p>
            <a:pPr marL="1030288" indent="-290513">
              <a:buFont typeface="+mj-lt"/>
              <a:buAutoNum type="alphaUcPeriod"/>
            </a:pPr>
            <a:r>
              <a:rPr lang="en-US" sz="3200" dirty="0" smtClean="0"/>
              <a:t>Stroke	 </a:t>
            </a:r>
          </a:p>
          <a:p>
            <a:pPr marL="1030288" indent="-290513">
              <a:buFont typeface="+mj-lt"/>
              <a:buAutoNum type="alphaUcPeriod"/>
            </a:pPr>
            <a:r>
              <a:rPr lang="en-US" sz="3200" dirty="0" smtClean="0"/>
              <a:t>Rheumatic heart </a:t>
            </a:r>
          </a:p>
          <a:p>
            <a:pPr marL="1030288" indent="-290513">
              <a:buFont typeface="+mj-lt"/>
              <a:buAutoNum type="alphaUcPeriod"/>
            </a:pPr>
            <a:r>
              <a:rPr lang="en-US" sz="3200" dirty="0" smtClean="0"/>
              <a:t>Heart attack</a:t>
            </a:r>
          </a:p>
          <a:p>
            <a:pPr marL="1030288" indent="-290513">
              <a:buFont typeface="+mj-lt"/>
              <a:buAutoNum type="alphaUcPeriod"/>
            </a:pPr>
            <a:r>
              <a:rPr lang="en-PH" sz="3200" dirty="0" smtClean="0"/>
              <a:t>Hypertension </a:t>
            </a:r>
            <a:endParaRPr lang="en-US" sz="3200" dirty="0" smtClean="0"/>
          </a:p>
          <a:p>
            <a:pPr marL="739775" indent="-630238">
              <a:buNone/>
            </a:pPr>
            <a:endParaRPr lang="en-US" sz="3200" dirty="0" smtClean="0"/>
          </a:p>
          <a:p>
            <a:pPr marL="739775" indent="-630238">
              <a:buNone/>
            </a:pPr>
            <a:r>
              <a:rPr lang="en-US" sz="3200" dirty="0" smtClean="0"/>
              <a:t>  </a:t>
            </a:r>
          </a:p>
          <a:p>
            <a:pPr>
              <a:buNone/>
            </a:pPr>
            <a:endParaRPr lang="en-US" sz="3200" dirty="0"/>
          </a:p>
        </p:txBody>
      </p:sp>
      <p:pic>
        <p:nvPicPr>
          <p:cNvPr id="4" name="Picture 4" descr="C:\Documents and Settings\Administrator\Desktop\hand_right.gif"/>
          <p:cNvPicPr>
            <a:picLocks noChangeAspect="1" noChangeArrowheads="1" noCrop="1"/>
          </p:cNvPicPr>
          <p:nvPr/>
        </p:nvPicPr>
        <p:blipFill>
          <a:blip r:embed="rId3">
            <a:extLst>
              <a:ext uri="{28A0092B-C50C-407E-A947-70E740481C1C}">
                <a14:useLocalDpi xmlns="" xmlns:a14="http://schemas.microsoft.com/office/drawing/2010/main" val="0"/>
              </a:ext>
            </a:extLst>
          </a:blip>
          <a:srcRect/>
          <a:stretch>
            <a:fillRect/>
          </a:stretch>
        </p:blipFill>
        <p:spPr bwMode="auto">
          <a:xfrm rot="21434720">
            <a:off x="542986" y="31425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762000"/>
            <a:ext cx="8229600" cy="4525963"/>
          </a:xfrm>
        </p:spPr>
        <p:txBody>
          <a:bodyPr>
            <a:noAutofit/>
          </a:bodyPr>
          <a:lstStyle/>
          <a:p>
            <a:pPr marL="798513" indent="-688975">
              <a:buNone/>
            </a:pPr>
            <a:r>
              <a:rPr lang="en-US" sz="3200" dirty="0" smtClean="0"/>
              <a:t>13. What kind of mirror is used in cars to give the driver a wider area and smaller image of the traffic behind him/her?</a:t>
            </a:r>
          </a:p>
          <a:p>
            <a:pPr marL="798513" indent="-688975">
              <a:buNone/>
            </a:pPr>
            <a:endParaRPr lang="en-US" sz="3200" dirty="0" smtClean="0"/>
          </a:p>
          <a:p>
            <a:pPr marL="1030288" indent="-290513">
              <a:buFont typeface="+mj-lt"/>
              <a:buAutoNum type="alphaUcPeriod"/>
            </a:pPr>
            <a:r>
              <a:rPr lang="en-US" sz="3200" dirty="0" smtClean="0"/>
              <a:t>Double concave</a:t>
            </a:r>
          </a:p>
          <a:p>
            <a:pPr marL="1030288" indent="-290513">
              <a:buFont typeface="+mj-lt"/>
              <a:buAutoNum type="alphaUcPeriod"/>
            </a:pPr>
            <a:r>
              <a:rPr lang="en-US" sz="3200" dirty="0" smtClean="0"/>
              <a:t>Convex	</a:t>
            </a:r>
          </a:p>
          <a:p>
            <a:pPr marL="1030288" indent="-290513">
              <a:buFont typeface="+mj-lt"/>
              <a:buAutoNum type="alphaUcPeriod"/>
            </a:pPr>
            <a:r>
              <a:rPr lang="en-US" sz="3200" dirty="0" smtClean="0"/>
              <a:t>Plane</a:t>
            </a:r>
          </a:p>
          <a:p>
            <a:pPr marL="1030288" indent="-290513">
              <a:buFont typeface="+mj-lt"/>
              <a:buAutoNum type="alphaUcPeriod"/>
            </a:pPr>
            <a:r>
              <a:rPr lang="en-US" sz="3200" dirty="0" smtClean="0"/>
              <a:t>Concave</a:t>
            </a:r>
          </a:p>
          <a:p>
            <a:pPr marL="798513" indent="-688975">
              <a:buNone/>
            </a:pPr>
            <a:endParaRPr lang="en-US" sz="3200" dirty="0" smtClean="0"/>
          </a:p>
          <a:p>
            <a:pPr>
              <a:buNone/>
            </a:pPr>
            <a:endParaRPr lang="en-US" sz="32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619185" y="40569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143000"/>
            <a:ext cx="8229600" cy="4525963"/>
          </a:xfrm>
        </p:spPr>
        <p:txBody>
          <a:bodyPr>
            <a:normAutofit/>
          </a:bodyPr>
          <a:lstStyle/>
          <a:p>
            <a:pPr marL="739775" indent="-630238">
              <a:buNone/>
            </a:pPr>
            <a:r>
              <a:rPr lang="en-US" sz="3200" dirty="0" smtClean="0"/>
              <a:t>14. The prevailing wind systems experienced in the Philippines are </a:t>
            </a:r>
          </a:p>
          <a:p>
            <a:pPr marL="739775" indent="-630238">
              <a:buNone/>
            </a:pPr>
            <a:endParaRPr lang="en-US" sz="3200" dirty="0" smtClean="0"/>
          </a:p>
          <a:p>
            <a:pPr marL="1030288" indent="-290513">
              <a:buFont typeface="+mj-lt"/>
              <a:buAutoNum type="alphaUcPeriod"/>
            </a:pPr>
            <a:r>
              <a:rPr lang="en-US" sz="3200" dirty="0" smtClean="0"/>
              <a:t>Northwest and Southeast monsoon </a:t>
            </a:r>
          </a:p>
          <a:p>
            <a:pPr marL="1030288" indent="-290513">
              <a:buFont typeface="+mj-lt"/>
              <a:buAutoNum type="alphaUcPeriod"/>
            </a:pPr>
            <a:r>
              <a:rPr lang="en-US" sz="3200" dirty="0" smtClean="0"/>
              <a:t>East and west monsoon </a:t>
            </a:r>
          </a:p>
          <a:p>
            <a:pPr marL="1030288" indent="-290513">
              <a:buFont typeface="+mj-lt"/>
              <a:buAutoNum type="alphaUcPeriod"/>
            </a:pPr>
            <a:r>
              <a:rPr lang="en-US" sz="3200" dirty="0" smtClean="0"/>
              <a:t>Northeast and Southwest monsoon </a:t>
            </a:r>
          </a:p>
          <a:p>
            <a:pPr marL="1030288" indent="-290513">
              <a:buFont typeface="+mj-lt"/>
              <a:buAutoNum type="alphaUcPeriod"/>
            </a:pPr>
            <a:r>
              <a:rPr lang="en-US" sz="3200" dirty="0" smtClean="0"/>
              <a:t>North and South monsoon </a:t>
            </a:r>
          </a:p>
          <a:p>
            <a:pPr>
              <a:buNone/>
            </a:pPr>
            <a:endParaRPr lang="en-US" sz="32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663514" y="39807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US"/>
          </a:p>
        </p:txBody>
      </p:sp>
      <p:sp>
        <p:nvSpPr>
          <p:cNvPr id="3" name="Title 2"/>
          <p:cNvSpPr>
            <a:spLocks noGrp="1"/>
          </p:cNvSpPr>
          <p:nvPr>
            <p:ph type="title"/>
          </p:nvPr>
        </p:nvSpPr>
        <p:spPr/>
        <p:txBody>
          <a:bodyPr/>
          <a:lstStyle/>
          <a:p>
            <a:endParaRPr lang="en-US" dirty="0"/>
          </a:p>
        </p:txBody>
      </p:sp>
      <p:pic>
        <p:nvPicPr>
          <p:cNvPr id="2050" name="Picture 2" descr="http://titsertitser.files.wordpress.com/2012/09/monsoons.jpg?w=640"/>
          <p:cNvPicPr>
            <a:picLocks noChangeAspect="1" noChangeArrowheads="1"/>
          </p:cNvPicPr>
          <p:nvPr/>
        </p:nvPicPr>
        <p:blipFill>
          <a:blip r:embed="rId2"/>
          <a:srcRect/>
          <a:stretch>
            <a:fillRect/>
          </a:stretch>
        </p:blipFill>
        <p:spPr bwMode="auto">
          <a:xfrm>
            <a:off x="1143000" y="0"/>
            <a:ext cx="6858000" cy="6858000"/>
          </a:xfrm>
          <a:prstGeom prst="rect">
            <a:avLst/>
          </a:prstGeom>
          <a:noFill/>
        </p:spPr>
      </p:pic>
    </p:spTree>
  </p:cSld>
  <p:clrMapOvr>
    <a:masterClrMapping/>
  </p:clrMapOvr>
  <p:transition>
    <p:push/>
  </p:transition>
  <p:timing>
    <p:tnLst>
      <p:par>
        <p:cTn id="1" dur="indefinite" restart="never" nodeType="tmRoot"/>
      </p:par>
    </p:tn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600" y="457200"/>
            <a:ext cx="8229600" cy="4525963"/>
          </a:xfrm>
        </p:spPr>
        <p:txBody>
          <a:bodyPr>
            <a:noAutofit/>
          </a:bodyPr>
          <a:lstStyle/>
          <a:p>
            <a:pPr marL="739775" indent="-630238">
              <a:buNone/>
            </a:pPr>
            <a:r>
              <a:rPr lang="en-US" sz="3200" dirty="0" smtClean="0"/>
              <a:t>15. </a:t>
            </a:r>
            <a:r>
              <a:rPr lang="en-PH" sz="3200" dirty="0" smtClean="0"/>
              <a:t>Jane placed some mothballs inside her cabinet. After a week they were all gone. What</a:t>
            </a:r>
            <a:r>
              <a:rPr lang="en-PH" sz="3200" cap="small" dirty="0" smtClean="0"/>
              <a:t> </a:t>
            </a:r>
            <a:r>
              <a:rPr lang="en-PH" sz="3200" dirty="0" smtClean="0"/>
              <a:t>happened to the mothballs?</a:t>
            </a:r>
          </a:p>
          <a:p>
            <a:pPr marL="739775" indent="-630238">
              <a:buNone/>
            </a:pPr>
            <a:endParaRPr lang="en-PH" sz="3200" dirty="0" smtClean="0"/>
          </a:p>
          <a:p>
            <a:pPr marL="1030288" indent="-290513">
              <a:buFont typeface="+mj-lt"/>
              <a:buAutoNum type="alphaUcPeriod"/>
            </a:pPr>
            <a:r>
              <a:rPr lang="en-US" sz="3200" dirty="0" smtClean="0"/>
              <a:t>They were dissolved by water in air. </a:t>
            </a:r>
          </a:p>
          <a:p>
            <a:pPr marL="1030288" indent="-290513">
              <a:buFont typeface="+mj-lt"/>
              <a:buAutoNum type="alphaUcPeriod"/>
            </a:pPr>
            <a:r>
              <a:rPr lang="en-US" sz="3200" dirty="0" smtClean="0"/>
              <a:t>They melted. </a:t>
            </a:r>
          </a:p>
          <a:p>
            <a:pPr marL="1030288" indent="-290513">
              <a:buFont typeface="+mj-lt"/>
              <a:buAutoNum type="alphaUcPeriod"/>
            </a:pPr>
            <a:r>
              <a:rPr lang="en-US" sz="3200" dirty="0" smtClean="0"/>
              <a:t>They sublimed. </a:t>
            </a:r>
          </a:p>
          <a:p>
            <a:pPr marL="1030288" indent="-290513">
              <a:buFont typeface="+mj-lt"/>
              <a:buAutoNum type="alphaUcPeriod"/>
            </a:pPr>
            <a:r>
              <a:rPr lang="en-US" sz="3200" dirty="0" smtClean="0"/>
              <a:t>They condensed</a:t>
            </a:r>
          </a:p>
          <a:p>
            <a:pPr>
              <a:buNone/>
            </a:pPr>
            <a:endParaRPr lang="en-US" sz="32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695385" y="47427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US"/>
          </a:p>
        </p:txBody>
      </p:sp>
      <p:sp>
        <p:nvSpPr>
          <p:cNvPr id="3" name="Title 2"/>
          <p:cNvSpPr>
            <a:spLocks noGrp="1"/>
          </p:cNvSpPr>
          <p:nvPr>
            <p:ph type="title"/>
          </p:nvPr>
        </p:nvSpPr>
        <p:spPr/>
        <p:txBody>
          <a:bodyPr/>
          <a:lstStyle/>
          <a:p>
            <a:endParaRPr lang="en-US" dirty="0"/>
          </a:p>
        </p:txBody>
      </p:sp>
      <p:pic>
        <p:nvPicPr>
          <p:cNvPr id="336898" name="Picture 2" descr="http://www.chemistry.wustl.edu/~edudev/LabTutorials/Thermochem/images/PhaseChanges.jpg"/>
          <p:cNvPicPr>
            <a:picLocks noChangeAspect="1" noChangeArrowheads="1"/>
          </p:cNvPicPr>
          <p:nvPr/>
        </p:nvPicPr>
        <p:blipFill>
          <a:blip r:embed="rId2"/>
          <a:srcRect/>
          <a:stretch>
            <a:fillRect/>
          </a:stretch>
        </p:blipFill>
        <p:spPr bwMode="auto">
          <a:xfrm>
            <a:off x="0" y="0"/>
            <a:ext cx="9144000" cy="6850966"/>
          </a:xfrm>
          <a:prstGeom prst="rect">
            <a:avLst/>
          </a:prstGeom>
          <a:noFill/>
        </p:spPr>
      </p:pic>
    </p:spTree>
  </p:cSld>
  <p:clrMapOvr>
    <a:masterClrMapping/>
  </p:clrMapOvr>
  <p:transition>
    <p:push/>
  </p:transition>
  <p:timing>
    <p:tnLst>
      <p:par>
        <p:cTn id="1" dur="indefinite" restart="never" nodeType="tmRoot"/>
      </p:par>
    </p:tn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219200"/>
            <a:ext cx="8229600" cy="4525963"/>
          </a:xfrm>
        </p:spPr>
        <p:txBody>
          <a:bodyPr>
            <a:normAutofit/>
          </a:bodyPr>
          <a:lstStyle/>
          <a:p>
            <a:pPr marL="739775" indent="-630238">
              <a:buNone/>
            </a:pPr>
            <a:r>
              <a:rPr lang="en-US" sz="3200" dirty="0" smtClean="0"/>
              <a:t>16. All of the following contribute to the greenhouse effect, EXCEPT :</a:t>
            </a:r>
          </a:p>
          <a:p>
            <a:pPr marL="739775" indent="-630238">
              <a:buNone/>
            </a:pPr>
            <a:endParaRPr lang="en-US" sz="3200" dirty="0" smtClean="0"/>
          </a:p>
          <a:p>
            <a:pPr marL="1089025" indent="-349250">
              <a:buFont typeface="+mj-lt"/>
              <a:buAutoNum type="alphaUcPeriod"/>
            </a:pPr>
            <a:r>
              <a:rPr lang="en-US" sz="3200" dirty="0" smtClean="0"/>
              <a:t>Extensive deforestation	</a:t>
            </a:r>
          </a:p>
          <a:p>
            <a:pPr marL="1089025" indent="-349250">
              <a:buFont typeface="+mj-lt"/>
              <a:buAutoNum type="alphaUcPeriod"/>
            </a:pPr>
            <a:r>
              <a:rPr lang="en-US" sz="3200" dirty="0" smtClean="0"/>
              <a:t>Excessive use of detergents </a:t>
            </a:r>
          </a:p>
          <a:p>
            <a:pPr marL="1089025" indent="-349250">
              <a:buFont typeface="+mj-lt"/>
              <a:buAutoNum type="alphaUcPeriod"/>
            </a:pPr>
            <a:r>
              <a:rPr lang="en-US" sz="3200" dirty="0" smtClean="0"/>
              <a:t>Forest fires</a:t>
            </a:r>
          </a:p>
          <a:p>
            <a:pPr marL="1089025" indent="-349250">
              <a:buFont typeface="+mj-lt"/>
              <a:buAutoNum type="alphaUcPeriod"/>
            </a:pPr>
            <a:r>
              <a:rPr lang="en-US" sz="3200" dirty="0" smtClean="0"/>
              <a:t>Uncontrolled burning of wastes</a:t>
            </a:r>
            <a:endParaRPr lang="en-US" sz="32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542986" y="3523574"/>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609600"/>
            <a:ext cx="8229600" cy="5943600"/>
          </a:xfrm>
        </p:spPr>
        <p:txBody>
          <a:bodyPr>
            <a:normAutofit fontScale="92500"/>
          </a:bodyPr>
          <a:lstStyle/>
          <a:p>
            <a:pPr marL="682625" indent="-573088">
              <a:buNone/>
            </a:pPr>
            <a:r>
              <a:rPr lang="en-US" dirty="0" smtClean="0"/>
              <a:t>17. </a:t>
            </a:r>
            <a:r>
              <a:rPr lang="en-US" sz="3000" dirty="0" smtClean="0"/>
              <a:t>Which of the following BEST differentiates an earthquake's intensity from its magnitude?</a:t>
            </a:r>
            <a:endParaRPr lang="en-US" sz="4300" dirty="0" smtClean="0"/>
          </a:p>
          <a:p>
            <a:pPr marL="1030288" lvl="1" indent="-347663">
              <a:buFont typeface="+mj-lt"/>
              <a:buAutoNum type="alphaUcPeriod"/>
            </a:pPr>
            <a:r>
              <a:rPr lang="en-PH" sz="2600" dirty="0" smtClean="0"/>
              <a:t>Intensity describes 'the depth from which the earthquake originated  while magnitude refers to the energy of the earthquake. </a:t>
            </a:r>
            <a:endParaRPr lang="en-US" sz="3500" dirty="0" smtClean="0"/>
          </a:p>
          <a:p>
            <a:pPr marL="1030288" lvl="1" indent="-347663">
              <a:buFont typeface="+mj-lt"/>
              <a:buAutoNum type="alphaUcPeriod"/>
            </a:pPr>
            <a:r>
              <a:rPr lang="en-PH" sz="2600" dirty="0" smtClean="0"/>
              <a:t>Intensity cannot be measured while magnitude can be measured using a seismograph.</a:t>
            </a:r>
            <a:endParaRPr lang="en-US" sz="3500" dirty="0" smtClean="0"/>
          </a:p>
          <a:p>
            <a:pPr marL="1030288" lvl="1" indent="-347663">
              <a:buFont typeface="+mj-lt"/>
              <a:buAutoNum type="alphaUcPeriod"/>
            </a:pPr>
            <a:r>
              <a:rPr lang="en-PH" sz="2600" dirty="0" smtClean="0"/>
              <a:t>Intensity refers to the strength of the quake while magnitude refers to the degree of destruction it caused at its </a:t>
            </a:r>
            <a:r>
              <a:rPr lang="en-PH" sz="2600" dirty="0" err="1" smtClean="0"/>
              <a:t>epicenter</a:t>
            </a:r>
            <a:r>
              <a:rPr lang="en-PH" sz="2600" dirty="0" smtClean="0"/>
              <a:t>. </a:t>
            </a:r>
            <a:endParaRPr lang="en-US" sz="3500" dirty="0" smtClean="0"/>
          </a:p>
          <a:p>
            <a:pPr marL="1030288" lvl="1" indent="-347663">
              <a:buFont typeface="+mj-lt"/>
              <a:buAutoNum type="alphaUcPeriod"/>
            </a:pPr>
            <a:r>
              <a:rPr lang="en-PH" sz="2600" dirty="0" smtClean="0"/>
              <a:t>Intensity is a measure of how much damage an earthquake cause at the surface while magnitude is the strength of the quake.</a:t>
            </a:r>
            <a:endParaRPr lang="en-US" sz="3500" dirty="0" smtClean="0"/>
          </a:p>
          <a:p>
            <a:pPr>
              <a:buNone/>
            </a:pPr>
            <a:endParaRPr lang="en-US" dirty="0"/>
          </a:p>
        </p:txBody>
      </p:sp>
      <p:pic>
        <p:nvPicPr>
          <p:cNvPr id="3"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466785" y="5047574"/>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295400"/>
            <a:ext cx="8229600" cy="4525963"/>
          </a:xfrm>
        </p:spPr>
        <p:txBody>
          <a:bodyPr>
            <a:noAutofit/>
          </a:bodyPr>
          <a:lstStyle/>
          <a:p>
            <a:pPr marL="739775" indent="-630238">
              <a:buNone/>
            </a:pPr>
            <a:r>
              <a:rPr lang="en-US" sz="3000" dirty="0" smtClean="0"/>
              <a:t>18. Why do we hear thunder some seconds after seeing lightning?</a:t>
            </a:r>
          </a:p>
          <a:p>
            <a:pPr marL="739775" indent="-630238">
              <a:buNone/>
            </a:pPr>
            <a:endParaRPr lang="en-US" sz="3000" dirty="0" smtClean="0"/>
          </a:p>
          <a:p>
            <a:pPr marL="1030288" lvl="0" indent="-290513">
              <a:buFont typeface="+mj-lt"/>
              <a:buAutoNum type="alphaUcPeriod"/>
            </a:pPr>
            <a:r>
              <a:rPr lang="en-US" sz="3000" dirty="0" smtClean="0"/>
              <a:t>Light appears brighter in the sky.</a:t>
            </a:r>
          </a:p>
          <a:p>
            <a:pPr marL="1030288" lvl="0" indent="-290513">
              <a:buFont typeface="+mj-lt"/>
              <a:buAutoNum type="alphaUcPeriod"/>
            </a:pPr>
            <a:r>
              <a:rPr lang="en-US" sz="3000" dirty="0" smtClean="0"/>
              <a:t>Light travels faster than sound.</a:t>
            </a:r>
          </a:p>
          <a:p>
            <a:pPr marL="1030288" lvl="0" indent="-290513">
              <a:buFont typeface="+mj-lt"/>
              <a:buAutoNum type="alphaUcPeriod"/>
            </a:pPr>
            <a:r>
              <a:rPr lang="en-US" sz="3000" dirty="0" smtClean="0"/>
              <a:t>Sound travels 1.331 m/s</a:t>
            </a:r>
          </a:p>
          <a:p>
            <a:pPr marL="1030288" lvl="0" indent="-290513">
              <a:buFont typeface="+mj-lt"/>
              <a:buAutoNum type="alphaUcPeriod"/>
            </a:pPr>
            <a:r>
              <a:rPr lang="en-US" sz="3000" dirty="0" smtClean="0"/>
              <a:t>Sound is released later actually.</a:t>
            </a:r>
          </a:p>
          <a:p>
            <a:pPr marL="739775" indent="-630238">
              <a:buNone/>
            </a:pPr>
            <a:endParaRPr lang="en-US" sz="3000" dirty="0"/>
          </a:p>
        </p:txBody>
      </p:sp>
      <p:pic>
        <p:nvPicPr>
          <p:cNvPr id="4" name="Picture 3"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695385" y="34473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739775" indent="-630238">
              <a:buNone/>
            </a:pPr>
            <a:r>
              <a:rPr lang="en-US" dirty="0" smtClean="0"/>
              <a:t>19. </a:t>
            </a:r>
            <a:r>
              <a:rPr lang="en-US" sz="2800" dirty="0" smtClean="0"/>
              <a:t>When do doctors declare dengue fever as an epidemic?</a:t>
            </a:r>
            <a:endParaRPr lang="en-US" dirty="0" smtClean="0"/>
          </a:p>
          <a:p>
            <a:pPr marL="1089025" lvl="0" indent="-349250">
              <a:buFont typeface="+mj-lt"/>
              <a:buAutoNum type="alphaUcPeriod"/>
            </a:pPr>
            <a:r>
              <a:rPr lang="en-US" dirty="0" smtClean="0"/>
              <a:t>When everyone is suffering from a cold.</a:t>
            </a:r>
          </a:p>
          <a:p>
            <a:pPr marL="1089025" lvl="0" indent="-349250">
              <a:buFont typeface="+mj-lt"/>
              <a:buAutoNum type="alphaUcPeriod"/>
            </a:pPr>
            <a:r>
              <a:rPr lang="en-US" dirty="0" smtClean="0"/>
              <a:t>When two are hospitalized from the neighborhood</a:t>
            </a:r>
          </a:p>
          <a:p>
            <a:pPr marL="1089025" lvl="0" indent="-349250">
              <a:buFont typeface="+mj-lt"/>
              <a:buAutoNum type="alphaUcPeriod"/>
            </a:pPr>
            <a:r>
              <a:rPr lang="en-US" dirty="0" smtClean="0"/>
              <a:t>When the proportion of patients reach at least 15% of the population</a:t>
            </a:r>
          </a:p>
          <a:p>
            <a:pPr marL="1089025" lvl="0" indent="-349250">
              <a:buFont typeface="+mj-lt"/>
              <a:buAutoNum type="alphaUcPeriod"/>
            </a:pPr>
            <a:r>
              <a:rPr lang="en-US" dirty="0" smtClean="0"/>
              <a:t>When every household of fine houses are sick with high fever</a:t>
            </a:r>
          </a:p>
          <a:p>
            <a:pPr>
              <a:buNone/>
            </a:pPr>
            <a:endParaRPr lang="en-US" dirty="0"/>
          </a:p>
        </p:txBody>
      </p:sp>
      <p:pic>
        <p:nvPicPr>
          <p:cNvPr id="3" name="Picture 2"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695385" y="3907512"/>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457200"/>
            <a:ext cx="8229600" cy="4525963"/>
          </a:xfrm>
        </p:spPr>
        <p:txBody>
          <a:bodyPr>
            <a:noAutofit/>
          </a:bodyPr>
          <a:lstStyle/>
          <a:p>
            <a:pPr marL="739775" indent="-630238">
              <a:buNone/>
            </a:pPr>
            <a:r>
              <a:rPr lang="en-US" sz="3000" dirty="0" smtClean="0"/>
              <a:t>20. The El Niño phenomenon which grabbed control of the world’s weather machine is identified by climatologists as</a:t>
            </a:r>
          </a:p>
          <a:p>
            <a:pPr marL="739775" indent="-630238">
              <a:buNone/>
            </a:pPr>
            <a:endParaRPr lang="en-US" sz="3000" dirty="0" smtClean="0"/>
          </a:p>
          <a:p>
            <a:pPr marL="1146175" lvl="1" indent="-347663">
              <a:buFont typeface="+mj-lt"/>
              <a:buAutoNum type="alphaUcPeriod"/>
            </a:pPr>
            <a:r>
              <a:rPr lang="en-US" sz="3000" dirty="0" smtClean="0"/>
              <a:t> Lack of rains, droughts, crop failure</a:t>
            </a:r>
          </a:p>
          <a:p>
            <a:pPr marL="1146175" lvl="1" indent="-347663">
              <a:buFont typeface="+mj-lt"/>
              <a:buAutoNum type="alphaUcPeriod"/>
            </a:pPr>
            <a:r>
              <a:rPr lang="en-US" sz="3000" dirty="0" smtClean="0"/>
              <a:t> Landslides, flash floods, warm air currents</a:t>
            </a:r>
          </a:p>
          <a:p>
            <a:pPr marL="1146175" lvl="1" indent="-347663">
              <a:buFont typeface="+mj-lt"/>
              <a:buAutoNum type="alphaUcPeriod"/>
            </a:pPr>
            <a:r>
              <a:rPr lang="en-US" sz="3000" dirty="0" smtClean="0"/>
              <a:t> Heavy downpours, tropical storm in some parts of the earth</a:t>
            </a:r>
          </a:p>
          <a:p>
            <a:pPr marL="1146175" lvl="1" indent="-347663">
              <a:buFont typeface="+mj-lt"/>
              <a:buAutoNum type="alphaUcPeriod"/>
            </a:pPr>
            <a:r>
              <a:rPr lang="en-US" sz="3000" dirty="0" smtClean="0"/>
              <a:t> All of these</a:t>
            </a:r>
          </a:p>
          <a:p>
            <a:pPr>
              <a:buNone/>
            </a:pPr>
            <a:endParaRPr lang="en-US" sz="30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771585" y="54285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685800"/>
            <a:ext cx="8229600" cy="5321491"/>
          </a:xfrm>
        </p:spPr>
        <p:txBody>
          <a:bodyPr>
            <a:normAutofit lnSpcReduction="10000"/>
          </a:bodyPr>
          <a:lstStyle/>
          <a:p>
            <a:pPr marL="109728" indent="0">
              <a:buNone/>
            </a:pPr>
            <a:r>
              <a:rPr lang="en-US" dirty="0"/>
              <a:t>Because the rain machine in the west stops working, southeast Asia and Australia suffer devastating droughts. Meanwhile, North and South America get drenched, because the rain machine in the east is working overtime. Farther downstream in the great wind bands that circle the globe, El Niño continues to create havoc. By using the bands of prevailing winds as avenues along which to transmit its disruptive waves, El Niño eventually influences weather in Africa, the North Atlantic, even the Middle East. </a:t>
            </a:r>
            <a:r>
              <a:rPr lang="en-US" dirty="0" err="1"/>
              <a:t>Teleconnected</a:t>
            </a:r>
            <a:r>
              <a:rPr lang="en-US" dirty="0"/>
              <a:t> to distant regions by the Earth's rivers of air, </a:t>
            </a:r>
            <a:r>
              <a:rPr lang="en-US" b="1" i="1" dirty="0"/>
              <a:t>El Niño invades the global weather machine</a:t>
            </a:r>
            <a:r>
              <a:rPr lang="en-US" dirty="0"/>
              <a:t>.</a:t>
            </a:r>
          </a:p>
        </p:txBody>
      </p:sp>
    </p:spTree>
    <p:extLst>
      <p:ext uri="{BB962C8B-B14F-4D97-AF65-F5344CB8AC3E}">
        <p14:creationId xmlns="" xmlns:p14="http://schemas.microsoft.com/office/powerpoint/2010/main" val="2785355707"/>
      </p:ext>
    </p:extLst>
  </p:cSld>
  <p:clrMapOvr>
    <a:masterClrMapping/>
  </p:clrMapOvr>
  <p:transition>
    <p:push/>
  </p:transition>
  <p:timing>
    <p:tnLst>
      <p:par>
        <p:cTn id="1" dur="indefinite" restart="never" nodeType="tmRoot"/>
      </p:par>
    </p:tn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1000" y="685800"/>
            <a:ext cx="8229600" cy="4525963"/>
          </a:xfrm>
        </p:spPr>
        <p:txBody>
          <a:bodyPr>
            <a:noAutofit/>
          </a:bodyPr>
          <a:lstStyle/>
          <a:p>
            <a:pPr marL="739775" indent="-630238">
              <a:buNone/>
            </a:pPr>
            <a:r>
              <a:rPr lang="en-US" sz="3200" dirty="0" smtClean="0"/>
              <a:t>21. When lighted, the energy of the alcohol in a lamp is</a:t>
            </a:r>
          </a:p>
          <a:p>
            <a:pPr marL="739775" indent="-630238">
              <a:buNone/>
            </a:pPr>
            <a:endParaRPr lang="en-US" sz="3200" dirty="0" smtClean="0"/>
          </a:p>
          <a:p>
            <a:pPr marL="1030288" indent="-290513">
              <a:buFont typeface="+mj-lt"/>
              <a:buAutoNum type="alphaUcPeriod"/>
            </a:pPr>
            <a:r>
              <a:rPr lang="en-US" sz="3200" dirty="0" smtClean="0"/>
              <a:t>Transformed from chemical to mechanical energy</a:t>
            </a:r>
          </a:p>
          <a:p>
            <a:pPr marL="1030288" indent="-290513">
              <a:buFont typeface="+mj-lt"/>
              <a:buAutoNum type="alphaUcPeriod"/>
            </a:pPr>
            <a:r>
              <a:rPr lang="en-US" sz="3200" dirty="0" smtClean="0"/>
              <a:t>Transformed from chemical to heat energy</a:t>
            </a:r>
          </a:p>
          <a:p>
            <a:pPr marL="1030288" indent="-290513">
              <a:buFont typeface="+mj-lt"/>
              <a:buAutoNum type="alphaUcPeriod"/>
            </a:pPr>
            <a:r>
              <a:rPr lang="en-US" sz="3200" dirty="0" smtClean="0"/>
              <a:t>Lost while heating is done</a:t>
            </a:r>
          </a:p>
          <a:p>
            <a:pPr marL="1030288" indent="-290513">
              <a:buFont typeface="+mj-lt"/>
              <a:buAutoNum type="alphaUcPeriod"/>
            </a:pPr>
            <a:r>
              <a:rPr lang="en-US" sz="3200" dirty="0" smtClean="0"/>
              <a:t>Completely destroyed</a:t>
            </a:r>
          </a:p>
          <a:p>
            <a:pPr>
              <a:buNone/>
            </a:pPr>
            <a:endParaRPr lang="en-US" sz="32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542986" y="3523574"/>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1000" y="1524000"/>
            <a:ext cx="8382000" cy="4525963"/>
          </a:xfrm>
        </p:spPr>
        <p:txBody>
          <a:bodyPr>
            <a:normAutofit/>
          </a:bodyPr>
          <a:lstStyle/>
          <a:p>
            <a:pPr>
              <a:buNone/>
            </a:pPr>
            <a:r>
              <a:rPr lang="en-US" sz="3200" dirty="0" smtClean="0"/>
              <a:t>22. Fossils are most likely to be found in</a:t>
            </a:r>
          </a:p>
          <a:p>
            <a:pPr>
              <a:buNone/>
            </a:pPr>
            <a:endParaRPr lang="en-US" sz="3200" dirty="0" smtClean="0"/>
          </a:p>
          <a:p>
            <a:pPr marL="1146175" indent="-347663">
              <a:buFont typeface="+mj-lt"/>
              <a:buAutoNum type="alphaUcPeriod"/>
            </a:pPr>
            <a:r>
              <a:rPr lang="en-US" sz="3200" dirty="0" smtClean="0"/>
              <a:t>Ocean floor	</a:t>
            </a:r>
          </a:p>
          <a:p>
            <a:pPr marL="1146175" indent="-347663">
              <a:buFont typeface="+mj-lt"/>
              <a:buAutoNum type="alphaUcPeriod"/>
            </a:pPr>
            <a:r>
              <a:rPr lang="en-US" sz="3200" dirty="0" smtClean="0"/>
              <a:t>Sedimentary rocks</a:t>
            </a:r>
          </a:p>
          <a:p>
            <a:pPr marL="1146175" indent="-347663">
              <a:buFont typeface="+mj-lt"/>
              <a:buAutoNum type="alphaUcPeriod"/>
            </a:pPr>
            <a:r>
              <a:rPr lang="en-US" sz="3200" dirty="0" smtClean="0"/>
              <a:t>Igneous rocks</a:t>
            </a:r>
          </a:p>
          <a:p>
            <a:pPr marL="1146175" indent="-347663">
              <a:buFont typeface="+mj-lt"/>
              <a:buAutoNum type="alphaUcPeriod"/>
            </a:pPr>
            <a:r>
              <a:rPr lang="en-US" sz="3200" dirty="0" smtClean="0"/>
              <a:t>Metamorphic rocks</a:t>
            </a:r>
            <a:endParaRPr lang="en-US" sz="3200" dirty="0"/>
          </a:p>
        </p:txBody>
      </p:sp>
      <p:pic>
        <p:nvPicPr>
          <p:cNvPr id="4" name="Picture 4" descr="C:\Documents and Settings\Administrator\Desktop\hand_right.gif"/>
          <p:cNvPicPr>
            <a:picLocks noChangeAspect="1" noChangeArrowheads="1" noCrop="1"/>
          </p:cNvPicPr>
          <p:nvPr/>
        </p:nvPicPr>
        <p:blipFill>
          <a:blip r:embed="rId3">
            <a:extLst>
              <a:ext uri="{28A0092B-C50C-407E-A947-70E740481C1C}">
                <a14:useLocalDpi xmlns="" xmlns:a14="http://schemas.microsoft.com/office/drawing/2010/main" val="0"/>
              </a:ext>
            </a:extLst>
          </a:blip>
          <a:srcRect/>
          <a:stretch>
            <a:fillRect/>
          </a:stretch>
        </p:blipFill>
        <p:spPr bwMode="auto">
          <a:xfrm rot="21434720">
            <a:off x="542985" y="33711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US"/>
          </a:p>
        </p:txBody>
      </p:sp>
      <p:sp>
        <p:nvSpPr>
          <p:cNvPr id="3" name="Title 2"/>
          <p:cNvSpPr>
            <a:spLocks noGrp="1"/>
          </p:cNvSpPr>
          <p:nvPr>
            <p:ph type="title"/>
          </p:nvPr>
        </p:nvSpPr>
        <p:spPr/>
        <p:txBody>
          <a:bodyPr/>
          <a:lstStyle/>
          <a:p>
            <a:endParaRPr lang="en-US" dirty="0"/>
          </a:p>
        </p:txBody>
      </p:sp>
      <p:pic>
        <p:nvPicPr>
          <p:cNvPr id="337922" name="Picture 2" descr="http://www.gly.uga.edu/railsback/1121RocksISM.jpeg"/>
          <p:cNvPicPr>
            <a:picLocks noChangeAspect="1" noChangeArrowheads="1"/>
          </p:cNvPicPr>
          <p:nvPr/>
        </p:nvPicPr>
        <p:blipFill>
          <a:blip r:embed="rId2"/>
          <a:srcRect/>
          <a:stretch>
            <a:fillRect/>
          </a:stretch>
        </p:blipFill>
        <p:spPr bwMode="auto">
          <a:xfrm>
            <a:off x="0" y="0"/>
            <a:ext cx="9144000" cy="6858000"/>
          </a:xfrm>
          <a:prstGeom prst="rect">
            <a:avLst/>
          </a:prstGeom>
          <a:noFill/>
        </p:spPr>
      </p:pic>
    </p:spTree>
  </p:cSld>
  <p:clrMapOvr>
    <a:masterClrMapping/>
  </p:clrMapOvr>
  <p:transition>
    <p:push/>
  </p:transition>
  <p:timing>
    <p:tnLst>
      <p:par>
        <p:cTn id="1" dur="indefinite" restart="never" nodeType="tmRoot"/>
      </p:par>
    </p:tn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33400" y="609600"/>
            <a:ext cx="8229600" cy="4525963"/>
          </a:xfrm>
        </p:spPr>
        <p:txBody>
          <a:bodyPr>
            <a:noAutofit/>
          </a:bodyPr>
          <a:lstStyle/>
          <a:p>
            <a:pPr marL="739775" lvl="0" indent="-630238">
              <a:buNone/>
            </a:pPr>
            <a:r>
              <a:rPr lang="en-US" sz="3200" dirty="0" smtClean="0"/>
              <a:t>23. The volume of a gas is inversely proportional to its pressure. When the pressure is 30 cm of mercury, the volume is 600 cubic cm. Find the pressure when the volume is 250 cubic cm.</a:t>
            </a:r>
          </a:p>
          <a:p>
            <a:pPr marL="739775" lvl="0" indent="-630238">
              <a:buNone/>
            </a:pPr>
            <a:endParaRPr lang="en-US" sz="3200" dirty="0" smtClean="0"/>
          </a:p>
          <a:p>
            <a:pPr marL="1030288" lvl="0" indent="-290513">
              <a:buFont typeface="+mj-lt"/>
              <a:buAutoNum type="alphaUcPeriod"/>
            </a:pPr>
            <a:r>
              <a:rPr lang="en-US" sz="3200" dirty="0" smtClean="0"/>
              <a:t>12.5 cm of mercury</a:t>
            </a:r>
          </a:p>
          <a:p>
            <a:pPr marL="1030288" lvl="0" indent="-290513">
              <a:buFont typeface="+mj-lt"/>
              <a:buAutoNum type="alphaUcPeriod"/>
            </a:pPr>
            <a:r>
              <a:rPr lang="en-US" sz="3200" dirty="0" smtClean="0"/>
              <a:t>28 cm of mercury </a:t>
            </a:r>
          </a:p>
          <a:p>
            <a:pPr marL="1030288" lvl="0" indent="-290513">
              <a:buFont typeface="+mj-lt"/>
              <a:buAutoNum type="alphaUcPeriod"/>
            </a:pPr>
            <a:r>
              <a:rPr lang="en-US" sz="3200" dirty="0" smtClean="0"/>
              <a:t>72 cm of mercury</a:t>
            </a:r>
          </a:p>
          <a:p>
            <a:pPr marL="1030288" lvl="0" indent="-290513">
              <a:buFont typeface="+mj-lt"/>
              <a:buAutoNum type="alphaUcPeriod"/>
            </a:pPr>
            <a:r>
              <a:rPr lang="en-US" sz="3200" dirty="0" smtClean="0"/>
              <a:t>65 cm of mercury</a:t>
            </a:r>
          </a:p>
          <a:p>
            <a:pPr>
              <a:buNone/>
            </a:pPr>
            <a:endParaRPr lang="en-US" sz="3200" dirty="0"/>
          </a:p>
        </p:txBody>
      </p:sp>
      <p:pic>
        <p:nvPicPr>
          <p:cNvPr id="4" name="Picture 4" descr="C:\Documents and Settings\Administrator\Desktop\hand_right.gif"/>
          <p:cNvPicPr>
            <a:picLocks noChangeAspect="1" noChangeArrowheads="1" noCrop="1"/>
          </p:cNvPicPr>
          <p:nvPr/>
        </p:nvPicPr>
        <p:blipFill>
          <a:blip r:embed="rId3">
            <a:extLst>
              <a:ext uri="{28A0092B-C50C-407E-A947-70E740481C1C}">
                <a14:useLocalDpi xmlns="" xmlns:a14="http://schemas.microsoft.com/office/drawing/2010/main" val="0"/>
              </a:ext>
            </a:extLst>
          </a:blip>
          <a:srcRect/>
          <a:stretch>
            <a:fillRect/>
          </a:stretch>
        </p:blipFill>
        <p:spPr bwMode="auto">
          <a:xfrm rot="21434720">
            <a:off x="619185" y="53523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219200" y="2438400"/>
            <a:ext cx="6858000" cy="3047999"/>
          </a:xfrm>
        </p:spPr>
        <p:txBody>
          <a:bodyPr/>
          <a:lstStyle/>
          <a:p>
            <a:pPr>
              <a:buNone/>
            </a:pPr>
            <a:r>
              <a:rPr lang="en-US" sz="4000" dirty="0" smtClean="0"/>
              <a:t>         P1V1 = P2V2</a:t>
            </a:r>
          </a:p>
          <a:p>
            <a:pPr>
              <a:buNone/>
            </a:pPr>
            <a:r>
              <a:rPr lang="en-US" sz="4000" dirty="0" smtClean="0"/>
              <a:t>     30x600 = 250X</a:t>
            </a:r>
          </a:p>
          <a:p>
            <a:pPr>
              <a:buNone/>
            </a:pPr>
            <a:r>
              <a:rPr lang="en-US" sz="4000" dirty="0" smtClean="0"/>
              <a:t>18000/250= 250X/250</a:t>
            </a:r>
          </a:p>
          <a:p>
            <a:pPr marL="624078" indent="-514350">
              <a:buNone/>
            </a:pPr>
            <a:r>
              <a:rPr lang="en-US" sz="4000" dirty="0" smtClean="0"/>
              <a:t>			 72	 = X</a:t>
            </a:r>
          </a:p>
          <a:p>
            <a:pPr marL="624078" indent="-514350">
              <a:buAutoNum type="arabicPlain" startAt="250"/>
            </a:pPr>
            <a:endParaRPr lang="en-US" dirty="0" smtClean="0"/>
          </a:p>
          <a:p>
            <a:pPr>
              <a:buNone/>
            </a:pPr>
            <a:endParaRPr lang="en-US" dirty="0"/>
          </a:p>
        </p:txBody>
      </p:sp>
      <p:sp>
        <p:nvSpPr>
          <p:cNvPr id="3" name="Title 2"/>
          <p:cNvSpPr>
            <a:spLocks noGrp="1"/>
          </p:cNvSpPr>
          <p:nvPr>
            <p:ph type="title"/>
          </p:nvPr>
        </p:nvSpPr>
        <p:spPr/>
        <p:txBody>
          <a:bodyPr/>
          <a:lstStyle/>
          <a:p>
            <a:endParaRPr lang="en-US" dirty="0"/>
          </a:p>
        </p:txBody>
      </p:sp>
      <p:pic>
        <p:nvPicPr>
          <p:cNvPr id="338946" name="Picture 2" descr="http://upload.wikimedia.org/math/1/f/d/1fdabf04c30efe1b5d1a0d12d37f3643.png"/>
          <p:cNvPicPr>
            <a:picLocks noChangeAspect="1" noChangeArrowheads="1"/>
          </p:cNvPicPr>
          <p:nvPr/>
        </p:nvPicPr>
        <p:blipFill>
          <a:blip r:embed="rId2"/>
          <a:srcRect/>
          <a:stretch>
            <a:fillRect/>
          </a:stretch>
        </p:blipFill>
        <p:spPr bwMode="auto">
          <a:xfrm>
            <a:off x="155575" y="-136525"/>
            <a:ext cx="1047750" cy="171450"/>
          </a:xfrm>
          <a:prstGeom prst="rect">
            <a:avLst/>
          </a:prstGeom>
          <a:noFill/>
        </p:spPr>
      </p:pic>
      <p:pic>
        <p:nvPicPr>
          <p:cNvPr id="338948" name="Picture 4" descr="http://upload.wikimedia.org/math/1/f/d/1fdabf04c30efe1b5d1a0d12d37f3643.png"/>
          <p:cNvPicPr>
            <a:picLocks noChangeAspect="1" noChangeArrowheads="1"/>
          </p:cNvPicPr>
          <p:nvPr/>
        </p:nvPicPr>
        <p:blipFill>
          <a:blip r:embed="rId2"/>
          <a:srcRect/>
          <a:stretch>
            <a:fillRect/>
          </a:stretch>
        </p:blipFill>
        <p:spPr bwMode="auto">
          <a:xfrm>
            <a:off x="155575" y="-136525"/>
            <a:ext cx="1047750" cy="171450"/>
          </a:xfrm>
          <a:prstGeom prst="rect">
            <a:avLst/>
          </a:prstGeom>
          <a:noFill/>
        </p:spPr>
      </p:pic>
    </p:spTree>
  </p:cSld>
  <p:clrMapOvr>
    <a:masterClrMapping/>
  </p:clrMapOvr>
  <p:transition>
    <p:push/>
  </p:transition>
  <p:timing>
    <p:tnLst>
      <p:par>
        <p:cTn id="1" dur="indefinite" restart="never" nodeType="tmRoot"/>
      </p:par>
    </p:tn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33400" y="533400"/>
            <a:ext cx="8229600" cy="4724400"/>
          </a:xfrm>
        </p:spPr>
        <p:txBody>
          <a:bodyPr>
            <a:noAutofit/>
          </a:bodyPr>
          <a:lstStyle/>
          <a:p>
            <a:pPr marL="739775" lvl="0" indent="-630238">
              <a:buNone/>
            </a:pPr>
            <a:r>
              <a:rPr lang="en-US" sz="2800" dirty="0" smtClean="0"/>
              <a:t>24. Symbiosis is defined by biologists as individuals of different species living together in intimate association, regardless of whether the association is harmful, neutral, or beneficial. All of the following pairs are examples of symbiosis EXCEPT:</a:t>
            </a:r>
          </a:p>
          <a:p>
            <a:pPr marL="739775" lvl="0" indent="-630238">
              <a:buNone/>
            </a:pPr>
            <a:endParaRPr lang="en-US" sz="2800" dirty="0" smtClean="0"/>
          </a:p>
          <a:p>
            <a:pPr marL="1030288" lvl="0" indent="-290513">
              <a:buFont typeface="+mj-lt"/>
              <a:buAutoNum type="alphaUcPeriod"/>
            </a:pPr>
            <a:r>
              <a:rPr lang="en-US" sz="2800" dirty="0" smtClean="0"/>
              <a:t>Humans and tapeworms</a:t>
            </a:r>
          </a:p>
          <a:p>
            <a:pPr marL="1030288" lvl="0" indent="-290513">
              <a:buFont typeface="+mj-lt"/>
              <a:buAutoNum type="alphaUcPeriod"/>
            </a:pPr>
            <a:r>
              <a:rPr lang="en-US" sz="2800" dirty="0" smtClean="0"/>
              <a:t>Dogs and fleas</a:t>
            </a:r>
          </a:p>
          <a:p>
            <a:pPr marL="1030288" lvl="0" indent="-290513">
              <a:buFont typeface="+mj-lt"/>
              <a:buAutoNum type="alphaUcPeriod"/>
            </a:pPr>
            <a:r>
              <a:rPr lang="en-US" sz="2800" dirty="0" smtClean="0"/>
              <a:t>Ants and aphids</a:t>
            </a:r>
          </a:p>
          <a:p>
            <a:pPr marL="1030288" lvl="0" indent="-290513">
              <a:buFont typeface="+mj-lt"/>
              <a:buAutoNum type="alphaUcPeriod"/>
            </a:pPr>
            <a:r>
              <a:rPr lang="en-US" sz="2800" dirty="0" smtClean="0"/>
              <a:t>Cats and mice</a:t>
            </a:r>
          </a:p>
          <a:p>
            <a:pPr marL="739775" lvl="0" indent="-630238">
              <a:buNone/>
            </a:pPr>
            <a:endParaRPr lang="en-US" sz="2800" dirty="0" smtClean="0"/>
          </a:p>
          <a:p>
            <a:pPr>
              <a:buNone/>
            </a:pPr>
            <a:endParaRPr lang="en-US" sz="2800" dirty="0"/>
          </a:p>
        </p:txBody>
      </p:sp>
      <p:pic>
        <p:nvPicPr>
          <p:cNvPr id="3"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695384" y="5123774"/>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dirty="0"/>
          </a:p>
        </p:txBody>
      </p:sp>
      <p:sp>
        <p:nvSpPr>
          <p:cNvPr id="4" name="Content Placeholder 3"/>
          <p:cNvSpPr>
            <a:spLocks noGrp="1"/>
          </p:cNvSpPr>
          <p:nvPr>
            <p:ph idx="1"/>
          </p:nvPr>
        </p:nvSpPr>
        <p:spPr/>
        <p:txBody>
          <a:bodyPr/>
          <a:lstStyle/>
          <a:p>
            <a:endParaRPr lang="en-US"/>
          </a:p>
        </p:txBody>
      </p:sp>
      <p:pic>
        <p:nvPicPr>
          <p:cNvPr id="339970" name="Picture 2" descr="http://www.biologie.uni-hamburg.de/b-online/library/micro229/terry/images/micro/symbiosis.gif"/>
          <p:cNvPicPr>
            <a:picLocks noChangeAspect="1" noChangeArrowheads="1"/>
          </p:cNvPicPr>
          <p:nvPr/>
        </p:nvPicPr>
        <p:blipFill>
          <a:blip r:embed="rId2"/>
          <a:srcRect/>
          <a:stretch>
            <a:fillRect/>
          </a:stretch>
        </p:blipFill>
        <p:spPr bwMode="auto">
          <a:xfrm>
            <a:off x="685800" y="0"/>
            <a:ext cx="7467600" cy="6916486"/>
          </a:xfrm>
          <a:prstGeom prst="rect">
            <a:avLst/>
          </a:prstGeom>
          <a:noFill/>
        </p:spPr>
      </p:pic>
    </p:spTree>
  </p:cSld>
  <p:clrMapOvr>
    <a:masterClrMapping/>
  </p:clrMapOvr>
  <p:transition>
    <p:push/>
  </p:transition>
  <p:timing>
    <p:tnLst>
      <p:par>
        <p:cTn id="1" dur="indefinite" restart="never" nodeType="tmRoot"/>
      </p:par>
    </p:tn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533400"/>
            <a:ext cx="8229600" cy="4525963"/>
          </a:xfrm>
        </p:spPr>
        <p:txBody>
          <a:bodyPr>
            <a:noAutofit/>
          </a:bodyPr>
          <a:lstStyle/>
          <a:p>
            <a:pPr marL="739775" lvl="0" indent="-630238">
              <a:buNone/>
            </a:pPr>
            <a:r>
              <a:rPr lang="en-US" sz="3200" dirty="0" smtClean="0"/>
              <a:t>25. Which of the following statements is NOT TRUE about comets?</a:t>
            </a:r>
          </a:p>
          <a:p>
            <a:pPr marL="739775" lvl="0" indent="-630238">
              <a:buNone/>
            </a:pPr>
            <a:endParaRPr lang="en-US" sz="3200" dirty="0" smtClean="0"/>
          </a:p>
          <a:p>
            <a:pPr marL="1089025" lvl="1" indent="-349250">
              <a:buFont typeface="+mj-lt"/>
              <a:buAutoNum type="alphaUcPeriod"/>
            </a:pPr>
            <a:r>
              <a:rPr lang="en-US" sz="3200" dirty="0" smtClean="0"/>
              <a:t>Comets are mostly frozen gases and cosmic dust.</a:t>
            </a:r>
          </a:p>
          <a:p>
            <a:pPr marL="1089025" lvl="1" indent="-349250">
              <a:buFont typeface="+mj-lt"/>
              <a:buAutoNum type="alphaUcPeriod"/>
            </a:pPr>
            <a:r>
              <a:rPr lang="en-US" sz="3200" dirty="0" smtClean="0"/>
              <a:t>Comets glow by their own light.</a:t>
            </a:r>
          </a:p>
          <a:p>
            <a:pPr marL="1089025" lvl="1" indent="-349250">
              <a:buFont typeface="+mj-lt"/>
              <a:buAutoNum type="alphaUcPeriod"/>
            </a:pPr>
            <a:r>
              <a:rPr lang="en-US" sz="3200" dirty="0" smtClean="0"/>
              <a:t>Comets generally have elongated, elliptical orbits.</a:t>
            </a:r>
          </a:p>
          <a:p>
            <a:pPr marL="1089025" lvl="1" indent="-349250">
              <a:buFont typeface="+mj-lt"/>
              <a:buAutoNum type="alphaUcPeriod"/>
            </a:pPr>
            <a:r>
              <a:rPr lang="en-US" sz="3200" dirty="0" smtClean="0"/>
              <a:t>Comets may go around the sun in any direction.</a:t>
            </a:r>
          </a:p>
          <a:p>
            <a:pPr>
              <a:buNone/>
            </a:pPr>
            <a:endParaRPr lang="en-US" sz="32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542984" y="3218774"/>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33400" y="533400"/>
            <a:ext cx="8229600" cy="4711891"/>
          </a:xfrm>
        </p:spPr>
        <p:txBody>
          <a:bodyPr>
            <a:noAutofit/>
          </a:bodyPr>
          <a:lstStyle/>
          <a:p>
            <a:pPr marL="739775" lvl="0" indent="-630238">
              <a:buNone/>
            </a:pPr>
            <a:r>
              <a:rPr lang="en-US" sz="3200" dirty="0" smtClean="0"/>
              <a:t>26. Children in upland places are found affected by enlarged goiter. Which of this situation may help this group of children?</a:t>
            </a:r>
          </a:p>
          <a:p>
            <a:pPr marL="739775" lvl="0" indent="-630238">
              <a:buNone/>
            </a:pPr>
            <a:endParaRPr lang="en-US" sz="3200" dirty="0" smtClean="0"/>
          </a:p>
          <a:p>
            <a:pPr marL="1089025" lvl="0" indent="-349250">
              <a:buFont typeface="+mj-lt"/>
              <a:buAutoNum type="alphaUcPeriod"/>
            </a:pPr>
            <a:r>
              <a:rPr lang="en-US" sz="3200" dirty="0" smtClean="0"/>
              <a:t>Add iron to diet</a:t>
            </a:r>
          </a:p>
          <a:p>
            <a:pPr marL="1089025" lvl="0" indent="-349250">
              <a:buFont typeface="+mj-lt"/>
              <a:buAutoNum type="alphaUcPeriod"/>
            </a:pPr>
            <a:r>
              <a:rPr lang="en-US" sz="3200" dirty="0" smtClean="0"/>
              <a:t>Expose the children to ultraviolet rays </a:t>
            </a:r>
          </a:p>
          <a:p>
            <a:pPr marL="1089025" lvl="0" indent="-349250">
              <a:buFont typeface="+mj-lt"/>
              <a:buAutoNum type="alphaUcPeriod"/>
            </a:pPr>
            <a:r>
              <a:rPr lang="en-US" sz="3200" dirty="0" smtClean="0"/>
              <a:t>Add iodized salt to diet</a:t>
            </a:r>
          </a:p>
          <a:p>
            <a:pPr marL="1089025" lvl="0" indent="-349250">
              <a:buFont typeface="+mj-lt"/>
              <a:buAutoNum type="alphaUcPeriod"/>
            </a:pPr>
            <a:r>
              <a:rPr lang="en-US" sz="3200" dirty="0" smtClean="0"/>
              <a:t>Add iodine drops to diet</a:t>
            </a:r>
          </a:p>
          <a:p>
            <a:pPr>
              <a:buNone/>
            </a:pPr>
            <a:endParaRPr lang="en-US" sz="3200" dirty="0"/>
          </a:p>
        </p:txBody>
      </p:sp>
      <p:pic>
        <p:nvPicPr>
          <p:cNvPr id="3"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695385" y="48189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219200"/>
            <a:ext cx="8229600" cy="4635691"/>
          </a:xfrm>
        </p:spPr>
        <p:txBody>
          <a:bodyPr>
            <a:normAutofit/>
          </a:bodyPr>
          <a:lstStyle/>
          <a:p>
            <a:pPr marL="739775" lvl="0" indent="-630238">
              <a:buNone/>
            </a:pPr>
            <a:r>
              <a:rPr lang="en-US" sz="3200" dirty="0" smtClean="0"/>
              <a:t>27. What do you call the point in the orbit of a planet where it is farthest from the sun?</a:t>
            </a:r>
          </a:p>
          <a:p>
            <a:pPr marL="739775" lvl="0" indent="-630238">
              <a:buNone/>
            </a:pPr>
            <a:endParaRPr lang="en-US" sz="3200" dirty="0" smtClean="0"/>
          </a:p>
          <a:p>
            <a:pPr marL="1089025" lvl="0" indent="-349250">
              <a:buFont typeface="+mj-lt"/>
              <a:buAutoNum type="alphaUcPeriod"/>
            </a:pPr>
            <a:r>
              <a:rPr lang="en-US" sz="3200" dirty="0" smtClean="0"/>
              <a:t>Apogee</a:t>
            </a:r>
          </a:p>
          <a:p>
            <a:pPr marL="1089025" lvl="0" indent="-349250">
              <a:buFont typeface="+mj-lt"/>
              <a:buAutoNum type="alphaUcPeriod"/>
            </a:pPr>
            <a:r>
              <a:rPr lang="en-US" sz="3200" dirty="0" smtClean="0"/>
              <a:t>Aphelion</a:t>
            </a:r>
          </a:p>
          <a:p>
            <a:pPr marL="1089025" lvl="0" indent="-349250">
              <a:buFont typeface="+mj-lt"/>
              <a:buAutoNum type="alphaUcPeriod"/>
            </a:pPr>
            <a:r>
              <a:rPr lang="en-US" sz="3200" dirty="0" smtClean="0"/>
              <a:t>Perigee</a:t>
            </a:r>
          </a:p>
          <a:p>
            <a:pPr marL="1089025" indent="-349250">
              <a:buFont typeface="+mj-lt"/>
              <a:buAutoNum type="alphaUcPeriod"/>
            </a:pPr>
            <a:r>
              <a:rPr lang="en-US" sz="3200" dirty="0" smtClean="0"/>
              <a:t>Perihelion</a:t>
            </a:r>
          </a:p>
          <a:p>
            <a:pPr marL="739775" lvl="0" indent="-630238">
              <a:buNone/>
            </a:pPr>
            <a:endParaRPr lang="en-US" sz="3200" dirty="0" smtClean="0"/>
          </a:p>
          <a:p>
            <a:pPr>
              <a:buNone/>
            </a:pPr>
            <a:endParaRPr lang="en-US" sz="3200" dirty="0"/>
          </a:p>
        </p:txBody>
      </p:sp>
      <p:pic>
        <p:nvPicPr>
          <p:cNvPr id="4" name="Picture 4" descr="C:\Documents and Settings\Administrator\Desktop\hand_right.gif"/>
          <p:cNvPicPr>
            <a:picLocks noChangeAspect="1" noChangeArrowheads="1" noCrop="1"/>
          </p:cNvPicPr>
          <p:nvPr/>
        </p:nvPicPr>
        <p:blipFill>
          <a:blip r:embed="rId3">
            <a:extLst>
              <a:ext uri="{28A0092B-C50C-407E-A947-70E740481C1C}">
                <a14:useLocalDpi xmlns="" xmlns:a14="http://schemas.microsoft.com/office/drawing/2010/main" val="0"/>
              </a:ext>
            </a:extLst>
          </a:blip>
          <a:srcRect/>
          <a:stretch>
            <a:fillRect/>
          </a:stretch>
        </p:blipFill>
        <p:spPr bwMode="auto">
          <a:xfrm rot="21434720">
            <a:off x="542985" y="3904574"/>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US"/>
          </a:p>
        </p:txBody>
      </p:sp>
      <p:sp>
        <p:nvSpPr>
          <p:cNvPr id="3" name="Title 2"/>
          <p:cNvSpPr>
            <a:spLocks noGrp="1"/>
          </p:cNvSpPr>
          <p:nvPr>
            <p:ph type="title"/>
          </p:nvPr>
        </p:nvSpPr>
        <p:spPr/>
        <p:txBody>
          <a:bodyPr/>
          <a:lstStyle/>
          <a:p>
            <a:endParaRPr lang="en-US" dirty="0"/>
          </a:p>
        </p:txBody>
      </p:sp>
      <p:pic>
        <p:nvPicPr>
          <p:cNvPr id="340994" name="Picture 2" descr="http://vocabmadeeasy.com/wp-content/uploads/2011/01/apogee.jpg"/>
          <p:cNvPicPr>
            <a:picLocks noChangeAspect="1" noChangeArrowheads="1"/>
          </p:cNvPicPr>
          <p:nvPr/>
        </p:nvPicPr>
        <p:blipFill>
          <a:blip r:embed="rId3"/>
          <a:srcRect/>
          <a:stretch>
            <a:fillRect/>
          </a:stretch>
        </p:blipFill>
        <p:spPr bwMode="auto">
          <a:xfrm>
            <a:off x="533400" y="228600"/>
            <a:ext cx="4314825" cy="3276601"/>
          </a:xfrm>
          <a:prstGeom prst="rect">
            <a:avLst/>
          </a:prstGeom>
          <a:noFill/>
        </p:spPr>
      </p:pic>
      <p:pic>
        <p:nvPicPr>
          <p:cNvPr id="340996" name="Picture 4" descr="http://solarsystem.nasa.gov/images/Earth_Orbit-feat.jpg"/>
          <p:cNvPicPr>
            <a:picLocks noChangeAspect="1" noChangeArrowheads="1"/>
          </p:cNvPicPr>
          <p:nvPr/>
        </p:nvPicPr>
        <p:blipFill>
          <a:blip r:embed="rId4"/>
          <a:srcRect/>
          <a:stretch>
            <a:fillRect/>
          </a:stretch>
        </p:blipFill>
        <p:spPr bwMode="auto">
          <a:xfrm>
            <a:off x="3048000" y="3581400"/>
            <a:ext cx="5334000" cy="2941108"/>
          </a:xfrm>
          <a:prstGeom prst="rect">
            <a:avLst/>
          </a:prstGeom>
          <a:noFill/>
        </p:spPr>
      </p:pic>
    </p:spTree>
  </p:cSld>
  <p:clrMapOvr>
    <a:masterClrMapping/>
  </p:clrMapOvr>
  <p:transition>
    <p:push/>
  </p:transition>
  <p:timing>
    <p:tnLst>
      <p:par>
        <p:cTn id="1" dur="indefinite" restart="never" nodeType="tmRoot"/>
      </p:par>
    </p:tnLst>
  </p:timing>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33400" y="228600"/>
            <a:ext cx="8229600" cy="4525963"/>
          </a:xfrm>
        </p:spPr>
        <p:txBody>
          <a:bodyPr>
            <a:noAutofit/>
          </a:bodyPr>
          <a:lstStyle/>
          <a:p>
            <a:pPr marL="739775" lvl="0" indent="-630238">
              <a:buNone/>
            </a:pPr>
            <a:r>
              <a:rPr lang="en-US" sz="3000" dirty="0" smtClean="0"/>
              <a:t>28. Which of the following conditions regarding the positions of the earth, moon and the sun could possibly result to a solar eclipse?</a:t>
            </a:r>
          </a:p>
          <a:p>
            <a:pPr marL="739775" lvl="0" indent="-630238">
              <a:buNone/>
            </a:pPr>
            <a:endParaRPr lang="en-US" sz="3000" dirty="0" smtClean="0"/>
          </a:p>
          <a:p>
            <a:pPr marL="1146175" lvl="1" indent="-406400">
              <a:buFont typeface="+mj-lt"/>
              <a:buAutoNum type="alphaUcPeriod"/>
            </a:pPr>
            <a:r>
              <a:rPr lang="en-US" sz="3000" dirty="0" smtClean="0"/>
              <a:t>the sun is between the earth and the moon</a:t>
            </a:r>
          </a:p>
          <a:p>
            <a:pPr marL="1146175" lvl="1" indent="-406400">
              <a:buFont typeface="+mj-lt"/>
              <a:buAutoNum type="alphaUcPeriod"/>
            </a:pPr>
            <a:r>
              <a:rPr lang="en-US" sz="3000" dirty="0" smtClean="0"/>
              <a:t>the moon is between the sun and the earth</a:t>
            </a:r>
          </a:p>
          <a:p>
            <a:pPr marL="1146175" lvl="1" indent="-406400">
              <a:buFont typeface="+mj-lt"/>
              <a:buAutoNum type="alphaUcPeriod"/>
            </a:pPr>
            <a:r>
              <a:rPr lang="en-US" sz="3000" dirty="0" smtClean="0"/>
              <a:t>the earth is between the sun and the moon</a:t>
            </a:r>
          </a:p>
          <a:p>
            <a:pPr marL="1146175" lvl="1" indent="-406400">
              <a:buFont typeface="+mj-lt"/>
              <a:buAutoNum type="alphaUcPeriod"/>
            </a:pPr>
            <a:r>
              <a:rPr lang="en-US" sz="3000" dirty="0" smtClean="0"/>
              <a:t>the earth, moon, and sun are at right angles to each other</a:t>
            </a:r>
          </a:p>
          <a:p>
            <a:pPr>
              <a:buNone/>
            </a:pPr>
            <a:endParaRPr lang="en-US" sz="30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695386" y="3675974"/>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US"/>
          </a:p>
        </p:txBody>
      </p:sp>
      <p:sp>
        <p:nvSpPr>
          <p:cNvPr id="3" name="Title 2"/>
          <p:cNvSpPr>
            <a:spLocks noGrp="1"/>
          </p:cNvSpPr>
          <p:nvPr>
            <p:ph type="title"/>
          </p:nvPr>
        </p:nvSpPr>
        <p:spPr/>
        <p:txBody>
          <a:bodyPr/>
          <a:lstStyle/>
          <a:p>
            <a:endParaRPr lang="en-US" dirty="0"/>
          </a:p>
        </p:txBody>
      </p:sp>
      <p:pic>
        <p:nvPicPr>
          <p:cNvPr id="342018" name="Picture 2" descr="http://www.tourismportdouglas.com.au/uploads/pics/Solar-Eclipse_anatomy_2.jpg"/>
          <p:cNvPicPr>
            <a:picLocks noChangeAspect="1" noChangeArrowheads="1"/>
          </p:cNvPicPr>
          <p:nvPr/>
        </p:nvPicPr>
        <p:blipFill>
          <a:blip r:embed="rId2"/>
          <a:srcRect/>
          <a:stretch>
            <a:fillRect/>
          </a:stretch>
        </p:blipFill>
        <p:spPr bwMode="auto">
          <a:xfrm>
            <a:off x="0" y="914400"/>
            <a:ext cx="9145040" cy="5181600"/>
          </a:xfrm>
          <a:prstGeom prst="rect">
            <a:avLst/>
          </a:prstGeom>
          <a:noFill/>
        </p:spPr>
      </p:pic>
    </p:spTree>
  </p:cSld>
  <p:clrMapOvr>
    <a:masterClrMapping/>
  </p:clrMapOvr>
  <p:transition>
    <p:push/>
  </p:transition>
  <p:timing>
    <p:tnLst>
      <p:par>
        <p:cTn id="1" dur="indefinite" restart="never" nodeType="tmRoot"/>
      </p:par>
    </p:tnLst>
  </p:timing>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600" y="152400"/>
            <a:ext cx="8229600" cy="4525963"/>
          </a:xfrm>
        </p:spPr>
        <p:txBody>
          <a:bodyPr>
            <a:noAutofit/>
          </a:bodyPr>
          <a:lstStyle/>
          <a:p>
            <a:pPr marL="739775" lvl="0" indent="-630238">
              <a:buNone/>
            </a:pPr>
            <a:r>
              <a:rPr lang="en-US" sz="3200" dirty="0" smtClean="0"/>
              <a:t>29. Why are green plants considered </a:t>
            </a:r>
            <a:r>
              <a:rPr lang="en-US" sz="3200" dirty="0" err="1" smtClean="0"/>
              <a:t>autotrophs</a:t>
            </a:r>
            <a:r>
              <a:rPr lang="en-US" sz="3200" dirty="0" smtClean="0"/>
              <a:t>?</a:t>
            </a:r>
          </a:p>
          <a:p>
            <a:pPr marL="739775" lvl="0" indent="-630238">
              <a:buNone/>
            </a:pPr>
            <a:endParaRPr lang="en-US" sz="3200" dirty="0" smtClean="0"/>
          </a:p>
          <a:p>
            <a:pPr marL="1089025" lvl="1" indent="-349250">
              <a:buFont typeface="+mj-lt"/>
              <a:buAutoNum type="alphaUcPeriod"/>
            </a:pPr>
            <a:r>
              <a:rPr lang="en-US" sz="3200" dirty="0" smtClean="0"/>
              <a:t>They have many pigments that capture light.</a:t>
            </a:r>
          </a:p>
          <a:p>
            <a:pPr marL="1089025" lvl="1" indent="-349250">
              <a:buFont typeface="+mj-lt"/>
              <a:buAutoNum type="alphaUcPeriod"/>
            </a:pPr>
            <a:r>
              <a:rPr lang="en-US" sz="3200" dirty="0" smtClean="0"/>
              <a:t>They can build simple inorganic substances into complex organic substance.</a:t>
            </a:r>
          </a:p>
          <a:p>
            <a:pPr marL="1089025" lvl="1" indent="-349250">
              <a:buFont typeface="+mj-lt"/>
              <a:buAutoNum type="alphaUcPeriod"/>
            </a:pPr>
            <a:r>
              <a:rPr lang="en-US" sz="3200" dirty="0" smtClean="0"/>
              <a:t>They can build any kind of substances.</a:t>
            </a:r>
          </a:p>
          <a:p>
            <a:pPr marL="1089025" lvl="1" indent="-349250">
              <a:buFont typeface="+mj-lt"/>
              <a:buAutoNum type="alphaUcPeriod"/>
            </a:pPr>
            <a:r>
              <a:rPr lang="en-US" sz="3200" dirty="0" smtClean="0"/>
              <a:t>They depend on other sources for their food.</a:t>
            </a:r>
          </a:p>
          <a:p>
            <a:pPr>
              <a:buNone/>
            </a:pPr>
            <a:endParaRPr lang="en-US" sz="32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695385" y="28377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utotroph-and-heterotroph.jpg"/>
          <p:cNvPicPr>
            <a:picLocks noGrp="1" noChangeAspect="1"/>
          </p:cNvPicPr>
          <p:nvPr>
            <p:ph idx="1"/>
          </p:nvPr>
        </p:nvPicPr>
        <p:blipFill>
          <a:blip r:embed="rId2"/>
          <a:stretch>
            <a:fillRect/>
          </a:stretch>
        </p:blipFill>
        <p:spPr>
          <a:xfrm>
            <a:off x="821788" y="1037492"/>
            <a:ext cx="7620000" cy="4724400"/>
          </a:xfrm>
        </p:spPr>
      </p:pic>
    </p:spTree>
  </p:cSld>
  <p:clrMapOvr>
    <a:masterClrMapping/>
  </p:clrMapOvr>
  <p:transition>
    <p:push/>
  </p:transition>
  <p:timing>
    <p:tnLst>
      <p:par>
        <p:cTn id="1" dur="indefinite" restart="never" nodeType="tmRoot"/>
      </p:par>
    </p:tnLst>
  </p:timing>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143000"/>
            <a:ext cx="8229600" cy="4525963"/>
          </a:xfrm>
        </p:spPr>
        <p:txBody>
          <a:bodyPr>
            <a:normAutofit/>
          </a:bodyPr>
          <a:lstStyle/>
          <a:p>
            <a:pPr marL="739775" lvl="0" indent="-630238">
              <a:buNone/>
            </a:pPr>
            <a:r>
              <a:rPr lang="en-US" sz="3200" dirty="0" smtClean="0"/>
              <a:t>30. The following practices promote sustainable development EXCEPT</a:t>
            </a:r>
          </a:p>
          <a:p>
            <a:pPr marL="739775" lvl="0" indent="-630238">
              <a:buNone/>
            </a:pPr>
            <a:endParaRPr lang="en-US" sz="3200" dirty="0" smtClean="0"/>
          </a:p>
          <a:p>
            <a:pPr marL="1030288" lvl="0" indent="-290513">
              <a:buFont typeface="+mj-lt"/>
              <a:buAutoNum type="alphaUcPeriod"/>
            </a:pPr>
            <a:r>
              <a:rPr lang="en-US" sz="3200" dirty="0" smtClean="0"/>
              <a:t>reforestation</a:t>
            </a:r>
          </a:p>
          <a:p>
            <a:pPr marL="1030288" lvl="0" indent="-290513">
              <a:buFont typeface="+mj-lt"/>
              <a:buAutoNum type="alphaUcPeriod"/>
            </a:pPr>
            <a:r>
              <a:rPr lang="en-US" sz="3200" dirty="0" smtClean="0"/>
              <a:t>recycling </a:t>
            </a:r>
          </a:p>
          <a:p>
            <a:pPr marL="1030288" lvl="0" indent="-290513">
              <a:buFont typeface="+mj-lt"/>
              <a:buAutoNum type="alphaUcPeriod"/>
            </a:pPr>
            <a:r>
              <a:rPr lang="en-US" sz="3200" dirty="0" smtClean="0"/>
              <a:t>selective hunting</a:t>
            </a:r>
          </a:p>
          <a:p>
            <a:pPr marL="1030288" lvl="0" indent="-290513">
              <a:buFont typeface="+mj-lt"/>
              <a:buAutoNum type="alphaUcPeriod"/>
            </a:pPr>
            <a:r>
              <a:rPr lang="en-US" sz="3200" dirty="0" smtClean="0"/>
              <a:t>cyanide fishing</a:t>
            </a:r>
          </a:p>
          <a:p>
            <a:pPr marL="739775" lvl="0" indent="-630238">
              <a:buNone/>
            </a:pPr>
            <a:endParaRPr lang="en-US" sz="3200" dirty="0" smtClean="0"/>
          </a:p>
          <a:p>
            <a:pPr>
              <a:buNone/>
            </a:pPr>
            <a:endParaRPr lang="en-US" sz="3200" dirty="0"/>
          </a:p>
        </p:txBody>
      </p:sp>
      <p:pic>
        <p:nvPicPr>
          <p:cNvPr id="4" name="Picture 4" descr="C:\Documents and Settings\Administrator\Desktop\hand_right.gif"/>
          <p:cNvPicPr>
            <a:picLocks noChangeAspect="1" noChangeArrowheads="1" noCrop="1"/>
          </p:cNvPicPr>
          <p:nvPr/>
        </p:nvPicPr>
        <p:blipFill>
          <a:blip r:embed="rId3">
            <a:extLst>
              <a:ext uri="{28A0092B-C50C-407E-A947-70E740481C1C}">
                <a14:useLocalDpi xmlns="" xmlns:a14="http://schemas.microsoft.com/office/drawing/2010/main" val="0"/>
              </a:ext>
            </a:extLst>
          </a:blip>
          <a:srcRect/>
          <a:stretch>
            <a:fillRect/>
          </a:stretch>
        </p:blipFill>
        <p:spPr bwMode="auto">
          <a:xfrm rot="21434720">
            <a:off x="542984" y="4514174"/>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990600"/>
            <a:ext cx="9144000" cy="5867400"/>
          </a:xfrm>
        </p:spPr>
        <p:txBody>
          <a:bodyPr>
            <a:normAutofit/>
          </a:bodyPr>
          <a:lstStyle/>
          <a:p>
            <a:r>
              <a:rPr lang="en-US" b="1" dirty="0" smtClean="0"/>
              <a:t>Reforestation</a:t>
            </a:r>
            <a:r>
              <a:rPr lang="en-US" dirty="0" smtClean="0"/>
              <a:t>- is the natural or intentional restocking of existing forests and woodlands that have been depleted.</a:t>
            </a:r>
          </a:p>
          <a:p>
            <a:r>
              <a:rPr lang="en-US" b="1" dirty="0" smtClean="0"/>
              <a:t>Recycling</a:t>
            </a:r>
            <a:r>
              <a:rPr lang="en-US" dirty="0" smtClean="0"/>
              <a:t>- is a process to change materials (waste) into new products to prevent waste of potentially useful materials, reduce the consumption of fresh raw materials.</a:t>
            </a:r>
          </a:p>
          <a:p>
            <a:r>
              <a:rPr lang="en-US" b="1" dirty="0" smtClean="0"/>
              <a:t>Selective hunting</a:t>
            </a:r>
            <a:r>
              <a:rPr lang="en-US" dirty="0" smtClean="0"/>
              <a:t>- This strategy of separating weak prey from the pack is the basis of a technique of population control and hunting.  </a:t>
            </a:r>
            <a:endParaRPr lang="en-US" dirty="0"/>
          </a:p>
        </p:txBody>
      </p:sp>
    </p:spTree>
  </p:cSld>
  <p:clrMapOvr>
    <a:masterClrMapping/>
  </p:clrMapOvr>
  <p:transition>
    <p:push/>
  </p:transition>
  <p:timing>
    <p:tnLst>
      <p:par>
        <p:cTn id="1" dur="indefinite" restart="never" nodeType="tmRoot"/>
      </p:par>
    </p:tnLst>
  </p:timing>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685800"/>
            <a:ext cx="8458200" cy="4525963"/>
          </a:xfrm>
        </p:spPr>
        <p:txBody>
          <a:bodyPr>
            <a:noAutofit/>
          </a:bodyPr>
          <a:lstStyle/>
          <a:p>
            <a:pPr marL="739775" lvl="0" indent="-630238">
              <a:buNone/>
            </a:pPr>
            <a:r>
              <a:rPr lang="en-US" sz="3200" dirty="0" smtClean="0"/>
              <a:t>31. The spoilage of meat is delayed when kept in the refrigerator because the cold temperature</a:t>
            </a:r>
          </a:p>
          <a:p>
            <a:pPr marL="739775" lvl="0" indent="-630238">
              <a:buNone/>
            </a:pPr>
            <a:endParaRPr lang="en-US" sz="3200" dirty="0" smtClean="0"/>
          </a:p>
          <a:p>
            <a:pPr marL="1089025" lvl="0" indent="-349250">
              <a:buFont typeface="+mj-lt"/>
              <a:buAutoNum type="alphaUcPeriod"/>
            </a:pPr>
            <a:r>
              <a:rPr lang="en-US" sz="3200" dirty="0" smtClean="0"/>
              <a:t>keeps the flies insects away </a:t>
            </a:r>
          </a:p>
          <a:p>
            <a:pPr marL="1089025" lvl="0" indent="-349250">
              <a:buFont typeface="+mj-lt"/>
              <a:buAutoNum type="alphaUcPeriod"/>
            </a:pPr>
            <a:r>
              <a:rPr lang="en-US" sz="3200" dirty="0" smtClean="0"/>
              <a:t>changes the color/odor of meat	</a:t>
            </a:r>
          </a:p>
          <a:p>
            <a:pPr marL="1089025" lvl="0" indent="-349250">
              <a:buFont typeface="+mj-lt"/>
              <a:buAutoNum type="alphaUcPeriod"/>
            </a:pPr>
            <a:r>
              <a:rPr lang="en-US" sz="3200" dirty="0" smtClean="0"/>
              <a:t>slows down the action of bacteria</a:t>
            </a:r>
          </a:p>
          <a:p>
            <a:pPr marL="1089025" lvl="0" indent="-349250">
              <a:buFont typeface="+mj-lt"/>
              <a:buAutoNum type="alphaUcPeriod"/>
            </a:pPr>
            <a:r>
              <a:rPr lang="en-US" sz="3200" dirty="0" smtClean="0"/>
              <a:t>turns the water component to ice</a:t>
            </a:r>
          </a:p>
          <a:p>
            <a:pPr>
              <a:buNone/>
            </a:pPr>
            <a:endParaRPr lang="en-US" sz="32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542985" y="39807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33400" y="457200"/>
            <a:ext cx="8229600" cy="4525963"/>
          </a:xfrm>
        </p:spPr>
        <p:txBody>
          <a:bodyPr>
            <a:noAutofit/>
          </a:bodyPr>
          <a:lstStyle/>
          <a:p>
            <a:pPr lvl="0">
              <a:buNone/>
            </a:pPr>
            <a:r>
              <a:rPr lang="en-US" sz="3000" dirty="0" smtClean="0"/>
              <a:t>32. </a:t>
            </a:r>
            <a:r>
              <a:rPr lang="en-PH" sz="3000" dirty="0" smtClean="0"/>
              <a:t>Where is an infrasound commonly used?</a:t>
            </a:r>
          </a:p>
          <a:p>
            <a:pPr lvl="0">
              <a:buNone/>
            </a:pPr>
            <a:endParaRPr lang="en-US" sz="3000" dirty="0" smtClean="0"/>
          </a:p>
          <a:p>
            <a:pPr marL="1030288" indent="-290513">
              <a:buFont typeface="+mj-lt"/>
              <a:buAutoNum type="alphaUcPeriod"/>
            </a:pPr>
            <a:r>
              <a:rPr lang="en-PH" sz="3000" dirty="0" smtClean="0"/>
              <a:t>In monitoring conditions in pregnant women</a:t>
            </a:r>
            <a:endParaRPr lang="en-US" sz="3000" dirty="0" smtClean="0"/>
          </a:p>
          <a:p>
            <a:pPr marL="1030288" indent="-290513">
              <a:buFont typeface="+mj-lt"/>
              <a:buAutoNum type="alphaUcPeriod"/>
            </a:pPr>
            <a:r>
              <a:rPr lang="en-PH" sz="3000" dirty="0" smtClean="0"/>
              <a:t>In detecting harmful living tissues inside the body</a:t>
            </a:r>
            <a:endParaRPr lang="en-US" sz="3000" dirty="0" smtClean="0"/>
          </a:p>
          <a:p>
            <a:pPr marL="1030288" indent="-290513">
              <a:buFont typeface="+mj-lt"/>
              <a:buAutoNum type="alphaUcPeriod"/>
            </a:pPr>
            <a:r>
              <a:rPr lang="en-PH" sz="3000" dirty="0" smtClean="0"/>
              <a:t>In seismographic surveying of structures below the earth’s surface</a:t>
            </a:r>
            <a:endParaRPr lang="en-US" sz="3000" dirty="0" smtClean="0"/>
          </a:p>
          <a:p>
            <a:pPr marL="1030288" indent="-290513">
              <a:buFont typeface="+mj-lt"/>
              <a:buAutoNum type="alphaUcPeriod"/>
            </a:pPr>
            <a:r>
              <a:rPr lang="en-PH" sz="3000" dirty="0" smtClean="0"/>
              <a:t>In providing instant moving pictures of tidal waves and earthquakes</a:t>
            </a:r>
            <a:endParaRPr lang="en-US" sz="3000" dirty="0" smtClean="0"/>
          </a:p>
          <a:p>
            <a:pPr>
              <a:buNone/>
            </a:pPr>
            <a:endParaRPr lang="en-US" sz="3000" dirty="0"/>
          </a:p>
        </p:txBody>
      </p:sp>
      <p:pic>
        <p:nvPicPr>
          <p:cNvPr id="4" name="Picture 4" descr="C:\Documents and Settings\Administrator\Desktop\hand_right.gif"/>
          <p:cNvPicPr>
            <a:picLocks noChangeAspect="1" noChangeArrowheads="1" noCrop="1"/>
          </p:cNvPicPr>
          <p:nvPr/>
        </p:nvPicPr>
        <p:blipFill>
          <a:blip r:embed="rId3">
            <a:extLst>
              <a:ext uri="{28A0092B-C50C-407E-A947-70E740481C1C}">
                <a14:useLocalDpi xmlns="" xmlns:a14="http://schemas.microsoft.com/office/drawing/2010/main" val="0"/>
              </a:ext>
            </a:extLst>
          </a:blip>
          <a:srcRect/>
          <a:stretch>
            <a:fillRect/>
          </a:stretch>
        </p:blipFill>
        <p:spPr bwMode="auto">
          <a:xfrm rot="21434720">
            <a:off x="619185" y="4056974"/>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600" y="1371600"/>
            <a:ext cx="8229600" cy="4525963"/>
          </a:xfrm>
        </p:spPr>
        <p:txBody>
          <a:bodyPr>
            <a:normAutofit/>
          </a:bodyPr>
          <a:lstStyle/>
          <a:p>
            <a:r>
              <a:rPr lang="en-US" sz="3600" b="1" dirty="0" smtClean="0"/>
              <a:t>Infrasound</a:t>
            </a:r>
            <a:r>
              <a:rPr lang="en-US" sz="3600" dirty="0" smtClean="0"/>
              <a:t> is a wave phenomenon sharing the physical nature of sound but with a range of frequencies below that of human hearing.</a:t>
            </a:r>
            <a:endParaRPr lang="en-US" sz="3600" dirty="0"/>
          </a:p>
        </p:txBody>
      </p:sp>
    </p:spTree>
  </p:cSld>
  <p:clrMapOvr>
    <a:masterClrMapping/>
  </p:clrMapOvr>
  <p:transition>
    <p:push/>
  </p:transition>
  <p:timing>
    <p:tnLst>
      <p:par>
        <p:cTn id="1" dur="indefinite" restart="never" nodeType="tmRoot"/>
      </p:par>
    </p:tnLst>
  </p:timing>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914400"/>
            <a:ext cx="8229600" cy="4525963"/>
          </a:xfrm>
        </p:spPr>
        <p:txBody>
          <a:bodyPr>
            <a:normAutofit/>
          </a:bodyPr>
          <a:lstStyle/>
          <a:p>
            <a:pPr marL="739775" lvl="0" indent="-630238">
              <a:buNone/>
            </a:pPr>
            <a:r>
              <a:rPr lang="en-US" sz="3200" dirty="0" smtClean="0"/>
              <a:t>33. </a:t>
            </a:r>
            <a:r>
              <a:rPr lang="en-PH" sz="3200" dirty="0" smtClean="0"/>
              <a:t>Which of the following is predicted to be a result of global warming?</a:t>
            </a:r>
          </a:p>
          <a:p>
            <a:pPr marL="739775" lvl="0" indent="-630238">
              <a:buNone/>
            </a:pPr>
            <a:endParaRPr lang="en-US" sz="3200" dirty="0" smtClean="0"/>
          </a:p>
          <a:p>
            <a:pPr marL="1089025" indent="-349250">
              <a:buFont typeface="+mj-lt"/>
              <a:buAutoNum type="alphaUcPeriod"/>
            </a:pPr>
            <a:r>
              <a:rPr lang="en-US" sz="3200" dirty="0" smtClean="0"/>
              <a:t>Thinning ozone layer</a:t>
            </a:r>
          </a:p>
          <a:p>
            <a:pPr marL="1089025" indent="-349250">
              <a:buFont typeface="+mj-lt"/>
              <a:buAutoNum type="alphaUcPeriod"/>
            </a:pPr>
            <a:r>
              <a:rPr lang="en-US" sz="3200" dirty="0" smtClean="0"/>
              <a:t>Rising ocean level </a:t>
            </a:r>
          </a:p>
          <a:p>
            <a:pPr marL="1089025" indent="-349250">
              <a:buFont typeface="+mj-lt"/>
              <a:buAutoNum type="alphaUcPeriod"/>
            </a:pPr>
            <a:r>
              <a:rPr lang="en-US" sz="3200" dirty="0" smtClean="0"/>
              <a:t>More severe earthquakes</a:t>
            </a:r>
          </a:p>
          <a:p>
            <a:pPr marL="1089025" lvl="0" indent="-349250">
              <a:buFont typeface="+mj-lt"/>
              <a:buAutoNum type="alphaUcPeriod"/>
            </a:pPr>
            <a:r>
              <a:rPr lang="en-PH" sz="3200" dirty="0" smtClean="0"/>
              <a:t>Larger volcanic eruptions</a:t>
            </a:r>
            <a:endParaRPr lang="en-US" sz="3200" dirty="0" smtClean="0"/>
          </a:p>
          <a:p>
            <a:pPr marL="624078" indent="-514350">
              <a:buNone/>
            </a:pPr>
            <a:endParaRPr lang="en-US" sz="32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542986" y="32187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457200"/>
            <a:ext cx="8229600" cy="4525963"/>
          </a:xfrm>
        </p:spPr>
        <p:txBody>
          <a:bodyPr>
            <a:noAutofit/>
          </a:bodyPr>
          <a:lstStyle/>
          <a:p>
            <a:pPr marL="739775" lvl="0" indent="-630238">
              <a:buNone/>
            </a:pPr>
            <a:r>
              <a:rPr lang="en-US" sz="2800" dirty="0" smtClean="0"/>
              <a:t>34. </a:t>
            </a:r>
            <a:r>
              <a:rPr lang="en-PH" sz="2800" dirty="0" smtClean="0"/>
              <a:t>Two beakers contain boiling water. Beaker A has a volume of 250 ml while beaker B has a volume of 500 ml. Which of the following statement is true?</a:t>
            </a:r>
          </a:p>
          <a:p>
            <a:pPr marL="739775" lvl="0" indent="-630238">
              <a:buNone/>
            </a:pPr>
            <a:endParaRPr lang="en-US" sz="2800" dirty="0" smtClean="0"/>
          </a:p>
          <a:p>
            <a:pPr marL="1146175" lvl="1" indent="-406400">
              <a:buFont typeface="+mj-lt"/>
              <a:buAutoNum type="alphaUcPeriod"/>
            </a:pPr>
            <a:r>
              <a:rPr lang="en-PH" sz="2800" dirty="0" smtClean="0"/>
              <a:t>Both beakers are at equal temperatures</a:t>
            </a:r>
            <a:endParaRPr lang="en-US" sz="2800" dirty="0" smtClean="0"/>
          </a:p>
          <a:p>
            <a:pPr marL="1146175" lvl="1" indent="-406400">
              <a:buFont typeface="+mj-lt"/>
              <a:buAutoNum type="alphaUcPeriod"/>
            </a:pPr>
            <a:r>
              <a:rPr lang="en-PH" sz="2800" dirty="0" smtClean="0"/>
              <a:t>Both beakers have the same thermal energy</a:t>
            </a:r>
            <a:endParaRPr lang="en-US" sz="2800" dirty="0" smtClean="0"/>
          </a:p>
          <a:p>
            <a:pPr marL="1146175" lvl="1" indent="-406400">
              <a:buFont typeface="+mj-lt"/>
              <a:buAutoNum type="alphaUcPeriod"/>
            </a:pPr>
            <a:r>
              <a:rPr lang="en-PH" sz="2800" dirty="0" smtClean="0"/>
              <a:t>Beaker A has more thermal energy than beaker B</a:t>
            </a:r>
            <a:endParaRPr lang="en-US" sz="2800" dirty="0" smtClean="0"/>
          </a:p>
          <a:p>
            <a:pPr marL="1146175" lvl="1" indent="-406400">
              <a:buFont typeface="+mj-lt"/>
              <a:buAutoNum type="alphaUcPeriod"/>
            </a:pPr>
            <a:r>
              <a:rPr lang="en-PH" sz="2800" dirty="0" smtClean="0"/>
              <a:t>Beaker A has a higher temperature than Beaker B</a:t>
            </a:r>
            <a:endParaRPr lang="en-US" sz="2800" dirty="0" smtClean="0"/>
          </a:p>
          <a:p>
            <a:pPr>
              <a:buNone/>
            </a:pPr>
            <a:endParaRPr lang="en-US" sz="28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542984" y="2837774"/>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85800" y="914400"/>
            <a:ext cx="8229600" cy="4525963"/>
          </a:xfrm>
        </p:spPr>
        <p:txBody>
          <a:bodyPr>
            <a:normAutofit/>
          </a:bodyPr>
          <a:lstStyle/>
          <a:p>
            <a:pPr marL="739775" lvl="0" indent="-630238">
              <a:buNone/>
            </a:pPr>
            <a:r>
              <a:rPr lang="en-US" sz="3200" dirty="0" smtClean="0"/>
              <a:t>35. </a:t>
            </a:r>
            <a:r>
              <a:rPr lang="en-PH" sz="3200" dirty="0" smtClean="0"/>
              <a:t>All of the following are manifestations of the third law of motion EXCEPT</a:t>
            </a:r>
          </a:p>
          <a:p>
            <a:pPr marL="739775" lvl="0" indent="-630238">
              <a:buNone/>
            </a:pPr>
            <a:endParaRPr lang="en-PH" sz="3200" dirty="0" smtClean="0"/>
          </a:p>
          <a:p>
            <a:pPr marL="1089025" lvl="0" indent="-349250">
              <a:buFont typeface="+mj-lt"/>
              <a:buAutoNum type="alphaUcPeriod"/>
            </a:pPr>
            <a:r>
              <a:rPr lang="en-US" sz="3200" dirty="0" smtClean="0"/>
              <a:t>rowing a </a:t>
            </a:r>
            <a:r>
              <a:rPr lang="en-US" sz="3200" dirty="0" err="1" smtClean="0"/>
              <a:t>banca</a:t>
            </a:r>
            <a:endParaRPr lang="en-US" sz="3200" dirty="0" smtClean="0"/>
          </a:p>
          <a:p>
            <a:pPr marL="1089025" lvl="0" indent="-349250">
              <a:buFont typeface="+mj-lt"/>
              <a:buAutoNum type="alphaUcPeriod"/>
            </a:pPr>
            <a:r>
              <a:rPr lang="en-US" sz="3200" dirty="0" smtClean="0"/>
              <a:t>recoil of guns</a:t>
            </a:r>
          </a:p>
          <a:p>
            <a:pPr marL="1089025" lvl="0" indent="-349250">
              <a:buFont typeface="+mj-lt"/>
              <a:buAutoNum type="alphaUcPeriod"/>
            </a:pPr>
            <a:r>
              <a:rPr lang="en-US" sz="3200" dirty="0" smtClean="0"/>
              <a:t>falling objects</a:t>
            </a:r>
          </a:p>
          <a:p>
            <a:pPr marL="1089025" lvl="0" indent="-349250">
              <a:buFont typeface="+mj-lt"/>
              <a:buAutoNum type="alphaUcPeriod"/>
            </a:pPr>
            <a:r>
              <a:rPr lang="en-US" sz="3200" dirty="0" smtClean="0"/>
              <a:t>swimming</a:t>
            </a:r>
          </a:p>
          <a:p>
            <a:pPr marL="739775" lvl="0" indent="-630238">
              <a:buFont typeface="+mj-lt"/>
              <a:buAutoNum type="alphaUcPeriod"/>
            </a:pPr>
            <a:endParaRPr lang="en-PH" sz="3200" dirty="0" smtClean="0"/>
          </a:p>
          <a:p>
            <a:pPr marL="739775" lvl="0" indent="-630238">
              <a:buNone/>
            </a:pPr>
            <a:endParaRPr lang="en-US" sz="3200" dirty="0" smtClean="0"/>
          </a:p>
          <a:p>
            <a:pPr>
              <a:buNone/>
            </a:pPr>
            <a:endParaRPr lang="en-US" sz="32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771586" y="42855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109263980.png"/>
          <p:cNvPicPr>
            <a:picLocks noGrp="1" noChangeAspect="1"/>
          </p:cNvPicPr>
          <p:nvPr>
            <p:ph idx="1"/>
          </p:nvPr>
        </p:nvPicPr>
        <p:blipFill>
          <a:blip r:embed="rId2"/>
          <a:srcRect t="11111"/>
          <a:stretch>
            <a:fillRect/>
          </a:stretch>
        </p:blipFill>
        <p:spPr>
          <a:xfrm>
            <a:off x="1066800" y="990600"/>
            <a:ext cx="7010400" cy="4876800"/>
          </a:xfrm>
        </p:spPr>
      </p:pic>
    </p:spTree>
  </p:cSld>
  <p:clrMapOvr>
    <a:masterClrMapping/>
  </p:clrMapOvr>
  <p:transition>
    <p:push/>
  </p:transition>
  <p:timing>
    <p:tnLst>
      <p:par>
        <p:cTn id="1" dur="indefinite" restart="never" nodeType="tmRoot"/>
      </p:par>
    </p:tnLst>
  </p:timing>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600" y="609600"/>
            <a:ext cx="8229600" cy="4525963"/>
          </a:xfrm>
        </p:spPr>
        <p:txBody>
          <a:bodyPr>
            <a:noAutofit/>
          </a:bodyPr>
          <a:lstStyle/>
          <a:p>
            <a:pPr marL="739775" lvl="0" indent="-630238">
              <a:buNone/>
            </a:pPr>
            <a:r>
              <a:rPr lang="en-US" sz="3200" dirty="0" smtClean="0"/>
              <a:t>36. </a:t>
            </a:r>
            <a:r>
              <a:rPr lang="en-PH" sz="3200" dirty="0" smtClean="0"/>
              <a:t>A man pushes a car with a force of 30 N. The car does not move. How much work is done by the man on the car?</a:t>
            </a:r>
          </a:p>
          <a:p>
            <a:pPr marL="739775" lvl="0" indent="-630238">
              <a:buNone/>
            </a:pPr>
            <a:endParaRPr lang="en-PH" sz="3200" dirty="0" smtClean="0"/>
          </a:p>
          <a:p>
            <a:pPr marL="1030288" lvl="0" indent="-290513">
              <a:buFont typeface="+mj-lt"/>
              <a:buAutoNum type="alphaUcPeriod"/>
            </a:pPr>
            <a:r>
              <a:rPr lang="en-US" sz="3200" dirty="0" smtClean="0"/>
              <a:t>30 Nm	</a:t>
            </a:r>
          </a:p>
          <a:p>
            <a:pPr marL="1030288" lvl="0" indent="-290513">
              <a:buFont typeface="+mj-lt"/>
              <a:buAutoNum type="alphaUcPeriod"/>
            </a:pPr>
            <a:r>
              <a:rPr lang="en-US" sz="3200" dirty="0" smtClean="0"/>
              <a:t>300 Nm</a:t>
            </a:r>
          </a:p>
          <a:p>
            <a:pPr marL="1030288" lvl="0" indent="-290513">
              <a:buFont typeface="+mj-lt"/>
              <a:buAutoNum type="alphaUcPeriod"/>
            </a:pPr>
            <a:r>
              <a:rPr lang="en-US" sz="3200" dirty="0" smtClean="0"/>
              <a:t>30 N</a:t>
            </a:r>
          </a:p>
          <a:p>
            <a:pPr marL="1030288" lvl="0" indent="-290513">
              <a:buFont typeface="+mj-lt"/>
              <a:buAutoNum type="alphaUcPeriod"/>
            </a:pPr>
            <a:r>
              <a:rPr lang="en-US" sz="3200" dirty="0" smtClean="0"/>
              <a:t>no work</a:t>
            </a:r>
          </a:p>
          <a:p>
            <a:pPr>
              <a:buNone/>
            </a:pPr>
            <a:endParaRPr lang="en-US" sz="32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695384" y="49713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219200"/>
            <a:ext cx="8229600" cy="4525963"/>
          </a:xfrm>
        </p:spPr>
        <p:txBody>
          <a:bodyPr>
            <a:normAutofit/>
          </a:bodyPr>
          <a:lstStyle/>
          <a:p>
            <a:r>
              <a:rPr lang="en-US" sz="3600" dirty="0" smtClean="0"/>
              <a:t>A </a:t>
            </a:r>
            <a:r>
              <a:rPr lang="en-US" sz="3600" b="1" dirty="0" smtClean="0"/>
              <a:t>force</a:t>
            </a:r>
            <a:r>
              <a:rPr lang="en-US" sz="3600" dirty="0" smtClean="0"/>
              <a:t> is said to do </a:t>
            </a:r>
            <a:r>
              <a:rPr lang="en-US" sz="3600" b="1" dirty="0" smtClean="0"/>
              <a:t>work</a:t>
            </a:r>
            <a:r>
              <a:rPr lang="en-US" sz="3600" dirty="0" smtClean="0"/>
              <a:t> when it acts on a body so that there is a displacement of the point of application in the direction of the force. Thus a force does work when it results in movement.</a:t>
            </a:r>
            <a:endParaRPr lang="en-US" sz="3600" dirty="0"/>
          </a:p>
        </p:txBody>
      </p:sp>
    </p:spTree>
  </p:cSld>
  <p:clrMapOvr>
    <a:masterClrMapping/>
  </p:clrMapOvr>
  <p:transition>
    <p:push/>
  </p:transition>
  <p:timing>
    <p:tnLst>
      <p:par>
        <p:cTn id="1" dur="indefinite" restart="never" nodeType="tmRoot"/>
      </p:par>
    </p:tnLst>
  </p:timing>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838200"/>
            <a:ext cx="8534400" cy="4602163"/>
          </a:xfrm>
        </p:spPr>
        <p:txBody>
          <a:bodyPr>
            <a:normAutofit/>
          </a:bodyPr>
          <a:lstStyle/>
          <a:p>
            <a:pPr lvl="0">
              <a:buNone/>
            </a:pPr>
            <a:r>
              <a:rPr lang="en-US" sz="3200" dirty="0" smtClean="0"/>
              <a:t>37. </a:t>
            </a:r>
            <a:r>
              <a:rPr lang="en-PH" sz="3200" dirty="0" smtClean="0"/>
              <a:t>The efficiency of machine increases</a:t>
            </a:r>
          </a:p>
          <a:p>
            <a:pPr lvl="0">
              <a:buNone/>
            </a:pPr>
            <a:r>
              <a:rPr lang="en-PH" sz="3200" dirty="0" smtClean="0"/>
              <a:t>       as</a:t>
            </a:r>
          </a:p>
          <a:p>
            <a:pPr lvl="0">
              <a:buNone/>
            </a:pPr>
            <a:endParaRPr lang="en-US" sz="3200" dirty="0" smtClean="0"/>
          </a:p>
          <a:p>
            <a:pPr marL="1089025" indent="-349250">
              <a:buFont typeface="+mj-lt"/>
              <a:buAutoNum type="alphaUcPeriod"/>
            </a:pPr>
            <a:r>
              <a:rPr lang="en-US" sz="3200" dirty="0" smtClean="0"/>
              <a:t>Friction increases	</a:t>
            </a:r>
          </a:p>
          <a:p>
            <a:pPr marL="1089025" indent="-349250">
              <a:buFont typeface="+mj-lt"/>
              <a:buAutoNum type="alphaUcPeriod"/>
            </a:pPr>
            <a:r>
              <a:rPr lang="en-US" sz="3200" dirty="0" smtClean="0"/>
              <a:t>The load is made lighter</a:t>
            </a:r>
          </a:p>
          <a:p>
            <a:pPr marL="1089025" indent="-349250">
              <a:buFont typeface="+mj-lt"/>
              <a:buAutoNum type="alphaUcPeriod"/>
            </a:pPr>
            <a:r>
              <a:rPr lang="en-US" sz="3200" dirty="0" smtClean="0"/>
              <a:t>Friction decreases</a:t>
            </a:r>
          </a:p>
          <a:p>
            <a:pPr marL="1089025" lvl="0" indent="-349250">
              <a:buFont typeface="+mj-lt"/>
              <a:buAutoNum type="alphaUcPeriod"/>
            </a:pPr>
            <a:r>
              <a:rPr lang="en-PH" sz="3200" dirty="0" smtClean="0"/>
              <a:t>The load is made heavier</a:t>
            </a:r>
            <a:endParaRPr lang="en-US" sz="3200" dirty="0" smtClean="0"/>
          </a:p>
          <a:p>
            <a:pPr marL="624078" indent="-514350">
              <a:buNone/>
            </a:pPr>
            <a:endParaRPr lang="en-US" sz="32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390586" y="36759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371600"/>
            <a:ext cx="8229600" cy="4525963"/>
          </a:xfrm>
        </p:spPr>
        <p:txBody>
          <a:bodyPr>
            <a:normAutofit/>
          </a:bodyPr>
          <a:lstStyle/>
          <a:p>
            <a:pPr marL="739775" lvl="0" indent="-630238">
              <a:buNone/>
            </a:pPr>
            <a:r>
              <a:rPr lang="en-US" sz="3200" dirty="0" smtClean="0"/>
              <a:t>38. </a:t>
            </a:r>
            <a:r>
              <a:rPr lang="en-PH" sz="3200" dirty="0" smtClean="0"/>
              <a:t>Smelling a scent of perfume from a distance illustrates</a:t>
            </a:r>
          </a:p>
          <a:p>
            <a:pPr marL="739775" lvl="0" indent="-630238">
              <a:buNone/>
            </a:pPr>
            <a:endParaRPr lang="en-PH" sz="3200" dirty="0" smtClean="0"/>
          </a:p>
          <a:p>
            <a:pPr marL="1089025" lvl="0" indent="-349250">
              <a:buFont typeface="+mj-lt"/>
              <a:buAutoNum type="alphaUcPeriod"/>
            </a:pPr>
            <a:r>
              <a:rPr lang="en-US" sz="3200" dirty="0" smtClean="0"/>
              <a:t>diffusion</a:t>
            </a:r>
          </a:p>
          <a:p>
            <a:pPr marL="1089025" lvl="0" indent="-349250">
              <a:buFont typeface="+mj-lt"/>
              <a:buAutoNum type="alphaUcPeriod"/>
            </a:pPr>
            <a:r>
              <a:rPr lang="en-US" sz="3200" dirty="0" smtClean="0"/>
              <a:t>cohesion</a:t>
            </a:r>
          </a:p>
          <a:p>
            <a:pPr marL="1089025" lvl="0" indent="-349250">
              <a:buFont typeface="+mj-lt"/>
              <a:buAutoNum type="alphaUcPeriod"/>
            </a:pPr>
            <a:r>
              <a:rPr lang="en-US" sz="3200" dirty="0" smtClean="0"/>
              <a:t>adhesion</a:t>
            </a:r>
          </a:p>
          <a:p>
            <a:pPr marL="1089025" lvl="0" indent="-349250">
              <a:buFont typeface="+mj-lt"/>
              <a:buAutoNum type="alphaUcPeriod"/>
            </a:pPr>
            <a:r>
              <a:rPr lang="en-US" sz="3200" dirty="0" smtClean="0"/>
              <a:t>all these</a:t>
            </a:r>
          </a:p>
          <a:p>
            <a:pPr>
              <a:buNone/>
            </a:pPr>
            <a:endParaRPr lang="en-US" sz="3200" dirty="0"/>
          </a:p>
        </p:txBody>
      </p:sp>
      <p:pic>
        <p:nvPicPr>
          <p:cNvPr id="4" name="Picture 4" descr="C:\Documents and Settings\Administrator\Desktop\hand_right.gif"/>
          <p:cNvPicPr>
            <a:picLocks noChangeAspect="1" noChangeArrowheads="1" noCrop="1"/>
          </p:cNvPicPr>
          <p:nvPr/>
        </p:nvPicPr>
        <p:blipFill>
          <a:blip r:embed="rId3">
            <a:extLst>
              <a:ext uri="{28A0092B-C50C-407E-A947-70E740481C1C}">
                <a14:useLocalDpi xmlns="" xmlns:a14="http://schemas.microsoft.com/office/drawing/2010/main" val="0"/>
              </a:ext>
            </a:extLst>
          </a:blip>
          <a:srcRect/>
          <a:stretch>
            <a:fillRect/>
          </a:stretch>
        </p:blipFill>
        <p:spPr bwMode="auto">
          <a:xfrm rot="21434720">
            <a:off x="542986" y="31425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838200"/>
            <a:ext cx="8229600" cy="5181600"/>
          </a:xfrm>
        </p:spPr>
        <p:txBody>
          <a:bodyPr>
            <a:normAutofit/>
          </a:bodyPr>
          <a:lstStyle/>
          <a:p>
            <a:r>
              <a:rPr lang="en-US" b="1" dirty="0" err="1" smtClean="0"/>
              <a:t>Difussion</a:t>
            </a:r>
            <a:r>
              <a:rPr lang="en-US" b="1" dirty="0" smtClean="0"/>
              <a:t>- </a:t>
            </a:r>
            <a:r>
              <a:rPr lang="en-US" dirty="0" smtClean="0"/>
              <a:t>The movement of atoms or molecules from an area of higher concentration to an area of lower concentration.</a:t>
            </a:r>
            <a:endParaRPr lang="en-US" b="1" dirty="0" smtClean="0"/>
          </a:p>
          <a:p>
            <a:r>
              <a:rPr lang="en-US" b="1" dirty="0" smtClean="0"/>
              <a:t>Cohesion </a:t>
            </a:r>
            <a:r>
              <a:rPr lang="en-US" dirty="0" smtClean="0"/>
              <a:t>- The force of attraction that holds molecules of a given substance together. It is strongest in solids, less strong in liquids, and least strong in gases. </a:t>
            </a:r>
          </a:p>
          <a:p>
            <a:r>
              <a:rPr lang="en-US" b="1" dirty="0" smtClean="0"/>
              <a:t>Adhesion</a:t>
            </a:r>
            <a:r>
              <a:rPr lang="en-US" dirty="0" smtClean="0"/>
              <a:t>- The force of attraction that causes two different substances to join. </a:t>
            </a:r>
            <a:endParaRPr lang="en-US" dirty="0"/>
          </a:p>
        </p:txBody>
      </p:sp>
    </p:spTree>
  </p:cSld>
  <p:clrMapOvr>
    <a:masterClrMapping/>
  </p:clrMapOvr>
  <p:transition>
    <p:push/>
  </p:transition>
  <p:timing>
    <p:tnLst>
      <p:par>
        <p:cTn id="1" dur="indefinite" restart="never" nodeType="tmRoot"/>
      </p:par>
    </p:tnLst>
  </p:timing>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457200"/>
            <a:ext cx="8229600" cy="4525963"/>
          </a:xfrm>
        </p:spPr>
        <p:txBody>
          <a:bodyPr>
            <a:noAutofit/>
          </a:bodyPr>
          <a:lstStyle/>
          <a:p>
            <a:pPr marL="623888" lvl="0" indent="-514350">
              <a:buNone/>
            </a:pPr>
            <a:r>
              <a:rPr lang="en-US" sz="2800" dirty="0" smtClean="0"/>
              <a:t>39. </a:t>
            </a:r>
            <a:r>
              <a:rPr lang="en-PH" sz="2800" dirty="0" smtClean="0"/>
              <a:t>Why do fishermen catch more fish during the new moon than during the full moon?</a:t>
            </a:r>
          </a:p>
          <a:p>
            <a:pPr marL="623888" lvl="0" indent="-514350">
              <a:buNone/>
            </a:pPr>
            <a:endParaRPr lang="en-US" sz="2800" dirty="0" smtClean="0"/>
          </a:p>
          <a:p>
            <a:pPr marL="914400" lvl="0" indent="-290513">
              <a:buFont typeface="+mj-lt"/>
              <a:buAutoNum type="alphaUcPeriod"/>
            </a:pPr>
            <a:r>
              <a:rPr lang="en-PH" sz="2800" dirty="0" smtClean="0"/>
              <a:t>Fishes look for mates during the new moon</a:t>
            </a:r>
            <a:endParaRPr lang="en-US" sz="2800" dirty="0" smtClean="0"/>
          </a:p>
          <a:p>
            <a:pPr marL="914400" lvl="0" indent="-290513">
              <a:buFont typeface="+mj-lt"/>
              <a:buAutoNum type="alphaUcPeriod"/>
            </a:pPr>
            <a:r>
              <a:rPr lang="en-PH" sz="2800" dirty="0" smtClean="0"/>
              <a:t>Fishes are attracted to the light from the fishing boat</a:t>
            </a:r>
            <a:endParaRPr lang="en-US" sz="2800" dirty="0" smtClean="0"/>
          </a:p>
          <a:p>
            <a:pPr marL="914400" lvl="0" indent="-290513">
              <a:buFont typeface="+mj-lt"/>
              <a:buAutoNum type="alphaUcPeriod"/>
            </a:pPr>
            <a:r>
              <a:rPr lang="en-PH" sz="2800" dirty="0" smtClean="0"/>
              <a:t>Fishes go near the water surface during the new moon because the water is warmer</a:t>
            </a:r>
            <a:endParaRPr lang="en-US" sz="2800" dirty="0" smtClean="0"/>
          </a:p>
          <a:p>
            <a:pPr marL="914400" lvl="0" indent="-290513">
              <a:buFont typeface="+mj-lt"/>
              <a:buAutoNum type="alphaUcPeriod"/>
            </a:pPr>
            <a:r>
              <a:rPr lang="en-PH" sz="2800" dirty="0" smtClean="0"/>
              <a:t>Fishes are more active during the new moon because the salt content of water is right.</a:t>
            </a:r>
            <a:endParaRPr lang="en-US" sz="2800" dirty="0" smtClean="0"/>
          </a:p>
          <a:p>
            <a:pPr>
              <a:buNone/>
            </a:pPr>
            <a:endParaRPr lang="en-US" sz="28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466785" y="2913974"/>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371600"/>
            <a:ext cx="8229600" cy="4525963"/>
          </a:xfrm>
        </p:spPr>
        <p:txBody>
          <a:bodyPr>
            <a:noAutofit/>
          </a:bodyPr>
          <a:lstStyle/>
          <a:p>
            <a:pPr marL="739775" indent="-630238">
              <a:buNone/>
            </a:pPr>
            <a:r>
              <a:rPr lang="en-US" sz="3200" dirty="0" smtClean="0"/>
              <a:t>40. Which of the following light has the longest wavelength?</a:t>
            </a:r>
          </a:p>
          <a:p>
            <a:pPr marL="739775" indent="-630238">
              <a:buNone/>
            </a:pPr>
            <a:endParaRPr lang="en-US" sz="3200" dirty="0" smtClean="0"/>
          </a:p>
          <a:p>
            <a:pPr marL="1089025" indent="-349250">
              <a:buFont typeface="+mj-lt"/>
              <a:buAutoNum type="alphaUcPeriod"/>
            </a:pPr>
            <a:r>
              <a:rPr lang="en-US" sz="3200" dirty="0" smtClean="0"/>
              <a:t>Red	</a:t>
            </a:r>
          </a:p>
          <a:p>
            <a:pPr marL="1089025" indent="-349250">
              <a:buFont typeface="+mj-lt"/>
              <a:buAutoNum type="alphaUcPeriod"/>
            </a:pPr>
            <a:r>
              <a:rPr lang="en-US" sz="3200" dirty="0" smtClean="0"/>
              <a:t>Blue </a:t>
            </a:r>
          </a:p>
          <a:p>
            <a:pPr marL="1089025" indent="-349250">
              <a:buFont typeface="+mj-lt"/>
              <a:buAutoNum type="alphaUcPeriod"/>
            </a:pPr>
            <a:r>
              <a:rPr lang="en-PH" sz="3200" dirty="0" smtClean="0"/>
              <a:t>Yellow	</a:t>
            </a:r>
            <a:endParaRPr lang="en-US" sz="3200" dirty="0" smtClean="0"/>
          </a:p>
          <a:p>
            <a:pPr marL="1089025" indent="-349250">
              <a:buFont typeface="+mj-lt"/>
              <a:buAutoNum type="alphaUcPeriod"/>
            </a:pPr>
            <a:r>
              <a:rPr lang="en-PH" sz="3200" dirty="0" smtClean="0"/>
              <a:t>Green</a:t>
            </a:r>
          </a:p>
          <a:p>
            <a:pPr marL="1089025" indent="-349250">
              <a:buNone/>
            </a:pPr>
            <a:endParaRPr lang="en-PH" sz="3200" dirty="0" smtClean="0"/>
          </a:p>
          <a:p>
            <a:pPr marL="1089025" indent="-349250">
              <a:buNone/>
            </a:pPr>
            <a:endParaRPr lang="en-PH" sz="3200" dirty="0" smtClean="0"/>
          </a:p>
          <a:p>
            <a:pPr marL="1089025" indent="-349250" algn="r">
              <a:buNone/>
            </a:pPr>
            <a:r>
              <a:rPr lang="en-PH" sz="3200" dirty="0" smtClean="0"/>
              <a:t>END</a:t>
            </a:r>
            <a:endParaRPr lang="en-US" sz="3200" dirty="0" smtClean="0"/>
          </a:p>
          <a:p>
            <a:pPr marL="739775" indent="-630238">
              <a:buNone/>
            </a:pPr>
            <a:endParaRPr lang="en-US" sz="3200" dirty="0"/>
          </a:p>
        </p:txBody>
      </p:sp>
      <p:pic>
        <p:nvPicPr>
          <p:cNvPr id="4" name="Picture 4" descr="C:\Documents and Settings\Administrator\Desktop\hand_right.gif"/>
          <p:cNvPicPr>
            <a:picLocks noChangeAspect="1" noChangeArrowheads="1" noCrop="1"/>
          </p:cNvPicPr>
          <p:nvPr/>
        </p:nvPicPr>
        <p:blipFill>
          <a:blip r:embed="rId3">
            <a:extLst>
              <a:ext uri="{28A0092B-C50C-407E-A947-70E740481C1C}">
                <a14:useLocalDpi xmlns="" xmlns:a14="http://schemas.microsoft.com/office/drawing/2010/main" val="0"/>
              </a:ext>
            </a:extLst>
          </a:blip>
          <a:srcRect/>
          <a:stretch>
            <a:fillRect/>
          </a:stretch>
        </p:blipFill>
        <p:spPr bwMode="auto">
          <a:xfrm rot="21434720">
            <a:off x="619184" y="3142574"/>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spectrum.gif"/>
          <p:cNvPicPr>
            <a:picLocks noGrp="1" noChangeAspect="1"/>
          </p:cNvPicPr>
          <p:nvPr>
            <p:ph idx="1"/>
          </p:nvPr>
        </p:nvPicPr>
        <p:blipFill>
          <a:blip r:embed="rId2"/>
          <a:stretch>
            <a:fillRect/>
          </a:stretch>
        </p:blipFill>
        <p:spPr>
          <a:xfrm>
            <a:off x="1066800" y="1066800"/>
            <a:ext cx="7162800" cy="4496594"/>
          </a:xfrm>
        </p:spPr>
      </p:pic>
    </p:spTree>
  </p:cSld>
  <p:clrMapOvr>
    <a:masterClrMapping/>
  </p:clrMapOvr>
  <p:transition>
    <p:push/>
  </p:transition>
  <p:timing>
    <p:tnLst>
      <p:par>
        <p:cTn id="1" dur="indefinite" restart="never" nodeType="tmRoot"/>
      </p:par>
    </p:tnLst>
  </p:timing>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back1.jpg"/>
          <p:cNvPicPr>
            <a:picLocks noChangeAspect="1"/>
          </p:cNvPicPr>
          <p:nvPr/>
        </p:nvPicPr>
        <p:blipFill>
          <a:blip r:embed="rId2"/>
          <a:stretch>
            <a:fillRect/>
          </a:stretch>
        </p:blipFill>
        <p:spPr>
          <a:xfrm>
            <a:off x="0" y="0"/>
            <a:ext cx="9144000" cy="6858000"/>
          </a:xfrm>
          <a:prstGeom prst="rect">
            <a:avLst/>
          </a:prstGeom>
        </p:spPr>
      </p:pic>
      <p:sp>
        <p:nvSpPr>
          <p:cNvPr id="2" name="Content Placeholder 1"/>
          <p:cNvSpPr>
            <a:spLocks noGrp="1"/>
          </p:cNvSpPr>
          <p:nvPr>
            <p:ph idx="1"/>
          </p:nvPr>
        </p:nvSpPr>
        <p:spPr>
          <a:xfrm>
            <a:off x="457200" y="1646237"/>
            <a:ext cx="8229600" cy="4525963"/>
          </a:xfrm>
        </p:spPr>
        <p:txBody>
          <a:bodyPr>
            <a:normAutofit/>
          </a:bodyPr>
          <a:lstStyle/>
          <a:p>
            <a:pPr algn="ctr">
              <a:buNone/>
            </a:pPr>
            <a:endParaRPr lang="en-US" sz="1200" dirty="0" smtClean="0">
              <a:latin typeface="Arial Black" pitchFamily="34" charset="0"/>
            </a:endParaRPr>
          </a:p>
          <a:p>
            <a:pPr algn="ctr">
              <a:buNone/>
            </a:pPr>
            <a:endParaRPr lang="en-US" sz="1200" dirty="0" smtClean="0">
              <a:latin typeface="Arial Black" pitchFamily="34" charset="0"/>
            </a:endParaRPr>
          </a:p>
          <a:p>
            <a:pPr algn="ctr">
              <a:buNone/>
            </a:pPr>
            <a:r>
              <a:rPr lang="en-US" sz="7200" dirty="0" smtClean="0">
                <a:latin typeface="Arial Black" pitchFamily="34" charset="0"/>
              </a:rPr>
              <a:t>MATHEMATICS</a:t>
            </a:r>
            <a:endParaRPr lang="en-US" sz="4000" dirty="0" smtClean="0">
              <a:latin typeface="Arial Black" pitchFamily="34" charset="0"/>
            </a:endParaRPr>
          </a:p>
          <a:p>
            <a:pPr algn="ctr">
              <a:buNone/>
            </a:pPr>
            <a:r>
              <a:rPr lang="en-US" sz="4800" dirty="0" smtClean="0"/>
              <a:t>Items 1-40</a:t>
            </a:r>
          </a:p>
          <a:p>
            <a:pPr>
              <a:buNone/>
            </a:pPr>
            <a:endParaRPr lang="en-US" dirty="0" smtClean="0"/>
          </a:p>
          <a:p>
            <a:endParaRPr lang="en-US" dirty="0" smtClean="0"/>
          </a:p>
          <a:p>
            <a:pPr>
              <a:buNone/>
            </a:pPr>
            <a:endParaRPr lang="en-US" dirty="0"/>
          </a:p>
        </p:txBody>
      </p:sp>
    </p:spTree>
  </p:cSld>
  <p:clrMapOvr>
    <a:masterClrMapping/>
  </p:clrMapOvr>
  <p:transition>
    <p:push/>
  </p:transition>
  <p:timing>
    <p:tnLst>
      <p:par>
        <p:cTn id="1" dur="indefinite" restart="never" nodeType="tmRoot"/>
      </p:par>
    </p:tnLst>
  </p:timing>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533400"/>
            <a:ext cx="8229600" cy="4525963"/>
          </a:xfrm>
        </p:spPr>
        <p:txBody>
          <a:bodyPr>
            <a:noAutofit/>
          </a:bodyPr>
          <a:lstStyle/>
          <a:p>
            <a:pPr marL="622300" indent="-514350">
              <a:buAutoNum type="arabicPeriod"/>
            </a:pPr>
            <a:r>
              <a:rPr lang="en-PH" sz="3000" dirty="0" smtClean="0"/>
              <a:t>A vehicle consumes a </a:t>
            </a:r>
            <a:r>
              <a:rPr lang="en-PH" sz="3000" dirty="0" err="1" smtClean="0"/>
              <a:t>liter</a:t>
            </a:r>
            <a:r>
              <a:rPr lang="en-PH" sz="3000" dirty="0" smtClean="0"/>
              <a:t> of gasoline to travel 10 </a:t>
            </a:r>
            <a:r>
              <a:rPr lang="en-PH" sz="3000" dirty="0" err="1" smtClean="0"/>
              <a:t>kilometers</a:t>
            </a:r>
            <a:r>
              <a:rPr lang="en-PH" sz="3000" dirty="0" smtClean="0"/>
              <a:t>. After a tune-up, it travels 15% further on one litre. To the nearest tenth, how many litres of gasoline will it take for the vehicle to travel 230 kilometres?</a:t>
            </a:r>
          </a:p>
          <a:p>
            <a:pPr marL="622300" indent="-514350">
              <a:buAutoNum type="arabicPeriod"/>
            </a:pPr>
            <a:endParaRPr lang="en-PH" sz="3000" dirty="0" smtClean="0"/>
          </a:p>
          <a:p>
            <a:pPr marL="914400" indent="-347663">
              <a:buFont typeface="+mj-lt"/>
              <a:buAutoNum type="alphaUcPeriod"/>
            </a:pPr>
            <a:r>
              <a:rPr lang="en-US" sz="3000" dirty="0" smtClean="0"/>
              <a:t>20.15 liters</a:t>
            </a:r>
          </a:p>
          <a:p>
            <a:pPr marL="914400" indent="-347663">
              <a:buFont typeface="+mj-lt"/>
              <a:buAutoNum type="alphaUcPeriod"/>
            </a:pPr>
            <a:r>
              <a:rPr lang="en-US" sz="3000" dirty="0" smtClean="0"/>
              <a:t>23 liters</a:t>
            </a:r>
          </a:p>
          <a:p>
            <a:pPr marL="914400" indent="-347663">
              <a:buFont typeface="+mj-lt"/>
              <a:buAutoNum type="alphaUcPeriod"/>
            </a:pPr>
            <a:r>
              <a:rPr lang="en-US" sz="3000" dirty="0" smtClean="0"/>
              <a:t>23.15 liters</a:t>
            </a:r>
          </a:p>
          <a:p>
            <a:pPr marL="914400" indent="-347663">
              <a:buFont typeface="+mj-lt"/>
              <a:buAutoNum type="alphaUcPeriod"/>
            </a:pPr>
            <a:r>
              <a:rPr lang="en-US" sz="3000" dirty="0" smtClean="0"/>
              <a:t>20 liters</a:t>
            </a:r>
            <a:endParaRPr lang="en-PH" sz="3000" dirty="0" smtClean="0"/>
          </a:p>
          <a:p>
            <a:pPr marL="623887" indent="-514350">
              <a:buNone/>
            </a:pPr>
            <a:endParaRPr lang="en-US" sz="3000" dirty="0" smtClean="0"/>
          </a:p>
          <a:p>
            <a:pPr>
              <a:buNone/>
            </a:pPr>
            <a:endParaRPr lang="en-US" sz="3000" dirty="0"/>
          </a:p>
        </p:txBody>
      </p:sp>
      <p:pic>
        <p:nvPicPr>
          <p:cNvPr id="4" name="Picture 4" descr="C:\Documents and Settings\Administrator\Desktop\hand_right.gif"/>
          <p:cNvPicPr>
            <a:picLocks noChangeAspect="1" noChangeArrowheads="1" noCrop="1"/>
          </p:cNvPicPr>
          <p:nvPr/>
        </p:nvPicPr>
        <p:blipFill>
          <a:blip r:embed="rId3">
            <a:extLst>
              <a:ext uri="{28A0092B-C50C-407E-A947-70E740481C1C}">
                <a14:useLocalDpi xmlns="" xmlns:a14="http://schemas.microsoft.com/office/drawing/2010/main" val="0"/>
              </a:ext>
            </a:extLst>
          </a:blip>
          <a:srcRect/>
          <a:stretch>
            <a:fillRect/>
          </a:stretch>
        </p:blipFill>
        <p:spPr bwMode="auto">
          <a:xfrm rot="21434720">
            <a:off x="390585" y="55047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304800"/>
            <a:ext cx="8382000" cy="5867400"/>
          </a:xfrm>
        </p:spPr>
        <p:txBody>
          <a:bodyPr>
            <a:normAutofit fontScale="85000" lnSpcReduction="20000"/>
          </a:bodyPr>
          <a:lstStyle/>
          <a:p>
            <a:pPr>
              <a:buNone/>
            </a:pPr>
            <a:r>
              <a:rPr lang="en-US" b="1" i="1" dirty="0" smtClean="0"/>
              <a:t>Definition: Rate – ratio between two quantities. </a:t>
            </a:r>
            <a:endParaRPr lang="en-US" dirty="0" smtClean="0"/>
          </a:p>
          <a:p>
            <a:pPr>
              <a:buNone/>
            </a:pPr>
            <a:r>
              <a:rPr lang="en-US" b="1" i="1" dirty="0" smtClean="0"/>
              <a:t> </a:t>
            </a:r>
            <a:endParaRPr lang="en-US" dirty="0" smtClean="0"/>
          </a:p>
          <a:p>
            <a:pPr>
              <a:buNone/>
            </a:pPr>
            <a:r>
              <a:rPr lang="en-US" b="1" i="1" dirty="0" smtClean="0"/>
              <a:t>Rate(R) =                        = </a:t>
            </a:r>
          </a:p>
          <a:p>
            <a:pPr>
              <a:buNone/>
            </a:pPr>
            <a:r>
              <a:rPr lang="en-US" b="1" i="1" dirty="0" smtClean="0"/>
              <a:t>  </a:t>
            </a:r>
            <a:endParaRPr lang="en-US" dirty="0" smtClean="0"/>
          </a:p>
          <a:p>
            <a:pPr>
              <a:buNone/>
            </a:pPr>
            <a:r>
              <a:rPr lang="en-US" dirty="0" smtClean="0"/>
              <a:t> </a:t>
            </a:r>
          </a:p>
          <a:p>
            <a:pPr>
              <a:buNone/>
            </a:pPr>
            <a:r>
              <a:rPr lang="en-US" dirty="0" smtClean="0"/>
              <a:t>Rate before tune up(R</a:t>
            </a:r>
            <a:r>
              <a:rPr lang="en-US" baseline="-25000" dirty="0" smtClean="0"/>
              <a:t>1</a:t>
            </a:r>
            <a:r>
              <a:rPr lang="en-US" dirty="0" smtClean="0"/>
              <a:t>) : R</a:t>
            </a:r>
            <a:r>
              <a:rPr lang="en-US" baseline="-25000" dirty="0" smtClean="0"/>
              <a:t>1</a:t>
            </a:r>
            <a:r>
              <a:rPr lang="en-US" dirty="0" smtClean="0"/>
              <a:t> = </a:t>
            </a:r>
          </a:p>
          <a:p>
            <a:pPr>
              <a:buNone/>
            </a:pPr>
            <a:r>
              <a:rPr lang="en-US" b="1" dirty="0" smtClean="0"/>
              <a:t> </a:t>
            </a:r>
            <a:endParaRPr lang="en-US" dirty="0" smtClean="0"/>
          </a:p>
          <a:p>
            <a:pPr>
              <a:buNone/>
            </a:pPr>
            <a:r>
              <a:rPr lang="en-US" i="1" dirty="0" smtClean="0"/>
              <a:t>After tune-up: d increases by 15% = 115% of d</a:t>
            </a:r>
            <a:r>
              <a:rPr lang="en-US" i="1" baseline="-25000" dirty="0" smtClean="0"/>
              <a:t>1</a:t>
            </a:r>
            <a:r>
              <a:rPr lang="en-US" i="1" dirty="0" smtClean="0"/>
              <a:t> = (1.15)(10 km) = 11.5 km</a:t>
            </a:r>
            <a:endParaRPr lang="en-US" dirty="0" smtClean="0"/>
          </a:p>
          <a:p>
            <a:pPr>
              <a:buNone/>
            </a:pPr>
            <a:r>
              <a:rPr lang="en-US" dirty="0" smtClean="0"/>
              <a:t> </a:t>
            </a:r>
          </a:p>
          <a:p>
            <a:pPr>
              <a:buNone/>
            </a:pPr>
            <a:r>
              <a:rPr lang="en-US" dirty="0" smtClean="0"/>
              <a:t>Rate after tune up(R</a:t>
            </a:r>
            <a:r>
              <a:rPr lang="en-US" baseline="-25000" dirty="0" smtClean="0"/>
              <a:t>2</a:t>
            </a:r>
            <a:r>
              <a:rPr lang="en-US" dirty="0" smtClean="0"/>
              <a:t>) : R</a:t>
            </a:r>
            <a:r>
              <a:rPr lang="en-US" baseline="-25000" dirty="0" smtClean="0"/>
              <a:t>2</a:t>
            </a:r>
            <a:r>
              <a:rPr lang="en-US" dirty="0" smtClean="0"/>
              <a:t> = </a:t>
            </a:r>
          </a:p>
          <a:p>
            <a:pPr>
              <a:buNone/>
            </a:pPr>
            <a:r>
              <a:rPr lang="en-US" b="1" dirty="0" smtClean="0"/>
              <a:t> </a:t>
            </a:r>
            <a:endParaRPr lang="en-US" dirty="0" smtClean="0"/>
          </a:p>
          <a:p>
            <a:pPr>
              <a:buNone/>
            </a:pPr>
            <a:r>
              <a:rPr lang="en-US" b="1" u="sng" dirty="0" smtClean="0"/>
              <a:t>Given</a:t>
            </a:r>
            <a:r>
              <a:rPr lang="en-US" b="1" dirty="0" smtClean="0"/>
              <a:t>:</a:t>
            </a:r>
            <a:endParaRPr lang="en-US" dirty="0" smtClean="0"/>
          </a:p>
          <a:p>
            <a:pPr>
              <a:buNone/>
            </a:pPr>
            <a:r>
              <a:rPr lang="en-US" b="1" dirty="0" smtClean="0"/>
              <a:t>R</a:t>
            </a:r>
            <a:r>
              <a:rPr lang="en-US" b="1" baseline="-25000" dirty="0" smtClean="0"/>
              <a:t>2</a:t>
            </a:r>
            <a:r>
              <a:rPr lang="en-US" dirty="0" smtClean="0"/>
              <a:t>=      </a:t>
            </a:r>
            <a:r>
              <a:rPr lang="en-US" b="1" dirty="0" smtClean="0"/>
              <a:t>	             ; d­</a:t>
            </a:r>
            <a:r>
              <a:rPr lang="en-US" b="1" baseline="-25000" dirty="0" smtClean="0"/>
              <a:t>2</a:t>
            </a:r>
            <a:r>
              <a:rPr lang="en-US" b="1" dirty="0" smtClean="0"/>
              <a:t> = 230 km	; V</a:t>
            </a:r>
            <a:r>
              <a:rPr lang="en-US" b="1" baseline="-25000" dirty="0" smtClean="0"/>
              <a:t>2 </a:t>
            </a:r>
            <a:r>
              <a:rPr lang="en-US" b="1" dirty="0" smtClean="0"/>
              <a:t> = ?</a:t>
            </a:r>
            <a:endParaRPr lang="en-US" dirty="0" smtClean="0"/>
          </a:p>
          <a:p>
            <a:pPr>
              <a:buNone/>
            </a:pPr>
            <a:r>
              <a:rPr lang="en-US" b="1" dirty="0" smtClean="0"/>
              <a:t> </a:t>
            </a:r>
            <a:endParaRPr lang="en-US" dirty="0" smtClean="0"/>
          </a:p>
          <a:p>
            <a:pPr>
              <a:buNone/>
            </a:pPr>
            <a:r>
              <a:rPr lang="en-US" b="1" u="sng" dirty="0" smtClean="0"/>
              <a:t>Equation and Solution</a:t>
            </a:r>
            <a:r>
              <a:rPr lang="en-US" b="1" dirty="0" smtClean="0"/>
              <a:t>: R</a:t>
            </a:r>
            <a:r>
              <a:rPr lang="en-US" b="1" baseline="-25000" dirty="0" smtClean="0"/>
              <a:t>2</a:t>
            </a:r>
            <a:r>
              <a:rPr lang="en-US" b="1" dirty="0" smtClean="0"/>
              <a:t>=           ; </a:t>
            </a:r>
            <a:r>
              <a:rPr lang="en-US" b="1" u="sng" dirty="0" smtClean="0"/>
              <a:t>solving for V</a:t>
            </a:r>
            <a:r>
              <a:rPr lang="en-US" b="1" u="sng" baseline="-25000" dirty="0" smtClean="0"/>
              <a:t>2</a:t>
            </a:r>
            <a:r>
              <a:rPr lang="en-US" b="1" dirty="0" smtClean="0"/>
              <a:t> : V</a:t>
            </a:r>
            <a:r>
              <a:rPr lang="en-US" b="1" baseline="-25000" dirty="0" smtClean="0"/>
              <a:t>2</a:t>
            </a:r>
            <a:r>
              <a:rPr lang="en-US" b="1" dirty="0" smtClean="0"/>
              <a:t> = R</a:t>
            </a:r>
            <a:r>
              <a:rPr lang="en-US" b="1" baseline="-25000" dirty="0" smtClean="0"/>
              <a:t>2</a:t>
            </a:r>
            <a:r>
              <a:rPr lang="en-US" b="1" dirty="0" smtClean="0"/>
              <a:t>d</a:t>
            </a:r>
            <a:r>
              <a:rPr lang="en-US" b="1" baseline="-25000" dirty="0" smtClean="0"/>
              <a:t>2</a:t>
            </a:r>
            <a:r>
              <a:rPr lang="en-US" b="1" dirty="0" smtClean="0"/>
              <a:t> =  (                    )  (230 km) = </a:t>
            </a:r>
            <a:r>
              <a:rPr lang="en-US" sz="3300" b="1" dirty="0" smtClean="0">
                <a:solidFill>
                  <a:srgbClr val="FF0000"/>
                </a:solidFill>
              </a:rPr>
              <a:t>20 km </a:t>
            </a:r>
            <a:endParaRPr lang="en-US" dirty="0" smtClean="0">
              <a:solidFill>
                <a:srgbClr val="FF0000"/>
              </a:solidFill>
            </a:endParaRPr>
          </a:p>
          <a:p>
            <a:pPr>
              <a:buNone/>
            </a:pPr>
            <a:endParaRPr lang="en-US" dirty="0"/>
          </a:p>
        </p:txBody>
      </p:sp>
      <p:sp>
        <p:nvSpPr>
          <p:cNvPr id="102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025" name="Picture 1"/>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2286000" y="838200"/>
            <a:ext cx="1813169" cy="609600"/>
          </a:xfrm>
          <a:prstGeom prst="rect">
            <a:avLst/>
          </a:prstGeom>
          <a:noFill/>
        </p:spPr>
      </p:pic>
      <p:sp>
        <p:nvSpPr>
          <p:cNvPr id="1030"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029" name="Picture 5"/>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4724400" y="914400"/>
            <a:ext cx="1295400" cy="533400"/>
          </a:xfrm>
          <a:prstGeom prst="rect">
            <a:avLst/>
          </a:prstGeom>
          <a:noFill/>
        </p:spPr>
      </p:pic>
      <p:sp>
        <p:nvSpPr>
          <p:cNvPr id="1032"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031" name="Picture 7"/>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5105400" y="1905000"/>
            <a:ext cx="1295400" cy="609600"/>
          </a:xfrm>
          <a:prstGeom prst="rect">
            <a:avLst/>
          </a:prstGeom>
          <a:noFill/>
        </p:spPr>
      </p:pic>
      <p:sp>
        <p:nvSpPr>
          <p:cNvPr id="1034"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033" name="Picture 9"/>
          <p:cNvPicPr>
            <a:picLocks noChangeAspect="1" noChangeArrowheads="1"/>
          </p:cNvPicPr>
          <p:nvPr/>
        </p:nvPicPr>
        <p:blipFill>
          <a:blip r:embed="rId4">
            <a:clrChange>
              <a:clrFrom>
                <a:srgbClr val="FFFFFF"/>
              </a:clrFrom>
              <a:clrTo>
                <a:srgbClr val="FFFFFF">
                  <a:alpha val="0"/>
                </a:srgbClr>
              </a:clrTo>
            </a:clrChange>
          </a:blip>
          <a:srcRect/>
          <a:stretch>
            <a:fillRect/>
          </a:stretch>
        </p:blipFill>
        <p:spPr bwMode="auto">
          <a:xfrm>
            <a:off x="4724400" y="3505200"/>
            <a:ext cx="1248508" cy="609600"/>
          </a:xfrm>
          <a:prstGeom prst="rect">
            <a:avLst/>
          </a:prstGeom>
          <a:noFill/>
        </p:spPr>
      </p:pic>
      <p:sp>
        <p:nvSpPr>
          <p:cNvPr id="1036" name="Rectangle 1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035" name="Picture 11"/>
          <p:cNvPicPr>
            <a:picLocks noChangeAspect="1" noChangeArrowheads="1"/>
          </p:cNvPicPr>
          <p:nvPr/>
        </p:nvPicPr>
        <p:blipFill>
          <a:blip r:embed="rId4">
            <a:clrChange>
              <a:clrFrom>
                <a:srgbClr val="FFFFFF"/>
              </a:clrFrom>
              <a:clrTo>
                <a:srgbClr val="FFFFFF">
                  <a:alpha val="0"/>
                </a:srgbClr>
              </a:clrTo>
            </a:clrChange>
          </a:blip>
          <a:srcRect/>
          <a:stretch>
            <a:fillRect/>
          </a:stretch>
        </p:blipFill>
        <p:spPr bwMode="auto">
          <a:xfrm>
            <a:off x="1524000" y="4572000"/>
            <a:ext cx="1524000" cy="533400"/>
          </a:xfrm>
          <a:prstGeom prst="rect">
            <a:avLst/>
          </a:prstGeom>
          <a:noFill/>
        </p:spPr>
      </p:pic>
      <p:sp>
        <p:nvSpPr>
          <p:cNvPr id="1038" name="Rectangle 1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037" name="Picture 13"/>
          <p:cNvPicPr>
            <a:picLocks noChangeAspect="1" noChangeArrowheads="1"/>
          </p:cNvPicPr>
          <p:nvPr/>
        </p:nvPicPr>
        <p:blipFill>
          <a:blip r:embed="rId5">
            <a:clrChange>
              <a:clrFrom>
                <a:srgbClr val="FFFFFF"/>
              </a:clrFrom>
              <a:clrTo>
                <a:srgbClr val="FFFFFF">
                  <a:alpha val="0"/>
                </a:srgbClr>
              </a:clrTo>
            </a:clrChange>
          </a:blip>
          <a:srcRect/>
          <a:stretch>
            <a:fillRect/>
          </a:stretch>
        </p:blipFill>
        <p:spPr bwMode="auto">
          <a:xfrm>
            <a:off x="4724400" y="5105400"/>
            <a:ext cx="457200" cy="381000"/>
          </a:xfrm>
          <a:prstGeom prst="rect">
            <a:avLst/>
          </a:prstGeom>
          <a:noFill/>
        </p:spPr>
      </p:pic>
      <p:pic>
        <p:nvPicPr>
          <p:cNvPr id="18" name="Picture 11"/>
          <p:cNvPicPr>
            <a:picLocks noChangeAspect="1" noChangeArrowheads="1"/>
          </p:cNvPicPr>
          <p:nvPr/>
        </p:nvPicPr>
        <p:blipFill>
          <a:blip r:embed="rId4">
            <a:clrChange>
              <a:clrFrom>
                <a:srgbClr val="FFFFFF"/>
              </a:clrFrom>
              <a:clrTo>
                <a:srgbClr val="FFFFFF">
                  <a:alpha val="0"/>
                </a:srgbClr>
              </a:clrTo>
            </a:clrChange>
          </a:blip>
          <a:srcRect/>
          <a:stretch>
            <a:fillRect/>
          </a:stretch>
        </p:blipFill>
        <p:spPr bwMode="auto">
          <a:xfrm>
            <a:off x="2286000" y="5562600"/>
            <a:ext cx="1524000" cy="533400"/>
          </a:xfrm>
          <a:prstGeom prst="rect">
            <a:avLst/>
          </a:prstGeom>
          <a:noFill/>
        </p:spPr>
      </p:pic>
    </p:spTree>
  </p:cSld>
  <p:clrMapOvr>
    <a:masterClrMapping/>
  </p:clrMapOvr>
  <p:transition>
    <p:push/>
  </p:transition>
  <p:timing>
    <p:tnLst>
      <p:par>
        <p:cTn id="1" dur="indefinite" restart="never" nodeType="tmRoot"/>
      </p:par>
    </p:tnLst>
  </p:timing>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066800"/>
            <a:ext cx="8229600" cy="4525963"/>
          </a:xfrm>
        </p:spPr>
        <p:txBody>
          <a:bodyPr>
            <a:noAutofit/>
          </a:bodyPr>
          <a:lstStyle/>
          <a:p>
            <a:pPr marL="508000" indent="-398463">
              <a:buNone/>
            </a:pPr>
            <a:r>
              <a:rPr lang="en-US" sz="3200" dirty="0" smtClean="0"/>
              <a:t>2. </a:t>
            </a:r>
            <a:r>
              <a:rPr lang="en-PH" sz="3200" dirty="0" smtClean="0"/>
              <a:t>The ratio of men to women at High School is 3</a:t>
            </a:r>
            <a:r>
              <a:rPr lang="en-PH" sz="3200" b="1" dirty="0" smtClean="0"/>
              <a:t>:</a:t>
            </a:r>
            <a:r>
              <a:rPr lang="en-PH" sz="3200" dirty="0" smtClean="0"/>
              <a:t>7. If there are 6, 153 women in the said school, how many men are at Mabuhay High School?</a:t>
            </a:r>
          </a:p>
          <a:p>
            <a:pPr marL="508000" indent="-398463">
              <a:buNone/>
            </a:pPr>
            <a:endParaRPr lang="en-PH" sz="3200" dirty="0" smtClean="0"/>
          </a:p>
          <a:p>
            <a:pPr marL="855663" indent="-347663">
              <a:buFont typeface="+mj-lt"/>
              <a:buAutoNum type="alphaUcPeriod"/>
            </a:pPr>
            <a:r>
              <a:rPr lang="en-US" sz="3200" dirty="0" smtClean="0"/>
              <a:t>2,051	</a:t>
            </a:r>
          </a:p>
          <a:p>
            <a:pPr marL="855663" indent="-347663">
              <a:buFont typeface="+mj-lt"/>
              <a:buAutoNum type="alphaUcPeriod"/>
            </a:pPr>
            <a:r>
              <a:rPr lang="en-US" sz="3200" dirty="0" smtClean="0"/>
              <a:t>2,637</a:t>
            </a:r>
          </a:p>
          <a:p>
            <a:pPr marL="855663" indent="-347663">
              <a:buFont typeface="+mj-lt"/>
              <a:buAutoNum type="alphaUcPeriod"/>
            </a:pPr>
            <a:r>
              <a:rPr lang="en-US" sz="3200" dirty="0" smtClean="0"/>
              <a:t>879</a:t>
            </a:r>
          </a:p>
          <a:p>
            <a:pPr marL="855663" indent="-347663">
              <a:buFont typeface="+mj-lt"/>
              <a:buAutoNum type="alphaUcPeriod"/>
            </a:pPr>
            <a:r>
              <a:rPr lang="en-US" sz="3200" dirty="0" smtClean="0"/>
              <a:t>1,895</a:t>
            </a:r>
            <a:endParaRPr lang="en-US" sz="32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238185" y="43617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5" name="Picture 1"/>
          <p:cNvPicPr>
            <a:picLocks noGrp="1" noChangeAspect="1" noChangeArrowheads="1"/>
          </p:cNvPicPr>
          <p:nvPr>
            <p:ph idx="1"/>
          </p:nvPr>
        </p:nvPicPr>
        <p:blipFill>
          <a:blip r:embed="rId2"/>
          <a:srcRect l="2671" t="30663" r="1725" b="20441"/>
          <a:stretch>
            <a:fillRect/>
          </a:stretch>
        </p:blipFill>
        <p:spPr bwMode="auto">
          <a:xfrm>
            <a:off x="533400" y="1905000"/>
            <a:ext cx="8355874" cy="3429000"/>
          </a:xfrm>
          <a:prstGeom prst="rect">
            <a:avLst/>
          </a:prstGeom>
          <a:noFill/>
          <a:ln w="9525">
            <a:noFill/>
            <a:miter lim="800000"/>
            <a:headEnd/>
            <a:tailEnd/>
          </a:ln>
          <a:effectLst/>
        </p:spPr>
      </p:pic>
    </p:spTree>
  </p:cSld>
  <p:clrMapOvr>
    <a:masterClrMapping/>
  </p:clrMapOvr>
  <p:transition>
    <p:push/>
  </p:transition>
  <p:timing>
    <p:tnLst>
      <p:par>
        <p:cTn id="1" dur="indefinite" restart="never" nodeType="tmRoot"/>
      </p:par>
    </p:tnLst>
  </p:timing>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600" y="762000"/>
            <a:ext cx="8229600" cy="4525963"/>
          </a:xfrm>
        </p:spPr>
        <p:txBody>
          <a:bodyPr>
            <a:noAutofit/>
          </a:bodyPr>
          <a:lstStyle/>
          <a:p>
            <a:pPr marL="566738" indent="-457200">
              <a:buNone/>
            </a:pPr>
            <a:r>
              <a:rPr lang="en-US" sz="3000" dirty="0" smtClean="0"/>
              <a:t>3. </a:t>
            </a:r>
            <a:r>
              <a:rPr lang="en-PH" sz="3000" dirty="0" smtClean="0"/>
              <a:t>Mrs. Santos borrowed from a friend </a:t>
            </a:r>
            <a:r>
              <a:rPr lang="en-PH" sz="3000" strike="sngStrike" dirty="0" smtClean="0"/>
              <a:t>P</a:t>
            </a:r>
            <a:r>
              <a:rPr lang="en-PH" sz="3000" dirty="0" smtClean="0"/>
              <a:t>50,000.00 at 5% interest per month. She contracted the loan in December 1998. How much will she pay after a year?</a:t>
            </a:r>
          </a:p>
          <a:p>
            <a:pPr marL="566738" indent="-457200">
              <a:buNone/>
            </a:pPr>
            <a:endParaRPr lang="en-US" sz="3000" dirty="0" smtClean="0"/>
          </a:p>
          <a:p>
            <a:pPr marL="914400" indent="-347663">
              <a:buFont typeface="+mj-lt"/>
              <a:buAutoNum type="alphaUcPeriod"/>
            </a:pPr>
            <a:r>
              <a:rPr lang="en-US" sz="3000" strike="sngStrike" dirty="0" smtClean="0"/>
              <a:t>P</a:t>
            </a:r>
            <a:r>
              <a:rPr lang="en-US" sz="3000" dirty="0" smtClean="0"/>
              <a:t>80, 000.00</a:t>
            </a:r>
          </a:p>
          <a:p>
            <a:pPr marL="914400" indent="-347663">
              <a:buFont typeface="+mj-lt"/>
              <a:buAutoNum type="alphaUcPeriod"/>
            </a:pPr>
            <a:r>
              <a:rPr lang="en-US" sz="3000" strike="sngStrike" dirty="0" smtClean="0"/>
              <a:t>P</a:t>
            </a:r>
            <a:r>
              <a:rPr lang="en-US" sz="3000" dirty="0" smtClean="0"/>
              <a:t>100, 000.00</a:t>
            </a:r>
          </a:p>
          <a:p>
            <a:pPr marL="914400" indent="-347663">
              <a:buFont typeface="+mj-lt"/>
              <a:buAutoNum type="alphaUcPeriod"/>
            </a:pPr>
            <a:r>
              <a:rPr lang="en-US" sz="3000" strike="sngStrike" dirty="0" smtClean="0"/>
              <a:t>P</a:t>
            </a:r>
            <a:r>
              <a:rPr lang="en-US" sz="3000" dirty="0" smtClean="0"/>
              <a:t>150, 000.00</a:t>
            </a:r>
          </a:p>
          <a:p>
            <a:pPr marL="914400" indent="-347663">
              <a:buFont typeface="+mj-lt"/>
              <a:buAutoNum type="alphaUcPeriod"/>
            </a:pPr>
            <a:r>
              <a:rPr lang="en-US" sz="3000" strike="sngStrike" dirty="0" smtClean="0"/>
              <a:t>P</a:t>
            </a:r>
            <a:r>
              <a:rPr lang="en-US" sz="3000" dirty="0" smtClean="0"/>
              <a:t>130, 000.00</a:t>
            </a:r>
            <a:endParaRPr lang="en-US" sz="30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314385" y="3828374"/>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609600"/>
            <a:ext cx="8229600" cy="5334000"/>
          </a:xfrm>
        </p:spPr>
        <p:txBody>
          <a:bodyPr/>
          <a:lstStyle/>
          <a:p>
            <a:pPr>
              <a:buNone/>
            </a:pPr>
            <a:r>
              <a:rPr lang="en-US" b="1" i="1" dirty="0" smtClean="0"/>
              <a:t>Given: </a:t>
            </a:r>
            <a:endParaRPr lang="en-US" dirty="0" smtClean="0"/>
          </a:p>
          <a:p>
            <a:pPr>
              <a:buNone/>
            </a:pPr>
            <a:r>
              <a:rPr lang="en-US" b="1" i="1" dirty="0" smtClean="0"/>
              <a:t>	</a:t>
            </a:r>
            <a:r>
              <a:rPr lang="en-US" dirty="0" smtClean="0"/>
              <a:t>Principal Amount (P) = </a:t>
            </a:r>
            <a:r>
              <a:rPr lang="en-US" strike="sngStrike" dirty="0" smtClean="0"/>
              <a:t>P</a:t>
            </a:r>
            <a:r>
              <a:rPr lang="en-US" dirty="0" smtClean="0"/>
              <a:t>50,000.00</a:t>
            </a:r>
          </a:p>
          <a:p>
            <a:pPr>
              <a:buNone/>
            </a:pPr>
            <a:r>
              <a:rPr lang="en-US" dirty="0" smtClean="0"/>
              <a:t>	Interest Rate (</a:t>
            </a:r>
            <a:r>
              <a:rPr lang="en-US" dirty="0" err="1" smtClean="0"/>
              <a:t>i</a:t>
            </a:r>
            <a:r>
              <a:rPr lang="en-US" dirty="0" smtClean="0"/>
              <a:t>) = 5%/month</a:t>
            </a:r>
          </a:p>
          <a:p>
            <a:pPr>
              <a:buNone/>
            </a:pPr>
            <a:r>
              <a:rPr lang="en-US" dirty="0" smtClean="0"/>
              <a:t>	Time (t) = 12 months</a:t>
            </a:r>
          </a:p>
          <a:p>
            <a:pPr>
              <a:buNone/>
            </a:pPr>
            <a:endParaRPr lang="en-US" dirty="0" smtClean="0"/>
          </a:p>
          <a:p>
            <a:pPr>
              <a:buNone/>
            </a:pPr>
            <a:r>
              <a:rPr lang="en-US" b="1" i="1" dirty="0" smtClean="0"/>
              <a:t>Equation:	</a:t>
            </a:r>
            <a:endParaRPr lang="en-US" dirty="0" smtClean="0"/>
          </a:p>
          <a:p>
            <a:pPr>
              <a:buNone/>
            </a:pPr>
            <a:r>
              <a:rPr lang="en-US" dirty="0" smtClean="0"/>
              <a:t>	Future amount (F) = P(1 +</a:t>
            </a:r>
            <a:r>
              <a:rPr lang="en-US" dirty="0" err="1" smtClean="0"/>
              <a:t>rt</a:t>
            </a:r>
            <a:r>
              <a:rPr lang="en-US" dirty="0" smtClean="0"/>
              <a:t>) </a:t>
            </a:r>
            <a:r>
              <a:rPr lang="en-US" b="1" i="1" dirty="0" smtClean="0"/>
              <a:t>= </a:t>
            </a:r>
          </a:p>
          <a:p>
            <a:pPr>
              <a:buNone/>
            </a:pPr>
            <a:endParaRPr lang="en-US" b="1" i="1" dirty="0" smtClean="0"/>
          </a:p>
          <a:p>
            <a:pPr>
              <a:buNone/>
            </a:pPr>
            <a:r>
              <a:rPr lang="en-US" strike="sngStrike" dirty="0" smtClean="0"/>
              <a:t>P</a:t>
            </a:r>
            <a:r>
              <a:rPr lang="en-US" dirty="0" smtClean="0"/>
              <a:t>50,000.00 [1 +               ] </a:t>
            </a:r>
            <a:r>
              <a:rPr lang="en-US" b="1" dirty="0" smtClean="0"/>
              <a:t> =   </a:t>
            </a:r>
            <a:r>
              <a:rPr lang="en-US" strike="sngStrike" dirty="0" smtClean="0">
                <a:solidFill>
                  <a:srgbClr val="FF0000"/>
                </a:solidFill>
              </a:rPr>
              <a:t>P</a:t>
            </a:r>
            <a:r>
              <a:rPr lang="en-US" dirty="0" smtClean="0">
                <a:solidFill>
                  <a:srgbClr val="FF0000"/>
                </a:solidFill>
              </a:rPr>
              <a:t>80,000.00</a:t>
            </a:r>
          </a:p>
          <a:p>
            <a:pPr>
              <a:buNone/>
            </a:pPr>
            <a:endParaRPr lang="en-US" dirty="0"/>
          </a:p>
        </p:txBody>
      </p:sp>
      <p:sp>
        <p:nvSpPr>
          <p:cNvPr id="352258"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52260"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352259" name="Picture 3"/>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3429000" y="4343400"/>
            <a:ext cx="1371600" cy="609600"/>
          </a:xfrm>
          <a:prstGeom prst="rect">
            <a:avLst/>
          </a:prstGeom>
          <a:noFill/>
        </p:spPr>
      </p:pic>
    </p:spTree>
  </p:cSld>
  <p:clrMapOvr>
    <a:masterClrMapping/>
  </p:clrMapOvr>
  <p:transition>
    <p:push/>
  </p:transition>
  <p:timing>
    <p:tnLst>
      <p:par>
        <p:cTn id="1" dur="indefinite" restart="never" nodeType="tmRoot"/>
      </p:par>
    </p:tnLst>
  </p:timing>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1000" y="533400"/>
            <a:ext cx="8229600" cy="4525963"/>
          </a:xfrm>
        </p:spPr>
        <p:txBody>
          <a:bodyPr>
            <a:noAutofit/>
          </a:bodyPr>
          <a:lstStyle/>
          <a:p>
            <a:pPr marL="508000" indent="-398463">
              <a:buNone/>
            </a:pPr>
            <a:r>
              <a:rPr lang="en-US" sz="3000" dirty="0" smtClean="0"/>
              <a:t>4. </a:t>
            </a:r>
            <a:r>
              <a:rPr lang="en-PH" sz="3000" dirty="0" smtClean="0"/>
              <a:t>A new house has two sides of its lot already fenced by the </a:t>
            </a:r>
            <a:r>
              <a:rPr lang="en-PH" sz="3000" dirty="0" err="1" smtClean="0"/>
              <a:t>neighbor</a:t>
            </a:r>
            <a:r>
              <a:rPr lang="en-PH" sz="3000" dirty="0" smtClean="0"/>
              <a:t>. The unfenced sides are 29 meters  by 52 meters. If one meter requires 11 pieces of hollow blocks, how many hollow blocks will be needed?</a:t>
            </a:r>
          </a:p>
          <a:p>
            <a:pPr marL="508000" indent="-398463">
              <a:buNone/>
            </a:pPr>
            <a:endParaRPr lang="en-PH" sz="3000" dirty="0" smtClean="0"/>
          </a:p>
          <a:p>
            <a:pPr marL="798513" indent="-290513">
              <a:buFont typeface="+mj-lt"/>
              <a:buAutoNum type="alphaUcPeriod"/>
            </a:pPr>
            <a:r>
              <a:rPr lang="en-US" sz="3000" dirty="0" smtClean="0"/>
              <a:t>991</a:t>
            </a:r>
          </a:p>
          <a:p>
            <a:pPr marL="798513" indent="-290513">
              <a:buFont typeface="+mj-lt"/>
              <a:buAutoNum type="alphaUcPeriod"/>
            </a:pPr>
            <a:r>
              <a:rPr lang="en-US" sz="3000" dirty="0" smtClean="0"/>
              <a:t>891</a:t>
            </a:r>
          </a:p>
          <a:p>
            <a:pPr marL="798513" indent="-290513">
              <a:buFont typeface="+mj-lt"/>
              <a:buAutoNum type="alphaUcPeriod"/>
            </a:pPr>
            <a:r>
              <a:rPr lang="en-US" sz="3000" dirty="0" smtClean="0"/>
              <a:t>791</a:t>
            </a:r>
          </a:p>
          <a:p>
            <a:pPr marL="798513" indent="-290513">
              <a:buFont typeface="+mj-lt"/>
              <a:buAutoNum type="alphaUcPeriod"/>
            </a:pPr>
            <a:r>
              <a:rPr lang="en-US" sz="3000" dirty="0" smtClean="0"/>
              <a:t>691</a:t>
            </a:r>
          </a:p>
          <a:p>
            <a:pPr>
              <a:buNone/>
            </a:pPr>
            <a:endParaRPr lang="en-US" sz="30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238184" y="45141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3283" name="Picture 3"/>
          <p:cNvPicPr>
            <a:picLocks noChangeAspect="1" noChangeArrowheads="1"/>
          </p:cNvPicPr>
          <p:nvPr/>
        </p:nvPicPr>
        <p:blipFill>
          <a:blip r:embed="rId2"/>
          <a:srcRect l="3148" t="35700" r="3148" b="27224"/>
          <a:stretch>
            <a:fillRect/>
          </a:stretch>
        </p:blipFill>
        <p:spPr bwMode="auto">
          <a:xfrm>
            <a:off x="533400" y="1524000"/>
            <a:ext cx="8229600" cy="3810000"/>
          </a:xfrm>
          <a:prstGeom prst="rect">
            <a:avLst/>
          </a:prstGeom>
          <a:noFill/>
          <a:ln w="9525">
            <a:noFill/>
            <a:miter lim="800000"/>
            <a:headEnd/>
            <a:tailEnd/>
          </a:ln>
          <a:effectLst/>
        </p:spPr>
      </p:pic>
    </p:spTree>
  </p:cSld>
  <p:clrMapOvr>
    <a:masterClrMapping/>
  </p:clrMapOvr>
  <p:transition>
    <p:push/>
  </p:transition>
  <p:timing>
    <p:tnLst>
      <p:par>
        <p:cTn id="1" dur="indefinite" restart="never" nodeType="tmRoot"/>
      </p:par>
    </p:tnLst>
  </p:timing>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685800"/>
            <a:ext cx="8229600" cy="4864291"/>
          </a:xfrm>
        </p:spPr>
        <p:txBody>
          <a:bodyPr>
            <a:normAutofit/>
          </a:bodyPr>
          <a:lstStyle/>
          <a:p>
            <a:pPr marL="508000" indent="-398463">
              <a:buNone/>
            </a:pPr>
            <a:r>
              <a:rPr lang="en-US" sz="3200" dirty="0" smtClean="0"/>
              <a:t>5. A car racer covers 225 km. in   2 ½      hours. How far can he go in  1 ¾ hours?</a:t>
            </a:r>
          </a:p>
          <a:p>
            <a:pPr marL="508000" indent="-398463">
              <a:buNone/>
            </a:pPr>
            <a:endParaRPr lang="en-US" sz="3200" dirty="0" smtClean="0"/>
          </a:p>
          <a:p>
            <a:pPr marL="855663" indent="-347663">
              <a:buFont typeface="+mj-lt"/>
              <a:buAutoNum type="alphaUcPeriod"/>
            </a:pPr>
            <a:r>
              <a:rPr lang="en-US" sz="3200" dirty="0" smtClean="0"/>
              <a:t>267 ½ km.</a:t>
            </a:r>
          </a:p>
          <a:p>
            <a:pPr marL="855663" indent="-347663">
              <a:buFont typeface="+mj-lt"/>
              <a:buAutoNum type="alphaUcPeriod"/>
            </a:pPr>
            <a:r>
              <a:rPr lang="en-US" sz="3200" dirty="0" smtClean="0"/>
              <a:t>168 ¾ km.</a:t>
            </a:r>
          </a:p>
          <a:p>
            <a:pPr marL="855663" indent="-347663">
              <a:buFont typeface="+mj-lt"/>
              <a:buAutoNum type="alphaUcPeriod"/>
            </a:pPr>
            <a:r>
              <a:rPr lang="en-US" sz="3200" dirty="0" smtClean="0"/>
              <a:t>394 km.</a:t>
            </a:r>
          </a:p>
          <a:p>
            <a:pPr marL="855663" indent="-347663">
              <a:buFont typeface="+mj-lt"/>
              <a:buAutoNum type="alphaUcPeriod"/>
            </a:pPr>
            <a:r>
              <a:rPr lang="en-US" sz="3200" dirty="0" smtClean="0"/>
              <a:t>157 ½ km</a:t>
            </a:r>
            <a:endParaRPr lang="en-US" sz="3200" dirty="0"/>
          </a:p>
        </p:txBody>
      </p:sp>
      <p:sp>
        <p:nvSpPr>
          <p:cNvPr id="102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314386" y="45141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4307" name="Picture 3"/>
          <p:cNvPicPr>
            <a:picLocks noChangeAspect="1" noChangeArrowheads="1"/>
          </p:cNvPicPr>
          <p:nvPr/>
        </p:nvPicPr>
        <p:blipFill>
          <a:blip r:embed="rId2"/>
          <a:srcRect l="1977" t="30528" r="9004" b="31586"/>
          <a:stretch>
            <a:fillRect/>
          </a:stretch>
        </p:blipFill>
        <p:spPr bwMode="auto">
          <a:xfrm>
            <a:off x="457200" y="1143000"/>
            <a:ext cx="8229600" cy="4191000"/>
          </a:xfrm>
          <a:prstGeom prst="rect">
            <a:avLst/>
          </a:prstGeom>
          <a:noFill/>
          <a:ln w="9525">
            <a:noFill/>
            <a:miter lim="800000"/>
            <a:headEnd/>
            <a:tailEnd/>
          </a:ln>
          <a:effectLst/>
        </p:spPr>
      </p:pic>
    </p:spTree>
  </p:cSld>
  <p:clrMapOvr>
    <a:masterClrMapping/>
  </p:clrMapOvr>
  <p:transition>
    <p:push/>
  </p:transition>
  <p:timing>
    <p:tnLst>
      <p:par>
        <p:cTn id="1" dur="indefinite" restart="never" nodeType="tmRoot"/>
      </p:par>
    </p:tnLst>
  </p:timing>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85800" y="609600"/>
            <a:ext cx="8229600" cy="4525963"/>
          </a:xfrm>
        </p:spPr>
        <p:txBody>
          <a:bodyPr>
            <a:noAutofit/>
          </a:bodyPr>
          <a:lstStyle/>
          <a:p>
            <a:pPr marL="508000" indent="-398463">
              <a:buNone/>
            </a:pPr>
            <a:r>
              <a:rPr lang="en-US" sz="3200" dirty="0" smtClean="0"/>
              <a:t>6. </a:t>
            </a:r>
            <a:r>
              <a:rPr lang="en-PH" sz="3200" dirty="0" smtClean="0"/>
              <a:t>What is the difference in elevation between the top of a mountain 8,520 feet above sea level and a point in a valley 253 feet below sea level?</a:t>
            </a:r>
          </a:p>
          <a:p>
            <a:pPr marL="508000" indent="-398463">
              <a:buNone/>
            </a:pPr>
            <a:endParaRPr lang="en-PH" sz="3200" dirty="0" smtClean="0"/>
          </a:p>
          <a:p>
            <a:pPr marL="798513" indent="-290513">
              <a:buFont typeface="+mj-lt"/>
              <a:buAutoNum type="alphaUcPeriod"/>
            </a:pPr>
            <a:r>
              <a:rPr lang="en-US" sz="3200" dirty="0" smtClean="0"/>
              <a:t>8,367 feet</a:t>
            </a:r>
          </a:p>
          <a:p>
            <a:pPr marL="798513" indent="-290513">
              <a:buFont typeface="+mj-lt"/>
              <a:buAutoNum type="alphaUcPeriod"/>
            </a:pPr>
            <a:r>
              <a:rPr lang="en-US" sz="3200" dirty="0" smtClean="0"/>
              <a:t>8,267 feet</a:t>
            </a:r>
          </a:p>
          <a:p>
            <a:pPr marL="798513" indent="-290513">
              <a:buFont typeface="+mj-lt"/>
              <a:buAutoNum type="alphaUcPeriod"/>
            </a:pPr>
            <a:r>
              <a:rPr lang="en-US" sz="3200" dirty="0" smtClean="0"/>
              <a:t>8,873 feet</a:t>
            </a:r>
          </a:p>
          <a:p>
            <a:pPr marL="798513" indent="-290513">
              <a:buFont typeface="+mj-lt"/>
              <a:buAutoNum type="alphaUcPeriod"/>
            </a:pPr>
            <a:r>
              <a:rPr lang="en-US" sz="3200" dirty="0" smtClean="0"/>
              <a:t>8,773 feet</a:t>
            </a:r>
          </a:p>
          <a:p>
            <a:pPr>
              <a:buNone/>
            </a:pPr>
            <a:endParaRPr lang="en-US" sz="32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542985" y="4971374"/>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5330" name="Picture 2"/>
          <p:cNvPicPr>
            <a:picLocks noChangeAspect="1" noChangeArrowheads="1"/>
          </p:cNvPicPr>
          <p:nvPr/>
        </p:nvPicPr>
        <p:blipFill>
          <a:blip r:embed="rId2"/>
          <a:srcRect l="2928" t="26505" r="13324" b="46226"/>
          <a:stretch>
            <a:fillRect/>
          </a:stretch>
        </p:blipFill>
        <p:spPr bwMode="auto">
          <a:xfrm>
            <a:off x="304800" y="1600200"/>
            <a:ext cx="8534400" cy="3429000"/>
          </a:xfrm>
          <a:prstGeom prst="rect">
            <a:avLst/>
          </a:prstGeom>
          <a:noFill/>
          <a:ln w="9525">
            <a:noFill/>
            <a:miter lim="800000"/>
            <a:headEnd/>
            <a:tailEnd/>
          </a:ln>
          <a:effectLst/>
        </p:spPr>
      </p:pic>
    </p:spTree>
  </p:cSld>
  <p:clrMapOvr>
    <a:masterClrMapping/>
  </p:clrMapOvr>
  <p:transition>
    <p:push/>
  </p:transition>
  <p:timing>
    <p:tnLst>
      <p:par>
        <p:cTn id="1" dur="indefinite" restart="never" nodeType="tmRoot"/>
      </p:par>
    </p:tnLst>
  </p:timing>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33400" y="533400"/>
            <a:ext cx="8229600" cy="4525963"/>
          </a:xfrm>
        </p:spPr>
        <p:txBody>
          <a:bodyPr>
            <a:normAutofit/>
          </a:bodyPr>
          <a:lstStyle/>
          <a:p>
            <a:pPr marL="508000" indent="-398463">
              <a:buNone/>
            </a:pPr>
            <a:r>
              <a:rPr lang="en-US" sz="3200" dirty="0" smtClean="0"/>
              <a:t>7. The average of four numbers is 28. If three of the four numbers are 18, 28 and 36, what is the fourth number?</a:t>
            </a:r>
          </a:p>
          <a:p>
            <a:pPr marL="508000" indent="-398463">
              <a:buNone/>
            </a:pPr>
            <a:endParaRPr lang="en-US" sz="3200" dirty="0" smtClean="0"/>
          </a:p>
          <a:p>
            <a:pPr marL="798513" indent="-290513">
              <a:buFont typeface="+mj-lt"/>
              <a:buAutoNum type="alphaUcPeriod"/>
            </a:pPr>
            <a:r>
              <a:rPr lang="en-US" sz="3200" dirty="0" smtClean="0"/>
              <a:t>29	</a:t>
            </a:r>
          </a:p>
          <a:p>
            <a:pPr marL="798513" indent="-290513">
              <a:buFont typeface="+mj-lt"/>
              <a:buAutoNum type="alphaUcPeriod"/>
            </a:pPr>
            <a:r>
              <a:rPr lang="en-US" sz="3200" dirty="0" smtClean="0"/>
              <a:t>30	</a:t>
            </a:r>
          </a:p>
          <a:p>
            <a:pPr marL="798513" indent="-290513">
              <a:buFont typeface="+mj-lt"/>
              <a:buAutoNum type="alphaUcPeriod"/>
            </a:pPr>
            <a:r>
              <a:rPr lang="en-US" sz="3200" dirty="0" smtClean="0"/>
              <a:t>48</a:t>
            </a:r>
          </a:p>
          <a:p>
            <a:pPr marL="798513" indent="-290513">
              <a:buFont typeface="+mj-lt"/>
              <a:buAutoNum type="alphaUcPeriod"/>
            </a:pPr>
            <a:r>
              <a:rPr lang="en-PH" sz="3200" dirty="0" smtClean="0"/>
              <a:t>40</a:t>
            </a:r>
            <a:endParaRPr lang="en-US" sz="3200" dirty="0" smtClean="0"/>
          </a:p>
          <a:p>
            <a:pPr marL="623887" indent="-514350">
              <a:buNone/>
            </a:pPr>
            <a:endParaRPr lang="en-US" sz="32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390585" y="32949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838200"/>
            <a:ext cx="8229600" cy="4525963"/>
          </a:xfrm>
        </p:spPr>
        <p:txBody>
          <a:bodyPr/>
          <a:lstStyle/>
          <a:p>
            <a:pPr>
              <a:buNone/>
            </a:pPr>
            <a:r>
              <a:rPr lang="en-US" b="1" dirty="0" smtClean="0"/>
              <a:t>Average (A) = Sum(S)/Number (N)	A = S/N</a:t>
            </a:r>
          </a:p>
          <a:p>
            <a:pPr>
              <a:buNone/>
            </a:pPr>
            <a:endParaRPr lang="en-US" dirty="0" smtClean="0"/>
          </a:p>
          <a:p>
            <a:pPr>
              <a:buNone/>
            </a:pPr>
            <a:r>
              <a:rPr lang="en-PH" b="1" dirty="0" smtClean="0"/>
              <a:t>Step 1</a:t>
            </a:r>
            <a:r>
              <a:rPr lang="en-PH" dirty="0" smtClean="0"/>
              <a:t>: Determine the sum of the numbers. </a:t>
            </a:r>
          </a:p>
          <a:p>
            <a:pPr>
              <a:buNone/>
            </a:pPr>
            <a:r>
              <a:rPr lang="en-PH" dirty="0" smtClean="0"/>
              <a:t>S = AN = (28)(4) = 112</a:t>
            </a:r>
          </a:p>
          <a:p>
            <a:pPr>
              <a:buNone/>
            </a:pPr>
            <a:endParaRPr lang="en-US" dirty="0" smtClean="0"/>
          </a:p>
          <a:p>
            <a:pPr>
              <a:buNone/>
            </a:pPr>
            <a:r>
              <a:rPr lang="en-PH" b="1" dirty="0" smtClean="0"/>
              <a:t>Step 2:</a:t>
            </a:r>
            <a:r>
              <a:rPr lang="en-PH" dirty="0" smtClean="0"/>
              <a:t> Subtract the 3 numbers from the sum to get the remaining number: </a:t>
            </a:r>
            <a:endParaRPr lang="en-US" dirty="0" smtClean="0"/>
          </a:p>
          <a:p>
            <a:pPr>
              <a:buNone/>
            </a:pPr>
            <a:r>
              <a:rPr lang="en-PH" dirty="0" smtClean="0"/>
              <a:t>112 – (18+28+36) =   </a:t>
            </a:r>
            <a:r>
              <a:rPr lang="en-PH" sz="3200" dirty="0" smtClean="0">
                <a:solidFill>
                  <a:srgbClr val="FF0000"/>
                </a:solidFill>
              </a:rPr>
              <a:t>30</a:t>
            </a:r>
            <a:endParaRPr lang="en-US" dirty="0" smtClean="0">
              <a:solidFill>
                <a:srgbClr val="FF0000"/>
              </a:solidFill>
            </a:endParaRPr>
          </a:p>
          <a:p>
            <a:pPr>
              <a:buNone/>
            </a:pPr>
            <a:endParaRPr lang="en-US" dirty="0" smtClean="0"/>
          </a:p>
          <a:p>
            <a:pPr>
              <a:buNone/>
            </a:pPr>
            <a:endParaRPr lang="en-US" dirty="0"/>
          </a:p>
        </p:txBody>
      </p:sp>
    </p:spTree>
  </p:cSld>
  <p:clrMapOvr>
    <a:masterClrMapping/>
  </p:clrMapOvr>
  <p:transition>
    <p:push/>
  </p:transition>
  <p:timing>
    <p:tnLst>
      <p:par>
        <p:cTn id="1" dur="indefinite" restart="never" nodeType="tmRoot"/>
      </p:par>
    </p:tnLst>
  </p:timing>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600" y="533400"/>
            <a:ext cx="8229600" cy="4525963"/>
          </a:xfrm>
        </p:spPr>
        <p:txBody>
          <a:bodyPr>
            <a:noAutofit/>
          </a:bodyPr>
          <a:lstStyle/>
          <a:p>
            <a:pPr marL="566738" indent="-457200">
              <a:buNone/>
            </a:pPr>
            <a:r>
              <a:rPr lang="en-US" sz="3200" dirty="0" smtClean="0"/>
              <a:t>8. </a:t>
            </a:r>
            <a:r>
              <a:rPr lang="en-PH" sz="3200" dirty="0" smtClean="0"/>
              <a:t>If there are 3 microscopes for every 4 medical students, how many microscopes are needed for 44 students?</a:t>
            </a:r>
          </a:p>
          <a:p>
            <a:pPr marL="566738" indent="-457200">
              <a:buNone/>
            </a:pPr>
            <a:endParaRPr lang="en-US" sz="3200" dirty="0" smtClean="0"/>
          </a:p>
          <a:p>
            <a:pPr marL="865188" indent="-296863">
              <a:buFont typeface="+mj-lt"/>
              <a:buAutoNum type="alphaUcPeriod"/>
            </a:pPr>
            <a:r>
              <a:rPr lang="en-US" sz="3200" dirty="0" smtClean="0"/>
              <a:t>45</a:t>
            </a:r>
          </a:p>
          <a:p>
            <a:pPr marL="865188" indent="-296863">
              <a:buFont typeface="+mj-lt"/>
              <a:buAutoNum type="alphaUcPeriod"/>
            </a:pPr>
            <a:r>
              <a:rPr lang="en-US" sz="3200" dirty="0" smtClean="0"/>
              <a:t>33</a:t>
            </a:r>
          </a:p>
          <a:p>
            <a:pPr marL="865188" indent="-296863">
              <a:buFont typeface="+mj-lt"/>
              <a:buAutoNum type="alphaUcPeriod"/>
            </a:pPr>
            <a:r>
              <a:rPr lang="en-US" sz="3200" dirty="0" smtClean="0"/>
              <a:t>42</a:t>
            </a:r>
          </a:p>
          <a:p>
            <a:pPr marL="865188" indent="-296863">
              <a:buFont typeface="+mj-lt"/>
              <a:buAutoNum type="alphaUcPeriod"/>
            </a:pPr>
            <a:r>
              <a:rPr lang="en-US" sz="3200" dirty="0" smtClean="0"/>
              <a:t>44</a:t>
            </a:r>
          </a:p>
          <a:p>
            <a:pPr marL="624078" indent="-514350">
              <a:buFont typeface="+mj-lt"/>
              <a:buAutoNum type="alphaUcPeriod"/>
            </a:pPr>
            <a:endParaRPr lang="en-US" sz="32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466785" y="3828374"/>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533400"/>
            <a:ext cx="8534400" cy="5562600"/>
          </a:xfrm>
        </p:spPr>
        <p:txBody>
          <a:bodyPr>
            <a:normAutofit lnSpcReduction="10000"/>
          </a:bodyPr>
          <a:lstStyle/>
          <a:p>
            <a:pPr>
              <a:buNone/>
            </a:pPr>
            <a:r>
              <a:rPr lang="en-US" b="1" dirty="0" smtClean="0"/>
              <a:t>Rate (R) = </a:t>
            </a:r>
            <a:r>
              <a:rPr lang="en-US" dirty="0" smtClean="0"/>
              <a:t>3 microscopes / 4 medical students </a:t>
            </a:r>
          </a:p>
          <a:p>
            <a:pPr>
              <a:buNone/>
            </a:pPr>
            <a:r>
              <a:rPr lang="en-US" dirty="0" smtClean="0"/>
              <a:t>                 = number of microscopes (M)/ Number of Medical Students (S)</a:t>
            </a:r>
          </a:p>
          <a:p>
            <a:pPr>
              <a:buNone/>
            </a:pPr>
            <a:r>
              <a:rPr lang="en-US" b="1" dirty="0" smtClean="0"/>
              <a:t> </a:t>
            </a:r>
          </a:p>
          <a:p>
            <a:pPr>
              <a:buNone/>
            </a:pPr>
            <a:r>
              <a:rPr lang="en-US" dirty="0" smtClean="0"/>
              <a:t>R = M/S	Given: R = 3 microscopes/ 4 med stud; 	S = 44 med stud	      M=?</a:t>
            </a:r>
          </a:p>
          <a:p>
            <a:pPr>
              <a:buNone/>
            </a:pPr>
            <a:endParaRPr lang="en-US" b="1" dirty="0" smtClean="0"/>
          </a:p>
          <a:p>
            <a:pPr>
              <a:buNone/>
            </a:pPr>
            <a:r>
              <a:rPr lang="en-PH" b="1" dirty="0" smtClean="0"/>
              <a:t>Step 1</a:t>
            </a:r>
            <a:r>
              <a:rPr lang="en-PH" dirty="0" smtClean="0"/>
              <a:t>: Solve for the working equation: M = SR</a:t>
            </a:r>
          </a:p>
          <a:p>
            <a:pPr>
              <a:buNone/>
            </a:pPr>
            <a:endParaRPr lang="en-US" dirty="0" smtClean="0"/>
          </a:p>
          <a:p>
            <a:pPr>
              <a:buNone/>
            </a:pPr>
            <a:r>
              <a:rPr lang="en-PH" b="1" dirty="0" smtClean="0"/>
              <a:t>Step 2</a:t>
            </a:r>
            <a:r>
              <a:rPr lang="en-PH" dirty="0" smtClean="0"/>
              <a:t>: Substitute and solve for the answer:</a:t>
            </a:r>
          </a:p>
          <a:p>
            <a:pPr>
              <a:buNone/>
            </a:pPr>
            <a:r>
              <a:rPr lang="en-PH" dirty="0" smtClean="0"/>
              <a:t> M = (44 med stud)(</a:t>
            </a:r>
            <a:r>
              <a:rPr lang="en-PH" i="1" dirty="0" smtClean="0"/>
              <a:t> 3 microscopes/ 4 med stud</a:t>
            </a:r>
            <a:r>
              <a:rPr lang="en-PH" dirty="0" smtClean="0"/>
              <a:t>)</a:t>
            </a:r>
            <a:endParaRPr lang="en-US" dirty="0" smtClean="0"/>
          </a:p>
          <a:p>
            <a:pPr>
              <a:buNone/>
            </a:pPr>
            <a:r>
              <a:rPr lang="en-PH" sz="3200" dirty="0" smtClean="0"/>
              <a:t> </a:t>
            </a:r>
            <a:r>
              <a:rPr lang="en-PH" sz="3200" dirty="0" smtClean="0">
                <a:solidFill>
                  <a:srgbClr val="FF0000"/>
                </a:solidFill>
              </a:rPr>
              <a:t>M = 33 microscopes</a:t>
            </a:r>
            <a:endParaRPr lang="en-US" sz="3200" dirty="0" smtClean="0">
              <a:solidFill>
                <a:srgbClr val="FF0000"/>
              </a:solidFill>
            </a:endParaRPr>
          </a:p>
          <a:p>
            <a:pPr>
              <a:buNone/>
            </a:pPr>
            <a:r>
              <a:rPr lang="en-US" b="1" i="1" dirty="0" smtClean="0"/>
              <a:t> </a:t>
            </a:r>
            <a:endParaRPr lang="en-US" dirty="0"/>
          </a:p>
        </p:txBody>
      </p:sp>
      <p:cxnSp>
        <p:nvCxnSpPr>
          <p:cNvPr id="5" name="Straight Connector 4"/>
          <p:cNvCxnSpPr/>
          <p:nvPr/>
        </p:nvCxnSpPr>
        <p:spPr>
          <a:xfrm>
            <a:off x="1600200" y="4724400"/>
            <a:ext cx="1752600" cy="22860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6858000" y="4724400"/>
            <a:ext cx="1447800" cy="228600"/>
          </a:xfrm>
          <a:prstGeom prst="line">
            <a:avLst/>
          </a:prstGeom>
        </p:spPr>
        <p:style>
          <a:lnRef idx="1">
            <a:schemeClr val="accent2"/>
          </a:lnRef>
          <a:fillRef idx="0">
            <a:schemeClr val="accent2"/>
          </a:fillRef>
          <a:effectRef idx="0">
            <a:schemeClr val="accent2"/>
          </a:effectRef>
          <a:fontRef idx="minor">
            <a:schemeClr val="tx1"/>
          </a:fontRef>
        </p:style>
      </p:cxnSp>
    </p:spTree>
  </p:cSld>
  <p:clrMapOvr>
    <a:masterClrMapping/>
  </p:clrMapOvr>
  <p:transition>
    <p:push/>
  </p:transition>
  <p:timing>
    <p:tnLst>
      <p:par>
        <p:cTn id="1" dur="indefinite" restart="never" nodeType="tmRoot"/>
      </p:par>
    </p:tnLst>
  </p:timing>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600" y="533400"/>
            <a:ext cx="8229600" cy="4525963"/>
          </a:xfrm>
        </p:spPr>
        <p:txBody>
          <a:bodyPr>
            <a:noAutofit/>
          </a:bodyPr>
          <a:lstStyle/>
          <a:p>
            <a:pPr marL="519113" indent="-409575">
              <a:buNone/>
            </a:pPr>
            <a:r>
              <a:rPr lang="en-US" sz="3200" dirty="0" smtClean="0"/>
              <a:t>9. Two times a certain number added to 40 gives the same result as three times the same number subtracted from 75. What is the number?</a:t>
            </a:r>
          </a:p>
          <a:p>
            <a:pPr marL="519113" indent="-409575">
              <a:buNone/>
            </a:pPr>
            <a:endParaRPr lang="en-US" sz="3200" dirty="0" smtClean="0"/>
          </a:p>
          <a:p>
            <a:pPr marL="865188" indent="-346075">
              <a:buFont typeface="+mj-lt"/>
              <a:buAutoNum type="alphaUcPeriod"/>
            </a:pPr>
            <a:r>
              <a:rPr lang="en-US" sz="3200" dirty="0" smtClean="0"/>
              <a:t>7</a:t>
            </a:r>
          </a:p>
          <a:p>
            <a:pPr marL="865188" indent="-346075">
              <a:buFont typeface="+mj-lt"/>
              <a:buAutoNum type="alphaUcPeriod"/>
            </a:pPr>
            <a:r>
              <a:rPr lang="en-US" sz="3200" dirty="0" smtClean="0"/>
              <a:t>30</a:t>
            </a:r>
          </a:p>
          <a:p>
            <a:pPr marL="865188" indent="-346075">
              <a:buFont typeface="+mj-lt"/>
              <a:buAutoNum type="alphaUcPeriod"/>
            </a:pPr>
            <a:r>
              <a:rPr lang="en-US" sz="3200" dirty="0" smtClean="0"/>
              <a:t>15</a:t>
            </a:r>
          </a:p>
          <a:p>
            <a:pPr marL="865188" indent="-346075">
              <a:buFont typeface="+mj-lt"/>
              <a:buAutoNum type="alphaUcPeriod"/>
            </a:pPr>
            <a:r>
              <a:rPr lang="en-US" sz="3200" dirty="0" smtClean="0"/>
              <a:t>10</a:t>
            </a:r>
          </a:p>
          <a:p>
            <a:pPr>
              <a:buNone/>
            </a:pPr>
            <a:endParaRPr lang="en-US" sz="32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466784" y="3218774"/>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600" y="1295400"/>
            <a:ext cx="8382000" cy="4068763"/>
          </a:xfrm>
        </p:spPr>
        <p:txBody>
          <a:bodyPr/>
          <a:lstStyle/>
          <a:p>
            <a:pPr>
              <a:buNone/>
            </a:pPr>
            <a:r>
              <a:rPr lang="en-US" b="1" dirty="0" smtClean="0"/>
              <a:t>Let x – the number </a:t>
            </a:r>
            <a:r>
              <a:rPr lang="en-US" dirty="0" smtClean="0"/>
              <a:t>40 + 2x = 75 – 3x</a:t>
            </a:r>
          </a:p>
          <a:p>
            <a:pPr>
              <a:buNone/>
            </a:pPr>
            <a:endParaRPr lang="en-US" dirty="0" smtClean="0"/>
          </a:p>
          <a:p>
            <a:pPr>
              <a:buNone/>
            </a:pPr>
            <a:r>
              <a:rPr lang="en-US" b="1" dirty="0" smtClean="0"/>
              <a:t>Combining like terms</a:t>
            </a:r>
            <a:r>
              <a:rPr lang="en-US" dirty="0" smtClean="0"/>
              <a:t>:2x + 3x = 75 – 40</a:t>
            </a:r>
          </a:p>
          <a:p>
            <a:pPr>
              <a:buNone/>
            </a:pPr>
            <a:endParaRPr lang="en-US" dirty="0" smtClean="0"/>
          </a:p>
          <a:p>
            <a:pPr>
              <a:buNone/>
            </a:pPr>
            <a:r>
              <a:rPr lang="en-US" u="sng" dirty="0" smtClean="0"/>
              <a:t>5x</a:t>
            </a:r>
            <a:r>
              <a:rPr lang="en-US" dirty="0" smtClean="0"/>
              <a:t> = </a:t>
            </a:r>
            <a:r>
              <a:rPr lang="en-US" u="sng" dirty="0" smtClean="0"/>
              <a:t>35          </a:t>
            </a:r>
            <a:endParaRPr lang="en-US" dirty="0" smtClean="0"/>
          </a:p>
          <a:p>
            <a:pPr>
              <a:buNone/>
            </a:pPr>
            <a:r>
              <a:rPr lang="en-US" dirty="0" smtClean="0"/>
              <a:t>5        5 </a:t>
            </a:r>
          </a:p>
          <a:p>
            <a:pPr>
              <a:buNone/>
            </a:pPr>
            <a:r>
              <a:rPr lang="en-US" dirty="0" smtClean="0"/>
              <a:t>          </a:t>
            </a:r>
          </a:p>
          <a:p>
            <a:pPr>
              <a:buNone/>
            </a:pPr>
            <a:r>
              <a:rPr lang="en-US" sz="3200" dirty="0" smtClean="0">
                <a:solidFill>
                  <a:srgbClr val="FF0000"/>
                </a:solidFill>
              </a:rPr>
              <a:t>x = 7</a:t>
            </a:r>
          </a:p>
          <a:p>
            <a:pPr>
              <a:buNone/>
            </a:pPr>
            <a:endParaRPr lang="en-US" dirty="0" smtClean="0"/>
          </a:p>
          <a:p>
            <a:pPr>
              <a:buNone/>
            </a:pPr>
            <a:endParaRPr lang="en-US" dirty="0"/>
          </a:p>
        </p:txBody>
      </p:sp>
    </p:spTree>
  </p:cSld>
  <p:clrMapOvr>
    <a:masterClrMapping/>
  </p:clrMapOvr>
  <p:transition>
    <p:push/>
  </p:transition>
  <p:timing>
    <p:tnLst>
      <p:par>
        <p:cTn id="1" dur="indefinite" restart="never" nodeType="tmRoot"/>
      </p:par>
    </p:tnLst>
  </p:timing>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33400" y="457200"/>
            <a:ext cx="8229600" cy="4525963"/>
          </a:xfrm>
        </p:spPr>
        <p:txBody>
          <a:bodyPr>
            <a:noAutofit/>
          </a:bodyPr>
          <a:lstStyle/>
          <a:p>
            <a:pPr marL="692150" indent="-582613">
              <a:buNone/>
            </a:pPr>
            <a:r>
              <a:rPr lang="en-US" sz="3200" dirty="0" smtClean="0"/>
              <a:t>10. To find perimeter (P) of a rectangle that has length of 16 inches and width of 12 inches which of the following equation can be used?</a:t>
            </a:r>
          </a:p>
          <a:p>
            <a:pPr marL="692150" indent="-582613">
              <a:buNone/>
            </a:pPr>
            <a:endParaRPr lang="en-US" sz="3200" dirty="0" smtClean="0"/>
          </a:p>
          <a:p>
            <a:pPr marL="1038225" indent="-346075">
              <a:buFont typeface="+mj-lt"/>
              <a:buAutoNum type="alphaUcPeriod"/>
            </a:pPr>
            <a:r>
              <a:rPr lang="en-US" sz="3200" dirty="0" smtClean="0"/>
              <a:t>P = 2(16)(12)</a:t>
            </a:r>
          </a:p>
          <a:p>
            <a:pPr marL="1038225" indent="-346075">
              <a:buFont typeface="+mj-lt"/>
              <a:buAutoNum type="alphaUcPeriod"/>
            </a:pPr>
            <a:r>
              <a:rPr lang="en-US" sz="3200" dirty="0" smtClean="0"/>
              <a:t>P = 2(16)(12)</a:t>
            </a:r>
          </a:p>
          <a:p>
            <a:pPr marL="1038225" indent="-346075">
              <a:buFont typeface="+mj-lt"/>
              <a:buAutoNum type="alphaUcPeriod"/>
            </a:pPr>
            <a:r>
              <a:rPr lang="en-US" sz="3200" dirty="0" smtClean="0"/>
              <a:t>P = 2(16) + (12)</a:t>
            </a:r>
          </a:p>
          <a:p>
            <a:pPr marL="1038225" indent="-346075">
              <a:buFont typeface="+mj-lt"/>
              <a:buAutoNum type="alphaUcPeriod"/>
            </a:pPr>
            <a:r>
              <a:rPr lang="en-US" sz="3200" dirty="0" smtClean="0"/>
              <a:t>P = 2(16+12)</a:t>
            </a:r>
          </a:p>
          <a:p>
            <a:pPr marL="692150" indent="-582613">
              <a:buNone/>
            </a:pPr>
            <a:endParaRPr lang="en-US" sz="3200" dirty="0" smtClean="0"/>
          </a:p>
          <a:p>
            <a:pPr>
              <a:buNone/>
            </a:pPr>
            <a:endParaRPr lang="en-US" sz="32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542986" y="4818973"/>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1000" y="2286000"/>
            <a:ext cx="8229600" cy="957072"/>
          </a:xfrm>
        </p:spPr>
        <p:txBody>
          <a:bodyPr/>
          <a:lstStyle/>
          <a:p>
            <a:pPr>
              <a:buNone/>
            </a:pPr>
            <a:r>
              <a:rPr lang="en-US" sz="4000" dirty="0" err="1" smtClean="0">
                <a:solidFill>
                  <a:srgbClr val="FF0000"/>
                </a:solidFill>
              </a:rPr>
              <a:t>P</a:t>
            </a:r>
            <a:r>
              <a:rPr lang="en-US" sz="4000" baseline="-25000" dirty="0" err="1" smtClean="0">
                <a:solidFill>
                  <a:srgbClr val="FF0000"/>
                </a:solidFill>
              </a:rPr>
              <a:t>rectangle</a:t>
            </a:r>
            <a:r>
              <a:rPr lang="en-US" sz="4000" dirty="0" smtClean="0">
                <a:solidFill>
                  <a:srgbClr val="FF0000"/>
                </a:solidFill>
              </a:rPr>
              <a:t> = 2(l +w) = 2(16 + 12)</a:t>
            </a:r>
          </a:p>
          <a:p>
            <a:endParaRPr lang="en-US" dirty="0">
              <a:solidFill>
                <a:srgbClr val="FF0000"/>
              </a:solidFill>
            </a:endParaRPr>
          </a:p>
        </p:txBody>
      </p:sp>
    </p:spTree>
  </p:cSld>
  <p:clrMapOvr>
    <a:masterClrMapping/>
  </p:clrMapOvr>
  <p:transition>
    <p:push/>
  </p:transition>
  <p:timing>
    <p:tnLst>
      <p:par>
        <p:cTn id="1" dur="indefinite" restart="never" nodeType="tmRoot"/>
      </p:par>
    </p:tnLst>
  </p:timing>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609600"/>
            <a:ext cx="8229600" cy="4525963"/>
          </a:xfrm>
        </p:spPr>
        <p:txBody>
          <a:bodyPr>
            <a:noAutofit/>
          </a:bodyPr>
          <a:lstStyle/>
          <a:p>
            <a:pPr marL="741363" indent="-631825">
              <a:buNone/>
            </a:pPr>
            <a:r>
              <a:rPr lang="en-US" sz="3000" dirty="0" smtClean="0"/>
              <a:t>11. An executive office has to be carpeted. The area is 3 m by 4 m. The carpet costs P 1, 000.00 per square meter. How much will be spent for the purchase of the carpet?</a:t>
            </a:r>
          </a:p>
          <a:p>
            <a:pPr marL="741363" indent="-631825">
              <a:buNone/>
            </a:pPr>
            <a:endParaRPr lang="en-US" sz="3000" dirty="0" smtClean="0"/>
          </a:p>
          <a:p>
            <a:pPr marL="1038225" indent="-296863">
              <a:buFont typeface="+mj-lt"/>
              <a:buAutoNum type="alphaUcPeriod"/>
            </a:pPr>
            <a:r>
              <a:rPr lang="en-US" sz="3000" dirty="0" smtClean="0"/>
              <a:t>P120, 000.00</a:t>
            </a:r>
          </a:p>
          <a:p>
            <a:pPr marL="1038225" indent="-296863">
              <a:buFont typeface="+mj-lt"/>
              <a:buAutoNum type="alphaUcPeriod"/>
            </a:pPr>
            <a:r>
              <a:rPr lang="en-US" sz="3000" dirty="0" smtClean="0"/>
              <a:t>P12, 000.00</a:t>
            </a:r>
          </a:p>
          <a:p>
            <a:pPr marL="1038225" indent="-296863">
              <a:buFont typeface="+mj-lt"/>
              <a:buAutoNum type="alphaUcPeriod"/>
            </a:pPr>
            <a:r>
              <a:rPr lang="en-US" sz="3000" dirty="0" smtClean="0"/>
              <a:t>P10, 000.00 </a:t>
            </a:r>
          </a:p>
          <a:p>
            <a:pPr marL="1038225" indent="-296863">
              <a:buFont typeface="+mj-lt"/>
              <a:buAutoNum type="alphaUcPeriod"/>
            </a:pPr>
            <a:r>
              <a:rPr lang="en-US" sz="3000" dirty="0" smtClean="0"/>
              <a:t>P 1, 000.00</a:t>
            </a:r>
          </a:p>
          <a:p>
            <a:pPr marL="741363" indent="-631825">
              <a:buFont typeface="+mj-lt"/>
              <a:buAutoNum type="alphaUcPeriod"/>
            </a:pPr>
            <a:endParaRPr lang="en-US" sz="3000" dirty="0" smtClean="0"/>
          </a:p>
          <a:p>
            <a:pPr>
              <a:buNone/>
            </a:pPr>
            <a:endParaRPr lang="en-US" sz="30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619186" y="41331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6354" name="Picture 2"/>
          <p:cNvPicPr>
            <a:picLocks noChangeAspect="1" noChangeArrowheads="1"/>
          </p:cNvPicPr>
          <p:nvPr/>
        </p:nvPicPr>
        <p:blipFill>
          <a:blip r:embed="rId2"/>
          <a:srcRect l="3514" t="36459" r="16837" b="39583"/>
          <a:stretch>
            <a:fillRect/>
          </a:stretch>
        </p:blipFill>
        <p:spPr bwMode="auto">
          <a:xfrm>
            <a:off x="609600" y="1752600"/>
            <a:ext cx="8077200" cy="3124200"/>
          </a:xfrm>
          <a:prstGeom prst="rect">
            <a:avLst/>
          </a:prstGeom>
          <a:noFill/>
          <a:ln w="9525">
            <a:noFill/>
            <a:miter lim="800000"/>
            <a:headEnd/>
            <a:tailEnd/>
          </a:ln>
          <a:effectLst/>
        </p:spPr>
      </p:pic>
    </p:spTree>
  </p:cSld>
  <p:clrMapOvr>
    <a:masterClrMapping/>
  </p:clrMapOvr>
  <p:transition>
    <p:push/>
  </p:transition>
  <p:timing>
    <p:tnLst>
      <p:par>
        <p:cTn id="1" dur="indefinite" restart="never" nodeType="tmRoot"/>
      </p:par>
    </p:tnLst>
  </p:timing>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33400" y="533400"/>
            <a:ext cx="8229600" cy="4525963"/>
          </a:xfrm>
        </p:spPr>
        <p:txBody>
          <a:bodyPr>
            <a:noAutofit/>
          </a:bodyPr>
          <a:lstStyle/>
          <a:p>
            <a:pPr marL="798513" indent="-688975">
              <a:buNone/>
            </a:pPr>
            <a:r>
              <a:rPr lang="en-US" sz="3200" dirty="0" smtClean="0"/>
              <a:t>12. The arithmetic mean of a set of 50 numbers is 38. If two numbers 45 and 35 are discarded, the mean of the remaining set of numbers is</a:t>
            </a:r>
            <a:r>
              <a:rPr lang="en-US" sz="3200" b="1" dirty="0" smtClean="0"/>
              <a:t>:</a:t>
            </a:r>
          </a:p>
          <a:p>
            <a:pPr marL="798513" indent="-688975">
              <a:buNone/>
            </a:pPr>
            <a:endParaRPr lang="en-US" sz="3200" b="1" dirty="0" smtClean="0"/>
          </a:p>
          <a:p>
            <a:pPr marL="1089025" indent="-290513">
              <a:buFont typeface="+mj-lt"/>
              <a:buAutoNum type="alphaUcPeriod"/>
            </a:pPr>
            <a:r>
              <a:rPr lang="en-US" sz="3200" dirty="0" smtClean="0"/>
              <a:t>37.24</a:t>
            </a:r>
          </a:p>
          <a:p>
            <a:pPr marL="1089025" indent="-290513">
              <a:buFont typeface="+mj-lt"/>
              <a:buAutoNum type="alphaUcPeriod"/>
            </a:pPr>
            <a:r>
              <a:rPr lang="en-US" sz="3200" dirty="0" smtClean="0"/>
              <a:t>37.92	</a:t>
            </a:r>
          </a:p>
          <a:p>
            <a:pPr marL="1089025" indent="-290513">
              <a:buFont typeface="+mj-lt"/>
              <a:buAutoNum type="alphaUcPeriod"/>
            </a:pPr>
            <a:r>
              <a:rPr lang="en-US" sz="3200" dirty="0" smtClean="0"/>
              <a:t>37.0</a:t>
            </a:r>
          </a:p>
          <a:p>
            <a:pPr marL="1089025" indent="-290513">
              <a:buFont typeface="+mj-lt"/>
              <a:buAutoNum type="alphaUcPeriod"/>
            </a:pPr>
            <a:r>
              <a:rPr lang="en-US" sz="3200" dirty="0" smtClean="0"/>
              <a:t>36.5</a:t>
            </a:r>
            <a:endParaRPr lang="en-US" sz="32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695384" y="3828374"/>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7379" name="Picture 3"/>
          <p:cNvPicPr>
            <a:picLocks noChangeAspect="1" noChangeArrowheads="1"/>
          </p:cNvPicPr>
          <p:nvPr/>
        </p:nvPicPr>
        <p:blipFill>
          <a:blip r:embed="rId2"/>
          <a:srcRect l="1977" t="40625" r="9590" b="22917"/>
          <a:stretch>
            <a:fillRect/>
          </a:stretch>
        </p:blipFill>
        <p:spPr bwMode="auto">
          <a:xfrm>
            <a:off x="381000" y="1371600"/>
            <a:ext cx="8382000" cy="3733800"/>
          </a:xfrm>
          <a:prstGeom prst="rect">
            <a:avLst/>
          </a:prstGeom>
          <a:noFill/>
          <a:ln w="9525">
            <a:noFill/>
            <a:miter lim="800000"/>
            <a:headEnd/>
            <a:tailEnd/>
          </a:ln>
          <a:effectLst/>
        </p:spPr>
      </p:pic>
    </p:spTree>
  </p:cSld>
  <p:clrMapOvr>
    <a:masterClrMapping/>
  </p:clrMapOvr>
  <p:transition>
    <p:push/>
  </p:transition>
  <p:timing>
    <p:tnLst>
      <p:par>
        <p:cTn id="1" dur="indefinite" restart="never" nodeType="tmRoot"/>
      </p:par>
    </p:tnLst>
  </p:timing>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33400" y="838200"/>
            <a:ext cx="8229600" cy="4525963"/>
          </a:xfrm>
        </p:spPr>
        <p:txBody>
          <a:bodyPr>
            <a:noAutofit/>
          </a:bodyPr>
          <a:lstStyle/>
          <a:p>
            <a:pPr marL="739775" indent="-630238">
              <a:buNone/>
            </a:pPr>
            <a:r>
              <a:rPr lang="en-US" sz="3200" dirty="0" smtClean="0"/>
              <a:t>13. If 5x&gt;0 which of the following must be TRUE?</a:t>
            </a:r>
          </a:p>
          <a:p>
            <a:pPr marL="2293938" indent="333375">
              <a:buAutoNum type="romanUcPeriod"/>
            </a:pPr>
            <a:r>
              <a:rPr lang="en-US" sz="3200" i="1" dirty="0" smtClean="0"/>
              <a:t>x &lt;0 </a:t>
            </a:r>
          </a:p>
          <a:p>
            <a:pPr marL="2293938" indent="333375">
              <a:buAutoNum type="romanUcPeriod"/>
            </a:pPr>
            <a:r>
              <a:rPr lang="en-US" sz="3200" i="1" dirty="0" smtClean="0"/>
              <a:t>1/x&gt;0</a:t>
            </a:r>
          </a:p>
          <a:p>
            <a:pPr marL="2293938" indent="333375">
              <a:buAutoNum type="romanUcPeriod"/>
            </a:pPr>
            <a:r>
              <a:rPr lang="en-US" sz="3200" i="1" dirty="0" smtClean="0"/>
              <a:t>–x&lt;0</a:t>
            </a:r>
          </a:p>
          <a:p>
            <a:pPr marL="1089025" indent="-349250">
              <a:buFont typeface="+mj-lt"/>
              <a:buAutoNum type="alphaUcPeriod"/>
            </a:pPr>
            <a:r>
              <a:rPr lang="en-US" sz="3200" dirty="0" smtClean="0"/>
              <a:t>II only	</a:t>
            </a:r>
          </a:p>
          <a:p>
            <a:pPr marL="1089025" indent="-349250">
              <a:buFont typeface="+mj-lt"/>
              <a:buAutoNum type="alphaUcPeriod"/>
            </a:pPr>
            <a:r>
              <a:rPr lang="en-US" sz="3200" dirty="0" smtClean="0"/>
              <a:t>II and III</a:t>
            </a:r>
          </a:p>
          <a:p>
            <a:pPr marL="1089025" indent="-349250">
              <a:buFont typeface="+mj-lt"/>
              <a:buAutoNum type="alphaUcPeriod"/>
            </a:pPr>
            <a:r>
              <a:rPr lang="en-US" sz="3200" dirty="0" smtClean="0"/>
              <a:t>I and II</a:t>
            </a:r>
          </a:p>
          <a:p>
            <a:pPr marL="1089025" indent="-349250">
              <a:buFont typeface="+mj-lt"/>
              <a:buAutoNum type="alphaUcPeriod"/>
            </a:pPr>
            <a:r>
              <a:rPr lang="en-US" sz="3200" dirty="0" smtClean="0"/>
              <a:t>I only</a:t>
            </a:r>
            <a:endParaRPr lang="en-US" sz="3200" i="1" dirty="0" smtClean="0"/>
          </a:p>
          <a:p>
            <a:pPr marL="739775" indent="-630238">
              <a:buAutoNum type="romanUcPeriod"/>
            </a:pPr>
            <a:endParaRPr lang="en-US" sz="3200" i="1" dirty="0" smtClean="0"/>
          </a:p>
          <a:p>
            <a:pPr marL="739775" indent="-630238">
              <a:buAutoNum type="romanUcPeriod"/>
            </a:pPr>
            <a:endParaRPr lang="en-US" sz="3200" dirty="0"/>
          </a:p>
        </p:txBody>
      </p:sp>
      <p:pic>
        <p:nvPicPr>
          <p:cNvPr id="3"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695385" y="4209374"/>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52400" y="533400"/>
            <a:ext cx="8991600" cy="5181600"/>
          </a:xfrm>
        </p:spPr>
        <p:txBody>
          <a:bodyPr numCol="2">
            <a:normAutofit fontScale="55000" lnSpcReduction="20000"/>
          </a:bodyPr>
          <a:lstStyle/>
          <a:p>
            <a:pPr>
              <a:buNone/>
            </a:pPr>
            <a:r>
              <a:rPr lang="en-US" sz="5600" dirty="0" smtClean="0"/>
              <a:t>Solve for an expression for x</a:t>
            </a:r>
          </a:p>
          <a:p>
            <a:pPr>
              <a:buNone/>
            </a:pPr>
            <a:r>
              <a:rPr lang="en-US" sz="5600" u="sng" dirty="0" smtClean="0"/>
              <a:t>5x</a:t>
            </a:r>
            <a:r>
              <a:rPr lang="en-US" sz="5600" dirty="0" smtClean="0"/>
              <a:t>&gt;</a:t>
            </a:r>
            <a:r>
              <a:rPr lang="en-US" sz="5600" u="sng" dirty="0" smtClean="0"/>
              <a:t>0</a:t>
            </a:r>
            <a:endParaRPr lang="en-US" sz="5600" dirty="0" smtClean="0"/>
          </a:p>
          <a:p>
            <a:pPr>
              <a:buNone/>
            </a:pPr>
            <a:r>
              <a:rPr lang="en-US" sz="5600" dirty="0" smtClean="0"/>
              <a:t>5      5</a:t>
            </a:r>
          </a:p>
          <a:p>
            <a:pPr>
              <a:buNone/>
            </a:pPr>
            <a:r>
              <a:rPr lang="en-US" sz="5600" dirty="0" smtClean="0"/>
              <a:t>x&gt; 0</a:t>
            </a:r>
          </a:p>
          <a:p>
            <a:pPr>
              <a:buNone/>
            </a:pPr>
            <a:r>
              <a:rPr lang="en-US" sz="5600" dirty="0" smtClean="0"/>
              <a:t>So, I. is not true</a:t>
            </a:r>
          </a:p>
          <a:p>
            <a:pPr>
              <a:buNone/>
            </a:pPr>
            <a:endParaRPr lang="en-US" sz="5600" dirty="0" smtClean="0"/>
          </a:p>
          <a:p>
            <a:pPr>
              <a:buNone/>
            </a:pPr>
            <a:r>
              <a:rPr lang="en-US" sz="5600" dirty="0" smtClean="0"/>
              <a:t> Let us assign values to x: (x = 1, 2, 3)</a:t>
            </a:r>
          </a:p>
          <a:p>
            <a:pPr>
              <a:buNone/>
            </a:pPr>
            <a:r>
              <a:rPr lang="en-US" sz="5600" dirty="0" smtClean="0"/>
              <a:t>With x = 1</a:t>
            </a:r>
          </a:p>
          <a:p>
            <a:pPr>
              <a:buNone/>
            </a:pPr>
            <a:r>
              <a:rPr lang="en-US" sz="5600" dirty="0" smtClean="0"/>
              <a:t>1/1 &gt; 0 is true</a:t>
            </a:r>
          </a:p>
          <a:p>
            <a:pPr>
              <a:buNone/>
            </a:pPr>
            <a:r>
              <a:rPr lang="en-US" sz="5600" dirty="0" smtClean="0"/>
              <a:t>½ &gt; 0 is also true</a:t>
            </a:r>
          </a:p>
          <a:p>
            <a:pPr>
              <a:buNone/>
            </a:pPr>
            <a:r>
              <a:rPr lang="en-US" sz="5600" dirty="0" smtClean="0"/>
              <a:t>1/3 &gt; is also greater than 1</a:t>
            </a:r>
          </a:p>
          <a:p>
            <a:pPr>
              <a:buNone/>
            </a:pPr>
            <a:r>
              <a:rPr lang="en-US" sz="5600" dirty="0" smtClean="0"/>
              <a:t>So, </a:t>
            </a:r>
            <a:r>
              <a:rPr lang="en-US" sz="5600" dirty="0" err="1" smtClean="0"/>
              <a:t>II.is</a:t>
            </a:r>
            <a:r>
              <a:rPr lang="en-US" sz="5600" dirty="0" smtClean="0"/>
              <a:t> true.</a:t>
            </a:r>
          </a:p>
          <a:p>
            <a:pPr>
              <a:buNone/>
            </a:pPr>
            <a:r>
              <a:rPr lang="en-US" sz="5600" dirty="0" smtClean="0"/>
              <a:t> </a:t>
            </a:r>
          </a:p>
          <a:p>
            <a:pPr>
              <a:buNone/>
            </a:pPr>
            <a:r>
              <a:rPr lang="en-US" sz="5600" u="sng" dirty="0" smtClean="0"/>
              <a:t>x</a:t>
            </a:r>
            <a:r>
              <a:rPr lang="en-US" sz="5600" dirty="0" smtClean="0"/>
              <a:t>&gt;</a:t>
            </a:r>
            <a:r>
              <a:rPr lang="en-US" sz="5600" u="sng" dirty="0" smtClean="0"/>
              <a:t>0</a:t>
            </a:r>
            <a:endParaRPr lang="en-US" sz="5600" dirty="0" smtClean="0"/>
          </a:p>
          <a:p>
            <a:pPr>
              <a:buNone/>
            </a:pPr>
            <a:r>
              <a:rPr lang="en-US" sz="5600" dirty="0" smtClean="0"/>
              <a:t>-1  -1</a:t>
            </a:r>
          </a:p>
          <a:p>
            <a:pPr>
              <a:buNone/>
            </a:pPr>
            <a:r>
              <a:rPr lang="en-US" sz="5600" dirty="0" smtClean="0"/>
              <a:t>-x &lt; 0</a:t>
            </a:r>
          </a:p>
          <a:p>
            <a:pPr>
              <a:buNone/>
            </a:pPr>
            <a:r>
              <a:rPr lang="en-US" sz="5600" dirty="0" smtClean="0"/>
              <a:t>So, </a:t>
            </a:r>
            <a:r>
              <a:rPr lang="en-US" sz="5600" dirty="0" err="1" smtClean="0"/>
              <a:t>III.is</a:t>
            </a:r>
            <a:r>
              <a:rPr lang="en-US" sz="5600" dirty="0" smtClean="0"/>
              <a:t> true.</a:t>
            </a:r>
          </a:p>
          <a:p>
            <a:pPr>
              <a:buNone/>
            </a:pPr>
            <a:r>
              <a:rPr lang="en-US" sz="5600" dirty="0" smtClean="0"/>
              <a:t> </a:t>
            </a:r>
          </a:p>
          <a:p>
            <a:pPr>
              <a:buNone/>
            </a:pPr>
            <a:r>
              <a:rPr lang="en-US" sz="5600" dirty="0" smtClean="0">
                <a:solidFill>
                  <a:srgbClr val="FF0000"/>
                </a:solidFill>
              </a:rPr>
              <a:t>Thus, only II and III are true.</a:t>
            </a:r>
          </a:p>
          <a:p>
            <a:pPr>
              <a:buNone/>
            </a:pPr>
            <a:r>
              <a:rPr lang="en-US" sz="5600" dirty="0" smtClean="0">
                <a:solidFill>
                  <a:srgbClr val="FF0000"/>
                </a:solidFill>
              </a:rPr>
              <a:t> </a:t>
            </a:r>
          </a:p>
          <a:p>
            <a:pPr>
              <a:buNone/>
            </a:pPr>
            <a:endParaRPr lang="en-US" dirty="0"/>
          </a:p>
        </p:txBody>
      </p:sp>
    </p:spTree>
  </p:cSld>
  <p:clrMapOvr>
    <a:masterClrMapping/>
  </p:clrMapOvr>
  <p:transition>
    <p:push/>
  </p:transition>
  <p:timing>
    <p:tnLst>
      <p:par>
        <p:cTn id="1" dur="indefinite" restart="never" nodeType="tmRoot"/>
      </p:par>
    </p:tnLst>
  </p:timing>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33400" y="533400"/>
            <a:ext cx="8229600" cy="4525963"/>
          </a:xfrm>
        </p:spPr>
        <p:txBody>
          <a:bodyPr>
            <a:noAutofit/>
          </a:bodyPr>
          <a:lstStyle/>
          <a:p>
            <a:pPr marL="739775" indent="-630238">
              <a:buNone/>
            </a:pPr>
            <a:r>
              <a:rPr lang="en-US" sz="2800" dirty="0" smtClean="0"/>
              <a:t>14. A rectangle has sides of 10 and 12 units. How can the area of a square be computed if it has the same perimeter as the rectangle?</a:t>
            </a:r>
          </a:p>
          <a:p>
            <a:pPr marL="739775" indent="-630238">
              <a:buNone/>
            </a:pPr>
            <a:endParaRPr lang="en-US" sz="2800" dirty="0" smtClean="0"/>
          </a:p>
          <a:p>
            <a:pPr marL="1146175" lvl="1" indent="-406400">
              <a:buFont typeface="+mj-lt"/>
              <a:buAutoNum type="alphaUcPeriod"/>
            </a:pPr>
            <a:r>
              <a:rPr lang="en-US" sz="2800" dirty="0" smtClean="0"/>
              <a:t>Add 10 and 12, double the sum, then multiply by 4</a:t>
            </a:r>
          </a:p>
          <a:p>
            <a:pPr marL="1146175" lvl="1" indent="-406400">
              <a:buFont typeface="+mj-lt"/>
              <a:buAutoNum type="alphaUcPeriod"/>
            </a:pPr>
            <a:r>
              <a:rPr lang="en-US" sz="2800" dirty="0" smtClean="0"/>
              <a:t>Add 10 and 12, double the sum, divide by 4 then multiply by 4</a:t>
            </a:r>
          </a:p>
          <a:p>
            <a:pPr marL="1146175" lvl="1" indent="-406400">
              <a:buFont typeface="+mj-lt"/>
              <a:buAutoNum type="alphaUcPeriod"/>
            </a:pPr>
            <a:r>
              <a:rPr lang="en-US" sz="2800" dirty="0" smtClean="0"/>
              <a:t>Add 10 and 12, double the sum, divide by 4 then multiply by 2</a:t>
            </a:r>
          </a:p>
          <a:p>
            <a:pPr marL="1146175" lvl="1" indent="-406400">
              <a:buFont typeface="+mj-lt"/>
              <a:buAutoNum type="alphaUcPeriod"/>
            </a:pPr>
            <a:r>
              <a:rPr lang="en-US" sz="2800" dirty="0" smtClean="0"/>
              <a:t>Add 10 and 12, double the sum, divide by 4 then square the quotient</a:t>
            </a:r>
          </a:p>
          <a:p>
            <a:pPr>
              <a:buNone/>
            </a:pPr>
            <a:endParaRPr lang="en-US" sz="28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619186" y="5504774"/>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02" name="Picture 2"/>
          <p:cNvPicPr>
            <a:picLocks noChangeAspect="1" noChangeArrowheads="1"/>
          </p:cNvPicPr>
          <p:nvPr/>
        </p:nvPicPr>
        <p:blipFill>
          <a:blip r:embed="rId2"/>
          <a:srcRect l="2928" t="39583" r="9810" b="18750"/>
          <a:stretch>
            <a:fillRect/>
          </a:stretch>
        </p:blipFill>
        <p:spPr bwMode="auto">
          <a:xfrm>
            <a:off x="609600" y="1066800"/>
            <a:ext cx="7924800" cy="4114800"/>
          </a:xfrm>
          <a:prstGeom prst="rect">
            <a:avLst/>
          </a:prstGeom>
          <a:noFill/>
          <a:ln w="9525">
            <a:noFill/>
            <a:miter lim="800000"/>
            <a:headEnd/>
            <a:tailEnd/>
          </a:ln>
          <a:effectLst/>
        </p:spPr>
      </p:pic>
    </p:spTree>
  </p:cSld>
  <p:clrMapOvr>
    <a:masterClrMapping/>
  </p:clrMapOvr>
  <p:transition>
    <p:push/>
  </p:transition>
  <p:timing>
    <p:tnLst>
      <p:par>
        <p:cTn id="1" dur="indefinite" restart="never" nodeType="tmRoot"/>
      </p:par>
    </p:tnLst>
  </p:timing>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762000" y="228600"/>
            <a:ext cx="8229600" cy="4525963"/>
          </a:xfrm>
        </p:spPr>
        <p:txBody>
          <a:bodyPr>
            <a:noAutofit/>
          </a:bodyPr>
          <a:lstStyle/>
          <a:p>
            <a:pPr marL="798513" indent="-688975">
              <a:buNone/>
            </a:pPr>
            <a:r>
              <a:rPr lang="en-US" sz="3200" dirty="0" smtClean="0"/>
              <a:t>15. Of 50 students enrolled in the subject, Curriculum and Instruction, 90% took the final examination at the end of the term. Two-thirds of those who took the final examination passed. How many students passed the exam?</a:t>
            </a:r>
          </a:p>
          <a:p>
            <a:pPr marL="798513" indent="-688975">
              <a:buNone/>
            </a:pPr>
            <a:endParaRPr lang="en-US" sz="3200" dirty="0" smtClean="0"/>
          </a:p>
          <a:p>
            <a:pPr marL="1030288" indent="-290513">
              <a:buFont typeface="+mj-lt"/>
              <a:buAutoNum type="alphaUcPeriod"/>
            </a:pPr>
            <a:r>
              <a:rPr lang="en-US" sz="3200" dirty="0" smtClean="0"/>
              <a:t>33</a:t>
            </a:r>
          </a:p>
          <a:p>
            <a:pPr marL="1030288" indent="-290513">
              <a:buFont typeface="+mj-lt"/>
              <a:buAutoNum type="alphaUcPeriod"/>
            </a:pPr>
            <a:r>
              <a:rPr lang="en-US" sz="3200" dirty="0" smtClean="0"/>
              <a:t>45</a:t>
            </a:r>
          </a:p>
          <a:p>
            <a:pPr marL="1030288" indent="-290513">
              <a:buFont typeface="+mj-lt"/>
              <a:buAutoNum type="alphaUcPeriod"/>
            </a:pPr>
            <a:r>
              <a:rPr lang="en-US" sz="3200" dirty="0" smtClean="0"/>
              <a:t>34</a:t>
            </a:r>
          </a:p>
          <a:p>
            <a:pPr marL="1030288" indent="-290513">
              <a:buFont typeface="+mj-lt"/>
              <a:buAutoNum type="alphaUcPeriod"/>
            </a:pPr>
            <a:r>
              <a:rPr lang="en-US" sz="3200" dirty="0" smtClean="0"/>
              <a:t>30</a:t>
            </a:r>
          </a:p>
          <a:p>
            <a:pPr>
              <a:buNone/>
            </a:pPr>
            <a:endParaRPr lang="en-US" sz="32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847785" y="5961974"/>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838200"/>
            <a:ext cx="8229600" cy="5105400"/>
          </a:xfrm>
        </p:spPr>
        <p:txBody>
          <a:bodyPr>
            <a:normAutofit lnSpcReduction="10000"/>
          </a:bodyPr>
          <a:lstStyle/>
          <a:p>
            <a:pPr>
              <a:buNone/>
            </a:pPr>
            <a:r>
              <a:rPr lang="en-US" b="1" dirty="0" smtClean="0"/>
              <a:t>Given</a:t>
            </a:r>
            <a:r>
              <a:rPr lang="en-US" dirty="0" smtClean="0"/>
              <a:t>: N = 50 – number of students enrolled in 			Curriculum and Instruction</a:t>
            </a:r>
          </a:p>
          <a:p>
            <a:pPr>
              <a:buNone/>
            </a:pPr>
            <a:endParaRPr lang="en-US" dirty="0" smtClean="0"/>
          </a:p>
          <a:p>
            <a:pPr>
              <a:buNone/>
            </a:pPr>
            <a:r>
              <a:rPr lang="en-US" dirty="0" smtClean="0"/>
              <a:t>          FE = number of students who took the 		final exam = (0.9)(50) = 45</a:t>
            </a:r>
          </a:p>
          <a:p>
            <a:pPr>
              <a:buNone/>
            </a:pPr>
            <a:endParaRPr lang="en-US" dirty="0" smtClean="0"/>
          </a:p>
          <a:p>
            <a:pPr>
              <a:buNone/>
            </a:pPr>
            <a:r>
              <a:rPr lang="en-US" dirty="0" smtClean="0"/>
              <a:t>           P = number of students who passed = 		(2/3)(45) = 30</a:t>
            </a:r>
          </a:p>
          <a:p>
            <a:pPr>
              <a:buNone/>
            </a:pPr>
            <a:r>
              <a:rPr lang="en-US" dirty="0" smtClean="0"/>
              <a:t> </a:t>
            </a:r>
          </a:p>
          <a:p>
            <a:pPr>
              <a:buNone/>
            </a:pPr>
            <a:r>
              <a:rPr lang="en-US" dirty="0" smtClean="0"/>
              <a:t/>
            </a:r>
            <a:br>
              <a:rPr lang="en-US" dirty="0" smtClean="0"/>
            </a:br>
            <a:r>
              <a:rPr lang="en-US" dirty="0" smtClean="0"/>
              <a:t>Thus, </a:t>
            </a:r>
            <a:r>
              <a:rPr lang="en-US" dirty="0" smtClean="0">
                <a:solidFill>
                  <a:srgbClr val="FF0000"/>
                </a:solidFill>
              </a:rPr>
              <a:t>P = 30</a:t>
            </a:r>
          </a:p>
          <a:p>
            <a:pPr>
              <a:buNone/>
            </a:pPr>
            <a:r>
              <a:rPr lang="en-US" dirty="0" smtClean="0"/>
              <a:t> </a:t>
            </a:r>
          </a:p>
          <a:p>
            <a:pPr>
              <a:buNone/>
            </a:pPr>
            <a:endParaRPr lang="en-US" dirty="0"/>
          </a:p>
        </p:txBody>
      </p:sp>
    </p:spTree>
  </p:cSld>
  <p:clrMapOvr>
    <a:masterClrMapping/>
  </p:clrMapOvr>
  <p:transition>
    <p:push/>
  </p:transition>
  <p:timing>
    <p:tnLst>
      <p:par>
        <p:cTn id="1" dur="indefinite" restart="never" nodeType="tmRoot"/>
      </p:par>
    </p:tnLst>
  </p:timing>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85800" y="1143000"/>
            <a:ext cx="8229600" cy="4525963"/>
          </a:xfrm>
        </p:spPr>
        <p:txBody>
          <a:bodyPr>
            <a:normAutofit/>
          </a:bodyPr>
          <a:lstStyle/>
          <a:p>
            <a:pPr>
              <a:buNone/>
            </a:pPr>
            <a:r>
              <a:rPr lang="en-US" sz="3200" dirty="0" smtClean="0"/>
              <a:t>16. If n&lt;m and a&lt;b, then _______________</a:t>
            </a:r>
          </a:p>
          <a:p>
            <a:pPr>
              <a:buNone/>
            </a:pPr>
            <a:endParaRPr lang="en-US" sz="3200" dirty="0" smtClean="0"/>
          </a:p>
          <a:p>
            <a:pPr marL="1030288" indent="-290513">
              <a:buFont typeface="+mj-lt"/>
              <a:buAutoNum type="alphaUcPeriod"/>
            </a:pPr>
            <a:r>
              <a:rPr lang="en-US" sz="3200" b="1" dirty="0" smtClean="0"/>
              <a:t>n + a &gt; m +b</a:t>
            </a:r>
            <a:r>
              <a:rPr lang="en-US" sz="3200" dirty="0" smtClean="0"/>
              <a:t>	</a:t>
            </a:r>
          </a:p>
          <a:p>
            <a:pPr marL="1030288" indent="-290513">
              <a:buFont typeface="+mj-lt"/>
              <a:buAutoNum type="alphaUcPeriod"/>
            </a:pPr>
            <a:r>
              <a:rPr lang="en-US" sz="3200" b="1" dirty="0" smtClean="0"/>
              <a:t>m = b</a:t>
            </a:r>
          </a:p>
          <a:p>
            <a:pPr marL="1030288" indent="-290513">
              <a:buFont typeface="+mj-lt"/>
              <a:buAutoNum type="alphaUcPeriod"/>
            </a:pPr>
            <a:r>
              <a:rPr lang="en-US" sz="3200" b="1" dirty="0" smtClean="0"/>
              <a:t>n = a</a:t>
            </a:r>
          </a:p>
          <a:p>
            <a:pPr marL="1030288" indent="-290513">
              <a:buFont typeface="+mj-lt"/>
              <a:buAutoNum type="alphaUcPeriod"/>
            </a:pPr>
            <a:r>
              <a:rPr lang="en-US" sz="3200" b="1" dirty="0" smtClean="0"/>
              <a:t>n + a &lt; m + b</a:t>
            </a:r>
          </a:p>
          <a:p>
            <a:pPr>
              <a:buNone/>
            </a:pPr>
            <a:endParaRPr lang="en-US" sz="32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619185" y="44379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1000" y="914400"/>
            <a:ext cx="8229600" cy="4953000"/>
          </a:xfrm>
        </p:spPr>
        <p:txBody>
          <a:bodyPr/>
          <a:lstStyle/>
          <a:p>
            <a:pPr>
              <a:buNone/>
            </a:pPr>
            <a:r>
              <a:rPr lang="en-US" dirty="0" smtClean="0"/>
              <a:t>Let n = 1; m = 2; a = 3; b = 4 (though this can take different values)</a:t>
            </a:r>
          </a:p>
          <a:p>
            <a:pPr>
              <a:buNone/>
            </a:pPr>
            <a:endParaRPr lang="en-US" dirty="0" smtClean="0"/>
          </a:p>
          <a:p>
            <a:pPr marL="624078" lvl="0" indent="-514350">
              <a:buFont typeface="+mj-lt"/>
              <a:buAutoNum type="alphaLcParenR"/>
            </a:pPr>
            <a:r>
              <a:rPr lang="en-US" dirty="0" smtClean="0"/>
              <a:t>n + a &gt; m + b = 1 + 3 &gt;? 2 + 4 = 4 &gt;? 6 </a:t>
            </a:r>
            <a:r>
              <a:rPr lang="en-US" b="1" dirty="0" smtClean="0"/>
              <a:t>NOT TRUE</a:t>
            </a:r>
          </a:p>
          <a:p>
            <a:pPr marL="624078" lvl="0" indent="-514350">
              <a:buFont typeface="+mj-lt"/>
              <a:buAutoNum type="alphaLcParenR"/>
            </a:pPr>
            <a:r>
              <a:rPr lang="en-US" dirty="0" smtClean="0"/>
              <a:t>m = b 	2 =? 4    </a:t>
            </a:r>
            <a:r>
              <a:rPr lang="en-US" b="1" dirty="0" smtClean="0"/>
              <a:t>NOT TRUE</a:t>
            </a:r>
          </a:p>
          <a:p>
            <a:pPr marL="624078" lvl="0" indent="-514350">
              <a:buFont typeface="+mj-lt"/>
              <a:buAutoNum type="alphaLcParenR"/>
            </a:pPr>
            <a:r>
              <a:rPr lang="en-US" dirty="0" smtClean="0"/>
              <a:t>n = a	1 =? 3   </a:t>
            </a:r>
            <a:r>
              <a:rPr lang="en-US" b="1" dirty="0" smtClean="0"/>
              <a:t>NOT TRUE</a:t>
            </a:r>
          </a:p>
          <a:p>
            <a:pPr marL="624078" lvl="0" indent="-514350">
              <a:buFont typeface="+mj-lt"/>
              <a:buAutoNum type="alphaLcParenR"/>
            </a:pPr>
            <a:r>
              <a:rPr lang="en-US" dirty="0" smtClean="0"/>
              <a:t>n + a &lt;m + b = 1 + 3 &gt;? 2 + 4 = 4 &gt;? 6    </a:t>
            </a:r>
            <a:r>
              <a:rPr lang="en-US" b="1" dirty="0" smtClean="0">
                <a:solidFill>
                  <a:srgbClr val="FF0000"/>
                </a:solidFill>
              </a:rPr>
              <a:t>TRUE</a:t>
            </a:r>
          </a:p>
          <a:p>
            <a:pPr>
              <a:buNone/>
            </a:pPr>
            <a:r>
              <a:rPr lang="en-US" dirty="0" smtClean="0"/>
              <a:t> </a:t>
            </a:r>
          </a:p>
          <a:p>
            <a:pPr>
              <a:buNone/>
            </a:pPr>
            <a:endParaRPr lang="en-US" dirty="0"/>
          </a:p>
        </p:txBody>
      </p:sp>
    </p:spTree>
  </p:cSld>
  <p:clrMapOvr>
    <a:masterClrMapping/>
  </p:clrMapOvr>
  <p:transition>
    <p:push/>
  </p:transition>
  <p:timing>
    <p:tnLst>
      <p:par>
        <p:cTn id="1" dur="indefinite" restart="never" nodeType="tmRoot"/>
      </p:par>
    </p:tnLst>
  </p:timing>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533400"/>
            <a:ext cx="8229600" cy="4525963"/>
          </a:xfrm>
        </p:spPr>
        <p:txBody>
          <a:bodyPr>
            <a:noAutofit/>
          </a:bodyPr>
          <a:lstStyle/>
          <a:p>
            <a:pPr marL="739775" indent="-630238">
              <a:buNone/>
            </a:pPr>
            <a:r>
              <a:rPr lang="en-US" sz="3200" dirty="0" smtClean="0"/>
              <a:t>17. How much greater is the sum of the first 20 counting numbers than the sum of the first 10 counting numbers?</a:t>
            </a:r>
          </a:p>
          <a:p>
            <a:pPr marL="739775" indent="-630238">
              <a:buNone/>
            </a:pPr>
            <a:endParaRPr lang="en-US" sz="3200" dirty="0" smtClean="0"/>
          </a:p>
          <a:p>
            <a:pPr marL="1030288" indent="-290513">
              <a:buFont typeface="+mj-lt"/>
              <a:buAutoNum type="alphaUcPeriod"/>
            </a:pPr>
            <a:r>
              <a:rPr lang="en-US" sz="3200" dirty="0" smtClean="0"/>
              <a:t>110</a:t>
            </a:r>
          </a:p>
          <a:p>
            <a:pPr marL="1030288" indent="-290513">
              <a:buFont typeface="+mj-lt"/>
              <a:buAutoNum type="alphaUcPeriod"/>
            </a:pPr>
            <a:r>
              <a:rPr lang="en-US" sz="3200" dirty="0" smtClean="0"/>
              <a:t>55</a:t>
            </a:r>
          </a:p>
          <a:p>
            <a:pPr marL="1030288" indent="-290513">
              <a:buFont typeface="+mj-lt"/>
              <a:buAutoNum type="alphaUcPeriod"/>
            </a:pPr>
            <a:r>
              <a:rPr lang="en-US" sz="3200" dirty="0" smtClean="0"/>
              <a:t>100</a:t>
            </a:r>
          </a:p>
          <a:p>
            <a:pPr marL="1030288" indent="-290513">
              <a:buFont typeface="+mj-lt"/>
              <a:buAutoNum type="alphaUcPeriod"/>
            </a:pPr>
            <a:r>
              <a:rPr lang="en-US" sz="3200" dirty="0" smtClean="0"/>
              <a:t>155</a:t>
            </a:r>
          </a:p>
          <a:p>
            <a:pPr>
              <a:buNone/>
            </a:pPr>
            <a:endParaRPr lang="en-US" sz="32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466785" y="4895174"/>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9426" name="Picture 2"/>
          <p:cNvPicPr>
            <a:picLocks noChangeAspect="1" noChangeArrowheads="1"/>
          </p:cNvPicPr>
          <p:nvPr/>
        </p:nvPicPr>
        <p:blipFill>
          <a:blip r:embed="rId2"/>
          <a:srcRect l="3768" t="44370" r="8893" b="37013"/>
          <a:stretch>
            <a:fillRect/>
          </a:stretch>
        </p:blipFill>
        <p:spPr bwMode="auto">
          <a:xfrm>
            <a:off x="533400" y="1600200"/>
            <a:ext cx="7924800" cy="3581400"/>
          </a:xfrm>
          <a:prstGeom prst="rect">
            <a:avLst/>
          </a:prstGeom>
          <a:noFill/>
          <a:ln w="9525">
            <a:noFill/>
            <a:miter lim="800000"/>
            <a:headEnd/>
            <a:tailEnd/>
          </a:ln>
          <a:effectLst/>
        </p:spPr>
      </p:pic>
    </p:spTree>
  </p:cSld>
  <p:clrMapOvr>
    <a:masterClrMapping/>
  </p:clrMapOvr>
  <p:transition>
    <p:push/>
  </p:transition>
  <p:timing>
    <p:tnLst>
      <p:par>
        <p:cTn id="1" dur="indefinite" restart="never" nodeType="tmRoot"/>
      </p:par>
    </p:tnLst>
  </p:timing>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1000" y="152400"/>
            <a:ext cx="8229600" cy="4525963"/>
          </a:xfrm>
        </p:spPr>
        <p:txBody>
          <a:bodyPr>
            <a:noAutofit/>
          </a:bodyPr>
          <a:lstStyle/>
          <a:p>
            <a:pPr marL="739775" indent="-630238">
              <a:buNone/>
            </a:pPr>
            <a:r>
              <a:rPr lang="en-US" sz="3200" dirty="0" smtClean="0"/>
              <a:t>18. A father and son working together can finish painting a room in 6 hours. Working alone, the father takes 9 hours to do the painting. How many painting hours will it take the son, working alone, to finish painting the room?</a:t>
            </a:r>
          </a:p>
          <a:p>
            <a:pPr marL="739775" indent="-630238">
              <a:buNone/>
            </a:pPr>
            <a:endParaRPr lang="en-US" sz="3200" dirty="0" smtClean="0"/>
          </a:p>
          <a:p>
            <a:pPr marL="1030288" indent="-290513">
              <a:buFont typeface="+mj-lt"/>
              <a:buAutoNum type="alphaUcPeriod"/>
            </a:pPr>
            <a:r>
              <a:rPr lang="en-US" sz="3200" dirty="0" smtClean="0"/>
              <a:t>18</a:t>
            </a:r>
          </a:p>
          <a:p>
            <a:pPr marL="1030288" indent="-290513">
              <a:buFont typeface="+mj-lt"/>
              <a:buAutoNum type="alphaUcPeriod"/>
            </a:pPr>
            <a:r>
              <a:rPr lang="en-US" sz="3200" dirty="0" smtClean="0"/>
              <a:t>15</a:t>
            </a:r>
          </a:p>
          <a:p>
            <a:pPr marL="1030288" indent="-290513">
              <a:buFont typeface="+mj-lt"/>
              <a:buAutoNum type="alphaUcPeriod"/>
            </a:pPr>
            <a:r>
              <a:rPr lang="en-US" sz="3200" dirty="0" smtClean="0"/>
              <a:t>75</a:t>
            </a:r>
          </a:p>
          <a:p>
            <a:pPr marL="1030288" indent="-290513">
              <a:buFont typeface="+mj-lt"/>
              <a:buAutoNum type="alphaUcPeriod"/>
            </a:pPr>
            <a:r>
              <a:rPr lang="en-US" sz="3200" dirty="0" smtClean="0"/>
              <a:t>12</a:t>
            </a:r>
          </a:p>
          <a:p>
            <a:pPr>
              <a:buNone/>
            </a:pPr>
            <a:endParaRPr lang="en-US" sz="32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542984" y="43617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1000" y="609600"/>
            <a:ext cx="8382000" cy="4830763"/>
          </a:xfrm>
        </p:spPr>
        <p:txBody>
          <a:bodyPr>
            <a:noAutofit/>
          </a:bodyPr>
          <a:lstStyle/>
          <a:p>
            <a:pPr>
              <a:buNone/>
            </a:pPr>
            <a:r>
              <a:rPr lang="en-US" sz="2400" dirty="0" smtClean="0"/>
              <a:t>Let:   1/f – rate at which work is done by the father</a:t>
            </a:r>
          </a:p>
          <a:p>
            <a:pPr>
              <a:buNone/>
            </a:pPr>
            <a:r>
              <a:rPr lang="en-US" sz="2400" dirty="0" smtClean="0"/>
              <a:t>		1/s – rate at which the work is done by the son</a:t>
            </a:r>
          </a:p>
          <a:p>
            <a:pPr>
              <a:buNone/>
            </a:pPr>
            <a:r>
              <a:rPr lang="en-US" sz="2400" dirty="0" smtClean="0"/>
              <a:t>	      1/t – rate at which work is done by the father and the son</a:t>
            </a:r>
          </a:p>
          <a:p>
            <a:pPr>
              <a:buNone/>
            </a:pPr>
            <a:endParaRPr lang="en-US" sz="2400" dirty="0" smtClean="0"/>
          </a:p>
          <a:p>
            <a:pPr>
              <a:buNone/>
            </a:pPr>
            <a:r>
              <a:rPr lang="en-US" sz="2400" b="1" i="1" dirty="0" smtClean="0"/>
              <a:t> </a:t>
            </a:r>
            <a:r>
              <a:rPr lang="en-US" sz="2400" b="1" dirty="0" smtClean="0"/>
              <a:t>General equation: </a:t>
            </a:r>
          </a:p>
          <a:p>
            <a:pPr>
              <a:buNone/>
            </a:pPr>
            <a:endParaRPr lang="en-US" sz="2400" b="1" dirty="0" smtClean="0"/>
          </a:p>
          <a:p>
            <a:pPr>
              <a:buNone/>
            </a:pPr>
            <a:r>
              <a:rPr lang="en-US" sz="2400" dirty="0" smtClean="0"/>
              <a:t>1/f + 1/s = 1/t</a:t>
            </a:r>
          </a:p>
          <a:p>
            <a:pPr>
              <a:buNone/>
            </a:pPr>
            <a:r>
              <a:rPr lang="en-US" sz="2400" dirty="0" smtClean="0"/>
              <a:t>1/s = 1/t – 1/f</a:t>
            </a:r>
          </a:p>
          <a:p>
            <a:pPr>
              <a:buNone/>
            </a:pPr>
            <a:r>
              <a:rPr lang="en-US" sz="2400" dirty="0" smtClean="0"/>
              <a:t>1/s = 1/6 – 1/9 = 3/18 – 2/18</a:t>
            </a:r>
          </a:p>
          <a:p>
            <a:pPr>
              <a:buNone/>
            </a:pPr>
            <a:r>
              <a:rPr lang="en-US" sz="2400" dirty="0" smtClean="0"/>
              <a:t>1/s = 1/18</a:t>
            </a:r>
          </a:p>
          <a:p>
            <a:pPr>
              <a:buNone/>
            </a:pPr>
            <a:r>
              <a:rPr lang="en-US" sz="2400" dirty="0" smtClean="0">
                <a:solidFill>
                  <a:srgbClr val="FF0000"/>
                </a:solidFill>
              </a:rPr>
              <a:t>s = 18</a:t>
            </a:r>
          </a:p>
          <a:p>
            <a:pPr>
              <a:buNone/>
            </a:pPr>
            <a:r>
              <a:rPr lang="en-US" sz="2400" dirty="0" smtClean="0"/>
              <a:t/>
            </a:r>
            <a:br>
              <a:rPr lang="en-US" sz="2400" dirty="0" smtClean="0"/>
            </a:br>
            <a:r>
              <a:rPr lang="en-US" sz="2400" dirty="0" smtClean="0"/>
              <a:t> </a:t>
            </a:r>
          </a:p>
          <a:p>
            <a:pPr>
              <a:buNone/>
            </a:pPr>
            <a:endParaRPr lang="en-US" sz="2400" dirty="0"/>
          </a:p>
        </p:txBody>
      </p:sp>
    </p:spTree>
  </p:cSld>
  <p:clrMapOvr>
    <a:masterClrMapping/>
  </p:clrMapOvr>
  <p:transition>
    <p:push/>
  </p:transition>
  <p:timing>
    <p:tnLst>
      <p:par>
        <p:cTn id="1" dur="indefinite" restart="never" nodeType="tmRoot"/>
      </p:par>
    </p:tnLst>
  </p:timing>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914400" y="304800"/>
            <a:ext cx="8229600" cy="4614672"/>
          </a:xfrm>
        </p:spPr>
        <p:txBody>
          <a:bodyPr>
            <a:noAutofit/>
          </a:bodyPr>
          <a:lstStyle/>
          <a:p>
            <a:pPr marL="739775" indent="-630238">
              <a:buNone/>
            </a:pPr>
            <a:r>
              <a:rPr lang="en-US" sz="3200" dirty="0" smtClean="0"/>
              <a:t>19. </a:t>
            </a:r>
            <a:r>
              <a:rPr lang="en-US" sz="3200" dirty="0" err="1" smtClean="0"/>
              <a:t>Nelia</a:t>
            </a:r>
            <a:r>
              <a:rPr lang="en-US" sz="3200" dirty="0" smtClean="0"/>
              <a:t> takes ¾ hour to dress and get ready for school. It takes 4/5 hour to reach the school. If her class starts promptly at 8:15 am; what is the latest time she can jump out of bed in order not to be late for school?</a:t>
            </a:r>
          </a:p>
          <a:p>
            <a:pPr marL="739775" indent="-630238">
              <a:buNone/>
            </a:pPr>
            <a:endParaRPr lang="en-US" sz="3200" dirty="0" smtClean="0"/>
          </a:p>
          <a:p>
            <a:pPr marL="1030288" indent="-290513">
              <a:buFont typeface="+mj-lt"/>
              <a:buAutoNum type="alphaUcPeriod"/>
            </a:pPr>
            <a:r>
              <a:rPr lang="en-US" sz="3200" dirty="0" smtClean="0"/>
              <a:t>6:42 am</a:t>
            </a:r>
          </a:p>
          <a:p>
            <a:pPr marL="1030288" indent="-290513">
              <a:buFont typeface="+mj-lt"/>
              <a:buAutoNum type="alphaUcPeriod"/>
            </a:pPr>
            <a:r>
              <a:rPr lang="en-US" sz="3200" dirty="0" smtClean="0"/>
              <a:t>6:50 am</a:t>
            </a:r>
          </a:p>
          <a:p>
            <a:pPr marL="1030288" indent="-290513">
              <a:buFont typeface="+mj-lt"/>
              <a:buAutoNum type="alphaUcPeriod"/>
            </a:pPr>
            <a:r>
              <a:rPr lang="en-US" sz="3200" dirty="0" smtClean="0"/>
              <a:t>6:45 am</a:t>
            </a:r>
          </a:p>
          <a:p>
            <a:pPr marL="1030288" indent="-290513">
              <a:buFont typeface="+mj-lt"/>
              <a:buAutoNum type="alphaUcPeriod"/>
            </a:pPr>
            <a:r>
              <a:rPr lang="en-US" sz="3200" dirty="0" smtClean="0"/>
              <a:t>7:22 am</a:t>
            </a:r>
            <a:endParaRPr lang="en-US" sz="32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1000185" y="45141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0451" name="Picture 3"/>
          <p:cNvPicPr>
            <a:picLocks noChangeAspect="1" noChangeArrowheads="1"/>
          </p:cNvPicPr>
          <p:nvPr/>
        </p:nvPicPr>
        <p:blipFill>
          <a:blip r:embed="rId2"/>
          <a:srcRect l="1977" t="23758" r="9785" b="34174"/>
          <a:stretch>
            <a:fillRect/>
          </a:stretch>
        </p:blipFill>
        <p:spPr bwMode="auto">
          <a:xfrm>
            <a:off x="152401" y="1524000"/>
            <a:ext cx="8610599" cy="3810000"/>
          </a:xfrm>
          <a:prstGeom prst="rect">
            <a:avLst/>
          </a:prstGeom>
          <a:noFill/>
          <a:ln w="9525">
            <a:noFill/>
            <a:miter lim="800000"/>
            <a:headEnd/>
            <a:tailEnd/>
          </a:ln>
          <a:effectLst/>
        </p:spPr>
      </p:pic>
    </p:spTree>
  </p:cSld>
  <p:clrMapOvr>
    <a:masterClrMapping/>
  </p:clrMapOvr>
  <p:transition>
    <p:push/>
  </p:transition>
  <p:timing>
    <p:tnLst>
      <p:par>
        <p:cTn id="1" dur="indefinite" restart="never" nodeType="tmRoot"/>
      </p:par>
    </p:tnLst>
  </p:timing>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838200"/>
            <a:ext cx="8229600" cy="4525963"/>
          </a:xfrm>
        </p:spPr>
        <p:txBody>
          <a:bodyPr>
            <a:noAutofit/>
          </a:bodyPr>
          <a:lstStyle/>
          <a:p>
            <a:pPr marL="798513" indent="-688975">
              <a:buNone/>
            </a:pPr>
            <a:r>
              <a:rPr lang="en-US" sz="3200" dirty="0" smtClean="0"/>
              <a:t>20. In a playground for Kindergarten kids, 18 children are riding tricycles or bicycles. If there are 43 wheels in all, how many tricycles are there?</a:t>
            </a:r>
          </a:p>
          <a:p>
            <a:pPr marL="798513" indent="-688975">
              <a:buNone/>
            </a:pPr>
            <a:endParaRPr lang="en-US" sz="3200" dirty="0" smtClean="0"/>
          </a:p>
          <a:p>
            <a:pPr marL="1254125" indent="-514350">
              <a:buFont typeface="+mj-lt"/>
              <a:buAutoNum type="alphaUcPeriod"/>
            </a:pPr>
            <a:r>
              <a:rPr lang="en-US" sz="3200" dirty="0" smtClean="0"/>
              <a:t>8</a:t>
            </a:r>
          </a:p>
          <a:p>
            <a:pPr marL="1254125" indent="-514350">
              <a:buFont typeface="+mj-lt"/>
              <a:buAutoNum type="alphaUcPeriod"/>
            </a:pPr>
            <a:r>
              <a:rPr lang="en-US" sz="3200" dirty="0" smtClean="0"/>
              <a:t>9</a:t>
            </a:r>
          </a:p>
          <a:p>
            <a:pPr marL="1254125" indent="-514350">
              <a:buFont typeface="+mj-lt"/>
              <a:buAutoNum type="alphaUcPeriod"/>
            </a:pPr>
            <a:r>
              <a:rPr lang="en-US" sz="3200" dirty="0" smtClean="0"/>
              <a:t>7</a:t>
            </a:r>
          </a:p>
          <a:p>
            <a:pPr marL="1254125" indent="-514350">
              <a:buFont typeface="+mj-lt"/>
              <a:buAutoNum type="alphaUcPeriod"/>
            </a:pPr>
            <a:r>
              <a:rPr lang="en-US" sz="3200" dirty="0" smtClean="0"/>
              <a:t>11</a:t>
            </a:r>
          </a:p>
          <a:p>
            <a:pPr>
              <a:buNone/>
            </a:pPr>
            <a:endParaRPr lang="en-US" sz="32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542985" y="46665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1474" name="Picture 2"/>
          <p:cNvPicPr>
            <a:picLocks noChangeAspect="1" noChangeArrowheads="1"/>
          </p:cNvPicPr>
          <p:nvPr/>
        </p:nvPicPr>
        <p:blipFill>
          <a:blip r:embed="rId2"/>
          <a:srcRect l="2343" t="35417" r="10395" b="44791"/>
          <a:stretch>
            <a:fillRect/>
          </a:stretch>
        </p:blipFill>
        <p:spPr bwMode="auto">
          <a:xfrm>
            <a:off x="304800" y="838200"/>
            <a:ext cx="8153400" cy="1752600"/>
          </a:xfrm>
          <a:prstGeom prst="rect">
            <a:avLst/>
          </a:prstGeom>
          <a:noFill/>
          <a:ln w="9525">
            <a:noFill/>
            <a:miter lim="800000"/>
            <a:headEnd/>
            <a:tailEnd/>
          </a:ln>
          <a:effectLst/>
        </p:spPr>
      </p:pic>
      <p:pic>
        <p:nvPicPr>
          <p:cNvPr id="361475" name="Picture 3"/>
          <p:cNvPicPr>
            <a:picLocks noChangeAspect="1" noChangeArrowheads="1"/>
          </p:cNvPicPr>
          <p:nvPr/>
        </p:nvPicPr>
        <p:blipFill>
          <a:blip r:embed="rId3"/>
          <a:srcRect l="3148" t="31250" r="10761" b="30208"/>
          <a:stretch>
            <a:fillRect/>
          </a:stretch>
        </p:blipFill>
        <p:spPr bwMode="auto">
          <a:xfrm>
            <a:off x="304800" y="2971800"/>
            <a:ext cx="8458200" cy="2819400"/>
          </a:xfrm>
          <a:prstGeom prst="rect">
            <a:avLst/>
          </a:prstGeom>
          <a:noFill/>
          <a:ln w="9525">
            <a:noFill/>
            <a:miter lim="800000"/>
            <a:headEnd/>
            <a:tailEnd/>
          </a:ln>
          <a:effectLst/>
        </p:spPr>
      </p:pic>
    </p:spTree>
  </p:cSld>
  <p:clrMapOvr>
    <a:masterClrMapping/>
  </p:clrMapOvr>
  <p:transition>
    <p:push/>
  </p:transition>
  <p:timing>
    <p:tnLst>
      <p:par>
        <p:cTn id="1" dur="indefinite" restart="never" nodeType="tmRoot"/>
      </p:par>
    </p:tnLst>
  </p:timing>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914400"/>
            <a:ext cx="8229600" cy="4525963"/>
          </a:xfrm>
        </p:spPr>
        <p:txBody>
          <a:bodyPr>
            <a:normAutofit/>
          </a:bodyPr>
          <a:lstStyle/>
          <a:p>
            <a:pPr marL="739775" indent="-630238">
              <a:buNone/>
            </a:pPr>
            <a:r>
              <a:rPr lang="en-US" sz="3200" dirty="0" smtClean="0"/>
              <a:t>21. One side of a 45° - 45° - 90° triangle measures 5 cm. What is the length of its hypotenuse?</a:t>
            </a:r>
          </a:p>
          <a:p>
            <a:pPr marL="739775" indent="-630238">
              <a:buNone/>
            </a:pPr>
            <a:endParaRPr lang="en-US" sz="3200" dirty="0" smtClean="0"/>
          </a:p>
          <a:p>
            <a:pPr marL="1089025" indent="-349250">
              <a:buFont typeface="+mj-lt"/>
              <a:buAutoNum type="alphaUcPeriod"/>
            </a:pPr>
            <a:r>
              <a:rPr lang="en-US" sz="3200" b="1" dirty="0" smtClean="0"/>
              <a:t>5 √3 cm</a:t>
            </a:r>
          </a:p>
          <a:p>
            <a:pPr marL="1089025" indent="-349250">
              <a:buFont typeface="+mj-lt"/>
              <a:buAutoNum type="alphaUcPeriod"/>
            </a:pPr>
            <a:r>
              <a:rPr lang="en-US" sz="3200" b="1" dirty="0" smtClean="0"/>
              <a:t>5 cm</a:t>
            </a:r>
          </a:p>
          <a:p>
            <a:pPr marL="1089025" indent="-349250">
              <a:buFont typeface="+mj-lt"/>
              <a:buAutoNum type="alphaUcPeriod"/>
            </a:pPr>
            <a:r>
              <a:rPr lang="en-US" sz="3200" b="1" dirty="0" smtClean="0"/>
              <a:t>(5 √3)/2 cm</a:t>
            </a:r>
          </a:p>
          <a:p>
            <a:pPr marL="1089025" indent="-349250">
              <a:buFont typeface="+mj-lt"/>
              <a:buAutoNum type="alphaUcPeriod"/>
            </a:pPr>
            <a:r>
              <a:rPr lang="en-US" sz="3200" b="1" dirty="0" smtClean="0"/>
              <a:t>5√2</a:t>
            </a:r>
          </a:p>
          <a:p>
            <a:pPr>
              <a:buNone/>
            </a:pPr>
            <a:endParaRPr lang="en-US" sz="32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542986" y="47427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2498" name="Picture 2"/>
          <p:cNvPicPr>
            <a:picLocks noChangeAspect="1" noChangeArrowheads="1"/>
          </p:cNvPicPr>
          <p:nvPr/>
        </p:nvPicPr>
        <p:blipFill>
          <a:blip r:embed="rId2"/>
          <a:srcRect l="2928" t="34375" r="12738" b="35417"/>
          <a:stretch>
            <a:fillRect/>
          </a:stretch>
        </p:blipFill>
        <p:spPr bwMode="auto">
          <a:xfrm>
            <a:off x="304800" y="1143000"/>
            <a:ext cx="8610600" cy="4114800"/>
          </a:xfrm>
          <a:prstGeom prst="rect">
            <a:avLst/>
          </a:prstGeom>
          <a:noFill/>
          <a:ln w="9525">
            <a:noFill/>
            <a:miter lim="800000"/>
            <a:headEnd/>
            <a:tailEnd/>
          </a:ln>
          <a:effectLst/>
        </p:spPr>
      </p:pic>
    </p:spTree>
  </p:cSld>
  <p:clrMapOvr>
    <a:masterClrMapping/>
  </p:clrMapOvr>
  <p:transition>
    <p:push/>
  </p:transition>
  <p:timing>
    <p:tnLst>
      <p:par>
        <p:cTn id="1" dur="indefinite" restart="never" nodeType="tmRoot"/>
      </p:par>
    </p:tnLst>
  </p:timing>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1000" y="838200"/>
            <a:ext cx="8229600" cy="4525963"/>
          </a:xfrm>
        </p:spPr>
        <p:txBody>
          <a:bodyPr>
            <a:noAutofit/>
          </a:bodyPr>
          <a:lstStyle/>
          <a:p>
            <a:pPr marL="739775" indent="-630238">
              <a:buNone/>
            </a:pPr>
            <a:r>
              <a:rPr lang="en-US" sz="3200" dirty="0" smtClean="0"/>
              <a:t>22. A retailer buys candies for P37.50. The pack has 25 pieces of candies. If she sells each candy for P2.25, how much profit does she make?</a:t>
            </a:r>
          </a:p>
          <a:p>
            <a:pPr marL="739775" indent="-630238">
              <a:buNone/>
            </a:pPr>
            <a:endParaRPr lang="en-US" sz="3200" dirty="0" smtClean="0"/>
          </a:p>
          <a:p>
            <a:pPr marL="1146175" indent="-406400">
              <a:buFont typeface="+mj-lt"/>
              <a:buAutoNum type="alphaUcPeriod"/>
            </a:pPr>
            <a:r>
              <a:rPr lang="en-US" sz="3200" dirty="0" smtClean="0"/>
              <a:t>P15.50</a:t>
            </a:r>
          </a:p>
          <a:p>
            <a:pPr marL="1146175" indent="-406400">
              <a:buFont typeface="+mj-lt"/>
              <a:buAutoNum type="alphaUcPeriod"/>
            </a:pPr>
            <a:r>
              <a:rPr lang="en-US" sz="3200" dirty="0" smtClean="0"/>
              <a:t>P56.25</a:t>
            </a:r>
          </a:p>
          <a:p>
            <a:pPr marL="1146175" indent="-406400">
              <a:buFont typeface="+mj-lt"/>
              <a:buAutoNum type="alphaUcPeriod"/>
            </a:pPr>
            <a:r>
              <a:rPr lang="en-US" sz="3200" dirty="0" smtClean="0"/>
              <a:t>P37.50</a:t>
            </a:r>
          </a:p>
          <a:p>
            <a:pPr marL="1146175" indent="-406400">
              <a:buFont typeface="+mj-lt"/>
              <a:buAutoNum type="alphaUcPeriod"/>
            </a:pPr>
            <a:r>
              <a:rPr lang="en-US" sz="3200" dirty="0" smtClean="0"/>
              <a:t>P18.75</a:t>
            </a:r>
          </a:p>
          <a:p>
            <a:pPr>
              <a:buNone/>
            </a:pPr>
            <a:endParaRPr lang="en-US" sz="32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466784" y="51237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3522" name="Picture 2"/>
          <p:cNvPicPr>
            <a:picLocks noChangeAspect="1" noChangeArrowheads="1"/>
          </p:cNvPicPr>
          <p:nvPr/>
        </p:nvPicPr>
        <p:blipFill>
          <a:blip r:embed="rId2"/>
          <a:srcRect l="2343" t="43750" r="9810" b="21875"/>
          <a:stretch>
            <a:fillRect/>
          </a:stretch>
        </p:blipFill>
        <p:spPr bwMode="auto">
          <a:xfrm>
            <a:off x="609600" y="965982"/>
            <a:ext cx="8153400" cy="4267200"/>
          </a:xfrm>
          <a:prstGeom prst="rect">
            <a:avLst/>
          </a:prstGeom>
          <a:noFill/>
          <a:ln w="9525">
            <a:noFill/>
            <a:miter lim="800000"/>
            <a:headEnd/>
            <a:tailEnd/>
          </a:ln>
          <a:effectLst/>
        </p:spPr>
      </p:pic>
    </p:spTree>
  </p:cSld>
  <p:clrMapOvr>
    <a:masterClrMapping/>
  </p:clrMapOvr>
  <p:transition>
    <p:push/>
  </p:transition>
  <p:timing>
    <p:tnLst>
      <p:par>
        <p:cTn id="1" dur="indefinite" restart="never" nodeType="tmRoot"/>
      </p:par>
    </p:tnLst>
  </p:timing>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457200"/>
            <a:ext cx="8229600" cy="4525963"/>
          </a:xfrm>
        </p:spPr>
        <p:txBody>
          <a:bodyPr>
            <a:noAutofit/>
          </a:bodyPr>
          <a:lstStyle/>
          <a:p>
            <a:pPr marL="739775" indent="-630238">
              <a:buNone/>
            </a:pPr>
            <a:r>
              <a:rPr lang="en-US" sz="3200" dirty="0" smtClean="0"/>
              <a:t>23. If the width of a rectangle is reduced by 20% and the length is also reduced by 20%, what percent of the original area is the new area of the rectangle?</a:t>
            </a:r>
          </a:p>
          <a:p>
            <a:pPr marL="739775" indent="-630238">
              <a:buNone/>
            </a:pPr>
            <a:endParaRPr lang="en-US" sz="3200" dirty="0" smtClean="0"/>
          </a:p>
          <a:p>
            <a:pPr marL="1146175" indent="-406400">
              <a:buFont typeface="+mj-lt"/>
              <a:buAutoNum type="alphaUcPeriod"/>
            </a:pPr>
            <a:r>
              <a:rPr lang="en-US" sz="3200" dirty="0" smtClean="0"/>
              <a:t>60%</a:t>
            </a:r>
          </a:p>
          <a:p>
            <a:pPr marL="1146175" indent="-406400">
              <a:buFont typeface="+mj-lt"/>
              <a:buAutoNum type="alphaUcPeriod"/>
            </a:pPr>
            <a:r>
              <a:rPr lang="en-US" sz="3200" dirty="0" smtClean="0"/>
              <a:t>64%</a:t>
            </a:r>
          </a:p>
          <a:p>
            <a:pPr marL="1146175" indent="-406400">
              <a:buFont typeface="+mj-lt"/>
              <a:buAutoNum type="alphaUcPeriod"/>
            </a:pPr>
            <a:r>
              <a:rPr lang="en-US" sz="3200" dirty="0" smtClean="0"/>
              <a:t>80%</a:t>
            </a:r>
          </a:p>
          <a:p>
            <a:pPr marL="1146175" indent="-406400">
              <a:buFont typeface="+mj-lt"/>
              <a:buAutoNum type="alphaUcPeriod"/>
            </a:pPr>
            <a:r>
              <a:rPr lang="en-US" sz="3200" dirty="0" smtClean="0"/>
              <a:t>36%</a:t>
            </a:r>
          </a:p>
          <a:p>
            <a:pPr>
              <a:buNone/>
            </a:pPr>
            <a:endParaRPr lang="en-US" sz="32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466786" y="4209374"/>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buNone/>
            </a:pPr>
            <a:r>
              <a:rPr lang="en-US" sz="3600" dirty="0" smtClean="0"/>
              <a:t>Given: w</a:t>
            </a:r>
            <a:r>
              <a:rPr lang="en-US" sz="3600" baseline="-25000" dirty="0" smtClean="0"/>
              <a:t>2</a:t>
            </a:r>
            <a:r>
              <a:rPr lang="en-US" sz="3600" dirty="0" smtClean="0"/>
              <a:t> = 0.8 w</a:t>
            </a:r>
            <a:r>
              <a:rPr lang="en-US" sz="3600" baseline="-25000" dirty="0" smtClean="0"/>
              <a:t>1</a:t>
            </a:r>
            <a:r>
              <a:rPr lang="en-US" sz="3600" dirty="0" smtClean="0"/>
              <a:t> ; l</a:t>
            </a:r>
            <a:r>
              <a:rPr lang="en-US" sz="3600" baseline="-25000" dirty="0" smtClean="0"/>
              <a:t>2</a:t>
            </a:r>
            <a:r>
              <a:rPr lang="en-US" sz="3600" dirty="0" smtClean="0"/>
              <a:t> = 0.8l</a:t>
            </a:r>
            <a:r>
              <a:rPr lang="en-US" sz="3600" baseline="-25000" dirty="0" smtClean="0"/>
              <a:t>1</a:t>
            </a:r>
            <a:r>
              <a:rPr lang="en-US" sz="3600" dirty="0" smtClean="0"/>
              <a:t> </a:t>
            </a:r>
            <a:endParaRPr lang="en-US" sz="3600" baseline="-25000" dirty="0" smtClean="0"/>
          </a:p>
          <a:p>
            <a:pPr>
              <a:buNone/>
            </a:pPr>
            <a:r>
              <a:rPr lang="en-US" sz="3600" baseline="-25000" dirty="0" smtClean="0"/>
              <a:t>	 </a:t>
            </a:r>
            <a:r>
              <a:rPr lang="en-US" sz="3600" dirty="0" smtClean="0"/>
              <a:t>        A</a:t>
            </a:r>
            <a:r>
              <a:rPr lang="en-US" sz="3600" baseline="-25000" dirty="0" smtClean="0"/>
              <a:t>1</a:t>
            </a:r>
            <a:r>
              <a:rPr lang="en-US" sz="3600" dirty="0" smtClean="0"/>
              <a:t> = l</a:t>
            </a:r>
            <a:r>
              <a:rPr lang="en-US" sz="3600" baseline="-25000" dirty="0" smtClean="0"/>
              <a:t>1</a:t>
            </a:r>
            <a:r>
              <a:rPr lang="en-US" sz="3600" dirty="0" smtClean="0"/>
              <a:t>w</a:t>
            </a:r>
            <a:r>
              <a:rPr lang="en-US" sz="3600" baseline="-25000" dirty="0" smtClean="0"/>
              <a:t>1	</a:t>
            </a:r>
          </a:p>
          <a:p>
            <a:pPr>
              <a:buNone/>
            </a:pPr>
            <a:r>
              <a:rPr lang="en-US" sz="3600" dirty="0" smtClean="0"/>
              <a:t>           A</a:t>
            </a:r>
            <a:r>
              <a:rPr lang="en-US" sz="3600" baseline="-25000" dirty="0" smtClean="0"/>
              <a:t>2</a:t>
            </a:r>
            <a:r>
              <a:rPr lang="en-US" sz="3600" dirty="0" smtClean="0"/>
              <a:t> = l</a:t>
            </a:r>
            <a:r>
              <a:rPr lang="en-US" sz="3600" baseline="-25000" dirty="0" smtClean="0"/>
              <a:t>2</a:t>
            </a:r>
            <a:r>
              <a:rPr lang="en-US" sz="3600" dirty="0" smtClean="0"/>
              <a:t>w</a:t>
            </a:r>
            <a:r>
              <a:rPr lang="en-US" sz="3600" baseline="-25000" dirty="0" smtClean="0"/>
              <a:t>2</a:t>
            </a:r>
            <a:r>
              <a:rPr lang="en-US" sz="3600" dirty="0" smtClean="0"/>
              <a:t> = (0.8w</a:t>
            </a:r>
            <a:r>
              <a:rPr lang="en-US" sz="3600" baseline="-25000" dirty="0" smtClean="0"/>
              <a:t>1</a:t>
            </a:r>
            <a:r>
              <a:rPr lang="en-US" sz="3600" dirty="0" smtClean="0"/>
              <a:t>)(0.8 w</a:t>
            </a:r>
            <a:r>
              <a:rPr lang="en-US" sz="3600" baseline="-25000" dirty="0" smtClean="0"/>
              <a:t>1</a:t>
            </a:r>
            <a:r>
              <a:rPr lang="en-US" sz="3600" dirty="0" smtClean="0"/>
              <a:t>) </a:t>
            </a:r>
          </a:p>
          <a:p>
            <a:pPr>
              <a:buNone/>
            </a:pPr>
            <a:r>
              <a:rPr lang="en-US" sz="3600" dirty="0" smtClean="0"/>
              <a:t> </a:t>
            </a:r>
          </a:p>
          <a:p>
            <a:pPr>
              <a:buNone/>
            </a:pPr>
            <a:r>
              <a:rPr lang="en-US" sz="3600" dirty="0" smtClean="0"/>
              <a:t>A</a:t>
            </a:r>
            <a:r>
              <a:rPr lang="en-US" sz="3600" baseline="-25000" dirty="0" smtClean="0"/>
              <a:t>2</a:t>
            </a:r>
            <a:r>
              <a:rPr lang="en-US" sz="3600" dirty="0" smtClean="0"/>
              <a:t> = 0.64l</a:t>
            </a:r>
            <a:r>
              <a:rPr lang="en-US" sz="3600" baseline="-25000" dirty="0" smtClean="0"/>
              <a:t>1</a:t>
            </a:r>
            <a:r>
              <a:rPr lang="en-US" sz="3600" dirty="0" smtClean="0"/>
              <a:t>w</a:t>
            </a:r>
            <a:r>
              <a:rPr lang="en-US" sz="3600" baseline="-25000" dirty="0" smtClean="0"/>
              <a:t>1</a:t>
            </a:r>
            <a:r>
              <a:rPr lang="en-US" sz="3600" dirty="0" smtClean="0"/>
              <a:t> = 0.64 A</a:t>
            </a:r>
            <a:r>
              <a:rPr lang="en-US" sz="3600" baseline="-25000" dirty="0" smtClean="0"/>
              <a:t>1</a:t>
            </a:r>
            <a:endParaRPr lang="en-US" sz="3600" dirty="0" smtClean="0"/>
          </a:p>
          <a:p>
            <a:pPr>
              <a:buNone/>
            </a:pPr>
            <a:r>
              <a:rPr lang="en-US" sz="3600" dirty="0" smtClean="0">
                <a:solidFill>
                  <a:srgbClr val="FF0000"/>
                </a:solidFill>
              </a:rPr>
              <a:t>A</a:t>
            </a:r>
            <a:r>
              <a:rPr lang="en-US" sz="3600" baseline="-25000" dirty="0" smtClean="0">
                <a:solidFill>
                  <a:srgbClr val="FF0000"/>
                </a:solidFill>
              </a:rPr>
              <a:t>2</a:t>
            </a:r>
            <a:r>
              <a:rPr lang="en-US" sz="3600" dirty="0" smtClean="0">
                <a:solidFill>
                  <a:srgbClr val="FF0000"/>
                </a:solidFill>
              </a:rPr>
              <a:t> = 0.64 A</a:t>
            </a:r>
            <a:r>
              <a:rPr lang="en-US" sz="3600" baseline="-25000" dirty="0" smtClean="0">
                <a:solidFill>
                  <a:srgbClr val="FF0000"/>
                </a:solidFill>
              </a:rPr>
              <a:t>1</a:t>
            </a:r>
            <a:endParaRPr lang="en-US" sz="3600" dirty="0" smtClean="0">
              <a:solidFill>
                <a:srgbClr val="FF0000"/>
              </a:solidFill>
            </a:endParaRPr>
          </a:p>
          <a:p>
            <a:pPr>
              <a:buNone/>
            </a:pPr>
            <a:endParaRPr lang="en-US" sz="3600" dirty="0"/>
          </a:p>
        </p:txBody>
      </p:sp>
    </p:spTree>
  </p:cSld>
  <p:clrMapOvr>
    <a:masterClrMapping/>
  </p:clrMapOvr>
  <p:transition>
    <p:push/>
  </p:transition>
  <p:timing>
    <p:tnLst>
      <p:par>
        <p:cTn id="1" dur="indefinite" restart="never" nodeType="tmRoot"/>
      </p:par>
    </p:tnLst>
  </p:timing>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762000"/>
            <a:ext cx="8229600" cy="4525963"/>
          </a:xfrm>
        </p:spPr>
        <p:txBody>
          <a:bodyPr>
            <a:noAutofit/>
          </a:bodyPr>
          <a:lstStyle/>
          <a:p>
            <a:pPr>
              <a:buNone/>
            </a:pPr>
            <a:r>
              <a:rPr lang="en-US" sz="3200" dirty="0" smtClean="0"/>
              <a:t>24. Which of these has the longest perimeter?</a:t>
            </a:r>
          </a:p>
          <a:p>
            <a:pPr>
              <a:buNone/>
            </a:pPr>
            <a:endParaRPr lang="en-US" sz="3200" dirty="0" smtClean="0"/>
          </a:p>
          <a:p>
            <a:pPr marL="1030288" indent="-290513">
              <a:buFont typeface="+mj-lt"/>
              <a:buAutoNum type="alphaUcPeriod"/>
            </a:pPr>
            <a:r>
              <a:rPr lang="en-US" sz="3200" dirty="0" smtClean="0"/>
              <a:t>A square 21 cm on a side</a:t>
            </a:r>
          </a:p>
          <a:p>
            <a:pPr marL="1030288" indent="-290513">
              <a:buFont typeface="+mj-lt"/>
              <a:buAutoNum type="alphaUcPeriod"/>
            </a:pPr>
            <a:r>
              <a:rPr lang="en-US" sz="3200" dirty="0" smtClean="0"/>
              <a:t>A rectangle 19 cm long and 24 cm wide</a:t>
            </a:r>
          </a:p>
          <a:p>
            <a:pPr marL="1030288" indent="-290513">
              <a:buFont typeface="+mj-lt"/>
              <a:buAutoNum type="alphaUcPeriod"/>
            </a:pPr>
            <a:r>
              <a:rPr lang="en-US" sz="3200" dirty="0" smtClean="0"/>
              <a:t>An equilateral triangle whose side is 28 cm</a:t>
            </a:r>
          </a:p>
          <a:p>
            <a:pPr marL="1030288" indent="-290513">
              <a:buFont typeface="+mj-lt"/>
              <a:buAutoNum type="alphaUcPeriod"/>
            </a:pPr>
            <a:r>
              <a:rPr lang="en-US" sz="3200" dirty="0" smtClean="0"/>
              <a:t>A right triangle whose two legs are 24cm and 32 cm</a:t>
            </a:r>
          </a:p>
          <a:p>
            <a:pPr>
              <a:buNone/>
            </a:pPr>
            <a:endParaRPr lang="en-US" sz="32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542985" y="51999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4546" name="Picture 2"/>
          <p:cNvPicPr>
            <a:picLocks noChangeAspect="1" noChangeArrowheads="1"/>
          </p:cNvPicPr>
          <p:nvPr/>
        </p:nvPicPr>
        <p:blipFill>
          <a:blip r:embed="rId2"/>
          <a:srcRect l="2928" t="30208" r="10981" b="21875"/>
          <a:stretch>
            <a:fillRect/>
          </a:stretch>
        </p:blipFill>
        <p:spPr bwMode="auto">
          <a:xfrm>
            <a:off x="381000" y="914400"/>
            <a:ext cx="8382000" cy="4876800"/>
          </a:xfrm>
          <a:prstGeom prst="rect">
            <a:avLst/>
          </a:prstGeom>
          <a:noFill/>
          <a:ln w="9525">
            <a:noFill/>
            <a:miter lim="800000"/>
            <a:headEnd/>
            <a:tailEnd/>
          </a:ln>
          <a:effectLst/>
        </p:spPr>
      </p:pic>
    </p:spTree>
  </p:cSld>
  <p:clrMapOvr>
    <a:masterClrMapping/>
  </p:clrMapOvr>
  <p:transition>
    <p:push/>
  </p:transition>
  <p:timing>
    <p:tnLst>
      <p:par>
        <p:cTn id="1" dur="indefinite" restart="never" nodeType="tmRoot"/>
      </p:par>
    </p:tnLst>
  </p:timing>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457200"/>
            <a:ext cx="8229600" cy="4525963"/>
          </a:xfrm>
        </p:spPr>
        <p:txBody>
          <a:bodyPr>
            <a:noAutofit/>
          </a:bodyPr>
          <a:lstStyle/>
          <a:p>
            <a:pPr marL="739775" indent="-630238">
              <a:buNone/>
            </a:pPr>
            <a:r>
              <a:rPr lang="en-US" sz="3200" dirty="0" smtClean="0"/>
              <a:t>25. The legs of one right triangle are 9 and 12, while those of another right triangle are 12 and 16. How much longer is the perimeter of the larger triangle than the perimeter of the smaller triangle?</a:t>
            </a:r>
          </a:p>
          <a:p>
            <a:pPr marL="739775" indent="-630238">
              <a:buNone/>
            </a:pPr>
            <a:endParaRPr lang="en-US" sz="3200" dirty="0" smtClean="0"/>
          </a:p>
          <a:p>
            <a:pPr marL="1030288" indent="-290513">
              <a:buFont typeface="+mj-lt"/>
              <a:buAutoNum type="alphaUcPeriod"/>
            </a:pPr>
            <a:r>
              <a:rPr lang="en-US" sz="3200" dirty="0" smtClean="0"/>
              <a:t>84</a:t>
            </a:r>
          </a:p>
          <a:p>
            <a:pPr marL="1030288" indent="-290513">
              <a:buFont typeface="+mj-lt"/>
              <a:buAutoNum type="alphaUcPeriod"/>
            </a:pPr>
            <a:r>
              <a:rPr lang="en-US" sz="3200" dirty="0" smtClean="0"/>
              <a:t>7</a:t>
            </a:r>
          </a:p>
          <a:p>
            <a:pPr marL="1030288" indent="-290513">
              <a:buFont typeface="+mj-lt"/>
              <a:buAutoNum type="alphaUcPeriod"/>
            </a:pPr>
            <a:r>
              <a:rPr lang="en-US" sz="3200" dirty="0" smtClean="0"/>
              <a:t>12</a:t>
            </a:r>
          </a:p>
          <a:p>
            <a:pPr marL="1030288" indent="-290513">
              <a:buFont typeface="+mj-lt"/>
              <a:buAutoNum type="alphaUcPeriod"/>
            </a:pPr>
            <a:r>
              <a:rPr lang="en-US" sz="3200" dirty="0" smtClean="0"/>
              <a:t>14</a:t>
            </a:r>
          </a:p>
          <a:p>
            <a:pPr>
              <a:buNone/>
            </a:pPr>
            <a:endParaRPr lang="en-US" sz="32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542985" y="5276174"/>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5570" name="Picture 2"/>
          <p:cNvPicPr>
            <a:picLocks noChangeAspect="1" noChangeArrowheads="1"/>
          </p:cNvPicPr>
          <p:nvPr/>
        </p:nvPicPr>
        <p:blipFill>
          <a:blip r:embed="rId2"/>
          <a:srcRect l="1757" t="36458" r="9224" b="14583"/>
          <a:stretch>
            <a:fillRect/>
          </a:stretch>
        </p:blipFill>
        <p:spPr bwMode="auto">
          <a:xfrm>
            <a:off x="228600" y="914400"/>
            <a:ext cx="8534400" cy="4724400"/>
          </a:xfrm>
          <a:prstGeom prst="rect">
            <a:avLst/>
          </a:prstGeom>
          <a:noFill/>
          <a:ln w="9525">
            <a:noFill/>
            <a:miter lim="800000"/>
            <a:headEnd/>
            <a:tailEnd/>
          </a:ln>
          <a:effectLst/>
        </p:spPr>
      </p:pic>
    </p:spTree>
  </p:cSld>
  <p:clrMapOvr>
    <a:masterClrMapping/>
  </p:clrMapOvr>
  <p:transition>
    <p:push/>
  </p:transition>
  <p:timing>
    <p:tnLst>
      <p:par>
        <p:cTn id="1" dur="indefinite" restart="never" nodeType="tmRoot"/>
      </p:par>
    </p:tnLst>
  </p:timing>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609600"/>
            <a:ext cx="8229600" cy="4525963"/>
          </a:xfrm>
        </p:spPr>
        <p:txBody>
          <a:bodyPr>
            <a:noAutofit/>
          </a:bodyPr>
          <a:lstStyle/>
          <a:p>
            <a:pPr marL="739775" indent="-630238">
              <a:buNone/>
            </a:pPr>
            <a:r>
              <a:rPr lang="en-US" sz="2800" dirty="0" smtClean="0"/>
              <a:t>26. On a certain day, three computer technicians took turns in manning a 24-hour internet shop. The number of hours Cesar, Bert, and Danny were on duty was in the ratio 1:2:3, respectively. The shop owner pays them P40 per hour. How much would Danny receive for that day?</a:t>
            </a:r>
          </a:p>
          <a:p>
            <a:pPr marL="739775" indent="-630238">
              <a:buNone/>
            </a:pPr>
            <a:endParaRPr lang="en-US" sz="2800" dirty="0" smtClean="0"/>
          </a:p>
          <a:p>
            <a:pPr marL="1089025" indent="-349250">
              <a:buFont typeface="+mj-lt"/>
              <a:buAutoNum type="alphaUcPeriod"/>
            </a:pPr>
            <a:r>
              <a:rPr lang="en-US" sz="2800" dirty="0" smtClean="0"/>
              <a:t>P 230</a:t>
            </a:r>
          </a:p>
          <a:p>
            <a:pPr marL="1089025" indent="-349250">
              <a:buFont typeface="+mj-lt"/>
              <a:buAutoNum type="alphaUcPeriod"/>
            </a:pPr>
            <a:r>
              <a:rPr lang="en-US" sz="2800" dirty="0" smtClean="0"/>
              <a:t>P 960</a:t>
            </a:r>
          </a:p>
          <a:p>
            <a:pPr marL="1089025" indent="-349250">
              <a:buFont typeface="+mj-lt"/>
              <a:buAutoNum type="alphaUcPeriod"/>
            </a:pPr>
            <a:r>
              <a:rPr lang="en-US" sz="2800" dirty="0" smtClean="0"/>
              <a:t>P 160</a:t>
            </a:r>
          </a:p>
          <a:p>
            <a:pPr marL="1089025" indent="-349250">
              <a:buFont typeface="+mj-lt"/>
              <a:buAutoNum type="alphaUcPeriod"/>
            </a:pPr>
            <a:r>
              <a:rPr lang="en-US" sz="2800" dirty="0" smtClean="0"/>
              <a:t>P 480</a:t>
            </a:r>
          </a:p>
          <a:p>
            <a:pPr>
              <a:buNone/>
            </a:pPr>
            <a:endParaRPr lang="en-US" sz="28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542986" y="56571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6594" name="Picture 2"/>
          <p:cNvPicPr>
            <a:picLocks noChangeAspect="1" noChangeArrowheads="1"/>
          </p:cNvPicPr>
          <p:nvPr/>
        </p:nvPicPr>
        <p:blipFill>
          <a:blip r:embed="rId2"/>
          <a:srcRect l="2343" t="37500" r="10981" b="32292"/>
          <a:stretch>
            <a:fillRect/>
          </a:stretch>
        </p:blipFill>
        <p:spPr bwMode="auto">
          <a:xfrm>
            <a:off x="228600" y="1066800"/>
            <a:ext cx="8610600" cy="4267200"/>
          </a:xfrm>
          <a:prstGeom prst="rect">
            <a:avLst/>
          </a:prstGeom>
          <a:noFill/>
          <a:ln w="9525">
            <a:noFill/>
            <a:miter lim="800000"/>
            <a:headEnd/>
            <a:tailEnd/>
          </a:ln>
          <a:effectLst/>
        </p:spPr>
      </p:pic>
    </p:spTree>
  </p:cSld>
  <p:clrMapOvr>
    <a:masterClrMapping/>
  </p:clrMapOvr>
  <p:transition>
    <p:push/>
  </p:transition>
  <p:timing>
    <p:tnLst>
      <p:par>
        <p:cTn id="1" dur="indefinite" restart="never" nodeType="tmRoot"/>
      </p:par>
    </p:tnLst>
  </p:timing>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609600"/>
            <a:ext cx="8229600" cy="4525963"/>
          </a:xfrm>
        </p:spPr>
        <p:txBody>
          <a:bodyPr>
            <a:noAutofit/>
          </a:bodyPr>
          <a:lstStyle/>
          <a:p>
            <a:pPr marL="739775" indent="-630238">
              <a:buNone/>
            </a:pPr>
            <a:r>
              <a:rPr lang="en-US" sz="3200" dirty="0" smtClean="0"/>
              <a:t>27. Ruben’s grades in 6 subjects are 88, 89, 87, 90, 91 and 86? What is the least grade that he should aim for in the 7</a:t>
            </a:r>
            <a:r>
              <a:rPr lang="en-US" sz="3200" baseline="30000" dirty="0" smtClean="0"/>
              <a:t>th</a:t>
            </a:r>
            <a:r>
              <a:rPr lang="en-US" sz="3200" dirty="0" smtClean="0"/>
              <a:t> subject if he has to have an average of 88?</a:t>
            </a:r>
          </a:p>
          <a:p>
            <a:pPr marL="739775" indent="-630238">
              <a:buNone/>
            </a:pPr>
            <a:endParaRPr lang="en-US" sz="3200" dirty="0" smtClean="0"/>
          </a:p>
          <a:p>
            <a:pPr marL="1030288" indent="-290513">
              <a:buFont typeface="+mj-lt"/>
              <a:buAutoNum type="alphaUcPeriod"/>
            </a:pPr>
            <a:r>
              <a:rPr lang="en-US" sz="3200" dirty="0" smtClean="0"/>
              <a:t>92</a:t>
            </a:r>
          </a:p>
          <a:p>
            <a:pPr marL="1030288" indent="-290513">
              <a:buFont typeface="+mj-lt"/>
              <a:buAutoNum type="alphaUcPeriod"/>
            </a:pPr>
            <a:r>
              <a:rPr lang="en-US" sz="3200" dirty="0" smtClean="0"/>
              <a:t>90</a:t>
            </a:r>
          </a:p>
          <a:p>
            <a:pPr marL="1030288" indent="-290513">
              <a:buFont typeface="+mj-lt"/>
              <a:buAutoNum type="alphaUcPeriod"/>
            </a:pPr>
            <a:r>
              <a:rPr lang="en-US" sz="3200" dirty="0" smtClean="0"/>
              <a:t>88</a:t>
            </a:r>
          </a:p>
          <a:p>
            <a:pPr marL="1030288" indent="-290513">
              <a:buFont typeface="+mj-lt"/>
              <a:buAutoNum type="alphaUcPeriod"/>
            </a:pPr>
            <a:r>
              <a:rPr lang="en-US" sz="3200" dirty="0" smtClean="0"/>
              <a:t>85</a:t>
            </a:r>
          </a:p>
          <a:p>
            <a:pPr>
              <a:buNone/>
            </a:pPr>
            <a:endParaRPr lang="en-US" sz="32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542985" y="54285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7618" name="Picture 2"/>
          <p:cNvPicPr>
            <a:picLocks noChangeAspect="1" noChangeArrowheads="1"/>
          </p:cNvPicPr>
          <p:nvPr/>
        </p:nvPicPr>
        <p:blipFill>
          <a:blip r:embed="rId2"/>
          <a:srcRect l="2343" t="43750" r="9224" b="28125"/>
          <a:stretch>
            <a:fillRect/>
          </a:stretch>
        </p:blipFill>
        <p:spPr bwMode="auto">
          <a:xfrm>
            <a:off x="228600" y="1371600"/>
            <a:ext cx="8686800" cy="3810000"/>
          </a:xfrm>
          <a:prstGeom prst="rect">
            <a:avLst/>
          </a:prstGeom>
          <a:noFill/>
          <a:ln w="9525">
            <a:noFill/>
            <a:miter lim="800000"/>
            <a:headEnd/>
            <a:tailEnd/>
          </a:ln>
          <a:effectLst/>
        </p:spPr>
      </p:pic>
    </p:spTree>
  </p:cSld>
  <p:clrMapOvr>
    <a:masterClrMapping/>
  </p:clrMapOvr>
  <p:transition>
    <p:push/>
  </p:transition>
  <p:timing>
    <p:tnLst>
      <p:par>
        <p:cTn id="1" dur="indefinite" restart="never" nodeType="tmRoot"/>
      </p:par>
    </p:tnLst>
  </p:timing>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914400"/>
            <a:ext cx="8229600" cy="4724400"/>
          </a:xfrm>
        </p:spPr>
        <p:txBody>
          <a:bodyPr>
            <a:normAutofit lnSpcReduction="10000"/>
          </a:bodyPr>
          <a:lstStyle/>
          <a:p>
            <a:pPr marL="739775" indent="-630238">
              <a:buNone/>
            </a:pPr>
            <a:r>
              <a:rPr lang="en-US" sz="3200" dirty="0" smtClean="0"/>
              <a:t>28. In a certain school, the ratio of boys to girls is 3 is to 7. If there are 150 boys and girls in the school, how many boys are there?</a:t>
            </a:r>
          </a:p>
          <a:p>
            <a:pPr marL="739775" indent="-630238">
              <a:buNone/>
            </a:pPr>
            <a:endParaRPr lang="en-US" sz="3200" dirty="0" smtClean="0"/>
          </a:p>
          <a:p>
            <a:pPr marL="1030288" indent="-290513">
              <a:buFont typeface="+mj-lt"/>
              <a:buAutoNum type="alphaUcPeriod"/>
            </a:pPr>
            <a:r>
              <a:rPr lang="en-US" sz="3200" dirty="0" smtClean="0"/>
              <a:t>105</a:t>
            </a:r>
          </a:p>
          <a:p>
            <a:pPr marL="1030288" indent="-290513">
              <a:buFont typeface="+mj-lt"/>
              <a:buAutoNum type="alphaUcPeriod"/>
            </a:pPr>
            <a:r>
              <a:rPr lang="en-US" sz="3200" dirty="0" smtClean="0"/>
              <a:t>90</a:t>
            </a:r>
          </a:p>
          <a:p>
            <a:pPr marL="1030288" indent="-290513">
              <a:buFont typeface="+mj-lt"/>
              <a:buAutoNum type="alphaUcPeriod"/>
            </a:pPr>
            <a:r>
              <a:rPr lang="en-US" sz="3200" dirty="0" smtClean="0"/>
              <a:t>45</a:t>
            </a:r>
          </a:p>
          <a:p>
            <a:pPr marL="1030288" indent="-290513">
              <a:buFont typeface="+mj-lt"/>
              <a:buAutoNum type="alphaUcPeriod"/>
            </a:pPr>
            <a:r>
              <a:rPr lang="en-US" sz="3200" dirty="0" smtClean="0"/>
              <a:t>75</a:t>
            </a:r>
          </a:p>
          <a:p>
            <a:pPr>
              <a:buNone/>
            </a:pPr>
            <a:endParaRPr lang="en-US" sz="32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466785" y="43617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42" name="Picture 2"/>
          <p:cNvPicPr>
            <a:picLocks noChangeAspect="1" noChangeArrowheads="1"/>
          </p:cNvPicPr>
          <p:nvPr/>
        </p:nvPicPr>
        <p:blipFill>
          <a:blip r:embed="rId2"/>
          <a:srcRect l="2343" t="42283" r="9810" b="28125"/>
          <a:stretch>
            <a:fillRect/>
          </a:stretch>
        </p:blipFill>
        <p:spPr bwMode="auto">
          <a:xfrm>
            <a:off x="304800" y="1524000"/>
            <a:ext cx="8534400" cy="3657600"/>
          </a:xfrm>
          <a:prstGeom prst="rect">
            <a:avLst/>
          </a:prstGeom>
          <a:noFill/>
          <a:ln w="9525">
            <a:noFill/>
            <a:miter lim="800000"/>
            <a:headEnd/>
            <a:tailEnd/>
          </a:ln>
          <a:effectLst/>
        </p:spPr>
      </p:pic>
    </p:spTree>
  </p:cSld>
  <p:clrMapOvr>
    <a:masterClrMapping/>
  </p:clrMapOvr>
  <p:transition>
    <p:push/>
  </p:transition>
  <p:timing>
    <p:tnLst>
      <p:par>
        <p:cTn id="1" dur="indefinite" restart="never" nodeType="tmRoot"/>
      </p:par>
    </p:tnLst>
  </p:timing>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762000"/>
            <a:ext cx="8229600" cy="4525963"/>
          </a:xfrm>
        </p:spPr>
        <p:txBody>
          <a:bodyPr>
            <a:normAutofit/>
          </a:bodyPr>
          <a:lstStyle/>
          <a:p>
            <a:pPr marL="739775" indent="-630238">
              <a:buNone/>
            </a:pPr>
            <a:r>
              <a:rPr lang="en-US" sz="3200" dirty="0" smtClean="0"/>
              <a:t>29. A water tank contains 8 liters when it is 20% full. How many liters does it contain when 75% full?</a:t>
            </a:r>
          </a:p>
          <a:p>
            <a:pPr marL="739775" indent="-630238">
              <a:buNone/>
            </a:pPr>
            <a:endParaRPr lang="en-US" sz="3200" dirty="0" smtClean="0"/>
          </a:p>
          <a:p>
            <a:pPr marL="1030288" indent="-290513">
              <a:buFont typeface="+mj-lt"/>
              <a:buAutoNum type="alphaUcPeriod"/>
            </a:pPr>
            <a:r>
              <a:rPr lang="en-US" sz="3200" dirty="0" smtClean="0"/>
              <a:t>60</a:t>
            </a:r>
          </a:p>
          <a:p>
            <a:pPr marL="1030288" indent="-290513">
              <a:buFont typeface="+mj-lt"/>
              <a:buAutoNum type="alphaUcPeriod"/>
            </a:pPr>
            <a:r>
              <a:rPr lang="en-US" sz="3200" dirty="0" smtClean="0"/>
              <a:t>30</a:t>
            </a:r>
          </a:p>
          <a:p>
            <a:pPr marL="1030288" indent="-290513">
              <a:buFont typeface="+mj-lt"/>
              <a:buAutoNum type="alphaUcPeriod"/>
            </a:pPr>
            <a:r>
              <a:rPr lang="en-US" sz="3200" dirty="0" smtClean="0"/>
              <a:t>58</a:t>
            </a:r>
          </a:p>
          <a:p>
            <a:pPr marL="1030288" indent="-290513">
              <a:buFont typeface="+mj-lt"/>
              <a:buAutoNum type="alphaUcPeriod"/>
            </a:pPr>
            <a:r>
              <a:rPr lang="en-US" sz="3200" dirty="0" smtClean="0"/>
              <a:t>15</a:t>
            </a:r>
            <a:endParaRPr lang="en-US" sz="32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466786" y="35235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9666" name="Picture 2"/>
          <p:cNvPicPr>
            <a:picLocks noChangeAspect="1" noChangeArrowheads="1"/>
          </p:cNvPicPr>
          <p:nvPr/>
        </p:nvPicPr>
        <p:blipFill>
          <a:blip r:embed="rId2"/>
          <a:srcRect l="2928" t="47917" r="37921" b="26042"/>
          <a:stretch>
            <a:fillRect/>
          </a:stretch>
        </p:blipFill>
        <p:spPr bwMode="auto">
          <a:xfrm>
            <a:off x="762000" y="1295400"/>
            <a:ext cx="7696200" cy="3429000"/>
          </a:xfrm>
          <a:prstGeom prst="rect">
            <a:avLst/>
          </a:prstGeom>
          <a:noFill/>
          <a:ln w="9525">
            <a:noFill/>
            <a:miter lim="800000"/>
            <a:headEnd/>
            <a:tailEnd/>
          </a:ln>
          <a:effectLst/>
        </p:spPr>
      </p:pic>
    </p:spTree>
  </p:cSld>
  <p:clrMapOvr>
    <a:masterClrMapping/>
  </p:clrMapOvr>
  <p:transition>
    <p:push/>
  </p:transition>
  <p:timing>
    <p:tnLst>
      <p:par>
        <p:cTn id="1" dur="indefinite" restart="never" nodeType="tmRoot"/>
      </p:par>
    </p:tnLst>
  </p:timing>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600" y="990600"/>
            <a:ext cx="8229600" cy="4525963"/>
          </a:xfrm>
        </p:spPr>
        <p:txBody>
          <a:bodyPr>
            <a:normAutofit/>
          </a:bodyPr>
          <a:lstStyle/>
          <a:p>
            <a:pPr marL="739775" indent="-630238">
              <a:buNone/>
            </a:pPr>
            <a:r>
              <a:rPr lang="en-US" sz="3200" dirty="0" smtClean="0"/>
              <a:t>30. Which of the following has the largest value?</a:t>
            </a:r>
          </a:p>
          <a:p>
            <a:pPr marL="739775" indent="-630238">
              <a:buNone/>
            </a:pPr>
            <a:endParaRPr lang="en-US" sz="3200" dirty="0" smtClean="0"/>
          </a:p>
          <a:p>
            <a:pPr marL="1030288" indent="-290513">
              <a:buFont typeface="+mj-lt"/>
              <a:buAutoNum type="alphaUcPeriod"/>
            </a:pPr>
            <a:r>
              <a:rPr lang="en-US" sz="3200" dirty="0" smtClean="0"/>
              <a:t>7</a:t>
            </a:r>
            <a:r>
              <a:rPr lang="en-US" sz="3200" baseline="30000" dirty="0" smtClean="0"/>
              <a:t>5</a:t>
            </a:r>
          </a:p>
          <a:p>
            <a:pPr marL="1030288" indent="-290513">
              <a:buFont typeface="+mj-lt"/>
              <a:buAutoNum type="alphaUcPeriod"/>
            </a:pPr>
            <a:r>
              <a:rPr lang="en-US" sz="3200" dirty="0" smtClean="0"/>
              <a:t>3</a:t>
            </a:r>
            <a:r>
              <a:rPr lang="en-US" sz="3200" baseline="30000" dirty="0" smtClean="0"/>
              <a:t>9</a:t>
            </a:r>
          </a:p>
          <a:p>
            <a:pPr marL="1030288" indent="-290513">
              <a:buFont typeface="+mj-lt"/>
              <a:buAutoNum type="alphaUcPeriod"/>
            </a:pPr>
            <a:r>
              <a:rPr lang="en-US" sz="3200" dirty="0" smtClean="0"/>
              <a:t>6</a:t>
            </a:r>
            <a:r>
              <a:rPr lang="en-US" sz="3200" baseline="30000" dirty="0" smtClean="0"/>
              <a:t>4</a:t>
            </a:r>
          </a:p>
          <a:p>
            <a:pPr marL="1030288" indent="-290513">
              <a:buFont typeface="+mj-lt"/>
              <a:buAutoNum type="alphaUcPeriod"/>
            </a:pPr>
            <a:r>
              <a:rPr lang="en-US" sz="3200" dirty="0" smtClean="0"/>
              <a:t>9</a:t>
            </a:r>
            <a:r>
              <a:rPr lang="en-US" sz="3200" baseline="30000" dirty="0" smtClean="0"/>
              <a:t>3</a:t>
            </a:r>
            <a:endParaRPr lang="en-US" sz="3200" dirty="0" smtClean="0"/>
          </a:p>
          <a:p>
            <a:pPr>
              <a:buNone/>
            </a:pPr>
            <a:endParaRPr lang="en-US" sz="32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695385" y="3294974"/>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219200"/>
            <a:ext cx="8229600" cy="4525963"/>
          </a:xfrm>
        </p:spPr>
        <p:txBody>
          <a:bodyPr>
            <a:normAutofit/>
          </a:bodyPr>
          <a:lstStyle/>
          <a:p>
            <a:pPr>
              <a:buNone/>
            </a:pPr>
            <a:r>
              <a:rPr lang="en-US" sz="4400" b="1" i="1" dirty="0" smtClean="0"/>
              <a:t> </a:t>
            </a:r>
            <a:endParaRPr lang="en-US" sz="4400" dirty="0" smtClean="0"/>
          </a:p>
          <a:p>
            <a:pPr lvl="0">
              <a:buNone/>
            </a:pPr>
            <a:r>
              <a:rPr lang="en-US" sz="4400" dirty="0" smtClean="0"/>
              <a:t>7</a:t>
            </a:r>
            <a:r>
              <a:rPr lang="en-US" sz="4400" baseline="30000" dirty="0" smtClean="0"/>
              <a:t>5</a:t>
            </a:r>
            <a:r>
              <a:rPr lang="en-US" sz="4400" dirty="0" smtClean="0"/>
              <a:t> = 16 807</a:t>
            </a:r>
          </a:p>
          <a:p>
            <a:pPr lvl="0">
              <a:buNone/>
            </a:pPr>
            <a:r>
              <a:rPr lang="en-US" sz="4400" dirty="0" smtClean="0">
                <a:solidFill>
                  <a:srgbClr val="FF0000"/>
                </a:solidFill>
              </a:rPr>
              <a:t>3</a:t>
            </a:r>
            <a:r>
              <a:rPr lang="en-US" sz="4400" baseline="30000" dirty="0" smtClean="0">
                <a:solidFill>
                  <a:srgbClr val="FF0000"/>
                </a:solidFill>
              </a:rPr>
              <a:t>9</a:t>
            </a:r>
            <a:r>
              <a:rPr lang="en-US" sz="4400" dirty="0" smtClean="0">
                <a:solidFill>
                  <a:srgbClr val="FF0000"/>
                </a:solidFill>
              </a:rPr>
              <a:t> = 19 683</a:t>
            </a:r>
          </a:p>
          <a:p>
            <a:pPr lvl="0">
              <a:buNone/>
            </a:pPr>
            <a:r>
              <a:rPr lang="en-US" sz="4400" dirty="0" smtClean="0"/>
              <a:t>6</a:t>
            </a:r>
            <a:r>
              <a:rPr lang="en-US" sz="4400" baseline="30000" dirty="0" smtClean="0"/>
              <a:t>4</a:t>
            </a:r>
            <a:r>
              <a:rPr lang="en-US" sz="4400" dirty="0" smtClean="0"/>
              <a:t> = 1 296</a:t>
            </a:r>
          </a:p>
          <a:p>
            <a:pPr lvl="0">
              <a:buNone/>
            </a:pPr>
            <a:r>
              <a:rPr lang="en-US" sz="4400" dirty="0" smtClean="0"/>
              <a:t>9</a:t>
            </a:r>
            <a:r>
              <a:rPr lang="en-US" sz="4400" baseline="30000" dirty="0" smtClean="0"/>
              <a:t>3</a:t>
            </a:r>
            <a:r>
              <a:rPr lang="en-US" sz="4400" dirty="0" smtClean="0"/>
              <a:t> =729</a:t>
            </a:r>
          </a:p>
          <a:p>
            <a:pPr>
              <a:buNone/>
            </a:pPr>
            <a:endParaRPr lang="en-US" sz="4400" dirty="0"/>
          </a:p>
        </p:txBody>
      </p:sp>
    </p:spTree>
  </p:cSld>
  <p:clrMapOvr>
    <a:masterClrMapping/>
  </p:clrMapOvr>
  <p:transition>
    <p:push/>
  </p:transition>
  <p:timing>
    <p:tnLst>
      <p:par>
        <p:cTn id="1" dur="indefinite" restart="never" nodeType="tmRoot"/>
      </p:par>
    </p:tnLst>
  </p:timing>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371600"/>
            <a:ext cx="8229600" cy="4525963"/>
          </a:xfrm>
        </p:spPr>
        <p:txBody>
          <a:bodyPr>
            <a:normAutofit/>
          </a:bodyPr>
          <a:lstStyle/>
          <a:p>
            <a:pPr marL="739775" indent="-630238">
              <a:buNone/>
            </a:pPr>
            <a:r>
              <a:rPr lang="en-US" sz="3200" dirty="0" smtClean="0"/>
              <a:t>31. If x = 3 and y = 2, then 2x + 3y = _____________.</a:t>
            </a:r>
          </a:p>
          <a:p>
            <a:pPr marL="739775" indent="-630238">
              <a:buNone/>
            </a:pPr>
            <a:endParaRPr lang="en-US" sz="3200" dirty="0" smtClean="0"/>
          </a:p>
          <a:p>
            <a:pPr marL="1030288" indent="-290513">
              <a:buFont typeface="+mj-lt"/>
              <a:buAutoNum type="alphaUcPeriod"/>
            </a:pPr>
            <a:r>
              <a:rPr lang="en-US" sz="3200" dirty="0" smtClean="0"/>
              <a:t>12</a:t>
            </a:r>
          </a:p>
          <a:p>
            <a:pPr marL="1030288" indent="-290513">
              <a:buFont typeface="+mj-lt"/>
              <a:buAutoNum type="alphaUcPeriod"/>
            </a:pPr>
            <a:r>
              <a:rPr lang="en-US" sz="3200" dirty="0" smtClean="0"/>
              <a:t>10</a:t>
            </a:r>
          </a:p>
          <a:p>
            <a:pPr marL="1030288" indent="-290513">
              <a:buFont typeface="+mj-lt"/>
              <a:buAutoNum type="alphaUcPeriod"/>
            </a:pPr>
            <a:r>
              <a:rPr lang="en-US" sz="3200" dirty="0" smtClean="0"/>
              <a:t>14</a:t>
            </a:r>
          </a:p>
          <a:p>
            <a:pPr marL="1030288" indent="-290513">
              <a:buFont typeface="+mj-lt"/>
              <a:buAutoNum type="alphaUcPeriod"/>
            </a:pPr>
            <a:r>
              <a:rPr lang="en-US" sz="3200" dirty="0" smtClean="0"/>
              <a:t>5</a:t>
            </a:r>
          </a:p>
          <a:p>
            <a:pPr>
              <a:buNone/>
            </a:pPr>
            <a:endParaRPr lang="en-US" sz="32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619185" y="30663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2332037"/>
            <a:ext cx="8229600" cy="4525963"/>
          </a:xfrm>
        </p:spPr>
        <p:txBody>
          <a:bodyPr>
            <a:normAutofit/>
          </a:bodyPr>
          <a:lstStyle/>
          <a:p>
            <a:pPr>
              <a:buNone/>
            </a:pPr>
            <a:r>
              <a:rPr lang="en-US" sz="4400" dirty="0" smtClean="0"/>
              <a:t>2x + 3y = 2(3) + 3(2) = </a:t>
            </a:r>
            <a:r>
              <a:rPr lang="en-US" sz="4400" dirty="0">
                <a:solidFill>
                  <a:srgbClr val="FF0000"/>
                </a:solidFill>
              </a:rPr>
              <a:t>6</a:t>
            </a:r>
            <a:endParaRPr lang="en-US" sz="4400" dirty="0" smtClean="0">
              <a:solidFill>
                <a:srgbClr val="FF0000"/>
              </a:solidFill>
            </a:endParaRPr>
          </a:p>
          <a:p>
            <a:pPr>
              <a:buNone/>
            </a:pPr>
            <a:r>
              <a:rPr lang="en-US" sz="4400" dirty="0" smtClean="0"/>
              <a:t> </a:t>
            </a:r>
          </a:p>
          <a:p>
            <a:pPr>
              <a:buNone/>
            </a:pPr>
            <a:endParaRPr lang="en-US" sz="4400" dirty="0"/>
          </a:p>
        </p:txBody>
      </p:sp>
    </p:spTree>
  </p:cSld>
  <p:clrMapOvr>
    <a:masterClrMapping/>
  </p:clrMapOvr>
  <p:transition>
    <p:push/>
  </p:transition>
  <p:timing>
    <p:tnLst>
      <p:par>
        <p:cTn id="1" dur="indefinite" restart="never" nodeType="tmRoot"/>
      </p:par>
    </p:tnLst>
  </p:timing>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85800" y="1066800"/>
            <a:ext cx="8229600" cy="4525963"/>
          </a:xfrm>
        </p:spPr>
        <p:txBody>
          <a:bodyPr>
            <a:normAutofit lnSpcReduction="10000"/>
          </a:bodyPr>
          <a:lstStyle/>
          <a:p>
            <a:pPr marL="739775" indent="-630238">
              <a:buNone/>
            </a:pPr>
            <a:r>
              <a:rPr lang="en-US" sz="3200" dirty="0" smtClean="0"/>
              <a:t>32. Joseph is 10 years older than his sister. If Joseph was 25 years of age in 1983, in what year could he have been born?</a:t>
            </a:r>
          </a:p>
          <a:p>
            <a:pPr marL="739775" indent="-630238">
              <a:buNone/>
            </a:pPr>
            <a:endParaRPr lang="en-US" sz="3200" dirty="0" smtClean="0"/>
          </a:p>
          <a:p>
            <a:pPr marL="1030288" indent="-347663">
              <a:buFont typeface="+mj-lt"/>
              <a:buAutoNum type="alphaUcPeriod"/>
            </a:pPr>
            <a:r>
              <a:rPr lang="en-US" sz="3200" dirty="0" smtClean="0"/>
              <a:t>1948	</a:t>
            </a:r>
          </a:p>
          <a:p>
            <a:pPr marL="1030288" indent="-347663">
              <a:buFont typeface="+mj-lt"/>
              <a:buAutoNum type="alphaUcPeriod"/>
            </a:pPr>
            <a:r>
              <a:rPr lang="en-US" sz="3200" dirty="0" smtClean="0"/>
              <a:t>1963</a:t>
            </a:r>
          </a:p>
          <a:p>
            <a:pPr marL="1030288" indent="-347663">
              <a:buFont typeface="+mj-lt"/>
              <a:buAutoNum type="alphaUcPeriod"/>
            </a:pPr>
            <a:r>
              <a:rPr lang="en-US" sz="3200" dirty="0" smtClean="0"/>
              <a:t>1958</a:t>
            </a:r>
          </a:p>
          <a:p>
            <a:pPr marL="1030288" indent="-347663">
              <a:buFont typeface="+mj-lt"/>
              <a:buAutoNum type="alphaUcPeriod"/>
            </a:pPr>
            <a:r>
              <a:rPr lang="en-US" sz="3200" dirty="0" smtClean="0"/>
              <a:t>1953</a:t>
            </a:r>
            <a:endParaRPr lang="en-US" sz="32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695385" y="4514174"/>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buNone/>
            </a:pPr>
            <a:r>
              <a:rPr lang="en-PH" sz="3200" dirty="0" smtClean="0"/>
              <a:t>Let J – Joseph’s current age</a:t>
            </a:r>
            <a:endParaRPr lang="en-US" sz="3200" dirty="0" smtClean="0"/>
          </a:p>
          <a:p>
            <a:pPr>
              <a:buNone/>
            </a:pPr>
            <a:r>
              <a:rPr lang="en-PH" sz="3200" dirty="0" smtClean="0"/>
              <a:t>	   S – Sister’s age (Joseph’s Sister)</a:t>
            </a:r>
            <a:endParaRPr lang="en-US" sz="3200" dirty="0" smtClean="0"/>
          </a:p>
          <a:p>
            <a:pPr>
              <a:buNone/>
            </a:pPr>
            <a:r>
              <a:rPr lang="en-PH" sz="3200" dirty="0" smtClean="0"/>
              <a:t>      J = S + 10</a:t>
            </a:r>
          </a:p>
          <a:p>
            <a:pPr>
              <a:buNone/>
            </a:pPr>
            <a:endParaRPr lang="en-US" sz="3200" dirty="0" smtClean="0"/>
          </a:p>
          <a:p>
            <a:pPr>
              <a:buNone/>
            </a:pPr>
            <a:r>
              <a:rPr lang="en-PH" sz="3200" dirty="0" smtClean="0"/>
              <a:t>In what year was Joseph born if he is 25 years of age in 1983:</a:t>
            </a:r>
            <a:endParaRPr lang="en-US" sz="3200" dirty="0" smtClean="0"/>
          </a:p>
          <a:p>
            <a:pPr>
              <a:buNone/>
            </a:pPr>
            <a:r>
              <a:rPr lang="en-PH" sz="3200" dirty="0" smtClean="0"/>
              <a:t>1983 – 25 = </a:t>
            </a:r>
            <a:r>
              <a:rPr lang="en-PH" sz="3200" dirty="0" smtClean="0">
                <a:solidFill>
                  <a:srgbClr val="FF0000"/>
                </a:solidFill>
              </a:rPr>
              <a:t>1958</a:t>
            </a:r>
            <a:endParaRPr lang="en-US" sz="3200" dirty="0" smtClean="0">
              <a:solidFill>
                <a:srgbClr val="FF0000"/>
              </a:solidFill>
            </a:endParaRPr>
          </a:p>
          <a:p>
            <a:pPr>
              <a:buNone/>
            </a:pPr>
            <a:endParaRPr lang="en-US" sz="3200" dirty="0"/>
          </a:p>
        </p:txBody>
      </p:sp>
    </p:spTree>
  </p:cSld>
  <p:clrMapOvr>
    <a:masterClrMapping/>
  </p:clrMapOvr>
  <p:transition>
    <p:push/>
  </p:transition>
  <p:timing>
    <p:tnLst>
      <p:par>
        <p:cTn id="1" dur="indefinite" restart="never" nodeType="tmRoot"/>
      </p:par>
    </p:tnLst>
  </p:timing>
</p:sld>
</file>

<file path=ppt/slides/slide2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609600"/>
            <a:ext cx="8229600" cy="4525963"/>
          </a:xfrm>
        </p:spPr>
        <p:txBody>
          <a:bodyPr>
            <a:noAutofit/>
          </a:bodyPr>
          <a:lstStyle/>
          <a:p>
            <a:pPr marL="739775" indent="-630238">
              <a:buNone/>
            </a:pPr>
            <a:r>
              <a:rPr lang="en-US" sz="3200" dirty="0" smtClean="0"/>
              <a:t>33. Which number is wrong in this sequence? What should the number be for the sequence to be  CORRECT? 5, 15, 16, 48, 144, 147, 148, 444 …</a:t>
            </a:r>
          </a:p>
          <a:p>
            <a:pPr marL="739775" indent="-630238">
              <a:buNone/>
            </a:pPr>
            <a:endParaRPr lang="en-US" sz="3200" dirty="0" smtClean="0"/>
          </a:p>
          <a:p>
            <a:pPr marL="1030288" indent="-290513">
              <a:buFont typeface="+mj-lt"/>
              <a:buAutoNum type="alphaUcPeriod"/>
            </a:pPr>
            <a:r>
              <a:rPr lang="en-US" sz="3200" dirty="0" smtClean="0"/>
              <a:t>48; it should be 18	</a:t>
            </a:r>
          </a:p>
          <a:p>
            <a:pPr marL="1030288" indent="-290513">
              <a:buFont typeface="+mj-lt"/>
              <a:buAutoNum type="alphaUcPeriod"/>
            </a:pPr>
            <a:r>
              <a:rPr lang="en-US" sz="3200" dirty="0" smtClean="0"/>
              <a:t>147; it should be 147 </a:t>
            </a:r>
          </a:p>
          <a:p>
            <a:pPr marL="1030288" indent="-290513">
              <a:buFont typeface="+mj-lt"/>
              <a:buAutoNum type="alphaUcPeriod"/>
            </a:pPr>
            <a:r>
              <a:rPr lang="en-US" sz="3200" dirty="0" smtClean="0"/>
              <a:t>144; it should be 132</a:t>
            </a:r>
          </a:p>
          <a:p>
            <a:pPr marL="1030288" lvl="0" indent="-290513">
              <a:buFont typeface="+mj-lt"/>
              <a:buAutoNum type="alphaUcPeriod"/>
            </a:pPr>
            <a:r>
              <a:rPr lang="en-US" sz="3200" dirty="0" smtClean="0"/>
              <a:t>144; it should be 49</a:t>
            </a:r>
          </a:p>
          <a:p>
            <a:pPr marL="739775" indent="-630238">
              <a:buNone/>
            </a:pPr>
            <a:endParaRPr lang="en-US" sz="3200" dirty="0" smtClean="0"/>
          </a:p>
          <a:p>
            <a:pPr>
              <a:buNone/>
            </a:pPr>
            <a:endParaRPr lang="en-US" sz="32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542986" y="5428574"/>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0690" name="Picture 2"/>
          <p:cNvPicPr>
            <a:picLocks noChangeAspect="1" noChangeArrowheads="1"/>
          </p:cNvPicPr>
          <p:nvPr/>
        </p:nvPicPr>
        <p:blipFill>
          <a:blip r:embed="rId2"/>
          <a:srcRect l="7028" t="56250" r="14495" b="27084"/>
          <a:stretch>
            <a:fillRect/>
          </a:stretch>
        </p:blipFill>
        <p:spPr bwMode="auto">
          <a:xfrm>
            <a:off x="533400" y="1219200"/>
            <a:ext cx="8305800" cy="3886200"/>
          </a:xfrm>
          <a:prstGeom prst="rect">
            <a:avLst/>
          </a:prstGeom>
          <a:noFill/>
          <a:ln w="9525">
            <a:noFill/>
            <a:miter lim="800000"/>
            <a:headEnd/>
            <a:tailEnd/>
          </a:ln>
          <a:effectLst/>
        </p:spPr>
      </p:pic>
    </p:spTree>
  </p:cSld>
  <p:clrMapOvr>
    <a:masterClrMapping/>
  </p:clrMapOvr>
  <p:transition>
    <p:push/>
  </p:transition>
  <p:timing>
    <p:tnLst>
      <p:par>
        <p:cTn id="1" dur="indefinite" restart="never" nodeType="tmRoot"/>
      </p:par>
    </p:tnLst>
  </p:timing>
</p:sld>
</file>

<file path=ppt/slides/slide2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1000" y="685800"/>
            <a:ext cx="8229600" cy="4525963"/>
          </a:xfrm>
        </p:spPr>
        <p:txBody>
          <a:bodyPr>
            <a:noAutofit/>
          </a:bodyPr>
          <a:lstStyle/>
          <a:p>
            <a:pPr marL="739775" indent="-630238">
              <a:buNone/>
            </a:pPr>
            <a:r>
              <a:rPr lang="en-US" sz="3200" dirty="0" smtClean="0"/>
              <a:t>34. Ana and Beth do a job together in two hours. Working alone, Ana does the job in 5 hours. How long  will it take Beth to do the job alone?</a:t>
            </a:r>
          </a:p>
          <a:p>
            <a:pPr marL="739775" indent="-630238">
              <a:buNone/>
            </a:pPr>
            <a:endParaRPr lang="en-US" sz="3200" dirty="0" smtClean="0"/>
          </a:p>
          <a:p>
            <a:pPr marL="1146175" indent="-347663">
              <a:buFont typeface="+mj-lt"/>
              <a:buAutoNum type="alphaUcPeriod"/>
            </a:pPr>
            <a:r>
              <a:rPr lang="en-US" sz="3200" dirty="0" smtClean="0"/>
              <a:t>3 and 1/3 hours</a:t>
            </a:r>
          </a:p>
          <a:p>
            <a:pPr marL="1146175" indent="-347663">
              <a:buFont typeface="+mj-lt"/>
              <a:buAutoNum type="alphaUcPeriod"/>
            </a:pPr>
            <a:r>
              <a:rPr lang="en-US" sz="3200" dirty="0" smtClean="0"/>
              <a:t>2 and 1/3 hours </a:t>
            </a:r>
          </a:p>
          <a:p>
            <a:pPr marL="1146175" indent="-347663">
              <a:buFont typeface="+mj-lt"/>
              <a:buAutoNum type="alphaUcPeriod"/>
            </a:pPr>
            <a:r>
              <a:rPr lang="en-US" sz="3200" dirty="0" smtClean="0"/>
              <a:t>3 hours</a:t>
            </a:r>
          </a:p>
          <a:p>
            <a:pPr marL="1146175" indent="-347663">
              <a:buFont typeface="+mj-lt"/>
              <a:buAutoNum type="alphaUcPeriod"/>
            </a:pPr>
            <a:r>
              <a:rPr lang="en-US" sz="3200" dirty="0" smtClean="0"/>
              <a:t>2 hours</a:t>
            </a:r>
          </a:p>
          <a:p>
            <a:pPr>
              <a:buNone/>
            </a:pPr>
            <a:endParaRPr lang="en-US" sz="32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542986" y="34473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457200"/>
            <a:ext cx="8229600" cy="5486400"/>
          </a:xfrm>
        </p:spPr>
        <p:txBody>
          <a:bodyPr numCol="2">
            <a:noAutofit/>
          </a:bodyPr>
          <a:lstStyle/>
          <a:p>
            <a:pPr>
              <a:buNone/>
            </a:pPr>
            <a:r>
              <a:rPr lang="en-US" sz="2000" dirty="0" smtClean="0"/>
              <a:t>A – time it takes for Ana to do a job</a:t>
            </a:r>
          </a:p>
          <a:p>
            <a:pPr>
              <a:buNone/>
            </a:pPr>
            <a:r>
              <a:rPr lang="en-US" sz="2000" dirty="0" smtClean="0"/>
              <a:t>B – time it takes Beth to do the same job</a:t>
            </a:r>
          </a:p>
          <a:p>
            <a:pPr>
              <a:buNone/>
            </a:pPr>
            <a:r>
              <a:rPr lang="en-US" sz="2000" dirty="0" smtClean="0"/>
              <a:t>t – time it takes for both Ana and Beth to do the job</a:t>
            </a:r>
          </a:p>
          <a:p>
            <a:pPr>
              <a:buNone/>
            </a:pPr>
            <a:r>
              <a:rPr lang="en-US" sz="2000" dirty="0" smtClean="0"/>
              <a:t> </a:t>
            </a:r>
          </a:p>
          <a:p>
            <a:pPr>
              <a:buNone/>
            </a:pPr>
            <a:r>
              <a:rPr lang="en-US" sz="2000" b="1" dirty="0" smtClean="0"/>
              <a:t>General Equation:</a:t>
            </a:r>
          </a:p>
          <a:p>
            <a:pPr>
              <a:buNone/>
            </a:pPr>
            <a:r>
              <a:rPr lang="en-US" sz="2000" b="1" dirty="0" smtClean="0"/>
              <a:t>1/A + 1/B = 1/t</a:t>
            </a:r>
          </a:p>
          <a:p>
            <a:pPr>
              <a:buNone/>
            </a:pPr>
            <a:endParaRPr lang="en-US" sz="2000" dirty="0" smtClean="0"/>
          </a:p>
          <a:p>
            <a:pPr>
              <a:buNone/>
            </a:pPr>
            <a:r>
              <a:rPr lang="en-US" sz="2000" b="1" dirty="0" smtClean="0"/>
              <a:t>Given:</a:t>
            </a:r>
          </a:p>
          <a:p>
            <a:pPr>
              <a:buNone/>
            </a:pPr>
            <a:r>
              <a:rPr lang="en-US" sz="2000" dirty="0" smtClean="0"/>
              <a:t>t = 2 hrs</a:t>
            </a:r>
          </a:p>
          <a:p>
            <a:pPr>
              <a:buNone/>
            </a:pPr>
            <a:r>
              <a:rPr lang="en-US" sz="2000" dirty="0" smtClean="0"/>
              <a:t>A = 5 hrs</a:t>
            </a:r>
          </a:p>
          <a:p>
            <a:pPr>
              <a:buNone/>
            </a:pPr>
            <a:r>
              <a:rPr lang="en-US" sz="2000" dirty="0" smtClean="0"/>
              <a:t>B = ?</a:t>
            </a:r>
          </a:p>
          <a:p>
            <a:pPr>
              <a:buNone/>
            </a:pPr>
            <a:endParaRPr lang="en-US" sz="2000" dirty="0" smtClean="0"/>
          </a:p>
          <a:p>
            <a:pPr>
              <a:buNone/>
            </a:pPr>
            <a:endParaRPr lang="en-US" sz="2000" dirty="0" smtClean="0"/>
          </a:p>
          <a:p>
            <a:pPr>
              <a:buNone/>
            </a:pPr>
            <a:endParaRPr lang="en-US" sz="2000" dirty="0" smtClean="0"/>
          </a:p>
          <a:p>
            <a:pPr>
              <a:buNone/>
            </a:pPr>
            <a:endParaRPr lang="en-US" sz="2000" dirty="0" smtClean="0"/>
          </a:p>
          <a:p>
            <a:pPr>
              <a:buNone/>
            </a:pPr>
            <a:endParaRPr lang="en-US" sz="2000" dirty="0" smtClean="0"/>
          </a:p>
          <a:p>
            <a:pPr>
              <a:buNone/>
            </a:pPr>
            <a:endParaRPr lang="en-US" sz="2000" dirty="0" smtClean="0"/>
          </a:p>
          <a:p>
            <a:pPr>
              <a:buNone/>
            </a:pPr>
            <a:endParaRPr lang="en-US" sz="2000" dirty="0" smtClean="0"/>
          </a:p>
          <a:p>
            <a:pPr>
              <a:buNone/>
            </a:pPr>
            <a:endParaRPr lang="en-US" sz="2000" dirty="0" smtClean="0"/>
          </a:p>
          <a:p>
            <a:pPr>
              <a:buNone/>
            </a:pPr>
            <a:endParaRPr lang="en-US" sz="2000" dirty="0" smtClean="0"/>
          </a:p>
          <a:p>
            <a:pPr>
              <a:buNone/>
            </a:pPr>
            <a:endParaRPr lang="en-US" sz="2000" dirty="0" smtClean="0"/>
          </a:p>
          <a:p>
            <a:pPr>
              <a:buNone/>
            </a:pPr>
            <a:r>
              <a:rPr lang="en-US" sz="2000" dirty="0" smtClean="0"/>
              <a:t>1/B = 1/t – 1/A</a:t>
            </a:r>
          </a:p>
          <a:p>
            <a:pPr>
              <a:buNone/>
            </a:pPr>
            <a:r>
              <a:rPr lang="en-US" sz="2000" dirty="0" smtClean="0"/>
              <a:t>1/B = ½ - 1/5 = 5/10 – 2/10 = 3/10</a:t>
            </a:r>
          </a:p>
          <a:p>
            <a:pPr>
              <a:buNone/>
            </a:pPr>
            <a:r>
              <a:rPr lang="en-US" sz="2000" dirty="0" smtClean="0"/>
              <a:t>B = 10/3 hrs</a:t>
            </a:r>
          </a:p>
          <a:p>
            <a:pPr>
              <a:buNone/>
            </a:pPr>
            <a:r>
              <a:rPr lang="en-US" sz="2000" dirty="0" smtClean="0"/>
              <a:t> </a:t>
            </a:r>
          </a:p>
          <a:p>
            <a:pPr>
              <a:buNone/>
            </a:pPr>
            <a:r>
              <a:rPr lang="en-US" sz="2400" dirty="0" smtClean="0">
                <a:solidFill>
                  <a:srgbClr val="FF0000"/>
                </a:solidFill>
              </a:rPr>
              <a:t>B = 3 and 1/3 hrs</a:t>
            </a:r>
          </a:p>
          <a:p>
            <a:pPr>
              <a:buNone/>
            </a:pPr>
            <a:endParaRPr lang="en-US" sz="2000" dirty="0" smtClean="0"/>
          </a:p>
          <a:p>
            <a:pPr>
              <a:buNone/>
            </a:pPr>
            <a:endParaRPr lang="en-US" sz="2000" dirty="0"/>
          </a:p>
        </p:txBody>
      </p:sp>
    </p:spTree>
  </p:cSld>
  <p:clrMapOvr>
    <a:masterClrMapping/>
  </p:clrMapOvr>
  <p:transition>
    <p:push/>
  </p:transition>
  <p:timing>
    <p:tnLst>
      <p:par>
        <p:cTn id="1" dur="indefinite" restart="never" nodeType="tmRoot"/>
      </p:par>
    </p:tnLst>
  </p:timing>
</p:sld>
</file>

<file path=ppt/slides/slide2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990600"/>
            <a:ext cx="8229600" cy="4525963"/>
          </a:xfrm>
        </p:spPr>
        <p:txBody>
          <a:bodyPr>
            <a:normAutofit/>
          </a:bodyPr>
          <a:lstStyle/>
          <a:p>
            <a:pPr marL="739775" indent="-630238">
              <a:buNone/>
            </a:pPr>
            <a:r>
              <a:rPr lang="en-US" sz="3200" dirty="0" smtClean="0"/>
              <a:t>35. In a Mathematics test, 35 students passed and 30% failed. How many students took the test?</a:t>
            </a:r>
          </a:p>
          <a:p>
            <a:pPr marL="739775" indent="-630238">
              <a:buNone/>
            </a:pPr>
            <a:endParaRPr lang="en-US" sz="3200" dirty="0" smtClean="0"/>
          </a:p>
          <a:p>
            <a:pPr marL="1254125" indent="-514350">
              <a:buFont typeface="+mj-lt"/>
              <a:buAutoNum type="alphaUcPeriod"/>
            </a:pPr>
            <a:r>
              <a:rPr lang="en-US" sz="3200" dirty="0" smtClean="0"/>
              <a:t>60</a:t>
            </a:r>
          </a:p>
          <a:p>
            <a:pPr marL="1254125" indent="-514350">
              <a:buFont typeface="+mj-lt"/>
              <a:buAutoNum type="alphaUcPeriod"/>
            </a:pPr>
            <a:r>
              <a:rPr lang="en-US" sz="3200" dirty="0" smtClean="0"/>
              <a:t>50</a:t>
            </a:r>
          </a:p>
          <a:p>
            <a:pPr marL="1254125" indent="-514350">
              <a:buFont typeface="+mj-lt"/>
              <a:buAutoNum type="alphaUcPeriod"/>
            </a:pPr>
            <a:r>
              <a:rPr lang="en-US" sz="3200" dirty="0" smtClean="0"/>
              <a:t>40</a:t>
            </a:r>
          </a:p>
          <a:p>
            <a:pPr marL="1254125" indent="-514350">
              <a:buFont typeface="+mj-lt"/>
              <a:buAutoNum type="alphaUcPeriod"/>
            </a:pPr>
            <a:r>
              <a:rPr lang="en-US" sz="3200" dirty="0" smtClean="0"/>
              <a:t>30</a:t>
            </a:r>
            <a:endParaRPr lang="en-US" sz="32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542984" y="3828374"/>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09600" y="685800"/>
            <a:ext cx="8229600" cy="4525963"/>
          </a:xfrm>
        </p:spPr>
        <p:txBody>
          <a:bodyPr>
            <a:noAutofit/>
          </a:bodyPr>
          <a:lstStyle/>
          <a:p>
            <a:pPr>
              <a:buNone/>
            </a:pPr>
            <a:r>
              <a:rPr lang="en-US" sz="3200" b="1" dirty="0" smtClean="0"/>
              <a:t>Given: </a:t>
            </a:r>
          </a:p>
          <a:p>
            <a:pPr>
              <a:buNone/>
            </a:pPr>
            <a:r>
              <a:rPr lang="en-US" sz="3200" dirty="0" smtClean="0"/>
              <a:t>P = passed = 35</a:t>
            </a:r>
          </a:p>
          <a:p>
            <a:pPr>
              <a:buNone/>
            </a:pPr>
            <a:r>
              <a:rPr lang="en-US" sz="3200" dirty="0" smtClean="0"/>
              <a:t>F = Failed = 30%T</a:t>
            </a:r>
          </a:p>
          <a:p>
            <a:pPr>
              <a:buNone/>
            </a:pPr>
            <a:r>
              <a:rPr lang="en-US" sz="3200" dirty="0" smtClean="0"/>
              <a:t>T – Total number of students who took the test</a:t>
            </a:r>
          </a:p>
          <a:p>
            <a:pPr>
              <a:buNone/>
            </a:pPr>
            <a:r>
              <a:rPr lang="en-US" sz="3200" dirty="0" smtClean="0"/>
              <a:t> </a:t>
            </a:r>
          </a:p>
          <a:p>
            <a:pPr>
              <a:buNone/>
            </a:pPr>
            <a:r>
              <a:rPr lang="en-US" sz="3200" dirty="0" smtClean="0"/>
              <a:t>Therefore: P = 70%T = 35</a:t>
            </a:r>
          </a:p>
          <a:p>
            <a:pPr>
              <a:buNone/>
            </a:pPr>
            <a:r>
              <a:rPr lang="en-US" sz="3200" u="sng" dirty="0" smtClean="0"/>
              <a:t>0.7 T</a:t>
            </a:r>
            <a:r>
              <a:rPr lang="en-US" sz="3200" dirty="0" smtClean="0"/>
              <a:t> = </a:t>
            </a:r>
            <a:r>
              <a:rPr lang="en-US" sz="3200" u="sng" dirty="0" smtClean="0"/>
              <a:t>35</a:t>
            </a:r>
            <a:endParaRPr lang="en-US" sz="3200" dirty="0" smtClean="0"/>
          </a:p>
          <a:p>
            <a:pPr>
              <a:buNone/>
            </a:pPr>
            <a:r>
              <a:rPr lang="en-US" sz="3200" dirty="0" smtClean="0"/>
              <a:t> 0.7      0.7</a:t>
            </a:r>
          </a:p>
          <a:p>
            <a:pPr>
              <a:buNone/>
            </a:pPr>
            <a:r>
              <a:rPr lang="en-US" sz="3200" dirty="0" smtClean="0">
                <a:solidFill>
                  <a:srgbClr val="FF0000"/>
                </a:solidFill>
              </a:rPr>
              <a:t>T = 50</a:t>
            </a:r>
          </a:p>
          <a:p>
            <a:pPr>
              <a:buNone/>
            </a:pPr>
            <a:r>
              <a:rPr lang="en-US" sz="3200" dirty="0" smtClean="0"/>
              <a:t> </a:t>
            </a:r>
          </a:p>
          <a:p>
            <a:pPr>
              <a:buNone/>
            </a:pPr>
            <a:endParaRPr lang="en-US" sz="3200" dirty="0"/>
          </a:p>
        </p:txBody>
      </p:sp>
    </p:spTree>
  </p:cSld>
  <p:clrMapOvr>
    <a:masterClrMapping/>
  </p:clrMapOvr>
  <p:transition>
    <p:push/>
  </p:transition>
  <p:timing>
    <p:tnLst>
      <p:par>
        <p:cTn id="1" dur="indefinite" restart="never" nodeType="tmRoot"/>
      </p:par>
    </p:tnLst>
  </p:timing>
</p:sld>
</file>

<file path=ppt/slides/slide2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914400" y="609600"/>
            <a:ext cx="8229600" cy="4525963"/>
          </a:xfrm>
        </p:spPr>
        <p:txBody>
          <a:bodyPr>
            <a:noAutofit/>
          </a:bodyPr>
          <a:lstStyle/>
          <a:p>
            <a:pPr marL="739775" indent="-630238">
              <a:buNone/>
            </a:pPr>
            <a:r>
              <a:rPr lang="en-US" sz="3200" dirty="0" smtClean="0"/>
              <a:t>36. Three brothers inherited a cash amount of P120, 000 and they divided it among themselves in the ratio of 5:2:1. How much more is the largest share than the smallest share?</a:t>
            </a:r>
          </a:p>
          <a:p>
            <a:pPr marL="739775" indent="-630238">
              <a:buNone/>
            </a:pPr>
            <a:endParaRPr lang="en-US" sz="3200" dirty="0" smtClean="0"/>
          </a:p>
          <a:p>
            <a:pPr marL="1030288" indent="-290513">
              <a:buFont typeface="+mj-lt"/>
              <a:buAutoNum type="alphaUcPeriod"/>
            </a:pPr>
            <a:r>
              <a:rPr lang="en-US" sz="3200" dirty="0" smtClean="0"/>
              <a:t>P75, 000 </a:t>
            </a:r>
          </a:p>
          <a:p>
            <a:pPr marL="1030288" indent="-290513">
              <a:buFont typeface="+mj-lt"/>
              <a:buAutoNum type="alphaUcPeriod"/>
            </a:pPr>
            <a:r>
              <a:rPr lang="en-US" sz="3200" dirty="0" smtClean="0"/>
              <a:t>P30, 000 </a:t>
            </a:r>
          </a:p>
          <a:p>
            <a:pPr marL="1030288" indent="-290513">
              <a:buFont typeface="+mj-lt"/>
              <a:buAutoNum type="alphaUcPeriod"/>
            </a:pPr>
            <a:r>
              <a:rPr lang="en-US" sz="3200" dirty="0" smtClean="0"/>
              <a:t>P15, 000	</a:t>
            </a:r>
          </a:p>
          <a:p>
            <a:pPr marL="1030288" indent="-290513">
              <a:buFont typeface="+mj-lt"/>
              <a:buAutoNum type="alphaUcPeriod"/>
            </a:pPr>
            <a:r>
              <a:rPr lang="en-US" sz="3200" dirty="0" smtClean="0"/>
              <a:t>P60, 000</a:t>
            </a:r>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1000185" y="59619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1714" name="Picture 2"/>
          <p:cNvPicPr>
            <a:picLocks noChangeAspect="1" noChangeArrowheads="1"/>
          </p:cNvPicPr>
          <p:nvPr/>
        </p:nvPicPr>
        <p:blipFill>
          <a:blip r:embed="rId2"/>
          <a:srcRect l="2343" t="48467" r="9810" b="22917"/>
          <a:stretch>
            <a:fillRect/>
          </a:stretch>
        </p:blipFill>
        <p:spPr bwMode="auto">
          <a:xfrm>
            <a:off x="304800" y="1371600"/>
            <a:ext cx="8534400" cy="3962400"/>
          </a:xfrm>
          <a:prstGeom prst="rect">
            <a:avLst/>
          </a:prstGeom>
          <a:noFill/>
          <a:ln w="9525">
            <a:noFill/>
            <a:miter lim="800000"/>
            <a:headEnd/>
            <a:tailEnd/>
          </a:ln>
          <a:effectLst/>
        </p:spPr>
      </p:pic>
    </p:spTree>
  </p:cSld>
  <p:clrMapOvr>
    <a:masterClrMapping/>
  </p:clrMapOvr>
  <p:transition>
    <p:push/>
  </p:transition>
  <p:timing>
    <p:tnLst>
      <p:par>
        <p:cTn id="1" dur="indefinite" restart="never" nodeType="tmRoot"/>
      </p:par>
    </p:tnLst>
  </p:timing>
</p:sld>
</file>

<file path=ppt/slides/slide2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990600"/>
            <a:ext cx="8229600" cy="4525963"/>
          </a:xfrm>
        </p:spPr>
        <p:txBody>
          <a:bodyPr>
            <a:noAutofit/>
          </a:bodyPr>
          <a:lstStyle/>
          <a:p>
            <a:pPr marL="739775" indent="-630238">
              <a:buNone/>
            </a:pPr>
            <a:r>
              <a:rPr lang="en-US" sz="3200" dirty="0" smtClean="0"/>
              <a:t>37. If the area of one circle is twice of another circle, what is the ratio in percent of the smaller to the larger circle?</a:t>
            </a:r>
          </a:p>
          <a:p>
            <a:pPr marL="739775" indent="-630238">
              <a:buNone/>
            </a:pPr>
            <a:endParaRPr lang="en-US" sz="3200" dirty="0" smtClean="0"/>
          </a:p>
          <a:p>
            <a:pPr marL="1089025" indent="-349250">
              <a:buFont typeface="+mj-lt"/>
              <a:buAutoNum type="alphaUcPeriod"/>
            </a:pPr>
            <a:r>
              <a:rPr lang="en-US" sz="3200" dirty="0" smtClean="0"/>
              <a:t>70%</a:t>
            </a:r>
          </a:p>
          <a:p>
            <a:pPr marL="1089025" indent="-349250">
              <a:buFont typeface="+mj-lt"/>
              <a:buAutoNum type="alphaUcPeriod"/>
            </a:pPr>
            <a:r>
              <a:rPr lang="en-US" sz="3200" dirty="0" smtClean="0"/>
              <a:t>25%</a:t>
            </a:r>
          </a:p>
          <a:p>
            <a:pPr marL="1089025" indent="-349250">
              <a:buFont typeface="+mj-lt"/>
              <a:buAutoNum type="alphaUcPeriod"/>
            </a:pPr>
            <a:r>
              <a:rPr lang="en-US" sz="3200" dirty="0" smtClean="0"/>
              <a:t>75%</a:t>
            </a:r>
          </a:p>
          <a:p>
            <a:pPr marL="1089025" indent="-349250">
              <a:buFont typeface="+mj-lt"/>
              <a:buAutoNum type="alphaUcPeriod"/>
            </a:pPr>
            <a:r>
              <a:rPr lang="en-US" sz="3200" dirty="0" smtClean="0"/>
              <a:t>50%</a:t>
            </a:r>
          </a:p>
          <a:p>
            <a:pPr>
              <a:buNone/>
            </a:pPr>
            <a:endParaRPr lang="en-US" sz="32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619184" y="53523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2738" name="Picture 2"/>
          <p:cNvPicPr>
            <a:picLocks noChangeAspect="1" noChangeArrowheads="1"/>
          </p:cNvPicPr>
          <p:nvPr/>
        </p:nvPicPr>
        <p:blipFill>
          <a:blip r:embed="rId2"/>
          <a:srcRect l="2928" t="39583" r="33821" b="36459"/>
          <a:stretch>
            <a:fillRect/>
          </a:stretch>
        </p:blipFill>
        <p:spPr bwMode="auto">
          <a:xfrm>
            <a:off x="533400" y="1295400"/>
            <a:ext cx="8229600" cy="3733800"/>
          </a:xfrm>
          <a:prstGeom prst="rect">
            <a:avLst/>
          </a:prstGeom>
          <a:noFill/>
          <a:ln w="9525">
            <a:noFill/>
            <a:miter lim="800000"/>
            <a:headEnd/>
            <a:tailEnd/>
          </a:ln>
          <a:effectLst/>
        </p:spPr>
      </p:pic>
    </p:spTree>
  </p:cSld>
  <p:clrMapOvr>
    <a:masterClrMapping/>
  </p:clrMapOvr>
  <p:transition>
    <p:push/>
  </p:transition>
  <p:timing>
    <p:tnLst>
      <p:par>
        <p:cTn id="1" dur="indefinite" restart="never" nodeType="tmRoot"/>
      </p:par>
    </p:tnLst>
  </p:timing>
</p:sld>
</file>

<file path=ppt/slides/slide2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838200"/>
            <a:ext cx="8229600" cy="4525963"/>
          </a:xfrm>
        </p:spPr>
        <p:txBody>
          <a:bodyPr>
            <a:noAutofit/>
          </a:bodyPr>
          <a:lstStyle/>
          <a:p>
            <a:pPr marL="739775" indent="-630238">
              <a:buNone/>
            </a:pPr>
            <a:r>
              <a:rPr lang="en-US" sz="3200" dirty="0" smtClean="0"/>
              <a:t>38. The average of 5 different counting numbers is 10. What is the highest possible value that one of the numbers can have?</a:t>
            </a:r>
          </a:p>
          <a:p>
            <a:pPr marL="739775" indent="-630238">
              <a:buNone/>
            </a:pPr>
            <a:endParaRPr lang="en-US" sz="3200" dirty="0" smtClean="0"/>
          </a:p>
          <a:p>
            <a:pPr marL="1030288" indent="-290513">
              <a:buFont typeface="+mj-lt"/>
              <a:buAutoNum type="alphaUcPeriod"/>
            </a:pPr>
            <a:r>
              <a:rPr lang="en-US" sz="3200" dirty="0" smtClean="0"/>
              <a:t>20</a:t>
            </a:r>
          </a:p>
          <a:p>
            <a:pPr marL="1030288" indent="-290513">
              <a:buFont typeface="+mj-lt"/>
              <a:buAutoNum type="alphaUcPeriod"/>
            </a:pPr>
            <a:r>
              <a:rPr lang="en-US" sz="3200" dirty="0" smtClean="0"/>
              <a:t>40</a:t>
            </a:r>
          </a:p>
          <a:p>
            <a:pPr marL="1030288" indent="-290513">
              <a:buFont typeface="+mj-lt"/>
              <a:buAutoNum type="alphaUcPeriod"/>
            </a:pPr>
            <a:r>
              <a:rPr lang="en-US" sz="3200" dirty="0" smtClean="0"/>
              <a:t>30</a:t>
            </a:r>
          </a:p>
          <a:p>
            <a:pPr marL="1030288" indent="-290513">
              <a:buFont typeface="+mj-lt"/>
              <a:buAutoNum type="alphaUcPeriod"/>
            </a:pPr>
            <a:r>
              <a:rPr lang="en-US" sz="3200" dirty="0" smtClean="0"/>
              <a:t>38</a:t>
            </a:r>
          </a:p>
          <a:p>
            <a:pPr>
              <a:buNone/>
            </a:pPr>
            <a:endParaRPr lang="en-US" sz="32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542985" y="41331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762001"/>
            <a:ext cx="8229600" cy="1143000"/>
          </a:xfrm>
        </p:spPr>
        <p:txBody>
          <a:bodyPr/>
          <a:lstStyle/>
          <a:p>
            <a:pPr>
              <a:buNone/>
            </a:pPr>
            <a:r>
              <a:rPr lang="en-US" dirty="0" smtClean="0"/>
              <a:t>Average = Sum/Number of items 	</a:t>
            </a:r>
          </a:p>
          <a:p>
            <a:pPr>
              <a:buNone/>
            </a:pPr>
            <a:r>
              <a:rPr lang="en-US" dirty="0" smtClean="0"/>
              <a:t>	 A = S/N	    S = AN</a:t>
            </a:r>
          </a:p>
          <a:p>
            <a:pPr>
              <a:buNone/>
            </a:pPr>
            <a:endParaRPr lang="en-US" dirty="0"/>
          </a:p>
        </p:txBody>
      </p:sp>
      <p:pic>
        <p:nvPicPr>
          <p:cNvPr id="373762" name="Picture 2"/>
          <p:cNvPicPr>
            <a:picLocks noChangeAspect="1" noChangeArrowheads="1"/>
          </p:cNvPicPr>
          <p:nvPr/>
        </p:nvPicPr>
        <p:blipFill>
          <a:blip r:embed="rId2"/>
          <a:srcRect l="2343" t="41458" r="9810" b="38542"/>
          <a:stretch>
            <a:fillRect/>
          </a:stretch>
        </p:blipFill>
        <p:spPr bwMode="auto">
          <a:xfrm>
            <a:off x="304800" y="2438400"/>
            <a:ext cx="8534400" cy="3124200"/>
          </a:xfrm>
          <a:prstGeom prst="rect">
            <a:avLst/>
          </a:prstGeom>
          <a:noFill/>
          <a:ln w="9525">
            <a:noFill/>
            <a:miter lim="800000"/>
            <a:headEnd/>
            <a:tailEnd/>
          </a:ln>
          <a:effectLst/>
        </p:spPr>
      </p:pic>
    </p:spTree>
  </p:cSld>
  <p:clrMapOvr>
    <a:masterClrMapping/>
  </p:clrMapOvr>
  <p:transition>
    <p:push/>
  </p:transition>
  <p:timing>
    <p:tnLst>
      <p:par>
        <p:cTn id="1" dur="indefinite" restart="never" nodeType="tmRoot"/>
      </p:par>
    </p:tnLst>
  </p:timing>
</p:sld>
</file>

<file path=ppt/slides/slide2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914400"/>
            <a:ext cx="8229600" cy="4525963"/>
          </a:xfrm>
        </p:spPr>
        <p:txBody>
          <a:bodyPr>
            <a:noAutofit/>
          </a:bodyPr>
          <a:lstStyle/>
          <a:p>
            <a:pPr marL="682625" indent="-573088">
              <a:buNone/>
            </a:pPr>
            <a:r>
              <a:rPr lang="en-US" sz="3000" dirty="0" smtClean="0"/>
              <a:t>39. Julie spent one-sixth of her money in one store. In the next store, she spent three times as much as she spent in the first store, and had 80 pesos left. How much money did she have at the start?</a:t>
            </a:r>
          </a:p>
          <a:p>
            <a:pPr marL="682625" indent="-573088">
              <a:buNone/>
            </a:pPr>
            <a:endParaRPr lang="en-US" sz="3000" dirty="0" smtClean="0"/>
          </a:p>
          <a:p>
            <a:pPr marL="914400" indent="-231775">
              <a:buFont typeface="+mj-lt"/>
              <a:buAutoNum type="alphaUcPeriod"/>
            </a:pPr>
            <a:r>
              <a:rPr lang="en-US" sz="3000" dirty="0" smtClean="0"/>
              <a:t> 240 pesos</a:t>
            </a:r>
          </a:p>
          <a:p>
            <a:pPr marL="914400" indent="-231775">
              <a:buFont typeface="+mj-lt"/>
              <a:buAutoNum type="alphaUcPeriod"/>
            </a:pPr>
            <a:r>
              <a:rPr lang="en-US" sz="3000" dirty="0" smtClean="0"/>
              <a:t> 252 pesos</a:t>
            </a:r>
          </a:p>
          <a:p>
            <a:pPr marL="914400" indent="-231775">
              <a:buFont typeface="+mj-lt"/>
              <a:buAutoNum type="alphaUcPeriod"/>
            </a:pPr>
            <a:r>
              <a:rPr lang="en-US" sz="3000" dirty="0" smtClean="0"/>
              <a:t> 300 pesos</a:t>
            </a:r>
          </a:p>
          <a:p>
            <a:pPr marL="914400" indent="-231775">
              <a:buFont typeface="+mj-lt"/>
              <a:buAutoNum type="alphaUcPeriod"/>
            </a:pPr>
            <a:r>
              <a:rPr lang="en-US" sz="3000" dirty="0" smtClean="0"/>
              <a:t> 360 pesos</a:t>
            </a:r>
          </a:p>
          <a:p>
            <a:pPr>
              <a:buNone/>
            </a:pPr>
            <a:endParaRPr lang="en-US" sz="30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542985" y="43617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4786" name="Picture 2"/>
          <p:cNvPicPr>
            <a:picLocks noChangeAspect="1" noChangeArrowheads="1"/>
          </p:cNvPicPr>
          <p:nvPr/>
        </p:nvPicPr>
        <p:blipFill>
          <a:blip r:embed="rId2"/>
          <a:srcRect l="2343" t="32292" r="9810" b="26042"/>
          <a:stretch>
            <a:fillRect/>
          </a:stretch>
        </p:blipFill>
        <p:spPr bwMode="auto">
          <a:xfrm>
            <a:off x="228600" y="1295400"/>
            <a:ext cx="8686800" cy="4343400"/>
          </a:xfrm>
          <a:prstGeom prst="rect">
            <a:avLst/>
          </a:prstGeom>
          <a:noFill/>
          <a:ln w="9525">
            <a:noFill/>
            <a:miter lim="800000"/>
            <a:headEnd/>
            <a:tailEnd/>
          </a:ln>
          <a:effectLst/>
        </p:spPr>
      </p:pic>
    </p:spTree>
  </p:cSld>
  <p:clrMapOvr>
    <a:masterClrMapping/>
  </p:clrMapOvr>
  <p:transition>
    <p:push/>
  </p:transition>
  <p:timing>
    <p:tnLst>
      <p:par>
        <p:cTn id="1" dur="indefinite" restart="never" nodeType="tmRoot"/>
      </p:par>
    </p:tnLst>
  </p:timing>
</p:sld>
</file>

<file path=ppt/slides/slide2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066800"/>
            <a:ext cx="8229600" cy="4525963"/>
          </a:xfrm>
        </p:spPr>
        <p:txBody>
          <a:bodyPr>
            <a:noAutofit/>
          </a:bodyPr>
          <a:lstStyle/>
          <a:p>
            <a:pPr marL="739775" indent="-630238">
              <a:buNone/>
            </a:pPr>
            <a:r>
              <a:rPr lang="en-US" sz="3200" dirty="0" smtClean="0"/>
              <a:t>40. What is 3m </a:t>
            </a:r>
            <a:r>
              <a:rPr lang="en-US" sz="3200" b="1" dirty="0" smtClean="0"/>
              <a:t>+</a:t>
            </a:r>
            <a:r>
              <a:rPr lang="en-US" sz="3200" dirty="0" smtClean="0"/>
              <a:t> 28 dm when converted to centimeters?</a:t>
            </a:r>
          </a:p>
          <a:p>
            <a:pPr marL="739775" indent="-630238">
              <a:buNone/>
            </a:pPr>
            <a:endParaRPr lang="en-US" sz="3200" dirty="0" smtClean="0"/>
          </a:p>
          <a:p>
            <a:pPr marL="1030288" indent="-290513">
              <a:buFont typeface="+mj-lt"/>
              <a:buAutoNum type="alphaUcPeriod"/>
            </a:pPr>
            <a:r>
              <a:rPr lang="en-US" sz="3200" dirty="0" smtClean="0"/>
              <a:t>480</a:t>
            </a:r>
          </a:p>
          <a:p>
            <a:pPr marL="1030288" indent="-290513">
              <a:buFont typeface="+mj-lt"/>
              <a:buAutoNum type="alphaUcPeriod"/>
            </a:pPr>
            <a:r>
              <a:rPr lang="en-US" sz="3200" dirty="0" smtClean="0"/>
              <a:t>4800</a:t>
            </a:r>
          </a:p>
          <a:p>
            <a:pPr marL="1030288" indent="-290513">
              <a:buFont typeface="+mj-lt"/>
              <a:buAutoNum type="alphaUcPeriod"/>
            </a:pPr>
            <a:r>
              <a:rPr lang="en-US" sz="3200" dirty="0" smtClean="0"/>
              <a:t>5800</a:t>
            </a:r>
          </a:p>
          <a:p>
            <a:pPr marL="1030288" indent="-290513">
              <a:buFont typeface="+mj-lt"/>
              <a:buAutoNum type="alphaUcPeriod"/>
            </a:pPr>
            <a:r>
              <a:rPr lang="en-US" sz="3200" dirty="0" smtClean="0"/>
              <a:t>580 </a:t>
            </a:r>
          </a:p>
          <a:p>
            <a:pPr marL="1030288" indent="-290513">
              <a:buNone/>
            </a:pPr>
            <a:endParaRPr lang="en-US" sz="3200" dirty="0" smtClean="0"/>
          </a:p>
          <a:p>
            <a:pPr marL="1030288" indent="-290513">
              <a:buNone/>
            </a:pPr>
            <a:endParaRPr lang="en-US" sz="3200" dirty="0" smtClean="0"/>
          </a:p>
          <a:p>
            <a:pPr marL="1030288" indent="-290513" algn="r">
              <a:buNone/>
            </a:pPr>
            <a:r>
              <a:rPr lang="en-US" sz="3200" dirty="0" smtClean="0"/>
              <a:t>END</a:t>
            </a:r>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542985" y="44379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5810" name="Picture 2"/>
          <p:cNvPicPr>
            <a:picLocks noChangeAspect="1" noChangeArrowheads="1"/>
          </p:cNvPicPr>
          <p:nvPr/>
        </p:nvPicPr>
        <p:blipFill>
          <a:blip r:embed="rId2"/>
          <a:srcRect l="2928" t="50000" r="33236" b="14583"/>
          <a:stretch>
            <a:fillRect/>
          </a:stretch>
        </p:blipFill>
        <p:spPr bwMode="auto">
          <a:xfrm>
            <a:off x="381000" y="1447800"/>
            <a:ext cx="8305800" cy="3886200"/>
          </a:xfrm>
          <a:prstGeom prst="rect">
            <a:avLst/>
          </a:prstGeom>
          <a:noFill/>
          <a:ln w="9525">
            <a:noFill/>
            <a:miter lim="800000"/>
            <a:headEnd/>
            <a:tailEnd/>
          </a:ln>
          <a:effectLst/>
        </p:spPr>
      </p:pic>
    </p:spTree>
  </p:cSld>
  <p:clrMapOvr>
    <a:masterClrMapping/>
  </p:clrMapOvr>
  <p:transition>
    <p:push/>
  </p:transition>
  <p:timing>
    <p:tnLst>
      <p:par>
        <p:cTn id="1" dur="indefinite" restart="never" nodeType="tmRoot"/>
      </p:par>
    </p:tnLst>
  </p:timing>
</p:sld>
</file>

<file path=ppt/slides/slide2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US" dirty="0"/>
          </a:p>
        </p:txBody>
      </p:sp>
      <p:sp>
        <p:nvSpPr>
          <p:cNvPr id="3" name="Title 2"/>
          <p:cNvSpPr>
            <a:spLocks noGrp="1"/>
          </p:cNvSpPr>
          <p:nvPr>
            <p:ph type="title"/>
          </p:nvPr>
        </p:nvSpPr>
        <p:spPr/>
        <p:txBody>
          <a:bodyPr/>
          <a:lstStyle/>
          <a:p>
            <a:endParaRPr lang="en-US" dirty="0"/>
          </a:p>
        </p:txBody>
      </p:sp>
      <p:pic>
        <p:nvPicPr>
          <p:cNvPr id="4" name="Picture 3" descr="back1.jpg"/>
          <p:cNvPicPr>
            <a:picLocks noChangeAspect="1"/>
          </p:cNvPicPr>
          <p:nvPr/>
        </p:nvPicPr>
        <p:blipFill>
          <a:blip r:embed="rId2"/>
          <a:stretch>
            <a:fillRect/>
          </a:stretch>
        </p:blipFill>
        <p:spPr>
          <a:xfrm>
            <a:off x="-25830" y="0"/>
            <a:ext cx="9169830" cy="6858000"/>
          </a:xfrm>
          <a:prstGeom prst="rect">
            <a:avLst/>
          </a:prstGeom>
        </p:spPr>
      </p:pic>
      <p:sp>
        <p:nvSpPr>
          <p:cNvPr id="5" name="Content Placeholder 1"/>
          <p:cNvSpPr txBox="1">
            <a:spLocks/>
          </p:cNvSpPr>
          <p:nvPr/>
        </p:nvSpPr>
        <p:spPr>
          <a:xfrm>
            <a:off x="431370" y="762000"/>
            <a:ext cx="8229600" cy="5245291"/>
          </a:xfrm>
          <a:prstGeom prst="rect">
            <a:avLst/>
          </a:prstGeom>
        </p:spPr>
        <p:txBody>
          <a:bodyPr vert="horz">
            <a:normAutofit fontScale="85000" lnSpcReduction="10000"/>
          </a:bodyPr>
          <a:lstStyle/>
          <a:p>
            <a:pPr marL="365760" marR="0" lvl="0" indent="-256032" algn="ctr" defTabSz="914400" rtl="0" eaLnBrk="1" fontAlgn="auto" latinLnBrk="0" hangingPunct="1">
              <a:lnSpc>
                <a:spcPct val="100000"/>
              </a:lnSpc>
              <a:spcBef>
                <a:spcPts val="400"/>
              </a:spcBef>
              <a:spcAft>
                <a:spcPts val="0"/>
              </a:spcAft>
              <a:buClr>
                <a:schemeClr val="accent1"/>
              </a:buClr>
              <a:buSzPct val="68000"/>
              <a:buFont typeface="Wingdings 3"/>
              <a:buNone/>
              <a:tabLst/>
              <a:defRPr/>
            </a:pPr>
            <a:endParaRPr kumimoji="0" lang="en-US" sz="2400" b="0" i="0" u="none" strike="noStrike" kern="1200" cap="none" spc="0" normalizeH="0" baseline="0" noProof="0" dirty="0" smtClean="0">
              <a:ln>
                <a:noFill/>
              </a:ln>
              <a:solidFill>
                <a:schemeClr val="tx1"/>
              </a:solidFill>
              <a:effectLst/>
              <a:uLnTx/>
              <a:uFillTx/>
              <a:latin typeface="Arial Black" pitchFamily="34" charset="0"/>
              <a:ea typeface="+mn-ea"/>
              <a:cs typeface="+mn-cs"/>
            </a:endParaRPr>
          </a:p>
          <a:p>
            <a:pPr marL="365760" marR="0" lvl="0" indent="-256032" algn="ctr" defTabSz="914400" rtl="0" eaLnBrk="1" fontAlgn="auto" latinLnBrk="0" hangingPunct="1">
              <a:lnSpc>
                <a:spcPct val="100000"/>
              </a:lnSpc>
              <a:spcBef>
                <a:spcPts val="400"/>
              </a:spcBef>
              <a:spcAft>
                <a:spcPts val="0"/>
              </a:spcAft>
              <a:buClr>
                <a:schemeClr val="accent1"/>
              </a:buClr>
              <a:buSzPct val="68000"/>
              <a:buFont typeface="Wingdings 3"/>
              <a:buNone/>
              <a:tabLst/>
              <a:defRPr/>
            </a:pPr>
            <a:endParaRPr kumimoji="0" lang="en-US" sz="2400" b="0" i="0" u="none" strike="noStrike" kern="1200" cap="none" spc="0" normalizeH="0" baseline="0" noProof="0" dirty="0" smtClean="0">
              <a:ln>
                <a:noFill/>
              </a:ln>
              <a:solidFill>
                <a:schemeClr val="tx1"/>
              </a:solidFill>
              <a:effectLst/>
              <a:uLnTx/>
              <a:uFillTx/>
              <a:latin typeface="Arial Black" pitchFamily="34" charset="0"/>
              <a:ea typeface="+mn-ea"/>
              <a:cs typeface="+mn-cs"/>
            </a:endParaRPr>
          </a:p>
          <a:p>
            <a:pPr marL="365760" marR="0" lvl="0" indent="-256032" algn="ctr" defTabSz="914400" rtl="0" eaLnBrk="1" fontAlgn="auto" latinLnBrk="0" hangingPunct="1">
              <a:lnSpc>
                <a:spcPct val="100000"/>
              </a:lnSpc>
              <a:spcBef>
                <a:spcPts val="400"/>
              </a:spcBef>
              <a:spcAft>
                <a:spcPts val="0"/>
              </a:spcAft>
              <a:buClr>
                <a:schemeClr val="accent1"/>
              </a:buClr>
              <a:buSzPct val="68000"/>
              <a:buFont typeface="Wingdings 3"/>
              <a:buNone/>
              <a:tabLst/>
              <a:defRPr/>
            </a:pPr>
            <a:r>
              <a:rPr kumimoji="0" lang="en-US" sz="8500" b="0" i="0" u="none" strike="noStrike" kern="1200" cap="none" spc="0" normalizeH="0" baseline="0" noProof="0" dirty="0" smtClean="0">
                <a:ln>
                  <a:noFill/>
                </a:ln>
                <a:solidFill>
                  <a:schemeClr val="tx1"/>
                </a:solidFill>
                <a:effectLst/>
                <a:uLnTx/>
                <a:uFillTx/>
                <a:latin typeface="Arial Black" pitchFamily="34" charset="0"/>
                <a:ea typeface="+mn-ea"/>
                <a:cs typeface="+mn-cs"/>
              </a:rPr>
              <a:t>INFORMATION</a:t>
            </a:r>
            <a:r>
              <a:rPr kumimoji="0" lang="en-US" sz="8500" b="0" i="0" u="none" strike="noStrike" kern="1200" cap="none" spc="0" normalizeH="0" noProof="0" dirty="0" smtClean="0">
                <a:ln>
                  <a:noFill/>
                </a:ln>
                <a:solidFill>
                  <a:schemeClr val="tx1"/>
                </a:solidFill>
                <a:effectLst/>
                <a:uLnTx/>
                <a:uFillTx/>
                <a:latin typeface="Arial Black" pitchFamily="34" charset="0"/>
                <a:ea typeface="+mn-ea"/>
                <a:cs typeface="+mn-cs"/>
              </a:rPr>
              <a:t> </a:t>
            </a:r>
            <a:r>
              <a:rPr kumimoji="0" lang="en-US" sz="7200" b="0" i="0" u="none" strike="noStrike" kern="1200" cap="none" spc="0" normalizeH="0" noProof="0" dirty="0" smtClean="0">
                <a:ln>
                  <a:noFill/>
                </a:ln>
                <a:solidFill>
                  <a:schemeClr val="tx1"/>
                </a:solidFill>
                <a:effectLst/>
                <a:uLnTx/>
                <a:uFillTx/>
                <a:latin typeface="Arial Black" pitchFamily="34" charset="0"/>
                <a:ea typeface="+mn-ea"/>
                <a:cs typeface="+mn-cs"/>
              </a:rPr>
              <a:t>and </a:t>
            </a:r>
            <a:r>
              <a:rPr kumimoji="0" lang="en-US" sz="6400" b="0" i="0" u="none" strike="noStrike" kern="1200" cap="none" spc="0" normalizeH="0" noProof="0" dirty="0" smtClean="0">
                <a:ln>
                  <a:noFill/>
                </a:ln>
                <a:solidFill>
                  <a:schemeClr val="tx1"/>
                </a:solidFill>
                <a:effectLst/>
                <a:uLnTx/>
                <a:uFillTx/>
                <a:latin typeface="Arial Black" pitchFamily="34" charset="0"/>
                <a:ea typeface="+mn-ea"/>
                <a:cs typeface="+mn-cs"/>
              </a:rPr>
              <a:t>COMMUNICATIONS</a:t>
            </a:r>
            <a:endParaRPr kumimoji="0" lang="en-US" sz="5800" b="0" i="0" u="none" strike="noStrike" kern="1200" cap="none" spc="0" normalizeH="0" noProof="0" dirty="0" smtClean="0">
              <a:ln>
                <a:noFill/>
              </a:ln>
              <a:solidFill>
                <a:schemeClr val="tx1"/>
              </a:solidFill>
              <a:effectLst/>
              <a:uLnTx/>
              <a:uFillTx/>
              <a:latin typeface="Arial Black" pitchFamily="34" charset="0"/>
              <a:ea typeface="+mn-ea"/>
              <a:cs typeface="+mn-cs"/>
            </a:endParaRPr>
          </a:p>
          <a:p>
            <a:pPr marL="365760" marR="0" lvl="0" indent="-256032" algn="ctr" defTabSz="914400" rtl="0" eaLnBrk="1" fontAlgn="auto" latinLnBrk="0" hangingPunct="1">
              <a:lnSpc>
                <a:spcPct val="100000"/>
              </a:lnSpc>
              <a:spcBef>
                <a:spcPts val="400"/>
              </a:spcBef>
              <a:spcAft>
                <a:spcPts val="0"/>
              </a:spcAft>
              <a:buClr>
                <a:schemeClr val="accent1"/>
              </a:buClr>
              <a:buSzPct val="68000"/>
              <a:buFont typeface="Wingdings 3"/>
              <a:buNone/>
              <a:tabLst/>
              <a:defRPr/>
            </a:pPr>
            <a:r>
              <a:rPr lang="en-US" sz="8500" baseline="0" dirty="0" smtClean="0">
                <a:latin typeface="Arial Black" pitchFamily="34" charset="0"/>
              </a:rPr>
              <a:t>TECHNOLOGY</a:t>
            </a:r>
            <a:endParaRPr kumimoji="0" lang="en-US" sz="4400" b="0" i="0" u="none" strike="noStrike" kern="1200" cap="none" spc="0" normalizeH="0" baseline="0" noProof="0" dirty="0" smtClean="0">
              <a:ln>
                <a:noFill/>
              </a:ln>
              <a:solidFill>
                <a:schemeClr val="tx1"/>
              </a:solidFill>
              <a:effectLst/>
              <a:uLnTx/>
              <a:uFillTx/>
              <a:latin typeface="Arial Black" pitchFamily="34" charset="0"/>
              <a:ea typeface="+mn-ea"/>
              <a:cs typeface="+mn-cs"/>
            </a:endParaRPr>
          </a:p>
          <a:p>
            <a:pPr marL="365760" marR="0" lvl="0" indent="-256032" algn="ctr" defTabSz="914400" rtl="0" eaLnBrk="1" fontAlgn="auto" latinLnBrk="0" hangingPunct="1">
              <a:lnSpc>
                <a:spcPct val="100000"/>
              </a:lnSpc>
              <a:spcBef>
                <a:spcPts val="400"/>
              </a:spcBef>
              <a:spcAft>
                <a:spcPts val="0"/>
              </a:spcAft>
              <a:buClr>
                <a:schemeClr val="accent1"/>
              </a:buClr>
              <a:buSzPct val="68000"/>
              <a:buFont typeface="Wingdings 3"/>
              <a:buNone/>
              <a:tabLst/>
              <a:defRPr/>
            </a:pPr>
            <a:r>
              <a:rPr kumimoji="0" lang="en-US" sz="5600" b="0" i="0" u="none" strike="noStrike" kern="1200" cap="none" spc="0" normalizeH="0" baseline="0" noProof="0" dirty="0" smtClean="0">
                <a:ln>
                  <a:noFill/>
                </a:ln>
                <a:solidFill>
                  <a:schemeClr val="tx1"/>
                </a:solidFill>
                <a:effectLst/>
                <a:uLnTx/>
                <a:uFillTx/>
                <a:latin typeface="+mn-lt"/>
                <a:ea typeface="+mn-ea"/>
                <a:cs typeface="+mn-cs"/>
              </a:rPr>
              <a:t>Items 1-10</a:t>
            </a:r>
          </a:p>
          <a:p>
            <a:pPr marL="365760" marR="0" lvl="0" indent="-256032" algn="l" defTabSz="914400" rtl="0" eaLnBrk="1" fontAlgn="auto" latinLnBrk="0" hangingPunct="1">
              <a:lnSpc>
                <a:spcPct val="100000"/>
              </a:lnSpc>
              <a:spcBef>
                <a:spcPts val="400"/>
              </a:spcBef>
              <a:spcAft>
                <a:spcPts val="0"/>
              </a:spcAft>
              <a:buClr>
                <a:schemeClr val="accent1"/>
              </a:buClr>
              <a:buSzPct val="68000"/>
              <a:buFont typeface="Wingdings 3"/>
              <a:buNone/>
              <a:tabLst/>
              <a:defRPr/>
            </a:pPr>
            <a:endParaRPr kumimoji="0" lang="en-US" sz="2700" b="0" i="0" u="none" strike="noStrike" kern="1200" cap="none" spc="0" normalizeH="0" baseline="0" noProof="0" dirty="0" smtClean="0">
              <a:ln>
                <a:noFill/>
              </a:ln>
              <a:solidFill>
                <a:schemeClr val="tx1"/>
              </a:solidFill>
              <a:effectLst/>
              <a:uLnTx/>
              <a:uFillTx/>
              <a:latin typeface="+mn-lt"/>
              <a:ea typeface="+mn-ea"/>
              <a:cs typeface="+mn-cs"/>
            </a:endParaRPr>
          </a:p>
          <a:p>
            <a:pPr marL="365760" marR="0" lvl="0" indent="-256032" algn="l" defTabSz="914400" rtl="0" eaLnBrk="1" fontAlgn="auto" latinLnBrk="0" hangingPunct="1">
              <a:lnSpc>
                <a:spcPct val="100000"/>
              </a:lnSpc>
              <a:spcBef>
                <a:spcPts val="400"/>
              </a:spcBef>
              <a:spcAft>
                <a:spcPts val="0"/>
              </a:spcAft>
              <a:buClr>
                <a:schemeClr val="accent1"/>
              </a:buClr>
              <a:buSzPct val="68000"/>
              <a:buFont typeface="Wingdings 3"/>
              <a:buChar char=""/>
              <a:tabLst/>
              <a:defRPr/>
            </a:pPr>
            <a:endParaRPr kumimoji="0" lang="en-US" sz="27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ransition>
    <p:push/>
  </p:transition>
  <p:timing>
    <p:tnLst>
      <p:par>
        <p:cTn id="1" dur="indefinite" restart="never" nodeType="tmRoot"/>
      </p:par>
    </p:tnLst>
  </p:timing>
</p:sld>
</file>

<file path=ppt/slides/slide2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838200"/>
            <a:ext cx="8229600" cy="4525963"/>
          </a:xfrm>
        </p:spPr>
        <p:txBody>
          <a:bodyPr>
            <a:normAutofit/>
          </a:bodyPr>
          <a:lstStyle/>
          <a:p>
            <a:pPr marL="623887" lvl="0" indent="-514350">
              <a:buAutoNum type="arabicPeriod"/>
            </a:pPr>
            <a:r>
              <a:rPr lang="en-US" sz="3200" dirty="0" smtClean="0"/>
              <a:t>Which of the following is not a benefit of technology in education?</a:t>
            </a:r>
          </a:p>
          <a:p>
            <a:pPr marL="852487" lvl="0" indent="-742950">
              <a:buNone/>
            </a:pPr>
            <a:endParaRPr lang="en-US" sz="3200" dirty="0" smtClean="0"/>
          </a:p>
          <a:p>
            <a:pPr marL="973138" lvl="1" indent="-465138">
              <a:buFont typeface="+mj-lt"/>
              <a:buAutoNum type="alphaUcPeriod"/>
            </a:pPr>
            <a:r>
              <a:rPr lang="en-US" sz="3200" dirty="0" smtClean="0"/>
              <a:t>Improves critical-thinking abilities.</a:t>
            </a:r>
          </a:p>
          <a:p>
            <a:pPr marL="973138" lvl="1" indent="-465138">
              <a:buFont typeface="+mj-lt"/>
              <a:buAutoNum type="alphaUcPeriod"/>
            </a:pPr>
            <a:r>
              <a:rPr lang="en-US" sz="3200" dirty="0" smtClean="0"/>
              <a:t>Unlimited access to games and other internet sites.</a:t>
            </a:r>
          </a:p>
          <a:p>
            <a:pPr marL="973138" lvl="1" indent="-465138">
              <a:buFont typeface="+mj-lt"/>
              <a:buAutoNum type="alphaUcPeriod"/>
            </a:pPr>
            <a:r>
              <a:rPr lang="en-US" sz="3200" dirty="0" smtClean="0"/>
              <a:t>Allows cooperative learning.</a:t>
            </a:r>
          </a:p>
          <a:p>
            <a:pPr marL="973138" lvl="1" indent="-465138">
              <a:buFont typeface="+mj-lt"/>
              <a:buAutoNum type="alphaUcPeriod"/>
            </a:pPr>
            <a:r>
              <a:rPr lang="en-US" sz="3200" dirty="0" smtClean="0"/>
              <a:t>Increases self-expression.</a:t>
            </a:r>
          </a:p>
          <a:p>
            <a:pPr>
              <a:buNone/>
            </a:pPr>
            <a:endParaRPr lang="en-US" sz="32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238186" y="30663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533400"/>
            <a:ext cx="8229600" cy="5562600"/>
          </a:xfrm>
        </p:spPr>
        <p:txBody>
          <a:bodyPr>
            <a:noAutofit/>
          </a:bodyPr>
          <a:lstStyle/>
          <a:p>
            <a:pPr marL="566738" lvl="0" indent="-457200">
              <a:buNone/>
            </a:pPr>
            <a:r>
              <a:rPr lang="en-US" sz="2800" dirty="0" smtClean="0"/>
              <a:t>2. Which situation shows that technology can be used to motivate students to learn?</a:t>
            </a:r>
            <a:endParaRPr lang="en-US" sz="4000" dirty="0" smtClean="0"/>
          </a:p>
          <a:p>
            <a:pPr marL="1030288" lvl="1" indent="-463550">
              <a:buFont typeface="+mj-lt"/>
              <a:buAutoNum type="alphaUcPeriod"/>
            </a:pPr>
            <a:r>
              <a:rPr lang="en-US" sz="2700" dirty="0" smtClean="0"/>
              <a:t>Teacher Eric employs educational games related to the lesson they are taking.</a:t>
            </a:r>
          </a:p>
          <a:p>
            <a:pPr marL="1030288" lvl="1" indent="-463550">
              <a:buFont typeface="+mj-lt"/>
              <a:buAutoNum type="alphaUcPeriod"/>
            </a:pPr>
            <a:r>
              <a:rPr lang="en-US" sz="2700" dirty="0" smtClean="0"/>
              <a:t>Miss Cleo designs lessons which use cooperative learning with technology integration.</a:t>
            </a:r>
          </a:p>
          <a:p>
            <a:pPr marL="1030288" lvl="1" indent="-463550">
              <a:buFont typeface="+mj-lt"/>
              <a:buAutoNum type="alphaUcPeriod"/>
            </a:pPr>
            <a:r>
              <a:rPr lang="en-US" sz="2700" dirty="0" smtClean="0"/>
              <a:t>Mr. Jimmy utilizes computer assisted instruction programs so that students will learn at their own pace.</a:t>
            </a:r>
          </a:p>
          <a:p>
            <a:pPr marL="1030288" lvl="1" indent="-463550">
              <a:buFont typeface="+mj-lt"/>
              <a:buAutoNum type="alphaUcPeriod"/>
            </a:pPr>
            <a:r>
              <a:rPr lang="en-US" sz="2700" dirty="0" smtClean="0"/>
              <a:t>Teacher Sarah assigns projects to her class where self-expression and creativity is acknowledged.</a:t>
            </a:r>
          </a:p>
          <a:p>
            <a:pPr>
              <a:buNone/>
            </a:pPr>
            <a:endParaRPr lang="en-US" sz="2800" dirty="0"/>
          </a:p>
        </p:txBody>
      </p:sp>
      <p:pic>
        <p:nvPicPr>
          <p:cNvPr id="3"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238185" y="1542374"/>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143000"/>
            <a:ext cx="8229600" cy="4525963"/>
          </a:xfrm>
        </p:spPr>
        <p:txBody>
          <a:bodyPr>
            <a:normAutofit/>
          </a:bodyPr>
          <a:lstStyle/>
          <a:p>
            <a:pPr marL="566738" lvl="0" indent="-457200">
              <a:buNone/>
            </a:pPr>
            <a:r>
              <a:rPr lang="en-US" sz="3200" dirty="0" smtClean="0"/>
              <a:t>3. He is considered as the “Father of Modern Media in Education”.</a:t>
            </a:r>
          </a:p>
          <a:p>
            <a:pPr marL="566738" lvl="0" indent="-457200">
              <a:buNone/>
            </a:pPr>
            <a:endParaRPr lang="en-US" sz="3200" dirty="0" smtClean="0"/>
          </a:p>
          <a:p>
            <a:pPr marL="914400" lvl="0" indent="-347663">
              <a:buFont typeface="+mj-lt"/>
              <a:buAutoNum type="alphaUcPeriod"/>
            </a:pPr>
            <a:r>
              <a:rPr lang="en-US" sz="3200" dirty="0" smtClean="0"/>
              <a:t>Jean Piaget </a:t>
            </a:r>
          </a:p>
          <a:p>
            <a:pPr marL="914400" lvl="0" indent="-347663">
              <a:buFont typeface="+mj-lt"/>
              <a:buAutoNum type="alphaUcPeriod"/>
            </a:pPr>
            <a:r>
              <a:rPr lang="en-US" sz="3200" dirty="0" smtClean="0"/>
              <a:t>Robert Gagne </a:t>
            </a:r>
          </a:p>
          <a:p>
            <a:pPr marL="914400" indent="-347663">
              <a:buFont typeface="+mj-lt"/>
              <a:buAutoNum type="alphaUcPeriod"/>
            </a:pPr>
            <a:r>
              <a:rPr lang="en-US" sz="3200" dirty="0" smtClean="0"/>
              <a:t>B.F. Skinner</a:t>
            </a:r>
          </a:p>
          <a:p>
            <a:pPr marL="914400" lvl="0" indent="-347663">
              <a:buFont typeface="+mj-lt"/>
              <a:buAutoNum type="alphaUcPeriod"/>
            </a:pPr>
            <a:r>
              <a:rPr lang="en-US" sz="3200" dirty="0" smtClean="0"/>
              <a:t>Edgar Dale</a:t>
            </a:r>
          </a:p>
          <a:p>
            <a:pPr>
              <a:buNone/>
            </a:pPr>
            <a:endParaRPr lang="en-US" sz="3200" dirty="0"/>
          </a:p>
        </p:txBody>
      </p:sp>
      <p:pic>
        <p:nvPicPr>
          <p:cNvPr id="4" name="Picture 4" descr="C:\Documents and Settings\Administrator\Desktop\hand_right.gif"/>
          <p:cNvPicPr>
            <a:picLocks noChangeAspect="1" noChangeArrowheads="1" noCrop="1"/>
          </p:cNvPicPr>
          <p:nvPr/>
        </p:nvPicPr>
        <p:blipFill>
          <a:blip r:embed="rId3">
            <a:extLst>
              <a:ext uri="{28A0092B-C50C-407E-A947-70E740481C1C}">
                <a14:useLocalDpi xmlns="" xmlns:a14="http://schemas.microsoft.com/office/drawing/2010/main" val="0"/>
              </a:ext>
            </a:extLst>
          </a:blip>
          <a:srcRect/>
          <a:stretch>
            <a:fillRect/>
          </a:stretch>
        </p:blipFill>
        <p:spPr bwMode="auto">
          <a:xfrm rot="21434720">
            <a:off x="390585" y="45141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28600" y="1600200"/>
            <a:ext cx="8686800" cy="4800600"/>
          </a:xfrm>
        </p:spPr>
        <p:txBody>
          <a:bodyPr>
            <a:normAutofit/>
          </a:bodyPr>
          <a:lstStyle/>
          <a:p>
            <a:r>
              <a:rPr lang="en-US" sz="3200" b="1" dirty="0" smtClean="0"/>
              <a:t>Jean Piaget</a:t>
            </a:r>
            <a:r>
              <a:rPr lang="en-US" sz="3200" dirty="0" smtClean="0"/>
              <a:t>- Father of Developmental Psychology.</a:t>
            </a:r>
          </a:p>
          <a:p>
            <a:r>
              <a:rPr lang="en-US" sz="3200" b="1" dirty="0" smtClean="0"/>
              <a:t>Robert Gagne</a:t>
            </a:r>
            <a:r>
              <a:rPr lang="en-US" sz="3200" dirty="0" smtClean="0"/>
              <a:t>- Father of Instructional System Design.</a:t>
            </a:r>
          </a:p>
          <a:p>
            <a:r>
              <a:rPr lang="en-US" sz="3200" b="1" dirty="0" smtClean="0"/>
              <a:t>B.F Skinner</a:t>
            </a:r>
            <a:r>
              <a:rPr lang="en-US" sz="3200" dirty="0" smtClean="0"/>
              <a:t>- Father of Behaviorism.</a:t>
            </a:r>
            <a:endParaRPr lang="en-US" sz="3200" b="1" dirty="0" smtClean="0"/>
          </a:p>
        </p:txBody>
      </p:sp>
    </p:spTree>
  </p:cSld>
  <p:clrMapOvr>
    <a:masterClrMapping/>
  </p:clrMapOvr>
  <p:transition>
    <p:push/>
  </p:transition>
  <p:timing>
    <p:tnLst>
      <p:par>
        <p:cTn id="1" dur="indefinite" restart="never" nodeType="tmRoot"/>
      </p:par>
    </p:tnLst>
  </p:timing>
</p:sld>
</file>

<file path=ppt/slides/slide3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1000" y="609600"/>
            <a:ext cx="8229600" cy="4525963"/>
          </a:xfrm>
        </p:spPr>
        <p:txBody>
          <a:bodyPr>
            <a:noAutofit/>
          </a:bodyPr>
          <a:lstStyle/>
          <a:p>
            <a:pPr marL="566738" lvl="0" indent="-457200">
              <a:buNone/>
            </a:pPr>
            <a:r>
              <a:rPr lang="en-US" sz="3200" dirty="0" smtClean="0"/>
              <a:t>4. It is a term to denote a whole range of technologies associated with processing information and with sending and receiving messages.</a:t>
            </a:r>
          </a:p>
          <a:p>
            <a:pPr marL="566738" lvl="0" indent="-457200">
              <a:buNone/>
            </a:pPr>
            <a:endParaRPr lang="en-US" sz="3200" dirty="0" smtClean="0"/>
          </a:p>
          <a:p>
            <a:pPr marL="973138" lvl="1" indent="-406400">
              <a:buFont typeface="+mj-lt"/>
              <a:buAutoNum type="alphaUcPeriod"/>
            </a:pPr>
            <a:r>
              <a:rPr lang="en-US" sz="3200" dirty="0" smtClean="0"/>
              <a:t>Educational Technology</a:t>
            </a:r>
          </a:p>
          <a:p>
            <a:pPr marL="973138" lvl="1" indent="-406400">
              <a:buFont typeface="+mj-lt"/>
              <a:buAutoNum type="alphaUcPeriod"/>
            </a:pPr>
            <a:r>
              <a:rPr lang="en-US" sz="3200" dirty="0" smtClean="0"/>
              <a:t>Information and Communication Technology </a:t>
            </a:r>
          </a:p>
          <a:p>
            <a:pPr marL="973138" lvl="1" indent="-406400">
              <a:buFont typeface="+mj-lt"/>
              <a:buAutoNum type="alphaUcPeriod"/>
            </a:pPr>
            <a:r>
              <a:rPr lang="en-US" sz="3200" dirty="0" smtClean="0"/>
              <a:t>Media Technology</a:t>
            </a:r>
          </a:p>
          <a:p>
            <a:pPr marL="973138" lvl="1" indent="-406400">
              <a:buFont typeface="+mj-lt"/>
              <a:buAutoNum type="alphaUcPeriod"/>
            </a:pPr>
            <a:r>
              <a:rPr lang="en-US" sz="3200" dirty="0" smtClean="0"/>
              <a:t>Instructional Systems Design</a:t>
            </a:r>
          </a:p>
          <a:p>
            <a:pPr>
              <a:buNone/>
            </a:pPr>
            <a:endParaRPr lang="en-US" sz="32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238185" y="3828374"/>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1000" y="990600"/>
            <a:ext cx="8229600" cy="4525963"/>
          </a:xfrm>
        </p:spPr>
        <p:txBody>
          <a:bodyPr>
            <a:normAutofit/>
          </a:bodyPr>
          <a:lstStyle/>
          <a:p>
            <a:r>
              <a:rPr lang="en-US" sz="2800" b="1" dirty="0" smtClean="0"/>
              <a:t>Educational Technology</a:t>
            </a:r>
            <a:r>
              <a:rPr lang="en-US" sz="2800" dirty="0" smtClean="0"/>
              <a:t>- is the study and ethical practice of facilitating e-learning.</a:t>
            </a:r>
          </a:p>
          <a:p>
            <a:r>
              <a:rPr lang="en-US" sz="2800" b="1" dirty="0" smtClean="0"/>
              <a:t>Media Technology</a:t>
            </a:r>
            <a:r>
              <a:rPr lang="en-US" sz="2800" dirty="0" smtClean="0"/>
              <a:t>- is a place where students are encouraged to formulate their own scientific questions, and to translate personal inspirations and curiosities into their own research projects. </a:t>
            </a:r>
          </a:p>
          <a:p>
            <a:r>
              <a:rPr lang="en-US" sz="2800" b="1" dirty="0" smtClean="0"/>
              <a:t>Instructional Systems Design</a:t>
            </a:r>
            <a:r>
              <a:rPr lang="en-US" sz="2800" dirty="0" smtClean="0"/>
              <a:t>- the process of designing and developing instructional courses or materials. </a:t>
            </a:r>
            <a:endParaRPr lang="en-US" sz="2800" dirty="0"/>
          </a:p>
        </p:txBody>
      </p:sp>
    </p:spTree>
  </p:cSld>
  <p:clrMapOvr>
    <a:masterClrMapping/>
  </p:clrMapOvr>
  <p:transition>
    <p:push/>
  </p:transition>
  <p:timing>
    <p:tnLst>
      <p:par>
        <p:cTn id="1" dur="indefinite" restart="never" nodeType="tmRoot"/>
      </p:par>
    </p:tnLst>
  </p:timing>
</p:sld>
</file>

<file path=ppt/slides/slide3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914400"/>
            <a:ext cx="8229600" cy="4525963"/>
          </a:xfrm>
        </p:spPr>
        <p:txBody>
          <a:bodyPr>
            <a:normAutofit/>
          </a:bodyPr>
          <a:lstStyle/>
          <a:p>
            <a:pPr marL="508000" lvl="0" indent="-398463">
              <a:buNone/>
            </a:pPr>
            <a:r>
              <a:rPr lang="en-US" sz="3200" dirty="0" smtClean="0"/>
              <a:t>5. A methodology widely used for developing new training programs.</a:t>
            </a:r>
          </a:p>
          <a:p>
            <a:pPr marL="508000" lvl="0" indent="-398463">
              <a:buNone/>
            </a:pPr>
            <a:endParaRPr lang="en-US" sz="3200" dirty="0" smtClean="0"/>
          </a:p>
          <a:p>
            <a:pPr marL="855663" lvl="0" indent="-347663">
              <a:buFont typeface="+mj-lt"/>
              <a:buAutoNum type="alphaUcPeriod"/>
            </a:pPr>
            <a:r>
              <a:rPr lang="en-US" sz="3200" dirty="0" smtClean="0"/>
              <a:t>Microsoft 	</a:t>
            </a:r>
          </a:p>
          <a:p>
            <a:pPr marL="855663" lvl="0" indent="-347663">
              <a:buFont typeface="+mj-lt"/>
              <a:buAutoNum type="alphaUcPeriod"/>
            </a:pPr>
            <a:r>
              <a:rPr lang="en-US" sz="3200" dirty="0" smtClean="0"/>
              <a:t>World Wide Web 	</a:t>
            </a:r>
          </a:p>
          <a:p>
            <a:pPr marL="855663" lvl="0" indent="-347663">
              <a:buFont typeface="+mj-lt"/>
              <a:buAutoNum type="alphaUcPeriod"/>
            </a:pPr>
            <a:r>
              <a:rPr lang="en-US" sz="3200" dirty="0" smtClean="0"/>
              <a:t>Instructional Systems Design</a:t>
            </a:r>
          </a:p>
          <a:p>
            <a:pPr marL="855663" lvl="0" indent="-347663">
              <a:buFont typeface="+mj-lt"/>
              <a:buAutoNum type="alphaUcPeriod"/>
            </a:pPr>
            <a:r>
              <a:rPr lang="en-US" sz="3200" dirty="0" smtClean="0"/>
              <a:t>Computer Technology</a:t>
            </a:r>
          </a:p>
          <a:p>
            <a:pPr>
              <a:buNone/>
            </a:pPr>
            <a:endParaRPr lang="en-US" sz="32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161984" y="38283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219200"/>
            <a:ext cx="8229600" cy="4525963"/>
          </a:xfrm>
        </p:spPr>
        <p:txBody>
          <a:bodyPr>
            <a:normAutofit/>
          </a:bodyPr>
          <a:lstStyle/>
          <a:p>
            <a:r>
              <a:rPr lang="en-US" b="1" dirty="0" smtClean="0"/>
              <a:t>Microsoft</a:t>
            </a:r>
            <a:r>
              <a:rPr lang="en-US" dirty="0" smtClean="0"/>
              <a:t>-  technology corporation that focuses on the development and implementation of software</a:t>
            </a:r>
          </a:p>
          <a:p>
            <a:r>
              <a:rPr lang="en-US" b="1" dirty="0" smtClean="0"/>
              <a:t>World Wide Web</a:t>
            </a:r>
            <a:r>
              <a:rPr lang="en-US" dirty="0" smtClean="0"/>
              <a:t>- is a system of interlinked hypertext documents accessed via the Internet.</a:t>
            </a:r>
          </a:p>
          <a:p>
            <a:r>
              <a:rPr lang="en-US" b="1" dirty="0" smtClean="0"/>
              <a:t>Computer Technology-</a:t>
            </a:r>
            <a:r>
              <a:rPr lang="en-US" dirty="0" smtClean="0"/>
              <a:t> the activity of designing and constructing and programming computers.</a:t>
            </a:r>
            <a:endParaRPr lang="en-US" dirty="0"/>
          </a:p>
        </p:txBody>
      </p:sp>
    </p:spTree>
  </p:cSld>
  <p:clrMapOvr>
    <a:masterClrMapping/>
  </p:clrMapOvr>
  <p:transition>
    <p:push/>
  </p:transition>
  <p:timing>
    <p:tnLst>
      <p:par>
        <p:cTn id="1" dur="indefinite" restart="never" nodeType="tmRoot"/>
      </p:par>
    </p:tnLst>
  </p:timing>
</p:sld>
</file>

<file path=ppt/slides/slide3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143000"/>
            <a:ext cx="8229600" cy="4525963"/>
          </a:xfrm>
        </p:spPr>
        <p:txBody>
          <a:bodyPr>
            <a:noAutofit/>
          </a:bodyPr>
          <a:lstStyle/>
          <a:p>
            <a:pPr marL="508000" lvl="0" indent="-398463">
              <a:buNone/>
            </a:pPr>
            <a:r>
              <a:rPr lang="en-US" sz="3200" dirty="0" smtClean="0"/>
              <a:t>6. This is considered to be the first manual data processing device developed in China in the 12</a:t>
            </a:r>
            <a:r>
              <a:rPr lang="en-US" sz="3200" baseline="30000" dirty="0" smtClean="0"/>
              <a:t>th</a:t>
            </a:r>
            <a:r>
              <a:rPr lang="en-US" sz="3200" dirty="0" smtClean="0"/>
              <a:t> century A.D.</a:t>
            </a:r>
          </a:p>
          <a:p>
            <a:pPr marL="508000" lvl="0" indent="-398463">
              <a:buNone/>
            </a:pPr>
            <a:endParaRPr lang="en-US" sz="3200" dirty="0" smtClean="0"/>
          </a:p>
          <a:p>
            <a:pPr marL="798513" indent="-290513">
              <a:buFont typeface="+mj-lt"/>
              <a:buAutoNum type="alphaUcPeriod"/>
            </a:pPr>
            <a:r>
              <a:rPr lang="en-US" sz="3200" dirty="0" smtClean="0"/>
              <a:t>Hieroglyphics </a:t>
            </a:r>
          </a:p>
          <a:p>
            <a:pPr marL="798513" indent="-290513">
              <a:buFont typeface="+mj-lt"/>
              <a:buAutoNum type="alphaUcPeriod"/>
            </a:pPr>
            <a:r>
              <a:rPr lang="en-US" sz="3200" dirty="0" smtClean="0"/>
              <a:t>Papyrus</a:t>
            </a:r>
          </a:p>
          <a:p>
            <a:pPr marL="798513" indent="-290513">
              <a:buFont typeface="+mj-lt"/>
              <a:buAutoNum type="alphaUcPeriod"/>
            </a:pPr>
            <a:r>
              <a:rPr lang="en-US" sz="3200" dirty="0" smtClean="0"/>
              <a:t>Printing Press</a:t>
            </a:r>
          </a:p>
          <a:p>
            <a:pPr marL="798513" indent="-290513">
              <a:buFont typeface="+mj-lt"/>
              <a:buAutoNum type="alphaUcPeriod"/>
            </a:pPr>
            <a:r>
              <a:rPr lang="en-US" sz="3200" dirty="0" smtClean="0"/>
              <a:t>Abacus</a:t>
            </a:r>
            <a:endParaRPr lang="en-US" sz="3200" dirty="0"/>
          </a:p>
        </p:txBody>
      </p:sp>
      <p:pic>
        <p:nvPicPr>
          <p:cNvPr id="4" name="Picture 4" descr="C:\Documents and Settings\Administrator\Desktop\hand_right.gif"/>
          <p:cNvPicPr>
            <a:picLocks noChangeAspect="1" noChangeArrowheads="1" noCrop="1"/>
          </p:cNvPicPr>
          <p:nvPr/>
        </p:nvPicPr>
        <p:blipFill>
          <a:blip r:embed="rId3">
            <a:extLst>
              <a:ext uri="{28A0092B-C50C-407E-A947-70E740481C1C}">
                <a14:useLocalDpi xmlns="" xmlns:a14="http://schemas.microsoft.com/office/drawing/2010/main" val="0"/>
              </a:ext>
            </a:extLst>
          </a:blip>
          <a:srcRect/>
          <a:stretch>
            <a:fillRect/>
          </a:stretch>
        </p:blipFill>
        <p:spPr bwMode="auto">
          <a:xfrm rot="21434720">
            <a:off x="314386" y="5504774"/>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371600"/>
            <a:ext cx="8382000" cy="5181600"/>
          </a:xfrm>
        </p:spPr>
        <p:txBody>
          <a:bodyPr>
            <a:normAutofit/>
          </a:bodyPr>
          <a:lstStyle/>
          <a:p>
            <a:r>
              <a:rPr lang="en-US" sz="2800" b="1" dirty="0" smtClean="0"/>
              <a:t>Hieroglyphics</a:t>
            </a:r>
            <a:r>
              <a:rPr lang="en-US" sz="2800" dirty="0" smtClean="0"/>
              <a:t>- a formal writing system used by the ancient Egyptians.</a:t>
            </a:r>
          </a:p>
          <a:p>
            <a:r>
              <a:rPr lang="en-US" sz="2800" b="1" dirty="0" smtClean="0"/>
              <a:t>Papyrus</a:t>
            </a:r>
            <a:r>
              <a:rPr lang="en-US" sz="2800" dirty="0" smtClean="0"/>
              <a:t>- is a natural handwriting note-taking app that you use just like paper, but with the flexibility and advantages of modern technology. </a:t>
            </a:r>
          </a:p>
          <a:p>
            <a:r>
              <a:rPr lang="en-US" sz="2800" b="1" dirty="0" smtClean="0"/>
              <a:t>Printing press</a:t>
            </a:r>
            <a:r>
              <a:rPr lang="en-US" sz="2800" dirty="0" smtClean="0"/>
              <a:t>- is a device for evenly printing ink on to a print medium (substrate) such as paper or cloth.</a:t>
            </a:r>
            <a:endParaRPr lang="en-US" sz="2800" dirty="0"/>
          </a:p>
        </p:txBody>
      </p:sp>
    </p:spTree>
  </p:cSld>
  <p:clrMapOvr>
    <a:masterClrMapping/>
  </p:clrMapOvr>
  <p:transition>
    <p:push/>
  </p:transition>
  <p:timing>
    <p:tnLst>
      <p:par>
        <p:cTn id="1" dur="indefinite" restart="never" nodeType="tmRoot"/>
      </p:par>
    </p:tnLst>
  </p:timing>
</p:sld>
</file>

<file path=ppt/slides/slide3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1000" y="990600"/>
            <a:ext cx="8229600" cy="4525963"/>
          </a:xfrm>
        </p:spPr>
        <p:txBody>
          <a:bodyPr>
            <a:noAutofit/>
          </a:bodyPr>
          <a:lstStyle/>
          <a:p>
            <a:pPr marL="566738" lvl="0" indent="-457200">
              <a:buNone/>
            </a:pPr>
            <a:r>
              <a:rPr lang="en-US" sz="3200" dirty="0" smtClean="0"/>
              <a:t>7. He is considered to be the “Father of Computing” because of his contributions to the basic design of computer.</a:t>
            </a:r>
          </a:p>
          <a:p>
            <a:pPr marL="566738" lvl="0" indent="-457200">
              <a:buNone/>
            </a:pPr>
            <a:endParaRPr lang="en-US" sz="3200" dirty="0" smtClean="0"/>
          </a:p>
          <a:p>
            <a:pPr marL="914400" indent="-347663">
              <a:buFont typeface="+mj-lt"/>
              <a:buAutoNum type="alphaUcPeriod"/>
            </a:pPr>
            <a:r>
              <a:rPr lang="en-US" sz="3200" dirty="0" smtClean="0"/>
              <a:t>John Napier </a:t>
            </a:r>
          </a:p>
          <a:p>
            <a:pPr marL="914400" indent="-347663">
              <a:buFont typeface="+mj-lt"/>
              <a:buAutoNum type="alphaUcPeriod"/>
            </a:pPr>
            <a:r>
              <a:rPr lang="en-US" sz="3200" dirty="0" smtClean="0"/>
              <a:t>William </a:t>
            </a:r>
            <a:r>
              <a:rPr lang="en-US" sz="3200" dirty="0" err="1" smtClean="0"/>
              <a:t>Oughtred</a:t>
            </a:r>
            <a:endParaRPr lang="en-US" sz="3200" dirty="0" smtClean="0"/>
          </a:p>
          <a:p>
            <a:pPr marL="914400" indent="-347663">
              <a:buFont typeface="+mj-lt"/>
              <a:buAutoNum type="alphaUcPeriod"/>
            </a:pPr>
            <a:r>
              <a:rPr lang="en-US" sz="3200" dirty="0" err="1" smtClean="0"/>
              <a:t>Blaise</a:t>
            </a:r>
            <a:r>
              <a:rPr lang="en-US" sz="3200" dirty="0" smtClean="0"/>
              <a:t> Pascal</a:t>
            </a:r>
          </a:p>
          <a:p>
            <a:pPr marL="914400" indent="-347663">
              <a:buFont typeface="+mj-lt"/>
              <a:buAutoNum type="alphaUcPeriod"/>
            </a:pPr>
            <a:r>
              <a:rPr lang="en-US" sz="3200" dirty="0" smtClean="0"/>
              <a:t>Charles Babbage</a:t>
            </a:r>
            <a:endParaRPr lang="en-US" sz="3200" dirty="0"/>
          </a:p>
        </p:txBody>
      </p:sp>
      <p:pic>
        <p:nvPicPr>
          <p:cNvPr id="4" name="Picture 4" descr="C:\Documents and Settings\Administrator\Desktop\hand_right.gif"/>
          <p:cNvPicPr>
            <a:picLocks noChangeAspect="1" noChangeArrowheads="1" noCrop="1"/>
          </p:cNvPicPr>
          <p:nvPr/>
        </p:nvPicPr>
        <p:blipFill>
          <a:blip r:embed="rId3">
            <a:extLst>
              <a:ext uri="{28A0092B-C50C-407E-A947-70E740481C1C}">
                <a14:useLocalDpi xmlns="" xmlns:a14="http://schemas.microsoft.com/office/drawing/2010/main" val="0"/>
              </a:ext>
            </a:extLst>
          </a:blip>
          <a:srcRect/>
          <a:stretch>
            <a:fillRect/>
          </a:stretch>
        </p:blipFill>
        <p:spPr bwMode="auto">
          <a:xfrm rot="21434720">
            <a:off x="238185" y="53523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sz="3600" b="1" dirty="0" smtClean="0"/>
              <a:t>John Napier</a:t>
            </a:r>
            <a:r>
              <a:rPr lang="en-US" sz="3600" dirty="0" smtClean="0"/>
              <a:t>- father of all modern science.</a:t>
            </a:r>
          </a:p>
          <a:p>
            <a:r>
              <a:rPr lang="en-US" sz="3600" b="1" dirty="0" smtClean="0"/>
              <a:t>William </a:t>
            </a:r>
            <a:r>
              <a:rPr lang="en-US" sz="3600" b="1" dirty="0" err="1" smtClean="0"/>
              <a:t>Oughtred</a:t>
            </a:r>
            <a:r>
              <a:rPr lang="en-US" sz="3600" dirty="0" smtClean="0"/>
              <a:t>- inventors of early slide rule.</a:t>
            </a:r>
          </a:p>
          <a:p>
            <a:r>
              <a:rPr lang="en-US" sz="3600" b="1" dirty="0" err="1" smtClean="0"/>
              <a:t>Blaise</a:t>
            </a:r>
            <a:r>
              <a:rPr lang="en-US" sz="3600" b="1" dirty="0" smtClean="0"/>
              <a:t> Pascal</a:t>
            </a:r>
            <a:r>
              <a:rPr lang="en-US" sz="3600" dirty="0" smtClean="0"/>
              <a:t>- inventor of first digital calculator.</a:t>
            </a:r>
          </a:p>
          <a:p>
            <a:endParaRPr lang="en-US" sz="3600" dirty="0"/>
          </a:p>
        </p:txBody>
      </p:sp>
    </p:spTree>
  </p:cSld>
  <p:clrMapOvr>
    <a:masterClrMapping/>
  </p:clrMapOvr>
  <p:transition>
    <p:push/>
  </p:transition>
  <p:timing>
    <p:tnLst>
      <p:par>
        <p:cTn id="1" dur="indefinite" restart="never" nodeType="tmRoot"/>
      </p:par>
    </p:tnLst>
  </p:timing>
</p:sld>
</file>

<file path=ppt/slides/slide3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990600"/>
            <a:ext cx="8229600" cy="4525963"/>
          </a:xfrm>
        </p:spPr>
        <p:txBody>
          <a:bodyPr>
            <a:normAutofit/>
          </a:bodyPr>
          <a:lstStyle/>
          <a:p>
            <a:pPr marL="508000" lvl="0" indent="-398463">
              <a:buNone/>
            </a:pPr>
            <a:r>
              <a:rPr lang="en-US" sz="3200" dirty="0" smtClean="0"/>
              <a:t>8. Which is the standard input device that accepts letters, numbers and commands from the user?</a:t>
            </a:r>
          </a:p>
          <a:p>
            <a:pPr marL="508000" lvl="0" indent="-398463">
              <a:buNone/>
            </a:pPr>
            <a:endParaRPr lang="en-US" sz="3200" dirty="0" smtClean="0"/>
          </a:p>
          <a:p>
            <a:pPr marL="914400" lvl="0" indent="-406400">
              <a:buFont typeface="+mj-lt"/>
              <a:buAutoNum type="alphaUcPeriod"/>
            </a:pPr>
            <a:r>
              <a:rPr lang="en-US" sz="3200" dirty="0" err="1" smtClean="0"/>
              <a:t>Trackpad</a:t>
            </a:r>
            <a:r>
              <a:rPr lang="en-US" sz="3200" dirty="0" smtClean="0"/>
              <a:t> 	</a:t>
            </a:r>
          </a:p>
          <a:p>
            <a:pPr marL="914400" lvl="0" indent="-406400">
              <a:buFont typeface="+mj-lt"/>
              <a:buAutoNum type="alphaUcPeriod"/>
            </a:pPr>
            <a:r>
              <a:rPr lang="en-US" sz="3200" dirty="0" err="1" smtClean="0"/>
              <a:t>Lightpen</a:t>
            </a:r>
            <a:endParaRPr lang="en-US" sz="3200" dirty="0" smtClean="0"/>
          </a:p>
          <a:p>
            <a:pPr marL="914400" lvl="0" indent="-406400">
              <a:buFont typeface="+mj-lt"/>
              <a:buAutoNum type="alphaUcPeriod"/>
            </a:pPr>
            <a:r>
              <a:rPr lang="en-US" sz="3200" dirty="0" smtClean="0"/>
              <a:t>Mouse</a:t>
            </a:r>
          </a:p>
          <a:p>
            <a:pPr marL="914400" indent="-406400">
              <a:buFont typeface="+mj-lt"/>
              <a:buAutoNum type="alphaUcPeriod"/>
            </a:pPr>
            <a:r>
              <a:rPr lang="en-US" sz="3200" dirty="0" smtClean="0"/>
              <a:t>Keyboard</a:t>
            </a:r>
          </a:p>
          <a:p>
            <a:pPr marL="508000" lvl="0" indent="-398463">
              <a:buNone/>
            </a:pPr>
            <a:endParaRPr lang="en-US" sz="3200" dirty="0" smtClean="0"/>
          </a:p>
          <a:p>
            <a:pPr>
              <a:buNone/>
            </a:pPr>
            <a:endParaRPr lang="en-US" sz="3200" dirty="0"/>
          </a:p>
        </p:txBody>
      </p:sp>
      <p:pic>
        <p:nvPicPr>
          <p:cNvPr id="4" name="Picture 4" descr="C:\Documents and Settings\Administrator\Desktop\hand_right.gif"/>
          <p:cNvPicPr>
            <a:picLocks noChangeAspect="1" noChangeArrowheads="1" noCrop="1"/>
          </p:cNvPicPr>
          <p:nvPr/>
        </p:nvPicPr>
        <p:blipFill>
          <a:blip r:embed="rId3">
            <a:extLst>
              <a:ext uri="{28A0092B-C50C-407E-A947-70E740481C1C}">
                <a14:useLocalDpi xmlns="" xmlns:a14="http://schemas.microsoft.com/office/drawing/2010/main" val="0"/>
              </a:ext>
            </a:extLst>
          </a:blip>
          <a:srcRect/>
          <a:stretch>
            <a:fillRect/>
          </a:stretch>
        </p:blipFill>
        <p:spPr bwMode="auto">
          <a:xfrm rot="21434720">
            <a:off x="314385" y="4895175"/>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1000" y="762000"/>
            <a:ext cx="8229600" cy="4525963"/>
          </a:xfrm>
        </p:spPr>
        <p:txBody>
          <a:bodyPr>
            <a:noAutofit/>
          </a:bodyPr>
          <a:lstStyle/>
          <a:p>
            <a:r>
              <a:rPr lang="en-US" sz="3200" b="1" dirty="0" err="1" smtClean="0"/>
              <a:t>Trackpad</a:t>
            </a:r>
            <a:r>
              <a:rPr lang="en-US" sz="3200" dirty="0" smtClean="0"/>
              <a:t>- is a pointing device featuring a tactile sensor</a:t>
            </a:r>
          </a:p>
          <a:p>
            <a:r>
              <a:rPr lang="en-US" sz="3200" b="1" dirty="0" err="1" smtClean="0"/>
              <a:t>Lightpen</a:t>
            </a:r>
            <a:r>
              <a:rPr lang="en-US" sz="3200" dirty="0" smtClean="0"/>
              <a:t>- is a computer input device in the form of a light-sensitive wand used in conjunction with a computer's CRT display</a:t>
            </a:r>
          </a:p>
          <a:p>
            <a:r>
              <a:rPr lang="en-US" sz="3200" b="1" dirty="0" smtClean="0"/>
              <a:t>Mouse</a:t>
            </a:r>
            <a:r>
              <a:rPr lang="en-US" sz="3200" dirty="0" smtClean="0"/>
              <a:t>-  is a pointing device that functions by detecting two-dimensional motion relative to its supporting surface</a:t>
            </a:r>
            <a:endParaRPr lang="en-US" sz="3200" dirty="0"/>
          </a:p>
        </p:txBody>
      </p:sp>
    </p:spTree>
  </p:cSld>
  <p:clrMapOvr>
    <a:masterClrMapping/>
  </p:clrMapOvr>
  <p:transition>
    <p:push/>
  </p:transition>
  <p:timing>
    <p:tnLst>
      <p:par>
        <p:cTn id="1" dur="indefinite" restart="never" nodeType="tmRoot"/>
      </p:par>
    </p:tnLst>
  </p:timing>
</p:sld>
</file>

<file path=ppt/slides/slide3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33400" y="457200"/>
            <a:ext cx="8229600" cy="4525963"/>
          </a:xfrm>
        </p:spPr>
        <p:txBody>
          <a:bodyPr>
            <a:noAutofit/>
          </a:bodyPr>
          <a:lstStyle/>
          <a:p>
            <a:pPr marL="566738" lvl="0" indent="-457200">
              <a:buNone/>
            </a:pPr>
            <a:r>
              <a:rPr lang="en-US" sz="2800" dirty="0" smtClean="0"/>
              <a:t>9. Mr. Rico carefully studies the materials he acquired from the internet. He always examines if the author is qualified to present the material. This practice is </a:t>
            </a:r>
            <a:r>
              <a:rPr lang="en-US" sz="2800" u="sng" dirty="0" smtClean="0"/>
              <a:t>			</a:t>
            </a:r>
          </a:p>
          <a:p>
            <a:pPr marL="566738" lvl="0" indent="-457200">
              <a:buNone/>
            </a:pPr>
            <a:endParaRPr lang="en-US" sz="2800" dirty="0" smtClean="0"/>
          </a:p>
          <a:p>
            <a:pPr marL="973138" lvl="1" indent="-406400">
              <a:buFont typeface="+mj-lt"/>
              <a:buAutoNum type="alphaUcPeriod"/>
            </a:pPr>
            <a:r>
              <a:rPr lang="en-US" sz="2800" dirty="0" smtClean="0"/>
              <a:t>necessary to ensure that the materials are reliable.</a:t>
            </a:r>
          </a:p>
          <a:p>
            <a:pPr marL="973138" lvl="1" indent="-406400">
              <a:buFont typeface="+mj-lt"/>
              <a:buAutoNum type="alphaUcPeriod"/>
            </a:pPr>
            <a:r>
              <a:rPr lang="en-US" sz="2800" dirty="0" smtClean="0"/>
              <a:t>unethical because he does not trust the author.</a:t>
            </a:r>
          </a:p>
          <a:p>
            <a:pPr marL="973138" lvl="1" indent="-406400">
              <a:buFont typeface="+mj-lt"/>
              <a:buAutoNum type="alphaUcPeriod"/>
            </a:pPr>
            <a:r>
              <a:rPr lang="en-US" sz="2800" dirty="0" smtClean="0"/>
              <a:t>unnecessary because all resources from the internet are dependable.</a:t>
            </a:r>
          </a:p>
          <a:p>
            <a:pPr marL="973138" lvl="1" indent="-406400">
              <a:buFont typeface="+mj-lt"/>
              <a:buAutoNum type="alphaUcPeriod"/>
            </a:pPr>
            <a:r>
              <a:rPr lang="en-US" sz="2800" dirty="0" smtClean="0"/>
              <a:t>just a waste of time.</a:t>
            </a:r>
          </a:p>
          <a:p>
            <a:pPr>
              <a:buNone/>
            </a:pPr>
            <a:endParaRPr lang="en-US" sz="28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466786" y="3218774"/>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1000" y="762000"/>
            <a:ext cx="8229600" cy="4525963"/>
          </a:xfrm>
        </p:spPr>
        <p:txBody>
          <a:bodyPr>
            <a:noAutofit/>
          </a:bodyPr>
          <a:lstStyle/>
          <a:p>
            <a:pPr marL="739775" lvl="0" indent="-630238">
              <a:buNone/>
            </a:pPr>
            <a:r>
              <a:rPr lang="en-US" sz="3200" dirty="0" smtClean="0"/>
              <a:t>10. When a teacher asks the consistency of a material taken from the internet with other available materials, he/she is concerned with its </a:t>
            </a:r>
            <a:r>
              <a:rPr lang="en-US" sz="3200" u="sng" dirty="0" smtClean="0"/>
              <a:t>			</a:t>
            </a:r>
          </a:p>
          <a:p>
            <a:pPr marL="739775" lvl="0" indent="-630238">
              <a:buNone/>
            </a:pPr>
            <a:endParaRPr lang="en-US" sz="3200" u="sng" dirty="0" smtClean="0"/>
          </a:p>
          <a:p>
            <a:pPr marL="1146175" lvl="0" indent="-347663">
              <a:buFont typeface="+mj-lt"/>
              <a:buAutoNum type="alphaUcPeriod"/>
            </a:pPr>
            <a:r>
              <a:rPr lang="en-US" sz="3200" dirty="0" smtClean="0"/>
              <a:t>relevance </a:t>
            </a:r>
          </a:p>
          <a:p>
            <a:pPr marL="1146175" lvl="0" indent="-347663">
              <a:buFont typeface="+mj-lt"/>
              <a:buAutoNum type="alphaUcPeriod"/>
            </a:pPr>
            <a:r>
              <a:rPr lang="en-US" sz="3200" dirty="0" smtClean="0"/>
              <a:t>accuracy</a:t>
            </a:r>
          </a:p>
          <a:p>
            <a:pPr marL="1146175" lvl="0" indent="-347663">
              <a:buFont typeface="+mj-lt"/>
              <a:buAutoNum type="alphaUcPeriod"/>
            </a:pPr>
            <a:r>
              <a:rPr lang="en-US" sz="3200" dirty="0" smtClean="0"/>
              <a:t>coverage</a:t>
            </a:r>
          </a:p>
          <a:p>
            <a:pPr marL="1146175" lvl="0" indent="-347663">
              <a:buFont typeface="+mj-lt"/>
              <a:buAutoNum type="alphaUcPeriod"/>
            </a:pPr>
            <a:r>
              <a:rPr lang="en-US" sz="3200" dirty="0" smtClean="0"/>
              <a:t>Currency</a:t>
            </a:r>
          </a:p>
          <a:p>
            <a:pPr marL="1146175" lvl="0" indent="-347663">
              <a:buNone/>
            </a:pPr>
            <a:endParaRPr lang="en-US" sz="3200" dirty="0" smtClean="0"/>
          </a:p>
          <a:p>
            <a:pPr marL="1146175" lvl="0" indent="-347663">
              <a:buNone/>
            </a:pPr>
            <a:endParaRPr lang="en-US" sz="3200" b="1" dirty="0" smtClean="0">
              <a:latin typeface="Arial Black" pitchFamily="34" charset="0"/>
            </a:endParaRPr>
          </a:p>
          <a:p>
            <a:pPr>
              <a:buNone/>
            </a:pPr>
            <a:endParaRPr lang="en-US" sz="3200" dirty="0"/>
          </a:p>
        </p:txBody>
      </p:sp>
      <p:pic>
        <p:nvPicPr>
          <p:cNvPr id="4" name="Picture 4" descr="C:\Documents and Settings\Administrator\Desktop\hand_right.gif"/>
          <p:cNvPicPr>
            <a:picLocks noChangeAspect="1" noChangeArrowheads="1" noCrop="1"/>
          </p:cNvPicPr>
          <p:nvPr/>
        </p:nvPicPr>
        <p:blipFill>
          <a:blip r:embed="rId2">
            <a:extLst>
              <a:ext uri="{28A0092B-C50C-407E-A947-70E740481C1C}">
                <a14:useLocalDpi xmlns="" xmlns:a14="http://schemas.microsoft.com/office/drawing/2010/main" val="0"/>
              </a:ext>
            </a:extLst>
          </a:blip>
          <a:srcRect/>
          <a:stretch>
            <a:fillRect/>
          </a:stretch>
        </p:blipFill>
        <p:spPr bwMode="auto">
          <a:xfrm rot="21434720">
            <a:off x="542985" y="4514174"/>
            <a:ext cx="774700" cy="41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33400" y="1371600"/>
            <a:ext cx="8229600" cy="4525963"/>
          </a:xfrm>
        </p:spPr>
        <p:txBody>
          <a:bodyPr>
            <a:normAutofit/>
          </a:bodyPr>
          <a:lstStyle/>
          <a:p>
            <a:r>
              <a:rPr lang="en-US" sz="3200" b="1" dirty="0" smtClean="0"/>
              <a:t>Relevance</a:t>
            </a:r>
            <a:r>
              <a:rPr lang="en-US" sz="3200" dirty="0" smtClean="0"/>
              <a:t>- to know why it matters or how it is important.</a:t>
            </a:r>
          </a:p>
          <a:p>
            <a:r>
              <a:rPr lang="en-US" sz="3200" b="1" dirty="0" smtClean="0"/>
              <a:t>Coverage</a:t>
            </a:r>
            <a:r>
              <a:rPr lang="en-US" sz="3200" dirty="0" smtClean="0"/>
              <a:t>- the extent or degree to which something is observed, analyzed, and reported.</a:t>
            </a:r>
          </a:p>
          <a:p>
            <a:r>
              <a:rPr lang="en-US" sz="3200" b="1" dirty="0" smtClean="0"/>
              <a:t>Currency</a:t>
            </a:r>
            <a:r>
              <a:rPr lang="en-US" sz="3200" dirty="0" smtClean="0"/>
              <a:t>-  general acceptance or use.</a:t>
            </a:r>
            <a:endParaRPr lang="en-US" sz="3200" dirty="0"/>
          </a:p>
        </p:txBody>
      </p:sp>
    </p:spTree>
  </p:cSld>
  <p:clrMapOvr>
    <a:masterClrMapping/>
  </p:clrMapOvr>
  <p:transition>
    <p:push/>
  </p:transition>
  <p:timing>
    <p:tnLst>
      <p:par>
        <p:cTn id="1" dur="indefinite" restart="never" nodeType="tmRoot"/>
      </p:par>
    </p:tnLst>
  </p:timing>
</p:sld>
</file>

<file path=ppt/slides/slide3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back2.jpg"/>
          <p:cNvPicPr>
            <a:picLocks noChangeAspect="1"/>
          </p:cNvPicPr>
          <p:nvPr/>
        </p:nvPicPr>
        <p:blipFill>
          <a:blip r:embed="rId2"/>
          <a:stretch>
            <a:fillRect/>
          </a:stretch>
        </p:blipFill>
        <p:spPr>
          <a:xfrm>
            <a:off x="0" y="0"/>
            <a:ext cx="9155784" cy="6858000"/>
          </a:xfrm>
          <a:prstGeom prst="rect">
            <a:avLst/>
          </a:prstGeom>
        </p:spPr>
      </p:pic>
      <p:sp>
        <p:nvSpPr>
          <p:cNvPr id="2" name="Content Placeholder 1"/>
          <p:cNvSpPr>
            <a:spLocks noGrp="1"/>
          </p:cNvSpPr>
          <p:nvPr>
            <p:ph idx="1"/>
          </p:nvPr>
        </p:nvSpPr>
        <p:spPr>
          <a:xfrm>
            <a:off x="457200" y="2255837"/>
            <a:ext cx="8382000" cy="4525963"/>
          </a:xfrm>
        </p:spPr>
        <p:txBody>
          <a:bodyPr>
            <a:normAutofit/>
          </a:bodyPr>
          <a:lstStyle/>
          <a:p>
            <a:pPr>
              <a:buNone/>
            </a:pPr>
            <a:r>
              <a:rPr lang="en-US" sz="5400" dirty="0" smtClean="0">
                <a:latin typeface="Arial Black" pitchFamily="34" charset="0"/>
              </a:rPr>
              <a:t>Here ends the slides. </a:t>
            </a:r>
          </a:p>
          <a:p>
            <a:pPr algn="ctr">
              <a:buNone/>
            </a:pPr>
            <a:r>
              <a:rPr lang="en-US" sz="8000" dirty="0" smtClean="0">
                <a:latin typeface="Arial Black" pitchFamily="34" charset="0"/>
              </a:rPr>
              <a:t>Good luck!</a:t>
            </a:r>
            <a:endParaRPr lang="en-US" sz="8000" dirty="0">
              <a:latin typeface="Arial Black" pitchFamily="34" charset="0"/>
            </a:endParaRPr>
          </a:p>
        </p:txBody>
      </p:sp>
    </p:spTree>
  </p:cSld>
  <p:clrMapOvr>
    <a:masterClrMapping/>
  </p:clrMapOvr>
  <p:transition>
    <p:push/>
  </p:transition>
  <p:timing>
    <p:tnLst>
      <p:par>
        <p:cTn id="1" dur="indefinite" restart="never" nodeType="tmRoot"/>
      </p:par>
    </p:tnLst>
  </p:timing>
</p:sld>
</file>

<file path=ppt/slides/slide3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US"/>
          </a:p>
        </p:txBody>
      </p:sp>
      <p:sp>
        <p:nvSpPr>
          <p:cNvPr id="3" name="Title 2"/>
          <p:cNvSpPr>
            <a:spLocks noGrp="1"/>
          </p:cNvSpPr>
          <p:nvPr>
            <p:ph type="title"/>
          </p:nvPr>
        </p:nvSpPr>
        <p:spPr/>
        <p:txBody>
          <a:bodyPr>
            <a:normAutofit fontScale="90000"/>
          </a:bodyPr>
          <a:lstStyle/>
          <a:p>
            <a:r>
              <a:rPr lang="en-US" dirty="0"/>
              <a:t>http://letrevieweronlineph.com/online-let-reviewer/login/index.php</a:t>
            </a:r>
          </a:p>
        </p:txBody>
      </p:sp>
    </p:spTree>
    <p:extLst>
      <p:ext uri="{BB962C8B-B14F-4D97-AF65-F5344CB8AC3E}">
        <p14:creationId xmlns="" xmlns:p14="http://schemas.microsoft.com/office/powerpoint/2010/main" val="2778521024"/>
      </p:ext>
    </p:extLst>
  </p:cSld>
  <p:clrMapOvr>
    <a:masterClrMapping/>
  </p:clrMapOvr>
  <p:transition>
    <p:push/>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2146</TotalTime>
  <Words>9165</Words>
  <Application>Microsoft Office PowerPoint</Application>
  <PresentationFormat>On-screen Show (4:3)</PresentationFormat>
  <Paragraphs>1774</Paragraphs>
  <Slides>316</Slides>
  <Notes>67</Notes>
  <HiddenSlides>0</HiddenSlides>
  <MMClips>0</MMClips>
  <ScaleCrop>false</ScaleCrop>
  <HeadingPairs>
    <vt:vector size="4" baseType="variant">
      <vt:variant>
        <vt:lpstr>Theme</vt:lpstr>
      </vt:variant>
      <vt:variant>
        <vt:i4>1</vt:i4>
      </vt:variant>
      <vt:variant>
        <vt:lpstr>Slide Titles</vt:lpstr>
      </vt:variant>
      <vt:variant>
        <vt:i4>316</vt:i4>
      </vt:variant>
    </vt:vector>
  </HeadingPairs>
  <TitlesOfParts>
    <vt:vector size="317" baseType="lpstr">
      <vt:lpstr>Concourse</vt:lpstr>
      <vt:lpstr>Final Coaching Program for the Licensure Examination for Teachers</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lpstr>Slide 141</vt:lpstr>
      <vt:lpstr>Slide 142</vt:lpstr>
      <vt:lpstr>Slide 143</vt:lpstr>
      <vt:lpstr>Slide 144</vt:lpstr>
      <vt:lpstr>Slide 145</vt:lpstr>
      <vt:lpstr>Slide 146</vt:lpstr>
      <vt:lpstr>Slide 147</vt:lpstr>
      <vt:lpstr>Slide 148</vt:lpstr>
      <vt:lpstr>Slide 149</vt:lpstr>
      <vt:lpstr>Slide 150</vt:lpstr>
      <vt:lpstr>Slide 151</vt:lpstr>
      <vt:lpstr>Slide 152</vt:lpstr>
      <vt:lpstr>Slide 153</vt:lpstr>
      <vt:lpstr>Slide 154</vt:lpstr>
      <vt:lpstr>Slide 155</vt:lpstr>
      <vt:lpstr>Slide 156</vt:lpstr>
      <vt:lpstr>Slide 157</vt:lpstr>
      <vt:lpstr>Slide 158</vt:lpstr>
      <vt:lpstr>Slide 159</vt:lpstr>
      <vt:lpstr>Slide 160</vt:lpstr>
      <vt:lpstr>Slide 161</vt:lpstr>
      <vt:lpstr>Slide 162</vt:lpstr>
      <vt:lpstr>Slide 163</vt:lpstr>
      <vt:lpstr>Slide 164</vt:lpstr>
      <vt:lpstr>Slide 165</vt:lpstr>
      <vt:lpstr>Slide 166</vt:lpstr>
      <vt:lpstr>Slide 167</vt:lpstr>
      <vt:lpstr>Slide 168</vt:lpstr>
      <vt:lpstr>Slide 169</vt:lpstr>
      <vt:lpstr>Slide 170</vt:lpstr>
      <vt:lpstr>Slide 171</vt:lpstr>
      <vt:lpstr>Slide 172</vt:lpstr>
      <vt:lpstr>Slide 173</vt:lpstr>
      <vt:lpstr>Slide 174</vt:lpstr>
      <vt:lpstr>Slide 175</vt:lpstr>
      <vt:lpstr>Slide 176</vt:lpstr>
      <vt:lpstr>Slide 177</vt:lpstr>
      <vt:lpstr>Slide 178</vt:lpstr>
      <vt:lpstr>Slide 179</vt:lpstr>
      <vt:lpstr>Slide 180</vt:lpstr>
      <vt:lpstr>Slide 181</vt:lpstr>
      <vt:lpstr>Slide 182</vt:lpstr>
      <vt:lpstr>Slide 183</vt:lpstr>
      <vt:lpstr>Slide 184</vt:lpstr>
      <vt:lpstr>Slide 185</vt:lpstr>
      <vt:lpstr>Slide 186</vt:lpstr>
      <vt:lpstr>Slide 187</vt:lpstr>
      <vt:lpstr>Slide 188</vt:lpstr>
      <vt:lpstr>Slide 189</vt:lpstr>
      <vt:lpstr>Slide 190</vt:lpstr>
      <vt:lpstr>Slide 191</vt:lpstr>
      <vt:lpstr>Slide 192</vt:lpstr>
      <vt:lpstr>Slide 193</vt:lpstr>
      <vt:lpstr>Slide 194</vt:lpstr>
      <vt:lpstr>Slide 195</vt:lpstr>
      <vt:lpstr>Slide 196</vt:lpstr>
      <vt:lpstr>Slide 197</vt:lpstr>
      <vt:lpstr>Slide 198</vt:lpstr>
      <vt:lpstr>Slide 199</vt:lpstr>
      <vt:lpstr>Slide 200</vt:lpstr>
      <vt:lpstr>Slide 201</vt:lpstr>
      <vt:lpstr>Slide 202</vt:lpstr>
      <vt:lpstr>Slide 203</vt:lpstr>
      <vt:lpstr>Slide 204</vt:lpstr>
      <vt:lpstr>Slide 205</vt:lpstr>
      <vt:lpstr>Slide 206</vt:lpstr>
      <vt:lpstr>Slide 207</vt:lpstr>
      <vt:lpstr>Slide 208</vt:lpstr>
      <vt:lpstr>Slide 209</vt:lpstr>
      <vt:lpstr>Slide 210</vt:lpstr>
      <vt:lpstr>Slide 211</vt:lpstr>
      <vt:lpstr>Slide 212</vt:lpstr>
      <vt:lpstr>Slide 213</vt:lpstr>
      <vt:lpstr>Slide 214</vt:lpstr>
      <vt:lpstr>Slide 215</vt:lpstr>
      <vt:lpstr>Slide 216</vt:lpstr>
      <vt:lpstr>Slide 217</vt:lpstr>
      <vt:lpstr>Slide 218</vt:lpstr>
      <vt:lpstr>Slide 219</vt:lpstr>
      <vt:lpstr>Slide 220</vt:lpstr>
      <vt:lpstr>Slide 221</vt:lpstr>
      <vt:lpstr>Slide 222</vt:lpstr>
      <vt:lpstr>Slide 223</vt:lpstr>
      <vt:lpstr>Slide 224</vt:lpstr>
      <vt:lpstr>Slide 225</vt:lpstr>
      <vt:lpstr>Slide 226</vt:lpstr>
      <vt:lpstr>Slide 227</vt:lpstr>
      <vt:lpstr>Slide 228</vt:lpstr>
      <vt:lpstr>Slide 229</vt:lpstr>
      <vt:lpstr>Slide 230</vt:lpstr>
      <vt:lpstr>Slide 231</vt:lpstr>
      <vt:lpstr>Slide 232</vt:lpstr>
      <vt:lpstr>Slide 233</vt:lpstr>
      <vt:lpstr>Slide 234</vt:lpstr>
      <vt:lpstr>Slide 235</vt:lpstr>
      <vt:lpstr>Slide 236</vt:lpstr>
      <vt:lpstr>Slide 237</vt:lpstr>
      <vt:lpstr>Slide 238</vt:lpstr>
      <vt:lpstr>Slide 239</vt:lpstr>
      <vt:lpstr>Slide 240</vt:lpstr>
      <vt:lpstr>Slide 241</vt:lpstr>
      <vt:lpstr>Slide 242</vt:lpstr>
      <vt:lpstr>Slide 243</vt:lpstr>
      <vt:lpstr>Slide 244</vt:lpstr>
      <vt:lpstr>Slide 245</vt:lpstr>
      <vt:lpstr>Slide 246</vt:lpstr>
      <vt:lpstr>Slide 247</vt:lpstr>
      <vt:lpstr>Slide 248</vt:lpstr>
      <vt:lpstr>Slide 249</vt:lpstr>
      <vt:lpstr>Slide 250</vt:lpstr>
      <vt:lpstr>Slide 251</vt:lpstr>
      <vt:lpstr>Slide 252</vt:lpstr>
      <vt:lpstr>Slide 253</vt:lpstr>
      <vt:lpstr>Slide 254</vt:lpstr>
      <vt:lpstr>Slide 255</vt:lpstr>
      <vt:lpstr>Slide 256</vt:lpstr>
      <vt:lpstr>Slide 257</vt:lpstr>
      <vt:lpstr>Slide 258</vt:lpstr>
      <vt:lpstr>Slide 259</vt:lpstr>
      <vt:lpstr>Slide 260</vt:lpstr>
      <vt:lpstr>Slide 261</vt:lpstr>
      <vt:lpstr>Slide 262</vt:lpstr>
      <vt:lpstr>Slide 263</vt:lpstr>
      <vt:lpstr>Slide 264</vt:lpstr>
      <vt:lpstr>Slide 265</vt:lpstr>
      <vt:lpstr>Slide 266</vt:lpstr>
      <vt:lpstr>Slide 267</vt:lpstr>
      <vt:lpstr>Slide 268</vt:lpstr>
      <vt:lpstr>Slide 269</vt:lpstr>
      <vt:lpstr>Slide 270</vt:lpstr>
      <vt:lpstr>Slide 271</vt:lpstr>
      <vt:lpstr>Slide 272</vt:lpstr>
      <vt:lpstr>Slide 273</vt:lpstr>
      <vt:lpstr>Slide 274</vt:lpstr>
      <vt:lpstr>Slide 275</vt:lpstr>
      <vt:lpstr>Slide 276</vt:lpstr>
      <vt:lpstr>Slide 277</vt:lpstr>
      <vt:lpstr>Slide 278</vt:lpstr>
      <vt:lpstr>Slide 279</vt:lpstr>
      <vt:lpstr>Slide 280</vt:lpstr>
      <vt:lpstr>Slide 281</vt:lpstr>
      <vt:lpstr>Slide 282</vt:lpstr>
      <vt:lpstr>Slide 283</vt:lpstr>
      <vt:lpstr>Slide 284</vt:lpstr>
      <vt:lpstr>Slide 285</vt:lpstr>
      <vt:lpstr>Slide 286</vt:lpstr>
      <vt:lpstr>Slide 287</vt:lpstr>
      <vt:lpstr>Slide 288</vt:lpstr>
      <vt:lpstr>Slide 289</vt:lpstr>
      <vt:lpstr>Slide 290</vt:lpstr>
      <vt:lpstr>Slide 291</vt:lpstr>
      <vt:lpstr>Slide 292</vt:lpstr>
      <vt:lpstr>Slide 293</vt:lpstr>
      <vt:lpstr>Slide 294</vt:lpstr>
      <vt:lpstr>Slide 295</vt:lpstr>
      <vt:lpstr>Slide 296</vt:lpstr>
      <vt:lpstr>Slide 297</vt:lpstr>
      <vt:lpstr>Slide 298</vt:lpstr>
      <vt:lpstr>Slide 299</vt:lpstr>
      <vt:lpstr>Slide 300</vt:lpstr>
      <vt:lpstr>Slide 301</vt:lpstr>
      <vt:lpstr>Slide 302</vt:lpstr>
      <vt:lpstr>Slide 303</vt:lpstr>
      <vt:lpstr>Slide 304</vt:lpstr>
      <vt:lpstr>Slide 305</vt:lpstr>
      <vt:lpstr>Slide 306</vt:lpstr>
      <vt:lpstr>Slide 307</vt:lpstr>
      <vt:lpstr>Slide 308</vt:lpstr>
      <vt:lpstr>Slide 309</vt:lpstr>
      <vt:lpstr>Slide 310</vt:lpstr>
      <vt:lpstr>Slide 311</vt:lpstr>
      <vt:lpstr>Slide 312</vt:lpstr>
      <vt:lpstr>Slide 313</vt:lpstr>
      <vt:lpstr>Slide 314</vt:lpstr>
      <vt:lpstr>Slide 315</vt:lpstr>
      <vt:lpstr>http://letrevieweronlineph.com/online-let-reviewer/login/index.php</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Final Coaching Program for the Licensure Examination  for Teachers</dc:title>
  <dc:creator>XS-2</dc:creator>
  <cp:lastModifiedBy>nelson</cp:lastModifiedBy>
  <cp:revision>462</cp:revision>
  <dcterms:created xsi:type="dcterms:W3CDTF">2013-08-27T23:58:53Z</dcterms:created>
  <dcterms:modified xsi:type="dcterms:W3CDTF">2017-05-31T16:27:48Z</dcterms:modified>
</cp:coreProperties>
</file>